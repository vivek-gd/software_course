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3"/>
    <p:sldId id="335" r:id="rId4"/>
    <p:sldId id="338" r:id="rId5"/>
    <p:sldId id="304" r:id="rId6"/>
    <p:sldId id="337" r:id="rId7"/>
    <p:sldId id="339" r:id="rId8"/>
    <p:sldId id="340" r:id="rId9"/>
    <p:sldId id="336" r:id="rId10"/>
    <p:sldId id="341" r:id="rId11"/>
    <p:sldId id="342" r:id="rId12"/>
    <p:sldId id="343" r:id="rId13"/>
    <p:sldId id="344" r:id="rId14"/>
    <p:sldId id="345" r:id="rId15"/>
    <p:sldId id="346" r:id="rId16"/>
    <p:sldId id="357" r:id="rId17"/>
    <p:sldId id="347" r:id="rId18"/>
    <p:sldId id="348" r:id="rId19"/>
    <p:sldId id="358" r:id="rId20"/>
    <p:sldId id="349" r:id="rId21"/>
    <p:sldId id="350" r:id="rId22"/>
    <p:sldId id="351" r:id="rId23"/>
    <p:sldId id="387" r:id="rId24"/>
    <p:sldId id="352" r:id="rId25"/>
    <p:sldId id="353" r:id="rId26"/>
    <p:sldId id="359" r:id="rId27"/>
    <p:sldId id="354" r:id="rId28"/>
    <p:sldId id="355" r:id="rId29"/>
    <p:sldId id="365" r:id="rId30"/>
    <p:sldId id="388" r:id="rId31"/>
    <p:sldId id="389" r:id="rId32"/>
    <p:sldId id="356" r:id="rId33"/>
    <p:sldId id="360" r:id="rId34"/>
    <p:sldId id="361" r:id="rId35"/>
    <p:sldId id="362" r:id="rId36"/>
    <p:sldId id="395" r:id="rId37"/>
    <p:sldId id="397" r:id="rId38"/>
    <p:sldId id="396" r:id="rId39"/>
    <p:sldId id="399" r:id="rId40"/>
    <p:sldId id="321" r:id="rId41"/>
    <p:sldId id="322" r:id="rId42"/>
    <p:sldId id="323" r:id="rId44"/>
    <p:sldId id="377" r:id="rId45"/>
    <p:sldId id="378" r:id="rId46"/>
    <p:sldId id="379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84" r:id="rId55"/>
    <p:sldId id="385" r:id="rId56"/>
    <p:sldId id="331" r:id="rId57"/>
    <p:sldId id="390" r:id="rId58"/>
    <p:sldId id="391" r:id="rId59"/>
    <p:sldId id="392" r:id="rId60"/>
    <p:sldId id="393" r:id="rId61"/>
    <p:sldId id="394" r:id="rId62"/>
    <p:sldId id="398" r:id="rId63"/>
    <p:sldId id="380" r:id="rId64"/>
    <p:sldId id="381" r:id="rId65"/>
    <p:sldId id="382" r:id="rId66"/>
    <p:sldId id="383" r:id="rId67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7" autoAdjust="0"/>
    <p:restoredTop sz="94660" autoAdjust="0"/>
  </p:normalViewPr>
  <p:slideViewPr>
    <p:cSldViewPr showGuides="1">
      <p:cViewPr>
        <p:scale>
          <a:sx n="75" d="100"/>
          <a:sy n="75" d="100"/>
        </p:scale>
        <p:origin x="2112" y="1255"/>
      </p:cViewPr>
      <p:guideLst>
        <p:guide orient="horz" pos="2880"/>
        <p:guide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0" Type="http://schemas.openxmlformats.org/officeDocument/2006/relationships/tableStyles" Target="tableStyles.xml"/><Relationship Id="rId7" Type="http://schemas.openxmlformats.org/officeDocument/2006/relationships/slide" Target="slides/slide5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73E65-9B11-4C32-83C2-CDCF917CBA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3AA3DA-9F27-4808-9261-9873CD859D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k object 19"/>
          <p:cNvSpPr/>
          <p:nvPr/>
        </p:nvSpPr>
        <p:spPr>
          <a:xfrm>
            <a:off x="8064245" y="962405"/>
            <a:ext cx="451484" cy="523240"/>
          </a:xfrm>
          <a:custGeom>
            <a:avLst/>
            <a:gdLst/>
            <a:ahLst/>
            <a:cxnLst/>
            <a:rect l="l" t="t" r="r" b="b"/>
            <a:pathLst>
              <a:path w="451484" h="523240">
                <a:moveTo>
                  <a:pt x="225551" y="0"/>
                </a:moveTo>
                <a:lnTo>
                  <a:pt x="451103" y="112776"/>
                </a:lnTo>
                <a:lnTo>
                  <a:pt x="451103" y="409956"/>
                </a:lnTo>
                <a:lnTo>
                  <a:pt x="225551" y="522732"/>
                </a:lnTo>
                <a:lnTo>
                  <a:pt x="0" y="409956"/>
                </a:lnTo>
                <a:lnTo>
                  <a:pt x="0" y="112776"/>
                </a:lnTo>
                <a:lnTo>
                  <a:pt x="225551" y="0"/>
                </a:lnTo>
                <a:close/>
              </a:path>
            </a:pathLst>
          </a:custGeom>
          <a:ln w="25908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0300716" y="128015"/>
            <a:ext cx="170687" cy="196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3745991" y="832103"/>
            <a:ext cx="763905" cy="887094"/>
          </a:xfrm>
          <a:custGeom>
            <a:avLst/>
            <a:gdLst/>
            <a:ahLst/>
            <a:cxnLst/>
            <a:rect l="l" t="t" r="r" b="b"/>
            <a:pathLst>
              <a:path w="763904" h="887094">
                <a:moveTo>
                  <a:pt x="381762" y="0"/>
                </a:moveTo>
                <a:lnTo>
                  <a:pt x="763524" y="190881"/>
                </a:lnTo>
                <a:lnTo>
                  <a:pt x="763524" y="696087"/>
                </a:lnTo>
                <a:lnTo>
                  <a:pt x="381762" y="886968"/>
                </a:lnTo>
                <a:lnTo>
                  <a:pt x="0" y="696087"/>
                </a:lnTo>
                <a:lnTo>
                  <a:pt x="0" y="190881"/>
                </a:lnTo>
                <a:lnTo>
                  <a:pt x="381762" y="0"/>
                </a:lnTo>
                <a:close/>
              </a:path>
            </a:pathLst>
          </a:custGeom>
          <a:ln w="9144">
            <a:solidFill>
              <a:srgbClr val="AC2B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1276076" y="1207008"/>
            <a:ext cx="187451" cy="2148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932688" y="662940"/>
            <a:ext cx="178308" cy="205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4590288" y="749808"/>
            <a:ext cx="318770" cy="368935"/>
          </a:xfrm>
          <a:custGeom>
            <a:avLst/>
            <a:gdLst/>
            <a:ahLst/>
            <a:cxnLst/>
            <a:rect l="l" t="t" r="r" b="b"/>
            <a:pathLst>
              <a:path w="318770" h="368934">
                <a:moveTo>
                  <a:pt x="159258" y="0"/>
                </a:moveTo>
                <a:lnTo>
                  <a:pt x="0" y="79628"/>
                </a:lnTo>
                <a:lnTo>
                  <a:pt x="0" y="289178"/>
                </a:lnTo>
                <a:lnTo>
                  <a:pt x="159258" y="368807"/>
                </a:lnTo>
                <a:lnTo>
                  <a:pt x="318515" y="289178"/>
                </a:lnTo>
                <a:lnTo>
                  <a:pt x="318515" y="79628"/>
                </a:lnTo>
                <a:lnTo>
                  <a:pt x="15925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9997440" y="1130808"/>
            <a:ext cx="647065" cy="396875"/>
          </a:xfrm>
          <a:custGeom>
            <a:avLst/>
            <a:gdLst/>
            <a:ahLst/>
            <a:cxnLst/>
            <a:rect l="l" t="t" r="r" b="b"/>
            <a:pathLst>
              <a:path w="647065" h="396875">
                <a:moveTo>
                  <a:pt x="0" y="0"/>
                </a:moveTo>
                <a:lnTo>
                  <a:pt x="647064" y="396620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3898391" y="466344"/>
            <a:ext cx="692150" cy="366395"/>
          </a:xfrm>
          <a:custGeom>
            <a:avLst/>
            <a:gdLst/>
            <a:ahLst/>
            <a:cxnLst/>
            <a:rect l="l" t="t" r="r" b="b"/>
            <a:pathLst>
              <a:path w="692150" h="366394">
                <a:moveTo>
                  <a:pt x="0" y="0"/>
                </a:moveTo>
                <a:lnTo>
                  <a:pt x="691896" y="366267"/>
                </a:lnTo>
              </a:path>
            </a:pathLst>
          </a:custGeom>
          <a:ln w="9143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1480" y="2188540"/>
            <a:ext cx="8292720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252525"/>
                </a:solidFill>
                <a:latin typeface="宋体"/>
                <a:cs typeface="宋体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6B6B9-787D-49BC-B1C9-782FAC9667A1}" type="datetime1">
              <a:rPr lang="en-US" altLang="zh-CN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  <p:sp>
        <p:nvSpPr>
          <p:cNvPr id="15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bk object 16"/>
          <p:cNvSpPr/>
          <p:nvPr userDrawn="1"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088" y="763523"/>
            <a:ext cx="11544935" cy="0"/>
          </a:xfrm>
          <a:custGeom>
            <a:avLst/>
            <a:gdLst/>
            <a:ahLst/>
            <a:cxnLst/>
            <a:rect l="l" t="t" r="r" b="b"/>
            <a:pathLst>
              <a:path w="11544935">
                <a:moveTo>
                  <a:pt x="11544808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0" y="420623"/>
            <a:ext cx="143510" cy="220979"/>
          </a:xfrm>
          <a:custGeom>
            <a:avLst/>
            <a:gdLst/>
            <a:ahLst/>
            <a:cxnLst/>
            <a:rect l="l" t="t" r="r" b="b"/>
            <a:pathLst>
              <a:path w="143510" h="220979">
                <a:moveTo>
                  <a:pt x="0" y="220979"/>
                </a:moveTo>
                <a:lnTo>
                  <a:pt x="143256" y="220979"/>
                </a:lnTo>
                <a:lnTo>
                  <a:pt x="143256" y="0"/>
                </a:lnTo>
                <a:lnTo>
                  <a:pt x="0" y="0"/>
                </a:lnTo>
                <a:lnTo>
                  <a:pt x="0" y="2209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83642" y="420623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80772">
            <a:solidFill>
              <a:srgbClr val="AC2B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252525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78A4F-9748-4C14-ABB6-57E6EBD04351}" type="datetime1">
              <a:rPr lang="en-US" altLang="zh-CN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8D796-79EF-4B4E-ADBB-F5D0BB4187F8}" type="datetime1">
              <a:rPr lang="en-US" altLang="zh-CN" smtClean="0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25EC2-92BD-4445-9A3B-23CE0D75026E}" type="datetime1">
              <a:rPr lang="en-US" altLang="zh-CN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3088" y="763523"/>
            <a:ext cx="11544935" cy="0"/>
          </a:xfrm>
          <a:custGeom>
            <a:avLst/>
            <a:gdLst/>
            <a:ahLst/>
            <a:cxnLst/>
            <a:rect l="l" t="t" r="r" b="b"/>
            <a:pathLst>
              <a:path w="11544935">
                <a:moveTo>
                  <a:pt x="11544808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0" y="420623"/>
            <a:ext cx="143510" cy="220979"/>
          </a:xfrm>
          <a:custGeom>
            <a:avLst/>
            <a:gdLst/>
            <a:ahLst/>
            <a:cxnLst/>
            <a:rect l="l" t="t" r="r" b="b"/>
            <a:pathLst>
              <a:path w="143510" h="220979">
                <a:moveTo>
                  <a:pt x="0" y="220979"/>
                </a:moveTo>
                <a:lnTo>
                  <a:pt x="143256" y="220979"/>
                </a:lnTo>
                <a:lnTo>
                  <a:pt x="143256" y="0"/>
                </a:lnTo>
                <a:lnTo>
                  <a:pt x="0" y="0"/>
                </a:lnTo>
                <a:lnTo>
                  <a:pt x="0" y="2209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83642" y="420623"/>
            <a:ext cx="0" cy="220979"/>
          </a:xfrm>
          <a:custGeom>
            <a:avLst/>
            <a:gdLst/>
            <a:ahLst/>
            <a:cxnLst/>
            <a:rect l="l" t="t" r="r" b="b"/>
            <a:pathLst>
              <a:path h="220979">
                <a:moveTo>
                  <a:pt x="0" y="0"/>
                </a:moveTo>
                <a:lnTo>
                  <a:pt x="0" y="220979"/>
                </a:lnTo>
              </a:path>
            </a:pathLst>
          </a:custGeom>
          <a:ln w="80772">
            <a:solidFill>
              <a:srgbClr val="AC2B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5E10B-8DC3-431B-AA2A-E16631671E03}" type="datetime1">
              <a:rPr lang="en-US" altLang="zh-CN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  <p:sp>
        <p:nvSpPr>
          <p:cNvPr id="10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0890504" y="6822185"/>
            <a:ext cx="1301750" cy="0"/>
          </a:xfrm>
          <a:custGeom>
            <a:avLst/>
            <a:gdLst/>
            <a:ahLst/>
            <a:cxnLst/>
            <a:rect l="l" t="t" r="r" b="b"/>
            <a:pathLst>
              <a:path w="1301750">
                <a:moveTo>
                  <a:pt x="0" y="0"/>
                </a:moveTo>
                <a:lnTo>
                  <a:pt x="1301496" y="0"/>
                </a:lnTo>
              </a:path>
            </a:pathLst>
          </a:custGeom>
          <a:ln w="71628">
            <a:solidFill>
              <a:srgbClr val="48504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562" y="272922"/>
            <a:ext cx="1045687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8591" y="1157986"/>
            <a:ext cx="11154816" cy="2505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252525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CACA7-7090-4CBD-995E-5D047F3B180D}" type="datetime1">
              <a:rPr lang="en-US" altLang="zh-CN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  <p:sp>
        <p:nvSpPr>
          <p:cNvPr id="9" name="矩形 22"/>
          <p:cNvSpPr>
            <a:spLocks noChangeArrowheads="1"/>
          </p:cNvSpPr>
          <p:nvPr userDrawn="1"/>
        </p:nvSpPr>
        <p:spPr bwMode="auto">
          <a:xfrm>
            <a:off x="1" y="6800153"/>
            <a:ext cx="3581400" cy="578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hyperlink" Target="http://www.eaxmpleurl.com:8080/#uid=1001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286000" y="2590800"/>
            <a:ext cx="8292720" cy="1123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spc="-114" dirty="0" smtClean="0">
                <a:latin typeface="+mn-lt"/>
              </a:rPr>
              <a:t>DOM</a:t>
            </a:r>
            <a:r>
              <a:rPr lang="zh-CN" altLang="en-US" spc="-114" dirty="0" smtClean="0">
                <a:latin typeface="+mn-lt"/>
              </a:rPr>
              <a:t>和</a:t>
            </a:r>
            <a:r>
              <a:rPr lang="en-US" altLang="zh-CN" spc="-114" dirty="0" smtClean="0">
                <a:latin typeface="+mn-lt"/>
              </a:rPr>
              <a:t>BOM</a:t>
            </a:r>
            <a:endParaRPr spc="-114" dirty="0">
              <a:latin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DOM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838" y="1143000"/>
            <a:ext cx="10716362" cy="5604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z="2000" spc="-30" dirty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z="2000" spc="-30" dirty="0">
                <a:solidFill>
                  <a:srgbClr val="252525"/>
                </a:solidFill>
                <a:latin typeface="+mn-ea"/>
                <a:cs typeface="宋体"/>
              </a:rPr>
              <a:t>（</a:t>
            </a:r>
            <a:r>
              <a:rPr lang="en-US" altLang="zh-CN" sz="2000" spc="-30" dirty="0">
                <a:solidFill>
                  <a:srgbClr val="252525"/>
                </a:solidFill>
                <a:latin typeface="+mn-ea"/>
                <a:cs typeface="宋体"/>
              </a:rPr>
              <a:t>Document Object 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Model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，文档对象模型）</a:t>
            </a:r>
            <a:r>
              <a:rPr lang="zh-CN" altLang="en-US" sz="2000" spc="-30" dirty="0">
                <a:solidFill>
                  <a:srgbClr val="252525"/>
                </a:solidFill>
                <a:latin typeface="+mn-ea"/>
                <a:cs typeface="宋体"/>
              </a:rPr>
              <a:t>用于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将文档中对象按照树形结构组织起来，用户能够方便的通过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获取元素、遍历元素、修改和创建元素、设置元素属性、进行事件监听和处理。</a:t>
            </a:r>
            <a:endParaRPr lang="en-US" altLang="zh-CN" sz="2000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z="2000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用于将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HTML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文档描述成文档对象，该对象被组织成由一个个节点（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Node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）组成的树形结构。树中节点有元素节点、属性节点、文本节点等。节点之间存在父子、兄弟等层级关系，每个节点有自己的名称、类型以及其他一些属性。同时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提供了一系列节点操作相关的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API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，用于访问和处理元素。</a:t>
            </a:r>
            <a:endParaRPr lang="en-US" altLang="zh-CN" sz="2000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z="2000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在最初的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JavaScript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语言中，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用于处理事件和文档的有限功能，被称为“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 0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级”，但当时并没有独立的标准，只在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HTML 4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规范中进行了部分描述。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1998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年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10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月，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 1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级成为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W3C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推荐标准，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 2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级在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2000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年发布，更新发布了包括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事件、样式等内容；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2004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年</a:t>
            </a:r>
            <a:r>
              <a:rPr lang="en-US" altLang="zh-CN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DOM 3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级新增了</a:t>
            </a:r>
            <a:r>
              <a:rPr lang="en-US" altLang="zh-CN" sz="2000" spc="-30" dirty="0" err="1" smtClean="0">
                <a:solidFill>
                  <a:srgbClr val="252525"/>
                </a:solidFill>
                <a:latin typeface="+mn-ea"/>
                <a:cs typeface="宋体"/>
              </a:rPr>
              <a:t>Xpath</a:t>
            </a:r>
            <a:r>
              <a:rPr lang="zh-CN" altLang="en-US" sz="2000" spc="-30" dirty="0" smtClean="0">
                <a:solidFill>
                  <a:srgbClr val="252525"/>
                </a:solidFill>
                <a:latin typeface="+mn-ea"/>
                <a:cs typeface="宋体"/>
              </a:rPr>
              <a:t>等内容。</a:t>
            </a:r>
            <a:endParaRPr lang="en-US" altLang="zh-CN" sz="2000" spc="-30" dirty="0" smtClean="0">
              <a:solidFill>
                <a:srgbClr val="252525"/>
              </a:solidFill>
              <a:latin typeface="+mn-ea"/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585858"/>
                </a:solidFill>
              </a:rPr>
              <a:t>一</a:t>
            </a:r>
            <a:r>
              <a:rPr spc="175" dirty="0">
                <a:solidFill>
                  <a:srgbClr val="585858"/>
                </a:solidFill>
              </a:rPr>
              <a:t>.</a:t>
            </a:r>
            <a:r>
              <a:rPr spc="-70" dirty="0">
                <a:solidFill>
                  <a:srgbClr val="585858"/>
                </a:solidFill>
              </a:rPr>
              <a:t> </a:t>
            </a:r>
            <a:r>
              <a:rPr lang="en-US" altLang="zh-CN" spc="-40" dirty="0" smtClean="0">
                <a:solidFill>
                  <a:srgbClr val="585858"/>
                </a:solidFill>
              </a:rPr>
              <a:t>DOM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838" y="1066800"/>
            <a:ext cx="10716362" cy="341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pc="-30" dirty="0" smtClean="0">
                <a:solidFill>
                  <a:srgbClr val="252525"/>
                </a:solidFill>
                <a:latin typeface="+mn-ea"/>
                <a:cs typeface="宋体"/>
              </a:rPr>
              <a:t>1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、</a:t>
            </a:r>
            <a:r>
              <a:rPr lang="en-US" altLang="zh-CN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的作用</a:t>
            </a:r>
            <a:endParaRPr lang="en-US" altLang="zh-CN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b="1" spc="-30" dirty="0" smtClean="0">
                <a:solidFill>
                  <a:srgbClr val="252525"/>
                </a:solidFill>
                <a:latin typeface="+mn-ea"/>
                <a:cs typeface="宋体"/>
              </a:rPr>
              <a:t>获取节点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：获取文档的节点，例如获取文档的某节点的属性，遍历列表节点的内容，获得表单的输入值等。</a:t>
            </a:r>
            <a:r>
              <a:rPr lang="en-US" altLang="zh-CN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获取节点后，还可以对节点的属性进行改变。</a:t>
            </a:r>
            <a:endParaRPr lang="en-US" altLang="zh-CN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pc="-30" dirty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zh-CN" altLang="en-US" b="1" spc="-30" dirty="0" smtClean="0">
                <a:solidFill>
                  <a:srgbClr val="252525"/>
                </a:solidFill>
                <a:latin typeface="+mn-ea"/>
                <a:cs typeface="宋体"/>
              </a:rPr>
              <a:t>监听事件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：监听事件并做出响应，例如用户的单击事件、改变窗口的大小、表单提交等操作。</a:t>
            </a:r>
            <a:endParaRPr lang="en-US" altLang="zh-CN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pc="-30" dirty="0">
              <a:solidFill>
                <a:srgbClr val="252525"/>
              </a:solidFill>
              <a:latin typeface="+mn-ea"/>
              <a:cs typeface="宋体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538" y="2380685"/>
            <a:ext cx="9015412" cy="11610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38" y="4191000"/>
            <a:ext cx="9015412" cy="1947683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7" name="图片 6" descr="图片包含 游戏机, 桌子&#10;&#10;描述已自动生成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0" y="1851622"/>
            <a:ext cx="2753424" cy="493374"/>
          </a:xfrm>
          <a:prstGeom prst="rect">
            <a:avLst/>
          </a:prstGeom>
          <a:ln w="6348" cmpd="sng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 smtClean="0">
                <a:solidFill>
                  <a:srgbClr val="585858"/>
                </a:solidFill>
              </a:rPr>
              <a:t> </a:t>
            </a:r>
            <a:r>
              <a:rPr lang="en-US" altLang="zh-CN" spc="-40" dirty="0" smtClean="0">
                <a:solidFill>
                  <a:srgbClr val="585858"/>
                </a:solidFill>
              </a:rPr>
              <a:t>DOM</a:t>
            </a:r>
            <a:endParaRPr spc="-40" dirty="0">
              <a:solidFill>
                <a:srgbClr val="585858"/>
              </a:solidFill>
            </a:endParaRPr>
          </a:p>
        </p:txBody>
      </p:sp>
      <p:pic>
        <p:nvPicPr>
          <p:cNvPr id="1026" name="Picture 2" descr="DOM HTML 树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733800"/>
            <a:ext cx="5105400" cy="279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685800" y="1295400"/>
            <a:ext cx="11048999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树，是用于将</a:t>
            </a:r>
            <a:r>
              <a:rPr lang="en-US" altLang="zh-CN" spc="-30" dirty="0" smtClean="0">
                <a:solidFill>
                  <a:srgbClr val="252525"/>
                </a:solidFill>
                <a:latin typeface="+mn-ea"/>
                <a:cs typeface="宋体"/>
              </a:rPr>
              <a:t>HTML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文档组织成一个树形结构。下边图形即为一个</a:t>
            </a:r>
            <a:r>
              <a:rPr lang="en-US" altLang="zh-CN" spc="-30" dirty="0" smtClean="0">
                <a:solidFill>
                  <a:srgbClr val="252525"/>
                </a:solidFill>
                <a:latin typeface="+mn-ea"/>
                <a:cs typeface="宋体"/>
              </a:rPr>
              <a:t>DOM</a:t>
            </a:r>
            <a:r>
              <a:rPr lang="zh-CN" altLang="en-US" spc="-30" dirty="0" smtClean="0">
                <a:solidFill>
                  <a:srgbClr val="252525"/>
                </a:solidFill>
                <a:latin typeface="+mn-ea"/>
                <a:cs typeface="宋体"/>
              </a:rPr>
              <a:t>树。</a:t>
            </a:r>
            <a:endParaRPr lang="en-US" altLang="zh-CN" spc="-30" dirty="0" smtClean="0">
              <a:solidFill>
                <a:srgbClr val="252525"/>
              </a:solidFill>
              <a:latin typeface="+mn-ea"/>
              <a:cs typeface="宋体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每个节点表示一个</a:t>
            </a:r>
            <a:r>
              <a:rPr lang="en-US" altLang="zh-CN" dirty="0" smtClean="0">
                <a:latin typeface="+mn-ea"/>
              </a:rPr>
              <a:t>Node</a:t>
            </a:r>
            <a:r>
              <a:rPr lang="zh-CN" altLang="en-US" dirty="0" smtClean="0">
                <a:latin typeface="+mn-ea"/>
              </a:rPr>
              <a:t>对象，可以通过</a:t>
            </a:r>
            <a:r>
              <a:rPr lang="en-US" altLang="zh-CN" dirty="0" err="1">
                <a:latin typeface="+mn-ea"/>
              </a:rPr>
              <a:t>n</a:t>
            </a:r>
            <a:r>
              <a:rPr lang="en-US" altLang="zh-CN" dirty="0" err="1" smtClean="0">
                <a:latin typeface="+mn-ea"/>
              </a:rPr>
              <a:t>odeType</a:t>
            </a:r>
            <a:r>
              <a:rPr lang="zh-CN" altLang="en-US" dirty="0" smtClean="0">
                <a:latin typeface="+mn-ea"/>
              </a:rPr>
              <a:t>属性来表明节点类型，常见的节点类型有以下几种：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（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）</a:t>
            </a:r>
            <a:r>
              <a:rPr lang="en-US" altLang="zh-CN" dirty="0" smtClean="0">
                <a:latin typeface="+mn-ea"/>
              </a:rPr>
              <a:t>Document</a:t>
            </a:r>
            <a:r>
              <a:rPr lang="zh-CN" altLang="en-US" dirty="0" smtClean="0">
                <a:latin typeface="+mn-ea"/>
              </a:rPr>
              <a:t>类型：表示整个</a:t>
            </a:r>
            <a:r>
              <a:rPr lang="en-US" altLang="zh-CN" dirty="0" smtClean="0">
                <a:latin typeface="+mn-ea"/>
              </a:rPr>
              <a:t>HTML</a:t>
            </a:r>
            <a:r>
              <a:rPr lang="zh-CN" altLang="en-US" dirty="0" smtClean="0">
                <a:latin typeface="+mn-ea"/>
              </a:rPr>
              <a:t>页面文档，</a:t>
            </a:r>
            <a:r>
              <a:rPr lang="en-US" altLang="zh-CN" dirty="0" smtClean="0">
                <a:latin typeface="+mn-ea"/>
              </a:rPr>
              <a:t>document</a:t>
            </a:r>
            <a:r>
              <a:rPr lang="zh-CN" altLang="en-US" dirty="0" smtClean="0">
                <a:latin typeface="+mn-ea"/>
              </a:rPr>
              <a:t>对象也是</a:t>
            </a:r>
            <a:r>
              <a:rPr lang="en-US" altLang="zh-CN" dirty="0" smtClean="0">
                <a:latin typeface="+mn-ea"/>
              </a:rPr>
              <a:t>window</a:t>
            </a:r>
            <a:r>
              <a:rPr lang="zh-CN" altLang="en-US" dirty="0" smtClean="0">
                <a:latin typeface="+mn-ea"/>
              </a:rPr>
              <a:t>对象的一个属性，可以作为全局对象来访问。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（</a:t>
            </a: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）</a:t>
            </a:r>
            <a:r>
              <a:rPr lang="en-US" altLang="zh-CN" dirty="0" smtClean="0">
                <a:latin typeface="+mn-ea"/>
              </a:rPr>
              <a:t>Element</a:t>
            </a:r>
            <a:r>
              <a:rPr lang="zh-CN" altLang="en-US" dirty="0" smtClean="0">
                <a:latin typeface="+mn-ea"/>
              </a:rPr>
              <a:t>类型：元素节点，通过访问其</a:t>
            </a:r>
            <a:r>
              <a:rPr lang="en-US" altLang="zh-CN" dirty="0" smtClean="0">
                <a:latin typeface="+mn-ea"/>
              </a:rPr>
              <a:t>id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title</a:t>
            </a:r>
            <a:r>
              <a:rPr lang="zh-CN" altLang="en-US" dirty="0" smtClean="0">
                <a:latin typeface="+mn-ea"/>
              </a:rPr>
              <a:t>等属性，可以获得该节点的相关属性信息。</a:t>
            </a:r>
            <a:endParaRPr lang="zh-CN" altLang="en-US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342900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（</a:t>
            </a:r>
            <a:r>
              <a:rPr lang="en-US" altLang="zh-CN" dirty="0" smtClean="0">
                <a:latin typeface="+mn-ea"/>
              </a:rPr>
              <a:t>3</a:t>
            </a:r>
            <a:r>
              <a:rPr lang="zh-CN" altLang="en-US" dirty="0" smtClean="0">
                <a:latin typeface="+mn-ea"/>
              </a:rPr>
              <a:t>）</a:t>
            </a:r>
            <a:r>
              <a:rPr lang="en-US" altLang="zh-CN" dirty="0" err="1" smtClean="0">
                <a:latin typeface="+mn-ea"/>
              </a:rPr>
              <a:t>Attr</a:t>
            </a:r>
            <a:r>
              <a:rPr lang="zh-CN" altLang="en-US" dirty="0" smtClean="0">
                <a:latin typeface="+mn-ea"/>
              </a:rPr>
              <a:t>类型：属性节点。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（</a:t>
            </a:r>
            <a:r>
              <a:rPr lang="en-US" altLang="zh-CN" dirty="0" smtClean="0">
                <a:latin typeface="+mn-ea"/>
              </a:rPr>
              <a:t>4</a:t>
            </a:r>
            <a:r>
              <a:rPr lang="zh-CN" altLang="en-US" dirty="0" smtClean="0">
                <a:latin typeface="+mn-ea"/>
              </a:rPr>
              <a:t>）</a:t>
            </a:r>
            <a:r>
              <a:rPr lang="en-US" altLang="zh-CN" dirty="0" smtClean="0">
                <a:latin typeface="+mn-ea"/>
              </a:rPr>
              <a:t>Text</a:t>
            </a:r>
            <a:r>
              <a:rPr lang="zh-CN" altLang="en-US" dirty="0" smtClean="0">
                <a:latin typeface="+mn-ea"/>
              </a:rPr>
              <a:t>类型：纯文本节点，不包含</a:t>
            </a:r>
            <a:r>
              <a:rPr lang="en-US" altLang="zh-CN" dirty="0" smtClean="0">
                <a:latin typeface="+mn-ea"/>
              </a:rPr>
              <a:t>HTML</a:t>
            </a:r>
            <a:r>
              <a:rPr lang="zh-CN" altLang="en-US" dirty="0" smtClean="0">
                <a:latin typeface="+mn-ea"/>
              </a:rPr>
              <a:t>代码。注意除了元素内文本内容可以生成</a:t>
            </a:r>
            <a:r>
              <a:rPr lang="en-US" altLang="zh-CN" dirty="0" smtClean="0">
                <a:latin typeface="+mn-ea"/>
              </a:rPr>
              <a:t>Text</a:t>
            </a:r>
            <a:r>
              <a:rPr lang="zh-CN" altLang="en-US" dirty="0" smtClean="0">
                <a:latin typeface="+mn-ea"/>
              </a:rPr>
              <a:t>类型节点外，标签换行处也可以生成一个空白</a:t>
            </a:r>
            <a:r>
              <a:rPr lang="en-US" altLang="zh-CN" dirty="0" smtClean="0">
                <a:latin typeface="+mn-ea"/>
              </a:rPr>
              <a:t>Text</a:t>
            </a:r>
            <a:r>
              <a:rPr lang="zh-CN" altLang="en-US" dirty="0" smtClean="0">
                <a:latin typeface="+mn-ea"/>
              </a:rPr>
              <a:t>类型节点。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DOM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838" y="1066800"/>
            <a:ext cx="10716362" cy="38574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altLang="zh-CN" sz="2000" b="1" spc="-30" dirty="0" smtClean="0">
                <a:solidFill>
                  <a:srgbClr val="252525"/>
                </a:solidFill>
                <a:latin typeface="+mn-ea"/>
                <a:cs typeface="Microsoft JhengHei"/>
              </a:rPr>
              <a:t>HTML DOM</a:t>
            </a:r>
            <a:endParaRPr lang="en-US" altLang="zh-CN" sz="2000" b="1" spc="-30" dirty="0" smtClean="0">
              <a:solidFill>
                <a:srgbClr val="252525"/>
              </a:solidFill>
              <a:latin typeface="+mn-ea"/>
              <a:cs typeface="Microsoft JhengHei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endParaRPr lang="en-US" altLang="zh-CN" sz="2000" b="1" spc="-30" dirty="0" smtClean="0">
              <a:solidFill>
                <a:srgbClr val="252525"/>
              </a:solidFill>
              <a:latin typeface="+mn-ea"/>
              <a:cs typeface="Microsoft JhengHei"/>
            </a:endParaRPr>
          </a:p>
          <a:p>
            <a:pPr marL="299085" indent="-286385">
              <a:lnSpc>
                <a:spcPct val="150000"/>
              </a:lnSpc>
              <a:buFont typeface="Wingdings" panose="05000000000000000000"/>
              <a:buChar char=""/>
              <a:tabLst>
                <a:tab pos="299085" algn="l"/>
                <a:tab pos="299720" algn="l"/>
              </a:tabLst>
            </a:pPr>
            <a:r>
              <a:rPr lang="en-US" altLang="zh-CN" spc="-30" dirty="0" smtClean="0">
                <a:solidFill>
                  <a:srgbClr val="252525"/>
                </a:solidFill>
                <a:latin typeface="+mn-ea"/>
                <a:cs typeface="宋体"/>
              </a:rPr>
              <a:t>HTML 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DOM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是 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HTML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的标准对象模型和编程接口。它定义了：</a:t>
            </a:r>
            <a:endParaRPr lang="zh-CN" altLang="en-US" spc="-30" dirty="0">
              <a:solidFill>
                <a:srgbClr val="252525"/>
              </a:solidFill>
              <a:latin typeface="+mn-ea"/>
              <a:cs typeface="宋体"/>
            </a:endParaRPr>
          </a:p>
          <a:p>
            <a:pPr marL="299085" indent="-286385">
              <a:lnSpc>
                <a:spcPct val="150000"/>
              </a:lnSpc>
              <a:buFont typeface="Wingdings" panose="05000000000000000000"/>
              <a:buChar char=""/>
              <a:tabLst>
                <a:tab pos="299085" algn="l"/>
                <a:tab pos="299720" algn="l"/>
              </a:tabLst>
            </a:pPr>
            <a:endParaRPr lang="zh-CN" altLang="en-US" spc="-30" dirty="0">
              <a:solidFill>
                <a:srgbClr val="252525"/>
              </a:solidFill>
              <a:latin typeface="+mn-ea"/>
              <a:cs typeface="宋体"/>
            </a:endParaRPr>
          </a:p>
          <a:p>
            <a:pPr marL="299085" indent="-286385">
              <a:lnSpc>
                <a:spcPct val="150000"/>
              </a:lnSpc>
              <a:buFont typeface="Wingdings" panose="05000000000000000000"/>
              <a:buChar char=""/>
              <a:tabLst>
                <a:tab pos="299085" algn="l"/>
                <a:tab pos="299720" algn="l"/>
              </a:tabLst>
            </a:pP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作为对象的 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HTML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元素</a:t>
            </a:r>
            <a:endParaRPr lang="zh-CN" altLang="en-US" spc="-30" dirty="0">
              <a:solidFill>
                <a:srgbClr val="252525"/>
              </a:solidFill>
              <a:latin typeface="+mn-ea"/>
              <a:cs typeface="宋体"/>
            </a:endParaRPr>
          </a:p>
          <a:p>
            <a:pPr marL="299085" indent="-286385">
              <a:lnSpc>
                <a:spcPct val="150000"/>
              </a:lnSpc>
              <a:buFont typeface="Wingdings" panose="05000000000000000000"/>
              <a:buChar char=""/>
              <a:tabLst>
                <a:tab pos="299085" algn="l"/>
                <a:tab pos="299720" algn="l"/>
              </a:tabLst>
            </a:pP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所有 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HTML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元素的属性</a:t>
            </a:r>
            <a:endParaRPr lang="zh-CN" altLang="en-US" spc="-30" dirty="0">
              <a:solidFill>
                <a:srgbClr val="252525"/>
              </a:solidFill>
              <a:latin typeface="+mn-ea"/>
              <a:cs typeface="宋体"/>
            </a:endParaRPr>
          </a:p>
          <a:p>
            <a:pPr marL="299085" indent="-286385">
              <a:lnSpc>
                <a:spcPct val="150000"/>
              </a:lnSpc>
              <a:buFont typeface="Wingdings" panose="05000000000000000000"/>
              <a:buChar char=""/>
              <a:tabLst>
                <a:tab pos="299085" algn="l"/>
                <a:tab pos="299720" algn="l"/>
              </a:tabLst>
            </a:pP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访问所有 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HTML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元素的方法</a:t>
            </a:r>
            <a:endParaRPr lang="zh-CN" altLang="en-US" spc="-30" dirty="0">
              <a:solidFill>
                <a:srgbClr val="252525"/>
              </a:solidFill>
              <a:latin typeface="+mn-ea"/>
              <a:cs typeface="宋体"/>
            </a:endParaRPr>
          </a:p>
          <a:p>
            <a:pPr marL="299085" indent="-286385">
              <a:lnSpc>
                <a:spcPct val="150000"/>
              </a:lnSpc>
              <a:buFont typeface="Wingdings" panose="05000000000000000000"/>
              <a:buChar char=""/>
              <a:tabLst>
                <a:tab pos="299085" algn="l"/>
                <a:tab pos="299720" algn="l"/>
              </a:tabLst>
            </a:pP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所有 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HTML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元素的事件</a:t>
            </a:r>
            <a:endParaRPr lang="zh-CN" altLang="en-US" spc="-30" dirty="0">
              <a:solidFill>
                <a:srgbClr val="252525"/>
              </a:solidFill>
              <a:latin typeface="+mn-ea"/>
              <a:cs typeface="宋体"/>
            </a:endParaRPr>
          </a:p>
          <a:p>
            <a:pPr marL="12700">
              <a:lnSpc>
                <a:spcPct val="150000"/>
              </a:lnSpc>
              <a:tabLst>
                <a:tab pos="299085" algn="l"/>
                <a:tab pos="299720" algn="l"/>
              </a:tabLst>
            </a:pP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换言之：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HTML DOM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是关于如何获取、更改、添加或删除 </a:t>
            </a:r>
            <a:r>
              <a:rPr lang="en-US" altLang="zh-CN" spc="-30" dirty="0">
                <a:solidFill>
                  <a:srgbClr val="252525"/>
                </a:solidFill>
                <a:latin typeface="+mn-ea"/>
                <a:cs typeface="宋体"/>
              </a:rPr>
              <a:t>HTML </a:t>
            </a:r>
            <a:r>
              <a:rPr lang="zh-CN" altLang="en-US" spc="-30" dirty="0">
                <a:solidFill>
                  <a:srgbClr val="252525"/>
                </a:solidFill>
                <a:latin typeface="+mn-ea"/>
                <a:cs typeface="宋体"/>
              </a:rPr>
              <a:t>元素的标准。</a:t>
            </a:r>
            <a:endParaRPr lang="en-US" altLang="zh-CN" spc="-30" dirty="0" smtClean="0">
              <a:solidFill>
                <a:srgbClr val="252525"/>
              </a:solidFill>
              <a:latin typeface="+mn-ea"/>
              <a:cs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7200" y="121920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获取元素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28800"/>
            <a:ext cx="11361907" cy="27432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获取元素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1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err="1" smtClean="0">
                <a:latin typeface="+mn-ea"/>
              </a:rPr>
              <a:t>getElementById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，</a:t>
            </a:r>
            <a:r>
              <a:rPr lang="en-US" altLang="zh-CN" sz="1600" dirty="0" smtClean="0">
                <a:latin typeface="+mn-ea"/>
              </a:rPr>
              <a:t>Document</a:t>
            </a:r>
            <a:r>
              <a:rPr lang="zh-CN" altLang="en-US" sz="1600" dirty="0" smtClean="0">
                <a:latin typeface="+mn-ea"/>
              </a:rPr>
              <a:t>对象提供的，通过元素的</a:t>
            </a:r>
            <a:r>
              <a:rPr lang="en-US" altLang="zh-CN" sz="1600" dirty="0" smtClean="0">
                <a:latin typeface="+mn-ea"/>
              </a:rPr>
              <a:t>id</a:t>
            </a:r>
            <a:r>
              <a:rPr lang="zh-CN" altLang="en-US" sz="1600" dirty="0" smtClean="0">
                <a:latin typeface="+mn-ea"/>
              </a:rPr>
              <a:t>属性获取元素，返回值是</a:t>
            </a:r>
            <a:r>
              <a:rPr lang="en-US" altLang="zh-CN" sz="1600" dirty="0" smtClean="0">
                <a:latin typeface="+mn-ea"/>
              </a:rPr>
              <a:t>object</a:t>
            </a:r>
            <a:r>
              <a:rPr lang="zh-CN" altLang="en-US" sz="1600" dirty="0" smtClean="0">
                <a:latin typeface="+mn-ea"/>
              </a:rPr>
              <a:t>类型。</a:t>
            </a:r>
            <a:r>
              <a:rPr lang="en-US" altLang="zh-CN" sz="1600" dirty="0">
                <a:latin typeface="+mn-ea"/>
              </a:rPr>
              <a:t>i</a:t>
            </a:r>
            <a:r>
              <a:rPr lang="en-US" altLang="zh-CN" sz="1600" dirty="0" smtClean="0">
                <a:latin typeface="+mn-ea"/>
              </a:rPr>
              <a:t>d</a:t>
            </a:r>
            <a:r>
              <a:rPr lang="zh-CN" altLang="en-US" sz="1600" dirty="0" smtClean="0">
                <a:latin typeface="+mn-ea"/>
              </a:rPr>
              <a:t>属性的唯一性，所以获取单一元素时推荐使用这种方法。但并不是所有元素都有</a:t>
            </a:r>
            <a:r>
              <a:rPr lang="en-US" altLang="zh-CN" sz="1600" dirty="0" smtClean="0">
                <a:latin typeface="+mn-ea"/>
              </a:rPr>
              <a:t>id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2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err="1" smtClean="0">
                <a:latin typeface="+mn-ea"/>
              </a:rPr>
              <a:t>getElementsByName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，</a:t>
            </a:r>
            <a:r>
              <a:rPr lang="en-US" altLang="zh-CN" sz="1600" dirty="0" smtClean="0">
                <a:latin typeface="+mn-ea"/>
              </a:rPr>
              <a:t>Document</a:t>
            </a:r>
            <a:r>
              <a:rPr lang="zh-CN" altLang="en-US" sz="1600" dirty="0">
                <a:latin typeface="+mn-ea"/>
              </a:rPr>
              <a:t>对象提供的</a:t>
            </a:r>
            <a:r>
              <a:rPr lang="zh-CN" altLang="en-US" sz="1600" dirty="0" smtClean="0">
                <a:latin typeface="+mn-ea"/>
              </a:rPr>
              <a:t>，通过元素的</a:t>
            </a:r>
            <a:r>
              <a:rPr lang="en-US" altLang="zh-CN" sz="1600" dirty="0" smtClean="0">
                <a:latin typeface="+mn-ea"/>
              </a:rPr>
              <a:t>name</a:t>
            </a:r>
            <a:r>
              <a:rPr lang="zh-CN" altLang="en-US" sz="1600" dirty="0" smtClean="0">
                <a:latin typeface="+mn-ea"/>
              </a:rPr>
              <a:t>属性获取元素，返回值为</a:t>
            </a:r>
            <a:r>
              <a:rPr lang="en-US" altLang="zh-CN" sz="1600" dirty="0" err="1" smtClean="0">
                <a:latin typeface="+mn-ea"/>
              </a:rPr>
              <a:t>NodeList</a:t>
            </a:r>
            <a:r>
              <a:rPr lang="zh-CN" altLang="en-US" sz="1600" dirty="0" smtClean="0">
                <a:latin typeface="+mn-ea"/>
              </a:rPr>
              <a:t>对象。</a:t>
            </a:r>
            <a:r>
              <a:rPr lang="en-US" altLang="zh-CN" sz="1600" dirty="0">
                <a:latin typeface="+mn-ea"/>
              </a:rPr>
              <a:t>n</a:t>
            </a:r>
            <a:r>
              <a:rPr lang="en-US" altLang="zh-CN" sz="1600" dirty="0" smtClean="0">
                <a:latin typeface="+mn-ea"/>
              </a:rPr>
              <a:t>ame</a:t>
            </a:r>
            <a:r>
              <a:rPr lang="zh-CN" altLang="en-US" sz="1600" dirty="0" smtClean="0">
                <a:latin typeface="+mn-ea"/>
              </a:rPr>
              <a:t>属性以及</a:t>
            </a:r>
            <a:r>
              <a:rPr lang="en-US" altLang="zh-CN" sz="1600" dirty="0" err="1">
                <a:latin typeface="+mn-ea"/>
              </a:rPr>
              <a:t>getElementsByName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常用于表单元素。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95800" y="320040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效率非常高！</a:t>
            </a:r>
            <a:endParaRPr lang="en-US" altLang="zh-CN" dirty="0">
              <a:solidFill>
                <a:schemeClr val="accent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0386"/>
            <a:ext cx="3338512" cy="17472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98053"/>
            <a:ext cx="3581400" cy="171586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233750"/>
            <a:ext cx="3505200" cy="1373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</a:rPr>
              <a:t>操作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9838" y="1030985"/>
            <a:ext cx="10868762" cy="3774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50000"/>
              </a:lnSpc>
              <a:spcBef>
                <a:spcPts val="100"/>
              </a:spcBef>
              <a:defRPr b="1" spc="30">
                <a:solidFill>
                  <a:srgbClr val="252525"/>
                </a:solidFill>
                <a:latin typeface="+mn-ea"/>
                <a:cs typeface="Microsoft JhengHei"/>
              </a:defRPr>
            </a:lvl1pPr>
          </a:lstStyle>
          <a:p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案例</a:t>
            </a:r>
            <a:r>
              <a:rPr lang="en-US" altLang="zh-CN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</a:t>
            </a:r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生成随机验证码</a:t>
            </a:r>
            <a:endParaRPr lang="en-US" altLang="zh-CN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1120" y="1804114"/>
            <a:ext cx="11066080" cy="32932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Monaco" pitchFamily="49" charset="0"/>
              </a:rPr>
              <a:t>    &lt;</a:t>
            </a:r>
            <a:r>
              <a:rPr lang="en-US" altLang="zh-CN" sz="1600" dirty="0">
                <a:latin typeface="Monaco" pitchFamily="49" charset="0"/>
              </a:rPr>
              <a:t>div id="code"&gt;&lt;/div&gt;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&lt;button class="</a:t>
            </a:r>
            <a:r>
              <a:rPr lang="en-US" altLang="zh-CN" sz="1600" dirty="0" err="1">
                <a:latin typeface="Monaco" pitchFamily="49" charset="0"/>
              </a:rPr>
              <a:t>btn</a:t>
            </a:r>
            <a:r>
              <a:rPr lang="en-US" altLang="zh-CN" sz="1600" dirty="0">
                <a:latin typeface="Monaco" pitchFamily="49" charset="0"/>
              </a:rPr>
              <a:t>" </a:t>
            </a:r>
            <a:r>
              <a:rPr lang="en-US" altLang="zh-CN" sz="1600" dirty="0" err="1">
                <a:latin typeface="Monaco" pitchFamily="49" charset="0"/>
              </a:rPr>
              <a:t>onclick</a:t>
            </a:r>
            <a:r>
              <a:rPr lang="en-US" altLang="zh-CN" sz="1600" dirty="0">
                <a:latin typeface="Monaco" pitchFamily="49" charset="0"/>
              </a:rPr>
              <a:t>="</a:t>
            </a:r>
            <a:r>
              <a:rPr lang="en-US" altLang="zh-CN" sz="1600" dirty="0" err="1">
                <a:latin typeface="Monaco" pitchFamily="49" charset="0"/>
              </a:rPr>
              <a:t>getRandomCode</a:t>
            </a:r>
            <a:r>
              <a:rPr lang="en-US" altLang="zh-CN" sz="1600" dirty="0">
                <a:latin typeface="Monaco" pitchFamily="49" charset="0"/>
              </a:rPr>
              <a:t>()"&gt;</a:t>
            </a:r>
            <a:r>
              <a:rPr lang="zh-CN" altLang="en-US" sz="1600" dirty="0">
                <a:latin typeface="Monaco" pitchFamily="49" charset="0"/>
              </a:rPr>
              <a:t>生成随机码</a:t>
            </a:r>
            <a:r>
              <a:rPr lang="en-US" altLang="zh-CN" sz="1600" dirty="0">
                <a:latin typeface="Monaco" pitchFamily="49" charset="0"/>
              </a:rPr>
              <a:t>&lt;/button&gt;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&lt;script&gt;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function </a:t>
            </a:r>
            <a:r>
              <a:rPr lang="en-US" altLang="zh-CN" sz="1600" dirty="0" err="1">
                <a:latin typeface="Monaco" pitchFamily="49" charset="0"/>
              </a:rPr>
              <a:t>getRandomCode</a:t>
            </a:r>
            <a:r>
              <a:rPr lang="en-US" altLang="zh-CN" sz="1600" dirty="0">
                <a:latin typeface="Monaco" pitchFamily="49" charset="0"/>
              </a:rPr>
              <a:t>() {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  let characters = 'abcdefghijklmnopqrstuvwxyzABCDEFGHIJKLMNOPQRSTUVWXYZ1234567890'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  let </a:t>
            </a:r>
            <a:r>
              <a:rPr lang="en-US" altLang="zh-CN" sz="1600" dirty="0" err="1">
                <a:latin typeface="Monaco" pitchFamily="49" charset="0"/>
              </a:rPr>
              <a:t>strCode</a:t>
            </a:r>
            <a:r>
              <a:rPr lang="en-US" altLang="zh-CN" sz="1600" dirty="0">
                <a:latin typeface="Monaco" pitchFamily="49" charset="0"/>
              </a:rPr>
              <a:t> = ''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  for (let </a:t>
            </a:r>
            <a:r>
              <a:rPr lang="en-US" altLang="zh-CN" sz="1600" dirty="0" err="1">
                <a:latin typeface="Monaco" pitchFamily="49" charset="0"/>
              </a:rPr>
              <a:t>i</a:t>
            </a:r>
            <a:r>
              <a:rPr lang="en-US" altLang="zh-CN" sz="1600" dirty="0">
                <a:latin typeface="Monaco" pitchFamily="49" charset="0"/>
              </a:rPr>
              <a:t> = 0; </a:t>
            </a:r>
            <a:r>
              <a:rPr lang="en-US" altLang="zh-CN" sz="1600" dirty="0" err="1">
                <a:latin typeface="Monaco" pitchFamily="49" charset="0"/>
              </a:rPr>
              <a:t>i</a:t>
            </a:r>
            <a:r>
              <a:rPr lang="en-US" altLang="zh-CN" sz="1600" dirty="0">
                <a:latin typeface="Monaco" pitchFamily="49" charset="0"/>
              </a:rPr>
              <a:t> &lt; 4; </a:t>
            </a:r>
            <a:r>
              <a:rPr lang="en-US" altLang="zh-CN" sz="1600" dirty="0" err="1">
                <a:latin typeface="Monaco" pitchFamily="49" charset="0"/>
              </a:rPr>
              <a:t>i</a:t>
            </a:r>
            <a:r>
              <a:rPr lang="en-US" altLang="zh-CN" sz="1600" dirty="0">
                <a:latin typeface="Monaco" pitchFamily="49" charset="0"/>
              </a:rPr>
              <a:t>++) {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    let </a:t>
            </a:r>
            <a:r>
              <a:rPr lang="en-US" altLang="zh-CN" sz="1600" dirty="0" err="1">
                <a:latin typeface="Monaco" pitchFamily="49" charset="0"/>
              </a:rPr>
              <a:t>codePos</a:t>
            </a:r>
            <a:r>
              <a:rPr lang="en-US" altLang="zh-CN" sz="1600" dirty="0">
                <a:latin typeface="Monaco" pitchFamily="49" charset="0"/>
              </a:rPr>
              <a:t> = </a:t>
            </a:r>
            <a:r>
              <a:rPr lang="en-US" altLang="zh-CN" sz="1600" dirty="0" err="1">
                <a:latin typeface="Monaco" pitchFamily="49" charset="0"/>
              </a:rPr>
              <a:t>Math.floor</a:t>
            </a:r>
            <a:r>
              <a:rPr lang="en-US" altLang="zh-CN" sz="1600" dirty="0">
                <a:latin typeface="Monaco" pitchFamily="49" charset="0"/>
              </a:rPr>
              <a:t>(</a:t>
            </a:r>
            <a:r>
              <a:rPr lang="en-US" altLang="zh-CN" sz="1600" dirty="0" err="1">
                <a:latin typeface="Monaco" pitchFamily="49" charset="0"/>
              </a:rPr>
              <a:t>Math.random</a:t>
            </a:r>
            <a:r>
              <a:rPr lang="en-US" altLang="zh-CN" sz="1600" dirty="0">
                <a:latin typeface="Monaco" pitchFamily="49" charset="0"/>
              </a:rPr>
              <a:t>() * </a:t>
            </a:r>
            <a:r>
              <a:rPr lang="en-US" altLang="zh-CN" sz="1600" dirty="0" err="1">
                <a:latin typeface="Monaco" pitchFamily="49" charset="0"/>
              </a:rPr>
              <a:t>characters.length</a:t>
            </a:r>
            <a:r>
              <a:rPr lang="en-US" altLang="zh-CN" sz="1600" dirty="0">
                <a:latin typeface="Monaco" pitchFamily="49" charset="0"/>
              </a:rPr>
              <a:t>)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    </a:t>
            </a:r>
            <a:r>
              <a:rPr lang="en-US" altLang="zh-CN" sz="1600" dirty="0" err="1">
                <a:latin typeface="Monaco" pitchFamily="49" charset="0"/>
              </a:rPr>
              <a:t>strCode</a:t>
            </a:r>
            <a:r>
              <a:rPr lang="en-US" altLang="zh-CN" sz="1600" dirty="0">
                <a:latin typeface="Monaco" pitchFamily="49" charset="0"/>
              </a:rPr>
              <a:t> += characters[</a:t>
            </a:r>
            <a:r>
              <a:rPr lang="en-US" altLang="zh-CN" sz="1600" dirty="0" err="1">
                <a:latin typeface="Monaco" pitchFamily="49" charset="0"/>
              </a:rPr>
              <a:t>codePos</a:t>
            </a:r>
            <a:r>
              <a:rPr lang="en-US" altLang="zh-CN" sz="1600" dirty="0">
                <a:latin typeface="Monaco" pitchFamily="49" charset="0"/>
              </a:rPr>
              <a:t>]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  }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  </a:t>
            </a:r>
            <a:r>
              <a:rPr lang="en-US" altLang="zh-CN" sz="1600" dirty="0" err="1">
                <a:latin typeface="Monaco" pitchFamily="49" charset="0"/>
              </a:rPr>
              <a:t>document.getElementById</a:t>
            </a:r>
            <a:r>
              <a:rPr lang="en-US" altLang="zh-CN" sz="1600" dirty="0">
                <a:latin typeface="Monaco" pitchFamily="49" charset="0"/>
              </a:rPr>
              <a:t>('code').</a:t>
            </a:r>
            <a:r>
              <a:rPr lang="en-US" altLang="zh-CN" sz="1600" dirty="0" err="1">
                <a:latin typeface="Monaco" pitchFamily="49" charset="0"/>
              </a:rPr>
              <a:t>innerHTML</a:t>
            </a:r>
            <a:r>
              <a:rPr lang="en-US" altLang="zh-CN" sz="1600" dirty="0">
                <a:latin typeface="Monaco" pitchFamily="49" charset="0"/>
              </a:rPr>
              <a:t> = </a:t>
            </a:r>
            <a:r>
              <a:rPr lang="en-US" altLang="zh-CN" sz="1600" dirty="0" err="1">
                <a:latin typeface="Monaco" pitchFamily="49" charset="0"/>
              </a:rPr>
              <a:t>strCode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  }</a:t>
            </a:r>
            <a:endParaRPr lang="en-US" altLang="zh-CN" sz="1600" dirty="0">
              <a:latin typeface="Monaco" pitchFamily="49" charset="0"/>
            </a:endParaRPr>
          </a:p>
          <a:p>
            <a:r>
              <a:rPr lang="en-US" altLang="zh-CN" sz="1600" dirty="0">
                <a:latin typeface="Monaco" pitchFamily="49" charset="0"/>
              </a:rPr>
              <a:t>    &lt;/script&gt;</a:t>
            </a:r>
            <a:endParaRPr lang="en-US" altLang="zh-CN" sz="1600" b="0" dirty="0">
              <a:effectLst/>
              <a:latin typeface="Monaco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066800"/>
            <a:ext cx="110973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获取元素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3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getElementsByTagName</a:t>
            </a:r>
            <a:r>
              <a:rPr lang="en-US" altLang="zh-CN" sz="1600" dirty="0">
                <a:latin typeface="+mn-ea"/>
              </a:rPr>
              <a:t>()</a:t>
            </a:r>
            <a:r>
              <a:rPr lang="zh-CN" altLang="en-US" sz="1600" dirty="0">
                <a:latin typeface="+mn-ea"/>
              </a:rPr>
              <a:t>，</a:t>
            </a:r>
            <a:r>
              <a:rPr lang="en-US" altLang="zh-CN" sz="1600" dirty="0">
                <a:latin typeface="+mn-ea"/>
              </a:rPr>
              <a:t> Document</a:t>
            </a:r>
            <a:r>
              <a:rPr lang="zh-CN" altLang="en-US" sz="1600" dirty="0">
                <a:latin typeface="+mn-ea"/>
              </a:rPr>
              <a:t>对象和</a:t>
            </a:r>
            <a:r>
              <a:rPr lang="en-US" altLang="zh-CN" sz="1600" dirty="0">
                <a:latin typeface="+mn-ea"/>
              </a:rPr>
              <a:t>Element</a:t>
            </a:r>
            <a:r>
              <a:rPr lang="zh-CN" altLang="en-US" sz="1600" dirty="0">
                <a:latin typeface="+mn-ea"/>
              </a:rPr>
              <a:t>对象都有提供，用于获取指定标签名的元素，返回值为</a:t>
            </a:r>
            <a:r>
              <a:rPr lang="en-US" altLang="zh-CN" sz="1600" dirty="0" err="1">
                <a:latin typeface="+mn-ea"/>
              </a:rPr>
              <a:t>HTMLCollection</a:t>
            </a:r>
            <a:r>
              <a:rPr lang="zh-CN" altLang="en-US" sz="1600" dirty="0">
                <a:latin typeface="+mn-ea"/>
              </a:rPr>
              <a:t>。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（</a:t>
            </a:r>
            <a:r>
              <a:rPr lang="en-US" altLang="zh-CN" sz="1600" dirty="0" smtClean="0">
                <a:latin typeface="+mn-ea"/>
              </a:rPr>
              <a:t>1</a:t>
            </a:r>
            <a:r>
              <a:rPr lang="zh-CN" altLang="en-US" sz="1600" dirty="0" smtClean="0">
                <a:latin typeface="+mn-ea"/>
              </a:rPr>
              <a:t>）</a:t>
            </a:r>
            <a:r>
              <a:rPr lang="en-US" altLang="zh-CN" sz="1600" dirty="0">
                <a:latin typeface="+mn-ea"/>
              </a:rPr>
              <a:t> Document</a:t>
            </a:r>
            <a:r>
              <a:rPr lang="zh-CN" altLang="en-US" sz="1600" dirty="0" smtClean="0">
                <a:latin typeface="+mn-ea"/>
              </a:rPr>
              <a:t>对象的</a:t>
            </a:r>
            <a:r>
              <a:rPr lang="en-US" altLang="zh-CN" sz="1600" dirty="0" err="1" smtClean="0">
                <a:latin typeface="+mn-ea"/>
              </a:rPr>
              <a:t>getElementByTagName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注意：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getElementsByName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方法返回</a:t>
            </a:r>
            <a:r>
              <a:rPr lang="en-US" altLang="zh-CN" sz="1600" dirty="0" err="1" smtClean="0">
                <a:latin typeface="+mn-ea"/>
              </a:rPr>
              <a:t>NodeList</a:t>
            </a:r>
            <a:r>
              <a:rPr lang="zh-CN" altLang="en-US" sz="1600" dirty="0" smtClean="0">
                <a:latin typeface="+mn-ea"/>
              </a:rPr>
              <a:t>对象，而</a:t>
            </a:r>
            <a:r>
              <a:rPr lang="en-US" altLang="zh-CN" sz="1600" dirty="0" err="1">
                <a:latin typeface="+mn-ea"/>
              </a:rPr>
              <a:t>getElementsByTagName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方法返回</a:t>
            </a:r>
            <a:r>
              <a:rPr lang="en-US" altLang="zh-CN" sz="1600" dirty="0" err="1" smtClean="0">
                <a:latin typeface="+mn-ea"/>
              </a:rPr>
              <a:t>HTMLCollection</a:t>
            </a:r>
            <a:r>
              <a:rPr lang="zh-CN" altLang="en-US" sz="1600" dirty="0" smtClean="0">
                <a:latin typeface="+mn-ea"/>
              </a:rPr>
              <a:t>对象。它们的相同点在于里面都包含了所需元素的集合；不同点在于</a:t>
            </a:r>
            <a:r>
              <a:rPr lang="en-US" altLang="zh-CN" sz="1600" dirty="0" err="1" smtClean="0">
                <a:latin typeface="+mn-ea"/>
              </a:rPr>
              <a:t>NodeList</a:t>
            </a:r>
            <a:r>
              <a:rPr lang="zh-CN" altLang="en-US" sz="1600" dirty="0" smtClean="0">
                <a:latin typeface="+mn-ea"/>
              </a:rPr>
              <a:t>对象中包含了</a:t>
            </a:r>
            <a:r>
              <a:rPr lang="en-US" altLang="zh-CN" sz="1600" dirty="0" smtClean="0">
                <a:latin typeface="+mn-ea"/>
              </a:rPr>
              <a:t>entries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err="1" smtClean="0">
                <a:latin typeface="+mn-ea"/>
              </a:rPr>
              <a:t>foreach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smtClean="0">
                <a:latin typeface="+mn-ea"/>
              </a:rPr>
              <a:t>item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smtClean="0">
                <a:latin typeface="+mn-ea"/>
              </a:rPr>
              <a:t>keys</a:t>
            </a:r>
            <a:r>
              <a:rPr lang="zh-CN" altLang="en-US" sz="1600" dirty="0" smtClean="0">
                <a:latin typeface="+mn-ea"/>
              </a:rPr>
              <a:t>和</a:t>
            </a:r>
            <a:r>
              <a:rPr lang="en-US" altLang="zh-CN" sz="1600" dirty="0" smtClean="0">
                <a:latin typeface="+mn-ea"/>
              </a:rPr>
              <a:t>values</a:t>
            </a:r>
            <a:r>
              <a:rPr lang="zh-CN" altLang="en-US" sz="1600" dirty="0" smtClean="0">
                <a:latin typeface="+mn-ea"/>
              </a:rPr>
              <a:t>方法，而</a:t>
            </a:r>
            <a:r>
              <a:rPr lang="en-US" altLang="zh-CN" sz="1600" dirty="0" err="1" smtClean="0">
                <a:latin typeface="+mn-ea"/>
              </a:rPr>
              <a:t>HTMLCollection</a:t>
            </a:r>
            <a:r>
              <a:rPr lang="zh-CN" altLang="en-US" sz="1600" dirty="0" smtClean="0">
                <a:latin typeface="+mn-ea"/>
              </a:rPr>
              <a:t>对象只有一个</a:t>
            </a:r>
            <a:r>
              <a:rPr lang="en-US" altLang="zh-CN" sz="1600" dirty="0" err="1" smtClean="0">
                <a:latin typeface="+mn-ea"/>
              </a:rPr>
              <a:t>namedItem</a:t>
            </a:r>
            <a:r>
              <a:rPr lang="zh-CN" altLang="en-US" sz="1600" dirty="0" smtClean="0">
                <a:latin typeface="+mn-ea"/>
              </a:rPr>
              <a:t>方法；而且</a:t>
            </a:r>
            <a:r>
              <a:rPr lang="en-US" altLang="zh-CN" sz="1600" dirty="0" err="1" smtClean="0">
                <a:latin typeface="+mn-ea"/>
              </a:rPr>
              <a:t>HTMLCollection</a:t>
            </a:r>
            <a:r>
              <a:rPr lang="zh-CN" altLang="en-US" sz="1600" dirty="0" smtClean="0">
                <a:latin typeface="+mn-ea"/>
              </a:rPr>
              <a:t>只包含</a:t>
            </a:r>
            <a:r>
              <a:rPr lang="en-US" altLang="zh-CN" sz="1600" dirty="0" smtClean="0">
                <a:latin typeface="+mn-ea"/>
              </a:rPr>
              <a:t>HTML</a:t>
            </a:r>
            <a:r>
              <a:rPr lang="zh-CN" altLang="en-US" sz="1600" dirty="0" smtClean="0">
                <a:latin typeface="+mn-ea"/>
              </a:rPr>
              <a:t>元素，而</a:t>
            </a:r>
            <a:r>
              <a:rPr lang="en-US" altLang="zh-CN" sz="1600" dirty="0" err="1" smtClean="0">
                <a:latin typeface="+mn-ea"/>
              </a:rPr>
              <a:t>NodeList</a:t>
            </a:r>
            <a:r>
              <a:rPr lang="zh-CN" altLang="en-US" sz="1600" dirty="0" smtClean="0">
                <a:latin typeface="+mn-ea"/>
              </a:rPr>
              <a:t>还包括文本、属性等。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848" y="2285789"/>
            <a:ext cx="4238752" cy="235486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334000" y="2971800"/>
            <a:ext cx="655320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强调：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1</a:t>
            </a:r>
            <a:r>
              <a:rPr lang="zh-CN" altLang="en-US" sz="1600" dirty="0"/>
              <a:t>、可用在任意父元素上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2</a:t>
            </a:r>
            <a:r>
              <a:rPr lang="zh-CN" altLang="en-US" sz="1600" dirty="0"/>
              <a:t>、不仅查直接子节点，而且查所有子代节点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3</a:t>
            </a:r>
            <a:r>
              <a:rPr lang="zh-CN" altLang="en-US" sz="1600" dirty="0"/>
              <a:t>、返回一个动态</a:t>
            </a:r>
            <a:r>
              <a:rPr lang="zh-CN" altLang="en-US" sz="1600" dirty="0" smtClean="0"/>
              <a:t>集合，即使</a:t>
            </a:r>
            <a:r>
              <a:rPr lang="zh-CN" altLang="en-US" sz="1600" dirty="0"/>
              <a:t>只找到一个元素，也返回集合，必须用</a:t>
            </a:r>
            <a:r>
              <a:rPr lang="en-US" altLang="zh-CN" sz="1600" dirty="0"/>
              <a:t>[0</a:t>
            </a:r>
            <a:r>
              <a:rPr lang="en-US" altLang="zh-CN" sz="1600" dirty="0" smtClean="0"/>
              <a:t>]</a:t>
            </a:r>
            <a:r>
              <a:rPr lang="zh-CN" altLang="en-US" sz="1600" dirty="0" smtClean="0"/>
              <a:t>，取出</a:t>
            </a:r>
            <a:r>
              <a:rPr lang="zh-CN" altLang="en-US" sz="1600" dirty="0"/>
              <a:t>唯一</a:t>
            </a:r>
            <a:r>
              <a:rPr lang="zh-CN" altLang="en-US" sz="1600" dirty="0" smtClean="0"/>
              <a:t>元素。</a:t>
            </a:r>
            <a:endParaRPr lang="zh-CN" altLang="en-US" sz="1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获取元素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4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getElementsByClassName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，</a:t>
            </a:r>
            <a:r>
              <a:rPr lang="en-US" altLang="zh-CN" sz="1600" dirty="0">
                <a:latin typeface="+mn-ea"/>
              </a:rPr>
              <a:t> Document</a:t>
            </a:r>
            <a:r>
              <a:rPr lang="zh-CN" altLang="en-US" sz="1600" dirty="0">
                <a:latin typeface="+mn-ea"/>
              </a:rPr>
              <a:t>对象和</a:t>
            </a:r>
            <a:r>
              <a:rPr lang="en-US" altLang="zh-CN" sz="1600" dirty="0">
                <a:latin typeface="+mn-ea"/>
              </a:rPr>
              <a:t>Element</a:t>
            </a:r>
            <a:r>
              <a:rPr lang="zh-CN" altLang="en-US" sz="1600" dirty="0">
                <a:latin typeface="+mn-ea"/>
              </a:rPr>
              <a:t>对象都有</a:t>
            </a:r>
            <a:r>
              <a:rPr lang="zh-CN" altLang="en-US" sz="1600" dirty="0" smtClean="0">
                <a:latin typeface="+mn-ea"/>
              </a:rPr>
              <a:t>提供，可以根据</a:t>
            </a:r>
            <a:r>
              <a:rPr lang="en-US" altLang="zh-CN" sz="1600" dirty="0" smtClean="0">
                <a:latin typeface="+mn-ea"/>
              </a:rPr>
              <a:t>CSS</a:t>
            </a:r>
            <a:r>
              <a:rPr lang="zh-CN" altLang="en-US" sz="1600" dirty="0" smtClean="0">
                <a:latin typeface="+mn-ea"/>
              </a:rPr>
              <a:t>类名获取元素，返回值为</a:t>
            </a:r>
            <a:r>
              <a:rPr lang="en-US" altLang="zh-CN" sz="1600" dirty="0" err="1" smtClean="0">
                <a:latin typeface="+mn-ea"/>
              </a:rPr>
              <a:t>HTMLCollection</a:t>
            </a:r>
            <a:r>
              <a:rPr lang="zh-CN" altLang="en-US" sz="1600" dirty="0" smtClean="0">
                <a:latin typeface="+mn-ea"/>
              </a:rPr>
              <a:t>。参数可以是一个类名，也可以是多个类名，多个类名的时候采用空格分隔。比如“</a:t>
            </a:r>
            <a:r>
              <a:rPr lang="en-US" altLang="zh-CN" sz="1600" dirty="0" smtClean="0">
                <a:latin typeface="+mn-ea"/>
              </a:rPr>
              <a:t>class-a class-b</a:t>
            </a:r>
            <a:r>
              <a:rPr lang="zh-CN" altLang="en-US" sz="1600" dirty="0" smtClean="0">
                <a:latin typeface="+mn-ea"/>
              </a:rPr>
              <a:t>”。类名先后顺序</a:t>
            </a:r>
            <a:r>
              <a:rPr lang="zh-CN" altLang="en-US" sz="1600" dirty="0">
                <a:latin typeface="+mn-ea"/>
              </a:rPr>
              <a:t>无关。有兼容性问题</a:t>
            </a:r>
            <a:r>
              <a:rPr lang="en-US" altLang="zh-CN" sz="1600" dirty="0">
                <a:latin typeface="+mn-ea"/>
              </a:rPr>
              <a:t>: IE9</a:t>
            </a:r>
            <a:r>
              <a:rPr lang="en-US" altLang="zh-CN" sz="1600" dirty="0" smtClean="0">
                <a:latin typeface="+mn-ea"/>
              </a:rPr>
              <a:t>+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48000"/>
            <a:ext cx="5579128" cy="27432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获取元素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5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smtClean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querySelectorAll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和</a:t>
            </a:r>
            <a:r>
              <a:rPr lang="en-US" altLang="zh-CN" sz="1600" dirty="0" err="1" smtClean="0">
                <a:latin typeface="+mn-ea"/>
              </a:rPr>
              <a:t>querySelector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，通过选择器获取元素。参数是选择器，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querySelectorAll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返回符合选择器的所有节点的</a:t>
            </a:r>
            <a:r>
              <a:rPr lang="en-US" altLang="zh-CN" sz="1600" dirty="0" err="1" smtClean="0">
                <a:latin typeface="+mn-ea"/>
              </a:rPr>
              <a:t>NodeList</a:t>
            </a:r>
            <a:r>
              <a:rPr lang="zh-CN" altLang="en-US" sz="1600" dirty="0" smtClean="0">
                <a:latin typeface="+mn-ea"/>
              </a:rPr>
              <a:t>，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err="1">
                <a:latin typeface="+mn-ea"/>
              </a:rPr>
              <a:t>querySelector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返回第一个匹配的元素。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7600" y="2531259"/>
            <a:ext cx="4603598" cy="399175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14400" y="2552700"/>
            <a:ext cx="6096000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80CBC4"/>
                </a:solidFill>
              </a:rPr>
              <a:t>     &lt;</a:t>
            </a:r>
            <a:r>
              <a:rPr lang="en-US" altLang="zh-CN" sz="1400" dirty="0" err="1">
                <a:solidFill>
                  <a:srgbClr val="FF5370"/>
                </a:solidFill>
              </a:rPr>
              <a:t>ul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task-list-wrap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class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done delay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</a:t>
            </a:r>
            <a:r>
              <a:rPr lang="en-US" altLang="zh-CN" sz="1400" dirty="0">
                <a:solidFill>
                  <a:srgbClr val="CDD3DE"/>
                </a:solidFill>
              </a:rPr>
              <a:t>1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class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done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</a:t>
            </a:r>
            <a:r>
              <a:rPr lang="en-US" altLang="zh-CN" sz="1400" dirty="0">
                <a:solidFill>
                  <a:srgbClr val="CDD3DE"/>
                </a:solidFill>
              </a:rPr>
              <a:t>2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class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doing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</a:t>
            </a:r>
            <a:r>
              <a:rPr lang="en-US" altLang="zh-CN" sz="1400" dirty="0">
                <a:solidFill>
                  <a:srgbClr val="CDD3DE"/>
                </a:solidFill>
              </a:rPr>
              <a:t>3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class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waiting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</a:t>
            </a:r>
            <a:r>
              <a:rPr lang="en-US" altLang="zh-CN" sz="1400" dirty="0">
                <a:solidFill>
                  <a:srgbClr val="CDD3DE"/>
                </a:solidFill>
              </a:rPr>
              <a:t>4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class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waiting delay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</a:t>
            </a:r>
            <a:r>
              <a:rPr lang="en-US" altLang="zh-CN" sz="1400" dirty="0">
                <a:solidFill>
                  <a:srgbClr val="CDD3DE"/>
                </a:solidFill>
              </a:rPr>
              <a:t>5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class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doing delay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</a:t>
            </a:r>
            <a:r>
              <a:rPr lang="en-US" altLang="zh-CN" sz="1400" dirty="0">
                <a:solidFill>
                  <a:srgbClr val="CDD3DE"/>
                </a:solidFill>
              </a:rPr>
              <a:t>6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CDD3DE"/>
                </a:solidFill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class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doing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</a:t>
            </a:r>
            <a:r>
              <a:rPr lang="en-US" altLang="zh-CN" sz="1400" dirty="0">
                <a:solidFill>
                  <a:srgbClr val="CDD3DE"/>
                </a:solidFill>
              </a:rPr>
              <a:t>7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 err="1">
                <a:solidFill>
                  <a:srgbClr val="FF5370"/>
                </a:solidFill>
              </a:rPr>
              <a:t>ul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a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 err="1">
                <a:solidFill>
                  <a:srgbClr val="FFCB6B"/>
                </a:solidFill>
              </a:rPr>
              <a:t>href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task.html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任务要求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a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a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 err="1">
                <a:solidFill>
                  <a:srgbClr val="FFCB6B"/>
                </a:solidFill>
              </a:rPr>
              <a:t>href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task.html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计划进度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a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a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 err="1">
                <a:solidFill>
                  <a:srgbClr val="FFCB6B"/>
                </a:solidFill>
              </a:rPr>
              <a:t>href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team.html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</a:rPr>
              <a:t>团队</a:t>
            </a:r>
            <a:r>
              <a:rPr lang="en-US" altLang="zh-CN" sz="1400" dirty="0">
                <a:solidFill>
                  <a:srgbClr val="80CBC4"/>
                </a:solidFill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</a:rPr>
              <a:t>a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CDD3DE"/>
                </a:solidFill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</a:rPr>
              <a:t> </a:t>
            </a:r>
            <a:r>
              <a:rPr lang="en-US" altLang="zh-CN" sz="1400" dirty="0">
                <a:solidFill>
                  <a:srgbClr val="FFCB6B"/>
                </a:solidFill>
              </a:rPr>
              <a:t>type</a:t>
            </a:r>
            <a:r>
              <a:rPr lang="en-US" altLang="zh-CN" sz="1400" dirty="0">
                <a:solidFill>
                  <a:srgbClr val="80CBC4"/>
                </a:solidFill>
              </a:rPr>
              <a:t>=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C3E88D"/>
                </a:solidFill>
              </a:rPr>
              <a:t>text/</a:t>
            </a:r>
            <a:r>
              <a:rPr lang="en-US" altLang="zh-CN" sz="1400" dirty="0" err="1">
                <a:solidFill>
                  <a:srgbClr val="C3E88D"/>
                </a:solidFill>
              </a:rPr>
              <a:t>javascript</a:t>
            </a:r>
            <a:r>
              <a:rPr lang="en-US" altLang="zh-CN" sz="1400" dirty="0">
                <a:solidFill>
                  <a:srgbClr val="D9F5DD"/>
                </a:solidFill>
              </a:rPr>
              <a:t>"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80CBC4"/>
                </a:solidFill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</a:rPr>
              <a:t>.querySelector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C3E88D"/>
                </a:solidFill>
              </a:rPr>
              <a:t>#task-list-wrap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80CBC4"/>
                </a:solidFill>
              </a:rPr>
              <a:t>))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80CBC4"/>
                </a:solidFill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</a:rPr>
              <a:t>.querySelectorAll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C3E88D"/>
                </a:solidFill>
              </a:rPr>
              <a:t>.delay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80CBC4"/>
                </a:solidFill>
              </a:rPr>
              <a:t>))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80CBC4"/>
                </a:solidFill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</a:rPr>
              <a:t>.querySelector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C3E88D"/>
                </a:solidFill>
              </a:rPr>
              <a:t>.delay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80CBC4"/>
                </a:solidFill>
              </a:rPr>
              <a:t>))</a:t>
            </a:r>
            <a:endParaRPr lang="en-US" altLang="zh-CN" sz="1400" dirty="0">
              <a:solidFill>
                <a:srgbClr val="CBCCC6"/>
              </a:solidFill>
            </a:endParaRPr>
          </a:p>
          <a:p>
            <a:pPr lvl="1"/>
            <a:r>
              <a:rPr lang="en-US" altLang="zh-CN" sz="1400" dirty="0">
                <a:solidFill>
                  <a:srgbClr val="80CBC4"/>
                </a:solidFill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</a:rPr>
              <a:t>.querySelectorAll</a:t>
            </a:r>
            <a:r>
              <a:rPr lang="en-US" altLang="zh-CN" sz="1400" dirty="0">
                <a:solidFill>
                  <a:srgbClr val="80CBC4"/>
                </a:solidFill>
              </a:rPr>
              <a:t>(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C3E88D"/>
                </a:solidFill>
              </a:rPr>
              <a:t>[</a:t>
            </a:r>
            <a:r>
              <a:rPr lang="en-US" altLang="zh-CN" sz="1400" dirty="0" err="1">
                <a:solidFill>
                  <a:srgbClr val="C3E88D"/>
                </a:solidFill>
              </a:rPr>
              <a:t>href</a:t>
            </a:r>
            <a:r>
              <a:rPr lang="en-US" altLang="zh-CN" sz="1400" dirty="0">
                <a:solidFill>
                  <a:srgbClr val="C3E88D"/>
                </a:solidFill>
              </a:rPr>
              <a:t>="task.html"]</a:t>
            </a:r>
            <a:r>
              <a:rPr lang="en-US" altLang="zh-CN" sz="1400" dirty="0">
                <a:solidFill>
                  <a:srgbClr val="D9F5DD"/>
                </a:solidFill>
              </a:rPr>
              <a:t>'</a:t>
            </a:r>
            <a:r>
              <a:rPr lang="en-US" altLang="zh-CN" sz="1400" dirty="0">
                <a:solidFill>
                  <a:srgbClr val="80CBC4"/>
                </a:solidFill>
              </a:rPr>
              <a:t>))</a:t>
            </a:r>
            <a:endParaRPr lang="en-US" altLang="zh-CN" sz="1400" dirty="0">
              <a:solidFill>
                <a:srgbClr val="CBCCC6"/>
              </a:solidFill>
            </a:endParaRPr>
          </a:p>
          <a:p>
            <a:r>
              <a:rPr lang="en-US" altLang="zh-CN" sz="1400" dirty="0">
                <a:solidFill>
                  <a:srgbClr val="80CBC4"/>
                </a:solidFill>
              </a:rPr>
              <a:t>    </a:t>
            </a:r>
            <a:r>
              <a:rPr lang="en-US" altLang="zh-CN" sz="1400" dirty="0">
                <a:solidFill>
                  <a:srgbClr val="CDD3DE"/>
                </a:solidFill>
              </a:rPr>
              <a:t>&lt;</a:t>
            </a:r>
            <a:r>
              <a:rPr lang="en-US" altLang="zh-CN" sz="1400" dirty="0">
                <a:solidFill>
                  <a:srgbClr val="80CBC4"/>
                </a:solidFill>
              </a:rPr>
              <a:t>/</a:t>
            </a:r>
            <a:r>
              <a:rPr lang="en-US" altLang="zh-CN" sz="1400" dirty="0">
                <a:solidFill>
                  <a:srgbClr val="FF5370"/>
                </a:solidFill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</a:rPr>
              <a:t>&gt;</a:t>
            </a:r>
            <a:endParaRPr lang="en-US" altLang="zh-CN" sz="1400" b="0" dirty="0">
              <a:solidFill>
                <a:srgbClr val="CBCCC6"/>
              </a:solidFill>
              <a:effectLst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遍历元素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在</a:t>
            </a:r>
            <a:r>
              <a:rPr lang="en-US" altLang="zh-CN" sz="1600" dirty="0" smtClean="0">
                <a:latin typeface="+mn-ea"/>
              </a:rPr>
              <a:t>DOM</a:t>
            </a:r>
            <a:r>
              <a:rPr lang="zh-CN" altLang="en-US" sz="1600" dirty="0" smtClean="0">
                <a:latin typeface="+mn-ea"/>
              </a:rPr>
              <a:t>操作中经常会需要查找某个元素的其他相关元素，比如它的父元素节点、兄弟元素节点或者子结点，可以通过遍历树的方式来遍历文档结构。</a:t>
            </a:r>
            <a:r>
              <a:rPr lang="en-US" altLang="zh-CN" sz="1600" dirty="0" smtClean="0">
                <a:latin typeface="+mn-ea"/>
              </a:rPr>
              <a:t>DOM</a:t>
            </a:r>
            <a:r>
              <a:rPr lang="zh-CN" altLang="en-US" sz="1600" dirty="0" smtClean="0">
                <a:latin typeface="+mn-ea"/>
              </a:rPr>
              <a:t>树中的</a:t>
            </a:r>
            <a:r>
              <a:rPr lang="en-US" altLang="zh-CN" sz="1600" dirty="0" smtClean="0">
                <a:latin typeface="+mn-ea"/>
              </a:rPr>
              <a:t>Node</a:t>
            </a:r>
            <a:r>
              <a:rPr lang="zh-CN" altLang="en-US" sz="1600" dirty="0" smtClean="0">
                <a:latin typeface="+mn-ea"/>
              </a:rPr>
              <a:t>对象包括</a:t>
            </a:r>
            <a:r>
              <a:rPr lang="en-US" altLang="zh-CN" sz="1600" dirty="0" smtClean="0">
                <a:latin typeface="+mn-ea"/>
              </a:rPr>
              <a:t>Document</a:t>
            </a:r>
            <a:r>
              <a:rPr lang="zh-CN" altLang="en-US" sz="1600" dirty="0" smtClean="0">
                <a:latin typeface="+mn-ea"/>
              </a:rPr>
              <a:t>对象、</a:t>
            </a:r>
            <a:r>
              <a:rPr lang="en-US" altLang="zh-CN" sz="1600" dirty="0" smtClean="0">
                <a:latin typeface="+mn-ea"/>
              </a:rPr>
              <a:t>Element</a:t>
            </a:r>
            <a:r>
              <a:rPr lang="zh-CN" altLang="en-US" sz="1600" dirty="0" smtClean="0">
                <a:latin typeface="+mn-ea"/>
              </a:rPr>
              <a:t>对象等，都提供了一些属性来进行遍历操作。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67000"/>
            <a:ext cx="10287000" cy="3543169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遍历元素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9838" y="2086838"/>
            <a:ext cx="6553200" cy="323165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2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list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html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r>
              <a:rPr lang="en-US" altLang="zh-CN" sz="1200" dirty="0" err="1">
                <a:solidFill>
                  <a:srgbClr val="CDD3DE"/>
                </a:solidFill>
                <a:latin typeface="Monaco" pitchFamily="49" charset="0"/>
              </a:rPr>
              <a:t>css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r>
              <a:rPr lang="en-US" altLang="zh-CN" sz="1200" dirty="0" err="1">
                <a:solidFill>
                  <a:srgbClr val="CDD3DE"/>
                </a:solidFill>
                <a:latin typeface="Monaco" pitchFamily="49" charset="0"/>
              </a:rPr>
              <a:t>js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2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list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2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childNodes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2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childNodes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.length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2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children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2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childElementCount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lis</a:t>
            </a:r>
            <a:r>
              <a:rPr lang="en-US" altLang="zh-CN" sz="12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children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C792EA"/>
                </a:solidFill>
                <a:latin typeface="Monaco" pitchFamily="49" charset="0"/>
              </a:rPr>
              <a:t>for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(</a:t>
            </a:r>
            <a:r>
              <a:rPr lang="en-US" altLang="zh-CN" sz="12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2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200" dirty="0">
                <a:solidFill>
                  <a:srgbClr val="F77669"/>
                </a:solidFill>
                <a:latin typeface="Monaco" pitchFamily="49" charset="0"/>
              </a:rPr>
              <a:t>0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;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&lt;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lis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.length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;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++) {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2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`</a:t>
            </a:r>
            <a:r>
              <a:rPr lang="zh-CN" altLang="en-US" sz="1200" dirty="0">
                <a:solidFill>
                  <a:srgbClr val="C3E88D"/>
                </a:solidFill>
                <a:latin typeface="Monaco" pitchFamily="49" charset="0"/>
              </a:rPr>
              <a:t>元素节点类型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${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lis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[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].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nodeType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}, </a:t>
            </a:r>
            <a:r>
              <a:rPr lang="zh-CN" altLang="en-US" sz="1200" dirty="0">
                <a:solidFill>
                  <a:srgbClr val="C3E88D"/>
                </a:solidFill>
                <a:latin typeface="Monaco" pitchFamily="49" charset="0"/>
              </a:rPr>
              <a:t>元素节点值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${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lis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[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].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nodeName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}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`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}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1219200"/>
            <a:ext cx="3536679" cy="46434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访问元素属性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元素属性分为内置属性和自定义属性。如</a:t>
            </a:r>
            <a:r>
              <a:rPr lang="en-US" altLang="zh-CN" sz="1600" dirty="0" err="1" smtClean="0">
                <a:latin typeface="+mn-ea"/>
              </a:rPr>
              <a:t>src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err="1" smtClean="0">
                <a:latin typeface="+mn-ea"/>
              </a:rPr>
              <a:t>href</a:t>
            </a:r>
            <a:r>
              <a:rPr lang="zh-CN" altLang="en-US" sz="1600" dirty="0" smtClean="0">
                <a:latin typeface="+mn-ea"/>
              </a:rPr>
              <a:t>等都是内置属性。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1</a:t>
            </a:r>
            <a:r>
              <a:rPr lang="zh-CN" altLang="en-US" sz="1600" dirty="0" smtClean="0">
                <a:latin typeface="+mn-ea"/>
              </a:rPr>
              <a:t>、访问元素内置属性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对于内置属性，可以通过属性名对属性进行值的获取和设定，例如：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" y="2971800"/>
            <a:ext cx="10515600" cy="15696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80CBC4"/>
                </a:solidFill>
                <a:latin typeface="Monaco" pitchFamily="49" charset="0"/>
              </a:rPr>
              <a:t>    &lt;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img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 err="1">
                <a:solidFill>
                  <a:srgbClr val="FFCB6B"/>
                </a:solidFill>
                <a:latin typeface="Monaco" pitchFamily="49" charset="0"/>
              </a:rPr>
              <a:t>src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banner.png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FFCB6B"/>
                </a:solidFill>
                <a:latin typeface="Monaco" pitchFamily="49" charset="0"/>
              </a:rPr>
              <a:t>alt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zh-CN" altLang="en-US" sz="1600" dirty="0">
                <a:solidFill>
                  <a:srgbClr val="C3E88D"/>
                </a:solidFill>
                <a:latin typeface="Monaco" pitchFamily="49" charset="0"/>
              </a:rPr>
              <a:t>广告横幅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zh-CN" altLang="en-US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 err="1">
                <a:solidFill>
                  <a:srgbClr val="C3E88D"/>
                </a:solidFill>
                <a:latin typeface="Monaco" pitchFamily="49" charset="0"/>
              </a:rPr>
              <a:t>img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-banner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/&gt;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text/</a:t>
            </a:r>
            <a:r>
              <a:rPr lang="en-US" altLang="zh-CN" sz="1600" dirty="0" err="1">
                <a:solidFill>
                  <a:srgbClr val="C3E88D"/>
                </a:solidFill>
                <a:latin typeface="Monaco" pitchFamily="49" charset="0"/>
              </a:rPr>
              <a:t>javascript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6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banner</a:t>
            </a:r>
            <a:r>
              <a:rPr lang="en-US" altLang="zh-CN" sz="16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6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600" dirty="0" smtClean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600" dirty="0" smtClean="0">
                <a:solidFill>
                  <a:srgbClr val="D9F5DD"/>
                </a:solidFill>
                <a:latin typeface="Monaco" pitchFamily="49" charset="0"/>
              </a:rPr>
              <a:t>‘</a:t>
            </a:r>
            <a:r>
              <a:rPr lang="en-US" altLang="zh-CN" sz="1600" dirty="0" err="1" smtClean="0">
                <a:solidFill>
                  <a:srgbClr val="D9F5DD"/>
                </a:solidFill>
                <a:latin typeface="Monaco" pitchFamily="49" charset="0"/>
              </a:rPr>
              <a:t>img</a:t>
            </a:r>
            <a:r>
              <a:rPr lang="en-US" altLang="zh-CN" sz="1600" dirty="0" smtClean="0">
                <a:solidFill>
                  <a:srgbClr val="D9F5DD"/>
                </a:solidFill>
                <a:latin typeface="Monaco" pitchFamily="49" charset="0"/>
              </a:rPr>
              <a:t>-</a:t>
            </a:r>
            <a:r>
              <a:rPr lang="en-US" altLang="zh-CN" sz="1600" dirty="0" smtClean="0">
                <a:solidFill>
                  <a:srgbClr val="C3E88D"/>
                </a:solidFill>
                <a:latin typeface="Monaco" pitchFamily="49" charset="0"/>
              </a:rPr>
              <a:t>banner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6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banner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id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,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banner</a:t>
            </a:r>
            <a:r>
              <a:rPr lang="en-US" altLang="zh-CN" sz="16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alt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,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banner</a:t>
            </a:r>
            <a:r>
              <a:rPr lang="en-US" altLang="zh-CN" sz="16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src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banner</a:t>
            </a:r>
            <a:r>
              <a:rPr lang="en-US" altLang="zh-CN" sz="16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src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= 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img-banner-new.png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6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6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1219200"/>
            <a:ext cx="11097362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访问元素属性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2</a:t>
            </a:r>
            <a:r>
              <a:rPr lang="zh-CN" altLang="en-US" sz="1600" dirty="0" smtClean="0">
                <a:latin typeface="+mn-ea"/>
              </a:rPr>
              <a:t>、访问自定义属性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HTML5</a:t>
            </a:r>
            <a:r>
              <a:rPr lang="zh-CN" altLang="en-US" sz="1600" dirty="0" smtClean="0">
                <a:latin typeface="+mn-ea"/>
              </a:rPr>
              <a:t>支持通过“</a:t>
            </a:r>
            <a:r>
              <a:rPr lang="en-US" altLang="zh-CN" sz="1600" dirty="0" smtClean="0">
                <a:latin typeface="+mn-ea"/>
              </a:rPr>
              <a:t>data-</a:t>
            </a:r>
            <a:r>
              <a:rPr lang="zh-CN" altLang="en-US" sz="1600" dirty="0" smtClean="0">
                <a:latin typeface="+mn-ea"/>
              </a:rPr>
              <a:t>”设置自定义属性。对于自定义属性，可以通过</a:t>
            </a:r>
            <a:r>
              <a:rPr lang="en-US" altLang="zh-CN" sz="1600" dirty="0" err="1" smtClean="0">
                <a:latin typeface="+mn-ea"/>
              </a:rPr>
              <a:t>getAttribute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和</a:t>
            </a:r>
            <a:r>
              <a:rPr lang="en-US" altLang="zh-CN" sz="1600" dirty="0" err="1" smtClean="0">
                <a:latin typeface="+mn-ea"/>
              </a:rPr>
              <a:t>setAttribute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方法来获取和设置。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hasAttribute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：判断属性是否存在；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removeAttribute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：删除属性。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5800" y="2590800"/>
            <a:ext cx="10744200" cy="26776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div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product-123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data-product-id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123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data-product-name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web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data-product-status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unread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&gt;&lt;/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div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text/</a:t>
            </a:r>
            <a:r>
              <a:rPr lang="en-US" altLang="zh-CN" sz="1400" dirty="0" err="1">
                <a:solidFill>
                  <a:srgbClr val="C3E88D"/>
                </a:solidFill>
                <a:latin typeface="Monaco" pitchFamily="49" charset="0"/>
              </a:rPr>
              <a:t>javascript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prod</a:t>
            </a:r>
            <a:r>
              <a:rPr lang="en-US" altLang="zh-CN" sz="14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product-123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productObj</a:t>
            </a:r>
            <a:r>
              <a:rPr lang="en-US" altLang="zh-CN" sz="14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 {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400" dirty="0">
                <a:solidFill>
                  <a:srgbClr val="FFFFFF"/>
                </a:solidFill>
                <a:latin typeface="Monaco" pitchFamily="49" charset="0"/>
              </a:rPr>
              <a:t>id: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prod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.getAttribute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data-product-id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),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400" dirty="0">
                <a:solidFill>
                  <a:srgbClr val="FFFFFF"/>
                </a:solidFill>
                <a:latin typeface="Monaco" pitchFamily="49" charset="0"/>
              </a:rPr>
              <a:t>name: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prod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.getAttribute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data-product-name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}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prod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.setAttribute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data-product-status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, 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read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productObj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prod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.getAttribute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data-product-status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937" y="5805443"/>
            <a:ext cx="4105275" cy="81915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访问和修改文档内容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可以通过</a:t>
            </a:r>
            <a:r>
              <a:rPr lang="en-US" altLang="zh-CN" sz="1600" dirty="0" err="1" smtClean="0">
                <a:latin typeface="+mn-ea"/>
              </a:rPr>
              <a:t>innerHTML</a:t>
            </a:r>
            <a:r>
              <a:rPr lang="zh-CN" altLang="en-US" sz="1600" dirty="0" smtClean="0">
                <a:latin typeface="+mn-ea"/>
              </a:rPr>
              <a:t>属性完成，该属性可以是包含</a:t>
            </a:r>
            <a:r>
              <a:rPr lang="en-US" altLang="zh-CN" sz="1600" dirty="0" smtClean="0">
                <a:latin typeface="+mn-ea"/>
              </a:rPr>
              <a:t>HTML</a:t>
            </a:r>
            <a:r>
              <a:rPr lang="zh-CN" altLang="en-US" sz="1600" dirty="0" smtClean="0">
                <a:latin typeface="+mn-ea"/>
              </a:rPr>
              <a:t>的字符串。例如将数组</a:t>
            </a:r>
            <a:r>
              <a:rPr lang="en-US" altLang="zh-CN" sz="1600" dirty="0" smtClean="0">
                <a:latin typeface="+mn-ea"/>
              </a:rPr>
              <a:t>fruits</a:t>
            </a:r>
            <a:r>
              <a:rPr lang="zh-CN" altLang="en-US" sz="1600" dirty="0" smtClean="0">
                <a:latin typeface="+mn-ea"/>
              </a:rPr>
              <a:t>内容生成一个列表：</a:t>
            </a:r>
            <a:endParaRPr lang="en-US" altLang="zh-CN" sz="1600" dirty="0" smtClean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90600" y="2286000"/>
            <a:ext cx="1043940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 smtClean="0">
                <a:solidFill>
                  <a:srgbClr val="80CBC4"/>
                </a:solidFill>
                <a:latin typeface="Monaco" pitchFamily="49" charset="0"/>
              </a:rPr>
              <a:t>   &lt;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fruit-list-wrap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&gt;&lt;/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text/</a:t>
            </a:r>
            <a:r>
              <a:rPr lang="en-US" altLang="zh-CN" sz="1600" dirty="0" err="1">
                <a:solidFill>
                  <a:srgbClr val="C3E88D"/>
                </a:solidFill>
                <a:latin typeface="Monaco" pitchFamily="49" charset="0"/>
              </a:rPr>
              <a:t>javascript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600" dirty="0" err="1">
                <a:solidFill>
                  <a:srgbClr val="C792EA"/>
                </a:solidFill>
                <a:latin typeface="Monaco" pitchFamily="49" charset="0"/>
              </a:rPr>
              <a:t>const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fruits</a:t>
            </a:r>
            <a:r>
              <a:rPr lang="en-US" altLang="zh-CN" sz="16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 [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Apple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, 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Orange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, 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Grape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]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6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htmlStr</a:t>
            </a:r>
            <a:r>
              <a:rPr lang="en-US" altLang="zh-CN" sz="16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''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600" dirty="0">
                <a:solidFill>
                  <a:srgbClr val="C792EA"/>
                </a:solidFill>
                <a:latin typeface="Monaco" pitchFamily="49" charset="0"/>
              </a:rPr>
              <a:t>for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(</a:t>
            </a:r>
            <a:r>
              <a:rPr lang="en-US" altLang="zh-CN" sz="16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6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600" dirty="0">
                <a:solidFill>
                  <a:srgbClr val="F77669"/>
                </a:solidFill>
                <a:latin typeface="Monaco" pitchFamily="49" charset="0"/>
              </a:rPr>
              <a:t>0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;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&lt;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fruits</a:t>
            </a:r>
            <a:r>
              <a:rPr lang="en-US" altLang="zh-CN" sz="1600" dirty="0" err="1">
                <a:solidFill>
                  <a:srgbClr val="80CBC4"/>
                </a:solidFill>
                <a:latin typeface="Monaco" pitchFamily="49" charset="0"/>
              </a:rPr>
              <a:t>.length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;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++) {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htmlStr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+= 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`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&lt;li&gt;${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fruits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[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i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]}&lt;/li&gt;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`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}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6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fruit-list-wrap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).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innerHTML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= </a:t>
            </a:r>
            <a:r>
              <a:rPr lang="en-US" altLang="zh-CN" sz="1600" dirty="0" err="1">
                <a:solidFill>
                  <a:srgbClr val="FF5370"/>
                </a:solidFill>
                <a:latin typeface="Monaco" pitchFamily="49" charset="0"/>
              </a:rPr>
              <a:t>htmlStr</a:t>
            </a:r>
            <a:endParaRPr lang="en-US" altLang="zh-CN" sz="16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6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6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371" y="5334000"/>
            <a:ext cx="3038475" cy="132397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创建和删除元素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1</a:t>
            </a:r>
            <a:r>
              <a:rPr lang="zh-CN" altLang="en-US" sz="1600" dirty="0" smtClean="0">
                <a:latin typeface="+mn-ea"/>
              </a:rPr>
              <a:t>、创建元素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分两个步骤：首先通过</a:t>
            </a:r>
            <a:r>
              <a:rPr lang="en-US" altLang="zh-CN" sz="1600" dirty="0" err="1" smtClean="0">
                <a:latin typeface="+mn-ea"/>
              </a:rPr>
              <a:t>createElement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方法创建元素，然后通过</a:t>
            </a:r>
            <a:r>
              <a:rPr lang="en-US" altLang="zh-CN" sz="1600" dirty="0" err="1" smtClean="0">
                <a:latin typeface="+mn-ea"/>
              </a:rPr>
              <a:t>appendChild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方法添加新节点。例如在</a:t>
            </a:r>
            <a:r>
              <a:rPr lang="en-US" altLang="zh-CN" sz="1600" dirty="0" smtClean="0">
                <a:latin typeface="+mn-ea"/>
              </a:rPr>
              <a:t>id</a:t>
            </a:r>
            <a:r>
              <a:rPr lang="zh-CN" altLang="en-US" sz="1600" dirty="0" smtClean="0">
                <a:latin typeface="+mn-ea"/>
              </a:rPr>
              <a:t>为“</a:t>
            </a:r>
            <a:r>
              <a:rPr lang="en-US" altLang="zh-CN" sz="1600" dirty="0" err="1" smtClean="0">
                <a:latin typeface="+mn-ea"/>
              </a:rPr>
              <a:t>myForm</a:t>
            </a:r>
            <a:r>
              <a:rPr lang="zh-CN" altLang="en-US" sz="1600" dirty="0" smtClean="0">
                <a:latin typeface="+mn-ea"/>
              </a:rPr>
              <a:t>”的表单中添加一个文本框，代码如下：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430" y="3425572"/>
            <a:ext cx="3837838" cy="21228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05934" y="3352800"/>
            <a:ext cx="6858000" cy="13849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solidFill>
                  <a:srgbClr val="80CBC4"/>
                </a:solidFill>
                <a:latin typeface="Monaco" pitchFamily="49" charset="0"/>
              </a:rPr>
              <a:t>    &lt;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form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2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200" dirty="0" err="1">
                <a:solidFill>
                  <a:srgbClr val="C3E88D"/>
                </a:solidFill>
                <a:latin typeface="Monaco" pitchFamily="49" charset="0"/>
              </a:rPr>
              <a:t>myForm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&gt;&lt;/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form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2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text/</a:t>
            </a:r>
            <a:r>
              <a:rPr lang="en-US" altLang="zh-CN" sz="1200" dirty="0" err="1">
                <a:solidFill>
                  <a:srgbClr val="C3E88D"/>
                </a:solidFill>
                <a:latin typeface="Monaco" pitchFamily="49" charset="0"/>
              </a:rPr>
              <a:t>javascript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newNode</a:t>
            </a:r>
            <a:r>
              <a:rPr lang="en-US" altLang="zh-CN" sz="12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200" dirty="0" err="1">
                <a:solidFill>
                  <a:srgbClr val="89DDFF"/>
                </a:solidFill>
                <a:latin typeface="Monaco" pitchFamily="49" charset="0"/>
              </a:rPr>
              <a:t>.createElement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input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newNode</a:t>
            </a:r>
            <a:r>
              <a:rPr lang="en-US" altLang="zh-CN" sz="12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type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= 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text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newNode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name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 = 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>
                <a:solidFill>
                  <a:srgbClr val="C3E88D"/>
                </a:solidFill>
                <a:latin typeface="Monaco" pitchFamily="49" charset="0"/>
              </a:rPr>
              <a:t>username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2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 err="1">
                <a:solidFill>
                  <a:srgbClr val="C3E88D"/>
                </a:solidFill>
                <a:latin typeface="Monaco" pitchFamily="49" charset="0"/>
              </a:rPr>
              <a:t>myForm</a:t>
            </a:r>
            <a:r>
              <a:rPr lang="en-US" altLang="zh-CN" sz="12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r>
              <a:rPr lang="en-US" altLang="zh-CN" sz="1200" dirty="0">
                <a:solidFill>
                  <a:srgbClr val="89DDFF"/>
                </a:solidFill>
                <a:latin typeface="Monaco" pitchFamily="49" charset="0"/>
              </a:rPr>
              <a:t>.</a:t>
            </a:r>
            <a:r>
              <a:rPr lang="en-US" altLang="zh-CN" sz="1200" dirty="0" err="1">
                <a:solidFill>
                  <a:srgbClr val="89DDFF"/>
                </a:solidFill>
                <a:latin typeface="Monaco" pitchFamily="49" charset="0"/>
              </a:rPr>
              <a:t>appendChild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200" dirty="0" err="1">
                <a:solidFill>
                  <a:srgbClr val="FF5370"/>
                </a:solidFill>
                <a:latin typeface="Monaco" pitchFamily="49" charset="0"/>
              </a:rPr>
              <a:t>newNode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2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2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2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2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2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创建和删除元素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2</a:t>
            </a:r>
            <a:r>
              <a:rPr lang="zh-CN" altLang="en-US" sz="1600" dirty="0" smtClean="0">
                <a:latin typeface="+mn-ea"/>
              </a:rPr>
              <a:t>、克隆节点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可以</a:t>
            </a:r>
            <a:r>
              <a:rPr lang="zh-CN" altLang="en-US" sz="1600" dirty="0" smtClean="0">
                <a:latin typeface="+mn-ea"/>
              </a:rPr>
              <a:t>通过</a:t>
            </a:r>
            <a:r>
              <a:rPr lang="en-US" altLang="zh-CN" sz="1600" dirty="0" err="1" smtClean="0">
                <a:latin typeface="+mn-ea"/>
              </a:rPr>
              <a:t>cloneNode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进行节点的复制，如果参数为</a:t>
            </a:r>
            <a:r>
              <a:rPr lang="en-US" altLang="zh-CN" sz="1600" dirty="0" smtClean="0">
                <a:latin typeface="+mn-ea"/>
              </a:rPr>
              <a:t>true</a:t>
            </a:r>
            <a:r>
              <a:rPr lang="zh-CN" altLang="en-US" sz="1600" dirty="0" smtClean="0">
                <a:latin typeface="+mn-ea"/>
              </a:rPr>
              <a:t>则克隆本节点及其所有后代节点，如果参数为</a:t>
            </a:r>
            <a:r>
              <a:rPr lang="en-US" altLang="zh-CN" sz="1600" dirty="0" smtClean="0">
                <a:latin typeface="+mn-ea"/>
              </a:rPr>
              <a:t>false</a:t>
            </a:r>
            <a:r>
              <a:rPr lang="zh-CN" altLang="en-US" sz="1600" dirty="0" smtClean="0">
                <a:latin typeface="+mn-ea"/>
              </a:rPr>
              <a:t>则只克隆节点本身。例如：</a:t>
            </a:r>
            <a:endParaRPr lang="en-US" altLang="zh-CN" sz="1600" dirty="0" smtClean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0" y="3168090"/>
            <a:ext cx="4086225" cy="232363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89838" y="3098800"/>
            <a:ext cx="6705600" cy="24622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80CBC4"/>
                </a:solidFill>
                <a:latin typeface="Monaco" pitchFamily="49" charset="0"/>
              </a:rPr>
              <a:t>    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div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wrap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list-wrap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hello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li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div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text/</a:t>
            </a:r>
            <a:r>
              <a:rPr lang="en-US" altLang="zh-CN" sz="1400" dirty="0" err="1">
                <a:solidFill>
                  <a:srgbClr val="C3E88D"/>
                </a:solidFill>
                <a:latin typeface="Monaco" pitchFamily="49" charset="0"/>
              </a:rPr>
              <a:t>javascript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4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list-wrap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ulClone</a:t>
            </a:r>
            <a:r>
              <a:rPr lang="en-US" altLang="zh-CN" sz="14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ul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.cloneNode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F77669"/>
                </a:solidFill>
                <a:latin typeface="Monaco" pitchFamily="49" charset="0"/>
              </a:rPr>
              <a:t>true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wrap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appendChild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ulClone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ulClone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= 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list-wrap-clone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创建和删除元素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3</a:t>
            </a:r>
            <a:r>
              <a:rPr lang="zh-CN" altLang="en-US" sz="1600" dirty="0" smtClean="0">
                <a:latin typeface="+mn-ea"/>
              </a:rPr>
              <a:t>、删除元素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可以通过</a:t>
            </a:r>
            <a:r>
              <a:rPr lang="en-US" altLang="zh-CN" sz="1600" dirty="0" err="1" smtClean="0">
                <a:latin typeface="+mn-ea"/>
              </a:rPr>
              <a:t>removeChild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方法进行节点的删除，例如：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parentNode.removeChild</a:t>
            </a:r>
            <a:r>
              <a:rPr lang="en-US" altLang="zh-CN" sz="1600" dirty="0" smtClean="0">
                <a:latin typeface="+mn-ea"/>
              </a:rPr>
              <a:t>(</a:t>
            </a:r>
            <a:r>
              <a:rPr lang="en-US" altLang="zh-CN" sz="1600" dirty="0" err="1" smtClean="0">
                <a:latin typeface="+mn-ea"/>
              </a:rPr>
              <a:t>childrenNode</a:t>
            </a:r>
            <a:r>
              <a:rPr lang="en-US" altLang="zh-CN" sz="1600" dirty="0" smtClean="0">
                <a:latin typeface="+mn-ea"/>
              </a:rPr>
              <a:t>);  //</a:t>
            </a:r>
            <a:r>
              <a:rPr lang="zh-CN" altLang="en-US" sz="1600" dirty="0" smtClean="0">
                <a:latin typeface="+mn-ea"/>
              </a:rPr>
              <a:t>先定位父节点，再删除子结点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someNode.parentNode.removeChild</a:t>
            </a:r>
            <a:r>
              <a:rPr lang="en-US" altLang="zh-CN" sz="1600" dirty="0" smtClean="0">
                <a:latin typeface="+mn-ea"/>
              </a:rPr>
              <a:t>(</a:t>
            </a:r>
            <a:r>
              <a:rPr lang="en-US" altLang="zh-CN" sz="1600" dirty="0" err="1">
                <a:latin typeface="+mn-ea"/>
              </a:rPr>
              <a:t>someNode</a:t>
            </a:r>
            <a:r>
              <a:rPr lang="en-US" altLang="zh-CN" sz="1600" dirty="0" smtClean="0">
                <a:latin typeface="+mn-ea"/>
              </a:rPr>
              <a:t>);  //</a:t>
            </a:r>
            <a:r>
              <a:rPr lang="zh-CN" altLang="en-US" sz="1600" dirty="0" smtClean="0">
                <a:latin typeface="+mn-ea"/>
              </a:rPr>
              <a:t>无须定位父节点，直接删除子结点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访问和修改样式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1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smtClean="0">
                <a:latin typeface="+mn-ea"/>
              </a:rPr>
              <a:t>style</a:t>
            </a:r>
            <a:r>
              <a:rPr lang="zh-CN" altLang="en-US" sz="1600" dirty="0" smtClean="0">
                <a:latin typeface="+mn-ea"/>
              </a:rPr>
              <a:t>属性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通过元素的</a:t>
            </a:r>
            <a:r>
              <a:rPr lang="en-US" altLang="zh-CN" sz="1600" dirty="0" smtClean="0">
                <a:latin typeface="+mn-ea"/>
              </a:rPr>
              <a:t>style</a:t>
            </a:r>
            <a:r>
              <a:rPr lang="zh-CN" altLang="en-US" sz="1600" dirty="0" smtClean="0">
                <a:latin typeface="+mn-ea"/>
              </a:rPr>
              <a:t>属性可以访问和修改元素的样式。例如，修改</a:t>
            </a:r>
            <a:r>
              <a:rPr lang="en-US" altLang="zh-CN" sz="1600" dirty="0" smtClean="0">
                <a:latin typeface="+mn-ea"/>
              </a:rPr>
              <a:t>p</a:t>
            </a:r>
            <a:r>
              <a:rPr lang="zh-CN" altLang="en-US" sz="1600" dirty="0" smtClean="0">
                <a:latin typeface="+mn-ea"/>
              </a:rPr>
              <a:t>元素的样式，代码如下：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p.style.fontSize</a:t>
            </a:r>
            <a:r>
              <a:rPr lang="en-US" altLang="zh-CN" sz="1600" dirty="0" smtClean="0">
                <a:latin typeface="+mn-ea"/>
              </a:rPr>
              <a:t>=“18px”;  //</a:t>
            </a:r>
            <a:r>
              <a:rPr lang="zh-CN" altLang="en-US" sz="1600" dirty="0" smtClean="0">
                <a:latin typeface="+mn-ea"/>
              </a:rPr>
              <a:t>设置字号，带单位</a:t>
            </a:r>
            <a:r>
              <a:rPr lang="en-US" altLang="zh-CN" sz="1600" dirty="0" err="1" smtClean="0">
                <a:latin typeface="+mn-ea"/>
              </a:rPr>
              <a:t>px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p.style.backgroundColor</a:t>
            </a:r>
            <a:r>
              <a:rPr lang="en-US" altLang="zh-CN" sz="1600" dirty="0" smtClean="0">
                <a:latin typeface="+mn-ea"/>
              </a:rPr>
              <a:t> = “orange”;  // </a:t>
            </a:r>
            <a:r>
              <a:rPr lang="zh-CN" altLang="en-US" sz="1600" dirty="0" smtClean="0">
                <a:latin typeface="+mn-ea"/>
              </a:rPr>
              <a:t>设置背景颜色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属性名：去横线，变驼峰</a:t>
            </a:r>
            <a:endParaRPr lang="zh-CN" altLang="en-US" sz="1600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background-color =&gt; </a:t>
            </a:r>
            <a:r>
              <a:rPr lang="en-US" altLang="zh-CN" sz="1600" dirty="0" err="1">
                <a:latin typeface="+mn-ea"/>
              </a:rPr>
              <a:t>backgroundColor</a:t>
            </a:r>
            <a:r>
              <a:rPr lang="en-US" altLang="zh-CN" sz="1600" dirty="0">
                <a:latin typeface="+mn-ea"/>
              </a:rPr>
              <a:t>  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list-style-type =&gt; </a:t>
            </a:r>
            <a:r>
              <a:rPr lang="en-US" altLang="zh-CN" sz="1600" dirty="0" err="1">
                <a:latin typeface="+mn-ea"/>
              </a:rPr>
              <a:t>listStyleType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2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err="1" smtClean="0">
                <a:latin typeface="+mn-ea"/>
              </a:rPr>
              <a:t>cssText</a:t>
            </a:r>
            <a:r>
              <a:rPr lang="zh-CN" altLang="en-US" sz="1600" dirty="0" smtClean="0">
                <a:latin typeface="+mn-ea"/>
              </a:rPr>
              <a:t>属性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在要修改多个属性的时候，如果分别修改各个属性会导致浏览器不断重新处理或绘制页面，产生页面回流（</a:t>
            </a:r>
            <a:r>
              <a:rPr lang="en-US" altLang="zh-CN" sz="1600" dirty="0" smtClean="0">
                <a:latin typeface="+mn-ea"/>
              </a:rPr>
              <a:t>reflow</a:t>
            </a:r>
            <a:r>
              <a:rPr lang="zh-CN" altLang="en-US" sz="1600" dirty="0" smtClean="0">
                <a:latin typeface="+mn-ea"/>
              </a:rPr>
              <a:t>），使用</a:t>
            </a:r>
            <a:r>
              <a:rPr lang="en-US" altLang="zh-CN" sz="1600" dirty="0" err="1" smtClean="0">
                <a:latin typeface="+mn-ea"/>
              </a:rPr>
              <a:t>cssText</a:t>
            </a:r>
            <a:r>
              <a:rPr lang="zh-CN" altLang="en-US" sz="1600" dirty="0" smtClean="0">
                <a:latin typeface="+mn-ea"/>
              </a:rPr>
              <a:t>则只会触发一次，提高页面性能，例如：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p.style.cssText</a:t>
            </a:r>
            <a:r>
              <a:rPr lang="en-US" altLang="zh-CN" sz="1600" dirty="0" smtClean="0">
                <a:latin typeface="+mn-ea"/>
              </a:rPr>
              <a:t>=“font-size:18px; </a:t>
            </a:r>
            <a:r>
              <a:rPr lang="en-US" altLang="zh-CN" sz="1600" dirty="0" err="1" smtClean="0">
                <a:latin typeface="+mn-ea"/>
              </a:rPr>
              <a:t>background-color:orange</a:t>
            </a:r>
            <a:r>
              <a:rPr lang="en-US" altLang="zh-CN" sz="1600" dirty="0" smtClean="0">
                <a:latin typeface="+mn-ea"/>
              </a:rPr>
              <a:t>;”</a:t>
            </a:r>
            <a:endParaRPr lang="zh-CN" altLang="en-US" sz="1600" dirty="0" smtClean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访问和修改样式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3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err="1" smtClean="0">
                <a:latin typeface="+mn-ea"/>
              </a:rPr>
              <a:t>getComputedStyle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style</a:t>
            </a:r>
            <a:r>
              <a:rPr lang="zh-CN" altLang="en-US" sz="1600" dirty="0" smtClean="0">
                <a:latin typeface="+mn-ea"/>
              </a:rPr>
              <a:t>属性只能获取行内样式，使用</a:t>
            </a:r>
            <a:r>
              <a:rPr lang="en-US" altLang="zh-CN" sz="1600" dirty="0" err="1">
                <a:latin typeface="+mn-ea"/>
              </a:rPr>
              <a:t>getComputedStyle</a:t>
            </a:r>
            <a:r>
              <a:rPr lang="en-US" altLang="zh-CN" sz="1600" dirty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方法，可以获得一个元素的全部样式。</a:t>
            </a:r>
            <a:endParaRPr lang="en-US" altLang="zh-CN" sz="16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0" y="2908756"/>
            <a:ext cx="2120072" cy="264667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14400" y="2785541"/>
            <a:ext cx="7924800" cy="28931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rgbClr val="80CBC4"/>
                </a:solidFill>
                <a:latin typeface="Monaco" pitchFamily="49" charset="0"/>
              </a:rPr>
              <a:t>    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div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wrap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style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font-size: 18px; width: 200px"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&gt;&lt;/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div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text/</a:t>
            </a:r>
            <a:r>
              <a:rPr lang="en-US" altLang="zh-CN" sz="1400" dirty="0" err="1">
                <a:solidFill>
                  <a:srgbClr val="C3E88D"/>
                </a:solidFill>
                <a:latin typeface="Monaco" pitchFamily="49" charset="0"/>
              </a:rPr>
              <a:t>javascript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wrap</a:t>
            </a:r>
            <a:r>
              <a:rPr lang="en-US" altLang="zh-CN" sz="14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wrap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wrap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width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wrap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height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wrap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fontSize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wrap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backgroundColor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let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computedStyle</a:t>
            </a:r>
            <a:r>
              <a:rPr lang="en-US" altLang="zh-CN" sz="1400" dirty="0">
                <a:solidFill>
                  <a:srgbClr val="1290BF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window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.getComputedStyle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wrap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, </a:t>
            </a:r>
            <a:r>
              <a:rPr lang="en-US" altLang="zh-CN" sz="1400" dirty="0">
                <a:solidFill>
                  <a:srgbClr val="F77669"/>
                </a:solidFill>
                <a:latin typeface="Monaco" pitchFamily="49" charset="0"/>
              </a:rPr>
              <a:t>null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computedStyle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width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computedStyle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height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computedStyle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fontSize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console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.log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computedStyle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backgroundColor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914400"/>
            <a:ext cx="11097362" cy="460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例子：定义点，包括位置、颜色等属性，并创建</a:t>
            </a:r>
            <a:r>
              <a:rPr lang="en-US" altLang="zh-CN" b="1" dirty="0" smtClean="0">
                <a:solidFill>
                  <a:srgbClr val="C00000"/>
                </a:solidFill>
              </a:rPr>
              <a:t>3</a:t>
            </a:r>
            <a:r>
              <a:rPr lang="zh-CN" altLang="en-US" b="1" dirty="0" smtClean="0">
                <a:solidFill>
                  <a:srgbClr val="C00000"/>
                </a:solidFill>
              </a:rPr>
              <a:t>个点的对象，将其用绝对定位在页面上显示出来。</a:t>
            </a:r>
            <a:endParaRPr lang="en-US" altLang="zh-CN" sz="1600" dirty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2286000"/>
            <a:ext cx="2238375" cy="1658056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944" y="1404702"/>
            <a:ext cx="4557712" cy="53161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事件概述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各种鼠标、键盘操作或者浏览器自身加载资源等状态，都是通过事件（</a:t>
            </a:r>
            <a:r>
              <a:rPr lang="en-US" altLang="zh-CN" sz="1600" dirty="0" smtClean="0">
                <a:latin typeface="+mn-ea"/>
              </a:rPr>
              <a:t>Event</a:t>
            </a:r>
            <a:r>
              <a:rPr lang="zh-CN" altLang="en-US" sz="1600" dirty="0" smtClean="0">
                <a:latin typeface="+mn-ea"/>
              </a:rPr>
              <a:t>）机制来实现</a:t>
            </a:r>
            <a:r>
              <a:rPr lang="en-US" altLang="zh-CN" sz="1600" dirty="0" smtClean="0">
                <a:latin typeface="+mn-ea"/>
              </a:rPr>
              <a:t>JavaScript</a:t>
            </a:r>
            <a:r>
              <a:rPr lang="zh-CN" altLang="en-US" sz="1600" dirty="0" smtClean="0">
                <a:latin typeface="+mn-ea"/>
              </a:rPr>
              <a:t>和</a:t>
            </a:r>
            <a:r>
              <a:rPr lang="en-US" altLang="zh-CN" sz="1600" dirty="0" smtClean="0">
                <a:latin typeface="+mn-ea"/>
              </a:rPr>
              <a:t>HTML</a:t>
            </a:r>
            <a:r>
              <a:rPr lang="zh-CN" altLang="en-US" sz="1600" dirty="0" smtClean="0">
                <a:latin typeface="+mn-ea"/>
              </a:rPr>
              <a:t>的交互。事件相关概念：</a:t>
            </a:r>
            <a:endParaRPr lang="en-US" altLang="zh-CN" sz="16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latin typeface="+mn-ea"/>
              </a:rPr>
              <a:t>事件目标（</a:t>
            </a:r>
            <a:r>
              <a:rPr lang="en-US" altLang="zh-CN" sz="1600" dirty="0" smtClean="0">
                <a:latin typeface="+mn-ea"/>
              </a:rPr>
              <a:t>Event Target</a:t>
            </a:r>
            <a:r>
              <a:rPr lang="zh-CN" altLang="en-US" sz="1600" dirty="0" smtClean="0">
                <a:latin typeface="+mn-ea"/>
              </a:rPr>
              <a:t>）：指的是触发此事件的对象，</a:t>
            </a:r>
            <a:r>
              <a:rPr lang="en-US" altLang="zh-CN" sz="1600" dirty="0" smtClean="0">
                <a:latin typeface="+mn-ea"/>
              </a:rPr>
              <a:t>Window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smtClean="0">
                <a:latin typeface="+mn-ea"/>
              </a:rPr>
              <a:t>Document</a:t>
            </a:r>
            <a:r>
              <a:rPr lang="zh-CN" altLang="en-US" sz="1600" dirty="0" smtClean="0">
                <a:latin typeface="+mn-ea"/>
              </a:rPr>
              <a:t>、</a:t>
            </a:r>
            <a:r>
              <a:rPr lang="en-US" altLang="zh-CN" sz="1600" dirty="0" smtClean="0">
                <a:latin typeface="+mn-ea"/>
              </a:rPr>
              <a:t>Element</a:t>
            </a:r>
            <a:r>
              <a:rPr lang="zh-CN" altLang="en-US" sz="1600" dirty="0" smtClean="0">
                <a:latin typeface="+mn-ea"/>
              </a:rPr>
              <a:t>是比较常见的事件目标，比如某一个按钮、输入框等；</a:t>
            </a:r>
            <a:endParaRPr lang="en-US" altLang="zh-CN" sz="16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latin typeface="+mn-ea"/>
              </a:rPr>
              <a:t>事件类型（</a:t>
            </a:r>
            <a:r>
              <a:rPr lang="en-US" altLang="zh-CN" sz="1600" dirty="0" smtClean="0">
                <a:latin typeface="+mn-ea"/>
              </a:rPr>
              <a:t>Event Type</a:t>
            </a:r>
            <a:r>
              <a:rPr lang="zh-CN" altLang="en-US" sz="1600" dirty="0" smtClean="0">
                <a:latin typeface="+mn-ea"/>
              </a:rPr>
              <a:t>）：指具体发生了什么事件，单击事件类型是</a:t>
            </a:r>
            <a:r>
              <a:rPr lang="en-US" altLang="zh-CN" sz="1600" dirty="0" smtClean="0">
                <a:latin typeface="+mn-ea"/>
              </a:rPr>
              <a:t>click</a:t>
            </a:r>
            <a:r>
              <a:rPr lang="zh-CN" altLang="en-US" sz="1600" dirty="0" smtClean="0">
                <a:latin typeface="+mn-ea"/>
              </a:rPr>
              <a:t>，鼠标移动事件类型是</a:t>
            </a:r>
            <a:r>
              <a:rPr lang="en-US" altLang="zh-CN" sz="1600" dirty="0" err="1" smtClean="0">
                <a:latin typeface="+mn-ea"/>
              </a:rPr>
              <a:t>mousemove</a:t>
            </a:r>
            <a:r>
              <a:rPr lang="zh-CN" altLang="en-US" sz="1600" dirty="0" smtClean="0">
                <a:latin typeface="+mn-ea"/>
              </a:rPr>
              <a:t>；</a:t>
            </a:r>
            <a:endParaRPr lang="en-US" altLang="zh-CN" sz="16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latin typeface="+mn-ea"/>
              </a:rPr>
              <a:t>事件监听程序（</a:t>
            </a:r>
            <a:r>
              <a:rPr lang="en-US" altLang="zh-CN" sz="1600" dirty="0" smtClean="0">
                <a:latin typeface="+mn-ea"/>
              </a:rPr>
              <a:t>Event Listener</a:t>
            </a:r>
            <a:r>
              <a:rPr lang="zh-CN" altLang="en-US" sz="1600" dirty="0" smtClean="0">
                <a:latin typeface="+mn-ea"/>
              </a:rPr>
              <a:t>）：是指响应事件的处理函数；</a:t>
            </a:r>
            <a:endParaRPr lang="en-US" altLang="zh-CN" sz="16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latin typeface="+mn-ea"/>
              </a:rPr>
              <a:t>事件对象（</a:t>
            </a:r>
            <a:r>
              <a:rPr lang="en-US" altLang="zh-CN" sz="1600" dirty="0" smtClean="0">
                <a:latin typeface="+mn-ea"/>
              </a:rPr>
              <a:t>Event Object</a:t>
            </a:r>
            <a:r>
              <a:rPr lang="zh-CN" altLang="en-US" sz="1600" dirty="0" smtClean="0">
                <a:latin typeface="+mn-ea"/>
              </a:rPr>
              <a:t>）：是指包含事件详细信息的对象；</a:t>
            </a:r>
            <a:endParaRPr lang="en-US" altLang="zh-CN" sz="16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latin typeface="+mn-ea"/>
              </a:rPr>
              <a:t>事件流模型：是事件的传播方式，由于事件目标常常是逐层嵌套在其他元素内部的，所以事件传播方式按照传播方向分两种，一种是自内向外的冒泡，另一种是自外向内的捕获。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945446"/>
            <a:ext cx="11097362" cy="346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</a:rPr>
              <a:t>事件类型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文档事件、用户界面事件、鼠标事件、键盘事件、表单事件</a:t>
            </a:r>
            <a:r>
              <a:rPr lang="zh-CN" altLang="en-US" dirty="0" smtClean="0">
                <a:latin typeface="+mn-ea"/>
              </a:rPr>
              <a:t>等。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文档事件：包含</a:t>
            </a:r>
            <a:r>
              <a:rPr lang="en-US" altLang="zh-CN" dirty="0" smtClean="0">
                <a:latin typeface="+mn-ea"/>
              </a:rPr>
              <a:t>HTML</a:t>
            </a:r>
            <a:r>
              <a:rPr lang="zh-CN" altLang="en-US" dirty="0" smtClean="0">
                <a:latin typeface="+mn-ea"/>
              </a:rPr>
              <a:t>文档自身关于文档加载、错误异常的一些事件，比如</a:t>
            </a:r>
            <a:r>
              <a:rPr lang="en-US" altLang="zh-CN" dirty="0" smtClean="0">
                <a:latin typeface="+mn-ea"/>
              </a:rPr>
              <a:t>load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unload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error</a:t>
            </a:r>
            <a:r>
              <a:rPr lang="zh-CN" altLang="en-US" dirty="0" smtClean="0">
                <a:latin typeface="+mn-ea"/>
              </a:rPr>
              <a:t>事件等；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用户</a:t>
            </a:r>
            <a:r>
              <a:rPr lang="zh-CN" altLang="en-US" dirty="0" smtClean="0">
                <a:latin typeface="+mn-ea"/>
              </a:rPr>
              <a:t>界面事件：包括页面的</a:t>
            </a:r>
            <a:r>
              <a:rPr lang="en-US" altLang="zh-CN" dirty="0" smtClean="0">
                <a:latin typeface="+mn-ea"/>
              </a:rPr>
              <a:t>focus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smtClean="0">
                <a:latin typeface="+mn-ea"/>
              </a:rPr>
              <a:t>blur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smtClean="0">
                <a:latin typeface="+mn-ea"/>
              </a:rPr>
              <a:t>resize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smtClean="0">
                <a:latin typeface="+mn-ea"/>
              </a:rPr>
              <a:t>scroll</a:t>
            </a:r>
            <a:r>
              <a:rPr lang="zh-CN" altLang="en-US" dirty="0" smtClean="0">
                <a:latin typeface="+mn-ea"/>
              </a:rPr>
              <a:t>事件等；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鼠标</a:t>
            </a:r>
            <a:r>
              <a:rPr lang="zh-CN" altLang="en-US" dirty="0" smtClean="0">
                <a:latin typeface="+mn-ea"/>
              </a:rPr>
              <a:t>事件：包括</a:t>
            </a:r>
            <a:r>
              <a:rPr lang="en-US" altLang="zh-CN" dirty="0" smtClean="0">
                <a:latin typeface="+mn-ea"/>
              </a:rPr>
              <a:t>click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err="1" smtClean="0">
                <a:latin typeface="+mn-ea"/>
              </a:rPr>
              <a:t>mousedown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err="1" smtClean="0">
                <a:latin typeface="+mn-ea"/>
              </a:rPr>
              <a:t>mousemove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err="1" smtClean="0">
                <a:latin typeface="+mn-ea"/>
              </a:rPr>
              <a:t>mouseup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err="1" smtClean="0">
                <a:latin typeface="+mn-ea"/>
              </a:rPr>
              <a:t>mousewheel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鼠标滚轮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事件等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键盘</a:t>
            </a:r>
            <a:r>
              <a:rPr lang="zh-CN" altLang="en-US" dirty="0" smtClean="0">
                <a:latin typeface="+mn-ea"/>
              </a:rPr>
              <a:t>事件：包括</a:t>
            </a:r>
            <a:r>
              <a:rPr lang="en-US" altLang="zh-CN" dirty="0" err="1" smtClean="0">
                <a:latin typeface="+mn-ea"/>
              </a:rPr>
              <a:t>keydown</a:t>
            </a:r>
            <a:r>
              <a:rPr lang="zh-CN" altLang="en-US" dirty="0" err="1" smtClean="0">
                <a:latin typeface="+mn-ea"/>
              </a:rPr>
              <a:t>（按下键盘上的任意键）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err="1" smtClean="0">
                <a:latin typeface="+mn-ea"/>
              </a:rPr>
              <a:t>keyup</a:t>
            </a:r>
            <a:r>
              <a:rPr lang="zh-CN" altLang="en-US" dirty="0" err="1" smtClean="0">
                <a:latin typeface="+mn-ea"/>
                <a:sym typeface="+mn-ea"/>
              </a:rPr>
              <a:t>（</a:t>
            </a:r>
            <a:r>
              <a:rPr lang="zh-CN" altLang="en-US" dirty="0" err="1" smtClean="0">
                <a:latin typeface="+mn-ea"/>
                <a:sym typeface="+mn-ea"/>
              </a:rPr>
              <a:t>释放键盘上的任意键）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smtClean="0">
                <a:latin typeface="+mn-ea"/>
              </a:rPr>
              <a:t>keypress(</a:t>
            </a:r>
            <a:r>
              <a:rPr lang="zh-CN" altLang="en-US" dirty="0" smtClean="0">
                <a:latin typeface="+mn-ea"/>
              </a:rPr>
              <a:t>键盘按下</a:t>
            </a:r>
            <a:r>
              <a:rPr lang="zh-CN" altLang="en-US" dirty="0" smtClean="0">
                <a:latin typeface="+mn-ea"/>
              </a:rPr>
              <a:t>任意一个字符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事件等；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表单</a:t>
            </a:r>
            <a:r>
              <a:rPr lang="zh-CN" altLang="en-US" dirty="0" smtClean="0">
                <a:latin typeface="+mn-ea"/>
              </a:rPr>
              <a:t>事件：包括</a:t>
            </a:r>
            <a:r>
              <a:rPr lang="en-US" altLang="zh-CN" dirty="0" smtClean="0">
                <a:latin typeface="+mn-ea"/>
              </a:rPr>
              <a:t>focus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smtClean="0">
                <a:latin typeface="+mn-ea"/>
              </a:rPr>
              <a:t>blur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smtClean="0">
                <a:latin typeface="+mn-ea"/>
              </a:rPr>
              <a:t>input(</a:t>
            </a:r>
            <a:r>
              <a:rPr lang="zh-CN" altLang="en-US" dirty="0" smtClean="0">
                <a:latin typeface="+mn-ea"/>
              </a:rPr>
              <a:t>输入框发生输入时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事件、</a:t>
            </a:r>
            <a:r>
              <a:rPr lang="en-US" altLang="zh-CN" dirty="0" smtClean="0">
                <a:latin typeface="+mn-ea"/>
              </a:rPr>
              <a:t>submit</a:t>
            </a:r>
            <a:r>
              <a:rPr lang="zh-CN" altLang="en-US" dirty="0" smtClean="0">
                <a:latin typeface="+mn-ea"/>
              </a:rPr>
              <a:t>事件等。</a:t>
            </a:r>
            <a:endParaRPr lang="en-US" altLang="zh-CN" dirty="0" smtClean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4463415"/>
            <a:ext cx="5324475" cy="232854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5800" y="871744"/>
            <a:ext cx="11097362" cy="2491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事件处理（事件监听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程序）</a:t>
            </a:r>
            <a:endParaRPr lang="en-US" altLang="zh-CN" sz="2400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如果需要事件发生时响应该事件，那么需要对这个事件注册一个处理函数，也就是事件监听程序。</a:t>
            </a:r>
            <a:endParaRPr lang="en-US" altLang="zh-CN" sz="20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rgbClr val="FF0000"/>
                </a:solidFill>
                <a:latin typeface="+mn-ea"/>
              </a:rPr>
              <a:t>HTML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行内注册</a:t>
            </a:r>
            <a:endParaRPr lang="en-US" altLang="zh-CN" sz="2000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最简单</a:t>
            </a:r>
            <a:r>
              <a:rPr lang="zh-CN" altLang="en-US" sz="2000" dirty="0" smtClean="0">
                <a:latin typeface="+mn-ea"/>
              </a:rPr>
              <a:t>的方式就是对元素的事件属性进行行内赋值，事件属性名是在事件名前面加上“</a:t>
            </a:r>
            <a:r>
              <a:rPr lang="en-US" altLang="zh-CN" sz="2000" dirty="0" smtClean="0">
                <a:latin typeface="+mn-ea"/>
              </a:rPr>
              <a:t>on</a:t>
            </a:r>
            <a:r>
              <a:rPr lang="zh-CN" altLang="en-US" sz="2000" dirty="0" smtClean="0">
                <a:latin typeface="+mn-ea"/>
              </a:rPr>
              <a:t>”。比如</a:t>
            </a:r>
            <a:r>
              <a:rPr lang="en-US" altLang="zh-CN" sz="2000" dirty="0" smtClean="0">
                <a:latin typeface="+mn-ea"/>
              </a:rPr>
              <a:t>click</a:t>
            </a:r>
            <a:r>
              <a:rPr lang="zh-CN" altLang="en-US" sz="2000" dirty="0" smtClean="0">
                <a:latin typeface="+mn-ea"/>
              </a:rPr>
              <a:t>事件，</a:t>
            </a:r>
            <a:r>
              <a:rPr lang="en-US" altLang="zh-CN" sz="2000" dirty="0" err="1" smtClean="0">
                <a:latin typeface="+mn-ea"/>
              </a:rPr>
              <a:t>onclick</a:t>
            </a:r>
            <a:r>
              <a:rPr lang="zh-CN" altLang="en-US" sz="2000" dirty="0" smtClean="0">
                <a:latin typeface="+mn-ea"/>
              </a:rPr>
              <a:t>就是</a:t>
            </a:r>
            <a:r>
              <a:rPr lang="en-US" altLang="zh-CN" sz="2000" dirty="0" smtClean="0">
                <a:latin typeface="+mn-ea"/>
              </a:rPr>
              <a:t>click</a:t>
            </a:r>
            <a:r>
              <a:rPr lang="zh-CN" altLang="en-US" sz="2000" dirty="0" smtClean="0">
                <a:latin typeface="+mn-ea"/>
              </a:rPr>
              <a:t>的事件属性名称。</a:t>
            </a:r>
            <a:endParaRPr lang="en-US" altLang="zh-CN" sz="2000" dirty="0" smtClean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594" y="3581400"/>
            <a:ext cx="6478709" cy="22860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2000" y="838200"/>
            <a:ext cx="11097260" cy="58470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  <a:sym typeface="+mn-ea"/>
              </a:rPr>
              <a:t>事件处理（事件监听程序）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rgbClr val="FF0000"/>
                </a:solidFill>
                <a:latin typeface="+mn-ea"/>
              </a:rPr>
              <a:t>JavaScript 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传统方式注册事件</a:t>
            </a:r>
            <a:endParaRPr lang="en-US" altLang="zh-CN" sz="1600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在</a:t>
            </a:r>
            <a:r>
              <a:rPr lang="en-US" altLang="zh-CN" sz="1600" dirty="0" smtClean="0">
                <a:latin typeface="+mn-ea"/>
              </a:rPr>
              <a:t>JavaScript</a:t>
            </a:r>
            <a:r>
              <a:rPr lang="zh-CN" altLang="en-US" sz="1600" dirty="0" smtClean="0">
                <a:latin typeface="+mn-ea"/>
              </a:rPr>
              <a:t>中注册事件处理函数，将函数名赋值给元素的事件属性：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也可以使用匿名函数，比如：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要</a:t>
            </a:r>
            <a:r>
              <a:rPr lang="zh-CN" altLang="en-US" sz="1600" dirty="0" smtClean="0">
                <a:latin typeface="+mn-ea"/>
              </a:rPr>
              <a:t>删除指定的事件处理函数，只需要把事件处理属性设置为</a:t>
            </a:r>
            <a:r>
              <a:rPr lang="en-US" altLang="zh-CN" sz="1600" dirty="0" smtClean="0">
                <a:latin typeface="+mn-ea"/>
              </a:rPr>
              <a:t>null</a:t>
            </a:r>
            <a:r>
              <a:rPr lang="zh-CN" altLang="en-US" sz="1600" dirty="0" smtClean="0">
                <a:latin typeface="+mn-ea"/>
              </a:rPr>
              <a:t>即可。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btn.onclick</a:t>
            </a:r>
            <a:r>
              <a:rPr lang="en-US" altLang="zh-CN" sz="1600" dirty="0" smtClean="0">
                <a:latin typeface="+mn-ea"/>
              </a:rPr>
              <a:t>=null</a:t>
            </a:r>
            <a:endParaRPr lang="en-US" altLang="zh-CN" sz="16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14197" y="2133818"/>
            <a:ext cx="8287587" cy="18148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onaco" pitchFamily="49" charset="0"/>
              </a:rPr>
              <a:t>&lt;button id="</a:t>
            </a:r>
            <a:r>
              <a:rPr lang="en-US" altLang="zh-CN" sz="1400" dirty="0" err="1">
                <a:latin typeface="Monaco" pitchFamily="49" charset="0"/>
              </a:rPr>
              <a:t>btn</a:t>
            </a:r>
            <a:r>
              <a:rPr lang="en-US" altLang="zh-CN" sz="1400" dirty="0">
                <a:latin typeface="Monaco" pitchFamily="49" charset="0"/>
              </a:rPr>
              <a:t>"&gt;</a:t>
            </a:r>
            <a:r>
              <a:rPr lang="zh-CN" altLang="en-US" sz="1400" dirty="0">
                <a:latin typeface="Monaco" pitchFamily="49" charset="0"/>
              </a:rPr>
              <a:t>点击一下</a:t>
            </a:r>
            <a:r>
              <a:rPr lang="en-US" altLang="zh-CN" sz="1400" dirty="0">
                <a:latin typeface="Monaco" pitchFamily="49" charset="0"/>
              </a:rPr>
              <a:t>&lt;/button&gt;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&lt;script&gt;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let </a:t>
            </a:r>
            <a:r>
              <a:rPr lang="en-US" altLang="zh-CN" sz="1400" dirty="0" err="1">
                <a:latin typeface="Monaco" pitchFamily="49" charset="0"/>
              </a:rPr>
              <a:t>btn</a:t>
            </a:r>
            <a:r>
              <a:rPr lang="en-US" altLang="zh-CN" sz="1400" dirty="0">
                <a:latin typeface="Monaco" pitchFamily="49" charset="0"/>
              </a:rPr>
              <a:t> = </a:t>
            </a:r>
            <a:r>
              <a:rPr lang="en-US" altLang="zh-CN" sz="1400" dirty="0" err="1">
                <a:latin typeface="Monaco" pitchFamily="49" charset="0"/>
              </a:rPr>
              <a:t>document.getElementById</a:t>
            </a:r>
            <a:r>
              <a:rPr lang="en-US" altLang="zh-CN" sz="1400" dirty="0">
                <a:latin typeface="Monaco" pitchFamily="49" charset="0"/>
              </a:rPr>
              <a:t>('</a:t>
            </a:r>
            <a:r>
              <a:rPr lang="en-US" altLang="zh-CN" sz="1400" dirty="0" err="1">
                <a:latin typeface="Monaco" pitchFamily="49" charset="0"/>
              </a:rPr>
              <a:t>btn</a:t>
            </a:r>
            <a:r>
              <a:rPr lang="en-US" altLang="zh-CN" sz="1400" dirty="0">
                <a:latin typeface="Monaco" pitchFamily="49" charset="0"/>
              </a:rPr>
              <a:t>')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</a:t>
            </a:r>
            <a:r>
              <a:rPr lang="en-US" altLang="zh-CN" sz="1400" dirty="0" err="1">
                <a:latin typeface="Monaco" pitchFamily="49" charset="0"/>
              </a:rPr>
              <a:t>btn.onclick</a:t>
            </a:r>
            <a:r>
              <a:rPr lang="en-US" altLang="zh-CN" sz="1400" dirty="0">
                <a:latin typeface="Monaco" pitchFamily="49" charset="0"/>
              </a:rPr>
              <a:t> = show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function show() {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alert('Hello~')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}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&lt;/script&gt;</a:t>
            </a:r>
            <a:endParaRPr lang="en-US" altLang="zh-CN" sz="1400" b="0" dirty="0">
              <a:effectLst/>
              <a:latin typeface="Monaco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4298" y="4267200"/>
            <a:ext cx="8201762" cy="15995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latin typeface="Monaco" pitchFamily="49" charset="0"/>
              </a:rPr>
              <a:t>&lt;button id="</a:t>
            </a:r>
            <a:r>
              <a:rPr lang="en-US" altLang="zh-CN" sz="1400" dirty="0" err="1">
                <a:latin typeface="Monaco" pitchFamily="49" charset="0"/>
              </a:rPr>
              <a:t>btn</a:t>
            </a:r>
            <a:r>
              <a:rPr lang="en-US" altLang="zh-CN" sz="1400" dirty="0">
                <a:latin typeface="Monaco" pitchFamily="49" charset="0"/>
              </a:rPr>
              <a:t>"&gt;</a:t>
            </a:r>
            <a:r>
              <a:rPr lang="zh-CN" altLang="en-US" sz="1400" dirty="0">
                <a:latin typeface="Monaco" pitchFamily="49" charset="0"/>
              </a:rPr>
              <a:t>点击一下</a:t>
            </a:r>
            <a:r>
              <a:rPr lang="en-US" altLang="zh-CN" sz="1400" dirty="0">
                <a:latin typeface="Monaco" pitchFamily="49" charset="0"/>
              </a:rPr>
              <a:t>&lt;/button&gt;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&lt;script&gt;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let </a:t>
            </a:r>
            <a:r>
              <a:rPr lang="en-US" altLang="zh-CN" sz="1400" dirty="0" err="1">
                <a:latin typeface="Monaco" pitchFamily="49" charset="0"/>
              </a:rPr>
              <a:t>btn</a:t>
            </a:r>
            <a:r>
              <a:rPr lang="en-US" altLang="zh-CN" sz="1400" dirty="0">
                <a:latin typeface="Monaco" pitchFamily="49" charset="0"/>
              </a:rPr>
              <a:t> = </a:t>
            </a:r>
            <a:r>
              <a:rPr lang="en-US" altLang="zh-CN" sz="1400" dirty="0" err="1">
                <a:latin typeface="Monaco" pitchFamily="49" charset="0"/>
              </a:rPr>
              <a:t>document.getElementById</a:t>
            </a:r>
            <a:r>
              <a:rPr lang="en-US" altLang="zh-CN" sz="1400" dirty="0">
                <a:latin typeface="Monaco" pitchFamily="49" charset="0"/>
              </a:rPr>
              <a:t>('</a:t>
            </a:r>
            <a:r>
              <a:rPr lang="en-US" altLang="zh-CN" sz="1400" dirty="0" err="1">
                <a:latin typeface="Monaco" pitchFamily="49" charset="0"/>
              </a:rPr>
              <a:t>btn</a:t>
            </a:r>
            <a:r>
              <a:rPr lang="en-US" altLang="zh-CN" sz="1400" dirty="0">
                <a:latin typeface="Monaco" pitchFamily="49" charset="0"/>
              </a:rPr>
              <a:t>')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</a:t>
            </a:r>
            <a:r>
              <a:rPr lang="en-US" altLang="zh-CN" sz="1400" dirty="0" err="1">
                <a:latin typeface="Monaco" pitchFamily="49" charset="0"/>
              </a:rPr>
              <a:t>btn.onclick</a:t>
            </a:r>
            <a:r>
              <a:rPr lang="en-US" altLang="zh-CN" sz="1400" dirty="0">
                <a:latin typeface="Monaco" pitchFamily="49" charset="0"/>
              </a:rPr>
              <a:t> = function () {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alert('Hello~')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}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&lt;/script&gt;</a:t>
            </a:r>
            <a:endParaRPr lang="en-US" altLang="zh-CN" sz="1400" b="0" dirty="0">
              <a:effectLst/>
              <a:latin typeface="Monaco" pitchFamily="49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1898" y="988060"/>
            <a:ext cx="11097362" cy="2353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  <a:sym typeface="+mn-ea"/>
              </a:rPr>
              <a:t>事件处理（事件监听程序）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rgbClr val="FF0000"/>
                </a:solidFill>
                <a:latin typeface="+mn-ea"/>
              </a:rPr>
              <a:t>JavaScript 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事件侦听方式注册事件</a:t>
            </a:r>
            <a:endParaRPr lang="en-US" altLang="zh-CN" sz="1600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上述方法一个事件只能注册一个函数，否则后边的会覆盖前边的注册，那么我们可以通过</a:t>
            </a:r>
            <a:r>
              <a:rPr lang="en-US" altLang="zh-CN" sz="1600" dirty="0" err="1" smtClean="0">
                <a:latin typeface="+mn-ea"/>
              </a:rPr>
              <a:t>addEventListener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进行事件的监听，对一个事件注册多个处理函数，同时还可以应用</a:t>
            </a:r>
            <a:r>
              <a:rPr lang="en-US" altLang="zh-CN" sz="1600" dirty="0" err="1" smtClean="0">
                <a:latin typeface="+mn-ea"/>
              </a:rPr>
              <a:t>removeEventListener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方法来取消监听，但</a:t>
            </a:r>
            <a:r>
              <a:rPr lang="zh-CN" altLang="en-US" sz="1600" dirty="0" smtClean="0">
                <a:latin typeface="+mn-ea"/>
              </a:rPr>
              <a:t>注意此时事件处理函数不能为匿名函数。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2895600"/>
            <a:ext cx="5203825" cy="3475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025" y="2971800"/>
            <a:ext cx="7134860" cy="180530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4939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  <a:sym typeface="+mn-ea"/>
              </a:rPr>
              <a:t>事件处理（事件监听程序）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传统注册方式</a:t>
            </a:r>
            <a:endParaRPr lang="en-US" altLang="zh-CN" sz="1600" dirty="0" smtClean="0">
              <a:solidFill>
                <a:srgbClr val="FF0000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 smtClean="0">
                <a:latin typeface="+mn-ea"/>
              </a:rPr>
              <a:t>利用</a:t>
            </a:r>
            <a:r>
              <a:rPr lang="en-US" altLang="zh-CN" sz="1600" dirty="0" smtClean="0">
                <a:latin typeface="+mn-ea"/>
              </a:rPr>
              <a:t>on</a:t>
            </a:r>
            <a:r>
              <a:rPr lang="zh-CN" altLang="en-US" sz="1600" dirty="0" smtClean="0">
                <a:latin typeface="+mn-ea"/>
              </a:rPr>
              <a:t>开头的事件</a:t>
            </a:r>
            <a:r>
              <a:rPr lang="en-US" altLang="zh-CN" sz="1600" dirty="0" err="1" smtClean="0">
                <a:latin typeface="+mn-ea"/>
              </a:rPr>
              <a:t>onclick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 smtClean="0">
                <a:latin typeface="+mn-ea"/>
              </a:rPr>
              <a:t>行内注册以及</a:t>
            </a:r>
            <a:r>
              <a:rPr lang="en-US" altLang="zh-CN" sz="1600" dirty="0" err="1" smtClean="0">
                <a:latin typeface="+mn-ea"/>
              </a:rPr>
              <a:t>btn.onclick</a:t>
            </a:r>
            <a:r>
              <a:rPr lang="en-US" altLang="zh-CN" sz="1600" dirty="0" smtClean="0">
                <a:latin typeface="+mn-ea"/>
              </a:rPr>
              <a:t>=function(){}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 smtClean="0">
                <a:latin typeface="+mn-ea"/>
              </a:rPr>
              <a:t>特点：注册事件的</a:t>
            </a: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唯一性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 smtClean="0">
                <a:latin typeface="+mn-ea"/>
              </a:rPr>
              <a:t>同一个元素同一个事件只能设置一个处理函数，最后注册的处理函数将会覆盖前面注册的处理函数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FF0000"/>
                </a:solidFill>
                <a:latin typeface="+mn-ea"/>
              </a:rPr>
              <a:t>方法监听注册方式</a:t>
            </a:r>
            <a:endParaRPr lang="en-US" altLang="zh-CN" sz="1600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W3C</a:t>
            </a:r>
            <a:r>
              <a:rPr lang="zh-CN" altLang="en-US" sz="1600" dirty="0" smtClean="0">
                <a:latin typeface="+mn-ea"/>
              </a:rPr>
              <a:t>标准推荐方式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addEventListener</a:t>
            </a:r>
            <a:r>
              <a:rPr lang="en-US" altLang="zh-CN" sz="1600" dirty="0" smtClean="0">
                <a:latin typeface="+mn-ea"/>
              </a:rPr>
              <a:t>()</a:t>
            </a:r>
            <a:r>
              <a:rPr lang="zh-CN" altLang="en-US" sz="1600" dirty="0" smtClean="0">
                <a:latin typeface="+mn-ea"/>
              </a:rPr>
              <a:t>，是一个方法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IE9</a:t>
            </a:r>
            <a:r>
              <a:rPr lang="zh-CN" altLang="en-US" sz="1600" dirty="0" smtClean="0">
                <a:latin typeface="+mn-ea"/>
              </a:rPr>
              <a:t>之前的不支持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特点：</a:t>
            </a:r>
            <a:r>
              <a:rPr lang="zh-CN" altLang="en-US" sz="1600" dirty="0">
                <a:latin typeface="+mn-ea"/>
              </a:rPr>
              <a:t>同一个元素同一个</a:t>
            </a:r>
            <a:r>
              <a:rPr lang="zh-CN" altLang="en-US" sz="1600" dirty="0" smtClean="0">
                <a:latin typeface="+mn-ea"/>
              </a:rPr>
              <a:t>事件可以注册多个监听器，按注册顺序依次执行</a:t>
            </a:r>
            <a:endParaRPr lang="en-US" altLang="zh-CN" sz="1600" dirty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272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事件流模型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事件流模型分为</a:t>
            </a:r>
            <a:r>
              <a:rPr lang="zh-CN" altLang="en-US" sz="2000" b="1" u="sng" dirty="0" smtClean="0">
                <a:latin typeface="+mn-ea"/>
              </a:rPr>
              <a:t>冒泡</a:t>
            </a:r>
            <a:r>
              <a:rPr lang="zh-CN" altLang="en-US" sz="2000" dirty="0" smtClean="0">
                <a:latin typeface="+mn-ea"/>
              </a:rPr>
              <a:t>和</a:t>
            </a:r>
            <a:r>
              <a:rPr lang="zh-CN" altLang="en-US" sz="2000" b="1" u="sng" dirty="0" smtClean="0">
                <a:latin typeface="+mn-ea"/>
              </a:rPr>
              <a:t>捕获</a:t>
            </a:r>
            <a:r>
              <a:rPr lang="zh-CN" altLang="en-US" sz="2000" dirty="0" smtClean="0">
                <a:latin typeface="+mn-ea"/>
              </a:rPr>
              <a:t>两种。在早期</a:t>
            </a:r>
            <a:r>
              <a:rPr lang="en-US" altLang="zh-CN" sz="2000" dirty="0" smtClean="0">
                <a:latin typeface="+mn-ea"/>
              </a:rPr>
              <a:t>IE</a:t>
            </a:r>
            <a:r>
              <a:rPr lang="zh-CN" altLang="en-US" sz="2000" dirty="0" smtClean="0">
                <a:latin typeface="+mn-ea"/>
              </a:rPr>
              <a:t>浏览器上是冒泡方式，事件从直接触发事件的节点接收，然后逐级向上传播到</a:t>
            </a:r>
            <a:r>
              <a:rPr lang="en-US" altLang="zh-CN" sz="2000" dirty="0" smtClean="0">
                <a:latin typeface="+mn-ea"/>
              </a:rPr>
              <a:t>document</a:t>
            </a:r>
            <a:r>
              <a:rPr lang="zh-CN" altLang="en-US" sz="2000" dirty="0" smtClean="0">
                <a:latin typeface="+mn-ea"/>
              </a:rPr>
              <a:t>；而</a:t>
            </a:r>
            <a:r>
              <a:rPr lang="en-US" altLang="zh-CN" sz="2000" dirty="0" smtClean="0">
                <a:latin typeface="+mn-ea"/>
              </a:rPr>
              <a:t>Netscape</a:t>
            </a:r>
            <a:r>
              <a:rPr lang="zh-CN" altLang="en-US" sz="2000" dirty="0" smtClean="0">
                <a:latin typeface="+mn-ea"/>
              </a:rPr>
              <a:t>提出了捕获的事件流模型，事件是从</a:t>
            </a:r>
            <a:r>
              <a:rPr lang="en-US" altLang="zh-CN" sz="2000" dirty="0" smtClean="0">
                <a:latin typeface="+mn-ea"/>
              </a:rPr>
              <a:t>document</a:t>
            </a:r>
            <a:r>
              <a:rPr lang="zh-CN" altLang="en-US" sz="2000" dirty="0" smtClean="0">
                <a:latin typeface="+mn-ea"/>
              </a:rPr>
              <a:t>开始接收，向下传播到具体节点。比如在一个页面中有多层嵌套的数个节点，如图。当用户单击</a:t>
            </a:r>
            <a:r>
              <a:rPr lang="en-US" altLang="zh-CN" sz="2000" dirty="0" smtClean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时，也可以认为用户单击了</a:t>
            </a:r>
            <a:r>
              <a:rPr lang="en-US" altLang="zh-CN" sz="2000" dirty="0" smtClean="0">
                <a:latin typeface="+mn-ea"/>
              </a:rPr>
              <a:t>1</a:t>
            </a:r>
            <a:r>
              <a:rPr lang="zh-CN" altLang="en-US" sz="2000" dirty="0" smtClean="0">
                <a:latin typeface="+mn-ea"/>
              </a:rPr>
              <a:t>和</a:t>
            </a:r>
            <a:r>
              <a:rPr lang="en-US" altLang="zh-CN" sz="2000" dirty="0" smtClean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。事件冒泡的响应顺序为</a:t>
            </a:r>
            <a:r>
              <a:rPr lang="en-US" altLang="zh-CN" sz="2000" dirty="0" smtClean="0">
                <a:latin typeface="+mn-ea"/>
              </a:rPr>
              <a:t>3-2-1</a:t>
            </a:r>
            <a:r>
              <a:rPr lang="zh-CN" altLang="en-US" sz="2000" dirty="0" smtClean="0">
                <a:latin typeface="+mn-ea"/>
              </a:rPr>
              <a:t>。</a:t>
            </a:r>
            <a:r>
              <a:rPr lang="zh-CN" altLang="en-US" sz="2000" dirty="0" smtClean="0">
                <a:latin typeface="+mn-ea"/>
              </a:rPr>
              <a:t>而事件捕获的方式刚好相反，是</a:t>
            </a:r>
            <a:r>
              <a:rPr lang="en-US" altLang="zh-CN" sz="2000" dirty="0" smtClean="0">
                <a:latin typeface="+mn-ea"/>
              </a:rPr>
              <a:t>1-2-3.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4400" y="4572000"/>
            <a:ext cx="2819400" cy="1219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95400" y="4800600"/>
            <a:ext cx="20574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5000" y="5029200"/>
            <a:ext cx="838200" cy="304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475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事件流模型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、事件冒泡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事件从最具体、嵌套层级最深的节点开始接收，然后逐级向上传播，这种称为事件冒泡，目前所有浏览器都支持事件冒泡。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</a:rPr>
              <a:t>2</a:t>
            </a:r>
            <a:r>
              <a:rPr lang="zh-CN" altLang="en-US" dirty="0" smtClean="0">
                <a:latin typeface="+mn-ea"/>
              </a:rPr>
              <a:t>、如果事件是先从最上层节点开始接收，逐级传递到最具体的节点，这种方式称为捕获。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 smtClean="0">
                <a:latin typeface="+mn-ea"/>
              </a:rPr>
              <a:t>addEventListener</a:t>
            </a:r>
            <a:r>
              <a:rPr lang="zh-CN" altLang="en-US" dirty="0" smtClean="0">
                <a:latin typeface="+mn-ea"/>
              </a:rPr>
              <a:t>方式注册事件处理函数，第三个参数改为</a:t>
            </a:r>
            <a:r>
              <a:rPr lang="en-US" altLang="zh-CN" dirty="0" smtClean="0">
                <a:latin typeface="+mn-ea"/>
              </a:rPr>
              <a:t>true</a:t>
            </a:r>
            <a:endParaRPr lang="en-US" altLang="zh-CN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14400" y="3505200"/>
            <a:ext cx="2819400" cy="1219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95400" y="3733800"/>
            <a:ext cx="2057400" cy="7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5000" y="3962400"/>
            <a:ext cx="838200" cy="304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事件对象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当</a:t>
            </a:r>
            <a:r>
              <a:rPr lang="zh-CN" altLang="en-US" dirty="0">
                <a:latin typeface="+mn-ea"/>
              </a:rPr>
              <a:t>事件发生</a:t>
            </a:r>
            <a:r>
              <a:rPr lang="zh-CN" altLang="en-US" dirty="0" smtClean="0">
                <a:latin typeface="+mn-ea"/>
              </a:rPr>
              <a:t>时浏览器会产生事件对象</a:t>
            </a:r>
            <a:r>
              <a:rPr lang="en-US" altLang="zh-CN" dirty="0" smtClean="0">
                <a:latin typeface="+mn-ea"/>
              </a:rPr>
              <a:t>event</a:t>
            </a:r>
            <a:r>
              <a:rPr lang="zh-CN" altLang="en-US" dirty="0" smtClean="0">
                <a:latin typeface="+mn-ea"/>
              </a:rPr>
              <a:t>，可以在事件处理函数中定义参数接收</a:t>
            </a:r>
            <a:r>
              <a:rPr lang="en-US" altLang="zh-CN" dirty="0" smtClean="0">
                <a:latin typeface="+mn-ea"/>
              </a:rPr>
              <a:t>event</a:t>
            </a:r>
            <a:r>
              <a:rPr lang="zh-CN" altLang="en-US" dirty="0" smtClean="0">
                <a:latin typeface="+mn-ea"/>
              </a:rPr>
              <a:t>对象，它提供了事件类型、目标事件相关的信息，以及一些组织冒泡、取消默认行为等方法。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+mn-ea"/>
              </a:rPr>
              <a:t>常用成员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838" y="2971800"/>
            <a:ext cx="9991725" cy="339352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762000"/>
            <a:ext cx="11097362" cy="2122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事件对象</a:t>
            </a:r>
            <a:endParaRPr lang="zh-CN" altLang="en-US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应用</a:t>
            </a:r>
            <a:r>
              <a:rPr lang="en-US" altLang="zh-CN" dirty="0" smtClean="0">
                <a:latin typeface="+mn-ea"/>
              </a:rPr>
              <a:t>event</a:t>
            </a:r>
            <a:r>
              <a:rPr lang="zh-CN" altLang="en-US" dirty="0" smtClean="0">
                <a:latin typeface="+mn-ea"/>
              </a:rPr>
              <a:t>对象完成表单验证，当单击“提交”按钮，或者键盘抬起</a:t>
            </a:r>
            <a:r>
              <a:rPr lang="en-US" altLang="zh-CN" dirty="0" smtClean="0">
                <a:latin typeface="+mn-ea"/>
              </a:rPr>
              <a:t>Enter</a:t>
            </a:r>
            <a:r>
              <a:rPr lang="zh-CN" altLang="en-US" dirty="0">
                <a:latin typeface="+mn-ea"/>
              </a:rPr>
              <a:t>键</a:t>
            </a:r>
            <a:r>
              <a:rPr lang="zh-CN" altLang="en-US" dirty="0" smtClean="0">
                <a:latin typeface="+mn-ea"/>
              </a:rPr>
              <a:t>时，验证用户名是否为空，如果是就给出提示，并取消表单提交行为。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200" y="2590800"/>
            <a:ext cx="11047095" cy="4165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zh-CN" sz="1400" dirty="0" smtClean="0">
                <a:solidFill>
                  <a:srgbClr val="80CBC4"/>
                </a:solidFill>
                <a:latin typeface="Monaco" pitchFamily="49" charset="0"/>
              </a:rPr>
              <a:t>    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form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action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form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label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for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my-input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r>
              <a:rPr lang="zh-CN" altLang="en-US" sz="1400" dirty="0">
                <a:solidFill>
                  <a:srgbClr val="CDD3DE"/>
                </a:solidFill>
                <a:latin typeface="Monaco" pitchFamily="49" charset="0"/>
              </a:rPr>
              <a:t>用户名：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label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input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text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name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username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my-input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/&gt;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input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type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submit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FFCB6B"/>
                </a:solidFill>
                <a:latin typeface="Monaco" pitchFamily="49" charset="0"/>
              </a:rPr>
              <a:t>value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zh-CN" altLang="en-US" sz="1400" dirty="0">
                <a:solidFill>
                  <a:srgbClr val="C3E88D"/>
                </a:solidFill>
                <a:latin typeface="Monaco" pitchFamily="49" charset="0"/>
              </a:rPr>
              <a:t>提交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/&gt;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form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my-input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).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onkeyup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=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function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FD8B19"/>
                </a:solidFill>
                <a:latin typeface="Monaco" pitchFamily="49" charset="0"/>
              </a:rPr>
              <a:t>event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)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{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if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event</a:t>
            </a:r>
            <a:r>
              <a:rPr lang="en-US" altLang="zh-CN" sz="1400" dirty="0" err="1">
                <a:solidFill>
                  <a:srgbClr val="80CBC4"/>
                </a:solidFill>
                <a:latin typeface="Monaco" pitchFamily="49" charset="0"/>
              </a:rPr>
              <a:t>.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keyCode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== </a:t>
            </a:r>
            <a:r>
              <a:rPr lang="en-US" altLang="zh-CN" sz="1400" dirty="0">
                <a:solidFill>
                  <a:srgbClr val="F77669"/>
                </a:solidFill>
                <a:latin typeface="Monaco" pitchFamily="49" charset="0"/>
              </a:rPr>
              <a:t>13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 {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   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form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.submit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() </a:t>
            </a:r>
            <a:r>
              <a:rPr lang="en-US" altLang="zh-CN" sz="1400" dirty="0">
                <a:solidFill>
                  <a:srgbClr val="5C7E8C"/>
                </a:solidFill>
                <a:latin typeface="Monaco" pitchFamily="49" charset="0"/>
              </a:rPr>
              <a:t>//</a:t>
            </a:r>
            <a:r>
              <a:rPr lang="zh-CN" altLang="en-US" sz="1400" dirty="0">
                <a:solidFill>
                  <a:srgbClr val="4CAE4C"/>
                </a:solidFill>
                <a:latin typeface="Monaco" pitchFamily="49" charset="0"/>
              </a:rPr>
              <a:t>等同于按下</a:t>
            </a:r>
            <a:r>
              <a:rPr lang="en-US" altLang="zh-CN" sz="1400" dirty="0">
                <a:solidFill>
                  <a:srgbClr val="4CAE4C"/>
                </a:solidFill>
                <a:latin typeface="Monaco" pitchFamily="49" charset="0"/>
              </a:rPr>
              <a:t>submit</a:t>
            </a:r>
            <a:r>
              <a:rPr lang="zh-CN" altLang="en-US" sz="1400" dirty="0">
                <a:solidFill>
                  <a:srgbClr val="4CAE4C"/>
                </a:solidFill>
                <a:latin typeface="Monaco" pitchFamily="49" charset="0"/>
              </a:rPr>
              <a:t>按钮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}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}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5C7E8C"/>
                </a:solidFill>
                <a:latin typeface="Monaco" pitchFamily="49" charset="0"/>
              </a:rPr>
              <a:t>//</a:t>
            </a:r>
            <a:r>
              <a:rPr lang="zh-CN" altLang="en-US" sz="1400" dirty="0">
                <a:solidFill>
                  <a:srgbClr val="4CAE4C"/>
                </a:solidFill>
                <a:latin typeface="Monaco" pitchFamily="49" charset="0"/>
              </a:rPr>
              <a:t>表单提交事件处理函数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form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).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onsubmit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=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function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FD8B19"/>
                </a:solidFill>
                <a:latin typeface="Monaco" pitchFamily="49" charset="0"/>
              </a:rPr>
              <a:t>event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)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{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400" dirty="0">
                <a:solidFill>
                  <a:srgbClr val="C792EA"/>
                </a:solidFill>
                <a:latin typeface="Monaco" pitchFamily="49" charset="0"/>
              </a:rPr>
              <a:t>if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(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document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.getElementById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my-input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).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value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=== 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 {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          </a:t>
            </a:r>
            <a:r>
              <a:rPr lang="en-US" altLang="zh-CN" sz="1400" dirty="0">
                <a:solidFill>
                  <a:srgbClr val="89DDFF"/>
                </a:solidFill>
                <a:latin typeface="Monaco" pitchFamily="49" charset="0"/>
              </a:rPr>
              <a:t>alert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zh-CN" altLang="en-US" sz="1400" dirty="0">
                <a:solidFill>
                  <a:srgbClr val="C3E88D"/>
                </a:solidFill>
                <a:latin typeface="Monaco" pitchFamily="49" charset="0"/>
              </a:rPr>
              <a:t>用户名不能为空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'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)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      </a:t>
            </a:r>
            <a:r>
              <a:rPr lang="en-US" altLang="zh-CN" sz="1400" dirty="0" err="1">
                <a:solidFill>
                  <a:srgbClr val="FF5370"/>
                </a:solidFill>
                <a:latin typeface="Monaco" pitchFamily="49" charset="0"/>
              </a:rPr>
              <a:t>event</a:t>
            </a:r>
            <a:r>
              <a:rPr lang="en-US" altLang="zh-CN" sz="1400" dirty="0" err="1">
                <a:solidFill>
                  <a:srgbClr val="89DDFF"/>
                </a:solidFill>
                <a:latin typeface="Monaco" pitchFamily="49" charset="0"/>
              </a:rPr>
              <a:t>.preventDefault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() </a:t>
            </a:r>
            <a:r>
              <a:rPr lang="en-US" altLang="zh-CN" sz="1400" dirty="0">
                <a:solidFill>
                  <a:srgbClr val="5C7E8C"/>
                </a:solidFill>
                <a:latin typeface="Monaco" pitchFamily="49" charset="0"/>
              </a:rPr>
              <a:t>//</a:t>
            </a:r>
            <a:r>
              <a:rPr lang="zh-CN" altLang="en-US" sz="1400" dirty="0">
                <a:solidFill>
                  <a:srgbClr val="4CAE4C"/>
                </a:solidFill>
                <a:latin typeface="Monaco" pitchFamily="49" charset="0"/>
              </a:rPr>
              <a:t>用户名为空取消默认提交表单行为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}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  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}</a:t>
            </a:r>
            <a:endParaRPr lang="zh-CN" altLang="en-US" sz="1400" dirty="0">
              <a:solidFill>
                <a:srgbClr val="CBCCC6"/>
              </a:solidFill>
              <a:latin typeface="Monaco" pitchFamily="49" charset="0"/>
            </a:endParaRPr>
          </a:p>
          <a:p>
            <a:r>
              <a:rPr lang="zh-CN" altLang="en-US" sz="1400" dirty="0">
                <a:solidFill>
                  <a:srgbClr val="80CBC4"/>
                </a:solidFill>
                <a:latin typeface="Monaco" pitchFamily="49" charset="0"/>
              </a:rPr>
              <a:t>    </a:t>
            </a:r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/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script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1219200"/>
            <a:ext cx="11097362" cy="1650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u="sng" dirty="0" smtClean="0">
                <a:latin typeface="+mn-ea"/>
              </a:rPr>
              <a:t>this</a:t>
            </a:r>
            <a:r>
              <a:rPr lang="zh-CN" altLang="en-US" u="sng" dirty="0">
                <a:latin typeface="+mn-ea"/>
              </a:rPr>
              <a:t>关键字</a:t>
            </a:r>
            <a:endParaRPr lang="en-US" altLang="zh-CN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事件触发时，事件处理函数中可以使用</a:t>
            </a:r>
            <a:r>
              <a:rPr lang="en-US" altLang="zh-CN" dirty="0" smtClean="0">
                <a:latin typeface="+mn-ea"/>
              </a:rPr>
              <a:t>this</a:t>
            </a:r>
            <a:r>
              <a:rPr lang="zh-CN" altLang="en-US" dirty="0" smtClean="0">
                <a:latin typeface="+mn-ea"/>
              </a:rPr>
              <a:t>关键字表示触发事件的当前对象。例如单击</a:t>
            </a:r>
            <a:r>
              <a:rPr lang="en-US" altLang="zh-CN" dirty="0" smtClean="0">
                <a:latin typeface="+mn-ea"/>
              </a:rPr>
              <a:t>div</a:t>
            </a:r>
            <a:r>
              <a:rPr lang="zh-CN" altLang="en-US" dirty="0" smtClean="0">
                <a:latin typeface="+mn-ea"/>
              </a:rPr>
              <a:t>盒子，使其里边的文字字体变大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0" y="2337952"/>
            <a:ext cx="3948112" cy="431698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62000" y="762000"/>
            <a:ext cx="1114408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事件对象</a:t>
            </a:r>
            <a:endParaRPr lang="en-US" altLang="zh-CN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914400"/>
            <a:ext cx="11097362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例：</a:t>
            </a:r>
            <a:r>
              <a:rPr lang="zh-CN" altLang="en-US" sz="2000" dirty="0" smtClean="0">
                <a:latin typeface="+mn-ea"/>
              </a:rPr>
              <a:t>实现标签页内容切换。鼠标指针悬停在标签标题上时，标题高亮显示，下方内容区域随之切换。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7800"/>
            <a:ext cx="6607810" cy="133858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351915"/>
            <a:ext cx="4571365" cy="55060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743200"/>
            <a:ext cx="4619625" cy="3753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914400"/>
            <a:ext cx="11097362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u="sng" dirty="0" smtClean="0">
                <a:latin typeface="+mn-ea"/>
              </a:rPr>
              <a:t>target</a:t>
            </a:r>
            <a:r>
              <a:rPr lang="zh-CN" altLang="en-US" sz="2000" u="sng" dirty="0">
                <a:latin typeface="+mn-ea"/>
              </a:rPr>
              <a:t>和</a:t>
            </a:r>
            <a:r>
              <a:rPr lang="en-US" altLang="zh-CN" sz="2000" u="sng" dirty="0" err="1">
                <a:latin typeface="+mn-ea"/>
              </a:rPr>
              <a:t>currentTarget</a:t>
            </a:r>
            <a:r>
              <a:rPr lang="zh-CN" altLang="en-US" sz="2000" u="sng" dirty="0">
                <a:latin typeface="+mn-ea"/>
              </a:rPr>
              <a:t>属性：</a:t>
            </a:r>
            <a:endParaRPr lang="en-US" altLang="zh-CN" sz="2000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在事件冒泡中，可以用</a:t>
            </a:r>
            <a:r>
              <a:rPr lang="en-US" altLang="zh-CN" sz="2000" dirty="0" smtClean="0">
                <a:latin typeface="+mn-ea"/>
              </a:rPr>
              <a:t>event</a:t>
            </a:r>
            <a:r>
              <a:rPr lang="zh-CN" altLang="en-US" sz="2000" dirty="0" smtClean="0">
                <a:latin typeface="+mn-ea"/>
              </a:rPr>
              <a:t>对象中的</a:t>
            </a:r>
            <a:r>
              <a:rPr lang="en-US" altLang="zh-CN" sz="2000" dirty="0">
                <a:latin typeface="+mn-ea"/>
              </a:rPr>
              <a:t>target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 err="1" smtClean="0">
                <a:latin typeface="+mn-ea"/>
              </a:rPr>
              <a:t>currentTarget</a:t>
            </a:r>
            <a:r>
              <a:rPr lang="zh-CN" altLang="en-US" sz="2000" dirty="0" smtClean="0">
                <a:latin typeface="+mn-ea"/>
              </a:rPr>
              <a:t>属性来详细查看事件当前正在处理的元素和目标阶段处理的元素</a:t>
            </a:r>
            <a:r>
              <a:rPr lang="en-US" altLang="zh-CN" sz="2000" dirty="0" smtClean="0">
                <a:latin typeface="+mn-ea"/>
              </a:rPr>
              <a:t>.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target</a:t>
            </a:r>
            <a:r>
              <a:rPr lang="zh-CN" altLang="en-US" sz="2000" dirty="0">
                <a:latin typeface="+mn-ea"/>
              </a:rPr>
              <a:t>是指事件的调用对象</a:t>
            </a:r>
            <a:r>
              <a:rPr lang="zh-CN" altLang="en-US" sz="2000" dirty="0" smtClean="0">
                <a:latin typeface="+mn-ea"/>
              </a:rPr>
              <a:t>，</a:t>
            </a:r>
            <a:endParaRPr lang="zh-CN" altLang="en-US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+mn-ea"/>
                <a:sym typeface="+mn-ea"/>
              </a:rPr>
              <a:t>currentTarget</a:t>
            </a:r>
            <a:r>
              <a:rPr lang="zh-CN" altLang="en-US" sz="2000" dirty="0">
                <a:latin typeface="+mn-ea"/>
                <a:sym typeface="+mn-ea"/>
              </a:rPr>
              <a:t>是指</a:t>
            </a:r>
            <a:r>
              <a:rPr lang="en-US" altLang="zh-CN" sz="2000" dirty="0" err="1">
                <a:latin typeface="+mn-ea"/>
              </a:rPr>
              <a:t>绑定事件的对象，恒等于this.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914400"/>
            <a:ext cx="110973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u="sng" dirty="0" err="1">
                <a:latin typeface="+mn-ea"/>
              </a:rPr>
              <a:t>e.target</a:t>
            </a:r>
            <a:r>
              <a:rPr lang="en-US" altLang="zh-CN" sz="2000" u="sng" dirty="0">
                <a:latin typeface="+mn-ea"/>
              </a:rPr>
              <a:t> </a:t>
            </a:r>
            <a:r>
              <a:rPr lang="zh-CN" altLang="en-US" sz="2000" u="sng" dirty="0">
                <a:latin typeface="+mn-ea"/>
              </a:rPr>
              <a:t>和 </a:t>
            </a:r>
            <a:r>
              <a:rPr lang="en-US" altLang="zh-CN" sz="2000" u="sng" dirty="0">
                <a:latin typeface="+mn-ea"/>
              </a:rPr>
              <a:t>this </a:t>
            </a:r>
            <a:r>
              <a:rPr lang="zh-CN" altLang="en-US" sz="2000" u="sng" dirty="0">
                <a:latin typeface="+mn-ea"/>
              </a:rPr>
              <a:t>的区别：：</a:t>
            </a:r>
            <a:endParaRPr lang="en-US" altLang="zh-CN" sz="2000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this </a:t>
            </a:r>
            <a:r>
              <a:rPr lang="zh-CN" altLang="en-US" sz="2000" dirty="0">
                <a:latin typeface="+mn-ea"/>
              </a:rPr>
              <a:t>是事件绑定的元素， 这个函数的调用者（绑定这个事件的元素）</a:t>
            </a: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+mn-ea"/>
              </a:rPr>
              <a:t>e.target</a:t>
            </a:r>
            <a:r>
              <a:rPr lang="en-US" altLang="zh-CN" sz="2000" dirty="0"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是事件触发的</a:t>
            </a:r>
            <a:r>
              <a:rPr lang="zh-CN" altLang="en-US" sz="2000" dirty="0" smtClean="0">
                <a:latin typeface="+mn-ea"/>
              </a:rPr>
              <a:t>元素。</a:t>
            </a:r>
            <a:endParaRPr lang="en-US" altLang="zh-CN" sz="2000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9358" y="2546121"/>
            <a:ext cx="6096000" cy="39703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zh-CN" sz="1400" dirty="0" smtClean="0">
                <a:latin typeface="Monaco" pitchFamily="49" charset="0"/>
              </a:rPr>
              <a:t>    &lt;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 class="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-wrap"&gt;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查找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修改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添加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删除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&lt;/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&lt;script&gt;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let </a:t>
            </a:r>
            <a:r>
              <a:rPr lang="en-US" altLang="zh-CN" sz="1400" dirty="0" err="1">
                <a:latin typeface="Monaco" pitchFamily="49" charset="0"/>
              </a:rPr>
              <a:t>ulWrap</a:t>
            </a:r>
            <a:r>
              <a:rPr lang="en-US" altLang="zh-CN" sz="1400" dirty="0">
                <a:latin typeface="Monaco" pitchFamily="49" charset="0"/>
              </a:rPr>
              <a:t> = </a:t>
            </a:r>
            <a:r>
              <a:rPr lang="en-US" altLang="zh-CN" sz="1400" dirty="0" err="1">
                <a:latin typeface="Monaco" pitchFamily="49" charset="0"/>
              </a:rPr>
              <a:t>document.querySelector</a:t>
            </a:r>
            <a:r>
              <a:rPr lang="en-US" altLang="zh-CN" sz="1400" dirty="0">
                <a:latin typeface="Monaco" pitchFamily="49" charset="0"/>
              </a:rPr>
              <a:t>('.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-wrap')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</a:t>
            </a:r>
            <a:r>
              <a:rPr lang="en-US" altLang="zh-CN" sz="1400" dirty="0" err="1">
                <a:latin typeface="Monaco" pitchFamily="49" charset="0"/>
              </a:rPr>
              <a:t>ulWrap.addEventListener</a:t>
            </a:r>
            <a:r>
              <a:rPr lang="en-US" altLang="zh-CN" sz="1400" dirty="0">
                <a:latin typeface="Monaco" pitchFamily="49" charset="0"/>
              </a:rPr>
              <a:t>(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'click',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function (e) {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  alert('DOM</a:t>
            </a:r>
            <a:r>
              <a:rPr lang="zh-CN" altLang="en-US" sz="1400" dirty="0">
                <a:latin typeface="Monaco" pitchFamily="49" charset="0"/>
              </a:rPr>
              <a:t>操作</a:t>
            </a:r>
            <a:r>
              <a:rPr lang="en-US" altLang="zh-CN" sz="1400" dirty="0">
                <a:latin typeface="Monaco" pitchFamily="49" charset="0"/>
              </a:rPr>
              <a:t>~')</a:t>
            </a:r>
            <a:endParaRPr lang="zh-CN" altLang="en-US" sz="1400" dirty="0">
              <a:latin typeface="Monaco" pitchFamily="49" charset="0"/>
            </a:endParaRPr>
          </a:p>
          <a:p>
            <a:r>
              <a:rPr lang="zh-CN" altLang="en-US" sz="1400" dirty="0">
                <a:latin typeface="Monaco" pitchFamily="49" charset="0"/>
              </a:rPr>
              <a:t>          </a:t>
            </a:r>
            <a:r>
              <a:rPr lang="en-US" altLang="zh-CN" sz="1400" dirty="0">
                <a:latin typeface="Monaco" pitchFamily="49" charset="0"/>
              </a:rPr>
              <a:t>console.log(</a:t>
            </a:r>
            <a:r>
              <a:rPr lang="en-US" altLang="zh-CN" sz="1400" dirty="0" err="1">
                <a:latin typeface="Monaco" pitchFamily="49" charset="0"/>
              </a:rPr>
              <a:t>e.target</a:t>
            </a:r>
            <a:r>
              <a:rPr lang="en-US" altLang="zh-CN" sz="1400" dirty="0">
                <a:latin typeface="Monaco" pitchFamily="49" charset="0"/>
              </a:rPr>
              <a:t>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  console.log(this)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},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false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&lt;/script&gt;</a:t>
            </a:r>
            <a:endParaRPr lang="en-US" altLang="zh-CN" sz="1400" b="0" dirty="0">
              <a:effectLst/>
              <a:latin typeface="Monaco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400" y="4572000"/>
            <a:ext cx="4605337" cy="1082924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pc="-40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spc="-40" dirty="0">
              <a:solidFill>
                <a:srgbClr val="5858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9838" y="914400"/>
            <a:ext cx="110973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u="sng" dirty="0" smtClean="0">
                <a:latin typeface="+mn-ea"/>
              </a:rPr>
              <a:t>事件委托：</a:t>
            </a:r>
            <a:endParaRPr lang="en-US" altLang="zh-CN" sz="2000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事件委托是利用事件冒泡机制将事件处理函数注册在上层元素上，以便对下层元素进行统一处理。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原理：不再单独给每个子结点设置事件监听器，而是把这个事件监听器设置在父节点上，然后利用冒泡原理影响设置每个子结点。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743382"/>
            <a:ext cx="3143250" cy="20002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886200" y="2692953"/>
            <a:ext cx="3124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onaco" pitchFamily="49" charset="0"/>
              </a:rPr>
              <a:t>&lt;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 class="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-wrap"&gt;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查找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修改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添加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&lt;li&gt;DOM</a:t>
            </a:r>
            <a:r>
              <a:rPr lang="zh-CN" altLang="en-US" sz="1400" dirty="0">
                <a:latin typeface="Monaco" pitchFamily="49" charset="0"/>
              </a:rPr>
              <a:t>删除</a:t>
            </a:r>
            <a:r>
              <a:rPr lang="en-US" altLang="zh-CN" sz="1400" dirty="0">
                <a:latin typeface="Monaco" pitchFamily="49" charset="0"/>
              </a:rPr>
              <a:t>&lt;/li&gt;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&lt;/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&gt;</a:t>
            </a:r>
            <a:endParaRPr lang="en-US" altLang="zh-CN" sz="1400" b="0" dirty="0">
              <a:effectLst/>
              <a:latin typeface="Monaco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886200" y="4186118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>
                <a:latin typeface="Monaco" pitchFamily="49" charset="0"/>
              </a:rPr>
              <a:t>&lt;script&gt;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let </a:t>
            </a:r>
            <a:r>
              <a:rPr lang="en-US" altLang="zh-CN" sz="1400" dirty="0" err="1">
                <a:latin typeface="Monaco" pitchFamily="49" charset="0"/>
              </a:rPr>
              <a:t>ulWrap</a:t>
            </a:r>
            <a:r>
              <a:rPr lang="en-US" altLang="zh-CN" sz="1400" dirty="0">
                <a:latin typeface="Monaco" pitchFamily="49" charset="0"/>
              </a:rPr>
              <a:t> = </a:t>
            </a:r>
            <a:r>
              <a:rPr lang="en-US" altLang="zh-CN" sz="1400" dirty="0" err="1">
                <a:latin typeface="Monaco" pitchFamily="49" charset="0"/>
              </a:rPr>
              <a:t>document.querySelector</a:t>
            </a:r>
            <a:r>
              <a:rPr lang="en-US" altLang="zh-CN" sz="1400" dirty="0">
                <a:latin typeface="Monaco" pitchFamily="49" charset="0"/>
              </a:rPr>
              <a:t>('.</a:t>
            </a:r>
            <a:r>
              <a:rPr lang="en-US" altLang="zh-CN" sz="1400" dirty="0" err="1">
                <a:latin typeface="Monaco" pitchFamily="49" charset="0"/>
              </a:rPr>
              <a:t>ul</a:t>
            </a:r>
            <a:r>
              <a:rPr lang="en-US" altLang="zh-CN" sz="1400" dirty="0">
                <a:latin typeface="Monaco" pitchFamily="49" charset="0"/>
              </a:rPr>
              <a:t>-wrap')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</a:t>
            </a:r>
            <a:r>
              <a:rPr lang="en-US" altLang="zh-CN" sz="1400" dirty="0" err="1">
                <a:latin typeface="Monaco" pitchFamily="49" charset="0"/>
              </a:rPr>
              <a:t>ulWrap.addEventListener</a:t>
            </a:r>
            <a:r>
              <a:rPr lang="en-US" altLang="zh-CN" sz="1400" dirty="0">
                <a:latin typeface="Monaco" pitchFamily="49" charset="0"/>
              </a:rPr>
              <a:t>(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'click',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function (e) {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    alert('DOM</a:t>
            </a:r>
            <a:r>
              <a:rPr lang="zh-CN" altLang="en-US" sz="1400" dirty="0">
                <a:latin typeface="Monaco" pitchFamily="49" charset="0"/>
              </a:rPr>
              <a:t>操作</a:t>
            </a:r>
            <a:r>
              <a:rPr lang="en-US" altLang="zh-CN" sz="1400" dirty="0">
                <a:latin typeface="Monaco" pitchFamily="49" charset="0"/>
              </a:rPr>
              <a:t>~')</a:t>
            </a:r>
            <a:endParaRPr lang="zh-CN" altLang="en-US" sz="1400" dirty="0">
              <a:latin typeface="Monaco" pitchFamily="49" charset="0"/>
            </a:endParaRPr>
          </a:p>
          <a:p>
            <a:r>
              <a:rPr lang="zh-CN" altLang="en-US" sz="1400" dirty="0">
                <a:latin typeface="Monaco" pitchFamily="49" charset="0"/>
              </a:rPr>
              <a:t>        </a:t>
            </a:r>
            <a:r>
              <a:rPr lang="en-US" altLang="zh-CN" sz="1400" dirty="0">
                <a:latin typeface="Monaco" pitchFamily="49" charset="0"/>
              </a:rPr>
              <a:t>},</a:t>
            </a:r>
            <a:endParaRPr lang="zh-CN" altLang="en-US" sz="1400" dirty="0">
              <a:latin typeface="Monaco" pitchFamily="49" charset="0"/>
            </a:endParaRPr>
          </a:p>
          <a:p>
            <a:r>
              <a:rPr lang="zh-CN" altLang="en-US" sz="1400" dirty="0">
                <a:latin typeface="Monaco" pitchFamily="49" charset="0"/>
              </a:rPr>
              <a:t>        </a:t>
            </a:r>
            <a:r>
              <a:rPr lang="en-US" altLang="zh-CN" sz="1400" dirty="0">
                <a:latin typeface="Monaco" pitchFamily="49" charset="0"/>
              </a:rPr>
              <a:t>false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  )</a:t>
            </a:r>
            <a:endParaRPr lang="en-US" altLang="zh-CN" sz="1400" dirty="0">
              <a:latin typeface="Monaco" pitchFamily="49" charset="0"/>
            </a:endParaRPr>
          </a:p>
          <a:p>
            <a:r>
              <a:rPr lang="en-US" altLang="zh-CN" sz="1400" dirty="0">
                <a:latin typeface="Monaco" pitchFamily="49" charset="0"/>
              </a:rPr>
              <a:t>    &lt;/script&gt;</a:t>
            </a:r>
            <a:endParaRPr lang="en-US" altLang="zh-CN" sz="1400" b="0" dirty="0">
              <a:effectLst/>
              <a:latin typeface="Monaco" pitchFamily="49" charset="0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09800" y="2667000"/>
            <a:ext cx="7696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 smtClean="0"/>
              <a:t>BOM</a:t>
            </a:r>
            <a:endParaRPr lang="zh-CN" altLang="en-US" sz="6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9838" y="952585"/>
            <a:ext cx="15985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什么</a:t>
            </a:r>
            <a:r>
              <a:rPr lang="zh-CN" altLang="en-US" sz="2000" dirty="0"/>
              <a:t>是 </a:t>
            </a:r>
            <a:r>
              <a:rPr lang="en-US" altLang="zh-CN" sz="2000" dirty="0"/>
              <a:t>BOM </a:t>
            </a:r>
            <a:endParaRPr lang="en-US" altLang="zh-CN" sz="2000" dirty="0"/>
          </a:p>
        </p:txBody>
      </p:sp>
      <p:sp>
        <p:nvSpPr>
          <p:cNvPr id="9" name="内容占位符 5"/>
          <p:cNvSpPr>
            <a:spLocks noGrp="1"/>
          </p:cNvSpPr>
          <p:nvPr/>
        </p:nvSpPr>
        <p:spPr>
          <a:xfrm>
            <a:off x="750886" y="1352695"/>
            <a:ext cx="11364913" cy="16719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600" dirty="0">
                <a:sym typeface="+mn-ea"/>
              </a:rPr>
              <a:t>BOM（Browser Object Model）即</a:t>
            </a:r>
            <a:r>
              <a:rPr lang="zh-CN" sz="1600" b="1" dirty="0">
                <a:solidFill>
                  <a:srgbClr val="FF0000"/>
                </a:solidFill>
                <a:sym typeface="+mn-ea"/>
              </a:rPr>
              <a:t>浏览器</a:t>
            </a:r>
            <a:r>
              <a:rPr lang="zh-CN" sz="1600" b="1" dirty="0" smtClean="0">
                <a:solidFill>
                  <a:srgbClr val="FF0000"/>
                </a:solidFill>
                <a:sym typeface="+mn-ea"/>
              </a:rPr>
              <a:t>对象模型</a:t>
            </a:r>
            <a:r>
              <a:rPr lang="zh-CN" altLang="en-US" sz="1600" dirty="0" smtClean="0">
                <a:sym typeface="+mn-ea"/>
              </a:rPr>
              <a:t>，它</a:t>
            </a:r>
            <a:r>
              <a:rPr lang="zh-CN" sz="1600" dirty="0" smtClean="0">
                <a:sym typeface="+mn-ea"/>
              </a:rPr>
              <a:t>提供</a:t>
            </a:r>
            <a:r>
              <a:rPr lang="zh-CN" sz="1600" dirty="0">
                <a:sym typeface="+mn-ea"/>
              </a:rPr>
              <a:t>了独立于</a:t>
            </a:r>
            <a:r>
              <a:rPr lang="zh-CN" sz="1600" dirty="0" smtClean="0">
                <a:sym typeface="+mn-ea"/>
              </a:rPr>
              <a:t>内容而</a:t>
            </a:r>
            <a:r>
              <a:rPr lang="zh-CN" sz="1600" dirty="0">
                <a:sym typeface="+mn-ea"/>
              </a:rPr>
              <a:t>与</a:t>
            </a:r>
            <a:r>
              <a:rPr lang="zh-CN" sz="1600" dirty="0">
                <a:solidFill>
                  <a:srgbClr val="FF0000"/>
                </a:solidFill>
                <a:sym typeface="+mn-ea"/>
              </a:rPr>
              <a:t>浏览器窗口进行交互的对象，</a:t>
            </a:r>
            <a:r>
              <a:rPr lang="zh-CN" sz="1600" dirty="0">
                <a:sym typeface="+mn-ea"/>
              </a:rPr>
              <a:t>其核心对象</a:t>
            </a:r>
            <a:r>
              <a:rPr lang="zh-CN" sz="1600" dirty="0" smtClean="0">
                <a:sym typeface="+mn-ea"/>
              </a:rPr>
              <a:t>是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window</a:t>
            </a:r>
            <a:r>
              <a:rPr lang="zh-CN" altLang="en-US" sz="1600" dirty="0">
                <a:sym typeface="+mn-ea"/>
              </a:rPr>
              <a:t>。</a:t>
            </a:r>
            <a:endParaRPr lang="en-US" altLang="zh-CN" sz="1600" dirty="0" smtClean="0">
              <a:sym typeface="+mn-ea"/>
            </a:endParaRPr>
          </a:p>
          <a:p>
            <a:r>
              <a:rPr lang="zh-CN" sz="1600" dirty="0" smtClean="0">
                <a:sym typeface="+mn-ea"/>
              </a:rPr>
              <a:t>BOM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由</a:t>
            </a:r>
            <a:r>
              <a:rPr lang="zh-CN" sz="1600" dirty="0">
                <a:sym typeface="+mn-ea"/>
              </a:rPr>
              <a:t>一系列相关的对象构成，并且每个对象都提供了很多方法与</a:t>
            </a:r>
            <a:r>
              <a:rPr lang="zh-CN" sz="1600" dirty="0" smtClean="0">
                <a:sym typeface="+mn-ea"/>
              </a:rPr>
              <a:t>属性</a:t>
            </a:r>
            <a:r>
              <a:rPr lang="zh-CN" altLang="en-US" sz="1600" dirty="0" smtClean="0">
                <a:sym typeface="+mn-ea"/>
              </a:rPr>
              <a:t>。</a:t>
            </a:r>
            <a:endParaRPr lang="zh-CN" sz="1600" dirty="0">
              <a:sym typeface="+mn-ea"/>
            </a:endParaRPr>
          </a:p>
          <a:p>
            <a:r>
              <a:rPr lang="zh-CN" sz="1600" dirty="0" smtClean="0">
                <a:sym typeface="+mn-ea"/>
              </a:rPr>
              <a:t>BOM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缺乏</a:t>
            </a:r>
            <a:r>
              <a:rPr lang="zh-CN" sz="1600" dirty="0">
                <a:sym typeface="+mn-ea"/>
              </a:rPr>
              <a:t>标准，</a:t>
            </a:r>
            <a:r>
              <a:rPr lang="zh-CN" sz="1600" dirty="0" smtClean="0">
                <a:sym typeface="+mn-ea"/>
              </a:rPr>
              <a:t>JavaScript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语法</a:t>
            </a:r>
            <a:r>
              <a:rPr lang="zh-CN" sz="1600" dirty="0">
                <a:sym typeface="+mn-ea"/>
              </a:rPr>
              <a:t>的标准化组织</a:t>
            </a:r>
            <a:r>
              <a:rPr lang="zh-CN" sz="1600" dirty="0" smtClean="0">
                <a:sym typeface="+mn-ea"/>
              </a:rPr>
              <a:t>是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ECMA</a:t>
            </a:r>
            <a:r>
              <a:rPr lang="zh-CN" sz="1600" dirty="0">
                <a:sym typeface="+mn-ea"/>
              </a:rPr>
              <a:t>，</a:t>
            </a:r>
            <a:r>
              <a:rPr lang="zh-CN" sz="1600" dirty="0" smtClean="0">
                <a:sym typeface="+mn-ea"/>
              </a:rPr>
              <a:t>DOM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的</a:t>
            </a:r>
            <a:r>
              <a:rPr lang="zh-CN" sz="1600" dirty="0">
                <a:sym typeface="+mn-ea"/>
              </a:rPr>
              <a:t>标准化组织</a:t>
            </a:r>
            <a:r>
              <a:rPr lang="zh-CN" sz="1600" dirty="0" smtClean="0">
                <a:sym typeface="+mn-ea"/>
              </a:rPr>
              <a:t>是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W</a:t>
            </a:r>
            <a:r>
              <a:rPr lang="zh-CN" sz="1600" dirty="0">
                <a:sym typeface="+mn-ea"/>
              </a:rPr>
              <a:t>3C，</a:t>
            </a:r>
            <a:r>
              <a:rPr lang="zh-CN" sz="1600" dirty="0" smtClean="0">
                <a:sym typeface="+mn-ea"/>
              </a:rPr>
              <a:t>BOM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最初</a:t>
            </a:r>
            <a:r>
              <a:rPr lang="zh-CN" sz="1600" dirty="0">
                <a:sym typeface="+mn-ea"/>
              </a:rPr>
              <a:t>是</a:t>
            </a:r>
            <a:r>
              <a:rPr lang="zh-CN" sz="1600" dirty="0" smtClean="0">
                <a:sym typeface="+mn-ea"/>
              </a:rPr>
              <a:t>Netscape</a:t>
            </a:r>
            <a:r>
              <a:rPr lang="en-US" altLang="zh-CN" sz="1600" dirty="0" smtClean="0">
                <a:sym typeface="+mn-ea"/>
              </a:rPr>
              <a:t> </a:t>
            </a:r>
            <a:r>
              <a:rPr lang="zh-CN" sz="1600" dirty="0" smtClean="0">
                <a:sym typeface="+mn-ea"/>
              </a:rPr>
              <a:t>浏览器</a:t>
            </a:r>
            <a:r>
              <a:rPr lang="zh-CN" sz="1600" dirty="0">
                <a:sym typeface="+mn-ea"/>
              </a:rPr>
              <a:t>标准的一部分。</a:t>
            </a:r>
            <a:endParaRPr lang="zh-CN" sz="1600" dirty="0">
              <a:sym typeface="+mn-ea"/>
            </a:endParaRPr>
          </a:p>
        </p:txBody>
      </p:sp>
      <p:sp>
        <p:nvSpPr>
          <p:cNvPr id="11" name="TextBox 37"/>
          <p:cNvSpPr txBox="1"/>
          <p:nvPr/>
        </p:nvSpPr>
        <p:spPr>
          <a:xfrm>
            <a:off x="1175384" y="3682365"/>
            <a:ext cx="3946525" cy="37741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1"/>
          <p:cNvSpPr txBox="1"/>
          <p:nvPr/>
        </p:nvSpPr>
        <p:spPr>
          <a:xfrm>
            <a:off x="5172709" y="3682365"/>
            <a:ext cx="3513138" cy="37741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750887" y="4191000"/>
            <a:ext cx="3984625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文档对象模型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sz="13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 就是把「</a:t>
            </a:r>
            <a:r>
              <a:rPr lang="en-US" altLang="zh-CN" sz="1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文档</a:t>
            </a:r>
            <a:r>
              <a:rPr lang="en-US" altLang="zh-CN" sz="13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」当做一个「</a:t>
            </a:r>
            <a:r>
              <a:rPr lang="en-US" altLang="zh-CN" sz="1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</a:t>
            </a:r>
            <a:r>
              <a:rPr lang="en-US" altLang="zh-CN" sz="13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」来看待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 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的顶级对象是 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document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 </a:t>
            </a:r>
            <a:r>
              <a:rPr kumimoji="0" lang="zh-CN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</a:t>
            </a:r>
            <a:r>
              <a:rPr lang="zh-CN" altLang="en-US" sz="1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学习的</a:t>
            </a:r>
            <a:r>
              <a:rPr kumimoji="0" lang="zh-CN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操作页面元素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 </a:t>
            </a:r>
            <a:r>
              <a:rPr kumimoji="0" lang="zh-CN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 </a:t>
            </a:r>
            <a:r>
              <a:rPr kumimoji="0" lang="en-US" altLang="zh-CN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W3C </a:t>
            </a:r>
            <a:r>
              <a:rPr kumimoji="0" lang="zh-CN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标准规范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4735512" y="4147863"/>
            <a:ext cx="4413885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1450" indent="-1714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浏览器对象模型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把「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浏览器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」当做一个「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」来看待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 </a:t>
            </a:r>
            <a:r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顶级对象是 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</a:t>
            </a:r>
            <a:endParaRPr lang="zh-CN" altLang="en-US" sz="13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sz="13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 </a:t>
            </a:r>
            <a:r>
              <a:rPr lang="zh-CN" altLang="en-US" sz="13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学习的是浏览器窗口交互的一些对象</a:t>
            </a:r>
            <a:endParaRPr lang="zh-CN" altLang="en-US" sz="130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en-US" altLang="zh-CN" sz="13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 </a:t>
            </a:r>
            <a:r>
              <a:rPr lang="zh-CN" altLang="en-US" sz="130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是浏览器厂商在各自浏览器</a:t>
            </a:r>
            <a:r>
              <a:rPr lang="zh-CN" altLang="en-US" sz="130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</a:t>
            </a:r>
            <a:r>
              <a:rPr lang="zh-CN" altLang="en-US" sz="130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</a:t>
            </a:r>
            <a:r>
              <a:rPr lang="zh-CN" altLang="en-US" sz="130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的，</a:t>
            </a:r>
            <a:r>
              <a:rPr lang="zh-CN" altLang="en-US" sz="130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兼容性较差</a:t>
            </a:r>
            <a:endParaRPr lang="zh-CN" altLang="en-US" sz="130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714239" y="3768725"/>
            <a:ext cx="21273" cy="23272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864046" y="1431202"/>
            <a:ext cx="7365554" cy="4673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ym typeface="+mn-ea"/>
              </a:rPr>
              <a:t>BOM </a:t>
            </a:r>
            <a:r>
              <a:rPr lang="zh-CN" altLang="en-US" sz="1400" dirty="0" smtClean="0">
                <a:sym typeface="+mn-ea"/>
              </a:rPr>
              <a:t>比 </a:t>
            </a:r>
            <a:r>
              <a:rPr lang="en-US" altLang="zh-CN" sz="1400" dirty="0" smtClean="0">
                <a:sym typeface="+mn-ea"/>
              </a:rPr>
              <a:t>DOM </a:t>
            </a:r>
            <a:r>
              <a:rPr lang="zh-CN" altLang="en-US" sz="1400" dirty="0" smtClean="0">
                <a:sym typeface="+mn-ea"/>
              </a:rPr>
              <a:t>更</a:t>
            </a:r>
            <a:r>
              <a:rPr lang="zh-CN" altLang="en-US" sz="1400" dirty="0">
                <a:sym typeface="+mn-ea"/>
              </a:rPr>
              <a:t>大</a:t>
            </a:r>
            <a:r>
              <a:rPr lang="zh-CN" altLang="en-US" sz="1400" dirty="0" smtClean="0">
                <a:sym typeface="+mn-ea"/>
              </a:rPr>
              <a:t>，它包含 </a:t>
            </a:r>
            <a:r>
              <a:rPr lang="en-US" altLang="zh-CN" sz="1400" dirty="0" smtClean="0">
                <a:sym typeface="+mn-ea"/>
              </a:rPr>
              <a:t>DOM</a:t>
            </a:r>
            <a:r>
              <a:rPr lang="zh-CN" altLang="en-US" sz="1400" dirty="0" smtClean="0">
                <a:sym typeface="+mn-ea"/>
              </a:rPr>
              <a:t>。</a:t>
            </a:r>
            <a:r>
              <a:rPr lang="en-US" altLang="zh-CN" sz="1400" dirty="0" smtClean="0">
                <a:sym typeface="+mn-ea"/>
              </a:rPr>
              <a:t>DOM</a:t>
            </a:r>
            <a:r>
              <a:rPr lang="zh-CN" altLang="en-US" sz="1400" dirty="0" smtClean="0">
                <a:sym typeface="+mn-ea"/>
              </a:rPr>
              <a:t>的</a:t>
            </a:r>
            <a:r>
              <a:rPr lang="en-US" altLang="zh-CN" sz="1400" dirty="0" smtClean="0">
                <a:sym typeface="+mn-ea"/>
              </a:rPr>
              <a:t>document</a:t>
            </a:r>
            <a:r>
              <a:rPr lang="zh-CN" altLang="en-US" sz="1400" dirty="0" smtClean="0">
                <a:sym typeface="+mn-ea"/>
              </a:rPr>
              <a:t>对象也是</a:t>
            </a:r>
            <a:r>
              <a:rPr lang="en-US" altLang="zh-CN" sz="1400" dirty="0" smtClean="0">
                <a:sym typeface="+mn-ea"/>
              </a:rPr>
              <a:t>window</a:t>
            </a:r>
            <a:r>
              <a:rPr lang="zh-CN" altLang="en-US" sz="1400" dirty="0" smtClean="0">
                <a:sym typeface="+mn-ea"/>
              </a:rPr>
              <a:t>对象的属性。</a:t>
            </a:r>
            <a:endParaRPr lang="zh-CN" sz="1400" dirty="0">
              <a:sym typeface="+mn-ea"/>
            </a:endParaRPr>
          </a:p>
          <a:p>
            <a:endParaRPr lang="zh-CN" sz="1400" dirty="0">
              <a:sym typeface="+mn-ea"/>
            </a:endParaRPr>
          </a:p>
        </p:txBody>
      </p:sp>
      <p:sp>
        <p:nvSpPr>
          <p:cNvPr id="14" name="内容占位符 3"/>
          <p:cNvSpPr txBox="1"/>
          <p:nvPr/>
        </p:nvSpPr>
        <p:spPr>
          <a:xfrm>
            <a:off x="805833" y="889645"/>
            <a:ext cx="65176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 smtClean="0">
                <a:solidFill>
                  <a:schemeClr val="tx1"/>
                </a:solidFill>
                <a:latin typeface="+mn-lt"/>
                <a:cs typeface="+mn-cs"/>
              </a:rPr>
              <a:t>BOM 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cs typeface="+mn-cs"/>
              </a:rPr>
              <a:t>的构成</a:t>
            </a:r>
            <a:endParaRPr lang="zh-CN" altLang="en-US" sz="18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6" name="内容占位符 5"/>
          <p:cNvSpPr>
            <a:spLocks noGrp="1"/>
          </p:cNvSpPr>
          <p:nvPr/>
        </p:nvSpPr>
        <p:spPr>
          <a:xfrm>
            <a:off x="609600" y="4051611"/>
            <a:ext cx="10414000" cy="20002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750"/>
              </a:spcBef>
              <a:buClrTx/>
              <a:buSzTx/>
              <a:buFont typeface="+mj-ea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window 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对象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是浏览器的顶级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对象，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它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具有双重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角色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sym typeface="+mn-ea"/>
            </a:endParaRPr>
          </a:p>
          <a:p>
            <a:pPr marL="228600" marR="0" lvl="0" indent="-228600" algn="l" defTabSz="685800" rtl="0" eaLnBrk="1" fontAlgn="auto" latinLnBrk="0" hangingPunct="1">
              <a:lnSpc>
                <a:spcPct val="150000"/>
              </a:lnSpc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它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是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JS 访问浏览器窗口的一个接口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sym typeface="+mn-ea"/>
            </a:endParaRPr>
          </a:p>
          <a:p>
            <a:pPr marL="228600" marR="0" lvl="0" indent="-228600" algn="l" defTabSz="685800" rtl="0" eaLnBrk="1" fontAlgn="auto" latinLnBrk="0" hangingPunct="1">
              <a:lnSpc>
                <a:spcPct val="150000"/>
              </a:lnSpc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它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是一个全局对象。定义在全局作用域中的变量、函数都会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变成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 window 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对象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的属性和方法。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sym typeface="+mn-ea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buClrTx/>
              <a:buSzTx/>
              <a:buFont typeface="+mj-ea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在调用的时候可以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省略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 window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，前面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学习的对话框都属于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window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对象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方法，如 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alert()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prompt() 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sym typeface="+mn-ea"/>
              </a:rPr>
              <a:t>等。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sym typeface="+mn-ea"/>
            </a:endParaRPr>
          </a:p>
          <a:p>
            <a:pPr lvl="0"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注意：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window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下的一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个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特殊属性 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window.name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，表示浏览器窗口的名称，默认是一个空字符</a:t>
            </a:r>
            <a:r>
              <a:rPr lang="zh-CN" altLang="en-US" sz="1600" dirty="0" smtClean="0">
                <a:solidFill>
                  <a:srgbClr val="FF0000"/>
                </a:solidFill>
                <a:sym typeface="+mn-ea"/>
              </a:rPr>
              <a:t>串。所有浏览器都有这么一个属性。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48600" y="1966422"/>
            <a:ext cx="3962400" cy="2990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spcBef>
                <a:spcPts val="100"/>
              </a:spcBef>
            </a:pPr>
            <a:r>
              <a:rPr lang="en-US" altLang="zh-CN"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r>
              <a:rPr sz="13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代表整个</a:t>
            </a:r>
            <a:r>
              <a:rPr lang="zh-CN" altLang="en-US" sz="13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sz="1300" dirty="0" err="1" smtClean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</a:t>
            </a:r>
            <a:endParaRPr sz="13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spcBef>
                <a:spcPts val="1315"/>
              </a:spcBef>
            </a:pPr>
            <a:r>
              <a:rPr lang="en-US" altLang="zh-CN"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history</a:t>
            </a:r>
            <a:r>
              <a:rPr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封装当前窗口打开后，成功访问过的历史url记录</a:t>
            </a:r>
            <a:endParaRPr sz="13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spcBef>
                <a:spcPts val="2000"/>
              </a:spcBef>
            </a:pPr>
            <a:r>
              <a:rPr lang="en-US" altLang="zh-CN"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navigation</a:t>
            </a:r>
            <a:r>
              <a:rPr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封装浏览器配置信息</a:t>
            </a:r>
            <a:endParaRPr sz="13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spcBef>
                <a:spcPts val="1880"/>
              </a:spcBef>
            </a:pPr>
            <a:r>
              <a:rPr lang="en-US" altLang="zh-CN"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</a:t>
            </a:r>
            <a:r>
              <a:rPr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封装当前正在加载的网页内容</a:t>
            </a:r>
            <a:endParaRPr lang="en-US" sz="13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spcBef>
                <a:spcPts val="100"/>
              </a:spcBef>
            </a:pPr>
            <a:endParaRPr lang="en-US" altLang="zh-CN" sz="13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spcBef>
                <a:spcPts val="100"/>
              </a:spcBef>
            </a:pPr>
            <a:r>
              <a:rPr lang="en-US" altLang="zh-CN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location</a:t>
            </a:r>
            <a:r>
              <a:rPr lang="zh-CN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封装了当前窗口正在打开的</a:t>
            </a:r>
            <a:r>
              <a:rPr lang="en-US" altLang="zh-CN" sz="13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zh-CN" altLang="en-US" sz="13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spcBef>
                <a:spcPts val="2020"/>
              </a:spcBef>
            </a:pPr>
            <a:r>
              <a:rPr lang="en-US" altLang="zh-CN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screen</a:t>
            </a:r>
            <a:r>
              <a:rPr lang="zh-CN" altLang="en-US" sz="130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封装了屏幕的信息</a:t>
            </a:r>
            <a:endParaRPr lang="zh-CN" altLang="en-US" sz="1300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700">
              <a:spcBef>
                <a:spcPts val="1880"/>
              </a:spcBef>
            </a:pPr>
            <a:endParaRPr sz="1200" dirty="0">
              <a:solidFill>
                <a:prstClr val="black"/>
              </a:solidFill>
              <a:latin typeface="微软雅黑"/>
              <a:cs typeface="微软雅黑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66422"/>
            <a:ext cx="7083714" cy="1773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16" name="内容占位符 5"/>
          <p:cNvSpPr>
            <a:spLocks noGrp="1"/>
          </p:cNvSpPr>
          <p:nvPr/>
        </p:nvSpPr>
        <p:spPr>
          <a:xfrm>
            <a:off x="685800" y="1066800"/>
            <a:ext cx="9727754" cy="3124200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b="1" dirty="0">
                <a:solidFill>
                  <a:srgbClr val="1F4E79"/>
                </a:solidFill>
                <a:latin typeface="微软雅黑"/>
                <a:cs typeface="微软雅黑"/>
              </a:rPr>
              <a:t>获取当前窗口大小</a:t>
            </a:r>
            <a:r>
              <a:rPr lang="en-US" altLang="zh-CN" b="1" dirty="0">
                <a:solidFill>
                  <a:srgbClr val="1F4E79"/>
                </a:solidFill>
                <a:latin typeface="Times New Roman" panose="02020503050405090304"/>
                <a:cs typeface="Times New Roman" panose="02020503050405090304"/>
              </a:rPr>
              <a:t>:</a:t>
            </a:r>
            <a:endParaRPr lang="zh-CN" altLang="en-US" dirty="0">
              <a:latin typeface="Times New Roman" panose="02020503050405090304"/>
              <a:cs typeface="Times New Roman" panose="02020503050405090304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  <a:buFont typeface="+mj-ea"/>
              <a:buNone/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完整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窗口大小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window.outerWidth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outerHeight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，包含标题栏、工具栏的完整宽度、高度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  <a:buFont typeface="+mj-ea"/>
              <a:buNone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文档显示区大小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window.innerWidth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innerHeight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，工作区的宽度、高度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  <a:buFont typeface="+mj-ea"/>
              <a:buNone/>
            </a:pPr>
            <a:r>
              <a:rPr lang="en-US" altLang="zh-CN" b="1" dirty="0" smtClean="0">
                <a:solidFill>
                  <a:srgbClr val="1F4E79"/>
                </a:solidFill>
                <a:latin typeface="微软雅黑"/>
                <a:cs typeface="微软雅黑"/>
                <a:sym typeface="+mn-ea"/>
              </a:rPr>
              <a:t>window</a:t>
            </a:r>
            <a:r>
              <a:rPr lang="zh-CN" altLang="en-US" b="1" dirty="0">
                <a:solidFill>
                  <a:srgbClr val="1F4E79"/>
                </a:solidFill>
                <a:latin typeface="微软雅黑"/>
                <a:cs typeface="微软雅黑"/>
                <a:sym typeface="+mn-ea"/>
              </a:rPr>
              <a:t>对象的常用方法：</a:t>
            </a:r>
            <a:endParaRPr lang="en-US" altLang="zh-CN" b="1" dirty="0">
              <a:solidFill>
                <a:srgbClr val="1F4E79"/>
              </a:solidFill>
              <a:latin typeface="微软雅黑"/>
              <a:cs typeface="微软雅黑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  <a:buFont typeface="+mj-ea"/>
              <a:buNone/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00400"/>
            <a:ext cx="9199411" cy="294894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14" name="内容占位符 3"/>
          <p:cNvSpPr txBox="1"/>
          <p:nvPr/>
        </p:nvSpPr>
        <p:spPr>
          <a:xfrm>
            <a:off x="805833" y="8896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>
                <a:solidFill>
                  <a:schemeClr val="tx1"/>
                </a:solidFill>
                <a:latin typeface="+mn-lt"/>
                <a:cs typeface="+mn-cs"/>
              </a:rPr>
              <a:t>window</a:t>
            </a:r>
            <a:r>
              <a:rPr lang="zh-CN" altLang="en-US" sz="2400" dirty="0" smtClean="0">
                <a:solidFill>
                  <a:schemeClr val="tx1"/>
                </a:solidFill>
                <a:latin typeface="+mn-lt"/>
                <a:cs typeface="+mn-cs"/>
              </a:rPr>
              <a:t>对象的常见事件</a:t>
            </a:r>
            <a:endParaRPr lang="zh-CN" altLang="en-US" sz="24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6" name="内容占位符 5"/>
          <p:cNvSpPr>
            <a:spLocks noGrp="1"/>
          </p:cNvSpPr>
          <p:nvPr/>
        </p:nvSpPr>
        <p:spPr>
          <a:xfrm>
            <a:off x="685800" y="1264057"/>
            <a:ext cx="11386168" cy="5018040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b="1" dirty="0" smtClean="0">
                <a:solidFill>
                  <a:srgbClr val="1F4E79"/>
                </a:solidFill>
                <a:latin typeface="微软雅黑"/>
                <a:cs typeface="微软雅黑"/>
              </a:rPr>
              <a:t>1</a:t>
            </a:r>
            <a:r>
              <a:rPr lang="zh-CN" altLang="en-US" b="1" dirty="0" smtClean="0">
                <a:solidFill>
                  <a:srgbClr val="1F4E79"/>
                </a:solidFill>
                <a:latin typeface="微软雅黑"/>
                <a:cs typeface="微软雅黑"/>
              </a:rPr>
              <a:t>、窗口加载事件</a:t>
            </a:r>
            <a:endParaRPr lang="en-US" altLang="zh-CN" b="1" dirty="0" smtClean="0">
              <a:solidFill>
                <a:srgbClr val="1F4E79"/>
              </a:solidFill>
              <a:latin typeface="微软雅黑"/>
              <a:cs typeface="微软雅黑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window.onload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()=function(){}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或者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window.addEventListener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(“load”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function(){});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window.onload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是窗口（页面）加载事件，当文档内容完全加载完会触发该事件（包括图像、脚本文件、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文件等）就调用处理函数。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注意：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、有了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window.onload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，就可以把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代码写在页面元素的上方，因为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onload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是等页面内容全部加载完毕，再去执行处理函数。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window.onload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传统注册方式，只能写一次，如果有多个，会以最后一个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window.onload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准。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、如果使用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addEventListener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则没有限制。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14" name="内容占位符 3"/>
          <p:cNvSpPr txBox="1"/>
          <p:nvPr/>
        </p:nvSpPr>
        <p:spPr>
          <a:xfrm>
            <a:off x="805832" y="918519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>
                <a:solidFill>
                  <a:schemeClr val="tx1"/>
                </a:solidFill>
                <a:latin typeface="+mn-lt"/>
                <a:cs typeface="+mn-cs"/>
              </a:rPr>
              <a:t>window</a:t>
            </a:r>
            <a:r>
              <a:rPr lang="zh-CN" altLang="en-US" sz="2400" dirty="0" smtClean="0">
                <a:solidFill>
                  <a:schemeClr val="tx1"/>
                </a:solidFill>
                <a:latin typeface="+mn-lt"/>
                <a:cs typeface="+mn-cs"/>
              </a:rPr>
              <a:t>对象的常见事件</a:t>
            </a:r>
            <a:endParaRPr lang="zh-CN" altLang="en-US" sz="24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6" name="内容占位符 5"/>
          <p:cNvSpPr>
            <a:spLocks noGrp="1"/>
          </p:cNvSpPr>
          <p:nvPr/>
        </p:nvSpPr>
        <p:spPr>
          <a:xfrm>
            <a:off x="805832" y="1458960"/>
            <a:ext cx="9711759" cy="5018040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b="1" dirty="0" smtClean="0">
                <a:solidFill>
                  <a:srgbClr val="1F4E79"/>
                </a:solidFill>
                <a:latin typeface="微软雅黑"/>
                <a:cs typeface="微软雅黑"/>
              </a:rPr>
              <a:t>1</a:t>
            </a:r>
            <a:r>
              <a:rPr lang="zh-CN" altLang="en-US" b="1" dirty="0" smtClean="0">
                <a:solidFill>
                  <a:srgbClr val="1F4E79"/>
                </a:solidFill>
                <a:latin typeface="微软雅黑"/>
                <a:cs typeface="微软雅黑"/>
              </a:rPr>
              <a:t>、窗口加载事件</a:t>
            </a:r>
            <a:endParaRPr lang="en-US" altLang="zh-CN" b="1" dirty="0" smtClean="0">
              <a:solidFill>
                <a:srgbClr val="1F4E79"/>
              </a:solidFill>
              <a:latin typeface="微软雅黑"/>
              <a:cs typeface="微软雅黑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document.addEventListener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(‘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DOMContentLoaded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’,function(){})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DOMContentLoaded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事件触发时，仅当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加载完成，不包括样式表、图片、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flash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等等。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IE9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以上才支持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如果页面图片比较多的话，从用户访问到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onload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事件触发可能需要比较长的时间，交互效果就不能实现，必然影响用户的体验，此时用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DOMContentLoaded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事件比较合适。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14" name="内容占位符 3"/>
          <p:cNvSpPr txBox="1"/>
          <p:nvPr/>
        </p:nvSpPr>
        <p:spPr>
          <a:xfrm>
            <a:off x="805833" y="8896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>
                <a:solidFill>
                  <a:schemeClr val="tx1"/>
                </a:solidFill>
                <a:latin typeface="+mn-lt"/>
                <a:cs typeface="+mn-cs"/>
              </a:rPr>
              <a:t>window</a:t>
            </a:r>
            <a:r>
              <a:rPr lang="zh-CN" altLang="en-US" sz="2400" dirty="0" smtClean="0">
                <a:solidFill>
                  <a:schemeClr val="tx1"/>
                </a:solidFill>
                <a:latin typeface="+mn-lt"/>
                <a:cs typeface="+mn-cs"/>
              </a:rPr>
              <a:t>对象的常见事件</a:t>
            </a:r>
            <a:endParaRPr lang="zh-CN" altLang="en-US" sz="24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6" name="内容占位符 5"/>
          <p:cNvSpPr>
            <a:spLocks noGrp="1"/>
          </p:cNvSpPr>
          <p:nvPr/>
        </p:nvSpPr>
        <p:spPr>
          <a:xfrm>
            <a:off x="805832" y="1458960"/>
            <a:ext cx="10928968" cy="5018040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b="1" dirty="0" smtClean="0">
                <a:solidFill>
                  <a:srgbClr val="1F4E79"/>
                </a:solidFill>
                <a:latin typeface="微软雅黑"/>
                <a:cs typeface="微软雅黑"/>
              </a:rPr>
              <a:t>2</a:t>
            </a:r>
            <a:r>
              <a:rPr lang="zh-CN" altLang="en-US" b="1" dirty="0" smtClean="0">
                <a:solidFill>
                  <a:srgbClr val="1F4E79"/>
                </a:solidFill>
                <a:latin typeface="微软雅黑"/>
                <a:cs typeface="微软雅黑"/>
              </a:rPr>
              <a:t>、调整窗口大小事件</a:t>
            </a:r>
            <a:endParaRPr lang="en-US" altLang="zh-CN" b="1" dirty="0" smtClean="0">
              <a:solidFill>
                <a:srgbClr val="1F4E79"/>
              </a:solidFill>
              <a:latin typeface="微软雅黑"/>
              <a:cs typeface="微软雅黑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window.onresize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=function(){}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window.addEventListener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(“resize”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function(){});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window.onresize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是调整窗口大小加载事件，当触发时就调用的处理函数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注意：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、只要窗口大小发生像素变化，就会触发这个事件。</a:t>
            </a:r>
            <a:endParaRPr lang="en-US" altLang="zh-CN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685800">
              <a:lnSpc>
                <a:spcPct val="150000"/>
              </a:lnSpc>
              <a:spcBef>
                <a:spcPts val="750"/>
              </a:spcBef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、经常利用这个事件去完成响应式布局。我们可以用</a:t>
            </a:r>
            <a:r>
              <a:rPr lang="en-US" altLang="zh-CN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window.innerWidth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去获得当前屏幕文档区的宽度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5" name="内容占位符 5"/>
          <p:cNvSpPr>
            <a:spLocks noGrp="1"/>
          </p:cNvSpPr>
          <p:nvPr/>
        </p:nvSpPr>
        <p:spPr>
          <a:xfrm>
            <a:off x="882097" y="1452162"/>
            <a:ext cx="6483903" cy="2152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smtClean="0">
                <a:solidFill>
                  <a:prstClr val="black"/>
                </a:solidFill>
                <a:sym typeface="+mn-ea"/>
              </a:rPr>
              <a:t>window </a:t>
            </a:r>
            <a:r>
              <a:rPr lang="zh-CN" altLang="en-US" sz="1600" dirty="0" smtClean="0">
                <a:solidFill>
                  <a:prstClr val="black"/>
                </a:solidFill>
                <a:sym typeface="+mn-ea"/>
              </a:rPr>
              <a:t>对象提供了 </a:t>
            </a:r>
            <a:r>
              <a:rPr lang="en-US" altLang="zh-CN" sz="1600" dirty="0" smtClean="0">
                <a:solidFill>
                  <a:prstClr val="black"/>
                </a:solidFill>
                <a:sym typeface="+mn-ea"/>
              </a:rPr>
              <a:t>2 </a:t>
            </a:r>
            <a:r>
              <a:rPr lang="zh-CN" altLang="en-US" sz="1600" dirty="0" smtClean="0">
                <a:solidFill>
                  <a:prstClr val="black"/>
                </a:solidFill>
                <a:sym typeface="+mn-ea"/>
              </a:rPr>
              <a:t>个非常好用的方法</a:t>
            </a:r>
            <a:r>
              <a:rPr lang="en-US" altLang="zh-CN" sz="1600" dirty="0" smtClean="0">
                <a:solidFill>
                  <a:prstClr val="black"/>
                </a:solidFill>
                <a:sym typeface="+mn-ea"/>
              </a:rPr>
              <a:t>-</a:t>
            </a:r>
            <a:r>
              <a:rPr lang="zh-CN" altLang="en-US" sz="1600" dirty="0" smtClean="0">
                <a:solidFill>
                  <a:srgbClr val="FF0000"/>
                </a:solidFill>
                <a:sym typeface="+mn-ea"/>
              </a:rPr>
              <a:t>定时器</a:t>
            </a:r>
            <a:r>
              <a:rPr lang="zh-CN" altLang="en-US" sz="1600" dirty="0" smtClean="0">
                <a:solidFill>
                  <a:prstClr val="black"/>
                </a:solidFill>
                <a:sym typeface="+mn-ea"/>
              </a:rPr>
              <a:t>。</a:t>
            </a:r>
            <a:endParaRPr lang="zh-CN" altLang="en-US" sz="1600" dirty="0" smtClean="0">
              <a:solidFill>
                <a:prstClr val="black"/>
              </a:solidFill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ym typeface="+mn-ea"/>
              </a:rPr>
              <a:t> </a:t>
            </a:r>
            <a:r>
              <a:rPr lang="en-US" altLang="zh-CN" sz="1600" dirty="0" err="1" smtClean="0">
                <a:sym typeface="+mn-ea"/>
              </a:rPr>
              <a:t>setTimeout</a:t>
            </a:r>
            <a:r>
              <a:rPr lang="en-US" altLang="zh-CN" sz="1600" dirty="0" smtClean="0">
                <a:sym typeface="+mn-ea"/>
              </a:rPr>
              <a:t>() </a:t>
            </a:r>
            <a:endParaRPr lang="en-US" altLang="zh-CN" sz="1600" dirty="0" smtClean="0">
              <a:sym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ym typeface="+mn-ea"/>
              </a:rPr>
              <a:t> </a:t>
            </a:r>
            <a:r>
              <a:rPr lang="en-US" altLang="zh-CN" sz="1600" dirty="0" err="1" smtClean="0">
                <a:sym typeface="+mn-ea"/>
              </a:rPr>
              <a:t>setInterval</a:t>
            </a:r>
            <a:r>
              <a:rPr lang="en-US" altLang="zh-CN" sz="1600" dirty="0" smtClean="0">
                <a:sym typeface="+mn-ea"/>
              </a:rPr>
              <a:t>()  </a:t>
            </a:r>
            <a:endParaRPr lang="en-US" altLang="zh-CN" sz="1600" dirty="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048" y="99060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两种</a:t>
            </a:r>
            <a:r>
              <a:rPr lang="zh-CN" altLang="en-US" sz="2400" dirty="0"/>
              <a:t>定时器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907831" y="3214943"/>
            <a:ext cx="6130925" cy="3835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</a:t>
            </a:r>
            <a:r>
              <a:rPr lang="en-US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window.setTimeout</a:t>
            </a: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</a:t>
            </a:r>
            <a:r>
              <a:rPr lang="zh-CN" alt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调用函数</a:t>
            </a: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, [</a:t>
            </a:r>
            <a:r>
              <a:rPr lang="en-US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延迟的毫秒数</a:t>
            </a:r>
            <a:r>
              <a:rPr lang="en-US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]);</a:t>
            </a:r>
            <a:endParaRPr lang="en-US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8" name="内容占位符 5"/>
          <p:cNvSpPr>
            <a:spLocks noGrp="1"/>
          </p:cNvSpPr>
          <p:nvPr/>
        </p:nvSpPr>
        <p:spPr>
          <a:xfrm>
            <a:off x="856697" y="3696931"/>
            <a:ext cx="11055570" cy="2743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noProof="0" dirty="0" err="1">
                <a:ln>
                  <a:noFill/>
                </a:ln>
                <a:effectLst/>
                <a:uLnTx/>
                <a:uFillTx/>
              </a:rPr>
              <a:t>setTimeout</a:t>
            </a:r>
            <a:r>
              <a:rPr sz="1800" noProof="0" dirty="0" smtClean="0">
                <a:ln>
                  <a:noFill/>
                </a:ln>
                <a:effectLst/>
                <a:uLnTx/>
                <a:uFillTx/>
              </a:rPr>
              <a:t>()</a:t>
            </a:r>
            <a:r>
              <a:rPr lang="en-US" sz="1800" noProof="0" dirty="0" smtClean="0">
                <a:ln>
                  <a:noFill/>
                </a:ln>
                <a:effectLst/>
                <a:uLnTx/>
                <a:uFillTx/>
              </a:rPr>
              <a:t> </a:t>
            </a:r>
            <a:r>
              <a:rPr sz="1800" noProof="0" dirty="0" err="1" smtClean="0">
                <a:ln>
                  <a:noFill/>
                </a:ln>
                <a:effectLst/>
                <a:uLnTx/>
                <a:uFillTx/>
              </a:rPr>
              <a:t>方法</a:t>
            </a:r>
            <a:r>
              <a:rPr lang="zh-CN" altLang="en-US" sz="1800" dirty="0"/>
              <a:t>用于</a:t>
            </a:r>
            <a:r>
              <a:rPr sz="1800" noProof="0" dirty="0" err="1" smtClean="0">
                <a:ln>
                  <a:noFill/>
                </a:ln>
                <a:effectLst/>
                <a:uLnTx/>
                <a:uFillTx/>
              </a:rPr>
              <a:t>设置一个定时器</a:t>
            </a:r>
            <a:r>
              <a:rPr sz="1800" noProof="0" dirty="0" err="1">
                <a:ln>
                  <a:noFill/>
                </a:ln>
                <a:effectLst/>
                <a:uLnTx/>
                <a:uFillTx/>
              </a:rPr>
              <a:t>，该定时器在定时器到期后执行</a:t>
            </a:r>
            <a:r>
              <a:rPr lang="zh-CN" sz="1800" noProof="0" dirty="0">
                <a:ln>
                  <a:noFill/>
                </a:ln>
                <a:effectLst/>
                <a:uLnTx/>
                <a:uFillTx/>
              </a:rPr>
              <a:t>调用</a:t>
            </a:r>
            <a:r>
              <a:rPr sz="1800" noProof="0" dirty="0" err="1" smtClean="0">
                <a:ln>
                  <a:noFill/>
                </a:ln>
                <a:effectLst/>
                <a:uLnTx/>
                <a:uFillTx/>
              </a:rPr>
              <a:t>函数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</a:rPr>
              <a:t>。</a:t>
            </a:r>
            <a:endParaRPr sz="1800" noProof="0" dirty="0">
              <a:ln>
                <a:noFill/>
              </a:ln>
              <a:effectLst/>
              <a:uLnTx/>
              <a:uFillTx/>
            </a:endParaRPr>
          </a:p>
          <a:p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注意：</a:t>
            </a:r>
            <a:endParaRPr sz="18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1. </a:t>
            </a:r>
            <a:r>
              <a:rPr 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window 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可以省略。</a:t>
            </a:r>
            <a:endParaRPr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2.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这个调用函数可以</a:t>
            </a:r>
            <a:r>
              <a:rPr lang="zh-CN" altLang="en-US" sz="1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直接写函数，或者写函数</a:t>
            </a:r>
            <a:r>
              <a:rPr lang="zh-CN" altLang="en-US" sz="1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名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或者采取字符串</a:t>
            </a:r>
            <a:r>
              <a:rPr lang="en-US" altLang="zh-CN" sz="1800" noProof="0" dirty="0" smtClean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‘</a:t>
            </a:r>
            <a:r>
              <a:rPr lang="zh-CN" altLang="en-US" sz="1800" noProof="0" dirty="0" smtClean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函数</a:t>
            </a:r>
            <a:r>
              <a:rPr lang="zh-CN" altLang="en-US" sz="1800" noProof="0" dirty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名</a:t>
            </a:r>
            <a:r>
              <a:rPr lang="en-US" altLang="zh-CN" sz="1800" noProof="0" dirty="0" smtClean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()’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三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种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形式。第三种不推荐。</a:t>
            </a:r>
            <a:endParaRPr lang="zh-CN" altLang="en-US"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3.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延迟的毫秒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数省略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默认是 </a:t>
            </a:r>
            <a:r>
              <a:rPr lang="en-US" altLang="zh-CN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0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，如果写，必须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是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毫秒。</a:t>
            </a:r>
            <a:endParaRPr lang="zh-CN" altLang="en-US"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4.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因为定时器可能有很多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，所以我们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经常给定时器赋值一个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标识符。</a:t>
            </a:r>
            <a:endParaRPr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endParaRPr lang="en-US" altLang="zh-CN" sz="1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9" name="内容占位符 3"/>
          <p:cNvSpPr txBox="1"/>
          <p:nvPr/>
        </p:nvSpPr>
        <p:spPr>
          <a:xfrm>
            <a:off x="882097" y="2799497"/>
            <a:ext cx="65176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1" kern="0" dirty="0" smtClean="0">
                <a:solidFill>
                  <a:srgbClr val="C00000"/>
                </a:solidFill>
              </a:rPr>
              <a:t>1</a:t>
            </a:r>
            <a:r>
              <a:rPr lang="zh-CN" altLang="en-US" sz="1800" b="1" kern="0" dirty="0" smtClean="0">
                <a:solidFill>
                  <a:srgbClr val="C00000"/>
                </a:solidFill>
              </a:rPr>
              <a:t>、</a:t>
            </a:r>
            <a:r>
              <a:rPr lang="en-US" altLang="zh-CN" sz="1800" b="1" kern="0" dirty="0" err="1" smtClean="0">
                <a:solidFill>
                  <a:srgbClr val="C00000"/>
                </a:solidFill>
              </a:rPr>
              <a:t>setTimeout</a:t>
            </a:r>
            <a:r>
              <a:rPr lang="en-US" altLang="zh-CN" sz="1800" b="1" kern="0" dirty="0" smtClean="0">
                <a:solidFill>
                  <a:srgbClr val="C00000"/>
                </a:solidFill>
              </a:rPr>
              <a:t>() </a:t>
            </a:r>
            <a:r>
              <a:rPr lang="zh-CN" altLang="en-US" sz="1800" b="1" kern="0" dirty="0" smtClean="0">
                <a:solidFill>
                  <a:srgbClr val="C00000"/>
                </a:solidFill>
              </a:rPr>
              <a:t>定时器</a:t>
            </a:r>
            <a:endParaRPr lang="en-US" altLang="zh-CN" sz="1800" b="1" kern="0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5" name="内容占位符 5"/>
          <p:cNvSpPr>
            <a:spLocks noGrp="1"/>
          </p:cNvSpPr>
          <p:nvPr/>
        </p:nvSpPr>
        <p:spPr>
          <a:xfrm>
            <a:off x="882097" y="1452162"/>
            <a:ext cx="6483903" cy="2152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048" y="99060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两种</a:t>
            </a:r>
            <a:r>
              <a:rPr lang="zh-CN" altLang="en-US" sz="2800" dirty="0"/>
              <a:t>定时器</a:t>
            </a:r>
            <a:endParaRPr lang="zh-CN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930832" y="2175830"/>
            <a:ext cx="8086168" cy="3835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</a:t>
            </a:r>
            <a:r>
              <a:rPr lang="en-US" sz="2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window.setTimeout</a:t>
            </a:r>
            <a:r>
              <a:rPr 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</a:t>
            </a: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调用函数</a:t>
            </a:r>
            <a:r>
              <a:rPr 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, [</a:t>
            </a:r>
            <a:r>
              <a:rPr lang="en-US" sz="2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延迟的毫秒数</a:t>
            </a:r>
            <a:r>
              <a:rPr 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]);</a:t>
            </a:r>
            <a:endParaRPr lang="en-US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9" name="内容占位符 3"/>
          <p:cNvSpPr txBox="1"/>
          <p:nvPr/>
        </p:nvSpPr>
        <p:spPr>
          <a:xfrm>
            <a:off x="905432" y="161195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kern="0" dirty="0" smtClean="0">
                <a:solidFill>
                  <a:srgbClr val="C00000"/>
                </a:solidFill>
              </a:rPr>
              <a:t>1</a:t>
            </a:r>
            <a:r>
              <a:rPr lang="zh-CN" altLang="en-US" sz="2400" b="1" kern="0" dirty="0" smtClean="0">
                <a:solidFill>
                  <a:srgbClr val="C00000"/>
                </a:solidFill>
              </a:rPr>
              <a:t>、</a:t>
            </a:r>
            <a:r>
              <a:rPr lang="en-US" altLang="zh-CN" sz="2400" b="1" kern="0" dirty="0" err="1" smtClean="0">
                <a:solidFill>
                  <a:srgbClr val="C00000"/>
                </a:solidFill>
              </a:rPr>
              <a:t>setTimeout</a:t>
            </a:r>
            <a:r>
              <a:rPr lang="en-US" altLang="zh-CN" sz="2400" b="1" kern="0" dirty="0" smtClean="0">
                <a:solidFill>
                  <a:srgbClr val="C00000"/>
                </a:solidFill>
              </a:rPr>
              <a:t>() </a:t>
            </a:r>
            <a:r>
              <a:rPr lang="zh-CN" altLang="en-US" sz="2400" b="1" kern="0" dirty="0" smtClean="0">
                <a:solidFill>
                  <a:srgbClr val="C00000"/>
                </a:solidFill>
              </a:rPr>
              <a:t>定时器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800265" y="2598381"/>
            <a:ext cx="10474936" cy="2197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sz="2000" noProof="0" dirty="0" err="1">
                <a:ln>
                  <a:noFill/>
                </a:ln>
                <a:effectLst/>
                <a:uLnTx/>
                <a:uFillTx/>
              </a:rPr>
              <a:t>setTimeout</a:t>
            </a:r>
            <a:r>
              <a:rPr sz="2000" noProof="0" dirty="0" smtClean="0">
                <a:ln>
                  <a:noFill/>
                </a:ln>
                <a:effectLst/>
                <a:uLnTx/>
                <a:uFillTx/>
              </a:rPr>
              <a:t>()</a:t>
            </a:r>
            <a:r>
              <a:rPr lang="en-US" sz="2000" noProof="0" dirty="0" smtClean="0">
                <a:ln>
                  <a:noFill/>
                </a:ln>
                <a:effectLst/>
                <a:uLnTx/>
                <a:uFillTx/>
              </a:rPr>
              <a:t>  </a:t>
            </a:r>
            <a:r>
              <a:rPr lang="zh-CN" altLang="en-US" sz="2000" noProof="0" dirty="0" smtClean="0">
                <a:ln>
                  <a:noFill/>
                </a:ln>
                <a:effectLst/>
                <a:uLnTx/>
                <a:uFillTx/>
              </a:rPr>
              <a:t>里的这个调用函数称为</a:t>
            </a:r>
            <a:r>
              <a:rPr lang="zh-CN" altLang="en-US" sz="2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回调函数 </a:t>
            </a:r>
            <a:r>
              <a:rPr lang="en-US" altLang="zh-CN" sz="2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callback</a:t>
            </a:r>
            <a:endParaRPr lang="en-US" altLang="zh-CN" sz="20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普通函数是按照代码顺序直接调用。</a:t>
            </a:r>
            <a:endParaRPr lang="zh-CN" altLang="en-US" sz="2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而这个函数，</a:t>
            </a:r>
            <a:r>
              <a:rPr lang="zh-CN" altLang="en-US" sz="2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需要等待</a:t>
            </a:r>
            <a:r>
              <a:rPr lang="zh-CN" alt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时间，时间到了才去调用这个函数，因此称为回调函数。</a:t>
            </a:r>
            <a:endParaRPr lang="zh-CN" altLang="en-US" sz="2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简单理解： </a:t>
            </a:r>
            <a:r>
              <a:rPr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回调，就是回头调用的意思。</a:t>
            </a:r>
            <a:r>
              <a:rPr 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上一件</a:t>
            </a:r>
            <a:r>
              <a:rPr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事干完，</a:t>
            </a:r>
            <a:r>
              <a:rPr 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再</a:t>
            </a:r>
            <a:r>
              <a:rPr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回</a:t>
            </a:r>
            <a:r>
              <a:rPr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头再</a:t>
            </a:r>
            <a:r>
              <a:rPr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调</a:t>
            </a:r>
            <a:r>
              <a:rPr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用</a:t>
            </a:r>
            <a:r>
              <a:rPr lang="zh-CN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这个</a:t>
            </a:r>
            <a:r>
              <a:rPr sz="2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函数。</a:t>
            </a:r>
            <a:endParaRPr lang="zh-CN" altLang="en-US" sz="2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例如前边遇到的</a:t>
            </a:r>
            <a:r>
              <a:rPr lang="en-US" altLang="zh-CN" sz="2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element.onclick</a:t>
            </a:r>
            <a:r>
              <a:rPr lang="en-US" altLang="zh-CN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 = function(){}   </a:t>
            </a:r>
            <a:r>
              <a:rPr lang="zh-CN" alt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或者  </a:t>
            </a:r>
            <a:r>
              <a:rPr lang="en-US" altLang="zh-CN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element.addEventListener(“click”, fn);   </a:t>
            </a:r>
            <a:r>
              <a:rPr lang="zh-CN" alt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里面的函数也是回调函数。</a:t>
            </a:r>
            <a:endParaRPr lang="zh-CN" altLang="en-US" sz="2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789838" y="1143000"/>
            <a:ext cx="492315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秒后自动关闭广告</a:t>
            </a:r>
            <a:endParaRPr lang="zh-CN" altLang="en-US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585786" y="1890939"/>
            <a:ext cx="10006013" cy="10156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核心思路：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秒之后，就把这个广告隐藏起来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用定时器</a:t>
            </a: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setTimeout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3000" y="3022410"/>
            <a:ext cx="7635240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&lt;body&gt;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&lt;</a:t>
            </a:r>
            <a:r>
              <a:rPr lang="en-US" altLang="zh-CN" sz="2400" dirty="0" err="1">
                <a:latin typeface="Arial" panose="020B0604020202090204" pitchFamily="34" charset="0"/>
                <a:cs typeface="Arial" panose="020B0604020202090204" pitchFamily="34" charset="0"/>
              </a:rPr>
              <a:t>img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 err="1">
                <a:latin typeface="Arial" panose="020B0604020202090204" pitchFamily="34" charset="0"/>
                <a:cs typeface="Arial" panose="020B0604020202090204" pitchFamily="34" charset="0"/>
              </a:rPr>
              <a:t>src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="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images/shuke.jpg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" alt="" class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=“</a:t>
            </a:r>
            <a:r>
              <a:rPr lang="en-US" altLang="zh-CN" sz="2400" dirty="0" err="1" smtClean="0">
                <a:latin typeface="Arial" panose="020B0604020202090204" pitchFamily="34" charset="0"/>
                <a:cs typeface="Arial" panose="020B0604020202090204" pitchFamily="34" charset="0"/>
              </a:rPr>
              <a:t>shuke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"&gt;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&lt;script&gt;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  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let </a:t>
            </a:r>
            <a:r>
              <a:rPr lang="en-US" altLang="zh-CN" sz="2400" dirty="0" err="1" smtClean="0">
                <a:latin typeface="Arial" panose="020B0604020202090204" pitchFamily="34" charset="0"/>
                <a:cs typeface="Arial" panose="020B0604020202090204" pitchFamily="34" charset="0"/>
              </a:rPr>
              <a:t>shuke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= </a:t>
            </a:r>
            <a:r>
              <a:rPr lang="en-US" altLang="zh-CN" sz="2400" dirty="0" err="1">
                <a:latin typeface="Arial" panose="020B0604020202090204" pitchFamily="34" charset="0"/>
                <a:cs typeface="Arial" panose="020B0604020202090204" pitchFamily="34" charset="0"/>
              </a:rPr>
              <a:t>document.querySelector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('.</a:t>
            </a:r>
            <a:r>
              <a:rPr lang="en-US" altLang="zh-CN" sz="2400" dirty="0" err="1" smtClean="0">
                <a:latin typeface="Arial" panose="020B0604020202090204" pitchFamily="34" charset="0"/>
                <a:cs typeface="Arial" panose="020B0604020202090204" pitchFamily="34" charset="0"/>
              </a:rPr>
              <a:t>shuke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');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  </a:t>
            </a:r>
            <a:r>
              <a:rPr lang="en-US" altLang="zh-CN" sz="2400" dirty="0" err="1">
                <a:latin typeface="Arial" panose="020B0604020202090204" pitchFamily="34" charset="0"/>
                <a:cs typeface="Arial" panose="020B0604020202090204" pitchFamily="34" charset="0"/>
              </a:rPr>
              <a:t>setTimeout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(function() {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      </a:t>
            </a:r>
            <a:r>
              <a:rPr lang="en-US" altLang="zh-CN" sz="2400" dirty="0" err="1" smtClean="0">
                <a:latin typeface="Arial" panose="020B0604020202090204" pitchFamily="34" charset="0"/>
                <a:cs typeface="Arial" panose="020B0604020202090204" pitchFamily="34" charset="0"/>
              </a:rPr>
              <a:t>shuke.style.display</a:t>
            </a:r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= 'none';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  }, 5000);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&lt;/script&gt;</a:t>
            </a:r>
            <a:endParaRPr lang="en-US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&lt;/body&gt;</a:t>
            </a:r>
            <a:endParaRPr lang="zh-CN" alt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5833" y="1391362"/>
            <a:ext cx="6130925" cy="3835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window.</a:t>
            </a:r>
            <a:r>
              <a:rPr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clearTimeout(timeoutID)</a:t>
            </a:r>
            <a:endParaRPr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7" name="内容占位符 5"/>
          <p:cNvSpPr>
            <a:spLocks noGrp="1"/>
          </p:cNvSpPr>
          <p:nvPr/>
        </p:nvSpPr>
        <p:spPr>
          <a:xfrm>
            <a:off x="805832" y="1970195"/>
            <a:ext cx="10014567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clearTimeout</a:t>
            </a:r>
            <a:r>
              <a:rPr sz="1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()</a:t>
            </a:r>
            <a:r>
              <a:rPr sz="18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方法取消了先前通过调用</a:t>
            </a:r>
            <a:r>
              <a:rPr lang="en-US" sz="18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</a:t>
            </a:r>
            <a:r>
              <a:rPr sz="18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setTimeout</a:t>
            </a:r>
            <a:r>
              <a:rPr sz="18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()</a:t>
            </a:r>
            <a:r>
              <a:rPr lang="en-US" sz="18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</a:t>
            </a:r>
            <a:r>
              <a:rPr sz="18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建立的定时器</a:t>
            </a:r>
            <a:r>
              <a:rPr sz="1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。</a:t>
            </a:r>
            <a:endParaRPr lang="en-US" altLang="zh-CN" sz="1800" dirty="0">
              <a:solidFill>
                <a:srgbClr val="FF0000"/>
              </a:solidFill>
              <a:sym typeface="+mn-ea"/>
            </a:endParaRPr>
          </a:p>
          <a:p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注意：</a:t>
            </a:r>
            <a:endParaRPr sz="18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1. </a:t>
            </a:r>
            <a:r>
              <a:rPr 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window 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可以省略</a:t>
            </a:r>
            <a:r>
              <a:rPr lang="zh-CN" altLang="en-US" sz="1800" dirty="0">
                <a:sym typeface="+mn-ea"/>
              </a:rPr>
              <a:t>。</a:t>
            </a:r>
            <a:endParaRPr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2.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里面的参数就是定时器的标识符</a:t>
            </a:r>
            <a:r>
              <a:rPr lang="en-US" altLang="zh-CN" sz="1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 </a:t>
            </a:r>
            <a:r>
              <a:rPr lang="zh-CN" altLang="en-US" sz="18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。</a:t>
            </a:r>
            <a:endParaRPr lang="en-US" altLang="zh-CN" sz="1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9" name="内容占位符 3"/>
          <p:cNvSpPr txBox="1"/>
          <p:nvPr/>
        </p:nvSpPr>
        <p:spPr>
          <a:xfrm>
            <a:off x="805833" y="889645"/>
            <a:ext cx="651762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kern="0" dirty="0" smtClean="0">
                <a:solidFill>
                  <a:srgbClr val="C00000"/>
                </a:solidFill>
              </a:rPr>
              <a:t>停止 </a:t>
            </a:r>
            <a:r>
              <a:rPr lang="en-US" altLang="zh-CN" sz="2000" b="1" kern="0" dirty="0" err="1" smtClean="0">
                <a:solidFill>
                  <a:srgbClr val="C00000"/>
                </a:solidFill>
              </a:rPr>
              <a:t>setTimeout</a:t>
            </a:r>
            <a:r>
              <a:rPr lang="en-US" altLang="zh-CN" sz="2000" b="1" kern="0" dirty="0" smtClean="0">
                <a:solidFill>
                  <a:srgbClr val="C00000"/>
                </a:solidFill>
              </a:rPr>
              <a:t>() </a:t>
            </a:r>
            <a:r>
              <a:rPr lang="zh-CN" altLang="en-US" sz="2000" b="1" kern="0" dirty="0" smtClean="0">
                <a:solidFill>
                  <a:srgbClr val="C00000"/>
                </a:solidFill>
              </a:rPr>
              <a:t>定时器</a:t>
            </a:r>
            <a:endParaRPr lang="en-US" altLang="zh-CN" sz="2000" b="1" kern="0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00600" y="3002409"/>
            <a:ext cx="6970411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chemeClr val="tx1"/>
                </a:solidFill>
                <a:latin typeface="Monaco" pitchFamily="49" charset="0"/>
              </a:rPr>
              <a:t> &lt;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body&gt;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&lt;script&gt;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</a:t>
            </a:r>
            <a:r>
              <a:rPr lang="en-US" altLang="zh-CN" sz="1600" dirty="0" err="1">
                <a:solidFill>
                  <a:schemeClr val="tx1"/>
                </a:solidFill>
                <a:latin typeface="Monaco" pitchFamily="49" charset="0"/>
              </a:rPr>
              <a:t>window.onload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 = function () {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  let </a:t>
            </a:r>
            <a:r>
              <a:rPr lang="en-US" altLang="zh-CN" sz="1600" dirty="0" err="1">
                <a:solidFill>
                  <a:schemeClr val="tx1"/>
                </a:solidFill>
                <a:latin typeface="Monaco" pitchFamily="49" charset="0"/>
              </a:rPr>
              <a:t>btn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 = </a:t>
            </a:r>
            <a:r>
              <a:rPr lang="en-US" altLang="zh-CN" sz="1600" dirty="0" err="1">
                <a:solidFill>
                  <a:schemeClr val="tx1"/>
                </a:solidFill>
                <a:latin typeface="Monaco" pitchFamily="49" charset="0"/>
              </a:rPr>
              <a:t>document.querySelector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('button')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  let timer = </a:t>
            </a:r>
            <a:r>
              <a:rPr lang="en-US" altLang="zh-CN" sz="1600" dirty="0" err="1">
                <a:solidFill>
                  <a:schemeClr val="tx1"/>
                </a:solidFill>
                <a:latin typeface="Monaco" pitchFamily="49" charset="0"/>
              </a:rPr>
              <a:t>setTimeout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(function () {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    console.log('Hello~')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  }, 5000)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  </a:t>
            </a:r>
            <a:r>
              <a:rPr lang="en-US" altLang="zh-CN" sz="1600" dirty="0" err="1">
                <a:solidFill>
                  <a:schemeClr val="tx1"/>
                </a:solidFill>
                <a:latin typeface="Monaco" pitchFamily="49" charset="0"/>
              </a:rPr>
              <a:t>btn.addEventListener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('click', function () {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    </a:t>
            </a:r>
            <a:r>
              <a:rPr lang="en-US" altLang="zh-CN" sz="1600" dirty="0" err="1">
                <a:solidFill>
                  <a:schemeClr val="tx1"/>
                </a:solidFill>
                <a:latin typeface="Monaco" pitchFamily="49" charset="0"/>
              </a:rPr>
              <a:t>clearTimeout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(timer)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  })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  }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&lt;/script&gt;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  &lt;button&gt;</a:t>
            </a:r>
            <a:r>
              <a:rPr lang="zh-CN" altLang="en-US" sz="1600" dirty="0">
                <a:solidFill>
                  <a:schemeClr val="tx1"/>
                </a:solidFill>
                <a:latin typeface="Monaco" pitchFamily="49" charset="0"/>
              </a:rPr>
              <a:t>点击停止</a:t>
            </a:r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&lt;/button&gt;</a:t>
            </a:r>
            <a:endParaRPr lang="en-US" altLang="zh-CN" sz="16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Monaco" pitchFamily="49" charset="0"/>
              </a:rPr>
              <a:t>  &lt;/body&gt;</a:t>
            </a:r>
            <a:endParaRPr lang="en-US" altLang="zh-CN" sz="1600" b="0" dirty="0">
              <a:solidFill>
                <a:schemeClr val="tx1"/>
              </a:solidFill>
              <a:effectLst/>
              <a:latin typeface="Monaco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5833" y="1524000"/>
            <a:ext cx="8871567" cy="3835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</a:t>
            </a:r>
            <a:r>
              <a:rPr lang="en-US" sz="2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window.setInterval</a:t>
            </a:r>
            <a:r>
              <a:rPr 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</a:t>
            </a: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回调函数</a:t>
            </a:r>
            <a:r>
              <a:rPr 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, [</a:t>
            </a:r>
            <a:r>
              <a:rPr lang="zh-CN" alt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间隔</a:t>
            </a:r>
            <a:r>
              <a:rPr lang="en-US" sz="2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的毫秒数</a:t>
            </a:r>
            <a:r>
              <a:rPr 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]);</a:t>
            </a:r>
            <a:endParaRPr lang="en-US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685800" y="2286000"/>
            <a:ext cx="11049000" cy="457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setInterval() </a:t>
            </a:r>
            <a:r>
              <a:rPr lang="en-US" altLang="zh-CN" sz="1800" dirty="0" err="1">
                <a:solidFill>
                  <a:schemeClr val="tx1"/>
                </a:solidFill>
                <a:sym typeface="+mn-ea"/>
              </a:rPr>
              <a:t>方法重复调用一个函数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每隔这个时间，就去调用一次回调函数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。</a:t>
            </a:r>
            <a:endParaRPr lang="en-US" altLang="zh-CN" sz="1800" dirty="0">
              <a:solidFill>
                <a:srgbClr val="FF0000"/>
              </a:solidFill>
              <a:sym typeface="+mn-ea"/>
            </a:endParaRPr>
          </a:p>
          <a:p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注意：</a:t>
            </a:r>
            <a:endParaRPr sz="18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1. </a:t>
            </a:r>
            <a:r>
              <a:rPr 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window 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可以省略。</a:t>
            </a:r>
            <a:endParaRPr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2.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这个调用函数可以</a:t>
            </a:r>
            <a:r>
              <a:rPr lang="zh-CN" altLang="en-US" sz="1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直接写函数，或者写函数</a:t>
            </a:r>
            <a:r>
              <a:rPr lang="zh-CN" altLang="en-US" sz="18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名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或者采取字符串</a:t>
            </a:r>
            <a:r>
              <a:rPr lang="zh-CN" altLang="en-US" sz="1800" noProof="0" dirty="0" smtClean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sz="1800" noProof="0" dirty="0" smtClean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'</a:t>
            </a:r>
            <a:r>
              <a:rPr lang="zh-CN" altLang="en-US" sz="1800" noProof="0" dirty="0" smtClean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函数</a:t>
            </a:r>
            <a:r>
              <a:rPr lang="zh-CN" altLang="en-US" sz="1800" noProof="0" dirty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名</a:t>
            </a:r>
            <a:r>
              <a:rPr lang="en-US" altLang="zh-CN" sz="1800" noProof="0" dirty="0" smtClean="0">
                <a:ln>
                  <a:noFill/>
                </a:ln>
                <a:solidFill>
                  <a:srgbClr val="047FFD"/>
                </a:solidFill>
                <a:effectLst/>
                <a:uLnTx/>
                <a:uFillTx/>
                <a:sym typeface="+mn-ea"/>
              </a:rPr>
              <a:t>()' </a:t>
            </a:r>
            <a:r>
              <a:rPr lang="en-US" altLang="zh-CN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三种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形式。</a:t>
            </a:r>
            <a:endParaRPr lang="zh-CN" altLang="en-US"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altLang="zh-CN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3.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间隔的毫秒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数省略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默认是 </a:t>
            </a:r>
            <a:r>
              <a:rPr lang="en-US" altLang="zh-CN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0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，如果写，必须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是毫秒，表示每隔多少毫秒就自动调用这个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函数。</a:t>
            </a:r>
            <a:endParaRPr lang="en-US" altLang="zh-CN" sz="1800" noProof="0" dirty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altLang="zh-CN" sz="1800" dirty="0" smtClean="0">
                <a:sym typeface="+mn-ea"/>
              </a:rPr>
              <a:t>4.</a:t>
            </a:r>
            <a:r>
              <a:rPr lang="zh-CN" altLang="en-US" sz="1800" dirty="0">
                <a:sym typeface="+mn-ea"/>
              </a:rPr>
              <a:t>因为定时器可能有很多，所以我们经常给定时器赋值一个标识符</a:t>
            </a:r>
            <a:r>
              <a:rPr lang="zh-CN" altLang="en-US" sz="1800" dirty="0" smtClean="0">
                <a:sym typeface="+mn-ea"/>
              </a:rPr>
              <a:t>。</a:t>
            </a:r>
            <a:endParaRPr lang="zh-CN" altLang="en-US"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altLang="zh-CN" sz="1800" dirty="0">
                <a:sym typeface="+mn-ea"/>
              </a:rPr>
              <a:t>5</a:t>
            </a:r>
            <a:r>
              <a:rPr lang="en-US" altLang="zh-CN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第一次执行也是间隔毫秒数之后执行，之后每隔毫秒数就执行一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次</a:t>
            </a:r>
            <a:r>
              <a:rPr lang="zh-CN" altLang="en-US" sz="1800" dirty="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。</a:t>
            </a:r>
            <a:endParaRPr lang="en-US" altLang="zh-CN" sz="1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11" name="内容占位符 3"/>
          <p:cNvSpPr txBox="1"/>
          <p:nvPr/>
        </p:nvSpPr>
        <p:spPr>
          <a:xfrm>
            <a:off x="805833" y="9658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kern="0" dirty="0" smtClean="0">
                <a:solidFill>
                  <a:srgbClr val="C00000"/>
                </a:solidFill>
              </a:rPr>
              <a:t>2</a:t>
            </a:r>
            <a:r>
              <a:rPr lang="zh-CN" altLang="en-US" sz="2400" b="1" kern="0" dirty="0" smtClean="0">
                <a:solidFill>
                  <a:srgbClr val="C00000"/>
                </a:solidFill>
              </a:rPr>
              <a:t>、</a:t>
            </a:r>
            <a:r>
              <a:rPr lang="en-US" altLang="zh-CN" sz="2400" b="1" kern="0" dirty="0" err="1" smtClean="0">
                <a:solidFill>
                  <a:srgbClr val="C00000"/>
                </a:solidFill>
                <a:sym typeface="+mn-ea"/>
              </a:rPr>
              <a:t>setInterval</a:t>
            </a:r>
            <a:r>
              <a:rPr lang="en-US" altLang="zh-CN" sz="2400" b="1" kern="0" dirty="0" smtClean="0">
                <a:solidFill>
                  <a:srgbClr val="C00000"/>
                </a:solidFill>
                <a:sym typeface="+mn-ea"/>
              </a:rPr>
              <a:t>() </a:t>
            </a:r>
            <a:r>
              <a:rPr lang="zh-CN" altLang="en-US" sz="2400" b="1" kern="0" dirty="0" smtClean="0">
                <a:solidFill>
                  <a:srgbClr val="C00000"/>
                </a:solidFill>
                <a:sym typeface="+mn-ea"/>
              </a:rPr>
              <a:t>定时器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19600" y="2895600"/>
            <a:ext cx="7162800" cy="14773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倒计时是不断变化的，因此需要用定时器（</a:t>
            </a: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setInterval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个红色盒子里面分别存放时分秒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三个红色盒子利用</a:t>
            </a:r>
            <a:r>
              <a:rPr lang="en-US" altLang="zh-CN" sz="20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innerHTML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放入计算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的小时分钟秒数 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8912"/>
            <a:ext cx="3829050" cy="22288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4758" y="1460863"/>
            <a:ext cx="6130925" cy="3835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</a:t>
            </a:r>
            <a:r>
              <a:rPr lang="en-US" sz="2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window.clearInterval</a:t>
            </a:r>
            <a:r>
              <a:rPr lang="en-US" sz="2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</a:t>
            </a:r>
            <a:r>
              <a:rPr lang="en-US" sz="2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intervalID</a:t>
            </a:r>
            <a:r>
              <a:rPr lang="en-US" sz="2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);</a:t>
            </a:r>
            <a:endParaRPr lang="en-US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877570" y="1932919"/>
            <a:ext cx="648843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clear</a:t>
            </a:r>
            <a:r>
              <a:rPr lang="en-US" sz="18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Interval</a:t>
            </a:r>
            <a:r>
              <a:rPr sz="1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()</a:t>
            </a:r>
            <a:r>
              <a:rPr sz="18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方法</a:t>
            </a:r>
            <a:r>
              <a:rPr lang="zh-CN" altLang="en-US" sz="18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可以</a:t>
            </a:r>
            <a:r>
              <a:rPr sz="18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取消先前通过调用</a:t>
            </a:r>
            <a:r>
              <a:rPr lang="en-US" sz="18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 </a:t>
            </a:r>
            <a:r>
              <a:rPr sz="18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set</a:t>
            </a:r>
            <a:r>
              <a:rPr lang="en-US" sz="18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Interval</a:t>
            </a:r>
            <a:r>
              <a:rPr sz="1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()</a:t>
            </a:r>
            <a:r>
              <a:rPr sz="18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建立的定时器</a:t>
            </a:r>
            <a:r>
              <a:rPr sz="1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cs typeface="Courier New" panose="02070409020205090404" pitchFamily="49" charset="0"/>
                <a:sym typeface="+mn-ea"/>
              </a:rPr>
              <a:t>。</a:t>
            </a:r>
            <a:endParaRPr lang="en-US" altLang="zh-CN" sz="1800" dirty="0">
              <a:solidFill>
                <a:srgbClr val="FF0000"/>
              </a:solidFill>
              <a:sym typeface="+mn-ea"/>
            </a:endParaRPr>
          </a:p>
          <a:p>
            <a:r>
              <a:rPr lang="zh-CN" altLang="en-US" sz="18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注意：</a:t>
            </a:r>
            <a:endParaRPr sz="18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1. </a:t>
            </a:r>
            <a:r>
              <a:rPr 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window </a:t>
            </a:r>
            <a:r>
              <a:rPr lang="zh-CN" altLang="en-US" sz="1800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可以省略。</a:t>
            </a:r>
            <a:endParaRPr sz="1800" noProof="0" dirty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2. </a:t>
            </a:r>
            <a:r>
              <a:rPr lang="zh-CN" altLang="en-US" sz="1800" noProof="0" dirty="0">
                <a:ln>
                  <a:noFill/>
                </a:ln>
                <a:effectLst/>
                <a:uLnTx/>
                <a:uFillTx/>
                <a:sym typeface="+mn-ea"/>
              </a:rPr>
              <a:t>里面的参数就是定时器的标识符</a:t>
            </a:r>
            <a:r>
              <a:rPr lang="en-US" altLang="zh-CN" sz="18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 </a:t>
            </a:r>
            <a:r>
              <a:rPr lang="zh-CN" altLang="en-US" sz="18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lt"/>
                <a:sym typeface="+mn-ea"/>
              </a:rPr>
              <a:t>。</a:t>
            </a:r>
            <a:endParaRPr lang="en-US" altLang="zh-CN" sz="1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11" name="内容占位符 3"/>
          <p:cNvSpPr txBox="1"/>
          <p:nvPr/>
        </p:nvSpPr>
        <p:spPr>
          <a:xfrm>
            <a:off x="805833" y="8896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 smtClean="0">
                <a:solidFill>
                  <a:srgbClr val="C00000"/>
                </a:solidFill>
              </a:rPr>
              <a:t>停止 </a:t>
            </a:r>
            <a:r>
              <a:rPr lang="en-US" altLang="zh-CN" sz="2400" b="1" kern="0" dirty="0" err="1" smtClean="0">
                <a:solidFill>
                  <a:srgbClr val="C00000"/>
                </a:solidFill>
                <a:sym typeface="+mn-ea"/>
              </a:rPr>
              <a:t>setInterval</a:t>
            </a:r>
            <a:r>
              <a:rPr lang="en-US" altLang="zh-CN" sz="2400" b="1" kern="0" dirty="0" smtClean="0">
                <a:solidFill>
                  <a:srgbClr val="C00000"/>
                </a:solidFill>
                <a:sym typeface="+mn-ea"/>
              </a:rPr>
              <a:t>() </a:t>
            </a:r>
            <a:r>
              <a:rPr lang="zh-CN" altLang="en-US" sz="2400" b="1" kern="0" dirty="0" smtClean="0">
                <a:solidFill>
                  <a:srgbClr val="C00000"/>
                </a:solidFill>
                <a:sym typeface="+mn-ea"/>
              </a:rPr>
              <a:t>定时器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53000" y="2773667"/>
            <a:ext cx="7035800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tx1"/>
                </a:solidFill>
              </a:rPr>
              <a:t>    &lt;</a:t>
            </a:r>
            <a:r>
              <a:rPr lang="en-US" altLang="zh-CN" sz="1400" dirty="0">
                <a:solidFill>
                  <a:schemeClr val="tx1"/>
                </a:solidFill>
              </a:rPr>
              <a:t>button class="begin"&gt;</a:t>
            </a:r>
            <a:r>
              <a:rPr lang="zh-CN" altLang="en-US" sz="1400" dirty="0">
                <a:solidFill>
                  <a:schemeClr val="tx1"/>
                </a:solidFill>
              </a:rPr>
              <a:t>开始</a:t>
            </a:r>
            <a:r>
              <a:rPr lang="en-US" altLang="zh-CN" sz="1400" dirty="0">
                <a:solidFill>
                  <a:schemeClr val="tx1"/>
                </a:solidFill>
              </a:rPr>
              <a:t>&lt;/button&gt;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&lt;button class="stop"&gt;</a:t>
            </a:r>
            <a:r>
              <a:rPr lang="zh-CN" altLang="en-US" sz="1400" dirty="0">
                <a:solidFill>
                  <a:schemeClr val="tx1"/>
                </a:solidFill>
              </a:rPr>
              <a:t>取消</a:t>
            </a:r>
            <a:r>
              <a:rPr lang="en-US" altLang="zh-CN" sz="1400" dirty="0">
                <a:solidFill>
                  <a:schemeClr val="tx1"/>
                </a:solidFill>
              </a:rPr>
              <a:t>&lt;/button&gt;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&lt;script&gt;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let </a:t>
            </a:r>
            <a:r>
              <a:rPr lang="en-US" altLang="zh-CN" sz="1400" dirty="0" err="1">
                <a:solidFill>
                  <a:schemeClr val="tx1"/>
                </a:solidFill>
              </a:rPr>
              <a:t>beginBtn</a:t>
            </a:r>
            <a:r>
              <a:rPr lang="en-US" altLang="zh-CN" sz="1400" dirty="0">
                <a:solidFill>
                  <a:schemeClr val="tx1"/>
                </a:solidFill>
              </a:rPr>
              <a:t> = </a:t>
            </a:r>
            <a:r>
              <a:rPr lang="en-US" altLang="zh-CN" sz="1400" dirty="0" err="1">
                <a:solidFill>
                  <a:schemeClr val="tx1"/>
                </a:solidFill>
              </a:rPr>
              <a:t>document.querySelector</a:t>
            </a:r>
            <a:r>
              <a:rPr lang="en-US" altLang="zh-CN" sz="1400" dirty="0">
                <a:solidFill>
                  <a:schemeClr val="tx1"/>
                </a:solidFill>
              </a:rPr>
              <a:t>('.begin')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let </a:t>
            </a:r>
            <a:r>
              <a:rPr lang="en-US" altLang="zh-CN" sz="1400" dirty="0" err="1">
                <a:solidFill>
                  <a:schemeClr val="tx1"/>
                </a:solidFill>
              </a:rPr>
              <a:t>stopBtn</a:t>
            </a:r>
            <a:r>
              <a:rPr lang="en-US" altLang="zh-CN" sz="1400" dirty="0">
                <a:solidFill>
                  <a:schemeClr val="tx1"/>
                </a:solidFill>
              </a:rPr>
              <a:t> = </a:t>
            </a:r>
            <a:r>
              <a:rPr lang="en-US" altLang="zh-CN" sz="1400" dirty="0" err="1">
                <a:solidFill>
                  <a:schemeClr val="tx1"/>
                </a:solidFill>
              </a:rPr>
              <a:t>document.querySelector</a:t>
            </a:r>
            <a:r>
              <a:rPr lang="en-US" altLang="zh-CN" sz="1400" dirty="0">
                <a:solidFill>
                  <a:schemeClr val="tx1"/>
                </a:solidFill>
              </a:rPr>
              <a:t>('.stop')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let timer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</a:t>
            </a:r>
            <a:r>
              <a:rPr lang="en-US" altLang="zh-CN" sz="1400" dirty="0" err="1">
                <a:solidFill>
                  <a:schemeClr val="tx1"/>
                </a:solidFill>
              </a:rPr>
              <a:t>beginBtn.addEventListener</a:t>
            </a:r>
            <a:r>
              <a:rPr lang="en-US" altLang="zh-CN" sz="1400" dirty="0">
                <a:solidFill>
                  <a:schemeClr val="tx1"/>
                </a:solidFill>
              </a:rPr>
              <a:t>('click', function () {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  timer = </a:t>
            </a:r>
            <a:r>
              <a:rPr lang="en-US" altLang="zh-CN" sz="1400" dirty="0" err="1">
                <a:solidFill>
                  <a:schemeClr val="tx1"/>
                </a:solidFill>
              </a:rPr>
              <a:t>setInterval</a:t>
            </a:r>
            <a:r>
              <a:rPr lang="en-US" altLang="zh-CN" sz="1400" dirty="0">
                <a:solidFill>
                  <a:schemeClr val="tx1"/>
                </a:solidFill>
              </a:rPr>
              <a:t>(function () {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    console.log(111)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  }, 1000)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})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</a:t>
            </a:r>
            <a:r>
              <a:rPr lang="en-US" altLang="zh-CN" sz="1400" dirty="0" err="1">
                <a:solidFill>
                  <a:schemeClr val="tx1"/>
                </a:solidFill>
              </a:rPr>
              <a:t>stopBtn.addEventListener</a:t>
            </a:r>
            <a:r>
              <a:rPr lang="en-US" altLang="zh-CN" sz="1400" dirty="0">
                <a:solidFill>
                  <a:schemeClr val="tx1"/>
                </a:solidFill>
              </a:rPr>
              <a:t>('click', function () {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  </a:t>
            </a:r>
            <a:r>
              <a:rPr lang="en-US" altLang="zh-CN" sz="1400" dirty="0" err="1">
                <a:solidFill>
                  <a:schemeClr val="tx1"/>
                </a:solidFill>
              </a:rPr>
              <a:t>clearInterval</a:t>
            </a:r>
            <a:r>
              <a:rPr lang="en-US" altLang="zh-CN" sz="1400" dirty="0">
                <a:solidFill>
                  <a:schemeClr val="tx1"/>
                </a:solidFill>
              </a:rPr>
              <a:t>(timer)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en-US" altLang="zh-CN" sz="1400" dirty="0">
                <a:solidFill>
                  <a:schemeClr val="tx1"/>
                </a:solidFill>
              </a:rPr>
              <a:t>      </a:t>
            </a:r>
            <a:r>
              <a:rPr lang="en-US" altLang="zh-CN" sz="1400" dirty="0" smtClean="0">
                <a:solidFill>
                  <a:schemeClr val="tx1"/>
                </a:solidFill>
              </a:rPr>
              <a:t>})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</a:rPr>
              <a:t>     &lt;/script&gt;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11" name="内容占位符 3"/>
          <p:cNvSpPr txBox="1"/>
          <p:nvPr/>
        </p:nvSpPr>
        <p:spPr>
          <a:xfrm>
            <a:off x="805832" y="889645"/>
            <a:ext cx="1108136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kern="0" dirty="0" smtClean="0">
                <a:solidFill>
                  <a:srgbClr val="C00000"/>
                </a:solidFill>
              </a:rPr>
              <a:t>使用定时器，完成简单的轮播图。一共三张图片，每隔</a:t>
            </a:r>
            <a:r>
              <a:rPr lang="en-US" altLang="zh-CN" sz="2000" b="1" kern="0" dirty="0" smtClean="0">
                <a:solidFill>
                  <a:srgbClr val="C00000"/>
                </a:solidFill>
              </a:rPr>
              <a:t>3</a:t>
            </a:r>
            <a:r>
              <a:rPr lang="zh-CN" altLang="en-US" sz="2000" b="1" kern="0" dirty="0" smtClean="0">
                <a:solidFill>
                  <a:srgbClr val="C00000"/>
                </a:solidFill>
              </a:rPr>
              <a:t>秒自动切换下一张。单击“手动切换”可以直接切换到下一张图片。</a:t>
            </a:r>
            <a:endParaRPr lang="en-US" altLang="zh-CN" sz="2000" b="1" kern="0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32" y="1752600"/>
            <a:ext cx="4492196" cy="341471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1878791"/>
            <a:ext cx="2819400" cy="32473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1892066"/>
            <a:ext cx="2694435" cy="3252787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11" name="内容占位符 3"/>
          <p:cNvSpPr txBox="1"/>
          <p:nvPr/>
        </p:nvSpPr>
        <p:spPr>
          <a:xfrm>
            <a:off x="381000" y="969435"/>
            <a:ext cx="11081367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kern="0" dirty="0" smtClean="0">
                <a:solidFill>
                  <a:srgbClr val="C00000"/>
                </a:solidFill>
              </a:rPr>
              <a:t>使用定时器，完成简单的轮播图。一共三张图片，每隔</a:t>
            </a:r>
            <a:r>
              <a:rPr lang="en-US" altLang="zh-CN" sz="2000" b="1" kern="0" dirty="0" smtClean="0">
                <a:solidFill>
                  <a:srgbClr val="C00000"/>
                </a:solidFill>
              </a:rPr>
              <a:t>3</a:t>
            </a:r>
            <a:r>
              <a:rPr lang="zh-CN" altLang="en-US" sz="2000" b="1" kern="0" dirty="0" smtClean="0">
                <a:solidFill>
                  <a:srgbClr val="C00000"/>
                </a:solidFill>
              </a:rPr>
              <a:t>秒自动切换下一张。单击“手动切换”可以直接切换到下一张图片。</a:t>
            </a:r>
            <a:endParaRPr lang="en-US" altLang="zh-CN" sz="2000" b="1" kern="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8599" y="1848545"/>
            <a:ext cx="11658600" cy="48013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&lt;div&gt;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&lt;</a:t>
            </a:r>
            <a:r>
              <a:rPr lang="en-US" altLang="zh-CN" dirty="0" err="1">
                <a:solidFill>
                  <a:schemeClr val="tx1"/>
                </a:solidFill>
              </a:rPr>
              <a:t>img</a:t>
            </a:r>
            <a:r>
              <a:rPr lang="en-US" altLang="zh-CN" dirty="0">
                <a:solidFill>
                  <a:schemeClr val="tx1"/>
                </a:solidFill>
              </a:rPr>
              <a:t> id="</a:t>
            </a:r>
            <a:r>
              <a:rPr lang="en-US" altLang="zh-CN" dirty="0" err="1">
                <a:solidFill>
                  <a:schemeClr val="tx1"/>
                </a:solidFill>
              </a:rPr>
              <a:t>img</a:t>
            </a:r>
            <a:r>
              <a:rPr lang="en-US" altLang="zh-CN" dirty="0">
                <a:solidFill>
                  <a:schemeClr val="tx1"/>
                </a:solidFill>
              </a:rPr>
              <a:t>-box" </a:t>
            </a:r>
            <a:r>
              <a:rPr lang="en-US" altLang="zh-CN" dirty="0" err="1">
                <a:solidFill>
                  <a:schemeClr val="tx1"/>
                </a:solidFill>
              </a:rPr>
              <a:t>src</a:t>
            </a:r>
            <a:r>
              <a:rPr lang="en-US" altLang="zh-CN" dirty="0">
                <a:solidFill>
                  <a:schemeClr val="tx1"/>
                </a:solidFill>
              </a:rPr>
              <a:t>="images/1.jpg" alt="" width="100%" height="100</a:t>
            </a:r>
            <a:r>
              <a:rPr lang="en-US" altLang="zh-CN" dirty="0" smtClean="0">
                <a:solidFill>
                  <a:schemeClr val="tx1"/>
                </a:solidFill>
              </a:rPr>
              <a:t>%“ /&gt;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&lt;button&gt;</a:t>
            </a:r>
            <a:r>
              <a:rPr lang="zh-CN" altLang="en-US" dirty="0">
                <a:solidFill>
                  <a:schemeClr val="tx1"/>
                </a:solidFill>
              </a:rPr>
              <a:t>手动切换</a:t>
            </a:r>
            <a:r>
              <a:rPr lang="en-US" altLang="zh-CN" dirty="0">
                <a:solidFill>
                  <a:schemeClr val="tx1"/>
                </a:solidFill>
              </a:rPr>
              <a:t>&lt;/button&gt;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&lt;/</a:t>
            </a:r>
            <a:r>
              <a:rPr lang="en-US" altLang="zh-CN" dirty="0">
                <a:solidFill>
                  <a:schemeClr val="tx1"/>
                </a:solidFill>
              </a:rPr>
              <a:t>div&gt;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&lt;</a:t>
            </a:r>
            <a:r>
              <a:rPr lang="en-US" altLang="zh-CN" dirty="0">
                <a:solidFill>
                  <a:schemeClr val="tx1"/>
                </a:solidFill>
              </a:rPr>
              <a:t>script&gt;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</a:t>
            </a:r>
            <a:r>
              <a:rPr lang="en-US" altLang="zh-CN" dirty="0" err="1">
                <a:solidFill>
                  <a:schemeClr val="tx1"/>
                </a:solidFill>
              </a:rPr>
              <a:t>window.onload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 smtClean="0">
                <a:solidFill>
                  <a:schemeClr val="tx1"/>
                </a:solidFill>
              </a:rPr>
              <a:t>goNextImage</a:t>
            </a:r>
            <a:r>
              <a:rPr lang="en-US" altLang="zh-CN" dirty="0" smtClean="0">
                <a:solidFill>
                  <a:schemeClr val="tx1"/>
                </a:solidFill>
              </a:rPr>
              <a:t> //</a:t>
            </a:r>
            <a:r>
              <a:rPr lang="zh-CN" altLang="en-US" dirty="0" smtClean="0">
                <a:solidFill>
                  <a:schemeClr val="tx1"/>
                </a:solidFill>
              </a:rPr>
              <a:t>页面加载完就执行轮播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let </a:t>
            </a:r>
            <a:r>
              <a:rPr lang="en-US" altLang="zh-CN" dirty="0" err="1">
                <a:solidFill>
                  <a:schemeClr val="tx1"/>
                </a:solidFill>
              </a:rPr>
              <a:t>imgBox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document.querySelector</a:t>
            </a:r>
            <a:r>
              <a:rPr lang="en-US" altLang="zh-CN" dirty="0">
                <a:solidFill>
                  <a:schemeClr val="tx1"/>
                </a:solidFill>
              </a:rPr>
              <a:t>('#</a:t>
            </a:r>
            <a:r>
              <a:rPr lang="en-US" altLang="zh-CN" dirty="0" err="1">
                <a:solidFill>
                  <a:schemeClr val="tx1"/>
                </a:solidFill>
              </a:rPr>
              <a:t>img</a:t>
            </a:r>
            <a:r>
              <a:rPr lang="en-US" altLang="zh-CN" dirty="0">
                <a:solidFill>
                  <a:schemeClr val="tx1"/>
                </a:solidFill>
              </a:rPr>
              <a:t>-box')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let </a:t>
            </a:r>
            <a:r>
              <a:rPr lang="en-US" altLang="zh-CN" dirty="0" err="1">
                <a:solidFill>
                  <a:schemeClr val="tx1"/>
                </a:solidFill>
              </a:rPr>
              <a:t>btn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>
                <a:solidFill>
                  <a:schemeClr val="tx1"/>
                </a:solidFill>
              </a:rPr>
              <a:t>document.querySelector</a:t>
            </a:r>
            <a:r>
              <a:rPr lang="en-US" altLang="zh-CN" dirty="0" smtClean="0">
                <a:solidFill>
                  <a:schemeClr val="tx1"/>
                </a:solidFill>
              </a:rPr>
              <a:t>(‘button’) //</a:t>
            </a:r>
            <a:r>
              <a:rPr lang="zh-CN" altLang="en-US" dirty="0" smtClean="0">
                <a:solidFill>
                  <a:schemeClr val="tx1"/>
                </a:solidFill>
              </a:rPr>
              <a:t>手动切换按钮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</a:t>
            </a:r>
            <a:r>
              <a:rPr lang="en-US" altLang="zh-CN" dirty="0" err="1">
                <a:solidFill>
                  <a:schemeClr val="tx1"/>
                </a:solidFill>
              </a:rPr>
              <a:t>btn.onclick</a:t>
            </a:r>
            <a:r>
              <a:rPr lang="en-US" altLang="zh-CN" dirty="0">
                <a:solidFill>
                  <a:schemeClr val="tx1"/>
                </a:solidFill>
              </a:rPr>
              <a:t> = </a:t>
            </a:r>
            <a:r>
              <a:rPr lang="en-US" altLang="zh-CN" dirty="0" err="1" smtClean="0">
                <a:solidFill>
                  <a:schemeClr val="tx1"/>
                </a:solidFill>
              </a:rPr>
              <a:t>goNextImage</a:t>
            </a:r>
            <a:r>
              <a:rPr lang="en-US" altLang="zh-CN" dirty="0" smtClean="0">
                <a:solidFill>
                  <a:schemeClr val="tx1"/>
                </a:solidFill>
              </a:rPr>
              <a:t>  //</a:t>
            </a:r>
            <a:r>
              <a:rPr lang="zh-CN" altLang="en-US" dirty="0" smtClean="0">
                <a:solidFill>
                  <a:schemeClr val="tx1"/>
                </a:solidFill>
              </a:rPr>
              <a:t>单击按钮手动切换图片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</a:t>
            </a:r>
            <a:r>
              <a:rPr lang="en-US" altLang="zh-CN" dirty="0" err="1">
                <a:solidFill>
                  <a:schemeClr val="tx1"/>
                </a:solidFill>
              </a:rPr>
              <a:t>setInterval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goNextImage</a:t>
            </a:r>
            <a:r>
              <a:rPr lang="en-US" altLang="zh-CN" dirty="0">
                <a:solidFill>
                  <a:schemeClr val="tx1"/>
                </a:solidFill>
              </a:rPr>
              <a:t>, 3000)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let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0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function </a:t>
            </a:r>
            <a:r>
              <a:rPr lang="en-US" altLang="zh-CN" dirty="0" err="1">
                <a:solidFill>
                  <a:schemeClr val="tx1"/>
                </a:solidFill>
              </a:rPr>
              <a:t>goNextImage</a:t>
            </a:r>
            <a:r>
              <a:rPr lang="en-US" altLang="zh-CN" dirty="0">
                <a:solidFill>
                  <a:schemeClr val="tx1"/>
                </a:solidFill>
              </a:rPr>
              <a:t>()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++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</a:t>
            </a:r>
            <a:r>
              <a:rPr lang="en-US" altLang="zh-CN" dirty="0" err="1">
                <a:solidFill>
                  <a:schemeClr val="tx1"/>
                </a:solidFill>
              </a:rPr>
              <a:t>imgBox.src</a:t>
            </a:r>
            <a:r>
              <a:rPr lang="en-US" altLang="zh-CN" dirty="0">
                <a:solidFill>
                  <a:schemeClr val="tx1"/>
                </a:solidFill>
              </a:rPr>
              <a:t> = `images/${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}.jpg`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if (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== 3) </a:t>
            </a:r>
            <a:r>
              <a:rPr lang="en-US" altLang="zh-CN" dirty="0" err="1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 = 0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&lt;/</a:t>
            </a:r>
            <a:r>
              <a:rPr lang="en-US" altLang="zh-CN" dirty="0">
                <a:solidFill>
                  <a:schemeClr val="tx1"/>
                </a:solidFill>
              </a:rPr>
              <a:t>script&gt;</a:t>
            </a:r>
            <a:endParaRPr lang="en-US" altLang="zh-CN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pc="-40" dirty="0" smtClean="0">
                <a:solidFill>
                  <a:srgbClr val="585858"/>
                </a:solidFill>
              </a:rPr>
              <a:t>定时器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685800" y="969053"/>
            <a:ext cx="4923155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发送短信</a:t>
            </a:r>
            <a:endParaRPr lang="zh-CN" altLang="en-US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5"/>
          <p:cNvSpPr>
            <a:spLocks noGrp="1"/>
          </p:cNvSpPr>
          <p:nvPr/>
        </p:nvSpPr>
        <p:spPr>
          <a:xfrm>
            <a:off x="877570" y="1695450"/>
            <a:ext cx="6488430" cy="2545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点击按钮后，该按钮</a:t>
            </a:r>
            <a:r>
              <a:rPr lang="en-US" altLang="zh-CN" sz="1800" dirty="0"/>
              <a:t>60</a:t>
            </a:r>
            <a:r>
              <a:rPr lang="zh-CN" altLang="en-US" sz="1800" dirty="0"/>
              <a:t>秒之内不能再次点击，防止重复发送短信</a:t>
            </a:r>
            <a:endParaRPr lang="zh-CN" altLang="en-US" sz="1800" dirty="0"/>
          </a:p>
        </p:txBody>
      </p:sp>
      <p:sp>
        <p:nvSpPr>
          <p:cNvPr id="12" name="TextBox 8"/>
          <p:cNvSpPr txBox="1"/>
          <p:nvPr/>
        </p:nvSpPr>
        <p:spPr>
          <a:xfrm>
            <a:off x="76200" y="3578788"/>
            <a:ext cx="7391400" cy="30008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按钮点击之后，会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禁用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disabled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true 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同时按钮里面的内容会变化， 注意 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button 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里面的内容通过 </a:t>
            </a:r>
            <a:r>
              <a:rPr lang="en-US" altLang="zh-CN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innerHTML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里面秒数是有变化的，因此需要用到定时器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定义一个变量，在定时器里面，不断递减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685800" lvl="1" indent="-228600">
              <a:lnSpc>
                <a:spcPct val="150000"/>
              </a:lnSpc>
              <a:buFont typeface="黑体" panose="02010609060101010101" pitchFamily="49" charset="-122"/>
              <a:buAutoNum type="circleNumDbPlain"/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如果变量为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 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说明到了时间，我们需要停止定时器，并且复原按钮初始状态。</a:t>
            </a:r>
            <a:endParaRPr lang="zh-CN" altLang="en-US" dirty="0" smtClean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078" y="2595562"/>
            <a:ext cx="6317364" cy="97691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492" y="838200"/>
            <a:ext cx="4718257" cy="553974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JS</a:t>
            </a:r>
            <a:r>
              <a:rPr lang="zh-CN" altLang="en-US" spc="-40" dirty="0" smtClean="0">
                <a:solidFill>
                  <a:srgbClr val="585858"/>
                </a:solidFill>
              </a:rPr>
              <a:t>执行机制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4" name="内容占位符 5"/>
          <p:cNvSpPr>
            <a:spLocks noGrp="1"/>
          </p:cNvSpPr>
          <p:nvPr/>
        </p:nvSpPr>
        <p:spPr>
          <a:xfrm>
            <a:off x="877570" y="1434836"/>
            <a:ext cx="11009630" cy="3060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JavaScript </a:t>
            </a:r>
            <a:r>
              <a:rPr lang="zh-CN" altLang="en-US" sz="1800" dirty="0"/>
              <a:t>语言的一大特点就是单线程，也就是说，同一个时间只能做一件</a:t>
            </a:r>
            <a:r>
              <a:rPr lang="zh-CN" altLang="en-US" sz="1800" dirty="0" smtClean="0"/>
              <a:t>事。</a:t>
            </a:r>
            <a:endParaRPr lang="zh-CN" altLang="en-US" sz="1800" dirty="0"/>
          </a:p>
          <a:p>
            <a:endParaRPr lang="en-US" altLang="zh-CN" sz="1800" dirty="0" smtClean="0"/>
          </a:p>
          <a:p>
            <a:r>
              <a:rPr lang="zh-CN" altLang="en-US" sz="1800" dirty="0" smtClean="0"/>
              <a:t>单</a:t>
            </a:r>
            <a:r>
              <a:rPr lang="zh-CN" altLang="en-US" sz="1800" dirty="0"/>
              <a:t>线程就意味着，所有任务需要排队，前一个任务结束，才会执行后一个任务。这样所导致的问题是： 如果</a:t>
            </a:r>
            <a:endParaRPr lang="zh-CN" altLang="en-US" sz="1800" dirty="0"/>
          </a:p>
          <a:p>
            <a:r>
              <a:rPr lang="en-US" altLang="zh-CN" sz="1800" dirty="0"/>
              <a:t>JS </a:t>
            </a:r>
            <a:r>
              <a:rPr lang="zh-CN" altLang="en-US" sz="1800" dirty="0"/>
              <a:t>执行的时间过长</a:t>
            </a:r>
            <a:r>
              <a:rPr lang="zh-CN" altLang="en-US" sz="1800" dirty="0" smtClean="0"/>
              <a:t>，就</a:t>
            </a:r>
            <a:r>
              <a:rPr lang="zh-CN" altLang="en-US" sz="1800" dirty="0"/>
              <a:t>会造成页面的渲染不连贯，导致页面渲染加载阻塞的感觉。</a:t>
            </a:r>
            <a:endParaRPr lang="en-US" altLang="zh-CN" sz="1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5" name="内容占位符 3"/>
          <p:cNvSpPr txBox="1"/>
          <p:nvPr/>
        </p:nvSpPr>
        <p:spPr>
          <a:xfrm>
            <a:off x="805833" y="8896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kern="0" dirty="0" smtClean="0">
                <a:solidFill>
                  <a:srgbClr val="C00000"/>
                </a:solidFill>
              </a:rPr>
              <a:t>JS</a:t>
            </a:r>
            <a:r>
              <a:rPr lang="zh-CN" altLang="en-US" sz="2400" b="1" kern="0" dirty="0" smtClean="0">
                <a:solidFill>
                  <a:srgbClr val="C00000"/>
                </a:solidFill>
              </a:rPr>
              <a:t>是单线程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7570" y="4025326"/>
            <a:ext cx="42633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urierNewPSMT" panose="02070409020205090404"/>
              </a:rPr>
              <a:t>console.log(1);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 err="1">
                <a:latin typeface="CourierNewPSMT" panose="02070409020205090404"/>
              </a:rPr>
              <a:t>setTimeout</a:t>
            </a:r>
            <a:r>
              <a:rPr lang="en-US" altLang="zh-CN" sz="2400" dirty="0">
                <a:latin typeface="CourierNewPSMT" panose="02070409020205090404"/>
              </a:rPr>
              <a:t>(function () {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>
                <a:latin typeface="CourierNewPSMT" panose="02070409020205090404"/>
              </a:rPr>
              <a:t>console.log(3);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>
                <a:latin typeface="CourierNewPSMT" panose="02070409020205090404"/>
              </a:rPr>
              <a:t>}, 1000);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>
                <a:latin typeface="CourierNewPSMT" panose="02070409020205090404"/>
              </a:rPr>
              <a:t>console.log(2);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6530340" y="4191000"/>
            <a:ext cx="4495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urierNewPSMT" panose="02070409020205090404"/>
              </a:rPr>
              <a:t>console.log(1);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 err="1">
                <a:latin typeface="CourierNewPSMT" panose="02070409020205090404"/>
              </a:rPr>
              <a:t>setTimeout</a:t>
            </a:r>
            <a:r>
              <a:rPr lang="en-US" altLang="zh-CN" sz="2400" dirty="0">
                <a:latin typeface="CourierNewPSMT" panose="02070409020205090404"/>
              </a:rPr>
              <a:t>(function () {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>
                <a:latin typeface="CourierNewPSMT" panose="02070409020205090404"/>
              </a:rPr>
              <a:t>console.log(3);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>
                <a:latin typeface="CourierNewPSMT" panose="02070409020205090404"/>
              </a:rPr>
              <a:t>}, 0);</a:t>
            </a:r>
            <a:endParaRPr lang="en-US" altLang="zh-CN" sz="2400" dirty="0">
              <a:latin typeface="CourierNewPSMT" panose="02070409020205090404"/>
            </a:endParaRPr>
          </a:p>
          <a:p>
            <a:r>
              <a:rPr lang="en-US" altLang="zh-CN" sz="2400" dirty="0">
                <a:latin typeface="CourierNewPSMT" panose="02070409020205090404"/>
              </a:rPr>
              <a:t>console.log(2);</a:t>
            </a:r>
            <a:endParaRPr lang="zh-CN" altLang="en-US" sz="24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JS</a:t>
            </a:r>
            <a:r>
              <a:rPr lang="zh-CN" altLang="en-US" spc="-40" dirty="0" smtClean="0">
                <a:solidFill>
                  <a:srgbClr val="585858"/>
                </a:solidFill>
              </a:rPr>
              <a:t>执行机制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4" name="内容占位符 5"/>
          <p:cNvSpPr>
            <a:spLocks noGrp="1"/>
          </p:cNvSpPr>
          <p:nvPr/>
        </p:nvSpPr>
        <p:spPr>
          <a:xfrm>
            <a:off x="609600" y="1524000"/>
            <a:ext cx="11125200" cy="45849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为了解决这个问题，利用多核 </a:t>
            </a:r>
            <a:r>
              <a:rPr lang="en-US" altLang="zh-CN" sz="2000" dirty="0"/>
              <a:t>CPU </a:t>
            </a:r>
            <a:r>
              <a:rPr lang="zh-CN" altLang="en-US" sz="2000" dirty="0"/>
              <a:t>的计算能力，</a:t>
            </a:r>
            <a:r>
              <a:rPr lang="en-US" altLang="zh-CN" sz="2000" dirty="0"/>
              <a:t>HTML5 </a:t>
            </a:r>
            <a:r>
              <a:rPr lang="zh-CN" altLang="en-US" sz="2000" dirty="0"/>
              <a:t>提出 </a:t>
            </a:r>
            <a:r>
              <a:rPr lang="en-US" altLang="zh-CN" sz="2000" dirty="0"/>
              <a:t>Web Worker </a:t>
            </a:r>
            <a:r>
              <a:rPr lang="zh-CN" altLang="en-US" sz="2000" dirty="0"/>
              <a:t>标准，允许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脚本</a:t>
            </a:r>
            <a:r>
              <a:rPr lang="zh-CN" altLang="en-US" sz="2000" dirty="0" smtClean="0"/>
              <a:t>创建</a:t>
            </a:r>
            <a:r>
              <a:rPr lang="zh-CN" altLang="en-US" sz="2000" dirty="0"/>
              <a:t>多个线程。于是，</a:t>
            </a:r>
            <a:r>
              <a:rPr lang="en-US" altLang="zh-CN" sz="2000" dirty="0"/>
              <a:t>JS </a:t>
            </a:r>
            <a:r>
              <a:rPr lang="zh-CN" altLang="en-US" sz="2000" dirty="0"/>
              <a:t>中出现了同步和异步。</a:t>
            </a:r>
            <a:endParaRPr lang="zh-CN" altLang="en-US" sz="2000" dirty="0"/>
          </a:p>
          <a:p>
            <a:r>
              <a:rPr lang="en-US" altLang="zh-CN" sz="2000" dirty="0" smtClean="0"/>
              <a:t>1</a:t>
            </a:r>
            <a:r>
              <a:rPr lang="zh-CN" altLang="en-US" sz="2000" dirty="0" smtClean="0"/>
              <a:t>、同步</a:t>
            </a:r>
            <a:endParaRPr lang="zh-CN" altLang="en-US" sz="2000" dirty="0" smtClean="0"/>
          </a:p>
          <a:p>
            <a:r>
              <a:rPr lang="zh-CN" altLang="en-US" sz="2000" dirty="0" smtClean="0"/>
              <a:t>前一个任务结束后再执行后一个任务，程序的执行顺序与任务的排列顺序是一致的、同步的。</a:t>
            </a:r>
            <a:endParaRPr lang="en-US" altLang="zh-CN" sz="2000" dirty="0" smtClean="0"/>
          </a:p>
          <a:p>
            <a:r>
              <a:rPr lang="en-US" altLang="zh-CN" sz="2000" dirty="0" smtClean="0"/>
              <a:t>2</a:t>
            </a:r>
            <a:r>
              <a:rPr lang="zh-CN" altLang="en-US" sz="2000" dirty="0" smtClean="0"/>
              <a:t>、异步</a:t>
            </a:r>
            <a:endParaRPr lang="zh-CN" altLang="en-US" sz="2000" dirty="0"/>
          </a:p>
          <a:p>
            <a:r>
              <a:rPr lang="zh-CN" altLang="en-US" sz="2000" dirty="0" smtClean="0"/>
              <a:t>在</a:t>
            </a:r>
            <a:r>
              <a:rPr lang="zh-CN" altLang="en-US" sz="2000" dirty="0"/>
              <a:t>做一件事情时，因为这件事情会花费很长时间，在做这件事的同时，你还可以去处理其他事情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/>
              <a:t>二者</a:t>
            </a:r>
            <a:r>
              <a:rPr lang="zh-CN" altLang="en-US" sz="2000" dirty="0" smtClean="0"/>
              <a:t>本质</a:t>
            </a:r>
            <a:r>
              <a:rPr lang="zh-CN" altLang="en-US" sz="2000" dirty="0"/>
              <a:t>区别： 这条流水线上各个流程的执行顺序不同。</a:t>
            </a:r>
            <a:endParaRPr lang="en-US" altLang="zh-CN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5" name="内容占位符 3"/>
          <p:cNvSpPr txBox="1"/>
          <p:nvPr/>
        </p:nvSpPr>
        <p:spPr>
          <a:xfrm>
            <a:off x="789838" y="849868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 smtClean="0">
                <a:solidFill>
                  <a:srgbClr val="C00000"/>
                </a:solidFill>
              </a:rPr>
              <a:t>同步和异步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JS</a:t>
            </a:r>
            <a:r>
              <a:rPr lang="zh-CN" altLang="en-US" spc="-40" dirty="0" smtClean="0">
                <a:solidFill>
                  <a:srgbClr val="585858"/>
                </a:solidFill>
              </a:rPr>
              <a:t>执行机制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4" name="内容占位符 5"/>
          <p:cNvSpPr>
            <a:spLocks noGrp="1"/>
          </p:cNvSpPr>
          <p:nvPr/>
        </p:nvSpPr>
        <p:spPr>
          <a:xfrm>
            <a:off x="877570" y="1434836"/>
            <a:ext cx="10323830" cy="5270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smtClean="0"/>
              <a:t>1</a:t>
            </a:r>
            <a:r>
              <a:rPr lang="zh-CN" altLang="en-US" sz="2000" dirty="0" smtClean="0"/>
              <a:t>、同步任务</a:t>
            </a:r>
            <a:endParaRPr lang="zh-CN" altLang="en-US" sz="2000" dirty="0" smtClean="0"/>
          </a:p>
          <a:p>
            <a:r>
              <a:rPr lang="zh-CN" altLang="en-US" sz="2000" dirty="0"/>
              <a:t>同步任务都在主线程上执行，形成一个</a:t>
            </a:r>
            <a:r>
              <a:rPr lang="zh-CN" altLang="en-US" sz="2000" b="1" dirty="0">
                <a:solidFill>
                  <a:schemeClr val="accent2"/>
                </a:solidFill>
              </a:rPr>
              <a:t>执</a:t>
            </a:r>
            <a:r>
              <a:rPr lang="zh-CN" altLang="en-US" sz="2000" b="1" dirty="0" smtClean="0">
                <a:solidFill>
                  <a:schemeClr val="accent2"/>
                </a:solidFill>
              </a:rPr>
              <a:t>行栈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en-US" altLang="zh-CN" sz="2000" dirty="0" smtClean="0"/>
              <a:t>2</a:t>
            </a:r>
            <a:r>
              <a:rPr lang="zh-CN" altLang="en-US" sz="2000" dirty="0" smtClean="0"/>
              <a:t>、异步任务</a:t>
            </a:r>
            <a:endParaRPr lang="zh-CN" altLang="en-US" sz="2000" dirty="0"/>
          </a:p>
          <a:p>
            <a:r>
              <a:rPr lang="en-US" altLang="zh-CN" sz="2000" dirty="0"/>
              <a:t>JS </a:t>
            </a:r>
            <a:r>
              <a:rPr lang="zh-CN" altLang="en-US" sz="2000" dirty="0"/>
              <a:t>的异步是通过回调函数实现的。</a:t>
            </a:r>
            <a:endParaRPr lang="zh-CN" altLang="en-US" sz="2000" dirty="0"/>
          </a:p>
          <a:p>
            <a:r>
              <a:rPr lang="zh-CN" altLang="en-US" sz="2000" dirty="0"/>
              <a:t>一般而言，异步任务有以下三种类型</a:t>
            </a:r>
            <a:r>
              <a:rPr lang="en-US" altLang="zh-CN" sz="2000" dirty="0"/>
              <a:t>:</a:t>
            </a:r>
            <a:endParaRPr lang="en-US" altLang="zh-CN" sz="2000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、普通事件，如 </a:t>
            </a:r>
            <a:r>
              <a:rPr lang="en-US" altLang="zh-CN" sz="2000" dirty="0"/>
              <a:t>click</a:t>
            </a:r>
            <a:r>
              <a:rPr lang="zh-CN" altLang="en-US" sz="2000" dirty="0"/>
              <a:t>、</a:t>
            </a:r>
            <a:r>
              <a:rPr lang="en-US" altLang="zh-CN" sz="2000" dirty="0"/>
              <a:t>resize </a:t>
            </a:r>
            <a:r>
              <a:rPr lang="zh-CN" altLang="en-US" sz="2000" dirty="0"/>
              <a:t>等</a:t>
            </a:r>
            <a:endParaRPr lang="zh-CN" altLang="en-US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、资源加载，如 </a:t>
            </a:r>
            <a:r>
              <a:rPr lang="en-US" altLang="zh-CN" sz="2000" dirty="0"/>
              <a:t>load</a:t>
            </a:r>
            <a:r>
              <a:rPr lang="zh-CN" altLang="en-US" sz="2000" dirty="0"/>
              <a:t>、</a:t>
            </a:r>
            <a:r>
              <a:rPr lang="en-US" altLang="zh-CN" sz="2000" dirty="0"/>
              <a:t>error </a:t>
            </a:r>
            <a:r>
              <a:rPr lang="zh-CN" altLang="en-US" sz="2000" dirty="0"/>
              <a:t>等</a:t>
            </a:r>
            <a:endParaRPr lang="zh-CN" altLang="en-US" sz="2000" dirty="0"/>
          </a:p>
          <a:p>
            <a:r>
              <a:rPr lang="en-US" altLang="zh-CN" sz="2000" dirty="0"/>
              <a:t>3</a:t>
            </a:r>
            <a:r>
              <a:rPr lang="zh-CN" altLang="en-US" sz="2000" dirty="0"/>
              <a:t>、定时器，包括 </a:t>
            </a:r>
            <a:r>
              <a:rPr lang="en-US" altLang="zh-CN" sz="2000" dirty="0" err="1"/>
              <a:t>setInterval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setTimeout</a:t>
            </a:r>
            <a:r>
              <a:rPr lang="en-US" altLang="zh-CN" sz="2000" dirty="0"/>
              <a:t> </a:t>
            </a:r>
            <a:r>
              <a:rPr lang="zh-CN" altLang="en-US" sz="2000" dirty="0"/>
              <a:t>等</a:t>
            </a:r>
            <a:endParaRPr lang="zh-CN" altLang="en-US" sz="2000" dirty="0"/>
          </a:p>
          <a:p>
            <a:r>
              <a:rPr lang="zh-CN" altLang="en-US" sz="2000" dirty="0"/>
              <a:t>异步任务相关回调函数添加到</a:t>
            </a:r>
            <a:r>
              <a:rPr lang="zh-CN" altLang="en-US" sz="2000" b="1" dirty="0">
                <a:solidFill>
                  <a:schemeClr val="accent2"/>
                </a:solidFill>
              </a:rPr>
              <a:t>任务队列</a:t>
            </a:r>
            <a:r>
              <a:rPr lang="zh-CN" altLang="en-US" sz="2000" dirty="0"/>
              <a:t>中（任务队列也称为消息队列</a:t>
            </a:r>
            <a:r>
              <a:rPr lang="zh-CN" altLang="en-US" sz="2000" dirty="0" smtClean="0"/>
              <a:t>）。</a:t>
            </a:r>
            <a:endParaRPr lang="en-US" altLang="zh-CN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5" name="内容占位符 3"/>
          <p:cNvSpPr txBox="1"/>
          <p:nvPr/>
        </p:nvSpPr>
        <p:spPr>
          <a:xfrm>
            <a:off x="789838" y="959919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 smtClean="0">
                <a:solidFill>
                  <a:srgbClr val="C00000"/>
                </a:solidFill>
              </a:rPr>
              <a:t>同步和异步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910" y="959919"/>
            <a:ext cx="2286000" cy="34825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902174"/>
            <a:ext cx="2857821" cy="180594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JS</a:t>
            </a:r>
            <a:r>
              <a:rPr lang="zh-CN" altLang="en-US" spc="-40" dirty="0" smtClean="0">
                <a:solidFill>
                  <a:srgbClr val="585858"/>
                </a:solidFill>
              </a:rPr>
              <a:t>执行机制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4" name="内容占位符 5"/>
          <p:cNvSpPr>
            <a:spLocks noGrp="1"/>
          </p:cNvSpPr>
          <p:nvPr/>
        </p:nvSpPr>
        <p:spPr>
          <a:xfrm>
            <a:off x="877570" y="1434836"/>
            <a:ext cx="10323830" cy="5270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1. </a:t>
            </a:r>
            <a:r>
              <a:rPr lang="zh-CN" altLang="en-US" sz="1800" dirty="0"/>
              <a:t>先执行</a:t>
            </a:r>
            <a:r>
              <a:rPr lang="zh-CN" altLang="en-US" sz="1800" b="1" dirty="0">
                <a:solidFill>
                  <a:schemeClr val="accent2"/>
                </a:solidFill>
              </a:rPr>
              <a:t>执行栈中的同步任务。</a:t>
            </a:r>
            <a:endParaRPr lang="zh-CN" altLang="en-US" sz="1800" b="1" dirty="0">
              <a:solidFill>
                <a:schemeClr val="accent2"/>
              </a:solidFill>
            </a:endParaRPr>
          </a:p>
          <a:p>
            <a:r>
              <a:rPr lang="en-US" altLang="zh-CN" sz="1800" dirty="0"/>
              <a:t>2. </a:t>
            </a:r>
            <a:r>
              <a:rPr lang="zh-CN" altLang="en-US" sz="1800" dirty="0"/>
              <a:t>异步任务（回调函数）放入任务队列中。</a:t>
            </a:r>
            <a:endParaRPr lang="zh-CN" altLang="en-US" sz="1800" dirty="0"/>
          </a:p>
          <a:p>
            <a:r>
              <a:rPr lang="en-US" altLang="zh-CN" sz="1800" dirty="0"/>
              <a:t>3. </a:t>
            </a:r>
            <a:r>
              <a:rPr lang="zh-CN" altLang="en-US" sz="1800" dirty="0"/>
              <a:t>一旦执行栈中的所有同步任务执行完毕，系统就会按次序读取</a:t>
            </a:r>
            <a:r>
              <a:rPr lang="zh-CN" altLang="en-US" sz="1800" b="1" dirty="0">
                <a:solidFill>
                  <a:schemeClr val="accent2"/>
                </a:solidFill>
              </a:rPr>
              <a:t>任务队列</a:t>
            </a:r>
            <a:r>
              <a:rPr lang="zh-CN" altLang="en-US" sz="1800" dirty="0"/>
              <a:t>中的异步任务，于是被读取的异步</a:t>
            </a:r>
            <a:r>
              <a:rPr lang="zh-CN" altLang="en-US" sz="1800" dirty="0" smtClean="0"/>
              <a:t>任务</a:t>
            </a:r>
            <a:r>
              <a:rPr lang="zh-CN" altLang="en-US" sz="1800" dirty="0"/>
              <a:t>结束等待状态，进入执行栈，开始执行。</a:t>
            </a:r>
            <a:endParaRPr lang="en-US" altLang="zh-CN" sz="18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5" name="内容占位符 3"/>
          <p:cNvSpPr txBox="1"/>
          <p:nvPr/>
        </p:nvSpPr>
        <p:spPr>
          <a:xfrm>
            <a:off x="805833" y="8896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 smtClean="0">
                <a:solidFill>
                  <a:srgbClr val="C00000"/>
                </a:solidFill>
              </a:rPr>
              <a:t>同步和异步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718" y="4191000"/>
            <a:ext cx="1578707" cy="24050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69" y="4572000"/>
            <a:ext cx="2452687" cy="15499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028" y="4953000"/>
            <a:ext cx="1658938" cy="904875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JS</a:t>
            </a:r>
            <a:r>
              <a:rPr lang="zh-CN" altLang="en-US" spc="-40" dirty="0" smtClean="0">
                <a:solidFill>
                  <a:srgbClr val="585858"/>
                </a:solidFill>
              </a:rPr>
              <a:t>执行机制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4" name="内容占位符 5"/>
          <p:cNvSpPr>
            <a:spLocks noGrp="1"/>
          </p:cNvSpPr>
          <p:nvPr/>
        </p:nvSpPr>
        <p:spPr>
          <a:xfrm>
            <a:off x="877570" y="1434836"/>
            <a:ext cx="10323830" cy="5270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5" name="内容占位符 3"/>
          <p:cNvSpPr txBox="1"/>
          <p:nvPr/>
        </p:nvSpPr>
        <p:spPr>
          <a:xfrm>
            <a:off x="805833" y="8896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 smtClean="0">
                <a:solidFill>
                  <a:srgbClr val="C00000"/>
                </a:solidFill>
              </a:rPr>
              <a:t>同步和异步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943600" y="100548"/>
            <a:ext cx="4343400" cy="181588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 </a:t>
            </a:r>
            <a:r>
              <a:rPr lang="en-US" altLang="zh-CN" sz="1400" dirty="0" smtClean="0">
                <a:solidFill>
                  <a:schemeClr val="tx1"/>
                </a:solidFill>
                <a:latin typeface="Monaco" pitchFamily="49" charset="0"/>
              </a:rPr>
              <a:t>     console.log(1</a:t>
            </a:r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)</a:t>
            </a:r>
            <a:endParaRPr lang="en-US" altLang="zh-CN" sz="14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      </a:t>
            </a:r>
            <a:r>
              <a:rPr lang="en-US" altLang="zh-CN" sz="1400" dirty="0" err="1">
                <a:solidFill>
                  <a:schemeClr val="tx1"/>
                </a:solidFill>
                <a:latin typeface="Monaco" pitchFamily="49" charset="0"/>
              </a:rPr>
              <a:t>document.onclick</a:t>
            </a:r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 = function () {</a:t>
            </a:r>
            <a:endParaRPr lang="en-US" altLang="zh-CN" sz="14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        console.log('click')</a:t>
            </a:r>
            <a:endParaRPr lang="en-US" altLang="zh-CN" sz="14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      }</a:t>
            </a:r>
            <a:endParaRPr lang="en-US" altLang="zh-CN" sz="14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      console.log(2)</a:t>
            </a:r>
            <a:endParaRPr lang="en-US" altLang="zh-CN" sz="14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      </a:t>
            </a:r>
            <a:r>
              <a:rPr lang="en-US" altLang="zh-CN" sz="1400" dirty="0" err="1">
                <a:solidFill>
                  <a:schemeClr val="tx1"/>
                </a:solidFill>
                <a:latin typeface="Monaco" pitchFamily="49" charset="0"/>
              </a:rPr>
              <a:t>setTimeout</a:t>
            </a:r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(function () {</a:t>
            </a:r>
            <a:endParaRPr lang="en-US" altLang="zh-CN" sz="14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        console.log(3)</a:t>
            </a:r>
            <a:endParaRPr lang="en-US" altLang="zh-CN" sz="1400" dirty="0">
              <a:solidFill>
                <a:schemeClr val="tx1"/>
              </a:solidFill>
              <a:latin typeface="Monaco" pitchFamily="49" charset="0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Monaco" pitchFamily="49" charset="0"/>
              </a:rPr>
              <a:t>      }, 3000)</a:t>
            </a:r>
            <a:endParaRPr lang="en-US" altLang="zh-CN" sz="1400" b="0" dirty="0">
              <a:solidFill>
                <a:schemeClr val="tx1"/>
              </a:solidFill>
              <a:effectLst/>
              <a:latin typeface="Monaco" pitchFamily="49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" y="1955741"/>
            <a:ext cx="11466830" cy="4833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 smtClean="0">
                <a:solidFill>
                  <a:srgbClr val="585858"/>
                </a:solidFill>
              </a:rPr>
              <a:t>JS</a:t>
            </a:r>
            <a:r>
              <a:rPr lang="zh-CN" altLang="en-US" spc="-40" dirty="0" smtClean="0">
                <a:solidFill>
                  <a:srgbClr val="585858"/>
                </a:solidFill>
              </a:rPr>
              <a:t>执行机制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4" name="内容占位符 5"/>
          <p:cNvSpPr>
            <a:spLocks noGrp="1"/>
          </p:cNvSpPr>
          <p:nvPr/>
        </p:nvSpPr>
        <p:spPr>
          <a:xfrm>
            <a:off x="609600" y="1392059"/>
            <a:ext cx="11582400" cy="5270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+mj-ea"/>
              <a:buNone/>
              <a:defRPr sz="105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lt"/>
              <a:buAutoNum type="arabicPeriod"/>
              <a:defRPr sz="1400" b="0" i="0" kern="12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028700" indent="-3429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+mj-ea"/>
              <a:buAutoNum type="circleNumDbPlain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l"/>
              <a:defRPr sz="105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）所有同步任务都在主线程上执行，形成一个执行栈（</a:t>
            </a:r>
            <a:r>
              <a:rPr lang="en-US" altLang="zh-CN" sz="2000" dirty="0"/>
              <a:t>execution context stack</a:t>
            </a:r>
            <a:r>
              <a:rPr lang="zh-CN" altLang="en-US" sz="2000" dirty="0"/>
              <a:t>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）主线程之外，还存在一个</a:t>
            </a:r>
            <a:r>
              <a:rPr lang="en-US" altLang="zh-CN" sz="2000" dirty="0"/>
              <a:t>"</a:t>
            </a:r>
            <a:r>
              <a:rPr lang="zh-CN" altLang="en-US" sz="2000" dirty="0"/>
              <a:t>任务队列</a:t>
            </a:r>
            <a:r>
              <a:rPr lang="en-US" altLang="zh-CN" sz="2000" dirty="0"/>
              <a:t>"</a:t>
            </a:r>
            <a:r>
              <a:rPr lang="zh-CN" altLang="en-US" sz="2000" dirty="0"/>
              <a:t>（</a:t>
            </a:r>
            <a:r>
              <a:rPr lang="en-US" altLang="zh-CN" sz="2000" dirty="0"/>
              <a:t>task queue</a:t>
            </a:r>
            <a:r>
              <a:rPr lang="zh-CN" altLang="en-US" sz="2000" dirty="0"/>
              <a:t>）。只要异步任务有了运行结果，就在</a:t>
            </a:r>
            <a:r>
              <a:rPr lang="en-US" altLang="zh-CN" sz="2000" dirty="0"/>
              <a:t>"</a:t>
            </a:r>
            <a:r>
              <a:rPr lang="zh-CN" altLang="en-US" sz="2000" dirty="0"/>
              <a:t>任务队列</a:t>
            </a:r>
            <a:r>
              <a:rPr lang="en-US" altLang="zh-CN" sz="2000" dirty="0"/>
              <a:t>"</a:t>
            </a:r>
            <a:r>
              <a:rPr lang="zh-CN" altLang="en-US" sz="2000" dirty="0"/>
              <a:t>之中放置一个事件（回调函数</a:t>
            </a:r>
            <a:r>
              <a:rPr lang="en-US" altLang="zh-CN" sz="2000" dirty="0"/>
              <a:t>callback</a:t>
            </a:r>
            <a:r>
              <a:rPr lang="zh-CN" altLang="en-US" sz="2000" dirty="0"/>
              <a:t>）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）一旦</a:t>
            </a:r>
            <a:r>
              <a:rPr lang="en-US" altLang="zh-CN" sz="2000" dirty="0"/>
              <a:t>"</a:t>
            </a:r>
            <a:r>
              <a:rPr lang="zh-CN" altLang="en-US" sz="2000" dirty="0"/>
              <a:t>执行栈</a:t>
            </a:r>
            <a:r>
              <a:rPr lang="en-US" altLang="zh-CN" sz="2000" dirty="0"/>
              <a:t>"</a:t>
            </a:r>
            <a:r>
              <a:rPr lang="zh-CN" altLang="en-US" sz="2000" dirty="0"/>
              <a:t>中的所有同步任务执行完毕，系统就会读取</a:t>
            </a:r>
            <a:r>
              <a:rPr lang="en-US" altLang="zh-CN" sz="2000" dirty="0"/>
              <a:t>"</a:t>
            </a:r>
            <a:r>
              <a:rPr lang="zh-CN" altLang="en-US" sz="2000" dirty="0"/>
              <a:t>任务队列</a:t>
            </a:r>
            <a:r>
              <a:rPr lang="en-US" altLang="zh-CN" sz="2000" dirty="0"/>
              <a:t>"</a:t>
            </a:r>
            <a:r>
              <a:rPr lang="zh-CN" altLang="en-US" sz="2000" dirty="0"/>
              <a:t>，看看里面有哪些事件。那些对应的异步任务，于是结束等待状态，进入执行栈，开始执行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（</a:t>
            </a:r>
            <a:r>
              <a:rPr lang="en-US" altLang="zh-CN" sz="2000" dirty="0"/>
              <a:t>4</a:t>
            </a:r>
            <a:r>
              <a:rPr lang="zh-CN" altLang="en-US" sz="2000" dirty="0"/>
              <a:t>）主线程不断重复上面的第三步</a:t>
            </a:r>
            <a:r>
              <a:rPr lang="zh-CN" altLang="en-US" sz="2000" dirty="0" smtClean="0"/>
              <a:t>。</a:t>
            </a:r>
            <a:endParaRPr lang="en-US" altLang="zh-CN" sz="2000" dirty="0">
              <a:solidFill>
                <a:schemeClr val="tx1"/>
              </a:solidFill>
              <a:latin typeface="+mn-lt"/>
              <a:cs typeface="+mn-lt"/>
              <a:sym typeface="+mn-ea"/>
            </a:endParaRPr>
          </a:p>
          <a:p>
            <a:endParaRPr lang="en-US" altLang="zh-CN" sz="2000" dirty="0" smtClean="0">
              <a:solidFill>
                <a:schemeClr val="tx1"/>
              </a:solidFill>
              <a:latin typeface="+mn-lt"/>
              <a:cs typeface="+mn-lt"/>
              <a:sym typeface="+mn-ea"/>
            </a:endParaRPr>
          </a:p>
          <a:p>
            <a:r>
              <a:rPr lang="zh-CN" altLang="en-US" sz="2000" dirty="0" smtClean="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由于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主线程不断的重复获得任务、执行任务、再获取任务、再执行，所以这种机制被称为</a:t>
            </a:r>
            <a:r>
              <a:rPr lang="zh-CN" altLang="en-US" sz="2000" b="1" dirty="0">
                <a:solidFill>
                  <a:schemeClr val="accent2"/>
                </a:solidFill>
                <a:latin typeface="+mn-lt"/>
                <a:cs typeface="+mn-lt"/>
                <a:sym typeface="+mn-ea"/>
              </a:rPr>
              <a:t>事件循环（ </a:t>
            </a:r>
            <a:r>
              <a:rPr lang="en-US" altLang="zh-CN" sz="2000" b="1" dirty="0">
                <a:solidFill>
                  <a:schemeClr val="accent2"/>
                </a:solidFill>
                <a:latin typeface="+mn-lt"/>
                <a:cs typeface="+mn-lt"/>
                <a:sym typeface="+mn-ea"/>
              </a:rPr>
              <a:t>event loop</a:t>
            </a:r>
            <a:r>
              <a:rPr lang="zh-CN" altLang="en-US" sz="2000" b="1" dirty="0">
                <a:solidFill>
                  <a:schemeClr val="accent2"/>
                </a:solidFill>
                <a:latin typeface="+mn-lt"/>
                <a:cs typeface="+mn-lt"/>
                <a:sym typeface="+mn-ea"/>
              </a:rPr>
              <a:t>）</a:t>
            </a:r>
            <a:r>
              <a:rPr lang="zh-CN" altLang="en-US" sz="2000" dirty="0">
                <a:solidFill>
                  <a:schemeClr val="tx1"/>
                </a:solidFill>
                <a:latin typeface="+mn-lt"/>
                <a:cs typeface="+mn-lt"/>
                <a:sym typeface="+mn-ea"/>
              </a:rPr>
              <a:t>。</a:t>
            </a:r>
            <a:endParaRPr lang="en-US" altLang="zh-CN" sz="2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lt"/>
              <a:sym typeface="+mn-ea"/>
            </a:endParaRPr>
          </a:p>
        </p:txBody>
      </p:sp>
      <p:sp>
        <p:nvSpPr>
          <p:cNvPr id="5" name="内容占位符 3"/>
          <p:cNvSpPr txBox="1"/>
          <p:nvPr/>
        </p:nvSpPr>
        <p:spPr>
          <a:xfrm>
            <a:off x="805833" y="889645"/>
            <a:ext cx="651762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600" b="0" i="0">
                <a:solidFill>
                  <a:srgbClr val="252525"/>
                </a:solidFill>
                <a:latin typeface="宋体"/>
                <a:ea typeface="+mn-ea"/>
                <a:cs typeface="宋体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kern="0" dirty="0" smtClean="0">
                <a:solidFill>
                  <a:srgbClr val="C00000"/>
                </a:solidFill>
              </a:rPr>
              <a:t>同步和异步</a:t>
            </a:r>
            <a:endParaRPr lang="en-US" altLang="zh-CN" sz="2400" b="1" kern="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685800" y="918589"/>
            <a:ext cx="4923155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ocation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5800" y="1562204"/>
            <a:ext cx="11475577" cy="1137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cs typeface="+mn-lt"/>
                <a:sym typeface="+mn-ea"/>
              </a:rPr>
              <a:t>location</a:t>
            </a:r>
            <a:r>
              <a:rPr lang="zh-CN" altLang="en-US" sz="2400" dirty="0" smtClean="0">
                <a:cs typeface="+mn-lt"/>
                <a:sym typeface="+mn-ea"/>
              </a:rPr>
              <a:t>对象包含当前页面的</a:t>
            </a:r>
            <a:r>
              <a:rPr lang="en-US" altLang="zh-CN" sz="2400" dirty="0" smtClean="0">
                <a:cs typeface="+mn-lt"/>
                <a:sym typeface="+mn-ea"/>
              </a:rPr>
              <a:t>URL</a:t>
            </a:r>
            <a:r>
              <a:rPr lang="zh-CN" altLang="en-US" sz="2400" dirty="0">
                <a:cs typeface="+mn-lt"/>
                <a:sym typeface="+mn-ea"/>
              </a:rPr>
              <a:t>信息。并且可以用于解析 </a:t>
            </a:r>
            <a:r>
              <a:rPr lang="en-US" altLang="zh-CN" sz="2400" dirty="0" smtClean="0">
                <a:cs typeface="+mn-lt"/>
                <a:sym typeface="+mn-ea"/>
              </a:rPr>
              <a:t>URL</a:t>
            </a:r>
            <a:r>
              <a:rPr lang="zh-CN" altLang="en-US" sz="2400" dirty="0" smtClean="0">
                <a:cs typeface="+mn-lt"/>
                <a:sym typeface="+mn-ea"/>
              </a:rPr>
              <a:t>。常用成员如下所示：</a:t>
            </a:r>
            <a:endParaRPr lang="en-US" altLang="zh-CN" sz="2400" dirty="0" smtClean="0">
              <a:cs typeface="+mn-lt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示例</a:t>
            </a:r>
            <a:r>
              <a:rPr lang="en-US" altLang="zh-CN" sz="2400" dirty="0" smtClean="0"/>
              <a:t>URL</a:t>
            </a:r>
            <a:r>
              <a:rPr lang="zh-CN" altLang="en-US" sz="2400" dirty="0" smtClean="0"/>
              <a:t>为：</a:t>
            </a:r>
            <a:r>
              <a:rPr lang="en-US" altLang="zh-CN" sz="2400" dirty="0" smtClean="0">
                <a:hlinkClick r:id="rId1"/>
              </a:rPr>
              <a:t>http://www.eaxmpleurl.com:8080#uid=1001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38" y="2938424"/>
            <a:ext cx="10332190" cy="384337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685800" y="903329"/>
            <a:ext cx="4923155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ocation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4779" y="1552151"/>
            <a:ext cx="10500360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cs typeface="+mn-lt"/>
                <a:sym typeface="+mn-ea"/>
              </a:rPr>
              <a:t>例：</a:t>
            </a:r>
            <a:r>
              <a:rPr lang="en-US" altLang="zh-CN" sz="2400" dirty="0" smtClean="0">
                <a:cs typeface="+mn-lt"/>
                <a:sym typeface="+mn-ea"/>
              </a:rPr>
              <a:t>5s</a:t>
            </a:r>
            <a:r>
              <a:rPr lang="zh-CN" altLang="en-US" sz="2400" dirty="0" smtClean="0">
                <a:cs typeface="+mn-lt"/>
                <a:sym typeface="+mn-ea"/>
              </a:rPr>
              <a:t>之后自动跳转到指定页面。利用前边学习到的定时器做倒计时效果，跳转到指定页面用</a:t>
            </a:r>
            <a:r>
              <a:rPr lang="en-US" altLang="zh-CN" sz="2400" dirty="0" smtClean="0">
                <a:cs typeface="+mn-lt"/>
                <a:sym typeface="+mn-ea"/>
              </a:rPr>
              <a:t>location</a:t>
            </a:r>
            <a:r>
              <a:rPr lang="zh-CN" altLang="en-US" sz="2400" dirty="0" smtClean="0">
                <a:cs typeface="+mn-lt"/>
                <a:sym typeface="+mn-ea"/>
              </a:rPr>
              <a:t>对象的</a:t>
            </a:r>
            <a:r>
              <a:rPr lang="en-US" altLang="zh-CN" sz="2400" dirty="0" err="1" smtClean="0">
                <a:cs typeface="+mn-lt"/>
                <a:sym typeface="+mn-ea"/>
              </a:rPr>
              <a:t>href</a:t>
            </a:r>
            <a:r>
              <a:rPr lang="zh-CN" altLang="en-US" sz="2400" dirty="0" smtClean="0">
                <a:cs typeface="+mn-lt"/>
                <a:sym typeface="+mn-ea"/>
              </a:rPr>
              <a:t>成员。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815238" y="2819400"/>
            <a:ext cx="9928962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    &lt;</a:t>
            </a:r>
            <a:r>
              <a:rPr lang="en-US" altLang="zh-CN" dirty="0">
                <a:solidFill>
                  <a:schemeClr val="tx1"/>
                </a:solidFill>
              </a:rPr>
              <a:t>div&gt;&lt;/div&gt;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&lt;script&gt;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let div = </a:t>
            </a:r>
            <a:r>
              <a:rPr lang="en-US" altLang="zh-CN" dirty="0" err="1">
                <a:solidFill>
                  <a:schemeClr val="tx1"/>
                </a:solidFill>
              </a:rPr>
              <a:t>document.querySelector</a:t>
            </a:r>
            <a:r>
              <a:rPr lang="en-US" altLang="zh-CN" dirty="0">
                <a:solidFill>
                  <a:schemeClr val="tx1"/>
                </a:solidFill>
              </a:rPr>
              <a:t>('div')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let times = </a:t>
            </a:r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</a:t>
            </a:r>
            <a:r>
              <a:rPr lang="en-US" altLang="zh-CN" dirty="0" err="1">
                <a:solidFill>
                  <a:schemeClr val="tx1"/>
                </a:solidFill>
              </a:rPr>
              <a:t>setInterval</a:t>
            </a:r>
            <a:r>
              <a:rPr lang="en-US" altLang="zh-CN" dirty="0">
                <a:solidFill>
                  <a:schemeClr val="tx1"/>
                </a:solidFill>
              </a:rPr>
              <a:t>(function ()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if (times == 0)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  </a:t>
            </a:r>
            <a:r>
              <a:rPr lang="en-US" altLang="zh-CN" dirty="0" err="1">
                <a:solidFill>
                  <a:schemeClr val="tx1"/>
                </a:solidFill>
              </a:rPr>
              <a:t>location.href</a:t>
            </a:r>
            <a:r>
              <a:rPr lang="en-US" altLang="zh-CN" dirty="0">
                <a:solidFill>
                  <a:schemeClr val="tx1"/>
                </a:solidFill>
              </a:rPr>
              <a:t> = 'https://www.baidu.com'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} else {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  </a:t>
            </a:r>
            <a:r>
              <a:rPr lang="en-US" altLang="zh-CN" dirty="0" err="1">
                <a:solidFill>
                  <a:schemeClr val="tx1"/>
                </a:solidFill>
              </a:rPr>
              <a:t>div.innerHTML</a:t>
            </a:r>
            <a:r>
              <a:rPr lang="en-US" altLang="zh-CN" dirty="0">
                <a:solidFill>
                  <a:schemeClr val="tx1"/>
                </a:solidFill>
              </a:rPr>
              <a:t> = `</a:t>
            </a:r>
            <a:r>
              <a:rPr lang="zh-CN" altLang="en-US" dirty="0">
                <a:solidFill>
                  <a:schemeClr val="tx1"/>
                </a:solidFill>
              </a:rPr>
              <a:t>当前页面内容逃走啦！</a:t>
            </a:r>
            <a:r>
              <a:rPr lang="en-US" altLang="zh-CN" dirty="0">
                <a:solidFill>
                  <a:schemeClr val="tx1"/>
                </a:solidFill>
              </a:rPr>
              <a:t>${times}</a:t>
            </a:r>
            <a:r>
              <a:rPr lang="zh-CN" altLang="en-US" dirty="0">
                <a:solidFill>
                  <a:schemeClr val="tx1"/>
                </a:solidFill>
              </a:rPr>
              <a:t>秒之后跳转到百度首页</a:t>
            </a:r>
            <a:r>
              <a:rPr lang="en-US" altLang="zh-CN" dirty="0">
                <a:solidFill>
                  <a:schemeClr val="tx1"/>
                </a:solidFill>
              </a:rPr>
              <a:t>`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          </a:t>
            </a:r>
            <a:r>
              <a:rPr lang="en-US" altLang="zh-CN" dirty="0">
                <a:solidFill>
                  <a:schemeClr val="tx1"/>
                </a:solidFill>
              </a:rPr>
              <a:t>times--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  }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  }, 1000)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    &lt;/script&gt;</a:t>
            </a:r>
            <a:endParaRPr lang="en-US" altLang="zh-CN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724" y="284781"/>
            <a:ext cx="195336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200" spc="-40" dirty="0">
                <a:solidFill>
                  <a:srgbClr val="585858"/>
                </a:solidFill>
              </a:rPr>
              <a:t>BOM</a:t>
            </a:r>
            <a:endParaRPr sz="3200" spc="-40" dirty="0">
              <a:solidFill>
                <a:srgbClr val="585858"/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664976" y="941514"/>
            <a:ext cx="4923155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navigator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8971" y="1525737"/>
            <a:ext cx="10576560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cs typeface="+mn-lt"/>
                <a:sym typeface="+mn-ea"/>
              </a:rPr>
              <a:t>navigator</a:t>
            </a:r>
            <a:r>
              <a:rPr lang="zh-CN" altLang="en-US" sz="2400" dirty="0" smtClean="0">
                <a:cs typeface="+mn-lt"/>
                <a:sym typeface="+mn-ea"/>
              </a:rPr>
              <a:t>对象包含了浏览器的相关信息，比如浏览器的名称、版本、操作系统等，其中</a:t>
            </a:r>
            <a:r>
              <a:rPr lang="en-US" altLang="zh-CN" sz="2400" dirty="0" err="1" smtClean="0">
                <a:cs typeface="+mn-lt"/>
                <a:sym typeface="+mn-ea"/>
              </a:rPr>
              <a:t>userAgent</a:t>
            </a:r>
            <a:r>
              <a:rPr lang="zh-CN" altLang="en-US" sz="2400" dirty="0" smtClean="0">
                <a:cs typeface="+mn-lt"/>
                <a:sym typeface="+mn-ea"/>
              </a:rPr>
              <a:t>返回这些信息。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685800" y="2705206"/>
            <a:ext cx="102548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userAgent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: "Mozilla/5.0 (Windows NT 10.0; Win64; x64) 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AppleWebKit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/537.36 (KHTML, like Gecko) Chrome/107.0.0.0 Safari/537.36"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193" y="4008281"/>
            <a:ext cx="7754008" cy="27942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23716" y="3416258"/>
            <a:ext cx="7366119" cy="501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cs typeface="+mn-lt"/>
              </a:rPr>
              <a:t>下边这段代码</a:t>
            </a:r>
            <a:r>
              <a:rPr lang="zh-CN" altLang="en-US" sz="2000" dirty="0">
                <a:cs typeface="+mn-lt"/>
              </a:rPr>
              <a:t>可以判断</a:t>
            </a:r>
            <a:r>
              <a:rPr lang="zh-CN" altLang="en-US" sz="2000" dirty="0" smtClean="0">
                <a:cs typeface="+mn-lt"/>
              </a:rPr>
              <a:t>用户用什么终端打开网页，从而实现</a:t>
            </a:r>
            <a:r>
              <a:rPr lang="zh-CN" altLang="en-US" sz="2000" dirty="0">
                <a:cs typeface="+mn-lt"/>
              </a:rPr>
              <a:t>跳转</a:t>
            </a:r>
            <a:endParaRPr lang="zh-CN" altLang="en-US" sz="2000" dirty="0">
              <a:cs typeface="+mn-lt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9838" y="272922"/>
            <a:ext cx="1953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40" dirty="0">
                <a:solidFill>
                  <a:srgbClr val="585858"/>
                </a:solidFill>
              </a:rPr>
              <a:t>BOM</a:t>
            </a:r>
            <a:endParaRPr spc="-40" dirty="0">
              <a:solidFill>
                <a:srgbClr val="585858"/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685800" y="1022664"/>
            <a:ext cx="4923155" cy="5810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history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2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4193" y="1717823"/>
            <a:ext cx="10576560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cs typeface="+mn-lt"/>
                <a:sym typeface="+mn-ea"/>
              </a:rPr>
              <a:t>history</a:t>
            </a:r>
            <a:r>
              <a:rPr lang="zh-CN" altLang="en-US" sz="2400" dirty="0" smtClean="0">
                <a:cs typeface="+mn-lt"/>
                <a:sym typeface="+mn-ea"/>
              </a:rPr>
              <a:t>对象包含</a:t>
            </a:r>
            <a:r>
              <a:rPr lang="zh-CN" altLang="en-US" sz="2400" dirty="0">
                <a:cs typeface="+mn-lt"/>
                <a:sym typeface="+mn-ea"/>
              </a:rPr>
              <a:t>浏览</a:t>
            </a:r>
            <a:r>
              <a:rPr lang="zh-CN" altLang="en-US" sz="2400" dirty="0" smtClean="0">
                <a:cs typeface="+mn-lt"/>
                <a:sym typeface="+mn-ea"/>
              </a:rPr>
              <a:t>历史</a:t>
            </a:r>
            <a:r>
              <a:rPr lang="en-US" altLang="zh-CN" sz="2400" dirty="0" smtClean="0">
                <a:cs typeface="+mn-lt"/>
                <a:sym typeface="+mn-ea"/>
              </a:rPr>
              <a:t>URL</a:t>
            </a:r>
            <a:r>
              <a:rPr lang="zh-CN" altLang="en-US" sz="2400" dirty="0" smtClean="0">
                <a:cs typeface="+mn-lt"/>
                <a:sym typeface="+mn-ea"/>
              </a:rPr>
              <a:t>的相关信息。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52" y="2689724"/>
            <a:ext cx="11072266" cy="3101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17779</Words>
  <Application>WPS 演示</Application>
  <PresentationFormat>宽屏</PresentationFormat>
  <Paragraphs>1028</Paragraphs>
  <Slides>64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92" baseType="lpstr">
      <vt:lpstr>Arial</vt:lpstr>
      <vt:lpstr>宋体</vt:lpstr>
      <vt:lpstr>Wingdings</vt:lpstr>
      <vt:lpstr>Microsoft JhengHei</vt:lpstr>
      <vt:lpstr>汉仪中简黑简</vt:lpstr>
      <vt:lpstr>宋体</vt:lpstr>
      <vt:lpstr>汉仪书宋二KW</vt:lpstr>
      <vt:lpstr>Calibri</vt:lpstr>
      <vt:lpstr>Helvetica Neue</vt:lpstr>
      <vt:lpstr>Segoe UI</vt:lpstr>
      <vt:lpstr>微软雅黑</vt:lpstr>
      <vt:lpstr>Wingdings</vt:lpstr>
      <vt:lpstr>汉仪旗黑</vt:lpstr>
      <vt:lpstr>Microsoft JhengHei</vt:lpstr>
      <vt:lpstr>Monaco</vt:lpstr>
      <vt:lpstr>苹方-简</vt:lpstr>
      <vt:lpstr>宋体</vt:lpstr>
      <vt:lpstr>Arial Unicode MS</vt:lpstr>
      <vt:lpstr>等线</vt:lpstr>
      <vt:lpstr>汉仪中等线KW</vt:lpstr>
      <vt:lpstr>微软雅黑</vt:lpstr>
      <vt:lpstr>Times New Roman</vt:lpstr>
      <vt:lpstr>Courier New</vt:lpstr>
      <vt:lpstr>黑体</vt:lpstr>
      <vt:lpstr>汉仪中黑KW</vt:lpstr>
      <vt:lpstr>CourierNewPSMT</vt:lpstr>
      <vt:lpstr>consolas</vt:lpstr>
      <vt:lpstr>Office Theme</vt:lpstr>
      <vt:lpstr>DOM和BOM</vt:lpstr>
      <vt:lpstr>DOM</vt:lpstr>
      <vt:lpstr>一. DOM</vt:lpstr>
      <vt:lpstr> DOM</vt:lpstr>
      <vt:lpstr>DOM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DOM操作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DOM事件</vt:lpstr>
      <vt:lpstr>PowerPoint 演示文稿</vt:lpstr>
      <vt:lpstr>BOM</vt:lpstr>
      <vt:lpstr>BOM</vt:lpstr>
      <vt:lpstr>BOM</vt:lpstr>
      <vt:lpstr>BOM</vt:lpstr>
      <vt:lpstr>BOM</vt:lpstr>
      <vt:lpstr>BOM</vt:lpstr>
      <vt:lpstr>定时器</vt:lpstr>
      <vt:lpstr>定时器</vt:lpstr>
      <vt:lpstr>定时器</vt:lpstr>
      <vt:lpstr>定时器</vt:lpstr>
      <vt:lpstr>定时器</vt:lpstr>
      <vt:lpstr>定时器</vt:lpstr>
      <vt:lpstr>定时器</vt:lpstr>
      <vt:lpstr>定时器</vt:lpstr>
      <vt:lpstr>定时器</vt:lpstr>
      <vt:lpstr>定时器</vt:lpstr>
      <vt:lpstr>JS执行机制</vt:lpstr>
      <vt:lpstr>JS执行机制</vt:lpstr>
      <vt:lpstr>JS执行机制</vt:lpstr>
      <vt:lpstr>JS执行机制</vt:lpstr>
      <vt:lpstr>JS执行机制</vt:lpstr>
      <vt:lpstr>JS执行机制</vt:lpstr>
      <vt:lpstr>BOM</vt:lpstr>
      <vt:lpstr>BOM</vt:lpstr>
      <vt:lpstr>BOM</vt:lpstr>
      <vt:lpstr>BOM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朱静雯</cp:lastModifiedBy>
  <cp:revision>197</cp:revision>
  <dcterms:created xsi:type="dcterms:W3CDTF">2024-11-21T01:26:48Z</dcterms:created>
  <dcterms:modified xsi:type="dcterms:W3CDTF">2024-11-21T01:26:48Z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2021-07-22T08:00:00Z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2022-09-11T08:00:00Z</vt:filetime>
  </property>
  <property fmtid="{D5CDD505-2E9C-101B-9397-08002B2CF9AE}" pid="5" name="ICV">
    <vt:lpwstr>51A1EE8C6A5225D8278C3E6796858387_42</vt:lpwstr>
  </property>
  <property fmtid="{D5CDD505-2E9C-101B-9397-08002B2CF9AE}" pid="6" name="KSOProductBuildVer">
    <vt:lpwstr>2052-6.8.2.8850</vt:lpwstr>
  </property>
</Properties>
</file>