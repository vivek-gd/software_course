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8"/>
  </p:handoutMasterIdLst>
  <p:sldIdLst>
    <p:sldId id="510" r:id="rId3"/>
    <p:sldId id="397" r:id="rId5"/>
    <p:sldId id="449" r:id="rId6"/>
    <p:sldId id="450" r:id="rId7"/>
    <p:sldId id="515" r:id="rId8"/>
    <p:sldId id="519" r:id="rId9"/>
    <p:sldId id="451" r:id="rId10"/>
    <p:sldId id="452" r:id="rId11"/>
    <p:sldId id="454" r:id="rId12"/>
    <p:sldId id="455" r:id="rId13"/>
    <p:sldId id="456" r:id="rId14"/>
    <p:sldId id="459" r:id="rId15"/>
    <p:sldId id="460" r:id="rId16"/>
    <p:sldId id="461" r:id="rId17"/>
    <p:sldId id="463" r:id="rId18"/>
    <p:sldId id="464" r:id="rId19"/>
    <p:sldId id="516" r:id="rId20"/>
    <p:sldId id="465" r:id="rId21"/>
    <p:sldId id="469" r:id="rId22"/>
    <p:sldId id="477" r:id="rId23"/>
    <p:sldId id="470" r:id="rId24"/>
    <p:sldId id="472" r:id="rId25"/>
    <p:sldId id="473" r:id="rId26"/>
    <p:sldId id="518" r:id="rId27"/>
    <p:sldId id="474" r:id="rId28"/>
    <p:sldId id="476" r:id="rId29"/>
    <p:sldId id="475" r:id="rId30"/>
    <p:sldId id="478" r:id="rId31"/>
    <p:sldId id="520" r:id="rId32"/>
    <p:sldId id="517" r:id="rId33"/>
    <p:sldId id="479" r:id="rId34"/>
    <p:sldId id="480" r:id="rId35"/>
    <p:sldId id="481" r:id="rId36"/>
    <p:sldId id="482" r:id="rId37"/>
    <p:sldId id="483" r:id="rId38"/>
    <p:sldId id="485" r:id="rId39"/>
    <p:sldId id="486" r:id="rId40"/>
    <p:sldId id="521" r:id="rId41"/>
    <p:sldId id="522" r:id="rId42"/>
    <p:sldId id="490" r:id="rId43"/>
    <p:sldId id="523" r:id="rId44"/>
    <p:sldId id="492" r:id="rId45"/>
    <p:sldId id="524" r:id="rId46"/>
    <p:sldId id="494" r:id="rId47"/>
    <p:sldId id="495" r:id="rId48"/>
    <p:sldId id="496" r:id="rId49"/>
    <p:sldId id="497" r:id="rId50"/>
    <p:sldId id="498" r:id="rId51"/>
    <p:sldId id="528" r:id="rId52"/>
    <p:sldId id="499" r:id="rId53"/>
    <p:sldId id="500" r:id="rId54"/>
    <p:sldId id="501" r:id="rId55"/>
    <p:sldId id="525" r:id="rId56"/>
    <p:sldId id="502" r:id="rId57"/>
    <p:sldId id="503" r:id="rId58"/>
    <p:sldId id="504" r:id="rId59"/>
    <p:sldId id="506" r:id="rId60"/>
    <p:sldId id="509" r:id="rId61"/>
    <p:sldId id="526" r:id="rId62"/>
    <p:sldId id="527" r:id="rId63"/>
    <p:sldId id="511" r:id="rId64"/>
    <p:sldId id="512" r:id="rId65"/>
    <p:sldId id="513" r:id="rId66"/>
    <p:sldId id="514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325" autoAdjust="0"/>
  </p:normalViewPr>
  <p:slideViewPr>
    <p:cSldViewPr snapToGrid="0">
      <p:cViewPr>
        <p:scale>
          <a:sx n="75" d="100"/>
          <a:sy n="75" d="100"/>
        </p:scale>
        <p:origin x="82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E5315-B6B1-4079-A5D0-2624861DC1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3037F-82FF-4BDE-B36E-2DF5B7EDB1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83C14-3C6A-4FA6-BC12-5DDF7C15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页面元素大小由盒子模型决定，盒子模型规定了元素大小、边框、内外边距等</a:t>
            </a:r>
            <a:r>
              <a:rPr lang="en-US" altLang="zh-CN" dirty="0" smtClean="0"/>
              <a:t>CSS</a:t>
            </a:r>
            <a:r>
              <a:rPr lang="zh-CN" altLang="en-US" dirty="0" smtClean="0"/>
              <a:t>样式。而元素位置可以通过正常文档流定位、浮动定位、相对定位、绝对定位、固定定位等方式进行确定，从而使整个页面达到预期的整体布局效果。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浮动定位的元素脱标且不再保留原位置。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 </a:t>
            </a:r>
            <a:r>
              <a:rPr lang="en-US" altLang="zh-CN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中，新增了一种定位方式：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sticky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A8AC-8152-408F-A376-4CDEAA5459B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FAC1-0A5C-44CD-9E9E-C4BA9C97F4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858000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28625" y="923131"/>
            <a:ext cx="219075" cy="2095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3D75-15A9-4E3F-B62F-784D69DE76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1FA2-CABD-49CA-9B9B-0DD5C472D07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C2B7-56B2-4446-B560-A5B521263FF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AD8DF-CD9C-4E66-897E-39C7169FA28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E532-DC1C-4E17-B453-462EB8AD753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EDF6-D1DE-4D8B-89BE-3CD4933EAF5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8294-47D0-4CDE-8D79-7F6EFF5EAED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246B-356A-423A-AE34-C33806F47AB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E711-683F-43E7-B5A5-6ED23816F2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FE711-683F-43E7-B5A5-6ED23816F2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南开大学软件学院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858000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28625" y="923131"/>
            <a:ext cx="219075" cy="2095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2710806" y="2678090"/>
            <a:ext cx="6016937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400" spc="270" dirty="0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</a:rPr>
              <a:t>CSS</a:t>
            </a:r>
            <a:r>
              <a:rPr lang="zh-CN" altLang="en-US" sz="4400" spc="270" dirty="0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</a:rPr>
              <a:t>定位与布局</a:t>
            </a:r>
            <a:endParaRPr lang="zh-CN" altLang="en-US" sz="4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42961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6106" y="1416516"/>
            <a:ext cx="104117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dirty="0" smtClean="0"/>
              <a:t>CSS</a:t>
            </a:r>
            <a:r>
              <a:rPr lang="zh-CN" altLang="en-US" sz="1600" dirty="0" smtClean="0"/>
              <a:t>认为每个元素都是一个盒子，可以通过</a:t>
            </a:r>
            <a:r>
              <a:rPr lang="en-US" altLang="zh-CN" sz="1600" dirty="0" smtClean="0"/>
              <a:t>CSS</a:t>
            </a:r>
            <a:r>
              <a:rPr lang="zh-CN" altLang="en-US" sz="1600" dirty="0" smtClean="0"/>
              <a:t>样式定义元素的高、宽、边框、边距等，并将盒子定位在页面上的某个位置。页面布局就是通过大盒子嵌套小盒子，逐步细化完成的。完成元素定位和页面布局后，才涉及具体的设置元素的字体、文本等样式。</a:t>
            </a:r>
            <a:endParaRPr lang="zh-CN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1119673" y="6077181"/>
            <a:ext cx="60159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页面</a:t>
            </a:r>
            <a:r>
              <a:rPr lang="zh-CN" altLang="en-US" sz="1600" dirty="0" smtClean="0"/>
              <a:t>上一些区域</a:t>
            </a:r>
            <a:r>
              <a:rPr lang="zh-CN" altLang="en-US" sz="1600" dirty="0"/>
              <a:t>、图片、导航、列表、</a:t>
            </a:r>
            <a:r>
              <a:rPr lang="zh-CN" altLang="en-US" sz="1600" dirty="0" smtClean="0"/>
              <a:t>段落等等，</a:t>
            </a:r>
            <a:r>
              <a:rPr lang="zh-CN" altLang="en-US" sz="1600" dirty="0"/>
              <a:t>都可以是盒子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7532671" y="2630393"/>
            <a:ext cx="3795183" cy="3341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container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744799" y="2674687"/>
            <a:ext cx="3370926" cy="3733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header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744799" y="3168801"/>
            <a:ext cx="3370926" cy="29084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nav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744799" y="3563840"/>
            <a:ext cx="3370926" cy="184194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744799" y="3563839"/>
            <a:ext cx="580051" cy="18419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/>
              <a:t>aside</a:t>
            </a:r>
            <a:endParaRPr lang="zh-CN" altLang="en-US" sz="1100" dirty="0"/>
          </a:p>
        </p:txBody>
      </p:sp>
      <p:sp>
        <p:nvSpPr>
          <p:cNvPr id="14" name="矩形 13"/>
          <p:cNvSpPr/>
          <p:nvPr/>
        </p:nvSpPr>
        <p:spPr>
          <a:xfrm>
            <a:off x="8397168" y="3563840"/>
            <a:ext cx="2061281" cy="18419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main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0553700" y="3563839"/>
            <a:ext cx="562025" cy="184194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aside</a:t>
            </a:r>
            <a:endParaRPr lang="zh-CN" altLang="en-US" sz="1100" dirty="0"/>
          </a:p>
        </p:txBody>
      </p:sp>
      <p:sp>
        <p:nvSpPr>
          <p:cNvPr id="18" name="矩形 17"/>
          <p:cNvSpPr/>
          <p:nvPr/>
        </p:nvSpPr>
        <p:spPr>
          <a:xfrm>
            <a:off x="7744799" y="5509977"/>
            <a:ext cx="3370926" cy="33837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footer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106" y="2552253"/>
            <a:ext cx="6544246" cy="33368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609871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1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盒子模</a:t>
            </a:r>
            <a:r>
              <a:rPr sz="2400" b="1" spc="-1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型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组成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0548" y="2141702"/>
            <a:ext cx="109311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CSS </a:t>
            </a:r>
            <a:r>
              <a:rPr lang="zh-CN" altLang="en-US" sz="2400" dirty="0"/>
              <a:t>盒子模型本质上是一个盒子，</a:t>
            </a:r>
            <a:r>
              <a:rPr lang="zh-CN" altLang="en-US" sz="2400" dirty="0" smtClean="0"/>
              <a:t>封装周围的</a:t>
            </a:r>
            <a:r>
              <a:rPr lang="en-US" altLang="zh-CN" sz="2400" dirty="0" smtClean="0"/>
              <a:t>HTML </a:t>
            </a:r>
            <a:r>
              <a:rPr lang="zh-CN" altLang="en-US" sz="2400" dirty="0"/>
              <a:t>元素，它包括：边框</a:t>
            </a:r>
            <a:r>
              <a:rPr lang="zh-CN" altLang="en-US" sz="2400" dirty="0" smtClean="0"/>
              <a:t>、内</a:t>
            </a:r>
            <a:r>
              <a:rPr lang="zh-CN" altLang="en-US" sz="2400" dirty="0"/>
              <a:t>边距</a:t>
            </a:r>
            <a:r>
              <a:rPr lang="zh-CN" altLang="en-US" sz="2400" dirty="0" smtClean="0"/>
              <a:t>、外边距和</a:t>
            </a:r>
            <a:r>
              <a:rPr lang="zh-CN" altLang="en-US" sz="2400" dirty="0"/>
              <a:t>实际</a:t>
            </a:r>
            <a:r>
              <a:rPr lang="zh-CN" altLang="en-US" sz="2400" dirty="0" smtClean="0"/>
              <a:t>内容。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175" y="3115455"/>
            <a:ext cx="4281825" cy="353869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73976" y="2972699"/>
            <a:ext cx="67785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/>
              <a:t>content : </a:t>
            </a:r>
            <a:r>
              <a:rPr lang="zh-CN" altLang="en-US" sz="2000" dirty="0"/>
              <a:t>这个区域是用来显示内容，大小可以通过设置 </a:t>
            </a:r>
            <a:r>
              <a:rPr lang="en-US" altLang="zh-CN" sz="2000" dirty="0"/>
              <a:t>width </a:t>
            </a:r>
            <a:r>
              <a:rPr lang="zh-CN" altLang="en-US" sz="2000" dirty="0"/>
              <a:t>和 </a:t>
            </a:r>
            <a:r>
              <a:rPr lang="en-US" altLang="zh-CN" sz="2000" dirty="0"/>
              <a:t>height.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/>
              <a:t>padding: </a:t>
            </a:r>
            <a:r>
              <a:rPr lang="zh-CN" altLang="en-US" sz="2000" dirty="0"/>
              <a:t>包围在内容区域外部的空白区域；大小通过 </a:t>
            </a:r>
            <a:r>
              <a:rPr lang="en-US" altLang="zh-CN" sz="2000" dirty="0"/>
              <a:t>padding </a:t>
            </a:r>
            <a:r>
              <a:rPr lang="zh-CN" altLang="en-US" sz="2000" dirty="0"/>
              <a:t>相关属性设置。</a:t>
            </a:r>
            <a:endParaRPr lang="zh-CN" altLang="en-US" sz="20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/>
              <a:t>border: </a:t>
            </a:r>
            <a:r>
              <a:rPr lang="zh-CN" altLang="en-US" sz="2000" dirty="0"/>
              <a:t>边框盒包裹内容和内边距。大小通过 </a:t>
            </a:r>
            <a:r>
              <a:rPr lang="en-US" altLang="zh-CN" sz="2000" dirty="0"/>
              <a:t>border </a:t>
            </a:r>
            <a:r>
              <a:rPr lang="zh-CN" altLang="en-US" sz="2000" dirty="0"/>
              <a:t>相关属性设置。</a:t>
            </a:r>
            <a:endParaRPr lang="zh-CN" altLang="en-US" sz="20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/>
              <a:t>margin: </a:t>
            </a:r>
            <a:r>
              <a:rPr lang="zh-CN" altLang="en-US" sz="2000" dirty="0"/>
              <a:t>这是最外面的区域，是盒子和其他元素之间的空白区域。大小通过 </a:t>
            </a:r>
            <a:r>
              <a:rPr lang="en-US" altLang="zh-CN" sz="2000" dirty="0"/>
              <a:t>margin </a:t>
            </a:r>
            <a:r>
              <a:rPr lang="zh-CN" altLang="en-US" sz="2000" dirty="0"/>
              <a:t>相关属性设置。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583311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1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盒子模</a:t>
            </a:r>
            <a:r>
              <a:rPr sz="2400" b="1" spc="-1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型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组成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548" y="2206894"/>
            <a:ext cx="106479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padding </a:t>
            </a:r>
            <a:r>
              <a:rPr lang="zh-CN" altLang="en-US" dirty="0"/>
              <a:t>和 </a:t>
            </a:r>
            <a:r>
              <a:rPr lang="en-US" altLang="zh-CN" dirty="0"/>
              <a:t>border </a:t>
            </a:r>
            <a:r>
              <a:rPr lang="zh-CN" altLang="en-US" dirty="0"/>
              <a:t>再加上设置的宽高一起决定整个盒子的大小。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4825" y="294334"/>
            <a:ext cx="3811143" cy="17710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26" y="2694139"/>
            <a:ext cx="3031027" cy="24618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00548" y="5156021"/>
            <a:ext cx="110354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如果使用</a:t>
            </a:r>
            <a:r>
              <a:rPr lang="zh-CN" altLang="en-US" dirty="0" smtClean="0"/>
              <a:t>标准盒模型，即</a:t>
            </a:r>
            <a:r>
              <a:rPr lang="en-US" altLang="zh-CN" dirty="0" smtClean="0"/>
              <a:t>content-box</a:t>
            </a:r>
            <a:r>
              <a:rPr lang="zh-CN" altLang="en-US" dirty="0" smtClean="0"/>
              <a:t>，</a:t>
            </a:r>
            <a:r>
              <a:rPr lang="zh-CN" altLang="en-US" dirty="0"/>
              <a:t>那么</a:t>
            </a:r>
            <a:r>
              <a:rPr lang="zh-CN" altLang="en-US" dirty="0" smtClean="0"/>
              <a:t>实际</a:t>
            </a:r>
            <a:r>
              <a:rPr lang="zh-CN" altLang="en-US" dirty="0"/>
              <a:t>占用空间的宽高分别为：宽度 </a:t>
            </a:r>
            <a:r>
              <a:rPr lang="en-US" altLang="zh-CN" dirty="0"/>
              <a:t>= 410px (350 + 25 + 25 + 5 + 5)</a:t>
            </a:r>
            <a:r>
              <a:rPr lang="zh-CN" altLang="en-US" dirty="0"/>
              <a:t>，高度 </a:t>
            </a:r>
            <a:r>
              <a:rPr lang="en-US" altLang="zh-CN" dirty="0"/>
              <a:t>= 210px (150 + 25 + 25 + 5 + 5)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/>
              <a:t>margin </a:t>
            </a:r>
            <a:r>
              <a:rPr lang="zh-CN" altLang="en-US" dirty="0"/>
              <a:t>不计入实际大小 </a:t>
            </a:r>
            <a:r>
              <a:rPr lang="en-US" altLang="zh-CN" dirty="0"/>
              <a:t>—— </a:t>
            </a:r>
            <a:r>
              <a:rPr lang="zh-CN" altLang="en-US" dirty="0" smtClean="0"/>
              <a:t>但它</a:t>
            </a:r>
            <a:r>
              <a:rPr lang="zh-CN" altLang="en-US" dirty="0"/>
              <a:t>会影响盒子在页面所占空间</a:t>
            </a:r>
            <a:r>
              <a:rPr lang="zh-CN" altLang="en-US" dirty="0" smtClean="0"/>
              <a:t>，影响</a:t>
            </a:r>
            <a:r>
              <a:rPr lang="zh-CN" altLang="en-US" dirty="0"/>
              <a:t>的是盒子外部空间。盒子的范围到边框为止 </a:t>
            </a:r>
            <a:r>
              <a:rPr lang="en-US" altLang="zh-CN" dirty="0"/>
              <a:t>—— </a:t>
            </a:r>
            <a:r>
              <a:rPr lang="zh-CN" altLang="en-US" dirty="0"/>
              <a:t>不会延伸到 </a:t>
            </a:r>
            <a:r>
              <a:rPr lang="en-US" altLang="zh-CN" dirty="0"/>
              <a:t>margin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1026" name="Picture 2" descr="Showing the size of the box when the standard box model is being us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682" y="2657151"/>
            <a:ext cx="4307978" cy="258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744776"/>
            <a:ext cx="351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1</a:t>
            </a:r>
            <a:r>
              <a:rPr lang="zh-CN" altLang="en-US" sz="18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sz="18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盒子模</a:t>
            </a:r>
            <a:r>
              <a:rPr sz="1800" b="1" spc="-1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型</a:t>
            </a:r>
            <a:r>
              <a:rPr sz="18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组成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0548" y="2161113"/>
            <a:ext cx="1093111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accent5"/>
                </a:solidFill>
              </a:rPr>
              <a:t>box-sizing</a:t>
            </a:r>
            <a:r>
              <a:rPr lang="zh-CN" altLang="en-US" sz="2000" b="1" dirty="0" smtClean="0">
                <a:solidFill>
                  <a:schemeClr val="accent5"/>
                </a:solidFill>
              </a:rPr>
              <a:t>属性 </a:t>
            </a:r>
            <a:r>
              <a:rPr lang="zh-CN" altLang="en-US" sz="2000" dirty="0" smtClean="0"/>
              <a:t>决定了盒子大小的计算方式：</a:t>
            </a:r>
            <a:endParaRPr lang="en-US" altLang="zh-CN" sz="2000" dirty="0" smtClean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dirty="0" smtClean="0"/>
              <a:t>默认取值为</a:t>
            </a:r>
            <a:r>
              <a:rPr lang="en-US" altLang="zh-CN" sz="2000" dirty="0" smtClean="0">
                <a:solidFill>
                  <a:srgbClr val="C00000"/>
                </a:solidFill>
              </a:rPr>
              <a:t>content-box</a:t>
            </a:r>
            <a:r>
              <a:rPr lang="zh-CN" altLang="en-US" sz="2000" dirty="0" smtClean="0"/>
              <a:t>，此时</a:t>
            </a:r>
            <a:r>
              <a:rPr lang="en-US" altLang="zh-CN" sz="2000" dirty="0" smtClean="0"/>
              <a:t>width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height</a:t>
            </a:r>
            <a:r>
              <a:rPr lang="zh-CN" altLang="en-US" sz="2000" dirty="0" smtClean="0"/>
              <a:t>指定内容的宽度和高度，</a:t>
            </a:r>
            <a:r>
              <a:rPr lang="en-US" altLang="zh-CN" sz="2000" dirty="0" smtClean="0"/>
              <a:t>border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padding</a:t>
            </a:r>
            <a:r>
              <a:rPr lang="zh-CN" altLang="en-US" sz="2000" dirty="0" smtClean="0"/>
              <a:t>不计算入</a:t>
            </a:r>
            <a:r>
              <a:rPr lang="en-US" altLang="zh-CN" sz="2000" dirty="0" smtClean="0"/>
              <a:t>width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height</a:t>
            </a:r>
            <a:r>
              <a:rPr lang="zh-CN" altLang="en-US" sz="2000" dirty="0" smtClean="0"/>
              <a:t>之内。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</a:rPr>
              <a:t>盒子的总宽度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=</a:t>
            </a:r>
            <a:r>
              <a:rPr lang="en-US" altLang="zh-CN" sz="2000" b="1" dirty="0" err="1" smtClean="0">
                <a:solidFill>
                  <a:srgbClr val="C00000"/>
                </a:solidFill>
              </a:rPr>
              <a:t>width+padding+border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</a:rPr>
              <a:t>盒子的总高度</a:t>
            </a:r>
            <a:r>
              <a:rPr lang="en-US" altLang="zh-CN" sz="2000" b="1" dirty="0">
                <a:solidFill>
                  <a:srgbClr val="C00000"/>
                </a:solidFill>
              </a:rPr>
              <a:t>=</a:t>
            </a:r>
            <a:r>
              <a:rPr lang="en-US" altLang="zh-CN" sz="2000" b="1" dirty="0" err="1" smtClean="0">
                <a:solidFill>
                  <a:srgbClr val="C00000"/>
                </a:solidFill>
              </a:rPr>
              <a:t>height+padding+border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以默认的</a:t>
            </a:r>
            <a:r>
              <a:rPr lang="en-US" altLang="zh-CN" sz="2000" dirty="0" smtClean="0"/>
              <a:t>content-box</a:t>
            </a:r>
            <a:r>
              <a:rPr lang="zh-CN" altLang="en-US" sz="2000" dirty="0" smtClean="0"/>
              <a:t>盒子进行页面布局时，如果已经定义好</a:t>
            </a:r>
            <a:r>
              <a:rPr lang="en-US" altLang="zh-CN" sz="2000" dirty="0" smtClean="0"/>
              <a:t>width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height</a:t>
            </a:r>
            <a:r>
              <a:rPr lang="zh-CN" altLang="en-US" sz="2000" dirty="0" smtClean="0"/>
              <a:t>，一旦添加</a:t>
            </a:r>
            <a:r>
              <a:rPr lang="en-US" altLang="zh-CN" sz="2000" dirty="0" smtClean="0"/>
              <a:t>border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padding</a:t>
            </a:r>
            <a:r>
              <a:rPr lang="zh-CN" altLang="en-US" sz="2000" dirty="0" smtClean="0"/>
              <a:t>，都会使盒子实际尺寸变大，影响布局。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9" y="1609871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1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盒子模</a:t>
            </a:r>
            <a:r>
              <a:rPr sz="2400" b="1" spc="-1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型</a:t>
            </a:r>
            <a:r>
              <a:rPr sz="2400" b="1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组成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0549" y="2126633"/>
            <a:ext cx="104075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默认浏览器会使用标准</a:t>
            </a:r>
            <a:r>
              <a:rPr lang="zh-CN" altLang="en-US" dirty="0" smtClean="0"/>
              <a:t>模型</a:t>
            </a:r>
            <a:r>
              <a:rPr lang="en-US" altLang="zh-CN" dirty="0" smtClean="0">
                <a:solidFill>
                  <a:srgbClr val="C00000"/>
                </a:solidFill>
              </a:rPr>
              <a:t>content-box</a:t>
            </a:r>
            <a:r>
              <a:rPr lang="zh-CN" altLang="en-US" dirty="0" smtClean="0"/>
              <a:t>。使用</a:t>
            </a:r>
            <a:r>
              <a:rPr lang="en-US" altLang="zh-CN" dirty="0" smtClean="0"/>
              <a:t>border-box</a:t>
            </a:r>
            <a:r>
              <a:rPr lang="zh-CN" altLang="en-US" dirty="0" smtClean="0"/>
              <a:t>模型需要通过</a:t>
            </a:r>
            <a:r>
              <a:rPr lang="en-US" altLang="zh-CN" dirty="0"/>
              <a:t>box-sizing: border-box </a:t>
            </a:r>
            <a:r>
              <a:rPr lang="zh-CN" altLang="en-US" dirty="0" smtClean="0"/>
              <a:t>来设置。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取值为</a:t>
            </a:r>
            <a:r>
              <a:rPr lang="en-US" altLang="zh-CN" dirty="0">
                <a:solidFill>
                  <a:srgbClr val="C00000"/>
                </a:solidFill>
              </a:rPr>
              <a:t>border-box</a:t>
            </a:r>
            <a:r>
              <a:rPr lang="zh-CN" altLang="en-US" dirty="0"/>
              <a:t>，</a:t>
            </a:r>
            <a:r>
              <a:rPr lang="zh-CN" altLang="en-US" dirty="0" smtClean="0"/>
              <a:t>则盒子的</a:t>
            </a:r>
            <a:r>
              <a:rPr lang="en-US" altLang="zh-CN" dirty="0" smtClean="0"/>
              <a:t>width</a:t>
            </a:r>
            <a:r>
              <a:rPr lang="zh-CN" altLang="en-US" dirty="0"/>
              <a:t>、</a:t>
            </a:r>
            <a:r>
              <a:rPr lang="en-US" altLang="zh-CN" dirty="0"/>
              <a:t>height</a:t>
            </a:r>
            <a:r>
              <a:rPr lang="zh-CN" altLang="en-US" dirty="0"/>
              <a:t>包含</a:t>
            </a:r>
            <a:r>
              <a:rPr lang="en-US" altLang="zh-CN" dirty="0"/>
              <a:t>content</a:t>
            </a:r>
            <a:r>
              <a:rPr lang="zh-CN" altLang="en-US" dirty="0"/>
              <a:t>和</a:t>
            </a:r>
            <a:r>
              <a:rPr lang="en-US" altLang="zh-CN" dirty="0"/>
              <a:t>padding</a:t>
            </a:r>
            <a:r>
              <a:rPr lang="zh-CN" altLang="en-US" dirty="0"/>
              <a:t>、</a:t>
            </a:r>
            <a:r>
              <a:rPr lang="en-US" altLang="zh-CN" dirty="0"/>
              <a:t>border</a:t>
            </a:r>
            <a:r>
              <a:rPr lang="zh-CN" altLang="en-US" dirty="0"/>
              <a:t>。使用这个模型，所有宽度都是可见宽度，所以内容宽度</a:t>
            </a:r>
            <a:r>
              <a:rPr lang="zh-CN" altLang="en-US" dirty="0" smtClean="0"/>
              <a:t>是</a:t>
            </a:r>
            <a:r>
              <a:rPr lang="en-US" altLang="zh-CN" dirty="0" smtClean="0"/>
              <a:t>width</a:t>
            </a:r>
            <a:r>
              <a:rPr lang="zh-CN" altLang="en-US" dirty="0" smtClean="0"/>
              <a:t>减去</a:t>
            </a:r>
            <a:r>
              <a:rPr lang="en-US" altLang="zh-CN" dirty="0"/>
              <a:t>border</a:t>
            </a:r>
            <a:r>
              <a:rPr lang="zh-CN" altLang="en-US" dirty="0"/>
              <a:t>和</a:t>
            </a:r>
            <a:r>
              <a:rPr lang="en-US" altLang="zh-CN" dirty="0"/>
              <a:t>padding</a:t>
            </a:r>
            <a:r>
              <a:rPr lang="zh-CN" altLang="en-US" dirty="0" smtClean="0"/>
              <a:t>部分。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2050" name="Picture 2" descr="Showing the size of the box when the alternate box model is being used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67" y="3338512"/>
            <a:ext cx="6202097" cy="338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498804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2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border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边框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17978" y="1832035"/>
            <a:ext cx="1017045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为边框设置样式时，有大量的属性可以使用</a:t>
            </a:r>
            <a:r>
              <a:rPr lang="en-US" altLang="zh-CN" sz="2400" dirty="0"/>
              <a:t>——</a:t>
            </a:r>
            <a:r>
              <a:rPr lang="zh-CN" altLang="en-US" sz="2400" dirty="0"/>
              <a:t>有四个边框，每个边框都有样式</a:t>
            </a:r>
            <a:r>
              <a:rPr lang="zh-CN" altLang="en-US" sz="2400" dirty="0" smtClean="0"/>
              <a:t>、宽度</a:t>
            </a:r>
            <a:r>
              <a:rPr lang="zh-CN" altLang="en-US" sz="2400" dirty="0"/>
              <a:t>和颜色。可以使用</a:t>
            </a:r>
            <a:r>
              <a:rPr lang="en-US" altLang="zh-CN" sz="2400" dirty="0"/>
              <a:t>border</a:t>
            </a:r>
            <a:r>
              <a:rPr lang="zh-CN" altLang="en-US" sz="2400" dirty="0"/>
              <a:t>属性一次设置所有四个边框的宽度、颜色和样式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</a:rPr>
              <a:t>border: border-width  border-style  border-color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设置所有边的颜色、样式或宽度</a:t>
            </a:r>
            <a:r>
              <a:rPr lang="zh-CN" altLang="en-US" sz="2400" dirty="0" smtClean="0"/>
              <a:t>，可以使用以下单独属性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border-width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border-style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border-color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744776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2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border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边框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1472" y="2390348"/>
            <a:ext cx="96898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">
              <a:lnSpc>
                <a:spcPct val="150000"/>
              </a:lnSpc>
            </a:pPr>
            <a:r>
              <a:rPr lang="zh-CN" altLang="en-US" sz="2400" spc="5" dirty="0" smtClean="0">
                <a:solidFill>
                  <a:srgbClr val="252525"/>
                </a:solidFill>
                <a:latin typeface="+mn-ea"/>
                <a:cs typeface="微软雅黑"/>
              </a:rPr>
              <a:t>分别</a:t>
            </a:r>
            <a:r>
              <a:rPr lang="zh-CN" altLang="en-US" sz="2400" spc="5" dirty="0">
                <a:solidFill>
                  <a:srgbClr val="252525"/>
                </a:solidFill>
                <a:latin typeface="+mn-ea"/>
                <a:cs typeface="微软雅黑"/>
              </a:rPr>
              <a:t>设置每边的宽度、颜色和样式，可以</a:t>
            </a:r>
            <a:r>
              <a:rPr lang="zh-CN" altLang="en-US" sz="2400" spc="5" dirty="0" smtClean="0">
                <a:solidFill>
                  <a:srgbClr val="252525"/>
                </a:solidFill>
                <a:latin typeface="+mn-ea"/>
                <a:cs typeface="微软雅黑"/>
              </a:rPr>
              <a:t>使用：</a:t>
            </a:r>
            <a:endParaRPr lang="zh-CN" altLang="en-US" sz="4800" dirty="0">
              <a:latin typeface="+mn-ea"/>
              <a:cs typeface="Times New Roman" panose="02020503050405090304"/>
            </a:endParaRPr>
          </a:p>
          <a:p>
            <a:pPr marL="170180">
              <a:lnSpc>
                <a:spcPct val="150000"/>
              </a:lnSpc>
              <a:tabLst>
                <a:tab pos="2393950" algn="l"/>
              </a:tabLst>
            </a:pPr>
            <a:r>
              <a:rPr lang="en-US" altLang="zh-CN" sz="2400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border-top: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1px</a:t>
            </a:r>
            <a:r>
              <a:rPr lang="en-US" altLang="zh-CN" sz="2400" spc="-7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solid</a:t>
            </a:r>
            <a:r>
              <a:rPr lang="en-US" altLang="zh-CN" sz="2400" spc="-45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red;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	/*</a:t>
            </a:r>
            <a:r>
              <a:rPr lang="en-US" altLang="zh-CN" sz="240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 </a:t>
            </a:r>
            <a:r>
              <a:rPr lang="zh-CN" altLang="en-US" sz="24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/>
              </a:rPr>
              <a:t>只设定上边框，</a:t>
            </a:r>
            <a:r>
              <a:rPr lang="zh-CN" altLang="en-US" sz="2400" spc="4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/>
              </a:rPr>
              <a:t> </a:t>
            </a:r>
            <a:r>
              <a:rPr lang="zh-CN" altLang="en-US" sz="24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/>
              </a:rPr>
              <a:t>其余同理</a:t>
            </a:r>
            <a:r>
              <a:rPr lang="zh-CN" altLang="en-US" sz="2400" spc="7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/>
              </a:rPr>
              <a:t> </a:t>
            </a:r>
            <a:r>
              <a:rPr lang="zh-CN" altLang="en-US" sz="2400" spc="-5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*</a:t>
            </a:r>
            <a:r>
              <a:rPr lang="en-US" altLang="zh-CN" sz="2400" spc="-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/</a:t>
            </a:r>
            <a:endParaRPr lang="en-US" altLang="zh-CN" sz="2400" spc="-5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ourier New" panose="02070409020205090404"/>
            </a:endParaRPr>
          </a:p>
          <a:p>
            <a:pPr marL="170180">
              <a:lnSpc>
                <a:spcPct val="150000"/>
              </a:lnSpc>
              <a:tabLst>
                <a:tab pos="2393950" algn="l"/>
              </a:tabLst>
            </a:pPr>
            <a:r>
              <a:rPr lang="en-US" altLang="zh-CN" sz="2400" spc="-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border-bottom: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1px</a:t>
            </a:r>
            <a:r>
              <a:rPr lang="en-US" altLang="zh-CN" sz="2400" spc="-7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solid</a:t>
            </a:r>
            <a:r>
              <a:rPr lang="en-US" altLang="zh-CN" sz="2400" spc="-45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red;</a:t>
            </a:r>
            <a:endParaRPr lang="en-US" altLang="zh-CN" sz="2400" spc="-5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ourier New" panose="02070409020205090404"/>
            </a:endParaRPr>
          </a:p>
          <a:p>
            <a:pPr marL="170180">
              <a:lnSpc>
                <a:spcPct val="150000"/>
              </a:lnSpc>
              <a:tabLst>
                <a:tab pos="2393950" algn="l"/>
              </a:tabLst>
            </a:pPr>
            <a:r>
              <a:rPr lang="en-US" altLang="zh-CN" sz="2400" spc="-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border-left: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1px</a:t>
            </a:r>
            <a:r>
              <a:rPr lang="en-US" altLang="zh-CN" sz="2400" spc="-7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solid</a:t>
            </a:r>
            <a:r>
              <a:rPr lang="en-US" altLang="zh-CN" sz="2400" spc="-45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red;</a:t>
            </a:r>
            <a:endParaRPr lang="en-US" altLang="zh-CN" sz="2400" spc="-5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ourier New" panose="02070409020205090404"/>
            </a:endParaRPr>
          </a:p>
          <a:p>
            <a:pPr marL="170180">
              <a:lnSpc>
                <a:spcPct val="150000"/>
              </a:lnSpc>
              <a:tabLst>
                <a:tab pos="2393950" algn="l"/>
              </a:tabLst>
            </a:pPr>
            <a:r>
              <a:rPr lang="en-US" altLang="zh-CN" sz="2400" spc="-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Courier New" panose="02070409020205090404"/>
              </a:rPr>
              <a:t>border-right: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1px</a:t>
            </a:r>
            <a:r>
              <a:rPr lang="en-US" altLang="zh-CN" sz="2400" spc="-7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solid</a:t>
            </a:r>
            <a:r>
              <a:rPr lang="en-US" altLang="zh-CN" sz="2400" spc="-45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cs typeface="Courier New" panose="02070409020205090404"/>
              </a:rPr>
              <a:t>red;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Courier New" panose="020704090202050904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851780" y="1446491"/>
            <a:ext cx="397625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3</a:t>
            </a:r>
            <a:r>
              <a:rPr lang="zh-CN" altLang="en-US" sz="28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、内边距</a:t>
            </a:r>
            <a:r>
              <a:rPr lang="en-US" altLang="zh-CN" sz="28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padding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属性</a:t>
            </a:r>
            <a:endParaRPr lang="en-US" altLang="zh-CN" sz="28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30385" y="2134931"/>
            <a:ext cx="96898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15">
              <a:lnSpc>
                <a:spcPct val="100000"/>
              </a:lnSpc>
              <a:spcBef>
                <a:spcPts val="1760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padding</a:t>
            </a:r>
            <a:r>
              <a:rPr lang="zh-CN" altLang="en-US" sz="2400" spc="-3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属性用于设置内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边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距</a:t>
            </a:r>
            <a:r>
              <a:rPr lang="zh-CN" altLang="en-US" sz="2400" spc="-10" dirty="0" smtClean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内边距位于边框和内容区域之间。与外边距</a:t>
            </a:r>
            <a:r>
              <a:rPr lang="zh-CN" altLang="en-US" sz="24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不同，</a:t>
            </a:r>
            <a:r>
              <a:rPr lang="zh-CN" altLang="en-US" sz="2400" dirty="0" smtClean="0"/>
              <a:t>不能设置负值</a:t>
            </a:r>
            <a:r>
              <a:rPr lang="zh-CN" altLang="en-US" sz="24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16" name="object 3"/>
          <p:cNvSpPr/>
          <p:nvPr/>
        </p:nvSpPr>
        <p:spPr>
          <a:xfrm>
            <a:off x="1235336" y="3269474"/>
            <a:ext cx="9214950" cy="264613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391053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3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、内边距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padding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属性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0548" y="1840217"/>
            <a:ext cx="6599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padding</a:t>
            </a:r>
            <a:r>
              <a:rPr lang="en-US" altLang="zh-CN" sz="2400" dirty="0"/>
              <a:t> </a:t>
            </a:r>
            <a:r>
              <a:rPr lang="zh-CN" altLang="en-US" sz="2400" dirty="0"/>
              <a:t>属性（简写属性）可以有一到四个值。</a:t>
            </a:r>
            <a:endParaRPr lang="zh-CN" altLang="en-US" sz="2400" dirty="0"/>
          </a:p>
        </p:txBody>
      </p:sp>
      <p:sp>
        <p:nvSpPr>
          <p:cNvPr id="14" name="object 3"/>
          <p:cNvSpPr/>
          <p:nvPr/>
        </p:nvSpPr>
        <p:spPr>
          <a:xfrm>
            <a:off x="1021672" y="2368890"/>
            <a:ext cx="8411577" cy="196051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矩形 4"/>
          <p:cNvSpPr/>
          <p:nvPr/>
        </p:nvSpPr>
        <p:spPr>
          <a:xfrm>
            <a:off x="795867" y="4279239"/>
            <a:ext cx="1090506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当我们给盒子指定 </a:t>
            </a:r>
            <a:r>
              <a:rPr lang="en-US" altLang="zh-CN" dirty="0">
                <a:solidFill>
                  <a:srgbClr val="FF0000"/>
                </a:solidFill>
              </a:rPr>
              <a:t>padding </a:t>
            </a:r>
            <a:r>
              <a:rPr lang="zh-CN" altLang="en-US" dirty="0"/>
              <a:t>值</a:t>
            </a:r>
            <a:r>
              <a:rPr lang="zh-CN" altLang="en-US" dirty="0" smtClean="0"/>
              <a:t>之后：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1</a:t>
            </a:r>
            <a:r>
              <a:rPr lang="zh-CN" altLang="en-US" dirty="0" smtClean="0"/>
              <a:t>、内容</a:t>
            </a:r>
            <a:r>
              <a:rPr lang="zh-CN" altLang="en-US" dirty="0"/>
              <a:t>和</a:t>
            </a:r>
            <a:r>
              <a:rPr lang="zh-CN" altLang="en-US" dirty="0" smtClean="0"/>
              <a:t>边框</a:t>
            </a:r>
            <a:r>
              <a:rPr lang="zh-CN" altLang="en-US" dirty="0"/>
              <a:t>之间</a:t>
            </a:r>
            <a:r>
              <a:rPr lang="zh-CN" altLang="en-US" dirty="0" smtClean="0"/>
              <a:t>有了</a:t>
            </a:r>
            <a:r>
              <a:rPr lang="zh-CN" altLang="en-US" dirty="0"/>
              <a:t>距离，添加了内边距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padding</a:t>
            </a:r>
            <a:r>
              <a:rPr lang="zh-CN" altLang="en-US" dirty="0"/>
              <a:t>影响了盒子实际大小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也就是说，如果盒子已经有了宽度和高度，此时再指定内边框，会撑大盒子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解决：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/>
              <a:t>如果要保证</a:t>
            </a:r>
            <a:r>
              <a:rPr lang="zh-CN" altLang="en-US" dirty="0"/>
              <a:t>盒子跟效果图大小保持一致</a:t>
            </a:r>
            <a:r>
              <a:rPr lang="zh-CN" altLang="en-US" dirty="0" smtClean="0"/>
              <a:t>，那么让 </a:t>
            </a:r>
            <a:r>
              <a:rPr lang="en-US" altLang="zh-CN" dirty="0"/>
              <a:t>width/height </a:t>
            </a:r>
            <a:r>
              <a:rPr lang="zh-CN" altLang="en-US" dirty="0"/>
              <a:t>减去多出来的内边距</a:t>
            </a:r>
            <a:r>
              <a:rPr lang="zh-CN" altLang="en-US" dirty="0" smtClean="0"/>
              <a:t>大小。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544667"/>
            <a:ext cx="2579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padding</a:t>
            </a:r>
            <a:r>
              <a:rPr lang="zh-CN" altLang="en-US" sz="2400" b="1" dirty="0">
                <a:solidFill>
                  <a:srgbClr val="C00000"/>
                </a:solidFill>
              </a:rPr>
              <a:t>影响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盒子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5866" y="2045630"/>
            <a:ext cx="101231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padding</a:t>
            </a:r>
            <a:r>
              <a:rPr lang="zh-CN" altLang="en-US" sz="2000" dirty="0"/>
              <a:t>内边距可以撑开</a:t>
            </a:r>
            <a:r>
              <a:rPr lang="zh-CN" altLang="en-US" sz="2000" dirty="0" smtClean="0"/>
              <a:t>盒子。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因为每个导航栏里面的字数不一样</a:t>
            </a:r>
            <a:r>
              <a:rPr lang="zh-CN" altLang="en-US" sz="2000" dirty="0" smtClean="0"/>
              <a:t>多，可以</a:t>
            </a:r>
            <a:r>
              <a:rPr lang="zh-CN" altLang="en-US" sz="2000" dirty="0"/>
              <a:t>不用给每个</a:t>
            </a:r>
            <a:r>
              <a:rPr lang="zh-CN" altLang="en-US" sz="2000" dirty="0" smtClean="0"/>
              <a:t>盒子设定宽度，直接</a:t>
            </a:r>
            <a:r>
              <a:rPr lang="zh-CN" altLang="en-US" sz="2000" dirty="0"/>
              <a:t>添加</a:t>
            </a:r>
            <a:r>
              <a:rPr lang="en-US" altLang="zh-CN" sz="2000" dirty="0" smtClean="0"/>
              <a:t>padding</a:t>
            </a:r>
            <a:r>
              <a:rPr lang="zh-CN" altLang="en-US" sz="2000" dirty="0"/>
              <a:t>最</a:t>
            </a:r>
            <a:r>
              <a:rPr lang="zh-CN" altLang="en-US" sz="2000" dirty="0" smtClean="0"/>
              <a:t>合适。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8025284" y="3227298"/>
            <a:ext cx="4238358" cy="2593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/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相关取</a:t>
            </a:r>
            <a:r>
              <a:rPr lang="zh-CN" altLang="en-US" sz="1600" dirty="0">
                <a:solidFill>
                  <a:srgbClr val="252525"/>
                </a:solidFill>
                <a:latin typeface="微软雅黑"/>
                <a:cs typeface="微软雅黑"/>
              </a:rPr>
              <a:t>值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: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50"/>
              </a:spcBef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41300" lvl="0" indent="-228600">
              <a:buFontTx/>
              <a:buAutoNum type="arabicPeriod"/>
              <a:tabLst>
                <a:tab pos="241935" algn="l"/>
              </a:tabLst>
            </a:pP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上边框</a:t>
            </a:r>
            <a:r>
              <a:rPr lang="zh-CN" altLang="en-US" sz="1600" spc="-5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3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像</a:t>
            </a:r>
            <a:r>
              <a:rPr lang="zh-CN" altLang="en-US" sz="1600" spc="-10" dirty="0" smtClean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lang="zh-CN" altLang="en-US" sz="1600" dirty="0" smtClean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颜色</a:t>
            </a: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zh-CN" altLang="en-US" sz="1600" spc="-6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#ff8500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50"/>
              </a:spcBef>
              <a:buClr>
                <a:srgbClr val="252525"/>
              </a:buClr>
              <a:buFont typeface="΢"/>
              <a:buAutoNum type="arabicPeriod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41300" lvl="0" indent="-228600">
              <a:buFontTx/>
              <a:buAutoNum type="arabicPeriod"/>
              <a:tabLst>
                <a:tab pos="241935" algn="l"/>
              </a:tabLst>
            </a:pP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下边框</a:t>
            </a:r>
            <a:r>
              <a:rPr lang="zh-CN" altLang="en-US" sz="1600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1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像</a:t>
            </a:r>
            <a:r>
              <a:rPr lang="zh-CN" altLang="en-US" sz="1600" spc="265" dirty="0" smtClean="0">
                <a:solidFill>
                  <a:srgbClr val="252525"/>
                </a:solidFill>
                <a:latin typeface="微软雅黑"/>
                <a:cs typeface="微软雅黑"/>
              </a:rPr>
              <a:t>素，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颜色</a:t>
            </a: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zh-CN" altLang="en-US" sz="1600" spc="-8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#edeef0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buClr>
                <a:srgbClr val="252525"/>
              </a:buClr>
              <a:buFont typeface="΢"/>
              <a:buAutoNum type="arabicPeriod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41300" lvl="0" indent="-228600">
              <a:buFontTx/>
              <a:buAutoNum type="arabicPeriod"/>
              <a:tabLst>
                <a:tab pos="241935" algn="l"/>
              </a:tabLst>
            </a:pP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盒子高度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en-US" altLang="zh-CN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45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像</a:t>
            </a:r>
            <a:r>
              <a:rPr lang="zh-CN" altLang="en-US" sz="1600" dirty="0" smtClean="0">
                <a:solidFill>
                  <a:srgbClr val="252525"/>
                </a:solidFill>
                <a:latin typeface="微软雅黑"/>
                <a:cs typeface="微软雅黑"/>
              </a:rPr>
              <a:t>素，</a:t>
            </a:r>
            <a:r>
              <a:rPr lang="zh-CN" altLang="en-US" sz="16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背景</a:t>
            </a: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颜色为</a:t>
            </a:r>
            <a:r>
              <a:rPr lang="zh-CN" altLang="en-US" sz="1600"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#</a:t>
            </a:r>
            <a:r>
              <a:rPr lang="en-US" altLang="zh-CN" sz="1600" dirty="0" err="1">
                <a:solidFill>
                  <a:srgbClr val="252525"/>
                </a:solidFill>
                <a:latin typeface="微软雅黑"/>
                <a:cs typeface="微软雅黑"/>
              </a:rPr>
              <a:t>fcfcfc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50"/>
              </a:spcBef>
              <a:buClr>
                <a:srgbClr val="252525"/>
              </a:buClr>
              <a:buFont typeface="΢"/>
              <a:buAutoNum type="arabicPeriod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41300" lvl="0" indent="-228600">
              <a:buFontTx/>
              <a:buAutoNum type="arabicPeriod"/>
              <a:tabLst>
                <a:tab pos="241935" algn="l"/>
              </a:tabLst>
            </a:pPr>
            <a:r>
              <a:rPr lang="zh-CN" altLang="en-US" sz="1600" spc="5" dirty="0">
                <a:solidFill>
                  <a:srgbClr val="252525"/>
                </a:solidFill>
                <a:latin typeface="微软雅黑"/>
                <a:cs typeface="微软雅黑"/>
              </a:rPr>
              <a:t>文字颜色为</a:t>
            </a:r>
            <a:r>
              <a:rPr lang="zh-CN" altLang="en-US" sz="1600"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1600" dirty="0">
                <a:solidFill>
                  <a:srgbClr val="252525"/>
                </a:solidFill>
                <a:latin typeface="微软雅黑"/>
                <a:cs typeface="微软雅黑"/>
              </a:rPr>
              <a:t>#4c4c4c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465" y="3919133"/>
            <a:ext cx="7163819" cy="1800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658817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4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外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边距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margin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属性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5878" y="2214730"/>
            <a:ext cx="110427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margin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属性用于设置外边距，外边距是盒子周围一圈看不到的空间。它会把其他元素从盒子旁边推开。外边距属性值可以为正也可以为负。设置负值会导致和其他内容重叠。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548" y="5683571"/>
            <a:ext cx="68666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spc="-5" dirty="0">
                <a:solidFill>
                  <a:srgbClr val="252525"/>
                </a:solidFill>
                <a:latin typeface="微软雅黑"/>
                <a:cs typeface="微软雅黑"/>
              </a:rPr>
              <a:t>margin</a:t>
            </a:r>
            <a:r>
              <a:rPr lang="en-US" altLang="zh-CN" sz="2000"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简写方式代表</a:t>
            </a:r>
            <a:r>
              <a:rPr lang="zh-CN" altLang="en-US" sz="2000"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意</a:t>
            </a:r>
            <a:r>
              <a:rPr lang="zh-CN" altLang="en-US" sz="2000" spc="-10" dirty="0">
                <a:solidFill>
                  <a:srgbClr val="252525"/>
                </a:solidFill>
                <a:latin typeface="微软雅黑"/>
                <a:cs typeface="微软雅黑"/>
              </a:rPr>
              <a:t>义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跟</a:t>
            </a:r>
            <a:r>
              <a:rPr lang="zh-CN" altLang="en-US" sz="2000"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/>
                <a:cs typeface="微软雅黑"/>
              </a:rPr>
              <a:t>padding</a:t>
            </a:r>
            <a:r>
              <a:rPr lang="en-US" altLang="zh-CN" sz="2000"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完全一致</a:t>
            </a:r>
            <a:endParaRPr lang="zh-CN" altLang="en-US" sz="2000" dirty="0"/>
          </a:p>
        </p:txBody>
      </p:sp>
      <p:sp>
        <p:nvSpPr>
          <p:cNvPr id="16" name="object 3"/>
          <p:cNvSpPr/>
          <p:nvPr/>
        </p:nvSpPr>
        <p:spPr>
          <a:xfrm>
            <a:off x="935877" y="3415058"/>
            <a:ext cx="8655991" cy="199584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870068" y="1479732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4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外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边距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margin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属性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3102" y="1868877"/>
            <a:ext cx="11003073" cy="4837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">
              <a:lnSpc>
                <a:spcPct val="150000"/>
              </a:lnSpc>
              <a:spcBef>
                <a:spcPts val="15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外边距可以让</a:t>
            </a:r>
            <a:r>
              <a:rPr lang="zh-CN" altLang="en-US" sz="2000" spc="-10" dirty="0">
                <a:solidFill>
                  <a:srgbClr val="252525"/>
                </a:solidFill>
                <a:latin typeface="微软雅黑"/>
                <a:cs typeface="微软雅黑"/>
              </a:rPr>
              <a:t>块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级</a:t>
            </a:r>
            <a:r>
              <a:rPr lang="zh-CN" altLang="en-US" sz="2000" spc="-10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lang="zh-CN" altLang="en-US"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水</a:t>
            </a:r>
            <a:r>
              <a:rPr lang="zh-CN" altLang="en-US" sz="2000" b="1" spc="5" dirty="0">
                <a:solidFill>
                  <a:srgbClr val="FF0000"/>
                </a:solidFill>
                <a:latin typeface="微软雅黑"/>
                <a:cs typeface="微软雅黑"/>
              </a:rPr>
              <a:t>平居</a:t>
            </a:r>
            <a:r>
              <a:rPr lang="zh-CN" altLang="en-US" sz="2000" b="1" spc="-10" dirty="0">
                <a:solidFill>
                  <a:srgbClr val="FF0000"/>
                </a:solidFill>
                <a:latin typeface="微软雅黑"/>
                <a:cs typeface="微软雅黑"/>
              </a:rPr>
              <a:t>中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，</a:t>
            </a:r>
            <a:r>
              <a:rPr lang="zh-CN" altLang="en-US" sz="2000" spc="-10" dirty="0">
                <a:latin typeface="微软雅黑"/>
                <a:cs typeface="微软雅黑"/>
              </a:rPr>
              <a:t>但</a:t>
            </a:r>
            <a:r>
              <a:rPr lang="zh-CN" altLang="en-US" sz="2000" spc="5" dirty="0">
                <a:latin typeface="微软雅黑"/>
                <a:cs typeface="微软雅黑"/>
              </a:rPr>
              <a:t>是</a:t>
            </a:r>
            <a:r>
              <a:rPr lang="zh-CN" altLang="en-US" sz="2000" spc="-10" dirty="0">
                <a:latin typeface="微软雅黑"/>
                <a:cs typeface="微软雅黑"/>
              </a:rPr>
              <a:t>必</a:t>
            </a:r>
            <a:r>
              <a:rPr lang="zh-CN" altLang="en-US" sz="2000" spc="5" dirty="0">
                <a:latin typeface="微软雅黑"/>
                <a:cs typeface="微软雅黑"/>
              </a:rPr>
              <a:t>须</a:t>
            </a:r>
            <a:r>
              <a:rPr lang="zh-CN" altLang="en-US" sz="2000" spc="-10" dirty="0">
                <a:latin typeface="微软雅黑"/>
                <a:cs typeface="微软雅黑"/>
              </a:rPr>
              <a:t>满</a:t>
            </a:r>
            <a:r>
              <a:rPr lang="zh-CN" altLang="en-US" sz="2000" spc="5" dirty="0">
                <a:latin typeface="微软雅黑"/>
                <a:cs typeface="微软雅黑"/>
              </a:rPr>
              <a:t>足</a:t>
            </a:r>
            <a:r>
              <a:rPr lang="zh-CN" altLang="en-US" sz="2000" spc="-10" dirty="0">
                <a:latin typeface="微软雅黑"/>
                <a:cs typeface="微软雅黑"/>
              </a:rPr>
              <a:t>两</a:t>
            </a:r>
            <a:r>
              <a:rPr lang="zh-CN" altLang="en-US" sz="2000" spc="5" dirty="0">
                <a:latin typeface="微软雅黑"/>
                <a:cs typeface="微软雅黑"/>
              </a:rPr>
              <a:t>个</a:t>
            </a:r>
            <a:r>
              <a:rPr lang="zh-CN" altLang="en-US" sz="2000" spc="-10" dirty="0">
                <a:latin typeface="微软雅黑"/>
                <a:cs typeface="微软雅黑"/>
              </a:rPr>
              <a:t>条</a:t>
            </a:r>
            <a:r>
              <a:rPr lang="zh-CN" altLang="en-US" sz="2000" spc="5" dirty="0">
                <a:latin typeface="微软雅黑"/>
                <a:cs typeface="微软雅黑"/>
              </a:rPr>
              <a:t>件</a:t>
            </a:r>
            <a:r>
              <a:rPr lang="zh-CN" altLang="en-US" sz="2000" spc="5" dirty="0" smtClean="0">
                <a:latin typeface="微软雅黑"/>
                <a:cs typeface="微软雅黑"/>
              </a:rPr>
              <a:t>：</a:t>
            </a:r>
            <a:endParaRPr lang="zh-CN" altLang="en-US" sz="2000" dirty="0">
              <a:latin typeface="Times New Roman" panose="02020503050405090304"/>
              <a:cs typeface="Times New Roman" panose="02020503050405090304"/>
            </a:endParaRPr>
          </a:p>
          <a:p>
            <a:pPr marL="91440">
              <a:lnSpc>
                <a:spcPct val="150000"/>
              </a:lnSpc>
              <a:tabLst>
                <a:tab pos="359410" algn="l"/>
              </a:tabLst>
            </a:pPr>
            <a:r>
              <a:rPr lang="zh-CN" altLang="en-US" sz="2000" spc="5" dirty="0">
                <a:latin typeface="微软雅黑"/>
                <a:cs typeface="微软雅黑"/>
              </a:rPr>
              <a:t>①	盒子必须指定了</a:t>
            </a:r>
            <a:r>
              <a:rPr lang="zh-CN" altLang="en-US" sz="2000" spc="-10" dirty="0">
                <a:latin typeface="微软雅黑"/>
                <a:cs typeface="微软雅黑"/>
              </a:rPr>
              <a:t>宽</a:t>
            </a:r>
            <a:r>
              <a:rPr lang="zh-CN" altLang="en-US" sz="2000" spc="5" dirty="0">
                <a:latin typeface="微软雅黑"/>
                <a:cs typeface="微软雅黑"/>
              </a:rPr>
              <a:t>度</a:t>
            </a:r>
            <a:r>
              <a:rPr lang="zh-CN" altLang="en-US" sz="2000" spc="-5" dirty="0">
                <a:latin typeface="微软雅黑"/>
                <a:cs typeface="微软雅黑"/>
              </a:rPr>
              <a:t>（</a:t>
            </a:r>
            <a:r>
              <a:rPr lang="en-US" altLang="zh-CN" sz="2000" spc="-5" dirty="0">
                <a:latin typeface="微软雅黑"/>
                <a:cs typeface="微软雅黑"/>
              </a:rPr>
              <a:t>width</a:t>
            </a:r>
            <a:r>
              <a:rPr lang="zh-CN" altLang="en-US" sz="2000" spc="-5" dirty="0">
                <a:latin typeface="微软雅黑"/>
                <a:cs typeface="微软雅黑"/>
              </a:rPr>
              <a:t>）</a:t>
            </a:r>
            <a:r>
              <a:rPr lang="zh-CN" altLang="en-US" sz="2000" spc="5" dirty="0" smtClean="0">
                <a:latin typeface="微软雅黑"/>
                <a:cs typeface="微软雅黑"/>
              </a:rPr>
              <a:t>。</a:t>
            </a:r>
            <a:endParaRPr lang="en-US" altLang="zh-CN" sz="2000" dirty="0">
              <a:latin typeface="Times New Roman" panose="02020503050405090304"/>
              <a:cs typeface="Times New Roman" panose="02020503050405090304"/>
            </a:endParaRPr>
          </a:p>
          <a:p>
            <a:pPr marL="91440">
              <a:lnSpc>
                <a:spcPct val="150000"/>
              </a:lnSpc>
              <a:spcBef>
                <a:spcPts val="5"/>
              </a:spcBef>
              <a:tabLst>
                <a:tab pos="359410" algn="l"/>
              </a:tabLst>
            </a:pPr>
            <a:r>
              <a:rPr lang="en-US" altLang="zh-CN" sz="2000" spc="5" dirty="0">
                <a:latin typeface="微软雅黑"/>
                <a:cs typeface="微软雅黑"/>
              </a:rPr>
              <a:t>②	</a:t>
            </a:r>
            <a:r>
              <a:rPr lang="zh-CN" altLang="en-US" sz="2000" spc="5" dirty="0">
                <a:latin typeface="微软雅黑"/>
                <a:cs typeface="微软雅黑"/>
              </a:rPr>
              <a:t>盒子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左右的外边</a:t>
            </a:r>
            <a:r>
              <a:rPr lang="zh-CN" altLang="en-US" sz="2000" spc="-5" dirty="0">
                <a:solidFill>
                  <a:srgbClr val="FF0000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5" dirty="0">
                <a:latin typeface="微软雅黑"/>
                <a:cs typeface="微软雅黑"/>
              </a:rPr>
              <a:t>都</a:t>
            </a:r>
            <a:r>
              <a:rPr lang="zh-CN" altLang="en-US" sz="2000" spc="-10" dirty="0">
                <a:latin typeface="微软雅黑"/>
                <a:cs typeface="微软雅黑"/>
              </a:rPr>
              <a:t>设</a:t>
            </a:r>
            <a:r>
              <a:rPr lang="zh-CN" altLang="en-US" sz="2000" spc="5" dirty="0">
                <a:latin typeface="微软雅黑"/>
                <a:cs typeface="微软雅黑"/>
              </a:rPr>
              <a:t>置为</a:t>
            </a:r>
            <a:r>
              <a:rPr lang="zh-CN" altLang="en-US" sz="2000" spc="-55" dirty="0">
                <a:latin typeface="微软雅黑"/>
                <a:cs typeface="微软雅黑"/>
              </a:rPr>
              <a:t> </a:t>
            </a:r>
            <a:r>
              <a:rPr lang="en-US" altLang="zh-CN" sz="2000" dirty="0">
                <a:latin typeface="微软雅黑"/>
                <a:cs typeface="微软雅黑"/>
              </a:rPr>
              <a:t>auto</a:t>
            </a:r>
            <a:r>
              <a:rPr lang="en-US" altLang="zh-CN" sz="2000" spc="-25" dirty="0">
                <a:latin typeface="微软雅黑"/>
                <a:cs typeface="微软雅黑"/>
              </a:rPr>
              <a:t> </a:t>
            </a:r>
            <a:r>
              <a:rPr lang="zh-CN" altLang="en-US" sz="2000" spc="5" dirty="0" smtClean="0">
                <a:latin typeface="微软雅黑"/>
                <a:cs typeface="微软雅黑"/>
              </a:rPr>
              <a:t>。</a:t>
            </a:r>
            <a:endParaRPr lang="en-US" altLang="zh-CN" sz="2000" dirty="0">
              <a:latin typeface="Times New Roman" panose="02020503050405090304"/>
              <a:cs typeface="Times New Roman" panose="02020503050405090304"/>
            </a:endParaRPr>
          </a:p>
          <a:p>
            <a:pPr marL="170815">
              <a:lnSpc>
                <a:spcPct val="150000"/>
              </a:lnSpc>
              <a:spcBef>
                <a:spcPts val="1025"/>
              </a:spcBef>
            </a:pPr>
            <a:r>
              <a:rPr lang="en-US" altLang="zh-CN" sz="2000" spc="-5" dirty="0">
                <a:latin typeface="+mn-ea"/>
                <a:cs typeface="Courier New" panose="02070409020205090404"/>
              </a:rPr>
              <a:t>.header{ </a:t>
            </a:r>
            <a:r>
              <a:rPr lang="en-US" altLang="zh-CN" sz="2000" spc="-10" dirty="0">
                <a:latin typeface="+mn-ea"/>
                <a:cs typeface="Courier New" panose="02070409020205090404"/>
              </a:rPr>
              <a:t>width:960px; </a:t>
            </a:r>
            <a:r>
              <a:rPr lang="en-US" altLang="zh-CN" sz="2000" spc="-5" dirty="0" smtClean="0">
                <a:latin typeface="+mn-ea"/>
                <a:cs typeface="Courier New" panose="02070409020205090404"/>
              </a:rPr>
              <a:t>margin:0</a:t>
            </a:r>
            <a:r>
              <a:rPr lang="en-US" altLang="zh-CN" sz="2000" spc="-50" dirty="0" smtClean="0">
                <a:latin typeface="+mn-ea"/>
                <a:cs typeface="Courier New" panose="02070409020205090404"/>
              </a:rPr>
              <a:t> </a:t>
            </a:r>
            <a:r>
              <a:rPr lang="en-US" altLang="zh-CN" sz="2000" spc="-5" dirty="0">
                <a:latin typeface="+mn-ea"/>
                <a:cs typeface="Courier New" panose="02070409020205090404"/>
              </a:rPr>
              <a:t>auto</a:t>
            </a:r>
            <a:r>
              <a:rPr lang="en-US" altLang="zh-CN" sz="2000" spc="-5" dirty="0" smtClean="0">
                <a:latin typeface="+mn-ea"/>
                <a:cs typeface="Courier New" panose="02070409020205090404"/>
              </a:rPr>
              <a:t>;}</a:t>
            </a:r>
            <a:endParaRPr lang="en-US" altLang="zh-CN" sz="2000" dirty="0">
              <a:latin typeface="Times New Roman" panose="02020503050405090304"/>
              <a:cs typeface="Times New Roman" panose="02020503050405090304"/>
            </a:endParaRPr>
          </a:p>
          <a:p>
            <a:pPr marL="91440">
              <a:lnSpc>
                <a:spcPct val="150000"/>
              </a:lnSpc>
            </a:pPr>
            <a:r>
              <a:rPr lang="zh-CN" altLang="en-US" sz="2000" spc="5" dirty="0">
                <a:latin typeface="微软雅黑"/>
                <a:cs typeface="微软雅黑"/>
              </a:rPr>
              <a:t>常见的写法，</a:t>
            </a:r>
            <a:r>
              <a:rPr lang="zh-CN" altLang="en-US" sz="2000" spc="-10" dirty="0">
                <a:latin typeface="微软雅黑"/>
                <a:cs typeface="微软雅黑"/>
              </a:rPr>
              <a:t>以</a:t>
            </a:r>
            <a:r>
              <a:rPr lang="zh-CN" altLang="en-US" sz="2000" spc="5" dirty="0">
                <a:latin typeface="微软雅黑"/>
                <a:cs typeface="微软雅黑"/>
              </a:rPr>
              <a:t>下</a:t>
            </a:r>
            <a:r>
              <a:rPr lang="zh-CN" altLang="en-US" sz="2000" spc="-10" dirty="0">
                <a:latin typeface="微软雅黑"/>
                <a:cs typeface="微软雅黑"/>
              </a:rPr>
              <a:t>三</a:t>
            </a:r>
            <a:r>
              <a:rPr lang="zh-CN" altLang="en-US" sz="2000" spc="5" dirty="0">
                <a:latin typeface="微软雅黑"/>
                <a:cs typeface="微软雅黑"/>
              </a:rPr>
              <a:t>种</a:t>
            </a:r>
            <a:r>
              <a:rPr lang="zh-CN" altLang="en-US" sz="2000" spc="-10" dirty="0">
                <a:latin typeface="微软雅黑"/>
                <a:cs typeface="微软雅黑"/>
              </a:rPr>
              <a:t>都</a:t>
            </a:r>
            <a:r>
              <a:rPr lang="zh-CN" altLang="en-US" sz="2000" spc="5" dirty="0">
                <a:latin typeface="微软雅黑"/>
                <a:cs typeface="微软雅黑"/>
              </a:rPr>
              <a:t>可以</a:t>
            </a:r>
            <a:r>
              <a:rPr lang="zh-CN" altLang="en-US" sz="2000" spc="5" dirty="0" smtClean="0">
                <a:latin typeface="微软雅黑"/>
                <a:cs typeface="微软雅黑"/>
              </a:rPr>
              <a:t>：</a:t>
            </a:r>
            <a:endParaRPr lang="zh-CN" altLang="en-US" sz="2000" dirty="0">
              <a:latin typeface="Times New Roman" panose="02020503050405090304"/>
              <a:cs typeface="Times New Roman" panose="02020503050405090304"/>
            </a:endParaRPr>
          </a:p>
          <a:p>
            <a:pPr marL="303530" lvl="2" indent="-212090">
              <a:lnSpc>
                <a:spcPct val="150000"/>
              </a:lnSpc>
              <a:buFont typeface="Wingdings" panose="05000000000000000000"/>
              <a:buChar char=""/>
              <a:tabLst>
                <a:tab pos="303530" algn="l"/>
              </a:tabLst>
            </a:pPr>
            <a:r>
              <a:rPr lang="en-US" altLang="zh-CN" sz="2000" spc="-5" dirty="0">
                <a:latin typeface="微软雅黑"/>
                <a:cs typeface="微软雅黑"/>
              </a:rPr>
              <a:t>margin-left: auto; </a:t>
            </a:r>
            <a:r>
              <a:rPr lang="en-US" altLang="zh-CN" sz="2000" spc="-5" dirty="0" smtClean="0">
                <a:latin typeface="微软雅黑"/>
                <a:cs typeface="微软雅黑"/>
              </a:rPr>
              <a:t>margin-right</a:t>
            </a:r>
            <a:r>
              <a:rPr lang="en-US" altLang="zh-CN" sz="2000" spc="-5" dirty="0">
                <a:latin typeface="微软雅黑"/>
                <a:cs typeface="微软雅黑"/>
              </a:rPr>
              <a:t>:</a:t>
            </a:r>
            <a:r>
              <a:rPr lang="en-US" altLang="zh-CN" sz="2000" spc="-90" dirty="0">
                <a:latin typeface="微软雅黑"/>
                <a:cs typeface="微软雅黑"/>
              </a:rPr>
              <a:t> </a:t>
            </a:r>
            <a:r>
              <a:rPr lang="en-US" altLang="zh-CN" sz="2000" spc="-5" dirty="0" smtClean="0">
                <a:latin typeface="微软雅黑"/>
                <a:cs typeface="微软雅黑"/>
              </a:rPr>
              <a:t>auto;</a:t>
            </a:r>
            <a:endParaRPr lang="en-US" altLang="zh-CN" sz="2000" dirty="0" smtClean="0">
              <a:latin typeface="Times New Roman" panose="02020503050405090304"/>
              <a:cs typeface="Times New Roman" panose="02020503050405090304"/>
            </a:endParaRPr>
          </a:p>
          <a:p>
            <a:pPr marL="303530" lvl="2" indent="-212090">
              <a:lnSpc>
                <a:spcPct val="150000"/>
              </a:lnSpc>
              <a:buFont typeface="Wingdings" panose="05000000000000000000"/>
              <a:buChar char=""/>
              <a:tabLst>
                <a:tab pos="303530" algn="l"/>
              </a:tabLst>
            </a:pPr>
            <a:r>
              <a:rPr lang="en-US" altLang="zh-CN" sz="2000" spc="-5" dirty="0" smtClean="0">
                <a:latin typeface="微软雅黑"/>
                <a:cs typeface="微软雅黑"/>
              </a:rPr>
              <a:t>margin</a:t>
            </a:r>
            <a:r>
              <a:rPr lang="en-US" altLang="zh-CN" sz="2000" spc="-5" dirty="0">
                <a:latin typeface="微软雅黑"/>
                <a:cs typeface="微软雅黑"/>
              </a:rPr>
              <a:t>:</a:t>
            </a:r>
            <a:r>
              <a:rPr lang="en-US" altLang="zh-CN" sz="2000" spc="-25" dirty="0">
                <a:latin typeface="微软雅黑"/>
                <a:cs typeface="微软雅黑"/>
              </a:rPr>
              <a:t> </a:t>
            </a:r>
            <a:r>
              <a:rPr lang="en-US" altLang="zh-CN" sz="2000" spc="-5" dirty="0">
                <a:latin typeface="微软雅黑"/>
                <a:cs typeface="微软雅黑"/>
              </a:rPr>
              <a:t>auto</a:t>
            </a:r>
            <a:r>
              <a:rPr lang="en-US" altLang="zh-CN" sz="2000" spc="-5" dirty="0" smtClean="0">
                <a:latin typeface="微软雅黑"/>
                <a:cs typeface="微软雅黑"/>
              </a:rPr>
              <a:t>;</a:t>
            </a:r>
            <a:endParaRPr lang="en-US" altLang="zh-CN" sz="2000" dirty="0">
              <a:latin typeface="Times New Roman" panose="02020503050405090304"/>
              <a:cs typeface="Times New Roman" panose="02020503050405090304"/>
            </a:endParaRPr>
          </a:p>
          <a:p>
            <a:pPr marL="303530" lvl="2" indent="-212090">
              <a:lnSpc>
                <a:spcPct val="150000"/>
              </a:lnSpc>
              <a:buFont typeface="Wingdings" panose="05000000000000000000"/>
              <a:buChar char=""/>
              <a:tabLst>
                <a:tab pos="303530" algn="l"/>
              </a:tabLst>
            </a:pPr>
            <a:r>
              <a:rPr lang="en-US" altLang="zh-CN" sz="2000" spc="-5" dirty="0">
                <a:solidFill>
                  <a:srgbClr val="FF0000"/>
                </a:solidFill>
                <a:latin typeface="微软雅黑"/>
                <a:cs typeface="微软雅黑"/>
              </a:rPr>
              <a:t>margin: </a:t>
            </a:r>
            <a:r>
              <a:rPr lang="en-US" altLang="zh-CN" sz="2000" dirty="0">
                <a:solidFill>
                  <a:srgbClr val="FF0000"/>
                </a:solidFill>
                <a:latin typeface="微软雅黑"/>
                <a:cs typeface="微软雅黑"/>
              </a:rPr>
              <a:t>0</a:t>
            </a:r>
            <a:r>
              <a:rPr lang="en-US" altLang="zh-CN" sz="2000" spc="-3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/>
                <a:cs typeface="微软雅黑"/>
              </a:rPr>
              <a:t>auto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/>
                <a:cs typeface="微软雅黑"/>
              </a:rPr>
              <a:t>;</a:t>
            </a:r>
            <a:endParaRPr lang="en-US" altLang="zh-CN" sz="2000" spc="-10" dirty="0" smtClean="0">
              <a:latin typeface="微软雅黑"/>
              <a:cs typeface="微软雅黑"/>
            </a:endParaRPr>
          </a:p>
          <a:p>
            <a:pPr marL="91440">
              <a:lnSpc>
                <a:spcPct val="150000"/>
              </a:lnSpc>
            </a:pPr>
            <a:r>
              <a:rPr lang="zh-CN" altLang="en-US" sz="2000" spc="-10" dirty="0" smtClean="0">
                <a:latin typeface="微软雅黑"/>
                <a:cs typeface="微软雅黑"/>
              </a:rPr>
              <a:t>以</a:t>
            </a:r>
            <a:r>
              <a:rPr lang="zh-CN" altLang="en-US" sz="2000" spc="5" dirty="0" smtClean="0">
                <a:latin typeface="微软雅黑"/>
                <a:cs typeface="微软雅黑"/>
              </a:rPr>
              <a:t>上</a:t>
            </a:r>
            <a:r>
              <a:rPr lang="zh-CN" altLang="en-US" sz="2000" spc="-10" dirty="0">
                <a:latin typeface="微软雅黑"/>
                <a:cs typeface="微软雅黑"/>
              </a:rPr>
              <a:t>方</a:t>
            </a:r>
            <a:r>
              <a:rPr lang="zh-CN" altLang="en-US" sz="2000" spc="5" dirty="0">
                <a:latin typeface="微软雅黑"/>
                <a:cs typeface="微软雅黑"/>
              </a:rPr>
              <a:t>法</a:t>
            </a:r>
            <a:r>
              <a:rPr lang="zh-CN" altLang="en-US" sz="2000" spc="-10" dirty="0">
                <a:latin typeface="微软雅黑"/>
                <a:cs typeface="微软雅黑"/>
              </a:rPr>
              <a:t>是</a:t>
            </a:r>
            <a:r>
              <a:rPr lang="zh-CN" altLang="en-US" sz="2000" spc="5" dirty="0">
                <a:latin typeface="微软雅黑"/>
                <a:cs typeface="微软雅黑"/>
              </a:rPr>
              <a:t>让</a:t>
            </a:r>
            <a:r>
              <a:rPr lang="zh-CN" altLang="en-US" sz="2000" spc="-10" dirty="0">
                <a:latin typeface="微软雅黑"/>
                <a:cs typeface="微软雅黑"/>
              </a:rPr>
              <a:t>块级</a:t>
            </a:r>
            <a:r>
              <a:rPr lang="zh-CN" altLang="en-US" sz="2000" spc="5" dirty="0">
                <a:latin typeface="微软雅黑"/>
                <a:cs typeface="微软雅黑"/>
              </a:rPr>
              <a:t>元</a:t>
            </a:r>
            <a:r>
              <a:rPr lang="zh-CN" altLang="en-US" sz="2000" spc="-10" dirty="0">
                <a:latin typeface="微软雅黑"/>
                <a:cs typeface="微软雅黑"/>
              </a:rPr>
              <a:t>素</a:t>
            </a:r>
            <a:r>
              <a:rPr lang="zh-CN" altLang="en-US" sz="2000" spc="5" dirty="0">
                <a:latin typeface="微软雅黑"/>
                <a:cs typeface="微软雅黑"/>
              </a:rPr>
              <a:t>水</a:t>
            </a:r>
            <a:r>
              <a:rPr lang="zh-CN" altLang="en-US" sz="2000" spc="-10" dirty="0">
                <a:latin typeface="微软雅黑"/>
                <a:cs typeface="微软雅黑"/>
              </a:rPr>
              <a:t>平</a:t>
            </a:r>
            <a:r>
              <a:rPr lang="zh-CN" altLang="en-US" sz="2000" spc="5" dirty="0">
                <a:latin typeface="微软雅黑"/>
                <a:cs typeface="微软雅黑"/>
              </a:rPr>
              <a:t>居</a:t>
            </a:r>
            <a:r>
              <a:rPr lang="zh-CN" altLang="en-US" sz="2000" spc="-10" dirty="0">
                <a:latin typeface="微软雅黑"/>
                <a:cs typeface="微软雅黑"/>
              </a:rPr>
              <a:t>中</a:t>
            </a:r>
            <a:r>
              <a:rPr lang="zh-CN" altLang="en-US" sz="2000" dirty="0">
                <a:latin typeface="微软雅黑"/>
                <a:cs typeface="微软雅黑"/>
              </a:rPr>
              <a:t>，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行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内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元素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或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者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行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内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块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水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cs typeface="微软雅黑"/>
              </a:rPr>
              <a:t>平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居中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给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其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父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添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加</a:t>
            </a:r>
            <a:r>
              <a:rPr lang="zh-CN" altLang="en-US" sz="20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en-US" altLang="zh-CN" sz="2000" spc="-5" dirty="0" err="1">
                <a:solidFill>
                  <a:srgbClr val="FF0000"/>
                </a:solidFill>
                <a:latin typeface="微软雅黑"/>
                <a:cs typeface="微软雅黑"/>
              </a:rPr>
              <a:t>text-align:center</a:t>
            </a:r>
            <a:r>
              <a:rPr lang="en-US" altLang="zh-CN" sz="20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FF0000"/>
                </a:solidFill>
                <a:latin typeface="微软雅黑"/>
                <a:cs typeface="微软雅黑"/>
              </a:rPr>
              <a:t>即</a:t>
            </a:r>
            <a:r>
              <a:rPr lang="zh-CN" altLang="en-US" sz="2000" spc="-10" dirty="0">
                <a:solidFill>
                  <a:srgbClr val="FF0000"/>
                </a:solidFill>
                <a:latin typeface="微软雅黑"/>
                <a:cs typeface="微软雅黑"/>
              </a:rPr>
              <a:t>可</a:t>
            </a:r>
            <a:r>
              <a:rPr lang="zh-CN" altLang="en-US" sz="2000" spc="5" dirty="0">
                <a:latin typeface="微软雅黑"/>
                <a:cs typeface="微软雅黑"/>
              </a:rPr>
              <a:t>。</a:t>
            </a:r>
            <a:endParaRPr lang="zh-CN" altLang="en-US" sz="2000" dirty="0"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744776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5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外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边距合并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82426" y="2345608"/>
            <a:ext cx="10073254" cy="2434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75"/>
              </a:spcBef>
            </a:pPr>
            <a:r>
              <a:rPr lang="zh-CN" altLang="en-US" sz="2800" spc="5" dirty="0" smtClean="0">
                <a:latin typeface="微软雅黑"/>
                <a:cs typeface="微软雅黑"/>
              </a:rPr>
              <a:t>使用</a:t>
            </a:r>
            <a:r>
              <a:rPr lang="zh-CN" altLang="en-US" sz="2800" spc="-45" dirty="0" smtClean="0">
                <a:latin typeface="微软雅黑"/>
                <a:cs typeface="微软雅黑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微软雅黑"/>
                <a:cs typeface="微软雅黑"/>
              </a:rPr>
              <a:t>margin</a:t>
            </a:r>
            <a:r>
              <a:rPr lang="zh-CN" altLang="en-US" sz="2800" spc="-5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800" spc="5" dirty="0">
                <a:latin typeface="微软雅黑"/>
                <a:cs typeface="微软雅黑"/>
              </a:rPr>
              <a:t>定</a:t>
            </a:r>
            <a:r>
              <a:rPr lang="zh-CN" altLang="en-US" sz="2800" dirty="0">
                <a:latin typeface="微软雅黑"/>
                <a:cs typeface="微软雅黑"/>
              </a:rPr>
              <a:t>义</a:t>
            </a:r>
            <a:r>
              <a:rPr lang="zh-CN" altLang="en-US" sz="2800" spc="5" dirty="0">
                <a:latin typeface="微软雅黑"/>
                <a:cs typeface="微软雅黑"/>
              </a:rPr>
              <a:t>块元素</a:t>
            </a:r>
            <a:r>
              <a:rPr lang="zh-CN" altLang="en-US" sz="2800" spc="-5" dirty="0">
                <a:latin typeface="微软雅黑"/>
                <a:cs typeface="微软雅黑"/>
              </a:rPr>
              <a:t>的</a:t>
            </a:r>
            <a:r>
              <a:rPr lang="zh-CN" altLang="en-US" sz="2800" spc="-5" dirty="0">
                <a:solidFill>
                  <a:srgbClr val="FF0000"/>
                </a:solidFill>
                <a:latin typeface="微软雅黑"/>
                <a:cs typeface="微软雅黑"/>
              </a:rPr>
              <a:t>垂</a:t>
            </a:r>
            <a:r>
              <a:rPr lang="zh-CN" altLang="en-US" sz="2800" spc="5" dirty="0">
                <a:solidFill>
                  <a:srgbClr val="FF0000"/>
                </a:solidFill>
                <a:latin typeface="微软雅黑"/>
                <a:cs typeface="微软雅黑"/>
              </a:rPr>
              <a:t>直</a:t>
            </a:r>
            <a:r>
              <a:rPr lang="zh-CN" altLang="en-US" sz="2800" spc="-5" dirty="0">
                <a:solidFill>
                  <a:srgbClr val="FF0000"/>
                </a:solidFill>
                <a:latin typeface="微软雅黑"/>
                <a:cs typeface="微软雅黑"/>
              </a:rPr>
              <a:t>外</a:t>
            </a:r>
            <a:r>
              <a:rPr lang="zh-CN" altLang="en-US" sz="2800" spc="5" dirty="0">
                <a:solidFill>
                  <a:srgbClr val="FF0000"/>
                </a:solidFill>
                <a:latin typeface="微软雅黑"/>
                <a:cs typeface="微软雅黑"/>
              </a:rPr>
              <a:t>边</a:t>
            </a:r>
            <a:r>
              <a:rPr lang="zh-CN" altLang="en-US" sz="2800" spc="-15" dirty="0">
                <a:solidFill>
                  <a:srgbClr val="FF0000"/>
                </a:solidFill>
                <a:latin typeface="微软雅黑"/>
                <a:cs typeface="微软雅黑"/>
              </a:rPr>
              <a:t>距</a:t>
            </a:r>
            <a:r>
              <a:rPr lang="zh-CN" altLang="en-US" sz="2800" spc="5" dirty="0">
                <a:latin typeface="微软雅黑"/>
                <a:cs typeface="微软雅黑"/>
              </a:rPr>
              <a:t>时</a:t>
            </a:r>
            <a:r>
              <a:rPr lang="zh-CN" altLang="en-US" sz="2800" spc="-5" dirty="0">
                <a:latin typeface="微软雅黑"/>
                <a:cs typeface="微软雅黑"/>
              </a:rPr>
              <a:t>，</a:t>
            </a:r>
            <a:r>
              <a:rPr lang="zh-CN" altLang="en-US" sz="2800" spc="5" dirty="0">
                <a:latin typeface="微软雅黑"/>
                <a:cs typeface="微软雅黑"/>
              </a:rPr>
              <a:t>可</a:t>
            </a:r>
            <a:r>
              <a:rPr lang="zh-CN" altLang="en-US" sz="2800" spc="-5" dirty="0">
                <a:latin typeface="微软雅黑"/>
                <a:cs typeface="微软雅黑"/>
              </a:rPr>
              <a:t>能</a:t>
            </a:r>
            <a:r>
              <a:rPr lang="zh-CN" altLang="en-US" sz="2800" spc="5" dirty="0">
                <a:latin typeface="微软雅黑"/>
                <a:cs typeface="微软雅黑"/>
              </a:rPr>
              <a:t>会</a:t>
            </a:r>
            <a:r>
              <a:rPr lang="zh-CN" altLang="en-US" sz="2800" spc="-5" dirty="0">
                <a:latin typeface="微软雅黑"/>
                <a:cs typeface="微软雅黑"/>
              </a:rPr>
              <a:t>出</a:t>
            </a:r>
            <a:r>
              <a:rPr lang="zh-CN" altLang="en-US" sz="2800" spc="5" dirty="0">
                <a:latin typeface="微软雅黑"/>
                <a:cs typeface="微软雅黑"/>
              </a:rPr>
              <a:t>现</a:t>
            </a:r>
            <a:r>
              <a:rPr lang="zh-CN" altLang="en-US" sz="2800" spc="-5" dirty="0">
                <a:latin typeface="微软雅黑"/>
                <a:cs typeface="微软雅黑"/>
              </a:rPr>
              <a:t>外</a:t>
            </a:r>
            <a:r>
              <a:rPr lang="zh-CN" altLang="en-US" sz="2800" spc="5" dirty="0">
                <a:latin typeface="微软雅黑"/>
                <a:cs typeface="微软雅黑"/>
              </a:rPr>
              <a:t>边</a:t>
            </a:r>
            <a:r>
              <a:rPr lang="zh-CN" altLang="en-US" sz="2800" spc="-5" dirty="0">
                <a:latin typeface="微软雅黑"/>
                <a:cs typeface="微软雅黑"/>
              </a:rPr>
              <a:t>距</a:t>
            </a:r>
            <a:r>
              <a:rPr lang="zh-CN" altLang="en-US" sz="2800" spc="5" dirty="0">
                <a:latin typeface="微软雅黑"/>
                <a:cs typeface="微软雅黑"/>
              </a:rPr>
              <a:t>的</a:t>
            </a:r>
            <a:r>
              <a:rPr lang="zh-CN" altLang="en-US" sz="2800" spc="-5" dirty="0">
                <a:latin typeface="微软雅黑"/>
                <a:cs typeface="微软雅黑"/>
              </a:rPr>
              <a:t>合</a:t>
            </a:r>
            <a:r>
              <a:rPr lang="zh-CN" altLang="en-US" sz="2800" spc="-25" dirty="0">
                <a:latin typeface="微软雅黑"/>
                <a:cs typeface="微软雅黑"/>
              </a:rPr>
              <a:t>并</a:t>
            </a:r>
            <a:r>
              <a:rPr lang="zh-CN" altLang="en-US" sz="2800" spc="5" dirty="0">
                <a:latin typeface="微软雅黑"/>
                <a:cs typeface="微软雅黑"/>
              </a:rPr>
              <a:t>。 主要有两种情</a:t>
            </a:r>
            <a:r>
              <a:rPr lang="zh-CN" altLang="en-US" sz="2800" spc="-20" dirty="0">
                <a:latin typeface="微软雅黑"/>
                <a:cs typeface="微软雅黑"/>
              </a:rPr>
              <a:t>况</a:t>
            </a:r>
            <a:r>
              <a:rPr lang="en-US" altLang="zh-CN" sz="2800" dirty="0" smtClean="0">
                <a:latin typeface="微软雅黑"/>
                <a:cs typeface="微软雅黑"/>
              </a:rPr>
              <a:t>:</a:t>
            </a:r>
            <a:endParaRPr lang="zh-CN" altLang="en-US" sz="3200" dirty="0">
              <a:latin typeface="Times New Roman" panose="02020503050405090304"/>
              <a:cs typeface="Times New Roman" panose="02020503050405090304"/>
            </a:endParaRPr>
          </a:p>
          <a:p>
            <a:pPr marL="241300" indent="-228600">
              <a:lnSpc>
                <a:spcPct val="150000"/>
              </a:lnSpc>
              <a:spcBef>
                <a:spcPts val="5"/>
              </a:spcBef>
              <a:buAutoNum type="arabicPeriod"/>
              <a:tabLst>
                <a:tab pos="241935" algn="l"/>
              </a:tabLst>
            </a:pPr>
            <a:r>
              <a:rPr lang="zh-CN" altLang="en-US" sz="2400" b="1" spc="5" dirty="0">
                <a:latin typeface="微软雅黑"/>
                <a:cs typeface="微软雅黑"/>
              </a:rPr>
              <a:t>相</a:t>
            </a:r>
            <a:r>
              <a:rPr lang="zh-CN" altLang="en-US" sz="2400" b="1" dirty="0">
                <a:latin typeface="微软雅黑"/>
                <a:cs typeface="微软雅黑"/>
              </a:rPr>
              <a:t>邻</a:t>
            </a:r>
            <a:r>
              <a:rPr lang="zh-CN" altLang="en-US" sz="2400" b="1" spc="5" dirty="0">
                <a:latin typeface="微软雅黑"/>
                <a:cs typeface="微软雅黑"/>
              </a:rPr>
              <a:t>块元素垂</a:t>
            </a:r>
            <a:r>
              <a:rPr lang="zh-CN" altLang="en-US" sz="2400" b="1" spc="-5" dirty="0">
                <a:latin typeface="微软雅黑"/>
                <a:cs typeface="微软雅黑"/>
              </a:rPr>
              <a:t>直</a:t>
            </a:r>
            <a:r>
              <a:rPr lang="zh-CN" altLang="en-US" sz="2400" b="1" spc="5" dirty="0">
                <a:latin typeface="微软雅黑"/>
                <a:cs typeface="微软雅黑"/>
              </a:rPr>
              <a:t>外</a:t>
            </a:r>
            <a:r>
              <a:rPr lang="zh-CN" altLang="en-US" sz="2400" b="1" spc="-5" dirty="0">
                <a:latin typeface="微软雅黑"/>
                <a:cs typeface="微软雅黑"/>
              </a:rPr>
              <a:t>边</a:t>
            </a:r>
            <a:r>
              <a:rPr lang="zh-CN" altLang="en-US" sz="2400" b="1" spc="5" dirty="0">
                <a:latin typeface="微软雅黑"/>
                <a:cs typeface="微软雅黑"/>
              </a:rPr>
              <a:t>距</a:t>
            </a:r>
            <a:r>
              <a:rPr lang="zh-CN" altLang="en-US" sz="2400" b="1" spc="-25" dirty="0">
                <a:latin typeface="微软雅黑"/>
                <a:cs typeface="微软雅黑"/>
              </a:rPr>
              <a:t>的</a:t>
            </a:r>
            <a:r>
              <a:rPr lang="zh-CN" altLang="en-US" sz="2400" b="1" spc="5" dirty="0" smtClean="0">
                <a:latin typeface="微软雅黑"/>
                <a:cs typeface="微软雅黑"/>
              </a:rPr>
              <a:t>合并</a:t>
            </a:r>
            <a:endParaRPr lang="zh-CN" altLang="en-US" sz="3600" dirty="0">
              <a:latin typeface="Times New Roman" panose="02020503050405090304"/>
              <a:cs typeface="Times New Roman" panose="02020503050405090304"/>
            </a:endParaRPr>
          </a:p>
          <a:p>
            <a:pPr marL="241300" indent="-228600">
              <a:lnSpc>
                <a:spcPct val="150000"/>
              </a:lnSpc>
              <a:buAutoNum type="arabicPeriod"/>
              <a:tabLst>
                <a:tab pos="241935" algn="l"/>
              </a:tabLst>
            </a:pPr>
            <a:r>
              <a:rPr lang="zh-CN" altLang="en-US" sz="2400" b="1" spc="5" dirty="0">
                <a:latin typeface="微软雅黑"/>
                <a:cs typeface="微软雅黑"/>
              </a:rPr>
              <a:t>嵌套块元素垂</a:t>
            </a:r>
            <a:r>
              <a:rPr lang="zh-CN" altLang="en-US" sz="2400" b="1" spc="-5" dirty="0">
                <a:latin typeface="微软雅黑"/>
                <a:cs typeface="微软雅黑"/>
              </a:rPr>
              <a:t>直</a:t>
            </a:r>
            <a:r>
              <a:rPr lang="zh-CN" altLang="en-US" sz="2400" b="1" spc="5" dirty="0">
                <a:latin typeface="微软雅黑"/>
                <a:cs typeface="微软雅黑"/>
              </a:rPr>
              <a:t>外</a:t>
            </a:r>
            <a:r>
              <a:rPr lang="zh-CN" altLang="en-US" sz="2400" b="1" spc="-5" dirty="0">
                <a:latin typeface="微软雅黑"/>
                <a:cs typeface="微软雅黑"/>
              </a:rPr>
              <a:t>边</a:t>
            </a:r>
            <a:r>
              <a:rPr lang="zh-CN" altLang="en-US" sz="2400" b="1" spc="5" dirty="0">
                <a:latin typeface="微软雅黑"/>
                <a:cs typeface="微软雅黑"/>
              </a:rPr>
              <a:t>距</a:t>
            </a:r>
            <a:r>
              <a:rPr lang="zh-CN" altLang="en-US" sz="2400" b="1" spc="-5" dirty="0">
                <a:latin typeface="微软雅黑"/>
                <a:cs typeface="微软雅黑"/>
              </a:rPr>
              <a:t>的</a:t>
            </a:r>
            <a:r>
              <a:rPr lang="zh-CN" altLang="en-US" sz="2400" b="1" spc="5" dirty="0">
                <a:latin typeface="微软雅黑"/>
                <a:cs typeface="微软雅黑"/>
              </a:rPr>
              <a:t>塌陷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5513" y="5106698"/>
            <a:ext cx="78790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注意：垂直</a:t>
            </a:r>
            <a:r>
              <a:rPr lang="zh-CN" altLang="en-US" sz="2400" dirty="0"/>
              <a:t>方向上相邻的元素才会有外边距合并的</a:t>
            </a:r>
            <a:r>
              <a:rPr lang="zh-CN" altLang="en-US" sz="2400" dirty="0" smtClean="0"/>
              <a:t>问题。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12740" y="1583905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5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外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边距合并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2727" y="2177725"/>
            <a:ext cx="10372063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/>
            <a:r>
              <a:rPr lang="en-US" altLang="zh-CN" sz="2400" b="1" dirty="0" smtClean="0">
                <a:solidFill>
                  <a:prstClr val="black"/>
                </a:solidFill>
                <a:latin typeface="微软雅黑"/>
                <a:cs typeface="微软雅黑"/>
              </a:rPr>
              <a:t>(1).</a:t>
            </a:r>
            <a:r>
              <a:rPr lang="zh-CN" altLang="en-US" sz="2400" b="1" spc="-10" dirty="0" smtClean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/>
                <a:cs typeface="微软雅黑"/>
              </a:rPr>
              <a:t>相邻块元素垂直外边</a:t>
            </a:r>
            <a:r>
              <a:rPr lang="zh-CN" altLang="en-US" sz="2400" b="1" spc="-1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400" b="1" spc="-2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b="1" dirty="0">
                <a:solidFill>
                  <a:prstClr val="black"/>
                </a:solidFill>
                <a:latin typeface="微软雅黑"/>
                <a:cs typeface="微软雅黑"/>
              </a:rPr>
              <a:t>合并</a:t>
            </a:r>
            <a:endParaRPr lang="zh-CN" altLang="en-US" sz="24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12700" marR="5080" lvl="0">
              <a:lnSpc>
                <a:spcPct val="150000"/>
              </a:lnSpc>
              <a:spcBef>
                <a:spcPts val="1165"/>
              </a:spcBef>
            </a:pP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当上下相邻的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两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个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块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（兄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弟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关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系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）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相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遇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时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，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如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果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上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面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有</a:t>
            </a:r>
            <a:r>
              <a:rPr lang="zh-CN" altLang="en-US" spc="-65" dirty="0">
                <a:solidFill>
                  <a:prstClr val="black"/>
                </a:solidFill>
                <a:latin typeface="微软雅黑"/>
                <a:cs typeface="微软雅黑"/>
              </a:rPr>
              <a:t>下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外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pc="-3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en-US" altLang="zh-CN" spc="-5" dirty="0">
                <a:solidFill>
                  <a:prstClr val="black"/>
                </a:solidFill>
                <a:latin typeface="微软雅黑"/>
                <a:cs typeface="微软雅黑"/>
              </a:rPr>
              <a:t>margin-bottom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，下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面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有 上外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pc="-3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margin-top</a:t>
            </a:r>
            <a:r>
              <a:rPr lang="en-US" altLang="zh-CN" spc="-4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，则他们之间的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垂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直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间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pc="-5" dirty="0">
                <a:solidFill>
                  <a:prstClr val="black"/>
                </a:solidFill>
                <a:latin typeface="微软雅黑"/>
                <a:cs typeface="微软雅黑"/>
              </a:rPr>
              <a:t>不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是</a:t>
            </a:r>
            <a:r>
              <a:rPr lang="zh-CN" altLang="en-US" spc="-4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margin-bottom</a:t>
            </a:r>
            <a:r>
              <a:rPr lang="en-US" altLang="zh-CN" spc="-40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与</a:t>
            </a:r>
            <a:r>
              <a:rPr lang="zh-CN" altLang="en-US" spc="-2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margin-top</a:t>
            </a:r>
            <a:r>
              <a:rPr lang="en-US" altLang="zh-CN" spc="-4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之和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。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取两个值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中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的 较大者这种现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象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被</a:t>
            </a:r>
            <a:r>
              <a:rPr lang="zh-CN" altLang="en-US" spc="-5" dirty="0">
                <a:solidFill>
                  <a:srgbClr val="FF0000"/>
                </a:solidFill>
                <a:latin typeface="微软雅黑"/>
                <a:cs typeface="微软雅黑"/>
              </a:rPr>
              <a:t>称</a:t>
            </a:r>
            <a:r>
              <a:rPr lang="zh-CN" altLang="en-US" spc="-15" dirty="0">
                <a:solidFill>
                  <a:srgbClr val="FF0000"/>
                </a:solidFill>
                <a:latin typeface="微软雅黑"/>
                <a:cs typeface="微软雅黑"/>
              </a:rPr>
              <a:t>为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相</a:t>
            </a:r>
            <a:r>
              <a:rPr lang="zh-CN" altLang="en-US" b="1" spc="5" dirty="0">
                <a:solidFill>
                  <a:srgbClr val="FF0000"/>
                </a:solidFill>
                <a:latin typeface="微软雅黑"/>
                <a:cs typeface="微软雅黑"/>
              </a:rPr>
              <a:t>邻块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元</a:t>
            </a:r>
            <a:r>
              <a:rPr lang="zh-CN" altLang="en-US" b="1" spc="5" dirty="0">
                <a:solidFill>
                  <a:srgbClr val="FF0000"/>
                </a:solidFill>
                <a:latin typeface="微软雅黑"/>
                <a:cs typeface="微软雅黑"/>
              </a:rPr>
              <a:t>素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垂</a:t>
            </a:r>
            <a:r>
              <a:rPr lang="zh-CN" altLang="en-US" b="1" spc="5" dirty="0">
                <a:solidFill>
                  <a:srgbClr val="FF0000"/>
                </a:solidFill>
                <a:latin typeface="微软雅黑"/>
                <a:cs typeface="微软雅黑"/>
              </a:rPr>
              <a:t>直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外</a:t>
            </a:r>
            <a:r>
              <a:rPr lang="zh-CN" altLang="en-US" b="1" spc="5" dirty="0">
                <a:solidFill>
                  <a:srgbClr val="FF0000"/>
                </a:solidFill>
                <a:latin typeface="微软雅黑"/>
                <a:cs typeface="微软雅黑"/>
              </a:rPr>
              <a:t>边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距</a:t>
            </a:r>
            <a:r>
              <a:rPr lang="zh-CN" altLang="en-US" b="1" spc="-20" dirty="0">
                <a:solidFill>
                  <a:srgbClr val="FF0000"/>
                </a:solidFill>
                <a:latin typeface="微软雅黑"/>
                <a:cs typeface="微软雅黑"/>
              </a:rPr>
              <a:t>的</a:t>
            </a:r>
            <a:r>
              <a:rPr lang="zh-CN" altLang="en-US" b="1" spc="-5" dirty="0">
                <a:solidFill>
                  <a:srgbClr val="FF0000"/>
                </a:solidFill>
                <a:latin typeface="微软雅黑"/>
                <a:cs typeface="微软雅黑"/>
              </a:rPr>
              <a:t>合</a:t>
            </a:r>
            <a:r>
              <a:rPr lang="zh-CN" altLang="en-US" b="1" dirty="0">
                <a:solidFill>
                  <a:srgbClr val="FF0000"/>
                </a:solidFill>
                <a:latin typeface="微软雅黑"/>
                <a:cs typeface="微软雅黑"/>
              </a:rPr>
              <a:t>并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。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049" y="3988516"/>
            <a:ext cx="5277441" cy="2869483"/>
          </a:xfrm>
          <a:prstGeom prst="rect">
            <a:avLst/>
          </a:prstGeom>
        </p:spPr>
      </p:pic>
      <p:sp>
        <p:nvSpPr>
          <p:cNvPr id="12" name="object 5"/>
          <p:cNvSpPr txBox="1"/>
          <p:nvPr/>
        </p:nvSpPr>
        <p:spPr>
          <a:xfrm>
            <a:off x="8892507" y="4322943"/>
            <a:ext cx="2516129" cy="1066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解决方</a:t>
            </a:r>
            <a:r>
              <a:rPr sz="2000" b="1" spc="-5" dirty="0">
                <a:solidFill>
                  <a:srgbClr val="404040"/>
                </a:solidFill>
                <a:latin typeface="微软雅黑"/>
                <a:cs typeface="微软雅黑"/>
              </a:rPr>
              <a:t>案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pc="5" dirty="0">
                <a:solidFill>
                  <a:srgbClr val="FF0000"/>
                </a:solidFill>
                <a:latin typeface="微软雅黑"/>
                <a:cs typeface="微软雅黑"/>
              </a:rPr>
              <a:t>尽量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只</a:t>
            </a:r>
            <a:r>
              <a:rPr spc="5" dirty="0">
                <a:solidFill>
                  <a:srgbClr val="FF0000"/>
                </a:solidFill>
                <a:latin typeface="微软雅黑"/>
                <a:cs typeface="微软雅黑"/>
              </a:rPr>
              <a:t>给一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个</a:t>
            </a:r>
            <a:r>
              <a:rPr spc="-5" dirty="0">
                <a:solidFill>
                  <a:srgbClr val="FF0000"/>
                </a:solidFill>
                <a:latin typeface="微软雅黑"/>
                <a:cs typeface="微软雅黑"/>
              </a:rPr>
              <a:t>盒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子</a:t>
            </a:r>
            <a:r>
              <a:rPr spc="-5" dirty="0">
                <a:solidFill>
                  <a:srgbClr val="FF0000"/>
                </a:solidFill>
                <a:latin typeface="微软雅黑"/>
                <a:cs typeface="微软雅黑"/>
              </a:rPr>
              <a:t>添</a:t>
            </a:r>
            <a:r>
              <a:rPr spc="5" dirty="0">
                <a:solidFill>
                  <a:srgbClr val="FF0000"/>
                </a:solidFill>
                <a:latin typeface="微软雅黑"/>
                <a:cs typeface="微软雅黑"/>
              </a:rPr>
              <a:t>加</a:t>
            </a:r>
            <a:r>
              <a:rPr spc="-7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margin</a:t>
            </a:r>
            <a:r>
              <a:rPr spc="-5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pc="5" dirty="0">
                <a:solidFill>
                  <a:srgbClr val="FF0000"/>
                </a:solidFill>
                <a:latin typeface="微软雅黑"/>
                <a:cs typeface="微软雅黑"/>
              </a:rPr>
              <a:t>值。</a:t>
            </a:r>
            <a:endParaRPr dirty="0">
              <a:latin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882260" y="1569594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5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外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边距合并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2368" y="2157654"/>
            <a:ext cx="103720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/>
            <a:r>
              <a:rPr lang="en-US" altLang="zh-CN" sz="2000" b="1" dirty="0" smtClean="0">
                <a:solidFill>
                  <a:prstClr val="black"/>
                </a:solidFill>
                <a:latin typeface="微软雅黑"/>
                <a:cs typeface="微软雅黑"/>
              </a:rPr>
              <a:t>(2).</a:t>
            </a:r>
            <a:r>
              <a:rPr lang="zh-CN" altLang="en-US" sz="2000" b="1" spc="-10" dirty="0" smtClean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/>
                <a:cs typeface="微软雅黑"/>
              </a:rPr>
              <a:t>父子相邻元素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cs typeface="微软雅黑"/>
              </a:rPr>
              <a:t>垂直外边</a:t>
            </a:r>
            <a:r>
              <a:rPr lang="zh-CN" altLang="en-US" sz="2000" b="1" spc="-1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b="1" spc="-20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z="2000" b="1" dirty="0">
                <a:solidFill>
                  <a:prstClr val="black"/>
                </a:solidFill>
                <a:latin typeface="微软雅黑"/>
                <a:cs typeface="微软雅黑"/>
              </a:rPr>
              <a:t>塌陷</a:t>
            </a:r>
            <a:endParaRPr lang="zh-CN" altLang="en-US" sz="2000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10"/>
              </a:spcBef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 lvl="0"/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对于两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个具有父</a:t>
            </a:r>
            <a:r>
              <a:rPr lang="zh-CN" altLang="en-US" sz="2000" spc="-5" dirty="0" smtClean="0">
                <a:solidFill>
                  <a:prstClr val="black"/>
                </a:solidFill>
                <a:latin typeface="微软雅黑"/>
                <a:cs typeface="微软雅黑"/>
              </a:rPr>
              <a:t>子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关系</a:t>
            </a:r>
            <a:r>
              <a:rPr lang="zh-CN" altLang="en-US" sz="2000" spc="-20" dirty="0" smtClean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z="2000" spc="-10" dirty="0">
                <a:solidFill>
                  <a:prstClr val="black"/>
                </a:solidFill>
                <a:latin typeface="微软雅黑"/>
                <a:cs typeface="微软雅黑"/>
              </a:rPr>
              <a:t>块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，</a:t>
            </a:r>
            <a:r>
              <a:rPr lang="zh-CN" altLang="en-US" sz="2000" spc="-15" dirty="0">
                <a:solidFill>
                  <a:prstClr val="black"/>
                </a:solidFill>
                <a:latin typeface="微软雅黑"/>
                <a:cs typeface="微软雅黑"/>
              </a:rPr>
              <a:t>父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有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上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外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同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时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子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也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有</a:t>
            </a:r>
            <a:r>
              <a:rPr lang="zh-CN" altLang="en-US" sz="2000" spc="-30" dirty="0">
                <a:solidFill>
                  <a:prstClr val="black"/>
                </a:solidFill>
                <a:latin typeface="微软雅黑"/>
                <a:cs typeface="微软雅黑"/>
              </a:rPr>
              <a:t>上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外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，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此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cs typeface="微软雅黑"/>
              </a:rPr>
              <a:t>时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父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元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素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会</a:t>
            </a:r>
            <a:r>
              <a:rPr lang="zh-CN" altLang="en-US" sz="2000" spc="-5" dirty="0" smtClean="0">
                <a:solidFill>
                  <a:prstClr val="black"/>
                </a:solidFill>
                <a:latin typeface="微软雅黑"/>
                <a:cs typeface="微软雅黑"/>
              </a:rPr>
              <a:t>塌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陷相对</a:t>
            </a:r>
            <a:r>
              <a:rPr lang="zh-CN" altLang="en-US" sz="2000" spc="-5" dirty="0" smtClean="0">
                <a:solidFill>
                  <a:prstClr val="black"/>
                </a:solidFill>
                <a:latin typeface="微软雅黑"/>
                <a:cs typeface="微软雅黑"/>
              </a:rPr>
              <a:t>较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大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外</a:t>
            </a:r>
            <a:r>
              <a:rPr lang="zh-CN" altLang="en-US" sz="2000" spc="-30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值，而子元素没有实现上外边距</a:t>
            </a:r>
            <a:r>
              <a:rPr lang="zh-CN" altLang="en-US" sz="2000" spc="-5" dirty="0" smtClean="0">
                <a:solidFill>
                  <a:prstClr val="black"/>
                </a:solidFill>
                <a:latin typeface="微软雅黑"/>
                <a:cs typeface="微软雅黑"/>
              </a:rPr>
              <a:t>效果。</a:t>
            </a:r>
            <a:endParaRPr lang="zh-CN" altLang="en-US" sz="2000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6399351" y="318996"/>
            <a:ext cx="5208693" cy="23002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" name="object 5"/>
          <p:cNvSpPr txBox="1"/>
          <p:nvPr/>
        </p:nvSpPr>
        <p:spPr>
          <a:xfrm>
            <a:off x="1176469" y="3611894"/>
            <a:ext cx="10524464" cy="2467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">
              <a:lnSpc>
                <a:spcPct val="15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微软雅黑"/>
                <a:cs typeface="微软雅黑"/>
              </a:rPr>
              <a:t>解决方案：</a:t>
            </a:r>
            <a:endParaRPr dirty="0">
              <a:solidFill>
                <a:srgbClr val="FF0000"/>
              </a:solidFill>
              <a:latin typeface="微软雅黑"/>
              <a:cs typeface="微软雅黑"/>
            </a:endParaRPr>
          </a:p>
          <a:p>
            <a:pPr marL="243205" indent="-228600">
              <a:lnSpc>
                <a:spcPct val="150000"/>
              </a:lnSpc>
              <a:spcBef>
                <a:spcPts val="1520"/>
              </a:spcBef>
              <a:buFont typeface="+mj-ea"/>
              <a:buAutoNum type="circleNumDbPlain"/>
            </a:pPr>
            <a:r>
              <a:rPr sz="1600" spc="5" dirty="0" err="1" smtClean="0">
                <a:latin typeface="微软雅黑"/>
                <a:cs typeface="微软雅黑"/>
              </a:rPr>
              <a:t>可以为父元素</a:t>
            </a:r>
            <a:r>
              <a:rPr sz="1600" spc="-5" dirty="0" err="1" smtClean="0">
                <a:latin typeface="微软雅黑"/>
                <a:cs typeface="微软雅黑"/>
              </a:rPr>
              <a:t>定</a:t>
            </a:r>
            <a:r>
              <a:rPr sz="1600" spc="5" dirty="0" err="1" smtClean="0">
                <a:latin typeface="微软雅黑"/>
                <a:cs typeface="微软雅黑"/>
              </a:rPr>
              <a:t>义</a:t>
            </a:r>
            <a:r>
              <a:rPr sz="1600" spc="-5" dirty="0" err="1" smtClean="0">
                <a:latin typeface="微软雅黑"/>
                <a:cs typeface="微软雅黑"/>
              </a:rPr>
              <a:t>上</a:t>
            </a:r>
            <a:r>
              <a:rPr sz="1600" spc="5" dirty="0" err="1" smtClean="0">
                <a:latin typeface="微软雅黑"/>
                <a:cs typeface="微软雅黑"/>
              </a:rPr>
              <a:t>边</a:t>
            </a:r>
            <a:r>
              <a:rPr sz="1600" spc="-25" dirty="0" err="1" smtClean="0">
                <a:latin typeface="微软雅黑"/>
                <a:cs typeface="微软雅黑"/>
              </a:rPr>
              <a:t>框</a:t>
            </a:r>
            <a:r>
              <a:rPr lang="en-US" sz="1600" spc="-25" dirty="0" err="1">
                <a:latin typeface="微软雅黑"/>
                <a:cs typeface="微软雅黑"/>
              </a:rPr>
              <a:t>border</a:t>
            </a:r>
            <a:r>
              <a:rPr lang="en-US" sz="1600" spc="-25" dirty="0">
                <a:latin typeface="微软雅黑"/>
                <a:cs typeface="微软雅黑"/>
              </a:rPr>
              <a:t>-top</a:t>
            </a:r>
            <a:r>
              <a:rPr sz="1600" spc="5" dirty="0" smtClean="0">
                <a:latin typeface="微软雅黑"/>
                <a:cs typeface="微软雅黑"/>
              </a:rPr>
              <a:t>。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243205" indent="-2286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spc="5" dirty="0">
                <a:latin typeface="微软雅黑"/>
                <a:cs typeface="微软雅黑"/>
              </a:rPr>
              <a:t>改子元素的 </a:t>
            </a:r>
            <a:r>
              <a:rPr lang="en-US" sz="1600" spc="5" dirty="0">
                <a:latin typeface="微软雅黑"/>
                <a:cs typeface="微软雅黑"/>
              </a:rPr>
              <a:t>margin-top </a:t>
            </a:r>
            <a:r>
              <a:rPr lang="zh-CN" altLang="en-US" sz="1600" spc="5" dirty="0">
                <a:latin typeface="微软雅黑"/>
                <a:cs typeface="微软雅黑"/>
              </a:rPr>
              <a:t>为父元素的 </a:t>
            </a:r>
            <a:r>
              <a:rPr lang="en-US" sz="1600" spc="5" dirty="0">
                <a:latin typeface="微软雅黑"/>
                <a:cs typeface="微软雅黑"/>
              </a:rPr>
              <a:t>padding-top，</a:t>
            </a:r>
            <a:r>
              <a:rPr lang="zh-CN" altLang="en-US" sz="1600" spc="5" dirty="0">
                <a:latin typeface="微软雅黑"/>
                <a:cs typeface="微软雅黑"/>
              </a:rPr>
              <a:t>同时为防止父元素变大，再</a:t>
            </a:r>
            <a:r>
              <a:rPr lang="zh-CN" altLang="en-US" sz="1600" spc="5" dirty="0" smtClean="0">
                <a:latin typeface="微软雅黑"/>
                <a:cs typeface="微软雅黑"/>
              </a:rPr>
              <a:t>设设置</a:t>
            </a:r>
            <a:r>
              <a:rPr lang="en-US" altLang="zh-CN" sz="1600" spc="5" dirty="0" err="1" smtClean="0">
                <a:latin typeface="微软雅黑"/>
                <a:cs typeface="微软雅黑"/>
              </a:rPr>
              <a:t>box-sizing:border-box</a:t>
            </a:r>
            <a:r>
              <a:rPr sz="1600" spc="5" dirty="0" smtClean="0">
                <a:latin typeface="微软雅黑"/>
                <a:cs typeface="微软雅黑"/>
              </a:rPr>
              <a:t>。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243205" indent="-228600">
              <a:lnSpc>
                <a:spcPct val="150000"/>
              </a:lnSpc>
              <a:buFont typeface="+mj-ea"/>
              <a:buAutoNum type="circleNumDbPlain"/>
            </a:pPr>
            <a:r>
              <a:rPr sz="1600" spc="5" dirty="0" err="1" smtClean="0">
                <a:latin typeface="微软雅黑"/>
                <a:cs typeface="微软雅黑"/>
              </a:rPr>
              <a:t>可以为父元素</a:t>
            </a:r>
            <a:r>
              <a:rPr lang="zh-CN" altLang="en-US" sz="1600" spc="-5" dirty="0">
                <a:latin typeface="微软雅黑"/>
                <a:cs typeface="微软雅黑"/>
              </a:rPr>
              <a:t>设置</a:t>
            </a:r>
            <a:r>
              <a:rPr sz="1600" spc="-5" dirty="0" err="1" smtClean="0">
                <a:latin typeface="微软雅黑"/>
                <a:cs typeface="微软雅黑"/>
              </a:rPr>
              <a:t>overflow:hidden</a:t>
            </a:r>
            <a:r>
              <a:rPr sz="1600" spc="5" dirty="0" smtClean="0">
                <a:latin typeface="微软雅黑"/>
                <a:cs typeface="微软雅黑"/>
              </a:rPr>
              <a:t>。</a:t>
            </a:r>
            <a:endParaRPr lang="en-US" sz="1600" spc="5" dirty="0">
              <a:latin typeface="微软雅黑"/>
              <a:cs typeface="微软雅黑"/>
            </a:endParaRPr>
          </a:p>
          <a:p>
            <a:pPr marL="243205" indent="-2286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latin typeface="微软雅黑"/>
                <a:cs typeface="微软雅黑"/>
              </a:rPr>
              <a:t>给父或子元素添加</a:t>
            </a:r>
            <a:r>
              <a:rPr lang="zh-CN" altLang="en-US" sz="1600" b="1" dirty="0" smtClean="0">
                <a:latin typeface="微软雅黑"/>
                <a:cs typeface="微软雅黑"/>
              </a:rPr>
              <a:t>固定定位或者绝对定位。</a:t>
            </a:r>
            <a:endParaRPr lang="en-US" altLang="zh-CN" sz="1600" b="1" dirty="0" smtClean="0">
              <a:latin typeface="微软雅黑"/>
              <a:cs typeface="微软雅黑"/>
            </a:endParaRPr>
          </a:p>
          <a:p>
            <a:pPr marL="243205" indent="-2286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latin typeface="微软雅黑"/>
                <a:cs typeface="微软雅黑"/>
              </a:rPr>
              <a:t>给父元素或子元素设置</a:t>
            </a:r>
            <a:r>
              <a:rPr lang="en-US" altLang="zh-CN" sz="1600" b="1" dirty="0">
                <a:latin typeface="微软雅黑"/>
                <a:cs typeface="微软雅黑"/>
              </a:rPr>
              <a:t>display</a:t>
            </a:r>
            <a:r>
              <a:rPr lang="zh-CN" altLang="en-US" sz="1600" b="1" dirty="0">
                <a:latin typeface="微软雅黑"/>
                <a:cs typeface="微软雅黑"/>
              </a:rPr>
              <a:t>：</a:t>
            </a:r>
            <a:r>
              <a:rPr lang="en-US" altLang="zh-CN" sz="1600" b="1" dirty="0">
                <a:latin typeface="微软雅黑"/>
                <a:cs typeface="微软雅黑"/>
              </a:rPr>
              <a:t>inline-block</a:t>
            </a:r>
            <a:endParaRPr lang="en-US" altLang="zh-CN" sz="1600" b="1" dirty="0" smtClean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8644" y="6237334"/>
            <a:ext cx="10619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注意：父子元素间的</a:t>
            </a:r>
            <a:r>
              <a:rPr lang="zh-CN" altLang="en-US" dirty="0" smtClean="0"/>
              <a:t>相邻是</a:t>
            </a:r>
            <a:r>
              <a:rPr lang="zh-CN" altLang="en-US" dirty="0"/>
              <a:t>指：父元素和第一个子元素，只有第一个子元素才会和父元素外边距</a:t>
            </a:r>
            <a:r>
              <a:rPr lang="zh-CN" altLang="en-US" dirty="0" smtClean="0"/>
              <a:t>合并。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589907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6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en-US" altLang="zh-CN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overflow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属性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0548" y="1988306"/>
            <a:ext cx="10372063" cy="4626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85090" lvl="0">
              <a:lnSpc>
                <a:spcPct val="151000"/>
              </a:lnSpc>
              <a:spcBef>
                <a:spcPts val="1005"/>
              </a:spcBef>
            </a:pPr>
            <a:r>
              <a:rPr lang="en-US" altLang="zh-CN" dirty="0" smtClean="0">
                <a:solidFill>
                  <a:prstClr val="black"/>
                </a:solidFill>
                <a:latin typeface="微软雅黑"/>
                <a:cs typeface="微软雅黑"/>
              </a:rPr>
              <a:t>overflow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属性规定当内容溢出元素边框时如何显示，取值如下：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355600" marR="85090" lvl="0" indent="-342900">
              <a:lnSpc>
                <a:spcPct val="151000"/>
              </a:lnSpc>
              <a:spcBef>
                <a:spcPts val="1005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默认取值</a:t>
            </a:r>
            <a:r>
              <a:rPr lang="en-US" altLang="zh-CN" dirty="0" smtClean="0">
                <a:solidFill>
                  <a:prstClr val="black"/>
                </a:solidFill>
                <a:latin typeface="微软雅黑"/>
                <a:cs typeface="微软雅黑"/>
              </a:rPr>
              <a:t>visible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：内容不会被修剪，会呈现在元素框之外；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355600" marR="85090" lvl="0" indent="-342900">
              <a:lnSpc>
                <a:spcPct val="151000"/>
              </a:lnSpc>
              <a:spcBef>
                <a:spcPts val="1005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取值</a:t>
            </a:r>
            <a:r>
              <a:rPr lang="en-US" altLang="zh-CN" dirty="0" smtClean="0">
                <a:solidFill>
                  <a:prstClr val="black"/>
                </a:solidFill>
                <a:latin typeface="微软雅黑"/>
                <a:cs typeface="微软雅黑"/>
              </a:rPr>
              <a:t>hidden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：内容会被修剪，并且其余内容是不可见的；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355600" marR="85090" lvl="0" indent="-342900">
              <a:lnSpc>
                <a:spcPct val="151000"/>
              </a:lnSpc>
              <a:spcBef>
                <a:spcPts val="1005"/>
              </a:spcBef>
              <a:buFont typeface="+mj-ea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取值</a:t>
            </a:r>
            <a:r>
              <a:rPr lang="en-US" altLang="zh-CN" dirty="0" smtClean="0">
                <a:solidFill>
                  <a:prstClr val="black"/>
                </a:solidFill>
                <a:latin typeface="微软雅黑"/>
                <a:cs typeface="微软雅黑"/>
              </a:rPr>
              <a:t>scroll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：内容会被修剪，但是浏览器会显示滚动条以便查看其余的内容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。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355600" marR="85090" lvl="0" indent="-342900">
              <a:lnSpc>
                <a:spcPct val="151000"/>
              </a:lnSpc>
              <a:spcBef>
                <a:spcPts val="1005"/>
              </a:spcBef>
              <a:buFont typeface="+mj-ea"/>
              <a:buAutoNum type="circleNumDbPlain"/>
            </a:pP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auto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：如果内容被修剪，则浏览器会显示滚动条以便查看其余的内容。解决了</a:t>
            </a: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scroll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在不需要滚动条也会产生滚动条的问题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12700" marR="85090" lvl="0">
              <a:lnSpc>
                <a:spcPct val="151000"/>
              </a:lnSpc>
              <a:spcBef>
                <a:spcPts val="1005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overflow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属性在动画效果中经常使用，初始状态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是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溢出边框的部分隐藏，状态切换时再将其显示出来。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298450" marR="85090" lvl="0" indent="-285750">
              <a:lnSpc>
                <a:spcPct val="151000"/>
              </a:lnSpc>
              <a:spcBef>
                <a:spcPts val="1005"/>
              </a:spcBef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overflow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还有个作用是清除浮动的影响，具体说就是清除包含块内子元素的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浮动。</a:t>
            </a:r>
            <a:endParaRPr lang="en-US" altLang="zh-CN" dirty="0" smtClean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8656" y="48905"/>
            <a:ext cx="1676400" cy="2147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651" y="335287"/>
            <a:ext cx="1562987" cy="15747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698" y="326866"/>
            <a:ext cx="1567913" cy="159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盒子模型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object 12"/>
          <p:cNvSpPr txBox="1"/>
          <p:nvPr/>
        </p:nvSpPr>
        <p:spPr>
          <a:xfrm>
            <a:off x="900548" y="1744776"/>
            <a:ext cx="3512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/>
                <a:cs typeface="微软雅黑"/>
              </a:rPr>
              <a:t>7</a:t>
            </a:r>
            <a:r>
              <a:rPr lang="zh-CN" altLang="en-US" sz="2400" b="1" dirty="0" smtClean="0">
                <a:solidFill>
                  <a:srgbClr val="585858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b="1" dirty="0">
                <a:solidFill>
                  <a:srgbClr val="585858"/>
                </a:solidFill>
                <a:latin typeface="微软雅黑"/>
                <a:cs typeface="微软雅黑"/>
              </a:rPr>
              <a:t>清除内外边距</a:t>
            </a:r>
            <a:endParaRPr lang="zh-CN" altLang="en-US" sz="2400" b="1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0548" y="2322998"/>
            <a:ext cx="10372063" cy="3230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85090" lvl="0">
              <a:lnSpc>
                <a:spcPct val="151000"/>
              </a:lnSpc>
              <a:spcBef>
                <a:spcPts val="1005"/>
              </a:spcBef>
            </a:pP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网页元素很多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都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带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有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默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认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的内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外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z="2000" spc="-3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，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而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且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不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同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浏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览</a:t>
            </a:r>
            <a:r>
              <a:rPr lang="zh-CN" altLang="en-US" sz="2000" spc="-20" dirty="0">
                <a:solidFill>
                  <a:prstClr val="black"/>
                </a:solidFill>
                <a:latin typeface="微软雅黑"/>
                <a:cs typeface="微软雅黑"/>
              </a:rPr>
              <a:t>器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默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认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z="2000" spc="-10" dirty="0">
                <a:solidFill>
                  <a:prstClr val="black"/>
                </a:solidFill>
                <a:latin typeface="微软雅黑"/>
                <a:cs typeface="微软雅黑"/>
              </a:rPr>
              <a:t>也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不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一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致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。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因</a:t>
            </a:r>
            <a:r>
              <a:rPr lang="zh-CN" altLang="en-US" sz="2000" spc="-15" dirty="0">
                <a:solidFill>
                  <a:prstClr val="black"/>
                </a:solidFill>
                <a:latin typeface="微软雅黑"/>
                <a:cs typeface="微软雅黑"/>
              </a:rPr>
              <a:t>此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我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们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在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布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局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前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，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首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先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要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清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除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cs typeface="微软雅黑"/>
              </a:rPr>
              <a:t>下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/>
                <a:cs typeface="微软雅黑"/>
              </a:rPr>
              <a:t>网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页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元素的内外</a:t>
            </a:r>
            <a:r>
              <a:rPr lang="zh-CN" altLang="en-US" sz="2000" spc="-5" dirty="0">
                <a:solidFill>
                  <a:prstClr val="black"/>
                </a:solidFill>
                <a:latin typeface="微软雅黑"/>
                <a:cs typeface="微软雅黑"/>
              </a:rPr>
              <a:t>边</a:t>
            </a:r>
            <a:r>
              <a:rPr lang="zh-CN" altLang="en-US" sz="2000" spc="5" dirty="0">
                <a:solidFill>
                  <a:prstClr val="black"/>
                </a:solidFill>
                <a:latin typeface="微软雅黑"/>
                <a:cs typeface="微软雅黑"/>
              </a:rPr>
              <a:t>距</a:t>
            </a:r>
            <a:r>
              <a:rPr lang="zh-CN" altLang="en-US" sz="2000" spc="5" dirty="0" smtClean="0">
                <a:solidFill>
                  <a:prstClr val="black"/>
                </a:solidFill>
                <a:latin typeface="微软雅黑"/>
                <a:cs typeface="微软雅黑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12700" marR="85090" lvl="0">
              <a:lnSpc>
                <a:spcPct val="151000"/>
              </a:lnSpc>
              <a:spcBef>
                <a:spcPts val="1005"/>
              </a:spcBef>
            </a:pPr>
            <a:r>
              <a:rPr lang="zh-CN" altLang="en-US" sz="2000" dirty="0" smtClean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*</a:t>
            </a:r>
            <a:r>
              <a:rPr lang="zh-CN" altLang="en-US" sz="2000" spc="-50" dirty="0" smtClean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{</a:t>
            </a:r>
            <a:endParaRPr lang="en-US" altLang="zh-CN" sz="2000" dirty="0">
              <a:solidFill>
                <a:prstClr val="black"/>
              </a:solidFill>
              <a:latin typeface="Courier New" panose="02070409020205090404"/>
              <a:cs typeface="Courier New" panose="02070409020205090404"/>
            </a:endParaRPr>
          </a:p>
          <a:p>
            <a:pPr marL="418465" marR="3912870" lvl="0">
              <a:lnSpc>
                <a:spcPct val="150000"/>
              </a:lnSpc>
              <a:spcBef>
                <a:spcPts val="25"/>
              </a:spcBef>
              <a:tabLst>
                <a:tab pos="1449070" algn="l"/>
              </a:tabLst>
            </a:pPr>
            <a:r>
              <a:rPr lang="en-US" altLang="zh-CN" sz="2000" spc="-5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padding:0;	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/*</a:t>
            </a:r>
            <a:r>
              <a:rPr lang="zh-CN" altLang="en-US" sz="2000" spc="-6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 </a:t>
            </a:r>
            <a:r>
              <a:rPr lang="zh-CN" altLang="en-US" sz="2000" spc="5" dirty="0">
                <a:solidFill>
                  <a:prstClr val="black"/>
                </a:solidFill>
                <a:latin typeface="宋体"/>
                <a:cs typeface="宋体"/>
              </a:rPr>
              <a:t>清除内边距</a:t>
            </a:r>
            <a:r>
              <a:rPr lang="zh-CN" altLang="en-US" sz="2000" spc="25" dirty="0">
                <a:solidFill>
                  <a:prstClr val="black"/>
                </a:solidFill>
                <a:latin typeface="宋体"/>
                <a:cs typeface="宋体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*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/  </a:t>
            </a:r>
            <a:endParaRPr lang="en-US" altLang="zh-CN" sz="2000" dirty="0" smtClean="0">
              <a:solidFill>
                <a:prstClr val="black"/>
              </a:solidFill>
              <a:latin typeface="Courier New" panose="02070409020205090404"/>
              <a:cs typeface="Courier New" panose="02070409020205090404"/>
            </a:endParaRPr>
          </a:p>
          <a:p>
            <a:pPr marL="418465" marR="3912870" lvl="0">
              <a:lnSpc>
                <a:spcPct val="150000"/>
              </a:lnSpc>
              <a:spcBef>
                <a:spcPts val="25"/>
              </a:spcBef>
              <a:tabLst>
                <a:tab pos="1449070" algn="l"/>
              </a:tabLst>
            </a:pPr>
            <a:r>
              <a:rPr lang="en-US" altLang="zh-CN" sz="2000" spc="-5" dirty="0" smtClean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margin:0</a:t>
            </a:r>
            <a:r>
              <a:rPr lang="en-US" altLang="zh-CN" sz="2000" spc="-5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;	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/*</a:t>
            </a:r>
            <a:r>
              <a:rPr lang="zh-CN" altLang="en-US" sz="2000" spc="-7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 </a:t>
            </a:r>
            <a:r>
              <a:rPr lang="zh-CN" altLang="en-US" sz="2000" spc="5" dirty="0">
                <a:solidFill>
                  <a:prstClr val="black"/>
                </a:solidFill>
                <a:latin typeface="宋体"/>
                <a:cs typeface="宋体"/>
              </a:rPr>
              <a:t>清除外边距</a:t>
            </a:r>
            <a:r>
              <a:rPr lang="zh-CN" altLang="en-US" sz="2000" spc="25" dirty="0">
                <a:solidFill>
                  <a:prstClr val="black"/>
                </a:solidFill>
                <a:latin typeface="宋体"/>
                <a:cs typeface="宋体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*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/</a:t>
            </a:r>
            <a:endParaRPr lang="en-US" altLang="zh-CN" sz="2000" dirty="0">
              <a:solidFill>
                <a:prstClr val="black"/>
              </a:solidFill>
              <a:latin typeface="Courier New" panose="02070409020205090404"/>
              <a:cs typeface="Courier New" panose="02070409020205090404"/>
            </a:endParaRPr>
          </a:p>
          <a:p>
            <a:pPr marL="258445" lvl="0">
              <a:spcBef>
                <a:spcPts val="610"/>
              </a:spcBef>
            </a:pPr>
            <a:r>
              <a:rPr lang="en-US" altLang="zh-CN" sz="2000" dirty="0" smtClean="0">
                <a:solidFill>
                  <a:prstClr val="black"/>
                </a:solidFill>
                <a:latin typeface="Courier New" panose="02070409020205090404"/>
                <a:cs typeface="Courier New" panose="02070409020205090404"/>
              </a:rPr>
              <a:t>}</a:t>
            </a:r>
            <a:endParaRPr lang="zh-CN" altLang="en-US" sz="28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lvl="0">
              <a:spcBef>
                <a:spcPts val="45"/>
              </a:spcBef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586253"/>
            <a:ext cx="47588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分类：文档流定位、浮动定位、层定位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159" y="2408874"/>
            <a:ext cx="5195843" cy="38842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5867" y="1609871"/>
            <a:ext cx="1046085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所谓</a:t>
            </a:r>
            <a:r>
              <a:rPr lang="zh-CN" altLang="en-US" sz="2000" dirty="0" smtClean="0"/>
              <a:t>的文档流</a:t>
            </a:r>
            <a:r>
              <a:rPr lang="en-US" altLang="zh-CN" sz="2000" dirty="0"/>
              <a:t>: </a:t>
            </a:r>
            <a:r>
              <a:rPr lang="zh-CN" altLang="en-US" sz="2000" dirty="0"/>
              <a:t>就是指在不对页面进行任何布局控制时，浏览器默认的 </a:t>
            </a:r>
            <a:r>
              <a:rPr lang="en-US" altLang="zh-CN" sz="2000" dirty="0"/>
              <a:t>HTML </a:t>
            </a:r>
            <a:r>
              <a:rPr lang="zh-CN" altLang="en-US" sz="2000" dirty="0"/>
              <a:t>布局方式</a:t>
            </a:r>
            <a:r>
              <a:rPr lang="zh-CN" altLang="en-US" sz="2000" dirty="0" smtClean="0"/>
              <a:t>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1. </a:t>
            </a:r>
            <a:r>
              <a:rPr lang="zh-CN" altLang="en-US" sz="2000" b="1" dirty="0">
                <a:solidFill>
                  <a:srgbClr val="C00000"/>
                </a:solidFill>
              </a:rPr>
              <a:t>块级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元素（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block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2000" dirty="0" smtClean="0"/>
              <a:t>，会</a:t>
            </a:r>
            <a:r>
              <a:rPr lang="zh-CN" altLang="en-US" sz="2000" dirty="0"/>
              <a:t>独占一行，从上向下顺序排列</a:t>
            </a:r>
            <a:r>
              <a:rPr lang="zh-CN" altLang="en-US" sz="2000" dirty="0" smtClean="0"/>
              <a:t>。</a:t>
            </a:r>
            <a:r>
              <a:rPr lang="en-US" altLang="zh-CN" sz="2000" dirty="0"/>
              <a:t>width </a:t>
            </a:r>
            <a:r>
              <a:rPr lang="zh-CN" altLang="en-US" sz="2000" dirty="0"/>
              <a:t>和 </a:t>
            </a:r>
            <a:r>
              <a:rPr lang="en-US" altLang="zh-CN" sz="2000" dirty="0"/>
              <a:t>height </a:t>
            </a:r>
            <a:r>
              <a:rPr lang="zh-CN" altLang="en-US" sz="2000" dirty="0"/>
              <a:t>属性可以发挥</a:t>
            </a:r>
            <a:r>
              <a:rPr lang="zh-CN" altLang="en-US" sz="2000" dirty="0" smtClean="0"/>
              <a:t>作用。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内边距（</a:t>
            </a:r>
            <a:r>
              <a:rPr lang="en-US" altLang="zh-CN" sz="2000" dirty="0"/>
              <a:t>padding</a:t>
            </a:r>
            <a:r>
              <a:rPr lang="zh-CN" altLang="en-US" sz="2000" dirty="0"/>
              <a:t>）</a:t>
            </a:r>
            <a:r>
              <a:rPr lang="en-US" altLang="zh-CN" sz="2000" dirty="0"/>
              <a:t>, </a:t>
            </a:r>
            <a:r>
              <a:rPr lang="zh-CN" altLang="en-US" sz="2000" dirty="0"/>
              <a:t>外边距（</a:t>
            </a:r>
            <a:r>
              <a:rPr lang="en-US" altLang="zh-CN" sz="2000" dirty="0"/>
              <a:t>margin</a:t>
            </a:r>
            <a:r>
              <a:rPr lang="zh-CN" altLang="en-US" sz="2000" dirty="0"/>
              <a:t>）和 边框（</a:t>
            </a:r>
            <a:r>
              <a:rPr lang="en-US" altLang="zh-CN" sz="2000" dirty="0"/>
              <a:t>border</a:t>
            </a:r>
            <a:r>
              <a:rPr lang="zh-CN" altLang="en-US" sz="2000" dirty="0"/>
              <a:t>）会将其他元素从当前盒子周围</a:t>
            </a:r>
            <a:r>
              <a:rPr lang="zh-CN" altLang="en-US" sz="2000" dirty="0" smtClean="0"/>
              <a:t>“推开”。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常用元素：</a:t>
            </a:r>
            <a:r>
              <a:rPr lang="en-US" altLang="zh-CN" sz="2000" dirty="0"/>
              <a:t>div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hr</a:t>
            </a:r>
            <a:r>
              <a:rPr lang="zh-CN" altLang="en-US" sz="2000" dirty="0"/>
              <a:t>、</a:t>
            </a:r>
            <a:r>
              <a:rPr lang="en-US" altLang="zh-CN" sz="2000" dirty="0"/>
              <a:t>p</a:t>
            </a:r>
            <a:r>
              <a:rPr lang="zh-CN" altLang="en-US" sz="2000" dirty="0"/>
              <a:t>、</a:t>
            </a:r>
            <a:r>
              <a:rPr lang="en-US" altLang="zh-CN" sz="2000" dirty="0"/>
              <a:t>h1~h6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ul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ol</a:t>
            </a:r>
            <a:r>
              <a:rPr lang="zh-CN" altLang="en-US" sz="2000" dirty="0"/>
              <a:t>、</a:t>
            </a:r>
            <a:r>
              <a:rPr lang="en-US" altLang="zh-CN" sz="2000" dirty="0"/>
              <a:t>dl</a:t>
            </a:r>
            <a:r>
              <a:rPr lang="zh-CN" altLang="en-US" sz="2000" dirty="0"/>
              <a:t>、</a:t>
            </a:r>
            <a:r>
              <a:rPr lang="en-US" altLang="zh-CN" sz="2000" dirty="0"/>
              <a:t>form</a:t>
            </a:r>
            <a:r>
              <a:rPr lang="zh-CN" altLang="en-US" sz="2000" dirty="0"/>
              <a:t>、</a:t>
            </a:r>
            <a:r>
              <a:rPr lang="en-US" altLang="zh-CN" sz="2000" dirty="0" smtClean="0"/>
              <a:t>table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en-US" altLang="zh-CN" sz="2000" dirty="0"/>
              <a:t>. </a:t>
            </a:r>
            <a:r>
              <a:rPr lang="zh-CN" altLang="en-US" sz="2000" b="1" dirty="0">
                <a:solidFill>
                  <a:srgbClr val="C00000"/>
                </a:solidFill>
              </a:rPr>
              <a:t>行内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元素（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inline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2000" dirty="0" smtClean="0"/>
              <a:t>，不会产生换行，</a:t>
            </a:r>
            <a:r>
              <a:rPr lang="zh-CN" altLang="en-US" sz="2000" dirty="0"/>
              <a:t>从左到右顺序排列，碰到父元素边缘则自动换行</a:t>
            </a:r>
            <a:r>
              <a:rPr lang="zh-CN" altLang="en-US" sz="2000" dirty="0" smtClean="0"/>
              <a:t>。</a:t>
            </a:r>
            <a:r>
              <a:rPr lang="en-US" altLang="zh-CN" sz="2000" dirty="0"/>
              <a:t>width </a:t>
            </a:r>
            <a:r>
              <a:rPr lang="zh-CN" altLang="en-US" sz="2000" dirty="0"/>
              <a:t>和 </a:t>
            </a:r>
            <a:r>
              <a:rPr lang="en-US" altLang="zh-CN" sz="2000" dirty="0"/>
              <a:t>height </a:t>
            </a:r>
            <a:r>
              <a:rPr lang="zh-CN" altLang="en-US" sz="2000" dirty="0"/>
              <a:t>属性将不</a:t>
            </a:r>
            <a:r>
              <a:rPr lang="zh-CN" altLang="en-US" sz="2000" dirty="0" smtClean="0"/>
              <a:t>起作用。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常用元素：</a:t>
            </a:r>
            <a:r>
              <a:rPr lang="en-US" altLang="zh-CN" sz="2000" dirty="0"/>
              <a:t>span</a:t>
            </a:r>
            <a:r>
              <a:rPr lang="zh-CN" altLang="en-US" sz="2000" dirty="0"/>
              <a:t>、</a:t>
            </a:r>
            <a:r>
              <a:rPr lang="en-US" altLang="zh-CN" sz="2000" dirty="0"/>
              <a:t>a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i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em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strong</a:t>
            </a:r>
            <a:r>
              <a:rPr lang="zh-CN" altLang="en-US" sz="2000" dirty="0" smtClean="0"/>
              <a:t>等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以上</a:t>
            </a:r>
            <a:r>
              <a:rPr lang="zh-CN" altLang="en-US" sz="2000" dirty="0" smtClean="0"/>
              <a:t>都是文档流</a:t>
            </a:r>
            <a:r>
              <a:rPr lang="zh-CN" altLang="en-US" sz="2000" dirty="0"/>
              <a:t>布局</a:t>
            </a:r>
            <a:r>
              <a:rPr lang="zh-CN" altLang="en-US" sz="2000" dirty="0" smtClean="0"/>
              <a:t>，文档流</a:t>
            </a:r>
            <a:r>
              <a:rPr lang="zh-CN" altLang="en-US" sz="2000" dirty="0"/>
              <a:t>是最基本的布局方式。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文档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流定位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5867" y="1660352"/>
            <a:ext cx="4562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 smtClean="0">
                <a:latin typeface="微软雅黑" charset="-122"/>
              </a:rPr>
              <a:t>将</a:t>
            </a:r>
            <a:r>
              <a:rPr lang="en-US" altLang="zh-CN" sz="2400" b="1" dirty="0" smtClean="0">
                <a:latin typeface="微软雅黑" charset="-122"/>
              </a:rPr>
              <a:t>inline</a:t>
            </a:r>
            <a:r>
              <a:rPr lang="zh-CN" altLang="en-US" sz="2400" b="1" dirty="0" smtClean="0">
                <a:latin typeface="微软雅黑" charset="-122"/>
              </a:rPr>
              <a:t>元素</a:t>
            </a:r>
            <a:r>
              <a:rPr lang="zh-CN" altLang="en-US" sz="2400" b="1" dirty="0">
                <a:latin typeface="微软雅黑" charset="-122"/>
              </a:rPr>
              <a:t>显示为</a:t>
            </a:r>
            <a:r>
              <a:rPr lang="en-US" altLang="zh-CN" sz="2400" b="1" dirty="0">
                <a:latin typeface="Times New Roman" panose="02020503050405090304" pitchFamily="18" charset="0"/>
              </a:rPr>
              <a:t>block</a:t>
            </a:r>
            <a:r>
              <a:rPr lang="zh-CN" altLang="en-US" sz="2400" b="1" dirty="0">
                <a:latin typeface="微软雅黑" charset="-122"/>
              </a:rPr>
              <a:t>元素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861660" y="229808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>
                <a:latin typeface="微软雅黑" charset="-122"/>
              </a:rPr>
              <a:t>a{</a:t>
            </a:r>
            <a:endParaRPr lang="en-US" altLang="zh-CN" sz="2000" dirty="0">
              <a:latin typeface="微软雅黑" charset="-122"/>
            </a:endParaRPr>
          </a:p>
          <a:p>
            <a:r>
              <a:rPr lang="en-US" altLang="zh-CN" sz="2000" dirty="0" smtClean="0">
                <a:latin typeface="微软雅黑" charset="-122"/>
              </a:rPr>
              <a:t>    </a:t>
            </a:r>
            <a:r>
              <a:rPr lang="en-US" altLang="zh-CN" sz="2000" dirty="0" err="1" smtClean="0">
                <a:latin typeface="微软雅黑" charset="-122"/>
              </a:rPr>
              <a:t>display:block</a:t>
            </a:r>
            <a:r>
              <a:rPr lang="en-US" altLang="zh-CN" sz="2000" dirty="0">
                <a:latin typeface="微软雅黑" charset="-122"/>
              </a:rPr>
              <a:t>;</a:t>
            </a:r>
            <a:endParaRPr lang="en-US" altLang="zh-CN" sz="2000" dirty="0">
              <a:latin typeface="微软雅黑" charset="-122"/>
            </a:endParaRPr>
          </a:p>
          <a:p>
            <a:r>
              <a:rPr lang="en-US" altLang="zh-CN" sz="2000" dirty="0">
                <a:latin typeface="微软雅黑" charset="-122"/>
              </a:rPr>
              <a:t>}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61659" y="3313750"/>
            <a:ext cx="96608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inline</a:t>
            </a:r>
            <a:r>
              <a:rPr lang="zh-CN" altLang="en-US" sz="2400" dirty="0" smtClean="0"/>
              <a:t>元素 </a:t>
            </a:r>
            <a:r>
              <a:rPr lang="en-US" altLang="zh-CN" sz="2400" dirty="0"/>
              <a:t>a </a:t>
            </a:r>
            <a:r>
              <a:rPr lang="zh-CN" altLang="en-US" sz="2400" dirty="0"/>
              <a:t>转换为 </a:t>
            </a:r>
            <a:r>
              <a:rPr lang="en-US" altLang="zh-CN" sz="2400" dirty="0"/>
              <a:t>block </a:t>
            </a:r>
            <a:r>
              <a:rPr lang="zh-CN" altLang="en-US" sz="2400" dirty="0" smtClean="0"/>
              <a:t>元素，从而使</a:t>
            </a:r>
            <a:r>
              <a:rPr lang="zh-CN" altLang="en-US" sz="2400" dirty="0"/>
              <a:t>链接</a:t>
            </a:r>
            <a:r>
              <a:rPr lang="zh-CN" altLang="en-US" sz="2400" dirty="0" smtClean="0"/>
              <a:t>元素</a:t>
            </a:r>
            <a:r>
              <a:rPr lang="zh-CN" altLang="en-US" sz="2400" dirty="0"/>
              <a:t>具有块状元素特点。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861659" y="4001966"/>
            <a:ext cx="2920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b="1" dirty="0">
                <a:latin typeface="微软雅黑" charset="-122"/>
              </a:rPr>
              <a:t>显示为</a:t>
            </a:r>
            <a:r>
              <a:rPr lang="en-US" altLang="zh-CN" sz="2400" b="1" dirty="0">
                <a:latin typeface="微软雅黑" charset="-122"/>
              </a:rPr>
              <a:t>inline</a:t>
            </a:r>
            <a:r>
              <a:rPr lang="zh-CN" altLang="en-US" sz="2400" b="1" dirty="0">
                <a:latin typeface="微软雅黑" charset="-122"/>
              </a:rPr>
              <a:t>元素</a:t>
            </a:r>
            <a:endParaRPr lang="zh-CN" altLang="en-US" sz="2400" b="1" dirty="0">
              <a:latin typeface="微软雅黑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61660" y="4591023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 smtClean="0">
                <a:latin typeface="微软雅黑" charset="-122"/>
              </a:rPr>
              <a:t>display:inline</a:t>
            </a:r>
            <a:r>
              <a:rPr lang="en-US" altLang="zh-CN" sz="2000" dirty="0" smtClean="0">
                <a:latin typeface="微软雅黑" charset="-122"/>
              </a:rPr>
              <a:t>;</a:t>
            </a:r>
            <a:endParaRPr lang="en-US" altLang="zh-CN" sz="2000" dirty="0">
              <a:latin typeface="微软雅黑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文档流定位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6" y="1523907"/>
            <a:ext cx="83823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dirty="0"/>
              <a:t>inline</a:t>
            </a:r>
            <a:r>
              <a:rPr lang="zh-CN" altLang="en-US" sz="2400" dirty="0"/>
              <a:t>元素之间有一个间距问题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5866" y="2308985"/>
            <a:ext cx="778009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 &lt;style</a:t>
            </a:r>
            <a:r>
              <a:rPr lang="en-US" altLang="zh-CN" sz="2400" dirty="0" smtClean="0"/>
              <a:t>&gt;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a</a:t>
            </a:r>
            <a:r>
              <a:rPr lang="en-US" altLang="zh-CN" sz="2400" dirty="0"/>
              <a:t>{</a:t>
            </a:r>
            <a:endParaRPr lang="en-US" altLang="zh-CN" sz="2400" dirty="0"/>
          </a:p>
          <a:p>
            <a:r>
              <a:rPr lang="en-US" altLang="zh-CN" sz="2400" dirty="0"/>
              <a:t>      display: inline-block;</a:t>
            </a:r>
            <a:endParaRPr lang="en-US" altLang="zh-CN" sz="2400" dirty="0"/>
          </a:p>
          <a:p>
            <a:r>
              <a:rPr lang="en-US" altLang="zh-CN" sz="2400" dirty="0"/>
              <a:t>      background-color: </a:t>
            </a:r>
            <a:r>
              <a:rPr lang="en-US" altLang="zh-CN" sz="2400" dirty="0" err="1"/>
              <a:t>lightskyblue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/>
              <a:t>    }</a:t>
            </a:r>
            <a:endParaRPr lang="en-US" altLang="zh-CN" sz="2400" dirty="0"/>
          </a:p>
          <a:p>
            <a:r>
              <a:rPr lang="en-US" altLang="zh-CN" sz="2400" dirty="0"/>
              <a:t>  &lt;/style&gt;</a:t>
            </a:r>
            <a:endParaRPr lang="en-US" altLang="zh-CN" sz="2400" dirty="0"/>
          </a:p>
          <a:p>
            <a:r>
              <a:rPr lang="en-US" altLang="zh-CN" sz="2400" dirty="0" smtClean="0"/>
              <a:t>&lt;</a:t>
            </a:r>
            <a:r>
              <a:rPr lang="en-US" altLang="zh-CN" sz="2400" dirty="0"/>
              <a:t>body</a:t>
            </a:r>
            <a:r>
              <a:rPr lang="en-US" altLang="zh-CN" sz="2400" dirty="0" smtClean="0"/>
              <a:t>&gt;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en-US" altLang="zh-CN" sz="2400" dirty="0" smtClean="0"/>
              <a:t>&lt;a </a:t>
            </a:r>
            <a:r>
              <a:rPr lang="en-US" altLang="zh-CN" sz="2400" dirty="0" err="1"/>
              <a:t>href</a:t>
            </a:r>
            <a:r>
              <a:rPr lang="en-US" altLang="zh-CN" sz="2400" dirty="0" smtClean="0"/>
              <a:t>="</a:t>
            </a:r>
            <a:r>
              <a:rPr lang="en-US" altLang="zh-CN" sz="2400" dirty="0"/>
              <a:t> https://lib.nankai.edu.cn </a:t>
            </a:r>
            <a:r>
              <a:rPr lang="en-US" altLang="zh-CN" sz="2400" dirty="0" smtClean="0"/>
              <a:t>"&gt;</a:t>
            </a:r>
            <a:r>
              <a:rPr lang="en-US" altLang="zh-CN" sz="2400" dirty="0" err="1" smtClean="0"/>
              <a:t>nku</a:t>
            </a:r>
            <a:r>
              <a:rPr lang="en-US" altLang="zh-CN" sz="2400" dirty="0" smtClean="0"/>
              <a:t> library&lt;/</a:t>
            </a:r>
            <a:r>
              <a:rPr lang="en-US" altLang="zh-CN" sz="2400" dirty="0"/>
              <a:t>a</a:t>
            </a:r>
            <a:r>
              <a:rPr lang="en-US" altLang="zh-CN" sz="2400" dirty="0" smtClean="0"/>
              <a:t>&gt;  &lt;a </a:t>
            </a:r>
            <a:r>
              <a:rPr lang="en-US" altLang="zh-CN" sz="2400" dirty="0" err="1"/>
              <a:t>href</a:t>
            </a:r>
            <a:r>
              <a:rPr lang="en-US" altLang="zh-CN" sz="2400" dirty="0" smtClean="0"/>
              <a:t>=“www.baidu.com"&gt;</a:t>
            </a:r>
            <a:r>
              <a:rPr lang="en-US" altLang="zh-CN" sz="2400" dirty="0" err="1" smtClean="0"/>
              <a:t>baidu</a:t>
            </a:r>
            <a:r>
              <a:rPr lang="en-US" altLang="zh-CN" sz="2400" dirty="0" smtClean="0"/>
              <a:t>&lt;/</a:t>
            </a:r>
            <a:r>
              <a:rPr lang="en-US" altLang="zh-CN" sz="2400" dirty="0"/>
              <a:t>a</a:t>
            </a:r>
            <a:r>
              <a:rPr lang="en-US" altLang="zh-CN" sz="2400" dirty="0" smtClean="0"/>
              <a:t>&gt;</a:t>
            </a:r>
            <a:endParaRPr lang="en-US" altLang="zh-CN" sz="2400" dirty="0"/>
          </a:p>
          <a:p>
            <a:r>
              <a:rPr lang="en-US" altLang="zh-CN" sz="2400" dirty="0"/>
              <a:t>&lt;/body&gt;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182" y="3234389"/>
            <a:ext cx="2937893" cy="1121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文档流定位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586253"/>
            <a:ext cx="1062027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inline-block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元素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</a:rPr>
              <a:t>同时具备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inline </a:t>
            </a:r>
            <a:r>
              <a:rPr lang="zh-CN" altLang="en-US" sz="2000" b="1" dirty="0">
                <a:solidFill>
                  <a:srgbClr val="C00000"/>
                </a:solidFill>
              </a:rPr>
              <a:t>元素、 </a:t>
            </a:r>
            <a:r>
              <a:rPr lang="en-US" altLang="zh-CN" sz="2000" b="1" dirty="0">
                <a:solidFill>
                  <a:srgbClr val="C00000"/>
                </a:solidFill>
              </a:rPr>
              <a:t>block </a:t>
            </a:r>
            <a:r>
              <a:rPr lang="zh-CN" altLang="en-US" sz="2000" b="1" dirty="0">
                <a:solidFill>
                  <a:srgbClr val="C00000"/>
                </a:solidFill>
              </a:rPr>
              <a:t>元素的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特点</a:t>
            </a:r>
            <a:endParaRPr lang="zh-CN" altLang="en-US" sz="20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 smtClean="0"/>
              <a:t>元素同一行显示，除非内容到达父元素边缘，否则不会换行</a:t>
            </a:r>
            <a:endParaRPr lang="zh-CN" altLang="en-US" sz="20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 smtClean="0"/>
              <a:t>而元素</a:t>
            </a:r>
            <a:r>
              <a:rPr lang="zh-CN" altLang="en-US" sz="2000" dirty="0"/>
              <a:t>的</a:t>
            </a:r>
            <a:r>
              <a:rPr lang="en-US" altLang="zh-CN" sz="2000" dirty="0"/>
              <a:t>height</a:t>
            </a:r>
            <a:r>
              <a:rPr lang="zh-CN" altLang="en-US" sz="2000" dirty="0"/>
              <a:t>、</a:t>
            </a:r>
            <a:r>
              <a:rPr lang="en-US" altLang="zh-CN" sz="2000" dirty="0"/>
              <a:t>width</a:t>
            </a:r>
            <a:r>
              <a:rPr lang="zh-CN" altLang="en-US" sz="2000" dirty="0"/>
              <a:t>、</a:t>
            </a:r>
            <a:r>
              <a:rPr lang="en-US" altLang="zh-CN" sz="2000" dirty="0"/>
              <a:t>margin</a:t>
            </a:r>
            <a:r>
              <a:rPr lang="zh-CN" altLang="en-US" sz="2000" dirty="0"/>
              <a:t>、</a:t>
            </a:r>
            <a:r>
              <a:rPr lang="en-US" altLang="zh-CN" sz="2000" dirty="0"/>
              <a:t>padding</a:t>
            </a:r>
            <a:r>
              <a:rPr lang="zh-CN" altLang="en-US" sz="2000" dirty="0"/>
              <a:t>都</a:t>
            </a:r>
            <a:r>
              <a:rPr lang="zh-CN" altLang="en-US" sz="2000" dirty="0" smtClean="0"/>
              <a:t>可以设置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最典型的就是</a:t>
            </a:r>
            <a:r>
              <a:rPr lang="en-US" altLang="zh-CN" sz="2000" dirty="0" err="1" smtClean="0"/>
              <a:t>img</a:t>
            </a:r>
            <a:r>
              <a:rPr lang="zh-CN" altLang="en-US" sz="2000" dirty="0" smtClean="0"/>
              <a:t>元素。属于</a:t>
            </a:r>
            <a:r>
              <a:rPr lang="en-US" altLang="zh-CN" sz="2000" dirty="0" smtClean="0"/>
              <a:t>inline</a:t>
            </a:r>
            <a:r>
              <a:rPr lang="zh-CN" altLang="en-US" sz="2000" dirty="0"/>
              <a:t>元素，但表现上更倾向于 </a:t>
            </a:r>
            <a:r>
              <a:rPr lang="en-US" altLang="zh-CN" sz="2000" dirty="0" smtClean="0"/>
              <a:t>inline-block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sp>
        <p:nvSpPr>
          <p:cNvPr id="12" name="矩形 11"/>
          <p:cNvSpPr/>
          <p:nvPr/>
        </p:nvSpPr>
        <p:spPr>
          <a:xfrm>
            <a:off x="795867" y="4177086"/>
            <a:ext cx="7726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charset="-122"/>
              </a:rPr>
              <a:t>通过给元素添加</a:t>
            </a:r>
            <a:r>
              <a:rPr lang="en-US" altLang="zh-CN" sz="2400" dirty="0" err="1" smtClean="0">
                <a:latin typeface="微软雅黑" charset="-122"/>
              </a:rPr>
              <a:t>display:inline-block</a:t>
            </a:r>
            <a:r>
              <a:rPr lang="en-US" altLang="zh-CN" sz="2400" dirty="0" smtClean="0">
                <a:latin typeface="微软雅黑" charset="-122"/>
              </a:rPr>
              <a:t>;</a:t>
            </a:r>
            <a:r>
              <a:rPr lang="zh-CN" altLang="en-US" sz="2400" dirty="0" smtClean="0">
                <a:latin typeface="微软雅黑" charset="-122"/>
              </a:rPr>
              <a:t>来设置</a:t>
            </a:r>
            <a:endParaRPr lang="en-US" altLang="zh-CN" sz="2400" dirty="0">
              <a:latin typeface="微软雅黑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869" y="4125317"/>
            <a:ext cx="5161785" cy="2539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13846" y="1872020"/>
            <a:ext cx="463995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CSS</a:t>
            </a:r>
            <a:r>
              <a:rPr lang="zh-CN" altLang="en-US" sz="2000" dirty="0" smtClean="0">
                <a:solidFill>
                  <a:srgbClr val="FF0000"/>
                </a:solidFill>
              </a:rPr>
              <a:t>：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&lt;</a:t>
            </a:r>
            <a:r>
              <a:rPr lang="en-US" altLang="zh-CN" sz="2000" dirty="0"/>
              <a:t>style&gt;</a:t>
            </a:r>
            <a:endParaRPr lang="en-US" altLang="zh-CN" sz="2000" dirty="0"/>
          </a:p>
          <a:p>
            <a:r>
              <a:rPr lang="en-US" altLang="zh-CN" sz="2000" dirty="0"/>
              <a:t>    .</a:t>
            </a:r>
            <a:r>
              <a:rPr lang="en-US" altLang="zh-CN" sz="2000" dirty="0" err="1"/>
              <a:t>imglist</a:t>
            </a:r>
            <a:r>
              <a:rPr lang="en-US" altLang="zh-CN" sz="2000" dirty="0"/>
              <a:t>{</a:t>
            </a:r>
            <a:endParaRPr lang="en-US" altLang="zh-CN" sz="2000" dirty="0"/>
          </a:p>
          <a:p>
            <a:r>
              <a:rPr lang="en-US" altLang="zh-CN" sz="2000" dirty="0"/>
              <a:t>      text-align: center;</a:t>
            </a:r>
            <a:endParaRPr lang="en-US" altLang="zh-CN" sz="2000" dirty="0"/>
          </a:p>
          <a:p>
            <a:r>
              <a:rPr lang="en-US" altLang="zh-CN" sz="2000" dirty="0"/>
              <a:t>      font-size: 0</a:t>
            </a:r>
            <a:r>
              <a:rPr lang="en-US" altLang="zh-CN" sz="2000" dirty="0" smtClean="0"/>
              <a:t>; /*</a:t>
            </a:r>
            <a:r>
              <a:rPr lang="zh-CN" altLang="en-US" sz="2000" dirty="0" smtClean="0"/>
              <a:t>否则图间有间隙</a:t>
            </a:r>
            <a:r>
              <a:rPr lang="en-US" altLang="zh-CN" sz="2000" dirty="0" smtClean="0"/>
              <a:t>*/	</a:t>
            </a:r>
            <a:endParaRPr lang="en-US" altLang="zh-CN" sz="2000" dirty="0"/>
          </a:p>
          <a:p>
            <a:r>
              <a:rPr lang="en-US" altLang="zh-CN" sz="2000" dirty="0"/>
              <a:t>    }</a:t>
            </a:r>
            <a:endParaRPr lang="en-US" altLang="zh-CN" sz="2000" dirty="0"/>
          </a:p>
          <a:p>
            <a:r>
              <a:rPr lang="en-US" altLang="zh-CN" sz="2000" dirty="0"/>
              <a:t>    .</a:t>
            </a:r>
            <a:r>
              <a:rPr lang="en-US" altLang="zh-CN" sz="2000" dirty="0" err="1"/>
              <a:t>imglist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img</a:t>
            </a:r>
            <a:r>
              <a:rPr lang="en-US" altLang="zh-CN" sz="2000" dirty="0"/>
              <a:t>{</a:t>
            </a:r>
            <a:endParaRPr lang="en-US" altLang="zh-CN" sz="2000" dirty="0"/>
          </a:p>
          <a:p>
            <a:r>
              <a:rPr lang="en-US" altLang="zh-CN" sz="2000" dirty="0"/>
              <a:t>      height: 100px;</a:t>
            </a:r>
            <a:endParaRPr lang="en-US" altLang="zh-CN" sz="2000" dirty="0"/>
          </a:p>
          <a:p>
            <a:r>
              <a:rPr lang="en-US" altLang="zh-CN" sz="2000" dirty="0"/>
              <a:t>      width: 100px;</a:t>
            </a:r>
            <a:endParaRPr lang="en-US" altLang="zh-CN" sz="2000" dirty="0"/>
          </a:p>
          <a:p>
            <a:r>
              <a:rPr lang="en-US" altLang="zh-CN" sz="2000" dirty="0"/>
              <a:t>      margin-left: 5px;</a:t>
            </a:r>
            <a:endParaRPr lang="en-US" altLang="zh-CN" sz="2000" dirty="0"/>
          </a:p>
          <a:p>
            <a:r>
              <a:rPr lang="en-US" altLang="zh-CN" sz="2000" dirty="0"/>
              <a:t>      border: 1px solid #0cf;</a:t>
            </a:r>
            <a:endParaRPr lang="en-US" altLang="zh-CN" sz="2000" dirty="0"/>
          </a:p>
          <a:p>
            <a:r>
              <a:rPr lang="en-US" altLang="zh-CN" sz="2000" dirty="0"/>
              <a:t>      padding: 5px;</a:t>
            </a:r>
            <a:endParaRPr lang="en-US" altLang="zh-CN" sz="2000" dirty="0"/>
          </a:p>
          <a:p>
            <a:r>
              <a:rPr lang="en-US" altLang="zh-CN" sz="2000" dirty="0"/>
              <a:t>    }</a:t>
            </a:r>
            <a:endParaRPr lang="en-US" altLang="zh-CN" sz="2000" dirty="0"/>
          </a:p>
          <a:p>
            <a:r>
              <a:rPr lang="en-US" altLang="zh-CN" sz="2000" dirty="0"/>
              <a:t>  &lt;/style&gt;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795867" y="3400247"/>
            <a:ext cx="48567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HTML</a:t>
            </a:r>
            <a:r>
              <a:rPr lang="zh-CN" altLang="en-US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/>
          </a:p>
          <a:p>
            <a:r>
              <a:rPr lang="en-US" altLang="zh-CN" sz="2400" dirty="0" smtClean="0"/>
              <a:t>&lt;</a:t>
            </a:r>
            <a:r>
              <a:rPr lang="en-US" altLang="zh-CN" sz="2400" dirty="0"/>
              <a:t>div class="</a:t>
            </a:r>
            <a:r>
              <a:rPr lang="en-US" altLang="zh-CN" sz="2400" dirty="0" err="1"/>
              <a:t>imglist</a:t>
            </a:r>
            <a:r>
              <a:rPr lang="en-US" altLang="zh-CN" sz="2400" dirty="0"/>
              <a:t>"&gt;</a:t>
            </a:r>
            <a:endParaRPr lang="en-US" altLang="zh-CN" sz="2400" dirty="0"/>
          </a:p>
          <a:p>
            <a:r>
              <a:rPr lang="en-US" altLang="zh-CN" sz="2400" dirty="0"/>
              <a:t>  &lt;</a:t>
            </a:r>
            <a:r>
              <a:rPr lang="en-US" altLang="zh-CN" sz="2400" dirty="0" err="1"/>
              <a:t>img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src</a:t>
            </a:r>
            <a:r>
              <a:rPr lang="en-US" altLang="zh-CN" sz="2400" dirty="0"/>
              <a:t>="</a:t>
            </a:r>
            <a:r>
              <a:rPr lang="en-US" altLang="zh-CN" sz="2400" dirty="0" smtClean="0"/>
              <a:t>images/s1.jpg</a:t>
            </a:r>
            <a:r>
              <a:rPr lang="en-US" altLang="zh-CN" sz="2400" dirty="0"/>
              <a:t>"/&gt;</a:t>
            </a:r>
            <a:endParaRPr lang="en-US" altLang="zh-CN" sz="2400" dirty="0"/>
          </a:p>
          <a:p>
            <a:r>
              <a:rPr lang="en-US" altLang="zh-CN" sz="2400" dirty="0"/>
              <a:t>  &lt;</a:t>
            </a:r>
            <a:r>
              <a:rPr lang="en-US" altLang="zh-CN" sz="2400" dirty="0" err="1"/>
              <a:t>img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src</a:t>
            </a:r>
            <a:r>
              <a:rPr lang="en-US" altLang="zh-CN" sz="2400" dirty="0"/>
              <a:t>="</a:t>
            </a:r>
            <a:r>
              <a:rPr lang="en-US" altLang="zh-CN" sz="2400" dirty="0" smtClean="0"/>
              <a:t>images/s1.jpg</a:t>
            </a:r>
            <a:r>
              <a:rPr lang="en-US" altLang="zh-CN" sz="2400" dirty="0"/>
              <a:t>"/&gt;</a:t>
            </a:r>
            <a:endParaRPr lang="en-US" altLang="zh-CN" sz="2400" dirty="0"/>
          </a:p>
          <a:p>
            <a:r>
              <a:rPr lang="en-US" altLang="zh-CN" sz="2400" dirty="0"/>
              <a:t>  &lt;</a:t>
            </a:r>
            <a:r>
              <a:rPr lang="en-US" altLang="zh-CN" sz="2400" dirty="0" err="1"/>
              <a:t>img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src</a:t>
            </a:r>
            <a:r>
              <a:rPr lang="en-US" altLang="zh-CN" sz="2400" dirty="0"/>
              <a:t>="</a:t>
            </a:r>
            <a:r>
              <a:rPr lang="en-US" altLang="zh-CN" sz="2400" dirty="0" smtClean="0"/>
              <a:t>images/s1.jpg</a:t>
            </a:r>
            <a:r>
              <a:rPr lang="en-US" altLang="zh-CN" sz="2400" dirty="0"/>
              <a:t>"/&gt;</a:t>
            </a:r>
            <a:endParaRPr lang="en-US" altLang="zh-CN" sz="2400" dirty="0"/>
          </a:p>
          <a:p>
            <a:r>
              <a:rPr lang="en-US" altLang="zh-CN" sz="2400" dirty="0"/>
              <a:t>&lt;/div&gt;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867" y="2144769"/>
            <a:ext cx="3467100" cy="120967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07685" y="6101834"/>
            <a:ext cx="5344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为图片所在的父元素设置 </a:t>
            </a:r>
            <a:r>
              <a:rPr lang="en-US" altLang="zh-CN" dirty="0"/>
              <a:t>font-size:0; </a:t>
            </a:r>
            <a:r>
              <a:rPr lang="zh-CN" altLang="en-US" dirty="0"/>
              <a:t>的形式来</a:t>
            </a:r>
            <a:r>
              <a:rPr lang="zh-CN" altLang="en-US" dirty="0" smtClean="0"/>
              <a:t>解决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8975" y="1619379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相邻图片之间有空白间隙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文档流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91" y="1753364"/>
            <a:ext cx="5334000" cy="685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91" y="2732809"/>
            <a:ext cx="5248275" cy="6858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95867" y="4197926"/>
            <a:ext cx="537633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&lt;</a:t>
            </a:r>
            <a:r>
              <a:rPr lang="en-US" altLang="zh-CN" sz="2400" dirty="0" err="1"/>
              <a:t>ul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r>
              <a:rPr lang="en-US" altLang="zh-CN" sz="2400" dirty="0"/>
              <a:t>    &lt;li&gt;&lt;a </a:t>
            </a:r>
            <a:r>
              <a:rPr lang="en-US" altLang="zh-CN" sz="2400" dirty="0" err="1"/>
              <a:t>href</a:t>
            </a:r>
            <a:r>
              <a:rPr lang="en-US" altLang="zh-CN" sz="2400" dirty="0"/>
              <a:t>="#"&gt;</a:t>
            </a:r>
            <a:r>
              <a:rPr lang="zh-CN" altLang="en-US" sz="2400" dirty="0"/>
              <a:t>链接</a:t>
            </a:r>
            <a:r>
              <a:rPr lang="en-US" altLang="zh-CN" sz="2400" dirty="0"/>
              <a:t>1&lt;/a&gt;&lt;/li&gt;</a:t>
            </a:r>
            <a:endParaRPr lang="en-US" altLang="zh-CN" sz="2400" dirty="0"/>
          </a:p>
          <a:p>
            <a:r>
              <a:rPr lang="en-US" altLang="zh-CN" sz="2400" dirty="0"/>
              <a:t>    &lt;li&gt;&lt;a </a:t>
            </a:r>
            <a:r>
              <a:rPr lang="en-US" altLang="zh-CN" sz="2400" dirty="0" err="1"/>
              <a:t>href</a:t>
            </a:r>
            <a:r>
              <a:rPr lang="en-US" altLang="zh-CN" sz="2400" dirty="0"/>
              <a:t>="#"&gt;</a:t>
            </a:r>
            <a:r>
              <a:rPr lang="zh-CN" altLang="en-US" sz="2400" dirty="0"/>
              <a:t>链接</a:t>
            </a:r>
            <a:r>
              <a:rPr lang="en-US" altLang="zh-CN" sz="2400" dirty="0"/>
              <a:t>2&lt;/a&gt;&lt;/li&gt;</a:t>
            </a:r>
            <a:endParaRPr lang="en-US" altLang="zh-CN" sz="2400" dirty="0"/>
          </a:p>
          <a:p>
            <a:r>
              <a:rPr lang="en-US" altLang="zh-CN" sz="2400" dirty="0"/>
              <a:t>    &lt;li&gt;&lt;a </a:t>
            </a:r>
            <a:r>
              <a:rPr lang="en-US" altLang="zh-CN" sz="2400" dirty="0" err="1"/>
              <a:t>href</a:t>
            </a:r>
            <a:r>
              <a:rPr lang="en-US" altLang="zh-CN" sz="2400" dirty="0"/>
              <a:t>="#"&gt;</a:t>
            </a:r>
            <a:r>
              <a:rPr lang="zh-CN" altLang="en-US" sz="2400" dirty="0"/>
              <a:t>链接</a:t>
            </a:r>
            <a:r>
              <a:rPr lang="en-US" altLang="zh-CN" sz="2400" dirty="0"/>
              <a:t>3&lt;/a&gt;&lt;/li&gt;</a:t>
            </a:r>
            <a:endParaRPr lang="en-US" altLang="zh-CN" sz="2400" dirty="0"/>
          </a:p>
          <a:p>
            <a:r>
              <a:rPr lang="en-US" altLang="zh-CN" sz="2400" dirty="0" smtClean="0"/>
              <a:t>&lt;/</a:t>
            </a:r>
            <a:r>
              <a:rPr lang="en-US" altLang="zh-CN" sz="2400" dirty="0" err="1"/>
              <a:t>ul</a:t>
            </a:r>
            <a:r>
              <a:rPr lang="en-US" altLang="zh-CN" sz="2400" dirty="0"/>
              <a:t>&gt;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文档流定位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4060" y="161021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总结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6709" y="2313076"/>
            <a:ext cx="4838039" cy="334006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14060" y="2170353"/>
            <a:ext cx="660148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元素分类：</a:t>
            </a:r>
            <a:r>
              <a:rPr lang="en-US" altLang="zh-CN" sz="2400" dirty="0" smtClean="0">
                <a:solidFill>
                  <a:srgbClr val="FF0000"/>
                </a:solidFill>
              </a:rPr>
              <a:t>block</a:t>
            </a:r>
            <a:r>
              <a:rPr lang="zh-CN" altLang="en-US" sz="2400" dirty="0" smtClean="0">
                <a:solidFill>
                  <a:srgbClr val="FF0000"/>
                </a:solidFill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</a:rPr>
              <a:t>inline</a:t>
            </a:r>
            <a:r>
              <a:rPr lang="zh-CN" altLang="en-US" sz="2400" dirty="0" smtClean="0">
                <a:solidFill>
                  <a:srgbClr val="FF0000"/>
                </a:solidFill>
              </a:rPr>
              <a:t>、</a:t>
            </a:r>
            <a:r>
              <a:rPr lang="en-US" altLang="zh-CN" sz="2400" dirty="0" smtClean="0">
                <a:solidFill>
                  <a:srgbClr val="FF0000"/>
                </a:solidFill>
              </a:rPr>
              <a:t>inline-block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元素类型之间相互转换，通过</a:t>
            </a:r>
            <a:r>
              <a:rPr lang="en-US" altLang="zh-CN" sz="2400" dirty="0" smtClean="0"/>
              <a:t>display</a:t>
            </a:r>
            <a:r>
              <a:rPr lang="zh-CN" altLang="en-US" sz="2400" dirty="0" smtClean="0"/>
              <a:t>属性；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err="1" smtClean="0"/>
              <a:t>display:none</a:t>
            </a:r>
            <a:r>
              <a:rPr lang="en-US" altLang="zh-CN" sz="2400" dirty="0" smtClean="0"/>
              <a:t>; </a:t>
            </a:r>
            <a:r>
              <a:rPr lang="zh-CN" altLang="en-US" sz="2400" dirty="0" smtClean="0"/>
              <a:t>元素不会被显示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err="1" smtClean="0"/>
              <a:t>display:block</a:t>
            </a:r>
            <a:r>
              <a:rPr lang="en-US" altLang="zh-CN" sz="2400" dirty="0" smtClean="0"/>
              <a:t>; </a:t>
            </a:r>
            <a:r>
              <a:rPr lang="zh-CN" altLang="en-US" sz="2400" dirty="0" smtClean="0"/>
              <a:t>元素显示为</a:t>
            </a:r>
            <a:r>
              <a:rPr lang="en-US" altLang="zh-CN" sz="2400" dirty="0" smtClean="0"/>
              <a:t>block</a:t>
            </a:r>
            <a:r>
              <a:rPr lang="zh-CN" altLang="en-US" sz="2400" dirty="0" smtClean="0"/>
              <a:t>元素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err="1" smtClean="0"/>
              <a:t>display:inline</a:t>
            </a:r>
            <a:r>
              <a:rPr lang="en-US" altLang="zh-CN" sz="2400" dirty="0" smtClean="0"/>
              <a:t>; </a:t>
            </a:r>
            <a:r>
              <a:rPr lang="zh-CN" altLang="en-US" sz="2400" dirty="0" smtClean="0"/>
              <a:t>元素显示为</a:t>
            </a:r>
            <a:r>
              <a:rPr lang="en-US" altLang="zh-CN" sz="2400" dirty="0" smtClean="0"/>
              <a:t>inline</a:t>
            </a:r>
            <a:r>
              <a:rPr lang="zh-CN" altLang="en-US" sz="2400" dirty="0" smtClean="0"/>
              <a:t>元素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err="1" smtClean="0"/>
              <a:t>display:inline-block</a:t>
            </a:r>
            <a:r>
              <a:rPr lang="en-US" altLang="zh-CN" sz="2400" dirty="0" smtClean="0"/>
              <a:t>;</a:t>
            </a:r>
            <a:r>
              <a:rPr lang="zh-CN" altLang="en-US" sz="2400" dirty="0" smtClean="0"/>
              <a:t>元素显示为</a:t>
            </a:r>
            <a:r>
              <a:rPr lang="en-US" altLang="zh-CN" sz="2400" dirty="0" smtClean="0"/>
              <a:t>inline-block</a:t>
            </a:r>
            <a:r>
              <a:rPr lang="zh-CN" altLang="en-US" sz="2400" dirty="0" smtClean="0"/>
              <a:t>元素</a:t>
            </a:r>
            <a:r>
              <a:rPr lang="en-US" altLang="zh-CN" sz="2400" dirty="0" smtClean="0"/>
              <a:t> 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object 4"/>
          <p:cNvSpPr txBox="1"/>
          <p:nvPr/>
        </p:nvSpPr>
        <p:spPr>
          <a:xfrm>
            <a:off x="1206560" y="3491145"/>
            <a:ext cx="10708604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比较难，虽然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转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换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块元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可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实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现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显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示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但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他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们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之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间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会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大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空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白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缝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隙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很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难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控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制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dirty="0">
              <a:latin typeface="微软雅黑"/>
              <a:cs typeface="微软雅黑"/>
            </a:endParaRPr>
          </a:p>
        </p:txBody>
      </p:sp>
      <p:sp>
        <p:nvSpPr>
          <p:cNvPr id="18" name="object 5"/>
          <p:cNvSpPr txBox="1"/>
          <p:nvPr/>
        </p:nvSpPr>
        <p:spPr>
          <a:xfrm>
            <a:off x="1199378" y="1477470"/>
            <a:ext cx="8303763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我</a:t>
            </a:r>
            <a:r>
              <a:rPr spc="-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们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用</a:t>
            </a:r>
            <a:r>
              <a:rPr spc="-1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准</a:t>
            </a:r>
            <a:r>
              <a:rPr spc="-1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流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能</a:t>
            </a:r>
            <a:r>
              <a:rPr spc="-1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很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方</a:t>
            </a:r>
            <a:r>
              <a:rPr spc="-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便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的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实</a:t>
            </a:r>
            <a:r>
              <a:rPr spc="-1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现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如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下</a:t>
            </a:r>
            <a:r>
              <a:rPr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效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果</a:t>
            </a:r>
            <a:r>
              <a:rPr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吗</a:t>
            </a:r>
            <a:r>
              <a:rPr dirty="0">
                <a:solidFill>
                  <a:srgbClr val="C00000"/>
                </a:solidFill>
                <a:latin typeface="微软雅黑"/>
                <a:cs typeface="微软雅黑"/>
              </a:rPr>
              <a:t>？</a:t>
            </a:r>
            <a:endParaRPr dirty="0">
              <a:solidFill>
                <a:srgbClr val="C00000"/>
              </a:solidFill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u="sng"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u="sng" dirty="0">
                <a:solidFill>
                  <a:srgbClr val="252525"/>
                </a:solidFill>
                <a:latin typeface="微软雅黑"/>
                <a:cs typeface="微软雅黑"/>
              </a:rPr>
              <a:t>1.</a:t>
            </a:r>
            <a:r>
              <a:rPr u="sng"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b="1" u="sng"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如何让多个块</a:t>
            </a:r>
            <a:r>
              <a:rPr b="1" u="sng" spc="-1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级</a:t>
            </a:r>
            <a:r>
              <a:rPr lang="zh-CN" altLang="en-US" b="1" u="sng" spc="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元素</a:t>
            </a:r>
            <a:r>
              <a:rPr b="1" u="sng" spc="-5" dirty="0" smtClean="0">
                <a:solidFill>
                  <a:srgbClr val="252525"/>
                </a:solidFill>
                <a:latin typeface="微软雅黑"/>
                <a:cs typeface="微软雅黑"/>
              </a:rPr>
              <a:t>(</a:t>
            </a:r>
            <a:r>
              <a:rPr b="1" u="sng" spc="-5" dirty="0">
                <a:solidFill>
                  <a:srgbClr val="252525"/>
                </a:solidFill>
                <a:latin typeface="微软雅黑"/>
                <a:cs typeface="微软雅黑"/>
              </a:rPr>
              <a:t>div)</a:t>
            </a:r>
            <a:r>
              <a:rPr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水平</a:t>
            </a:r>
            <a:r>
              <a:rPr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排</a:t>
            </a:r>
            <a:r>
              <a:rPr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列</a:t>
            </a:r>
            <a:r>
              <a:rPr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成</a:t>
            </a:r>
            <a:r>
              <a:rPr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？</a:t>
            </a:r>
            <a:endParaRPr b="1" u="sng" dirty="0">
              <a:latin typeface="微软雅黑"/>
              <a:cs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31011" y="37431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zh-CN" altLang="en-US"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lang="en-US" altLang="zh-CN" b="1" u="sng" dirty="0">
                <a:solidFill>
                  <a:srgbClr val="252525"/>
                </a:solidFill>
                <a:latin typeface="微软雅黑"/>
                <a:cs typeface="微软雅黑"/>
              </a:rPr>
              <a:t>2.</a:t>
            </a:r>
            <a:r>
              <a:rPr lang="zh-CN" altLang="en-US" b="1" u="sng" spc="-2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如</a:t>
            </a:r>
            <a:r>
              <a:rPr lang="zh-CN" altLang="en-US" b="1" u="sng" dirty="0">
                <a:solidFill>
                  <a:srgbClr val="252525"/>
                </a:solidFill>
                <a:latin typeface="微软雅黑"/>
                <a:cs typeface="微软雅黑"/>
              </a:rPr>
              <a:t>何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实现两个</a:t>
            </a:r>
            <a:r>
              <a:rPr lang="zh-CN" altLang="en-US"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lang="zh-CN" altLang="en-US"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左</a:t>
            </a:r>
            <a:r>
              <a:rPr lang="zh-CN" altLang="en-US"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右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对</a:t>
            </a:r>
            <a:r>
              <a:rPr lang="zh-CN" altLang="en-US" b="1" u="sng" spc="-10" dirty="0">
                <a:solidFill>
                  <a:srgbClr val="252525"/>
                </a:solidFill>
                <a:latin typeface="微软雅黑"/>
                <a:cs typeface="微软雅黑"/>
              </a:rPr>
              <a:t>齐</a:t>
            </a:r>
            <a:r>
              <a:rPr lang="zh-CN" altLang="en-US" b="1" u="sng" spc="5" dirty="0">
                <a:solidFill>
                  <a:srgbClr val="252525"/>
                </a:solidFill>
                <a:latin typeface="微软雅黑"/>
                <a:cs typeface="微软雅黑"/>
              </a:rPr>
              <a:t>？</a:t>
            </a:r>
            <a:endParaRPr lang="zh-CN" altLang="en-US" b="1" u="sng" dirty="0">
              <a:latin typeface="微软雅黑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06560" y="2550952"/>
            <a:ext cx="1452785" cy="7643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57981" y="2550952"/>
            <a:ext cx="1452785" cy="7643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113456" y="2550951"/>
            <a:ext cx="1452785" cy="7643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06560" y="4537321"/>
            <a:ext cx="3663313" cy="2237551"/>
            <a:chOff x="5413761" y="4505639"/>
            <a:chExt cx="2901297" cy="1693738"/>
          </a:xfrm>
        </p:grpSpPr>
        <p:sp>
          <p:nvSpPr>
            <p:cNvPr id="5" name="矩形 4"/>
            <p:cNvSpPr/>
            <p:nvPr/>
          </p:nvSpPr>
          <p:spPr>
            <a:xfrm>
              <a:off x="5418034" y="4505639"/>
              <a:ext cx="2897024" cy="16937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413761" y="4505639"/>
              <a:ext cx="893035" cy="6273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div1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422023" y="4505639"/>
              <a:ext cx="893035" cy="6273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div2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609871"/>
            <a:ext cx="110357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735"/>
              </a:spcBef>
            </a:pPr>
            <a:r>
              <a:rPr lang="zh-CN" altLang="en-US" sz="2000" dirty="0">
                <a:latin typeface="微软雅黑"/>
                <a:cs typeface="微软雅黑"/>
              </a:rPr>
              <a:t>引入 </a:t>
            </a:r>
            <a:r>
              <a:rPr lang="en-US" altLang="zh-CN" sz="2000" dirty="0">
                <a:latin typeface="微软雅黑"/>
                <a:cs typeface="微软雅黑"/>
              </a:rPr>
              <a:t>float </a:t>
            </a:r>
            <a:r>
              <a:rPr lang="zh-CN" altLang="en-US" sz="2000" dirty="0">
                <a:latin typeface="微软雅黑"/>
                <a:cs typeface="微软雅黑"/>
              </a:rPr>
              <a:t>属性是为了能让 </a:t>
            </a:r>
            <a:r>
              <a:rPr lang="en-US" altLang="zh-CN" sz="2000" dirty="0">
                <a:latin typeface="微软雅黑"/>
                <a:cs typeface="微软雅黑"/>
              </a:rPr>
              <a:t>Web </a:t>
            </a:r>
            <a:r>
              <a:rPr lang="zh-CN" altLang="en-US" sz="2000" dirty="0">
                <a:latin typeface="微软雅黑"/>
                <a:cs typeface="微软雅黑"/>
              </a:rPr>
              <a:t>开发人员实现简单的布局，包括在一列文本中浮动的图像，文字环绕在它的左边或右边。任何东西都可以浮动</a:t>
            </a:r>
            <a:r>
              <a:rPr lang="zh-CN" altLang="en-US" sz="2000" dirty="0" smtClean="0">
                <a:latin typeface="微软雅黑"/>
                <a:cs typeface="微软雅黑"/>
              </a:rPr>
              <a:t>，不仅仅是图像，所以我们也可以看见首字母下沉的应用场景。浮动</a:t>
            </a:r>
            <a:r>
              <a:rPr lang="zh-CN" altLang="en-US" sz="2000" dirty="0">
                <a:latin typeface="微软雅黑"/>
                <a:cs typeface="微软雅黑"/>
              </a:rPr>
              <a:t>成为在网页上创建多列布局</a:t>
            </a:r>
            <a:r>
              <a:rPr lang="zh-CN" altLang="en-US" sz="2000" dirty="0" smtClean="0">
                <a:latin typeface="微软雅黑"/>
                <a:cs typeface="微软雅黑"/>
              </a:rPr>
              <a:t>的最常用方式之一。</a:t>
            </a:r>
            <a:endParaRPr lang="zh-CN" altLang="en-US" sz="2000" dirty="0">
              <a:latin typeface="微软雅黑"/>
              <a:cs typeface="微软雅黑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3763" y="3109277"/>
            <a:ext cx="4739317" cy="3539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75" y="3087199"/>
            <a:ext cx="5359305" cy="3570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405691"/>
            <a:ext cx="1103579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735"/>
              </a:spcBef>
            </a:pP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有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很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多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的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布</a:t>
            </a:r>
            <a:r>
              <a:rPr lang="zh-CN" altLang="en-US" spc="-5" dirty="0">
                <a:solidFill>
                  <a:srgbClr val="C00000"/>
                </a:solidFill>
                <a:latin typeface="微软雅黑"/>
                <a:cs typeface="微软雅黑"/>
              </a:rPr>
              <a:t>局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效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果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，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lang="zh-CN" altLang="en-US" spc="-15" dirty="0" smtClean="0">
                <a:solidFill>
                  <a:srgbClr val="C00000"/>
                </a:solidFill>
                <a:latin typeface="微软雅黑"/>
                <a:cs typeface="微软雅黑"/>
              </a:rPr>
              <a:t>准文档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流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没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有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办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法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完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成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，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此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时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就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可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以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利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用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浮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动</a:t>
            </a:r>
            <a:r>
              <a:rPr lang="zh-CN" altLang="en-US" spc="-15" dirty="0">
                <a:solidFill>
                  <a:srgbClr val="C00000"/>
                </a:solidFill>
                <a:latin typeface="微软雅黑"/>
                <a:cs typeface="微软雅黑"/>
              </a:rPr>
              <a:t>完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成</a:t>
            </a:r>
            <a:r>
              <a:rPr lang="zh-CN" altLang="en-US" spc="-15" dirty="0" smtClean="0">
                <a:solidFill>
                  <a:srgbClr val="C00000"/>
                </a:solidFill>
                <a:latin typeface="微软雅黑"/>
                <a:cs typeface="微软雅黑"/>
              </a:rPr>
              <a:t>布</a:t>
            </a:r>
            <a:r>
              <a:rPr lang="zh-CN" altLang="en-US" spc="10" dirty="0" smtClean="0">
                <a:solidFill>
                  <a:srgbClr val="C00000"/>
                </a:solidFill>
                <a:latin typeface="微软雅黑"/>
                <a:cs typeface="微软雅黑"/>
              </a:rPr>
              <a:t>局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。</a:t>
            </a:r>
            <a:r>
              <a:rPr lang="zh-CN" altLang="en-US" dirty="0" smtClean="0">
                <a:solidFill>
                  <a:srgbClr val="C00000"/>
                </a:solidFill>
                <a:latin typeface="微软雅黑"/>
                <a:cs typeface="微软雅黑"/>
              </a:rPr>
              <a:t>因为</a:t>
            </a:r>
            <a:r>
              <a:rPr lang="zh-CN" altLang="en-US" dirty="0">
                <a:solidFill>
                  <a:srgbClr val="C00000"/>
                </a:solidFill>
                <a:latin typeface="微软雅黑"/>
                <a:cs typeface="微软雅黑"/>
              </a:rPr>
              <a:t>浮动可以改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变</a:t>
            </a:r>
            <a:r>
              <a:rPr lang="zh-CN" altLang="en-US" dirty="0">
                <a:solidFill>
                  <a:srgbClr val="C00000"/>
                </a:solidFill>
                <a:latin typeface="微软雅黑"/>
                <a:cs typeface="微软雅黑"/>
              </a:rPr>
              <a:t>元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标签默认的排列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方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式</a:t>
            </a:r>
            <a:r>
              <a:rPr lang="zh-CN" altLang="en-US" dirty="0" smtClean="0">
                <a:solidFill>
                  <a:srgbClr val="C00000"/>
                </a:solidFill>
                <a:latin typeface="微软雅黑"/>
                <a:cs typeface="微软雅黑"/>
              </a:rPr>
              <a:t>。</a:t>
            </a:r>
            <a:endParaRPr lang="zh-CN" altLang="en-US" dirty="0">
              <a:solidFill>
                <a:srgbClr val="C00000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50000"/>
              </a:lnSpc>
            </a:pP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浮动最典型的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应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用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可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让多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个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块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级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元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排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列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显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示</a:t>
            </a: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lang="zh-CN" altLang="en-US"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50000"/>
              </a:lnSpc>
            </a:pP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网页布局第一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准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则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多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个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块级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元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素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纵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向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排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列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使用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准文档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流定位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，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多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个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块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级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元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素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横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向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排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列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使用</a:t>
            </a:r>
            <a:r>
              <a:rPr lang="zh-CN" altLang="en-US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浮</a:t>
            </a:r>
            <a:r>
              <a:rPr lang="zh-CN" altLang="en-US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动定位。</a:t>
            </a:r>
            <a:r>
              <a:rPr lang="zh-CN" altLang="en-US" spc="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浮动定位主要涉及两个属性，</a:t>
            </a:r>
            <a:r>
              <a:rPr lang="en-US" altLang="zh-CN" spc="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float</a:t>
            </a:r>
            <a:r>
              <a:rPr lang="zh-CN" altLang="en-US" spc="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和</a:t>
            </a:r>
            <a:r>
              <a:rPr lang="en-US" altLang="zh-CN" spc="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clear</a:t>
            </a:r>
            <a:r>
              <a:rPr lang="zh-CN" altLang="en-US" spc="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。</a:t>
            </a:r>
            <a:endParaRPr lang="en-US" altLang="zh-CN" spc="5" dirty="0">
              <a:solidFill>
                <a:srgbClr val="FF0000"/>
              </a:solidFill>
              <a:latin typeface="微软雅黑"/>
            </a:endParaRPr>
          </a:p>
          <a:p>
            <a:pPr marL="12700">
              <a:lnSpc>
                <a:spcPct val="150000"/>
              </a:lnSpc>
            </a:pPr>
            <a:r>
              <a:rPr lang="en-US" altLang="zh-CN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float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属性</a:t>
            </a: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用于设定浮动，创建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浮动框，将其移动到一边，直到左边缘或右边缘触及包含块或另一个浮动框的</a:t>
            </a: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边缘。语法：</a:t>
            </a:r>
            <a:endParaRPr lang="en-US" altLang="zh-CN" spc="5" dirty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</a:pP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选择器 </a:t>
            </a:r>
            <a:r>
              <a:rPr lang="en-US" altLang="zh-CN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{float: none | left | right;</a:t>
            </a:r>
            <a:r>
              <a:rPr lang="en-US" altLang="zh-CN" spc="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}</a:t>
            </a:r>
            <a:endParaRPr lang="en-US" altLang="zh-CN" spc="5" dirty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</a:pPr>
            <a:endParaRPr lang="en-US" altLang="zh-CN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</a:pPr>
            <a:endParaRPr lang="en-US" altLang="zh-CN" spc="5" dirty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</a:pPr>
            <a:endParaRPr lang="en-US" altLang="zh-CN" spc="5" dirty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</a:pPr>
            <a:r>
              <a:rPr lang="en-US" altLang="zh-CN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clear</a:t>
            </a: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属性用于清除浮动元素的影响。</a:t>
            </a:r>
            <a:endParaRPr lang="zh-CN" altLang="en-US" spc="5" dirty="0">
              <a:solidFill>
                <a:srgbClr val="252525"/>
              </a:solidFill>
              <a:latin typeface="微软雅黑"/>
              <a:cs typeface="微软雅黑"/>
            </a:endParaRPr>
          </a:p>
        </p:txBody>
      </p:sp>
      <p:sp>
        <p:nvSpPr>
          <p:cNvPr id="21" name="object 4"/>
          <p:cNvSpPr/>
          <p:nvPr/>
        </p:nvSpPr>
        <p:spPr>
          <a:xfrm>
            <a:off x="4864608" y="4882896"/>
            <a:ext cx="7327392" cy="147345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5078" y="3047679"/>
            <a:ext cx="1452785" cy="7643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36499" y="3047679"/>
            <a:ext cx="1452785" cy="7643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91974" y="3047678"/>
            <a:ext cx="1452785" cy="7643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div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02287" y="4505639"/>
            <a:ext cx="2901297" cy="1693738"/>
            <a:chOff x="5413761" y="4505639"/>
            <a:chExt cx="2901297" cy="1693738"/>
          </a:xfrm>
        </p:grpSpPr>
        <p:sp>
          <p:nvSpPr>
            <p:cNvPr id="5" name="矩形 4"/>
            <p:cNvSpPr/>
            <p:nvPr/>
          </p:nvSpPr>
          <p:spPr>
            <a:xfrm>
              <a:off x="5418034" y="4505639"/>
              <a:ext cx="2897024" cy="16937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413761" y="4505639"/>
              <a:ext cx="893035" cy="6273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div1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422023" y="4505639"/>
              <a:ext cx="893035" cy="6273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div2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898870" y="475194"/>
            <a:ext cx="46705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charset="-122"/>
                <a:ea typeface="微软雅黑" charset="-122"/>
              </a:rPr>
              <a:t>&lt;style type="text/</a:t>
            </a:r>
            <a:r>
              <a:rPr lang="en-US" altLang="zh-CN" dirty="0" err="1">
                <a:latin typeface="微软雅黑" charset="-122"/>
                <a:ea typeface="微软雅黑" charset="-122"/>
              </a:rPr>
              <a:t>css</a:t>
            </a:r>
            <a:r>
              <a:rPr lang="en-US" altLang="zh-CN" dirty="0">
                <a:latin typeface="微软雅黑" charset="-122"/>
                <a:ea typeface="微软雅黑" charset="-122"/>
              </a:rPr>
              <a:t>"&gt;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.box1,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.box2,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.box3 {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float: left;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width: 200px;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height: 200px;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}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.box1 {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border: 1px solid salmon;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background-color: salmon;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}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.box2 {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border: 1px solid </a:t>
            </a:r>
            <a:r>
              <a:rPr lang="en-US" altLang="zh-CN" dirty="0" err="1">
                <a:latin typeface="微软雅黑" charset="-122"/>
                <a:ea typeface="微软雅黑" charset="-122"/>
              </a:rPr>
              <a:t>lightblue</a:t>
            </a:r>
            <a:r>
              <a:rPr lang="en-US" altLang="zh-CN" dirty="0">
                <a:latin typeface="微软雅黑" charset="-122"/>
                <a:ea typeface="微软雅黑" charset="-122"/>
              </a:rPr>
              <a:t>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background-color: </a:t>
            </a:r>
            <a:r>
              <a:rPr lang="en-US" altLang="zh-CN" dirty="0" err="1">
                <a:latin typeface="微软雅黑" charset="-122"/>
                <a:ea typeface="微软雅黑" charset="-122"/>
              </a:rPr>
              <a:t>lightblue</a:t>
            </a:r>
            <a:r>
              <a:rPr lang="en-US" altLang="zh-CN" dirty="0">
                <a:latin typeface="微软雅黑" charset="-122"/>
                <a:ea typeface="微软雅黑" charset="-122"/>
              </a:rPr>
              <a:t>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}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.box3 {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border: 1px solid </a:t>
            </a:r>
            <a:r>
              <a:rPr lang="en-US" altLang="zh-CN" dirty="0" err="1">
                <a:latin typeface="微软雅黑" charset="-122"/>
                <a:ea typeface="微软雅黑" charset="-122"/>
              </a:rPr>
              <a:t>greenyellow</a:t>
            </a:r>
            <a:r>
              <a:rPr lang="en-US" altLang="zh-CN" dirty="0">
                <a:latin typeface="微软雅黑" charset="-122"/>
                <a:ea typeface="微软雅黑" charset="-122"/>
              </a:rPr>
              <a:t>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  background-color: </a:t>
            </a:r>
            <a:r>
              <a:rPr lang="en-US" altLang="zh-CN" dirty="0" err="1">
                <a:latin typeface="微软雅黑" charset="-122"/>
                <a:ea typeface="微软雅黑" charset="-122"/>
              </a:rPr>
              <a:t>greenyellow</a:t>
            </a:r>
            <a:r>
              <a:rPr lang="en-US" altLang="zh-CN" dirty="0">
                <a:latin typeface="微软雅黑" charset="-122"/>
                <a:ea typeface="微软雅黑" charset="-122"/>
              </a:rPr>
              <a:t>;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  }</a:t>
            </a:r>
            <a:endParaRPr lang="en-US" altLang="zh-CN" dirty="0"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latin typeface="微软雅黑" charset="-122"/>
                <a:ea typeface="微软雅黑" charset="-122"/>
              </a:rPr>
              <a:t>    &lt;/style&gt;</a:t>
            </a:r>
            <a:endParaRPr lang="zh-CN" altLang="en-US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942207" y="1450455"/>
            <a:ext cx="10462464" cy="1749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1600" spc="5" dirty="0" err="1" smtClean="0">
                <a:latin typeface="微软雅黑"/>
                <a:cs typeface="微软雅黑"/>
              </a:rPr>
              <a:t>加</a:t>
            </a:r>
            <a:r>
              <a:rPr sz="1600" spc="-5" dirty="0" err="1" smtClean="0">
                <a:latin typeface="微软雅黑"/>
                <a:cs typeface="微软雅黑"/>
              </a:rPr>
              <a:t>了</a:t>
            </a:r>
            <a:r>
              <a:rPr sz="1600" spc="5" dirty="0" err="1" smtClean="0">
                <a:latin typeface="微软雅黑"/>
                <a:cs typeface="微软雅黑"/>
              </a:rPr>
              <a:t>浮</a:t>
            </a:r>
            <a:r>
              <a:rPr sz="1600" spc="-5" dirty="0" err="1" smtClean="0">
                <a:latin typeface="微软雅黑"/>
                <a:cs typeface="微软雅黑"/>
              </a:rPr>
              <a:t>动</a:t>
            </a:r>
            <a:r>
              <a:rPr sz="1600" spc="5" dirty="0" err="1" smtClean="0">
                <a:latin typeface="微软雅黑"/>
                <a:cs typeface="微软雅黑"/>
              </a:rPr>
              <a:t>之</a:t>
            </a:r>
            <a:r>
              <a:rPr sz="1600" spc="-5" dirty="0" err="1" smtClean="0">
                <a:latin typeface="微软雅黑"/>
                <a:cs typeface="微软雅黑"/>
              </a:rPr>
              <a:t>后</a:t>
            </a:r>
            <a:r>
              <a:rPr sz="1600" spc="-10" dirty="0" err="1" smtClean="0">
                <a:latin typeface="微软雅黑"/>
                <a:cs typeface="微软雅黑"/>
              </a:rPr>
              <a:t>的</a:t>
            </a:r>
            <a:r>
              <a:rPr sz="1600" spc="5" dirty="0" err="1" smtClean="0">
                <a:latin typeface="微软雅黑"/>
                <a:cs typeface="微软雅黑"/>
              </a:rPr>
              <a:t>元</a:t>
            </a:r>
            <a:r>
              <a:rPr sz="1600" spc="-10" dirty="0" err="1" smtClean="0">
                <a:latin typeface="微软雅黑"/>
                <a:cs typeface="微软雅黑"/>
              </a:rPr>
              <a:t>素</a:t>
            </a:r>
            <a:r>
              <a:rPr lang="zh-CN" altLang="en-US" sz="1600" spc="-5" dirty="0" smtClean="0">
                <a:latin typeface="微软雅黑"/>
                <a:cs typeface="微软雅黑"/>
              </a:rPr>
              <a:t>，</a:t>
            </a:r>
            <a:r>
              <a:rPr sz="1600" spc="5" dirty="0" err="1" smtClean="0">
                <a:latin typeface="微软雅黑"/>
                <a:cs typeface="微软雅黑"/>
              </a:rPr>
              <a:t>会</a:t>
            </a:r>
            <a:r>
              <a:rPr sz="1600" spc="-15" dirty="0" err="1" smtClean="0">
                <a:latin typeface="微软雅黑"/>
                <a:cs typeface="微软雅黑"/>
              </a:rPr>
              <a:t>具</a:t>
            </a:r>
            <a:r>
              <a:rPr sz="1600" spc="5" dirty="0" err="1" smtClean="0">
                <a:latin typeface="微软雅黑"/>
                <a:cs typeface="微软雅黑"/>
              </a:rPr>
              <a:t>有</a:t>
            </a:r>
            <a:r>
              <a:rPr sz="1600" spc="-15" dirty="0" err="1" smtClean="0">
                <a:latin typeface="微软雅黑"/>
                <a:cs typeface="微软雅黑"/>
              </a:rPr>
              <a:t>很</a:t>
            </a:r>
            <a:r>
              <a:rPr sz="1600" spc="5" dirty="0" err="1" smtClean="0">
                <a:latin typeface="微软雅黑"/>
                <a:cs typeface="微软雅黑"/>
              </a:rPr>
              <a:t>多</a:t>
            </a:r>
            <a:r>
              <a:rPr sz="1600" spc="-15" dirty="0" err="1" smtClean="0">
                <a:latin typeface="微软雅黑"/>
                <a:cs typeface="微软雅黑"/>
              </a:rPr>
              <a:t>特</a:t>
            </a:r>
            <a:r>
              <a:rPr sz="1600" dirty="0" err="1" smtClean="0">
                <a:latin typeface="微软雅黑"/>
                <a:cs typeface="微软雅黑"/>
              </a:rPr>
              <a:t>性</a:t>
            </a:r>
            <a:r>
              <a:rPr lang="zh-CN" altLang="en-US" sz="1600" dirty="0" smtClean="0">
                <a:latin typeface="微软雅黑"/>
                <a:cs typeface="微软雅黑"/>
              </a:rPr>
              <a:t>：</a:t>
            </a:r>
            <a:endParaRPr sz="16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 panose="02020503050405090304"/>
              <a:cs typeface="Times New Roman" panose="02020503050405090304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6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浮动元素会脱</a:t>
            </a:r>
            <a:r>
              <a:rPr sz="16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离</a:t>
            </a:r>
            <a:r>
              <a:rPr sz="16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sz="16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准</a:t>
            </a:r>
            <a:r>
              <a:rPr lang="zh-CN" altLang="en-US" sz="1600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文档</a:t>
            </a:r>
            <a:r>
              <a:rPr sz="1600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流</a:t>
            </a:r>
            <a:r>
              <a:rPr sz="1600" spc="-5" dirty="0">
                <a:solidFill>
                  <a:srgbClr val="C00000"/>
                </a:solidFill>
                <a:latin typeface="微软雅黑"/>
                <a:cs typeface="微软雅黑"/>
              </a:rPr>
              <a:t>(</a:t>
            </a:r>
            <a:r>
              <a:rPr sz="1600" spc="5" dirty="0">
                <a:solidFill>
                  <a:srgbClr val="C00000"/>
                </a:solidFill>
                <a:latin typeface="微软雅黑"/>
                <a:cs typeface="微软雅黑"/>
              </a:rPr>
              <a:t>脱</a:t>
            </a:r>
            <a:r>
              <a:rPr sz="1600" spc="-10" dirty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sz="1600" dirty="0">
                <a:solidFill>
                  <a:srgbClr val="C00000"/>
                </a:solidFill>
                <a:latin typeface="微软雅黑"/>
                <a:cs typeface="微软雅黑"/>
              </a:rPr>
              <a:t>)</a:t>
            </a:r>
            <a:endParaRPr sz="1600" dirty="0">
              <a:solidFill>
                <a:srgbClr val="C00000"/>
              </a:solidFill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/>
            </a:pPr>
            <a:endParaRPr sz="1600" dirty="0">
              <a:latin typeface="Times New Roman" panose="02020503050405090304"/>
              <a:cs typeface="Times New Roman" panose="02020503050405090304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600" spc="5" dirty="0">
                <a:latin typeface="微软雅黑"/>
                <a:cs typeface="微软雅黑"/>
              </a:rPr>
              <a:t>浮动的元素会</a:t>
            </a:r>
            <a:r>
              <a:rPr sz="1600" spc="-10" dirty="0">
                <a:latin typeface="微软雅黑"/>
                <a:cs typeface="微软雅黑"/>
              </a:rPr>
              <a:t>一</a:t>
            </a:r>
            <a:r>
              <a:rPr sz="1600" spc="5" dirty="0">
                <a:latin typeface="微软雅黑"/>
                <a:cs typeface="微软雅黑"/>
              </a:rPr>
              <a:t>行</a:t>
            </a:r>
            <a:r>
              <a:rPr sz="1600" spc="-10" dirty="0">
                <a:latin typeface="微软雅黑"/>
                <a:cs typeface="微软雅黑"/>
              </a:rPr>
              <a:t>内</a:t>
            </a:r>
            <a:r>
              <a:rPr sz="1600" spc="5" dirty="0">
                <a:latin typeface="微软雅黑"/>
                <a:cs typeface="微软雅黑"/>
              </a:rPr>
              <a:t>显</a:t>
            </a:r>
            <a:r>
              <a:rPr sz="1600" spc="-10" dirty="0">
                <a:latin typeface="微软雅黑"/>
                <a:cs typeface="微软雅黑"/>
              </a:rPr>
              <a:t>示</a:t>
            </a:r>
            <a:r>
              <a:rPr sz="1600" spc="5" dirty="0">
                <a:latin typeface="微软雅黑"/>
                <a:cs typeface="微软雅黑"/>
              </a:rPr>
              <a:t>并且</a:t>
            </a:r>
            <a:r>
              <a:rPr sz="1600" spc="-10" dirty="0">
                <a:latin typeface="微软雅黑"/>
                <a:cs typeface="微软雅黑"/>
              </a:rPr>
              <a:t>元</a:t>
            </a:r>
            <a:r>
              <a:rPr sz="1600" spc="5" dirty="0">
                <a:latin typeface="微软雅黑"/>
                <a:cs typeface="微软雅黑"/>
              </a:rPr>
              <a:t>素</a:t>
            </a:r>
            <a:r>
              <a:rPr sz="1600" spc="-10" dirty="0">
                <a:latin typeface="微软雅黑"/>
                <a:cs typeface="微软雅黑"/>
              </a:rPr>
              <a:t>顶</a:t>
            </a:r>
            <a:r>
              <a:rPr sz="1600" spc="5" dirty="0">
                <a:latin typeface="微软雅黑"/>
                <a:cs typeface="微软雅黑"/>
              </a:rPr>
              <a:t>部</a:t>
            </a:r>
            <a:r>
              <a:rPr sz="1600" spc="-10" dirty="0">
                <a:latin typeface="微软雅黑"/>
                <a:cs typeface="微软雅黑"/>
              </a:rPr>
              <a:t>对</a:t>
            </a:r>
            <a:r>
              <a:rPr sz="1600" spc="5" dirty="0">
                <a:latin typeface="微软雅黑"/>
                <a:cs typeface="微软雅黑"/>
              </a:rPr>
              <a:t>齐</a:t>
            </a:r>
            <a:endParaRPr sz="16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1600" dirty="0">
              <a:latin typeface="Times New Roman" panose="02020503050405090304"/>
              <a:cs typeface="Times New Roman" panose="02020503050405090304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600" spc="5" dirty="0" err="1">
                <a:latin typeface="微软雅黑"/>
                <a:cs typeface="微软雅黑"/>
              </a:rPr>
              <a:t>浮动的元素会</a:t>
            </a:r>
            <a:r>
              <a:rPr sz="1600" spc="-10" dirty="0" err="1">
                <a:latin typeface="微软雅黑"/>
                <a:cs typeface="微软雅黑"/>
              </a:rPr>
              <a:t>具</a:t>
            </a:r>
            <a:r>
              <a:rPr sz="1600" spc="5" dirty="0" err="1">
                <a:latin typeface="微软雅黑"/>
                <a:cs typeface="微软雅黑"/>
              </a:rPr>
              <a:t>有</a:t>
            </a:r>
            <a:r>
              <a:rPr sz="1600" spc="-10" dirty="0" err="1">
                <a:latin typeface="微软雅黑"/>
                <a:cs typeface="微软雅黑"/>
              </a:rPr>
              <a:t>行</a:t>
            </a:r>
            <a:r>
              <a:rPr sz="1600" spc="5" dirty="0" err="1">
                <a:latin typeface="微软雅黑"/>
                <a:cs typeface="微软雅黑"/>
              </a:rPr>
              <a:t>内</a:t>
            </a:r>
            <a:r>
              <a:rPr sz="1600" spc="-10" dirty="0" err="1">
                <a:latin typeface="微软雅黑"/>
                <a:cs typeface="微软雅黑"/>
              </a:rPr>
              <a:t>块</a:t>
            </a:r>
            <a:r>
              <a:rPr sz="1600" spc="5" dirty="0" err="1">
                <a:latin typeface="微软雅黑"/>
                <a:cs typeface="微软雅黑"/>
              </a:rPr>
              <a:t>元素</a:t>
            </a:r>
            <a:r>
              <a:rPr sz="1600" spc="-10" dirty="0" err="1">
                <a:latin typeface="微软雅黑"/>
                <a:cs typeface="微软雅黑"/>
              </a:rPr>
              <a:t>的</a:t>
            </a:r>
            <a:r>
              <a:rPr sz="1600" spc="5" dirty="0" err="1">
                <a:latin typeface="微软雅黑"/>
                <a:cs typeface="微软雅黑"/>
              </a:rPr>
              <a:t>特</a:t>
            </a:r>
            <a:r>
              <a:rPr sz="1600" spc="-10" dirty="0" err="1">
                <a:latin typeface="微软雅黑"/>
                <a:cs typeface="微软雅黑"/>
              </a:rPr>
              <a:t>性</a:t>
            </a:r>
            <a:r>
              <a:rPr sz="1600" dirty="0" smtClean="0">
                <a:latin typeface="微软雅黑"/>
                <a:cs typeface="微软雅黑"/>
              </a:rPr>
              <a:t>.</a:t>
            </a:r>
            <a:endParaRPr lang="en-US" sz="1600" dirty="0" smtClean="0">
              <a:latin typeface="微软雅黑"/>
              <a:cs typeface="微软雅黑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5867" y="3254953"/>
            <a:ext cx="100733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tabLst>
                <a:tab pos="241300" algn="l"/>
              </a:tabLst>
            </a:pPr>
            <a:r>
              <a:rPr lang="zh-CN" altLang="en-US" b="1" spc="5" dirty="0" smtClean="0">
                <a:solidFill>
                  <a:schemeClr val="accent5"/>
                </a:solidFill>
                <a:latin typeface="微软雅黑"/>
                <a:cs typeface="微软雅黑"/>
              </a:rPr>
              <a:t>最重要特性：</a:t>
            </a:r>
            <a:endParaRPr lang="en-US" altLang="zh-CN" b="1" spc="5" dirty="0" smtClean="0">
              <a:solidFill>
                <a:schemeClr val="accent5"/>
              </a:solidFill>
              <a:latin typeface="微软雅黑"/>
              <a:cs typeface="微软雅黑"/>
            </a:endParaRPr>
          </a:p>
          <a:p>
            <a:pPr marL="241300" lvl="0" indent="-228600">
              <a:buFontTx/>
              <a:buAutoNum type="arabicPeriod"/>
              <a:tabLst>
                <a:tab pos="241300" algn="l"/>
              </a:tabLst>
            </a:pPr>
            <a:endParaRPr lang="en-US" altLang="zh-CN" spc="5" dirty="0" smtClean="0">
              <a:solidFill>
                <a:prstClr val="black"/>
              </a:solidFill>
              <a:latin typeface="微软雅黑"/>
              <a:cs typeface="微软雅黑"/>
            </a:endParaRPr>
          </a:p>
          <a:p>
            <a:pPr marL="12700" lvl="0">
              <a:tabLst>
                <a:tab pos="241300" algn="l"/>
              </a:tabLst>
            </a:pPr>
            <a:r>
              <a:rPr lang="zh-CN" altLang="en-US" spc="5" dirty="0" smtClean="0">
                <a:solidFill>
                  <a:prstClr val="black"/>
                </a:solidFill>
                <a:latin typeface="微软雅黑"/>
                <a:cs typeface="微软雅黑"/>
              </a:rPr>
              <a:t>脱</a:t>
            </a:r>
            <a:r>
              <a:rPr lang="zh-CN" altLang="en-US" dirty="0" smtClean="0">
                <a:solidFill>
                  <a:prstClr val="black"/>
                </a:solidFill>
                <a:latin typeface="微软雅黑"/>
                <a:cs typeface="微软雅黑"/>
              </a:rPr>
              <a:t>离</a:t>
            </a:r>
            <a:r>
              <a:rPr lang="zh-CN" altLang="en-US" spc="5" dirty="0" smtClean="0">
                <a:solidFill>
                  <a:prstClr val="black"/>
                </a:solidFill>
                <a:latin typeface="微软雅黑"/>
                <a:cs typeface="微软雅黑"/>
              </a:rPr>
              <a:t>标准文档</a:t>
            </a:r>
            <a:r>
              <a:rPr lang="zh-CN" altLang="en-US" spc="-10" dirty="0" smtClean="0">
                <a:solidFill>
                  <a:prstClr val="black"/>
                </a:solidFill>
                <a:latin typeface="微软雅黑"/>
                <a:cs typeface="微软雅黑"/>
              </a:rPr>
              <a:t>流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的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控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制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（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浮）</a:t>
            </a:r>
            <a:r>
              <a:rPr lang="zh-CN" altLang="en-US" spc="23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移动到指定位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置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（</a:t>
            </a:r>
            <a:r>
              <a:rPr lang="zh-CN" altLang="en-US" spc="-10" dirty="0">
                <a:solidFill>
                  <a:prstClr val="black"/>
                </a:solidFill>
                <a:latin typeface="微软雅黑"/>
                <a:cs typeface="微软雅黑"/>
              </a:rPr>
              <a:t>动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微软雅黑"/>
                <a:cs typeface="微软雅黑"/>
              </a:rPr>
              <a:t>,</a:t>
            </a:r>
            <a:r>
              <a:rPr lang="zh-CN" altLang="en-US" spc="-65" dirty="0">
                <a:solidFill>
                  <a:prstClr val="black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（俗称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脱标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）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45"/>
              </a:spcBef>
              <a:buFont typeface="΢"/>
              <a:buAutoNum type="arabicPeriod"/>
            </a:pPr>
            <a:endParaRPr lang="zh-CN" altLang="en-US" sz="24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41300" lvl="0" indent="-228600">
              <a:buFontTx/>
              <a:buAutoNum type="arabicPeriod"/>
              <a:tabLst>
                <a:tab pos="241300" algn="l"/>
              </a:tabLst>
            </a:pP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浮</a:t>
            </a:r>
            <a:r>
              <a:rPr lang="zh-CN" altLang="en-US" dirty="0">
                <a:solidFill>
                  <a:prstClr val="black"/>
                </a:solidFill>
                <a:latin typeface="微软雅黑"/>
                <a:cs typeface="微软雅黑"/>
              </a:rPr>
              <a:t>动</a:t>
            </a:r>
            <a:r>
              <a:rPr lang="zh-CN" altLang="en-US" spc="5" dirty="0">
                <a:solidFill>
                  <a:prstClr val="black"/>
                </a:solidFill>
                <a:latin typeface="微软雅黑"/>
                <a:cs typeface="微软雅黑"/>
              </a:rPr>
              <a:t>的盒子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不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再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保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留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原</a:t>
            </a:r>
            <a:r>
              <a:rPr lang="zh-CN" altLang="en-US" spc="-10" dirty="0">
                <a:solidFill>
                  <a:srgbClr val="FF0000"/>
                </a:solidFill>
                <a:latin typeface="微软雅黑"/>
                <a:cs typeface="微软雅黑"/>
              </a:rPr>
              <a:t>先</a:t>
            </a:r>
            <a:r>
              <a:rPr lang="zh-CN" altLang="en-US" dirty="0">
                <a:solidFill>
                  <a:srgbClr val="FF0000"/>
                </a:solidFill>
                <a:latin typeface="微软雅黑"/>
                <a:cs typeface="微软雅黑"/>
              </a:rPr>
              <a:t>的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位置</a:t>
            </a:r>
            <a:endParaRPr lang="zh-CN" altLang="en-US" sz="1600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39156" y="5061191"/>
            <a:ext cx="1232019" cy="1038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39155" y="5057791"/>
            <a:ext cx="957129" cy="77676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div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2115241" y="5218803"/>
            <a:ext cx="478565" cy="1541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612763" y="4858798"/>
            <a:ext cx="2185551" cy="466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设置</a:t>
            </a:r>
            <a:r>
              <a:rPr lang="zh-CN" altLang="en-US" sz="1100" dirty="0" smtClean="0">
                <a:solidFill>
                  <a:schemeClr val="tx1"/>
                </a:solidFill>
              </a:rPr>
              <a:t>了浮动的元素，漂浮在标准文档流的上面，不占位置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endCxn id="24" idx="2"/>
          </p:cNvCxnSpPr>
          <p:nvPr/>
        </p:nvCxnSpPr>
        <p:spPr>
          <a:xfrm flipV="1">
            <a:off x="1755165" y="6099347"/>
            <a:ext cx="1" cy="2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130610" y="6357773"/>
            <a:ext cx="1232020" cy="3163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solidFill>
                  <a:schemeClr val="tx1"/>
                </a:solidFill>
              </a:rPr>
              <a:t>标准文档流显示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5867" y="151753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lvl="0">
              <a:tabLst>
                <a:tab pos="241300" algn="l"/>
              </a:tabLst>
            </a:pPr>
            <a:r>
              <a:rPr lang="zh-CN" altLang="en-US" b="1" spc="5" dirty="0" smtClean="0">
                <a:solidFill>
                  <a:schemeClr val="accent5"/>
                </a:solidFill>
                <a:latin typeface="微软雅黑"/>
                <a:cs typeface="微软雅黑"/>
              </a:rPr>
              <a:t>特性：</a:t>
            </a:r>
            <a:endParaRPr lang="en-US" altLang="zh-CN" b="1" spc="5" dirty="0" smtClean="0">
              <a:solidFill>
                <a:schemeClr val="accent5"/>
              </a:solidFill>
              <a:latin typeface="微软雅黑"/>
              <a:cs typeface="微软雅黑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5867" y="1982554"/>
            <a:ext cx="51100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lang="en-US" altLang="zh-CN" dirty="0" smtClean="0">
                <a:solidFill>
                  <a:srgbClr val="252525"/>
                </a:solidFill>
                <a:latin typeface="微软雅黑"/>
                <a:cs typeface="微软雅黑"/>
              </a:rPr>
              <a:t>2.</a:t>
            </a:r>
            <a:r>
              <a:rPr lang="zh-CN" altLang="en-US" spc="-55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如果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多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个盒子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都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设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置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了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则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它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们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会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按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照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属</a:t>
            </a:r>
            <a:r>
              <a:rPr lang="zh-CN" altLang="en-US" spc="-10" dirty="0">
                <a:solidFill>
                  <a:srgbClr val="252525"/>
                </a:solidFill>
                <a:latin typeface="微软雅黑"/>
                <a:cs typeface="微软雅黑"/>
              </a:rPr>
              <a:t>性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值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一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行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内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显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示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并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且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顶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端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对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齐</a:t>
            </a:r>
            <a:r>
              <a:rPr lang="zh-CN" altLang="en-US" spc="5" dirty="0">
                <a:solidFill>
                  <a:srgbClr val="C00000"/>
                </a:solidFill>
                <a:latin typeface="微软雅黑"/>
                <a:cs typeface="微软雅黑"/>
              </a:rPr>
              <a:t>排</a:t>
            </a:r>
            <a:r>
              <a:rPr lang="zh-CN" altLang="en-US" spc="-10" dirty="0">
                <a:solidFill>
                  <a:srgbClr val="C00000"/>
                </a:solidFill>
                <a:latin typeface="微软雅黑"/>
                <a:cs typeface="微软雅黑"/>
              </a:rPr>
              <a:t>列</a:t>
            </a:r>
            <a:r>
              <a:rPr lang="zh-CN" altLang="en-US"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lang="zh-CN" altLang="en-US" dirty="0">
              <a:latin typeface="微软雅黑"/>
              <a:cs typeface="微软雅黑"/>
            </a:endParaRPr>
          </a:p>
        </p:txBody>
      </p:sp>
      <p:sp>
        <p:nvSpPr>
          <p:cNvPr id="20" name="object 7"/>
          <p:cNvSpPr txBox="1"/>
          <p:nvPr/>
        </p:nvSpPr>
        <p:spPr>
          <a:xfrm>
            <a:off x="934804" y="4411096"/>
            <a:ext cx="4852925" cy="1084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100"/>
              </a:spcBef>
            </a:pPr>
            <a:r>
              <a:rPr sz="1600" b="1" spc="5" dirty="0">
                <a:latin typeface="微软雅黑"/>
                <a:cs typeface="微软雅黑"/>
              </a:rPr>
              <a:t>注意：</a:t>
            </a:r>
            <a:r>
              <a:rPr sz="1600" b="1" spc="-40" dirty="0">
                <a:latin typeface="微软雅黑"/>
                <a:cs typeface="微软雅黑"/>
              </a:rPr>
              <a:t> </a:t>
            </a:r>
            <a:r>
              <a:rPr sz="1600" spc="5" dirty="0">
                <a:latin typeface="微软雅黑"/>
                <a:cs typeface="微软雅黑"/>
              </a:rPr>
              <a:t>浮动的元素是</a:t>
            </a:r>
            <a:r>
              <a:rPr sz="1600" spc="-10" dirty="0">
                <a:latin typeface="微软雅黑"/>
                <a:cs typeface="微软雅黑"/>
              </a:rPr>
              <a:t>互</a:t>
            </a:r>
            <a:r>
              <a:rPr sz="1600" spc="5" dirty="0">
                <a:latin typeface="微软雅黑"/>
                <a:cs typeface="微软雅黑"/>
              </a:rPr>
              <a:t>相</a:t>
            </a:r>
            <a:r>
              <a:rPr sz="1600" spc="-10" dirty="0">
                <a:latin typeface="微软雅黑"/>
                <a:cs typeface="微软雅黑"/>
              </a:rPr>
              <a:t>贴</a:t>
            </a:r>
            <a:r>
              <a:rPr sz="1600" dirty="0">
                <a:latin typeface="微软雅黑"/>
                <a:cs typeface="微软雅黑"/>
              </a:rPr>
              <a:t>靠</a:t>
            </a:r>
            <a:r>
              <a:rPr sz="1600" spc="-10" dirty="0">
                <a:latin typeface="微软雅黑"/>
                <a:cs typeface="微软雅黑"/>
              </a:rPr>
              <a:t>在</a:t>
            </a:r>
            <a:r>
              <a:rPr sz="1600" spc="5" dirty="0">
                <a:latin typeface="微软雅黑"/>
                <a:cs typeface="微软雅黑"/>
              </a:rPr>
              <a:t>一</a:t>
            </a:r>
            <a:r>
              <a:rPr sz="1600" spc="-10" dirty="0">
                <a:latin typeface="微软雅黑"/>
                <a:cs typeface="微软雅黑"/>
              </a:rPr>
              <a:t>起</a:t>
            </a:r>
            <a:r>
              <a:rPr sz="1600" dirty="0">
                <a:latin typeface="微软雅黑"/>
                <a:cs typeface="微软雅黑"/>
              </a:rPr>
              <a:t>的</a:t>
            </a:r>
            <a:r>
              <a:rPr sz="1600" spc="-10" dirty="0">
                <a:latin typeface="微软雅黑"/>
                <a:cs typeface="微软雅黑"/>
              </a:rPr>
              <a:t>（</a:t>
            </a:r>
            <a:r>
              <a:rPr sz="1600" spc="5" dirty="0">
                <a:latin typeface="微软雅黑"/>
                <a:cs typeface="微软雅黑"/>
              </a:rPr>
              <a:t>不</a:t>
            </a:r>
            <a:r>
              <a:rPr sz="1600" spc="-10" dirty="0">
                <a:latin typeface="微软雅黑"/>
                <a:cs typeface="微软雅黑"/>
              </a:rPr>
              <a:t>会</a:t>
            </a:r>
            <a:r>
              <a:rPr sz="1600" spc="5" dirty="0">
                <a:latin typeface="微软雅黑"/>
                <a:cs typeface="微软雅黑"/>
              </a:rPr>
              <a:t>有</a:t>
            </a:r>
            <a:r>
              <a:rPr sz="1600" spc="-10" dirty="0">
                <a:latin typeface="微软雅黑"/>
                <a:cs typeface="微软雅黑"/>
              </a:rPr>
              <a:t>缝</a:t>
            </a:r>
            <a:r>
              <a:rPr sz="1600" spc="5" dirty="0">
                <a:latin typeface="微软雅黑"/>
                <a:cs typeface="微软雅黑"/>
              </a:rPr>
              <a:t>隙</a:t>
            </a:r>
            <a:r>
              <a:rPr sz="1600" spc="-5" dirty="0">
                <a:latin typeface="微软雅黑"/>
                <a:cs typeface="微软雅黑"/>
              </a:rPr>
              <a:t>），</a:t>
            </a:r>
            <a:r>
              <a:rPr sz="1600" spc="-10" dirty="0">
                <a:latin typeface="微软雅黑"/>
                <a:cs typeface="微软雅黑"/>
              </a:rPr>
              <a:t>如</a:t>
            </a:r>
            <a:r>
              <a:rPr sz="1600" spc="5" dirty="0">
                <a:latin typeface="微软雅黑"/>
                <a:cs typeface="微软雅黑"/>
              </a:rPr>
              <a:t>果</a:t>
            </a:r>
            <a:r>
              <a:rPr sz="1600" spc="-10" dirty="0">
                <a:latin typeface="微软雅黑"/>
                <a:cs typeface="微软雅黑"/>
              </a:rPr>
              <a:t>父</a:t>
            </a:r>
            <a:r>
              <a:rPr sz="1600" spc="5" dirty="0">
                <a:latin typeface="微软雅黑"/>
                <a:cs typeface="微软雅黑"/>
              </a:rPr>
              <a:t>级</a:t>
            </a:r>
            <a:r>
              <a:rPr sz="1600" spc="-10" dirty="0">
                <a:latin typeface="微软雅黑"/>
                <a:cs typeface="微软雅黑"/>
              </a:rPr>
              <a:t>宽</a:t>
            </a:r>
            <a:r>
              <a:rPr sz="1600" spc="5" dirty="0">
                <a:latin typeface="微软雅黑"/>
                <a:cs typeface="微软雅黑"/>
              </a:rPr>
              <a:t>度</a:t>
            </a:r>
            <a:r>
              <a:rPr sz="1600" spc="-10" dirty="0">
                <a:latin typeface="微软雅黑"/>
                <a:cs typeface="微软雅黑"/>
              </a:rPr>
              <a:t>装</a:t>
            </a:r>
            <a:r>
              <a:rPr sz="1600" spc="5" dirty="0">
                <a:latin typeface="微软雅黑"/>
                <a:cs typeface="微软雅黑"/>
              </a:rPr>
              <a:t>不</a:t>
            </a:r>
            <a:r>
              <a:rPr sz="1600" spc="-10" dirty="0">
                <a:latin typeface="微软雅黑"/>
                <a:cs typeface="微软雅黑"/>
              </a:rPr>
              <a:t>下</a:t>
            </a:r>
            <a:r>
              <a:rPr sz="1600" spc="5" dirty="0">
                <a:latin typeface="微软雅黑"/>
                <a:cs typeface="微软雅黑"/>
              </a:rPr>
              <a:t>这</a:t>
            </a:r>
            <a:r>
              <a:rPr sz="1600" spc="-10" dirty="0">
                <a:latin typeface="微软雅黑"/>
                <a:cs typeface="微软雅黑"/>
              </a:rPr>
              <a:t>些</a:t>
            </a:r>
            <a:r>
              <a:rPr sz="1600" spc="5" dirty="0">
                <a:latin typeface="微软雅黑"/>
                <a:cs typeface="微软雅黑"/>
              </a:rPr>
              <a:t>浮</a:t>
            </a:r>
            <a:r>
              <a:rPr sz="1600" spc="-10" dirty="0">
                <a:latin typeface="微软雅黑"/>
                <a:cs typeface="微软雅黑"/>
              </a:rPr>
              <a:t>动</a:t>
            </a:r>
            <a:r>
              <a:rPr sz="1600" spc="5" dirty="0">
                <a:latin typeface="微软雅黑"/>
                <a:cs typeface="微软雅黑"/>
              </a:rPr>
              <a:t>的</a:t>
            </a:r>
            <a:r>
              <a:rPr sz="1600" spc="-10" dirty="0">
                <a:latin typeface="微软雅黑"/>
                <a:cs typeface="微软雅黑"/>
              </a:rPr>
              <a:t>盒</a:t>
            </a:r>
            <a:r>
              <a:rPr sz="1600" dirty="0">
                <a:latin typeface="微软雅黑"/>
                <a:cs typeface="微软雅黑"/>
              </a:rPr>
              <a:t>子</a:t>
            </a:r>
            <a:r>
              <a:rPr sz="1600" spc="5" dirty="0">
                <a:latin typeface="微软雅黑"/>
                <a:cs typeface="微软雅黑"/>
              </a:rPr>
              <a:t>，</a:t>
            </a:r>
            <a:r>
              <a:rPr sz="1600" spc="-70" dirty="0">
                <a:latin typeface="微软雅黑"/>
                <a:cs typeface="微软雅黑"/>
              </a:rPr>
              <a:t> </a:t>
            </a:r>
            <a:r>
              <a:rPr sz="1600" spc="5" dirty="0">
                <a:latin typeface="微软雅黑"/>
                <a:cs typeface="微软雅黑"/>
              </a:rPr>
              <a:t>多出的盒子 会另起一行对</a:t>
            </a:r>
            <a:r>
              <a:rPr sz="1600" spc="-5" dirty="0">
                <a:latin typeface="微软雅黑"/>
                <a:cs typeface="微软雅黑"/>
              </a:rPr>
              <a:t>齐</a:t>
            </a:r>
            <a:r>
              <a:rPr sz="1600" spc="5" dirty="0">
                <a:latin typeface="微软雅黑"/>
                <a:cs typeface="微软雅黑"/>
              </a:rPr>
              <a:t>。</a:t>
            </a:r>
            <a:endParaRPr sz="1600" dirty="0">
              <a:latin typeface="微软雅黑"/>
              <a:cs typeface="微软雅黑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439175" y="2738559"/>
            <a:ext cx="2879221" cy="776768"/>
            <a:chOff x="7097682" y="1583255"/>
            <a:chExt cx="2879221" cy="776768"/>
          </a:xfrm>
        </p:grpSpPr>
        <p:sp>
          <p:nvSpPr>
            <p:cNvPr id="29" name="矩形 28"/>
            <p:cNvSpPr/>
            <p:nvPr/>
          </p:nvSpPr>
          <p:spPr>
            <a:xfrm>
              <a:off x="7097682" y="1583256"/>
              <a:ext cx="957129" cy="77676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div</a:t>
              </a:r>
              <a:endParaRPr lang="zh-CN" altLang="en-US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9019774" y="1583255"/>
              <a:ext cx="957129" cy="77676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div</a:t>
              </a:r>
              <a:endParaRPr lang="zh-CN" altLang="en-US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8062645" y="1583255"/>
              <a:ext cx="957129" cy="77676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div</a:t>
              </a:r>
              <a:endParaRPr lang="zh-CN" altLang="en-US" dirty="0"/>
            </a:p>
          </p:txBody>
        </p:sp>
      </p:grpSp>
      <p:sp>
        <p:nvSpPr>
          <p:cNvPr id="32" name="矩形 31"/>
          <p:cNvSpPr/>
          <p:nvPr/>
        </p:nvSpPr>
        <p:spPr>
          <a:xfrm>
            <a:off x="855202" y="3760929"/>
            <a:ext cx="4054999" cy="3163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</a:rPr>
              <a:t>在一行显示，三个</a:t>
            </a:r>
            <a:r>
              <a:rPr lang="en-US" altLang="zh-CN" sz="1600" dirty="0" smtClean="0">
                <a:solidFill>
                  <a:schemeClr val="tx1"/>
                </a:solidFill>
              </a:rPr>
              <a:t>div</a:t>
            </a:r>
            <a:r>
              <a:rPr lang="zh-CN" altLang="en-US" sz="1600" dirty="0" smtClean="0">
                <a:solidFill>
                  <a:schemeClr val="tx1"/>
                </a:solidFill>
              </a:rPr>
              <a:t>都要设置浮动属性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object 3"/>
          <p:cNvSpPr txBox="1"/>
          <p:nvPr/>
        </p:nvSpPr>
        <p:spPr>
          <a:xfrm>
            <a:off x="6096000" y="2061943"/>
            <a:ext cx="4929051" cy="3626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mtClean="0">
                <a:solidFill>
                  <a:srgbClr val="252525"/>
                </a:solidFill>
                <a:latin typeface="微软雅黑"/>
                <a:cs typeface="微软雅黑"/>
              </a:rPr>
              <a:t>3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.</a:t>
            </a:r>
            <a:r>
              <a:rPr spc="-2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浮动元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会具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块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元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特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性。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任何元素都可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不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管原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先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什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么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模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元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添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加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之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后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具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b="1" spc="-10" dirty="0">
                <a:solidFill>
                  <a:srgbClr val="C00000"/>
                </a:solidFill>
                <a:latin typeface="微软雅黑"/>
                <a:cs typeface="微软雅黑"/>
              </a:rPr>
              <a:t>行</a:t>
            </a:r>
            <a:r>
              <a:rPr b="1" spc="5" dirty="0">
                <a:solidFill>
                  <a:srgbClr val="C00000"/>
                </a:solidFill>
                <a:latin typeface="微软雅黑"/>
                <a:cs typeface="微软雅黑"/>
              </a:rPr>
              <a:t>内</a:t>
            </a:r>
            <a:r>
              <a:rPr b="1" spc="-10" dirty="0">
                <a:solidFill>
                  <a:srgbClr val="C00000"/>
                </a:solidFill>
                <a:latin typeface="微软雅黑"/>
                <a:cs typeface="微软雅黑"/>
              </a:rPr>
              <a:t>块</a:t>
            </a:r>
            <a:r>
              <a:rPr b="1" spc="5" dirty="0">
                <a:solidFill>
                  <a:srgbClr val="C00000"/>
                </a:solidFill>
                <a:latin typeface="微软雅黑"/>
                <a:cs typeface="微软雅黑"/>
              </a:rPr>
              <a:t>元</a:t>
            </a:r>
            <a:r>
              <a:rPr b="1" spc="-10" dirty="0">
                <a:solidFill>
                  <a:srgbClr val="C00000"/>
                </a:solidFill>
                <a:latin typeface="微软雅黑"/>
                <a:cs typeface="微软雅黑"/>
              </a:rPr>
              <a:t>素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相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似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特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性。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224155" indent="-211455">
              <a:lnSpc>
                <a:spcPct val="100000"/>
              </a:lnSpc>
              <a:buFont typeface="Wingdings" panose="05000000000000000000"/>
              <a:buChar char=""/>
              <a:tabLst>
                <a:tab pos="224790" algn="l"/>
              </a:tabLst>
            </a:pP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如果块级盒子没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设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置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宽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度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默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认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宽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度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和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父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级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样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宽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但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添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加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后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它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大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小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根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据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容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来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决定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224155" indent="-211455">
              <a:lnSpc>
                <a:spcPct val="100000"/>
              </a:lnSpc>
              <a:buFont typeface="Wingdings" panose="05000000000000000000"/>
              <a:buChar char=""/>
              <a:tabLst>
                <a:tab pos="224790" algn="l"/>
              </a:tabLst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浮动的盒子中间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没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缝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隙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紧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挨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着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起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184785" indent="-172085">
              <a:lnSpc>
                <a:spcPct val="100000"/>
              </a:lnSpc>
              <a:buFont typeface="Wingdings" panose="05000000000000000000"/>
              <a:buChar char=""/>
              <a:tabLst>
                <a:tab pos="185420" algn="l"/>
              </a:tabLst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行内元素同理</a:t>
            </a:r>
            <a:endParaRPr dirty="0"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610211"/>
            <a:ext cx="4814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浮动元素经常和</a:t>
            </a:r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标准文档流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父级搭配使用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</p:txBody>
      </p:sp>
      <p:sp>
        <p:nvSpPr>
          <p:cNvPr id="19" name="object 3"/>
          <p:cNvSpPr txBox="1"/>
          <p:nvPr/>
        </p:nvSpPr>
        <p:spPr>
          <a:xfrm>
            <a:off x="923916" y="2257272"/>
            <a:ext cx="10213245" cy="1134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为了约束浮动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元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位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置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,</a:t>
            </a:r>
            <a:r>
              <a:rPr spc="-4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我们网页布局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般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采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取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策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略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: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先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用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标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准</a:t>
            </a:r>
            <a:r>
              <a:rPr lang="zh-CN" altLang="en-US" spc="5" dirty="0" smtClean="0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/>
              </a:rPr>
              <a:t>文档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流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的</a:t>
            </a:r>
            <a:r>
              <a:rPr spc="-1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父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元</a:t>
            </a:r>
            <a:r>
              <a:rPr spc="-1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素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排</a:t>
            </a:r>
            <a:r>
              <a:rPr spc="-1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列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上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下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位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置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,</a:t>
            </a:r>
            <a:r>
              <a:rPr spc="-4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之后内部子元素</a:t>
            </a:r>
            <a:r>
              <a:rPr lang="zh-CN" altLang="en-US" dirty="0" smtClean="0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/>
              </a:rPr>
              <a:t>再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采</a:t>
            </a: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取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浮</a:t>
            </a: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动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排</a:t>
            </a: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列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左</a:t>
            </a:r>
            <a:r>
              <a:rPr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右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位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置</a:t>
            </a: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r>
              <a:rPr spc="30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符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合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网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页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布</a:t>
            </a:r>
            <a:r>
              <a:rPr spc="-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局</a:t>
            </a:r>
            <a:r>
              <a:rPr spc="-10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第</a:t>
            </a:r>
            <a:r>
              <a:rPr spc="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一</a:t>
            </a:r>
            <a:r>
              <a:rPr spc="-15" dirty="0" err="1" smtClean="0">
                <a:solidFill>
                  <a:srgbClr val="FF0000"/>
                </a:solidFill>
                <a:latin typeface="微软雅黑"/>
                <a:cs typeface="微软雅黑"/>
              </a:rPr>
              <a:t>准</a:t>
            </a:r>
            <a:r>
              <a:rPr lang="zh-CN" altLang="en-US" spc="5" dirty="0">
                <a:solidFill>
                  <a:srgbClr val="FF0000"/>
                </a:solidFill>
                <a:latin typeface="微软雅黑"/>
                <a:cs typeface="微软雅黑"/>
              </a:rPr>
              <a:t>则</a:t>
            </a:r>
            <a:r>
              <a:rPr dirty="0" smtClean="0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endParaRPr dirty="0">
              <a:latin typeface="微软雅黑"/>
              <a:cs typeface="微软雅黑"/>
            </a:endParaRPr>
          </a:p>
        </p:txBody>
      </p:sp>
      <p:sp>
        <p:nvSpPr>
          <p:cNvPr id="23" name="object 10"/>
          <p:cNvSpPr txBox="1"/>
          <p:nvPr/>
        </p:nvSpPr>
        <p:spPr>
          <a:xfrm>
            <a:off x="3751648" y="5587517"/>
            <a:ext cx="1263015" cy="2231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0490">
              <a:lnSpc>
                <a:spcPct val="100000"/>
              </a:lnSpc>
              <a:spcBef>
                <a:spcPts val="120"/>
              </a:spcBef>
            </a:pPr>
            <a:r>
              <a:rPr sz="1350" spc="15" dirty="0">
                <a:solidFill>
                  <a:srgbClr val="FFFFFF"/>
                </a:solidFill>
                <a:latin typeface="宋体"/>
                <a:cs typeface="宋体"/>
              </a:rPr>
              <a:t>标准流父盒子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4" name="object 5"/>
          <p:cNvSpPr/>
          <p:nvPr/>
        </p:nvSpPr>
        <p:spPr>
          <a:xfrm>
            <a:off x="923916" y="3718838"/>
            <a:ext cx="7089775" cy="1495425"/>
          </a:xfrm>
          <a:custGeom>
            <a:avLst/>
            <a:gdLst/>
            <a:ahLst/>
            <a:cxnLst/>
            <a:rect l="l" t="t" r="r" b="b"/>
            <a:pathLst>
              <a:path w="7089775" h="1495425">
                <a:moveTo>
                  <a:pt x="0" y="1495298"/>
                </a:moveTo>
                <a:lnTo>
                  <a:pt x="7089267" y="1495298"/>
                </a:lnTo>
                <a:lnTo>
                  <a:pt x="7089267" y="0"/>
                </a:lnTo>
                <a:lnTo>
                  <a:pt x="0" y="0"/>
                </a:lnTo>
                <a:lnTo>
                  <a:pt x="0" y="149529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6"/>
          <p:cNvSpPr/>
          <p:nvPr/>
        </p:nvSpPr>
        <p:spPr>
          <a:xfrm>
            <a:off x="923916" y="3718838"/>
            <a:ext cx="7089775" cy="1495425"/>
          </a:xfrm>
          <a:custGeom>
            <a:avLst/>
            <a:gdLst/>
            <a:ahLst/>
            <a:cxnLst/>
            <a:rect l="l" t="t" r="r" b="b"/>
            <a:pathLst>
              <a:path w="7089775" h="1495425">
                <a:moveTo>
                  <a:pt x="0" y="1495298"/>
                </a:moveTo>
                <a:lnTo>
                  <a:pt x="7089267" y="1495298"/>
                </a:lnTo>
                <a:lnTo>
                  <a:pt x="7089267" y="0"/>
                </a:lnTo>
                <a:lnTo>
                  <a:pt x="0" y="0"/>
                </a:lnTo>
                <a:lnTo>
                  <a:pt x="0" y="1495298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11"/>
          <p:cNvSpPr/>
          <p:nvPr/>
        </p:nvSpPr>
        <p:spPr>
          <a:xfrm>
            <a:off x="1117553" y="3912475"/>
            <a:ext cx="1936750" cy="1108075"/>
          </a:xfrm>
          <a:custGeom>
            <a:avLst/>
            <a:gdLst/>
            <a:ahLst/>
            <a:cxnLst/>
            <a:rect l="l" t="t" r="r" b="b"/>
            <a:pathLst>
              <a:path w="1936750" h="1108075">
                <a:moveTo>
                  <a:pt x="0" y="1108036"/>
                </a:moveTo>
                <a:lnTo>
                  <a:pt x="1936368" y="1108036"/>
                </a:lnTo>
                <a:lnTo>
                  <a:pt x="1936368" y="0"/>
                </a:lnTo>
                <a:lnTo>
                  <a:pt x="0" y="0"/>
                </a:lnTo>
                <a:lnTo>
                  <a:pt x="0" y="1108036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12"/>
          <p:cNvSpPr txBox="1"/>
          <p:nvPr/>
        </p:nvSpPr>
        <p:spPr>
          <a:xfrm>
            <a:off x="1117553" y="3912475"/>
            <a:ext cx="1936750" cy="682238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 dirty="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 panose="02020503050405090304"/>
              <a:cs typeface="Times New Roman" panose="02020503050405090304"/>
            </a:endParaRPr>
          </a:p>
          <a:p>
            <a:pPr marL="534035">
              <a:lnSpc>
                <a:spcPct val="100000"/>
              </a:lnSpc>
            </a:pPr>
            <a:r>
              <a:rPr sz="1350" spc="15" dirty="0">
                <a:solidFill>
                  <a:srgbClr val="FFFFFF"/>
                </a:solidFill>
                <a:latin typeface="宋体"/>
                <a:cs typeface="宋体"/>
              </a:rPr>
              <a:t>浮动子盒子</a:t>
            </a:r>
            <a:endParaRPr sz="1350" dirty="0">
              <a:latin typeface="宋体"/>
              <a:cs typeface="宋体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3500377" y="3912475"/>
            <a:ext cx="1936750" cy="1108075"/>
          </a:xfrm>
          <a:custGeom>
            <a:avLst/>
            <a:gdLst/>
            <a:ahLst/>
            <a:cxnLst/>
            <a:rect l="l" t="t" r="r" b="b"/>
            <a:pathLst>
              <a:path w="1936750" h="1108075">
                <a:moveTo>
                  <a:pt x="0" y="1108036"/>
                </a:moveTo>
                <a:lnTo>
                  <a:pt x="1936368" y="1108036"/>
                </a:lnTo>
                <a:lnTo>
                  <a:pt x="1936368" y="0"/>
                </a:lnTo>
                <a:lnTo>
                  <a:pt x="0" y="0"/>
                </a:lnTo>
                <a:lnTo>
                  <a:pt x="0" y="1108036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14"/>
          <p:cNvSpPr txBox="1"/>
          <p:nvPr/>
        </p:nvSpPr>
        <p:spPr>
          <a:xfrm>
            <a:off x="3500377" y="3912475"/>
            <a:ext cx="1936750" cy="682238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 dirty="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 panose="02020503050405090304"/>
              <a:cs typeface="Times New Roman" panose="02020503050405090304"/>
            </a:endParaRPr>
          </a:p>
          <a:p>
            <a:pPr marL="534035">
              <a:lnSpc>
                <a:spcPct val="100000"/>
              </a:lnSpc>
            </a:pPr>
            <a:r>
              <a:rPr sz="1350" spc="15" dirty="0">
                <a:solidFill>
                  <a:srgbClr val="FFFFFF"/>
                </a:solidFill>
                <a:latin typeface="宋体"/>
                <a:cs typeface="宋体"/>
              </a:rPr>
              <a:t>浮动子盒子</a:t>
            </a:r>
            <a:endParaRPr sz="1350" dirty="0">
              <a:latin typeface="宋体"/>
              <a:cs typeface="宋体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5836542" y="3912475"/>
            <a:ext cx="1936750" cy="1108075"/>
          </a:xfrm>
          <a:custGeom>
            <a:avLst/>
            <a:gdLst/>
            <a:ahLst/>
            <a:cxnLst/>
            <a:rect l="l" t="t" r="r" b="b"/>
            <a:pathLst>
              <a:path w="1936750" h="1108075">
                <a:moveTo>
                  <a:pt x="0" y="1108036"/>
                </a:moveTo>
                <a:lnTo>
                  <a:pt x="1936369" y="1108036"/>
                </a:lnTo>
                <a:lnTo>
                  <a:pt x="1936369" y="0"/>
                </a:lnTo>
                <a:lnTo>
                  <a:pt x="0" y="0"/>
                </a:lnTo>
                <a:lnTo>
                  <a:pt x="0" y="1108036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16"/>
          <p:cNvSpPr txBox="1"/>
          <p:nvPr/>
        </p:nvSpPr>
        <p:spPr>
          <a:xfrm>
            <a:off x="5836542" y="3912475"/>
            <a:ext cx="1936750" cy="682238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 dirty="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 panose="02020503050405090304"/>
              <a:cs typeface="Times New Roman" panose="02020503050405090304"/>
            </a:endParaRPr>
          </a:p>
          <a:p>
            <a:pPr marL="534670">
              <a:lnSpc>
                <a:spcPct val="100000"/>
              </a:lnSpc>
            </a:pPr>
            <a:r>
              <a:rPr sz="1350" spc="15" dirty="0">
                <a:solidFill>
                  <a:srgbClr val="FFFFFF"/>
                </a:solidFill>
                <a:latin typeface="宋体"/>
                <a:cs typeface="宋体"/>
              </a:rPr>
              <a:t>浮动子盒子</a:t>
            </a:r>
            <a:endParaRPr sz="1350" dirty="0">
              <a:latin typeface="宋体"/>
              <a:cs typeface="宋体"/>
            </a:endParaRPr>
          </a:p>
        </p:txBody>
      </p:sp>
      <p:sp>
        <p:nvSpPr>
          <p:cNvPr id="39" name="object 7"/>
          <p:cNvSpPr/>
          <p:nvPr/>
        </p:nvSpPr>
        <p:spPr>
          <a:xfrm>
            <a:off x="4230118" y="5259235"/>
            <a:ext cx="96138" cy="19903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10"/>
          <p:cNvSpPr txBox="1"/>
          <p:nvPr/>
        </p:nvSpPr>
        <p:spPr>
          <a:xfrm>
            <a:off x="3646681" y="5587517"/>
            <a:ext cx="1715894" cy="2231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0490">
              <a:lnSpc>
                <a:spcPct val="100000"/>
              </a:lnSpc>
              <a:spcBef>
                <a:spcPts val="120"/>
              </a:spcBef>
            </a:pPr>
            <a:r>
              <a:rPr sz="1350" spc="15" dirty="0" err="1" smtClean="0">
                <a:latin typeface="宋体" pitchFamily="2" charset="-122"/>
                <a:ea typeface="宋体" pitchFamily="2" charset="-122"/>
                <a:cs typeface="宋体"/>
              </a:rPr>
              <a:t>标准</a:t>
            </a:r>
            <a:r>
              <a:rPr lang="zh-CN" altLang="en-US" sz="1350" spc="15" dirty="0">
                <a:latin typeface="宋体" pitchFamily="2" charset="-122"/>
                <a:ea typeface="宋体" pitchFamily="2" charset="-122"/>
                <a:cs typeface="宋体"/>
              </a:rPr>
              <a:t>文档</a:t>
            </a:r>
            <a:r>
              <a:rPr sz="1350" spc="15" dirty="0" err="1" smtClean="0">
                <a:latin typeface="宋体" pitchFamily="2" charset="-122"/>
                <a:ea typeface="宋体" pitchFamily="2" charset="-122"/>
                <a:cs typeface="宋体"/>
              </a:rPr>
              <a:t>流父盒子</a:t>
            </a:r>
            <a:endParaRPr sz="1350" dirty="0">
              <a:latin typeface="宋体" pitchFamily="2" charset="-122"/>
              <a:ea typeface="宋体" pitchFamily="2" charset="-122"/>
              <a:cs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61021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常见网页布局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4060" y="606498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应用浮动定位可以完成上边的布局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867" y="2140123"/>
            <a:ext cx="5476111" cy="37874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object 3"/>
          <p:cNvSpPr txBox="1"/>
          <p:nvPr/>
        </p:nvSpPr>
        <p:spPr>
          <a:xfrm>
            <a:off x="1091248" y="1599977"/>
            <a:ext cx="9357295" cy="1415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浮动布局注意点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1.</a:t>
            </a:r>
            <a:r>
              <a:rPr sz="20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b="1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浮动和标准</a:t>
            </a:r>
            <a:r>
              <a:rPr lang="zh-CN" altLang="en-US" sz="2000" b="1" dirty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文档</a:t>
            </a:r>
            <a:r>
              <a:rPr sz="2000" b="1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流的父盒</a:t>
            </a:r>
            <a:r>
              <a:rPr sz="2000" b="1" spc="-1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z="2000" b="1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搭配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先用标准</a:t>
            </a:r>
            <a:r>
              <a:rPr lang="zh-CN" altLang="en-US" spc="5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文档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流的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父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元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素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排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列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上下</a:t>
            </a:r>
            <a:r>
              <a:rPr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位</a:t>
            </a:r>
            <a:r>
              <a:rPr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置</a:t>
            </a:r>
            <a:r>
              <a:rPr dirty="0">
                <a:solidFill>
                  <a:srgbClr val="C00000"/>
                </a:solidFill>
                <a:latin typeface="微软雅黑"/>
                <a:cs typeface="微软雅黑"/>
              </a:rPr>
              <a:t>,</a:t>
            </a:r>
            <a:r>
              <a:rPr spc="-9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之后内部子元素</a:t>
            </a:r>
            <a:r>
              <a:rPr spc="-10" dirty="0">
                <a:solidFill>
                  <a:srgbClr val="C00000"/>
                </a:solidFill>
                <a:latin typeface="微软雅黑"/>
                <a:cs typeface="微软雅黑"/>
              </a:rPr>
              <a:t>采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取</a:t>
            </a:r>
            <a:r>
              <a:rPr spc="-10" dirty="0">
                <a:solidFill>
                  <a:srgbClr val="C00000"/>
                </a:solidFill>
                <a:latin typeface="微软雅黑"/>
                <a:cs typeface="微软雅黑"/>
              </a:rPr>
              <a:t>浮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动</a:t>
            </a:r>
            <a:r>
              <a:rPr spc="-10" dirty="0">
                <a:solidFill>
                  <a:srgbClr val="C00000"/>
                </a:solidFill>
                <a:latin typeface="微软雅黑"/>
                <a:cs typeface="微软雅黑"/>
              </a:rPr>
              <a:t>排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列</a:t>
            </a:r>
            <a:r>
              <a:rPr spc="-10" dirty="0">
                <a:solidFill>
                  <a:srgbClr val="C00000"/>
                </a:solidFill>
                <a:latin typeface="微软雅黑"/>
                <a:cs typeface="微软雅黑"/>
              </a:rPr>
              <a:t>左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右</a:t>
            </a:r>
            <a:r>
              <a:rPr spc="-10" dirty="0">
                <a:solidFill>
                  <a:srgbClr val="C00000"/>
                </a:solidFill>
                <a:latin typeface="微软雅黑"/>
                <a:cs typeface="微软雅黑"/>
              </a:rPr>
              <a:t>位</a:t>
            </a:r>
            <a:r>
              <a:rPr spc="5" dirty="0">
                <a:solidFill>
                  <a:srgbClr val="C00000"/>
                </a:solidFill>
                <a:latin typeface="微软雅黑"/>
                <a:cs typeface="微软雅黑"/>
              </a:rPr>
              <a:t>置</a:t>
            </a:r>
            <a:endParaRPr dirty="0">
              <a:solidFill>
                <a:srgbClr val="C00000"/>
              </a:solidFill>
              <a:latin typeface="微软雅黑"/>
              <a:cs typeface="微软雅黑"/>
            </a:endParaRPr>
          </a:p>
        </p:txBody>
      </p:sp>
      <p:sp>
        <p:nvSpPr>
          <p:cNvPr id="20" name="object 4"/>
          <p:cNvSpPr txBox="1"/>
          <p:nvPr/>
        </p:nvSpPr>
        <p:spPr>
          <a:xfrm>
            <a:off x="1091248" y="3421865"/>
            <a:ext cx="10338752" cy="15918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52525"/>
                </a:solidFill>
                <a:latin typeface="微软雅黑"/>
                <a:cs typeface="微软雅黑"/>
              </a:rPr>
              <a:t>2. 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一个元素浮动了，理</a:t>
            </a:r>
            <a:r>
              <a:rPr sz="2000" b="1" spc="-15" dirty="0">
                <a:solidFill>
                  <a:srgbClr val="252525"/>
                </a:solidFill>
                <a:latin typeface="微软雅黑"/>
                <a:cs typeface="微软雅黑"/>
              </a:rPr>
              <a:t>论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上其</a:t>
            </a:r>
            <a:r>
              <a:rPr sz="2000" b="1" spc="-15" dirty="0">
                <a:solidFill>
                  <a:srgbClr val="252525"/>
                </a:solidFill>
                <a:latin typeface="微软雅黑"/>
                <a:cs typeface="微软雅黑"/>
              </a:rPr>
              <a:t>余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的兄</a:t>
            </a:r>
            <a:r>
              <a:rPr sz="2000" b="1" spc="-15" dirty="0">
                <a:solidFill>
                  <a:srgbClr val="252525"/>
                </a:solidFill>
                <a:latin typeface="微软雅黑"/>
                <a:cs typeface="微软雅黑"/>
              </a:rPr>
              <a:t>弟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元素</a:t>
            </a:r>
            <a:r>
              <a:rPr sz="2000" b="1" spc="-15" dirty="0">
                <a:solidFill>
                  <a:srgbClr val="252525"/>
                </a:solidFill>
                <a:latin typeface="微软雅黑"/>
                <a:cs typeface="微软雅黑"/>
              </a:rPr>
              <a:t>也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要浮</a:t>
            </a:r>
            <a:r>
              <a:rPr sz="2000" b="1" spc="-15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z="2000" b="1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 marL="12700" marR="5080">
              <a:lnSpc>
                <a:spcPct val="213000"/>
              </a:lnSpc>
              <a:spcBef>
                <a:spcPts val="90"/>
              </a:spcBef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一个盒子里面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多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个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子，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如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果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其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中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一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个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了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那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么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其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他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兄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弟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也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应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该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防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止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引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起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问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题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。 </a:t>
            </a:r>
            <a:endParaRPr lang="en-US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 marR="5080">
              <a:lnSpc>
                <a:spcPct val="213000"/>
              </a:lnSpc>
              <a:spcBef>
                <a:spcPts val="90"/>
              </a:spcBef>
            </a:pP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浮动的盒子只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会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影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响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浮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动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盒子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后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面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的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准</a:t>
            </a:r>
            <a:r>
              <a:rPr lang="zh-CN" altLang="en-US" sz="2000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文档</a:t>
            </a:r>
            <a:r>
              <a:rPr sz="2000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流</a:t>
            </a:r>
            <a:r>
              <a:rPr lang="zh-CN" altLang="en-US" sz="2000" spc="-15" dirty="0" smtClean="0">
                <a:solidFill>
                  <a:srgbClr val="C00000"/>
                </a:solidFill>
                <a:latin typeface="微软雅黑"/>
                <a:cs typeface="微软雅黑"/>
              </a:rPr>
              <a:t>，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不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会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影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响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前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面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的</a:t>
            </a:r>
            <a:r>
              <a:rPr sz="2000" spc="-1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标</a:t>
            </a:r>
            <a:r>
              <a:rPr sz="2000" spc="5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准</a:t>
            </a:r>
            <a:r>
              <a:rPr lang="zh-CN" altLang="en-US" sz="2000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文档</a:t>
            </a:r>
            <a:r>
              <a:rPr sz="2000" spc="-10" dirty="0" smtClean="0">
                <a:solidFill>
                  <a:srgbClr val="C00000"/>
                </a:solidFill>
                <a:latin typeface="微软雅黑"/>
                <a:cs typeface="微软雅黑"/>
              </a:rPr>
              <a:t>流</a:t>
            </a:r>
            <a:r>
              <a:rPr sz="2000" dirty="0">
                <a:solidFill>
                  <a:srgbClr val="C00000"/>
                </a:solidFill>
                <a:latin typeface="微软雅黑"/>
                <a:cs typeface="微软雅黑"/>
              </a:rPr>
              <a:t>.</a:t>
            </a:r>
            <a:endParaRPr sz="2000" dirty="0">
              <a:solidFill>
                <a:srgbClr val="C00000"/>
              </a:solidFill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object 3"/>
          <p:cNvSpPr/>
          <p:nvPr/>
        </p:nvSpPr>
        <p:spPr>
          <a:xfrm>
            <a:off x="4762734" y="2515134"/>
            <a:ext cx="4463625" cy="169732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4"/>
          <p:cNvSpPr/>
          <p:nvPr/>
        </p:nvSpPr>
        <p:spPr>
          <a:xfrm>
            <a:off x="4761212" y="2513482"/>
            <a:ext cx="4465147" cy="1487018"/>
          </a:xfrm>
          <a:custGeom>
            <a:avLst/>
            <a:gdLst/>
            <a:ahLst/>
            <a:cxnLst/>
            <a:rect l="l" t="t" r="r" b="b"/>
            <a:pathLst>
              <a:path w="4132579" h="1361439">
                <a:moveTo>
                  <a:pt x="0" y="1361440"/>
                </a:moveTo>
                <a:lnTo>
                  <a:pt x="4132579" y="1361440"/>
                </a:lnTo>
                <a:lnTo>
                  <a:pt x="4132579" y="0"/>
                </a:lnTo>
                <a:lnTo>
                  <a:pt x="0" y="0"/>
                </a:lnTo>
                <a:lnTo>
                  <a:pt x="0" y="1361440"/>
                </a:lnTo>
                <a:close/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5"/>
          <p:cNvSpPr txBox="1"/>
          <p:nvPr/>
        </p:nvSpPr>
        <p:spPr>
          <a:xfrm>
            <a:off x="1122576" y="4212456"/>
            <a:ext cx="10179644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5" indent="-21145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"/>
              <a:tabLst>
                <a:tab pos="224790" algn="l"/>
              </a:tabLst>
            </a:pPr>
            <a:r>
              <a:rPr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由于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浮</a:t>
            </a:r>
            <a:r>
              <a:rPr spc="-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动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元</a:t>
            </a:r>
            <a:r>
              <a:rPr spc="-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素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不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再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占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用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原</a:t>
            </a:r>
            <a:r>
              <a:rPr lang="zh-CN" altLang="en-US" spc="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标准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文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档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流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的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位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置</a:t>
            </a:r>
            <a:r>
              <a:rPr spc="-15" dirty="0" err="1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，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所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以</a:t>
            </a:r>
            <a:r>
              <a:rPr lang="zh-CN" altLang="en-US" spc="-1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浮动元素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后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面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的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元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素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排</a:t>
            </a:r>
            <a:r>
              <a:rPr spc="-1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版</a:t>
            </a:r>
            <a:r>
              <a:rPr lang="zh-CN" altLang="en-US" spc="-1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就会被</a:t>
            </a:r>
            <a:r>
              <a:rPr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影响</a:t>
            </a:r>
            <a:r>
              <a:rPr lang="zh-CN" altLang="en-US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。</a:t>
            </a:r>
            <a:endParaRPr dirty="0">
              <a:latin typeface="微软雅黑" charset="-122"/>
              <a:ea typeface="微软雅黑" charset="-122"/>
              <a:cs typeface="微软雅黑"/>
            </a:endParaRPr>
          </a:p>
        </p:txBody>
      </p:sp>
      <p:sp>
        <p:nvSpPr>
          <p:cNvPr id="24" name="object 6"/>
          <p:cNvSpPr txBox="1"/>
          <p:nvPr/>
        </p:nvSpPr>
        <p:spPr>
          <a:xfrm>
            <a:off x="1128436" y="1513187"/>
            <a:ext cx="10996508" cy="133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清除浮动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  <a:p>
            <a:pPr marL="12700" marR="5080">
              <a:lnSpc>
                <a:spcPct val="151000"/>
              </a:lnSpc>
              <a:spcBef>
                <a:spcPts val="905"/>
              </a:spcBef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由于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父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级盒子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很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多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情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况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下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，不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方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便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给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高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度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但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浮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动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又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不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占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位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置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最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后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父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级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高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度为</a:t>
            </a:r>
            <a:r>
              <a:rPr spc="-7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0</a:t>
            </a:r>
            <a:r>
              <a:rPr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5" dirty="0" err="1">
                <a:solidFill>
                  <a:srgbClr val="252525"/>
                </a:solidFill>
                <a:latin typeface="微软雅黑"/>
                <a:cs typeface="微软雅黑"/>
              </a:rPr>
              <a:t>时，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就会影响下</a:t>
            </a:r>
            <a:r>
              <a:rPr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面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的标</a:t>
            </a:r>
            <a:r>
              <a:rPr spc="-1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准</a:t>
            </a:r>
            <a:r>
              <a:rPr lang="zh-CN" altLang="en-US" spc="-10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文档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流</a:t>
            </a:r>
            <a:r>
              <a:rPr spc="-1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盒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子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dirty="0">
              <a:latin typeface="微软雅黑"/>
              <a:cs typeface="微软雅黑"/>
            </a:endParaRPr>
          </a:p>
        </p:txBody>
      </p:sp>
      <p:sp>
        <p:nvSpPr>
          <p:cNvPr id="25" name="object 3"/>
          <p:cNvSpPr txBox="1"/>
          <p:nvPr/>
        </p:nvSpPr>
        <p:spPr>
          <a:xfrm>
            <a:off x="1122576" y="5077523"/>
            <a:ext cx="10636844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"/>
              <a:tabLst>
                <a:tab pos="185420" algn="l"/>
              </a:tabLst>
            </a:pP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清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除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浮动</a:t>
            </a: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元</a:t>
            </a:r>
            <a:r>
              <a:rPr spc="-10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素</a:t>
            </a:r>
            <a:r>
              <a:rPr lang="zh-CN" altLang="en-US" spc="-10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对后边元素排列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造</a:t>
            </a:r>
            <a:r>
              <a:rPr spc="-1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成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影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响</a:t>
            </a:r>
            <a:r>
              <a:rPr lang="zh-CN" altLang="en-US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224790" indent="-21209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"/>
              <a:tabLst>
                <a:tab pos="225425" algn="l"/>
              </a:tabLst>
            </a:pPr>
            <a:r>
              <a:rPr spc="5" dirty="0" err="1">
                <a:solidFill>
                  <a:srgbClr val="252525"/>
                </a:solidFill>
                <a:latin typeface="微软雅黑"/>
                <a:cs typeface="微软雅黑"/>
              </a:rPr>
              <a:t>如果父盒子本身</a:t>
            </a:r>
            <a:r>
              <a:rPr spc="-5" dirty="0" err="1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spc="5" dirty="0" err="1">
                <a:solidFill>
                  <a:srgbClr val="252525"/>
                </a:solidFill>
                <a:latin typeface="微软雅黑"/>
                <a:cs typeface="微软雅黑"/>
              </a:rPr>
              <a:t>高</a:t>
            </a:r>
            <a:r>
              <a:rPr spc="-5" dirty="0" err="1">
                <a:solidFill>
                  <a:srgbClr val="252525"/>
                </a:solidFill>
                <a:latin typeface="微软雅黑"/>
                <a:cs typeface="微软雅黑"/>
              </a:rPr>
              <a:t>度</a:t>
            </a:r>
            <a:r>
              <a:rPr spc="5" dirty="0" smtClean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pc="-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那么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不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需</a:t>
            </a:r>
            <a:r>
              <a:rPr spc="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要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清</a:t>
            </a:r>
            <a:r>
              <a:rPr spc="-3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除</a:t>
            </a:r>
            <a:r>
              <a:rPr spc="-5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浮动</a:t>
            </a:r>
            <a:r>
              <a:rPr lang="zh-CN" altLang="en-US" spc="-5" dirty="0" smtClean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dirty="0">
              <a:latin typeface="Times New Roman" panose="02020503050405090304"/>
              <a:cs typeface="Times New Roman" panose="02020503050405090304"/>
            </a:endParaRPr>
          </a:p>
          <a:p>
            <a:pPr marL="224790" indent="-212090">
              <a:lnSpc>
                <a:spcPct val="100000"/>
              </a:lnSpc>
              <a:buClr>
                <a:srgbClr val="252525"/>
              </a:buClr>
              <a:buFont typeface="Wingdings" panose="05000000000000000000"/>
              <a:buChar char=""/>
              <a:tabLst>
                <a:tab pos="225425" algn="l"/>
              </a:tabLst>
            </a:pP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清</a:t>
            </a:r>
            <a:r>
              <a:rPr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除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浮动之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后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，</a:t>
            </a:r>
            <a:r>
              <a:rPr spc="-10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父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级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就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会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根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据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浮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动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的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子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盒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子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自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动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检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测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高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度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。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父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级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有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了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高</a:t>
            </a:r>
            <a:r>
              <a:rPr spc="-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度</a:t>
            </a:r>
            <a:r>
              <a:rPr spc="5" dirty="0" err="1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，</a:t>
            </a:r>
            <a:r>
              <a:rPr spc="-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就</a:t>
            </a:r>
            <a:r>
              <a:rPr spc="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不</a:t>
            </a:r>
            <a:r>
              <a:rPr spc="-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会</a:t>
            </a:r>
            <a:r>
              <a:rPr spc="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影</a:t>
            </a:r>
            <a:r>
              <a:rPr spc="-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响</a:t>
            </a:r>
            <a:r>
              <a:rPr spc="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下</a:t>
            </a:r>
            <a:r>
              <a:rPr spc="-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面</a:t>
            </a:r>
            <a:r>
              <a:rPr lang="zh-CN" altLang="en-US" spc="-5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元素</a:t>
            </a:r>
            <a:r>
              <a:rPr spc="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的</a:t>
            </a:r>
            <a:r>
              <a:rPr spc="-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标</a:t>
            </a:r>
            <a:r>
              <a:rPr spc="5" dirty="0" err="1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准</a:t>
            </a:r>
            <a:r>
              <a:rPr lang="zh-CN" altLang="en-US" spc="5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文档</a:t>
            </a:r>
            <a:r>
              <a:rPr spc="-80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流</a:t>
            </a:r>
            <a:r>
              <a:rPr lang="zh-CN" altLang="en-US" spc="-80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定位</a:t>
            </a:r>
            <a:r>
              <a:rPr spc="5"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了</a:t>
            </a:r>
            <a:endParaRPr dirty="0">
              <a:solidFill>
                <a:srgbClr val="C00000"/>
              </a:solidFill>
              <a:latin typeface="微软雅黑" charset="-122"/>
              <a:ea typeface="微软雅黑" charset="-122"/>
              <a:cs typeface="微软雅黑"/>
            </a:endParaRPr>
          </a:p>
        </p:txBody>
      </p:sp>
      <p:sp>
        <p:nvSpPr>
          <p:cNvPr id="26" name="object 4"/>
          <p:cNvSpPr txBox="1"/>
          <p:nvPr/>
        </p:nvSpPr>
        <p:spPr>
          <a:xfrm>
            <a:off x="1122576" y="4575733"/>
            <a:ext cx="332140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清除浮动本质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object 4"/>
          <p:cNvSpPr/>
          <p:nvPr/>
        </p:nvSpPr>
        <p:spPr>
          <a:xfrm>
            <a:off x="1004551" y="3072563"/>
            <a:ext cx="7607604" cy="168520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5"/>
          <p:cNvSpPr txBox="1"/>
          <p:nvPr/>
        </p:nvSpPr>
        <p:spPr>
          <a:xfrm>
            <a:off x="911246" y="4860410"/>
            <a:ext cx="9653122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 err="1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实际</a:t>
            </a:r>
            <a:r>
              <a:rPr lang="zh-CN" altLang="en-US" spc="5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开发</a:t>
            </a:r>
            <a:r>
              <a:rPr spc="-10" dirty="0" smtClean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中</a:t>
            </a:r>
            <a:r>
              <a:rPr spc="5" dirty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，</a:t>
            </a:r>
            <a:r>
              <a:rPr spc="-55" dirty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 </a:t>
            </a:r>
            <a:r>
              <a:rPr spc="5" dirty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几乎只用</a:t>
            </a:r>
            <a:r>
              <a:rPr spc="-40" dirty="0">
                <a:solidFill>
                  <a:srgbClr val="252525"/>
                </a:solidFill>
                <a:latin typeface="微软雅黑" charset="-122"/>
                <a:ea typeface="微软雅黑" charset="-122"/>
                <a:cs typeface="微软雅黑"/>
              </a:rPr>
              <a:t> </a:t>
            </a:r>
            <a:r>
              <a:rPr spc="-5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clear:</a:t>
            </a:r>
            <a:r>
              <a:rPr spc="-40" dirty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 </a:t>
            </a:r>
            <a:r>
              <a:rPr dirty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both</a:t>
            </a:r>
            <a:r>
              <a:rPr dirty="0" smtClean="0">
                <a:solidFill>
                  <a:srgbClr val="C00000"/>
                </a:solidFill>
                <a:latin typeface="微软雅黑" charset="-122"/>
                <a:ea typeface="微软雅黑" charset="-122"/>
                <a:cs typeface="微软雅黑"/>
              </a:rPr>
              <a:t>;</a:t>
            </a:r>
            <a:endParaRPr dirty="0">
              <a:solidFill>
                <a:srgbClr val="C00000"/>
              </a:solidFill>
              <a:latin typeface="微软雅黑" charset="-122"/>
              <a:ea typeface="微软雅黑" charset="-122"/>
              <a:cs typeface="微软雅黑"/>
            </a:endParaRPr>
          </a:p>
        </p:txBody>
      </p:sp>
      <p:sp>
        <p:nvSpPr>
          <p:cNvPr id="21" name="object 6"/>
          <p:cNvSpPr txBox="1"/>
          <p:nvPr/>
        </p:nvSpPr>
        <p:spPr>
          <a:xfrm>
            <a:off x="826550" y="1649342"/>
            <a:ext cx="8914857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24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清除浮动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  <a:spcBef>
                <a:spcPts val="1545"/>
              </a:spcBef>
            </a:pPr>
            <a:r>
              <a:rPr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语法</a:t>
            </a:r>
            <a:r>
              <a:rPr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endParaRPr sz="2000" dirty="0">
              <a:latin typeface="Times New Roman" panose="02020503050405090304"/>
              <a:cs typeface="Times New Roman" panose="02020503050405090304"/>
            </a:endParaRPr>
          </a:p>
          <a:p>
            <a:pPr marL="170815">
              <a:lnSpc>
                <a:spcPct val="100000"/>
              </a:lnSpc>
              <a:spcBef>
                <a:spcPts val="1030"/>
              </a:spcBef>
            </a:pPr>
            <a:r>
              <a:rPr sz="2000" spc="5" dirty="0">
                <a:solidFill>
                  <a:srgbClr val="C00000"/>
                </a:solidFill>
                <a:latin typeface="宋体"/>
                <a:cs typeface="宋体"/>
              </a:rPr>
              <a:t>选择</a:t>
            </a:r>
            <a:r>
              <a:rPr sz="2000" dirty="0">
                <a:solidFill>
                  <a:srgbClr val="C00000"/>
                </a:solidFill>
                <a:latin typeface="宋体"/>
                <a:cs typeface="宋体"/>
              </a:rPr>
              <a:t>器</a:t>
            </a:r>
            <a:r>
              <a:rPr sz="2000" spc="-5" dirty="0">
                <a:solidFill>
                  <a:srgbClr val="C00000"/>
                </a:solidFill>
                <a:latin typeface="Courier New" panose="02070409020205090404"/>
                <a:cs typeface="Courier New" panose="02070409020205090404"/>
              </a:rPr>
              <a:t>{clear:</a:t>
            </a:r>
            <a:r>
              <a:rPr sz="2000" spc="5" dirty="0">
                <a:solidFill>
                  <a:srgbClr val="C00000"/>
                </a:solidFill>
                <a:latin typeface="宋体"/>
                <a:cs typeface="宋体"/>
              </a:rPr>
              <a:t>属</a:t>
            </a:r>
            <a:r>
              <a:rPr sz="2000" spc="-10" dirty="0">
                <a:solidFill>
                  <a:srgbClr val="C00000"/>
                </a:solidFill>
                <a:latin typeface="宋体"/>
                <a:cs typeface="宋体"/>
              </a:rPr>
              <a:t>性</a:t>
            </a:r>
            <a:r>
              <a:rPr sz="2000" dirty="0">
                <a:solidFill>
                  <a:srgbClr val="C00000"/>
                </a:solidFill>
                <a:latin typeface="宋体"/>
                <a:cs typeface="宋体"/>
              </a:rPr>
              <a:t>值</a:t>
            </a:r>
            <a:r>
              <a:rPr sz="2000" spc="-10" dirty="0">
                <a:solidFill>
                  <a:srgbClr val="C00000"/>
                </a:solidFill>
                <a:latin typeface="Courier New" panose="02070409020205090404"/>
                <a:cs typeface="Courier New" panose="02070409020205090404"/>
              </a:rPr>
              <a:t>;}</a:t>
            </a:r>
            <a:endParaRPr sz="2000" dirty="0">
              <a:solidFill>
                <a:srgbClr val="C00000"/>
              </a:solidFill>
              <a:latin typeface="Courier New" panose="02070409020205090404"/>
              <a:cs typeface="Courier New" panose="020704090202050904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1245" y="5277582"/>
            <a:ext cx="107024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把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父盒子里浮动的盒子圈到里面，让父盒子闭合出口和入口不让他们出来影响其他元素。</a:t>
            </a:r>
            <a:endParaRPr lang="zh-CN" altLang="en-US" sz="2000" spc="5" dirty="0">
              <a:solidFill>
                <a:srgbClr val="252525"/>
              </a:solidFill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object 6"/>
          <p:cNvSpPr txBox="1"/>
          <p:nvPr/>
        </p:nvSpPr>
        <p:spPr>
          <a:xfrm>
            <a:off x="826550" y="1532421"/>
            <a:ext cx="89148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24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清除浮动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微软雅黑" charset="-122"/>
                <a:ea typeface="微软雅黑" charset="-122"/>
                <a:cs typeface="微软雅黑"/>
              </a:rPr>
              <a:t>方法</a:t>
            </a:r>
            <a:endParaRPr lang="en-US" altLang="zh-CN" sz="2400" b="1" dirty="0" smtClean="0">
              <a:solidFill>
                <a:schemeClr val="accent1">
                  <a:lumMod val="75000"/>
                </a:schemeClr>
              </a:solidFill>
              <a:latin typeface="微软雅黑" charset="-122"/>
              <a:ea typeface="微软雅黑" charset="-122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6550" y="2068367"/>
            <a:ext cx="11127706" cy="3678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C00000"/>
                </a:solidFill>
                <a:latin typeface="微软雅黑"/>
                <a:cs typeface="微软雅黑"/>
              </a:rPr>
              <a:t>方法一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：使用带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clear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属性的空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元素，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在浮动元素后使用一个空元素如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&lt;div class</a:t>
            </a:r>
            <a:r>
              <a:rPr lang="en-US" altLang="zh-CN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=“clear”&gt;&lt;/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div&gt;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，并在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中赋予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.clear{</a:t>
            </a:r>
            <a:r>
              <a:rPr lang="en-US" altLang="zh-CN"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clear:both</a:t>
            </a:r>
            <a:r>
              <a:rPr lang="en-US" altLang="zh-CN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;}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设置即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可清理浮动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C00000"/>
                </a:solidFill>
                <a:latin typeface="微软雅黑"/>
                <a:cs typeface="微软雅黑"/>
              </a:rPr>
              <a:t>方法二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：使用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overflow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属性，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给浮动元素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的父容器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添加</a:t>
            </a:r>
            <a:r>
              <a:rPr lang="en-US" altLang="zh-CN"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overflow:hidden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;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或</a:t>
            </a:r>
            <a:r>
              <a:rPr lang="en-US" altLang="zh-CN"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overflow:auto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;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可以清除浮动。在添加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overflow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属性后，浮动元素又回到了容器层，把容器高度撑起，达到了清理浮动的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效果。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C00000"/>
                </a:solidFill>
                <a:latin typeface="微软雅黑"/>
                <a:cs typeface="微软雅黑"/>
              </a:rPr>
              <a:t>方法三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：使用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en-US" altLang="zh-CN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::after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伪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元素，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给浮动元素的容器添加一个</a:t>
            </a:r>
            <a:r>
              <a:rPr lang="en-US" altLang="zh-CN"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clearfix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的类名，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然后给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这个类添加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一个</a:t>
            </a:r>
            <a:r>
              <a:rPr lang="en-US" altLang="zh-CN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::after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伪元素实现元素末尾添加一个看不见的块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元素清理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浮动。</a:t>
            </a:r>
            <a:endParaRPr lang="zh-CN" altLang="en-US" sz="2000" spc="5" dirty="0">
              <a:solidFill>
                <a:srgbClr val="252525"/>
              </a:solidFill>
              <a:latin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浮动定位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object 6"/>
          <p:cNvSpPr txBox="1"/>
          <p:nvPr/>
        </p:nvSpPr>
        <p:spPr>
          <a:xfrm>
            <a:off x="826550" y="1649342"/>
            <a:ext cx="89148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b="1" dirty="0" err="1" smtClean="0">
                <a:solidFill>
                  <a:schemeClr val="accent1">
                    <a:lumMod val="75000"/>
                  </a:schemeClr>
                </a:solidFill>
                <a:latin typeface="微软雅黑"/>
                <a:cs typeface="微软雅黑"/>
              </a:rPr>
              <a:t>清除浮动</a:t>
            </a:r>
            <a:r>
              <a:rPr lang="zh-CN" altLang="en-US" sz="1800" b="1" dirty="0" smtClean="0">
                <a:solidFill>
                  <a:schemeClr val="accent1">
                    <a:lumMod val="75000"/>
                  </a:schemeClr>
                </a:solidFill>
                <a:latin typeface="微软雅黑" charset="-122"/>
                <a:ea typeface="微软雅黑" charset="-122"/>
                <a:cs typeface="微软雅黑"/>
              </a:rPr>
              <a:t>方法</a:t>
            </a:r>
            <a:endParaRPr lang="en-US" altLang="zh-CN" sz="1800" b="1" dirty="0" smtClean="0">
              <a:solidFill>
                <a:schemeClr val="accent1">
                  <a:lumMod val="75000"/>
                </a:schemeClr>
              </a:solidFill>
              <a:latin typeface="微软雅黑" charset="-122"/>
              <a:ea typeface="微软雅黑" charset="-122"/>
              <a:cs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6550" y="2068367"/>
            <a:ext cx="11127706" cy="12266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 smtClean="0">
                <a:solidFill>
                  <a:srgbClr val="C00000"/>
                </a:solidFill>
                <a:latin typeface="微软雅黑"/>
                <a:cs typeface="微软雅黑"/>
              </a:rPr>
              <a:t>方法</a:t>
            </a:r>
            <a:r>
              <a:rPr lang="zh-CN" altLang="en-US" sz="2000" spc="5" dirty="0">
                <a:solidFill>
                  <a:srgbClr val="C00000"/>
                </a:solidFill>
                <a:latin typeface="微软雅黑"/>
                <a:cs typeface="微软雅黑"/>
              </a:rPr>
              <a:t>三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：使用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:after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伪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元素，</a:t>
            </a:r>
            <a:endParaRPr lang="en-US" altLang="zh-CN" sz="2000" spc="5" dirty="0" smtClean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30000"/>
              </a:lnSpc>
              <a:spcBef>
                <a:spcPts val="1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给浮动元素的容器添加一个</a:t>
            </a:r>
            <a:r>
              <a:rPr lang="en-US" altLang="zh-CN" sz="2000" spc="5" dirty="0" err="1">
                <a:solidFill>
                  <a:srgbClr val="252525"/>
                </a:solidFill>
                <a:latin typeface="微软雅黑"/>
                <a:cs typeface="微软雅黑"/>
              </a:rPr>
              <a:t>clearfix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的类名，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然后给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这个类添加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一个</a:t>
            </a:r>
            <a:r>
              <a:rPr lang="en-US" altLang="zh-CN" sz="2000" spc="5" dirty="0">
                <a:solidFill>
                  <a:srgbClr val="252525"/>
                </a:solidFill>
                <a:latin typeface="微软雅黑"/>
                <a:cs typeface="微软雅黑"/>
              </a:rPr>
              <a:t>:after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伪元素实现元素末尾添加一个看不见的块</a:t>
            </a:r>
            <a:r>
              <a:rPr lang="zh-CN" altLang="en-US" sz="2000" spc="5" dirty="0" smtClean="0">
                <a:solidFill>
                  <a:srgbClr val="252525"/>
                </a:solidFill>
                <a:latin typeface="微软雅黑"/>
                <a:cs typeface="微软雅黑"/>
              </a:rPr>
              <a:t>元素清理</a:t>
            </a:r>
            <a:r>
              <a:rPr lang="zh-CN" altLang="en-US" sz="2000" spc="5" dirty="0">
                <a:solidFill>
                  <a:srgbClr val="252525"/>
                </a:solidFill>
                <a:latin typeface="微软雅黑"/>
                <a:cs typeface="微软雅黑"/>
              </a:rPr>
              <a:t>浮动。</a:t>
            </a:r>
            <a:endParaRPr lang="zh-CN" altLang="en-US" sz="2000" spc="5" dirty="0">
              <a:solidFill>
                <a:srgbClr val="252525"/>
              </a:solidFill>
              <a:latin typeface="微软雅黑"/>
              <a:cs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5867" y="3572548"/>
            <a:ext cx="39590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&lt;div class="news </a:t>
            </a:r>
            <a:r>
              <a:rPr lang="en-US" altLang="zh-CN" dirty="0" err="1"/>
              <a:t>clearfix</a:t>
            </a:r>
            <a:r>
              <a:rPr lang="en-US" altLang="zh-CN" dirty="0"/>
              <a:t>"&gt;</a:t>
            </a:r>
            <a:endParaRPr lang="en-US" altLang="zh-CN" dirty="0"/>
          </a:p>
          <a:p>
            <a:r>
              <a:rPr lang="en-US" altLang="zh-CN" dirty="0" smtClean="0"/>
              <a:t>    &lt;</a:t>
            </a:r>
            <a:r>
              <a:rPr lang="en-US" altLang="zh-CN" dirty="0" err="1"/>
              <a:t>img</a:t>
            </a:r>
            <a:r>
              <a:rPr lang="en-US" altLang="zh-CN" dirty="0"/>
              <a:t> </a:t>
            </a:r>
            <a:r>
              <a:rPr lang="en-US" altLang="zh-CN" dirty="0" err="1"/>
              <a:t>src</a:t>
            </a:r>
            <a:r>
              <a:rPr lang="en-US" altLang="zh-CN" dirty="0"/>
              <a:t>="news-pic.jpg" /&gt;</a:t>
            </a:r>
            <a:endParaRPr lang="en-US" altLang="zh-CN" dirty="0"/>
          </a:p>
          <a:p>
            <a:r>
              <a:rPr lang="en-US" altLang="zh-CN" dirty="0" smtClean="0"/>
              <a:t>    &lt;</a:t>
            </a:r>
            <a:r>
              <a:rPr lang="en-US" altLang="zh-CN" dirty="0"/>
              <a:t>p&gt;some text&lt;/p&gt;</a:t>
            </a:r>
            <a:endParaRPr lang="en-US" altLang="zh-CN" dirty="0"/>
          </a:p>
          <a:p>
            <a:r>
              <a:rPr lang="en-US" altLang="zh-CN" dirty="0"/>
              <a:t>&lt;/div&gt;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754880" y="3122592"/>
            <a:ext cx="29870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.news {</a:t>
            </a:r>
            <a:endParaRPr lang="en-US" altLang="zh-CN" dirty="0"/>
          </a:p>
          <a:p>
            <a:r>
              <a:rPr lang="en-US" altLang="zh-CN" dirty="0"/>
              <a:t>  background-color: gray;</a:t>
            </a:r>
            <a:endParaRPr lang="en-US" altLang="zh-CN" dirty="0"/>
          </a:p>
          <a:p>
            <a:r>
              <a:rPr lang="en-US" altLang="zh-CN" dirty="0"/>
              <a:t>  border: solid 1px black;</a:t>
            </a:r>
            <a:endParaRPr lang="en-US" altLang="zh-CN" dirty="0"/>
          </a:p>
          <a:p>
            <a:r>
              <a:rPr lang="en-US" altLang="zh-CN" dirty="0"/>
              <a:t>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.news </a:t>
            </a:r>
            <a:r>
              <a:rPr lang="en-US" altLang="zh-CN" dirty="0" err="1"/>
              <a:t>img</a:t>
            </a:r>
            <a:r>
              <a:rPr lang="en-US" altLang="zh-CN" dirty="0"/>
              <a:t> {</a:t>
            </a:r>
            <a:endParaRPr lang="en-US" altLang="zh-CN" dirty="0"/>
          </a:p>
          <a:p>
            <a:r>
              <a:rPr lang="en-US" altLang="zh-CN" dirty="0"/>
              <a:t>  float: left;</a:t>
            </a:r>
            <a:endParaRPr lang="en-US" altLang="zh-CN" dirty="0"/>
          </a:p>
          <a:p>
            <a:r>
              <a:rPr lang="en-US" altLang="zh-CN" dirty="0"/>
              <a:t>  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.news p {</a:t>
            </a:r>
            <a:endParaRPr lang="en-US" altLang="zh-CN" dirty="0"/>
          </a:p>
          <a:p>
            <a:r>
              <a:rPr lang="en-US" altLang="zh-CN" dirty="0"/>
              <a:t>  float: right;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smtClean="0"/>
              <a:t>}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8049226" y="3757214"/>
            <a:ext cx="3297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.</a:t>
            </a:r>
            <a:r>
              <a:rPr lang="en-US" altLang="zh-CN" dirty="0" err="1" smtClean="0"/>
              <a:t>clearfix</a:t>
            </a:r>
            <a:r>
              <a:rPr lang="en-US" altLang="zh-CN" dirty="0" smtClean="0"/>
              <a:t>::</a:t>
            </a:r>
            <a:r>
              <a:rPr lang="en-US" altLang="zh-CN" dirty="0"/>
              <a:t>after{</a:t>
            </a:r>
            <a:endParaRPr lang="en-US" altLang="zh-CN" dirty="0"/>
          </a:p>
          <a:p>
            <a:r>
              <a:rPr lang="en-US" altLang="zh-CN" dirty="0"/>
              <a:t>  content: </a:t>
            </a:r>
            <a:r>
              <a:rPr lang="en-US" altLang="zh-CN" dirty="0" smtClean="0"/>
              <a:t>“ "; </a:t>
            </a:r>
            <a:endParaRPr lang="en-US" altLang="zh-CN" dirty="0"/>
          </a:p>
          <a:p>
            <a:r>
              <a:rPr lang="en-US" altLang="zh-CN" dirty="0"/>
              <a:t>  display: block; </a:t>
            </a:r>
            <a:endParaRPr lang="en-US" altLang="zh-CN" dirty="0"/>
          </a:p>
          <a:p>
            <a:r>
              <a:rPr lang="en-US" altLang="zh-CN" dirty="0"/>
              <a:t>  height: 0; </a:t>
            </a:r>
            <a:endParaRPr lang="en-US" altLang="zh-CN" dirty="0"/>
          </a:p>
          <a:p>
            <a:r>
              <a:rPr lang="en-US" altLang="zh-CN" dirty="0"/>
              <a:t>  clear: both; </a:t>
            </a:r>
            <a:endParaRPr lang="en-US" altLang="zh-CN" dirty="0"/>
          </a:p>
          <a:p>
            <a:r>
              <a:rPr lang="en-US" altLang="zh-CN" dirty="0"/>
              <a:t>  visibility: hidden;  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smtClean="0"/>
              <a:t>}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object 4"/>
          <p:cNvSpPr txBox="1"/>
          <p:nvPr/>
        </p:nvSpPr>
        <p:spPr>
          <a:xfrm>
            <a:off x="876094" y="706120"/>
            <a:ext cx="52484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 smtClean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CSS</a:t>
            </a:r>
            <a:r>
              <a:rPr sz="3200" b="1" spc="-30" dirty="0" smtClean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 </a:t>
            </a:r>
            <a:r>
              <a:rPr sz="3200" b="1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属性书写顺序</a:t>
            </a:r>
            <a:r>
              <a:rPr sz="3200" b="1" spc="-10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(</a:t>
            </a:r>
            <a:r>
              <a:rPr sz="3200" b="1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重点)</a:t>
            </a:r>
            <a:endParaRPr sz="3200" dirty="0">
              <a:latin typeface="等线" panose="02010600030101010101" pitchFamily="2" charset="-122"/>
              <a:ea typeface="等线" panose="02010600030101010101" pitchFamily="2" charset="-122"/>
              <a:cs typeface="微软雅黑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876095" y="1409390"/>
            <a:ext cx="11049206" cy="2921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</a:pPr>
            <a:r>
              <a:rPr spc="5" dirty="0" err="1">
                <a:solidFill>
                  <a:srgbClr val="252525"/>
                </a:solidFill>
                <a:latin typeface="微软雅黑"/>
                <a:cs typeface="微软雅黑"/>
              </a:rPr>
              <a:t>建议遵循以下</a:t>
            </a:r>
            <a:r>
              <a:rPr spc="-10" dirty="0" err="1">
                <a:solidFill>
                  <a:srgbClr val="252525"/>
                </a:solidFill>
                <a:latin typeface="微软雅黑"/>
                <a:cs typeface="微软雅黑"/>
              </a:rPr>
              <a:t>顺</a:t>
            </a:r>
            <a:r>
              <a:rPr spc="5" dirty="0" err="1">
                <a:solidFill>
                  <a:srgbClr val="252525"/>
                </a:solidFill>
                <a:latin typeface="微软雅黑"/>
                <a:cs typeface="微软雅黑"/>
              </a:rPr>
              <a:t>序</a:t>
            </a:r>
            <a:r>
              <a:rPr spc="5" dirty="0" smtClean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61925" indent="-149225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布局定位属性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：display</a:t>
            </a:r>
            <a:r>
              <a:rPr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position</a:t>
            </a:r>
            <a:r>
              <a:rPr spc="-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float</a:t>
            </a:r>
            <a:r>
              <a:rPr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clear</a:t>
            </a:r>
            <a:r>
              <a:rPr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visibility</a:t>
            </a:r>
            <a:r>
              <a:rPr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overflow（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建议</a:t>
            </a:r>
            <a:r>
              <a:rPr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display</a:t>
            </a:r>
            <a:r>
              <a:rPr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 err="1">
                <a:solidFill>
                  <a:srgbClr val="252525"/>
                </a:solidFill>
                <a:latin typeface="微软雅黑"/>
                <a:cs typeface="微软雅黑"/>
              </a:rPr>
              <a:t>第一个写，毕竟</a:t>
            </a:r>
            <a:r>
              <a:rPr spc="-10" dirty="0" err="1">
                <a:solidFill>
                  <a:srgbClr val="252525"/>
                </a:solidFill>
                <a:latin typeface="微软雅黑"/>
                <a:cs typeface="微软雅黑"/>
              </a:rPr>
              <a:t>关</a:t>
            </a:r>
            <a:r>
              <a:rPr dirty="0" err="1">
                <a:solidFill>
                  <a:srgbClr val="252525"/>
                </a:solidFill>
                <a:latin typeface="微软雅黑"/>
                <a:cs typeface="微软雅黑"/>
              </a:rPr>
              <a:t>系</a:t>
            </a:r>
            <a:r>
              <a:rPr spc="-10" dirty="0" err="1">
                <a:solidFill>
                  <a:srgbClr val="252525"/>
                </a:solidFill>
                <a:latin typeface="微软雅黑"/>
                <a:cs typeface="微软雅黑"/>
              </a:rPr>
              <a:t>到</a:t>
            </a:r>
            <a:r>
              <a:rPr dirty="0" err="1">
                <a:solidFill>
                  <a:srgbClr val="252525"/>
                </a:solidFill>
                <a:latin typeface="微软雅黑"/>
                <a:cs typeface="微软雅黑"/>
              </a:rPr>
              <a:t>模</a:t>
            </a:r>
            <a:r>
              <a:rPr spc="-10" dirty="0" err="1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pc="5" dirty="0" smtClean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61925" indent="-149225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自身属性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：width</a:t>
            </a:r>
            <a:r>
              <a:rPr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height /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margin</a:t>
            </a:r>
            <a:r>
              <a:rPr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padding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 border</a:t>
            </a:r>
            <a:r>
              <a:rPr spc="-2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 smtClean="0">
                <a:solidFill>
                  <a:srgbClr val="252525"/>
                </a:solidFill>
                <a:latin typeface="微软雅黑"/>
                <a:cs typeface="微软雅黑"/>
              </a:rPr>
              <a:t>background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61925" indent="-149225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文本属性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：color</a:t>
            </a:r>
            <a:r>
              <a:rPr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font</a:t>
            </a:r>
            <a:r>
              <a:rPr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text-decoration</a:t>
            </a:r>
            <a:r>
              <a:rPr spc="-4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text-align</a:t>
            </a:r>
            <a:r>
              <a:rPr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vertical-align</a:t>
            </a:r>
            <a:r>
              <a:rPr spc="-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white-</a:t>
            </a:r>
            <a:r>
              <a:rPr spc="-1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space</a:t>
            </a:r>
            <a:r>
              <a:rPr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 smtClean="0">
                <a:solidFill>
                  <a:srgbClr val="252525"/>
                </a:solidFill>
                <a:latin typeface="微软雅黑"/>
                <a:cs typeface="微软雅黑"/>
              </a:rPr>
              <a:t>break-word</a:t>
            </a: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61925" indent="-149225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其他属性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（CSS3）：content</a:t>
            </a:r>
            <a:r>
              <a:rPr spc="-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cursor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border-radius</a:t>
            </a:r>
            <a:r>
              <a:rPr spc="-2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2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box-shadow</a:t>
            </a:r>
            <a:r>
              <a:rPr spc="-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text-shadow</a:t>
            </a:r>
            <a:r>
              <a:rPr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rgbClr val="252525"/>
                </a:solidFill>
                <a:latin typeface="微软雅黑"/>
                <a:cs typeface="微软雅黑"/>
              </a:rPr>
              <a:t>/</a:t>
            </a:r>
            <a:r>
              <a:rPr spc="2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pc="-5" dirty="0">
                <a:solidFill>
                  <a:srgbClr val="252525"/>
                </a:solidFill>
                <a:latin typeface="微软雅黑"/>
                <a:cs typeface="微软雅黑"/>
              </a:rPr>
              <a:t>background:linear-gradient</a:t>
            </a:r>
            <a:r>
              <a:rPr spc="5" dirty="0">
                <a:solidFill>
                  <a:srgbClr val="252525"/>
                </a:solidFill>
                <a:latin typeface="微软雅黑"/>
                <a:cs typeface="微软雅黑"/>
              </a:rPr>
              <a:t> …</a:t>
            </a:r>
            <a:endParaRPr dirty="0">
              <a:latin typeface="微软雅黑"/>
              <a:cs typeface="微软雅黑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142" y="3797301"/>
            <a:ext cx="4879578" cy="3064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2120" y="1549197"/>
            <a:ext cx="106064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层定位</a:t>
            </a:r>
            <a:r>
              <a:rPr lang="zh-CN" altLang="en-US" sz="2400" dirty="0" smtClean="0"/>
              <a:t>允许从</a:t>
            </a:r>
            <a:r>
              <a:rPr lang="zh-CN" altLang="en-US" sz="2400" dirty="0"/>
              <a:t>正常的文档流布局中取出元素，并</a:t>
            </a:r>
            <a:r>
              <a:rPr lang="zh-CN" altLang="en-US" sz="2400" dirty="0" smtClean="0"/>
              <a:t>使</a:t>
            </a:r>
            <a:r>
              <a:rPr lang="zh-CN" altLang="en-US" sz="2400" dirty="0"/>
              <a:t>元素</a:t>
            </a:r>
            <a:r>
              <a:rPr lang="zh-CN" altLang="en-US" sz="2400" dirty="0" smtClean="0"/>
              <a:t>具有</a:t>
            </a:r>
            <a:r>
              <a:rPr lang="zh-CN" altLang="en-US" sz="2400" dirty="0"/>
              <a:t>不同的行为，例如放在另一个元素的上面，或者始终保持在浏览器视窗内</a:t>
            </a:r>
            <a:r>
              <a:rPr lang="zh-CN" altLang="en-US" sz="2400" dirty="0" smtClean="0"/>
              <a:t>的固定位置。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实现上述效果，可以使用层定位，</a:t>
            </a:r>
            <a:r>
              <a:rPr lang="en-US" altLang="zh-CN" sz="2400" dirty="0" smtClean="0"/>
              <a:t>position</a:t>
            </a:r>
            <a:r>
              <a:rPr lang="zh-CN" altLang="en-US" sz="2400" dirty="0" smtClean="0"/>
              <a:t>属性。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应用场景：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、某个元素可以自由的在一个盒子内移动位置，并且压住其他盒子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、某个盒子可以固定在屏幕中某个位置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5564" y="1303842"/>
            <a:ext cx="1051347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position</a:t>
            </a:r>
            <a:r>
              <a:rPr lang="zh-CN" altLang="en-US" sz="2000" dirty="0" smtClean="0"/>
              <a:t>属性</a:t>
            </a:r>
            <a:r>
              <a:rPr lang="zh-CN" altLang="en-US" sz="2000" dirty="0">
                <a:solidFill>
                  <a:srgbClr val="FF0000"/>
                </a:solidFill>
                <a:latin typeface="微软雅黑" charset="-122"/>
              </a:rPr>
              <a:t>（相对于谁定位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charset="-122"/>
              </a:rPr>
              <a:t>）</a:t>
            </a:r>
            <a:endParaRPr lang="en-US" altLang="zh-CN" sz="2000" dirty="0" smtClean="0">
              <a:solidFill>
                <a:srgbClr val="FF0000"/>
              </a:solidFill>
              <a:latin typeface="微软雅黑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static</a:t>
            </a:r>
            <a:endParaRPr lang="zh-CN" altLang="en-US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/>
              <a:t>fixed              </a:t>
            </a:r>
            <a:r>
              <a:rPr lang="zh-CN" altLang="en-US" sz="2000" dirty="0" smtClean="0"/>
              <a:t>固定</a:t>
            </a:r>
            <a:r>
              <a:rPr lang="zh-CN" altLang="en-US" sz="2000" dirty="0"/>
              <a:t>定位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/>
              <a:t>relative         </a:t>
            </a:r>
            <a:r>
              <a:rPr lang="zh-CN" altLang="en-US" sz="2000" dirty="0" smtClean="0"/>
              <a:t>相对</a:t>
            </a:r>
            <a:r>
              <a:rPr lang="zh-CN" altLang="en-US" sz="2000" dirty="0"/>
              <a:t>定位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/>
              <a:t>absolute       </a:t>
            </a:r>
            <a:r>
              <a:rPr lang="zh-CN" altLang="en-US" sz="2000" dirty="0" smtClean="0"/>
              <a:t>绝对定位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通过</a:t>
            </a:r>
            <a:r>
              <a:rPr lang="zh-CN" altLang="en-US" sz="2000" dirty="0"/>
              <a:t>以下属性</a:t>
            </a:r>
            <a:r>
              <a:rPr lang="zh-CN" altLang="en-US" sz="2000" dirty="0" smtClean="0"/>
              <a:t>定位</a:t>
            </a:r>
            <a:r>
              <a:rPr lang="zh-CN" altLang="en-US" sz="2000" dirty="0">
                <a:solidFill>
                  <a:srgbClr val="FF0000"/>
                </a:solidFill>
                <a:latin typeface="微软雅黑" charset="-122"/>
              </a:rPr>
              <a:t>（位置在哪里）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top right bottom left</a:t>
            </a:r>
            <a:r>
              <a:rPr lang="zh-CN" altLang="en-US" sz="2000" dirty="0"/>
              <a:t>来精确指定要将定位元素移动到的位置</a:t>
            </a:r>
            <a:endParaRPr lang="en-US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780" y="4627829"/>
            <a:ext cx="2759364" cy="223017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668137" y="1854480"/>
            <a:ext cx="8374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static</a:t>
            </a:r>
            <a:r>
              <a:rPr lang="zh-CN" altLang="en-US" sz="2000" dirty="0" smtClean="0"/>
              <a:t>表示“</a:t>
            </a:r>
            <a:r>
              <a:rPr lang="zh-CN" altLang="en-US" sz="2000" dirty="0"/>
              <a:t>将元素放入它在文档布局流中的正常</a:t>
            </a:r>
            <a:r>
              <a:rPr lang="zh-CN" altLang="en-US" sz="2000" dirty="0" smtClean="0"/>
              <a:t>位置”，无其他特殊含义。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97" y="2970015"/>
            <a:ext cx="2475693" cy="22168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36742" y="2646961"/>
            <a:ext cx="740791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此时</a:t>
            </a:r>
            <a:r>
              <a:rPr lang="zh-CN" altLang="en-US" sz="2000" dirty="0"/>
              <a:t>，可以使用 </a:t>
            </a:r>
            <a:r>
              <a:rPr lang="en-US" altLang="zh-CN" sz="2000" dirty="0"/>
              <a:t>z-index </a:t>
            </a:r>
            <a:r>
              <a:rPr lang="zh-CN" altLang="en-US" sz="2000" dirty="0"/>
              <a:t>来</a:t>
            </a:r>
            <a:r>
              <a:rPr lang="zh-CN" altLang="en-US" sz="2000" dirty="0" smtClean="0"/>
              <a:t>控制元素的</a:t>
            </a:r>
            <a:r>
              <a:rPr lang="zh-CN" altLang="en-US" sz="2000" dirty="0"/>
              <a:t>前后次序 </a:t>
            </a:r>
            <a:r>
              <a:rPr lang="en-US" altLang="zh-CN" sz="2000" dirty="0"/>
              <a:t>(z</a:t>
            </a:r>
            <a:r>
              <a:rPr lang="zh-CN" altLang="en-US" sz="2000" dirty="0"/>
              <a:t>轴</a:t>
            </a:r>
            <a:r>
              <a:rPr lang="en-US" altLang="zh-CN" sz="2000" dirty="0" smtClean="0"/>
              <a:t>)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 smtClean="0"/>
              <a:t>语法：</a:t>
            </a:r>
            <a:endParaRPr lang="en-US" altLang="zh-CN" sz="2000" dirty="0" smtClean="0"/>
          </a:p>
          <a:p>
            <a:r>
              <a:rPr lang="zh-CN" altLang="en-US" sz="2000" b="1" dirty="0">
                <a:solidFill>
                  <a:srgbClr val="C00000"/>
                </a:solidFill>
              </a:rPr>
              <a:t>选择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器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{z-index:1;}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endParaRPr lang="en-US" altLang="zh-CN" sz="20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2000" dirty="0"/>
              <a:t>数值可以是正整数、负整数或 </a:t>
            </a:r>
            <a:r>
              <a:rPr lang="en-US" altLang="zh-CN" sz="2000" dirty="0"/>
              <a:t>0, </a:t>
            </a:r>
            <a:r>
              <a:rPr lang="zh-CN" altLang="en-US" sz="2000" dirty="0" smtClean="0"/>
              <a:t>默认值是 </a:t>
            </a:r>
            <a:r>
              <a:rPr lang="en-US" altLang="zh-CN" sz="2000" dirty="0"/>
              <a:t>auto</a:t>
            </a:r>
            <a:r>
              <a:rPr lang="zh-CN" altLang="en-US" sz="2000" dirty="0"/>
              <a:t>，数值越大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元素</a:t>
            </a:r>
            <a:r>
              <a:rPr lang="zh-CN" altLang="en-US" sz="2000" dirty="0" smtClean="0"/>
              <a:t>越</a:t>
            </a:r>
            <a:r>
              <a:rPr lang="zh-CN" altLang="en-US" sz="2000" dirty="0"/>
              <a:t>靠上</a:t>
            </a:r>
            <a:endParaRPr lang="zh-CN" altLang="en-US" sz="20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2000" dirty="0" smtClean="0"/>
              <a:t>如果</a:t>
            </a:r>
            <a:r>
              <a:rPr lang="zh-CN" altLang="en-US" sz="2000" dirty="0"/>
              <a:t>属性值相同，则按照书写顺序，后来居上</a:t>
            </a:r>
            <a:endParaRPr lang="zh-CN" altLang="en-US" sz="2000" dirty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2000" dirty="0"/>
              <a:t>z-index </a:t>
            </a:r>
            <a:r>
              <a:rPr lang="zh-CN" altLang="en-US" sz="2000" dirty="0"/>
              <a:t>只接受无</a:t>
            </a:r>
            <a:r>
              <a:rPr lang="zh-CN" altLang="en-US" sz="2000" dirty="0" smtClean="0"/>
              <a:t>单位</a:t>
            </a:r>
            <a:r>
              <a:rPr lang="zh-CN" altLang="en-US" sz="2000" dirty="0"/>
              <a:t>数</a:t>
            </a:r>
            <a:r>
              <a:rPr lang="zh-CN" altLang="en-US" sz="2000" dirty="0" smtClean="0"/>
              <a:t>值</a:t>
            </a:r>
            <a:endParaRPr lang="en-US" altLang="zh-CN" sz="2000" dirty="0" smtClean="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2000" dirty="0" smtClean="0"/>
              <a:t>只有</a:t>
            </a:r>
            <a:r>
              <a:rPr lang="zh-CN" altLang="en-US" sz="2000" dirty="0"/>
              <a:t>定位</a:t>
            </a:r>
            <a:r>
              <a:rPr lang="zh-CN" altLang="en-US" sz="2000" dirty="0" smtClean="0"/>
              <a:t>的元素才有 </a:t>
            </a:r>
            <a:r>
              <a:rPr lang="en-US" altLang="zh-CN" sz="2000" dirty="0"/>
              <a:t>z-index </a:t>
            </a:r>
            <a:r>
              <a:rPr lang="zh-CN" altLang="en-US" sz="2000" dirty="0"/>
              <a:t>属性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795867" y="1682183"/>
            <a:ext cx="7726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某个元素可以自由的在一个盒子内移动位置，并且压住其他盒子</a:t>
            </a:r>
            <a:r>
              <a:rPr lang="zh-CN" altLang="en-US" dirty="0" smtClean="0"/>
              <a:t>。也就是</a:t>
            </a:r>
            <a:r>
              <a:rPr lang="zh-CN" altLang="en-US" dirty="0"/>
              <a:t>元素开始重叠，什么决定哪些元素出现在其他元素的</a:t>
            </a:r>
            <a:r>
              <a:rPr lang="zh-CN" altLang="en-US" dirty="0" smtClean="0"/>
              <a:t>顶部？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9948" y="1530601"/>
            <a:ext cx="985510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、静态</a:t>
            </a:r>
            <a:r>
              <a:rPr lang="zh-CN" altLang="en-US" sz="2400" dirty="0"/>
              <a:t>定位</a:t>
            </a:r>
            <a:r>
              <a:rPr lang="en-US" altLang="zh-CN" sz="2400" dirty="0">
                <a:solidFill>
                  <a:srgbClr val="FF0000"/>
                </a:solidFill>
              </a:rPr>
              <a:t>position: static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静态定位是元素的默认定位方式，</a:t>
            </a:r>
            <a:r>
              <a:rPr lang="zh-CN" altLang="en-US" dirty="0">
                <a:solidFill>
                  <a:schemeClr val="accent2"/>
                </a:solidFill>
              </a:rPr>
              <a:t>无定位</a:t>
            </a:r>
            <a:r>
              <a:rPr lang="zh-CN" altLang="en-US" dirty="0"/>
              <a:t>的意思。</a:t>
            </a:r>
            <a:endParaRPr lang="zh-CN" altLang="en-US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静态定位按照</a:t>
            </a:r>
            <a:r>
              <a:rPr lang="zh-CN" altLang="en-US" dirty="0" smtClean="0">
                <a:solidFill>
                  <a:srgbClr val="252525"/>
                </a:solidFill>
                <a:latin typeface="微软雅黑" charset="-122"/>
              </a:rPr>
              <a:t>标准文档流</a:t>
            </a: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特性摆放位置，它没有边偏移 </a:t>
            </a:r>
            <a:endParaRPr lang="en-US" altLang="zh-CN" dirty="0">
              <a:solidFill>
                <a:srgbClr val="252525"/>
              </a:solidFill>
              <a:latin typeface="微软雅黑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252525"/>
                </a:solidFill>
                <a:latin typeface="Wingdings" panose="05000000000000000000" pitchFamily="2" charset="2"/>
              </a:rPr>
              <a:t>静态定位在布局时很少用</a:t>
            </a:r>
            <a:r>
              <a:rPr lang="zh-CN" altLang="en-US" dirty="0" smtClean="0">
                <a:solidFill>
                  <a:srgbClr val="252525"/>
                </a:solidFill>
                <a:latin typeface="Wingdings" panose="05000000000000000000" pitchFamily="2" charset="2"/>
              </a:rPr>
              <a:t>到</a:t>
            </a:r>
            <a:endParaRPr lang="en-US" altLang="zh-CN" dirty="0" smtClean="0">
              <a:solidFill>
                <a:srgbClr val="252525"/>
              </a:solidFill>
              <a:latin typeface="Wingdings" panose="05000000000000000000" pitchFamily="2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4060" y="364569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、固定定位</a:t>
            </a:r>
            <a:r>
              <a:rPr lang="en-US" altLang="zh-CN" sz="2400" dirty="0">
                <a:solidFill>
                  <a:srgbClr val="FF0000"/>
                </a:solidFill>
              </a:rPr>
              <a:t>position: </a:t>
            </a:r>
            <a:r>
              <a:rPr lang="en-US" altLang="zh-CN" sz="2400" dirty="0" smtClean="0">
                <a:solidFill>
                  <a:srgbClr val="FF0000"/>
                </a:solidFill>
              </a:rPr>
              <a:t>fixed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固定定位固定元素则是相对于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浏览器窗口</a:t>
            </a:r>
            <a:r>
              <a:rPr lang="zh-CN" altLang="en-US" sz="2000" dirty="0"/>
              <a:t>本身</a:t>
            </a:r>
            <a:r>
              <a:rPr lang="zh-CN" altLang="en-US" sz="2000" dirty="0" smtClean="0"/>
              <a:t>。也就是说我们可以</a:t>
            </a:r>
            <a:r>
              <a:rPr lang="zh-CN" altLang="en-US" sz="2000" dirty="0"/>
              <a:t>创建固定的有用的 </a:t>
            </a:r>
            <a:r>
              <a:rPr lang="en-US" altLang="zh-CN" sz="2000" dirty="0"/>
              <a:t>UI </a:t>
            </a:r>
            <a:r>
              <a:rPr lang="zh-CN" altLang="en-US" sz="2000" dirty="0"/>
              <a:t>项目，如持久导航菜单。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458" y="3344156"/>
            <a:ext cx="2113741" cy="27218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517" y="3344156"/>
            <a:ext cx="2083239" cy="26665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242" y="2446727"/>
            <a:ext cx="2333091" cy="2986357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6096000" y="2442708"/>
            <a:ext cx="3379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6472242" y="2060713"/>
            <a:ext cx="0" cy="3697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942867" y="2130913"/>
            <a:ext cx="5693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solidFill>
                  <a:srgbClr val="252525"/>
                </a:solidFill>
                <a:latin typeface="+mn-ea"/>
              </a:rPr>
              <a:t>(0, 0)</a:t>
            </a:r>
            <a:endParaRPr lang="zh-CN" altLang="en-US" sz="1400" dirty="0"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88716" y="2561291"/>
            <a:ext cx="4443459" cy="24622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style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FFCB6B"/>
                </a:solidFill>
              </a:rPr>
              <a:t>.box</a:t>
            </a:r>
            <a:r>
              <a:rPr lang="en-US" altLang="zh-CN" sz="1400" dirty="0">
                <a:solidFill>
                  <a:srgbClr val="CDD3DE"/>
                </a:solidFill>
              </a:rPr>
              <a:t> {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position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fixed</a:t>
            </a:r>
            <a:r>
              <a:rPr lang="en-US" altLang="zh-CN" sz="1400" dirty="0">
                <a:solidFill>
                  <a:srgbClr val="CDD3DE"/>
                </a:solidFill>
              </a:rPr>
              <a:t>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width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200</a:t>
            </a:r>
            <a:r>
              <a:rPr lang="en-US" altLang="zh-CN" sz="1400" dirty="0">
                <a:solidFill>
                  <a:srgbClr val="FFEB95"/>
                </a:solidFill>
              </a:rPr>
              <a:t>px</a:t>
            </a:r>
            <a:r>
              <a:rPr lang="en-US" altLang="zh-CN" sz="1400" dirty="0">
                <a:solidFill>
                  <a:srgbClr val="CDD3DE"/>
                </a:solidFill>
              </a:rPr>
              <a:t>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height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200</a:t>
            </a:r>
            <a:r>
              <a:rPr lang="en-US" altLang="zh-CN" sz="1400" dirty="0">
                <a:solidFill>
                  <a:srgbClr val="FFEB95"/>
                </a:solidFill>
              </a:rPr>
              <a:t>px</a:t>
            </a:r>
            <a:r>
              <a:rPr lang="en-US" altLang="zh-CN" sz="1400" dirty="0">
                <a:solidFill>
                  <a:srgbClr val="CDD3DE"/>
                </a:solidFill>
              </a:rPr>
              <a:t>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border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1</a:t>
            </a:r>
            <a:r>
              <a:rPr lang="en-US" altLang="zh-CN" sz="1400" dirty="0">
                <a:solidFill>
                  <a:srgbClr val="FFEB95"/>
                </a:solidFill>
              </a:rPr>
              <a:t>px</a:t>
            </a:r>
            <a:r>
              <a:rPr lang="en-US" altLang="zh-CN" sz="1400" dirty="0">
                <a:solidFill>
                  <a:srgbClr val="CDD3DE"/>
                </a:solidFill>
              </a:rPr>
              <a:t> </a:t>
            </a:r>
            <a:r>
              <a:rPr lang="en-US" altLang="zh-CN" sz="1400" dirty="0">
                <a:solidFill>
                  <a:srgbClr val="F77669"/>
                </a:solidFill>
              </a:rPr>
              <a:t>solid</a:t>
            </a:r>
            <a:r>
              <a:rPr lang="en-US" altLang="zh-CN" sz="1400" dirty="0">
                <a:solidFill>
                  <a:srgbClr val="CDD3DE"/>
                </a:solidFill>
              </a:rPr>
              <a:t> red;</a:t>
            </a:r>
            <a:endParaRPr lang="en-US" altLang="zh-CN" sz="1400" dirty="0">
              <a:solidFill>
                <a:srgbClr val="CBCCC6"/>
              </a:solidFill>
            </a:endParaRPr>
          </a:p>
          <a:p>
            <a:br>
              <a:rPr lang="en-US" altLang="zh-CN" sz="1400" dirty="0">
                <a:solidFill>
                  <a:srgbClr val="CBCCC6"/>
                </a:solidFill>
              </a:rPr>
            </a:br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top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50</a:t>
            </a:r>
            <a:r>
              <a:rPr lang="en-US" altLang="zh-CN" sz="1400" dirty="0">
                <a:solidFill>
                  <a:srgbClr val="FFEB95"/>
                </a:solidFill>
              </a:rPr>
              <a:t>px</a:t>
            </a:r>
            <a:r>
              <a:rPr lang="en-US" altLang="zh-CN" sz="1400" dirty="0">
                <a:solidFill>
                  <a:srgbClr val="CDD3DE"/>
                </a:solidFill>
              </a:rPr>
              <a:t>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</a:rPr>
              <a:t>left</a:t>
            </a:r>
            <a:r>
              <a:rPr lang="en-US" altLang="zh-CN" sz="1400" dirty="0">
                <a:solidFill>
                  <a:srgbClr val="CDD3DE"/>
                </a:solidFill>
              </a:rPr>
              <a:t>: </a:t>
            </a:r>
            <a:r>
              <a:rPr lang="en-US" altLang="zh-CN" sz="1400" dirty="0">
                <a:solidFill>
                  <a:srgbClr val="F77669"/>
                </a:solidFill>
              </a:rPr>
              <a:t>100</a:t>
            </a:r>
            <a:r>
              <a:rPr lang="en-US" altLang="zh-CN" sz="1400" dirty="0">
                <a:solidFill>
                  <a:srgbClr val="FFEB95"/>
                </a:solidFill>
              </a:rPr>
              <a:t>px</a:t>
            </a:r>
            <a:r>
              <a:rPr lang="en-US" altLang="zh-CN" sz="1400" dirty="0">
                <a:solidFill>
                  <a:srgbClr val="CDD3DE"/>
                </a:solidFill>
              </a:rPr>
              <a:t>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  }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&lt;</a:t>
            </a:r>
            <a:r>
              <a:rPr lang="en-US" altLang="zh-CN" sz="1400" dirty="0">
                <a:solidFill>
                  <a:srgbClr val="80CBC4"/>
                </a:solidFill>
              </a:rPr>
              <a:t>/</a:t>
            </a:r>
            <a:r>
              <a:rPr lang="en-US" altLang="zh-CN" sz="1400" dirty="0">
                <a:solidFill>
                  <a:srgbClr val="FF5370"/>
                </a:solidFill>
              </a:rPr>
              <a:t>style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250" y="1577317"/>
            <a:ext cx="4259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2"/>
                </a:solidFill>
              </a:rPr>
              <a:t>两侧</a:t>
            </a:r>
            <a:r>
              <a:rPr lang="zh-CN" altLang="en-US" sz="2000" b="1" dirty="0">
                <a:solidFill>
                  <a:schemeClr val="accent2"/>
                </a:solidFill>
              </a:rPr>
              <a:t>固定的广告 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25757" y="2232992"/>
            <a:ext cx="6824869" cy="363109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" name="矩形 6"/>
          <p:cNvSpPr/>
          <p:nvPr/>
        </p:nvSpPr>
        <p:spPr>
          <a:xfrm>
            <a:off x="2700498" y="2807637"/>
            <a:ext cx="738710" cy="738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50</a:t>
            </a:r>
            <a:r>
              <a:rPr lang="zh-CN" altLang="en-US" sz="1400" dirty="0" smtClean="0"/>
              <a:t>*</a:t>
            </a:r>
            <a:r>
              <a:rPr lang="en-US" altLang="zh-CN" sz="1400" dirty="0" smtClean="0"/>
              <a:t>100</a:t>
            </a:r>
            <a:endParaRPr lang="zh-CN" altLang="en-US" sz="1400" dirty="0"/>
          </a:p>
        </p:txBody>
      </p:sp>
      <p:sp>
        <p:nvSpPr>
          <p:cNvPr id="22" name="矩形 21"/>
          <p:cNvSpPr/>
          <p:nvPr/>
        </p:nvSpPr>
        <p:spPr>
          <a:xfrm>
            <a:off x="8262731" y="3176881"/>
            <a:ext cx="742122" cy="142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2693" y="2416041"/>
            <a:ext cx="4260574" cy="3134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7652" y="160987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、相对定位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position:relative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3928" y="2116083"/>
            <a:ext cx="10731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定位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relative </a:t>
            </a:r>
            <a:r>
              <a:rPr lang="zh-CN" altLang="en-US" sz="2400" dirty="0"/>
              <a:t>的元素</a:t>
            </a:r>
            <a:r>
              <a:rPr lang="zh-CN" altLang="en-US" sz="2400" dirty="0" smtClean="0"/>
              <a:t>脱离</a:t>
            </a:r>
            <a:r>
              <a:rPr lang="zh-CN" altLang="en-US" sz="2400" dirty="0"/>
              <a:t>标准</a:t>
            </a:r>
            <a:r>
              <a:rPr lang="zh-CN" altLang="en-US" sz="2400" dirty="0" smtClean="0"/>
              <a:t>文档流，但其</a:t>
            </a:r>
            <a:r>
              <a:rPr lang="zh-CN" altLang="en-US" sz="2400" dirty="0"/>
              <a:t>在文档流中</a:t>
            </a:r>
            <a:r>
              <a:rPr lang="zh-CN" altLang="en-US" sz="2400" dirty="0" smtClean="0"/>
              <a:t>的</a:t>
            </a:r>
            <a:r>
              <a:rPr lang="zh-CN" altLang="en-US" sz="2400" dirty="0" smtClean="0">
                <a:solidFill>
                  <a:srgbClr val="C00000"/>
                </a:solidFill>
              </a:rPr>
              <a:t>原</a:t>
            </a:r>
            <a:r>
              <a:rPr lang="zh-CN" altLang="en-US" sz="2400" dirty="0">
                <a:solidFill>
                  <a:srgbClr val="C00000"/>
                </a:solidFill>
              </a:rPr>
              <a:t>位置依然存在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01377" y="2456795"/>
            <a:ext cx="601065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&lt;style&gt;</a:t>
            </a:r>
            <a:endParaRPr lang="en-US" altLang="zh-CN" sz="1400" dirty="0"/>
          </a:p>
          <a:p>
            <a:r>
              <a:rPr lang="en-US" altLang="zh-CN" sz="1400" dirty="0"/>
              <a:t>      .box-relative {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en-US" altLang="zh-CN" sz="1400" dirty="0">
                <a:solidFill>
                  <a:srgbClr val="FF0000"/>
                </a:solidFill>
              </a:rPr>
              <a:t>position: relative;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    </a:t>
            </a:r>
            <a:r>
              <a:rPr lang="en-US" altLang="zh-CN" sz="1400" dirty="0">
                <a:solidFill>
                  <a:srgbClr val="FF0000"/>
                </a:solidFill>
              </a:rPr>
              <a:t>top: 20px;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        left: 20px;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    width: 200px;</a:t>
            </a:r>
            <a:endParaRPr lang="en-US" altLang="zh-CN" sz="1400" dirty="0"/>
          </a:p>
          <a:p>
            <a:r>
              <a:rPr lang="en-US" altLang="zh-CN" sz="1400" dirty="0"/>
              <a:t>        height: 150px;</a:t>
            </a:r>
            <a:endParaRPr lang="en-US" altLang="zh-CN" sz="1400" dirty="0"/>
          </a:p>
          <a:p>
            <a:r>
              <a:rPr lang="en-US" altLang="zh-CN" sz="1400" dirty="0"/>
              <a:t>        background-color: #</a:t>
            </a:r>
            <a:r>
              <a:rPr lang="en-US" altLang="zh-CN" sz="1400" dirty="0" err="1"/>
              <a:t>cef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}</a:t>
            </a:r>
            <a:endParaRPr lang="en-US" altLang="zh-CN" sz="1400" dirty="0"/>
          </a:p>
          <a:p>
            <a:r>
              <a:rPr lang="en-US" altLang="zh-CN" sz="1400" dirty="0"/>
              <a:t>      .box-static {</a:t>
            </a:r>
            <a:endParaRPr lang="en-US" altLang="zh-CN" sz="1400" dirty="0"/>
          </a:p>
          <a:p>
            <a:r>
              <a:rPr lang="en-US" altLang="zh-CN" sz="1400" dirty="0"/>
              <a:t>        width: 200px;</a:t>
            </a:r>
            <a:endParaRPr lang="en-US" altLang="zh-CN" sz="1400" dirty="0"/>
          </a:p>
          <a:p>
            <a:r>
              <a:rPr lang="en-US" altLang="zh-CN" sz="1400" dirty="0"/>
              <a:t>        height: 100px;</a:t>
            </a:r>
            <a:endParaRPr lang="en-US" altLang="zh-CN" sz="1400" dirty="0"/>
          </a:p>
          <a:p>
            <a:r>
              <a:rPr lang="en-US" altLang="zh-CN" sz="1400" dirty="0"/>
              <a:t>        background-color: #</a:t>
            </a:r>
            <a:r>
              <a:rPr lang="en-US" altLang="zh-CN" sz="1400" dirty="0" err="1"/>
              <a:t>cde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}</a:t>
            </a:r>
            <a:endParaRPr lang="en-US" altLang="zh-CN" sz="1400" dirty="0"/>
          </a:p>
          <a:p>
            <a:r>
              <a:rPr lang="en-US" altLang="zh-CN" sz="1400" dirty="0"/>
              <a:t>    &lt;/style&gt;</a:t>
            </a:r>
            <a:endParaRPr lang="en-US" altLang="zh-CN" sz="1400" dirty="0"/>
          </a:p>
          <a:p>
            <a:r>
              <a:rPr lang="en-US" altLang="zh-CN" sz="1400" dirty="0"/>
              <a:t>  &lt;/head&gt;</a:t>
            </a:r>
            <a:endParaRPr lang="en-US" altLang="zh-CN" sz="1400" dirty="0"/>
          </a:p>
          <a:p>
            <a:r>
              <a:rPr lang="en-US" altLang="zh-CN" sz="1400" dirty="0"/>
              <a:t>  &lt;body&gt;</a:t>
            </a:r>
            <a:endParaRPr lang="en-US" altLang="zh-CN" sz="1400" dirty="0"/>
          </a:p>
          <a:p>
            <a:r>
              <a:rPr lang="en-US" altLang="zh-CN" sz="1400" dirty="0"/>
              <a:t>    &lt;div class="box-relative"&gt;&lt;/div&gt;</a:t>
            </a:r>
            <a:endParaRPr lang="en-US" altLang="zh-CN" sz="1400" dirty="0"/>
          </a:p>
          <a:p>
            <a:r>
              <a:rPr lang="en-US" altLang="zh-CN" sz="1400" dirty="0"/>
              <a:t>    &lt;div class="box-static"&gt;&lt;/div&gt;</a:t>
            </a:r>
            <a:endParaRPr lang="en-US" altLang="zh-CN" sz="1400" dirty="0"/>
          </a:p>
          <a:p>
            <a:r>
              <a:rPr lang="en-US" altLang="zh-CN" sz="1400" dirty="0"/>
              <a:t>  &lt;/body&gt;</a:t>
            </a:r>
            <a:endParaRPr lang="zh-CN" altLang="en-US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02" y="2779778"/>
            <a:ext cx="3419475" cy="27051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75232" y="3439101"/>
            <a:ext cx="1536192" cy="207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relative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44752" y="4761933"/>
            <a:ext cx="1536192" cy="207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static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7652" y="160987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、绝对定位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position:absolute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3928" y="2116083"/>
            <a:ext cx="90711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定位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absolute </a:t>
            </a:r>
            <a:r>
              <a:rPr lang="zh-CN" altLang="en-US" sz="2000" dirty="0"/>
              <a:t>的元素的层</a:t>
            </a:r>
            <a:r>
              <a:rPr lang="zh-CN" altLang="en-US" sz="2000" dirty="0" smtClean="0"/>
              <a:t>脱离标准文档流</a:t>
            </a:r>
            <a:r>
              <a:rPr lang="zh-CN" altLang="en-US" sz="2000" dirty="0"/>
              <a:t>，但</a:t>
            </a:r>
            <a:r>
              <a:rPr lang="zh-CN" altLang="en-US" sz="2000" dirty="0" smtClean="0"/>
              <a:t>与</a:t>
            </a:r>
            <a:r>
              <a:rPr lang="en-US" altLang="zh-CN" sz="2000" dirty="0" smtClean="0"/>
              <a:t>relative 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区别是其</a:t>
            </a:r>
            <a:r>
              <a:rPr lang="zh-CN" altLang="en-US" sz="2000" dirty="0"/>
              <a:t>在</a:t>
            </a:r>
            <a:r>
              <a:rPr lang="zh-CN" altLang="en-US" sz="2000" dirty="0" smtClean="0"/>
              <a:t>正常文档流</a:t>
            </a:r>
            <a:r>
              <a:rPr lang="zh-CN" altLang="en-US" sz="2000" dirty="0"/>
              <a:t>中的 </a:t>
            </a:r>
            <a:r>
              <a:rPr lang="zh-CN" altLang="en-US" sz="2000" dirty="0">
                <a:solidFill>
                  <a:srgbClr val="C00000"/>
                </a:solidFill>
              </a:rPr>
              <a:t>原位置不再存在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60" y="3032200"/>
            <a:ext cx="2438400" cy="16764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88769" y="2507997"/>
            <a:ext cx="37302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&lt;style&gt;</a:t>
            </a:r>
            <a:endParaRPr lang="en-US" altLang="zh-CN" sz="1400" dirty="0"/>
          </a:p>
          <a:p>
            <a:r>
              <a:rPr lang="en-US" altLang="zh-CN" sz="1400" dirty="0"/>
              <a:t>      .box-absolute {</a:t>
            </a:r>
            <a:endParaRPr lang="en-US" altLang="zh-CN" sz="1400" dirty="0"/>
          </a:p>
          <a:p>
            <a:r>
              <a:rPr lang="en-US" altLang="zh-CN" sz="1400" dirty="0"/>
              <a:t>        </a:t>
            </a:r>
            <a:r>
              <a:rPr lang="en-US" altLang="zh-CN" sz="1400" dirty="0">
                <a:solidFill>
                  <a:srgbClr val="FF0000"/>
                </a:solidFill>
              </a:rPr>
              <a:t>position: absolute;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        top: 20px;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        left: 20px;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    width: 200px;</a:t>
            </a:r>
            <a:endParaRPr lang="en-US" altLang="zh-CN" sz="1400" dirty="0"/>
          </a:p>
          <a:p>
            <a:r>
              <a:rPr lang="en-US" altLang="zh-CN" sz="1400" dirty="0"/>
              <a:t>        height: 150px;</a:t>
            </a:r>
            <a:endParaRPr lang="en-US" altLang="zh-CN" sz="1400" dirty="0"/>
          </a:p>
          <a:p>
            <a:r>
              <a:rPr lang="en-US" altLang="zh-CN" sz="1400" dirty="0"/>
              <a:t>        background-color: #</a:t>
            </a:r>
            <a:r>
              <a:rPr lang="en-US" altLang="zh-CN" sz="1400" dirty="0" err="1"/>
              <a:t>cef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}</a:t>
            </a:r>
            <a:endParaRPr lang="en-US" altLang="zh-CN" sz="1400" dirty="0"/>
          </a:p>
          <a:p>
            <a:r>
              <a:rPr lang="en-US" altLang="zh-CN" sz="1400" dirty="0"/>
              <a:t>      .box-static {</a:t>
            </a:r>
            <a:endParaRPr lang="en-US" altLang="zh-CN" sz="1400" dirty="0"/>
          </a:p>
          <a:p>
            <a:r>
              <a:rPr lang="en-US" altLang="zh-CN" sz="1400" dirty="0"/>
              <a:t>        width: 200px;</a:t>
            </a:r>
            <a:endParaRPr lang="en-US" altLang="zh-CN" sz="1400" dirty="0"/>
          </a:p>
          <a:p>
            <a:r>
              <a:rPr lang="en-US" altLang="zh-CN" sz="1400" dirty="0"/>
              <a:t>        height: 100px;</a:t>
            </a:r>
            <a:endParaRPr lang="en-US" altLang="zh-CN" sz="1400" dirty="0"/>
          </a:p>
          <a:p>
            <a:r>
              <a:rPr lang="en-US" altLang="zh-CN" sz="1400" dirty="0"/>
              <a:t>        background-color: #</a:t>
            </a:r>
            <a:r>
              <a:rPr lang="en-US" altLang="zh-CN" sz="1400" dirty="0" err="1"/>
              <a:t>cde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  }</a:t>
            </a:r>
            <a:endParaRPr lang="en-US" altLang="zh-CN" sz="1400" dirty="0"/>
          </a:p>
          <a:p>
            <a:r>
              <a:rPr lang="en-US" altLang="zh-CN" sz="1400" dirty="0"/>
              <a:t>    &lt;/style&gt;</a:t>
            </a:r>
            <a:endParaRPr lang="en-US" altLang="zh-CN" sz="1400" dirty="0"/>
          </a:p>
          <a:p>
            <a:r>
              <a:rPr lang="en-US" altLang="zh-CN" sz="1400" dirty="0"/>
              <a:t>  &lt;/head&gt;</a:t>
            </a:r>
            <a:endParaRPr lang="en-US" altLang="zh-CN" sz="1400" dirty="0"/>
          </a:p>
          <a:p>
            <a:r>
              <a:rPr lang="en-US" altLang="zh-CN" sz="1400" dirty="0"/>
              <a:t>  &lt;body&gt;</a:t>
            </a:r>
            <a:endParaRPr lang="en-US" altLang="zh-CN" sz="1400" dirty="0"/>
          </a:p>
          <a:p>
            <a:r>
              <a:rPr lang="en-US" altLang="zh-CN" sz="1400" dirty="0"/>
              <a:t>    &lt;div class="box-absolute"&gt;&lt;/div&gt;</a:t>
            </a:r>
            <a:endParaRPr lang="en-US" altLang="zh-CN" sz="1400" dirty="0"/>
          </a:p>
          <a:p>
            <a:r>
              <a:rPr lang="en-US" altLang="zh-CN" sz="1400" dirty="0"/>
              <a:t>    &lt;div class="box-static"&gt;&lt;/div&gt;</a:t>
            </a:r>
            <a:endParaRPr lang="en-US" altLang="zh-CN" sz="1400" dirty="0"/>
          </a:p>
          <a:p>
            <a:r>
              <a:rPr lang="en-US" altLang="zh-CN" sz="1400" dirty="0"/>
              <a:t>  &lt;/body&gt;</a:t>
            </a:r>
            <a:endParaRPr lang="zh-CN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1363472" y="3734094"/>
            <a:ext cx="1536192" cy="207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absolute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7652" y="160987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smtClean="0"/>
              <a:t>5</a:t>
            </a:r>
            <a:r>
              <a:rPr lang="zh-CN" altLang="en-US" sz="2400" dirty="0" smtClean="0"/>
              <a:t>、粘性定位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position:sticky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3928" y="2116083"/>
            <a:ext cx="106246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sticky</a:t>
            </a:r>
            <a:r>
              <a:rPr lang="zh-CN" altLang="en-US" sz="2400" dirty="0" smtClean="0"/>
              <a:t>定位基本上</a:t>
            </a:r>
            <a:r>
              <a:rPr lang="zh-CN" altLang="en-US" sz="2400" dirty="0"/>
              <a:t>是相对位置和固定位置的</a:t>
            </a:r>
            <a:r>
              <a:rPr lang="zh-CN" altLang="en-US" sz="2400" dirty="0" smtClean="0"/>
              <a:t>混合体，它</a:t>
            </a:r>
            <a:r>
              <a:rPr lang="zh-CN" altLang="en-US" sz="2400" dirty="0"/>
              <a:t>允许被定位的元素</a:t>
            </a:r>
            <a:r>
              <a:rPr lang="zh-CN" altLang="en-US" sz="2400" dirty="0" smtClean="0"/>
              <a:t>表现的像</a:t>
            </a:r>
            <a:r>
              <a:rPr lang="zh-CN" altLang="en-US" sz="2400" dirty="0"/>
              <a:t>相对定位一样，直到它滚动到某个阈值</a:t>
            </a:r>
            <a:r>
              <a:rPr lang="zh-CN" altLang="en-US" sz="2400" dirty="0" smtClean="0"/>
              <a:t>点</a:t>
            </a:r>
            <a:r>
              <a:rPr lang="zh-CN" altLang="en-US" sz="2400" dirty="0"/>
              <a:t>为止</a:t>
            </a:r>
            <a:r>
              <a:rPr lang="zh-CN" altLang="en-US" sz="2400" dirty="0" smtClean="0"/>
              <a:t>（</a:t>
            </a:r>
            <a:r>
              <a:rPr lang="zh-CN" altLang="en-US" sz="2400" dirty="0"/>
              <a:t>例如，</a:t>
            </a:r>
            <a:r>
              <a:rPr lang="zh-CN" altLang="en-US" sz="2400" dirty="0" smtClean="0"/>
              <a:t>从距离浏览器视口顶部</a:t>
            </a:r>
            <a:r>
              <a:rPr lang="en-US" altLang="zh-CN" sz="2400" dirty="0" smtClean="0"/>
              <a:t>30px</a:t>
            </a:r>
            <a:r>
              <a:rPr lang="zh-CN" altLang="en-US" sz="2400" dirty="0" smtClean="0"/>
              <a:t>，左侧</a:t>
            </a:r>
            <a:r>
              <a:rPr lang="en-US" altLang="zh-CN" sz="2400" dirty="0" smtClean="0"/>
              <a:t>30px</a:t>
            </a:r>
            <a:r>
              <a:rPr lang="zh-CN" altLang="en-US" sz="2400" dirty="0" smtClean="0"/>
              <a:t>起），</a:t>
            </a:r>
            <a:r>
              <a:rPr lang="zh-CN" altLang="en-US" sz="2400" dirty="0"/>
              <a:t>此后它就变得固定了。例如，它可用于使导航栏随页面滚动直到特定点，然后粘贴在页面顶部。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1486" y="447470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/>
              <a:t>.positioned {</a:t>
            </a:r>
            <a:endParaRPr lang="en-US" altLang="zh-CN" sz="2800" dirty="0"/>
          </a:p>
          <a:p>
            <a:r>
              <a:rPr lang="en-US" altLang="zh-CN" sz="2800" dirty="0"/>
              <a:t>      position: sticky;</a:t>
            </a:r>
            <a:endParaRPr lang="en-US" altLang="zh-CN" sz="2800" dirty="0"/>
          </a:p>
          <a:p>
            <a:r>
              <a:rPr lang="en-US" altLang="zh-CN" sz="2800" dirty="0"/>
              <a:t>      top: 30px;</a:t>
            </a:r>
            <a:endParaRPr lang="en-US" altLang="zh-CN" sz="2800" dirty="0"/>
          </a:p>
          <a:p>
            <a:r>
              <a:rPr lang="en-US" altLang="zh-CN" sz="2800" dirty="0"/>
              <a:t>      left: 30px;</a:t>
            </a:r>
            <a:endParaRPr lang="en-US" altLang="zh-CN" sz="2800" dirty="0"/>
          </a:p>
          <a:p>
            <a:r>
              <a:rPr lang="en-US" altLang="zh-CN" sz="2800" dirty="0" smtClean="0"/>
              <a:t>}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1452" y="143929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/>
              <a:t>定位上下文</a:t>
            </a:r>
            <a:r>
              <a:rPr lang="en-US" altLang="zh-CN" sz="2400" dirty="0" smtClean="0"/>
              <a:t>---</a:t>
            </a:r>
            <a:r>
              <a:rPr lang="zh-CN" altLang="en-US" sz="2400" dirty="0" smtClean="0"/>
              <a:t>相对定位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position:relative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1452" y="1910431"/>
            <a:ext cx="9071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relative</a:t>
            </a:r>
            <a:r>
              <a:rPr lang="zh-CN" altLang="en-US" sz="2000" dirty="0" smtClean="0"/>
              <a:t>定位</a:t>
            </a:r>
            <a:r>
              <a:rPr lang="zh-CN" altLang="en-US" sz="2000" dirty="0"/>
              <a:t>的层总是相对于</a:t>
            </a:r>
            <a:r>
              <a:rPr lang="zh-CN" altLang="en-US" sz="2000" dirty="0" smtClean="0"/>
              <a:t>其直接</a:t>
            </a:r>
            <a:r>
              <a:rPr lang="zh-CN" altLang="en-US" sz="2000" dirty="0"/>
              <a:t>父元素 ，无论其父</a:t>
            </a:r>
            <a:r>
              <a:rPr lang="zh-CN" altLang="en-US" sz="2000" dirty="0" smtClean="0"/>
              <a:t>元素是</a:t>
            </a:r>
            <a:r>
              <a:rPr lang="zh-CN" altLang="en-US" sz="2000" dirty="0"/>
              <a:t>什么定位方式。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1452" y="2310541"/>
            <a:ext cx="29200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/>
              <a:t>      .</a:t>
            </a:r>
            <a:r>
              <a:rPr lang="en-US" altLang="zh-CN" sz="1200" dirty="0"/>
              <a:t>box1 {</a:t>
            </a:r>
            <a:endParaRPr lang="en-US" altLang="zh-CN" sz="1200" dirty="0"/>
          </a:p>
          <a:p>
            <a:r>
              <a:rPr lang="en-US" altLang="zh-CN" sz="1200" dirty="0"/>
              <a:t>        position: absolute;</a:t>
            </a:r>
            <a:endParaRPr lang="en-US" altLang="zh-CN" sz="1200" dirty="0"/>
          </a:p>
          <a:p>
            <a:r>
              <a:rPr lang="en-US" altLang="zh-CN" sz="1200" dirty="0"/>
              <a:t>        background-color: pink;</a:t>
            </a:r>
            <a:endParaRPr lang="en-US" altLang="zh-CN" sz="1200" dirty="0"/>
          </a:p>
          <a:p>
            <a:r>
              <a:rPr lang="en-US" altLang="zh-CN" sz="1200" dirty="0"/>
              <a:t>        width: 300px;</a:t>
            </a:r>
            <a:endParaRPr lang="en-US" altLang="zh-CN" sz="1200" dirty="0"/>
          </a:p>
          <a:p>
            <a:r>
              <a:rPr lang="en-US" altLang="zh-CN" sz="1200" dirty="0"/>
              <a:t>        height: 300px;</a:t>
            </a:r>
            <a:endParaRPr lang="en-US" altLang="zh-CN" sz="1200" dirty="0"/>
          </a:p>
          <a:p>
            <a:r>
              <a:rPr lang="en-US" altLang="zh-CN" sz="1200" dirty="0"/>
              <a:t>        top: 20px;</a:t>
            </a:r>
            <a:endParaRPr lang="en-US" altLang="zh-CN" sz="1200" dirty="0"/>
          </a:p>
          <a:p>
            <a:r>
              <a:rPr lang="en-US" altLang="zh-CN" sz="1200" dirty="0"/>
              <a:t>        left: 20px;</a:t>
            </a:r>
            <a:endParaRPr lang="en-US" altLang="zh-CN" sz="1200" dirty="0"/>
          </a:p>
          <a:p>
            <a:r>
              <a:rPr lang="en-US" altLang="zh-CN" sz="1200" dirty="0"/>
              <a:t>      }</a:t>
            </a:r>
            <a:endParaRPr lang="en-US" altLang="zh-CN" sz="1200" dirty="0"/>
          </a:p>
          <a:p>
            <a:r>
              <a:rPr lang="en-US" altLang="zh-CN" sz="1200" dirty="0"/>
              <a:t>      .box2 {</a:t>
            </a:r>
            <a:endParaRPr lang="en-US" altLang="zh-CN" sz="1200" dirty="0"/>
          </a:p>
          <a:p>
            <a:r>
              <a:rPr lang="en-US" altLang="zh-CN" sz="1200" dirty="0"/>
              <a:t>        position: static;</a:t>
            </a:r>
            <a:endParaRPr lang="en-US" altLang="zh-CN" sz="1200" dirty="0"/>
          </a:p>
          <a:p>
            <a:r>
              <a:rPr lang="en-US" altLang="zh-CN" sz="1200" dirty="0"/>
              <a:t>        background-color: </a:t>
            </a:r>
            <a:r>
              <a:rPr lang="en-US" altLang="zh-CN" sz="1200" dirty="0" err="1"/>
              <a:t>yellowgreen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        width: 200px;</a:t>
            </a:r>
            <a:endParaRPr lang="en-US" altLang="zh-CN" sz="1200" dirty="0"/>
          </a:p>
          <a:p>
            <a:r>
              <a:rPr lang="en-US" altLang="zh-CN" sz="1200" dirty="0"/>
              <a:t>        height: 200px;</a:t>
            </a:r>
            <a:endParaRPr lang="en-US" altLang="zh-CN" sz="1200" dirty="0"/>
          </a:p>
          <a:p>
            <a:r>
              <a:rPr lang="en-US" altLang="zh-CN" sz="1200" dirty="0"/>
              <a:t>        margin-top: 30px;</a:t>
            </a:r>
            <a:endParaRPr lang="en-US" altLang="zh-CN" sz="1200" dirty="0"/>
          </a:p>
          <a:p>
            <a:r>
              <a:rPr lang="en-US" altLang="zh-CN" sz="1200" dirty="0"/>
              <a:t>        margin-left: 30px;</a:t>
            </a:r>
            <a:endParaRPr lang="en-US" altLang="zh-CN" sz="1200" dirty="0"/>
          </a:p>
          <a:p>
            <a:r>
              <a:rPr lang="en-US" altLang="zh-CN" sz="1200" dirty="0"/>
              <a:t>      }</a:t>
            </a:r>
            <a:endParaRPr lang="en-US" altLang="zh-CN" sz="1200" dirty="0"/>
          </a:p>
          <a:p>
            <a:r>
              <a:rPr lang="en-US" altLang="zh-CN" sz="1200" dirty="0"/>
              <a:t>      .box3 {</a:t>
            </a:r>
            <a:endParaRPr lang="en-US" altLang="zh-CN" sz="1200" dirty="0"/>
          </a:p>
          <a:p>
            <a:r>
              <a:rPr lang="en-US" altLang="zh-CN" sz="1200" dirty="0"/>
              <a:t>        position: relative;</a:t>
            </a:r>
            <a:endParaRPr lang="en-US" altLang="zh-CN" sz="1200" dirty="0"/>
          </a:p>
          <a:p>
            <a:r>
              <a:rPr lang="en-US" altLang="zh-CN" sz="1200" dirty="0"/>
              <a:t>        background-color: yellow;</a:t>
            </a:r>
            <a:endParaRPr lang="en-US" altLang="zh-CN" sz="1200" dirty="0"/>
          </a:p>
          <a:p>
            <a:r>
              <a:rPr lang="en-US" altLang="zh-CN" sz="1200" dirty="0"/>
              <a:t>        width: 100px;</a:t>
            </a:r>
            <a:endParaRPr lang="en-US" altLang="zh-CN" sz="1200" dirty="0"/>
          </a:p>
          <a:p>
            <a:r>
              <a:rPr lang="en-US" altLang="zh-CN" sz="1200" dirty="0"/>
              <a:t>        height: 100px;</a:t>
            </a:r>
            <a:endParaRPr lang="en-US" altLang="zh-CN" sz="1200" dirty="0"/>
          </a:p>
          <a:p>
            <a:r>
              <a:rPr lang="en-US" altLang="zh-CN" sz="1200" dirty="0"/>
              <a:t>        top: 20px;</a:t>
            </a:r>
            <a:endParaRPr lang="en-US" altLang="zh-CN" sz="1200" dirty="0"/>
          </a:p>
          <a:p>
            <a:r>
              <a:rPr lang="en-US" altLang="zh-CN" sz="1200" dirty="0"/>
              <a:t>        left: 20px;</a:t>
            </a:r>
            <a:endParaRPr lang="en-US" altLang="zh-CN" sz="1200" dirty="0"/>
          </a:p>
          <a:p>
            <a:r>
              <a:rPr lang="en-US" altLang="zh-CN" sz="1200" dirty="0"/>
              <a:t>      }</a:t>
            </a: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768" y="2984639"/>
            <a:ext cx="3505200" cy="3286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3932140" y="3530510"/>
            <a:ext cx="30153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&lt;div class="box1"&gt;</a:t>
            </a:r>
            <a:endParaRPr lang="en-US" altLang="zh-CN" sz="1400" dirty="0"/>
          </a:p>
          <a:p>
            <a:r>
              <a:rPr lang="en-US" altLang="zh-CN" sz="1400" dirty="0"/>
              <a:t>      &lt;div class="box2"&gt;</a:t>
            </a:r>
            <a:endParaRPr lang="en-US" altLang="zh-CN" sz="1400" dirty="0"/>
          </a:p>
          <a:p>
            <a:r>
              <a:rPr lang="en-US" altLang="zh-CN" sz="1400" dirty="0"/>
              <a:t>        &lt;div class="box3"&gt;&lt;/div&gt;</a:t>
            </a:r>
            <a:endParaRPr lang="en-US" altLang="zh-CN" sz="1400" dirty="0"/>
          </a:p>
          <a:p>
            <a:r>
              <a:rPr lang="en-US" altLang="zh-CN" sz="1400" dirty="0"/>
              <a:t>      &lt;/div&gt;</a:t>
            </a:r>
            <a:endParaRPr lang="en-US" altLang="zh-CN" sz="1400" dirty="0"/>
          </a:p>
          <a:p>
            <a:r>
              <a:rPr lang="en-US" altLang="zh-CN" sz="1400" dirty="0"/>
              <a:t>    &lt;/div&gt;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1292" y="1453622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定位上下文</a:t>
            </a:r>
            <a:r>
              <a:rPr lang="en-US" altLang="zh-CN" sz="2400" dirty="0"/>
              <a:t>---</a:t>
            </a:r>
            <a:r>
              <a:rPr lang="zh-CN" altLang="en-US" sz="2400" dirty="0" smtClean="0"/>
              <a:t>绝对定位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position:absolute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1292" y="1838779"/>
            <a:ext cx="9071113" cy="881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charset="-122"/>
              </a:rPr>
              <a:t>对于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</a:rPr>
              <a:t>absolute</a:t>
            </a:r>
            <a:r>
              <a:rPr lang="zh-CN" altLang="en-US" dirty="0">
                <a:solidFill>
                  <a:srgbClr val="000000"/>
                </a:solidFill>
                <a:latin typeface="微软雅黑" charset="-122"/>
              </a:rPr>
              <a:t>定位的层总是相对于</a:t>
            </a:r>
            <a:r>
              <a:rPr lang="zh-CN" altLang="en-US" dirty="0" smtClean="0">
                <a:solidFill>
                  <a:srgbClr val="000000"/>
                </a:solidFill>
                <a:latin typeface="微软雅黑" charset="-122"/>
              </a:rPr>
              <a:t>其</a:t>
            </a:r>
            <a:r>
              <a:rPr lang="zh-CN" altLang="en-US" b="1" dirty="0" smtClean="0">
                <a:solidFill>
                  <a:srgbClr val="C00000"/>
                </a:solidFill>
                <a:latin typeface="微软雅黑" charset="-122"/>
              </a:rPr>
              <a:t>最近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</a:rPr>
              <a:t>的定义为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</a:rPr>
              <a:t>absolute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</a:rPr>
              <a:t>relative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</a:rPr>
              <a:t>的父层</a:t>
            </a:r>
            <a:r>
              <a:rPr lang="zh-CN" altLang="en-US" dirty="0">
                <a:solidFill>
                  <a:srgbClr val="000000"/>
                </a:solidFill>
                <a:latin typeface="微软雅黑" charset="-122"/>
              </a:rPr>
              <a:t>，而这个父层并不一定是其直接父层。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60379" y="2333685"/>
            <a:ext cx="37238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.box1 {</a:t>
            </a:r>
            <a:endParaRPr lang="en-US" altLang="zh-CN" sz="1200" dirty="0"/>
          </a:p>
          <a:p>
            <a:r>
              <a:rPr lang="en-US" altLang="zh-CN" sz="1200" dirty="0"/>
              <a:t>        position: absolute;</a:t>
            </a:r>
            <a:endParaRPr lang="en-US" altLang="zh-CN" sz="1200" dirty="0"/>
          </a:p>
          <a:p>
            <a:r>
              <a:rPr lang="en-US" altLang="zh-CN" sz="1200" dirty="0"/>
              <a:t>        background-color: pink;</a:t>
            </a:r>
            <a:endParaRPr lang="en-US" altLang="zh-CN" sz="1200" dirty="0"/>
          </a:p>
          <a:p>
            <a:r>
              <a:rPr lang="en-US" altLang="zh-CN" sz="1200" dirty="0"/>
              <a:t>        width: 300px;</a:t>
            </a:r>
            <a:endParaRPr lang="en-US" altLang="zh-CN" sz="1200" dirty="0"/>
          </a:p>
          <a:p>
            <a:r>
              <a:rPr lang="en-US" altLang="zh-CN" sz="1200" dirty="0"/>
              <a:t>        height: 300px;</a:t>
            </a:r>
            <a:endParaRPr lang="en-US" altLang="zh-CN" sz="1200" dirty="0"/>
          </a:p>
          <a:p>
            <a:r>
              <a:rPr lang="en-US" altLang="zh-CN" sz="1200" dirty="0"/>
              <a:t>        top: 20px;</a:t>
            </a:r>
            <a:endParaRPr lang="en-US" altLang="zh-CN" sz="1200" dirty="0"/>
          </a:p>
          <a:p>
            <a:r>
              <a:rPr lang="en-US" altLang="zh-CN" sz="1200" dirty="0"/>
              <a:t>        left: 20px;</a:t>
            </a:r>
            <a:endParaRPr lang="en-US" altLang="zh-CN" sz="1200" dirty="0"/>
          </a:p>
          <a:p>
            <a:r>
              <a:rPr lang="en-US" altLang="zh-CN" sz="1200" dirty="0"/>
              <a:t>      }</a:t>
            </a:r>
            <a:endParaRPr lang="en-US" altLang="zh-CN" sz="1200" dirty="0"/>
          </a:p>
          <a:p>
            <a:r>
              <a:rPr lang="en-US" altLang="zh-CN" sz="1200" dirty="0"/>
              <a:t>      .box2 {</a:t>
            </a:r>
            <a:endParaRPr lang="en-US" altLang="zh-CN" sz="1200" dirty="0"/>
          </a:p>
          <a:p>
            <a:r>
              <a:rPr lang="en-US" altLang="zh-CN" sz="1200" dirty="0"/>
              <a:t>        position: static;</a:t>
            </a:r>
            <a:endParaRPr lang="en-US" altLang="zh-CN" sz="1200" dirty="0"/>
          </a:p>
          <a:p>
            <a:r>
              <a:rPr lang="en-US" altLang="zh-CN" sz="1200" dirty="0"/>
              <a:t>        background-color: </a:t>
            </a:r>
            <a:r>
              <a:rPr lang="en-US" altLang="zh-CN" sz="1200" dirty="0" err="1"/>
              <a:t>yellowgreen</a:t>
            </a:r>
            <a:r>
              <a:rPr lang="en-US" altLang="zh-CN" sz="1200" dirty="0"/>
              <a:t>;</a:t>
            </a:r>
            <a:endParaRPr lang="en-US" altLang="zh-CN" sz="1200" dirty="0"/>
          </a:p>
          <a:p>
            <a:r>
              <a:rPr lang="en-US" altLang="zh-CN" sz="1200" dirty="0"/>
              <a:t>        width: 200px;</a:t>
            </a:r>
            <a:endParaRPr lang="en-US" altLang="zh-CN" sz="1200" dirty="0"/>
          </a:p>
          <a:p>
            <a:r>
              <a:rPr lang="en-US" altLang="zh-CN" sz="1200" dirty="0"/>
              <a:t>        height: 200px;</a:t>
            </a:r>
            <a:endParaRPr lang="en-US" altLang="zh-CN" sz="1200" dirty="0"/>
          </a:p>
          <a:p>
            <a:r>
              <a:rPr lang="en-US" altLang="zh-CN" sz="1200" dirty="0"/>
              <a:t>        margin-top: 30px;</a:t>
            </a:r>
            <a:endParaRPr lang="en-US" altLang="zh-CN" sz="1200" dirty="0"/>
          </a:p>
          <a:p>
            <a:r>
              <a:rPr lang="en-US" altLang="zh-CN" sz="1200" dirty="0"/>
              <a:t>        margin-left: 30px;</a:t>
            </a:r>
            <a:endParaRPr lang="en-US" altLang="zh-CN" sz="1200" dirty="0"/>
          </a:p>
          <a:p>
            <a:r>
              <a:rPr lang="en-US" altLang="zh-CN" sz="1200" dirty="0"/>
              <a:t>      }</a:t>
            </a:r>
            <a:endParaRPr lang="en-US" altLang="zh-CN" sz="1200" dirty="0"/>
          </a:p>
          <a:p>
            <a:r>
              <a:rPr lang="en-US" altLang="zh-CN" sz="1200" dirty="0"/>
              <a:t>      .box3 {</a:t>
            </a:r>
            <a:endParaRPr lang="en-US" altLang="zh-CN" sz="1200" dirty="0"/>
          </a:p>
          <a:p>
            <a:r>
              <a:rPr lang="en-US" altLang="zh-CN" sz="1200" dirty="0"/>
              <a:t>        position: absolute;</a:t>
            </a:r>
            <a:endParaRPr lang="en-US" altLang="zh-CN" sz="1200" dirty="0"/>
          </a:p>
          <a:p>
            <a:r>
              <a:rPr lang="en-US" altLang="zh-CN" sz="1200" dirty="0"/>
              <a:t>        background-color: yellow;</a:t>
            </a:r>
            <a:endParaRPr lang="en-US" altLang="zh-CN" sz="1200" dirty="0"/>
          </a:p>
          <a:p>
            <a:r>
              <a:rPr lang="en-US" altLang="zh-CN" sz="1200" dirty="0"/>
              <a:t>        width: 100px;</a:t>
            </a:r>
            <a:endParaRPr lang="en-US" altLang="zh-CN" sz="1200" dirty="0"/>
          </a:p>
          <a:p>
            <a:r>
              <a:rPr lang="en-US" altLang="zh-CN" sz="1200" dirty="0"/>
              <a:t>        height: 100px;</a:t>
            </a:r>
            <a:endParaRPr lang="en-US" altLang="zh-CN" sz="1200" dirty="0"/>
          </a:p>
          <a:p>
            <a:r>
              <a:rPr lang="en-US" altLang="zh-CN" sz="1200" dirty="0"/>
              <a:t>        top: 20px;</a:t>
            </a:r>
            <a:endParaRPr lang="en-US" altLang="zh-CN" sz="1200" dirty="0"/>
          </a:p>
          <a:p>
            <a:r>
              <a:rPr lang="en-US" altLang="zh-CN" sz="1200" dirty="0"/>
              <a:t>        left: 20px;</a:t>
            </a:r>
            <a:endParaRPr lang="en-US" altLang="zh-CN" sz="1200" dirty="0"/>
          </a:p>
          <a:p>
            <a:r>
              <a:rPr lang="en-US" altLang="zh-CN" sz="1200" dirty="0"/>
              <a:t>      }</a:t>
            </a:r>
            <a:endParaRPr lang="en-US" altLang="zh-CN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096" y="3148012"/>
            <a:ext cx="3400425" cy="3390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矩形 9"/>
          <p:cNvSpPr/>
          <p:nvPr/>
        </p:nvSpPr>
        <p:spPr>
          <a:xfrm>
            <a:off x="795866" y="3935610"/>
            <a:ext cx="32986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&lt;div class="box1"&gt;</a:t>
            </a:r>
            <a:endParaRPr lang="en-US" altLang="zh-CN" sz="1600" dirty="0"/>
          </a:p>
          <a:p>
            <a:r>
              <a:rPr lang="en-US" altLang="zh-CN" sz="1600" dirty="0"/>
              <a:t>      &lt;div class="box2"&gt;</a:t>
            </a:r>
            <a:endParaRPr lang="en-US" altLang="zh-CN" sz="1600" dirty="0"/>
          </a:p>
          <a:p>
            <a:r>
              <a:rPr lang="en-US" altLang="zh-CN" sz="1600" dirty="0"/>
              <a:t>        &lt;div class="box3"&gt;&lt;/div&gt;</a:t>
            </a:r>
            <a:endParaRPr lang="en-US" altLang="zh-CN" sz="1600" dirty="0"/>
          </a:p>
          <a:p>
            <a:r>
              <a:rPr lang="en-US" altLang="zh-CN" sz="1600" dirty="0"/>
              <a:t>      &lt;/div&gt;</a:t>
            </a:r>
            <a:endParaRPr lang="en-US" altLang="zh-CN" sz="1600" dirty="0"/>
          </a:p>
          <a:p>
            <a:r>
              <a:rPr lang="en-US" altLang="zh-CN" sz="1600" dirty="0"/>
              <a:t>    &lt;/div&gt;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6532" y="141713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定位上下文</a:t>
            </a:r>
            <a:r>
              <a:rPr lang="en-US" altLang="zh-CN" sz="2400" dirty="0"/>
              <a:t>---</a:t>
            </a:r>
            <a:r>
              <a:rPr lang="zh-CN" altLang="en-US" sz="2400" dirty="0" smtClean="0"/>
              <a:t>绝对定位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position:absolute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6532" y="1985791"/>
            <a:ext cx="9634698" cy="967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charset="-122"/>
              </a:rPr>
              <a:t>对于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503050405090304" pitchFamily="18" charset="0"/>
              </a:rPr>
              <a:t>absolute</a:t>
            </a:r>
            <a:r>
              <a:rPr lang="zh-CN" altLang="en-US" sz="2000" dirty="0">
                <a:solidFill>
                  <a:srgbClr val="000000"/>
                </a:solidFill>
                <a:latin typeface="微软雅黑" charset="-122"/>
              </a:rPr>
              <a:t>定位的层</a:t>
            </a:r>
            <a:r>
              <a:rPr lang="en-US" altLang="zh-CN" sz="2000" dirty="0">
                <a:solidFill>
                  <a:srgbClr val="000000"/>
                </a:solidFill>
                <a:latin typeface="微软雅黑" charset="-122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微软雅黑" charset="-122"/>
              </a:rPr>
              <a:t>如果其父层中都未定义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503050405090304" pitchFamily="18" charset="0"/>
              </a:rPr>
              <a:t>absolute</a:t>
            </a:r>
            <a:r>
              <a:rPr lang="zh-CN" altLang="en-US" sz="2000" dirty="0">
                <a:solidFill>
                  <a:srgbClr val="000000"/>
                </a:solidFill>
                <a:latin typeface="微软雅黑" charset="-122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503050405090304" pitchFamily="18" charset="0"/>
              </a:rPr>
              <a:t>relative</a:t>
            </a:r>
            <a:r>
              <a:rPr lang="zh-CN" altLang="en-US" sz="2000" dirty="0">
                <a:solidFill>
                  <a:srgbClr val="000000"/>
                </a:solidFill>
                <a:latin typeface="微软雅黑" charset="-122"/>
              </a:rPr>
              <a:t>，则绝对定位元素根据浏览器视口来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charset="-122"/>
              </a:rPr>
              <a:t>定位，即相对于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charset="-122"/>
              </a:rPr>
              <a:t>body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charset="-122"/>
              </a:rPr>
              <a:t>来进行定位。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6532" y="3244446"/>
            <a:ext cx="628798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.box1</a:t>
            </a:r>
            <a:r>
              <a:rPr lang="en-US" altLang="zh-CN" sz="2000" dirty="0"/>
              <a:t>{</a:t>
            </a:r>
            <a:endParaRPr lang="en-US" altLang="zh-CN" sz="2000" dirty="0"/>
          </a:p>
          <a:p>
            <a:pPr lvl="1"/>
            <a:r>
              <a:rPr lang="en-US" altLang="zh-CN" sz="2000" dirty="0" err="1" smtClean="0">
                <a:solidFill>
                  <a:srgbClr val="C00000"/>
                </a:solidFill>
              </a:rPr>
              <a:t>position:absolute</a:t>
            </a:r>
            <a:r>
              <a:rPr lang="en-US" altLang="zh-CN" sz="2000" dirty="0" smtClean="0">
                <a:solidFill>
                  <a:srgbClr val="C00000"/>
                </a:solidFill>
              </a:rPr>
              <a:t>;//</a:t>
            </a:r>
            <a:r>
              <a:rPr lang="zh-CN" altLang="en-US" sz="2000" dirty="0" smtClean="0">
                <a:solidFill>
                  <a:srgbClr val="C00000"/>
                </a:solidFill>
              </a:rPr>
              <a:t>改为</a:t>
            </a:r>
            <a:r>
              <a:rPr lang="en-US" altLang="zh-CN" sz="2000" dirty="0" smtClean="0">
                <a:solidFill>
                  <a:srgbClr val="C00000"/>
                </a:solidFill>
              </a:rPr>
              <a:t>static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/>
            <a:r>
              <a:rPr lang="en-US" altLang="zh-CN" sz="2000" dirty="0">
                <a:solidFill>
                  <a:srgbClr val="C00000"/>
                </a:solidFill>
              </a:rPr>
              <a:t>top:20px;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/>
            <a:r>
              <a:rPr lang="en-US" altLang="zh-CN" sz="2000" dirty="0">
                <a:solidFill>
                  <a:srgbClr val="C00000"/>
                </a:solidFill>
              </a:rPr>
              <a:t>left:20px;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497" y="2915572"/>
            <a:ext cx="3162300" cy="3371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56532" y="5006078"/>
            <a:ext cx="61574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box3</a:t>
            </a:r>
            <a:r>
              <a:rPr lang="zh-CN" altLang="en-US" sz="2000" dirty="0" smtClean="0"/>
              <a:t>（黄色矩形块元素）则相对于</a:t>
            </a:r>
            <a:r>
              <a:rPr lang="en-US" altLang="zh-CN" sz="2000" dirty="0" smtClean="0"/>
              <a:t>body</a:t>
            </a:r>
            <a:r>
              <a:rPr lang="zh-CN" altLang="en-US" sz="2000" dirty="0" smtClean="0"/>
              <a:t>进行定位偏移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966926" y="1519901"/>
          <a:ext cx="8916929" cy="516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415"/>
                <a:gridCol w="1835933"/>
                <a:gridCol w="5682581"/>
              </a:tblGrid>
              <a:tr h="537488"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值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语义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属性</a:t>
                      </a:r>
                      <a:endParaRPr lang="zh-CN" altLang="en-US" sz="2000" dirty="0"/>
                    </a:p>
                  </a:txBody>
                  <a:tcPr/>
                </a:tc>
              </a:tr>
              <a:tr h="90524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static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静态定位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没有定位，元素出现在正常的标准文档流中</a:t>
                      </a:r>
                      <a:endParaRPr lang="en-US" altLang="zh-CN" sz="2000" dirty="0" smtClean="0"/>
                    </a:p>
                    <a:p>
                      <a:r>
                        <a:rPr lang="en-US" altLang="zh-CN" sz="2000" dirty="0" smtClean="0"/>
                        <a:t>top, bottom, left, right, z-index </a:t>
                      </a:r>
                      <a:r>
                        <a:rPr lang="zh-CN" altLang="en-US" sz="2000" dirty="0" smtClean="0"/>
                        <a:t>无效</a:t>
                      </a:r>
                      <a:endParaRPr lang="zh-CN" altLang="en-US" sz="2000" dirty="0"/>
                    </a:p>
                  </a:txBody>
                  <a:tcPr/>
                </a:tc>
              </a:tr>
              <a:tr h="90524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fixed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固定定位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相对于</a:t>
                      </a:r>
                      <a:r>
                        <a:rPr lang="zh-CN" altLang="en-US" sz="2000" dirty="0" smtClean="0">
                          <a:solidFill>
                            <a:schemeClr val="accent2"/>
                          </a:solidFill>
                        </a:rPr>
                        <a:t>浏览器窗口 </a:t>
                      </a:r>
                      <a:r>
                        <a:rPr lang="zh-CN" altLang="en-US" sz="2000" dirty="0" smtClean="0"/>
                        <a:t>进行定位</a:t>
                      </a:r>
                      <a:endParaRPr lang="zh-CN" altLang="en-US" sz="2000" dirty="0" smtClean="0"/>
                    </a:p>
                    <a:p>
                      <a:r>
                        <a:rPr lang="en-US" altLang="zh-CN" sz="2000" dirty="0" smtClean="0"/>
                        <a:t>top, bottom, left, right, z-index </a:t>
                      </a:r>
                      <a:r>
                        <a:rPr lang="zh-CN" altLang="en-US" sz="2000" dirty="0" smtClean="0"/>
                        <a:t>有效</a:t>
                      </a:r>
                      <a:endParaRPr lang="zh-CN" altLang="en-US" sz="2000" dirty="0"/>
                    </a:p>
                  </a:txBody>
                  <a:tcPr/>
                </a:tc>
              </a:tr>
              <a:tr h="90524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relative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相对定位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相对于其</a:t>
                      </a:r>
                      <a:r>
                        <a:rPr lang="zh-CN" altLang="en-US" sz="2000" dirty="0" smtClean="0">
                          <a:solidFill>
                            <a:schemeClr val="accent2"/>
                          </a:solidFill>
                        </a:rPr>
                        <a:t>直接父元素 </a:t>
                      </a:r>
                      <a:r>
                        <a:rPr lang="zh-CN" altLang="en-US" sz="2000" dirty="0" smtClean="0"/>
                        <a:t>进行定位</a:t>
                      </a:r>
                      <a:endParaRPr lang="en-US" altLang="zh-CN" sz="20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/>
                        <a:t>top, bottom, left, right, z-index </a:t>
                      </a:r>
                      <a:r>
                        <a:rPr lang="zh-CN" altLang="en-US" sz="2000" dirty="0" smtClean="0"/>
                        <a:t>有效</a:t>
                      </a:r>
                      <a:endParaRPr lang="zh-CN" altLang="en-US" sz="2000" dirty="0" smtClean="0"/>
                    </a:p>
                  </a:txBody>
                  <a:tcPr/>
                </a:tc>
              </a:tr>
              <a:tr h="90524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absolute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绝对定位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相对于</a:t>
                      </a:r>
                      <a:r>
                        <a:rPr lang="en-US" altLang="zh-CN" sz="20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static </a:t>
                      </a:r>
                      <a:r>
                        <a:rPr lang="zh-CN" altLang="en-US" sz="2000" kern="1200" dirty="0" smtClean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定位以外的第一个父元素</a:t>
                      </a:r>
                      <a:r>
                        <a:rPr lang="zh-CN" alt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进行定位</a:t>
                      </a:r>
                      <a:endParaRPr lang="en-US" altLang="zh-CN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/>
                        <a:t>top, bottom, left, right, z-index </a:t>
                      </a:r>
                      <a:r>
                        <a:rPr lang="zh-CN" altLang="en-US" sz="2000" dirty="0" smtClean="0"/>
                        <a:t>有效</a:t>
                      </a:r>
                      <a:endParaRPr lang="zh-CN" altLang="en-US" sz="2000" dirty="0" smtClean="0"/>
                    </a:p>
                  </a:txBody>
                  <a:tcPr/>
                </a:tc>
              </a:tr>
              <a:tr h="90524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sticky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粘性定位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 smtClean="0"/>
                        <a:t>允许被定位的元素表现的像相对定位一样，直到它滚动到某个阈值点为止，然后表现的像固定定位</a:t>
                      </a:r>
                      <a:endParaRPr lang="zh-CN" altLang="en-US" sz="20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448" y="1515124"/>
            <a:ext cx="10563280" cy="28623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父</a:t>
            </a:r>
            <a:r>
              <a:rPr lang="zh-CN" altLang="en-US" sz="2400" dirty="0" smtClean="0"/>
              <a:t>元素</a:t>
            </a:r>
            <a:r>
              <a:rPr lang="en-US" altLang="zh-CN" sz="2400" dirty="0" smtClean="0"/>
              <a:t>box1             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position:relative</a:t>
            </a:r>
            <a:r>
              <a:rPr lang="en-US" altLang="zh-CN" sz="2400" dirty="0" smtClean="0">
                <a:solidFill>
                  <a:srgbClr val="FF0000"/>
                </a:solidFill>
              </a:rPr>
              <a:t>;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子元素</a:t>
            </a:r>
            <a:r>
              <a:rPr lang="en-US" altLang="zh-CN" sz="2400" dirty="0" smtClean="0"/>
              <a:t>box2             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position:absolute</a:t>
            </a:r>
            <a:r>
              <a:rPr lang="en-US" altLang="zh-CN" sz="2400" dirty="0" smtClean="0">
                <a:solidFill>
                  <a:srgbClr val="FF0000"/>
                </a:solidFill>
              </a:rPr>
              <a:t>;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子</a:t>
            </a:r>
            <a:r>
              <a:rPr lang="zh-CN" altLang="en-US" sz="2400" dirty="0" smtClean="0"/>
              <a:t>元素</a:t>
            </a:r>
            <a:r>
              <a:rPr lang="en-US" altLang="zh-CN" sz="2400" dirty="0"/>
              <a:t>box2               </a:t>
            </a:r>
            <a:r>
              <a:rPr lang="en-US" altLang="zh-CN" sz="2400" dirty="0" smtClean="0"/>
              <a:t>top</a:t>
            </a:r>
            <a:r>
              <a:rPr lang="zh-CN" altLang="en-US" sz="2400" dirty="0" smtClean="0"/>
              <a:t>、 </a:t>
            </a:r>
            <a:r>
              <a:rPr lang="en-US" altLang="zh-CN" sz="2400" dirty="0"/>
              <a:t>bottom </a:t>
            </a:r>
            <a:r>
              <a:rPr lang="zh-CN" altLang="en-US" sz="2400" dirty="0"/>
              <a:t>、 </a:t>
            </a:r>
            <a:r>
              <a:rPr lang="en-US" altLang="zh-CN" sz="2400" dirty="0"/>
              <a:t>left </a:t>
            </a:r>
            <a:r>
              <a:rPr lang="zh-CN" altLang="en-US" sz="2400" dirty="0"/>
              <a:t>、 </a:t>
            </a:r>
            <a:r>
              <a:rPr lang="en-US" altLang="zh-CN" sz="2400" dirty="0"/>
              <a:t>right </a:t>
            </a:r>
            <a:r>
              <a:rPr lang="zh-CN" altLang="en-US" sz="2400" dirty="0"/>
              <a:t>相对</a:t>
            </a:r>
            <a:r>
              <a:rPr lang="zh-CN" altLang="en-US" sz="2400" dirty="0" smtClean="0"/>
              <a:t>于父</a:t>
            </a:r>
            <a:r>
              <a:rPr lang="zh-CN" altLang="en-US" sz="2400" dirty="0"/>
              <a:t>元素来进行偏移定位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795867" y="449633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/>
              <a:t>&lt;div </a:t>
            </a:r>
            <a:r>
              <a:rPr lang="en-US" altLang="zh-CN" sz="2400" dirty="0" smtClean="0"/>
              <a:t>class="</a:t>
            </a:r>
            <a:r>
              <a:rPr lang="en-US" altLang="zh-CN" sz="2400" dirty="0"/>
              <a:t>box1"&gt;</a:t>
            </a:r>
            <a:endParaRPr lang="en-US" altLang="zh-CN" sz="2400" dirty="0"/>
          </a:p>
          <a:p>
            <a:pPr lvl="1"/>
            <a:r>
              <a:rPr lang="en-US" altLang="zh-CN" sz="2400" dirty="0"/>
              <a:t>&lt;div class </a:t>
            </a:r>
            <a:r>
              <a:rPr lang="en-US" altLang="zh-CN" sz="2400" dirty="0" smtClean="0"/>
              <a:t>="</a:t>
            </a:r>
            <a:r>
              <a:rPr lang="en-US" altLang="zh-CN" sz="2400" dirty="0"/>
              <a:t>box2"&gt;</a:t>
            </a:r>
            <a:endParaRPr lang="en-US" altLang="zh-CN" sz="2400" dirty="0"/>
          </a:p>
          <a:p>
            <a:pPr lvl="1"/>
            <a:r>
              <a:rPr lang="en-US" altLang="zh-CN" sz="2400" dirty="0"/>
              <a:t>&lt;/div&gt;</a:t>
            </a:r>
            <a:endParaRPr lang="en-US" altLang="zh-CN" sz="2400" dirty="0"/>
          </a:p>
          <a:p>
            <a:r>
              <a:rPr lang="en-US" altLang="zh-CN" sz="2400" dirty="0"/>
              <a:t>&lt;/div&gt;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792516" y="425855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smtClean="0"/>
              <a:t>.box1</a:t>
            </a:r>
            <a:r>
              <a:rPr lang="en-US" altLang="zh-CN" sz="2400" dirty="0"/>
              <a:t>{</a:t>
            </a:r>
            <a:endParaRPr lang="en-US" altLang="zh-CN" sz="2400" dirty="0"/>
          </a:p>
          <a:p>
            <a:pPr lvl="1"/>
            <a:r>
              <a:rPr lang="en-US" altLang="zh-CN" sz="2400" dirty="0" err="1" smtClean="0">
                <a:solidFill>
                  <a:srgbClr val="FF0000"/>
                </a:solidFill>
              </a:rPr>
              <a:t>position:relative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}</a:t>
            </a:r>
            <a:endParaRPr lang="en-US" altLang="zh-CN" sz="2400" dirty="0"/>
          </a:p>
          <a:p>
            <a:r>
              <a:rPr lang="en-US" altLang="zh-CN" sz="2400" dirty="0" smtClean="0"/>
              <a:t>.box2</a:t>
            </a:r>
            <a:r>
              <a:rPr lang="en-US" altLang="zh-CN" sz="2400" dirty="0"/>
              <a:t>{</a:t>
            </a:r>
            <a:endParaRPr lang="en-US" altLang="zh-CN" sz="2400" dirty="0"/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</a:rPr>
              <a:t>position:absolute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5255" y="1446250"/>
            <a:ext cx="10512287" cy="258320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r>
              <a:rPr lang="zh-TW" sz="2800" b="1" dirty="0" smtClean="0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子绝父相</a:t>
            </a:r>
            <a:endParaRPr lang="en-US" altLang="zh-TW" sz="2800" b="1" dirty="0" smtClean="0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</a:endParaRPr>
          </a:p>
          <a:p>
            <a:pPr indent="0" algn="just">
              <a:lnSpc>
                <a:spcPts val="1870"/>
              </a:lnSpc>
              <a:spcAft>
                <a:spcPts val="1540"/>
              </a:spcAft>
            </a:pPr>
            <a:r>
              <a:rPr lang="zh-TW" dirty="0" smtClean="0">
                <a:solidFill>
                  <a:srgbClr val="C00000"/>
                </a:solidFill>
                <a:latin typeface="微软雅黑"/>
                <a:ea typeface="微软雅黑"/>
              </a:rPr>
              <a:t>子</a:t>
            </a:r>
            <a:r>
              <a:rPr lang="zh-TW" dirty="0">
                <a:solidFill>
                  <a:srgbClr val="C00000"/>
                </a:solidFill>
                <a:latin typeface="微软雅黑"/>
                <a:ea typeface="微软雅黑"/>
              </a:rPr>
              <a:t>级是</a:t>
            </a:r>
            <a:r>
              <a:rPr lang="zh-TW" dirty="0" smtClean="0">
                <a:solidFill>
                  <a:srgbClr val="C00000"/>
                </a:solidFill>
                <a:latin typeface="微软雅黑"/>
                <a:ea typeface="微软雅黑"/>
              </a:rPr>
              <a:t>绝对</a:t>
            </a:r>
            <a:r>
              <a:rPr lang="zh-TW" dirty="0">
                <a:solidFill>
                  <a:srgbClr val="C00000"/>
                </a:solidFill>
                <a:latin typeface="微软雅黑"/>
                <a:ea typeface="微软雅黑"/>
              </a:rPr>
              <a:t>定位的话，父级要用相对定位</a:t>
            </a:r>
            <a:endParaRPr lang="zh-TW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indent="0" algn="just">
              <a:lnSpc>
                <a:spcPts val="1870"/>
              </a:lnSpc>
              <a:spcAft>
                <a:spcPts val="560"/>
              </a:spcAft>
            </a:pP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① 子级绝对定位，不会占有位置，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可</a:t>
            </a:r>
            <a:r>
              <a:rPr lang="zh-CN" altLang="en-US" dirty="0" smtClean="0">
                <a:solidFill>
                  <a:srgbClr val="262626"/>
                </a:solidFill>
                <a:latin typeface="微软雅黑"/>
                <a:ea typeface="微软雅黑"/>
              </a:rPr>
              <a:t>以放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到</a:t>
            </a: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父盒子里面的任何一个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地方</a:t>
            </a:r>
            <a:r>
              <a:rPr lang="zh-CN" altLang="en-US" dirty="0" smtClean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不会</a:t>
            </a: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影响其他的兄弟盒子。</a:t>
            </a:r>
            <a:endParaRPr lang="zh-TW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indent="0" algn="just">
              <a:lnSpc>
                <a:spcPts val="1870"/>
              </a:lnSpc>
              <a:spcAft>
                <a:spcPts val="560"/>
              </a:spcAft>
            </a:pP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② 父盒子需要加定位限制子盒子在父盒子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内</a:t>
            </a:r>
            <a:r>
              <a:rPr lang="zh-CN" altLang="en-US" dirty="0" smtClean="0">
                <a:solidFill>
                  <a:srgbClr val="262626"/>
                </a:solidFill>
                <a:latin typeface="微软雅黑"/>
                <a:ea typeface="微软雅黑"/>
              </a:rPr>
              <a:t>的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显示</a:t>
            </a: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lang="zh-TW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indent="0" algn="just">
              <a:lnSpc>
                <a:spcPts val="1870"/>
              </a:lnSpc>
              <a:spcAft>
                <a:spcPts val="2450"/>
              </a:spcAft>
            </a:pP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③ 父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盒子</a:t>
            </a:r>
            <a:r>
              <a:rPr lang="zh-CN" altLang="en-US" dirty="0" smtClean="0">
                <a:solidFill>
                  <a:srgbClr val="262626"/>
                </a:solidFill>
                <a:latin typeface="微软雅黑"/>
                <a:ea typeface="微软雅黑"/>
              </a:rPr>
              <a:t>在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布局</a:t>
            </a: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时，需要占有位置，因此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父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盒子</a:t>
            </a:r>
            <a:r>
              <a:rPr lang="zh-TW" dirty="0" smtClean="0">
                <a:solidFill>
                  <a:srgbClr val="262626"/>
                </a:solidFill>
                <a:latin typeface="微软雅黑"/>
                <a:ea typeface="微软雅黑"/>
              </a:rPr>
              <a:t>只能</a:t>
            </a:r>
            <a:r>
              <a:rPr lang="zh-TW" dirty="0">
                <a:solidFill>
                  <a:srgbClr val="262626"/>
                </a:solidFill>
                <a:latin typeface="微软雅黑"/>
                <a:ea typeface="微软雅黑"/>
              </a:rPr>
              <a:t>是相对定位。</a:t>
            </a:r>
            <a:endParaRPr lang="zh-TW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indent="0" algn="just">
              <a:lnSpc>
                <a:spcPts val="1870"/>
              </a:lnSpc>
              <a:spcAft>
                <a:spcPts val="560"/>
              </a:spcAft>
            </a:pPr>
            <a:r>
              <a:rPr lang="zh-TW" dirty="0" smtClean="0">
                <a:solidFill>
                  <a:srgbClr val="C00000"/>
                </a:solidFill>
                <a:latin typeface="微软雅黑"/>
                <a:ea typeface="微软雅黑"/>
              </a:rPr>
              <a:t>相对</a:t>
            </a:r>
            <a:r>
              <a:rPr lang="zh-TW" dirty="0">
                <a:solidFill>
                  <a:srgbClr val="C00000"/>
                </a:solidFill>
                <a:latin typeface="微软雅黑"/>
                <a:ea typeface="微软雅黑"/>
              </a:rPr>
              <a:t>定位经常用来作为绝对定位的父</a:t>
            </a:r>
            <a:r>
              <a:rPr lang="zh-TW" dirty="0" smtClean="0">
                <a:solidFill>
                  <a:srgbClr val="C00000"/>
                </a:solidFill>
                <a:latin typeface="微软雅黑"/>
                <a:ea typeface="微软雅黑"/>
              </a:rPr>
              <a:t>级</a:t>
            </a:r>
            <a:r>
              <a:rPr lang="zh-CN" altLang="en-US" dirty="0" smtClean="0">
                <a:solidFill>
                  <a:srgbClr val="C00000"/>
                </a:solidFill>
                <a:latin typeface="微软雅黑"/>
                <a:ea typeface="微软雅黑"/>
              </a:rPr>
              <a:t>。</a:t>
            </a:r>
            <a:endParaRPr lang="zh-TW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2583" y="4171696"/>
            <a:ext cx="4876800" cy="17068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 algn="just"/>
            <a:r>
              <a:rPr lang="zh-TW" sz="2000" dirty="0">
                <a:solidFill>
                  <a:srgbClr val="262626"/>
                </a:solidFill>
                <a:latin typeface="微软雅黑"/>
                <a:ea typeface="微软雅黑"/>
              </a:rPr>
              <a:t>当然，子绝父相不是永远不变的，如果父元素不需要占有位置，</a:t>
            </a:r>
            <a:r>
              <a:rPr lang="zh-TW" sz="2000" dirty="0">
                <a:solidFill>
                  <a:srgbClr val="C00000"/>
                </a:solidFill>
                <a:latin typeface="微软雅黑"/>
                <a:ea typeface="微软雅黑"/>
              </a:rPr>
              <a:t>子绝父绝</a:t>
            </a:r>
            <a:r>
              <a:rPr lang="zh-TW" sz="2000" dirty="0">
                <a:solidFill>
                  <a:srgbClr val="262626"/>
                </a:solidFill>
                <a:latin typeface="微软雅黑"/>
                <a:ea typeface="微软雅黑"/>
              </a:rPr>
              <a:t>也会遇到。</a:t>
            </a:r>
            <a:endParaRPr lang="zh-TW" sz="200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58950" y="4826000"/>
            <a:ext cx="1708150" cy="15303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936750" y="4979918"/>
            <a:ext cx="1301750" cy="11795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39950" y="5162550"/>
            <a:ext cx="889000" cy="8191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absolute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459023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r>
              <a:rPr lang="zh-TW" sz="1800" b="1" dirty="0" smtClean="0">
                <a:latin typeface="微软雅黑"/>
                <a:ea typeface="微软雅黑"/>
              </a:rPr>
              <a:t>子绝父相</a:t>
            </a:r>
            <a:r>
              <a:rPr lang="zh-CN" altLang="en-US" sz="1800" b="1" dirty="0" smtClean="0">
                <a:latin typeface="微软雅黑"/>
                <a:ea typeface="微软雅黑"/>
              </a:rPr>
              <a:t>：</a:t>
            </a:r>
            <a:r>
              <a:rPr lang="en-US" altLang="zh-CN" b="1" dirty="0" err="1" smtClean="0">
                <a:latin typeface="微软雅黑"/>
                <a:ea typeface="微软雅黑"/>
              </a:rPr>
              <a:t>relative+absolute</a:t>
            </a:r>
            <a:endParaRPr lang="en-US" altLang="zh-CN" b="1" dirty="0" smtClean="0">
              <a:latin typeface="微软雅黑"/>
              <a:ea typeface="微软雅黑"/>
            </a:endParaRPr>
          </a:p>
          <a:p>
            <a:pPr indent="0">
              <a:spcAft>
                <a:spcPts val="980"/>
              </a:spcAft>
            </a:pPr>
            <a:endParaRPr lang="en-US" altLang="zh-TW" sz="1800" b="1" dirty="0" smtClean="0"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4060" y="223029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&lt;div </a:t>
            </a:r>
            <a:r>
              <a:rPr lang="en-US" altLang="zh-CN" dirty="0" smtClean="0"/>
              <a:t>class="</a:t>
            </a:r>
            <a:r>
              <a:rPr lang="en-US" altLang="zh-CN" dirty="0"/>
              <a:t>box1"&gt;</a:t>
            </a:r>
            <a:endParaRPr lang="en-US" altLang="zh-CN" dirty="0"/>
          </a:p>
          <a:p>
            <a:pPr lvl="1"/>
            <a:r>
              <a:rPr lang="en-US" altLang="zh-CN" dirty="0" smtClean="0"/>
              <a:t>&lt;</a:t>
            </a:r>
            <a:r>
              <a:rPr lang="en-US" altLang="zh-CN" dirty="0" err="1" smtClean="0"/>
              <a:t>img</a:t>
            </a:r>
            <a:r>
              <a:rPr lang="en-US" altLang="zh-CN" dirty="0" smtClean="0"/>
              <a:t> </a:t>
            </a:r>
            <a:r>
              <a:rPr lang="en-US" altLang="zh-CN" dirty="0" err="1"/>
              <a:t>src</a:t>
            </a:r>
            <a:r>
              <a:rPr lang="en-US" altLang="zh-CN" dirty="0"/>
              <a:t> =“</a:t>
            </a:r>
            <a:r>
              <a:rPr lang="en-US" altLang="zh-CN" dirty="0" smtClean="0"/>
              <a:t>coffee.jpg”</a:t>
            </a:r>
            <a:endParaRPr lang="en-US" altLang="zh-CN" dirty="0"/>
          </a:p>
          <a:p>
            <a:pPr lvl="1"/>
            <a:r>
              <a:rPr lang="en-US" altLang="zh-CN" dirty="0"/>
              <a:t>&lt;div </a:t>
            </a:r>
            <a:r>
              <a:rPr lang="en-US" altLang="zh-CN" dirty="0" smtClean="0"/>
              <a:t>class="</a:t>
            </a:r>
            <a:r>
              <a:rPr lang="en-US" altLang="zh-CN" dirty="0"/>
              <a:t>box2"&gt;</a:t>
            </a:r>
            <a:endParaRPr lang="en-US" altLang="zh-CN" dirty="0"/>
          </a:p>
          <a:p>
            <a:pPr lvl="2"/>
            <a:r>
              <a:rPr lang="zh-CN" altLang="en-US" dirty="0" smtClean="0"/>
              <a:t>一起享受咖啡带来的温暖吧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&lt;/div&gt;</a:t>
            </a:r>
            <a:endParaRPr lang="en-US" altLang="zh-CN" dirty="0" smtClean="0"/>
          </a:p>
          <a:p>
            <a:r>
              <a:rPr lang="en-US" altLang="zh-CN" dirty="0" smtClean="0"/>
              <a:t>&lt;/</a:t>
            </a:r>
            <a:r>
              <a:rPr lang="en-US" altLang="zh-CN" dirty="0"/>
              <a:t>div&gt;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603030" y="184177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div{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border:1px solid red;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color: #</a:t>
            </a:r>
            <a:r>
              <a:rPr lang="en-US" altLang="zh-CN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fff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box1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width:170px;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height:190px</a:t>
            </a:r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endParaRPr lang="en-US" altLang="zh-CN" dirty="0" smtClean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position:relative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 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.box2</a:t>
            </a:r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width:99</a:t>
            </a:r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%;</a:t>
            </a:r>
            <a:endParaRPr lang="en-US" altLang="zh-CN" dirty="0" smtClean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position:absolute</a:t>
            </a:r>
            <a:r>
              <a:rPr lang="en-US" altLang="zh-CN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FC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bottom:0</a:t>
            </a:r>
            <a:r>
              <a:rPr lang="en-US" altLang="zh-CN" b="1" dirty="0" smtClean="0">
                <a:solidFill>
                  <a:srgbClr val="006FC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837" y="4608533"/>
            <a:ext cx="1683985" cy="1845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CSS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定位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层定位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1351" y="1474374"/>
            <a:ext cx="10512287" cy="144289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rPr>
              <a:t>相对定位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rPr>
              <a:t>vs 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rPr>
              <a:t>绝对定位</a:t>
            </a:r>
            <a:endParaRPr lang="en-US" altLang="zh-TW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51" y="2035108"/>
            <a:ext cx="7735778" cy="188240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95867" y="3977014"/>
            <a:ext cx="105122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绝对定位的盒子水平居中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加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了绝对定位的盒子不能通过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margin:0 auto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水平居中，但是可以通过以下计算方法实现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水平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居中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。 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①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left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50%;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：让盒子的左侧移动到父级元素的水平中心位置。 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②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margin-left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-100px;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：让盒子向左移动自身宽度的一半（假设盒子宽度为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200px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）。 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垂直居中同理。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op:50%;margin-top:-100px;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总结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289957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867" y="1397788"/>
            <a:ext cx="1130410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通过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盒子模型，清楚知道大部分</a:t>
            </a:r>
            <a:r>
              <a:rPr lang="en-US" altLang="zh-CN" sz="2000" dirty="0">
                <a:solidFill>
                  <a:srgbClr val="252525"/>
                </a:solidFill>
                <a:latin typeface="微软雅黑" charset="-122"/>
              </a:rPr>
              <a:t>html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标签是一个盒子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。</a:t>
            </a:r>
            <a:endParaRPr lang="en-US" altLang="zh-CN" sz="2000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通过</a:t>
            </a:r>
            <a:r>
              <a:rPr lang="en-US" altLang="zh-CN" sz="2000" dirty="0">
                <a:solidFill>
                  <a:srgbClr val="252525"/>
                </a:solidFill>
                <a:latin typeface="微软雅黑" charset="-122"/>
              </a:rPr>
              <a:t>CSS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浮动、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定位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属性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可以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让每个盒子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排列布局构成网页。</a:t>
            </a:r>
            <a:endParaRPr lang="en-US" altLang="zh-CN" sz="2000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一个完整的网页，是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标准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文档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流</a:t>
            </a: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、浮动、定位</a:t>
            </a:r>
            <a:r>
              <a:rPr lang="zh-CN" altLang="en-US" sz="2000" dirty="0" smtClean="0">
                <a:solidFill>
                  <a:srgbClr val="252525"/>
                </a:solidFill>
                <a:latin typeface="微软雅黑" charset="-122"/>
              </a:rPr>
              <a:t>一起，依据各自特性完成布局。 </a:t>
            </a:r>
            <a:endParaRPr lang="en-US" altLang="zh-CN" sz="2000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252525"/>
                </a:solidFill>
                <a:latin typeface="微软雅黑" charset="-122"/>
              </a:rPr>
              <a:t>1</a:t>
            </a:r>
            <a:r>
              <a:rPr lang="en-US" altLang="zh-CN" sz="2000" b="1" dirty="0">
                <a:solidFill>
                  <a:srgbClr val="252525"/>
                </a:solidFill>
                <a:latin typeface="微软雅黑" charset="-122"/>
              </a:rPr>
              <a:t>. </a:t>
            </a:r>
            <a:r>
              <a:rPr lang="zh-CN" altLang="en-US" sz="2000" b="1" dirty="0" smtClean="0">
                <a:solidFill>
                  <a:srgbClr val="252525"/>
                </a:solidFill>
                <a:latin typeface="微软雅黑" charset="-122"/>
              </a:rPr>
              <a:t>标准文档流 </a:t>
            </a:r>
            <a:endParaRPr lang="zh-CN" altLang="en-US" sz="2000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可以让盒子上下排列或者左右排列，</a:t>
            </a:r>
            <a:r>
              <a:rPr lang="zh-CN" altLang="en-US" sz="2000" dirty="0">
                <a:solidFill>
                  <a:srgbClr val="C00000"/>
                </a:solidFill>
                <a:latin typeface="微软雅黑" charset="-122"/>
              </a:rPr>
              <a:t>垂直的块级盒子显示就用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charset="-122"/>
              </a:rPr>
              <a:t>标准文档流</a:t>
            </a:r>
            <a:r>
              <a:rPr lang="zh-CN" altLang="en-US" sz="2000" dirty="0">
                <a:solidFill>
                  <a:srgbClr val="C00000"/>
                </a:solidFill>
                <a:latin typeface="微软雅黑" charset="-122"/>
              </a:rPr>
              <a:t>布局。</a:t>
            </a:r>
            <a:r>
              <a:rPr lang="zh-CN" altLang="en-US" sz="2000" dirty="0">
                <a:solidFill>
                  <a:srgbClr val="FF0000"/>
                </a:solidFill>
                <a:latin typeface="微软雅黑" charset="-122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52525"/>
                </a:solidFill>
                <a:latin typeface="微软雅黑" charset="-122"/>
              </a:rPr>
              <a:t>2. </a:t>
            </a:r>
            <a:r>
              <a:rPr lang="zh-CN" altLang="en-US" sz="2000" b="1" dirty="0">
                <a:solidFill>
                  <a:srgbClr val="252525"/>
                </a:solidFill>
                <a:latin typeface="微软雅黑" charset="-122"/>
              </a:rPr>
              <a:t>浮动 </a:t>
            </a:r>
            <a:endParaRPr lang="zh-CN" altLang="en-US" sz="2000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可以让多个块级元素一行显示或者左右对齐盒子，</a:t>
            </a:r>
            <a:r>
              <a:rPr lang="zh-CN" altLang="en-US" sz="2000" dirty="0">
                <a:solidFill>
                  <a:srgbClr val="C00000"/>
                </a:solidFill>
                <a:latin typeface="微软雅黑" charset="-122"/>
              </a:rPr>
              <a:t>多个块级盒子水平显示就用浮动布局。 </a:t>
            </a:r>
            <a:endParaRPr lang="zh-CN" altLang="en-US" sz="2000" dirty="0">
              <a:solidFill>
                <a:srgbClr val="C00000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52525"/>
                </a:solidFill>
                <a:latin typeface="微软雅黑" charset="-122"/>
              </a:rPr>
              <a:t>3. </a:t>
            </a:r>
            <a:r>
              <a:rPr lang="zh-CN" altLang="en-US" sz="2000" b="1" dirty="0">
                <a:solidFill>
                  <a:srgbClr val="252525"/>
                </a:solidFill>
                <a:latin typeface="微软雅黑" charset="-122"/>
              </a:rPr>
              <a:t>定位 </a:t>
            </a:r>
            <a:endParaRPr lang="zh-CN" altLang="en-US" sz="2000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252525"/>
                </a:solidFill>
                <a:latin typeface="微软雅黑" charset="-122"/>
              </a:rPr>
              <a:t>定位最大的特点是有层叠的概念，就是可以让多个盒子前后叠压来显示。</a:t>
            </a:r>
            <a:r>
              <a:rPr lang="zh-CN" altLang="en-US" sz="2000" dirty="0">
                <a:solidFill>
                  <a:srgbClr val="C00000"/>
                </a:solidFill>
                <a:latin typeface="微软雅黑" charset="-122"/>
              </a:rPr>
              <a:t>如果元素自由在某个盒子内移动就用定位布局。 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多栏</a:t>
            </a:r>
            <a:r>
              <a:rPr lang="zh-CN" altLang="en-US" dirty="0" smtClean="0"/>
              <a:t>式布局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多栏布局</a:t>
            </a:r>
            <a:r>
              <a:rPr lang="zh-CN" altLang="en-US" dirty="0"/>
              <a:t>声明提供了一种多列组织内容的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r>
              <a:rPr lang="en-US" altLang="zh-CN" dirty="0"/>
              <a:t>column-count </a:t>
            </a:r>
            <a:r>
              <a:rPr lang="zh-CN" altLang="en-US" dirty="0"/>
              <a:t>将创建指定数量的</a:t>
            </a:r>
            <a:r>
              <a:rPr lang="zh-CN" altLang="en-US" dirty="0" smtClean="0"/>
              <a:t>列</a:t>
            </a:r>
            <a:endParaRPr lang="en-US" altLang="zh-CN" dirty="0" smtClean="0"/>
          </a:p>
          <a:p>
            <a:r>
              <a:rPr lang="en-US" altLang="zh-CN" dirty="0" smtClean="0"/>
              <a:t>column-width</a:t>
            </a:r>
            <a:r>
              <a:rPr lang="en-US" altLang="zh-CN" dirty="0"/>
              <a:t>: 200px</a:t>
            </a:r>
            <a:r>
              <a:rPr lang="en-US" altLang="zh-CN" dirty="0" smtClean="0"/>
              <a:t>;</a:t>
            </a:r>
            <a:r>
              <a:rPr lang="zh-CN" altLang="en-US" dirty="0"/>
              <a:t>浏览器将</a:t>
            </a:r>
            <a:r>
              <a:rPr lang="zh-CN" altLang="en-US" dirty="0" smtClean="0"/>
              <a:t>按照指定</a:t>
            </a:r>
            <a:r>
              <a:rPr lang="zh-CN" altLang="en-US" dirty="0"/>
              <a:t>的宽度尽可能多的创建列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无法</a:t>
            </a:r>
            <a:r>
              <a:rPr lang="zh-CN" altLang="en-US" dirty="0"/>
              <a:t>单独</a:t>
            </a:r>
            <a:r>
              <a:rPr lang="zh-CN" altLang="en-US" dirty="0" smtClean="0"/>
              <a:t>的给某一列设定</a:t>
            </a:r>
            <a:r>
              <a:rPr lang="zh-CN" altLang="en-US" dirty="0"/>
              <a:t>样式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改变样式</a:t>
            </a:r>
            <a:r>
              <a:rPr lang="zh-CN" altLang="en-US" dirty="0" smtClean="0"/>
              <a:t>可以使用 </a:t>
            </a:r>
            <a:r>
              <a:rPr lang="en-US" altLang="zh-CN" dirty="0"/>
              <a:t>column-gap </a:t>
            </a:r>
            <a:r>
              <a:rPr lang="zh-CN" altLang="en-US" dirty="0"/>
              <a:t>改变列间间隙</a:t>
            </a:r>
            <a:r>
              <a:rPr lang="zh-CN" altLang="en-US" dirty="0" smtClean="0"/>
              <a:t>。可以用 </a:t>
            </a:r>
            <a:r>
              <a:rPr lang="en-US" altLang="zh-CN" dirty="0"/>
              <a:t>column-rule </a:t>
            </a:r>
            <a:r>
              <a:rPr lang="zh-CN" altLang="en-US" dirty="0"/>
              <a:t>在列间加入一条分割线。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多栏</a:t>
            </a:r>
            <a:r>
              <a:rPr lang="zh-CN" altLang="en-US" dirty="0" smtClean="0"/>
              <a:t>式布局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494" y="1620583"/>
            <a:ext cx="11344275" cy="3019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01040" y="4682680"/>
            <a:ext cx="78150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.container {</a:t>
            </a:r>
            <a:endParaRPr lang="en-US" altLang="zh-CN" sz="2400" dirty="0"/>
          </a:p>
          <a:p>
            <a:r>
              <a:rPr lang="en-US" altLang="zh-CN" sz="2400" dirty="0"/>
              <a:t>      column-count: 3;</a:t>
            </a:r>
            <a:endParaRPr lang="en-US" altLang="zh-CN" sz="2400" dirty="0"/>
          </a:p>
          <a:p>
            <a:r>
              <a:rPr lang="en-US" altLang="zh-CN" sz="2400" dirty="0"/>
              <a:t>      column-gap: 20px;</a:t>
            </a:r>
            <a:endParaRPr lang="en-US" altLang="zh-CN" sz="2400" dirty="0"/>
          </a:p>
          <a:p>
            <a:r>
              <a:rPr lang="en-US" altLang="zh-CN" sz="2400" dirty="0"/>
              <a:t>      column-rule: 4px dotted </a:t>
            </a:r>
            <a:r>
              <a:rPr lang="en-US" altLang="zh-CN" sz="2400" dirty="0" err="1"/>
              <a:t>rgb</a:t>
            </a:r>
            <a:r>
              <a:rPr lang="en-US" altLang="zh-CN" sz="2400" dirty="0"/>
              <a:t>(79, 185, 227);</a:t>
            </a:r>
            <a:endParaRPr lang="en-US" altLang="zh-CN" sz="2400" dirty="0"/>
          </a:p>
          <a:p>
            <a:r>
              <a:rPr lang="en-US" altLang="zh-CN" sz="2400" dirty="0"/>
              <a:t>    }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元素</a:t>
            </a:r>
            <a:r>
              <a:rPr lang="zh-CN" altLang="en-US" dirty="0">
                <a:solidFill>
                  <a:schemeClr val="tx1"/>
                </a:solidFill>
              </a:rPr>
              <a:t>的显示与隐藏 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289957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81799" y="1376532"/>
            <a:ext cx="1104197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类似网站广告，当我们点击关闭就不见了，但是我们重新刷新页面，会重新出现！</a:t>
            </a:r>
            <a:endParaRPr lang="zh-CN" altLang="en-US" sz="1600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本质：让一个元素在页面中隐藏或者显示</a:t>
            </a:r>
            <a:r>
              <a:rPr lang="zh-CN" altLang="en-US" sz="1600" dirty="0" smtClean="0">
                <a:solidFill>
                  <a:srgbClr val="252525"/>
                </a:solidFill>
                <a:latin typeface="微软雅黑" charset="-122"/>
              </a:rPr>
              <a:t>出来。 </a:t>
            </a:r>
            <a:endParaRPr lang="en-US" altLang="zh-CN" sz="1600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252525"/>
                </a:solidFill>
                <a:latin typeface="微软雅黑" charset="-122"/>
              </a:rPr>
              <a:t>1</a:t>
            </a:r>
            <a:r>
              <a:rPr lang="en-US" altLang="zh-CN" sz="1600" b="1" dirty="0">
                <a:solidFill>
                  <a:srgbClr val="252525"/>
                </a:solidFill>
                <a:latin typeface="微软雅黑" charset="-122"/>
              </a:rPr>
              <a:t>. d</a:t>
            </a:r>
            <a:r>
              <a:rPr lang="en-US" altLang="zh-CN" sz="1600" b="1" dirty="0" smtClean="0">
                <a:solidFill>
                  <a:srgbClr val="252525"/>
                </a:solidFill>
                <a:latin typeface="微软雅黑" charset="-122"/>
              </a:rPr>
              <a:t>isplay</a:t>
            </a:r>
            <a:r>
              <a:rPr lang="zh-CN" altLang="en-US" sz="1600" b="1" dirty="0" smtClean="0">
                <a:solidFill>
                  <a:srgbClr val="252525"/>
                </a:solidFill>
                <a:latin typeface="微软雅黑" charset="-122"/>
              </a:rPr>
              <a:t>属性</a:t>
            </a:r>
            <a:endParaRPr lang="zh-CN" altLang="en-US" sz="1600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252525"/>
                </a:solidFill>
                <a:latin typeface="微软雅黑" charset="-122"/>
              </a:rPr>
              <a:t>display </a:t>
            </a: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属性用于设置一个元素应如何显示。</a:t>
            </a:r>
            <a:endParaRPr lang="zh-CN" altLang="en-US" sz="1600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 </a:t>
            </a:r>
            <a:r>
              <a:rPr lang="en-US" altLang="zh-CN" sz="1600" dirty="0">
                <a:solidFill>
                  <a:srgbClr val="252525"/>
                </a:solidFill>
                <a:latin typeface="微软雅黑" charset="-122"/>
              </a:rPr>
              <a:t>display: none </a:t>
            </a: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；隐藏对象</a:t>
            </a:r>
            <a:endParaRPr lang="zh-CN" altLang="en-US" sz="1600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 </a:t>
            </a:r>
            <a:r>
              <a:rPr lang="en-US" altLang="zh-CN" sz="1600" dirty="0">
                <a:solidFill>
                  <a:srgbClr val="252525"/>
                </a:solidFill>
                <a:latin typeface="微软雅黑" charset="-122"/>
              </a:rPr>
              <a:t>display</a:t>
            </a: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：</a:t>
            </a:r>
            <a:r>
              <a:rPr lang="en-US" altLang="zh-CN" sz="1600" dirty="0">
                <a:solidFill>
                  <a:srgbClr val="252525"/>
                </a:solidFill>
                <a:latin typeface="微软雅黑" charset="-122"/>
              </a:rPr>
              <a:t>block </a:t>
            </a:r>
            <a:r>
              <a:rPr lang="zh-CN" altLang="en-US" sz="1600" dirty="0">
                <a:solidFill>
                  <a:srgbClr val="252525"/>
                </a:solidFill>
                <a:latin typeface="微软雅黑" charset="-122"/>
              </a:rPr>
              <a:t>；除了转换为块级元素之外，同时还有显示元素的意思</a:t>
            </a:r>
            <a:endParaRPr lang="zh-CN" altLang="en-US" sz="1600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charset="-122"/>
              </a:rPr>
              <a:t>display </a:t>
            </a:r>
            <a:r>
              <a:rPr lang="zh-CN" altLang="en-US" sz="1600" b="1" dirty="0">
                <a:solidFill>
                  <a:srgbClr val="FF0000"/>
                </a:solidFill>
                <a:latin typeface="微软雅黑" charset="-122"/>
              </a:rPr>
              <a:t>隐藏元素后，不再占有原来的位置。</a:t>
            </a:r>
            <a:endParaRPr lang="zh-CN" altLang="en-US" sz="1600" b="1" dirty="0">
              <a:solidFill>
                <a:srgbClr val="FF0000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252525"/>
                </a:solidFill>
                <a:latin typeface="微软雅黑" charset="-122"/>
              </a:rPr>
              <a:t>2</a:t>
            </a:r>
            <a:r>
              <a:rPr lang="en-US" altLang="zh-CN" sz="1600" b="1" dirty="0">
                <a:solidFill>
                  <a:srgbClr val="252525"/>
                </a:solidFill>
                <a:latin typeface="微软雅黑" charset="-122"/>
              </a:rPr>
              <a:t>. visibility </a:t>
            </a:r>
            <a:r>
              <a:rPr lang="zh-CN" altLang="en-US" sz="1600" b="1" dirty="0">
                <a:solidFill>
                  <a:srgbClr val="252525"/>
                </a:solidFill>
                <a:latin typeface="微软雅黑" charset="-122"/>
              </a:rPr>
              <a:t>可见性</a:t>
            </a:r>
            <a:endParaRPr lang="en-US" altLang="zh-CN" sz="1600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/>
              <a:t>visibility </a:t>
            </a:r>
            <a:r>
              <a:rPr lang="zh-CN" altLang="en-US" sz="1600" dirty="0"/>
              <a:t>属性用于指定一个元素应可见还是隐藏。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 </a:t>
            </a:r>
            <a:r>
              <a:rPr lang="en-US" altLang="zh-CN" sz="1600" dirty="0"/>
              <a:t>visibility</a:t>
            </a:r>
            <a:r>
              <a:rPr lang="zh-CN" altLang="en-US" sz="1600" dirty="0"/>
              <a:t>：</a:t>
            </a:r>
            <a:r>
              <a:rPr lang="en-US" altLang="zh-CN" sz="1600" dirty="0"/>
              <a:t>visible ; </a:t>
            </a:r>
            <a:r>
              <a:rPr lang="zh-CN" altLang="en-US" sz="1600" dirty="0" smtClean="0"/>
              <a:t>元素可见</a:t>
            </a:r>
            <a:endParaRPr lang="en-US" altLang="zh-CN" sz="1600" dirty="0" smtClean="0"/>
          </a:p>
          <a:p>
            <a:pPr>
              <a:lnSpc>
                <a:spcPct val="150000"/>
              </a:lnSpc>
            </a:pPr>
            <a:r>
              <a:rPr lang="zh-CN" altLang="en-US" sz="1600" dirty="0" smtClean="0"/>
              <a:t> </a:t>
            </a:r>
            <a:r>
              <a:rPr lang="en-US" altLang="zh-CN" sz="1600" dirty="0"/>
              <a:t>visibility</a:t>
            </a:r>
            <a:r>
              <a:rPr lang="zh-CN" altLang="en-US" sz="1600" dirty="0"/>
              <a:t>：</a:t>
            </a:r>
            <a:r>
              <a:rPr lang="en-US" altLang="zh-CN" sz="1600" dirty="0"/>
              <a:t>hidden; </a:t>
            </a:r>
            <a:r>
              <a:rPr lang="zh-CN" altLang="en-US" sz="1600" dirty="0"/>
              <a:t>元素隐藏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</a:rPr>
              <a:t>visibility </a:t>
            </a:r>
            <a:r>
              <a:rPr lang="zh-CN" altLang="en-US" sz="1600" b="1" dirty="0">
                <a:solidFill>
                  <a:srgbClr val="FF0000"/>
                </a:solidFill>
              </a:rPr>
              <a:t>隐藏元素后，继续占有原来的位置。</a:t>
            </a:r>
            <a:endParaRPr lang="zh-CN" altLang="en-US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如果隐藏元素想要原来位置， 就用 </a:t>
            </a:r>
            <a:r>
              <a:rPr lang="en-US" altLang="zh-CN" sz="1600" dirty="0"/>
              <a:t>visibility</a:t>
            </a:r>
            <a:r>
              <a:rPr lang="zh-CN" altLang="en-US" sz="1600" dirty="0"/>
              <a:t>：</a:t>
            </a:r>
            <a:r>
              <a:rPr lang="en-US" altLang="zh-CN" sz="1600" dirty="0"/>
              <a:t>hidden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如果隐藏元素不想要原来位置， 就用 </a:t>
            </a:r>
            <a:r>
              <a:rPr lang="en-US" altLang="zh-CN" sz="1600" dirty="0"/>
              <a:t>display</a:t>
            </a:r>
            <a:r>
              <a:rPr lang="zh-CN" altLang="en-US" sz="1600" dirty="0"/>
              <a:t>：</a:t>
            </a:r>
            <a:r>
              <a:rPr lang="en-US" altLang="zh-CN" sz="1600" dirty="0"/>
              <a:t>none (</a:t>
            </a:r>
            <a:r>
              <a:rPr lang="zh-CN" altLang="en-US" sz="1600" dirty="0"/>
              <a:t>用处</a:t>
            </a:r>
            <a:r>
              <a:rPr lang="zh-CN" altLang="en-US" sz="1600" dirty="0" smtClean="0"/>
              <a:t>更多）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元素</a:t>
            </a:r>
            <a:r>
              <a:rPr lang="zh-CN" altLang="en-US" dirty="0">
                <a:solidFill>
                  <a:schemeClr val="tx1"/>
                </a:solidFill>
              </a:rPr>
              <a:t>的显示与隐藏 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289957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3511" y="1311066"/>
            <a:ext cx="9912627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252525"/>
                </a:solidFill>
                <a:latin typeface="微软雅黑" charset="-122"/>
              </a:rPr>
              <a:t>3. overflow</a:t>
            </a:r>
            <a:r>
              <a:rPr lang="zh-CN" altLang="en-US" b="1" dirty="0" smtClean="0">
                <a:solidFill>
                  <a:srgbClr val="252525"/>
                </a:solidFill>
                <a:latin typeface="微软雅黑" charset="-122"/>
              </a:rPr>
              <a:t>属性</a:t>
            </a:r>
            <a:endParaRPr lang="zh-CN" altLang="en-US" b="1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52525"/>
                </a:solidFill>
                <a:latin typeface="微软雅黑" charset="-122"/>
              </a:rPr>
              <a:t>overflow </a:t>
            </a: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属性指定了如果内容溢出一个元素的框（超过其指定高度及宽度） 时，会发生什么</a:t>
            </a:r>
            <a:r>
              <a:rPr lang="zh-CN" altLang="en-US" dirty="0" smtClean="0">
                <a:solidFill>
                  <a:srgbClr val="252525"/>
                </a:solidFill>
                <a:latin typeface="微软雅黑" charset="-122"/>
              </a:rPr>
              <a:t>。</a:t>
            </a:r>
            <a:endParaRPr lang="en-US" altLang="zh-CN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一般情况下，我们都不想让溢出的内容显示出来，因为溢出的部分会影响布局。</a:t>
            </a:r>
            <a:endParaRPr lang="zh-CN" altLang="en-US" dirty="0">
              <a:solidFill>
                <a:srgbClr val="252525"/>
              </a:solidFill>
              <a:latin typeface="微软雅黑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但是如果有定位的盒子， 请慎用</a:t>
            </a:r>
            <a:r>
              <a:rPr lang="en-US" altLang="zh-CN" dirty="0" err="1">
                <a:solidFill>
                  <a:srgbClr val="252525"/>
                </a:solidFill>
                <a:latin typeface="微软雅黑" charset="-122"/>
              </a:rPr>
              <a:t>overflow:hidden</a:t>
            </a:r>
            <a:r>
              <a:rPr lang="en-US" altLang="zh-CN" dirty="0">
                <a:solidFill>
                  <a:srgbClr val="252525"/>
                </a:solidFill>
                <a:latin typeface="微软雅黑" charset="-122"/>
              </a:rPr>
              <a:t> </a:t>
            </a:r>
            <a:r>
              <a:rPr lang="zh-CN" altLang="en-US" dirty="0">
                <a:solidFill>
                  <a:srgbClr val="252525"/>
                </a:solidFill>
                <a:latin typeface="微软雅黑" charset="-122"/>
              </a:rPr>
              <a:t>因为它会隐藏多余的部分。</a:t>
            </a:r>
            <a:endParaRPr lang="en-US" altLang="zh-CN" dirty="0" smtClean="0">
              <a:solidFill>
                <a:srgbClr val="252525"/>
              </a:solidFill>
              <a:latin typeface="微软雅黑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11" y="2172941"/>
            <a:ext cx="8066015" cy="201650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14615" y="5260521"/>
            <a:ext cx="8014911" cy="10618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/>
              <a:t>1.display</a:t>
            </a:r>
            <a:r>
              <a:rPr lang="zh-CN" altLang="en-US" sz="1400" dirty="0" smtClean="0"/>
              <a:t>：显示</a:t>
            </a:r>
            <a:r>
              <a:rPr lang="zh-CN" altLang="en-US" sz="1400" dirty="0"/>
              <a:t>隐藏</a:t>
            </a:r>
            <a:r>
              <a:rPr lang="zh-CN" altLang="en-US" sz="1400" dirty="0" smtClean="0"/>
              <a:t>元素，但是</a:t>
            </a:r>
            <a:r>
              <a:rPr lang="zh-CN" altLang="en-US" sz="1400" dirty="0"/>
              <a:t>不保留位置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2.visibility</a:t>
            </a:r>
            <a:r>
              <a:rPr lang="zh-CN" altLang="en-US" sz="1400" dirty="0" smtClean="0"/>
              <a:t>：显示</a:t>
            </a:r>
            <a:r>
              <a:rPr lang="zh-CN" altLang="en-US" sz="1400" dirty="0"/>
              <a:t>隐藏</a:t>
            </a:r>
            <a:r>
              <a:rPr lang="zh-CN" altLang="en-US" sz="1400" dirty="0" smtClean="0"/>
              <a:t>元素，但是</a:t>
            </a:r>
            <a:r>
              <a:rPr lang="zh-CN" altLang="en-US" sz="1400" dirty="0"/>
              <a:t>保留原来的位置</a:t>
            </a: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en-US" altLang="zh-CN" sz="1400" dirty="0" smtClean="0"/>
              <a:t>3.overflow</a:t>
            </a:r>
            <a:r>
              <a:rPr lang="zh-CN" altLang="en-US" sz="1400" dirty="0" smtClean="0"/>
              <a:t>：溢出</a:t>
            </a:r>
            <a:r>
              <a:rPr lang="zh-CN" altLang="en-US" sz="1400" dirty="0"/>
              <a:t>显示</a:t>
            </a:r>
            <a:r>
              <a:rPr lang="zh-CN" altLang="en-US" sz="1400" dirty="0" smtClean="0"/>
              <a:t>隐藏，但是</a:t>
            </a:r>
            <a:r>
              <a:rPr lang="zh-CN" altLang="en-US" sz="1400" dirty="0"/>
              <a:t>只是对于溢出的部分处理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元素</a:t>
            </a:r>
            <a:r>
              <a:rPr lang="zh-CN" altLang="en-US" dirty="0">
                <a:solidFill>
                  <a:schemeClr val="tx1"/>
                </a:solidFill>
              </a:rPr>
              <a:t>的显示与隐藏 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289957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8139" y="141742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微软雅黑" charset="-122"/>
              </a:rPr>
              <a:t>练习：鼠标</a:t>
            </a:r>
            <a:r>
              <a:rPr lang="zh-CN" altLang="en-US" b="1" dirty="0">
                <a:solidFill>
                  <a:srgbClr val="C00000"/>
                </a:solidFill>
                <a:latin typeface="微软雅黑" charset="-122"/>
              </a:rPr>
              <a:t>经过显示遮</a:t>
            </a:r>
            <a:r>
              <a:rPr lang="zh-CN" altLang="en-US" b="1" dirty="0" smtClean="0">
                <a:solidFill>
                  <a:srgbClr val="C00000"/>
                </a:solidFill>
                <a:latin typeface="微软雅黑" charset="-122"/>
              </a:rPr>
              <a:t>罩，鼠标移走隐藏遮罩 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8138" y="1905618"/>
            <a:ext cx="93992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en-US" altLang="zh-CN" dirty="0" smtClean="0"/>
              <a:t>. </a:t>
            </a:r>
            <a:r>
              <a:rPr lang="zh-CN" altLang="en-US" dirty="0" smtClean="0"/>
              <a:t>练习</a:t>
            </a:r>
            <a:r>
              <a:rPr lang="zh-CN" altLang="en-US" dirty="0"/>
              <a:t>元素的显示与隐藏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en-US" altLang="zh-CN" dirty="0" smtClean="0"/>
              <a:t>. </a:t>
            </a:r>
            <a:r>
              <a:rPr lang="zh-CN" altLang="en-US" dirty="0" smtClean="0"/>
              <a:t>练习</a:t>
            </a:r>
            <a:r>
              <a:rPr lang="zh-CN" altLang="en-US" dirty="0"/>
              <a:t>元素的定位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核心原理： 原先半透明的黑色遮罩看不见， 鼠标</a:t>
            </a:r>
            <a:r>
              <a:rPr lang="zh-CN" altLang="en-US" dirty="0" smtClean="0"/>
              <a:t>经过大</a:t>
            </a:r>
            <a:r>
              <a:rPr lang="zh-CN" altLang="en-US" dirty="0"/>
              <a:t>盒子，就显示出来。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遮罩的盒子不占有位置</a:t>
            </a:r>
            <a:r>
              <a:rPr lang="zh-CN" altLang="en-US" dirty="0" smtClean="0"/>
              <a:t>，就</a:t>
            </a:r>
            <a:r>
              <a:rPr lang="zh-CN" altLang="en-US" dirty="0"/>
              <a:t>需要用</a:t>
            </a:r>
            <a:r>
              <a:rPr lang="zh-CN" altLang="en-US" dirty="0">
                <a:solidFill>
                  <a:srgbClr val="C00000"/>
                </a:solidFill>
              </a:rPr>
              <a:t>绝对定位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C00000"/>
                </a:solidFill>
              </a:rPr>
              <a:t>display</a:t>
            </a:r>
            <a:r>
              <a:rPr lang="en-US" altLang="zh-CN" dirty="0"/>
              <a:t> </a:t>
            </a:r>
            <a:r>
              <a:rPr lang="zh-CN" altLang="en-US" dirty="0"/>
              <a:t>配合使用。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9" y="3659944"/>
            <a:ext cx="4324350" cy="3133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5867" y="4741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元素</a:t>
            </a:r>
            <a:r>
              <a:rPr lang="zh-CN" altLang="en-US" dirty="0">
                <a:solidFill>
                  <a:schemeClr val="tx1"/>
                </a:solidFill>
              </a:rPr>
              <a:t>的显示与隐藏 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90599" y="1624982"/>
            <a:ext cx="10512287" cy="289957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endParaRPr lang="en-US" altLang="zh-TW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1567" y="1136444"/>
            <a:ext cx="6096000" cy="58169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&lt;style&gt;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smtClean="0"/>
              <a:t>.panda </a:t>
            </a:r>
            <a:r>
              <a:rPr lang="en-US" altLang="zh-CN" sz="1200" dirty="0"/>
              <a:t>{</a:t>
            </a:r>
            <a:endParaRPr lang="en-US" altLang="zh-CN" sz="1200" dirty="0"/>
          </a:p>
          <a:p>
            <a:r>
              <a:rPr lang="en-US" altLang="zh-CN" sz="1200" dirty="0"/>
              <a:t>            position: relative;</a:t>
            </a:r>
            <a:endParaRPr lang="en-US" altLang="zh-CN" sz="1200" dirty="0"/>
          </a:p>
          <a:p>
            <a:r>
              <a:rPr lang="en-US" altLang="zh-CN" sz="1200" dirty="0"/>
              <a:t>            width: 444px;</a:t>
            </a:r>
            <a:endParaRPr lang="en-US" altLang="zh-CN" sz="1200" dirty="0"/>
          </a:p>
          <a:p>
            <a:r>
              <a:rPr lang="en-US" altLang="zh-CN" sz="1200" dirty="0"/>
              <a:t>            height: 320px;</a:t>
            </a:r>
            <a:endParaRPr lang="en-US" altLang="zh-CN" sz="1200" dirty="0"/>
          </a:p>
          <a:p>
            <a:r>
              <a:rPr lang="en-US" altLang="zh-CN" sz="1200" dirty="0"/>
              <a:t>            background-color: pink;</a:t>
            </a:r>
            <a:endParaRPr lang="en-US" altLang="zh-CN" sz="1200" dirty="0"/>
          </a:p>
          <a:p>
            <a:r>
              <a:rPr lang="en-US" altLang="zh-CN" sz="1200" dirty="0"/>
              <a:t>            margin: 30px auto;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smtClean="0"/>
              <a:t>.panda </a:t>
            </a:r>
            <a:r>
              <a:rPr lang="en-US" altLang="zh-CN" sz="1200" dirty="0" err="1"/>
              <a:t>img</a:t>
            </a:r>
            <a:r>
              <a:rPr lang="en-US" altLang="zh-CN" sz="1200" dirty="0"/>
              <a:t> {</a:t>
            </a:r>
            <a:endParaRPr lang="en-US" altLang="zh-CN" sz="1200" dirty="0"/>
          </a:p>
          <a:p>
            <a:r>
              <a:rPr lang="en-US" altLang="zh-CN" sz="1200" dirty="0"/>
              <a:t>            width: 100%;</a:t>
            </a:r>
            <a:endParaRPr lang="en-US" altLang="zh-CN" sz="1200" dirty="0"/>
          </a:p>
          <a:p>
            <a:r>
              <a:rPr lang="en-US" altLang="zh-CN" sz="1200" dirty="0"/>
              <a:t>            height: 100%;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    .mask {</a:t>
            </a:r>
            <a:endParaRPr lang="en-US" altLang="zh-CN" sz="1200" dirty="0"/>
          </a:p>
          <a:p>
            <a:r>
              <a:rPr lang="en-US" altLang="zh-CN" sz="1200" dirty="0"/>
              <a:t>            /* </a:t>
            </a:r>
            <a:r>
              <a:rPr lang="zh-CN" altLang="en-US" sz="1200" dirty="0"/>
              <a:t>隐藏遮罩层 *</a:t>
            </a:r>
            <a:r>
              <a:rPr lang="en-US" altLang="zh-CN" sz="1200" dirty="0"/>
              <a:t>/</a:t>
            </a:r>
            <a:endParaRPr lang="en-US" altLang="zh-CN" sz="1200" dirty="0"/>
          </a:p>
          <a:p>
            <a:r>
              <a:rPr lang="en-US" altLang="zh-CN" sz="1200" dirty="0"/>
              <a:t>            display: none;</a:t>
            </a:r>
            <a:endParaRPr lang="en-US" altLang="zh-CN" sz="1200" dirty="0"/>
          </a:p>
          <a:p>
            <a:r>
              <a:rPr lang="en-US" altLang="zh-CN" sz="1200" dirty="0"/>
              <a:t>            position: absolute;</a:t>
            </a:r>
            <a:endParaRPr lang="en-US" altLang="zh-CN" sz="1200" dirty="0"/>
          </a:p>
          <a:p>
            <a:r>
              <a:rPr lang="en-US" altLang="zh-CN" sz="1200" dirty="0"/>
              <a:t>            top: 0;</a:t>
            </a:r>
            <a:endParaRPr lang="en-US" altLang="zh-CN" sz="1200" dirty="0"/>
          </a:p>
          <a:p>
            <a:r>
              <a:rPr lang="en-US" altLang="zh-CN" sz="1200" dirty="0"/>
              <a:t>            left: 0;</a:t>
            </a:r>
            <a:endParaRPr lang="en-US" altLang="zh-CN" sz="1200" dirty="0"/>
          </a:p>
          <a:p>
            <a:r>
              <a:rPr lang="en-US" altLang="zh-CN" sz="1200" dirty="0"/>
              <a:t>            width: 100%;</a:t>
            </a:r>
            <a:endParaRPr lang="en-US" altLang="zh-CN" sz="1200" dirty="0"/>
          </a:p>
          <a:p>
            <a:r>
              <a:rPr lang="en-US" altLang="zh-CN" sz="1200" dirty="0"/>
              <a:t>            height: 100%;</a:t>
            </a:r>
            <a:endParaRPr lang="en-US" altLang="zh-CN" sz="1200" dirty="0"/>
          </a:p>
          <a:p>
            <a:r>
              <a:rPr lang="en-US" altLang="zh-CN" sz="1200" dirty="0"/>
              <a:t>            background: </a:t>
            </a:r>
            <a:r>
              <a:rPr lang="en-US" altLang="zh-CN" sz="1200" dirty="0" err="1"/>
              <a:t>rgba</a:t>
            </a:r>
            <a:r>
              <a:rPr lang="en-US" altLang="zh-CN" sz="1200" dirty="0"/>
              <a:t>(0, 0, 0, .4) </a:t>
            </a:r>
            <a:r>
              <a:rPr lang="en-US" altLang="zh-CN" sz="1200" dirty="0" err="1"/>
              <a:t>url</a:t>
            </a:r>
            <a:r>
              <a:rPr lang="en-US" altLang="zh-CN" sz="1200" dirty="0"/>
              <a:t>(images/arr.png) no-repeat center;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    /* </a:t>
            </a:r>
            <a:r>
              <a:rPr lang="zh-CN" altLang="en-US" sz="1200" dirty="0"/>
              <a:t>当我们鼠标经过</a:t>
            </a:r>
            <a:r>
              <a:rPr lang="zh-CN" altLang="en-US" sz="1200" dirty="0" smtClean="0"/>
              <a:t>了</a:t>
            </a:r>
            <a:r>
              <a:rPr lang="en-US" altLang="zh-CN" sz="1200" dirty="0" smtClean="0"/>
              <a:t>panda</a:t>
            </a:r>
            <a:r>
              <a:rPr lang="zh-CN" altLang="en-US" sz="1200" dirty="0" smtClean="0"/>
              <a:t>这个</a:t>
            </a:r>
            <a:r>
              <a:rPr lang="zh-CN" altLang="en-US" sz="1200" dirty="0"/>
              <a:t>盒子，就让里面遮罩层显示出来 *</a:t>
            </a:r>
            <a:r>
              <a:rPr lang="en-US" altLang="zh-CN" sz="1200" dirty="0"/>
              <a:t>/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smtClean="0"/>
              <a:t>.</a:t>
            </a:r>
            <a:r>
              <a:rPr lang="en-US" altLang="zh-CN" sz="1200" dirty="0" err="1" smtClean="0"/>
              <a:t>panda:hover</a:t>
            </a:r>
            <a:r>
              <a:rPr lang="en-US" altLang="zh-CN" sz="1200" dirty="0" smtClean="0"/>
              <a:t> </a:t>
            </a:r>
            <a:r>
              <a:rPr lang="en-US" altLang="zh-CN" sz="1200" dirty="0"/>
              <a:t>.mask {</a:t>
            </a:r>
            <a:endParaRPr lang="en-US" altLang="zh-CN" sz="1200" dirty="0"/>
          </a:p>
          <a:p>
            <a:r>
              <a:rPr lang="en-US" altLang="zh-CN" sz="1200" dirty="0"/>
              <a:t>            /* </a:t>
            </a:r>
            <a:r>
              <a:rPr lang="zh-CN" altLang="en-US" sz="1200" dirty="0"/>
              <a:t>而是显示元素 *</a:t>
            </a:r>
            <a:r>
              <a:rPr lang="en-US" altLang="zh-CN" sz="1200" dirty="0"/>
              <a:t>/</a:t>
            </a:r>
            <a:endParaRPr lang="en-US" altLang="zh-CN" sz="1200" dirty="0"/>
          </a:p>
          <a:p>
            <a:r>
              <a:rPr lang="en-US" altLang="zh-CN" sz="1200" dirty="0"/>
              <a:t>            display: block;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  <a:endParaRPr lang="en-US" altLang="zh-CN" sz="1200" dirty="0"/>
          </a:p>
          <a:p>
            <a:r>
              <a:rPr lang="en-US" altLang="zh-CN" sz="1200" dirty="0"/>
              <a:t>    &lt;/style&gt;</a:t>
            </a:r>
            <a:endParaRPr lang="zh-CN" altLang="en-US" sz="1200" dirty="0"/>
          </a:p>
        </p:txBody>
      </p:sp>
      <p:sp>
        <p:nvSpPr>
          <p:cNvPr id="2" name="矩形 1"/>
          <p:cNvSpPr/>
          <p:nvPr/>
        </p:nvSpPr>
        <p:spPr>
          <a:xfrm>
            <a:off x="6539948" y="3230412"/>
            <a:ext cx="535677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&lt;div class</a:t>
            </a:r>
            <a:r>
              <a:rPr lang="en-US" altLang="zh-CN" sz="2000" dirty="0" smtClean="0"/>
              <a:t>=“panda"&gt;</a:t>
            </a:r>
            <a:endParaRPr lang="en-US" altLang="zh-CN" sz="2000" dirty="0"/>
          </a:p>
          <a:p>
            <a:r>
              <a:rPr lang="en-US" altLang="zh-CN" sz="2000" dirty="0"/>
              <a:t>        &lt;div class="mask"&gt;&lt;/div&gt;</a:t>
            </a:r>
            <a:endParaRPr lang="en-US" altLang="zh-CN" sz="2000" dirty="0"/>
          </a:p>
          <a:p>
            <a:r>
              <a:rPr lang="en-US" altLang="zh-CN" sz="2000" dirty="0"/>
              <a:t>        &lt;</a:t>
            </a:r>
            <a:r>
              <a:rPr lang="en-US" altLang="zh-CN" sz="2000" dirty="0" err="1"/>
              <a:t>img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src</a:t>
            </a:r>
            <a:r>
              <a:rPr lang="en-US" altLang="zh-CN" sz="2000" dirty="0"/>
              <a:t>="</a:t>
            </a:r>
            <a:r>
              <a:rPr lang="en-US" altLang="zh-CN" sz="2000" dirty="0" smtClean="0"/>
              <a:t>images/panda.jpg</a:t>
            </a:r>
            <a:r>
              <a:rPr lang="en-US" altLang="zh-CN" sz="2000" dirty="0"/>
              <a:t>" alt=""&gt;</a:t>
            </a:r>
            <a:endParaRPr lang="en-US" altLang="zh-CN" sz="2000" dirty="0"/>
          </a:p>
          <a:p>
            <a:r>
              <a:rPr lang="en-US" altLang="zh-CN" sz="2000" dirty="0"/>
              <a:t>    &lt;/div&gt;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187036" y="374073"/>
            <a:ext cx="11513897" cy="64839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14943</Words>
  <Application>WPS 演示</Application>
  <PresentationFormat>宽屏</PresentationFormat>
  <Paragraphs>1104</Paragraphs>
  <Slides>64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6" baseType="lpstr">
      <vt:lpstr>Arial</vt:lpstr>
      <vt:lpstr>宋体</vt:lpstr>
      <vt:lpstr>Wingdings</vt:lpstr>
      <vt:lpstr>汉仪书宋二KW</vt:lpstr>
      <vt:lpstr>微软雅黑</vt:lpstr>
      <vt:lpstr>汉仪旗黑</vt:lpstr>
      <vt:lpstr>Times New Roman</vt:lpstr>
      <vt:lpstr>Courier New</vt:lpstr>
      <vt:lpstr>宋体</vt:lpstr>
      <vt:lpstr>等线</vt:lpstr>
      <vt:lpstr>汉仪中等线KW</vt:lpstr>
      <vt:lpstr>微软雅黑</vt:lpstr>
      <vt:lpstr>宋体</vt:lpstr>
      <vt:lpstr>Arial Unicode MS</vt:lpstr>
      <vt:lpstr>等线 Light</vt:lpstr>
      <vt:lpstr>΢</vt:lpstr>
      <vt:lpstr>Wingdings</vt:lpstr>
      <vt:lpstr>Times New Roman</vt:lpstr>
      <vt:lpstr>等线</vt:lpstr>
      <vt:lpstr>微软雅黑</vt:lpstr>
      <vt:lpstr>Thonburi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多栏式布局</vt:lpstr>
      <vt:lpstr>多栏式布局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软件学院2021年绩效考核汇报</dc:title>
  <dc:creator>zhu jw</dc:creator>
  <cp:lastModifiedBy>朱静雯</cp:lastModifiedBy>
  <cp:revision>414</cp:revision>
  <dcterms:created xsi:type="dcterms:W3CDTF">2024-09-13T11:35:22Z</dcterms:created>
  <dcterms:modified xsi:type="dcterms:W3CDTF">2024-09-13T11:35:22Z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8A60C0BE3590AA5E7A23E4667C59CAD6_42</vt:lpwstr>
  </property>
  <property fmtid="{D5CDD505-2E9C-101B-9397-08002B2CF9AE}" pid="3" name="KSOProductBuildVer">
    <vt:lpwstr>2052-6.8.2.8850</vt:lpwstr>
  </property>
</Properties>
</file>