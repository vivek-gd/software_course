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82"/>
  </p:notesMasterIdLst>
  <p:handoutMasterIdLst>
    <p:handoutMasterId r:id="rId83"/>
  </p:handoutMasterIdLst>
  <p:sldIdLst>
    <p:sldId id="631" r:id="rId3"/>
    <p:sldId id="632" r:id="rId4"/>
    <p:sldId id="633" r:id="rId5"/>
    <p:sldId id="641" r:id="rId6"/>
    <p:sldId id="643" r:id="rId7"/>
    <p:sldId id="644" r:id="rId8"/>
    <p:sldId id="645" r:id="rId9"/>
    <p:sldId id="646" r:id="rId10"/>
    <p:sldId id="657" r:id="rId11"/>
    <p:sldId id="648" r:id="rId12"/>
    <p:sldId id="649" r:id="rId13"/>
    <p:sldId id="650" r:id="rId14"/>
    <p:sldId id="651" r:id="rId15"/>
    <p:sldId id="652" r:id="rId16"/>
    <p:sldId id="653" r:id="rId17"/>
    <p:sldId id="654" r:id="rId18"/>
    <p:sldId id="655" r:id="rId19"/>
    <p:sldId id="656" r:id="rId20"/>
    <p:sldId id="658" r:id="rId21"/>
    <p:sldId id="660" r:id="rId22"/>
    <p:sldId id="661" r:id="rId23"/>
    <p:sldId id="634" r:id="rId24"/>
    <p:sldId id="635" r:id="rId25"/>
    <p:sldId id="636" r:id="rId26"/>
    <p:sldId id="639" r:id="rId27"/>
    <p:sldId id="640" r:id="rId28"/>
    <p:sldId id="630" r:id="rId29"/>
    <p:sldId id="397" r:id="rId30"/>
    <p:sldId id="611" r:id="rId31"/>
    <p:sldId id="562" r:id="rId32"/>
    <p:sldId id="563" r:id="rId33"/>
    <p:sldId id="564" r:id="rId34"/>
    <p:sldId id="565" r:id="rId35"/>
    <p:sldId id="566" r:id="rId36"/>
    <p:sldId id="568" r:id="rId37"/>
    <p:sldId id="569" r:id="rId38"/>
    <p:sldId id="570" r:id="rId39"/>
    <p:sldId id="573" r:id="rId40"/>
    <p:sldId id="623" r:id="rId41"/>
    <p:sldId id="575" r:id="rId42"/>
    <p:sldId id="576" r:id="rId43"/>
    <p:sldId id="616" r:id="rId44"/>
    <p:sldId id="577" r:id="rId45"/>
    <p:sldId id="578" r:id="rId46"/>
    <p:sldId id="579" r:id="rId47"/>
    <p:sldId id="580" r:id="rId48"/>
    <p:sldId id="581" r:id="rId49"/>
    <p:sldId id="582" r:id="rId50"/>
    <p:sldId id="583" r:id="rId51"/>
    <p:sldId id="584" r:id="rId52"/>
    <p:sldId id="585" r:id="rId53"/>
    <p:sldId id="595" r:id="rId54"/>
    <p:sldId id="596" r:id="rId55"/>
    <p:sldId id="617" r:id="rId56"/>
    <p:sldId id="618" r:id="rId57"/>
    <p:sldId id="597" r:id="rId58"/>
    <p:sldId id="598" r:id="rId59"/>
    <p:sldId id="599" r:id="rId60"/>
    <p:sldId id="601" r:id="rId61"/>
    <p:sldId id="602" r:id="rId62"/>
    <p:sldId id="600" r:id="rId63"/>
    <p:sldId id="626" r:id="rId64"/>
    <p:sldId id="627" r:id="rId65"/>
    <p:sldId id="628" r:id="rId66"/>
    <p:sldId id="629" r:id="rId67"/>
    <p:sldId id="603" r:id="rId68"/>
    <p:sldId id="604" r:id="rId69"/>
    <p:sldId id="613" r:id="rId70"/>
    <p:sldId id="619" r:id="rId71"/>
    <p:sldId id="620" r:id="rId72"/>
    <p:sldId id="621" r:id="rId73"/>
    <p:sldId id="586" r:id="rId74"/>
    <p:sldId id="587" r:id="rId75"/>
    <p:sldId id="588" r:id="rId76"/>
    <p:sldId id="589" r:id="rId77"/>
    <p:sldId id="590" r:id="rId78"/>
    <p:sldId id="591" r:id="rId79"/>
    <p:sldId id="593" r:id="rId80"/>
    <p:sldId id="612" r:id="rId8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E1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5231" autoAdjust="0"/>
  </p:normalViewPr>
  <p:slideViewPr>
    <p:cSldViewPr snapToGrid="0">
      <p:cViewPr varScale="1">
        <p:scale>
          <a:sx n="79" d="100"/>
          <a:sy n="79" d="100"/>
        </p:scale>
        <p:origin x="792" y="90"/>
      </p:cViewPr>
      <p:guideLst/>
    </p:cSldViewPr>
  </p:slideViewPr>
  <p:notesTextViewPr>
    <p:cViewPr>
      <p:scale>
        <a:sx n="100" d="100"/>
        <a:sy n="100" d="100"/>
      </p:scale>
      <p:origin x="0" y="0"/>
    </p:cViewPr>
  </p:notesTextViewPr>
  <p:notesViewPr>
    <p:cSldViewPr snapToGrid="0">
      <p:cViewPr varScale="1">
        <p:scale>
          <a:sx n="85" d="100"/>
          <a:sy n="85" d="100"/>
        </p:scale>
        <p:origin x="3804"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65DE074-D686-461E-86DC-C60847EB0D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50B6AF0-6FFD-42B7-8FCE-A07C382B76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5E5315-B6B1-4079-A5D0-2624861DC149}" type="datetimeFigureOut">
              <a:rPr lang="zh-CN" altLang="en-US" smtClean="0"/>
              <a:t>2023/3/29</a:t>
            </a:fld>
            <a:endParaRPr lang="zh-CN" altLang="en-US"/>
          </a:p>
        </p:txBody>
      </p:sp>
      <p:sp>
        <p:nvSpPr>
          <p:cNvPr id="4" name="页脚占位符 3">
            <a:extLst>
              <a:ext uri="{FF2B5EF4-FFF2-40B4-BE49-F238E27FC236}">
                <a16:creationId xmlns:a16="http://schemas.microsoft.com/office/drawing/2014/main" id="{BD4DDF1A-F5EA-4AFF-B5D1-8F56223086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7DE7661-4D24-40A3-9A89-01594C3AC8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C63037F-82FF-4BDE-B36E-2DF5B7EDB15C}" type="slidenum">
              <a:rPr lang="zh-CN" altLang="en-US" smtClean="0"/>
              <a:t>‹#›</a:t>
            </a:fld>
            <a:endParaRPr lang="zh-CN" altLang="en-US"/>
          </a:p>
        </p:txBody>
      </p:sp>
    </p:spTree>
    <p:extLst>
      <p:ext uri="{BB962C8B-B14F-4D97-AF65-F5344CB8AC3E}">
        <p14:creationId xmlns:p14="http://schemas.microsoft.com/office/powerpoint/2010/main" val="3251219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383C14-3C6A-4FA6-BC12-5DDF7C1562D6}" type="datetimeFigureOut">
              <a:rPr lang="zh-CN" altLang="en-US" smtClean="0"/>
              <a:t>2023/3/29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768B51-DBCB-470B-925C-4E02FE6F7DA1}" type="slidenum">
              <a:rPr lang="zh-CN" altLang="en-US" smtClean="0"/>
              <a:t>‹#›</a:t>
            </a:fld>
            <a:endParaRPr lang="zh-CN" altLang="en-US"/>
          </a:p>
        </p:txBody>
      </p:sp>
    </p:spTree>
    <p:extLst>
      <p:ext uri="{BB962C8B-B14F-4D97-AF65-F5344CB8AC3E}">
        <p14:creationId xmlns:p14="http://schemas.microsoft.com/office/powerpoint/2010/main" val="896625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2014</a:t>
            </a:r>
            <a:r>
              <a:rPr lang="zh-CN" altLang="en-US" dirty="0" smtClean="0"/>
              <a:t>年</a:t>
            </a:r>
            <a:r>
              <a:rPr lang="en-US" altLang="zh-CN" dirty="0" smtClean="0"/>
              <a:t>10</a:t>
            </a:r>
            <a:r>
              <a:rPr lang="zh-CN" altLang="en-US" dirty="0" smtClean="0"/>
              <a:t>月</a:t>
            </a:r>
            <a:r>
              <a:rPr lang="en-US" altLang="zh-CN" dirty="0" smtClean="0"/>
              <a:t>29</a:t>
            </a:r>
            <a:r>
              <a:rPr lang="zh-CN" altLang="en-US" dirty="0" smtClean="0"/>
              <a:t>日，</a:t>
            </a:r>
            <a:r>
              <a:rPr lang="en-US" altLang="zh-CN" dirty="0" smtClean="0"/>
              <a:t>W3C(</a:t>
            </a:r>
            <a:r>
              <a:rPr lang="zh-CN" altLang="en-US" dirty="0" smtClean="0"/>
              <a:t>万维网联盟</a:t>
            </a:r>
            <a:r>
              <a:rPr lang="en-US" altLang="zh-CN" dirty="0" smtClean="0"/>
              <a:t>)</a:t>
            </a:r>
            <a:r>
              <a:rPr lang="zh-CN" altLang="en-US" dirty="0" smtClean="0"/>
              <a:t>宣布，</a:t>
            </a:r>
            <a:r>
              <a:rPr lang="en-US" altLang="zh-CN" dirty="0" smtClean="0"/>
              <a:t>HTML5</a:t>
            </a:r>
            <a:r>
              <a:rPr lang="zh-CN" altLang="en-US" dirty="0" smtClean="0"/>
              <a:t>标准规范制定完成。</a:t>
            </a:r>
            <a:endParaRPr lang="en-US" altLang="zh-CN" dirty="0" smtClean="0"/>
          </a:p>
          <a:p>
            <a:r>
              <a:rPr lang="en-US" altLang="zh-CN" sz="1200" b="0" i="0" kern="1200" dirty="0" smtClean="0">
                <a:solidFill>
                  <a:schemeClr val="tx1"/>
                </a:solidFill>
                <a:effectLst/>
                <a:latin typeface="+mn-lt"/>
                <a:ea typeface="+mn-ea"/>
                <a:cs typeface="+mn-cs"/>
              </a:rPr>
              <a:t>H5</a:t>
            </a:r>
            <a:r>
              <a:rPr lang="zh-CN" altLang="en-US" sz="1200" b="0" i="0" kern="1200" dirty="0" smtClean="0">
                <a:solidFill>
                  <a:schemeClr val="tx1"/>
                </a:solidFill>
                <a:effectLst/>
                <a:latin typeface="+mn-lt"/>
                <a:ea typeface="+mn-ea"/>
                <a:cs typeface="+mn-cs"/>
              </a:rPr>
              <a:t>页面是用于宣传，推广，游戏，招聘，公司介绍等设计出来的</a:t>
            </a:r>
          </a:p>
          <a:p>
            <a:r>
              <a:rPr lang="zh-CN" altLang="en-US" sz="1200" b="0" i="0" kern="1200" dirty="0" smtClean="0">
                <a:solidFill>
                  <a:schemeClr val="tx1"/>
                </a:solidFill>
                <a:effectLst/>
                <a:latin typeface="+mn-lt"/>
                <a:ea typeface="+mn-ea"/>
                <a:cs typeface="+mn-cs"/>
              </a:rPr>
              <a:t>具有各种动效、趣味性。</a:t>
            </a:r>
            <a:endParaRPr lang="en-US" altLang="zh-CN" dirty="0" smtClean="0"/>
          </a:p>
          <a:p>
            <a:r>
              <a:rPr lang="en-US" altLang="zh-CN" sz="1200" b="0" i="0" kern="1200" dirty="0" smtClean="0">
                <a:solidFill>
                  <a:schemeClr val="tx1"/>
                </a:solidFill>
                <a:effectLst/>
                <a:latin typeface="+mn-lt"/>
                <a:ea typeface="+mn-ea"/>
                <a:cs typeface="+mn-cs"/>
              </a:rPr>
              <a:t>H5</a:t>
            </a:r>
            <a:r>
              <a:rPr lang="zh-CN" altLang="en-US" sz="1200" b="0" i="0" kern="1200" dirty="0" smtClean="0">
                <a:solidFill>
                  <a:schemeClr val="tx1"/>
                </a:solidFill>
                <a:effectLst/>
                <a:latin typeface="+mn-lt"/>
                <a:ea typeface="+mn-ea"/>
                <a:cs typeface="+mn-cs"/>
              </a:rPr>
              <a:t>页面包括文字、图片、音乐、视频、链接等多种形式</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具有交互性强、移动终端、制作简单、成本低等特点</a:t>
            </a:r>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a:t>
            </a:fld>
            <a:endParaRPr lang="zh-CN" altLang="en-US"/>
          </a:p>
        </p:txBody>
      </p:sp>
    </p:spTree>
    <p:extLst>
      <p:ext uri="{BB962C8B-B14F-4D97-AF65-F5344CB8AC3E}">
        <p14:creationId xmlns:p14="http://schemas.microsoft.com/office/powerpoint/2010/main" val="3011983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HTML</a:t>
            </a:r>
            <a:r>
              <a:rPr lang="zh-CN" altLang="en-US" sz="1200" b="0" i="0" kern="1200" dirty="0" smtClean="0">
                <a:solidFill>
                  <a:schemeClr val="tx1"/>
                </a:solidFill>
                <a:effectLst/>
                <a:latin typeface="+mn-lt"/>
                <a:ea typeface="+mn-ea"/>
                <a:cs typeface="+mn-cs"/>
              </a:rPr>
              <a:t>语义化是指仅仅从 </a:t>
            </a:r>
            <a:r>
              <a:rPr lang="en-US" altLang="zh-CN" sz="1200" b="0" i="0" kern="1200" dirty="0" smtClean="0">
                <a:solidFill>
                  <a:schemeClr val="tx1"/>
                </a:solidFill>
                <a:effectLst/>
                <a:latin typeface="+mn-lt"/>
                <a:ea typeface="+mn-ea"/>
                <a:cs typeface="+mn-cs"/>
              </a:rPr>
              <a:t>HTML </a:t>
            </a:r>
            <a:r>
              <a:rPr lang="zh-CN" altLang="en-US" sz="1200" b="0" i="0" kern="1200" dirty="0" smtClean="0">
                <a:solidFill>
                  <a:schemeClr val="tx1"/>
                </a:solidFill>
                <a:effectLst/>
                <a:latin typeface="+mn-lt"/>
                <a:ea typeface="+mn-ea"/>
                <a:cs typeface="+mn-cs"/>
              </a:rPr>
              <a:t>元素上就能看出页面的大致结构，比如需要强调的内容可以放在 </a:t>
            </a:r>
            <a:r>
              <a:rPr lang="en-US" altLang="zh-CN" dirty="0" smtClean="0"/>
              <a:t>&lt;strong&gt;</a:t>
            </a:r>
            <a:r>
              <a:rPr lang="zh-CN" altLang="en-US" sz="1200" b="0" i="0" kern="1200" dirty="0" smtClean="0">
                <a:solidFill>
                  <a:schemeClr val="tx1"/>
                </a:solidFill>
                <a:effectLst/>
                <a:latin typeface="+mn-lt"/>
                <a:ea typeface="+mn-ea"/>
                <a:cs typeface="+mn-cs"/>
              </a:rPr>
              <a:t>标签中。力求让页面有良好的结构，让页面的元素有含义，同时利于被搜索引擎解析，利于 </a:t>
            </a:r>
            <a:r>
              <a:rPr lang="en-US" altLang="zh-CN" sz="1200" b="0" i="0" kern="1200" dirty="0" smtClean="0">
                <a:solidFill>
                  <a:schemeClr val="tx1"/>
                </a:solidFill>
                <a:effectLst/>
                <a:latin typeface="+mn-lt"/>
                <a:ea typeface="+mn-ea"/>
                <a:cs typeface="+mn-cs"/>
              </a:rPr>
              <a:t>SEO</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a:t>
            </a:fld>
            <a:endParaRPr lang="zh-CN" altLang="en-US"/>
          </a:p>
        </p:txBody>
      </p:sp>
    </p:spTree>
    <p:extLst>
      <p:ext uri="{BB962C8B-B14F-4D97-AF65-F5344CB8AC3E}">
        <p14:creationId xmlns:p14="http://schemas.microsoft.com/office/powerpoint/2010/main" val="1791011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a:t>
            </a:fld>
            <a:endParaRPr lang="zh-CN" altLang="en-US"/>
          </a:p>
        </p:txBody>
      </p:sp>
    </p:spTree>
    <p:extLst>
      <p:ext uri="{BB962C8B-B14F-4D97-AF65-F5344CB8AC3E}">
        <p14:creationId xmlns:p14="http://schemas.microsoft.com/office/powerpoint/2010/main" val="1782570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a:t>
            </a:fld>
            <a:endParaRPr lang="zh-CN" altLang="en-US"/>
          </a:p>
        </p:txBody>
      </p:sp>
    </p:spTree>
    <p:extLst>
      <p:ext uri="{BB962C8B-B14F-4D97-AF65-F5344CB8AC3E}">
        <p14:creationId xmlns:p14="http://schemas.microsoft.com/office/powerpoint/2010/main" val="2220683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a:t>
            </a:fld>
            <a:endParaRPr lang="zh-CN" altLang="en-US"/>
          </a:p>
        </p:txBody>
      </p:sp>
    </p:spTree>
    <p:extLst>
      <p:ext uri="{BB962C8B-B14F-4D97-AF65-F5344CB8AC3E}">
        <p14:creationId xmlns:p14="http://schemas.microsoft.com/office/powerpoint/2010/main" val="3168575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8</a:t>
            </a:fld>
            <a:endParaRPr lang="zh-CN" altLang="en-US"/>
          </a:p>
        </p:txBody>
      </p:sp>
    </p:spTree>
    <p:extLst>
      <p:ext uri="{BB962C8B-B14F-4D97-AF65-F5344CB8AC3E}">
        <p14:creationId xmlns:p14="http://schemas.microsoft.com/office/powerpoint/2010/main" val="3801810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HTML 5 canvas </a:t>
            </a:r>
            <a:r>
              <a:rPr lang="zh-CN" altLang="en-US" dirty="0" smtClean="0"/>
              <a:t>提供了通过 </a:t>
            </a:r>
            <a:r>
              <a:rPr lang="en-US" altLang="zh-CN" dirty="0" smtClean="0"/>
              <a:t>JavaScript </a:t>
            </a:r>
            <a:r>
              <a:rPr lang="zh-CN" altLang="en-US" dirty="0" smtClean="0"/>
              <a:t>绘制图形的方法，此方法使用简单但功能强大。每一个 </a:t>
            </a:r>
            <a:r>
              <a:rPr lang="en-US" altLang="zh-CN" dirty="0" smtClean="0"/>
              <a:t>canvas </a:t>
            </a:r>
            <a:r>
              <a:rPr lang="zh-CN" altLang="en-US" dirty="0" smtClean="0"/>
              <a:t>元素都有一个</a:t>
            </a:r>
            <a:r>
              <a:rPr lang="en-US" altLang="zh-CN" dirty="0" smtClean="0"/>
              <a:t>"</a:t>
            </a:r>
            <a:r>
              <a:rPr lang="zh-CN" altLang="en-US" dirty="0" smtClean="0"/>
              <a:t>上下文</a:t>
            </a:r>
            <a:r>
              <a:rPr lang="en-US" altLang="zh-CN" dirty="0" smtClean="0"/>
              <a:t>( context )" (</a:t>
            </a:r>
            <a:r>
              <a:rPr lang="zh-CN" altLang="en-US" dirty="0" smtClean="0"/>
              <a:t>想象成绘图板上的一页</a:t>
            </a:r>
            <a:r>
              <a:rPr lang="en-US" altLang="zh-CN" dirty="0" smtClean="0"/>
              <a:t>)</a:t>
            </a:r>
            <a:r>
              <a:rPr lang="zh-CN" altLang="en-US" dirty="0" smtClean="0"/>
              <a:t>，在其中可以绘制任意图形。浏览器支持多个 </a:t>
            </a:r>
            <a:r>
              <a:rPr lang="en-US" altLang="zh-CN" dirty="0" smtClean="0"/>
              <a:t>canvas </a:t>
            </a:r>
            <a:r>
              <a:rPr lang="zh-CN" altLang="en-US" dirty="0" smtClean="0"/>
              <a:t>上下文，并通过不同的 </a:t>
            </a:r>
            <a:r>
              <a:rPr lang="en-US" altLang="zh-CN" dirty="0" smtClean="0"/>
              <a:t>API </a:t>
            </a:r>
            <a:r>
              <a:rPr lang="zh-CN" altLang="en-US" dirty="0" smtClean="0"/>
              <a:t>提供图形绘制功能。</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73EB2A-29A3-4B07-BA0D-853DA5DBB95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87782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大部分的画布绘制</a:t>
            </a:r>
            <a:r>
              <a:rPr lang="en-US" altLang="zh-CN" dirty="0" smtClean="0"/>
              <a:t>API</a:t>
            </a:r>
            <a:r>
              <a:rPr lang="zh-CN" altLang="en-US" dirty="0" smtClean="0"/>
              <a:t>都不是在</a:t>
            </a:r>
            <a:r>
              <a:rPr lang="en-US" altLang="zh-CN" dirty="0" smtClean="0"/>
              <a:t>canvas</a:t>
            </a:r>
            <a:r>
              <a:rPr lang="zh-CN" altLang="en-US" dirty="0" smtClean="0"/>
              <a:t>对象自身上定义的，而是定义在一个“绘制上下文对象”，就是这个</a:t>
            </a:r>
            <a:r>
              <a:rPr lang="en-US" altLang="zh-CN" sz="1200" spc="-30" dirty="0" smtClean="0">
                <a:solidFill>
                  <a:srgbClr val="252525"/>
                </a:solidFill>
                <a:latin typeface="+mn-ea"/>
                <a:cs typeface="宋体"/>
              </a:rPr>
              <a:t>CanvasRenderingContext2D</a:t>
            </a:r>
            <a:r>
              <a:rPr lang="zh-CN" altLang="en-US" sz="1200" spc="-30" dirty="0" smtClean="0">
                <a:solidFill>
                  <a:srgbClr val="252525"/>
                </a:solidFill>
                <a:latin typeface="+mn-ea"/>
                <a:cs typeface="宋体"/>
              </a:rPr>
              <a:t>对象。使用这个对象可以在画布上绘制二维图形。这里很重要的一点要搞清楚，画布元素和它的上下文对象是两个完全不同的对象。</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3AA3DA-9F27-4808-9261-9873CD859DE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84000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3AA3DA-9F27-4808-9261-9873CD859DE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84780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3AA3DA-9F27-4808-9261-9873CD859DE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28196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3AA3DA-9F27-4808-9261-9873CD859DE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87099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3AA3DA-9F27-4808-9261-9873CD859DE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61559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早期有两个问题存在。</a:t>
            </a:r>
            <a:endParaRPr lang="zh-CN" altLang="en-US" dirty="0"/>
          </a:p>
        </p:txBody>
      </p:sp>
      <p:sp>
        <p:nvSpPr>
          <p:cNvPr id="4" name="灯片编号占位符 3"/>
          <p:cNvSpPr>
            <a:spLocks noGrp="1"/>
          </p:cNvSpPr>
          <p:nvPr>
            <p:ph type="sldNum" sz="quarter" idx="10"/>
          </p:nvPr>
        </p:nvSpPr>
        <p:spPr/>
        <p:txBody>
          <a:bodyPr/>
          <a:lstStyle/>
          <a:p>
            <a:fld id="{4C73EB2A-29A3-4B07-BA0D-853DA5DBB955}" type="slidenum">
              <a:rPr lang="zh-CN" altLang="en-US" smtClean="0"/>
              <a:t>22</a:t>
            </a:fld>
            <a:endParaRPr lang="zh-CN" altLang="en-US"/>
          </a:p>
        </p:txBody>
      </p:sp>
    </p:spTree>
    <p:extLst>
      <p:ext uri="{BB962C8B-B14F-4D97-AF65-F5344CB8AC3E}">
        <p14:creationId xmlns:p14="http://schemas.microsoft.com/office/powerpoint/2010/main" val="1143521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a:t>
            </a:r>
            <a:r>
              <a:rPr lang="zh-CN" altLang="en-US" dirty="0" smtClean="0"/>
              <a:t>、页面和服务器端需要建立连接才能通信，服务器端必须等到客户端的请求才会推送数据（</a:t>
            </a:r>
            <a:r>
              <a:rPr lang="en-US" altLang="zh-CN" dirty="0" smtClean="0"/>
              <a:t>Server-sent Event</a:t>
            </a:r>
            <a:r>
              <a:rPr lang="zh-CN" altLang="en-US" dirty="0" smtClean="0"/>
              <a:t>解决）</a:t>
            </a:r>
            <a:r>
              <a:rPr lang="en-US" altLang="zh-CN" dirty="0" smtClean="0"/>
              <a:t>2</a:t>
            </a:r>
            <a:r>
              <a:rPr lang="zh-CN" altLang="en-US" dirty="0" smtClean="0"/>
              <a:t>、顺序的通信，效率低。（</a:t>
            </a:r>
            <a:r>
              <a:rPr lang="en-US" altLang="zh-CN" dirty="0" err="1" smtClean="0"/>
              <a:t>WebSocket</a:t>
            </a:r>
            <a:r>
              <a:rPr lang="zh-CN" altLang="en-US" dirty="0" smtClean="0"/>
              <a:t>解决，建立了永久的链接）</a:t>
            </a:r>
          </a:p>
          <a:p>
            <a:endParaRPr lang="en-US" altLang="zh-CN" dirty="0" smtClean="0"/>
          </a:p>
          <a:p>
            <a:r>
              <a:rPr lang="zh-CN" altLang="en-US" dirty="0" smtClean="0"/>
              <a:t>当然了，想要实现在线的音视频会议或聊天，对于网络的状况要求比较高。当网络状况不好的情况下要如何优化</a:t>
            </a:r>
            <a:r>
              <a:rPr lang="en-US" altLang="zh-CN" dirty="0" smtClean="0"/>
              <a:t>web</a:t>
            </a:r>
            <a:r>
              <a:rPr lang="zh-CN" altLang="en-US" dirty="0" smtClean="0"/>
              <a:t>应用。</a:t>
            </a:r>
            <a:r>
              <a:rPr lang="en-US" altLang="zh-CN" dirty="0" smtClean="0"/>
              <a:t>HTML5</a:t>
            </a:r>
            <a:r>
              <a:rPr lang="zh-CN" altLang="en-US" dirty="0" smtClean="0"/>
              <a:t>带来了在缓存以及离线上的应用。</a:t>
            </a:r>
            <a:endParaRPr lang="zh-CN" altLang="en-US" dirty="0"/>
          </a:p>
        </p:txBody>
      </p:sp>
      <p:sp>
        <p:nvSpPr>
          <p:cNvPr id="4" name="灯片编号占位符 3"/>
          <p:cNvSpPr>
            <a:spLocks noGrp="1"/>
          </p:cNvSpPr>
          <p:nvPr>
            <p:ph type="sldNum" sz="quarter" idx="10"/>
          </p:nvPr>
        </p:nvSpPr>
        <p:spPr/>
        <p:txBody>
          <a:bodyPr/>
          <a:lstStyle/>
          <a:p>
            <a:fld id="{4C73EB2A-29A3-4B07-BA0D-853DA5DBB955}" type="slidenum">
              <a:rPr lang="zh-CN" altLang="en-US" smtClean="0"/>
              <a:t>23</a:t>
            </a:fld>
            <a:endParaRPr lang="zh-CN" altLang="en-US"/>
          </a:p>
        </p:txBody>
      </p:sp>
    </p:spTree>
    <p:extLst>
      <p:ext uri="{BB962C8B-B14F-4D97-AF65-F5344CB8AC3E}">
        <p14:creationId xmlns:p14="http://schemas.microsoft.com/office/powerpoint/2010/main" val="12897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相对于</a:t>
            </a:r>
            <a:r>
              <a:rPr lang="en-US" altLang="zh-CN" sz="1200" b="0" i="0" kern="1200" dirty="0" smtClean="0">
                <a:solidFill>
                  <a:schemeClr val="tx1"/>
                </a:solidFill>
                <a:effectLst/>
                <a:latin typeface="+mn-lt"/>
                <a:ea typeface="+mn-ea"/>
                <a:cs typeface="+mn-cs"/>
              </a:rPr>
              <a:t>HTML4</a:t>
            </a:r>
            <a:r>
              <a:rPr lang="zh-CN" altLang="en-US" sz="1200" b="0" i="0" kern="1200" dirty="0" smtClean="0">
                <a:solidFill>
                  <a:schemeClr val="tx1"/>
                </a:solidFill>
                <a:effectLst/>
                <a:latin typeface="+mn-lt"/>
                <a:ea typeface="+mn-ea"/>
                <a:cs typeface="+mn-cs"/>
              </a:rPr>
              <a:t>只能使用</a:t>
            </a:r>
            <a:r>
              <a:rPr lang="en-US" altLang="zh-CN" sz="1200" b="0" i="0" kern="1200" dirty="0" smtClean="0">
                <a:solidFill>
                  <a:schemeClr val="tx1"/>
                </a:solidFill>
                <a:effectLst/>
                <a:latin typeface="+mn-lt"/>
                <a:ea typeface="+mn-ea"/>
                <a:cs typeface="+mn-cs"/>
              </a:rPr>
              <a:t>cookie</a:t>
            </a:r>
            <a:r>
              <a:rPr lang="zh-CN" altLang="en-US" sz="1200" b="0" i="0" kern="1200" dirty="0" smtClean="0">
                <a:solidFill>
                  <a:schemeClr val="tx1"/>
                </a:solidFill>
                <a:effectLst/>
                <a:latin typeface="+mn-lt"/>
                <a:ea typeface="+mn-ea"/>
                <a:cs typeface="+mn-cs"/>
              </a:rPr>
              <a:t>在客户端存储数据，大小受限制，占用带宽，操作复杂，</a:t>
            </a:r>
            <a:r>
              <a:rPr lang="en-US" altLang="zh-CN" sz="1200" b="0" i="0" kern="1200" dirty="0" smtClean="0">
                <a:solidFill>
                  <a:schemeClr val="tx1"/>
                </a:solidFill>
                <a:effectLst/>
                <a:latin typeface="+mn-lt"/>
                <a:ea typeface="+mn-ea"/>
                <a:cs typeface="+mn-cs"/>
              </a:rPr>
              <a:t>HTML5</a:t>
            </a:r>
            <a:r>
              <a:rPr lang="zh-CN" altLang="en-US" sz="1200" b="0" i="0" kern="1200" dirty="0" smtClean="0">
                <a:solidFill>
                  <a:schemeClr val="tx1"/>
                </a:solidFill>
                <a:effectLst/>
                <a:latin typeface="+mn-lt"/>
                <a:ea typeface="+mn-ea"/>
                <a:cs typeface="+mn-cs"/>
              </a:rPr>
              <a:t>支持使用</a:t>
            </a:r>
            <a:r>
              <a:rPr lang="en-US" altLang="zh-CN" sz="1200" b="0" i="0" kern="1200" dirty="0" smtClean="0">
                <a:solidFill>
                  <a:schemeClr val="tx1"/>
                </a:solidFill>
                <a:effectLst/>
                <a:latin typeface="+mn-lt"/>
                <a:ea typeface="+mn-ea"/>
                <a:cs typeface="+mn-cs"/>
              </a:rPr>
              <a:t>Web Storage</a:t>
            </a:r>
            <a:r>
              <a:rPr lang="zh-CN" altLang="en-US" sz="1200" b="0" i="0" kern="1200" dirty="0" smtClean="0">
                <a:solidFill>
                  <a:schemeClr val="tx1"/>
                </a:solidFill>
                <a:effectLst/>
                <a:latin typeface="+mn-lt"/>
                <a:ea typeface="+mn-ea"/>
                <a:cs typeface="+mn-cs"/>
              </a:rPr>
              <a:t>在客户端进行存储数据，容量更大，减轻带宽压力，操作简便。</a:t>
            </a:r>
            <a:endParaRPr lang="zh-CN" altLang="en-US" dirty="0"/>
          </a:p>
        </p:txBody>
      </p:sp>
      <p:sp>
        <p:nvSpPr>
          <p:cNvPr id="4" name="灯片编号占位符 3"/>
          <p:cNvSpPr>
            <a:spLocks noGrp="1"/>
          </p:cNvSpPr>
          <p:nvPr>
            <p:ph type="sldNum" sz="quarter" idx="10"/>
          </p:nvPr>
        </p:nvSpPr>
        <p:spPr/>
        <p:txBody>
          <a:bodyPr/>
          <a:lstStyle/>
          <a:p>
            <a:fld id="{4C73EB2A-29A3-4B07-BA0D-853DA5DBB955}" type="slidenum">
              <a:rPr lang="zh-CN" altLang="en-US" smtClean="0"/>
              <a:t>24</a:t>
            </a:fld>
            <a:endParaRPr lang="zh-CN" altLang="en-US"/>
          </a:p>
        </p:txBody>
      </p:sp>
    </p:spTree>
    <p:extLst>
      <p:ext uri="{BB962C8B-B14F-4D97-AF65-F5344CB8AC3E}">
        <p14:creationId xmlns:p14="http://schemas.microsoft.com/office/powerpoint/2010/main" val="4996986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25</a:t>
            </a:fld>
            <a:endParaRPr lang="zh-CN" altLang="en-US"/>
          </a:p>
        </p:txBody>
      </p:sp>
    </p:spTree>
    <p:extLst>
      <p:ext uri="{BB962C8B-B14F-4D97-AF65-F5344CB8AC3E}">
        <p14:creationId xmlns:p14="http://schemas.microsoft.com/office/powerpoint/2010/main" val="2123582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27</a:t>
            </a:fld>
            <a:endParaRPr lang="zh-CN" altLang="en-US"/>
          </a:p>
        </p:txBody>
      </p:sp>
    </p:spTree>
    <p:extLst>
      <p:ext uri="{BB962C8B-B14F-4D97-AF65-F5344CB8AC3E}">
        <p14:creationId xmlns:p14="http://schemas.microsoft.com/office/powerpoint/2010/main" val="1713127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28</a:t>
            </a:fld>
            <a:endParaRPr lang="zh-CN" altLang="en-US"/>
          </a:p>
        </p:txBody>
      </p:sp>
    </p:spTree>
    <p:extLst>
      <p:ext uri="{BB962C8B-B14F-4D97-AF65-F5344CB8AC3E}">
        <p14:creationId xmlns:p14="http://schemas.microsoft.com/office/powerpoint/2010/main" val="824027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29</a:t>
            </a:fld>
            <a:endParaRPr lang="zh-CN" altLang="en-US"/>
          </a:p>
        </p:txBody>
      </p:sp>
    </p:spTree>
    <p:extLst>
      <p:ext uri="{BB962C8B-B14F-4D97-AF65-F5344CB8AC3E}">
        <p14:creationId xmlns:p14="http://schemas.microsoft.com/office/powerpoint/2010/main" val="3228390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30</a:t>
            </a:fld>
            <a:endParaRPr lang="zh-CN" altLang="en-US"/>
          </a:p>
        </p:txBody>
      </p:sp>
    </p:spTree>
    <p:extLst>
      <p:ext uri="{BB962C8B-B14F-4D97-AF65-F5344CB8AC3E}">
        <p14:creationId xmlns:p14="http://schemas.microsoft.com/office/powerpoint/2010/main" val="3771416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31</a:t>
            </a:fld>
            <a:endParaRPr lang="zh-CN" altLang="en-US"/>
          </a:p>
        </p:txBody>
      </p:sp>
    </p:spTree>
    <p:extLst>
      <p:ext uri="{BB962C8B-B14F-4D97-AF65-F5344CB8AC3E}">
        <p14:creationId xmlns:p14="http://schemas.microsoft.com/office/powerpoint/2010/main" val="1358697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32</a:t>
            </a:fld>
            <a:endParaRPr lang="zh-CN" altLang="en-US"/>
          </a:p>
        </p:txBody>
      </p:sp>
    </p:spTree>
    <p:extLst>
      <p:ext uri="{BB962C8B-B14F-4D97-AF65-F5344CB8AC3E}">
        <p14:creationId xmlns:p14="http://schemas.microsoft.com/office/powerpoint/2010/main" val="3566610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33</a:t>
            </a:fld>
            <a:endParaRPr lang="zh-CN" altLang="en-US"/>
          </a:p>
        </p:txBody>
      </p:sp>
    </p:spTree>
    <p:extLst>
      <p:ext uri="{BB962C8B-B14F-4D97-AF65-F5344CB8AC3E}">
        <p14:creationId xmlns:p14="http://schemas.microsoft.com/office/powerpoint/2010/main" val="2898657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34</a:t>
            </a:fld>
            <a:endParaRPr lang="zh-CN" altLang="en-US"/>
          </a:p>
        </p:txBody>
      </p:sp>
    </p:spTree>
    <p:extLst>
      <p:ext uri="{BB962C8B-B14F-4D97-AF65-F5344CB8AC3E}">
        <p14:creationId xmlns:p14="http://schemas.microsoft.com/office/powerpoint/2010/main" val="8864338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35</a:t>
            </a:fld>
            <a:endParaRPr lang="zh-CN" altLang="en-US"/>
          </a:p>
        </p:txBody>
      </p:sp>
    </p:spTree>
    <p:extLst>
      <p:ext uri="{BB962C8B-B14F-4D97-AF65-F5344CB8AC3E}">
        <p14:creationId xmlns:p14="http://schemas.microsoft.com/office/powerpoint/2010/main" val="15805161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36</a:t>
            </a:fld>
            <a:endParaRPr lang="zh-CN" altLang="en-US"/>
          </a:p>
        </p:txBody>
      </p:sp>
    </p:spTree>
    <p:extLst>
      <p:ext uri="{BB962C8B-B14F-4D97-AF65-F5344CB8AC3E}">
        <p14:creationId xmlns:p14="http://schemas.microsoft.com/office/powerpoint/2010/main" val="42244602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37</a:t>
            </a:fld>
            <a:endParaRPr lang="zh-CN" altLang="en-US"/>
          </a:p>
        </p:txBody>
      </p:sp>
    </p:spTree>
    <p:extLst>
      <p:ext uri="{BB962C8B-B14F-4D97-AF65-F5344CB8AC3E}">
        <p14:creationId xmlns:p14="http://schemas.microsoft.com/office/powerpoint/2010/main" val="2773533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38</a:t>
            </a:fld>
            <a:endParaRPr lang="zh-CN" altLang="en-US"/>
          </a:p>
        </p:txBody>
      </p:sp>
    </p:spTree>
    <p:extLst>
      <p:ext uri="{BB962C8B-B14F-4D97-AF65-F5344CB8AC3E}">
        <p14:creationId xmlns:p14="http://schemas.microsoft.com/office/powerpoint/2010/main" val="13423561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39</a:t>
            </a:fld>
            <a:endParaRPr lang="zh-CN" altLang="en-US"/>
          </a:p>
        </p:txBody>
      </p:sp>
    </p:spTree>
    <p:extLst>
      <p:ext uri="{BB962C8B-B14F-4D97-AF65-F5344CB8AC3E}">
        <p14:creationId xmlns:p14="http://schemas.microsoft.com/office/powerpoint/2010/main" val="27937212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40</a:t>
            </a:fld>
            <a:endParaRPr lang="zh-CN" altLang="en-US"/>
          </a:p>
        </p:txBody>
      </p:sp>
    </p:spTree>
    <p:extLst>
      <p:ext uri="{BB962C8B-B14F-4D97-AF65-F5344CB8AC3E}">
        <p14:creationId xmlns:p14="http://schemas.microsoft.com/office/powerpoint/2010/main" val="22253373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41</a:t>
            </a:fld>
            <a:endParaRPr lang="zh-CN" altLang="en-US"/>
          </a:p>
        </p:txBody>
      </p:sp>
    </p:spTree>
    <p:extLst>
      <p:ext uri="{BB962C8B-B14F-4D97-AF65-F5344CB8AC3E}">
        <p14:creationId xmlns:p14="http://schemas.microsoft.com/office/powerpoint/2010/main" val="25750821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42</a:t>
            </a:fld>
            <a:endParaRPr lang="zh-CN" altLang="en-US"/>
          </a:p>
        </p:txBody>
      </p:sp>
    </p:spTree>
    <p:extLst>
      <p:ext uri="{BB962C8B-B14F-4D97-AF65-F5344CB8AC3E}">
        <p14:creationId xmlns:p14="http://schemas.microsoft.com/office/powerpoint/2010/main" val="8320458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43</a:t>
            </a:fld>
            <a:endParaRPr lang="zh-CN" altLang="en-US"/>
          </a:p>
        </p:txBody>
      </p:sp>
    </p:spTree>
    <p:extLst>
      <p:ext uri="{BB962C8B-B14F-4D97-AF65-F5344CB8AC3E}">
        <p14:creationId xmlns:p14="http://schemas.microsoft.com/office/powerpoint/2010/main" val="21507310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44</a:t>
            </a:fld>
            <a:endParaRPr lang="zh-CN" altLang="en-US"/>
          </a:p>
        </p:txBody>
      </p:sp>
    </p:spTree>
    <p:extLst>
      <p:ext uri="{BB962C8B-B14F-4D97-AF65-F5344CB8AC3E}">
        <p14:creationId xmlns:p14="http://schemas.microsoft.com/office/powerpoint/2010/main" val="3567510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45</a:t>
            </a:fld>
            <a:endParaRPr lang="zh-CN" altLang="en-US"/>
          </a:p>
        </p:txBody>
      </p:sp>
    </p:spTree>
    <p:extLst>
      <p:ext uri="{BB962C8B-B14F-4D97-AF65-F5344CB8AC3E}">
        <p14:creationId xmlns:p14="http://schemas.microsoft.com/office/powerpoint/2010/main" val="13485152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46</a:t>
            </a:fld>
            <a:endParaRPr lang="zh-CN" altLang="en-US"/>
          </a:p>
        </p:txBody>
      </p:sp>
    </p:spTree>
    <p:extLst>
      <p:ext uri="{BB962C8B-B14F-4D97-AF65-F5344CB8AC3E}">
        <p14:creationId xmlns:p14="http://schemas.microsoft.com/office/powerpoint/2010/main" val="18698034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47</a:t>
            </a:fld>
            <a:endParaRPr lang="zh-CN" altLang="en-US"/>
          </a:p>
        </p:txBody>
      </p:sp>
    </p:spTree>
    <p:extLst>
      <p:ext uri="{BB962C8B-B14F-4D97-AF65-F5344CB8AC3E}">
        <p14:creationId xmlns:p14="http://schemas.microsoft.com/office/powerpoint/2010/main" val="28963278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48</a:t>
            </a:fld>
            <a:endParaRPr lang="zh-CN" altLang="en-US"/>
          </a:p>
        </p:txBody>
      </p:sp>
    </p:spTree>
    <p:extLst>
      <p:ext uri="{BB962C8B-B14F-4D97-AF65-F5344CB8AC3E}">
        <p14:creationId xmlns:p14="http://schemas.microsoft.com/office/powerpoint/2010/main" val="15236239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49</a:t>
            </a:fld>
            <a:endParaRPr lang="zh-CN" altLang="en-US"/>
          </a:p>
        </p:txBody>
      </p:sp>
    </p:spTree>
    <p:extLst>
      <p:ext uri="{BB962C8B-B14F-4D97-AF65-F5344CB8AC3E}">
        <p14:creationId xmlns:p14="http://schemas.microsoft.com/office/powerpoint/2010/main" val="6566667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50</a:t>
            </a:fld>
            <a:endParaRPr lang="zh-CN" altLang="en-US"/>
          </a:p>
        </p:txBody>
      </p:sp>
    </p:spTree>
    <p:extLst>
      <p:ext uri="{BB962C8B-B14F-4D97-AF65-F5344CB8AC3E}">
        <p14:creationId xmlns:p14="http://schemas.microsoft.com/office/powerpoint/2010/main" val="23016304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51</a:t>
            </a:fld>
            <a:endParaRPr lang="zh-CN" altLang="en-US"/>
          </a:p>
        </p:txBody>
      </p:sp>
    </p:spTree>
    <p:extLst>
      <p:ext uri="{BB962C8B-B14F-4D97-AF65-F5344CB8AC3E}">
        <p14:creationId xmlns:p14="http://schemas.microsoft.com/office/powerpoint/2010/main" val="20957015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52</a:t>
            </a:fld>
            <a:endParaRPr lang="zh-CN" altLang="en-US"/>
          </a:p>
        </p:txBody>
      </p:sp>
    </p:spTree>
    <p:extLst>
      <p:ext uri="{BB962C8B-B14F-4D97-AF65-F5344CB8AC3E}">
        <p14:creationId xmlns:p14="http://schemas.microsoft.com/office/powerpoint/2010/main" val="20401769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了解透视之前首先要了解坐标轴。</a:t>
            </a:r>
            <a:r>
              <a:rPr lang="en-US" altLang="zh-CN" dirty="0" smtClean="0"/>
              <a:t>3D</a:t>
            </a:r>
            <a:r>
              <a:rPr lang="zh-CN" altLang="en-US" dirty="0" smtClean="0"/>
              <a:t>和</a:t>
            </a:r>
            <a:r>
              <a:rPr lang="en-US" altLang="zh-CN" dirty="0" smtClean="0"/>
              <a:t>2D</a:t>
            </a:r>
            <a:r>
              <a:rPr lang="zh-CN" altLang="en-US" dirty="0" smtClean="0"/>
              <a:t>的最大不同在于参考的坐标轴不同。</a:t>
            </a:r>
            <a:r>
              <a:rPr lang="en-US" altLang="zh-CN" dirty="0" smtClean="0"/>
              <a:t>2D</a:t>
            </a:r>
            <a:r>
              <a:rPr lang="zh-CN" altLang="en-US" dirty="0" smtClean="0"/>
              <a:t>坐标轴是平面的。</a:t>
            </a:r>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53</a:t>
            </a:fld>
            <a:endParaRPr lang="zh-CN" altLang="en-US"/>
          </a:p>
        </p:txBody>
      </p:sp>
    </p:spTree>
    <p:extLst>
      <p:ext uri="{BB962C8B-B14F-4D97-AF65-F5344CB8AC3E}">
        <p14:creationId xmlns:p14="http://schemas.microsoft.com/office/powerpoint/2010/main" val="38046698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54</a:t>
            </a:fld>
            <a:endParaRPr lang="zh-CN" altLang="en-US"/>
          </a:p>
        </p:txBody>
      </p:sp>
    </p:spTree>
    <p:extLst>
      <p:ext uri="{BB962C8B-B14F-4D97-AF65-F5344CB8AC3E}">
        <p14:creationId xmlns:p14="http://schemas.microsoft.com/office/powerpoint/2010/main" val="34323404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55</a:t>
            </a:fld>
            <a:endParaRPr lang="zh-CN" altLang="en-US"/>
          </a:p>
        </p:txBody>
      </p:sp>
    </p:spTree>
    <p:extLst>
      <p:ext uri="{BB962C8B-B14F-4D97-AF65-F5344CB8AC3E}">
        <p14:creationId xmlns:p14="http://schemas.microsoft.com/office/powerpoint/2010/main" val="42201219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56</a:t>
            </a:fld>
            <a:endParaRPr lang="zh-CN" altLang="en-US"/>
          </a:p>
        </p:txBody>
      </p:sp>
    </p:spTree>
    <p:extLst>
      <p:ext uri="{BB962C8B-B14F-4D97-AF65-F5344CB8AC3E}">
        <p14:creationId xmlns:p14="http://schemas.microsoft.com/office/powerpoint/2010/main" val="17798696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57</a:t>
            </a:fld>
            <a:endParaRPr lang="zh-CN" altLang="en-US"/>
          </a:p>
        </p:txBody>
      </p:sp>
    </p:spTree>
    <p:extLst>
      <p:ext uri="{BB962C8B-B14F-4D97-AF65-F5344CB8AC3E}">
        <p14:creationId xmlns:p14="http://schemas.microsoft.com/office/powerpoint/2010/main" val="8448450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58</a:t>
            </a:fld>
            <a:endParaRPr lang="zh-CN" altLang="en-US"/>
          </a:p>
        </p:txBody>
      </p:sp>
    </p:spTree>
    <p:extLst>
      <p:ext uri="{BB962C8B-B14F-4D97-AF65-F5344CB8AC3E}">
        <p14:creationId xmlns:p14="http://schemas.microsoft.com/office/powerpoint/2010/main" val="39736697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59</a:t>
            </a:fld>
            <a:endParaRPr lang="zh-CN" altLang="en-US"/>
          </a:p>
        </p:txBody>
      </p:sp>
    </p:spTree>
    <p:extLst>
      <p:ext uri="{BB962C8B-B14F-4D97-AF65-F5344CB8AC3E}">
        <p14:creationId xmlns:p14="http://schemas.microsoft.com/office/powerpoint/2010/main" val="4856788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60</a:t>
            </a:fld>
            <a:endParaRPr lang="zh-CN" altLang="en-US"/>
          </a:p>
        </p:txBody>
      </p:sp>
    </p:spTree>
    <p:extLst>
      <p:ext uri="{BB962C8B-B14F-4D97-AF65-F5344CB8AC3E}">
        <p14:creationId xmlns:p14="http://schemas.microsoft.com/office/powerpoint/2010/main" val="1551447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61</a:t>
            </a:fld>
            <a:endParaRPr lang="zh-CN" altLang="en-US"/>
          </a:p>
        </p:txBody>
      </p:sp>
    </p:spTree>
    <p:extLst>
      <p:ext uri="{BB962C8B-B14F-4D97-AF65-F5344CB8AC3E}">
        <p14:creationId xmlns:p14="http://schemas.microsoft.com/office/powerpoint/2010/main" val="15520951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62</a:t>
            </a:fld>
            <a:endParaRPr lang="zh-CN" altLang="en-US"/>
          </a:p>
        </p:txBody>
      </p:sp>
    </p:spTree>
    <p:extLst>
      <p:ext uri="{BB962C8B-B14F-4D97-AF65-F5344CB8AC3E}">
        <p14:creationId xmlns:p14="http://schemas.microsoft.com/office/powerpoint/2010/main" val="35166971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63</a:t>
            </a:fld>
            <a:endParaRPr lang="zh-CN" altLang="en-US"/>
          </a:p>
        </p:txBody>
      </p:sp>
    </p:spTree>
    <p:extLst>
      <p:ext uri="{BB962C8B-B14F-4D97-AF65-F5344CB8AC3E}">
        <p14:creationId xmlns:p14="http://schemas.microsoft.com/office/powerpoint/2010/main" val="8682974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64</a:t>
            </a:fld>
            <a:endParaRPr lang="zh-CN" altLang="en-US"/>
          </a:p>
        </p:txBody>
      </p:sp>
    </p:spTree>
    <p:extLst>
      <p:ext uri="{BB962C8B-B14F-4D97-AF65-F5344CB8AC3E}">
        <p14:creationId xmlns:p14="http://schemas.microsoft.com/office/powerpoint/2010/main" val="33259832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65</a:t>
            </a:fld>
            <a:endParaRPr lang="zh-CN" altLang="en-US"/>
          </a:p>
        </p:txBody>
      </p:sp>
    </p:spTree>
    <p:extLst>
      <p:ext uri="{BB962C8B-B14F-4D97-AF65-F5344CB8AC3E}">
        <p14:creationId xmlns:p14="http://schemas.microsoft.com/office/powerpoint/2010/main" val="5765025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66</a:t>
            </a:fld>
            <a:endParaRPr lang="zh-CN" altLang="en-US"/>
          </a:p>
        </p:txBody>
      </p:sp>
    </p:spTree>
    <p:extLst>
      <p:ext uri="{BB962C8B-B14F-4D97-AF65-F5344CB8AC3E}">
        <p14:creationId xmlns:p14="http://schemas.microsoft.com/office/powerpoint/2010/main" val="40800221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67</a:t>
            </a:fld>
            <a:endParaRPr lang="zh-CN" altLang="en-US"/>
          </a:p>
        </p:txBody>
      </p:sp>
    </p:spTree>
    <p:extLst>
      <p:ext uri="{BB962C8B-B14F-4D97-AF65-F5344CB8AC3E}">
        <p14:creationId xmlns:p14="http://schemas.microsoft.com/office/powerpoint/2010/main" val="33754151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68</a:t>
            </a:fld>
            <a:endParaRPr lang="zh-CN" altLang="en-US"/>
          </a:p>
        </p:txBody>
      </p:sp>
    </p:spTree>
    <p:extLst>
      <p:ext uri="{BB962C8B-B14F-4D97-AF65-F5344CB8AC3E}">
        <p14:creationId xmlns:p14="http://schemas.microsoft.com/office/powerpoint/2010/main" val="5500898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69</a:t>
            </a:fld>
            <a:endParaRPr lang="zh-CN" altLang="en-US"/>
          </a:p>
        </p:txBody>
      </p:sp>
    </p:spTree>
    <p:extLst>
      <p:ext uri="{BB962C8B-B14F-4D97-AF65-F5344CB8AC3E}">
        <p14:creationId xmlns:p14="http://schemas.microsoft.com/office/powerpoint/2010/main" val="24876162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70</a:t>
            </a:fld>
            <a:endParaRPr lang="zh-CN" altLang="en-US"/>
          </a:p>
        </p:txBody>
      </p:sp>
    </p:spTree>
    <p:extLst>
      <p:ext uri="{BB962C8B-B14F-4D97-AF65-F5344CB8AC3E}">
        <p14:creationId xmlns:p14="http://schemas.microsoft.com/office/powerpoint/2010/main" val="156652830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71</a:t>
            </a:fld>
            <a:endParaRPr lang="zh-CN" altLang="en-US"/>
          </a:p>
        </p:txBody>
      </p:sp>
    </p:spTree>
    <p:extLst>
      <p:ext uri="{BB962C8B-B14F-4D97-AF65-F5344CB8AC3E}">
        <p14:creationId xmlns:p14="http://schemas.microsoft.com/office/powerpoint/2010/main" val="9030351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72</a:t>
            </a:fld>
            <a:endParaRPr lang="zh-CN" altLang="en-US"/>
          </a:p>
        </p:txBody>
      </p:sp>
    </p:spTree>
    <p:extLst>
      <p:ext uri="{BB962C8B-B14F-4D97-AF65-F5344CB8AC3E}">
        <p14:creationId xmlns:p14="http://schemas.microsoft.com/office/powerpoint/2010/main" val="12947277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73</a:t>
            </a:fld>
            <a:endParaRPr lang="zh-CN" altLang="en-US"/>
          </a:p>
        </p:txBody>
      </p:sp>
    </p:spTree>
    <p:extLst>
      <p:ext uri="{BB962C8B-B14F-4D97-AF65-F5344CB8AC3E}">
        <p14:creationId xmlns:p14="http://schemas.microsoft.com/office/powerpoint/2010/main" val="39955783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74</a:t>
            </a:fld>
            <a:endParaRPr lang="zh-CN" altLang="en-US"/>
          </a:p>
        </p:txBody>
      </p:sp>
    </p:spTree>
    <p:extLst>
      <p:ext uri="{BB962C8B-B14F-4D97-AF65-F5344CB8AC3E}">
        <p14:creationId xmlns:p14="http://schemas.microsoft.com/office/powerpoint/2010/main" val="6357769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75</a:t>
            </a:fld>
            <a:endParaRPr lang="zh-CN" altLang="en-US"/>
          </a:p>
        </p:txBody>
      </p:sp>
    </p:spTree>
    <p:extLst>
      <p:ext uri="{BB962C8B-B14F-4D97-AF65-F5344CB8AC3E}">
        <p14:creationId xmlns:p14="http://schemas.microsoft.com/office/powerpoint/2010/main" val="17266261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76</a:t>
            </a:fld>
            <a:endParaRPr lang="zh-CN" altLang="en-US"/>
          </a:p>
        </p:txBody>
      </p:sp>
    </p:spTree>
    <p:extLst>
      <p:ext uri="{BB962C8B-B14F-4D97-AF65-F5344CB8AC3E}">
        <p14:creationId xmlns:p14="http://schemas.microsoft.com/office/powerpoint/2010/main" val="41153912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77</a:t>
            </a:fld>
            <a:endParaRPr lang="zh-CN" altLang="en-US"/>
          </a:p>
        </p:txBody>
      </p:sp>
    </p:spTree>
    <p:extLst>
      <p:ext uri="{BB962C8B-B14F-4D97-AF65-F5344CB8AC3E}">
        <p14:creationId xmlns:p14="http://schemas.microsoft.com/office/powerpoint/2010/main" val="3477079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78</a:t>
            </a:fld>
            <a:endParaRPr lang="zh-CN" altLang="en-US"/>
          </a:p>
        </p:txBody>
      </p:sp>
    </p:spTree>
    <p:extLst>
      <p:ext uri="{BB962C8B-B14F-4D97-AF65-F5344CB8AC3E}">
        <p14:creationId xmlns:p14="http://schemas.microsoft.com/office/powerpoint/2010/main" val="26459201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79</a:t>
            </a:fld>
            <a:endParaRPr lang="zh-CN" altLang="en-US"/>
          </a:p>
        </p:txBody>
      </p:sp>
    </p:spTree>
    <p:extLst>
      <p:ext uri="{BB962C8B-B14F-4D97-AF65-F5344CB8AC3E}">
        <p14:creationId xmlns:p14="http://schemas.microsoft.com/office/powerpoint/2010/main" val="197212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49A80DDA-100C-449C-B151-76A671D26844}" type="datetime1">
              <a:rPr lang="zh-CN" altLang="en-US" smtClean="0"/>
              <a:t>2023/3/29</a:t>
            </a:fld>
            <a:endParaRPr lang="zh-CN" altLang="en-US"/>
          </a:p>
        </p:txBody>
      </p:sp>
      <p:sp>
        <p:nvSpPr>
          <p:cNvPr id="5" name="页脚占位符 4"/>
          <p:cNvSpPr>
            <a:spLocks noGrp="1"/>
          </p:cNvSpPr>
          <p:nvPr>
            <p:ph type="ftr" sz="quarter" idx="11"/>
          </p:nvPr>
        </p:nvSpPr>
        <p:spPr/>
        <p:txBody>
          <a:bodyPr/>
          <a:lstStyle/>
          <a:p>
            <a:r>
              <a:rPr lang="zh-CN" altLang="en-US" smtClean="0"/>
              <a:t>南开大学软件学院</a:t>
            </a:r>
            <a:endParaRPr lang="zh-CN" altLang="en-US" dirty="0"/>
          </a:p>
        </p:txBody>
      </p:sp>
      <p:sp>
        <p:nvSpPr>
          <p:cNvPr id="6" name="灯片编号占位符 5"/>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p14="http://schemas.microsoft.com/office/powerpoint/2010/main" val="1866483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4F189E-2E0E-4E40-B274-CCE69FC0498C}" type="datetime1">
              <a:rPr lang="zh-CN" altLang="en-US" smtClean="0"/>
              <a:t>2023/3/29</a:t>
            </a:fld>
            <a:endParaRPr lang="zh-CN" altLang="en-US"/>
          </a:p>
        </p:txBody>
      </p:sp>
      <p:sp>
        <p:nvSpPr>
          <p:cNvPr id="5" name="页脚占位符 4"/>
          <p:cNvSpPr>
            <a:spLocks noGrp="1"/>
          </p:cNvSpPr>
          <p:nvPr>
            <p:ph type="ftr" sz="quarter" idx="11"/>
          </p:nvPr>
        </p:nvSpPr>
        <p:spPr/>
        <p:txBody>
          <a:bodyPr/>
          <a:lstStyle/>
          <a:p>
            <a:r>
              <a:rPr lang="zh-CN" altLang="en-US" smtClean="0"/>
              <a:t>南开大学软件学院</a:t>
            </a:r>
            <a:endParaRPr lang="zh-CN" altLang="en-US" dirty="0"/>
          </a:p>
        </p:txBody>
      </p:sp>
      <p:sp>
        <p:nvSpPr>
          <p:cNvPr id="6" name="灯片编号占位符 5"/>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p14="http://schemas.microsoft.com/office/powerpoint/2010/main" val="357552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B9D6E818-BF2F-476F-8436-DCF8D747DC84}" type="datetime1">
              <a:rPr lang="zh-CN" altLang="en-US" smtClean="0"/>
              <a:t>2023/3/29</a:t>
            </a:fld>
            <a:endParaRPr lang="zh-CN" altLang="en-US"/>
          </a:p>
        </p:txBody>
      </p:sp>
      <p:sp>
        <p:nvSpPr>
          <p:cNvPr id="5" name="页脚占位符 4"/>
          <p:cNvSpPr>
            <a:spLocks noGrp="1"/>
          </p:cNvSpPr>
          <p:nvPr>
            <p:ph type="ftr" sz="quarter" idx="11"/>
          </p:nvPr>
        </p:nvSpPr>
        <p:spPr/>
        <p:txBody>
          <a:bodyPr/>
          <a:lstStyle/>
          <a:p>
            <a:r>
              <a:rPr lang="zh-CN" altLang="en-US" smtClean="0"/>
              <a:t>南开大学软件学院</a:t>
            </a:r>
            <a:endParaRPr lang="zh-CN" altLang="en-US" dirty="0"/>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693689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ABCA93E0-12CE-4FA5-A53C-11D45CB7300F}" type="datetime1">
              <a:rPr lang="zh-CN" altLang="en-US" smtClean="0"/>
              <a:t>2023/3/29</a:t>
            </a:fld>
            <a:endParaRPr lang="zh-CN" altLang="en-US"/>
          </a:p>
        </p:txBody>
      </p:sp>
      <p:sp>
        <p:nvSpPr>
          <p:cNvPr id="6" name="页脚占位符 5"/>
          <p:cNvSpPr>
            <a:spLocks noGrp="1"/>
          </p:cNvSpPr>
          <p:nvPr>
            <p:ph type="ftr" sz="quarter" idx="11"/>
          </p:nvPr>
        </p:nvSpPr>
        <p:spPr/>
        <p:txBody>
          <a:bodyPr/>
          <a:lstStyle/>
          <a:p>
            <a:r>
              <a:rPr lang="zh-CN" altLang="en-US" smtClean="0"/>
              <a:t>南开大学软件学院</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56925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A0349135-BAA7-498C-BFE6-47D0511BB50C}" type="datetime1">
              <a:rPr lang="zh-CN" altLang="en-US" smtClean="0"/>
              <a:t>2023/3/29</a:t>
            </a:fld>
            <a:endParaRPr lang="zh-CN" altLang="en-US"/>
          </a:p>
        </p:txBody>
      </p:sp>
      <p:sp>
        <p:nvSpPr>
          <p:cNvPr id="8" name="页脚占位符 7"/>
          <p:cNvSpPr>
            <a:spLocks noGrp="1"/>
          </p:cNvSpPr>
          <p:nvPr>
            <p:ph type="ftr" sz="quarter" idx="11"/>
          </p:nvPr>
        </p:nvSpPr>
        <p:spPr/>
        <p:txBody>
          <a:bodyPr/>
          <a:lstStyle/>
          <a:p>
            <a:r>
              <a:rPr lang="zh-CN" altLang="en-US" smtClean="0"/>
              <a:t>南开大学软件学院</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42403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DD37EE5-B56A-4B39-9134-0AD80D166667}" type="datetime1">
              <a:rPr lang="zh-CN" altLang="en-US" smtClean="0"/>
              <a:t>2023/3/29</a:t>
            </a:fld>
            <a:endParaRPr lang="zh-CN" altLang="en-US"/>
          </a:p>
        </p:txBody>
      </p:sp>
      <p:sp>
        <p:nvSpPr>
          <p:cNvPr id="4" name="页脚占位符 3"/>
          <p:cNvSpPr>
            <a:spLocks noGrp="1"/>
          </p:cNvSpPr>
          <p:nvPr>
            <p:ph type="ftr" sz="quarter" idx="11"/>
          </p:nvPr>
        </p:nvSpPr>
        <p:spPr/>
        <p:txBody>
          <a:bodyPr/>
          <a:lstStyle/>
          <a:p>
            <a:r>
              <a:rPr lang="zh-CN" altLang="en-US" smtClean="0"/>
              <a:t>南开大学软件学院</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378593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0EE42FC-A246-491F-9141-5142BA00579E}" type="datetime1">
              <a:rPr lang="zh-CN" altLang="en-US" smtClean="0"/>
              <a:t>2023/3/29</a:t>
            </a:fld>
            <a:endParaRPr lang="zh-CN" altLang="en-US"/>
          </a:p>
        </p:txBody>
      </p:sp>
      <p:sp>
        <p:nvSpPr>
          <p:cNvPr id="3" name="页脚占位符 2"/>
          <p:cNvSpPr>
            <a:spLocks noGrp="1"/>
          </p:cNvSpPr>
          <p:nvPr>
            <p:ph type="ftr" sz="quarter" idx="11"/>
          </p:nvPr>
        </p:nvSpPr>
        <p:spPr/>
        <p:txBody>
          <a:bodyPr/>
          <a:lstStyle/>
          <a:p>
            <a:r>
              <a:rPr lang="zh-CN" altLang="en-US" smtClean="0"/>
              <a:t>南开大学软件学院</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78678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2394E0DE-0A8D-44D5-8572-F5FA46C1BCE0}" type="datetime1">
              <a:rPr lang="zh-CN" altLang="en-US" smtClean="0"/>
              <a:t>2023/3/29</a:t>
            </a:fld>
            <a:endParaRPr lang="zh-CN" altLang="en-US"/>
          </a:p>
        </p:txBody>
      </p:sp>
      <p:sp>
        <p:nvSpPr>
          <p:cNvPr id="6" name="页脚占位符 5"/>
          <p:cNvSpPr>
            <a:spLocks noGrp="1"/>
          </p:cNvSpPr>
          <p:nvPr>
            <p:ph type="ftr" sz="quarter" idx="11"/>
          </p:nvPr>
        </p:nvSpPr>
        <p:spPr/>
        <p:txBody>
          <a:bodyPr/>
          <a:lstStyle/>
          <a:p>
            <a:r>
              <a:rPr lang="zh-CN" altLang="en-US" smtClean="0"/>
              <a:t>南开大学软件学院</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20599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B03F0660-5359-4AB0-86E5-4491EEB52B3C}" type="datetime1">
              <a:rPr lang="zh-CN" altLang="en-US" smtClean="0"/>
              <a:t>2023/3/29</a:t>
            </a:fld>
            <a:endParaRPr lang="zh-CN" altLang="en-US"/>
          </a:p>
        </p:txBody>
      </p:sp>
      <p:sp>
        <p:nvSpPr>
          <p:cNvPr id="6" name="页脚占位符 5"/>
          <p:cNvSpPr>
            <a:spLocks noGrp="1"/>
          </p:cNvSpPr>
          <p:nvPr>
            <p:ph type="ftr" sz="quarter" idx="11"/>
          </p:nvPr>
        </p:nvSpPr>
        <p:spPr/>
        <p:txBody>
          <a:bodyPr/>
          <a:lstStyle/>
          <a:p>
            <a:r>
              <a:rPr lang="zh-CN" altLang="en-US" smtClean="0"/>
              <a:t>南开大学软件学院</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63622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0511882-F7C7-458D-BC5F-07D9E21F8564}" type="datetime1">
              <a:rPr lang="zh-CN" altLang="en-US" smtClean="0"/>
              <a:t>2023/3/29</a:t>
            </a:fld>
            <a:endParaRPr lang="zh-CN" altLang="en-US"/>
          </a:p>
        </p:txBody>
      </p:sp>
      <p:sp>
        <p:nvSpPr>
          <p:cNvPr id="5" name="页脚占位符 4"/>
          <p:cNvSpPr>
            <a:spLocks noGrp="1"/>
          </p:cNvSpPr>
          <p:nvPr>
            <p:ph type="ftr" sz="quarter" idx="11"/>
          </p:nvPr>
        </p:nvSpPr>
        <p:spPr/>
        <p:txBody>
          <a:bodyPr/>
          <a:lstStyle/>
          <a:p>
            <a:r>
              <a:rPr lang="zh-CN" altLang="en-US" smtClean="0"/>
              <a:t>南开大学软件学院</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513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701E723-FDA2-427D-A5A5-FC882566162C}" type="datetime1">
              <a:rPr lang="zh-CN" altLang="en-US" smtClean="0"/>
              <a:t>2023/3/29</a:t>
            </a:fld>
            <a:endParaRPr lang="zh-CN" altLang="en-US"/>
          </a:p>
        </p:txBody>
      </p:sp>
      <p:sp>
        <p:nvSpPr>
          <p:cNvPr id="5" name="页脚占位符 4"/>
          <p:cNvSpPr>
            <a:spLocks noGrp="1"/>
          </p:cNvSpPr>
          <p:nvPr>
            <p:ph type="ftr" sz="quarter" idx="11"/>
          </p:nvPr>
        </p:nvSpPr>
        <p:spPr/>
        <p:txBody>
          <a:bodyPr/>
          <a:lstStyle/>
          <a:p>
            <a:r>
              <a:rPr lang="zh-CN" altLang="en-US" smtClean="0"/>
              <a:t>南开大学软件学院</a:t>
            </a:r>
            <a:endParaRPr lang="zh-CN" altLang="en-US" dirty="0"/>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0875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9" name="bk object 19"/>
          <p:cNvSpPr/>
          <p:nvPr/>
        </p:nvSpPr>
        <p:spPr>
          <a:xfrm>
            <a:off x="8064245" y="962405"/>
            <a:ext cx="451484" cy="523240"/>
          </a:xfrm>
          <a:custGeom>
            <a:avLst/>
            <a:gdLst/>
            <a:ahLst/>
            <a:cxnLst/>
            <a:rect l="l" t="t" r="r" b="b"/>
            <a:pathLst>
              <a:path w="451484" h="523240">
                <a:moveTo>
                  <a:pt x="225551" y="0"/>
                </a:moveTo>
                <a:lnTo>
                  <a:pt x="451103" y="112776"/>
                </a:lnTo>
                <a:lnTo>
                  <a:pt x="451103" y="409956"/>
                </a:lnTo>
                <a:lnTo>
                  <a:pt x="225551" y="522732"/>
                </a:lnTo>
                <a:lnTo>
                  <a:pt x="0" y="409956"/>
                </a:lnTo>
                <a:lnTo>
                  <a:pt x="0" y="112776"/>
                </a:lnTo>
                <a:lnTo>
                  <a:pt x="225551" y="0"/>
                </a:lnTo>
                <a:close/>
              </a:path>
            </a:pathLst>
          </a:custGeom>
          <a:ln w="25908">
            <a:solidFill>
              <a:srgbClr val="A6A6A6"/>
            </a:solidFill>
          </a:ln>
        </p:spPr>
        <p:txBody>
          <a:bodyPr wrap="square" lIns="0" tIns="0" rIns="0" bIns="0" rtlCol="0"/>
          <a:lstStyle/>
          <a:p>
            <a:endParaRPr/>
          </a:p>
        </p:txBody>
      </p:sp>
      <p:sp>
        <p:nvSpPr>
          <p:cNvPr id="20" name="bk object 20"/>
          <p:cNvSpPr/>
          <p:nvPr/>
        </p:nvSpPr>
        <p:spPr>
          <a:xfrm>
            <a:off x="10300716" y="128015"/>
            <a:ext cx="170687" cy="196595"/>
          </a:xfrm>
          <a:prstGeom prst="rect">
            <a:avLst/>
          </a:prstGeom>
          <a:blipFill>
            <a:blip r:embed="rId2" cstate="print"/>
            <a:stretch>
              <a:fillRect/>
            </a:stretch>
          </a:blipFill>
        </p:spPr>
        <p:txBody>
          <a:bodyPr wrap="square" lIns="0" tIns="0" rIns="0" bIns="0" rtlCol="0"/>
          <a:lstStyle/>
          <a:p>
            <a:endParaRPr/>
          </a:p>
        </p:txBody>
      </p:sp>
      <p:sp>
        <p:nvSpPr>
          <p:cNvPr id="21" name="bk object 21"/>
          <p:cNvSpPr/>
          <p:nvPr/>
        </p:nvSpPr>
        <p:spPr>
          <a:xfrm>
            <a:off x="3745991" y="832103"/>
            <a:ext cx="763905" cy="887094"/>
          </a:xfrm>
          <a:custGeom>
            <a:avLst/>
            <a:gdLst/>
            <a:ahLst/>
            <a:cxnLst/>
            <a:rect l="l" t="t" r="r" b="b"/>
            <a:pathLst>
              <a:path w="763904" h="887094">
                <a:moveTo>
                  <a:pt x="381762" y="0"/>
                </a:moveTo>
                <a:lnTo>
                  <a:pt x="763524" y="190881"/>
                </a:lnTo>
                <a:lnTo>
                  <a:pt x="763524" y="696087"/>
                </a:lnTo>
                <a:lnTo>
                  <a:pt x="381762" y="886968"/>
                </a:lnTo>
                <a:lnTo>
                  <a:pt x="0" y="696087"/>
                </a:lnTo>
                <a:lnTo>
                  <a:pt x="0" y="190881"/>
                </a:lnTo>
                <a:lnTo>
                  <a:pt x="381762" y="0"/>
                </a:lnTo>
                <a:close/>
              </a:path>
            </a:pathLst>
          </a:custGeom>
          <a:ln w="9144">
            <a:solidFill>
              <a:srgbClr val="AC2B25"/>
            </a:solidFill>
          </a:ln>
        </p:spPr>
        <p:txBody>
          <a:bodyPr wrap="square" lIns="0" tIns="0" rIns="0" bIns="0" rtlCol="0"/>
          <a:lstStyle/>
          <a:p>
            <a:endParaRPr/>
          </a:p>
        </p:txBody>
      </p:sp>
      <p:sp>
        <p:nvSpPr>
          <p:cNvPr id="22" name="bk object 22"/>
          <p:cNvSpPr/>
          <p:nvPr/>
        </p:nvSpPr>
        <p:spPr>
          <a:xfrm>
            <a:off x="11276076" y="1207008"/>
            <a:ext cx="187451" cy="214884"/>
          </a:xfrm>
          <a:prstGeom prst="rect">
            <a:avLst/>
          </a:prstGeom>
          <a:blipFill>
            <a:blip r:embed="rId3" cstate="print"/>
            <a:stretch>
              <a:fillRect/>
            </a:stretch>
          </a:blipFill>
        </p:spPr>
        <p:txBody>
          <a:bodyPr wrap="square" lIns="0" tIns="0" rIns="0" bIns="0" rtlCol="0"/>
          <a:lstStyle/>
          <a:p>
            <a:endParaRPr/>
          </a:p>
        </p:txBody>
      </p:sp>
      <p:sp>
        <p:nvSpPr>
          <p:cNvPr id="23" name="bk object 23"/>
          <p:cNvSpPr/>
          <p:nvPr/>
        </p:nvSpPr>
        <p:spPr>
          <a:xfrm>
            <a:off x="932688" y="662940"/>
            <a:ext cx="178308" cy="205739"/>
          </a:xfrm>
          <a:prstGeom prst="rect">
            <a:avLst/>
          </a:prstGeom>
          <a:blipFill>
            <a:blip r:embed="rId4" cstate="print"/>
            <a:stretch>
              <a:fillRect/>
            </a:stretch>
          </a:blipFill>
        </p:spPr>
        <p:txBody>
          <a:bodyPr wrap="square" lIns="0" tIns="0" rIns="0" bIns="0" rtlCol="0"/>
          <a:lstStyle/>
          <a:p>
            <a:endParaRPr/>
          </a:p>
        </p:txBody>
      </p:sp>
      <p:sp>
        <p:nvSpPr>
          <p:cNvPr id="24" name="bk object 24"/>
          <p:cNvSpPr/>
          <p:nvPr/>
        </p:nvSpPr>
        <p:spPr>
          <a:xfrm>
            <a:off x="4590288" y="749808"/>
            <a:ext cx="318770" cy="368935"/>
          </a:xfrm>
          <a:custGeom>
            <a:avLst/>
            <a:gdLst/>
            <a:ahLst/>
            <a:cxnLst/>
            <a:rect l="l" t="t" r="r" b="b"/>
            <a:pathLst>
              <a:path w="318770" h="368934">
                <a:moveTo>
                  <a:pt x="159258" y="0"/>
                </a:moveTo>
                <a:lnTo>
                  <a:pt x="0" y="79628"/>
                </a:lnTo>
                <a:lnTo>
                  <a:pt x="0" y="289178"/>
                </a:lnTo>
                <a:lnTo>
                  <a:pt x="159258" y="368807"/>
                </a:lnTo>
                <a:lnTo>
                  <a:pt x="318515" y="289178"/>
                </a:lnTo>
                <a:lnTo>
                  <a:pt x="318515" y="79628"/>
                </a:lnTo>
                <a:lnTo>
                  <a:pt x="159258" y="0"/>
                </a:lnTo>
                <a:close/>
              </a:path>
            </a:pathLst>
          </a:custGeom>
          <a:solidFill>
            <a:srgbClr val="F1F1F1"/>
          </a:solidFill>
        </p:spPr>
        <p:txBody>
          <a:bodyPr wrap="square" lIns="0" tIns="0" rIns="0" bIns="0" rtlCol="0"/>
          <a:lstStyle/>
          <a:p>
            <a:endParaRPr/>
          </a:p>
        </p:txBody>
      </p:sp>
      <p:sp>
        <p:nvSpPr>
          <p:cNvPr id="25" name="bk object 25"/>
          <p:cNvSpPr/>
          <p:nvPr/>
        </p:nvSpPr>
        <p:spPr>
          <a:xfrm>
            <a:off x="9997440" y="1130808"/>
            <a:ext cx="647065" cy="396875"/>
          </a:xfrm>
          <a:custGeom>
            <a:avLst/>
            <a:gdLst/>
            <a:ahLst/>
            <a:cxnLst/>
            <a:rect l="l" t="t" r="r" b="b"/>
            <a:pathLst>
              <a:path w="647065" h="396875">
                <a:moveTo>
                  <a:pt x="0" y="0"/>
                </a:moveTo>
                <a:lnTo>
                  <a:pt x="647064" y="396620"/>
                </a:lnTo>
              </a:path>
            </a:pathLst>
          </a:custGeom>
          <a:ln w="9144">
            <a:solidFill>
              <a:srgbClr val="BEBEBE"/>
            </a:solidFill>
          </a:ln>
        </p:spPr>
        <p:txBody>
          <a:bodyPr wrap="square" lIns="0" tIns="0" rIns="0" bIns="0" rtlCol="0"/>
          <a:lstStyle/>
          <a:p>
            <a:endParaRPr/>
          </a:p>
        </p:txBody>
      </p:sp>
      <p:sp>
        <p:nvSpPr>
          <p:cNvPr id="26" name="bk object 26"/>
          <p:cNvSpPr/>
          <p:nvPr/>
        </p:nvSpPr>
        <p:spPr>
          <a:xfrm>
            <a:off x="3898391" y="466344"/>
            <a:ext cx="692150" cy="366395"/>
          </a:xfrm>
          <a:custGeom>
            <a:avLst/>
            <a:gdLst/>
            <a:ahLst/>
            <a:cxnLst/>
            <a:rect l="l" t="t" r="r" b="b"/>
            <a:pathLst>
              <a:path w="692150" h="366394">
                <a:moveTo>
                  <a:pt x="0" y="0"/>
                </a:moveTo>
                <a:lnTo>
                  <a:pt x="691896" y="366267"/>
                </a:lnTo>
              </a:path>
            </a:pathLst>
          </a:custGeom>
          <a:ln w="9143">
            <a:solidFill>
              <a:srgbClr val="BEBEBE"/>
            </a:solidFill>
          </a:ln>
        </p:spPr>
        <p:txBody>
          <a:bodyPr wrap="square" lIns="0" tIns="0" rIns="0" bIns="0" rtlCol="0"/>
          <a:lstStyle/>
          <a:p>
            <a:endParaRPr/>
          </a:p>
        </p:txBody>
      </p:sp>
      <p:sp>
        <p:nvSpPr>
          <p:cNvPr id="2" name="Holder 2"/>
          <p:cNvSpPr>
            <a:spLocks noGrp="1"/>
          </p:cNvSpPr>
          <p:nvPr>
            <p:ph type="ctrTitle"/>
          </p:nvPr>
        </p:nvSpPr>
        <p:spPr>
          <a:xfrm>
            <a:off x="2451480" y="2188540"/>
            <a:ext cx="8292720" cy="1123314"/>
          </a:xfrm>
          <a:prstGeom prst="rect">
            <a:avLst/>
          </a:prstGeom>
        </p:spPr>
        <p:txBody>
          <a:bodyPr wrap="square" lIns="0" tIns="0" rIns="0" bIns="0">
            <a:spAutoFit/>
          </a:bodyPr>
          <a:lstStyle>
            <a:lvl1pPr>
              <a:defRPr sz="7200" b="0" i="0">
                <a:solidFill>
                  <a:srgbClr val="252525"/>
                </a:solidFill>
                <a:latin typeface="宋体"/>
                <a:cs typeface="宋体"/>
              </a:defRPr>
            </a:lvl1pPr>
          </a:lstStyle>
          <a:p>
            <a:endParaRPr dirty="0"/>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zh-CN" altLang="en-US" smtClean="0"/>
              <a:t>南开大学软件学院</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33F309E-C14D-4F08-91AE-4CDCEA807024}" type="datetime1">
              <a:rPr lang="zh-CN" altLang="en-US" smtClean="0"/>
              <a:t>2023/3/29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15" name="矩形 22"/>
          <p:cNvSpPr>
            <a:spLocks noChangeArrowheads="1"/>
          </p:cNvSpPr>
          <p:nvPr userDrawn="1"/>
        </p:nvSpPr>
        <p:spPr bwMode="auto">
          <a:xfrm>
            <a:off x="1" y="6800153"/>
            <a:ext cx="3581400" cy="57847"/>
          </a:xfrm>
          <a:prstGeom prst="rect">
            <a:avLst/>
          </a:prstGeom>
          <a:solidFill>
            <a:srgbClr val="C00000"/>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latin typeface="Segoe UI" panose="020B0502040204020203" pitchFamily="34" charset="0"/>
              <a:ea typeface="微软雅黑" panose="020B0503020204020204" pitchFamily="34" charset="-122"/>
            </a:endParaRPr>
          </a:p>
        </p:txBody>
      </p:sp>
      <p:sp>
        <p:nvSpPr>
          <p:cNvPr id="16" name="bk object 16"/>
          <p:cNvSpPr/>
          <p:nvPr userDrawn="1"/>
        </p:nvSpPr>
        <p:spPr>
          <a:xfrm>
            <a:off x="10890504" y="6822185"/>
            <a:ext cx="1301750" cy="0"/>
          </a:xfrm>
          <a:custGeom>
            <a:avLst/>
            <a:gdLst/>
            <a:ahLst/>
            <a:cxnLst/>
            <a:rect l="l" t="t" r="r" b="b"/>
            <a:pathLst>
              <a:path w="1301750">
                <a:moveTo>
                  <a:pt x="0" y="0"/>
                </a:moveTo>
                <a:lnTo>
                  <a:pt x="1301496" y="0"/>
                </a:lnTo>
              </a:path>
            </a:pathLst>
          </a:custGeom>
          <a:ln w="71628">
            <a:solidFill>
              <a:srgbClr val="48504F"/>
            </a:solidFill>
          </a:ln>
        </p:spPr>
        <p:txBody>
          <a:bodyPr wrap="square" lIns="0" tIns="0" rIns="0" bIns="0" rtlCol="0"/>
          <a:lstStyle/>
          <a:p>
            <a:endParaRPr/>
          </a:p>
        </p:txBody>
      </p:sp>
    </p:spTree>
    <p:extLst>
      <p:ext uri="{BB962C8B-B14F-4D97-AF65-F5344CB8AC3E}">
        <p14:creationId xmlns:p14="http://schemas.microsoft.com/office/powerpoint/2010/main" val="165794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0890504" y="6822185"/>
            <a:ext cx="1301750" cy="0"/>
          </a:xfrm>
          <a:custGeom>
            <a:avLst/>
            <a:gdLst/>
            <a:ahLst/>
            <a:cxnLst/>
            <a:rect l="l" t="t" r="r" b="b"/>
            <a:pathLst>
              <a:path w="1301750">
                <a:moveTo>
                  <a:pt x="0" y="0"/>
                </a:moveTo>
                <a:lnTo>
                  <a:pt x="1301496" y="0"/>
                </a:lnTo>
              </a:path>
            </a:pathLst>
          </a:custGeom>
          <a:ln w="71628">
            <a:solidFill>
              <a:srgbClr val="48504F"/>
            </a:solidFill>
          </a:ln>
        </p:spPr>
        <p:txBody>
          <a:bodyPr wrap="square" lIns="0" tIns="0" rIns="0" bIns="0" rtlCol="0"/>
          <a:lstStyle/>
          <a:p>
            <a:endParaRPr/>
          </a:p>
        </p:txBody>
      </p:sp>
      <p:sp>
        <p:nvSpPr>
          <p:cNvPr id="18" name="bk object 18"/>
          <p:cNvSpPr/>
          <p:nvPr/>
        </p:nvSpPr>
        <p:spPr>
          <a:xfrm>
            <a:off x="323088" y="763523"/>
            <a:ext cx="11544935" cy="0"/>
          </a:xfrm>
          <a:custGeom>
            <a:avLst/>
            <a:gdLst/>
            <a:ahLst/>
            <a:cxnLst/>
            <a:rect l="l" t="t" r="r" b="b"/>
            <a:pathLst>
              <a:path w="11544935">
                <a:moveTo>
                  <a:pt x="11544808" y="0"/>
                </a:moveTo>
                <a:lnTo>
                  <a:pt x="0" y="0"/>
                </a:lnTo>
              </a:path>
            </a:pathLst>
          </a:custGeom>
          <a:ln w="9144">
            <a:solidFill>
              <a:srgbClr val="F1F1F1"/>
            </a:solidFill>
          </a:ln>
        </p:spPr>
        <p:txBody>
          <a:bodyPr wrap="square" lIns="0" tIns="0" rIns="0" bIns="0" rtlCol="0"/>
          <a:lstStyle/>
          <a:p>
            <a:endParaRPr/>
          </a:p>
        </p:txBody>
      </p:sp>
      <p:sp>
        <p:nvSpPr>
          <p:cNvPr id="19" name="bk object 19"/>
          <p:cNvSpPr/>
          <p:nvPr/>
        </p:nvSpPr>
        <p:spPr>
          <a:xfrm>
            <a:off x="0" y="420623"/>
            <a:ext cx="143510" cy="220979"/>
          </a:xfrm>
          <a:custGeom>
            <a:avLst/>
            <a:gdLst/>
            <a:ahLst/>
            <a:cxnLst/>
            <a:rect l="l" t="t" r="r" b="b"/>
            <a:pathLst>
              <a:path w="143510" h="220979">
                <a:moveTo>
                  <a:pt x="0" y="220979"/>
                </a:moveTo>
                <a:lnTo>
                  <a:pt x="143256" y="220979"/>
                </a:lnTo>
                <a:lnTo>
                  <a:pt x="143256" y="0"/>
                </a:lnTo>
                <a:lnTo>
                  <a:pt x="0" y="0"/>
                </a:lnTo>
                <a:lnTo>
                  <a:pt x="0" y="220979"/>
                </a:lnTo>
                <a:close/>
              </a:path>
            </a:pathLst>
          </a:custGeom>
          <a:solidFill>
            <a:srgbClr val="F1F1F1"/>
          </a:solidFill>
        </p:spPr>
        <p:txBody>
          <a:bodyPr wrap="square" lIns="0" tIns="0" rIns="0" bIns="0" rtlCol="0"/>
          <a:lstStyle/>
          <a:p>
            <a:endParaRPr/>
          </a:p>
        </p:txBody>
      </p:sp>
      <p:sp>
        <p:nvSpPr>
          <p:cNvPr id="20" name="bk object 20"/>
          <p:cNvSpPr/>
          <p:nvPr/>
        </p:nvSpPr>
        <p:spPr>
          <a:xfrm>
            <a:off x="183642" y="420623"/>
            <a:ext cx="0" cy="220979"/>
          </a:xfrm>
          <a:custGeom>
            <a:avLst/>
            <a:gdLst/>
            <a:ahLst/>
            <a:cxnLst/>
            <a:rect l="l" t="t" r="r" b="b"/>
            <a:pathLst>
              <a:path h="220979">
                <a:moveTo>
                  <a:pt x="0" y="0"/>
                </a:moveTo>
                <a:lnTo>
                  <a:pt x="0" y="220979"/>
                </a:lnTo>
              </a:path>
            </a:pathLst>
          </a:custGeom>
          <a:ln w="80772">
            <a:solidFill>
              <a:srgbClr val="AC2B25"/>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rgbClr val="C00000"/>
                </a:solidFill>
                <a:latin typeface="Microsoft JhengHei"/>
                <a:cs typeface="Microsoft JhengHei"/>
              </a:defRPr>
            </a:lvl1pPr>
          </a:lstStyle>
          <a:p>
            <a:endParaRPr/>
          </a:p>
        </p:txBody>
      </p:sp>
      <p:sp>
        <p:nvSpPr>
          <p:cNvPr id="3" name="Holder 3"/>
          <p:cNvSpPr>
            <a:spLocks noGrp="1"/>
          </p:cNvSpPr>
          <p:nvPr>
            <p:ph type="body" idx="1"/>
          </p:nvPr>
        </p:nvSpPr>
        <p:spPr/>
        <p:txBody>
          <a:bodyPr lIns="0" tIns="0" rIns="0" bIns="0"/>
          <a:lstStyle>
            <a:lvl1pPr>
              <a:defRPr sz="1600" b="0" i="0">
                <a:solidFill>
                  <a:srgbClr val="252525"/>
                </a:solidFill>
                <a:latin typeface="宋体"/>
                <a:cs typeface="宋体"/>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zh-CN" altLang="en-US" smtClean="0"/>
              <a:t>南开大学软件学院</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0FACBA67-67F0-4C88-B787-613E47FBD32A}" type="datetime1">
              <a:rPr lang="zh-CN" altLang="en-US" smtClean="0"/>
              <a:t>2023/3/29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12" name="矩形 22"/>
          <p:cNvSpPr>
            <a:spLocks noChangeArrowheads="1"/>
          </p:cNvSpPr>
          <p:nvPr userDrawn="1"/>
        </p:nvSpPr>
        <p:spPr bwMode="auto">
          <a:xfrm>
            <a:off x="1" y="6800153"/>
            <a:ext cx="3581400" cy="57847"/>
          </a:xfrm>
          <a:prstGeom prst="rect">
            <a:avLst/>
          </a:prstGeom>
          <a:solidFill>
            <a:srgbClr val="C00000"/>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latin typeface="Segoe UI" panose="020B0502040204020203" pitchFamily="34" charset="0"/>
              <a:ea typeface="微软雅黑" panose="020B0503020204020204" pitchFamily="34" charset="-122"/>
            </a:endParaRPr>
          </a:p>
        </p:txBody>
      </p:sp>
    </p:spTree>
    <p:extLst>
      <p:ext uri="{BB962C8B-B14F-4D97-AF65-F5344CB8AC3E}">
        <p14:creationId xmlns:p14="http://schemas.microsoft.com/office/powerpoint/2010/main" val="1042401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Microsoft JhengHei"/>
                <a:cs typeface="Microsoft JhengHe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zh-CN" altLang="en-US" smtClean="0"/>
              <a:t>南开大学软件学院</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0C04BED1-6FEF-4417-9735-30A3E66C9C64}" type="datetime1">
              <a:rPr lang="zh-CN" altLang="en-US" smtClean="0"/>
              <a:t>2023/3/29</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2970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Microsoft JhengHei"/>
                <a:cs typeface="Microsoft Jheng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zh-CN" altLang="en-US" smtClean="0"/>
              <a:t>南开大学软件学院</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A7A64265-57B9-4542-AE63-E71BA900F23A}" type="datetime1">
              <a:rPr lang="zh-CN" altLang="en-US" smtClean="0"/>
              <a:t>2023/3/29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07365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0890504" y="6822185"/>
            <a:ext cx="1301750" cy="0"/>
          </a:xfrm>
          <a:custGeom>
            <a:avLst/>
            <a:gdLst/>
            <a:ahLst/>
            <a:cxnLst/>
            <a:rect l="l" t="t" r="r" b="b"/>
            <a:pathLst>
              <a:path w="1301750">
                <a:moveTo>
                  <a:pt x="0" y="0"/>
                </a:moveTo>
                <a:lnTo>
                  <a:pt x="1301496" y="0"/>
                </a:lnTo>
              </a:path>
            </a:pathLst>
          </a:custGeom>
          <a:ln w="71628">
            <a:solidFill>
              <a:srgbClr val="48504F"/>
            </a:solidFill>
          </a:ln>
        </p:spPr>
        <p:txBody>
          <a:bodyPr wrap="square" lIns="0" tIns="0" rIns="0" bIns="0" rtlCol="0"/>
          <a:lstStyle/>
          <a:p>
            <a:endParaRPr/>
          </a:p>
        </p:txBody>
      </p:sp>
      <p:sp>
        <p:nvSpPr>
          <p:cNvPr id="18" name="bk object 18"/>
          <p:cNvSpPr/>
          <p:nvPr/>
        </p:nvSpPr>
        <p:spPr>
          <a:xfrm>
            <a:off x="323088" y="763523"/>
            <a:ext cx="11544935" cy="0"/>
          </a:xfrm>
          <a:custGeom>
            <a:avLst/>
            <a:gdLst/>
            <a:ahLst/>
            <a:cxnLst/>
            <a:rect l="l" t="t" r="r" b="b"/>
            <a:pathLst>
              <a:path w="11544935">
                <a:moveTo>
                  <a:pt x="11544808" y="0"/>
                </a:moveTo>
                <a:lnTo>
                  <a:pt x="0" y="0"/>
                </a:lnTo>
              </a:path>
            </a:pathLst>
          </a:custGeom>
          <a:ln w="9144">
            <a:solidFill>
              <a:srgbClr val="F1F1F1"/>
            </a:solidFill>
          </a:ln>
        </p:spPr>
        <p:txBody>
          <a:bodyPr wrap="square" lIns="0" tIns="0" rIns="0" bIns="0" rtlCol="0"/>
          <a:lstStyle/>
          <a:p>
            <a:endParaRPr/>
          </a:p>
        </p:txBody>
      </p:sp>
      <p:sp>
        <p:nvSpPr>
          <p:cNvPr id="19" name="bk object 19"/>
          <p:cNvSpPr/>
          <p:nvPr/>
        </p:nvSpPr>
        <p:spPr>
          <a:xfrm>
            <a:off x="0" y="420623"/>
            <a:ext cx="143510" cy="220979"/>
          </a:xfrm>
          <a:custGeom>
            <a:avLst/>
            <a:gdLst/>
            <a:ahLst/>
            <a:cxnLst/>
            <a:rect l="l" t="t" r="r" b="b"/>
            <a:pathLst>
              <a:path w="143510" h="220979">
                <a:moveTo>
                  <a:pt x="0" y="220979"/>
                </a:moveTo>
                <a:lnTo>
                  <a:pt x="143256" y="220979"/>
                </a:lnTo>
                <a:lnTo>
                  <a:pt x="143256" y="0"/>
                </a:lnTo>
                <a:lnTo>
                  <a:pt x="0" y="0"/>
                </a:lnTo>
                <a:lnTo>
                  <a:pt x="0" y="220979"/>
                </a:lnTo>
                <a:close/>
              </a:path>
            </a:pathLst>
          </a:custGeom>
          <a:solidFill>
            <a:srgbClr val="F1F1F1"/>
          </a:solidFill>
        </p:spPr>
        <p:txBody>
          <a:bodyPr wrap="square" lIns="0" tIns="0" rIns="0" bIns="0" rtlCol="0"/>
          <a:lstStyle/>
          <a:p>
            <a:endParaRPr/>
          </a:p>
        </p:txBody>
      </p:sp>
      <p:sp>
        <p:nvSpPr>
          <p:cNvPr id="20" name="bk object 20"/>
          <p:cNvSpPr/>
          <p:nvPr/>
        </p:nvSpPr>
        <p:spPr>
          <a:xfrm>
            <a:off x="183642" y="420623"/>
            <a:ext cx="0" cy="220979"/>
          </a:xfrm>
          <a:custGeom>
            <a:avLst/>
            <a:gdLst/>
            <a:ahLst/>
            <a:cxnLst/>
            <a:rect l="l" t="t" r="r" b="b"/>
            <a:pathLst>
              <a:path h="220979">
                <a:moveTo>
                  <a:pt x="0" y="0"/>
                </a:moveTo>
                <a:lnTo>
                  <a:pt x="0" y="220979"/>
                </a:lnTo>
              </a:path>
            </a:pathLst>
          </a:custGeom>
          <a:ln w="80772">
            <a:solidFill>
              <a:srgbClr val="AC2B25"/>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zh-CN" altLang="en-US" smtClean="0"/>
              <a:t>南开大学软件学院</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5B0B77EC-F2D8-47D3-94E5-047D200CFEC7}" type="datetime1">
              <a:rPr lang="zh-CN" altLang="en-US" smtClean="0"/>
              <a:t>2023/3/29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10" name="矩形 22"/>
          <p:cNvSpPr>
            <a:spLocks noChangeArrowheads="1"/>
          </p:cNvSpPr>
          <p:nvPr userDrawn="1"/>
        </p:nvSpPr>
        <p:spPr bwMode="auto">
          <a:xfrm>
            <a:off x="1" y="6800153"/>
            <a:ext cx="3581400" cy="57847"/>
          </a:xfrm>
          <a:prstGeom prst="rect">
            <a:avLst/>
          </a:prstGeom>
          <a:solidFill>
            <a:srgbClr val="C00000"/>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latin typeface="Segoe UI" panose="020B0502040204020203" pitchFamily="34" charset="0"/>
              <a:ea typeface="微软雅黑" panose="020B0503020204020204" pitchFamily="34" charset="-122"/>
            </a:endParaRPr>
          </a:p>
        </p:txBody>
      </p:sp>
    </p:spTree>
    <p:extLst>
      <p:ext uri="{BB962C8B-B14F-4D97-AF65-F5344CB8AC3E}">
        <p14:creationId xmlns:p14="http://schemas.microsoft.com/office/powerpoint/2010/main" val="1250195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E84A0B-76DD-444C-AF2A-F2BA632EC3A2}" type="datetime1">
              <a:rPr lang="zh-CN" altLang="en-US" smtClean="0"/>
              <a:t>2023/3/29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smtClean="0"/>
              <a:t>南开大学软件学院</a:t>
            </a:r>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
        <p:nvSpPr>
          <p:cNvPr id="8" name="六边形 7"/>
          <p:cNvSpPr/>
          <p:nvPr userDrawn="1"/>
        </p:nvSpPr>
        <p:spPr>
          <a:xfrm>
            <a:off x="273050" y="875506"/>
            <a:ext cx="353568" cy="304800"/>
          </a:xfrm>
          <a:prstGeom prst="hexag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6800850"/>
            <a:ext cx="12192000" cy="635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984549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0890504" y="6822185"/>
            <a:ext cx="1301750" cy="0"/>
          </a:xfrm>
          <a:custGeom>
            <a:avLst/>
            <a:gdLst/>
            <a:ahLst/>
            <a:cxnLst/>
            <a:rect l="l" t="t" r="r" b="b"/>
            <a:pathLst>
              <a:path w="1301750">
                <a:moveTo>
                  <a:pt x="0" y="0"/>
                </a:moveTo>
                <a:lnTo>
                  <a:pt x="1301496" y="0"/>
                </a:lnTo>
              </a:path>
            </a:pathLst>
          </a:custGeom>
          <a:ln w="71628">
            <a:solidFill>
              <a:srgbClr val="48504F"/>
            </a:solidFill>
          </a:ln>
        </p:spPr>
        <p:txBody>
          <a:bodyPr wrap="square" lIns="0" tIns="0" rIns="0" bIns="0" rtlCol="0"/>
          <a:lstStyle/>
          <a:p>
            <a:endParaRPr/>
          </a:p>
        </p:txBody>
      </p:sp>
      <p:sp>
        <p:nvSpPr>
          <p:cNvPr id="2" name="Holder 2"/>
          <p:cNvSpPr>
            <a:spLocks noGrp="1"/>
          </p:cNvSpPr>
          <p:nvPr>
            <p:ph type="title"/>
          </p:nvPr>
        </p:nvSpPr>
        <p:spPr>
          <a:xfrm>
            <a:off x="867562" y="272922"/>
            <a:ext cx="10456875" cy="391159"/>
          </a:xfrm>
          <a:prstGeom prst="rect">
            <a:avLst/>
          </a:prstGeom>
        </p:spPr>
        <p:txBody>
          <a:bodyPr wrap="square" lIns="0" tIns="0" rIns="0" bIns="0">
            <a:spAutoFit/>
          </a:bodyPr>
          <a:lstStyle>
            <a:lvl1pPr>
              <a:defRPr sz="2400" b="1" i="0">
                <a:solidFill>
                  <a:srgbClr val="C00000"/>
                </a:solidFill>
                <a:latin typeface="Microsoft JhengHei"/>
                <a:cs typeface="Microsoft JhengHei"/>
              </a:defRPr>
            </a:lvl1pPr>
          </a:lstStyle>
          <a:p>
            <a:endParaRPr/>
          </a:p>
        </p:txBody>
      </p:sp>
      <p:sp>
        <p:nvSpPr>
          <p:cNvPr id="3" name="Holder 3"/>
          <p:cNvSpPr>
            <a:spLocks noGrp="1"/>
          </p:cNvSpPr>
          <p:nvPr>
            <p:ph type="body" idx="1"/>
          </p:nvPr>
        </p:nvSpPr>
        <p:spPr>
          <a:xfrm>
            <a:off x="518591" y="1157986"/>
            <a:ext cx="11154816" cy="2505075"/>
          </a:xfrm>
          <a:prstGeom prst="rect">
            <a:avLst/>
          </a:prstGeom>
        </p:spPr>
        <p:txBody>
          <a:bodyPr wrap="square" lIns="0" tIns="0" rIns="0" bIns="0">
            <a:spAutoFit/>
          </a:bodyPr>
          <a:lstStyle>
            <a:lvl1pPr>
              <a:defRPr sz="1600" b="0" i="0">
                <a:solidFill>
                  <a:srgbClr val="252525"/>
                </a:solidFill>
                <a:latin typeface="宋体"/>
                <a:cs typeface="宋体"/>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zh-CN" altLang="en-US" smtClean="0"/>
              <a:t>南开大学软件学院</a:t>
            </a:r>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D4A331DF-3761-4097-A363-2A46E4053155}" type="datetime1">
              <a:rPr lang="zh-CN" altLang="en-US" smtClean="0"/>
              <a:t>2023/3/29</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
        <p:nvSpPr>
          <p:cNvPr id="9" name="矩形 22"/>
          <p:cNvSpPr>
            <a:spLocks noChangeArrowheads="1"/>
          </p:cNvSpPr>
          <p:nvPr userDrawn="1"/>
        </p:nvSpPr>
        <p:spPr bwMode="auto">
          <a:xfrm>
            <a:off x="1" y="6800153"/>
            <a:ext cx="3581400" cy="57847"/>
          </a:xfrm>
          <a:prstGeom prst="rect">
            <a:avLst/>
          </a:prstGeom>
          <a:solidFill>
            <a:srgbClr val="C00000"/>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latin typeface="Segoe UI" panose="020B0502040204020203" pitchFamily="34" charset="0"/>
              <a:ea typeface="微软雅黑" panose="020B0503020204020204" pitchFamily="34" charset="-122"/>
            </a:endParaRPr>
          </a:p>
        </p:txBody>
      </p:sp>
    </p:spTree>
    <p:extLst>
      <p:ext uri="{BB962C8B-B14F-4D97-AF65-F5344CB8AC3E}">
        <p14:creationId xmlns:p14="http://schemas.microsoft.com/office/powerpoint/2010/main" val="40665341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emf"/><Relationship Id="rId7" Type="http://schemas.openxmlformats.org/officeDocument/2006/relationships/image" Target="../media/image69.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sz="4800" dirty="0" smtClean="0">
                <a:latin typeface="宋体" panose="02010600030101010101" pitchFamily="2" charset="-122"/>
                <a:ea typeface="宋体" panose="02010600030101010101" pitchFamily="2" charset="-122"/>
              </a:rPr>
              <a:t>HTML5</a:t>
            </a:r>
            <a:r>
              <a:rPr lang="zh-CN" altLang="en-US" sz="4800" dirty="0" smtClean="0">
                <a:latin typeface="宋体" panose="02010600030101010101" pitchFamily="2" charset="-122"/>
                <a:ea typeface="宋体" panose="02010600030101010101" pitchFamily="2" charset="-122"/>
              </a:rPr>
              <a:t>简介</a:t>
            </a:r>
            <a:endParaRPr lang="zh-CN" altLang="en-US" sz="4800" dirty="0">
              <a:latin typeface="宋体" panose="02010600030101010101" pitchFamily="2" charset="-122"/>
              <a:ea typeface="宋体" panose="02010600030101010101" pitchFamily="2" charset="-122"/>
            </a:endParaRPr>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1</a:t>
            </a:fld>
            <a:endParaRPr lang="zh-CN" altLang="en-US"/>
          </a:p>
        </p:txBody>
      </p:sp>
    </p:spTree>
    <p:extLst>
      <p:ext uri="{BB962C8B-B14F-4D97-AF65-F5344CB8AC3E}">
        <p14:creationId xmlns:p14="http://schemas.microsoft.com/office/powerpoint/2010/main" val="5373903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a:t>
            </a:r>
            <a:r>
              <a:rPr lang="en-US" altLang="zh-CN" dirty="0" smtClean="0"/>
              <a:t>HTML5</a:t>
            </a:r>
            <a:r>
              <a:rPr lang="zh-CN" altLang="en-US" dirty="0" smtClean="0"/>
              <a:t>？</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生态</a:t>
            </a:r>
            <a:r>
              <a:rPr lang="en-US" altLang="zh-CN" dirty="0" smtClean="0"/>
              <a:t>/</a:t>
            </a:r>
            <a:r>
              <a:rPr lang="zh-CN" altLang="en-US" dirty="0" smtClean="0"/>
              <a:t>应用             </a:t>
            </a:r>
            <a:r>
              <a:rPr lang="en-US" altLang="zh-CN" dirty="0" smtClean="0"/>
              <a:t>web</a:t>
            </a:r>
            <a:r>
              <a:rPr lang="zh-CN" altLang="en-US" dirty="0" smtClean="0"/>
              <a:t>标准</a:t>
            </a:r>
            <a:endParaRPr lang="en-US" altLang="zh-CN" dirty="0" smtClean="0"/>
          </a:p>
          <a:p>
            <a:pPr marL="0" indent="0">
              <a:buNone/>
            </a:pPr>
            <a:r>
              <a:rPr lang="en-US" altLang="zh-CN" dirty="0" smtClean="0"/>
              <a:t>H5</a:t>
            </a:r>
            <a:r>
              <a:rPr lang="zh-CN" altLang="en-US" dirty="0" smtClean="0"/>
              <a:t>页面是一种生态或者说是应用，而</a:t>
            </a:r>
            <a:r>
              <a:rPr lang="en-US" altLang="zh-CN" dirty="0" smtClean="0"/>
              <a:t>HTML5</a:t>
            </a:r>
            <a:r>
              <a:rPr lang="zh-CN" altLang="en-US" dirty="0" smtClean="0"/>
              <a:t>是一种</a:t>
            </a:r>
            <a:r>
              <a:rPr lang="en-US" altLang="zh-CN" dirty="0" smtClean="0"/>
              <a:t>web</a:t>
            </a:r>
            <a:r>
              <a:rPr lang="zh-CN" altLang="en-US" dirty="0" smtClean="0"/>
              <a:t>标准。</a:t>
            </a:r>
            <a:endParaRPr lang="en-US" altLang="zh-CN" dirty="0" smtClean="0"/>
          </a:p>
          <a:p>
            <a:pPr marL="0" indent="0">
              <a:buNone/>
            </a:pPr>
            <a:endParaRPr lang="en-US" altLang="zh-CN" dirty="0" smtClean="0"/>
          </a:p>
        </p:txBody>
      </p:sp>
      <p:sp>
        <p:nvSpPr>
          <p:cNvPr id="5" name="右箭头 4"/>
          <p:cNvSpPr/>
          <p:nvPr/>
        </p:nvSpPr>
        <p:spPr>
          <a:xfrm>
            <a:off x="2875109" y="1939925"/>
            <a:ext cx="341598" cy="2695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a:stretch>
            <a:fillRect/>
          </a:stretch>
        </p:blipFill>
        <p:spPr>
          <a:xfrm>
            <a:off x="838200" y="3788261"/>
            <a:ext cx="4415416" cy="2753945"/>
          </a:xfrm>
          <a:prstGeom prst="rect">
            <a:avLst/>
          </a:prstGeom>
        </p:spPr>
      </p:pic>
      <p:sp>
        <p:nvSpPr>
          <p:cNvPr id="6" name="灯片编号占位符 5"/>
          <p:cNvSpPr>
            <a:spLocks noGrp="1"/>
          </p:cNvSpPr>
          <p:nvPr>
            <p:ph type="sldNum" sz="quarter" idx="12"/>
          </p:nvPr>
        </p:nvSpPr>
        <p:spPr/>
        <p:txBody>
          <a:bodyPr/>
          <a:lstStyle/>
          <a:p>
            <a:fld id="{565CE74E-AB26-4998-AD42-012C4C1AD076}" type="slidenum">
              <a:rPr lang="zh-CN" altLang="en-US" smtClean="0"/>
              <a:pPr/>
              <a:t>2</a:t>
            </a:fld>
            <a:endParaRPr lang="zh-CN" altLang="en-US"/>
          </a:p>
        </p:txBody>
      </p:sp>
    </p:spTree>
    <p:extLst>
      <p:ext uri="{BB962C8B-B14F-4D97-AF65-F5344CB8AC3E}">
        <p14:creationId xmlns:p14="http://schemas.microsoft.com/office/powerpoint/2010/main" val="25709417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latin typeface="宋体" panose="02010600030101010101" pitchFamily="2" charset="-122"/>
                <a:ea typeface="宋体" panose="02010600030101010101" pitchFamily="2" charset="-122"/>
              </a:rPr>
              <a:t>丰富以及语义化的新标签</a:t>
            </a:r>
            <a:endParaRPr lang="en-US" altLang="zh-CN" dirty="0" smtClean="0">
              <a:latin typeface="宋体" panose="02010600030101010101" pitchFamily="2" charset="-122"/>
              <a:ea typeface="宋体" panose="02010600030101010101" pitchFamily="2" charset="-122"/>
            </a:endParaRPr>
          </a:p>
          <a:p>
            <a:pPr marL="457200" indent="-457200">
              <a:buFont typeface="+mj-lt"/>
              <a:buAutoNum type="arabicPeriod"/>
            </a:pPr>
            <a:r>
              <a:rPr lang="zh-CN" altLang="en-US" sz="2200" dirty="0">
                <a:latin typeface="宋体" panose="02010600030101010101" pitchFamily="2" charset="-122"/>
                <a:ea typeface="宋体" panose="02010600030101010101" pitchFamily="2" charset="-122"/>
              </a:rPr>
              <a:t>新的区块和段落：</a:t>
            </a:r>
            <a:r>
              <a:rPr lang="en-US" altLang="zh-CN" sz="2200" dirty="0">
                <a:latin typeface="宋体" panose="02010600030101010101" pitchFamily="2" charset="-122"/>
                <a:ea typeface="宋体" panose="02010600030101010101" pitchFamily="2" charset="-122"/>
              </a:rPr>
              <a:t>&lt;section&gt; | &lt;article&gt; | &lt;</a:t>
            </a:r>
            <a:r>
              <a:rPr lang="en-US" altLang="zh-CN" sz="2200" dirty="0" err="1">
                <a:latin typeface="宋体" panose="02010600030101010101" pitchFamily="2" charset="-122"/>
                <a:ea typeface="宋体" panose="02010600030101010101" pitchFamily="2" charset="-122"/>
              </a:rPr>
              <a:t>nav</a:t>
            </a:r>
            <a:r>
              <a:rPr lang="en-US" altLang="zh-CN" sz="2200" dirty="0">
                <a:latin typeface="宋体" panose="02010600030101010101" pitchFamily="2" charset="-122"/>
                <a:ea typeface="宋体" panose="02010600030101010101" pitchFamily="2" charset="-122"/>
              </a:rPr>
              <a:t>&gt; | &lt;header&gt; </a:t>
            </a:r>
            <a:r>
              <a:rPr lang="en-US" altLang="zh-CN" sz="2200" dirty="0" smtClean="0">
                <a:latin typeface="宋体" panose="02010600030101010101" pitchFamily="2" charset="-122"/>
                <a:ea typeface="宋体" panose="02010600030101010101" pitchFamily="2" charset="-122"/>
              </a:rPr>
              <a:t>| &lt;</a:t>
            </a:r>
            <a:r>
              <a:rPr lang="en-US" altLang="zh-CN" sz="2200" dirty="0">
                <a:latin typeface="宋体" panose="02010600030101010101" pitchFamily="2" charset="-122"/>
                <a:ea typeface="宋体" panose="02010600030101010101" pitchFamily="2" charset="-122"/>
              </a:rPr>
              <a:t>footer&gt; | &lt;aside</a:t>
            </a:r>
            <a:r>
              <a:rPr lang="en-US" altLang="zh-CN" sz="2200" dirty="0" smtClean="0">
                <a:latin typeface="宋体" panose="02010600030101010101" pitchFamily="2" charset="-122"/>
                <a:ea typeface="宋体" panose="02010600030101010101" pitchFamily="2" charset="-122"/>
              </a:rPr>
              <a:t>&gt;</a:t>
            </a:r>
          </a:p>
          <a:p>
            <a:pPr marL="457200" indent="-457200">
              <a:buFont typeface="+mj-lt"/>
              <a:buAutoNum type="arabicPeriod"/>
            </a:pPr>
            <a:r>
              <a:rPr lang="zh-CN" altLang="en-US" sz="2200" dirty="0">
                <a:latin typeface="宋体" panose="02010600030101010101" pitchFamily="2" charset="-122"/>
                <a:ea typeface="宋体" panose="02010600030101010101" pitchFamily="2" charset="-122"/>
              </a:rPr>
              <a:t>全新的元素： </a:t>
            </a:r>
            <a:r>
              <a:rPr lang="en-US" altLang="zh-CN" sz="2200" dirty="0">
                <a:latin typeface="宋体" panose="02010600030101010101" pitchFamily="2" charset="-122"/>
                <a:ea typeface="宋体" panose="02010600030101010101" pitchFamily="2" charset="-122"/>
              </a:rPr>
              <a:t>&lt;main&gt; | &lt;figure&gt; | &lt;</a:t>
            </a:r>
            <a:r>
              <a:rPr lang="en-US" altLang="zh-CN" sz="2200" dirty="0" err="1">
                <a:latin typeface="宋体" panose="02010600030101010101" pitchFamily="2" charset="-122"/>
                <a:ea typeface="宋体" panose="02010600030101010101" pitchFamily="2" charset="-122"/>
              </a:rPr>
              <a:t>figcaption</a:t>
            </a:r>
            <a:r>
              <a:rPr lang="en-US" altLang="zh-CN" sz="2200" dirty="0">
                <a:latin typeface="宋体" panose="02010600030101010101" pitchFamily="2" charset="-122"/>
                <a:ea typeface="宋体" panose="02010600030101010101" pitchFamily="2" charset="-122"/>
              </a:rPr>
              <a:t>&gt; | &lt;time&gt; </a:t>
            </a:r>
            <a:r>
              <a:rPr lang="en-US" altLang="zh-CN" sz="2200" dirty="0" smtClean="0">
                <a:latin typeface="宋体" panose="02010600030101010101" pitchFamily="2" charset="-122"/>
                <a:ea typeface="宋体" panose="02010600030101010101" pitchFamily="2" charset="-122"/>
              </a:rPr>
              <a:t>| &lt;</a:t>
            </a:r>
            <a:r>
              <a:rPr lang="en-US" altLang="zh-CN" sz="2200" dirty="0">
                <a:latin typeface="宋体" panose="02010600030101010101" pitchFamily="2" charset="-122"/>
                <a:ea typeface="宋体" panose="02010600030101010101" pitchFamily="2" charset="-122"/>
              </a:rPr>
              <a:t>progress&gt; | &lt;mark&gt; </a:t>
            </a:r>
            <a:r>
              <a:rPr lang="zh-CN" altLang="en-US" sz="2200" dirty="0">
                <a:latin typeface="宋体" panose="02010600030101010101" pitchFamily="2" charset="-122"/>
                <a:ea typeface="宋体" panose="02010600030101010101" pitchFamily="2" charset="-122"/>
              </a:rPr>
              <a:t>等</a:t>
            </a:r>
          </a:p>
          <a:p>
            <a:pPr marL="457200" indent="-457200">
              <a:buFont typeface="+mj-lt"/>
              <a:buAutoNum type="arabicPeriod"/>
            </a:pPr>
            <a:r>
              <a:rPr lang="zh-CN" altLang="en-US" sz="2200" dirty="0">
                <a:latin typeface="宋体" panose="02010600030101010101" pitchFamily="2" charset="-122"/>
                <a:ea typeface="宋体" panose="02010600030101010101" pitchFamily="2" charset="-122"/>
              </a:rPr>
              <a:t>多媒体标签： </a:t>
            </a:r>
            <a:r>
              <a:rPr lang="en-US" altLang="zh-CN" sz="2200" dirty="0">
                <a:latin typeface="宋体" panose="02010600030101010101" pitchFamily="2" charset="-122"/>
                <a:ea typeface="宋体" panose="02010600030101010101" pitchFamily="2" charset="-122"/>
              </a:rPr>
              <a:t>&lt;video&gt; | &lt;audio&gt;</a:t>
            </a:r>
          </a:p>
          <a:p>
            <a:pPr marL="457200" indent="-457200">
              <a:buFont typeface="+mj-lt"/>
              <a:buAutoNum type="arabicPeriod"/>
            </a:pPr>
            <a:r>
              <a:rPr lang="zh-CN" altLang="en-US" sz="2200" dirty="0">
                <a:latin typeface="宋体" panose="02010600030101010101" pitchFamily="2" charset="-122"/>
                <a:ea typeface="宋体" panose="02010600030101010101" pitchFamily="2" charset="-122"/>
              </a:rPr>
              <a:t>更丰富的表单</a:t>
            </a:r>
            <a:r>
              <a:rPr lang="zh-CN" altLang="en-US" sz="2200" dirty="0" smtClean="0">
                <a:latin typeface="宋体" panose="02010600030101010101" pitchFamily="2" charset="-122"/>
                <a:ea typeface="宋体" panose="02010600030101010101" pitchFamily="2" charset="-122"/>
              </a:rPr>
              <a:t>：更多</a:t>
            </a:r>
            <a:r>
              <a:rPr lang="zh-CN" altLang="en-US" sz="2200" dirty="0">
                <a:latin typeface="宋体" panose="02010600030101010101" pitchFamily="2" charset="-122"/>
                <a:ea typeface="宋体" panose="02010600030101010101" pitchFamily="2" charset="-122"/>
              </a:rPr>
              <a:t>类型的 </a:t>
            </a:r>
            <a:r>
              <a:rPr lang="en-US" altLang="zh-CN" sz="2200" dirty="0">
                <a:latin typeface="宋体" panose="02010600030101010101" pitchFamily="2" charset="-122"/>
                <a:ea typeface="宋体" panose="02010600030101010101" pitchFamily="2" charset="-122"/>
              </a:rPr>
              <a:t>&lt;input&gt; | &lt;output</a:t>
            </a:r>
            <a:r>
              <a:rPr lang="en-US" altLang="zh-CN" sz="2200" dirty="0" smtClean="0">
                <a:latin typeface="宋体" panose="02010600030101010101" pitchFamily="2" charset="-122"/>
                <a:ea typeface="宋体" panose="02010600030101010101" pitchFamily="2" charset="-122"/>
              </a:rPr>
              <a:t>&gt;</a:t>
            </a:r>
          </a:p>
          <a:p>
            <a:pPr marL="0" indent="0">
              <a:buNone/>
            </a:pPr>
            <a:r>
              <a:rPr lang="zh-CN" altLang="en-US" sz="2200" dirty="0" smtClean="0">
                <a:latin typeface="宋体" panose="02010600030101010101" pitchFamily="2" charset="-122"/>
                <a:ea typeface="宋体" panose="02010600030101010101" pitchFamily="2" charset="-122"/>
              </a:rPr>
              <a:t>     关于输入类型：</a:t>
            </a:r>
            <a:r>
              <a:rPr lang="en-US" altLang="zh-CN" sz="2200" dirty="0" smtClean="0">
                <a:latin typeface="宋体" panose="02010600030101010101" pitchFamily="2" charset="-122"/>
                <a:ea typeface="宋体" panose="02010600030101010101" pitchFamily="2" charset="-122"/>
              </a:rPr>
              <a:t>color</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date</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email</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number</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search</a:t>
            </a:r>
            <a:r>
              <a:rPr lang="zh-CN" altLang="en-US"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tel</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time</a:t>
            </a:r>
            <a:r>
              <a:rPr lang="zh-CN" altLang="en-US"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url</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week</a:t>
            </a:r>
          </a:p>
          <a:p>
            <a:pPr marL="0" indent="0">
              <a:buNone/>
            </a:pPr>
            <a:endParaRPr lang="zh-CN" altLang="en-US" sz="2200"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3</a:t>
            </a:fld>
            <a:endParaRPr lang="zh-CN" altLang="en-US"/>
          </a:p>
        </p:txBody>
      </p:sp>
    </p:spTree>
    <p:extLst>
      <p:ext uri="{BB962C8B-B14F-4D97-AF65-F5344CB8AC3E}">
        <p14:creationId xmlns:p14="http://schemas.microsoft.com/office/powerpoint/2010/main" val="6076311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p:txBody>
          <a:bodyPr/>
          <a:lstStyle/>
          <a:p>
            <a:pPr marL="0" indent="0">
              <a:buNone/>
            </a:pPr>
            <a:r>
              <a:rPr lang="en-US" altLang="zh-CN" sz="2200" dirty="0" smtClean="0"/>
              <a:t>     </a:t>
            </a:r>
            <a:endParaRPr lang="zh-CN" altLang="en-US" sz="2200" dirty="0"/>
          </a:p>
        </p:txBody>
      </p:sp>
      <p:sp>
        <p:nvSpPr>
          <p:cNvPr id="4" name="矩形 3"/>
          <p:cNvSpPr/>
          <p:nvPr/>
        </p:nvSpPr>
        <p:spPr>
          <a:xfrm>
            <a:off x="838200" y="1690688"/>
            <a:ext cx="10515600" cy="4154984"/>
          </a:xfrm>
          <a:prstGeom prst="rect">
            <a:avLst/>
          </a:prstGeom>
        </p:spPr>
        <p:txBody>
          <a:bodyPr wrap="square">
            <a:spAutoFit/>
          </a:bodyPr>
          <a:lstStyle/>
          <a:p>
            <a:pPr>
              <a:lnSpc>
                <a:spcPct val="150000"/>
              </a:lnSpc>
            </a:pPr>
            <a:r>
              <a:rPr lang="en-US" altLang="zh-CN" sz="2200" dirty="0">
                <a:latin typeface="宋体" panose="02010600030101010101" pitchFamily="2" charset="-122"/>
                <a:ea typeface="宋体" panose="02010600030101010101" pitchFamily="2" charset="-122"/>
              </a:rPr>
              <a:t>HTML </a:t>
            </a:r>
            <a:r>
              <a:rPr lang="zh-CN" altLang="en-US" sz="2200" dirty="0">
                <a:latin typeface="宋体" panose="02010600030101010101" pitchFamily="2" charset="-122"/>
                <a:ea typeface="宋体" panose="02010600030101010101" pitchFamily="2" charset="-122"/>
              </a:rPr>
              <a:t>语义化的建议</a:t>
            </a:r>
            <a:r>
              <a:rPr lang="zh-CN" altLang="en-US" sz="2200" dirty="0" smtClean="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a:p>
            <a:pPr marL="457200" indent="-457200">
              <a:lnSpc>
                <a:spcPct val="150000"/>
              </a:lnSpc>
              <a:buFont typeface="+mj-lt"/>
              <a:buAutoNum type="arabicPeriod"/>
            </a:pPr>
            <a:r>
              <a:rPr lang="zh-CN" altLang="en-US" sz="2200" dirty="0">
                <a:latin typeface="宋体" panose="02010600030101010101" pitchFamily="2" charset="-122"/>
                <a:ea typeface="宋体" panose="02010600030101010101" pitchFamily="2" charset="-122"/>
              </a:rPr>
              <a:t>少使用无意义的 </a:t>
            </a:r>
            <a:r>
              <a:rPr lang="en-US" altLang="zh-CN" sz="2200" dirty="0">
                <a:latin typeface="宋体" panose="02010600030101010101" pitchFamily="2" charset="-122"/>
                <a:ea typeface="宋体" panose="02010600030101010101" pitchFamily="2" charset="-122"/>
              </a:rPr>
              <a:t>&lt;div&gt;</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&lt;span&gt;</a:t>
            </a:r>
            <a:r>
              <a:rPr lang="zh-CN" altLang="en-US" sz="2200" dirty="0">
                <a:latin typeface="宋体" panose="02010600030101010101" pitchFamily="2" charset="-122"/>
                <a:ea typeface="宋体" panose="02010600030101010101" pitchFamily="2" charset="-122"/>
              </a:rPr>
              <a:t>标签；</a:t>
            </a:r>
          </a:p>
          <a:p>
            <a:pPr marL="457200" indent="-457200">
              <a:lnSpc>
                <a:spcPct val="150000"/>
              </a:lnSpc>
              <a:buFont typeface="+mj-lt"/>
              <a:buAutoNum type="arabicPeriod"/>
            </a:pPr>
            <a:r>
              <a:rPr lang="zh-CN" altLang="en-US" sz="2200" dirty="0">
                <a:latin typeface="宋体" panose="02010600030101010101" pitchFamily="2" charset="-122"/>
                <a:ea typeface="宋体" panose="02010600030101010101" pitchFamily="2" charset="-122"/>
              </a:rPr>
              <a:t>在 </a:t>
            </a:r>
            <a:r>
              <a:rPr lang="en-US" altLang="zh-CN" sz="2200" dirty="0">
                <a:latin typeface="宋体" panose="02010600030101010101" pitchFamily="2" charset="-122"/>
                <a:ea typeface="宋体" panose="02010600030101010101" pitchFamily="2" charset="-122"/>
              </a:rPr>
              <a:t>&lt;label&gt;</a:t>
            </a:r>
            <a:r>
              <a:rPr lang="zh-CN" altLang="en-US" sz="2200" dirty="0">
                <a:latin typeface="宋体" panose="02010600030101010101" pitchFamily="2" charset="-122"/>
                <a:ea typeface="宋体" panose="02010600030101010101" pitchFamily="2" charset="-122"/>
              </a:rPr>
              <a:t>标签中设置 </a:t>
            </a:r>
            <a:r>
              <a:rPr lang="en-US" altLang="zh-CN" sz="2200" dirty="0">
                <a:latin typeface="宋体" panose="02010600030101010101" pitchFamily="2" charset="-122"/>
                <a:ea typeface="宋体" panose="02010600030101010101" pitchFamily="2" charset="-122"/>
              </a:rPr>
              <a:t>for </a:t>
            </a:r>
            <a:r>
              <a:rPr lang="zh-CN" altLang="en-US" sz="2200" dirty="0">
                <a:latin typeface="宋体" panose="02010600030101010101" pitchFamily="2" charset="-122"/>
                <a:ea typeface="宋体" panose="02010600030101010101" pitchFamily="2" charset="-122"/>
              </a:rPr>
              <a:t>属性和对应的 </a:t>
            </a:r>
            <a:r>
              <a:rPr lang="en-US" altLang="zh-CN" sz="2200" dirty="0">
                <a:latin typeface="宋体" panose="02010600030101010101" pitchFamily="2" charset="-122"/>
                <a:ea typeface="宋体" panose="02010600030101010101" pitchFamily="2" charset="-122"/>
              </a:rPr>
              <a:t>&lt;input&gt;</a:t>
            </a:r>
            <a:r>
              <a:rPr lang="zh-CN" altLang="en-US" sz="2200" dirty="0">
                <a:latin typeface="宋体" panose="02010600030101010101" pitchFamily="2" charset="-122"/>
                <a:ea typeface="宋体" panose="02010600030101010101" pitchFamily="2" charset="-122"/>
              </a:rPr>
              <a:t>关联起来；</a:t>
            </a:r>
          </a:p>
          <a:p>
            <a:pPr marL="457200" indent="-457200">
              <a:lnSpc>
                <a:spcPct val="150000"/>
              </a:lnSpc>
              <a:buFont typeface="+mj-lt"/>
              <a:buAutoNum type="arabicPeriod"/>
            </a:pPr>
            <a:r>
              <a:rPr lang="zh-CN" altLang="en-US" sz="2200" dirty="0">
                <a:latin typeface="宋体" panose="02010600030101010101" pitchFamily="2" charset="-122"/>
                <a:ea typeface="宋体" panose="02010600030101010101" pitchFamily="2" charset="-122"/>
              </a:rPr>
              <a:t>设置</a:t>
            </a:r>
            <a:r>
              <a:rPr lang="en-US" altLang="zh-CN" sz="2200" dirty="0">
                <a:latin typeface="宋体" panose="02010600030101010101" pitchFamily="2" charset="-122"/>
                <a:ea typeface="宋体" panose="02010600030101010101" pitchFamily="2" charset="-122"/>
              </a:rPr>
              <a:t>&lt;</a:t>
            </a:r>
            <a:r>
              <a:rPr lang="en-US" altLang="zh-CN" sz="2200" dirty="0" err="1">
                <a:latin typeface="宋体" panose="02010600030101010101" pitchFamily="2" charset="-122"/>
                <a:ea typeface="宋体" panose="02010600030101010101" pitchFamily="2" charset="-122"/>
              </a:rPr>
              <a:t>img</a:t>
            </a:r>
            <a:r>
              <a:rPr lang="en-US" altLang="zh-CN" sz="2200" dirty="0">
                <a:latin typeface="宋体" panose="02010600030101010101" pitchFamily="2" charset="-122"/>
                <a:ea typeface="宋体" panose="02010600030101010101" pitchFamily="2" charset="-122"/>
              </a:rPr>
              <a:t>&gt;</a:t>
            </a:r>
            <a:r>
              <a:rPr lang="zh-CN" altLang="en-US" sz="2200" dirty="0">
                <a:latin typeface="宋体" panose="02010600030101010101" pitchFamily="2" charset="-122"/>
                <a:ea typeface="宋体" panose="02010600030101010101" pitchFamily="2" charset="-122"/>
              </a:rPr>
              <a:t>标签的 </a:t>
            </a:r>
            <a:r>
              <a:rPr lang="en-US" altLang="zh-CN" sz="2200" dirty="0">
                <a:latin typeface="宋体" panose="02010600030101010101" pitchFamily="2" charset="-122"/>
                <a:ea typeface="宋体" panose="02010600030101010101" pitchFamily="2" charset="-122"/>
              </a:rPr>
              <a:t>alt </a:t>
            </a:r>
            <a:r>
              <a:rPr lang="zh-CN" altLang="en-US" sz="2200" dirty="0">
                <a:latin typeface="宋体" panose="02010600030101010101" pitchFamily="2" charset="-122"/>
                <a:ea typeface="宋体" panose="02010600030101010101" pitchFamily="2" charset="-122"/>
              </a:rPr>
              <a:t>属性，给</a:t>
            </a:r>
            <a:r>
              <a:rPr lang="en-US" altLang="zh-CN" sz="2200" dirty="0">
                <a:latin typeface="宋体" panose="02010600030101010101" pitchFamily="2" charset="-122"/>
                <a:ea typeface="宋体" panose="02010600030101010101" pitchFamily="2" charset="-122"/>
              </a:rPr>
              <a:t>&lt;a&gt;</a:t>
            </a:r>
            <a:r>
              <a:rPr lang="zh-CN" altLang="en-US" sz="2200" dirty="0">
                <a:latin typeface="宋体" panose="02010600030101010101" pitchFamily="2" charset="-122"/>
                <a:ea typeface="宋体" panose="02010600030101010101" pitchFamily="2" charset="-122"/>
              </a:rPr>
              <a:t>标签设置 </a:t>
            </a:r>
            <a:r>
              <a:rPr lang="en-US" altLang="zh-CN" sz="2200" dirty="0">
                <a:latin typeface="宋体" panose="02010600030101010101" pitchFamily="2" charset="-122"/>
                <a:ea typeface="宋体" panose="02010600030101010101" pitchFamily="2" charset="-122"/>
              </a:rPr>
              <a:t>title </a:t>
            </a:r>
            <a:r>
              <a:rPr lang="zh-CN" altLang="en-US" sz="2200" dirty="0">
                <a:latin typeface="宋体" panose="02010600030101010101" pitchFamily="2" charset="-122"/>
                <a:ea typeface="宋体" panose="02010600030101010101" pitchFamily="2" charset="-122"/>
              </a:rPr>
              <a:t>属性，利于 </a:t>
            </a:r>
            <a:r>
              <a:rPr lang="en-US" altLang="zh-CN" sz="2200" dirty="0">
                <a:latin typeface="宋体" panose="02010600030101010101" pitchFamily="2" charset="-122"/>
                <a:ea typeface="宋体" panose="02010600030101010101" pitchFamily="2" charset="-122"/>
              </a:rPr>
              <a:t>SEO</a:t>
            </a:r>
            <a:r>
              <a:rPr lang="zh-CN" altLang="en-US" sz="2200" dirty="0">
                <a:latin typeface="宋体" panose="02010600030101010101" pitchFamily="2" charset="-122"/>
                <a:ea typeface="宋体" panose="02010600030101010101" pitchFamily="2" charset="-122"/>
              </a:rPr>
              <a:t>；</a:t>
            </a:r>
          </a:p>
          <a:p>
            <a:pPr marL="457200" indent="-457200">
              <a:lnSpc>
                <a:spcPct val="150000"/>
              </a:lnSpc>
              <a:buFont typeface="+mj-lt"/>
              <a:buAutoNum type="arabicPeriod"/>
            </a:pPr>
            <a:r>
              <a:rPr lang="zh-CN" altLang="en-US" sz="2200" dirty="0">
                <a:latin typeface="宋体" panose="02010600030101010101" pitchFamily="2" charset="-122"/>
                <a:ea typeface="宋体" panose="02010600030101010101" pitchFamily="2" charset="-122"/>
              </a:rPr>
              <a:t>在页面的标题部分使用</a:t>
            </a:r>
            <a:r>
              <a:rPr lang="en-US" altLang="zh-CN" sz="2200" dirty="0">
                <a:latin typeface="宋体" panose="02010600030101010101" pitchFamily="2" charset="-122"/>
                <a:ea typeface="宋体" panose="02010600030101010101" pitchFamily="2" charset="-122"/>
              </a:rPr>
              <a:t>&lt;h1&gt;~&lt;h6&gt; </a:t>
            </a:r>
            <a:r>
              <a:rPr lang="zh-CN" altLang="en-US" sz="2200" dirty="0">
                <a:latin typeface="宋体" panose="02010600030101010101" pitchFamily="2" charset="-122"/>
                <a:ea typeface="宋体" panose="02010600030101010101" pitchFamily="2" charset="-122"/>
              </a:rPr>
              <a:t>标签，不需要给它们加多余的样式；</a:t>
            </a:r>
          </a:p>
          <a:p>
            <a:pPr marL="457200" indent="-457200">
              <a:lnSpc>
                <a:spcPct val="150000"/>
              </a:lnSpc>
              <a:buFont typeface="+mj-lt"/>
              <a:buAutoNum type="arabicPeriod"/>
            </a:pPr>
            <a:r>
              <a:rPr lang="zh-CN" altLang="en-US" sz="2200" dirty="0">
                <a:latin typeface="宋体" panose="02010600030101010101" pitchFamily="2" charset="-122"/>
                <a:ea typeface="宋体" panose="02010600030101010101" pitchFamily="2" charset="-122"/>
              </a:rPr>
              <a:t>与表单、有序列表、无序列表相关的标签不要单独使用</a:t>
            </a:r>
            <a:r>
              <a:rPr lang="zh-CN" altLang="en-US" sz="2200" dirty="0" smtClean="0">
                <a:latin typeface="宋体" panose="02010600030101010101" pitchFamily="2" charset="-122"/>
                <a:ea typeface="宋体" panose="02010600030101010101" pitchFamily="2" charset="-122"/>
              </a:rPr>
              <a:t>。</a:t>
            </a:r>
            <a:endParaRPr lang="en-US" altLang="zh-CN" sz="2200" dirty="0" smtClean="0">
              <a:latin typeface="宋体" panose="02010600030101010101" pitchFamily="2" charset="-122"/>
              <a:ea typeface="宋体" panose="02010600030101010101" pitchFamily="2" charset="-122"/>
            </a:endParaRPr>
          </a:p>
          <a:p>
            <a:pPr marL="457200" indent="-457200">
              <a:lnSpc>
                <a:spcPct val="150000"/>
              </a:lnSpc>
              <a:buFont typeface="+mj-lt"/>
              <a:buAutoNum type="arabicPeriod"/>
            </a:pPr>
            <a:endParaRPr lang="en-US" altLang="zh-CN" sz="2200" dirty="0">
              <a:latin typeface="宋体" panose="02010600030101010101" pitchFamily="2" charset="-122"/>
              <a:ea typeface="宋体" panose="02010600030101010101" pitchFamily="2" charset="-122"/>
            </a:endParaRPr>
          </a:p>
          <a:p>
            <a:pPr>
              <a:lnSpc>
                <a:spcPct val="150000"/>
              </a:lnSpc>
            </a:pPr>
            <a:r>
              <a:rPr lang="en-US" altLang="zh-CN" sz="2200" dirty="0">
                <a:latin typeface="宋体" panose="02010600030101010101" pitchFamily="2" charset="-122"/>
                <a:ea typeface="宋体" panose="02010600030101010101" pitchFamily="2" charset="-122"/>
              </a:rPr>
              <a:t>HTML5 </a:t>
            </a:r>
            <a:r>
              <a:rPr lang="zh-CN" altLang="en-US" sz="2200" dirty="0">
                <a:latin typeface="宋体" panose="02010600030101010101" pitchFamily="2" charset="-122"/>
                <a:ea typeface="宋体" panose="02010600030101010101" pitchFamily="2" charset="-122"/>
              </a:rPr>
              <a:t>也新增了一些语义化的元素</a:t>
            </a:r>
            <a:r>
              <a:rPr lang="zh-CN" altLang="en-US" sz="2200" dirty="0" smtClean="0">
                <a:latin typeface="宋体" panose="02010600030101010101" pitchFamily="2" charset="-122"/>
                <a:ea typeface="宋体" panose="02010600030101010101" pitchFamily="2" charset="-122"/>
              </a:rPr>
              <a:t>，通过</a:t>
            </a:r>
            <a:r>
              <a:rPr lang="zh-CN" altLang="en-US" sz="2200" dirty="0">
                <a:latin typeface="宋体" panose="02010600030101010101" pitchFamily="2" charset="-122"/>
                <a:ea typeface="宋体" panose="02010600030101010101" pitchFamily="2" charset="-122"/>
              </a:rPr>
              <a:t>标签名就能判断标签内容。</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pPr/>
              <a:t>4</a:t>
            </a:fld>
            <a:endParaRPr lang="zh-CN" altLang="en-US"/>
          </a:p>
        </p:txBody>
      </p:sp>
    </p:spTree>
    <p:extLst>
      <p:ext uri="{BB962C8B-B14F-4D97-AF65-F5344CB8AC3E}">
        <p14:creationId xmlns:p14="http://schemas.microsoft.com/office/powerpoint/2010/main" val="35519032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p:txBody>
          <a:bodyPr/>
          <a:lstStyle/>
          <a:p>
            <a:pPr marL="0" indent="0">
              <a:buNone/>
            </a:pPr>
            <a:r>
              <a:rPr lang="en-US" altLang="zh-CN" sz="2200" dirty="0" smtClean="0"/>
              <a:t>     </a:t>
            </a:r>
            <a:endParaRPr lang="zh-CN" altLang="en-US" sz="2200" dirty="0"/>
          </a:p>
        </p:txBody>
      </p:sp>
      <p:sp>
        <p:nvSpPr>
          <p:cNvPr id="4" name="矩形 3"/>
          <p:cNvSpPr/>
          <p:nvPr/>
        </p:nvSpPr>
        <p:spPr>
          <a:xfrm>
            <a:off x="838199" y="1690688"/>
            <a:ext cx="11078029" cy="4662815"/>
          </a:xfrm>
          <a:prstGeom prst="rect">
            <a:avLst/>
          </a:prstGeom>
        </p:spPr>
        <p:txBody>
          <a:bodyPr wrap="square">
            <a:spAutoFit/>
          </a:bodyPr>
          <a:lstStyle/>
          <a:p>
            <a:pPr marL="457200" indent="-457200">
              <a:lnSpc>
                <a:spcPct val="150000"/>
              </a:lnSpc>
              <a:buFont typeface="+mj-lt"/>
              <a:buAutoNum type="arabicPeriod"/>
            </a:pPr>
            <a:r>
              <a:rPr lang="en-US" altLang="zh-CN" sz="2200" dirty="0">
                <a:latin typeface="宋体" panose="02010600030101010101" pitchFamily="2" charset="-122"/>
                <a:ea typeface="宋体" panose="02010600030101010101" pitchFamily="2" charset="-122"/>
              </a:rPr>
              <a:t>&lt;header&gt;</a:t>
            </a:r>
            <a:r>
              <a:rPr lang="zh-CN" altLang="en-US" sz="2200" dirty="0">
                <a:latin typeface="宋体" panose="02010600030101010101" pitchFamily="2" charset="-122"/>
                <a:ea typeface="宋体" panose="02010600030101010101" pitchFamily="2" charset="-122"/>
              </a:rPr>
              <a:t>标签通常放在页面或页面某个区域的顶部，用来设置页眉；</a:t>
            </a:r>
          </a:p>
          <a:p>
            <a:pPr marL="457200" indent="-457200">
              <a:lnSpc>
                <a:spcPct val="150000"/>
              </a:lnSpc>
              <a:buFont typeface="+mj-lt"/>
              <a:buAutoNum type="arabicPeriod"/>
            </a:pPr>
            <a:r>
              <a:rPr lang="en-US" altLang="zh-CN" sz="2200" dirty="0">
                <a:latin typeface="宋体" panose="02010600030101010101" pitchFamily="2" charset="-122"/>
                <a:ea typeface="宋体" panose="02010600030101010101" pitchFamily="2" charset="-122"/>
              </a:rPr>
              <a:t>&lt;</a:t>
            </a:r>
            <a:r>
              <a:rPr lang="en-US" altLang="zh-CN" sz="2200" dirty="0" err="1">
                <a:latin typeface="宋体" panose="02010600030101010101" pitchFamily="2" charset="-122"/>
                <a:ea typeface="宋体" panose="02010600030101010101" pitchFamily="2" charset="-122"/>
              </a:rPr>
              <a:t>nav</a:t>
            </a:r>
            <a:r>
              <a:rPr lang="en-US" altLang="zh-CN" sz="2200" dirty="0">
                <a:latin typeface="宋体" panose="02010600030101010101" pitchFamily="2" charset="-122"/>
                <a:ea typeface="宋体" panose="02010600030101010101" pitchFamily="2" charset="-122"/>
              </a:rPr>
              <a:t>&gt;</a:t>
            </a:r>
            <a:r>
              <a:rPr lang="zh-CN" altLang="en-US" sz="2200" dirty="0">
                <a:latin typeface="宋体" panose="02010600030101010101" pitchFamily="2" charset="-122"/>
                <a:ea typeface="宋体" panose="02010600030101010101" pitchFamily="2" charset="-122"/>
              </a:rPr>
              <a:t>标签可以用来定义导航链接的集合，点击链接可以跳转到其他页面；</a:t>
            </a:r>
          </a:p>
          <a:p>
            <a:pPr marL="457200" indent="-457200">
              <a:lnSpc>
                <a:spcPct val="150000"/>
              </a:lnSpc>
              <a:buFont typeface="+mj-lt"/>
              <a:buAutoNum type="arabicPeriod"/>
            </a:pPr>
            <a:r>
              <a:rPr lang="en-US" altLang="zh-CN" sz="2200" dirty="0">
                <a:latin typeface="宋体" panose="02010600030101010101" pitchFamily="2" charset="-122"/>
                <a:ea typeface="宋体" panose="02010600030101010101" pitchFamily="2" charset="-122"/>
              </a:rPr>
              <a:t>&lt;article&gt;</a:t>
            </a:r>
            <a:r>
              <a:rPr lang="zh-CN" altLang="en-US" sz="2200" dirty="0">
                <a:latin typeface="宋体" panose="02010600030101010101" pitchFamily="2" charset="-122"/>
                <a:ea typeface="宋体" panose="02010600030101010101" pitchFamily="2" charset="-122"/>
              </a:rPr>
              <a:t>标签中的内容比较独立，可以是一篇新闻报道，一篇博客，它可以独立于页面的其他内容进行阅读；</a:t>
            </a:r>
          </a:p>
          <a:p>
            <a:pPr marL="457200" indent="-457200">
              <a:lnSpc>
                <a:spcPct val="150000"/>
              </a:lnSpc>
              <a:buFont typeface="+mj-lt"/>
              <a:buAutoNum type="arabicPeriod"/>
            </a:pPr>
            <a:r>
              <a:rPr lang="en-US" altLang="zh-CN" sz="2200" dirty="0">
                <a:latin typeface="宋体" panose="02010600030101010101" pitchFamily="2" charset="-122"/>
                <a:ea typeface="宋体" panose="02010600030101010101" pitchFamily="2" charset="-122"/>
              </a:rPr>
              <a:t>&lt;section&gt;</a:t>
            </a:r>
            <a:r>
              <a:rPr lang="zh-CN" altLang="en-US" sz="2200" dirty="0">
                <a:latin typeface="宋体" panose="02010600030101010101" pitchFamily="2" charset="-122"/>
                <a:ea typeface="宋体" panose="02010600030101010101" pitchFamily="2" charset="-122"/>
              </a:rPr>
              <a:t>标签表示页面中的一个区域，通常对页面进行分块或对内容进行分段，</a:t>
            </a:r>
            <a:r>
              <a:rPr lang="en-US" altLang="zh-CN" sz="2200" dirty="0">
                <a:latin typeface="宋体" panose="02010600030101010101" pitchFamily="2" charset="-122"/>
                <a:ea typeface="宋体" panose="02010600030101010101" pitchFamily="2" charset="-122"/>
              </a:rPr>
              <a:t>&lt;section&gt;</a:t>
            </a:r>
            <a:r>
              <a:rPr lang="zh-CN" altLang="en-US" sz="2200" dirty="0">
                <a:latin typeface="宋体" panose="02010600030101010101" pitchFamily="2" charset="-122"/>
                <a:ea typeface="宋体" panose="02010600030101010101" pitchFamily="2" charset="-122"/>
              </a:rPr>
              <a:t>标签和 </a:t>
            </a:r>
            <a:r>
              <a:rPr lang="en-US" altLang="zh-CN" sz="2200" dirty="0">
                <a:latin typeface="宋体" panose="02010600030101010101" pitchFamily="2" charset="-122"/>
                <a:ea typeface="宋体" panose="02010600030101010101" pitchFamily="2" charset="-122"/>
              </a:rPr>
              <a:t>&lt;article&gt;</a:t>
            </a:r>
            <a:r>
              <a:rPr lang="zh-CN" altLang="en-US" sz="2200" dirty="0">
                <a:latin typeface="宋体" panose="02010600030101010101" pitchFamily="2" charset="-122"/>
                <a:ea typeface="宋体" panose="02010600030101010101" pitchFamily="2" charset="-122"/>
              </a:rPr>
              <a:t>标签可以互相嵌套；</a:t>
            </a:r>
          </a:p>
          <a:p>
            <a:pPr marL="457200" indent="-457200">
              <a:lnSpc>
                <a:spcPct val="150000"/>
              </a:lnSpc>
              <a:buFont typeface="+mj-lt"/>
              <a:buAutoNum type="arabicPeriod"/>
            </a:pPr>
            <a:r>
              <a:rPr lang="en-US" altLang="zh-CN" sz="2200" dirty="0">
                <a:latin typeface="宋体" panose="02010600030101010101" pitchFamily="2" charset="-122"/>
                <a:ea typeface="宋体" panose="02010600030101010101" pitchFamily="2" charset="-122"/>
              </a:rPr>
              <a:t>&lt;aside&gt;</a:t>
            </a:r>
            <a:r>
              <a:rPr lang="zh-CN" altLang="en-US" sz="2200" dirty="0">
                <a:latin typeface="宋体" panose="02010600030101010101" pitchFamily="2" charset="-122"/>
                <a:ea typeface="宋体" panose="02010600030101010101" pitchFamily="2" charset="-122"/>
              </a:rPr>
              <a:t>标签用来表示除页面主要内容之外的内容，比如侧边栏；</a:t>
            </a:r>
          </a:p>
          <a:p>
            <a:pPr marL="457200" indent="-457200">
              <a:lnSpc>
                <a:spcPct val="150000"/>
              </a:lnSpc>
              <a:buFont typeface="+mj-lt"/>
              <a:buAutoNum type="arabicPeriod"/>
            </a:pPr>
            <a:r>
              <a:rPr lang="en-US" altLang="zh-CN" sz="2200" dirty="0">
                <a:latin typeface="宋体" panose="02010600030101010101" pitchFamily="2" charset="-122"/>
                <a:ea typeface="宋体" panose="02010600030101010101" pitchFamily="2" charset="-122"/>
              </a:rPr>
              <a:t>&lt;footer&gt;</a:t>
            </a:r>
            <a:r>
              <a:rPr lang="zh-CN" altLang="en-US" sz="2200" dirty="0">
                <a:latin typeface="宋体" panose="02010600030101010101" pitchFamily="2" charset="-122"/>
                <a:ea typeface="宋体" panose="02010600030101010101" pitchFamily="2" charset="-122"/>
              </a:rPr>
              <a:t>标签位于页面或页面某个区域的底部，用来设置页脚，通常包含版权信息，联系方式等。</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pPr/>
              <a:t>5</a:t>
            </a:fld>
            <a:endParaRPr lang="zh-CN" altLang="en-US"/>
          </a:p>
        </p:txBody>
      </p:sp>
    </p:spTree>
    <p:extLst>
      <p:ext uri="{BB962C8B-B14F-4D97-AF65-F5344CB8AC3E}">
        <p14:creationId xmlns:p14="http://schemas.microsoft.com/office/powerpoint/2010/main" val="10635905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p:txBody>
          <a:bodyPr/>
          <a:lstStyle/>
          <a:p>
            <a:pPr marL="0" indent="0">
              <a:buNone/>
            </a:pPr>
            <a:r>
              <a:rPr lang="en-US" altLang="zh-CN" sz="2200" dirty="0" smtClean="0"/>
              <a:t>     </a:t>
            </a:r>
            <a:endParaRPr lang="zh-CN" altLang="en-US" sz="2200" dirty="0"/>
          </a:p>
        </p:txBody>
      </p:sp>
      <p:sp>
        <p:nvSpPr>
          <p:cNvPr id="4" name="矩形 3"/>
          <p:cNvSpPr/>
          <p:nvPr/>
        </p:nvSpPr>
        <p:spPr>
          <a:xfrm>
            <a:off x="838200" y="1400402"/>
            <a:ext cx="11078029" cy="1536511"/>
          </a:xfrm>
          <a:prstGeom prst="rect">
            <a:avLst/>
          </a:prstGeom>
        </p:spPr>
        <p:txBody>
          <a:bodyPr wrap="square">
            <a:spAutoFit/>
          </a:bodyPr>
          <a:lstStyle/>
          <a:p>
            <a:pPr>
              <a:lnSpc>
                <a:spcPct val="150000"/>
              </a:lnSpc>
            </a:pPr>
            <a:r>
              <a:rPr lang="zh-CN" altLang="en-US" sz="2200" dirty="0">
                <a:latin typeface="宋体" panose="02010600030101010101" pitchFamily="2" charset="-122"/>
                <a:ea typeface="宋体" panose="02010600030101010101" pitchFamily="2" charset="-122"/>
              </a:rPr>
              <a:t>在</a:t>
            </a:r>
            <a:r>
              <a:rPr lang="en-US" altLang="zh-CN" sz="2200" dirty="0">
                <a:latin typeface="宋体" panose="02010600030101010101" pitchFamily="2" charset="-122"/>
                <a:ea typeface="宋体" panose="02010600030101010101" pitchFamily="2" charset="-122"/>
              </a:rPr>
              <a:t>HTML5</a:t>
            </a:r>
            <a:r>
              <a:rPr lang="zh-CN" altLang="en-US" sz="2200" dirty="0">
                <a:latin typeface="宋体" panose="02010600030101010101" pitchFamily="2" charset="-122"/>
                <a:ea typeface="宋体" panose="02010600030101010101" pitchFamily="2" charset="-122"/>
              </a:rPr>
              <a:t>前的表单标签中，对于一些功能支持的不够好，比如：文本框提示信息、表单校验、日期选择控件、颜色选择控件、范围控件、进度条、标签跨表单等功能，</a:t>
            </a:r>
            <a:r>
              <a:rPr lang="en-US" altLang="zh-CN" sz="2200" dirty="0">
                <a:latin typeface="宋体" panose="02010600030101010101" pitchFamily="2" charset="-122"/>
                <a:ea typeface="宋体" panose="02010600030101010101" pitchFamily="2" charset="-122"/>
              </a:rPr>
              <a:t>HTML5</a:t>
            </a:r>
            <a:r>
              <a:rPr lang="zh-CN" altLang="en-US" sz="2200" dirty="0">
                <a:latin typeface="宋体" panose="02010600030101010101" pitchFamily="2" charset="-122"/>
                <a:ea typeface="宋体" panose="02010600030101010101" pitchFamily="2" charset="-122"/>
              </a:rPr>
              <a:t>中这些常用的基本功能直接加到了新的表单标签中，提供了更好的输入控制和验证。</a:t>
            </a:r>
          </a:p>
        </p:txBody>
      </p:sp>
      <p:pic>
        <p:nvPicPr>
          <p:cNvPr id="5" name="图片 4"/>
          <p:cNvPicPr>
            <a:picLocks noChangeAspect="1"/>
          </p:cNvPicPr>
          <p:nvPr/>
        </p:nvPicPr>
        <p:blipFill>
          <a:blip r:embed="rId3"/>
          <a:stretch>
            <a:fillRect/>
          </a:stretch>
        </p:blipFill>
        <p:spPr>
          <a:xfrm>
            <a:off x="3872503" y="0"/>
            <a:ext cx="4605564" cy="6765696"/>
          </a:xfrm>
          <a:prstGeom prst="rect">
            <a:avLst/>
          </a:prstGeom>
        </p:spPr>
      </p:pic>
      <p:sp>
        <p:nvSpPr>
          <p:cNvPr id="6" name="灯片编号占位符 5"/>
          <p:cNvSpPr>
            <a:spLocks noGrp="1"/>
          </p:cNvSpPr>
          <p:nvPr>
            <p:ph type="sldNum" sz="quarter" idx="12"/>
          </p:nvPr>
        </p:nvSpPr>
        <p:spPr/>
        <p:txBody>
          <a:bodyPr/>
          <a:lstStyle/>
          <a:p>
            <a:fld id="{565CE74E-AB26-4998-AD42-012C4C1AD076}" type="slidenum">
              <a:rPr lang="zh-CN" altLang="en-US" smtClean="0"/>
              <a:pPr/>
              <a:t>6</a:t>
            </a:fld>
            <a:endParaRPr lang="zh-CN" altLang="en-US"/>
          </a:p>
        </p:txBody>
      </p:sp>
    </p:spTree>
    <p:extLst>
      <p:ext uri="{BB962C8B-B14F-4D97-AF65-F5344CB8AC3E}">
        <p14:creationId xmlns:p14="http://schemas.microsoft.com/office/powerpoint/2010/main" val="270088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p:cNvPicPr>
            <a:picLocks noGrp="1" noChangeAspect="1"/>
          </p:cNvPicPr>
          <p:nvPr>
            <p:ph idx="1"/>
          </p:nvPr>
        </p:nvPicPr>
        <p:blipFill>
          <a:blip r:embed="rId2"/>
          <a:stretch>
            <a:fillRect/>
          </a:stretch>
        </p:blipFill>
        <p:spPr>
          <a:xfrm>
            <a:off x="5951145" y="836549"/>
            <a:ext cx="6117431" cy="4333875"/>
          </a:xfrm>
          <a:prstGeom prst="rect">
            <a:avLst/>
          </a:prstGeom>
        </p:spPr>
      </p:pic>
      <p:sp>
        <p:nvSpPr>
          <p:cNvPr id="4" name="灯片编号占位符 3"/>
          <p:cNvSpPr>
            <a:spLocks noGrp="1"/>
          </p:cNvSpPr>
          <p:nvPr>
            <p:ph type="sldNum" sz="quarter" idx="12"/>
          </p:nvPr>
        </p:nvSpPr>
        <p:spPr/>
        <p:txBody>
          <a:bodyPr/>
          <a:lstStyle/>
          <a:p>
            <a:fld id="{565CE74E-AB26-4998-AD42-012C4C1AD076}" type="slidenum">
              <a:rPr lang="zh-CN" altLang="en-US" smtClean="0"/>
              <a:pPr/>
              <a:t>7</a:t>
            </a:fld>
            <a:endParaRPr lang="zh-CN" altLang="en-US"/>
          </a:p>
        </p:txBody>
      </p:sp>
      <p:pic>
        <p:nvPicPr>
          <p:cNvPr id="5" name="图片 4"/>
          <p:cNvPicPr>
            <a:picLocks noChangeAspect="1"/>
          </p:cNvPicPr>
          <p:nvPr/>
        </p:nvPicPr>
        <p:blipFill>
          <a:blip r:embed="rId3"/>
          <a:stretch>
            <a:fillRect/>
          </a:stretch>
        </p:blipFill>
        <p:spPr>
          <a:xfrm>
            <a:off x="264720" y="836548"/>
            <a:ext cx="5686425" cy="4333875"/>
          </a:xfrm>
          <a:prstGeom prst="rect">
            <a:avLst/>
          </a:prstGeom>
        </p:spPr>
      </p:pic>
    </p:spTree>
    <p:extLst>
      <p:ext uri="{BB962C8B-B14F-4D97-AF65-F5344CB8AC3E}">
        <p14:creationId xmlns:p14="http://schemas.microsoft.com/office/powerpoint/2010/main" val="24475908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a:xfrm>
            <a:off x="838200" y="1533525"/>
            <a:ext cx="11353800" cy="5240338"/>
          </a:xfrm>
        </p:spPr>
        <p:txBody>
          <a:bodyPr>
            <a:noAutofit/>
          </a:bodyPr>
          <a:lstStyle/>
          <a:p>
            <a:pPr marL="0" indent="0">
              <a:lnSpc>
                <a:spcPct val="120000"/>
              </a:lnSpc>
              <a:buNone/>
            </a:pPr>
            <a:r>
              <a:rPr lang="zh-CN" altLang="en-US" sz="2200" dirty="0">
                <a:latin typeface="宋体" panose="02010600030101010101" pitchFamily="2" charset="-122"/>
                <a:ea typeface="宋体" panose="02010600030101010101" pitchFamily="2" charset="-122"/>
              </a:rPr>
              <a:t>同时，还添加了</a:t>
            </a:r>
            <a:r>
              <a:rPr lang="en-US" altLang="zh-CN" sz="2200" dirty="0">
                <a:latin typeface="宋体" panose="02010600030101010101" pitchFamily="2" charset="-122"/>
                <a:ea typeface="宋体" panose="02010600030101010101" pitchFamily="2" charset="-122"/>
              </a:rPr>
              <a:t>placeholder</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required</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pattern</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min</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max</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height</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width</a:t>
            </a:r>
            <a:r>
              <a:rPr lang="zh-CN" altLang="en-US" sz="2200" dirty="0">
                <a:latin typeface="宋体" panose="02010600030101010101" pitchFamily="2" charset="-122"/>
                <a:ea typeface="宋体" panose="02010600030101010101" pitchFamily="2" charset="-122"/>
              </a:rPr>
              <a:t>等表单属性</a:t>
            </a:r>
            <a:r>
              <a:rPr lang="zh-CN" altLang="en-US" sz="2200" dirty="0" smtClean="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a:p>
            <a:pPr>
              <a:lnSpc>
                <a:spcPct val="120000"/>
              </a:lnSpc>
            </a:pPr>
            <a:r>
              <a:rPr lang="en-US" altLang="zh-CN" sz="2200" dirty="0">
                <a:latin typeface="宋体" panose="02010600030101010101" pitchFamily="2" charset="-122"/>
                <a:ea typeface="宋体" panose="02010600030101010101" pitchFamily="2" charset="-122"/>
              </a:rPr>
              <a:t>placeholder </a:t>
            </a:r>
            <a:r>
              <a:rPr lang="zh-CN" altLang="en-US" sz="2200" dirty="0">
                <a:latin typeface="宋体" panose="02010600030101010101" pitchFamily="2" charset="-122"/>
                <a:ea typeface="宋体" panose="02010600030101010101" pitchFamily="2" charset="-122"/>
              </a:rPr>
              <a:t>提供对输入域的提示值</a:t>
            </a:r>
          </a:p>
          <a:p>
            <a:pPr>
              <a:lnSpc>
                <a:spcPct val="120000"/>
              </a:lnSpc>
            </a:pPr>
            <a:r>
              <a:rPr lang="en-US" altLang="zh-CN" sz="2200" dirty="0">
                <a:latin typeface="宋体" panose="02010600030101010101" pitchFamily="2" charset="-122"/>
                <a:ea typeface="宋体" panose="02010600030101010101" pitchFamily="2" charset="-122"/>
              </a:rPr>
              <a:t>required </a:t>
            </a:r>
            <a:r>
              <a:rPr lang="zh-CN" altLang="en-US" sz="2200" dirty="0">
                <a:latin typeface="宋体" panose="02010600030101010101" pitchFamily="2" charset="-122"/>
                <a:ea typeface="宋体" panose="02010600030101010101" pitchFamily="2" charset="-122"/>
              </a:rPr>
              <a:t>规定表单提交前输入域是否必</a:t>
            </a:r>
            <a:r>
              <a:rPr lang="zh-CN" altLang="en-US" sz="2200" dirty="0" smtClean="0">
                <a:latin typeface="宋体" panose="02010600030101010101" pitchFamily="2" charset="-122"/>
                <a:ea typeface="宋体" panose="02010600030101010101" pitchFamily="2" charset="-122"/>
              </a:rPr>
              <a:t>填</a:t>
            </a:r>
            <a:endParaRPr lang="en-US" altLang="zh-CN" sz="2200" dirty="0" smtClean="0">
              <a:latin typeface="宋体" panose="02010600030101010101" pitchFamily="2" charset="-122"/>
              <a:ea typeface="宋体" panose="02010600030101010101" pitchFamily="2" charset="-122"/>
            </a:endParaRPr>
          </a:p>
          <a:p>
            <a:pPr>
              <a:lnSpc>
                <a:spcPct val="120000"/>
              </a:lnSpc>
            </a:pPr>
            <a:r>
              <a:rPr lang="en-US" altLang="zh-CN" sz="2200" dirty="0" smtClean="0">
                <a:latin typeface="宋体" panose="02010600030101010101" pitchFamily="2" charset="-122"/>
                <a:ea typeface="宋体" panose="02010600030101010101" pitchFamily="2" charset="-122"/>
              </a:rPr>
              <a:t>autofocus </a:t>
            </a:r>
            <a:r>
              <a:rPr lang="zh-CN" altLang="en-US" sz="2200" dirty="0" smtClean="0">
                <a:latin typeface="宋体" panose="02010600030101010101" pitchFamily="2" charset="-122"/>
                <a:ea typeface="宋体" panose="02010600030101010101" pitchFamily="2" charset="-122"/>
              </a:rPr>
              <a:t>页面</a:t>
            </a:r>
            <a:r>
              <a:rPr lang="zh-CN" altLang="en-US" sz="2200" dirty="0">
                <a:latin typeface="宋体" panose="02010600030101010101" pitchFamily="2" charset="-122"/>
                <a:ea typeface="宋体" panose="02010600030101010101" pitchFamily="2" charset="-122"/>
              </a:rPr>
              <a:t>加载完成自动聚焦输入框 </a:t>
            </a:r>
          </a:p>
          <a:p>
            <a:pPr>
              <a:lnSpc>
                <a:spcPct val="120000"/>
              </a:lnSpc>
            </a:pPr>
            <a:r>
              <a:rPr lang="en-US" altLang="zh-CN" sz="2200" dirty="0" smtClean="0">
                <a:latin typeface="宋体" panose="02010600030101010101" pitchFamily="2" charset="-122"/>
                <a:ea typeface="宋体" panose="02010600030101010101" pitchFamily="2" charset="-122"/>
              </a:rPr>
              <a:t>autocomplete </a:t>
            </a:r>
            <a:r>
              <a:rPr lang="zh-CN" altLang="en-US" sz="2200" dirty="0">
                <a:latin typeface="宋体" panose="02010600030101010101" pitchFamily="2" charset="-122"/>
                <a:ea typeface="宋体" panose="02010600030101010101" pitchFamily="2" charset="-122"/>
              </a:rPr>
              <a:t>当用户输入信息时显示历史输入信息</a:t>
            </a:r>
            <a:r>
              <a:rPr lang="en-US" altLang="zh-CN" sz="2200" dirty="0">
                <a:latin typeface="宋体" panose="02010600030101010101" pitchFamily="2" charset="-122"/>
                <a:ea typeface="宋体" panose="02010600030101010101" pitchFamily="2" charset="-122"/>
              </a:rPr>
              <a:t>on/off</a:t>
            </a:r>
            <a:endParaRPr lang="zh-CN" altLang="en-US" sz="2200" dirty="0">
              <a:latin typeface="宋体" panose="02010600030101010101" pitchFamily="2" charset="-122"/>
              <a:ea typeface="宋体" panose="02010600030101010101" pitchFamily="2" charset="-122"/>
            </a:endParaRPr>
          </a:p>
          <a:p>
            <a:pPr>
              <a:lnSpc>
                <a:spcPct val="120000"/>
              </a:lnSpc>
            </a:pPr>
            <a:r>
              <a:rPr lang="en-US" altLang="zh-CN" sz="2200" dirty="0">
                <a:latin typeface="宋体" panose="02010600030101010101" pitchFamily="2" charset="-122"/>
                <a:ea typeface="宋体" panose="02010600030101010101" pitchFamily="2" charset="-122"/>
              </a:rPr>
              <a:t>pattern </a:t>
            </a:r>
            <a:r>
              <a:rPr lang="zh-CN" altLang="en-US" sz="2200" dirty="0">
                <a:latin typeface="宋体" panose="02010600030101010101" pitchFamily="2" charset="-122"/>
                <a:ea typeface="宋体" panose="02010600030101010101" pitchFamily="2" charset="-122"/>
              </a:rPr>
              <a:t>规定用于验证</a:t>
            </a:r>
            <a:r>
              <a:rPr lang="en-US" altLang="zh-CN" sz="2200" dirty="0">
                <a:latin typeface="宋体" panose="02010600030101010101" pitchFamily="2" charset="-122"/>
                <a:ea typeface="宋体" panose="02010600030101010101" pitchFamily="2" charset="-122"/>
              </a:rPr>
              <a:t>input</a:t>
            </a:r>
            <a:r>
              <a:rPr lang="zh-CN" altLang="en-US" sz="2200" dirty="0">
                <a:latin typeface="宋体" panose="02010600030101010101" pitchFamily="2" charset="-122"/>
                <a:ea typeface="宋体" panose="02010600030101010101" pitchFamily="2" charset="-122"/>
              </a:rPr>
              <a:t>域的正则表达式</a:t>
            </a:r>
          </a:p>
          <a:p>
            <a:pPr>
              <a:lnSpc>
                <a:spcPct val="120000"/>
              </a:lnSpc>
            </a:pPr>
            <a:r>
              <a:rPr lang="en-US" altLang="zh-CN" sz="2200" dirty="0">
                <a:latin typeface="宋体" panose="02010600030101010101" pitchFamily="2" charset="-122"/>
                <a:ea typeface="宋体" panose="02010600030101010101" pitchFamily="2" charset="-122"/>
              </a:rPr>
              <a:t>min </a:t>
            </a:r>
            <a:r>
              <a:rPr lang="zh-CN" altLang="en-US" sz="2200" dirty="0">
                <a:latin typeface="宋体" panose="02010600030101010101" pitchFamily="2" charset="-122"/>
                <a:ea typeface="宋体" panose="02010600030101010101" pitchFamily="2" charset="-122"/>
              </a:rPr>
              <a:t>规定输入域允许的最小值</a:t>
            </a:r>
          </a:p>
          <a:p>
            <a:pPr>
              <a:lnSpc>
                <a:spcPct val="120000"/>
              </a:lnSpc>
            </a:pPr>
            <a:r>
              <a:rPr lang="en-US" altLang="zh-CN" sz="2200" dirty="0">
                <a:latin typeface="宋体" panose="02010600030101010101" pitchFamily="2" charset="-122"/>
                <a:ea typeface="宋体" panose="02010600030101010101" pitchFamily="2" charset="-122"/>
              </a:rPr>
              <a:t>max </a:t>
            </a:r>
            <a:r>
              <a:rPr lang="zh-CN" altLang="en-US" sz="2200" dirty="0">
                <a:latin typeface="宋体" panose="02010600030101010101" pitchFamily="2" charset="-122"/>
                <a:ea typeface="宋体" panose="02010600030101010101" pitchFamily="2" charset="-122"/>
              </a:rPr>
              <a:t>规定输入域允许的最大</a:t>
            </a:r>
            <a:r>
              <a:rPr lang="zh-CN" altLang="en-US" sz="2200" dirty="0" smtClean="0">
                <a:latin typeface="宋体" panose="02010600030101010101" pitchFamily="2" charset="-122"/>
                <a:ea typeface="宋体" panose="02010600030101010101" pitchFamily="2" charset="-122"/>
              </a:rPr>
              <a:t>值</a:t>
            </a:r>
            <a:endParaRPr lang="en-US" altLang="zh-CN" sz="2200" dirty="0" smtClean="0">
              <a:latin typeface="宋体" panose="02010600030101010101" pitchFamily="2" charset="-122"/>
              <a:ea typeface="宋体" panose="02010600030101010101" pitchFamily="2" charset="-122"/>
            </a:endParaRPr>
          </a:p>
          <a:p>
            <a:pPr>
              <a:lnSpc>
                <a:spcPct val="120000"/>
              </a:lnSpc>
            </a:pPr>
            <a:r>
              <a:rPr lang="en-US" altLang="zh-CN" sz="2200" dirty="0">
                <a:latin typeface="宋体" panose="02010600030101010101" pitchFamily="2" charset="-122"/>
                <a:ea typeface="宋体" panose="02010600030101010101" pitchFamily="2" charset="-122"/>
              </a:rPr>
              <a:t>step </a:t>
            </a:r>
            <a:r>
              <a:rPr lang="zh-CN" altLang="en-US" sz="2200" dirty="0">
                <a:latin typeface="宋体" panose="02010600030101010101" pitchFamily="2" charset="-122"/>
                <a:ea typeface="宋体" panose="02010600030101010101" pitchFamily="2" charset="-122"/>
              </a:rPr>
              <a:t>属性，为输入域规定合法的数字间隔</a:t>
            </a:r>
          </a:p>
          <a:p>
            <a:pPr>
              <a:lnSpc>
                <a:spcPct val="120000"/>
              </a:lnSpc>
            </a:pPr>
            <a:r>
              <a:rPr lang="en-US" altLang="zh-CN" sz="2200" dirty="0">
                <a:latin typeface="宋体" panose="02010600030101010101" pitchFamily="2" charset="-122"/>
                <a:ea typeface="宋体" panose="02010600030101010101" pitchFamily="2" charset="-122"/>
              </a:rPr>
              <a:t>multiple </a:t>
            </a:r>
            <a:r>
              <a:rPr lang="zh-CN" altLang="en-US" sz="2200" dirty="0">
                <a:latin typeface="宋体" panose="02010600030101010101" pitchFamily="2" charset="-122"/>
                <a:ea typeface="宋体" panose="02010600030101010101" pitchFamily="2" charset="-122"/>
              </a:rPr>
              <a:t>输入域可以选择多个值，适用于</a:t>
            </a:r>
            <a:r>
              <a:rPr lang="en-US" altLang="zh-CN" sz="2200" dirty="0">
                <a:latin typeface="宋体" panose="02010600030101010101" pitchFamily="2" charset="-122"/>
                <a:ea typeface="宋体" panose="02010600030101010101" pitchFamily="2" charset="-122"/>
              </a:rPr>
              <a:t>email</a:t>
            </a:r>
            <a:r>
              <a:rPr lang="zh-CN" altLang="en-US"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file</a:t>
            </a:r>
            <a:r>
              <a:rPr lang="zh-CN" altLang="en-US" sz="2200" dirty="0">
                <a:latin typeface="宋体" panose="02010600030101010101" pitchFamily="2" charset="-122"/>
                <a:ea typeface="宋体" panose="02010600030101010101" pitchFamily="2" charset="-122"/>
              </a:rPr>
              <a:t>类型</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8</a:t>
            </a:fld>
            <a:endParaRPr lang="zh-CN" altLang="en-US"/>
          </a:p>
        </p:txBody>
      </p:sp>
    </p:spTree>
    <p:extLst>
      <p:ext uri="{BB962C8B-B14F-4D97-AF65-F5344CB8AC3E}">
        <p14:creationId xmlns:p14="http://schemas.microsoft.com/office/powerpoint/2010/main" val="392084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a:xfrm>
            <a:off x="838200" y="1690688"/>
            <a:ext cx="10515600" cy="4351338"/>
          </a:xfrm>
        </p:spPr>
        <p:txBody>
          <a:bodyPr>
            <a:normAutofit fontScale="92500" lnSpcReduction="10000"/>
          </a:bodyPr>
          <a:lstStyle/>
          <a:p>
            <a:pPr marL="0" indent="0">
              <a:lnSpc>
                <a:spcPct val="120000"/>
              </a:lnSpc>
              <a:buNone/>
            </a:pPr>
            <a:r>
              <a:rPr lang="zh-CN" altLang="en-US" dirty="0" smtClean="0">
                <a:latin typeface="宋体" panose="02010600030101010101" pitchFamily="2" charset="-122"/>
                <a:ea typeface="宋体" panose="02010600030101010101" pitchFamily="2" charset="-122"/>
              </a:rPr>
              <a:t>多媒体以及图像</a:t>
            </a:r>
            <a:r>
              <a:rPr lang="en-US" altLang="zh-CN" dirty="0" smtClean="0">
                <a:latin typeface="宋体" panose="02010600030101010101" pitchFamily="2" charset="-122"/>
                <a:ea typeface="宋体" panose="02010600030101010101" pitchFamily="2" charset="-122"/>
              </a:rPr>
              <a:t>---</a:t>
            </a:r>
            <a:r>
              <a:rPr lang="zh-CN" altLang="en-US" dirty="0" smtClean="0">
                <a:latin typeface="宋体" panose="02010600030101010101" pitchFamily="2" charset="-122"/>
                <a:ea typeface="宋体" panose="02010600030101010101" pitchFamily="2" charset="-122"/>
              </a:rPr>
              <a:t>给</a:t>
            </a:r>
            <a:r>
              <a:rPr lang="en-US" altLang="zh-CN" dirty="0" smtClean="0">
                <a:latin typeface="宋体" panose="02010600030101010101" pitchFamily="2" charset="-122"/>
                <a:ea typeface="宋体" panose="02010600030101010101" pitchFamily="2" charset="-122"/>
              </a:rPr>
              <a:t>Web</a:t>
            </a:r>
            <a:r>
              <a:rPr lang="zh-CN" altLang="en-US" dirty="0" smtClean="0">
                <a:latin typeface="宋体" panose="02010600030101010101" pitchFamily="2" charset="-122"/>
                <a:ea typeface="宋体" panose="02010600030101010101" pitchFamily="2" charset="-122"/>
              </a:rPr>
              <a:t>应用带来了更多的可能性</a:t>
            </a:r>
            <a:endParaRPr lang="en-US" altLang="zh-CN" dirty="0" smtClean="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Ø"/>
            </a:pPr>
            <a:r>
              <a:rPr lang="zh-CN" altLang="en-US" dirty="0" smtClean="0">
                <a:latin typeface="宋体" panose="02010600030101010101" pitchFamily="2" charset="-122"/>
                <a:ea typeface="宋体" panose="02010600030101010101" pitchFamily="2" charset="-122"/>
              </a:rPr>
              <a:t>多媒体：</a:t>
            </a:r>
            <a:r>
              <a:rPr lang="en-US" altLang="zh-CN" dirty="0" smtClean="0">
                <a:latin typeface="宋体" panose="02010600030101010101" pitchFamily="2" charset="-122"/>
                <a:ea typeface="宋体" panose="02010600030101010101" pitchFamily="2" charset="-122"/>
              </a:rPr>
              <a:t>video</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audio</a:t>
            </a:r>
            <a:r>
              <a:rPr lang="zh-CN" altLang="en-US" dirty="0" smtClean="0">
                <a:latin typeface="宋体" panose="02010600030101010101" pitchFamily="2" charset="-122"/>
                <a:ea typeface="宋体" panose="02010600030101010101" pitchFamily="2" charset="-122"/>
              </a:rPr>
              <a:t>、</a:t>
            </a:r>
            <a:r>
              <a:rPr lang="en-US" altLang="zh-CN" dirty="0" err="1" smtClean="0">
                <a:latin typeface="宋体" panose="02010600030101010101" pitchFamily="2" charset="-122"/>
                <a:ea typeface="宋体" panose="02010600030101010101" pitchFamily="2" charset="-122"/>
              </a:rPr>
              <a:t>WebRTC</a:t>
            </a:r>
            <a:endParaRPr lang="en-US" altLang="zh-CN" dirty="0" smtClean="0">
              <a:latin typeface="宋体" panose="02010600030101010101" pitchFamily="2" charset="-122"/>
              <a:ea typeface="宋体" panose="02010600030101010101" pitchFamily="2" charset="-122"/>
            </a:endParaRPr>
          </a:p>
          <a:p>
            <a:pPr marL="0" indent="0">
              <a:lnSpc>
                <a:spcPct val="120000"/>
              </a:lnSpc>
              <a:buNone/>
            </a:pPr>
            <a:r>
              <a:rPr lang="zh-CN" altLang="en-US" sz="2400" dirty="0" smtClean="0">
                <a:latin typeface="宋体" panose="02010600030101010101" pitchFamily="2" charset="-122"/>
                <a:ea typeface="宋体" panose="02010600030101010101" pitchFamily="2" charset="-122"/>
              </a:rPr>
              <a:t>使原生</a:t>
            </a:r>
            <a:r>
              <a:rPr lang="en-US" altLang="zh-CN" sz="2400" dirty="0" smtClean="0">
                <a:latin typeface="宋体" panose="02010600030101010101" pitchFamily="2" charset="-122"/>
                <a:ea typeface="宋体" panose="02010600030101010101" pitchFamily="2" charset="-122"/>
              </a:rPr>
              <a:t>web</a:t>
            </a:r>
            <a:r>
              <a:rPr lang="zh-CN" altLang="en-US" sz="2400" dirty="0" smtClean="0">
                <a:latin typeface="宋体" panose="02010600030101010101" pitchFamily="2" charset="-122"/>
                <a:ea typeface="宋体" panose="02010600030101010101" pitchFamily="2" charset="-122"/>
              </a:rPr>
              <a:t>页面对音视频的播放提供了支持，不需要借助</a:t>
            </a:r>
            <a:r>
              <a:rPr lang="en-US" altLang="zh-CN" sz="2400" dirty="0" smtClean="0">
                <a:latin typeface="宋体" panose="02010600030101010101" pitchFamily="2" charset="-122"/>
                <a:ea typeface="宋体" panose="02010600030101010101" pitchFamily="2" charset="-122"/>
              </a:rPr>
              <a:t>flash</a:t>
            </a:r>
            <a:r>
              <a:rPr lang="zh-CN" altLang="en-US" sz="2400" dirty="0" smtClean="0">
                <a:latin typeface="宋体" panose="02010600030101010101" pitchFamily="2" charset="-122"/>
                <a:ea typeface="宋体" panose="02010600030101010101" pitchFamily="2" charset="-122"/>
              </a:rPr>
              <a:t>插件。还允许通过</a:t>
            </a:r>
            <a:r>
              <a:rPr lang="en-US" altLang="zh-CN" sz="2400" dirty="0" err="1" smtClean="0">
                <a:latin typeface="宋体" panose="02010600030101010101" pitchFamily="2" charset="-122"/>
                <a:ea typeface="宋体" panose="02010600030101010101" pitchFamily="2" charset="-122"/>
              </a:rPr>
              <a:t>WebRTC</a:t>
            </a:r>
            <a:r>
              <a:rPr lang="zh-CN" altLang="en-US" sz="2400" dirty="0" smtClean="0">
                <a:latin typeface="宋体" panose="02010600030101010101" pitchFamily="2" charset="-122"/>
                <a:ea typeface="宋体" panose="02010600030101010101" pitchFamily="2" charset="-122"/>
              </a:rPr>
              <a:t>相关的一些</a:t>
            </a:r>
            <a:r>
              <a:rPr lang="en-US" altLang="zh-CN" sz="2400" dirty="0" smtClean="0">
                <a:latin typeface="宋体" panose="02010600030101010101" pitchFamily="2" charset="-122"/>
                <a:ea typeface="宋体" panose="02010600030101010101" pitchFamily="2" charset="-122"/>
              </a:rPr>
              <a:t>API</a:t>
            </a:r>
            <a:r>
              <a:rPr lang="zh-CN" altLang="en-US" sz="2400" dirty="0" smtClean="0">
                <a:latin typeface="宋体" panose="02010600030101010101" pitchFamily="2" charset="-122"/>
                <a:ea typeface="宋体" panose="02010600030101010101" pitchFamily="2" charset="-122"/>
              </a:rPr>
              <a:t>获取客户端的音视频流来建立一个端到端的音视频的通信。</a:t>
            </a:r>
            <a:endParaRPr lang="en-US" altLang="zh-CN" sz="2400" dirty="0" smtClean="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Ø"/>
            </a:pPr>
            <a:r>
              <a:rPr lang="zh-CN" altLang="en-US" dirty="0" smtClean="0">
                <a:latin typeface="宋体" panose="02010600030101010101" pitchFamily="2" charset="-122"/>
                <a:ea typeface="宋体" panose="02010600030101010101" pitchFamily="2" charset="-122"/>
              </a:rPr>
              <a:t>图像：</a:t>
            </a:r>
            <a:r>
              <a:rPr lang="en-US" altLang="zh-CN" dirty="0" err="1" smtClean="0">
                <a:latin typeface="宋体" panose="02010600030101010101" pitchFamily="2" charset="-122"/>
                <a:ea typeface="宋体" panose="02010600030101010101" pitchFamily="2" charset="-122"/>
              </a:rPr>
              <a:t>svg</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canvas</a:t>
            </a:r>
            <a:r>
              <a:rPr lang="zh-CN" altLang="en-US" dirty="0" smtClean="0">
                <a:latin typeface="宋体" panose="02010600030101010101" pitchFamily="2" charset="-122"/>
                <a:ea typeface="宋体" panose="02010600030101010101" pitchFamily="2" charset="-122"/>
              </a:rPr>
              <a:t>、</a:t>
            </a:r>
            <a:r>
              <a:rPr lang="en-US" altLang="zh-CN" dirty="0" err="1" smtClean="0">
                <a:latin typeface="宋体" panose="02010600030101010101" pitchFamily="2" charset="-122"/>
                <a:ea typeface="宋体" panose="02010600030101010101" pitchFamily="2" charset="-122"/>
              </a:rPr>
              <a:t>WebGL</a:t>
            </a:r>
            <a:endParaRPr lang="en-US" altLang="zh-CN" dirty="0" smtClean="0">
              <a:latin typeface="宋体" panose="02010600030101010101" pitchFamily="2" charset="-122"/>
              <a:ea typeface="宋体" panose="02010600030101010101" pitchFamily="2" charset="-122"/>
            </a:endParaRPr>
          </a:p>
          <a:p>
            <a:pPr marL="0" indent="0">
              <a:lnSpc>
                <a:spcPct val="120000"/>
              </a:lnSpc>
              <a:buNone/>
            </a:pPr>
            <a:r>
              <a:rPr lang="en-US" altLang="zh-CN" sz="2400" dirty="0" err="1" smtClean="0">
                <a:latin typeface="宋体" panose="02010600030101010101" pitchFamily="2" charset="-122"/>
                <a:ea typeface="宋体" panose="02010600030101010101" pitchFamily="2" charset="-122"/>
              </a:rPr>
              <a:t>svg</a:t>
            </a:r>
            <a:r>
              <a:rPr lang="zh-CN" altLang="en-US" sz="2400" dirty="0" smtClean="0">
                <a:latin typeface="宋体" panose="02010600030101010101" pitchFamily="2" charset="-122"/>
                <a:ea typeface="宋体" panose="02010600030101010101" pitchFamily="2" charset="-122"/>
              </a:rPr>
              <a:t>可缩放矢量图形，</a:t>
            </a:r>
            <a:r>
              <a:rPr lang="en-US" altLang="zh-CN" sz="2400" dirty="0" smtClean="0">
                <a:latin typeface="宋体" panose="02010600030101010101" pitchFamily="2" charset="-122"/>
                <a:ea typeface="宋体" panose="02010600030101010101" pitchFamily="2" charset="-122"/>
              </a:rPr>
              <a:t>jpg</a:t>
            </a:r>
            <a:r>
              <a:rPr lang="zh-CN" altLang="en-US" sz="2400" dirty="0" smtClean="0">
                <a:latin typeface="宋体" panose="02010600030101010101" pitchFamily="2" charset="-122"/>
                <a:ea typeface="宋体" panose="02010600030101010101" pitchFamily="2" charset="-122"/>
              </a:rPr>
              <a:t>、</a:t>
            </a:r>
            <a:r>
              <a:rPr lang="en-US" altLang="zh-CN" sz="2400" dirty="0" err="1" smtClean="0">
                <a:latin typeface="宋体" panose="02010600030101010101" pitchFamily="2" charset="-122"/>
                <a:ea typeface="宋体" panose="02010600030101010101" pitchFamily="2" charset="-122"/>
              </a:rPr>
              <a:t>png</a:t>
            </a:r>
            <a:r>
              <a:rPr lang="zh-CN" altLang="en-US" sz="2400" dirty="0" smtClean="0">
                <a:latin typeface="宋体" panose="02010600030101010101" pitchFamily="2" charset="-122"/>
                <a:ea typeface="宋体" panose="02010600030101010101" pitchFamily="2" charset="-122"/>
              </a:rPr>
              <a:t>等格式的图片在缩放一定比例的时候会有一定的失真，但</a:t>
            </a:r>
            <a:r>
              <a:rPr lang="en-US" altLang="zh-CN" sz="2400" dirty="0" err="1" smtClean="0">
                <a:latin typeface="宋体" panose="02010600030101010101" pitchFamily="2" charset="-122"/>
                <a:ea typeface="宋体" panose="02010600030101010101" pitchFamily="2" charset="-122"/>
              </a:rPr>
              <a:t>svg</a:t>
            </a:r>
            <a:r>
              <a:rPr lang="zh-CN" altLang="en-US" sz="2400" dirty="0" smtClean="0">
                <a:latin typeface="宋体" panose="02010600030101010101" pitchFamily="2" charset="-122"/>
                <a:ea typeface="宋体" panose="02010600030101010101" pitchFamily="2" charset="-122"/>
              </a:rPr>
              <a:t>在缩放时可以保证不失真。</a:t>
            </a:r>
            <a:endParaRPr lang="en-US" altLang="zh-CN" sz="2400" dirty="0" smtClean="0">
              <a:latin typeface="宋体" panose="02010600030101010101" pitchFamily="2" charset="-122"/>
              <a:ea typeface="宋体" panose="02010600030101010101" pitchFamily="2" charset="-122"/>
            </a:endParaRPr>
          </a:p>
          <a:p>
            <a:pPr marL="0" indent="0">
              <a:lnSpc>
                <a:spcPct val="120000"/>
              </a:lnSpc>
              <a:buNone/>
            </a:pPr>
            <a:r>
              <a:rPr lang="en-US" altLang="zh-CN" sz="2400" dirty="0" err="1" smtClean="0">
                <a:latin typeface="宋体" panose="02010600030101010101" pitchFamily="2" charset="-122"/>
                <a:ea typeface="宋体" panose="02010600030101010101" pitchFamily="2" charset="-122"/>
              </a:rPr>
              <a:t>WebGL</a:t>
            </a:r>
            <a:r>
              <a:rPr lang="zh-CN" altLang="en-US" sz="2400" dirty="0" smtClean="0">
                <a:latin typeface="宋体" panose="02010600030101010101" pitchFamily="2" charset="-122"/>
                <a:ea typeface="宋体" panose="02010600030101010101" pitchFamily="2" charset="-122"/>
              </a:rPr>
              <a:t>：是一个</a:t>
            </a:r>
            <a:r>
              <a:rPr lang="en-US" altLang="zh-CN" sz="2400" dirty="0" smtClean="0">
                <a:latin typeface="宋体" panose="02010600030101010101" pitchFamily="2" charset="-122"/>
                <a:ea typeface="宋体" panose="02010600030101010101" pitchFamily="2" charset="-122"/>
              </a:rPr>
              <a:t>JavaScript API</a:t>
            </a:r>
            <a:r>
              <a:rPr lang="zh-CN" altLang="en-US" sz="2400" dirty="0" smtClean="0">
                <a:latin typeface="宋体" panose="02010600030101010101" pitchFamily="2" charset="-122"/>
                <a:ea typeface="宋体" panose="02010600030101010101" pitchFamily="2" charset="-122"/>
              </a:rPr>
              <a:t>，能够在任何一个支持它的浏览器中实现一个渲染性能很高的</a:t>
            </a:r>
            <a:r>
              <a:rPr lang="en-US" altLang="zh-CN" sz="2400" dirty="0" smtClean="0">
                <a:latin typeface="宋体" panose="02010600030101010101" pitchFamily="2" charset="-122"/>
                <a:ea typeface="宋体" panose="02010600030101010101" pitchFamily="2" charset="-122"/>
              </a:rPr>
              <a:t>2D</a:t>
            </a:r>
            <a:r>
              <a:rPr lang="zh-CN" altLang="en-US" sz="2400" dirty="0" smtClean="0">
                <a:latin typeface="宋体" panose="02010600030101010101" pitchFamily="2" charset="-122"/>
                <a:ea typeface="宋体" panose="02010600030101010101" pitchFamily="2" charset="-122"/>
              </a:rPr>
              <a:t>或者</a:t>
            </a:r>
            <a:r>
              <a:rPr lang="en-US" altLang="zh-CN" sz="2400" dirty="0" smtClean="0">
                <a:latin typeface="宋体" panose="02010600030101010101" pitchFamily="2" charset="-122"/>
                <a:ea typeface="宋体" panose="02010600030101010101" pitchFamily="2" charset="-122"/>
              </a:rPr>
              <a:t>3D</a:t>
            </a:r>
            <a:r>
              <a:rPr lang="zh-CN" altLang="en-US" sz="2400" dirty="0" smtClean="0">
                <a:latin typeface="宋体" panose="02010600030101010101" pitchFamily="2" charset="-122"/>
                <a:ea typeface="宋体" panose="02010600030101010101" pitchFamily="2" charset="-122"/>
              </a:rPr>
              <a:t>图形，通常我们用它绘制一些</a:t>
            </a:r>
            <a:r>
              <a:rPr lang="en-US" altLang="zh-CN" sz="2400" dirty="0" smtClean="0">
                <a:latin typeface="宋体" panose="02010600030101010101" pitchFamily="2" charset="-122"/>
                <a:ea typeface="宋体" panose="02010600030101010101" pitchFamily="2" charset="-122"/>
              </a:rPr>
              <a:t>2D</a:t>
            </a:r>
            <a:r>
              <a:rPr lang="zh-CN" altLang="en-US" sz="2400" dirty="0" smtClean="0">
                <a:latin typeface="宋体" panose="02010600030101010101" pitchFamily="2" charset="-122"/>
                <a:ea typeface="宋体" panose="02010600030101010101" pitchFamily="2" charset="-122"/>
              </a:rPr>
              <a:t>或</a:t>
            </a:r>
            <a:r>
              <a:rPr lang="en-US" altLang="zh-CN" sz="2400" dirty="0" smtClean="0">
                <a:latin typeface="宋体" panose="02010600030101010101" pitchFamily="2" charset="-122"/>
                <a:ea typeface="宋体" panose="02010600030101010101" pitchFamily="2" charset="-122"/>
              </a:rPr>
              <a:t>3D</a:t>
            </a:r>
            <a:r>
              <a:rPr lang="zh-CN" altLang="en-US" sz="2400" dirty="0" smtClean="0">
                <a:latin typeface="宋体" panose="02010600030101010101" pitchFamily="2" charset="-122"/>
                <a:ea typeface="宋体" panose="02010600030101010101" pitchFamily="2" charset="-122"/>
              </a:rPr>
              <a:t>图形。</a:t>
            </a:r>
            <a:endParaRPr lang="en-US" altLang="zh-CN" sz="2400" dirty="0" smtClean="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9</a:t>
            </a:fld>
            <a:endParaRPr lang="zh-CN" altLang="en-US"/>
          </a:p>
        </p:txBody>
      </p:sp>
    </p:spTree>
    <p:extLst>
      <p:ext uri="{BB962C8B-B14F-4D97-AF65-F5344CB8AC3E}">
        <p14:creationId xmlns:p14="http://schemas.microsoft.com/office/powerpoint/2010/main" val="1072063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a:t>
            </a:r>
            <a:r>
              <a:rPr lang="zh-CN" altLang="en-US" spc="-40" dirty="0" smtClean="0">
                <a:solidFill>
                  <a:srgbClr val="585858"/>
                </a:solidFill>
              </a:rPr>
              <a:t>音频 </a:t>
            </a:r>
            <a:r>
              <a:rPr lang="en-US" altLang="zh-CN" spc="-40" dirty="0" smtClean="0">
                <a:solidFill>
                  <a:srgbClr val="585858"/>
                </a:solidFill>
              </a:rPr>
              <a:t>audio</a:t>
            </a:r>
            <a:endParaRPr spc="-40" dirty="0">
              <a:solidFill>
                <a:srgbClr val="585858"/>
              </a:solidFill>
            </a:endParaRPr>
          </a:p>
        </p:txBody>
      </p:sp>
      <p:sp>
        <p:nvSpPr>
          <p:cNvPr id="3" name="object 3"/>
          <p:cNvSpPr txBox="1"/>
          <p:nvPr/>
        </p:nvSpPr>
        <p:spPr>
          <a:xfrm>
            <a:off x="789838" y="967983"/>
            <a:ext cx="10716362" cy="5752857"/>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HTML5</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音频和视频的添加可以直接采用标签，不需要借助第三方插件就可以完成。</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HTML5</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中音频的添加方式是采用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&lt;audio&gt;&lt;/audio&gt;</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标签，它支持三种音频格式的文件。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.mp3</a:t>
            </a:r>
            <a:r>
              <a:rPr kumimoji="0" lang="zh-CN" altLang="en-US" sz="1800" b="1" i="0" u="none" strike="noStrike" kern="1200" cap="none" spc="-30" normalizeH="0" baseline="0" noProof="0" dirty="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zh-CN" altLang="en-US"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.wav  .</a:t>
            </a:r>
            <a:r>
              <a:rPr kumimoji="0" lang="en-US" altLang="zh-CN" sz="1800" b="1" i="0" u="none" strike="noStrike" kern="1200" cap="none" spc="-30" normalizeH="0" baseline="0" noProof="0" dirty="0" err="1" smtClean="0">
                <a:ln>
                  <a:noFill/>
                </a:ln>
                <a:solidFill>
                  <a:srgbClr val="C0504D"/>
                </a:solidFill>
                <a:effectLst/>
                <a:uLnTx/>
                <a:uFillTx/>
                <a:latin typeface="宋体" panose="02010600030101010101" pitchFamily="2" charset="-122"/>
                <a:ea typeface="宋体" panose="02010600030101010101" pitchFamily="2" charset="-122"/>
                <a:cs typeface="宋体"/>
              </a:rPr>
              <a:t>ogg</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格式的音频文件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IE8</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及以下浏览器不支持</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audio</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标签</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若浏览器不支持</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video</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元素或者无法播放音频，则会显示替代文本（开始和结束标签之间的内容）</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&lt;audio </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="music.mp3"&gt;</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当前浏览器不支持</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audio</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标签</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&lt;/audio&gt;</a:t>
            </a:r>
          </a:p>
          <a:p>
            <a:pPr marL="12700" marR="0" lvl="0" indent="0" algn="l" defTabSz="914400" rtl="0" eaLnBrk="1" fontAlgn="auto" latinLnBrk="0" hangingPunct="1">
              <a:lnSpc>
                <a:spcPct val="150000"/>
              </a:lnSpc>
              <a:spcBef>
                <a:spcPts val="100"/>
              </a:spcBef>
              <a:buClrTx/>
              <a:buSzTx/>
              <a:buFontTx/>
              <a:buNone/>
              <a:tabLst/>
              <a:defRPr/>
            </a:pPr>
            <a:r>
              <a:rPr kumimoji="0" lang="zh-CN" altLang="en-US" sz="1600" b="1"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标签</a:t>
            </a:r>
            <a:r>
              <a:rPr kumimoji="0" lang="zh-CN" altLang="en-US" sz="1600" b="1"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属性：</a:t>
            </a:r>
            <a:endParaRPr kumimoji="0" lang="en-US" altLang="zh-CN" sz="1600" b="1"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298450" marR="0" lvl="0" indent="-285750" algn="l" defTabSz="914400" rtl="0" eaLnBrk="1" fontAlgn="auto" latinLnBrk="0" hangingPunct="1">
              <a:lnSpc>
                <a:spcPct val="150000"/>
              </a:lnSpc>
              <a:spcBef>
                <a:spcPts val="100"/>
              </a:spcBef>
              <a:buClrTx/>
              <a:buSzTx/>
              <a:buFont typeface="Wingdings" panose="05000000000000000000" pitchFamily="2" charset="2"/>
              <a:buChar char="u"/>
              <a:tabLst/>
              <a:defRPr/>
            </a:pP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autoplay</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：音频会尽快自动播放，不会等待整个音频下载</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完成</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298450" marR="0" lvl="0" indent="-285750" algn="l" defTabSz="914400" rtl="0" eaLnBrk="1" fontAlgn="auto" latinLnBrk="0" hangingPunct="1">
              <a:lnSpc>
                <a:spcPct val="150000"/>
              </a:lnSpc>
              <a:spcBef>
                <a:spcPts val="100"/>
              </a:spcBef>
              <a:buClrTx/>
              <a:buSzTx/>
              <a:buFont typeface="Wingdings" panose="05000000000000000000" pitchFamily="2" charset="2"/>
              <a:buChar char="u"/>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controls</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：浏览器提供包括声音、播放进度、播放暂停的控制面板（不同浏览器不一致），用户可以控制音频</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播放</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298450" marR="0" lvl="0" indent="-285750" algn="l" defTabSz="914400" rtl="0" eaLnBrk="1" fontAlgn="auto" latinLnBrk="0" hangingPunct="1">
              <a:lnSpc>
                <a:spcPct val="150000"/>
              </a:lnSpc>
              <a:spcBef>
                <a:spcPts val="100"/>
              </a:spcBef>
              <a:buClrTx/>
              <a:buSzTx/>
              <a:buFont typeface="Wingdings" panose="05000000000000000000" pitchFamily="2" charset="2"/>
              <a:buChar char="u"/>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loop</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：循环播放</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音频</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298450" marR="0" lvl="0" indent="-285750" algn="l" defTabSz="914400" rtl="0" eaLnBrk="1" fontAlgn="auto" latinLnBrk="0" hangingPunct="1">
              <a:lnSpc>
                <a:spcPct val="150000"/>
              </a:lnSpc>
              <a:spcBef>
                <a:spcPts val="100"/>
              </a:spcBef>
              <a:buClrTx/>
              <a:buSzTx/>
              <a:buFont typeface="Wingdings" panose="05000000000000000000" pitchFamily="2" charset="2"/>
              <a:buChar char="u"/>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muted</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：是否静音，默认值为</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false</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，表示有</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声音</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298450" marR="0" lvl="0" indent="-285750" algn="l" defTabSz="914400" rtl="0" eaLnBrk="1" fontAlgn="auto" latinLnBrk="0" hangingPunct="1">
              <a:lnSpc>
                <a:spcPct val="150000"/>
              </a:lnSpc>
              <a:spcBef>
                <a:spcPts val="100"/>
              </a:spcBef>
              <a:buClrTx/>
              <a:buSzTx/>
              <a:buFont typeface="Wingdings" panose="05000000000000000000" pitchFamily="2" charset="2"/>
              <a:buChar char="u"/>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preload</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：预加载，包括</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auto</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metadata</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和</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none</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三个参数值，</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auto</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表示加载音频，</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metadata</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表示不加载音频，但是需要获取音频元数据（如音频长度），</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none</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表示不加载音频。若指定为空字符串，则等效于</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auto</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。注意</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autoplay</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属性优先级高于</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preload</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，若</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autoplay</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被指定，则会忽略此属性，浏览器将加载音频以供</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播放</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298450" marR="0" lvl="0" indent="-285750" algn="l" defTabSz="914400" rtl="0" eaLnBrk="1" fontAlgn="auto" latinLnBrk="0" hangingPunct="1">
              <a:lnSpc>
                <a:spcPct val="150000"/>
              </a:lnSpc>
              <a:spcBef>
                <a:spcPts val="100"/>
              </a:spcBef>
              <a:spcAft>
                <a:spcPts val="0"/>
              </a:spcAft>
              <a:buClrTx/>
              <a:buSzTx/>
              <a:buFont typeface="Wingdings" panose="05000000000000000000" pitchFamily="2" charset="2"/>
              <a:buChar char="u"/>
              <a:tabLst/>
              <a:defRPr/>
            </a:pPr>
            <a:r>
              <a:rPr kumimoji="0" lang="en-US" altLang="zh-CN" sz="1600" b="0" i="0" u="none" strike="noStrike" kern="1200" cap="none" spc="-30" normalizeH="0" baseline="0" noProof="0" dirty="0" err="1" smtClean="0">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：嵌入的音频</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URL</a:t>
            </a:r>
            <a:endPar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10</a:t>
            </a:fld>
            <a:endParaRPr kumimoji="0" lang="zh-CN" altLang="en-US" sz="18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857768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a:t>
            </a:r>
            <a:r>
              <a:rPr lang="zh-CN" altLang="en-US" spc="-40" dirty="0" smtClean="0">
                <a:solidFill>
                  <a:srgbClr val="585858"/>
                </a:solidFill>
              </a:rPr>
              <a:t>音频 </a:t>
            </a:r>
            <a:r>
              <a:rPr lang="en-US" altLang="zh-CN" spc="-40" dirty="0" smtClean="0">
                <a:solidFill>
                  <a:srgbClr val="585858"/>
                </a:solidFill>
              </a:rPr>
              <a:t>audio</a:t>
            </a:r>
            <a:endParaRPr spc="-40" dirty="0">
              <a:solidFill>
                <a:srgbClr val="585858"/>
              </a:solidFill>
            </a:endParaRPr>
          </a:p>
        </p:txBody>
      </p:sp>
      <p:sp>
        <p:nvSpPr>
          <p:cNvPr id="3" name="object 3"/>
          <p:cNvSpPr txBox="1"/>
          <p:nvPr/>
        </p:nvSpPr>
        <p:spPr>
          <a:xfrm>
            <a:off x="789838" y="967983"/>
            <a:ext cx="10716362" cy="474488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&lt;audio </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controls=“controls”&gt;</a:t>
            </a:r>
            <a:endPar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&lt;source </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="horse.ogg" type="audio/</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ogg</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"&gt;</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&lt;source </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="horse.mp3" type="audio/mpeg</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  &lt;</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source </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horse.wav" </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type="</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audio/wav"&gt;</a:t>
            </a:r>
            <a:endPar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 </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您</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的浏览器不支持 </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HTML5</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audio </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&lt;/audio</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p>
          <a:p>
            <a:pPr marL="12700" marR="0" lvl="0" indent="0" algn="l" defTabSz="914400" rtl="0" eaLnBrk="1" fontAlgn="auto" latinLnBrk="0" hangingPunct="1">
              <a:lnSpc>
                <a:spcPct val="150000"/>
              </a:lnSpc>
              <a:spcBef>
                <a:spcPts val="100"/>
              </a:spcBef>
              <a:spcAft>
                <a:spcPts val="0"/>
              </a:spcAft>
              <a:buClrTx/>
              <a:buSzTx/>
              <a:buFontTx/>
              <a:buNone/>
              <a:tabLst/>
              <a:defRPr/>
            </a:pP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endPar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由于各家浏览器制造商未能在对标准音频和视频解码器支持上达成一致，因此需要使用</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&lt;source&gt;</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元素来指定不同格式的媒体源。</a:t>
            </a: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&lt;audio&gt; </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标签允许</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使用多个 </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&lt;source&gt; </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元素。</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source&gt; </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元素可以链接不同的</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音频格式文件</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，浏览器将使用第一个支持的</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音频格式文件。</a:t>
            </a: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11</a:t>
            </a:fld>
            <a:endParaRPr kumimoji="0" lang="zh-CN" altLang="en-US" sz="18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a:stretch>
            <a:fillRect/>
          </a:stretch>
        </p:blipFill>
        <p:spPr>
          <a:xfrm>
            <a:off x="7010400" y="1524000"/>
            <a:ext cx="4333461" cy="914400"/>
          </a:xfrm>
          <a:prstGeom prst="rect">
            <a:avLst/>
          </a:prstGeom>
        </p:spPr>
      </p:pic>
    </p:spTree>
    <p:extLst>
      <p:ext uri="{BB962C8B-B14F-4D97-AF65-F5344CB8AC3E}">
        <p14:creationId xmlns:p14="http://schemas.microsoft.com/office/powerpoint/2010/main" val="20802509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a:t>
            </a:r>
            <a:r>
              <a:rPr lang="zh-CN" altLang="en-US" spc="-40" dirty="0">
                <a:solidFill>
                  <a:srgbClr val="585858"/>
                </a:solidFill>
              </a:rPr>
              <a:t>视</a:t>
            </a:r>
            <a:r>
              <a:rPr lang="zh-CN" altLang="en-US" spc="-40" dirty="0" smtClean="0">
                <a:solidFill>
                  <a:srgbClr val="585858"/>
                </a:solidFill>
              </a:rPr>
              <a:t>频 </a:t>
            </a:r>
            <a:r>
              <a:rPr lang="en-US" altLang="zh-CN" spc="-40" dirty="0" smtClean="0">
                <a:solidFill>
                  <a:srgbClr val="585858"/>
                </a:solidFill>
              </a:rPr>
              <a:t>video</a:t>
            </a:r>
            <a:endParaRPr spc="-40" dirty="0">
              <a:solidFill>
                <a:srgbClr val="585858"/>
              </a:solidFill>
            </a:endParaRPr>
          </a:p>
        </p:txBody>
      </p:sp>
      <p:sp>
        <p:nvSpPr>
          <p:cNvPr id="3" name="object 3"/>
          <p:cNvSpPr txBox="1"/>
          <p:nvPr/>
        </p:nvSpPr>
        <p:spPr>
          <a:xfrm>
            <a:off x="789838" y="967983"/>
            <a:ext cx="10716362" cy="424988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HTML5</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中视频的添加方式是采用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&lt;video&gt;&lt;/video&gt;</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标签，它支持三种视频格式的文件。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.mp4</a:t>
            </a:r>
            <a:r>
              <a:rPr kumimoji="0" lang="zh-CN" altLang="en-US"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a:t>
            </a:r>
            <a:r>
              <a:rPr kumimoji="0" lang="en-US" altLang="zh-CN" sz="1800" b="1" i="0" u="none" strike="noStrike" kern="1200" cap="none" spc="-30" normalizeH="0" baseline="0" noProof="0" dirty="0" err="1" smtClean="0">
                <a:ln>
                  <a:noFill/>
                </a:ln>
                <a:solidFill>
                  <a:srgbClr val="C0504D"/>
                </a:solidFill>
                <a:effectLst/>
                <a:uLnTx/>
                <a:uFillTx/>
                <a:latin typeface="宋体" panose="02010600030101010101" pitchFamily="2" charset="-122"/>
                <a:ea typeface="宋体" panose="02010600030101010101" pitchFamily="2" charset="-122"/>
                <a:cs typeface="宋体"/>
              </a:rPr>
              <a:t>webm</a:t>
            </a: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en-US" altLang="zh-CN" sz="1800" b="1" i="0" u="none" strike="noStrike" kern="1200" cap="none" spc="-30" normalizeH="0" baseline="0" noProof="0" dirty="0" err="1" smtClean="0">
                <a:ln>
                  <a:noFill/>
                </a:ln>
                <a:solidFill>
                  <a:srgbClr val="C0504D"/>
                </a:solidFill>
                <a:effectLst/>
                <a:uLnTx/>
                <a:uFillTx/>
                <a:latin typeface="宋体" panose="02010600030101010101" pitchFamily="2" charset="-122"/>
                <a:ea typeface="宋体" panose="02010600030101010101" pitchFamily="2" charset="-122"/>
                <a:cs typeface="宋体"/>
              </a:rPr>
              <a:t>ogg</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格式的视频文件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video width="320" height="240" controls&gt;</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&lt;source </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="movie.mp4" type="video/mp4"&gt;</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&lt;source </a:t>
            </a:r>
            <a:r>
              <a:rPr kumimoji="0" lang="en-US" altLang="zh-CN" sz="1600" b="0" i="0" u="none" strike="noStrike" kern="1200" cap="none" spc="-30" normalizeH="0" baseline="0" noProof="0" dirty="0" err="1" smtClean="0">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="movie.ogg" type="video/</a:t>
            </a:r>
            <a:r>
              <a:rPr kumimoji="0" lang="en-US" altLang="zh-CN" sz="1600" b="0" i="0" u="none" strike="noStrike" kern="1200" cap="none" spc="-30" normalizeH="0" baseline="0" noProof="0" dirty="0" err="1" smtClean="0">
                <a:ln>
                  <a:noFill/>
                </a:ln>
                <a:solidFill>
                  <a:srgbClr val="252525"/>
                </a:solidFill>
                <a:effectLst/>
                <a:uLnTx/>
                <a:uFillTx/>
                <a:latin typeface="宋体" panose="02010600030101010101" pitchFamily="2" charset="-122"/>
                <a:ea typeface="宋体" panose="02010600030101010101" pitchFamily="2" charset="-122"/>
                <a:cs typeface="宋体"/>
              </a:rPr>
              <a:t>ogg</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  &lt;</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source </a:t>
            </a:r>
            <a:r>
              <a:rPr kumimoji="0" lang="en-US" altLang="zh-CN" sz="1600"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sz="1600" b="0" i="0" u="none" strike="noStrike" kern="1200" cap="none" spc="-30" normalizeH="0" baseline="0" noProof="0" dirty="0" err="1" smtClean="0">
                <a:ln>
                  <a:noFill/>
                </a:ln>
                <a:solidFill>
                  <a:srgbClr val="252525"/>
                </a:solidFill>
                <a:effectLst/>
                <a:uLnTx/>
                <a:uFillTx/>
                <a:latin typeface="宋体" panose="02010600030101010101" pitchFamily="2" charset="-122"/>
                <a:ea typeface="宋体" panose="02010600030101010101" pitchFamily="2" charset="-122"/>
                <a:cs typeface="宋体"/>
              </a:rPr>
              <a:t>movie.webm</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 </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type="</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video/</a:t>
            </a:r>
            <a:r>
              <a:rPr kumimoji="0" lang="en-US" altLang="zh-CN" sz="1600" b="0" i="0" u="none" strike="noStrike" kern="1200" cap="none" spc="-30" normalizeH="0" baseline="0" noProof="0" dirty="0" err="1" smtClean="0">
                <a:ln>
                  <a:noFill/>
                </a:ln>
                <a:solidFill>
                  <a:srgbClr val="252525"/>
                </a:solidFill>
                <a:effectLst/>
                <a:uLnTx/>
                <a:uFillTx/>
                <a:latin typeface="宋体" panose="02010600030101010101" pitchFamily="2" charset="-122"/>
                <a:ea typeface="宋体" panose="02010600030101010101" pitchFamily="2" charset="-122"/>
                <a:cs typeface="宋体"/>
              </a:rPr>
              <a:t>webm</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  </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您的浏览器不支持 </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HTML5</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video </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标签。</a:t>
            </a:r>
          </a:p>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video</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p>
          <a:p>
            <a:pPr marL="12700" marR="0" lvl="0" indent="0" algn="l" defTabSz="914400" rtl="0" eaLnBrk="1" fontAlgn="auto" latinLnBrk="0" hangingPunct="1">
              <a:lnSpc>
                <a:spcPct val="150000"/>
              </a:lnSpc>
              <a:spcBef>
                <a:spcPts val="100"/>
              </a:spcBef>
              <a:spcAft>
                <a:spcPts val="0"/>
              </a:spcAft>
              <a:buClrTx/>
              <a:buSzTx/>
              <a:buFontTx/>
              <a:buNone/>
              <a:tabLst/>
              <a:defRPr/>
            </a:pPr>
            <a:endPar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注意：</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video</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标签内我们添加的多个</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source</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表示的是当前视频文件的多个格式，而不是多个视频文件。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12</a:t>
            </a:fld>
            <a:endParaRPr kumimoji="0" lang="zh-CN" altLang="en-US" sz="18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6" name="图片 5"/>
          <p:cNvPicPr>
            <a:picLocks noChangeAspect="1"/>
          </p:cNvPicPr>
          <p:nvPr/>
        </p:nvPicPr>
        <p:blipFill>
          <a:blip r:embed="rId2"/>
          <a:stretch>
            <a:fillRect/>
          </a:stretch>
        </p:blipFill>
        <p:spPr>
          <a:xfrm>
            <a:off x="7391400" y="1828800"/>
            <a:ext cx="3086100" cy="2352675"/>
          </a:xfrm>
          <a:prstGeom prst="rect">
            <a:avLst/>
          </a:prstGeom>
        </p:spPr>
      </p:pic>
    </p:spTree>
    <p:extLst>
      <p:ext uri="{BB962C8B-B14F-4D97-AF65-F5344CB8AC3E}">
        <p14:creationId xmlns:p14="http://schemas.microsoft.com/office/powerpoint/2010/main" val="27187852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a:t>
            </a:r>
            <a:r>
              <a:rPr lang="zh-CN" altLang="en-US" spc="-40" dirty="0">
                <a:solidFill>
                  <a:srgbClr val="585858"/>
                </a:solidFill>
              </a:rPr>
              <a:t>视</a:t>
            </a:r>
            <a:r>
              <a:rPr lang="zh-CN" altLang="en-US" spc="-40" dirty="0" smtClean="0">
                <a:solidFill>
                  <a:srgbClr val="585858"/>
                </a:solidFill>
              </a:rPr>
              <a:t>频 </a:t>
            </a:r>
            <a:r>
              <a:rPr lang="en-US" altLang="zh-CN" spc="-40" dirty="0" smtClean="0">
                <a:solidFill>
                  <a:srgbClr val="585858"/>
                </a:solidFill>
              </a:rPr>
              <a:t>video</a:t>
            </a:r>
            <a:endParaRPr spc="-40" dirty="0">
              <a:solidFill>
                <a:srgbClr val="585858"/>
              </a:solidFill>
            </a:endParaRPr>
          </a:p>
        </p:txBody>
      </p:sp>
      <p:sp>
        <p:nvSpPr>
          <p:cNvPr id="3" name="object 3"/>
          <p:cNvSpPr txBox="1"/>
          <p:nvPr/>
        </p:nvSpPr>
        <p:spPr>
          <a:xfrm>
            <a:off x="789838" y="967983"/>
            <a:ext cx="10716362" cy="810478"/>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HTML5</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中视频的添加方式是采用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&lt;video&gt;&lt;/video&gt;</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标签，它支持三种视频格式的文件。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.mp4</a:t>
            </a:r>
            <a:r>
              <a:rPr kumimoji="0" lang="zh-CN" altLang="en-US"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a:t>
            </a:r>
            <a:r>
              <a:rPr kumimoji="0" lang="en-US" altLang="zh-CN" sz="1800" b="1" i="0" u="none" strike="noStrike" kern="1200" cap="none" spc="-30" normalizeH="0" baseline="0" noProof="0" dirty="0" err="1" smtClean="0">
                <a:ln>
                  <a:noFill/>
                </a:ln>
                <a:solidFill>
                  <a:srgbClr val="C0504D"/>
                </a:solidFill>
                <a:effectLst/>
                <a:uLnTx/>
                <a:uFillTx/>
                <a:latin typeface="宋体" panose="02010600030101010101" pitchFamily="2" charset="-122"/>
                <a:ea typeface="宋体" panose="02010600030101010101" pitchFamily="2" charset="-122"/>
                <a:cs typeface="宋体"/>
              </a:rPr>
              <a:t>webm</a:t>
            </a: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en-US" altLang="zh-CN" sz="1800" b="1" i="0" u="none" strike="noStrike" kern="1200" cap="none" spc="-30" normalizeH="0" baseline="0" noProof="0" dirty="0" err="1" smtClean="0">
                <a:ln>
                  <a:noFill/>
                </a:ln>
                <a:solidFill>
                  <a:srgbClr val="C0504D"/>
                </a:solidFill>
                <a:effectLst/>
                <a:uLnTx/>
                <a:uFillTx/>
                <a:latin typeface="宋体" panose="02010600030101010101" pitchFamily="2" charset="-122"/>
                <a:ea typeface="宋体" panose="02010600030101010101" pitchFamily="2" charset="-122"/>
                <a:cs typeface="宋体"/>
              </a:rPr>
              <a:t>ogg</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格式的视频文件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13</a:t>
            </a:fld>
            <a:endParaRPr kumimoji="0" lang="zh-CN" altLang="en-US" sz="18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矩形 4"/>
          <p:cNvSpPr/>
          <p:nvPr/>
        </p:nvSpPr>
        <p:spPr>
          <a:xfrm>
            <a:off x="789838" y="2027826"/>
            <a:ext cx="6677762" cy="4154984"/>
          </a:xfrm>
          <a:prstGeom prst="rect">
            <a:avLst/>
          </a:prstGeom>
        </p:spPr>
        <p:txBody>
          <a:bodyPr wrap="square">
            <a:spAutoFit/>
          </a:bodyPr>
          <a:lstStyle/>
          <a:p>
            <a:pPr marL="0" marR="0" lvl="0" indent="0" algn="l" defTabSz="914400" rtl="0" eaLnBrk="1" fontAlgn="auto" latinLnBrk="0" hangingPunct="1">
              <a:lnSpc>
                <a:spcPct val="150000"/>
              </a:lnSpc>
              <a:spcBef>
                <a:spcPts val="0"/>
              </a:spcBef>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&lt;video id="</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myVideo</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width="320" height="240"&gt;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&lt;source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src</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="resources/movie.mp4" type="video/mp4" /&gt;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&lt;source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src</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="resources/</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movie.webm</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type="video/</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webm</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/&gt;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&lt;source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src</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="resources/movie.ogg" type="video/</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ogg</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/&gt;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您的浏览器不支持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HTML5 video </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标签</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&lt;/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video&gt;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&lt;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button </a:t>
            </a:r>
            <a:r>
              <a:rPr kumimoji="0" lang="en-US" altLang="zh-CN" sz="1600" b="0" i="0" u="none" strike="noStrike" kern="1200" cap="none" spc="0" normalizeH="0" baseline="0" noProof="0" dirty="0" err="1">
                <a:ln>
                  <a:noFill/>
                </a:ln>
                <a:solidFill>
                  <a:srgbClr val="C00000"/>
                </a:solidFill>
                <a:effectLst/>
                <a:uLnTx/>
                <a:uFillTx/>
                <a:latin typeface="宋体" panose="02010600030101010101" pitchFamily="2" charset="-122"/>
                <a:ea typeface="宋体" panose="02010600030101010101" pitchFamily="2" charset="-122"/>
                <a:cs typeface="+mn-cs"/>
              </a:rPr>
              <a:t>onclick</a:t>
            </a:r>
            <a:r>
              <a:rPr kumimoji="0" lang="en-US" altLang="zh-CN" sz="1600" b="0"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1600" b="0" i="0" u="none" strike="noStrike" kern="1200" cap="none" spc="0" normalizeH="0" baseline="0" noProof="0" dirty="0" err="1">
                <a:ln>
                  <a:noFill/>
                </a:ln>
                <a:solidFill>
                  <a:srgbClr val="C00000"/>
                </a:solidFill>
                <a:effectLst/>
                <a:uLnTx/>
                <a:uFillTx/>
                <a:latin typeface="宋体" panose="02010600030101010101" pitchFamily="2" charset="-122"/>
                <a:ea typeface="宋体" panose="02010600030101010101" pitchFamily="2" charset="-122"/>
                <a:cs typeface="+mn-cs"/>
              </a:rPr>
              <a:t>playPause</a:t>
            </a:r>
            <a:r>
              <a:rPr kumimoji="0" lang="en-US" altLang="zh-CN" sz="1600" b="0"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&gt;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暂停</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播放</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&lt;/button</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&gt;</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285750" marR="0" lvl="0" indent="-285750" algn="l" defTabSz="914400" rtl="0" eaLnBrk="1" fontAlgn="auto" latinLnBrk="0" hangingPunct="1">
              <a:lnSpc>
                <a:spcPct val="150000"/>
              </a:lnSpc>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在</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HTML4</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的标准中，按钮我们是通过</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form</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表单以及</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input</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标签中</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type</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设置为</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button</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来完成一个按钮。在</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HTML5</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中，仅通过</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button</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标签就可以完成按钮的设置。</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7" name="图片 6"/>
          <p:cNvPicPr>
            <a:picLocks noChangeAspect="1"/>
          </p:cNvPicPr>
          <p:nvPr/>
        </p:nvPicPr>
        <p:blipFill>
          <a:blip r:embed="rId2"/>
          <a:stretch>
            <a:fillRect/>
          </a:stretch>
        </p:blipFill>
        <p:spPr>
          <a:xfrm>
            <a:off x="7162800" y="1447800"/>
            <a:ext cx="4838700" cy="3038475"/>
          </a:xfrm>
          <a:prstGeom prst="rect">
            <a:avLst/>
          </a:prstGeom>
        </p:spPr>
      </p:pic>
    </p:spTree>
    <p:extLst>
      <p:ext uri="{BB962C8B-B14F-4D97-AF65-F5344CB8AC3E}">
        <p14:creationId xmlns:p14="http://schemas.microsoft.com/office/powerpoint/2010/main" val="1294312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a:t>
            </a:r>
            <a:r>
              <a:rPr lang="zh-CN" altLang="en-US" spc="-40" dirty="0">
                <a:solidFill>
                  <a:srgbClr val="585858"/>
                </a:solidFill>
              </a:rPr>
              <a:t>视</a:t>
            </a:r>
            <a:r>
              <a:rPr lang="zh-CN" altLang="en-US" spc="-40" dirty="0" smtClean="0">
                <a:solidFill>
                  <a:srgbClr val="585858"/>
                </a:solidFill>
              </a:rPr>
              <a:t>频 </a:t>
            </a:r>
            <a:r>
              <a:rPr lang="en-US" altLang="zh-CN" spc="-40" dirty="0" smtClean="0">
                <a:solidFill>
                  <a:srgbClr val="585858"/>
                </a:solidFill>
              </a:rPr>
              <a:t>video</a:t>
            </a:r>
            <a:endParaRPr spc="-40" dirty="0">
              <a:solidFill>
                <a:srgbClr val="585858"/>
              </a:solidFill>
            </a:endParaRPr>
          </a:p>
        </p:txBody>
      </p:sp>
      <p:sp>
        <p:nvSpPr>
          <p:cNvPr id="3" name="object 3"/>
          <p:cNvSpPr txBox="1"/>
          <p:nvPr/>
        </p:nvSpPr>
        <p:spPr>
          <a:xfrm>
            <a:off x="789838" y="967983"/>
            <a:ext cx="10716362" cy="810478"/>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HTML5</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中视频的添加方式是采用</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&lt;video&gt;&lt;/video&gt;</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标签，它支持三种视频格式的文件。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.mp4</a:t>
            </a:r>
            <a:r>
              <a:rPr kumimoji="0" lang="zh-CN" altLang="en-US"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a:t>
            </a:r>
            <a:r>
              <a:rPr kumimoji="0" lang="en-US" altLang="zh-CN" sz="1800" b="1" i="0" u="none" strike="noStrike" kern="1200" cap="none" spc="-30" normalizeH="0" baseline="0" noProof="0" dirty="0" err="1" smtClean="0">
                <a:ln>
                  <a:noFill/>
                </a:ln>
                <a:solidFill>
                  <a:srgbClr val="C0504D"/>
                </a:solidFill>
                <a:effectLst/>
                <a:uLnTx/>
                <a:uFillTx/>
                <a:latin typeface="宋体" panose="02010600030101010101" pitchFamily="2" charset="-122"/>
                <a:ea typeface="宋体" panose="02010600030101010101" pitchFamily="2" charset="-122"/>
                <a:cs typeface="宋体"/>
              </a:rPr>
              <a:t>webm</a:t>
            </a:r>
            <a:r>
              <a:rPr kumimoji="0" lang="en-US" altLang="zh-CN" sz="1800" b="1" i="0" u="none" strike="noStrike" kern="1200" cap="none" spc="-30" normalizeH="0" baseline="0" noProof="0" dirty="0" smtClean="0">
                <a:ln>
                  <a:noFill/>
                </a:ln>
                <a:solidFill>
                  <a:srgbClr val="C0504D"/>
                </a:solidFill>
                <a:effectLst/>
                <a:uLnTx/>
                <a:uFillTx/>
                <a:latin typeface="宋体" panose="02010600030101010101" pitchFamily="2" charset="-122"/>
                <a:ea typeface="宋体" panose="02010600030101010101" pitchFamily="2" charset="-122"/>
                <a:cs typeface="宋体"/>
              </a:rPr>
              <a:t>  .</a:t>
            </a:r>
            <a:r>
              <a:rPr kumimoji="0" lang="en-US" altLang="zh-CN" sz="1800" b="1" i="0" u="none" strike="noStrike" kern="1200" cap="none" spc="-30" normalizeH="0" baseline="0" noProof="0" dirty="0" err="1" smtClean="0">
                <a:ln>
                  <a:noFill/>
                </a:ln>
                <a:solidFill>
                  <a:srgbClr val="C0504D"/>
                </a:solidFill>
                <a:effectLst/>
                <a:uLnTx/>
                <a:uFillTx/>
                <a:latin typeface="宋体" panose="02010600030101010101" pitchFamily="2" charset="-122"/>
                <a:ea typeface="宋体" panose="02010600030101010101" pitchFamily="2" charset="-122"/>
                <a:cs typeface="宋体"/>
              </a:rPr>
              <a:t>ogg</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格式的视频文件</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14</a:t>
            </a:fld>
            <a:endParaRPr kumimoji="0" lang="zh-CN" altLang="en-US" sz="18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矩形 4"/>
          <p:cNvSpPr/>
          <p:nvPr/>
        </p:nvSpPr>
        <p:spPr>
          <a:xfrm>
            <a:off x="789838" y="2027826"/>
            <a:ext cx="6068162" cy="4154984"/>
          </a:xfrm>
          <a:prstGeom prst="rect">
            <a:avLst/>
          </a:prstGeom>
        </p:spPr>
        <p:txBody>
          <a:bodyPr wrap="square">
            <a:spAutoFit/>
          </a:bodyPr>
          <a:lstStyle/>
          <a:p>
            <a:pPr marL="0" marR="0" lvl="0" indent="0" algn="l" defTabSz="914400" rtl="0" eaLnBrk="1" fontAlgn="auto" latinLnBrk="0" hangingPunct="1">
              <a:lnSpc>
                <a:spcPct val="150000"/>
              </a:lnSpc>
              <a:spcBef>
                <a:spcPts val="0"/>
              </a:spcBef>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&lt;script&gt;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let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v =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document.getElementById</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myVideo</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function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playPause</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if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v.paused</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smtClean="0">
                <a:ln>
                  <a:noFill/>
                </a:ln>
                <a:solidFill>
                  <a:prstClr val="black"/>
                </a:solidFill>
                <a:effectLst/>
                <a:uLnTx/>
                <a:uFillTx/>
                <a:latin typeface="宋体" panose="02010600030101010101" pitchFamily="2" charset="-122"/>
                <a:ea typeface="宋体" panose="02010600030101010101" pitchFamily="2" charset="-122"/>
                <a:cs typeface="+mn-cs"/>
              </a:rPr>
              <a:t>v.play</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else </a:t>
            </a:r>
            <a:endPar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smtClean="0">
                <a:ln>
                  <a:noFill/>
                </a:ln>
                <a:solidFill>
                  <a:prstClr val="black"/>
                </a:solidFill>
                <a:effectLst/>
                <a:uLnTx/>
                <a:uFillTx/>
                <a:latin typeface="宋体" panose="02010600030101010101" pitchFamily="2" charset="-122"/>
                <a:ea typeface="宋体" panose="02010600030101010101" pitchFamily="2" charset="-122"/>
                <a:cs typeface="+mn-cs"/>
              </a:rPr>
              <a:t>v.pause</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50000"/>
              </a:lnSpc>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&lt;/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script</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&gt;</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Aft>
                <a:spcPts val="0"/>
              </a:spcAft>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video</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元素提供的</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API</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能够让脚本控制媒体</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7" name="图片 6"/>
          <p:cNvPicPr>
            <a:picLocks noChangeAspect="1"/>
          </p:cNvPicPr>
          <p:nvPr/>
        </p:nvPicPr>
        <p:blipFill>
          <a:blip r:embed="rId2"/>
          <a:stretch>
            <a:fillRect/>
          </a:stretch>
        </p:blipFill>
        <p:spPr>
          <a:xfrm>
            <a:off x="7010400" y="2091366"/>
            <a:ext cx="4838700" cy="3038475"/>
          </a:xfrm>
          <a:prstGeom prst="rect">
            <a:avLst/>
          </a:prstGeom>
        </p:spPr>
      </p:pic>
    </p:spTree>
    <p:extLst>
      <p:ext uri="{BB962C8B-B14F-4D97-AF65-F5344CB8AC3E}">
        <p14:creationId xmlns:p14="http://schemas.microsoft.com/office/powerpoint/2010/main" val="820110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canvas</a:t>
            </a:r>
            <a:endParaRPr spc="-40" dirty="0">
              <a:solidFill>
                <a:srgbClr val="585858"/>
              </a:solidFill>
            </a:endParaRPr>
          </a:p>
        </p:txBody>
      </p:sp>
      <p:sp>
        <p:nvSpPr>
          <p:cNvPr id="3" name="object 3"/>
          <p:cNvSpPr txBox="1"/>
          <p:nvPr/>
        </p:nvSpPr>
        <p:spPr>
          <a:xfrm>
            <a:off x="789838" y="967983"/>
            <a:ext cx="10716362" cy="34265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HTML5 &lt;canvas&gt; </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元素用于图形的绘制，通过脚本 </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通常是</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JavaScript)</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来完成</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p>
          <a:p>
            <a:pPr marL="12700" marR="0" lvl="0" indent="0" algn="l" defTabSz="914400" rtl="0" eaLnBrk="1" fontAlgn="auto" latinLnBrk="0" hangingPunct="1">
              <a:lnSpc>
                <a:spcPct val="150000"/>
              </a:lnSpc>
              <a:spcBef>
                <a:spcPts val="100"/>
              </a:spcBef>
              <a:buClrTx/>
              <a:buSzTx/>
              <a:buFontTx/>
              <a:buNone/>
              <a:tabLst/>
              <a:defRPr/>
            </a:pP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注意</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canvas&gt; </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标签只是图形容器</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，必须</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使用脚本来绘制</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图形。</a:t>
            </a:r>
            <a:endPar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在</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HTML</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网页上定义</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元素后，它只是一张空白的画布，</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为了在</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canvas</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上绘图，必须经过三步：</a:t>
            </a:r>
          </a:p>
          <a:p>
            <a:pPr marL="12700" marR="0" lvl="0" indent="0" algn="l" defTabSz="914400" rtl="0" eaLnBrk="1" fontAlgn="auto" latinLnBrk="0" hangingPunct="1">
              <a:lnSpc>
                <a:spcPct val="150000"/>
              </a:lnSpc>
              <a:spcBef>
                <a:spcPts val="100"/>
              </a:spcBef>
              <a:spcAft>
                <a:spcPts val="0"/>
              </a:spcAft>
              <a:buClrTx/>
              <a:buSzTx/>
              <a:buFontTx/>
              <a:buNone/>
              <a:tabLst/>
              <a:defRPr/>
            </a:pPr>
            <a:endPar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355600" marR="0" lvl="0" indent="-342900" algn="l" defTabSz="914400" rtl="0" eaLnBrk="1" fontAlgn="auto" latinLnBrk="0" hangingPunct="1">
              <a:lnSpc>
                <a:spcPct val="150000"/>
              </a:lnSpc>
              <a:spcBef>
                <a:spcPts val="100"/>
              </a:spcBef>
              <a:buClrTx/>
              <a:buSzTx/>
              <a:buFont typeface="+mj-ea"/>
              <a:buAutoNum type="circleNumDbPlain"/>
              <a:tabLst/>
              <a:defRPr/>
            </a:pP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获取</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元素对应的</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DOM</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对象，这是一个</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对象。</a:t>
            </a:r>
          </a:p>
          <a:p>
            <a:pPr marL="355600" marR="0" lvl="0" indent="-342900" algn="l" defTabSz="914400" rtl="0" eaLnBrk="1" fontAlgn="auto" latinLnBrk="0" hangingPunct="1">
              <a:lnSpc>
                <a:spcPct val="150000"/>
              </a:lnSpc>
              <a:spcBef>
                <a:spcPts val="100"/>
              </a:spcBef>
              <a:buClrTx/>
              <a:buSzTx/>
              <a:buFont typeface="+mj-ea"/>
              <a:buAutoNum type="circleNumDbPlain"/>
              <a:tabLst/>
              <a:defRPr/>
            </a:pP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调用</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对象的</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getContext</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方法，返回一个</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CanvasRenderingContext2D</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对象（称作绘制上下文对象）。</a:t>
            </a:r>
            <a:endPar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355600" marR="0" lvl="0" indent="-342900" algn="l" defTabSz="914400" rtl="0" eaLnBrk="1" fontAlgn="auto" latinLnBrk="0" hangingPunct="1">
              <a:lnSpc>
                <a:spcPct val="150000"/>
              </a:lnSpc>
              <a:spcBef>
                <a:spcPts val="100"/>
              </a:spcBef>
              <a:spcAft>
                <a:spcPts val="0"/>
              </a:spcAft>
              <a:buClrTx/>
              <a:buSzTx/>
              <a:buFont typeface="+mj-ea"/>
              <a:buAutoNum type="circleNumDbPlain"/>
              <a:tabLst/>
              <a:defRPr/>
            </a:pP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调用</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CanvasRenderingContext2D</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对象的</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方法（一般也称作画布</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API</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）绘图</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endPar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15</a:t>
            </a:fld>
            <a:endParaRPr kumimoji="0" lang="zh-CN" altLang="en-US" sz="18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187377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canvas</a:t>
            </a:r>
            <a:endParaRPr spc="-40" dirty="0">
              <a:solidFill>
                <a:srgbClr val="585858"/>
              </a:solidFill>
            </a:endParaRPr>
          </a:p>
        </p:txBody>
      </p:sp>
      <p:sp>
        <p:nvSpPr>
          <p:cNvPr id="3" name="object 3"/>
          <p:cNvSpPr txBox="1"/>
          <p:nvPr/>
        </p:nvSpPr>
        <p:spPr>
          <a:xfrm>
            <a:off x="789838" y="967983"/>
            <a:ext cx="10716362" cy="76431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HTML5 &lt;canvas&gt; </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元素用于图形的绘制，通过脚本 </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通常是</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JavaScript)</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来完成</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p>
          <a:p>
            <a:pPr marL="12700" marR="0" lvl="0" indent="0" algn="l" defTabSz="914400" rtl="0" eaLnBrk="1" fontAlgn="auto" latinLnBrk="0" hangingPunct="1">
              <a:lnSpc>
                <a:spcPct val="150000"/>
              </a:lnSpc>
              <a:spcBef>
                <a:spcPts val="100"/>
              </a:spcBef>
              <a:spcAft>
                <a:spcPts val="0"/>
              </a:spcAft>
              <a:buClrTx/>
              <a:buSzTx/>
              <a:buFontTx/>
              <a:buNone/>
              <a:tabLst/>
              <a:defRPr/>
            </a:pP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注意</a:t>
            </a:r>
            <a:r>
              <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canvas&gt; </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标签只是图形容器</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，必须</a:t>
            </a:r>
            <a:r>
              <a:rPr kumimoji="0" lang="zh-CN" altLang="en-US" sz="1600"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使用脚本来绘制</a:t>
            </a:r>
            <a:r>
              <a:rPr kumimoji="0" lang="zh-CN" altLang="en-US"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图形。</a:t>
            </a:r>
            <a:endParaRPr kumimoji="0" lang="en-US" altLang="zh-CN" sz="1600"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16</a:t>
            </a:fld>
            <a:endParaRPr kumimoji="0" lang="zh-CN" altLang="en-US" sz="18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
        <p:nvSpPr>
          <p:cNvPr id="8" name="矩形 7"/>
          <p:cNvSpPr/>
          <p:nvPr/>
        </p:nvSpPr>
        <p:spPr>
          <a:xfrm>
            <a:off x="784194" y="4660707"/>
            <a:ext cx="3505200" cy="457200"/>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buClrTx/>
              <a:buSzTx/>
              <a:buFontTx/>
              <a:buNone/>
              <a:tabLst/>
              <a:defRPr/>
            </a:pPr>
            <a:r>
              <a:rPr kumimoji="0" lang="zh-CN" altLang="en-US" sz="1800" b="0" i="0" u="none" strike="noStrike" kern="1200" cap="none" spc="0" normalizeH="0" baseline="0" noProof="0" dirty="0" smtClean="0">
                <a:ln>
                  <a:noFill/>
                </a:ln>
                <a:solidFill>
                  <a:srgbClr val="C00000"/>
                </a:solidFill>
                <a:effectLst/>
                <a:uLnTx/>
                <a:uFillTx/>
                <a:latin typeface="Calibri"/>
                <a:ea typeface="宋体" panose="02010600030101010101" pitchFamily="2" charset="-122"/>
                <a:cs typeface="+mn-cs"/>
              </a:rPr>
              <a:t>绘制直线</a:t>
            </a:r>
            <a:r>
              <a:rPr kumimoji="0" lang="en-US" altLang="zh-CN" sz="1800" b="0" i="0" u="none" strike="noStrike" kern="1200" cap="none" spc="0" normalizeH="0" baseline="0" noProof="0" dirty="0" smtClean="0">
                <a:ln>
                  <a:noFill/>
                </a:ln>
                <a:solidFill>
                  <a:srgbClr val="C00000"/>
                </a:solidFill>
                <a:effectLst/>
                <a:uLnTx/>
                <a:uFillTx/>
                <a:latin typeface="Calibri"/>
                <a:ea typeface="宋体" panose="02010600030101010101" pitchFamily="2" charset="-122"/>
                <a:cs typeface="+mn-cs"/>
              </a:rPr>
              <a:t>(0,0)-(180,50)</a:t>
            </a:r>
            <a:endParaRPr kumimoji="0" lang="zh-CN" altLang="en-US" sz="1800" b="0"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endParaRPr>
          </a:p>
        </p:txBody>
      </p:sp>
      <p:sp>
        <p:nvSpPr>
          <p:cNvPr id="9" name="矩形 8"/>
          <p:cNvSpPr/>
          <p:nvPr/>
        </p:nvSpPr>
        <p:spPr>
          <a:xfrm>
            <a:off x="4876800" y="2133600"/>
            <a:ext cx="6781800" cy="4031873"/>
          </a:xfrm>
          <a:prstGeom prst="rect">
            <a:avLst/>
          </a:prstGeom>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&lt;canvas id="</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myCanvas</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width="200" height="100" style</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="border:1px solid #d3d3d3</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;"&gt;</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您的浏览器不支持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HTML5 canvas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标签</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&lt;/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canvas&gt;</a:t>
            </a: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&lt;script&gt;</a:t>
            </a: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window.onload</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 draw</a:t>
            </a: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function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draw(e)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let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 =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document.getElementById</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myCanvas</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let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ctx</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c.getContext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('2d')</a:t>
            </a: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ctx.moveTo</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(0, 0</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绘图的起始点</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ctx.lineTo</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(180, 50</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绘图的终止点</a:t>
            </a:r>
            <a:endPar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smtClean="0">
                <a:ln>
                  <a:noFill/>
                </a:ln>
                <a:solidFill>
                  <a:prstClr val="black"/>
                </a:solidFill>
                <a:effectLst/>
                <a:uLnTx/>
                <a:uFillTx/>
                <a:latin typeface="宋体" panose="02010600030101010101" pitchFamily="2" charset="-122"/>
                <a:ea typeface="宋体" panose="02010600030101010101" pitchFamily="2" charset="-122"/>
                <a:cs typeface="+mn-cs"/>
              </a:rPr>
              <a:t>ctx.lineWidth</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5  //</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画笔的粗细</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ctx.strokeStyle</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 </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‘#FF0000‘ //</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画笔的颜色</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ctx.stroke</a:t>
            </a:r>
            <a:r>
              <a:rPr kumimoji="0" lang="en-US" altLang="zh-CN"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en-US" sz="1600" b="0" i="0" u="none" strike="noStrike" kern="1200" cap="none" spc="0" normalizeH="0" baseline="0" noProof="0" dirty="0" smtClean="0">
                <a:ln>
                  <a:noFill/>
                </a:ln>
                <a:solidFill>
                  <a:prstClr val="black"/>
                </a:solidFill>
                <a:effectLst/>
                <a:uLnTx/>
                <a:uFillTx/>
                <a:latin typeface="宋体" panose="02010600030101010101" pitchFamily="2" charset="-122"/>
                <a:ea typeface="宋体" panose="02010600030101010101" pitchFamily="2" charset="-122"/>
                <a:cs typeface="+mn-cs"/>
              </a:rPr>
              <a:t>真正的绘图</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1" fontAlgn="auto" latinLnBrk="0" hangingPunct="1">
              <a:lnSpc>
                <a:spcPct val="100000"/>
              </a:lnSpc>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&lt;/script&gt;</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1" name="矩形 10"/>
          <p:cNvSpPr/>
          <p:nvPr/>
        </p:nvSpPr>
        <p:spPr>
          <a:xfrm>
            <a:off x="4876800" y="6287167"/>
            <a:ext cx="4294765"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2d</a:t>
            </a:r>
            <a:r>
              <a:rPr kumimoji="0" lang="zh-CN" altLang="en-US" sz="16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表示当前我们的绘图是一个二维平面绘图。</a:t>
            </a:r>
            <a:endPar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3"/>
          <a:stretch>
            <a:fillRect/>
          </a:stretch>
        </p:blipFill>
        <p:spPr>
          <a:xfrm>
            <a:off x="1066800" y="2477307"/>
            <a:ext cx="2752725" cy="1409700"/>
          </a:xfrm>
          <a:prstGeom prst="rect">
            <a:avLst/>
          </a:prstGeom>
        </p:spPr>
      </p:pic>
    </p:spTree>
    <p:extLst>
      <p:ext uri="{BB962C8B-B14F-4D97-AF65-F5344CB8AC3E}">
        <p14:creationId xmlns:p14="http://schemas.microsoft.com/office/powerpoint/2010/main" val="2397614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canvas</a:t>
            </a:r>
            <a:endParaRPr spc="-40" dirty="0">
              <a:solidFill>
                <a:srgbClr val="585858"/>
              </a:solidFill>
            </a:endParaRPr>
          </a:p>
        </p:txBody>
      </p:sp>
      <p:sp>
        <p:nvSpPr>
          <p:cNvPr id="3" name="object 3"/>
          <p:cNvSpPr txBox="1"/>
          <p:nvPr/>
        </p:nvSpPr>
        <p:spPr>
          <a:xfrm>
            <a:off x="789838" y="967983"/>
            <a:ext cx="10716362" cy="8566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HTML5 &lt;canvas&gt; </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元素用于图形的绘制，通过脚本 </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通常是</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JavaScript)</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来</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完成</a:t>
            </a:r>
            <a:r>
              <a:rPr lang="zh-CN" altLang="en-US" spc="-30" dirty="0">
                <a:solidFill>
                  <a:srgbClr val="252525"/>
                </a:solidFill>
                <a:latin typeface="宋体" panose="02010600030101010101" pitchFamily="2" charset="-122"/>
                <a:ea typeface="宋体" panose="02010600030101010101" pitchFamily="2" charset="-122"/>
                <a:cs typeface="宋体"/>
              </a:rPr>
              <a:t>。</a:t>
            </a: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spcAft>
                <a:spcPts val="0"/>
              </a:spcAft>
              <a:buClrTx/>
              <a:buSzTx/>
              <a:buFontTx/>
              <a:buNone/>
              <a:tabLst/>
              <a:defRPr/>
            </a:pP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注意</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canvas&gt; </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标签只是图形容器</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，必须</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使用脚本来绘制</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图形。</a:t>
            </a:r>
            <a:endPar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17</a:t>
            </a:fld>
            <a:endParaRPr kumimoji="0" lang="zh-CN" altLang="en-US" sz="18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3"/>
          <a:stretch>
            <a:fillRect/>
          </a:stretch>
        </p:blipFill>
        <p:spPr>
          <a:xfrm>
            <a:off x="391597" y="1732295"/>
            <a:ext cx="9009578" cy="5032694"/>
          </a:xfrm>
          <a:prstGeom prst="rect">
            <a:avLst/>
          </a:prstGeom>
        </p:spPr>
      </p:pic>
    </p:spTree>
    <p:extLst>
      <p:ext uri="{BB962C8B-B14F-4D97-AF65-F5344CB8AC3E}">
        <p14:creationId xmlns:p14="http://schemas.microsoft.com/office/powerpoint/2010/main" val="29576442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canvas</a:t>
            </a:r>
            <a:endParaRPr spc="-40" dirty="0">
              <a:solidFill>
                <a:srgbClr val="585858"/>
              </a:solidFill>
            </a:endParaRPr>
          </a:p>
        </p:txBody>
      </p:sp>
      <p:sp>
        <p:nvSpPr>
          <p:cNvPr id="3" name="object 3"/>
          <p:cNvSpPr txBox="1"/>
          <p:nvPr/>
        </p:nvSpPr>
        <p:spPr>
          <a:xfrm>
            <a:off x="789838" y="967983"/>
            <a:ext cx="10716362" cy="513986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使用</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canvas</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把一幅图像放置到画布上，使用以下方法</a:t>
            </a:r>
            <a:r>
              <a:rPr kumimoji="0" lang="en-US" altLang="zh-CN" b="0" i="0" u="none" strike="noStrike" kern="1200" cap="none" spc="-30" normalizeH="0" baseline="0" noProof="0" dirty="0" err="1" smtClean="0">
                <a:ln>
                  <a:noFill/>
                </a:ln>
                <a:solidFill>
                  <a:srgbClr val="252525"/>
                </a:solidFill>
                <a:effectLst/>
                <a:uLnTx/>
                <a:uFillTx/>
                <a:latin typeface="宋体" panose="02010600030101010101" pitchFamily="2" charset="-122"/>
                <a:ea typeface="宋体" panose="02010600030101010101" pitchFamily="2" charset="-122"/>
                <a:cs typeface="宋体"/>
              </a:rPr>
              <a:t>drawImage</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(image, x, y)</a:t>
            </a: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t>
            </a:r>
            <a:endPar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img</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id="scream" </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src</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="img_the_scream.jpg" alt="The Scream" width="220" height="277</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p>
          <a:p>
            <a:pPr marL="12700" marR="0" lvl="0"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&lt;</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canvas id="</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myCanvas</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width="250" height="300" style="border:1px solid #d3d3d3;"&gt;</a:t>
            </a:r>
          </a:p>
          <a:p>
            <a:pPr marL="12700" marR="0" lvl="0" indent="0" algn="l" defTabSz="914400" rtl="0" eaLnBrk="1" fontAlgn="auto" latinLnBrk="0" hangingPunct="1">
              <a:lnSpc>
                <a:spcPct val="150000"/>
              </a:lnSpc>
              <a:spcBef>
                <a:spcPts val="100"/>
              </a:spcBef>
              <a:buClrTx/>
              <a:buSzTx/>
              <a:buFontTx/>
              <a:buNone/>
              <a:tabLst/>
              <a:defRPr/>
            </a:pP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您的浏览器不支持 </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HTML5 canvas </a:t>
            </a:r>
            <a:r>
              <a:rPr kumimoji="0" lang="zh-CN" altLang="en-US"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标签。</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&lt;/canvas</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12700" marR="0" lvl="0"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&lt;script</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&gt;</a:t>
            </a: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469900" marR="0" lvl="1"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var</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c=</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document.getElementById</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myCanvas</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p>
          <a:p>
            <a:pPr marL="469900" marR="0" lvl="1"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var</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ctx</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c.getContext</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("2d");</a:t>
            </a:r>
          </a:p>
          <a:p>
            <a:pPr marL="469900" marR="0" lvl="1"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var</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img</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document.getElementById</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("scream</a:t>
            </a:r>
            <a:r>
              <a:rPr kumimoji="0" lang="en-US" altLang="zh-CN"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a:t>
            </a: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a:p>
            <a:pPr marL="469900" marR="0" lvl="1"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img.onload</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 function() {</a:t>
            </a:r>
          </a:p>
          <a:p>
            <a:pPr marL="469900" marR="0" lvl="1"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a:t>
            </a:r>
            <a:r>
              <a:rPr kumimoji="0" lang="en-US" altLang="zh-CN" b="0" i="0" u="none" strike="noStrike" kern="1200" cap="none" spc="-30" normalizeH="0" baseline="0" noProof="0" dirty="0" err="1">
                <a:ln>
                  <a:noFill/>
                </a:ln>
                <a:solidFill>
                  <a:srgbClr val="252525"/>
                </a:solidFill>
                <a:effectLst/>
                <a:uLnTx/>
                <a:uFillTx/>
                <a:latin typeface="宋体" panose="02010600030101010101" pitchFamily="2" charset="-122"/>
                <a:ea typeface="宋体" panose="02010600030101010101" pitchFamily="2" charset="-122"/>
                <a:cs typeface="宋体"/>
              </a:rPr>
              <a:t>ctx.drawImage</a:t>
            </a: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(img,10,10);</a:t>
            </a:r>
          </a:p>
          <a:p>
            <a:pPr marL="469900" marR="0" lvl="1" indent="0" algn="l" defTabSz="914400" rtl="0" eaLnBrk="1" fontAlgn="auto" latinLnBrk="0" hangingPunct="1">
              <a:lnSpc>
                <a:spcPct val="150000"/>
              </a:lnSpc>
              <a:spcBef>
                <a:spcPts val="100"/>
              </a:spcBef>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 </a:t>
            </a:r>
          </a:p>
          <a:p>
            <a:pPr marL="12700" marR="0" lvl="0" indent="0" algn="l" defTabSz="914400" rtl="0" eaLnBrk="1" fontAlgn="auto" latinLnBrk="0" hangingPunct="1">
              <a:lnSpc>
                <a:spcPct val="150000"/>
              </a:lnSpc>
              <a:spcBef>
                <a:spcPts val="100"/>
              </a:spcBef>
              <a:spcAft>
                <a:spcPts val="0"/>
              </a:spcAft>
              <a:buClrTx/>
              <a:buSzTx/>
              <a:buFontTx/>
              <a:buNone/>
              <a:tabLst/>
              <a:defRPr/>
            </a:pPr>
            <a:r>
              <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rPr>
              <a:t>&lt;/script&gt;</a:t>
            </a: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18</a:t>
            </a:fld>
            <a:endParaRPr kumimoji="0" lang="zh-CN" altLang="en-US" sz="18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3"/>
          <a:stretch>
            <a:fillRect/>
          </a:stretch>
        </p:blipFill>
        <p:spPr>
          <a:xfrm>
            <a:off x="8778240" y="2486025"/>
            <a:ext cx="2447925" cy="2933700"/>
          </a:xfrm>
          <a:prstGeom prst="rect">
            <a:avLst/>
          </a:prstGeom>
        </p:spPr>
      </p:pic>
    </p:spTree>
    <p:extLst>
      <p:ext uri="{BB962C8B-B14F-4D97-AF65-F5344CB8AC3E}">
        <p14:creationId xmlns:p14="http://schemas.microsoft.com/office/powerpoint/2010/main" val="22335015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272922"/>
            <a:ext cx="4391762" cy="382156"/>
          </a:xfrm>
          <a:prstGeom prst="rect">
            <a:avLst/>
          </a:prstGeom>
        </p:spPr>
        <p:txBody>
          <a:bodyPr vert="horz" wrap="square" lIns="0" tIns="12700" rIns="0" bIns="0" rtlCol="0">
            <a:spAutoFit/>
          </a:bodyPr>
          <a:lstStyle/>
          <a:p>
            <a:pPr marL="12700">
              <a:lnSpc>
                <a:spcPct val="100000"/>
              </a:lnSpc>
              <a:spcBef>
                <a:spcPts val="100"/>
              </a:spcBef>
            </a:pPr>
            <a:r>
              <a:rPr lang="en-US" altLang="zh-CN" spc="-40" dirty="0" smtClean="0">
                <a:solidFill>
                  <a:srgbClr val="585858"/>
                </a:solidFill>
              </a:rPr>
              <a:t>HTML5  </a:t>
            </a:r>
            <a:r>
              <a:rPr lang="en-US" altLang="zh-CN" spc="-40" dirty="0" err="1" smtClean="0">
                <a:solidFill>
                  <a:srgbClr val="585858"/>
                </a:solidFill>
              </a:rPr>
              <a:t>svg</a:t>
            </a:r>
            <a:endParaRPr spc="-40" dirty="0">
              <a:solidFill>
                <a:srgbClr val="585858"/>
              </a:solidFill>
            </a:endParaRPr>
          </a:p>
        </p:txBody>
      </p:sp>
      <p:sp>
        <p:nvSpPr>
          <p:cNvPr id="3" name="object 3"/>
          <p:cNvSpPr txBox="1"/>
          <p:nvPr/>
        </p:nvSpPr>
        <p:spPr>
          <a:xfrm>
            <a:off x="789838" y="967983"/>
            <a:ext cx="10716362" cy="2544286"/>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buClrTx/>
              <a:buSzTx/>
              <a:buFontTx/>
              <a:buNone/>
              <a:tabLst/>
              <a:defRPr/>
            </a:pPr>
            <a:r>
              <a:rPr kumimoji="0" lang="zh-CN" altLang="en-US" b="0" i="0" u="none" strike="noStrike" kern="1200" cap="none" spc="-30" normalizeH="0" baseline="0" noProof="0" dirty="0" smtClean="0">
                <a:ln>
                  <a:noFill/>
                </a:ln>
                <a:solidFill>
                  <a:srgbClr val="252525"/>
                </a:solidFill>
                <a:effectLst/>
                <a:uLnTx/>
                <a:uFillTx/>
                <a:latin typeface="宋体" panose="02010600030101010101" pitchFamily="2" charset="-122"/>
                <a:ea typeface="宋体" panose="02010600030101010101" pitchFamily="2" charset="-122"/>
                <a:cs typeface="宋体"/>
              </a:rPr>
              <a:t>什么是矢量图形？</a:t>
            </a:r>
            <a:r>
              <a:rPr lang="zh-CN" altLang="en-US" spc="-30" dirty="0" smtClean="0">
                <a:solidFill>
                  <a:srgbClr val="252525"/>
                </a:solidFill>
                <a:latin typeface="宋体" panose="02010600030101010101" pitchFamily="2" charset="-122"/>
                <a:ea typeface="宋体" panose="02010600030101010101" pitchFamily="2" charset="-122"/>
                <a:cs typeface="宋体"/>
              </a:rPr>
              <a:t>在网络中，大家经常</a:t>
            </a:r>
            <a:r>
              <a:rPr lang="zh-CN" altLang="en-US" spc="-30" dirty="0" smtClean="0">
                <a:solidFill>
                  <a:srgbClr val="252525"/>
                </a:solidFill>
                <a:latin typeface="宋体" panose="02010600030101010101" pitchFamily="2" charset="-122"/>
                <a:cs typeface="宋体"/>
              </a:rPr>
              <a:t>会</a:t>
            </a:r>
            <a:r>
              <a:rPr lang="zh-CN" altLang="en-US" spc="-30" dirty="0">
                <a:solidFill>
                  <a:srgbClr val="252525"/>
                </a:solidFill>
                <a:latin typeface="宋体" panose="02010600030101010101" pitchFamily="2" charset="-122"/>
                <a:cs typeface="宋体"/>
              </a:rPr>
              <a:t>和两种类型的图片打交道 </a:t>
            </a:r>
            <a:r>
              <a:rPr lang="en-US" altLang="zh-CN" spc="-30" dirty="0" smtClean="0">
                <a:solidFill>
                  <a:srgbClr val="252525"/>
                </a:solidFill>
                <a:latin typeface="宋体" panose="02010600030101010101" pitchFamily="2" charset="-122"/>
                <a:cs typeface="宋体"/>
              </a:rPr>
              <a:t>—- </a:t>
            </a:r>
            <a:r>
              <a:rPr lang="zh-CN" altLang="en-US" b="1" spc="-30" dirty="0">
                <a:solidFill>
                  <a:srgbClr val="FF0000"/>
                </a:solidFill>
                <a:latin typeface="宋体" panose="02010600030101010101" pitchFamily="2" charset="-122"/>
                <a:cs typeface="宋体"/>
              </a:rPr>
              <a:t>位图和矢量</a:t>
            </a:r>
            <a:r>
              <a:rPr lang="zh-CN" altLang="en-US" b="1" spc="-30" dirty="0" smtClean="0">
                <a:solidFill>
                  <a:srgbClr val="FF0000"/>
                </a:solidFill>
                <a:latin typeface="宋体" panose="02010600030101010101" pitchFamily="2" charset="-122"/>
                <a:cs typeface="宋体"/>
              </a:rPr>
              <a:t>图</a:t>
            </a:r>
            <a:endParaRPr lang="en-US" altLang="zh-CN" b="1" spc="-30" dirty="0" smtClean="0">
              <a:solidFill>
                <a:srgbClr val="FF0000"/>
              </a:solidFill>
              <a:latin typeface="宋体" panose="02010600030101010101" pitchFamily="2" charset="-122"/>
              <a:cs typeface="宋体"/>
            </a:endParaRPr>
          </a:p>
          <a:p>
            <a:pPr marL="355600" lvl="0" indent="-342900">
              <a:lnSpc>
                <a:spcPct val="150000"/>
              </a:lnSpc>
              <a:spcBef>
                <a:spcPts val="100"/>
              </a:spcBef>
              <a:buFont typeface="+mj-lt"/>
              <a:buAutoNum type="arabicPeriod"/>
            </a:pPr>
            <a:r>
              <a:rPr lang="zh-CN" altLang="en-US" spc="-30" dirty="0">
                <a:solidFill>
                  <a:srgbClr val="252525"/>
                </a:solidFill>
                <a:latin typeface="宋体" panose="02010600030101010101" pitchFamily="2" charset="-122"/>
                <a:cs typeface="宋体"/>
              </a:rPr>
              <a:t>位图使用</a:t>
            </a:r>
            <a:r>
              <a:rPr lang="zh-CN" altLang="en-US" spc="-30" dirty="0">
                <a:solidFill>
                  <a:srgbClr val="FF0000"/>
                </a:solidFill>
                <a:latin typeface="宋体" panose="02010600030101010101" pitchFamily="2" charset="-122"/>
                <a:cs typeface="宋体"/>
              </a:rPr>
              <a:t>像素网格</a:t>
            </a:r>
            <a:r>
              <a:rPr lang="zh-CN" altLang="en-US" spc="-30" dirty="0">
                <a:solidFill>
                  <a:srgbClr val="252525"/>
                </a:solidFill>
                <a:latin typeface="宋体" panose="02010600030101010101" pitchFamily="2" charset="-122"/>
                <a:cs typeface="宋体"/>
              </a:rPr>
              <a:t>来定义 </a:t>
            </a:r>
            <a:r>
              <a:rPr lang="en-US" altLang="zh-CN" spc="-30" dirty="0">
                <a:solidFill>
                  <a:srgbClr val="252525"/>
                </a:solidFill>
                <a:latin typeface="宋体" panose="02010600030101010101" pitchFamily="2" charset="-122"/>
                <a:cs typeface="宋体"/>
              </a:rPr>
              <a:t>— </a:t>
            </a:r>
            <a:r>
              <a:rPr lang="zh-CN" altLang="en-US" spc="-30" dirty="0">
                <a:solidFill>
                  <a:srgbClr val="252525"/>
                </a:solidFill>
                <a:latin typeface="宋体" panose="02010600030101010101" pitchFamily="2" charset="-122"/>
                <a:cs typeface="宋体"/>
              </a:rPr>
              <a:t>一个位图文件</a:t>
            </a:r>
            <a:r>
              <a:rPr lang="zh-CN" altLang="en-US" spc="-30" dirty="0" smtClean="0">
                <a:solidFill>
                  <a:srgbClr val="252525"/>
                </a:solidFill>
                <a:latin typeface="宋体" panose="02010600030101010101" pitchFamily="2" charset="-122"/>
                <a:cs typeface="宋体"/>
              </a:rPr>
              <a:t>精确的包含</a:t>
            </a:r>
            <a:r>
              <a:rPr lang="zh-CN" altLang="en-US" spc="-30" dirty="0">
                <a:solidFill>
                  <a:srgbClr val="252525"/>
                </a:solidFill>
                <a:latin typeface="宋体" panose="02010600030101010101" pitchFamily="2" charset="-122"/>
                <a:cs typeface="宋体"/>
              </a:rPr>
              <a:t>了每个像素的位置和它的色彩信息。流行的位图格式包括 </a:t>
            </a:r>
            <a:r>
              <a:rPr lang="en-US" altLang="zh-CN" spc="-30" dirty="0">
                <a:solidFill>
                  <a:srgbClr val="252525"/>
                </a:solidFill>
                <a:latin typeface="宋体" panose="02010600030101010101" pitchFamily="2" charset="-122"/>
                <a:cs typeface="宋体"/>
              </a:rPr>
              <a:t>Bitmap (.bmp), PNG (.</a:t>
            </a:r>
            <a:r>
              <a:rPr lang="en-US" altLang="zh-CN" spc="-30" dirty="0" err="1">
                <a:solidFill>
                  <a:srgbClr val="252525"/>
                </a:solidFill>
                <a:latin typeface="宋体" panose="02010600030101010101" pitchFamily="2" charset="-122"/>
                <a:cs typeface="宋体"/>
              </a:rPr>
              <a:t>png</a:t>
            </a:r>
            <a:r>
              <a:rPr lang="en-US" altLang="zh-CN" spc="-30" dirty="0">
                <a:solidFill>
                  <a:srgbClr val="252525"/>
                </a:solidFill>
                <a:latin typeface="宋体" panose="02010600030101010101" pitchFamily="2" charset="-122"/>
                <a:cs typeface="宋体"/>
              </a:rPr>
              <a:t>), JPEG (.jpg), and GIF (.</a:t>
            </a:r>
            <a:r>
              <a:rPr lang="en-US" altLang="zh-CN" spc="-30" dirty="0" smtClean="0">
                <a:solidFill>
                  <a:srgbClr val="252525"/>
                </a:solidFill>
                <a:latin typeface="宋体" panose="02010600030101010101" pitchFamily="2" charset="-122"/>
                <a:cs typeface="宋体"/>
              </a:rPr>
              <a:t>gif)</a:t>
            </a:r>
            <a:r>
              <a:rPr lang="zh-CN" altLang="en-US" spc="-30" dirty="0" smtClean="0">
                <a:solidFill>
                  <a:srgbClr val="252525"/>
                </a:solidFill>
                <a:latin typeface="宋体" panose="02010600030101010101" pitchFamily="2" charset="-122"/>
                <a:cs typeface="宋体"/>
              </a:rPr>
              <a:t>。</a:t>
            </a:r>
            <a:endParaRPr lang="en-US" altLang="zh-CN" spc="-30" dirty="0">
              <a:solidFill>
                <a:srgbClr val="252525"/>
              </a:solidFill>
              <a:latin typeface="宋体" panose="02010600030101010101" pitchFamily="2" charset="-122"/>
              <a:cs typeface="宋体"/>
            </a:endParaRPr>
          </a:p>
          <a:p>
            <a:pPr marL="355600" lvl="0" indent="-342900">
              <a:lnSpc>
                <a:spcPct val="150000"/>
              </a:lnSpc>
              <a:spcBef>
                <a:spcPts val="100"/>
              </a:spcBef>
              <a:buFont typeface="+mj-lt"/>
              <a:buAutoNum type="arabicPeriod"/>
            </a:pPr>
            <a:r>
              <a:rPr lang="zh-CN" altLang="en-US" spc="-30" dirty="0">
                <a:solidFill>
                  <a:srgbClr val="252525"/>
                </a:solidFill>
                <a:latin typeface="宋体" panose="02010600030101010101" pitchFamily="2" charset="-122"/>
                <a:cs typeface="宋体"/>
              </a:rPr>
              <a:t>矢量图使用</a:t>
            </a:r>
            <a:r>
              <a:rPr lang="zh-CN" altLang="en-US" spc="-30" dirty="0">
                <a:solidFill>
                  <a:srgbClr val="FF0000"/>
                </a:solidFill>
                <a:latin typeface="宋体" panose="02010600030101010101" pitchFamily="2" charset="-122"/>
                <a:cs typeface="宋体"/>
              </a:rPr>
              <a:t>算法</a:t>
            </a:r>
            <a:r>
              <a:rPr lang="zh-CN" altLang="en-US" spc="-30" dirty="0">
                <a:solidFill>
                  <a:srgbClr val="252525"/>
                </a:solidFill>
                <a:latin typeface="宋体" panose="02010600030101010101" pitchFamily="2" charset="-122"/>
                <a:cs typeface="宋体"/>
              </a:rPr>
              <a:t>来定义 </a:t>
            </a:r>
            <a:r>
              <a:rPr lang="en-US" altLang="zh-CN" spc="-30" dirty="0">
                <a:solidFill>
                  <a:srgbClr val="252525"/>
                </a:solidFill>
                <a:latin typeface="宋体" panose="02010600030101010101" pitchFamily="2" charset="-122"/>
                <a:cs typeface="宋体"/>
              </a:rPr>
              <a:t>— </a:t>
            </a:r>
            <a:r>
              <a:rPr lang="zh-CN" altLang="en-US" spc="-30" dirty="0">
                <a:solidFill>
                  <a:srgbClr val="252525"/>
                </a:solidFill>
                <a:latin typeface="宋体" panose="02010600030101010101" pitchFamily="2" charset="-122"/>
                <a:cs typeface="宋体"/>
              </a:rPr>
              <a:t>一个矢量图文件包含了图形和路径的定义，电脑可以根据这些定义计算出当它们在屏幕上渲染时应该呈现的样子。 </a:t>
            </a:r>
            <a:r>
              <a:rPr lang="en-US" altLang="zh-CN" spc="-30" dirty="0" smtClean="0">
                <a:solidFill>
                  <a:srgbClr val="252525"/>
                </a:solidFill>
                <a:latin typeface="宋体" panose="02010600030101010101" pitchFamily="2" charset="-122"/>
                <a:cs typeface="宋体"/>
              </a:rPr>
              <a:t>SVG</a:t>
            </a:r>
            <a:r>
              <a:rPr lang="zh-CN" altLang="en-US" spc="-30" dirty="0" smtClean="0">
                <a:solidFill>
                  <a:srgbClr val="252525"/>
                </a:solidFill>
                <a:latin typeface="宋体" panose="02010600030101010101" pitchFamily="2" charset="-122"/>
                <a:cs typeface="宋体"/>
              </a:rPr>
              <a:t>格式</a:t>
            </a:r>
            <a:r>
              <a:rPr lang="zh-CN" altLang="en-US" spc="-30" dirty="0">
                <a:solidFill>
                  <a:srgbClr val="252525"/>
                </a:solidFill>
                <a:latin typeface="宋体" panose="02010600030101010101" pitchFamily="2" charset="-122"/>
                <a:cs typeface="宋体"/>
              </a:rPr>
              <a:t>可以让我们创造</a:t>
            </a:r>
            <a:r>
              <a:rPr lang="zh-CN" altLang="en-US" spc="-30" dirty="0" smtClean="0">
                <a:solidFill>
                  <a:srgbClr val="252525"/>
                </a:solidFill>
                <a:latin typeface="宋体" panose="02010600030101010101" pitchFamily="2" charset="-122"/>
                <a:cs typeface="宋体"/>
              </a:rPr>
              <a:t>用于</a:t>
            </a:r>
            <a:r>
              <a:rPr lang="en-US" altLang="zh-CN" spc="-30" dirty="0" smtClean="0">
                <a:solidFill>
                  <a:srgbClr val="252525"/>
                </a:solidFill>
                <a:latin typeface="宋体" panose="02010600030101010101" pitchFamily="2" charset="-122"/>
                <a:cs typeface="宋体"/>
              </a:rPr>
              <a:t>Web</a:t>
            </a:r>
            <a:r>
              <a:rPr lang="zh-CN" altLang="en-US" spc="-30" dirty="0" smtClean="0">
                <a:solidFill>
                  <a:srgbClr val="252525"/>
                </a:solidFill>
                <a:latin typeface="宋体" panose="02010600030101010101" pitchFamily="2" charset="-122"/>
                <a:cs typeface="宋体"/>
              </a:rPr>
              <a:t>的</a:t>
            </a:r>
            <a:r>
              <a:rPr lang="zh-CN" altLang="en-US" spc="-30" dirty="0">
                <a:solidFill>
                  <a:srgbClr val="252525"/>
                </a:solidFill>
                <a:latin typeface="宋体" panose="02010600030101010101" pitchFamily="2" charset="-122"/>
                <a:cs typeface="宋体"/>
              </a:rPr>
              <a:t>精彩的矢量图形</a:t>
            </a:r>
            <a:r>
              <a:rPr lang="zh-CN" altLang="en-US" spc="-30" dirty="0" smtClean="0">
                <a:solidFill>
                  <a:srgbClr val="252525"/>
                </a:solidFill>
                <a:latin typeface="宋体" panose="02010600030101010101" pitchFamily="2" charset="-122"/>
                <a:cs typeface="宋体"/>
              </a:rPr>
              <a:t>。</a:t>
            </a:r>
            <a:endParaRPr lang="en-US" altLang="zh-CN" spc="-30" dirty="0" smtClean="0">
              <a:solidFill>
                <a:srgbClr val="252525"/>
              </a:solidFill>
              <a:latin typeface="宋体" panose="02010600030101010101" pitchFamily="2" charset="-122"/>
              <a:cs typeface="宋体"/>
            </a:endParaRPr>
          </a:p>
          <a:p>
            <a:pPr marL="355600" lvl="0" indent="-342900">
              <a:lnSpc>
                <a:spcPct val="150000"/>
              </a:lnSpc>
              <a:spcBef>
                <a:spcPts val="100"/>
              </a:spcBef>
              <a:buFont typeface="+mj-lt"/>
              <a:buAutoNum type="arabicPeriod"/>
            </a:pPr>
            <a:endParaRPr kumimoji="0" lang="en-US" altLang="zh-CN" b="0" i="0" u="none" strike="noStrike" kern="1200" cap="none" spc="-30" normalizeH="0" baseline="0" noProof="0" dirty="0">
              <a:ln>
                <a:noFill/>
              </a:ln>
              <a:solidFill>
                <a:srgbClr val="252525"/>
              </a:solidFill>
              <a:effectLst/>
              <a:uLnTx/>
              <a:uFillTx/>
              <a:latin typeface="宋体" panose="02010600030101010101" pitchFamily="2" charset="-122"/>
              <a:ea typeface="宋体" panose="02010600030101010101" pitchFamily="2" charset="-122"/>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pPr marL="0" marR="0" lvl="0" indent="0" algn="r" defTabSz="914400" rtl="0" eaLnBrk="1" fontAlgn="auto" latinLnBrk="0" hangingPunct="1">
              <a:lnSpc>
                <a:spcPct val="100000"/>
              </a:lnSpc>
              <a:spcBef>
                <a:spcPts val="0"/>
              </a:spcBef>
              <a:buClrTx/>
              <a:buSzTx/>
              <a:buFontTx/>
              <a:buNone/>
              <a:tabLst/>
              <a:defRPr/>
            </a:pPr>
            <a:fld id="{B6F15528-21DE-4FAA-801E-634DDDAF4B2B}" type="slidenum">
              <a:rPr kumimoji="0" lang="en-US" altLang="zh-CN" sz="18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buClrTx/>
                <a:buSzTx/>
                <a:buFontTx/>
                <a:buNone/>
                <a:tabLst/>
                <a:defRPr/>
              </a:pPr>
              <a:t>19</a:t>
            </a:fld>
            <a:endParaRPr kumimoji="0" lang="zh-CN" altLang="en-US" sz="18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510852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将</a:t>
            </a:r>
            <a:r>
              <a:rPr lang="en-US" altLang="zh-CN" dirty="0" smtClean="0"/>
              <a:t>SVG</a:t>
            </a:r>
            <a:r>
              <a:rPr lang="zh-CN" altLang="en-US" dirty="0" smtClean="0"/>
              <a:t>添加到页面</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2400" dirty="0" smtClean="0"/>
              <a:t>1</a:t>
            </a:r>
            <a:r>
              <a:rPr lang="zh-CN" altLang="en-US" sz="2400" dirty="0" smtClean="0"/>
              <a:t>、快捷方式：</a:t>
            </a:r>
            <a:r>
              <a:rPr lang="en-US" altLang="zh-CN" sz="2400" dirty="0" smtClean="0"/>
              <a:t>&lt;</a:t>
            </a:r>
            <a:r>
              <a:rPr lang="en-US" altLang="zh-CN" sz="2400" dirty="0" err="1" smtClean="0"/>
              <a:t>img</a:t>
            </a:r>
            <a:r>
              <a:rPr lang="en-US" altLang="zh-CN" sz="2400" dirty="0" smtClean="0"/>
              <a:t>&gt;</a:t>
            </a:r>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pPr marL="0" indent="0">
              <a:buNone/>
            </a:pPr>
            <a:r>
              <a:rPr lang="en-US" altLang="zh-CN" sz="2400" dirty="0" smtClean="0"/>
              <a:t>2</a:t>
            </a:r>
            <a:r>
              <a:rPr lang="zh-CN" altLang="en-US" sz="2400" dirty="0"/>
              <a:t>、在 </a:t>
            </a:r>
            <a:r>
              <a:rPr lang="en-US" altLang="zh-CN" sz="2400" dirty="0"/>
              <a:t>HTML </a:t>
            </a:r>
            <a:r>
              <a:rPr lang="zh-CN" altLang="en-US" sz="2400" dirty="0"/>
              <a:t>中引入 </a:t>
            </a:r>
            <a:r>
              <a:rPr lang="en-US" altLang="zh-CN" sz="2400" dirty="0"/>
              <a:t>SVG </a:t>
            </a:r>
            <a:r>
              <a:rPr lang="zh-CN" altLang="en-US" sz="2400" dirty="0"/>
              <a:t>代码</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20</a:t>
            </a:fld>
            <a:endParaRPr lang="zh-CN" altLang="en-US"/>
          </a:p>
        </p:txBody>
      </p:sp>
      <p:pic>
        <p:nvPicPr>
          <p:cNvPr id="5" name="图片 4"/>
          <p:cNvPicPr>
            <a:picLocks noChangeAspect="1"/>
          </p:cNvPicPr>
          <p:nvPr/>
        </p:nvPicPr>
        <p:blipFill>
          <a:blip r:embed="rId2"/>
          <a:stretch>
            <a:fillRect/>
          </a:stretch>
        </p:blipFill>
        <p:spPr>
          <a:xfrm>
            <a:off x="838200" y="2386012"/>
            <a:ext cx="4324350" cy="1476375"/>
          </a:xfrm>
          <a:prstGeom prst="rect">
            <a:avLst/>
          </a:prstGeom>
        </p:spPr>
      </p:pic>
      <p:sp>
        <p:nvSpPr>
          <p:cNvPr id="6" name="矩形 5"/>
          <p:cNvSpPr/>
          <p:nvPr/>
        </p:nvSpPr>
        <p:spPr>
          <a:xfrm>
            <a:off x="5281612" y="1822450"/>
            <a:ext cx="6657975" cy="2031325"/>
          </a:xfrm>
          <a:prstGeom prst="rect">
            <a:avLst/>
          </a:prstGeom>
        </p:spPr>
        <p:txBody>
          <a:bodyPr wrap="square">
            <a:spAutoFit/>
          </a:bodyPr>
          <a:lstStyle/>
          <a:p>
            <a:r>
              <a:rPr lang="zh-CN" altLang="en-US" u="sng" dirty="0" smtClean="0">
                <a:latin typeface="宋体" panose="02010600030101010101" pitchFamily="2" charset="-122"/>
                <a:ea typeface="宋体" panose="02010600030101010101" pitchFamily="2" charset="-122"/>
              </a:rPr>
              <a:t>好处：</a:t>
            </a:r>
            <a:endParaRPr lang="en-US" altLang="zh-CN" u="sng" dirty="0" smtClean="0">
              <a:latin typeface="宋体" panose="02010600030101010101" pitchFamily="2" charset="-122"/>
              <a:ea typeface="宋体" panose="02010600030101010101" pitchFamily="2" charset="-122"/>
            </a:endParaRPr>
          </a:p>
          <a:p>
            <a:r>
              <a:rPr lang="zh-CN" altLang="en-US" dirty="0" smtClean="0">
                <a:latin typeface="宋体" panose="02010600030101010101" pitchFamily="2" charset="-122"/>
                <a:ea typeface="宋体" panose="02010600030101010101" pitchFamily="2" charset="-122"/>
              </a:rPr>
              <a:t>快速</a:t>
            </a:r>
            <a:r>
              <a:rPr lang="zh-CN" altLang="en-US" dirty="0">
                <a:latin typeface="宋体" panose="02010600030101010101" pitchFamily="2" charset="-122"/>
                <a:ea typeface="宋体" panose="02010600030101010101" pitchFamily="2" charset="-122"/>
              </a:rPr>
              <a:t>，熟悉的图像</a:t>
            </a:r>
            <a:r>
              <a:rPr lang="zh-CN" altLang="en-US" dirty="0" smtClean="0">
                <a:latin typeface="宋体" panose="02010600030101010101" pitchFamily="2" charset="-122"/>
                <a:ea typeface="宋体" panose="02010600030101010101" pitchFamily="2" charset="-122"/>
              </a:rPr>
              <a:t>语法。</a:t>
            </a:r>
            <a:endParaRPr lang="zh-CN" altLang="en-US"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可以通过在</a:t>
            </a:r>
            <a:r>
              <a:rPr lang="en-US" altLang="zh-CN" dirty="0">
                <a:latin typeface="宋体" panose="02010600030101010101" pitchFamily="2" charset="-122"/>
                <a:ea typeface="宋体" panose="02010600030101010101" pitchFamily="2" charset="-122"/>
              </a:rPr>
              <a:t>&lt;a&gt;</a:t>
            </a:r>
            <a:r>
              <a:rPr lang="zh-CN" altLang="en-US" dirty="0">
                <a:latin typeface="宋体" panose="02010600030101010101" pitchFamily="2" charset="-122"/>
                <a:ea typeface="宋体" panose="02010600030101010101" pitchFamily="2" charset="-122"/>
              </a:rPr>
              <a:t>元素嵌套</a:t>
            </a:r>
            <a:r>
              <a:rPr lang="en-US" altLang="zh-CN" dirty="0">
                <a:latin typeface="宋体" panose="02010600030101010101" pitchFamily="2" charset="-122"/>
                <a:ea typeface="宋体" panose="02010600030101010101" pitchFamily="2" charset="-122"/>
              </a:rPr>
              <a:t>&lt;</a:t>
            </a:r>
            <a:r>
              <a:rPr lang="en-US" altLang="zh-CN" dirty="0" err="1">
                <a:latin typeface="宋体" panose="02010600030101010101" pitchFamily="2" charset="-122"/>
                <a:ea typeface="宋体" panose="02010600030101010101" pitchFamily="2" charset="-122"/>
              </a:rPr>
              <a:t>img</a:t>
            </a:r>
            <a:r>
              <a:rPr lang="en-US" altLang="zh-CN" dirty="0">
                <a:latin typeface="宋体" panose="02010600030101010101" pitchFamily="2" charset="-122"/>
                <a:ea typeface="宋体" panose="02010600030101010101" pitchFamily="2" charset="-122"/>
              </a:rPr>
              <a:t>&gt;</a:t>
            </a:r>
            <a:r>
              <a:rPr lang="zh-CN" altLang="en-US" dirty="0">
                <a:latin typeface="宋体" panose="02010600030101010101" pitchFamily="2" charset="-122"/>
                <a:ea typeface="宋体" panose="02010600030101010101" pitchFamily="2" charset="-122"/>
              </a:rPr>
              <a:t>，使图像轻松地成为超链接</a:t>
            </a:r>
            <a:r>
              <a:rPr lang="zh-CN" altLang="en-US" dirty="0" smtClean="0">
                <a:latin typeface="宋体" panose="02010600030101010101" pitchFamily="2" charset="-122"/>
                <a:ea typeface="宋体" panose="02010600030101010101" pitchFamily="2" charset="-122"/>
              </a:rPr>
              <a:t>。</a:t>
            </a:r>
            <a:endParaRPr lang="en-US" altLang="zh-CN" dirty="0" smtClean="0">
              <a:latin typeface="宋体" panose="02010600030101010101" pitchFamily="2" charset="-122"/>
              <a:ea typeface="宋体" panose="02010600030101010101" pitchFamily="2" charset="-122"/>
            </a:endParaRPr>
          </a:p>
          <a:p>
            <a:r>
              <a:rPr lang="zh-CN" altLang="en-US" u="sng" dirty="0" smtClean="0">
                <a:latin typeface="宋体" panose="02010600030101010101" pitchFamily="2" charset="-122"/>
                <a:ea typeface="宋体" panose="02010600030101010101" pitchFamily="2" charset="-122"/>
              </a:rPr>
              <a:t>缺点：</a:t>
            </a:r>
            <a:endParaRPr lang="en-US" altLang="zh-CN" u="sng" dirty="0" smtClean="0">
              <a:latin typeface="宋体" panose="02010600030101010101" pitchFamily="2" charset="-122"/>
              <a:ea typeface="宋体" panose="02010600030101010101" pitchFamily="2" charset="-122"/>
            </a:endParaRPr>
          </a:p>
          <a:p>
            <a:r>
              <a:rPr lang="zh-CN" altLang="en-US" dirty="0" smtClean="0">
                <a:latin typeface="宋体" panose="02010600030101010101" pitchFamily="2" charset="-122"/>
                <a:ea typeface="宋体" panose="02010600030101010101" pitchFamily="2" charset="-122"/>
              </a:rPr>
              <a:t>如果</a:t>
            </a:r>
            <a:r>
              <a:rPr lang="zh-CN" altLang="en-US" dirty="0">
                <a:latin typeface="宋体" panose="02010600030101010101" pitchFamily="2" charset="-122"/>
                <a:ea typeface="宋体" panose="02010600030101010101" pitchFamily="2" charset="-122"/>
              </a:rPr>
              <a:t>要使用 </a:t>
            </a:r>
            <a:r>
              <a:rPr lang="en-US" altLang="zh-CN" dirty="0">
                <a:latin typeface="宋体" panose="02010600030101010101" pitchFamily="2" charset="-122"/>
                <a:ea typeface="宋体" panose="02010600030101010101" pitchFamily="2" charset="-122"/>
              </a:rPr>
              <a:t>CSS </a:t>
            </a:r>
            <a:r>
              <a:rPr lang="zh-CN" altLang="en-US" dirty="0">
                <a:latin typeface="宋体" panose="02010600030101010101" pitchFamily="2" charset="-122"/>
                <a:ea typeface="宋体" panose="02010600030101010101" pitchFamily="2" charset="-122"/>
              </a:rPr>
              <a:t>控制 </a:t>
            </a:r>
            <a:r>
              <a:rPr lang="en-US" altLang="zh-CN" dirty="0">
                <a:latin typeface="宋体" panose="02010600030101010101" pitchFamily="2" charset="-122"/>
                <a:ea typeface="宋体" panose="02010600030101010101" pitchFamily="2" charset="-122"/>
              </a:rPr>
              <a:t>SVG </a:t>
            </a:r>
            <a:r>
              <a:rPr lang="zh-CN" altLang="en-US" dirty="0">
                <a:latin typeface="宋体" panose="02010600030101010101" pitchFamily="2" charset="-122"/>
                <a:ea typeface="宋体" panose="02010600030101010101" pitchFamily="2" charset="-122"/>
              </a:rPr>
              <a:t>内容，则必须</a:t>
            </a:r>
            <a:r>
              <a:rPr lang="zh-CN" altLang="en-US" dirty="0" smtClean="0">
                <a:latin typeface="宋体" panose="02010600030101010101" pitchFamily="2" charset="-122"/>
                <a:ea typeface="宋体" panose="02010600030101010101" pitchFamily="2" charset="-122"/>
              </a:rPr>
              <a:t>在</a:t>
            </a:r>
            <a:r>
              <a:rPr lang="en-US" altLang="zh-CN" dirty="0" smtClean="0">
                <a:latin typeface="宋体" panose="02010600030101010101" pitchFamily="2" charset="-122"/>
                <a:ea typeface="宋体" panose="02010600030101010101" pitchFamily="2" charset="-122"/>
              </a:rPr>
              <a:t>SVG</a:t>
            </a:r>
            <a:r>
              <a:rPr lang="zh-CN" altLang="en-US" dirty="0" smtClean="0">
                <a:latin typeface="宋体" panose="02010600030101010101" pitchFamily="2" charset="-122"/>
                <a:ea typeface="宋体" panose="02010600030101010101" pitchFamily="2" charset="-122"/>
              </a:rPr>
              <a:t>代码</a:t>
            </a:r>
            <a:r>
              <a:rPr lang="zh-CN" altLang="en-US" dirty="0">
                <a:latin typeface="宋体" panose="02010600030101010101" pitchFamily="2" charset="-122"/>
                <a:ea typeface="宋体" panose="02010600030101010101" pitchFamily="2" charset="-122"/>
              </a:rPr>
              <a:t>中包含内联 </a:t>
            </a:r>
            <a:r>
              <a:rPr lang="en-US" altLang="zh-CN" dirty="0">
                <a:latin typeface="宋体" panose="02010600030101010101" pitchFamily="2" charset="-122"/>
                <a:ea typeface="宋体" panose="02010600030101010101" pitchFamily="2" charset="-122"/>
              </a:rPr>
              <a:t>CSS </a:t>
            </a:r>
            <a:r>
              <a:rPr lang="zh-CN" altLang="en-US" dirty="0" smtClean="0">
                <a:latin typeface="宋体" panose="02010600030101010101" pitchFamily="2" charset="-122"/>
                <a:ea typeface="宋体" panose="02010600030101010101" pitchFamily="2" charset="-122"/>
              </a:rPr>
              <a:t>样式；</a:t>
            </a:r>
            <a:endParaRPr lang="en-US" altLang="zh-CN" dirty="0" smtClean="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不能</a:t>
            </a:r>
            <a:r>
              <a:rPr lang="zh-CN" altLang="en-US" dirty="0" smtClean="0">
                <a:latin typeface="宋体" panose="02010600030101010101" pitchFamily="2" charset="-122"/>
                <a:ea typeface="宋体" panose="02010600030101010101" pitchFamily="2" charset="-122"/>
              </a:rPr>
              <a:t>用</a:t>
            </a:r>
            <a:r>
              <a:rPr lang="en-US" altLang="zh-CN" dirty="0" smtClean="0">
                <a:latin typeface="宋体" panose="02010600030101010101" pitchFamily="2" charset="-122"/>
                <a:ea typeface="宋体" panose="02010600030101010101" pitchFamily="2" charset="-122"/>
              </a:rPr>
              <a:t>CSS</a:t>
            </a:r>
            <a:r>
              <a:rPr lang="zh-CN" altLang="en-US" dirty="0" smtClean="0">
                <a:latin typeface="宋体" panose="02010600030101010101" pitchFamily="2" charset="-122"/>
                <a:ea typeface="宋体" panose="02010600030101010101" pitchFamily="2" charset="-122"/>
              </a:rPr>
              <a:t>伪</a:t>
            </a:r>
            <a:r>
              <a:rPr lang="zh-CN" altLang="en-US" dirty="0">
                <a:latin typeface="宋体" panose="02010600030101010101" pitchFamily="2" charset="-122"/>
                <a:ea typeface="宋体" panose="02010600030101010101" pitchFamily="2" charset="-122"/>
              </a:rPr>
              <a:t>类来重设图像样式（如</a:t>
            </a:r>
            <a:r>
              <a:rPr lang="en-US" altLang="zh-CN" dirty="0">
                <a:latin typeface="宋体" panose="02010600030101010101" pitchFamily="2" charset="-122"/>
                <a:ea typeface="宋体" panose="02010600030101010101" pitchFamily="2" charset="-122"/>
              </a:rPr>
              <a:t>:focus</a:t>
            </a:r>
            <a:r>
              <a:rPr lang="zh-CN" altLang="en-US" dirty="0">
                <a:latin typeface="宋体" panose="02010600030101010101" pitchFamily="2" charset="-122"/>
                <a:ea typeface="宋体" panose="02010600030101010101" pitchFamily="2" charset="-122"/>
              </a:rPr>
              <a:t>）</a:t>
            </a:r>
          </a:p>
        </p:txBody>
      </p:sp>
      <p:pic>
        <p:nvPicPr>
          <p:cNvPr id="7" name="图片 6"/>
          <p:cNvPicPr>
            <a:picLocks noChangeAspect="1"/>
          </p:cNvPicPr>
          <p:nvPr/>
        </p:nvPicPr>
        <p:blipFill>
          <a:blip r:embed="rId3"/>
          <a:stretch>
            <a:fillRect/>
          </a:stretch>
        </p:blipFill>
        <p:spPr>
          <a:xfrm>
            <a:off x="838200" y="4672806"/>
            <a:ext cx="4399591" cy="975519"/>
          </a:xfrm>
          <a:prstGeom prst="rect">
            <a:avLst/>
          </a:prstGeom>
        </p:spPr>
      </p:pic>
      <p:sp>
        <p:nvSpPr>
          <p:cNvPr id="8" name="矩形 7"/>
          <p:cNvSpPr/>
          <p:nvPr/>
        </p:nvSpPr>
        <p:spPr>
          <a:xfrm>
            <a:off x="5281132" y="4259262"/>
            <a:ext cx="6954209" cy="2462213"/>
          </a:xfrm>
          <a:prstGeom prst="rect">
            <a:avLst/>
          </a:prstGeom>
        </p:spPr>
        <p:txBody>
          <a:bodyPr wrap="square">
            <a:spAutoFit/>
          </a:bodyPr>
          <a:lstStyle/>
          <a:p>
            <a:r>
              <a:rPr lang="zh-CN" altLang="en-US" sz="1400" dirty="0">
                <a:latin typeface="宋体" panose="02010600030101010101" pitchFamily="2" charset="-122"/>
                <a:ea typeface="宋体" panose="02010600030101010101" pitchFamily="2" charset="-122"/>
              </a:rPr>
              <a:t>在文本编辑器中打开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文件，复制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代码，并将其粘贴到 </a:t>
            </a:r>
            <a:r>
              <a:rPr lang="en-US" altLang="zh-CN" sz="1400" dirty="0">
                <a:latin typeface="宋体" panose="02010600030101010101" pitchFamily="2" charset="-122"/>
                <a:ea typeface="宋体" panose="02010600030101010101" pitchFamily="2" charset="-122"/>
              </a:rPr>
              <a:t>HTML </a:t>
            </a:r>
            <a:r>
              <a:rPr lang="zh-CN" altLang="en-US" sz="1400" dirty="0">
                <a:latin typeface="宋体" panose="02010600030101010101" pitchFamily="2" charset="-122"/>
                <a:ea typeface="宋体" panose="02010600030101010101" pitchFamily="2" charset="-122"/>
              </a:rPr>
              <a:t>文档</a:t>
            </a:r>
            <a:r>
              <a:rPr lang="zh-CN" altLang="en-US" sz="1400" dirty="0" smtClean="0">
                <a:latin typeface="宋体" panose="02010600030101010101" pitchFamily="2" charset="-122"/>
                <a:ea typeface="宋体" panose="02010600030101010101" pitchFamily="2" charset="-122"/>
              </a:rPr>
              <a:t>中。</a:t>
            </a:r>
            <a:r>
              <a:rPr lang="en-US" altLang="zh-CN" sz="1400" dirty="0" smtClean="0">
                <a:latin typeface="宋体" panose="02010600030101010101" pitchFamily="2" charset="-122"/>
                <a:ea typeface="宋体" panose="02010600030101010101" pitchFamily="2" charset="-122"/>
              </a:rPr>
              <a:t>--</a:t>
            </a:r>
            <a:r>
              <a:rPr lang="zh-CN" altLang="en-US" sz="1400" dirty="0" smtClean="0">
                <a:latin typeface="宋体" panose="02010600030101010101" pitchFamily="2" charset="-122"/>
                <a:ea typeface="宋体" panose="02010600030101010101" pitchFamily="2" charset="-122"/>
              </a:rPr>
              <a:t>内联</a:t>
            </a:r>
            <a:r>
              <a:rPr lang="en-US" altLang="zh-CN" sz="1400" dirty="0" err="1" smtClean="0">
                <a:latin typeface="宋体" panose="02010600030101010101" pitchFamily="2" charset="-122"/>
                <a:ea typeface="宋体" panose="02010600030101010101" pitchFamily="2" charset="-122"/>
              </a:rPr>
              <a:t>svg</a:t>
            </a:r>
            <a:endParaRPr lang="en-US" altLang="zh-CN" sz="1400" dirty="0" smtClean="0">
              <a:latin typeface="宋体" panose="02010600030101010101" pitchFamily="2" charset="-122"/>
              <a:ea typeface="宋体" panose="02010600030101010101" pitchFamily="2" charset="-122"/>
            </a:endParaRPr>
          </a:p>
          <a:p>
            <a:endParaRPr lang="en-US" altLang="zh-CN" sz="1400" dirty="0" smtClean="0">
              <a:latin typeface="宋体" panose="02010600030101010101" pitchFamily="2" charset="-122"/>
              <a:ea typeface="宋体" panose="02010600030101010101" pitchFamily="2" charset="-122"/>
            </a:endParaRPr>
          </a:p>
          <a:p>
            <a:r>
              <a:rPr lang="zh-CN" altLang="en-US" sz="1400" dirty="0" smtClean="0">
                <a:latin typeface="宋体" panose="02010600030101010101" pitchFamily="2" charset="-122"/>
                <a:ea typeface="宋体" panose="02010600030101010101" pitchFamily="2" charset="-122"/>
              </a:rPr>
              <a:t>优点：</a:t>
            </a:r>
            <a:endParaRPr lang="en-US" altLang="zh-CN" sz="1400" dirty="0" smtClean="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en-US" altLang="zh-CN" sz="1400" dirty="0" smtClean="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内</a:t>
            </a:r>
            <a:r>
              <a:rPr lang="zh-CN" altLang="en-US" sz="1400" dirty="0" smtClean="0">
                <a:latin typeface="宋体" panose="02010600030101010101" pitchFamily="2" charset="-122"/>
                <a:ea typeface="宋体" panose="02010600030101010101" pitchFamily="2" charset="-122"/>
              </a:rPr>
              <a:t>联可以减少 </a:t>
            </a:r>
            <a:r>
              <a:rPr lang="en-US" altLang="zh-CN" sz="1400" dirty="0">
                <a:latin typeface="宋体" panose="02010600030101010101" pitchFamily="2" charset="-122"/>
                <a:ea typeface="宋体" panose="02010600030101010101" pitchFamily="2" charset="-122"/>
              </a:rPr>
              <a:t>HTTP </a:t>
            </a:r>
            <a:r>
              <a:rPr lang="zh-CN" altLang="en-US" sz="1400" dirty="0">
                <a:latin typeface="宋体" panose="02010600030101010101" pitchFamily="2" charset="-122"/>
                <a:ea typeface="宋体" panose="02010600030101010101" pitchFamily="2" charset="-122"/>
              </a:rPr>
              <a:t>请求，可以减少加载时间。</a:t>
            </a:r>
          </a:p>
          <a:p>
            <a:pPr marL="285750" indent="-285750">
              <a:buFont typeface="Arial" panose="020B0604020202020204" pitchFamily="34" charset="0"/>
              <a:buChar char="•"/>
            </a:pPr>
            <a:r>
              <a:rPr lang="zh-CN" altLang="en-US" sz="1400" dirty="0" smtClean="0">
                <a:latin typeface="宋体" panose="02010600030101010101" pitchFamily="2" charset="-122"/>
                <a:ea typeface="宋体" panose="02010600030101010101" pitchFamily="2" charset="-122"/>
              </a:rPr>
              <a:t>可以</a:t>
            </a:r>
            <a:r>
              <a:rPr lang="zh-CN" altLang="en-US" sz="1400" dirty="0">
                <a:latin typeface="宋体" panose="02010600030101010101" pitchFamily="2" charset="-122"/>
                <a:ea typeface="宋体" panose="02010600030101010101" pitchFamily="2" charset="-122"/>
              </a:rPr>
              <a:t>为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元素分配</a:t>
            </a:r>
            <a:r>
              <a:rPr lang="en-US" altLang="zh-CN" sz="1400" dirty="0">
                <a:latin typeface="宋体" panose="02010600030101010101" pitchFamily="2" charset="-122"/>
                <a:ea typeface="宋体" panose="02010600030101010101" pitchFamily="2" charset="-122"/>
              </a:rPr>
              <a:t>class</a:t>
            </a:r>
            <a:r>
              <a:rPr lang="zh-CN" altLang="en-US" sz="1400" dirty="0">
                <a:latin typeface="宋体" panose="02010600030101010101" pitchFamily="2" charset="-122"/>
                <a:ea typeface="宋体" panose="02010600030101010101" pitchFamily="2" charset="-122"/>
              </a:rPr>
              <a:t>和</a:t>
            </a:r>
            <a:r>
              <a:rPr lang="en-US" altLang="zh-CN" sz="1400" dirty="0">
                <a:latin typeface="宋体" panose="02010600030101010101" pitchFamily="2" charset="-122"/>
                <a:ea typeface="宋体" panose="02010600030101010101" pitchFamily="2" charset="-122"/>
              </a:rPr>
              <a:t>id</a:t>
            </a:r>
            <a:r>
              <a:rPr lang="zh-CN" altLang="en-US" sz="1400" dirty="0">
                <a:latin typeface="宋体" panose="02010600030101010101" pitchFamily="2" charset="-122"/>
                <a:ea typeface="宋体" panose="02010600030101010101" pitchFamily="2" charset="-122"/>
              </a:rPr>
              <a:t>，并使用 </a:t>
            </a:r>
            <a:r>
              <a:rPr lang="en-US" altLang="zh-CN" sz="1400" dirty="0">
                <a:latin typeface="宋体" panose="02010600030101010101" pitchFamily="2" charset="-122"/>
                <a:ea typeface="宋体" panose="02010600030101010101" pitchFamily="2" charset="-122"/>
              </a:rPr>
              <a:t>CSS </a:t>
            </a:r>
            <a:r>
              <a:rPr lang="zh-CN" altLang="en-US" sz="1400" dirty="0">
                <a:latin typeface="宋体" panose="02010600030101010101" pitchFamily="2" charset="-122"/>
                <a:ea typeface="宋体" panose="02010600030101010101" pitchFamily="2" charset="-122"/>
              </a:rPr>
              <a:t>修改样式，无论是在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中，还是 </a:t>
            </a:r>
            <a:r>
              <a:rPr lang="en-US" altLang="zh-CN" sz="1400" dirty="0">
                <a:latin typeface="宋体" panose="02010600030101010101" pitchFamily="2" charset="-122"/>
                <a:ea typeface="宋体" panose="02010600030101010101" pitchFamily="2" charset="-122"/>
              </a:rPr>
              <a:t>HTML </a:t>
            </a:r>
            <a:r>
              <a:rPr lang="zh-CN" altLang="en-US" sz="1400" dirty="0">
                <a:latin typeface="宋体" panose="02010600030101010101" pitchFamily="2" charset="-122"/>
                <a:ea typeface="宋体" panose="02010600030101010101" pitchFamily="2" charset="-122"/>
              </a:rPr>
              <a:t>文档中的 </a:t>
            </a:r>
            <a:r>
              <a:rPr lang="en-US" altLang="zh-CN" sz="1400" dirty="0">
                <a:latin typeface="宋体" panose="02010600030101010101" pitchFamily="2" charset="-122"/>
                <a:ea typeface="宋体" panose="02010600030101010101" pitchFamily="2" charset="-122"/>
              </a:rPr>
              <a:t>CSS </a:t>
            </a:r>
            <a:r>
              <a:rPr lang="zh-CN" altLang="en-US" sz="1400" dirty="0">
                <a:latin typeface="宋体" panose="02010600030101010101" pitchFamily="2" charset="-122"/>
                <a:ea typeface="宋体" panose="02010600030101010101" pitchFamily="2" charset="-122"/>
              </a:rPr>
              <a:t>样式规则。实际上</a:t>
            </a:r>
            <a:r>
              <a:rPr lang="zh-CN" altLang="en-US" sz="1400" dirty="0" smtClean="0">
                <a:latin typeface="宋体" panose="02010600030101010101" pitchFamily="2" charset="-122"/>
                <a:ea typeface="宋体" panose="02010600030101010101" pitchFamily="2" charset="-122"/>
              </a:rPr>
              <a:t>，可以</a:t>
            </a:r>
            <a:r>
              <a:rPr lang="zh-CN" altLang="en-US" sz="1400" dirty="0">
                <a:latin typeface="宋体" panose="02010600030101010101" pitchFamily="2" charset="-122"/>
                <a:ea typeface="宋体" panose="02010600030101010101" pitchFamily="2" charset="-122"/>
              </a:rPr>
              <a:t>使用任何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外观</a:t>
            </a:r>
            <a:r>
              <a:rPr lang="zh-CN" altLang="en-US" sz="1400" dirty="0" smtClean="0">
                <a:latin typeface="宋体" panose="02010600030101010101" pitchFamily="2" charset="-122"/>
                <a:ea typeface="宋体" panose="02010600030101010101" pitchFamily="2" charset="-122"/>
              </a:rPr>
              <a:t>属性作为 </a:t>
            </a:r>
            <a:r>
              <a:rPr lang="en-US" altLang="zh-CN" sz="1400" dirty="0">
                <a:latin typeface="宋体" panose="02010600030101010101" pitchFamily="2" charset="-122"/>
                <a:ea typeface="宋体" panose="02010600030101010101" pitchFamily="2" charset="-122"/>
              </a:rPr>
              <a:t>CSS </a:t>
            </a:r>
            <a:r>
              <a:rPr lang="zh-CN" altLang="en-US" sz="1400" dirty="0">
                <a:latin typeface="宋体" panose="02010600030101010101" pitchFamily="2" charset="-122"/>
                <a:ea typeface="宋体" panose="02010600030101010101" pitchFamily="2" charset="-122"/>
              </a:rPr>
              <a:t>属性。</a:t>
            </a:r>
          </a:p>
          <a:p>
            <a:pPr marL="285750" indent="-285750">
              <a:buFont typeface="Arial" panose="020B0604020202020204" pitchFamily="34" charset="0"/>
              <a:buChar char="•"/>
            </a:pPr>
            <a:r>
              <a:rPr lang="zh-CN" altLang="en-US" sz="1400" dirty="0">
                <a:latin typeface="宋体" panose="02010600030101010101" pitchFamily="2" charset="-122"/>
                <a:ea typeface="宋体" panose="02010600030101010101" pitchFamily="2" charset="-122"/>
              </a:rPr>
              <a:t>内联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是唯一</a:t>
            </a:r>
            <a:r>
              <a:rPr lang="zh-CN" altLang="en-US" sz="1400" dirty="0" smtClean="0">
                <a:latin typeface="宋体" panose="02010600030101010101" pitchFamily="2" charset="-122"/>
                <a:ea typeface="宋体" panose="02010600030101010101" pitchFamily="2" charset="-122"/>
              </a:rPr>
              <a:t>可以在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图像上使用 </a:t>
            </a:r>
            <a:r>
              <a:rPr lang="en-US" altLang="zh-CN" sz="1400" dirty="0">
                <a:latin typeface="宋体" panose="02010600030101010101" pitchFamily="2" charset="-122"/>
                <a:ea typeface="宋体" panose="02010600030101010101" pitchFamily="2" charset="-122"/>
              </a:rPr>
              <a:t>CSS </a:t>
            </a:r>
            <a:r>
              <a:rPr lang="zh-CN" altLang="en-US" sz="1400" dirty="0">
                <a:latin typeface="宋体" panose="02010600030101010101" pitchFamily="2" charset="-122"/>
                <a:ea typeface="宋体" panose="02010600030101010101" pitchFamily="2" charset="-122"/>
              </a:rPr>
              <a:t>交互（如</a:t>
            </a:r>
            <a:r>
              <a:rPr lang="en-US" altLang="zh-CN" sz="1400" dirty="0">
                <a:latin typeface="宋体" panose="02010600030101010101" pitchFamily="2" charset="-122"/>
                <a:ea typeface="宋体" panose="02010600030101010101" pitchFamily="2" charset="-122"/>
              </a:rPr>
              <a:t>:focus</a:t>
            </a:r>
            <a:r>
              <a:rPr lang="zh-CN" altLang="en-US" sz="1400" dirty="0">
                <a:latin typeface="宋体" panose="02010600030101010101" pitchFamily="2" charset="-122"/>
                <a:ea typeface="宋体" panose="02010600030101010101" pitchFamily="2" charset="-122"/>
              </a:rPr>
              <a:t>）和 </a:t>
            </a:r>
            <a:r>
              <a:rPr lang="en-US" altLang="zh-CN" sz="1400" dirty="0">
                <a:latin typeface="宋体" panose="02010600030101010101" pitchFamily="2" charset="-122"/>
                <a:ea typeface="宋体" panose="02010600030101010101" pitchFamily="2" charset="-122"/>
              </a:rPr>
              <a:t>CSS </a:t>
            </a:r>
            <a:r>
              <a:rPr lang="zh-CN" altLang="en-US" sz="1400" dirty="0">
                <a:latin typeface="宋体" panose="02010600030101010101" pitchFamily="2" charset="-122"/>
                <a:ea typeface="宋体" panose="02010600030101010101" pitchFamily="2" charset="-122"/>
              </a:rPr>
              <a:t>动画的</a:t>
            </a:r>
            <a:r>
              <a:rPr lang="zh-CN" altLang="en-US" sz="1400" dirty="0" smtClean="0">
                <a:latin typeface="宋体" panose="02010600030101010101" pitchFamily="2" charset="-122"/>
                <a:ea typeface="宋体" panose="02010600030101010101" pitchFamily="2" charset="-122"/>
              </a:rPr>
              <a:t>方法。</a:t>
            </a:r>
            <a:endParaRPr lang="zh-CN" altLang="en-US" sz="1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400" dirty="0" smtClean="0">
                <a:latin typeface="宋体" panose="02010600030101010101" pitchFamily="2" charset="-122"/>
                <a:ea typeface="宋体" panose="02010600030101010101" pitchFamily="2" charset="-122"/>
              </a:rPr>
              <a:t>可以</a:t>
            </a:r>
            <a:r>
              <a:rPr lang="zh-CN" altLang="en-US" sz="1400" dirty="0">
                <a:latin typeface="宋体" panose="02010600030101010101" pitchFamily="2" charset="-122"/>
                <a:ea typeface="宋体" panose="02010600030101010101" pitchFamily="2" charset="-122"/>
              </a:rPr>
              <a:t>通过将 </a:t>
            </a:r>
            <a:r>
              <a:rPr lang="en-US" altLang="zh-CN" sz="1400" dirty="0">
                <a:latin typeface="宋体" panose="02010600030101010101" pitchFamily="2" charset="-122"/>
                <a:ea typeface="宋体" panose="02010600030101010101" pitchFamily="2" charset="-122"/>
              </a:rPr>
              <a:t>SVG </a:t>
            </a:r>
            <a:r>
              <a:rPr lang="zh-CN" altLang="en-US" sz="1400" dirty="0">
                <a:latin typeface="宋体" panose="02010600030101010101" pitchFamily="2" charset="-122"/>
                <a:ea typeface="宋体" panose="02010600030101010101" pitchFamily="2" charset="-122"/>
              </a:rPr>
              <a:t>标记包在</a:t>
            </a:r>
            <a:r>
              <a:rPr lang="en-US" altLang="zh-CN" sz="1400" dirty="0">
                <a:latin typeface="宋体" panose="02010600030101010101" pitchFamily="2" charset="-122"/>
                <a:ea typeface="宋体" panose="02010600030101010101" pitchFamily="2" charset="-122"/>
              </a:rPr>
              <a:t>&lt;a&gt;</a:t>
            </a:r>
            <a:r>
              <a:rPr lang="zh-CN" altLang="en-US" sz="1400" dirty="0">
                <a:latin typeface="宋体" panose="02010600030101010101" pitchFamily="2" charset="-122"/>
                <a:ea typeface="宋体" panose="02010600030101010101" pitchFamily="2" charset="-122"/>
              </a:rPr>
              <a:t>元素中，使其成为超链接。</a:t>
            </a:r>
          </a:p>
        </p:txBody>
      </p:sp>
    </p:spTree>
    <p:extLst>
      <p:ext uri="{BB962C8B-B14F-4D97-AF65-F5344CB8AC3E}">
        <p14:creationId xmlns:p14="http://schemas.microsoft.com/office/powerpoint/2010/main" val="9100167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将</a:t>
            </a:r>
            <a:r>
              <a:rPr lang="en-US" altLang="zh-CN" dirty="0" smtClean="0"/>
              <a:t>SVG</a:t>
            </a:r>
            <a:r>
              <a:rPr lang="zh-CN" altLang="en-US" dirty="0" smtClean="0"/>
              <a:t>添加到页面</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3</a:t>
            </a:r>
            <a:r>
              <a:rPr lang="zh-CN" altLang="en-US" dirty="0" smtClean="0"/>
              <a:t>、使用 </a:t>
            </a:r>
            <a:r>
              <a:rPr lang="en-US" altLang="zh-CN" dirty="0"/>
              <a:t>&lt;iframe&gt; </a:t>
            </a:r>
            <a:r>
              <a:rPr lang="zh-CN" altLang="en-US" dirty="0"/>
              <a:t>嵌入 </a:t>
            </a:r>
            <a:r>
              <a:rPr lang="en-US" altLang="zh-CN" dirty="0"/>
              <a:t>SVG</a:t>
            </a:r>
            <a:endParaRPr lang="zh-CN" altLang="en-US"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21</a:t>
            </a:fld>
            <a:endParaRPr lang="zh-CN" altLang="en-US"/>
          </a:p>
        </p:txBody>
      </p:sp>
      <p:pic>
        <p:nvPicPr>
          <p:cNvPr id="8" name="图片 7"/>
          <p:cNvPicPr>
            <a:picLocks noChangeAspect="1"/>
          </p:cNvPicPr>
          <p:nvPr/>
        </p:nvPicPr>
        <p:blipFill>
          <a:blip r:embed="rId2"/>
          <a:stretch>
            <a:fillRect/>
          </a:stretch>
        </p:blipFill>
        <p:spPr>
          <a:xfrm>
            <a:off x="933449" y="2394744"/>
            <a:ext cx="6877761" cy="1186656"/>
          </a:xfrm>
          <a:prstGeom prst="rect">
            <a:avLst/>
          </a:prstGeom>
        </p:spPr>
      </p:pic>
      <p:sp>
        <p:nvSpPr>
          <p:cNvPr id="9" name="矩形 8"/>
          <p:cNvSpPr/>
          <p:nvPr/>
        </p:nvSpPr>
        <p:spPr>
          <a:xfrm>
            <a:off x="838199" y="4081760"/>
            <a:ext cx="10391775" cy="923330"/>
          </a:xfrm>
          <a:prstGeom prst="rect">
            <a:avLst/>
          </a:prstGeom>
        </p:spPr>
        <p:txBody>
          <a:bodyPr wrap="square">
            <a:spAutoFit/>
          </a:bodyPr>
          <a:lstStyle/>
          <a:p>
            <a:r>
              <a:rPr lang="zh-CN" altLang="en-US" dirty="0" smtClean="0"/>
              <a:t>关于</a:t>
            </a:r>
            <a:r>
              <a:rPr lang="en-US" altLang="zh-CN" dirty="0" smtClean="0"/>
              <a:t>SVG</a:t>
            </a:r>
            <a:r>
              <a:rPr lang="zh-CN" altLang="en-US" dirty="0" smtClean="0"/>
              <a:t>的更多，请参考链接</a:t>
            </a:r>
            <a:endParaRPr lang="en-US" altLang="zh-CN" dirty="0" smtClean="0"/>
          </a:p>
          <a:p>
            <a:r>
              <a:rPr lang="en-US" altLang="zh-CN" dirty="0" smtClean="0"/>
              <a:t>https</a:t>
            </a:r>
            <a:r>
              <a:rPr lang="en-US" altLang="zh-CN" dirty="0"/>
              <a:t>://developer.mozilla.org/zh-CN/docs/Learn/HTML/Multimedia_and_embedding/Adding_vector_graphics_to_the_Web</a:t>
            </a:r>
            <a:endParaRPr lang="zh-CN" altLang="en-US" dirty="0"/>
          </a:p>
        </p:txBody>
      </p:sp>
    </p:spTree>
    <p:extLst>
      <p:ext uri="{BB962C8B-B14F-4D97-AF65-F5344CB8AC3E}">
        <p14:creationId xmlns:p14="http://schemas.microsoft.com/office/powerpoint/2010/main" val="8460971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a:xfrm>
            <a:off x="838200" y="1690688"/>
            <a:ext cx="10515600" cy="4351338"/>
          </a:xfrm>
        </p:spPr>
        <p:txBody>
          <a:bodyPr>
            <a:noAutofit/>
          </a:bodyPr>
          <a:lstStyle/>
          <a:p>
            <a:pPr marL="0" indent="0">
              <a:lnSpc>
                <a:spcPct val="110000"/>
              </a:lnSpc>
              <a:buNone/>
            </a:pPr>
            <a:r>
              <a:rPr lang="zh-CN" altLang="en-US" sz="2200" dirty="0" smtClean="0">
                <a:latin typeface="宋体" panose="02010600030101010101" pitchFamily="2" charset="-122"/>
                <a:ea typeface="宋体" panose="02010600030101010101" pitchFamily="2" charset="-122"/>
              </a:rPr>
              <a:t>强大的连通性</a:t>
            </a:r>
            <a:endParaRPr lang="en-US" altLang="zh-CN" sz="2200" dirty="0" smtClean="0">
              <a:latin typeface="宋体" panose="02010600030101010101" pitchFamily="2" charset="-122"/>
              <a:ea typeface="宋体" panose="02010600030101010101" pitchFamily="2" charset="-122"/>
            </a:endParaRPr>
          </a:p>
          <a:p>
            <a:pPr marL="0" indent="0">
              <a:lnSpc>
                <a:spcPct val="110000"/>
              </a:lnSpc>
              <a:buNone/>
            </a:pPr>
            <a:r>
              <a:rPr lang="zh-CN" altLang="en-US" sz="2200" dirty="0" smtClean="0">
                <a:latin typeface="宋体" panose="02010600030101010101" pitchFamily="2" charset="-122"/>
                <a:ea typeface="宋体" panose="02010600030101010101" pitchFamily="2" charset="-122"/>
              </a:rPr>
              <a:t>早期服务器在接收到客户端的访问请求后，依据客户端请求类型，服务器把请求内容返回给客户端页面。这样子的请求方式是一种双向的顺序的过程。这种方式就有两个局限，一是服务端不能主动发送资源给客户端，必须得有客户端发起请求才可以；二是这是一种有顺序的通信，通信效率低，页面和服务端要进行通信，需要先建立连接才可以。</a:t>
            </a:r>
            <a:endParaRPr lang="en-US" altLang="zh-CN" sz="2200" dirty="0" smtClean="0">
              <a:latin typeface="宋体" panose="02010600030101010101" pitchFamily="2" charset="-122"/>
              <a:ea typeface="宋体" panose="02010600030101010101" pitchFamily="2" charset="-122"/>
            </a:endParaRPr>
          </a:p>
          <a:p>
            <a:pPr marL="0" indent="0">
              <a:lnSpc>
                <a:spcPct val="110000"/>
              </a:lnSpc>
              <a:buNone/>
            </a:pPr>
            <a:r>
              <a:rPr lang="en-US" altLang="zh-CN" sz="2200" dirty="0" smtClean="0">
                <a:latin typeface="宋体" panose="02010600030101010101" pitchFamily="2" charset="-122"/>
                <a:ea typeface="宋体" panose="02010600030101010101" pitchFamily="2" charset="-122"/>
              </a:rPr>
              <a:t>HTML5</a:t>
            </a:r>
            <a:r>
              <a:rPr lang="zh-CN" altLang="en-US" sz="2200" dirty="0" smtClean="0">
                <a:latin typeface="宋体" panose="02010600030101010101" pitchFamily="2" charset="-122"/>
                <a:ea typeface="宋体" panose="02010600030101010101" pitchFamily="2" charset="-122"/>
              </a:rPr>
              <a:t>带来了上述两种局限的解决方案。</a:t>
            </a:r>
            <a:endParaRPr lang="en-US" altLang="zh-CN" sz="2200" dirty="0" smtClean="0">
              <a:latin typeface="宋体" panose="02010600030101010101" pitchFamily="2" charset="-122"/>
              <a:ea typeface="宋体" panose="02010600030101010101" pitchFamily="2" charset="-122"/>
            </a:endParaRPr>
          </a:p>
          <a:p>
            <a:pPr marL="0" indent="0">
              <a:lnSpc>
                <a:spcPct val="110000"/>
              </a:lnSpc>
              <a:buNone/>
            </a:pPr>
            <a:r>
              <a:rPr lang="en-US" altLang="zh-CN" sz="2200" dirty="0" smtClean="0">
                <a:latin typeface="宋体" panose="02010600030101010101" pitchFamily="2" charset="-122"/>
                <a:ea typeface="宋体" panose="02010600030101010101" pitchFamily="2" charset="-122"/>
              </a:rPr>
              <a:t>1</a:t>
            </a:r>
            <a:r>
              <a:rPr lang="zh-CN" altLang="en-US" sz="2200" dirty="0" smtClean="0">
                <a:latin typeface="宋体" panose="02010600030101010101" pitchFamily="2" charset="-122"/>
                <a:ea typeface="宋体" panose="02010600030101010101" pitchFamily="2" charset="-122"/>
              </a:rPr>
              <a:t>、</a:t>
            </a:r>
            <a:r>
              <a:rPr lang="en-US" altLang="zh-CN" sz="2200" dirty="0" smtClean="0">
                <a:latin typeface="宋体" panose="02010600030101010101" pitchFamily="2" charset="-122"/>
                <a:ea typeface="宋体" panose="02010600030101010101" pitchFamily="2" charset="-122"/>
              </a:rPr>
              <a:t>Server-sent Event</a:t>
            </a:r>
          </a:p>
          <a:p>
            <a:pPr marL="0" indent="0">
              <a:lnSpc>
                <a:spcPct val="110000"/>
              </a:lnSpc>
              <a:buNone/>
            </a:pPr>
            <a:r>
              <a:rPr lang="en-US" altLang="zh-CN" sz="2200" dirty="0" smtClean="0">
                <a:latin typeface="宋体" panose="02010600030101010101" pitchFamily="2" charset="-122"/>
                <a:ea typeface="宋体" panose="02010600030101010101" pitchFamily="2" charset="-122"/>
              </a:rPr>
              <a:t>2</a:t>
            </a:r>
            <a:r>
              <a:rPr lang="zh-CN" altLang="en-US" sz="2200" dirty="0" smtClean="0">
                <a:latin typeface="宋体" panose="02010600030101010101" pitchFamily="2" charset="-122"/>
                <a:ea typeface="宋体" panose="02010600030101010101" pitchFamily="2" charset="-122"/>
              </a:rPr>
              <a:t>、</a:t>
            </a:r>
            <a:r>
              <a:rPr lang="en-US" altLang="zh-CN" sz="2200" dirty="0" smtClean="0">
                <a:latin typeface="宋体" panose="02010600030101010101" pitchFamily="2" charset="-122"/>
                <a:ea typeface="宋体" panose="02010600030101010101" pitchFamily="2" charset="-122"/>
              </a:rPr>
              <a:t>Web Socket</a:t>
            </a:r>
          </a:p>
          <a:p>
            <a:pPr marL="0" indent="0">
              <a:lnSpc>
                <a:spcPct val="110000"/>
              </a:lnSpc>
              <a:buNone/>
            </a:pPr>
            <a:r>
              <a:rPr lang="en-US" altLang="zh-CN" sz="2200" dirty="0" smtClean="0">
                <a:latin typeface="宋体" panose="02010600030101010101" pitchFamily="2" charset="-122"/>
                <a:ea typeface="宋体" panose="02010600030101010101" pitchFamily="2" charset="-122"/>
              </a:rPr>
              <a:t>3</a:t>
            </a:r>
            <a:r>
              <a:rPr lang="zh-CN" altLang="en-US" sz="2200" dirty="0" smtClean="0">
                <a:latin typeface="宋体" panose="02010600030101010101" pitchFamily="2" charset="-122"/>
                <a:ea typeface="宋体" panose="02010600030101010101" pitchFamily="2" charset="-122"/>
              </a:rPr>
              <a:t>、</a:t>
            </a:r>
            <a:r>
              <a:rPr lang="en-US" altLang="zh-CN" sz="2200" dirty="0" err="1" smtClean="0">
                <a:latin typeface="宋体" panose="02010600030101010101" pitchFamily="2" charset="-122"/>
                <a:ea typeface="宋体" panose="02010600030101010101" pitchFamily="2" charset="-122"/>
              </a:rPr>
              <a:t>WebRTC</a:t>
            </a:r>
            <a:endParaRPr lang="en-US" altLang="zh-CN" sz="2200" dirty="0" smtClean="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22</a:t>
            </a:fld>
            <a:endParaRPr lang="zh-CN" altLang="en-US"/>
          </a:p>
        </p:txBody>
      </p:sp>
    </p:spTree>
    <p:extLst>
      <p:ext uri="{BB962C8B-B14F-4D97-AF65-F5344CB8AC3E}">
        <p14:creationId xmlns:p14="http://schemas.microsoft.com/office/powerpoint/2010/main" val="9280390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p:txBody>
          <a:bodyPr>
            <a:normAutofit fontScale="85000" lnSpcReduction="10000"/>
          </a:bodyPr>
          <a:lstStyle/>
          <a:p>
            <a:pPr marL="0" indent="0">
              <a:lnSpc>
                <a:spcPct val="120000"/>
              </a:lnSpc>
              <a:buNone/>
            </a:pPr>
            <a:r>
              <a:rPr lang="en-US" altLang="zh-CN" sz="2200" dirty="0" smtClean="0">
                <a:solidFill>
                  <a:srgbClr val="C00000"/>
                </a:solidFill>
                <a:latin typeface="宋体" panose="02010600030101010101" pitchFamily="2" charset="-122"/>
                <a:ea typeface="宋体" panose="02010600030101010101" pitchFamily="2" charset="-122"/>
              </a:rPr>
              <a:t>1</a:t>
            </a:r>
            <a:r>
              <a:rPr lang="zh-CN" altLang="en-US" sz="2200" dirty="0" smtClean="0">
                <a:solidFill>
                  <a:srgbClr val="C00000"/>
                </a:solidFill>
                <a:latin typeface="宋体" panose="02010600030101010101" pitchFamily="2" charset="-122"/>
                <a:ea typeface="宋体" panose="02010600030101010101" pitchFamily="2" charset="-122"/>
              </a:rPr>
              <a:t>、</a:t>
            </a:r>
            <a:r>
              <a:rPr lang="en-US" altLang="zh-CN" sz="2200" dirty="0" smtClean="0">
                <a:solidFill>
                  <a:srgbClr val="C00000"/>
                </a:solidFill>
                <a:latin typeface="宋体" panose="02010600030101010101" pitchFamily="2" charset="-122"/>
                <a:ea typeface="宋体" panose="02010600030101010101" pitchFamily="2" charset="-122"/>
              </a:rPr>
              <a:t>Server-sent Event</a:t>
            </a:r>
          </a:p>
          <a:p>
            <a:pPr marL="0" indent="0">
              <a:lnSpc>
                <a:spcPct val="120000"/>
              </a:lnSpc>
              <a:buNone/>
            </a:pPr>
            <a:r>
              <a:rPr lang="zh-CN" altLang="en-US" sz="2200" dirty="0" smtClean="0">
                <a:latin typeface="宋体" panose="02010600030101010101" pitchFamily="2" charset="-122"/>
                <a:ea typeface="宋体" panose="02010600030101010101" pitchFamily="2" charset="-122"/>
              </a:rPr>
              <a:t>允许服务器通过</a:t>
            </a:r>
            <a:r>
              <a:rPr lang="en-US" altLang="zh-CN" sz="2200" dirty="0" err="1">
                <a:latin typeface="宋体" panose="02010600030101010101" pitchFamily="2" charset="-122"/>
                <a:ea typeface="宋体" panose="02010600030101010101" pitchFamily="2" charset="-122"/>
              </a:rPr>
              <a:t>EventSource</a:t>
            </a:r>
            <a:r>
              <a:rPr lang="zh-CN" altLang="en-US" sz="2200" dirty="0" smtClean="0">
                <a:latin typeface="宋体" panose="02010600030101010101" pitchFamily="2" charset="-122"/>
                <a:ea typeface="宋体" panose="02010600030101010101" pitchFamily="2" charset="-122"/>
              </a:rPr>
              <a:t>的方式来向客户端推送内容，这就解决了刚才前边提到的第一个局限。</a:t>
            </a:r>
            <a:endParaRPr lang="en-US" altLang="zh-CN" sz="2200" dirty="0" smtClean="0">
              <a:latin typeface="宋体" panose="02010600030101010101" pitchFamily="2" charset="-122"/>
              <a:ea typeface="宋体" panose="02010600030101010101" pitchFamily="2" charset="-122"/>
            </a:endParaRPr>
          </a:p>
          <a:p>
            <a:pPr marL="0" indent="0">
              <a:lnSpc>
                <a:spcPct val="120000"/>
              </a:lnSpc>
              <a:buNone/>
            </a:pPr>
            <a:r>
              <a:rPr lang="en-US" altLang="zh-CN" sz="2200" dirty="0" smtClean="0">
                <a:solidFill>
                  <a:srgbClr val="C00000"/>
                </a:solidFill>
                <a:latin typeface="宋体" panose="02010600030101010101" pitchFamily="2" charset="-122"/>
                <a:ea typeface="宋体" panose="02010600030101010101" pitchFamily="2" charset="-122"/>
              </a:rPr>
              <a:t>2</a:t>
            </a:r>
            <a:r>
              <a:rPr lang="zh-CN" altLang="en-US" sz="2200" dirty="0" smtClean="0">
                <a:solidFill>
                  <a:srgbClr val="C00000"/>
                </a:solidFill>
                <a:latin typeface="宋体" panose="02010600030101010101" pitchFamily="2" charset="-122"/>
                <a:ea typeface="宋体" panose="02010600030101010101" pitchFamily="2" charset="-122"/>
              </a:rPr>
              <a:t>、</a:t>
            </a:r>
            <a:r>
              <a:rPr lang="en-US" altLang="zh-CN" sz="2200" dirty="0" smtClean="0">
                <a:solidFill>
                  <a:srgbClr val="C00000"/>
                </a:solidFill>
                <a:latin typeface="宋体" panose="02010600030101010101" pitchFamily="2" charset="-122"/>
                <a:ea typeface="宋体" panose="02010600030101010101" pitchFamily="2" charset="-122"/>
              </a:rPr>
              <a:t>Web Socket</a:t>
            </a:r>
          </a:p>
          <a:p>
            <a:pPr marL="0" indent="0">
              <a:lnSpc>
                <a:spcPct val="120000"/>
              </a:lnSpc>
              <a:buNone/>
            </a:pPr>
            <a:r>
              <a:rPr lang="en-US" altLang="zh-CN" sz="2200" dirty="0" smtClean="0">
                <a:latin typeface="宋体" panose="02010600030101010101" pitchFamily="2" charset="-122"/>
                <a:ea typeface="宋体" panose="02010600030101010101" pitchFamily="2" charset="-122"/>
              </a:rPr>
              <a:t>HTML5</a:t>
            </a:r>
            <a:r>
              <a:rPr lang="zh-CN" altLang="en-US" sz="2200" dirty="0" smtClean="0">
                <a:latin typeface="宋体" panose="02010600030101010101" pitchFamily="2" charset="-122"/>
                <a:ea typeface="宋体" panose="02010600030101010101" pitchFamily="2" charset="-122"/>
              </a:rPr>
              <a:t>还带来了</a:t>
            </a:r>
            <a:r>
              <a:rPr lang="en-US" altLang="zh-CN" sz="2200" dirty="0">
                <a:latin typeface="宋体" panose="02010600030101010101" pitchFamily="2" charset="-122"/>
                <a:ea typeface="宋体" panose="02010600030101010101" pitchFamily="2" charset="-122"/>
              </a:rPr>
              <a:t>Web </a:t>
            </a:r>
            <a:r>
              <a:rPr lang="en-US" altLang="zh-CN" sz="2200" dirty="0" smtClean="0">
                <a:latin typeface="宋体" panose="02010600030101010101" pitchFamily="2" charset="-122"/>
                <a:ea typeface="宋体" panose="02010600030101010101" pitchFamily="2" charset="-122"/>
              </a:rPr>
              <a:t>Socket</a:t>
            </a:r>
            <a:r>
              <a:rPr lang="zh-CN" altLang="en-US" sz="2200" dirty="0" smtClean="0">
                <a:latin typeface="宋体" panose="02010600030101010101" pitchFamily="2" charset="-122"/>
                <a:ea typeface="宋体" panose="02010600030101010101" pitchFamily="2" charset="-122"/>
              </a:rPr>
              <a:t>，允许页面和服务器之间建立一个永久的链接，页面和服务器之间可以进行一个永久的通信，这种通信过程可以不是顺序的，可以是由服务端主动进行的，也可以是由客户端主动进行的，解决了前边说的第二个问题，也可以不用频繁的去建立连接。</a:t>
            </a:r>
            <a:endParaRPr lang="en-US" altLang="zh-CN" sz="2200" dirty="0" smtClean="0">
              <a:latin typeface="宋体" panose="02010600030101010101" pitchFamily="2" charset="-122"/>
              <a:ea typeface="宋体" panose="02010600030101010101" pitchFamily="2" charset="-122"/>
            </a:endParaRPr>
          </a:p>
          <a:p>
            <a:pPr marL="0" indent="0">
              <a:lnSpc>
                <a:spcPct val="120000"/>
              </a:lnSpc>
              <a:buNone/>
            </a:pPr>
            <a:r>
              <a:rPr lang="en-US" altLang="zh-CN" sz="2200" dirty="0" smtClean="0">
                <a:solidFill>
                  <a:srgbClr val="C00000"/>
                </a:solidFill>
                <a:latin typeface="宋体" panose="02010600030101010101" pitchFamily="2" charset="-122"/>
                <a:ea typeface="宋体" panose="02010600030101010101" pitchFamily="2" charset="-122"/>
              </a:rPr>
              <a:t>3</a:t>
            </a:r>
            <a:r>
              <a:rPr lang="zh-CN" altLang="en-US" sz="2200" dirty="0" smtClean="0">
                <a:solidFill>
                  <a:srgbClr val="C00000"/>
                </a:solidFill>
                <a:latin typeface="宋体" panose="02010600030101010101" pitchFamily="2" charset="-122"/>
                <a:ea typeface="宋体" panose="02010600030101010101" pitchFamily="2" charset="-122"/>
              </a:rPr>
              <a:t>、</a:t>
            </a:r>
            <a:r>
              <a:rPr lang="en-US" altLang="zh-CN" sz="2200" dirty="0" err="1" smtClean="0">
                <a:solidFill>
                  <a:srgbClr val="C00000"/>
                </a:solidFill>
                <a:latin typeface="宋体" panose="02010600030101010101" pitchFamily="2" charset="-122"/>
                <a:ea typeface="宋体" panose="02010600030101010101" pitchFamily="2" charset="-122"/>
              </a:rPr>
              <a:t>WebRTC</a:t>
            </a:r>
            <a:endParaRPr lang="en-US" altLang="zh-CN" sz="2200" dirty="0" smtClean="0">
              <a:solidFill>
                <a:srgbClr val="C00000"/>
              </a:solidFill>
              <a:latin typeface="宋体" panose="02010600030101010101" pitchFamily="2" charset="-122"/>
              <a:ea typeface="宋体" panose="02010600030101010101" pitchFamily="2" charset="-122"/>
            </a:endParaRPr>
          </a:p>
          <a:p>
            <a:pPr marL="0" indent="0">
              <a:lnSpc>
                <a:spcPct val="120000"/>
              </a:lnSpc>
              <a:buNone/>
            </a:pPr>
            <a:r>
              <a:rPr lang="en-US" altLang="zh-CN" sz="2200" dirty="0" smtClean="0">
                <a:latin typeface="宋体" panose="02010600030101010101" pitchFamily="2" charset="-122"/>
                <a:ea typeface="宋体" panose="02010600030101010101" pitchFamily="2" charset="-122"/>
              </a:rPr>
              <a:t>RTC</a:t>
            </a:r>
            <a:r>
              <a:rPr lang="zh-CN" altLang="en-US" sz="2200" dirty="0" smtClean="0">
                <a:latin typeface="宋体" panose="02010600030101010101" pitchFamily="2" charset="-122"/>
                <a:ea typeface="宋体" panose="02010600030101010101" pitchFamily="2" charset="-122"/>
              </a:rPr>
              <a:t>是实时通信的简称，</a:t>
            </a:r>
            <a:r>
              <a:rPr lang="en-US" altLang="zh-CN" sz="2200" dirty="0" err="1" smtClean="0">
                <a:latin typeface="宋体" panose="02010600030101010101" pitchFamily="2" charset="-122"/>
                <a:ea typeface="宋体" panose="02010600030101010101" pitchFamily="2" charset="-122"/>
              </a:rPr>
              <a:t>webRTC</a:t>
            </a:r>
            <a:r>
              <a:rPr lang="zh-CN" altLang="en-US" sz="2200" dirty="0" smtClean="0">
                <a:latin typeface="宋体" panose="02010600030101010101" pitchFamily="2" charset="-122"/>
                <a:ea typeface="宋体" panose="02010600030101010101" pitchFamily="2" charset="-122"/>
              </a:rPr>
              <a:t>是实时通信在</a:t>
            </a:r>
            <a:r>
              <a:rPr lang="en-US" altLang="zh-CN" sz="2200" dirty="0" smtClean="0">
                <a:latin typeface="宋体" panose="02010600030101010101" pitchFamily="2" charset="-122"/>
                <a:ea typeface="宋体" panose="02010600030101010101" pitchFamily="2" charset="-122"/>
              </a:rPr>
              <a:t>web</a:t>
            </a:r>
            <a:r>
              <a:rPr lang="zh-CN" altLang="en-US" sz="2200" dirty="0" smtClean="0">
                <a:latin typeface="宋体" panose="02010600030101010101" pitchFamily="2" charset="-122"/>
                <a:ea typeface="宋体" panose="02010600030101010101" pitchFamily="2" charset="-122"/>
              </a:rPr>
              <a:t>上的应用，允许我们在不同的浏览器客户端之间建立一个语音、视频的交流和数据分享的技术，并且不用安装任何第三方的工具或软件。这个技术给</a:t>
            </a:r>
            <a:r>
              <a:rPr lang="en-US" altLang="zh-CN" sz="2200" dirty="0" smtClean="0">
                <a:latin typeface="宋体" panose="02010600030101010101" pitchFamily="2" charset="-122"/>
                <a:ea typeface="宋体" panose="02010600030101010101" pitchFamily="2" charset="-122"/>
              </a:rPr>
              <a:t>web</a:t>
            </a:r>
            <a:r>
              <a:rPr lang="zh-CN" altLang="en-US" sz="2200" dirty="0" smtClean="0">
                <a:latin typeface="宋体" panose="02010600030101010101" pitchFamily="2" charset="-122"/>
                <a:ea typeface="宋体" panose="02010600030101010101" pitchFamily="2" charset="-122"/>
              </a:rPr>
              <a:t>应用带来了更多的可能，比如说我们可以实现一个在线的音视频会议或者在线的聊天室。</a:t>
            </a:r>
            <a:endParaRPr lang="en-US" altLang="zh-CN" sz="2200" dirty="0" smtClean="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23</a:t>
            </a:fld>
            <a:endParaRPr lang="zh-CN" altLang="en-US"/>
          </a:p>
        </p:txBody>
      </p:sp>
    </p:spTree>
    <p:extLst>
      <p:ext uri="{BB962C8B-B14F-4D97-AF65-F5344CB8AC3E}">
        <p14:creationId xmlns:p14="http://schemas.microsoft.com/office/powerpoint/2010/main" val="25735624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a:xfrm>
            <a:off x="791419" y="1500504"/>
            <a:ext cx="10609162" cy="4495663"/>
          </a:xfrm>
        </p:spPr>
        <p:txBody>
          <a:bodyPr>
            <a:normAutofit fontScale="77500" lnSpcReduction="20000"/>
          </a:bodyPr>
          <a:lstStyle/>
          <a:p>
            <a:pPr marL="0" indent="0">
              <a:lnSpc>
                <a:spcPct val="130000"/>
              </a:lnSpc>
              <a:buNone/>
            </a:pPr>
            <a:r>
              <a:rPr lang="zh-CN" altLang="en-US" sz="3400" dirty="0" smtClean="0">
                <a:latin typeface="宋体" panose="02010600030101010101" pitchFamily="2" charset="-122"/>
                <a:ea typeface="宋体" panose="02010600030101010101" pitchFamily="2" charset="-122"/>
              </a:rPr>
              <a:t>离线和缓存</a:t>
            </a:r>
            <a:endParaRPr lang="en-US" altLang="zh-CN" sz="3400" dirty="0" smtClean="0">
              <a:latin typeface="宋体" panose="02010600030101010101" pitchFamily="2" charset="-122"/>
              <a:ea typeface="宋体" panose="02010600030101010101" pitchFamily="2" charset="-122"/>
            </a:endParaRPr>
          </a:p>
          <a:p>
            <a:pPr>
              <a:lnSpc>
                <a:spcPct val="130000"/>
              </a:lnSpc>
              <a:buFont typeface="Wingdings" panose="05000000000000000000" pitchFamily="2" charset="2"/>
              <a:buChar char="Ø"/>
            </a:pPr>
            <a:r>
              <a:rPr lang="en-US" altLang="zh-CN" sz="2200" b="1" dirty="0" smtClean="0">
                <a:latin typeface="宋体" panose="02010600030101010101" pitchFamily="2" charset="-122"/>
                <a:ea typeface="宋体" panose="02010600030101010101" pitchFamily="2" charset="-122"/>
              </a:rPr>
              <a:t>Application Cache</a:t>
            </a:r>
            <a:r>
              <a:rPr lang="zh-CN" altLang="en-US" sz="2200" dirty="0" smtClean="0">
                <a:latin typeface="宋体" panose="02010600030101010101" pitchFamily="2" charset="-122"/>
                <a:ea typeface="宋体" panose="02010600030101010101" pitchFamily="2" charset="-122"/>
              </a:rPr>
              <a:t>：应用级缓存，能够在客户端有选择的缓存一些资源，通过这样的方式，用户也可以在离线的情况下浏览一些内容，毕竟由于一些资源缓存在了本地，浏览速度也会更快。这样的方式也能一定程度减轻服务器的负担，因为浏览器只会在资源发生改变的情况下向服务器端发送请求。不过被</a:t>
            </a:r>
            <a:r>
              <a:rPr lang="en-US" altLang="zh-CN" sz="2200" dirty="0">
                <a:latin typeface="宋体" panose="02010600030101010101" pitchFamily="2" charset="-122"/>
                <a:ea typeface="宋体" panose="02010600030101010101" pitchFamily="2" charset="-122"/>
              </a:rPr>
              <a:t>Service </a:t>
            </a:r>
            <a:r>
              <a:rPr lang="en-US" altLang="zh-CN" sz="2200" dirty="0" smtClean="0">
                <a:latin typeface="宋体" panose="02010600030101010101" pitchFamily="2" charset="-122"/>
                <a:ea typeface="宋体" panose="02010600030101010101" pitchFamily="2" charset="-122"/>
              </a:rPr>
              <a:t>Worker</a:t>
            </a:r>
            <a:r>
              <a:rPr lang="zh-CN" altLang="en-US" sz="2200" dirty="0" smtClean="0">
                <a:latin typeface="宋体" panose="02010600030101010101" pitchFamily="2" charset="-122"/>
                <a:ea typeface="宋体" panose="02010600030101010101" pitchFamily="2" charset="-122"/>
              </a:rPr>
              <a:t>取代。</a:t>
            </a:r>
            <a:endParaRPr lang="en-US" altLang="zh-CN" sz="2200" dirty="0" smtClean="0">
              <a:latin typeface="宋体" panose="02010600030101010101" pitchFamily="2" charset="-122"/>
              <a:ea typeface="宋体" panose="02010600030101010101" pitchFamily="2" charset="-122"/>
            </a:endParaRPr>
          </a:p>
          <a:p>
            <a:pPr>
              <a:lnSpc>
                <a:spcPct val="130000"/>
              </a:lnSpc>
              <a:buFont typeface="Wingdings" panose="05000000000000000000" pitchFamily="2" charset="2"/>
              <a:buChar char="Ø"/>
            </a:pPr>
            <a:r>
              <a:rPr lang="zh-CN" altLang="en-US" sz="2200" b="1" dirty="0" smtClean="0">
                <a:latin typeface="宋体" panose="02010600030101010101" pitchFamily="2" charset="-122"/>
                <a:ea typeface="宋体" panose="02010600030101010101" pitchFamily="2" charset="-122"/>
              </a:rPr>
              <a:t>在线离线状态的判断</a:t>
            </a:r>
            <a:r>
              <a:rPr lang="zh-CN" altLang="en-US" sz="2200" b="1" dirty="0">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通过在</a:t>
            </a:r>
            <a:r>
              <a:rPr lang="en-US" altLang="zh-CN" sz="2200" dirty="0" smtClean="0">
                <a:latin typeface="宋体" panose="02010600030101010101" pitchFamily="2" charset="-122"/>
                <a:ea typeface="宋体" panose="02010600030101010101" pitchFamily="2" charset="-122"/>
              </a:rPr>
              <a:t>Windows</a:t>
            </a:r>
            <a:r>
              <a:rPr lang="zh-CN" altLang="en-US" sz="2200" dirty="0" smtClean="0">
                <a:latin typeface="宋体" panose="02010600030101010101" pitchFamily="2" charset="-122"/>
                <a:ea typeface="宋体" panose="02010600030101010101" pitchFamily="2" charset="-122"/>
              </a:rPr>
              <a:t>上监听</a:t>
            </a:r>
            <a:r>
              <a:rPr lang="en-US" altLang="zh-CN" sz="2200" dirty="0" smtClean="0">
                <a:latin typeface="宋体" panose="02010600030101010101" pitchFamily="2" charset="-122"/>
                <a:ea typeface="宋体" panose="02010600030101010101" pitchFamily="2" charset="-122"/>
              </a:rPr>
              <a:t>online</a:t>
            </a:r>
            <a:r>
              <a:rPr lang="zh-CN" altLang="en-US" sz="2200" dirty="0" smtClean="0">
                <a:latin typeface="宋体" panose="02010600030101010101" pitchFamily="2" charset="-122"/>
                <a:ea typeface="宋体" panose="02010600030101010101" pitchFamily="2" charset="-122"/>
              </a:rPr>
              <a:t>或者</a:t>
            </a:r>
            <a:r>
              <a:rPr lang="en-US" altLang="zh-CN" sz="2200" dirty="0" smtClean="0">
                <a:latin typeface="宋体" panose="02010600030101010101" pitchFamily="2" charset="-122"/>
                <a:ea typeface="宋体" panose="02010600030101010101" pitchFamily="2" charset="-122"/>
              </a:rPr>
              <a:t>offline</a:t>
            </a:r>
            <a:r>
              <a:rPr lang="zh-CN" altLang="en-US" sz="2200" dirty="0" smtClean="0">
                <a:latin typeface="宋体" panose="02010600030101010101" pitchFamily="2" charset="-122"/>
                <a:ea typeface="宋体" panose="02010600030101010101" pitchFamily="2" charset="-122"/>
              </a:rPr>
              <a:t>事件的状态判断在线或离线。</a:t>
            </a:r>
            <a:endParaRPr lang="en-US" altLang="zh-CN" sz="2200" dirty="0" smtClean="0">
              <a:latin typeface="宋体" panose="02010600030101010101" pitchFamily="2" charset="-122"/>
              <a:ea typeface="宋体" panose="02010600030101010101" pitchFamily="2" charset="-122"/>
            </a:endParaRPr>
          </a:p>
          <a:p>
            <a:pPr>
              <a:lnSpc>
                <a:spcPct val="130000"/>
              </a:lnSpc>
              <a:buFont typeface="Wingdings" panose="05000000000000000000" pitchFamily="2" charset="2"/>
              <a:buChar char="Ø"/>
            </a:pPr>
            <a:r>
              <a:rPr lang="en-US" altLang="zh-CN" sz="2200" b="1" dirty="0" smtClean="0">
                <a:latin typeface="宋体" panose="02010600030101010101" pitchFamily="2" charset="-122"/>
                <a:ea typeface="宋体" panose="02010600030101010101" pitchFamily="2" charset="-122"/>
              </a:rPr>
              <a:t>Index DB</a:t>
            </a:r>
            <a:r>
              <a:rPr lang="zh-CN" altLang="en-US" sz="2200" dirty="0" smtClean="0">
                <a:latin typeface="宋体" panose="02010600030101010101" pitchFamily="2" charset="-122"/>
                <a:ea typeface="宋体" panose="02010600030101010101" pitchFamily="2" charset="-122"/>
              </a:rPr>
              <a:t>：使用其将一些结构化的数据持久的存储在浏览器中，这样不用考虑网络，创建出具有查询能力的离线流。用户没有网络的情况下也能很好的使用，等有网络的时候可以将用户产生的数据进行在线同步。</a:t>
            </a:r>
            <a:endParaRPr lang="en-US" altLang="zh-CN" sz="2200" dirty="0" smtClean="0">
              <a:latin typeface="宋体" panose="02010600030101010101" pitchFamily="2" charset="-122"/>
              <a:ea typeface="宋体" panose="02010600030101010101" pitchFamily="2" charset="-122"/>
            </a:endParaRPr>
          </a:p>
          <a:p>
            <a:pPr>
              <a:lnSpc>
                <a:spcPct val="130000"/>
              </a:lnSpc>
              <a:buFont typeface="Wingdings" panose="05000000000000000000" pitchFamily="2" charset="2"/>
              <a:buChar char="Ø"/>
            </a:pPr>
            <a:r>
              <a:rPr lang="en-US" altLang="zh-CN" sz="2200" b="1" dirty="0" err="1" smtClean="0">
                <a:latin typeface="宋体" panose="02010600030101010101" pitchFamily="2" charset="-122"/>
                <a:ea typeface="宋体" panose="02010600030101010101" pitchFamily="2" charset="-122"/>
              </a:rPr>
              <a:t>localStorage</a:t>
            </a:r>
            <a:r>
              <a:rPr lang="en-US" altLang="zh-CN" sz="2200" b="1" dirty="0" smtClean="0">
                <a:latin typeface="宋体" panose="02010600030101010101" pitchFamily="2" charset="-122"/>
                <a:ea typeface="宋体" panose="02010600030101010101" pitchFamily="2" charset="-122"/>
              </a:rPr>
              <a:t>/</a:t>
            </a:r>
            <a:r>
              <a:rPr lang="en-US" altLang="zh-CN" sz="2200" b="1" dirty="0" err="1" smtClean="0">
                <a:latin typeface="宋体" panose="02010600030101010101" pitchFamily="2" charset="-122"/>
                <a:ea typeface="宋体" panose="02010600030101010101" pitchFamily="2" charset="-122"/>
              </a:rPr>
              <a:t>sessionStorage</a:t>
            </a:r>
            <a:r>
              <a:rPr lang="zh-CN" altLang="en-US" sz="2200" dirty="0" smtClean="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除了结构化的数据还有一些比较简单的数据并不需要存储在</a:t>
            </a:r>
            <a:r>
              <a:rPr lang="en-US" altLang="zh-CN" sz="2200" dirty="0" err="1">
                <a:latin typeface="宋体" panose="02010600030101010101" pitchFamily="2" charset="-122"/>
                <a:ea typeface="宋体" panose="02010600030101010101" pitchFamily="2" charset="-122"/>
              </a:rPr>
              <a:t>indexDB</a:t>
            </a:r>
            <a:r>
              <a:rPr lang="zh-CN" altLang="en-US" sz="2200" dirty="0">
                <a:latin typeface="宋体" panose="02010600030101010101" pitchFamily="2" charset="-122"/>
                <a:ea typeface="宋体" panose="02010600030101010101" pitchFamily="2" charset="-122"/>
              </a:rPr>
              <a:t>中，可以</a:t>
            </a:r>
            <a:r>
              <a:rPr lang="zh-CN" altLang="en-US" sz="2200" dirty="0" smtClean="0">
                <a:latin typeface="宋体" panose="02010600030101010101" pitchFamily="2" charset="-122"/>
                <a:ea typeface="宋体" panose="02010600030101010101" pitchFamily="2" charset="-122"/>
              </a:rPr>
              <a:t>借助</a:t>
            </a:r>
            <a:r>
              <a:rPr lang="en-US" altLang="zh-CN" sz="2200" dirty="0" err="1" smtClean="0">
                <a:latin typeface="宋体" panose="02010600030101010101" pitchFamily="2" charset="-122"/>
                <a:ea typeface="宋体" panose="02010600030101010101" pitchFamily="2" charset="-122"/>
              </a:rPr>
              <a:t>localStorage</a:t>
            </a:r>
            <a:r>
              <a:rPr lang="zh-CN" altLang="en-US" sz="2200" dirty="0" smtClean="0">
                <a:latin typeface="宋体" panose="02010600030101010101" pitchFamily="2" charset="-122"/>
                <a:ea typeface="宋体" panose="02010600030101010101" pitchFamily="2" charset="-122"/>
              </a:rPr>
              <a:t>和</a:t>
            </a:r>
            <a:r>
              <a:rPr lang="en-US" altLang="zh-CN" sz="2200" dirty="0" err="1" smtClean="0">
                <a:latin typeface="宋体" panose="02010600030101010101" pitchFamily="2" charset="-122"/>
                <a:ea typeface="宋体" panose="02010600030101010101" pitchFamily="2" charset="-122"/>
              </a:rPr>
              <a:t>sessionStorage</a:t>
            </a:r>
            <a:r>
              <a:rPr lang="zh-CN" altLang="en-US" sz="2200" dirty="0" smtClean="0">
                <a:latin typeface="宋体" panose="02010600030101010101" pitchFamily="2" charset="-122"/>
                <a:ea typeface="宋体" panose="02010600030101010101" pitchFamily="2" charset="-122"/>
              </a:rPr>
              <a:t>去存储，早期的话存储数据可以借助</a:t>
            </a:r>
            <a:r>
              <a:rPr lang="en-US" altLang="zh-CN" sz="2200" dirty="0" smtClean="0">
                <a:latin typeface="宋体" panose="02010600030101010101" pitchFamily="2" charset="-122"/>
                <a:ea typeface="宋体" panose="02010600030101010101" pitchFamily="2" charset="-122"/>
              </a:rPr>
              <a:t>cookie</a:t>
            </a:r>
            <a:r>
              <a:rPr lang="zh-CN" altLang="en-US" sz="2200" dirty="0" smtClean="0">
                <a:latin typeface="宋体" panose="02010600030101010101" pitchFamily="2" charset="-122"/>
                <a:ea typeface="宋体" panose="02010600030101010101" pitchFamily="2" charset="-122"/>
              </a:rPr>
              <a:t>，但</a:t>
            </a:r>
            <a:r>
              <a:rPr lang="en-US" altLang="zh-CN" sz="2200" dirty="0" smtClean="0">
                <a:latin typeface="宋体" panose="02010600030101010101" pitchFamily="2" charset="-122"/>
                <a:ea typeface="宋体" panose="02010600030101010101" pitchFamily="2" charset="-122"/>
              </a:rPr>
              <a:t>cookie</a:t>
            </a:r>
            <a:r>
              <a:rPr lang="zh-CN" altLang="en-US" sz="2200" dirty="0" smtClean="0">
                <a:latin typeface="宋体" panose="02010600030101010101" pitchFamily="2" charset="-122"/>
                <a:ea typeface="宋体" panose="02010600030101010101" pitchFamily="2" charset="-122"/>
              </a:rPr>
              <a:t>的话其实是用来做一个信息验证或者登录信息存储，支持长度小，有长度限制。</a:t>
            </a:r>
            <a:r>
              <a:rPr lang="en-US" altLang="zh-CN" sz="2200" dirty="0" err="1">
                <a:latin typeface="宋体" panose="02010600030101010101" pitchFamily="2" charset="-122"/>
                <a:ea typeface="宋体" panose="02010600030101010101" pitchFamily="2" charset="-122"/>
              </a:rPr>
              <a:t>localStorage</a:t>
            </a:r>
            <a:r>
              <a:rPr lang="en-US" altLang="zh-CN"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sessionStorage</a:t>
            </a:r>
            <a:r>
              <a:rPr lang="zh-CN" altLang="en-US" sz="2200" dirty="0" smtClean="0">
                <a:latin typeface="宋体" panose="02010600030101010101" pitchFamily="2" charset="-122"/>
                <a:ea typeface="宋体" panose="02010600030101010101" pitchFamily="2" charset="-122"/>
              </a:rPr>
              <a:t>两个都是将信息存储在客户端，区别在于</a:t>
            </a:r>
            <a:r>
              <a:rPr lang="en-US" altLang="zh-CN" sz="2200" dirty="0" err="1" smtClean="0">
                <a:latin typeface="宋体" panose="02010600030101010101" pitchFamily="2" charset="-122"/>
                <a:ea typeface="宋体" panose="02010600030101010101" pitchFamily="2" charset="-122"/>
              </a:rPr>
              <a:t>localStorage</a:t>
            </a:r>
            <a:r>
              <a:rPr lang="zh-CN" altLang="en-US" sz="2200" dirty="0" smtClean="0">
                <a:latin typeface="宋体" panose="02010600030101010101" pitchFamily="2" charset="-122"/>
                <a:ea typeface="宋体" panose="02010600030101010101" pitchFamily="2" charset="-122"/>
              </a:rPr>
              <a:t>在页面关闭再次打开时存储的信息依然存在，</a:t>
            </a:r>
            <a:r>
              <a:rPr lang="en-US" altLang="zh-CN" sz="2200" dirty="0" err="1" smtClean="0">
                <a:latin typeface="宋体" panose="02010600030101010101" pitchFamily="2" charset="-122"/>
                <a:ea typeface="宋体" panose="02010600030101010101" pitchFamily="2" charset="-122"/>
              </a:rPr>
              <a:t>sessionStorage</a:t>
            </a:r>
            <a:r>
              <a:rPr lang="zh-CN" altLang="en-US" sz="2200" dirty="0" smtClean="0">
                <a:latin typeface="宋体" panose="02010600030101010101" pitchFamily="2" charset="-122"/>
                <a:ea typeface="宋体" panose="02010600030101010101" pitchFamily="2" charset="-122"/>
              </a:rPr>
              <a:t>在页面关闭后再次打开信息删除，它只是存储的是一个会话的信息。</a:t>
            </a:r>
            <a:endParaRPr lang="en-US" altLang="zh-CN" sz="2200" dirty="0" smtClean="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24</a:t>
            </a:fld>
            <a:endParaRPr lang="zh-CN" altLang="en-US"/>
          </a:p>
        </p:txBody>
      </p:sp>
    </p:spTree>
    <p:extLst>
      <p:ext uri="{BB962C8B-B14F-4D97-AF65-F5344CB8AC3E}">
        <p14:creationId xmlns:p14="http://schemas.microsoft.com/office/powerpoint/2010/main" val="25482364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p:txBody>
          <a:bodyPr vert="horz" lIns="91440" tIns="45720" rIns="91440" bIns="45720" rtlCol="0">
            <a:noAutofit/>
          </a:bodyPr>
          <a:lstStyle/>
          <a:p>
            <a:pPr marL="0" indent="0">
              <a:lnSpc>
                <a:spcPct val="110000"/>
              </a:lnSpc>
              <a:buNone/>
            </a:pPr>
            <a:r>
              <a:rPr lang="zh-CN" altLang="en-US" sz="2200" dirty="0">
                <a:latin typeface="宋体" panose="02010600030101010101" pitchFamily="2" charset="-122"/>
                <a:ea typeface="宋体" panose="02010600030101010101" pitchFamily="2" charset="-122"/>
              </a:rPr>
              <a:t>性能</a:t>
            </a:r>
            <a:endParaRPr lang="en-US" altLang="zh-CN" sz="2200" dirty="0">
              <a:latin typeface="宋体" panose="02010600030101010101" pitchFamily="2" charset="-122"/>
              <a:ea typeface="宋体" panose="02010600030101010101" pitchFamily="2" charset="-122"/>
            </a:endParaRPr>
          </a:p>
          <a:p>
            <a:pPr>
              <a:lnSpc>
                <a:spcPct val="110000"/>
              </a:lnSpc>
            </a:pPr>
            <a:r>
              <a:rPr lang="en-US" altLang="zh-CN" sz="2200" dirty="0">
                <a:latin typeface="宋体" panose="02010600030101010101" pitchFamily="2" charset="-122"/>
                <a:ea typeface="宋体" panose="02010600030101010101" pitchFamily="2" charset="-122"/>
              </a:rPr>
              <a:t>JavaScript</a:t>
            </a:r>
            <a:r>
              <a:rPr lang="zh-CN" altLang="en-US" sz="2200" dirty="0">
                <a:latin typeface="宋体" panose="02010600030101010101" pitchFamily="2" charset="-122"/>
                <a:ea typeface="宋体" panose="02010600030101010101" pitchFamily="2" charset="-122"/>
              </a:rPr>
              <a:t>是一个单线程的语言，所有任务都会通过顺序的方式执行，所有的任务都只能依次执行。这样的执行过程其实原本没有问题，后来由于多核</a:t>
            </a:r>
            <a:r>
              <a:rPr lang="en-US" altLang="zh-CN" sz="2200" dirty="0">
                <a:latin typeface="宋体" panose="02010600030101010101" pitchFamily="2" charset="-122"/>
                <a:ea typeface="宋体" panose="02010600030101010101" pitchFamily="2" charset="-122"/>
              </a:rPr>
              <a:t>CPU</a:t>
            </a:r>
            <a:r>
              <a:rPr lang="zh-CN" altLang="en-US" sz="2200" dirty="0">
                <a:latin typeface="宋体" panose="02010600030101010101" pitchFamily="2" charset="-122"/>
                <a:ea typeface="宋体" panose="02010600030101010101" pitchFamily="2" charset="-122"/>
              </a:rPr>
              <a:t>的产生，电脑的计算能力增强。这种单线程模式不能很好应用计算机的计算能力。所以</a:t>
            </a:r>
            <a:r>
              <a:rPr lang="en-US" altLang="zh-CN" sz="2200" dirty="0">
                <a:latin typeface="宋体" panose="02010600030101010101" pitchFamily="2" charset="-122"/>
                <a:ea typeface="宋体" panose="02010600030101010101" pitchFamily="2" charset="-122"/>
              </a:rPr>
              <a:t>HTML5</a:t>
            </a:r>
            <a:r>
              <a:rPr lang="zh-CN" altLang="en-US" sz="2200" dirty="0">
                <a:latin typeface="宋体" panose="02010600030101010101" pitchFamily="2" charset="-122"/>
                <a:ea typeface="宋体" panose="02010600030101010101" pitchFamily="2" charset="-122"/>
              </a:rPr>
              <a:t>引入了</a:t>
            </a:r>
            <a:r>
              <a:rPr lang="en-US" altLang="zh-CN" sz="2200" dirty="0">
                <a:latin typeface="宋体" panose="02010600030101010101" pitchFamily="2" charset="-122"/>
                <a:ea typeface="宋体" panose="02010600030101010101" pitchFamily="2" charset="-122"/>
              </a:rPr>
              <a:t>Web Worker</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 Web Worker</a:t>
            </a:r>
            <a:r>
              <a:rPr lang="zh-CN" altLang="en-US" sz="2200" dirty="0">
                <a:latin typeface="宋体" panose="02010600030101010101" pitchFamily="2" charset="-122"/>
                <a:ea typeface="宋体" panose="02010600030101010101" pitchFamily="2" charset="-122"/>
              </a:rPr>
              <a:t>为</a:t>
            </a:r>
            <a:r>
              <a:rPr lang="en-US" altLang="zh-CN" sz="2200" dirty="0">
                <a:latin typeface="宋体" panose="02010600030101010101" pitchFamily="2" charset="-122"/>
                <a:ea typeface="宋体" panose="02010600030101010101" pitchFamily="2" charset="-122"/>
              </a:rPr>
              <a:t>JS</a:t>
            </a:r>
            <a:r>
              <a:rPr lang="zh-CN" altLang="en-US" sz="2200" dirty="0">
                <a:latin typeface="宋体" panose="02010600030101010101" pitchFamily="2" charset="-122"/>
                <a:ea typeface="宋体" panose="02010600030101010101" pitchFamily="2" charset="-122"/>
              </a:rPr>
              <a:t>创建多线程环境，它允许主线程在执行任务的过程中创建</a:t>
            </a:r>
            <a:r>
              <a:rPr lang="en-US" altLang="zh-CN" sz="2200" dirty="0">
                <a:latin typeface="宋体" panose="02010600030101010101" pitchFamily="2" charset="-122"/>
                <a:ea typeface="宋体" panose="02010600030101010101" pitchFamily="2" charset="-122"/>
              </a:rPr>
              <a:t>worker</a:t>
            </a:r>
            <a:r>
              <a:rPr lang="zh-CN" altLang="en-US" sz="2200" dirty="0">
                <a:latin typeface="宋体" panose="02010600030101010101" pitchFamily="2" charset="-122"/>
                <a:ea typeface="宋体" panose="02010600030101010101" pitchFamily="2" charset="-122"/>
              </a:rPr>
              <a:t>进程，将一些耗时或者高延时的任务放在</a:t>
            </a:r>
            <a:r>
              <a:rPr lang="en-US" altLang="zh-CN" sz="2200" dirty="0">
                <a:latin typeface="宋体" panose="02010600030101010101" pitchFamily="2" charset="-122"/>
                <a:ea typeface="宋体" panose="02010600030101010101" pitchFamily="2" charset="-122"/>
              </a:rPr>
              <a:t>worker</a:t>
            </a:r>
            <a:r>
              <a:rPr lang="zh-CN" altLang="en-US" sz="2200" dirty="0">
                <a:latin typeface="宋体" panose="02010600030101010101" pitchFamily="2" charset="-122"/>
                <a:ea typeface="宋体" panose="02010600030101010101" pitchFamily="2" charset="-122"/>
              </a:rPr>
              <a:t>中运行，这样这些任务在后台运行，与主线程互不干扰。</a:t>
            </a:r>
            <a:endParaRPr lang="en-US" altLang="zh-CN" sz="2200" dirty="0">
              <a:latin typeface="宋体" panose="02010600030101010101" pitchFamily="2" charset="-122"/>
              <a:ea typeface="宋体" panose="02010600030101010101" pitchFamily="2" charset="-122"/>
            </a:endParaRPr>
          </a:p>
          <a:p>
            <a:pPr>
              <a:lnSpc>
                <a:spcPct val="110000"/>
              </a:lnSpc>
            </a:pPr>
            <a:r>
              <a:rPr lang="en-US" altLang="zh-CN" sz="2200" dirty="0">
                <a:latin typeface="宋体" panose="02010600030101010101" pitchFamily="2" charset="-122"/>
                <a:ea typeface="宋体" panose="02010600030101010101" pitchFamily="2" charset="-122"/>
              </a:rPr>
              <a:t>HTML5</a:t>
            </a:r>
            <a:r>
              <a:rPr lang="zh-CN" altLang="en-US" sz="2200" dirty="0">
                <a:latin typeface="宋体" panose="02010600030101010101" pitchFamily="2" charset="-122"/>
                <a:ea typeface="宋体" panose="02010600030101010101" pitchFamily="2" charset="-122"/>
              </a:rPr>
              <a:t>中引入了动画效果，保证动画效果的流畅，其实是需要借助</a:t>
            </a:r>
            <a:r>
              <a:rPr lang="en-US" altLang="zh-CN" sz="2200" dirty="0" err="1">
                <a:latin typeface="宋体" panose="02010600030101010101" pitchFamily="2" charset="-122"/>
                <a:ea typeface="宋体" panose="02010600030101010101" pitchFamily="2" charset="-122"/>
              </a:rPr>
              <a:t>requestAnimationFrame</a:t>
            </a:r>
            <a:r>
              <a:rPr lang="zh-CN" altLang="en-US" sz="2200" dirty="0">
                <a:latin typeface="宋体" panose="02010600030101010101" pitchFamily="2" charset="-122"/>
                <a:ea typeface="宋体" panose="02010600030101010101" pitchFamily="2" charset="-122"/>
              </a:rPr>
              <a:t>这个</a:t>
            </a:r>
            <a:r>
              <a:rPr lang="en-US" altLang="zh-CN" sz="2200" dirty="0">
                <a:latin typeface="宋体" panose="02010600030101010101" pitchFamily="2" charset="-122"/>
                <a:ea typeface="宋体" panose="02010600030101010101" pitchFamily="2" charset="-122"/>
              </a:rPr>
              <a:t>API</a:t>
            </a:r>
            <a:r>
              <a:rPr lang="zh-CN" altLang="en-US" sz="2200" dirty="0">
                <a:latin typeface="宋体" panose="02010600030101010101" pitchFamily="2" charset="-122"/>
                <a:ea typeface="宋体" panose="02010600030101010101" pitchFamily="2" charset="-122"/>
              </a:rPr>
              <a:t>，即允许</a:t>
            </a:r>
            <a:r>
              <a:rPr lang="en-US" altLang="zh-CN" sz="2200" dirty="0">
                <a:latin typeface="宋体" panose="02010600030101010101" pitchFamily="2" charset="-122"/>
                <a:ea typeface="宋体" panose="02010600030101010101" pitchFamily="2" charset="-122"/>
              </a:rPr>
              <a:t>API</a:t>
            </a:r>
            <a:r>
              <a:rPr lang="zh-CN" altLang="en-US" sz="2200" dirty="0">
                <a:latin typeface="宋体" panose="02010600030101010101" pitchFamily="2" charset="-122"/>
                <a:ea typeface="宋体" panose="02010600030101010101" pitchFamily="2" charset="-122"/>
              </a:rPr>
              <a:t>通过一定的频率来刷新页面从而保证动画的流畅性。</a:t>
            </a:r>
            <a:endParaRPr lang="en-US" altLang="zh-CN" sz="2200" dirty="0">
              <a:latin typeface="宋体" panose="02010600030101010101" pitchFamily="2" charset="-122"/>
              <a:ea typeface="宋体" panose="02010600030101010101" pitchFamily="2" charset="-122"/>
            </a:endParaRPr>
          </a:p>
          <a:p>
            <a:pPr>
              <a:lnSpc>
                <a:spcPct val="110000"/>
              </a:lnSpc>
            </a:pPr>
            <a:endParaRPr lang="zh-CN" altLang="en-US" sz="2200"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25</a:t>
            </a:fld>
            <a:endParaRPr lang="zh-CN" altLang="en-US"/>
          </a:p>
        </p:txBody>
      </p:sp>
    </p:spTree>
    <p:extLst>
      <p:ext uri="{BB962C8B-B14F-4D97-AF65-F5344CB8AC3E}">
        <p14:creationId xmlns:p14="http://schemas.microsoft.com/office/powerpoint/2010/main" val="5915218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HTML5</a:t>
            </a:r>
            <a:r>
              <a:rPr lang="zh-CN" altLang="en-US" dirty="0" smtClean="0"/>
              <a:t>标准</a:t>
            </a:r>
            <a:endParaRPr lang="zh-CN" altLang="en-US" dirty="0"/>
          </a:p>
        </p:txBody>
      </p:sp>
      <p:sp>
        <p:nvSpPr>
          <p:cNvPr id="3" name="内容占位符 2"/>
          <p:cNvSpPr>
            <a:spLocks noGrp="1"/>
          </p:cNvSpPr>
          <p:nvPr>
            <p:ph idx="1"/>
          </p:nvPr>
        </p:nvSpPr>
        <p:spPr/>
        <p:txBody>
          <a:bodyPr>
            <a:normAutofit fontScale="92500"/>
          </a:bodyPr>
          <a:lstStyle/>
          <a:p>
            <a:pPr marL="0" indent="0">
              <a:lnSpc>
                <a:spcPct val="110000"/>
              </a:lnSpc>
              <a:buNone/>
            </a:pPr>
            <a:r>
              <a:rPr lang="zh-CN" altLang="en-US" dirty="0" smtClean="0">
                <a:latin typeface="宋体" panose="02010600030101010101" pitchFamily="2" charset="-122"/>
                <a:ea typeface="宋体" panose="02010600030101010101" pitchFamily="2" charset="-122"/>
              </a:rPr>
              <a:t>其他</a:t>
            </a:r>
            <a:endParaRPr lang="en-US" altLang="zh-CN" dirty="0" smtClean="0">
              <a:latin typeface="宋体" panose="02010600030101010101" pitchFamily="2" charset="-122"/>
              <a:ea typeface="宋体" panose="02010600030101010101" pitchFamily="2" charset="-122"/>
            </a:endParaRPr>
          </a:p>
          <a:p>
            <a:pPr>
              <a:lnSpc>
                <a:spcPct val="110000"/>
              </a:lnSpc>
            </a:pPr>
            <a:r>
              <a:rPr lang="en-US" altLang="zh-CN" sz="2200" dirty="0" smtClean="0">
                <a:solidFill>
                  <a:srgbClr val="C00000"/>
                </a:solidFill>
                <a:latin typeface="宋体" panose="02010600030101010101" pitchFamily="2" charset="-122"/>
                <a:ea typeface="宋体" panose="02010600030101010101" pitchFamily="2" charset="-122"/>
              </a:rPr>
              <a:t>Drag and Drop</a:t>
            </a:r>
            <a:r>
              <a:rPr lang="zh-CN" altLang="en-US" sz="2200" dirty="0" smtClean="0">
                <a:latin typeface="宋体" panose="02010600030101010101" pitchFamily="2" charset="-122"/>
                <a:ea typeface="宋体" panose="02010600030101010101" pitchFamily="2" charset="-122"/>
              </a:rPr>
              <a:t>，就是拖放，这个</a:t>
            </a:r>
            <a:r>
              <a:rPr lang="en-US" altLang="zh-CN" sz="2200" dirty="0" smtClean="0">
                <a:latin typeface="宋体" panose="02010600030101010101" pitchFamily="2" charset="-122"/>
                <a:ea typeface="宋体" panose="02010600030101010101" pitchFamily="2" charset="-122"/>
              </a:rPr>
              <a:t>API</a:t>
            </a:r>
            <a:r>
              <a:rPr lang="zh-CN" altLang="en-US" sz="2200" dirty="0" smtClean="0">
                <a:latin typeface="宋体" panose="02010600030101010101" pitchFamily="2" charset="-122"/>
                <a:ea typeface="宋体" panose="02010600030101010101" pitchFamily="2" charset="-122"/>
              </a:rPr>
              <a:t>的引入，允许我们在页面中去进行元素的拖拽以及释放。</a:t>
            </a:r>
            <a:endParaRPr lang="en-US" altLang="zh-CN" sz="2200" dirty="0" smtClean="0">
              <a:latin typeface="宋体" panose="02010600030101010101" pitchFamily="2" charset="-122"/>
              <a:ea typeface="宋体" panose="02010600030101010101" pitchFamily="2" charset="-122"/>
            </a:endParaRPr>
          </a:p>
          <a:p>
            <a:pPr>
              <a:lnSpc>
                <a:spcPct val="110000"/>
              </a:lnSpc>
            </a:pPr>
            <a:r>
              <a:rPr lang="en-US" altLang="zh-CN" sz="2200" dirty="0" smtClean="0">
                <a:solidFill>
                  <a:srgbClr val="C00000"/>
                </a:solidFill>
                <a:latin typeface="宋体" panose="02010600030101010101" pitchFamily="2" charset="-122"/>
                <a:ea typeface="宋体" panose="02010600030101010101" pitchFamily="2" charset="-122"/>
              </a:rPr>
              <a:t>History API</a:t>
            </a:r>
            <a:r>
              <a:rPr lang="zh-CN" altLang="en-US" sz="2200" dirty="0" smtClean="0">
                <a:latin typeface="宋体" panose="02010600030101010101" pitchFamily="2" charset="-122"/>
                <a:ea typeface="宋体" panose="02010600030101010101" pitchFamily="2" charset="-122"/>
              </a:rPr>
              <a:t>，给予浏览器</a:t>
            </a:r>
            <a:r>
              <a:rPr lang="en-US" altLang="zh-CN" sz="2200" dirty="0" smtClean="0">
                <a:latin typeface="宋体" panose="02010600030101010101" pitchFamily="2" charset="-122"/>
                <a:ea typeface="宋体" panose="02010600030101010101" pitchFamily="2" charset="-122"/>
              </a:rPr>
              <a:t>JS</a:t>
            </a:r>
            <a:r>
              <a:rPr lang="zh-CN" altLang="en-US" sz="2200" dirty="0" smtClean="0">
                <a:latin typeface="宋体" panose="02010600030101010101" pitchFamily="2" charset="-122"/>
                <a:ea typeface="宋体" panose="02010600030101010101" pitchFamily="2" charset="-122"/>
              </a:rPr>
              <a:t>脚本对于历史记录操作的一个能力，</a:t>
            </a:r>
            <a:r>
              <a:rPr lang="en-US" altLang="zh-CN" sz="2200" dirty="0" smtClean="0">
                <a:latin typeface="宋体" panose="02010600030101010101" pitchFamily="2" charset="-122"/>
                <a:ea typeface="宋体" panose="02010600030101010101" pitchFamily="2" charset="-122"/>
              </a:rPr>
              <a:t>VUE</a:t>
            </a:r>
            <a:r>
              <a:rPr lang="zh-CN" altLang="en-US" sz="2200" dirty="0" smtClean="0">
                <a:latin typeface="宋体" panose="02010600030101010101" pitchFamily="2" charset="-122"/>
                <a:ea typeface="宋体" panose="02010600030101010101" pitchFamily="2" charset="-122"/>
              </a:rPr>
              <a:t>和</a:t>
            </a:r>
            <a:r>
              <a:rPr lang="en-US" altLang="zh-CN" sz="2200" dirty="0" smtClean="0">
                <a:latin typeface="宋体" panose="02010600030101010101" pitchFamily="2" charset="-122"/>
                <a:ea typeface="宋体" panose="02010600030101010101" pitchFamily="2" charset="-122"/>
              </a:rPr>
              <a:t>React</a:t>
            </a:r>
            <a:r>
              <a:rPr lang="zh-CN" altLang="en-US" sz="2200" dirty="0">
                <a:latin typeface="宋体" panose="02010600030101010101" pitchFamily="2" charset="-122"/>
                <a:ea typeface="宋体" panose="02010600030101010101" pitchFamily="2" charset="-122"/>
              </a:rPr>
              <a:t>两个框架，</a:t>
            </a:r>
            <a:r>
              <a:rPr lang="zh-CN" altLang="en-US" sz="2200" dirty="0" smtClean="0">
                <a:latin typeface="宋体" panose="02010600030101010101" pitchFamily="2" charset="-122"/>
                <a:ea typeface="宋体" panose="02010600030101010101" pitchFamily="2" charset="-122"/>
              </a:rPr>
              <a:t>他们中的路由的</a:t>
            </a:r>
            <a:r>
              <a:rPr lang="en-US" altLang="zh-CN" sz="2200" dirty="0" smtClean="0">
                <a:latin typeface="宋体" panose="02010600030101010101" pitchFamily="2" charset="-122"/>
                <a:ea typeface="宋体" panose="02010600030101010101" pitchFamily="2" charset="-122"/>
              </a:rPr>
              <a:t>history</a:t>
            </a:r>
            <a:r>
              <a:rPr lang="zh-CN" altLang="en-US" sz="2200" dirty="0" smtClean="0">
                <a:latin typeface="宋体" panose="02010600030101010101" pitchFamily="2" charset="-122"/>
                <a:ea typeface="宋体" panose="02010600030101010101" pitchFamily="2" charset="-122"/>
              </a:rPr>
              <a:t>模式就是基于这个</a:t>
            </a:r>
            <a:r>
              <a:rPr lang="en-US" altLang="zh-CN" sz="2200" dirty="0" smtClean="0">
                <a:latin typeface="宋体" panose="02010600030101010101" pitchFamily="2" charset="-122"/>
                <a:ea typeface="宋体" panose="02010600030101010101" pitchFamily="2" charset="-122"/>
              </a:rPr>
              <a:t>API</a:t>
            </a:r>
            <a:r>
              <a:rPr lang="zh-CN" altLang="en-US" sz="2200" dirty="0" smtClean="0">
                <a:latin typeface="宋体" panose="02010600030101010101" pitchFamily="2" charset="-122"/>
                <a:ea typeface="宋体" panose="02010600030101010101" pitchFamily="2" charset="-122"/>
              </a:rPr>
              <a:t>来实现的。</a:t>
            </a:r>
            <a:endParaRPr lang="en-US" altLang="zh-CN" sz="2200" dirty="0" smtClean="0">
              <a:latin typeface="宋体" panose="02010600030101010101" pitchFamily="2" charset="-122"/>
              <a:ea typeface="宋体" panose="02010600030101010101" pitchFamily="2" charset="-122"/>
            </a:endParaRPr>
          </a:p>
          <a:p>
            <a:pPr>
              <a:lnSpc>
                <a:spcPct val="110000"/>
              </a:lnSpc>
            </a:pPr>
            <a:r>
              <a:rPr lang="en-US" altLang="zh-CN" sz="2200" dirty="0" err="1" smtClean="0">
                <a:solidFill>
                  <a:srgbClr val="C00000"/>
                </a:solidFill>
                <a:latin typeface="宋体" panose="02010600030101010101" pitchFamily="2" charset="-122"/>
                <a:ea typeface="宋体" panose="02010600030101010101" pitchFamily="2" charset="-122"/>
              </a:rPr>
              <a:t>XMLHTTPRequest</a:t>
            </a:r>
            <a:r>
              <a:rPr lang="en-US" altLang="zh-CN" sz="2200" dirty="0" smtClean="0">
                <a:solidFill>
                  <a:srgbClr val="C00000"/>
                </a:solidFill>
                <a:latin typeface="宋体" panose="02010600030101010101" pitchFamily="2" charset="-122"/>
                <a:ea typeface="宋体" panose="02010600030101010101" pitchFamily="2" charset="-122"/>
              </a:rPr>
              <a:t> Level 2</a:t>
            </a:r>
            <a:r>
              <a:rPr lang="zh-CN" altLang="en-US" sz="2200" dirty="0" smtClean="0">
                <a:latin typeface="宋体" panose="02010600030101010101" pitchFamily="2" charset="-122"/>
                <a:ea typeface="宋体" panose="02010600030101010101" pitchFamily="2" charset="-122"/>
              </a:rPr>
              <a:t>，相较于</a:t>
            </a:r>
            <a:r>
              <a:rPr lang="en-US" altLang="zh-CN" sz="2200" dirty="0" smtClean="0">
                <a:latin typeface="宋体" panose="02010600030101010101" pitchFamily="2" charset="-122"/>
                <a:ea typeface="宋体" panose="02010600030101010101" pitchFamily="2" charset="-122"/>
              </a:rPr>
              <a:t>level 1</a:t>
            </a:r>
            <a:r>
              <a:rPr lang="zh-CN" altLang="en-US" sz="2200" dirty="0" smtClean="0">
                <a:latin typeface="宋体" panose="02010600030101010101" pitchFamily="2" charset="-122"/>
                <a:ea typeface="宋体" panose="02010600030101010101" pitchFamily="2" charset="-122"/>
              </a:rPr>
              <a:t>，做了以下</a:t>
            </a:r>
            <a:r>
              <a:rPr lang="en-US" altLang="zh-CN" sz="2200" dirty="0" smtClean="0">
                <a:latin typeface="宋体" panose="02010600030101010101" pitchFamily="2" charset="-122"/>
                <a:ea typeface="宋体" panose="02010600030101010101" pitchFamily="2" charset="-122"/>
              </a:rPr>
              <a:t>3</a:t>
            </a:r>
            <a:r>
              <a:rPr lang="zh-CN" altLang="en-US" sz="2200" dirty="0" smtClean="0">
                <a:latin typeface="宋体" panose="02010600030101010101" pitchFamily="2" charset="-122"/>
                <a:ea typeface="宋体" panose="02010600030101010101" pitchFamily="2" charset="-122"/>
              </a:rPr>
              <a:t>种更新，比如说以前只支持文本格式的传送，无法读取和上传二进制文件，在</a:t>
            </a:r>
            <a:r>
              <a:rPr lang="en-US" altLang="zh-CN" sz="2200" dirty="0" smtClean="0">
                <a:latin typeface="宋体" panose="02010600030101010101" pitchFamily="2" charset="-122"/>
                <a:ea typeface="宋体" panose="02010600030101010101" pitchFamily="2" charset="-122"/>
              </a:rPr>
              <a:t>level2</a:t>
            </a:r>
            <a:r>
              <a:rPr lang="zh-CN" altLang="en-US" sz="2200" dirty="0" smtClean="0">
                <a:latin typeface="宋体" panose="02010600030101010101" pitchFamily="2" charset="-122"/>
                <a:ea typeface="宋体" panose="02010600030101010101" pitchFamily="2" charset="-122"/>
              </a:rPr>
              <a:t>版本中得到了支持。</a:t>
            </a:r>
            <a:r>
              <a:rPr lang="en-US" altLang="zh-CN" sz="2200" dirty="0" smtClean="0">
                <a:latin typeface="宋体" panose="02010600030101010101" pitchFamily="2" charset="-122"/>
                <a:ea typeface="宋体" panose="02010600030101010101" pitchFamily="2" charset="-122"/>
              </a:rPr>
              <a:t>Level1</a:t>
            </a:r>
            <a:r>
              <a:rPr lang="zh-CN" altLang="en-US" sz="2200" dirty="0" smtClean="0">
                <a:latin typeface="宋体" panose="02010600030101010101" pitchFamily="2" charset="-122"/>
                <a:ea typeface="宋体" panose="02010600030101010101" pitchFamily="2" charset="-122"/>
              </a:rPr>
              <a:t>中传送和接收数据中无法知道进度，只能知晓完成或失败，在</a:t>
            </a:r>
            <a:r>
              <a:rPr lang="en-US" altLang="zh-CN" sz="2200" dirty="0" smtClean="0">
                <a:latin typeface="宋体" panose="02010600030101010101" pitchFamily="2" charset="-122"/>
                <a:ea typeface="宋体" panose="02010600030101010101" pitchFamily="2" charset="-122"/>
              </a:rPr>
              <a:t>2</a:t>
            </a:r>
            <a:r>
              <a:rPr lang="zh-CN" altLang="en-US" sz="2200" dirty="0" smtClean="0">
                <a:latin typeface="宋体" panose="02010600030101010101" pitchFamily="2" charset="-122"/>
                <a:ea typeface="宋体" panose="02010600030101010101" pitchFamily="2" charset="-122"/>
              </a:rPr>
              <a:t>中能够通过事件获取到传送进度；</a:t>
            </a:r>
            <a:r>
              <a:rPr lang="en-US" altLang="zh-CN" sz="2200" dirty="0" smtClean="0">
                <a:latin typeface="宋体" panose="02010600030101010101" pitchFamily="2" charset="-122"/>
                <a:ea typeface="宋体" panose="02010600030101010101" pitchFamily="2" charset="-122"/>
              </a:rPr>
              <a:t>1</a:t>
            </a:r>
            <a:r>
              <a:rPr lang="zh-CN" altLang="en-US" sz="2200" dirty="0" smtClean="0">
                <a:latin typeface="宋体" panose="02010600030101010101" pitchFamily="2" charset="-122"/>
                <a:ea typeface="宋体" panose="02010600030101010101" pitchFamily="2" charset="-122"/>
              </a:rPr>
              <a:t>中不能跨域去请求数据，</a:t>
            </a:r>
            <a:r>
              <a:rPr lang="en-US" altLang="zh-CN" sz="2200" dirty="0" smtClean="0">
                <a:latin typeface="宋体" panose="02010600030101010101" pitchFamily="2" charset="-122"/>
                <a:ea typeface="宋体" panose="02010600030101010101" pitchFamily="2" charset="-122"/>
              </a:rPr>
              <a:t>2</a:t>
            </a:r>
            <a:r>
              <a:rPr lang="zh-CN" altLang="en-US" sz="2200" dirty="0" smtClean="0">
                <a:latin typeface="宋体" panose="02010600030101010101" pitchFamily="2" charset="-122"/>
                <a:ea typeface="宋体" panose="02010600030101010101" pitchFamily="2" charset="-122"/>
              </a:rPr>
              <a:t>中可以通过一定手段进行跨域资源的请求。</a:t>
            </a:r>
            <a:endParaRPr lang="en-US" altLang="zh-CN" sz="2200" dirty="0" smtClean="0">
              <a:latin typeface="宋体" panose="02010600030101010101" pitchFamily="2" charset="-122"/>
              <a:ea typeface="宋体" panose="02010600030101010101" pitchFamily="2" charset="-122"/>
            </a:endParaRPr>
          </a:p>
          <a:p>
            <a:pPr>
              <a:lnSpc>
                <a:spcPct val="110000"/>
              </a:lnSpc>
            </a:pPr>
            <a:r>
              <a:rPr lang="en-US" altLang="zh-CN" sz="2200" dirty="0" smtClean="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26</a:t>
            </a:fld>
            <a:endParaRPr lang="zh-CN" altLang="en-US"/>
          </a:p>
        </p:txBody>
      </p:sp>
    </p:spTree>
    <p:extLst>
      <p:ext uri="{BB962C8B-B14F-4D97-AF65-F5344CB8AC3E}">
        <p14:creationId xmlns:p14="http://schemas.microsoft.com/office/powerpoint/2010/main" val="37241143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2710806" y="2678090"/>
            <a:ext cx="6016937"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pPr algn="ctr"/>
            <a:r>
              <a:rPr lang="en-US" altLang="zh-CN" sz="4400" spc="270" dirty="0" smtClean="0">
                <a:solidFill>
                  <a:srgbClr val="252525"/>
                </a:solidFill>
                <a:latin typeface="宋体" panose="02010600030101010101" pitchFamily="2" charset="-122"/>
                <a:ea typeface="宋体" panose="02010600030101010101" pitchFamily="2" charset="-122"/>
              </a:rPr>
              <a:t>CSS3</a:t>
            </a:r>
            <a:r>
              <a:rPr lang="zh-CN" altLang="en-US" sz="4400" spc="270" dirty="0" smtClean="0">
                <a:solidFill>
                  <a:srgbClr val="252525"/>
                </a:solidFill>
                <a:latin typeface="宋体" panose="02010600030101010101" pitchFamily="2" charset="-122"/>
                <a:ea typeface="宋体" panose="02010600030101010101" pitchFamily="2" charset="-122"/>
              </a:rPr>
              <a:t>特性</a:t>
            </a:r>
            <a:endParaRPr lang="zh-CN" altLang="en-US" sz="4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258421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宋体" panose="02010600030101010101" pitchFamily="2" charset="-122"/>
                <a:ea typeface="宋体" panose="02010600030101010101" pitchFamily="2" charset="-122"/>
              </a:rPr>
              <a:t>概述</a:t>
            </a:r>
            <a:endParaRPr lang="zh-CN" altLang="en-US" dirty="0">
              <a:solidFill>
                <a:schemeClr val="tx1"/>
              </a:solidFill>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3"/>
          <a:stretch>
            <a:fillRect/>
          </a:stretch>
        </p:blipFill>
        <p:spPr>
          <a:xfrm>
            <a:off x="9402460" y="3322314"/>
            <a:ext cx="2710149" cy="2054646"/>
          </a:xfrm>
          <a:prstGeom prst="rect">
            <a:avLst/>
          </a:prstGeom>
        </p:spPr>
      </p:pic>
      <p:sp>
        <p:nvSpPr>
          <p:cNvPr id="14" name="矩形 13"/>
          <p:cNvSpPr/>
          <p:nvPr/>
        </p:nvSpPr>
        <p:spPr>
          <a:xfrm>
            <a:off x="795867" y="1535248"/>
            <a:ext cx="10466493" cy="3000821"/>
          </a:xfrm>
          <a:prstGeom prst="rect">
            <a:avLst/>
          </a:prstGeom>
        </p:spPr>
        <p:txBody>
          <a:bodyPr wrap="square">
            <a:spAutoFit/>
          </a:bodyPr>
          <a:lstStyle/>
          <a:p>
            <a:pPr>
              <a:lnSpc>
                <a:spcPct val="150000"/>
              </a:lnSpc>
            </a:pPr>
            <a:r>
              <a:rPr lang="zh-CN" altLang="en-US" dirty="0" smtClean="0">
                <a:latin typeface="+mn-ea"/>
              </a:rPr>
              <a:t>前面课程讲解的</a:t>
            </a:r>
            <a:r>
              <a:rPr lang="en-US" altLang="zh-CN" dirty="0" smtClean="0">
                <a:latin typeface="+mn-ea"/>
              </a:rPr>
              <a:t>CSS</a:t>
            </a:r>
            <a:r>
              <a:rPr lang="zh-CN" altLang="en-US" dirty="0" smtClean="0">
                <a:latin typeface="+mn-ea"/>
              </a:rPr>
              <a:t>属性大部分是</a:t>
            </a:r>
            <a:r>
              <a:rPr lang="en-US" altLang="zh-CN" dirty="0" smtClean="0">
                <a:latin typeface="+mn-ea"/>
              </a:rPr>
              <a:t>CSS2</a:t>
            </a:r>
            <a:r>
              <a:rPr lang="zh-CN" altLang="en-US" dirty="0" smtClean="0">
                <a:latin typeface="+mn-ea"/>
              </a:rPr>
              <a:t>标准，本章将介绍</a:t>
            </a:r>
            <a:r>
              <a:rPr lang="en-US" altLang="zh-CN" dirty="0" smtClean="0">
                <a:latin typeface="+mn-ea"/>
              </a:rPr>
              <a:t>CSS3</a:t>
            </a:r>
            <a:r>
              <a:rPr lang="zh-CN" altLang="en-US" dirty="0" smtClean="0">
                <a:latin typeface="+mn-ea"/>
              </a:rPr>
              <a:t>新增加的属性和规则。</a:t>
            </a:r>
            <a:r>
              <a:rPr lang="en-US" altLang="zh-CN" dirty="0" smtClean="0">
                <a:latin typeface="+mn-ea"/>
              </a:rPr>
              <a:t>CSS3</a:t>
            </a:r>
            <a:r>
              <a:rPr lang="zh-CN" altLang="en-US" dirty="0" smtClean="0">
                <a:latin typeface="+mn-ea"/>
              </a:rPr>
              <a:t>会让网页更美观，例如对元素设置圆角边框和阴影，可以取得原来图片处理软件才可以达到的效果；利用</a:t>
            </a:r>
            <a:r>
              <a:rPr lang="zh-CN" altLang="en-US" dirty="0">
                <a:latin typeface="+mn-ea"/>
              </a:rPr>
              <a:t>过渡</a:t>
            </a:r>
            <a:r>
              <a:rPr lang="zh-CN" altLang="en-US" dirty="0" smtClean="0">
                <a:latin typeface="+mn-ea"/>
              </a:rPr>
              <a:t>、</a:t>
            </a:r>
            <a:r>
              <a:rPr lang="en-US" altLang="zh-CN" dirty="0" smtClean="0">
                <a:latin typeface="+mn-ea"/>
              </a:rPr>
              <a:t>2D</a:t>
            </a:r>
            <a:r>
              <a:rPr lang="zh-CN" altLang="en-US" dirty="0" smtClean="0">
                <a:latin typeface="+mn-ea"/>
              </a:rPr>
              <a:t>变换、</a:t>
            </a:r>
            <a:r>
              <a:rPr lang="en-US" altLang="zh-CN" dirty="0" smtClean="0">
                <a:latin typeface="+mn-ea"/>
              </a:rPr>
              <a:t>3D</a:t>
            </a:r>
            <a:r>
              <a:rPr lang="zh-CN" altLang="en-US" dirty="0" smtClean="0">
                <a:latin typeface="+mn-ea"/>
              </a:rPr>
              <a:t>变换、动画等功能，可以取得</a:t>
            </a:r>
            <a:r>
              <a:rPr lang="en-US" altLang="zh-CN" dirty="0" smtClean="0">
                <a:latin typeface="+mn-ea"/>
              </a:rPr>
              <a:t>JavaScript</a:t>
            </a:r>
            <a:r>
              <a:rPr lang="zh-CN" altLang="en-US" dirty="0" smtClean="0">
                <a:latin typeface="+mn-ea"/>
              </a:rPr>
              <a:t>才能实现的动态效果。</a:t>
            </a:r>
            <a:endParaRPr lang="en-US" altLang="zh-CN" dirty="0" smtClean="0">
              <a:latin typeface="+mn-ea"/>
            </a:endParaRPr>
          </a:p>
          <a:p>
            <a:pPr>
              <a:lnSpc>
                <a:spcPct val="150000"/>
              </a:lnSpc>
            </a:pPr>
            <a:endParaRPr lang="en-US" altLang="zh-CN" dirty="0">
              <a:latin typeface="+mn-ea"/>
            </a:endParaRPr>
          </a:p>
          <a:p>
            <a:pPr>
              <a:lnSpc>
                <a:spcPct val="150000"/>
              </a:lnSpc>
            </a:pPr>
            <a:r>
              <a:rPr lang="zh-CN" altLang="en-US" dirty="0" smtClean="0">
                <a:latin typeface="+mn-ea"/>
              </a:rPr>
              <a:t>由于这些特性是逐渐获得浏览器支持的，所以不同浏览器或浏览器的不同版本</a:t>
            </a:r>
            <a:endParaRPr lang="en-US" altLang="zh-CN" dirty="0" smtClean="0">
              <a:latin typeface="+mn-ea"/>
            </a:endParaRPr>
          </a:p>
          <a:p>
            <a:pPr>
              <a:lnSpc>
                <a:spcPct val="150000"/>
              </a:lnSpc>
            </a:pPr>
            <a:r>
              <a:rPr lang="zh-CN" altLang="en-US" dirty="0" smtClean="0">
                <a:latin typeface="+mn-ea"/>
              </a:rPr>
              <a:t>对新特性的支持度各不相同，有时需要在属性名前面添加浏览器前缀，以便得</a:t>
            </a:r>
            <a:endParaRPr lang="en-US" altLang="zh-CN" dirty="0" smtClean="0">
              <a:latin typeface="+mn-ea"/>
            </a:endParaRPr>
          </a:p>
          <a:p>
            <a:pPr>
              <a:lnSpc>
                <a:spcPct val="150000"/>
              </a:lnSpc>
            </a:pPr>
            <a:r>
              <a:rPr lang="zh-CN" altLang="en-US" dirty="0" smtClean="0">
                <a:latin typeface="+mn-ea"/>
              </a:rPr>
              <a:t>到正确解析。</a:t>
            </a:r>
            <a:endParaRPr lang="zh-CN" altLang="en-US" dirty="0">
              <a:latin typeface="+mn-ea"/>
            </a:endParaRPr>
          </a:p>
        </p:txBody>
      </p:sp>
      <p:graphicFrame>
        <p:nvGraphicFramePr>
          <p:cNvPr id="2" name="表格 1"/>
          <p:cNvGraphicFramePr>
            <a:graphicFrameLocks noGrp="1"/>
          </p:cNvGraphicFramePr>
          <p:nvPr>
            <p:extLst>
              <p:ext uri="{D42A27DB-BD31-4B8C-83A1-F6EECF244321}">
                <p14:modId xmlns:p14="http://schemas.microsoft.com/office/powerpoint/2010/main" val="3951628415"/>
              </p:ext>
            </p:extLst>
          </p:nvPr>
        </p:nvGraphicFramePr>
        <p:xfrm>
          <a:off x="845697" y="4630395"/>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72894963"/>
                    </a:ext>
                  </a:extLst>
                </a:gridCol>
                <a:gridCol w="2032000">
                  <a:extLst>
                    <a:ext uri="{9D8B030D-6E8A-4147-A177-3AD203B41FA5}">
                      <a16:colId xmlns:a16="http://schemas.microsoft.com/office/drawing/2014/main" val="2058229324"/>
                    </a:ext>
                  </a:extLst>
                </a:gridCol>
                <a:gridCol w="2032000">
                  <a:extLst>
                    <a:ext uri="{9D8B030D-6E8A-4147-A177-3AD203B41FA5}">
                      <a16:colId xmlns:a16="http://schemas.microsoft.com/office/drawing/2014/main" val="2395701936"/>
                    </a:ext>
                  </a:extLst>
                </a:gridCol>
                <a:gridCol w="2032000">
                  <a:extLst>
                    <a:ext uri="{9D8B030D-6E8A-4147-A177-3AD203B41FA5}">
                      <a16:colId xmlns:a16="http://schemas.microsoft.com/office/drawing/2014/main" val="2780363114"/>
                    </a:ext>
                  </a:extLst>
                </a:gridCol>
              </a:tblGrid>
              <a:tr h="370840">
                <a:tc>
                  <a:txBody>
                    <a:bodyPr/>
                    <a:lstStyle/>
                    <a:p>
                      <a:r>
                        <a:rPr lang="zh-CN" altLang="en-US" dirty="0" smtClean="0"/>
                        <a:t>浏览器</a:t>
                      </a:r>
                      <a:endParaRPr lang="zh-CN" altLang="en-US" dirty="0"/>
                    </a:p>
                  </a:txBody>
                  <a:tcPr/>
                </a:tc>
                <a:tc>
                  <a:txBody>
                    <a:bodyPr/>
                    <a:lstStyle/>
                    <a:p>
                      <a:r>
                        <a:rPr lang="en-US" altLang="zh-CN" dirty="0" smtClean="0"/>
                        <a:t>CSS3</a:t>
                      </a:r>
                      <a:r>
                        <a:rPr lang="zh-CN" altLang="en-US" dirty="0" smtClean="0"/>
                        <a:t>前缀</a:t>
                      </a:r>
                      <a:endParaRPr lang="zh-CN" altLang="en-US" dirty="0"/>
                    </a:p>
                  </a:txBody>
                  <a:tcPr/>
                </a:tc>
                <a:tc>
                  <a:txBody>
                    <a:bodyPr/>
                    <a:lstStyle/>
                    <a:p>
                      <a:r>
                        <a:rPr lang="zh-CN" altLang="en-US" dirty="0" smtClean="0"/>
                        <a:t>浏览器</a:t>
                      </a:r>
                      <a:endParaRPr lang="zh-CN" altLang="en-US" dirty="0"/>
                    </a:p>
                  </a:txBody>
                  <a:tcPr/>
                </a:tc>
                <a:tc>
                  <a:txBody>
                    <a:bodyPr/>
                    <a:lstStyle/>
                    <a:p>
                      <a:r>
                        <a:rPr lang="en-US" altLang="zh-CN" dirty="0" smtClean="0"/>
                        <a:t>CSS3</a:t>
                      </a:r>
                      <a:r>
                        <a:rPr lang="zh-CN" altLang="en-US" dirty="0" smtClean="0"/>
                        <a:t>前缀</a:t>
                      </a:r>
                      <a:endParaRPr lang="zh-CN" altLang="en-US" dirty="0"/>
                    </a:p>
                  </a:txBody>
                  <a:tcPr/>
                </a:tc>
                <a:extLst>
                  <a:ext uri="{0D108BD9-81ED-4DB2-BD59-A6C34878D82A}">
                    <a16:rowId xmlns:a16="http://schemas.microsoft.com/office/drawing/2014/main" val="1442569514"/>
                  </a:ext>
                </a:extLst>
              </a:tr>
              <a:tr h="370840">
                <a:tc>
                  <a:txBody>
                    <a:bodyPr/>
                    <a:lstStyle/>
                    <a:p>
                      <a:r>
                        <a:rPr lang="en-US" altLang="zh-CN" dirty="0" smtClean="0"/>
                        <a:t>Safari</a:t>
                      </a:r>
                      <a:r>
                        <a:rPr lang="zh-CN" altLang="en-US" dirty="0" smtClean="0"/>
                        <a:t>、</a:t>
                      </a:r>
                      <a:r>
                        <a:rPr lang="en-US" altLang="zh-CN" dirty="0" smtClean="0"/>
                        <a:t>Chrome</a:t>
                      </a:r>
                      <a:endParaRPr lang="zh-CN" altLang="en-US" dirty="0"/>
                    </a:p>
                  </a:txBody>
                  <a:tcPr/>
                </a:tc>
                <a:tc>
                  <a:txBody>
                    <a:bodyPr/>
                    <a:lstStyle/>
                    <a:p>
                      <a:r>
                        <a:rPr lang="en-US" altLang="zh-CN" dirty="0" smtClean="0"/>
                        <a:t>-</a:t>
                      </a:r>
                      <a:r>
                        <a:rPr lang="en-US" altLang="zh-CN" dirty="0" err="1" smtClean="0"/>
                        <a:t>webkit</a:t>
                      </a:r>
                      <a:r>
                        <a:rPr lang="en-US" altLang="zh-CN" dirty="0" smtClean="0"/>
                        <a:t>-</a:t>
                      </a:r>
                      <a:endParaRPr lang="zh-CN" altLang="en-US" dirty="0"/>
                    </a:p>
                  </a:txBody>
                  <a:tcPr/>
                </a:tc>
                <a:tc>
                  <a:txBody>
                    <a:bodyPr/>
                    <a:lstStyle/>
                    <a:p>
                      <a:r>
                        <a:rPr lang="en-US" altLang="zh-CN" dirty="0" smtClean="0"/>
                        <a:t>Opera</a:t>
                      </a:r>
                      <a:endParaRPr lang="zh-CN" altLang="en-US" dirty="0"/>
                    </a:p>
                  </a:txBody>
                  <a:tcPr/>
                </a:tc>
                <a:tc>
                  <a:txBody>
                    <a:bodyPr/>
                    <a:lstStyle/>
                    <a:p>
                      <a:r>
                        <a:rPr lang="en-US" altLang="zh-CN" dirty="0" smtClean="0"/>
                        <a:t>-o-</a:t>
                      </a:r>
                      <a:endParaRPr lang="zh-CN" altLang="en-US" dirty="0"/>
                    </a:p>
                  </a:txBody>
                  <a:tcPr/>
                </a:tc>
                <a:extLst>
                  <a:ext uri="{0D108BD9-81ED-4DB2-BD59-A6C34878D82A}">
                    <a16:rowId xmlns:a16="http://schemas.microsoft.com/office/drawing/2014/main" val="2574846111"/>
                  </a:ext>
                </a:extLst>
              </a:tr>
              <a:tr h="370840">
                <a:tc>
                  <a:txBody>
                    <a:bodyPr/>
                    <a:lstStyle/>
                    <a:p>
                      <a:r>
                        <a:rPr lang="en-US" altLang="zh-CN" dirty="0" smtClean="0"/>
                        <a:t>Firefox</a:t>
                      </a:r>
                      <a:endParaRPr lang="zh-CN" altLang="en-US" dirty="0"/>
                    </a:p>
                  </a:txBody>
                  <a:tcPr/>
                </a:tc>
                <a:tc>
                  <a:txBody>
                    <a:bodyPr/>
                    <a:lstStyle/>
                    <a:p>
                      <a:r>
                        <a:rPr lang="en-US" altLang="zh-CN" dirty="0" smtClean="0"/>
                        <a:t>-</a:t>
                      </a:r>
                      <a:r>
                        <a:rPr lang="en-US" altLang="zh-CN" dirty="0" err="1" smtClean="0"/>
                        <a:t>moz</a:t>
                      </a:r>
                      <a:r>
                        <a:rPr lang="en-US" altLang="zh-CN" dirty="0" smtClean="0"/>
                        <a:t>-</a:t>
                      </a:r>
                      <a:endParaRPr lang="zh-CN" altLang="en-US" dirty="0"/>
                    </a:p>
                  </a:txBody>
                  <a:tcPr/>
                </a:tc>
                <a:tc>
                  <a:txBody>
                    <a:bodyPr/>
                    <a:lstStyle/>
                    <a:p>
                      <a:r>
                        <a:rPr lang="en-US" altLang="zh-CN" dirty="0" smtClean="0"/>
                        <a:t>IE</a:t>
                      </a:r>
                      <a:endParaRPr lang="zh-CN" altLang="en-US" dirty="0"/>
                    </a:p>
                  </a:txBody>
                  <a:tcPr/>
                </a:tc>
                <a:tc>
                  <a:txBody>
                    <a:bodyPr/>
                    <a:lstStyle/>
                    <a:p>
                      <a:r>
                        <a:rPr lang="en-US" altLang="zh-CN" dirty="0" smtClean="0"/>
                        <a:t>-</a:t>
                      </a:r>
                      <a:r>
                        <a:rPr lang="en-US" altLang="zh-CN" dirty="0" err="1" smtClean="0"/>
                        <a:t>ms</a:t>
                      </a:r>
                      <a:r>
                        <a:rPr lang="en-US" altLang="zh-CN" dirty="0" smtClean="0"/>
                        <a:t>-</a:t>
                      </a:r>
                      <a:endParaRPr lang="zh-CN" altLang="en-US" dirty="0"/>
                    </a:p>
                  </a:txBody>
                  <a:tcPr/>
                </a:tc>
                <a:extLst>
                  <a:ext uri="{0D108BD9-81ED-4DB2-BD59-A6C34878D82A}">
                    <a16:rowId xmlns:a16="http://schemas.microsoft.com/office/drawing/2014/main" val="385723261"/>
                  </a:ext>
                </a:extLst>
              </a:tr>
            </a:tbl>
          </a:graphicData>
        </a:graphic>
      </p:graphicFrame>
    </p:spTree>
    <p:extLst>
      <p:ext uri="{BB962C8B-B14F-4D97-AF65-F5344CB8AC3E}">
        <p14:creationId xmlns:p14="http://schemas.microsoft.com/office/powerpoint/2010/main" val="4171072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浏览器私有前缀</a:t>
            </a:r>
          </a:p>
        </p:txBody>
      </p:sp>
      <p:sp>
        <p:nvSpPr>
          <p:cNvPr id="6" name="矩形 5"/>
          <p:cNvSpPr/>
          <p:nvPr/>
        </p:nvSpPr>
        <p:spPr>
          <a:xfrm>
            <a:off x="795866" y="1537799"/>
            <a:ext cx="10005483" cy="2677656"/>
          </a:xfrm>
          <a:prstGeom prst="rect">
            <a:avLst/>
          </a:prstGeom>
        </p:spPr>
        <p:txBody>
          <a:bodyPr wrap="square">
            <a:spAutoFit/>
          </a:bodyPr>
          <a:lstStyle/>
          <a:p>
            <a:pPr>
              <a:lnSpc>
                <a:spcPct val="150000"/>
              </a:lnSpc>
            </a:pPr>
            <a:r>
              <a:rPr lang="zh-CN" altLang="en-US" sz="1600" dirty="0">
                <a:latin typeface="Monaco" panose="020B0509030404040204" pitchFamily="49" charset="0"/>
              </a:rPr>
              <a:t>浏览器私有前缀是为了兼容老版本的写法，比较新版本的浏览器无须添加。</a:t>
            </a:r>
          </a:p>
          <a:p>
            <a:pPr>
              <a:lnSpc>
                <a:spcPct val="150000"/>
              </a:lnSpc>
            </a:pPr>
            <a:r>
              <a:rPr lang="en-US" altLang="zh-CN" sz="1600" dirty="0">
                <a:latin typeface="Monaco" panose="020B0509030404040204" pitchFamily="49" charset="0"/>
              </a:rPr>
              <a:t>1. </a:t>
            </a:r>
            <a:r>
              <a:rPr lang="zh-CN" altLang="en-US" sz="1600" dirty="0">
                <a:latin typeface="Monaco" panose="020B0509030404040204" pitchFamily="49" charset="0"/>
              </a:rPr>
              <a:t>私有前缀</a:t>
            </a:r>
          </a:p>
          <a:p>
            <a:pPr marL="285750" indent="-285750">
              <a:lnSpc>
                <a:spcPct val="150000"/>
              </a:lnSpc>
              <a:buFont typeface="Arial" panose="020B0604020202020204" pitchFamily="34" charset="0"/>
              <a:buChar char="•"/>
            </a:pPr>
            <a:r>
              <a:rPr lang="zh-CN" altLang="en-US" sz="1600" dirty="0" smtClean="0">
                <a:latin typeface="Monaco" panose="020B0509030404040204" pitchFamily="49" charset="0"/>
              </a:rPr>
              <a:t> </a:t>
            </a:r>
            <a:r>
              <a:rPr lang="en-US" altLang="zh-CN" sz="1600" dirty="0">
                <a:latin typeface="Monaco" panose="020B0509030404040204" pitchFamily="49" charset="0"/>
              </a:rPr>
              <a:t>-</a:t>
            </a:r>
            <a:r>
              <a:rPr lang="en-US" altLang="zh-CN" sz="1600" dirty="0" err="1">
                <a:latin typeface="Monaco" panose="020B0509030404040204" pitchFamily="49" charset="0"/>
              </a:rPr>
              <a:t>moz</a:t>
            </a:r>
            <a:r>
              <a:rPr lang="en-US" altLang="zh-CN" sz="1600" dirty="0">
                <a:latin typeface="Monaco" panose="020B0509030404040204" pitchFamily="49" charset="0"/>
              </a:rPr>
              <a:t>-</a:t>
            </a:r>
            <a:r>
              <a:rPr lang="zh-CN" altLang="en-US" sz="1600" dirty="0">
                <a:latin typeface="Monaco" panose="020B0509030404040204" pitchFamily="49" charset="0"/>
              </a:rPr>
              <a:t>：代表 </a:t>
            </a:r>
            <a:r>
              <a:rPr lang="en-US" altLang="zh-CN" sz="1600" dirty="0" err="1">
                <a:latin typeface="Monaco" panose="020B0509030404040204" pitchFamily="49" charset="0"/>
              </a:rPr>
              <a:t>firefox</a:t>
            </a:r>
            <a:r>
              <a:rPr lang="en-US" altLang="zh-CN" sz="1600" dirty="0">
                <a:latin typeface="Monaco" panose="020B0509030404040204" pitchFamily="49" charset="0"/>
              </a:rPr>
              <a:t> </a:t>
            </a:r>
            <a:r>
              <a:rPr lang="zh-CN" altLang="en-US" sz="1600" dirty="0">
                <a:latin typeface="Monaco" panose="020B0509030404040204" pitchFamily="49" charset="0"/>
              </a:rPr>
              <a:t>浏览器私有属性</a:t>
            </a:r>
          </a:p>
          <a:p>
            <a:pPr marL="285750" indent="-285750">
              <a:lnSpc>
                <a:spcPct val="150000"/>
              </a:lnSpc>
              <a:buFont typeface="Arial" panose="020B0604020202020204" pitchFamily="34" charset="0"/>
              <a:buChar char="•"/>
            </a:pPr>
            <a:r>
              <a:rPr lang="en-US" altLang="zh-CN" sz="1600" dirty="0" smtClean="0">
                <a:latin typeface="Monaco" panose="020B0509030404040204" pitchFamily="49" charset="0"/>
              </a:rPr>
              <a:t> -</a:t>
            </a:r>
            <a:r>
              <a:rPr lang="en-US" altLang="zh-CN" sz="1600" dirty="0" err="1">
                <a:latin typeface="Monaco" panose="020B0509030404040204" pitchFamily="49" charset="0"/>
              </a:rPr>
              <a:t>ms</a:t>
            </a:r>
            <a:r>
              <a:rPr lang="en-US" altLang="zh-CN" sz="1600" dirty="0">
                <a:latin typeface="Monaco" panose="020B0509030404040204" pitchFamily="49" charset="0"/>
              </a:rPr>
              <a:t>-</a:t>
            </a:r>
            <a:r>
              <a:rPr lang="zh-CN" altLang="en-US" sz="1600" dirty="0">
                <a:latin typeface="Monaco" panose="020B0509030404040204" pitchFamily="49" charset="0"/>
              </a:rPr>
              <a:t>：代表 </a:t>
            </a:r>
            <a:r>
              <a:rPr lang="en-US" altLang="zh-CN" sz="1600" dirty="0" err="1">
                <a:latin typeface="Monaco" panose="020B0509030404040204" pitchFamily="49" charset="0"/>
              </a:rPr>
              <a:t>ie</a:t>
            </a:r>
            <a:r>
              <a:rPr lang="en-US" altLang="zh-CN" sz="1600" dirty="0">
                <a:latin typeface="Monaco" panose="020B0509030404040204" pitchFamily="49" charset="0"/>
              </a:rPr>
              <a:t> </a:t>
            </a:r>
            <a:r>
              <a:rPr lang="zh-CN" altLang="en-US" sz="1600" dirty="0">
                <a:latin typeface="Monaco" panose="020B0509030404040204" pitchFamily="49" charset="0"/>
              </a:rPr>
              <a:t>浏览器私有属性</a:t>
            </a:r>
          </a:p>
          <a:p>
            <a:pPr marL="285750" indent="-285750">
              <a:lnSpc>
                <a:spcPct val="150000"/>
              </a:lnSpc>
              <a:buFont typeface="Arial" panose="020B0604020202020204" pitchFamily="34" charset="0"/>
              <a:buChar char="•"/>
            </a:pPr>
            <a:r>
              <a:rPr lang="zh-CN" altLang="en-US" sz="1600" dirty="0" smtClean="0">
                <a:latin typeface="Monaco" panose="020B0509030404040204" pitchFamily="49" charset="0"/>
              </a:rPr>
              <a:t> </a:t>
            </a:r>
            <a:r>
              <a:rPr lang="en-US" altLang="zh-CN" sz="1600" dirty="0">
                <a:latin typeface="Monaco" panose="020B0509030404040204" pitchFamily="49" charset="0"/>
              </a:rPr>
              <a:t>-</a:t>
            </a:r>
            <a:r>
              <a:rPr lang="en-US" altLang="zh-CN" sz="1600" dirty="0" err="1">
                <a:latin typeface="Monaco" panose="020B0509030404040204" pitchFamily="49" charset="0"/>
              </a:rPr>
              <a:t>webkit</a:t>
            </a:r>
            <a:r>
              <a:rPr lang="en-US" altLang="zh-CN" sz="1600" dirty="0">
                <a:latin typeface="Monaco" panose="020B0509030404040204" pitchFamily="49" charset="0"/>
              </a:rPr>
              <a:t>-</a:t>
            </a:r>
            <a:r>
              <a:rPr lang="zh-CN" altLang="en-US" sz="1600" dirty="0">
                <a:latin typeface="Monaco" panose="020B0509030404040204" pitchFamily="49" charset="0"/>
              </a:rPr>
              <a:t>：代表 </a:t>
            </a:r>
            <a:r>
              <a:rPr lang="en-US" altLang="zh-CN" sz="1600" dirty="0">
                <a:latin typeface="Monaco" panose="020B0509030404040204" pitchFamily="49" charset="0"/>
              </a:rPr>
              <a:t>safari</a:t>
            </a:r>
            <a:r>
              <a:rPr lang="zh-CN" altLang="en-US" sz="1600" dirty="0">
                <a:latin typeface="Monaco" panose="020B0509030404040204" pitchFamily="49" charset="0"/>
              </a:rPr>
              <a:t>、</a:t>
            </a:r>
            <a:r>
              <a:rPr lang="en-US" altLang="zh-CN" sz="1600" dirty="0">
                <a:latin typeface="Monaco" panose="020B0509030404040204" pitchFamily="49" charset="0"/>
              </a:rPr>
              <a:t>chrome </a:t>
            </a:r>
            <a:r>
              <a:rPr lang="zh-CN" altLang="en-US" sz="1600" dirty="0">
                <a:latin typeface="Monaco" panose="020B0509030404040204" pitchFamily="49" charset="0"/>
              </a:rPr>
              <a:t>私有属性</a:t>
            </a:r>
          </a:p>
          <a:p>
            <a:pPr marL="285750" indent="-285750">
              <a:lnSpc>
                <a:spcPct val="150000"/>
              </a:lnSpc>
              <a:buFont typeface="Arial" panose="020B0604020202020204" pitchFamily="34" charset="0"/>
              <a:buChar char="•"/>
            </a:pPr>
            <a:r>
              <a:rPr lang="zh-CN" altLang="en-US" sz="1600" dirty="0" smtClean="0">
                <a:latin typeface="Monaco" panose="020B0509030404040204" pitchFamily="49" charset="0"/>
              </a:rPr>
              <a:t> </a:t>
            </a:r>
            <a:r>
              <a:rPr lang="en-US" altLang="zh-CN" sz="1600" dirty="0">
                <a:latin typeface="Monaco" panose="020B0509030404040204" pitchFamily="49" charset="0"/>
              </a:rPr>
              <a:t>-o-</a:t>
            </a:r>
            <a:r>
              <a:rPr lang="zh-CN" altLang="en-US" sz="1600" dirty="0">
                <a:latin typeface="Monaco" panose="020B0509030404040204" pitchFamily="49" charset="0"/>
              </a:rPr>
              <a:t>：代表 </a:t>
            </a:r>
            <a:r>
              <a:rPr lang="en-US" altLang="zh-CN" sz="1600" dirty="0">
                <a:latin typeface="Monaco" panose="020B0509030404040204" pitchFamily="49" charset="0"/>
              </a:rPr>
              <a:t>Opera </a:t>
            </a:r>
            <a:r>
              <a:rPr lang="zh-CN" altLang="en-US" sz="1600" dirty="0">
                <a:latin typeface="Monaco" panose="020B0509030404040204" pitchFamily="49" charset="0"/>
              </a:rPr>
              <a:t>私有属性</a:t>
            </a:r>
          </a:p>
          <a:p>
            <a:pPr>
              <a:lnSpc>
                <a:spcPct val="150000"/>
              </a:lnSpc>
            </a:pPr>
            <a:r>
              <a:rPr lang="en-US" altLang="zh-CN" sz="1600" dirty="0">
                <a:latin typeface="Monaco" panose="020B0509030404040204" pitchFamily="49" charset="0"/>
              </a:rPr>
              <a:t>2. </a:t>
            </a:r>
            <a:r>
              <a:rPr lang="zh-CN" altLang="en-US" sz="1600" dirty="0">
                <a:latin typeface="Monaco" panose="020B0509030404040204" pitchFamily="49" charset="0"/>
              </a:rPr>
              <a:t>提倡的</a:t>
            </a:r>
            <a:r>
              <a:rPr lang="zh-CN" altLang="en-US" sz="1600" dirty="0" smtClean="0">
                <a:latin typeface="Monaco" panose="020B0509030404040204" pitchFamily="49" charset="0"/>
              </a:rPr>
              <a:t>写法</a:t>
            </a:r>
            <a:endParaRPr lang="zh-CN" altLang="en-US" sz="1600" dirty="0">
              <a:latin typeface="Monaco" panose="020B0509030404040204" pitchFamily="49" charset="0"/>
            </a:endParaRPr>
          </a:p>
        </p:txBody>
      </p:sp>
      <p:sp>
        <p:nvSpPr>
          <p:cNvPr id="7" name="矩形 6"/>
          <p:cNvSpPr/>
          <p:nvPr/>
        </p:nvSpPr>
        <p:spPr>
          <a:xfrm>
            <a:off x="795865" y="4215455"/>
            <a:ext cx="6096000" cy="1384995"/>
          </a:xfrm>
          <a:prstGeom prst="rect">
            <a:avLst/>
          </a:prstGeom>
          <a:solidFill>
            <a:schemeClr val="accent5">
              <a:lumMod val="20000"/>
              <a:lumOff val="80000"/>
            </a:schemeClr>
          </a:solidFill>
        </p:spPr>
        <p:txBody>
          <a:bodyPr>
            <a:spAutoFit/>
          </a:bodyPr>
          <a:lstStyle/>
          <a:p>
            <a:pPr lvl="1">
              <a:lnSpc>
                <a:spcPct val="150000"/>
              </a:lnSpc>
            </a:pPr>
            <a:r>
              <a:rPr lang="en-US" altLang="zh-CN" sz="1400" dirty="0">
                <a:latin typeface="Monaco" panose="020B0509030404040204" pitchFamily="49" charset="0"/>
                <a:ea typeface="Fira Code" panose="020B0809050000020004" pitchFamily="49" charset="0"/>
              </a:rPr>
              <a:t>-</a:t>
            </a:r>
            <a:r>
              <a:rPr lang="en-US" altLang="zh-CN" sz="1400" dirty="0" err="1">
                <a:latin typeface="Monaco" panose="020B0509030404040204" pitchFamily="49" charset="0"/>
                <a:ea typeface="Fira Code" panose="020B0809050000020004" pitchFamily="49" charset="0"/>
              </a:rPr>
              <a:t>moz</a:t>
            </a:r>
            <a:r>
              <a:rPr lang="en-US" altLang="zh-CN" sz="1400" dirty="0">
                <a:latin typeface="Monaco" panose="020B0509030404040204" pitchFamily="49" charset="0"/>
                <a:ea typeface="Fira Code" panose="020B0809050000020004" pitchFamily="49" charset="0"/>
              </a:rPr>
              <a:t>-border-radius: 10px;</a:t>
            </a:r>
          </a:p>
          <a:p>
            <a:pPr lvl="1">
              <a:lnSpc>
                <a:spcPct val="150000"/>
              </a:lnSpc>
            </a:pPr>
            <a:r>
              <a:rPr lang="en-US" altLang="zh-CN" sz="1400" dirty="0">
                <a:latin typeface="Monaco" panose="020B0509030404040204" pitchFamily="49" charset="0"/>
                <a:ea typeface="Fira Code" panose="020B0809050000020004" pitchFamily="49" charset="0"/>
              </a:rPr>
              <a:t>-</a:t>
            </a:r>
            <a:r>
              <a:rPr lang="en-US" altLang="zh-CN" sz="1400" dirty="0" err="1">
                <a:latin typeface="Monaco" panose="020B0509030404040204" pitchFamily="49" charset="0"/>
                <a:ea typeface="Fira Code" panose="020B0809050000020004" pitchFamily="49" charset="0"/>
              </a:rPr>
              <a:t>webkit</a:t>
            </a:r>
            <a:r>
              <a:rPr lang="en-US" altLang="zh-CN" sz="1400" dirty="0">
                <a:latin typeface="Monaco" panose="020B0509030404040204" pitchFamily="49" charset="0"/>
                <a:ea typeface="Fira Code" panose="020B0809050000020004" pitchFamily="49" charset="0"/>
              </a:rPr>
              <a:t>-border-radius: 10px;</a:t>
            </a:r>
          </a:p>
          <a:p>
            <a:pPr lvl="1">
              <a:lnSpc>
                <a:spcPct val="150000"/>
              </a:lnSpc>
            </a:pPr>
            <a:r>
              <a:rPr lang="en-US" altLang="zh-CN" sz="1400" dirty="0">
                <a:latin typeface="Monaco" panose="020B0509030404040204" pitchFamily="49" charset="0"/>
                <a:ea typeface="Fira Code" panose="020B0809050000020004" pitchFamily="49" charset="0"/>
              </a:rPr>
              <a:t>-o-border-radius: 10px;</a:t>
            </a:r>
          </a:p>
          <a:p>
            <a:pPr lvl="1">
              <a:lnSpc>
                <a:spcPct val="150000"/>
              </a:lnSpc>
            </a:pPr>
            <a:r>
              <a:rPr lang="en-US" altLang="zh-CN" sz="1400" dirty="0">
                <a:latin typeface="Monaco" panose="020B0509030404040204" pitchFamily="49" charset="0"/>
                <a:ea typeface="Fira Code" panose="020B0809050000020004" pitchFamily="49" charset="0"/>
              </a:rPr>
              <a:t>border-radius: 10px;</a:t>
            </a:r>
            <a:endParaRPr lang="zh-CN" altLang="en-US" sz="1400" dirty="0">
              <a:latin typeface="Monaco" panose="020B0509030404040204" pitchFamily="49" charset="0"/>
            </a:endParaRPr>
          </a:p>
        </p:txBody>
      </p:sp>
    </p:spTree>
    <p:extLst>
      <p:ext uri="{BB962C8B-B14F-4D97-AF65-F5344CB8AC3E}">
        <p14:creationId xmlns:p14="http://schemas.microsoft.com/office/powerpoint/2010/main" val="26429740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圆角边框与阴影</a:t>
            </a:r>
          </a:p>
        </p:txBody>
      </p:sp>
      <p:sp>
        <p:nvSpPr>
          <p:cNvPr id="18" name="文本框 17"/>
          <p:cNvSpPr txBox="1"/>
          <p:nvPr/>
        </p:nvSpPr>
        <p:spPr>
          <a:xfrm>
            <a:off x="795866" y="1518868"/>
            <a:ext cx="8424333" cy="400110"/>
          </a:xfrm>
          <a:prstGeom prst="rect">
            <a:avLst/>
          </a:prstGeom>
          <a:noFill/>
        </p:spPr>
        <p:txBody>
          <a:bodyPr wrap="square" rtlCol="0">
            <a:spAutoFit/>
          </a:bodyPr>
          <a:lstStyle/>
          <a:p>
            <a:r>
              <a:rPr lang="zh-CN" altLang="en-US" sz="2000" b="1" dirty="0" smtClean="0">
                <a:solidFill>
                  <a:schemeClr val="accent2"/>
                </a:solidFill>
              </a:rPr>
              <a:t>圆角边框</a:t>
            </a:r>
            <a:r>
              <a:rPr lang="en-US" altLang="zh-CN" sz="2000" b="1" dirty="0" smtClean="0">
                <a:solidFill>
                  <a:schemeClr val="accent2"/>
                </a:solidFill>
              </a:rPr>
              <a:t>border-radius </a:t>
            </a:r>
            <a:r>
              <a:rPr lang="zh-CN" altLang="en-US" sz="1600" dirty="0" smtClean="0"/>
              <a:t>用于添加元素的圆角边框</a:t>
            </a:r>
            <a:endParaRPr lang="en-US" altLang="zh-CN" sz="1600" dirty="0"/>
          </a:p>
        </p:txBody>
      </p:sp>
      <p:sp>
        <p:nvSpPr>
          <p:cNvPr id="12" name="文本框 11"/>
          <p:cNvSpPr txBox="1"/>
          <p:nvPr/>
        </p:nvSpPr>
        <p:spPr>
          <a:xfrm>
            <a:off x="795867" y="2134857"/>
            <a:ext cx="5166783" cy="2031325"/>
          </a:xfrm>
          <a:prstGeom prst="rect">
            <a:avLst/>
          </a:prstGeom>
          <a:noFill/>
        </p:spPr>
        <p:txBody>
          <a:bodyPr wrap="square" rtlCol="0">
            <a:spAutoFit/>
          </a:bodyPr>
          <a:lstStyle/>
          <a:p>
            <a:r>
              <a:rPr lang="en-US" altLang="zh-CN" dirty="0" smtClean="0"/>
              <a:t>border-top-left-radius        </a:t>
            </a:r>
            <a:r>
              <a:rPr lang="zh-CN" altLang="en-US" dirty="0" smtClean="0"/>
              <a:t>左上角的形状</a:t>
            </a:r>
            <a:endParaRPr lang="en-US" altLang="zh-CN" dirty="0" smtClean="0"/>
          </a:p>
          <a:p>
            <a:endParaRPr lang="en-US" altLang="zh-CN" dirty="0"/>
          </a:p>
          <a:p>
            <a:r>
              <a:rPr lang="en-US" altLang="zh-CN" dirty="0" smtClean="0"/>
              <a:t>border-top-right-radius        </a:t>
            </a:r>
            <a:r>
              <a:rPr lang="zh-CN" altLang="en-US" dirty="0"/>
              <a:t>右</a:t>
            </a:r>
            <a:r>
              <a:rPr lang="zh-CN" altLang="en-US" dirty="0" smtClean="0"/>
              <a:t>上角</a:t>
            </a:r>
            <a:r>
              <a:rPr lang="zh-CN" altLang="en-US" dirty="0"/>
              <a:t>的形状</a:t>
            </a:r>
            <a:endParaRPr lang="en-US" altLang="zh-CN" dirty="0"/>
          </a:p>
          <a:p>
            <a:endParaRPr lang="en-US" altLang="zh-CN" dirty="0" smtClean="0"/>
          </a:p>
          <a:p>
            <a:r>
              <a:rPr lang="en-US" altLang="zh-CN" dirty="0" smtClean="0"/>
              <a:t>border-bottom-left-radius        </a:t>
            </a:r>
            <a:r>
              <a:rPr lang="zh-CN" altLang="en-US" dirty="0" smtClean="0"/>
              <a:t>左下角</a:t>
            </a:r>
            <a:r>
              <a:rPr lang="zh-CN" altLang="en-US" dirty="0"/>
              <a:t>的形状</a:t>
            </a:r>
            <a:endParaRPr lang="en-US" altLang="zh-CN" dirty="0"/>
          </a:p>
          <a:p>
            <a:endParaRPr lang="en-US" altLang="zh-CN" dirty="0" smtClean="0"/>
          </a:p>
          <a:p>
            <a:r>
              <a:rPr lang="en-US" altLang="zh-CN" dirty="0" smtClean="0"/>
              <a:t>border-bottom-right-radius        </a:t>
            </a:r>
            <a:r>
              <a:rPr lang="zh-CN" altLang="en-US" dirty="0" smtClean="0"/>
              <a:t>右下角</a:t>
            </a:r>
            <a:r>
              <a:rPr lang="zh-CN" altLang="en-US" dirty="0"/>
              <a:t>的</a:t>
            </a:r>
            <a:r>
              <a:rPr lang="zh-CN" altLang="en-US" dirty="0" smtClean="0"/>
              <a:t>形状</a:t>
            </a:r>
            <a:endParaRPr lang="en-US" altLang="zh-CN" dirty="0"/>
          </a:p>
        </p:txBody>
      </p:sp>
      <p:pic>
        <p:nvPicPr>
          <p:cNvPr id="2" name="图片 1"/>
          <p:cNvPicPr>
            <a:picLocks noChangeAspect="1"/>
          </p:cNvPicPr>
          <p:nvPr/>
        </p:nvPicPr>
        <p:blipFill>
          <a:blip r:embed="rId3"/>
          <a:stretch>
            <a:fillRect/>
          </a:stretch>
        </p:blipFill>
        <p:spPr>
          <a:xfrm>
            <a:off x="856104" y="4483213"/>
            <a:ext cx="2419350" cy="1419225"/>
          </a:xfrm>
          <a:prstGeom prst="rect">
            <a:avLst/>
          </a:prstGeom>
        </p:spPr>
      </p:pic>
      <p:sp>
        <p:nvSpPr>
          <p:cNvPr id="5" name="矩形 4"/>
          <p:cNvSpPr/>
          <p:nvPr/>
        </p:nvSpPr>
        <p:spPr>
          <a:xfrm>
            <a:off x="6178621" y="1975723"/>
            <a:ext cx="4524375" cy="1846659"/>
          </a:xfrm>
          <a:prstGeom prst="rect">
            <a:avLst/>
          </a:prstGeom>
        </p:spPr>
        <p:txBody>
          <a:bodyPr wrap="square">
            <a:spAutoFit/>
          </a:bodyPr>
          <a:lstStyle/>
          <a:p>
            <a:r>
              <a:rPr lang="en-US" altLang="zh-CN" sz="1600" dirty="0">
                <a:latin typeface="+mn-ea"/>
              </a:rPr>
              <a:t>div {</a:t>
            </a:r>
          </a:p>
          <a:p>
            <a:pPr lvl="1"/>
            <a:r>
              <a:rPr lang="en-US" altLang="zh-CN" sz="1600" dirty="0">
                <a:latin typeface="+mn-ea"/>
              </a:rPr>
              <a:t>height: 100px;</a:t>
            </a:r>
          </a:p>
          <a:p>
            <a:pPr lvl="1"/>
            <a:r>
              <a:rPr lang="en-US" altLang="zh-CN" sz="1600" dirty="0">
                <a:latin typeface="+mn-ea"/>
              </a:rPr>
              <a:t>width: 150px;</a:t>
            </a:r>
          </a:p>
          <a:p>
            <a:pPr lvl="1"/>
            <a:r>
              <a:rPr lang="en-US" altLang="zh-CN" sz="1600" dirty="0">
                <a:latin typeface="+mn-ea"/>
              </a:rPr>
              <a:t>border: 1px solid blue;</a:t>
            </a:r>
          </a:p>
          <a:p>
            <a:pPr lvl="1"/>
            <a:r>
              <a:rPr lang="en-US" altLang="zh-CN" sz="1600" dirty="0" smtClean="0">
                <a:latin typeface="+mn-ea"/>
              </a:rPr>
              <a:t>border-top-left-radius </a:t>
            </a:r>
            <a:r>
              <a:rPr lang="en-US" altLang="zh-CN" sz="1600" dirty="0">
                <a:latin typeface="+mn-ea"/>
              </a:rPr>
              <a:t>: </a:t>
            </a:r>
            <a:r>
              <a:rPr lang="en-US" altLang="zh-CN" sz="1600" dirty="0" smtClean="0">
                <a:latin typeface="+mn-ea"/>
              </a:rPr>
              <a:t>40px 20px</a:t>
            </a:r>
            <a:r>
              <a:rPr lang="zh-CN" altLang="en-US" sz="1600" dirty="0" smtClean="0">
                <a:latin typeface="+mn-ea"/>
              </a:rPr>
              <a:t>；</a:t>
            </a:r>
            <a:endParaRPr lang="en-US" altLang="zh-CN" sz="1600" dirty="0">
              <a:latin typeface="+mn-ea"/>
            </a:endParaRPr>
          </a:p>
          <a:p>
            <a:pPr lvl="1"/>
            <a:r>
              <a:rPr lang="en-US" altLang="zh-CN" sz="1600" dirty="0" smtClean="0">
                <a:latin typeface="+mn-ea"/>
              </a:rPr>
              <a:t>border-bottom-right-radius: 20px</a:t>
            </a:r>
            <a:r>
              <a:rPr lang="zh-CN" altLang="en-US" sz="1600" dirty="0" smtClean="0">
                <a:latin typeface="+mn-ea"/>
              </a:rPr>
              <a:t>；</a:t>
            </a:r>
            <a:endParaRPr lang="en-US" altLang="zh-CN" sz="1600" dirty="0">
              <a:latin typeface="+mn-ea"/>
            </a:endParaRPr>
          </a:p>
          <a:p>
            <a:r>
              <a:rPr lang="en-US" altLang="zh-CN" sz="1600" dirty="0">
                <a:latin typeface="+mn-ea"/>
              </a:rPr>
              <a:t>}</a:t>
            </a:r>
            <a:endParaRPr lang="zh-CN" altLang="en-US" sz="1600" dirty="0">
              <a:latin typeface="+mn-ea"/>
            </a:endParaRPr>
          </a:p>
        </p:txBody>
      </p:sp>
      <p:pic>
        <p:nvPicPr>
          <p:cNvPr id="7" name="图片 6"/>
          <p:cNvPicPr>
            <a:picLocks noChangeAspect="1"/>
          </p:cNvPicPr>
          <p:nvPr/>
        </p:nvPicPr>
        <p:blipFill>
          <a:blip r:embed="rId4"/>
          <a:stretch>
            <a:fillRect/>
          </a:stretch>
        </p:blipFill>
        <p:spPr>
          <a:xfrm>
            <a:off x="6948488" y="4213327"/>
            <a:ext cx="2459570" cy="1707681"/>
          </a:xfrm>
          <a:prstGeom prst="rect">
            <a:avLst/>
          </a:prstGeom>
        </p:spPr>
      </p:pic>
    </p:spTree>
    <p:extLst>
      <p:ext uri="{BB962C8B-B14F-4D97-AF65-F5344CB8AC3E}">
        <p14:creationId xmlns:p14="http://schemas.microsoft.com/office/powerpoint/2010/main" val="5348598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圆角边框与阴影</a:t>
            </a:r>
          </a:p>
        </p:txBody>
      </p:sp>
      <p:sp>
        <p:nvSpPr>
          <p:cNvPr id="18" name="文本框 17"/>
          <p:cNvSpPr txBox="1"/>
          <p:nvPr/>
        </p:nvSpPr>
        <p:spPr>
          <a:xfrm>
            <a:off x="795867" y="1518868"/>
            <a:ext cx="2872140" cy="400110"/>
          </a:xfrm>
          <a:prstGeom prst="rect">
            <a:avLst/>
          </a:prstGeom>
          <a:noFill/>
        </p:spPr>
        <p:txBody>
          <a:bodyPr wrap="square" rtlCol="0">
            <a:spAutoFit/>
          </a:bodyPr>
          <a:lstStyle/>
          <a:p>
            <a:r>
              <a:rPr lang="zh-CN" altLang="en-US" sz="2000" b="1" dirty="0" smtClean="0">
                <a:solidFill>
                  <a:schemeClr val="accent2"/>
                </a:solidFill>
              </a:rPr>
              <a:t>圆角边框</a:t>
            </a:r>
            <a:r>
              <a:rPr lang="en-US" altLang="zh-CN" sz="2000" b="1" dirty="0" smtClean="0">
                <a:solidFill>
                  <a:schemeClr val="accent2"/>
                </a:solidFill>
              </a:rPr>
              <a:t>border-radius</a:t>
            </a:r>
            <a:endParaRPr lang="en-US" altLang="zh-CN" sz="2000" b="1" dirty="0">
              <a:solidFill>
                <a:schemeClr val="accent2"/>
              </a:solidFill>
            </a:endParaRPr>
          </a:p>
        </p:txBody>
      </p:sp>
      <p:sp>
        <p:nvSpPr>
          <p:cNvPr id="5" name="矩形 4"/>
          <p:cNvSpPr/>
          <p:nvPr/>
        </p:nvSpPr>
        <p:spPr>
          <a:xfrm>
            <a:off x="826401" y="2088403"/>
            <a:ext cx="4524375" cy="2339102"/>
          </a:xfrm>
          <a:prstGeom prst="rect">
            <a:avLst/>
          </a:prstGeom>
        </p:spPr>
        <p:txBody>
          <a:bodyPr wrap="square">
            <a:spAutoFit/>
          </a:bodyPr>
          <a:lstStyle/>
          <a:p>
            <a:r>
              <a:rPr lang="en-US" altLang="zh-CN" sz="1600" dirty="0">
                <a:latin typeface="Monaco" panose="020B0509030404040204" pitchFamily="49" charset="0"/>
              </a:rPr>
              <a:t>&lt;div&gt; &lt;/div&gt;</a:t>
            </a:r>
          </a:p>
          <a:p>
            <a:r>
              <a:rPr lang="en-US" altLang="zh-CN" sz="1600" dirty="0">
                <a:latin typeface="Monaco" panose="020B0509030404040204" pitchFamily="49" charset="0"/>
              </a:rPr>
              <a:t>div</a:t>
            </a:r>
          </a:p>
          <a:p>
            <a:r>
              <a:rPr lang="en-US" altLang="zh-CN" sz="1600" dirty="0">
                <a:latin typeface="Monaco" panose="020B0509030404040204" pitchFamily="49" charset="0"/>
              </a:rPr>
              <a:t>{</a:t>
            </a:r>
          </a:p>
          <a:p>
            <a:pPr lvl="1"/>
            <a:r>
              <a:rPr lang="en-US" altLang="zh-CN" sz="1600" dirty="0">
                <a:latin typeface="Monaco" panose="020B0509030404040204" pitchFamily="49" charset="0"/>
              </a:rPr>
              <a:t>width:350px;</a:t>
            </a:r>
          </a:p>
          <a:p>
            <a:pPr lvl="1"/>
            <a:r>
              <a:rPr lang="en-US" altLang="zh-CN" sz="1600" dirty="0">
                <a:latin typeface="Monaco" panose="020B0509030404040204" pitchFamily="49" charset="0"/>
              </a:rPr>
              <a:t>height:50px;</a:t>
            </a:r>
          </a:p>
          <a:p>
            <a:pPr lvl="1"/>
            <a:r>
              <a:rPr lang="en-US" altLang="zh-CN" sz="1600" dirty="0">
                <a:latin typeface="Monaco" panose="020B0509030404040204" pitchFamily="49" charset="0"/>
              </a:rPr>
              <a:t>border:2px solid #a1a1a1;</a:t>
            </a:r>
          </a:p>
          <a:p>
            <a:pPr lvl="1"/>
            <a:r>
              <a:rPr lang="en-US" altLang="zh-CN" sz="1600" dirty="0">
                <a:latin typeface="Monaco" panose="020B0509030404040204" pitchFamily="49" charset="0"/>
              </a:rPr>
              <a:t>background</a:t>
            </a:r>
            <a:r>
              <a:rPr lang="en-US" altLang="zh-CN" sz="1600" dirty="0" smtClean="0">
                <a:latin typeface="Monaco" panose="020B0509030404040204" pitchFamily="49" charset="0"/>
              </a:rPr>
              <a:t>:#</a:t>
            </a:r>
            <a:r>
              <a:rPr lang="en-US" altLang="zh-CN" sz="1600" dirty="0" err="1" smtClean="0">
                <a:latin typeface="Monaco" panose="020B0509030404040204" pitchFamily="49" charset="0"/>
              </a:rPr>
              <a:t>ddd</a:t>
            </a:r>
            <a:r>
              <a:rPr lang="en-US" altLang="zh-CN" sz="1600" dirty="0" smtClean="0">
                <a:latin typeface="Monaco" panose="020B0509030404040204" pitchFamily="49" charset="0"/>
              </a:rPr>
              <a:t>;</a:t>
            </a:r>
          </a:p>
          <a:p>
            <a:pPr lvl="1"/>
            <a:r>
              <a:rPr lang="en-US" altLang="zh-CN" sz="1600" dirty="0" smtClean="0">
                <a:latin typeface="Monaco" panose="020B0509030404040204" pitchFamily="49" charset="0"/>
              </a:rPr>
              <a:t>border-radius:25px;</a:t>
            </a:r>
            <a:endParaRPr lang="en-US" altLang="zh-CN" sz="1600" dirty="0">
              <a:latin typeface="Monaco" panose="020B0509030404040204" pitchFamily="49" charset="0"/>
            </a:endParaRPr>
          </a:p>
          <a:p>
            <a:r>
              <a:rPr lang="en-US" altLang="zh-CN" sz="1600" dirty="0">
                <a:latin typeface="Monaco" panose="020B0509030404040204" pitchFamily="49" charset="0"/>
              </a:rPr>
              <a:t>}</a:t>
            </a:r>
            <a:endParaRPr lang="zh-CN" altLang="en-US" sz="1600" dirty="0">
              <a:latin typeface="Monaco" panose="020B0509030404040204" pitchFamily="49" charset="0"/>
            </a:endParaRPr>
          </a:p>
        </p:txBody>
      </p:sp>
      <p:sp>
        <p:nvSpPr>
          <p:cNvPr id="6" name="流程图: 终止 5"/>
          <p:cNvSpPr/>
          <p:nvPr/>
        </p:nvSpPr>
        <p:spPr>
          <a:xfrm>
            <a:off x="5350776" y="2133992"/>
            <a:ext cx="2650224" cy="765061"/>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流程图: 接点 7"/>
          <p:cNvSpPr/>
          <p:nvPr/>
        </p:nvSpPr>
        <p:spPr>
          <a:xfrm>
            <a:off x="9262533" y="2040272"/>
            <a:ext cx="962025" cy="9525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26401" y="4596930"/>
            <a:ext cx="5019675" cy="1569660"/>
          </a:xfrm>
          <a:prstGeom prst="rect">
            <a:avLst/>
          </a:prstGeom>
        </p:spPr>
        <p:txBody>
          <a:bodyPr wrap="square">
            <a:spAutoFit/>
          </a:bodyPr>
          <a:lstStyle/>
          <a:p>
            <a:pPr>
              <a:lnSpc>
                <a:spcPct val="150000"/>
              </a:lnSpc>
            </a:pPr>
            <a:r>
              <a:rPr lang="sv-SE" altLang="zh-CN" sz="1600" dirty="0">
                <a:latin typeface="Monaco" panose="020B0509030404040204" pitchFamily="49" charset="0"/>
              </a:rPr>
              <a:t>border-radius</a:t>
            </a:r>
            <a:r>
              <a:rPr lang="zh-CN" altLang="en-US" sz="1600" dirty="0" smtClean="0">
                <a:latin typeface="Monaco" panose="020B0509030404040204" pitchFamily="49" charset="0"/>
              </a:rPr>
              <a:t>扩展</a:t>
            </a:r>
            <a:endParaRPr lang="sv-SE" altLang="zh-CN" sz="1600" dirty="0" smtClean="0">
              <a:latin typeface="Monaco" panose="020B0509030404040204" pitchFamily="49" charset="0"/>
            </a:endParaRPr>
          </a:p>
          <a:p>
            <a:pPr>
              <a:lnSpc>
                <a:spcPct val="150000"/>
              </a:lnSpc>
            </a:pPr>
            <a:r>
              <a:rPr lang="sv-SE" altLang="zh-CN" sz="1600" dirty="0" smtClean="0">
                <a:latin typeface="Monaco" panose="020B0509030404040204" pitchFamily="49" charset="0"/>
              </a:rPr>
              <a:t>-webkit-border-radius:</a:t>
            </a:r>
            <a:endParaRPr lang="sv-SE" altLang="zh-CN" sz="1600" dirty="0">
              <a:latin typeface="Monaco" panose="020B0509030404040204" pitchFamily="49" charset="0"/>
            </a:endParaRPr>
          </a:p>
          <a:p>
            <a:pPr>
              <a:lnSpc>
                <a:spcPct val="150000"/>
              </a:lnSpc>
            </a:pPr>
            <a:r>
              <a:rPr lang="sv-SE" altLang="zh-CN" sz="1600" dirty="0" smtClean="0">
                <a:latin typeface="Monaco" panose="020B0509030404040204" pitchFamily="49" charset="0"/>
              </a:rPr>
              <a:t>-moz-border-radius:</a:t>
            </a:r>
          </a:p>
          <a:p>
            <a:pPr>
              <a:lnSpc>
                <a:spcPct val="150000"/>
              </a:lnSpc>
            </a:pPr>
            <a:r>
              <a:rPr lang="sv-SE" altLang="zh-CN" sz="1600" dirty="0" smtClean="0">
                <a:latin typeface="Monaco" panose="020B0509030404040204" pitchFamily="49" charset="0"/>
              </a:rPr>
              <a:t>border-radius</a:t>
            </a:r>
            <a:r>
              <a:rPr lang="sv-SE" altLang="zh-CN" sz="1600" dirty="0">
                <a:latin typeface="Monaco" panose="020B0509030404040204" pitchFamily="49" charset="0"/>
              </a:rPr>
              <a:t>:</a:t>
            </a:r>
            <a:endParaRPr lang="zh-CN" altLang="en-US" sz="1600" dirty="0">
              <a:latin typeface="Monaco" panose="020B0509030404040204" pitchFamily="49" charset="0"/>
            </a:endParaRPr>
          </a:p>
        </p:txBody>
      </p:sp>
    </p:spTree>
    <p:extLst>
      <p:ext uri="{BB962C8B-B14F-4D97-AF65-F5344CB8AC3E}">
        <p14:creationId xmlns:p14="http://schemas.microsoft.com/office/powerpoint/2010/main" val="27630606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圆角边框与阴影</a:t>
            </a:r>
          </a:p>
        </p:txBody>
      </p:sp>
      <p:sp>
        <p:nvSpPr>
          <p:cNvPr id="18" name="文本框 17"/>
          <p:cNvSpPr txBox="1"/>
          <p:nvPr/>
        </p:nvSpPr>
        <p:spPr>
          <a:xfrm>
            <a:off x="795867" y="1518868"/>
            <a:ext cx="2872140" cy="400110"/>
          </a:xfrm>
          <a:prstGeom prst="rect">
            <a:avLst/>
          </a:prstGeom>
          <a:noFill/>
        </p:spPr>
        <p:txBody>
          <a:bodyPr wrap="square" rtlCol="0">
            <a:spAutoFit/>
          </a:bodyPr>
          <a:lstStyle/>
          <a:p>
            <a:r>
              <a:rPr lang="zh-CN" altLang="en-US" sz="2000" b="1" dirty="0" smtClean="0">
                <a:solidFill>
                  <a:schemeClr val="accent2"/>
                </a:solidFill>
              </a:rPr>
              <a:t>阴影</a:t>
            </a:r>
            <a:r>
              <a:rPr lang="en-US" altLang="zh-CN" sz="2000" b="1" dirty="0" smtClean="0">
                <a:solidFill>
                  <a:schemeClr val="accent2"/>
                </a:solidFill>
              </a:rPr>
              <a:t>box-shadow</a:t>
            </a:r>
            <a:endParaRPr lang="en-US" altLang="zh-CN" sz="2000" b="1" dirty="0">
              <a:solidFill>
                <a:schemeClr val="accent2"/>
              </a:solidFill>
            </a:endParaRPr>
          </a:p>
        </p:txBody>
      </p:sp>
      <p:sp>
        <p:nvSpPr>
          <p:cNvPr id="5" name="矩形 4"/>
          <p:cNvSpPr/>
          <p:nvPr/>
        </p:nvSpPr>
        <p:spPr>
          <a:xfrm>
            <a:off x="826401" y="2088403"/>
            <a:ext cx="8561439" cy="1754326"/>
          </a:xfrm>
          <a:prstGeom prst="rect">
            <a:avLst/>
          </a:prstGeom>
        </p:spPr>
        <p:txBody>
          <a:bodyPr wrap="square">
            <a:spAutoFit/>
          </a:bodyPr>
          <a:lstStyle/>
          <a:p>
            <a:pPr>
              <a:lnSpc>
                <a:spcPct val="150000"/>
              </a:lnSpc>
            </a:pPr>
            <a:r>
              <a:rPr lang="zh-CN" altLang="en-US" b="1" dirty="0" smtClean="0">
                <a:latin typeface="+mn-ea"/>
              </a:rPr>
              <a:t>取值：</a:t>
            </a:r>
            <a:r>
              <a:rPr lang="en-US" altLang="zh-CN" b="1" dirty="0" err="1" smtClean="0">
                <a:latin typeface="+mn-ea"/>
              </a:rPr>
              <a:t>inset|outset</a:t>
            </a:r>
            <a:r>
              <a:rPr lang="en-US" altLang="zh-CN" b="1" dirty="0" smtClean="0">
                <a:latin typeface="+mn-ea"/>
              </a:rPr>
              <a:t>   </a:t>
            </a:r>
            <a:r>
              <a:rPr lang="zh-CN" altLang="en-US" b="1" dirty="0" smtClean="0">
                <a:latin typeface="+mn-ea"/>
              </a:rPr>
              <a:t>水平偏移   </a:t>
            </a:r>
            <a:r>
              <a:rPr lang="zh-CN" altLang="en-US" b="1" dirty="0">
                <a:latin typeface="+mn-ea"/>
              </a:rPr>
              <a:t>垂直偏移 </a:t>
            </a:r>
            <a:r>
              <a:rPr lang="zh-CN" altLang="en-US" b="1" dirty="0" smtClean="0">
                <a:latin typeface="+mn-ea"/>
              </a:rPr>
              <a:t>  模糊</a:t>
            </a:r>
            <a:r>
              <a:rPr lang="zh-CN" altLang="en-US" b="1" dirty="0">
                <a:latin typeface="+mn-ea"/>
              </a:rPr>
              <a:t>距离 </a:t>
            </a:r>
            <a:r>
              <a:rPr lang="zh-CN" altLang="en-US" b="1" dirty="0" smtClean="0">
                <a:latin typeface="+mn-ea"/>
              </a:rPr>
              <a:t>  颜色</a:t>
            </a:r>
            <a:endParaRPr lang="zh-CN" altLang="en-US" b="1" dirty="0">
              <a:latin typeface="+mn-ea"/>
            </a:endParaRPr>
          </a:p>
          <a:p>
            <a:pPr marL="285750" indent="-285750">
              <a:lnSpc>
                <a:spcPct val="150000"/>
              </a:lnSpc>
              <a:buFont typeface="Arial" panose="020B0604020202020204" pitchFamily="34" charset="0"/>
              <a:buChar char="•"/>
            </a:pPr>
            <a:r>
              <a:rPr lang="en-US" altLang="zh-CN" dirty="0" smtClean="0">
                <a:latin typeface="+mn-ea"/>
              </a:rPr>
              <a:t>inset</a:t>
            </a:r>
            <a:r>
              <a:rPr lang="zh-CN" altLang="en-US" dirty="0" smtClean="0">
                <a:latin typeface="+mn-ea"/>
              </a:rPr>
              <a:t>可选</a:t>
            </a:r>
            <a:r>
              <a:rPr lang="zh-CN" altLang="en-US" dirty="0">
                <a:latin typeface="+mn-ea"/>
              </a:rPr>
              <a:t>，内部</a:t>
            </a:r>
            <a:r>
              <a:rPr lang="zh-CN" altLang="en-US" dirty="0" smtClean="0">
                <a:latin typeface="+mn-ea"/>
              </a:rPr>
              <a:t>阴影，</a:t>
            </a:r>
            <a:r>
              <a:rPr lang="en-US" altLang="zh-CN" dirty="0" smtClean="0">
                <a:latin typeface="+mn-ea"/>
              </a:rPr>
              <a:t>outset</a:t>
            </a:r>
            <a:r>
              <a:rPr lang="zh-CN" altLang="en-US" dirty="0" smtClean="0">
                <a:latin typeface="+mn-ea"/>
              </a:rPr>
              <a:t>默认</a:t>
            </a:r>
            <a:r>
              <a:rPr lang="zh-CN" altLang="en-US" dirty="0">
                <a:latin typeface="+mn-ea"/>
              </a:rPr>
              <a:t>值，外部</a:t>
            </a:r>
            <a:r>
              <a:rPr lang="zh-CN" altLang="en-US" dirty="0" smtClean="0">
                <a:latin typeface="+mn-ea"/>
              </a:rPr>
              <a:t>阴影</a:t>
            </a:r>
            <a:endParaRPr lang="en-US" altLang="zh-CN" dirty="0" smtClean="0">
              <a:latin typeface="+mn-ea"/>
            </a:endParaRPr>
          </a:p>
          <a:p>
            <a:pPr marL="285750" indent="-285750">
              <a:lnSpc>
                <a:spcPct val="150000"/>
              </a:lnSpc>
              <a:buFont typeface="Arial" panose="020B0604020202020204" pitchFamily="34" charset="0"/>
              <a:buChar char="•"/>
            </a:pPr>
            <a:r>
              <a:rPr lang="zh-CN" altLang="en-US" dirty="0" smtClean="0">
                <a:latin typeface="+mn-ea"/>
              </a:rPr>
              <a:t>模糊半径决定了阴影沿偏移边界每侧的模糊范围，值越大，模糊的范围越大</a:t>
            </a:r>
            <a:endParaRPr lang="en-US" altLang="zh-CN" dirty="0" smtClean="0">
              <a:latin typeface="+mn-ea"/>
            </a:endParaRPr>
          </a:p>
          <a:p>
            <a:pPr marL="285750" indent="-285750">
              <a:lnSpc>
                <a:spcPct val="150000"/>
              </a:lnSpc>
              <a:buFont typeface="Arial" panose="020B0604020202020204" pitchFamily="34" charset="0"/>
              <a:buChar char="•"/>
            </a:pPr>
            <a:r>
              <a:rPr lang="en-US" altLang="zh-CN" dirty="0" smtClean="0">
                <a:latin typeface="+mn-ea"/>
              </a:rPr>
              <a:t>box-shadow</a:t>
            </a:r>
            <a:r>
              <a:rPr lang="zh-CN" altLang="en-US" dirty="0" smtClean="0">
                <a:latin typeface="+mn-ea"/>
              </a:rPr>
              <a:t>取值可以为多个，即添加多重效果，用逗号隔开即可。</a:t>
            </a:r>
            <a:endParaRPr lang="zh-CN" altLang="en-US" dirty="0">
              <a:latin typeface="+mn-ea"/>
            </a:endParaRPr>
          </a:p>
        </p:txBody>
      </p:sp>
      <p:sp>
        <p:nvSpPr>
          <p:cNvPr id="2" name="矩形 1"/>
          <p:cNvSpPr/>
          <p:nvPr/>
        </p:nvSpPr>
        <p:spPr>
          <a:xfrm>
            <a:off x="947032" y="4502199"/>
            <a:ext cx="3596393" cy="1317576"/>
          </a:xfrm>
          <a:prstGeom prst="rect">
            <a:avLst/>
          </a:prstGeom>
          <a:solidFill>
            <a:schemeClr val="accent6">
              <a:lumMod val="20000"/>
              <a:lumOff val="8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107604" y="4502198"/>
            <a:ext cx="4017346" cy="1317577"/>
          </a:xfrm>
          <a:prstGeom prst="rect">
            <a:avLst/>
          </a:prstGeom>
          <a:solidFill>
            <a:schemeClr val="accent6">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1459400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圆角边框与阴影</a:t>
            </a:r>
          </a:p>
        </p:txBody>
      </p:sp>
      <p:sp>
        <p:nvSpPr>
          <p:cNvPr id="18" name="文本框 17"/>
          <p:cNvSpPr txBox="1"/>
          <p:nvPr/>
        </p:nvSpPr>
        <p:spPr>
          <a:xfrm>
            <a:off x="795867" y="1518868"/>
            <a:ext cx="2872140" cy="400110"/>
          </a:xfrm>
          <a:prstGeom prst="rect">
            <a:avLst/>
          </a:prstGeom>
          <a:noFill/>
        </p:spPr>
        <p:txBody>
          <a:bodyPr wrap="square" rtlCol="0">
            <a:spAutoFit/>
          </a:bodyPr>
          <a:lstStyle/>
          <a:p>
            <a:r>
              <a:rPr lang="zh-CN" altLang="en-US" sz="2000" b="1" dirty="0" smtClean="0">
                <a:solidFill>
                  <a:schemeClr val="accent2"/>
                </a:solidFill>
              </a:rPr>
              <a:t>阴影</a:t>
            </a:r>
            <a:r>
              <a:rPr lang="en-US" altLang="zh-CN" sz="2000" b="1" dirty="0" smtClean="0">
                <a:solidFill>
                  <a:schemeClr val="accent2"/>
                </a:solidFill>
              </a:rPr>
              <a:t>box-shadow</a:t>
            </a:r>
            <a:endParaRPr lang="en-US" altLang="zh-CN" sz="2000" b="1" dirty="0">
              <a:solidFill>
                <a:schemeClr val="accent2"/>
              </a:solidFill>
            </a:endParaRPr>
          </a:p>
        </p:txBody>
      </p:sp>
      <p:pic>
        <p:nvPicPr>
          <p:cNvPr id="6" name="图片 5"/>
          <p:cNvPicPr>
            <a:picLocks noChangeAspect="1"/>
          </p:cNvPicPr>
          <p:nvPr/>
        </p:nvPicPr>
        <p:blipFill>
          <a:blip r:embed="rId3"/>
          <a:stretch>
            <a:fillRect/>
          </a:stretch>
        </p:blipFill>
        <p:spPr>
          <a:xfrm>
            <a:off x="795867" y="2157063"/>
            <a:ext cx="4375070" cy="2444434"/>
          </a:xfrm>
          <a:prstGeom prst="rect">
            <a:avLst/>
          </a:prstGeom>
        </p:spPr>
      </p:pic>
      <p:pic>
        <p:nvPicPr>
          <p:cNvPr id="7" name="图片 6"/>
          <p:cNvPicPr>
            <a:picLocks noChangeAspect="1"/>
          </p:cNvPicPr>
          <p:nvPr/>
        </p:nvPicPr>
        <p:blipFill>
          <a:blip r:embed="rId4"/>
          <a:stretch>
            <a:fillRect/>
          </a:stretch>
        </p:blipFill>
        <p:spPr>
          <a:xfrm>
            <a:off x="6096000" y="2072385"/>
            <a:ext cx="5810250" cy="2292117"/>
          </a:xfrm>
          <a:prstGeom prst="rect">
            <a:avLst/>
          </a:prstGeom>
        </p:spPr>
      </p:pic>
    </p:spTree>
    <p:extLst>
      <p:ext uri="{BB962C8B-B14F-4D97-AF65-F5344CB8AC3E}">
        <p14:creationId xmlns:p14="http://schemas.microsoft.com/office/powerpoint/2010/main" val="130591252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圆角边框与阴影</a:t>
            </a:r>
          </a:p>
        </p:txBody>
      </p:sp>
      <p:sp>
        <p:nvSpPr>
          <p:cNvPr id="18" name="文本框 17"/>
          <p:cNvSpPr txBox="1"/>
          <p:nvPr/>
        </p:nvSpPr>
        <p:spPr>
          <a:xfrm>
            <a:off x="795867" y="1518868"/>
            <a:ext cx="2872140" cy="400110"/>
          </a:xfrm>
          <a:prstGeom prst="rect">
            <a:avLst/>
          </a:prstGeom>
          <a:noFill/>
        </p:spPr>
        <p:txBody>
          <a:bodyPr wrap="square" rtlCol="0">
            <a:spAutoFit/>
          </a:bodyPr>
          <a:lstStyle/>
          <a:p>
            <a:r>
              <a:rPr lang="zh-CN" altLang="en-US" sz="2000" b="1" dirty="0" smtClean="0">
                <a:solidFill>
                  <a:schemeClr val="accent2"/>
                </a:solidFill>
              </a:rPr>
              <a:t>阴影</a:t>
            </a:r>
            <a:r>
              <a:rPr lang="en-US" altLang="zh-CN" sz="2000" b="1" dirty="0" smtClean="0">
                <a:solidFill>
                  <a:schemeClr val="accent2"/>
                </a:solidFill>
              </a:rPr>
              <a:t>box-shadow</a:t>
            </a:r>
            <a:endParaRPr lang="en-US" altLang="zh-CN" sz="2000" b="1" dirty="0">
              <a:solidFill>
                <a:schemeClr val="accent2"/>
              </a:solidFill>
            </a:endParaRPr>
          </a:p>
        </p:txBody>
      </p:sp>
      <p:sp>
        <p:nvSpPr>
          <p:cNvPr id="2" name="矩形 1"/>
          <p:cNvSpPr/>
          <p:nvPr/>
        </p:nvSpPr>
        <p:spPr>
          <a:xfrm>
            <a:off x="885093" y="2116083"/>
            <a:ext cx="4472699" cy="2092881"/>
          </a:xfrm>
          <a:prstGeom prst="rect">
            <a:avLst/>
          </a:prstGeom>
        </p:spPr>
        <p:txBody>
          <a:bodyPr wrap="none">
            <a:spAutoFit/>
          </a:bodyPr>
          <a:lstStyle/>
          <a:p>
            <a:r>
              <a:rPr lang="en-US" altLang="zh-CN" sz="1600" dirty="0">
                <a:latin typeface="Monaco" panose="020B0509030404040204" pitchFamily="49" charset="0"/>
              </a:rPr>
              <a:t>&lt;div&gt; &lt;/div</a:t>
            </a:r>
            <a:r>
              <a:rPr lang="en-US" altLang="zh-CN" sz="1600" dirty="0" smtClean="0">
                <a:latin typeface="Monaco" panose="020B0509030404040204" pitchFamily="49" charset="0"/>
              </a:rPr>
              <a:t>&gt;</a:t>
            </a:r>
          </a:p>
          <a:p>
            <a:r>
              <a:rPr lang="en-US" altLang="zh-CN" sz="1600" dirty="0">
                <a:latin typeface="Monaco" panose="020B0509030404040204" pitchFamily="49" charset="0"/>
              </a:rPr>
              <a:t>div</a:t>
            </a:r>
          </a:p>
          <a:p>
            <a:r>
              <a:rPr lang="en-US" altLang="zh-CN" sz="1600" dirty="0">
                <a:latin typeface="Monaco" panose="020B0509030404040204" pitchFamily="49" charset="0"/>
              </a:rPr>
              <a:t>{</a:t>
            </a:r>
          </a:p>
          <a:p>
            <a:pPr lvl="1"/>
            <a:r>
              <a:rPr lang="en-US" altLang="zh-CN" sz="1600" dirty="0">
                <a:latin typeface="Monaco" panose="020B0509030404040204" pitchFamily="49" charset="0"/>
              </a:rPr>
              <a:t>width:300px;</a:t>
            </a:r>
          </a:p>
          <a:p>
            <a:pPr lvl="1"/>
            <a:r>
              <a:rPr lang="en-US" altLang="zh-CN" sz="1600" dirty="0">
                <a:latin typeface="Monaco" panose="020B0509030404040204" pitchFamily="49" charset="0"/>
              </a:rPr>
              <a:t>height:100px;</a:t>
            </a:r>
          </a:p>
          <a:p>
            <a:pPr lvl="1"/>
            <a:r>
              <a:rPr lang="en-US" altLang="zh-CN" sz="1600" dirty="0" smtClean="0">
                <a:latin typeface="Monaco" panose="020B0509030404040204" pitchFamily="49" charset="0"/>
              </a:rPr>
              <a:t>background-color</a:t>
            </a:r>
            <a:r>
              <a:rPr lang="en-US" altLang="zh-CN" sz="1600" dirty="0">
                <a:latin typeface="Monaco" panose="020B0509030404040204" pitchFamily="49" charset="0"/>
              </a:rPr>
              <a:t>:#f90;</a:t>
            </a:r>
          </a:p>
          <a:p>
            <a:pPr lvl="1"/>
            <a:r>
              <a:rPr lang="en-US" altLang="zh-CN" sz="1600" dirty="0" smtClean="0">
                <a:latin typeface="Monaco" panose="020B0509030404040204" pitchFamily="49" charset="0"/>
              </a:rPr>
              <a:t>box-shadow</a:t>
            </a:r>
            <a:r>
              <a:rPr lang="en-US" altLang="zh-CN" sz="1600" dirty="0">
                <a:latin typeface="Monaco" panose="020B0509030404040204" pitchFamily="49" charset="0"/>
              </a:rPr>
              <a:t>: 10px </a:t>
            </a:r>
            <a:r>
              <a:rPr lang="en-US" altLang="zh-CN" sz="1600" dirty="0" err="1">
                <a:latin typeface="Monaco" panose="020B0509030404040204" pitchFamily="49" charset="0"/>
              </a:rPr>
              <a:t>10px</a:t>
            </a:r>
            <a:r>
              <a:rPr lang="en-US" altLang="zh-CN" sz="1600" dirty="0">
                <a:latin typeface="Monaco" panose="020B0509030404040204" pitchFamily="49" charset="0"/>
              </a:rPr>
              <a:t> 5px #888;</a:t>
            </a:r>
          </a:p>
          <a:p>
            <a:r>
              <a:rPr lang="en-US" altLang="zh-CN" sz="1600" dirty="0">
                <a:latin typeface="Monaco" panose="020B0509030404040204" pitchFamily="49" charset="0"/>
              </a:rPr>
              <a:t>}</a:t>
            </a:r>
            <a:endParaRPr lang="zh-CN" altLang="en-US" sz="1600" dirty="0">
              <a:latin typeface="Monaco" panose="020B0509030404040204" pitchFamily="49" charset="0"/>
            </a:endParaRPr>
          </a:p>
        </p:txBody>
      </p:sp>
      <p:sp>
        <p:nvSpPr>
          <p:cNvPr id="3" name="矩形 2"/>
          <p:cNvSpPr/>
          <p:nvPr/>
        </p:nvSpPr>
        <p:spPr>
          <a:xfrm>
            <a:off x="795867" y="4705837"/>
            <a:ext cx="2157963" cy="400110"/>
          </a:xfrm>
          <a:prstGeom prst="rect">
            <a:avLst/>
          </a:prstGeom>
        </p:spPr>
        <p:txBody>
          <a:bodyPr wrap="none">
            <a:spAutoFit/>
          </a:bodyPr>
          <a:lstStyle/>
          <a:p>
            <a:r>
              <a:rPr lang="en-US" altLang="zh-CN" sz="2000" b="1" dirty="0" smtClean="0">
                <a:solidFill>
                  <a:schemeClr val="tx1">
                    <a:lumMod val="75000"/>
                    <a:lumOff val="25000"/>
                  </a:schemeClr>
                </a:solidFill>
              </a:rPr>
              <a:t>box-shadow</a:t>
            </a:r>
            <a:r>
              <a:rPr lang="zh-CN" altLang="en-US" sz="2000" b="1" dirty="0" smtClean="0">
                <a:solidFill>
                  <a:schemeClr val="tx1">
                    <a:lumMod val="75000"/>
                    <a:lumOff val="25000"/>
                  </a:schemeClr>
                </a:solidFill>
              </a:rPr>
              <a:t>扩展</a:t>
            </a:r>
            <a:endParaRPr lang="en-US" altLang="zh-CN" sz="2000" b="1" dirty="0">
              <a:solidFill>
                <a:schemeClr val="tx1">
                  <a:lumMod val="75000"/>
                  <a:lumOff val="25000"/>
                </a:schemeClr>
              </a:solidFill>
            </a:endParaRPr>
          </a:p>
        </p:txBody>
      </p:sp>
      <p:sp>
        <p:nvSpPr>
          <p:cNvPr id="14" name="矩形 13"/>
          <p:cNvSpPr/>
          <p:nvPr/>
        </p:nvSpPr>
        <p:spPr>
          <a:xfrm>
            <a:off x="885093" y="5075169"/>
            <a:ext cx="7647164" cy="1200329"/>
          </a:xfrm>
          <a:prstGeom prst="rect">
            <a:avLst/>
          </a:prstGeom>
        </p:spPr>
        <p:txBody>
          <a:bodyPr wrap="square">
            <a:spAutoFit/>
          </a:bodyPr>
          <a:lstStyle/>
          <a:p>
            <a:pPr>
              <a:lnSpc>
                <a:spcPct val="150000"/>
              </a:lnSpc>
            </a:pPr>
            <a:r>
              <a:rPr lang="sv-SE" altLang="zh-CN" sz="1600" dirty="0" smtClean="0">
                <a:latin typeface="Monaco" panose="020B0509030404040204" pitchFamily="49" charset="0"/>
              </a:rPr>
              <a:t>-webkit-border-shadow:inset hoff voff blur color</a:t>
            </a:r>
            <a:endParaRPr lang="sv-SE" altLang="zh-CN" sz="1600" dirty="0">
              <a:latin typeface="Monaco" panose="020B0509030404040204" pitchFamily="49" charset="0"/>
            </a:endParaRPr>
          </a:p>
          <a:p>
            <a:pPr>
              <a:lnSpc>
                <a:spcPct val="150000"/>
              </a:lnSpc>
            </a:pPr>
            <a:r>
              <a:rPr lang="sv-SE" altLang="zh-CN" sz="1600" dirty="0" smtClean="0">
                <a:latin typeface="Monaco" panose="020B0509030404040204" pitchFamily="49" charset="0"/>
              </a:rPr>
              <a:t>-moz-border-</a:t>
            </a:r>
            <a:r>
              <a:rPr lang="sv-SE" altLang="zh-CN" sz="1600" dirty="0">
                <a:latin typeface="Monaco" panose="020B0509030404040204" pitchFamily="49" charset="0"/>
              </a:rPr>
              <a:t>shadow</a:t>
            </a:r>
            <a:r>
              <a:rPr lang="sv-SE" altLang="zh-CN" sz="1600" dirty="0" smtClean="0">
                <a:latin typeface="Monaco" panose="020B0509030404040204" pitchFamily="49" charset="0"/>
              </a:rPr>
              <a:t>:inset </a:t>
            </a:r>
            <a:r>
              <a:rPr lang="sv-SE" altLang="zh-CN" sz="1600" dirty="0">
                <a:latin typeface="Monaco" panose="020B0509030404040204" pitchFamily="49" charset="0"/>
              </a:rPr>
              <a:t>hoff voff blur </a:t>
            </a:r>
            <a:r>
              <a:rPr lang="sv-SE" altLang="zh-CN" sz="1600" dirty="0" smtClean="0">
                <a:latin typeface="Monaco" panose="020B0509030404040204" pitchFamily="49" charset="0"/>
              </a:rPr>
              <a:t>color</a:t>
            </a:r>
          </a:p>
          <a:p>
            <a:pPr>
              <a:lnSpc>
                <a:spcPct val="150000"/>
              </a:lnSpc>
            </a:pPr>
            <a:r>
              <a:rPr lang="sv-SE" altLang="zh-CN" sz="1600" dirty="0" smtClean="0">
                <a:latin typeface="Monaco" panose="020B0509030404040204" pitchFamily="49" charset="0"/>
              </a:rPr>
              <a:t>border-</a:t>
            </a:r>
            <a:r>
              <a:rPr lang="en-US" altLang="zh-CN" sz="1600" dirty="0" smtClean="0">
                <a:latin typeface="Monaco" panose="020B0509030404040204" pitchFamily="49" charset="0"/>
              </a:rPr>
              <a:t>shadow</a:t>
            </a:r>
            <a:r>
              <a:rPr lang="sv-SE" altLang="zh-CN" sz="1600" dirty="0" smtClean="0">
                <a:latin typeface="Monaco" panose="020B0509030404040204" pitchFamily="49" charset="0"/>
              </a:rPr>
              <a:t>:inset </a:t>
            </a:r>
            <a:r>
              <a:rPr lang="sv-SE" altLang="zh-CN" sz="1600" dirty="0">
                <a:latin typeface="Monaco" panose="020B0509030404040204" pitchFamily="49" charset="0"/>
              </a:rPr>
              <a:t>hoff voff blur color</a:t>
            </a:r>
            <a:endParaRPr lang="zh-CN" altLang="en-US" sz="1600" dirty="0">
              <a:latin typeface="Monaco" panose="020B0509030404040204" pitchFamily="49" charset="0"/>
            </a:endParaRPr>
          </a:p>
        </p:txBody>
      </p:sp>
    </p:spTree>
    <p:extLst>
      <p:ext uri="{BB962C8B-B14F-4D97-AF65-F5344CB8AC3E}">
        <p14:creationId xmlns:p14="http://schemas.microsoft.com/office/powerpoint/2010/main" val="1174884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文本与文字</a:t>
            </a:r>
          </a:p>
        </p:txBody>
      </p:sp>
      <p:sp>
        <p:nvSpPr>
          <p:cNvPr id="18" name="文本框 17"/>
          <p:cNvSpPr txBox="1"/>
          <p:nvPr/>
        </p:nvSpPr>
        <p:spPr>
          <a:xfrm>
            <a:off x="862541" y="1652910"/>
            <a:ext cx="8957733" cy="1015663"/>
          </a:xfrm>
          <a:prstGeom prst="rect">
            <a:avLst/>
          </a:prstGeom>
          <a:noFill/>
        </p:spPr>
        <p:txBody>
          <a:bodyPr wrap="square" rtlCol="0">
            <a:spAutoFit/>
          </a:bodyPr>
          <a:lstStyle/>
          <a:p>
            <a:r>
              <a:rPr lang="en-US" altLang="zh-CN" sz="2000" b="1" dirty="0" smtClean="0">
                <a:solidFill>
                  <a:schemeClr val="accent2"/>
                </a:solidFill>
              </a:rPr>
              <a:t>text-shadow</a:t>
            </a:r>
            <a:r>
              <a:rPr lang="zh-CN" altLang="en-US" sz="2000" b="1" dirty="0" smtClean="0">
                <a:solidFill>
                  <a:schemeClr val="accent2"/>
                </a:solidFill>
              </a:rPr>
              <a:t>属性  </a:t>
            </a:r>
            <a:r>
              <a:rPr lang="zh-CN" altLang="en-US" sz="1600" dirty="0" smtClean="0"/>
              <a:t>用于添加文本阴影</a:t>
            </a:r>
            <a:endParaRPr lang="en-US" altLang="zh-CN" sz="1600" dirty="0" smtClean="0"/>
          </a:p>
          <a:p>
            <a:endParaRPr lang="en-US" altLang="zh-CN" sz="2000" b="1" dirty="0">
              <a:solidFill>
                <a:schemeClr val="accent2"/>
              </a:solidFill>
            </a:endParaRPr>
          </a:p>
          <a:p>
            <a:r>
              <a:rPr lang="en-US" altLang="zh-CN" sz="2000" b="1" dirty="0" smtClean="0">
                <a:solidFill>
                  <a:schemeClr val="accent2"/>
                </a:solidFill>
              </a:rPr>
              <a:t>text-shadow</a:t>
            </a:r>
            <a:r>
              <a:rPr lang="zh-CN" altLang="en-US" sz="2000" b="1" dirty="0" smtClean="0">
                <a:solidFill>
                  <a:schemeClr val="accent2"/>
                </a:solidFill>
              </a:rPr>
              <a:t>：</a:t>
            </a:r>
            <a:r>
              <a:rPr lang="zh-CN" altLang="en-US" dirty="0">
                <a:solidFill>
                  <a:schemeClr val="tx1">
                    <a:lumMod val="75000"/>
                    <a:lumOff val="25000"/>
                  </a:schemeClr>
                </a:solidFill>
              </a:rPr>
              <a:t>水平</a:t>
            </a:r>
            <a:r>
              <a:rPr lang="zh-CN" altLang="en-US" dirty="0" smtClean="0">
                <a:solidFill>
                  <a:schemeClr val="tx1">
                    <a:lumMod val="75000"/>
                    <a:lumOff val="25000"/>
                  </a:schemeClr>
                </a:solidFill>
              </a:rPr>
              <a:t>偏移 垂直</a:t>
            </a:r>
            <a:r>
              <a:rPr lang="zh-CN" altLang="en-US" dirty="0">
                <a:solidFill>
                  <a:schemeClr val="tx1">
                    <a:lumMod val="75000"/>
                    <a:lumOff val="25000"/>
                  </a:schemeClr>
                </a:solidFill>
              </a:rPr>
              <a:t>偏移 阴影大小 颜色</a:t>
            </a:r>
            <a:endParaRPr lang="en-US" altLang="zh-CN" dirty="0" smtClean="0">
              <a:solidFill>
                <a:schemeClr val="tx1">
                  <a:lumMod val="75000"/>
                  <a:lumOff val="25000"/>
                </a:schemeClr>
              </a:solidFill>
            </a:endParaRPr>
          </a:p>
        </p:txBody>
      </p:sp>
      <p:sp>
        <p:nvSpPr>
          <p:cNvPr id="2" name="矩形 1"/>
          <p:cNvSpPr/>
          <p:nvPr/>
        </p:nvSpPr>
        <p:spPr>
          <a:xfrm>
            <a:off x="862541" y="2718221"/>
            <a:ext cx="6096000" cy="1477328"/>
          </a:xfrm>
          <a:prstGeom prst="rect">
            <a:avLst/>
          </a:prstGeom>
        </p:spPr>
        <p:txBody>
          <a:bodyPr>
            <a:spAutoFit/>
          </a:bodyPr>
          <a:lstStyle/>
          <a:p>
            <a:r>
              <a:rPr lang="en-US" altLang="zh-CN" dirty="0" smtClean="0">
                <a:latin typeface="Monaco" panose="020B0509030404040204" pitchFamily="49" charset="0"/>
              </a:rPr>
              <a:t>h1 </a:t>
            </a:r>
            <a:r>
              <a:rPr lang="en-US" altLang="zh-CN" dirty="0">
                <a:latin typeface="Monaco" panose="020B0509030404040204" pitchFamily="49" charset="0"/>
              </a:rPr>
              <a:t>{</a:t>
            </a:r>
          </a:p>
          <a:p>
            <a:r>
              <a:rPr lang="en-US" altLang="zh-CN" dirty="0">
                <a:latin typeface="Monaco" panose="020B0509030404040204" pitchFamily="49" charset="0"/>
              </a:rPr>
              <a:t>  </a:t>
            </a:r>
            <a:r>
              <a:rPr lang="en-US" altLang="zh-CN" dirty="0" smtClean="0">
                <a:latin typeface="Monaco" panose="020B0509030404040204" pitchFamily="49" charset="0"/>
              </a:rPr>
              <a:t>text-shadow</a:t>
            </a:r>
            <a:r>
              <a:rPr lang="en-US" altLang="zh-CN" dirty="0">
                <a:latin typeface="Monaco" panose="020B0509030404040204" pitchFamily="49" charset="0"/>
              </a:rPr>
              <a:t>: 2px </a:t>
            </a:r>
            <a:r>
              <a:rPr lang="en-US" altLang="zh-CN" dirty="0" err="1">
                <a:latin typeface="Monaco" panose="020B0509030404040204" pitchFamily="49" charset="0"/>
              </a:rPr>
              <a:t>2px</a:t>
            </a:r>
            <a:r>
              <a:rPr lang="en-US" altLang="zh-CN" dirty="0">
                <a:latin typeface="Monaco" panose="020B0509030404040204" pitchFamily="49" charset="0"/>
              </a:rPr>
              <a:t> red;</a:t>
            </a:r>
          </a:p>
          <a:p>
            <a:r>
              <a:rPr lang="en-US" altLang="zh-CN" dirty="0" smtClean="0">
                <a:latin typeface="Monaco" panose="020B0509030404040204" pitchFamily="49" charset="0"/>
              </a:rPr>
              <a:t>}</a:t>
            </a:r>
          </a:p>
          <a:p>
            <a:endParaRPr lang="en-US" altLang="zh-CN" dirty="0">
              <a:latin typeface="Monaco" panose="020B0509030404040204" pitchFamily="49" charset="0"/>
            </a:endParaRPr>
          </a:p>
          <a:p>
            <a:r>
              <a:rPr lang="en-US" altLang="zh-CN" dirty="0" smtClean="0">
                <a:latin typeface="Monaco" panose="020B0509030404040204" pitchFamily="49" charset="0"/>
              </a:rPr>
              <a:t>&lt;</a:t>
            </a:r>
            <a:r>
              <a:rPr lang="en-US" altLang="zh-CN" dirty="0">
                <a:latin typeface="Monaco" panose="020B0509030404040204" pitchFamily="49" charset="0"/>
              </a:rPr>
              <a:t>h1&gt;text-shadow&lt;/h1</a:t>
            </a:r>
            <a:r>
              <a:rPr lang="en-US" altLang="zh-CN" dirty="0" smtClean="0">
                <a:latin typeface="Monaco" panose="020B0509030404040204" pitchFamily="49" charset="0"/>
              </a:rPr>
              <a:t>&gt;</a:t>
            </a:r>
            <a:endParaRPr lang="en-US" altLang="zh-CN" dirty="0">
              <a:latin typeface="Monaco" panose="020B0509030404040204" pitchFamily="49" charset="0"/>
            </a:endParaRPr>
          </a:p>
        </p:txBody>
      </p:sp>
      <p:pic>
        <p:nvPicPr>
          <p:cNvPr id="3" name="图片 2"/>
          <p:cNvPicPr>
            <a:picLocks noChangeAspect="1"/>
          </p:cNvPicPr>
          <p:nvPr/>
        </p:nvPicPr>
        <p:blipFill>
          <a:blip r:embed="rId3"/>
          <a:stretch>
            <a:fillRect/>
          </a:stretch>
        </p:blipFill>
        <p:spPr>
          <a:xfrm>
            <a:off x="4995862" y="3098750"/>
            <a:ext cx="2410303" cy="635050"/>
          </a:xfrm>
          <a:prstGeom prst="rect">
            <a:avLst/>
          </a:prstGeom>
        </p:spPr>
      </p:pic>
      <p:pic>
        <p:nvPicPr>
          <p:cNvPr id="5" name="图片 4"/>
          <p:cNvPicPr>
            <a:picLocks noChangeAspect="1"/>
          </p:cNvPicPr>
          <p:nvPr/>
        </p:nvPicPr>
        <p:blipFill>
          <a:blip r:embed="rId4"/>
          <a:stretch>
            <a:fillRect/>
          </a:stretch>
        </p:blipFill>
        <p:spPr>
          <a:xfrm>
            <a:off x="6415087" y="5001462"/>
            <a:ext cx="2590721" cy="804017"/>
          </a:xfrm>
          <a:prstGeom prst="rect">
            <a:avLst/>
          </a:prstGeom>
        </p:spPr>
      </p:pic>
      <p:sp>
        <p:nvSpPr>
          <p:cNvPr id="6" name="矩形 5"/>
          <p:cNvSpPr/>
          <p:nvPr/>
        </p:nvSpPr>
        <p:spPr>
          <a:xfrm>
            <a:off x="862541" y="4607390"/>
            <a:ext cx="6096000" cy="1754326"/>
          </a:xfrm>
          <a:prstGeom prst="rect">
            <a:avLst/>
          </a:prstGeom>
        </p:spPr>
        <p:txBody>
          <a:bodyPr>
            <a:spAutoFit/>
          </a:bodyPr>
          <a:lstStyle/>
          <a:p>
            <a:r>
              <a:rPr lang="en-US" altLang="zh-CN" dirty="0">
                <a:latin typeface="Monaco" panose="020B0509030404040204" pitchFamily="49" charset="0"/>
              </a:rPr>
              <a:t>h1 {</a:t>
            </a:r>
          </a:p>
          <a:p>
            <a:r>
              <a:rPr lang="en-US" altLang="zh-CN" dirty="0">
                <a:latin typeface="Monaco" panose="020B0509030404040204" pitchFamily="49" charset="0"/>
              </a:rPr>
              <a:t> </a:t>
            </a:r>
            <a:r>
              <a:rPr lang="en-US" altLang="zh-CN" dirty="0" smtClean="0">
                <a:latin typeface="Monaco" panose="020B0509030404040204" pitchFamily="49" charset="0"/>
              </a:rPr>
              <a:t> text-shadow</a:t>
            </a:r>
            <a:r>
              <a:rPr lang="en-US" altLang="zh-CN" dirty="0">
                <a:latin typeface="Monaco" panose="020B0509030404040204" pitchFamily="49" charset="0"/>
              </a:rPr>
              <a:t>: </a:t>
            </a:r>
            <a:r>
              <a:rPr lang="en-US" altLang="zh-CN" u="sng" dirty="0">
                <a:latin typeface="Monaco" panose="020B0509030404040204" pitchFamily="49" charset="0"/>
              </a:rPr>
              <a:t>2px </a:t>
            </a:r>
            <a:r>
              <a:rPr lang="en-US" altLang="zh-CN" u="sng" dirty="0" err="1">
                <a:latin typeface="Monaco" panose="020B0509030404040204" pitchFamily="49" charset="0"/>
              </a:rPr>
              <a:t>2px</a:t>
            </a:r>
            <a:r>
              <a:rPr lang="en-US" altLang="zh-CN" u="sng" dirty="0">
                <a:latin typeface="Monaco" panose="020B0509030404040204" pitchFamily="49" charset="0"/>
              </a:rPr>
              <a:t> 8px </a:t>
            </a:r>
            <a:r>
              <a:rPr lang="en-US" altLang="zh-CN" u="sng" dirty="0" err="1">
                <a:latin typeface="Monaco" panose="020B0509030404040204" pitchFamily="49" charset="0"/>
              </a:rPr>
              <a:t>blueviolet</a:t>
            </a:r>
            <a:r>
              <a:rPr lang="en-US" altLang="zh-CN" dirty="0">
                <a:latin typeface="Monaco" panose="020B0509030404040204" pitchFamily="49" charset="0"/>
              </a:rPr>
              <a:t>;</a:t>
            </a:r>
          </a:p>
          <a:p>
            <a:r>
              <a:rPr lang="en-US" altLang="zh-CN" dirty="0" smtClean="0">
                <a:latin typeface="Monaco" panose="020B0509030404040204" pitchFamily="49" charset="0"/>
              </a:rPr>
              <a:t>}</a:t>
            </a:r>
          </a:p>
          <a:p>
            <a:endParaRPr lang="en-US" altLang="zh-CN" dirty="0">
              <a:latin typeface="Monaco" panose="020B0509030404040204" pitchFamily="49" charset="0"/>
            </a:endParaRPr>
          </a:p>
          <a:p>
            <a:r>
              <a:rPr lang="en-US" altLang="zh-CN" dirty="0">
                <a:latin typeface="Monaco" panose="020B0509030404040204" pitchFamily="49" charset="0"/>
              </a:rPr>
              <a:t>&lt;h1&gt;text-shadow&lt;/h1&gt;</a:t>
            </a:r>
          </a:p>
          <a:p>
            <a:endParaRPr lang="zh-CN" altLang="en-US" dirty="0">
              <a:latin typeface="Monaco" panose="020B0509030404040204" pitchFamily="49" charset="0"/>
            </a:endParaRPr>
          </a:p>
        </p:txBody>
      </p:sp>
    </p:spTree>
    <p:extLst>
      <p:ext uri="{BB962C8B-B14F-4D97-AF65-F5344CB8AC3E}">
        <p14:creationId xmlns:p14="http://schemas.microsoft.com/office/powerpoint/2010/main" val="41069922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文本与文字</a:t>
            </a:r>
          </a:p>
        </p:txBody>
      </p:sp>
      <p:sp>
        <p:nvSpPr>
          <p:cNvPr id="18" name="文本框 17"/>
          <p:cNvSpPr txBox="1"/>
          <p:nvPr/>
        </p:nvSpPr>
        <p:spPr>
          <a:xfrm>
            <a:off x="862541" y="1820907"/>
            <a:ext cx="8957733" cy="400110"/>
          </a:xfrm>
          <a:prstGeom prst="rect">
            <a:avLst/>
          </a:prstGeom>
          <a:noFill/>
        </p:spPr>
        <p:txBody>
          <a:bodyPr wrap="square" rtlCol="0">
            <a:spAutoFit/>
          </a:bodyPr>
          <a:lstStyle/>
          <a:p>
            <a:r>
              <a:rPr lang="en-US" altLang="zh-CN" sz="2000" b="1" dirty="0" smtClean="0">
                <a:solidFill>
                  <a:schemeClr val="accent2"/>
                </a:solidFill>
              </a:rPr>
              <a:t>text-shadow</a:t>
            </a:r>
            <a:r>
              <a:rPr lang="zh-CN" altLang="en-US" sz="2000" b="1" dirty="0">
                <a:solidFill>
                  <a:schemeClr val="accent2"/>
                </a:solidFill>
              </a:rPr>
              <a:t>属性：</a:t>
            </a:r>
            <a:r>
              <a:rPr lang="zh-CN" altLang="en-US" sz="2000" b="1" dirty="0">
                <a:solidFill>
                  <a:schemeClr val="tx1">
                    <a:lumMod val="75000"/>
                    <a:lumOff val="25000"/>
                  </a:schemeClr>
                </a:solidFill>
              </a:rPr>
              <a:t>水平</a:t>
            </a:r>
            <a:r>
              <a:rPr lang="zh-CN" altLang="en-US" sz="2000" b="1" dirty="0" smtClean="0">
                <a:solidFill>
                  <a:schemeClr val="tx1">
                    <a:lumMod val="75000"/>
                    <a:lumOff val="25000"/>
                  </a:schemeClr>
                </a:solidFill>
              </a:rPr>
              <a:t>偏移 垂直</a:t>
            </a:r>
            <a:r>
              <a:rPr lang="zh-CN" altLang="en-US" sz="2000" b="1" dirty="0">
                <a:solidFill>
                  <a:schemeClr val="tx1">
                    <a:lumMod val="75000"/>
                    <a:lumOff val="25000"/>
                  </a:schemeClr>
                </a:solidFill>
              </a:rPr>
              <a:t>偏移 阴影大小 颜色</a:t>
            </a:r>
            <a:endParaRPr lang="en-US" altLang="zh-CN" sz="2000" b="1" dirty="0" smtClean="0">
              <a:solidFill>
                <a:schemeClr val="tx1">
                  <a:lumMod val="75000"/>
                  <a:lumOff val="25000"/>
                </a:schemeClr>
              </a:solidFill>
            </a:endParaRPr>
          </a:p>
        </p:txBody>
      </p:sp>
      <p:sp>
        <p:nvSpPr>
          <p:cNvPr id="2" name="矩形 1"/>
          <p:cNvSpPr/>
          <p:nvPr/>
        </p:nvSpPr>
        <p:spPr>
          <a:xfrm>
            <a:off x="973582" y="2650680"/>
            <a:ext cx="4883835" cy="1354217"/>
          </a:xfrm>
          <a:prstGeom prst="rect">
            <a:avLst/>
          </a:prstGeom>
        </p:spPr>
        <p:txBody>
          <a:bodyPr wrap="square">
            <a:spAutoFit/>
          </a:bodyPr>
          <a:lstStyle/>
          <a:p>
            <a:r>
              <a:rPr lang="en-US" altLang="zh-CN" sz="1600" dirty="0" smtClean="0">
                <a:latin typeface="Monaco" panose="020B0509030404040204" pitchFamily="49" charset="0"/>
              </a:rPr>
              <a:t>h1 </a:t>
            </a:r>
            <a:r>
              <a:rPr lang="en-US" altLang="zh-CN" sz="1600" dirty="0">
                <a:latin typeface="Monaco" panose="020B0509030404040204" pitchFamily="49" charset="0"/>
              </a:rPr>
              <a:t>{</a:t>
            </a:r>
          </a:p>
          <a:p>
            <a:r>
              <a:rPr lang="en-US" altLang="zh-CN" sz="1600" dirty="0">
                <a:latin typeface="Monaco" panose="020B0509030404040204" pitchFamily="49" charset="0"/>
              </a:rPr>
              <a:t>    </a:t>
            </a:r>
            <a:r>
              <a:rPr lang="en-US" altLang="zh-CN" sz="1600" dirty="0" smtClean="0">
                <a:latin typeface="Monaco" panose="020B0509030404040204" pitchFamily="49" charset="0"/>
              </a:rPr>
              <a:t>text-shadow</a:t>
            </a:r>
            <a:r>
              <a:rPr lang="en-US" altLang="zh-CN" sz="1600" dirty="0">
                <a:latin typeface="Monaco" panose="020B0509030404040204" pitchFamily="49" charset="0"/>
              </a:rPr>
              <a:t>: 0 0 3px </a:t>
            </a:r>
            <a:r>
              <a:rPr lang="en-US" altLang="zh-CN" sz="1600" dirty="0" smtClean="0">
                <a:latin typeface="Monaco" panose="020B0509030404040204" pitchFamily="49" charset="0"/>
              </a:rPr>
              <a:t>#f00;</a:t>
            </a:r>
            <a:endParaRPr lang="en-US" altLang="zh-CN" sz="1600" dirty="0">
              <a:latin typeface="Monaco" panose="020B0509030404040204" pitchFamily="49" charset="0"/>
            </a:endParaRPr>
          </a:p>
          <a:p>
            <a:r>
              <a:rPr lang="en-US" altLang="zh-CN" sz="1600" dirty="0" smtClean="0">
                <a:latin typeface="Monaco" panose="020B0509030404040204" pitchFamily="49" charset="0"/>
              </a:rPr>
              <a:t>}</a:t>
            </a:r>
            <a:endParaRPr lang="en-US" altLang="zh-CN" sz="1600" dirty="0">
              <a:latin typeface="Monaco" panose="020B0509030404040204" pitchFamily="49" charset="0"/>
            </a:endParaRPr>
          </a:p>
          <a:p>
            <a:endParaRPr lang="en-US" altLang="zh-CN" sz="1600" dirty="0">
              <a:latin typeface="Monaco" panose="020B0509030404040204" pitchFamily="49" charset="0"/>
            </a:endParaRPr>
          </a:p>
          <a:p>
            <a:r>
              <a:rPr lang="en-US" altLang="zh-CN" sz="1600" dirty="0" smtClean="0">
                <a:latin typeface="Monaco" panose="020B0509030404040204" pitchFamily="49" charset="0"/>
              </a:rPr>
              <a:t>&lt;</a:t>
            </a:r>
            <a:r>
              <a:rPr lang="en-US" altLang="zh-CN" sz="1600" dirty="0">
                <a:latin typeface="Monaco" panose="020B0509030404040204" pitchFamily="49" charset="0"/>
              </a:rPr>
              <a:t>h1&gt;text-shadow&lt;/h1</a:t>
            </a:r>
            <a:r>
              <a:rPr lang="en-US" altLang="zh-CN" sz="1600" dirty="0" smtClean="0">
                <a:latin typeface="Monaco" panose="020B0509030404040204" pitchFamily="49" charset="0"/>
              </a:rPr>
              <a:t>&gt;</a:t>
            </a:r>
            <a:endParaRPr lang="en-US" altLang="zh-CN" sz="1600" dirty="0">
              <a:latin typeface="Monaco" panose="020B0509030404040204" pitchFamily="49" charset="0"/>
            </a:endParaRPr>
          </a:p>
        </p:txBody>
      </p:sp>
      <p:sp>
        <p:nvSpPr>
          <p:cNvPr id="6" name="矩形 5"/>
          <p:cNvSpPr/>
          <p:nvPr/>
        </p:nvSpPr>
        <p:spPr>
          <a:xfrm>
            <a:off x="973582" y="4386312"/>
            <a:ext cx="6096000" cy="1846659"/>
          </a:xfrm>
          <a:prstGeom prst="rect">
            <a:avLst/>
          </a:prstGeom>
        </p:spPr>
        <p:txBody>
          <a:bodyPr>
            <a:spAutoFit/>
          </a:bodyPr>
          <a:lstStyle/>
          <a:p>
            <a:r>
              <a:rPr lang="en-US" altLang="zh-CN" sz="1600" dirty="0">
                <a:latin typeface="Monaco" panose="020B0509030404040204" pitchFamily="49" charset="0"/>
              </a:rPr>
              <a:t>h1 {</a:t>
            </a:r>
          </a:p>
          <a:p>
            <a:r>
              <a:rPr lang="en-US" altLang="zh-CN" sz="1600" dirty="0">
                <a:latin typeface="Monaco" panose="020B0509030404040204" pitchFamily="49" charset="0"/>
              </a:rPr>
              <a:t>    </a:t>
            </a:r>
            <a:r>
              <a:rPr lang="en-US" altLang="zh-CN" sz="1600" dirty="0" smtClean="0">
                <a:latin typeface="Monaco" panose="020B0509030404040204" pitchFamily="49" charset="0"/>
              </a:rPr>
              <a:t>color</a:t>
            </a:r>
            <a:r>
              <a:rPr lang="en-US" altLang="zh-CN" sz="1600" dirty="0">
                <a:latin typeface="Monaco" panose="020B0509030404040204" pitchFamily="49" charset="0"/>
              </a:rPr>
              <a:t>: </a:t>
            </a:r>
            <a:r>
              <a:rPr lang="en-US" altLang="zh-CN" sz="1600" dirty="0" err="1">
                <a:latin typeface="Monaco" panose="020B0509030404040204" pitchFamily="49" charset="0"/>
              </a:rPr>
              <a:t>lightpink</a:t>
            </a:r>
            <a:r>
              <a:rPr lang="en-US" altLang="zh-CN" sz="1600" dirty="0">
                <a:latin typeface="Monaco" panose="020B0509030404040204" pitchFamily="49" charset="0"/>
              </a:rPr>
              <a:t>;</a:t>
            </a:r>
          </a:p>
          <a:p>
            <a:r>
              <a:rPr lang="en-US" altLang="zh-CN" sz="1600" dirty="0">
                <a:latin typeface="Monaco" panose="020B0509030404040204" pitchFamily="49" charset="0"/>
              </a:rPr>
              <a:t>    </a:t>
            </a:r>
            <a:r>
              <a:rPr lang="en-US" altLang="zh-CN" sz="1600" dirty="0" smtClean="0">
                <a:latin typeface="Monaco" panose="020B0509030404040204" pitchFamily="49" charset="0"/>
              </a:rPr>
              <a:t>text-shadow</a:t>
            </a:r>
            <a:r>
              <a:rPr lang="en-US" altLang="zh-CN" sz="1600" dirty="0">
                <a:latin typeface="Monaco" panose="020B0509030404040204" pitchFamily="49" charset="0"/>
              </a:rPr>
              <a:t>: 2px </a:t>
            </a:r>
            <a:r>
              <a:rPr lang="en-US" altLang="zh-CN" sz="1600" dirty="0" err="1">
                <a:latin typeface="Monaco" panose="020B0509030404040204" pitchFamily="49" charset="0"/>
              </a:rPr>
              <a:t>2px</a:t>
            </a:r>
            <a:r>
              <a:rPr lang="en-US" altLang="zh-CN" sz="1600" dirty="0">
                <a:latin typeface="Monaco" panose="020B0509030404040204" pitchFamily="49" charset="0"/>
              </a:rPr>
              <a:t> 4px </a:t>
            </a:r>
            <a:r>
              <a:rPr lang="en-US" altLang="zh-CN" sz="1600" dirty="0" err="1">
                <a:latin typeface="Monaco" panose="020B0509030404040204" pitchFamily="49" charset="0"/>
              </a:rPr>
              <a:t>lightgreen</a:t>
            </a:r>
            <a:r>
              <a:rPr lang="en-US" altLang="zh-CN" sz="1600" dirty="0">
                <a:latin typeface="Monaco" panose="020B0509030404040204" pitchFamily="49" charset="0"/>
              </a:rPr>
              <a:t>;</a:t>
            </a:r>
          </a:p>
          <a:p>
            <a:r>
              <a:rPr lang="en-US" altLang="zh-CN" sz="1600" dirty="0" smtClean="0">
                <a:latin typeface="Monaco" panose="020B0509030404040204" pitchFamily="49" charset="0"/>
              </a:rPr>
              <a:t>}</a:t>
            </a:r>
            <a:endParaRPr lang="en-US" altLang="zh-CN" sz="1600" dirty="0">
              <a:latin typeface="Monaco" panose="020B0509030404040204" pitchFamily="49" charset="0"/>
            </a:endParaRPr>
          </a:p>
          <a:p>
            <a:endParaRPr lang="en-US" altLang="zh-CN" sz="1600" dirty="0">
              <a:latin typeface="Monaco" panose="020B0509030404040204" pitchFamily="49" charset="0"/>
            </a:endParaRPr>
          </a:p>
          <a:p>
            <a:r>
              <a:rPr lang="en-US" altLang="zh-CN" sz="1600" dirty="0">
                <a:latin typeface="Monaco" panose="020B0509030404040204" pitchFamily="49" charset="0"/>
              </a:rPr>
              <a:t>&lt;h1&gt;text-shadow&lt;/h1&gt;</a:t>
            </a:r>
          </a:p>
          <a:p>
            <a:endParaRPr lang="zh-CN" altLang="en-US" sz="1600" dirty="0">
              <a:latin typeface="Monaco" panose="020B0509030404040204" pitchFamily="49" charset="0"/>
            </a:endParaRPr>
          </a:p>
        </p:txBody>
      </p:sp>
      <p:pic>
        <p:nvPicPr>
          <p:cNvPr id="7" name="图片 6"/>
          <p:cNvPicPr>
            <a:picLocks noChangeAspect="1"/>
          </p:cNvPicPr>
          <p:nvPr/>
        </p:nvPicPr>
        <p:blipFill>
          <a:blip r:embed="rId3"/>
          <a:stretch>
            <a:fillRect/>
          </a:stretch>
        </p:blipFill>
        <p:spPr>
          <a:xfrm>
            <a:off x="6158753" y="2564538"/>
            <a:ext cx="3790080" cy="1242304"/>
          </a:xfrm>
          <a:prstGeom prst="rect">
            <a:avLst/>
          </a:prstGeom>
        </p:spPr>
      </p:pic>
      <p:pic>
        <p:nvPicPr>
          <p:cNvPr id="8" name="图片 7"/>
          <p:cNvPicPr>
            <a:picLocks noChangeAspect="1"/>
          </p:cNvPicPr>
          <p:nvPr/>
        </p:nvPicPr>
        <p:blipFill>
          <a:blip r:embed="rId4"/>
          <a:stretch>
            <a:fillRect/>
          </a:stretch>
        </p:blipFill>
        <p:spPr>
          <a:xfrm>
            <a:off x="6222119" y="4504495"/>
            <a:ext cx="3954814" cy="1296300"/>
          </a:xfrm>
          <a:prstGeom prst="rect">
            <a:avLst/>
          </a:prstGeom>
        </p:spPr>
      </p:pic>
    </p:spTree>
    <p:extLst>
      <p:ext uri="{BB962C8B-B14F-4D97-AF65-F5344CB8AC3E}">
        <p14:creationId xmlns:p14="http://schemas.microsoft.com/office/powerpoint/2010/main" val="35080269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文本与文字</a:t>
            </a:r>
          </a:p>
        </p:txBody>
      </p:sp>
      <p:sp>
        <p:nvSpPr>
          <p:cNvPr id="18" name="文本框 17"/>
          <p:cNvSpPr txBox="1"/>
          <p:nvPr/>
        </p:nvSpPr>
        <p:spPr>
          <a:xfrm>
            <a:off x="862541" y="1820907"/>
            <a:ext cx="8957733" cy="1200329"/>
          </a:xfrm>
          <a:prstGeom prst="rect">
            <a:avLst/>
          </a:prstGeom>
          <a:noFill/>
        </p:spPr>
        <p:txBody>
          <a:bodyPr wrap="square" rtlCol="0">
            <a:spAutoFit/>
          </a:bodyPr>
          <a:lstStyle/>
          <a:p>
            <a:r>
              <a:rPr lang="en-US" altLang="zh-CN" b="1" dirty="0">
                <a:solidFill>
                  <a:schemeClr val="accent2"/>
                </a:solidFill>
                <a:latin typeface="Monaco" panose="020B0509030404040204" pitchFamily="49" charset="0"/>
              </a:rPr>
              <a:t>word-wrap</a:t>
            </a:r>
            <a:r>
              <a:rPr lang="zh-CN" altLang="en-US" b="1" dirty="0" smtClean="0">
                <a:solidFill>
                  <a:schemeClr val="accent2"/>
                </a:solidFill>
                <a:latin typeface="Monaco" panose="020B0509030404040204" pitchFamily="49" charset="0"/>
              </a:rPr>
              <a:t>属性：</a:t>
            </a:r>
            <a:r>
              <a:rPr lang="zh-CN" altLang="en-US" b="1" dirty="0" smtClean="0">
                <a:solidFill>
                  <a:schemeClr val="tx1">
                    <a:lumMod val="75000"/>
                    <a:lumOff val="25000"/>
                  </a:schemeClr>
                </a:solidFill>
                <a:latin typeface="Monaco" panose="020B0509030404040204" pitchFamily="49" charset="0"/>
              </a:rPr>
              <a:t>允许长单词、</a:t>
            </a:r>
            <a:r>
              <a:rPr lang="en-US" altLang="zh-CN" b="1" dirty="0" smtClean="0">
                <a:solidFill>
                  <a:schemeClr val="tx1">
                    <a:lumMod val="75000"/>
                    <a:lumOff val="25000"/>
                  </a:schemeClr>
                </a:solidFill>
                <a:latin typeface="Monaco" panose="020B0509030404040204" pitchFamily="49" charset="0"/>
              </a:rPr>
              <a:t>URL</a:t>
            </a:r>
            <a:r>
              <a:rPr lang="zh-CN" altLang="en-US" b="1" dirty="0" smtClean="0">
                <a:solidFill>
                  <a:schemeClr val="tx1">
                    <a:lumMod val="75000"/>
                    <a:lumOff val="25000"/>
                  </a:schemeClr>
                </a:solidFill>
                <a:latin typeface="Monaco" panose="020B0509030404040204" pitchFamily="49" charset="0"/>
              </a:rPr>
              <a:t>强制进行换行</a:t>
            </a:r>
            <a:endParaRPr lang="en-US" altLang="zh-CN" b="1" dirty="0" smtClean="0">
              <a:solidFill>
                <a:schemeClr val="tx1">
                  <a:lumMod val="75000"/>
                  <a:lumOff val="25000"/>
                </a:schemeClr>
              </a:solidFill>
              <a:latin typeface="Monaco" panose="020B0509030404040204" pitchFamily="49" charset="0"/>
            </a:endParaRPr>
          </a:p>
          <a:p>
            <a:endParaRPr lang="en-US" altLang="zh-CN" b="1" dirty="0">
              <a:solidFill>
                <a:schemeClr val="tx1">
                  <a:lumMod val="75000"/>
                  <a:lumOff val="25000"/>
                </a:schemeClr>
              </a:solidFill>
              <a:latin typeface="Monaco" panose="020B0509030404040204" pitchFamily="49" charset="0"/>
            </a:endParaRPr>
          </a:p>
          <a:p>
            <a:r>
              <a:rPr lang="zh-CN" altLang="en-US" b="1" dirty="0" smtClean="0">
                <a:solidFill>
                  <a:schemeClr val="tx1">
                    <a:lumMod val="75000"/>
                    <a:lumOff val="25000"/>
                  </a:schemeClr>
                </a:solidFill>
                <a:latin typeface="Monaco" panose="020B0509030404040204" pitchFamily="49" charset="0"/>
              </a:rPr>
              <a:t>取值：  </a:t>
            </a:r>
            <a:r>
              <a:rPr lang="en-US" altLang="zh-CN" b="1" dirty="0" smtClean="0">
                <a:solidFill>
                  <a:schemeClr val="tx1">
                    <a:lumMod val="75000"/>
                    <a:lumOff val="25000"/>
                  </a:schemeClr>
                </a:solidFill>
                <a:latin typeface="Monaco" panose="020B0509030404040204" pitchFamily="49" charset="0"/>
              </a:rPr>
              <a:t>normal  </a:t>
            </a:r>
            <a:r>
              <a:rPr lang="zh-CN" altLang="en-US" b="1" dirty="0" smtClean="0">
                <a:solidFill>
                  <a:schemeClr val="tx1">
                    <a:lumMod val="75000"/>
                    <a:lumOff val="25000"/>
                  </a:schemeClr>
                </a:solidFill>
                <a:latin typeface="Monaco" panose="020B0509030404040204" pitchFamily="49" charset="0"/>
              </a:rPr>
              <a:t>（</a:t>
            </a:r>
            <a:r>
              <a:rPr lang="zh-CN" altLang="en-US" b="1" dirty="0">
                <a:solidFill>
                  <a:schemeClr val="tx1">
                    <a:lumMod val="75000"/>
                    <a:lumOff val="25000"/>
                  </a:schemeClr>
                </a:solidFill>
                <a:latin typeface="Monaco" panose="020B0509030404040204" pitchFamily="49" charset="0"/>
              </a:rPr>
              <a:t>默认</a:t>
            </a:r>
            <a:r>
              <a:rPr lang="zh-CN" altLang="en-US" b="1" dirty="0" smtClean="0">
                <a:solidFill>
                  <a:schemeClr val="tx1">
                    <a:lumMod val="75000"/>
                    <a:lumOff val="25000"/>
                  </a:schemeClr>
                </a:solidFill>
                <a:latin typeface="Monaco" panose="020B0509030404040204" pitchFamily="49" charset="0"/>
              </a:rPr>
              <a:t>值）</a:t>
            </a:r>
            <a:endParaRPr lang="en-US" altLang="zh-CN" b="1" dirty="0">
              <a:solidFill>
                <a:schemeClr val="tx1">
                  <a:lumMod val="75000"/>
                  <a:lumOff val="25000"/>
                </a:schemeClr>
              </a:solidFill>
              <a:latin typeface="Monaco" panose="020B0509030404040204" pitchFamily="49" charset="0"/>
            </a:endParaRPr>
          </a:p>
          <a:p>
            <a:r>
              <a:rPr lang="en-US" altLang="zh-CN" b="1" dirty="0" smtClean="0">
                <a:solidFill>
                  <a:schemeClr val="tx1">
                    <a:lumMod val="75000"/>
                    <a:lumOff val="25000"/>
                  </a:schemeClr>
                </a:solidFill>
                <a:latin typeface="Monaco" panose="020B0509030404040204" pitchFamily="49" charset="0"/>
              </a:rPr>
              <a:t>	break-word</a:t>
            </a:r>
          </a:p>
        </p:txBody>
      </p:sp>
      <p:sp>
        <p:nvSpPr>
          <p:cNvPr id="3" name="矩形 2"/>
          <p:cNvSpPr/>
          <p:nvPr/>
        </p:nvSpPr>
        <p:spPr>
          <a:xfrm>
            <a:off x="617861" y="3245703"/>
            <a:ext cx="6138333" cy="3293209"/>
          </a:xfrm>
          <a:prstGeom prst="rect">
            <a:avLst/>
          </a:prstGeom>
        </p:spPr>
        <p:txBody>
          <a:bodyPr wrap="square">
            <a:spAutoFit/>
          </a:bodyPr>
          <a:lstStyle/>
          <a:p>
            <a:r>
              <a:rPr lang="en-US" altLang="zh-CN" sz="1600" dirty="0" err="1">
                <a:latin typeface="Monaco" panose="020B0509030404040204" pitchFamily="49" charset="0"/>
              </a:rPr>
              <a:t>p.test</a:t>
            </a:r>
            <a:endParaRPr lang="en-US" altLang="zh-CN" sz="1600" dirty="0">
              <a:latin typeface="Monaco" panose="020B0509030404040204" pitchFamily="49" charset="0"/>
            </a:endParaRPr>
          </a:p>
          <a:p>
            <a:r>
              <a:rPr lang="en-US" altLang="zh-CN" sz="1600" dirty="0">
                <a:latin typeface="Monaco" panose="020B0509030404040204" pitchFamily="49" charset="0"/>
              </a:rPr>
              <a:t>{</a:t>
            </a:r>
          </a:p>
          <a:p>
            <a:pPr lvl="1"/>
            <a:r>
              <a:rPr lang="en-US" altLang="zh-CN" sz="1600" dirty="0">
                <a:latin typeface="Monaco" panose="020B0509030404040204" pitchFamily="49" charset="0"/>
              </a:rPr>
              <a:t>width:11em; </a:t>
            </a:r>
          </a:p>
          <a:p>
            <a:pPr lvl="1"/>
            <a:r>
              <a:rPr lang="en-US" altLang="zh-CN" sz="1600" dirty="0">
                <a:latin typeface="Monaco" panose="020B0509030404040204" pitchFamily="49" charset="0"/>
              </a:rPr>
              <a:t>border:1px solid #000000;</a:t>
            </a:r>
          </a:p>
          <a:p>
            <a:pPr lvl="1"/>
            <a:r>
              <a:rPr lang="en-US" altLang="zh-CN" sz="1600" dirty="0" err="1">
                <a:latin typeface="Monaco" panose="020B0509030404040204" pitchFamily="49" charset="0"/>
              </a:rPr>
              <a:t>word-wrap:break-word</a:t>
            </a:r>
            <a:r>
              <a:rPr lang="en-US" altLang="zh-CN" sz="1600" dirty="0">
                <a:latin typeface="Monaco" panose="020B0509030404040204" pitchFamily="49" charset="0"/>
              </a:rPr>
              <a:t>;</a:t>
            </a:r>
          </a:p>
          <a:p>
            <a:r>
              <a:rPr lang="en-US" altLang="zh-CN" sz="1600" dirty="0">
                <a:latin typeface="Monaco" panose="020B0509030404040204" pitchFamily="49" charset="0"/>
              </a:rPr>
              <a:t>}</a:t>
            </a:r>
            <a:endParaRPr lang="en-US" altLang="zh-CN" sz="1600" dirty="0" smtClean="0">
              <a:latin typeface="Monaco" panose="020B0509030404040204" pitchFamily="49" charset="0"/>
            </a:endParaRPr>
          </a:p>
          <a:p>
            <a:endParaRPr lang="en-US" altLang="zh-CN" sz="1600" dirty="0">
              <a:latin typeface="Monaco" panose="020B0509030404040204" pitchFamily="49" charset="0"/>
            </a:endParaRPr>
          </a:p>
          <a:p>
            <a:r>
              <a:rPr lang="en-US" altLang="zh-CN" sz="1600" dirty="0" smtClean="0">
                <a:latin typeface="Monaco" panose="020B0509030404040204" pitchFamily="49" charset="0"/>
              </a:rPr>
              <a:t>&lt;</a:t>
            </a:r>
            <a:r>
              <a:rPr lang="en-US" altLang="zh-CN" sz="1600" dirty="0">
                <a:latin typeface="Monaco" panose="020B0509030404040204" pitchFamily="49" charset="0"/>
              </a:rPr>
              <a:t>p class="test</a:t>
            </a:r>
            <a:r>
              <a:rPr lang="en-US" altLang="zh-CN" sz="1600" dirty="0" smtClean="0">
                <a:latin typeface="Monaco" panose="020B0509030404040204" pitchFamily="49" charset="0"/>
              </a:rPr>
              <a:t>"&gt;</a:t>
            </a:r>
          </a:p>
          <a:p>
            <a:pPr lvl="1"/>
            <a:r>
              <a:rPr lang="en-US" altLang="zh-CN" sz="1600" dirty="0" smtClean="0">
                <a:latin typeface="Monaco" panose="020B0509030404040204" pitchFamily="49" charset="0"/>
              </a:rPr>
              <a:t>This </a:t>
            </a:r>
            <a:r>
              <a:rPr lang="en-US" altLang="zh-CN" sz="1600" dirty="0">
                <a:latin typeface="Monaco" panose="020B0509030404040204" pitchFamily="49" charset="0"/>
              </a:rPr>
              <a:t>paragraph contains a very long word: </a:t>
            </a:r>
            <a:r>
              <a:rPr lang="en-US" altLang="zh-CN" sz="1600" dirty="0" err="1">
                <a:latin typeface="Monaco" panose="020B0509030404040204" pitchFamily="49" charset="0"/>
              </a:rPr>
              <a:t>thisisaveryveryveryveryveryverylongword</a:t>
            </a:r>
            <a:r>
              <a:rPr lang="en-US" altLang="zh-CN" sz="1600" dirty="0">
                <a:latin typeface="Monaco" panose="020B0509030404040204" pitchFamily="49" charset="0"/>
              </a:rPr>
              <a:t>. The long word will break and wrap to the next line</a:t>
            </a:r>
            <a:r>
              <a:rPr lang="en-US" altLang="zh-CN" sz="1600" dirty="0" smtClean="0">
                <a:latin typeface="Monaco" panose="020B0509030404040204" pitchFamily="49" charset="0"/>
              </a:rPr>
              <a:t>.</a:t>
            </a:r>
          </a:p>
          <a:p>
            <a:r>
              <a:rPr lang="en-US" altLang="zh-CN" sz="1600" dirty="0" smtClean="0">
                <a:latin typeface="Monaco" panose="020B0509030404040204" pitchFamily="49" charset="0"/>
              </a:rPr>
              <a:t>&lt;/</a:t>
            </a:r>
            <a:r>
              <a:rPr lang="en-US" altLang="zh-CN" sz="1600" dirty="0">
                <a:latin typeface="Monaco" panose="020B0509030404040204" pitchFamily="49" charset="0"/>
              </a:rPr>
              <a:t>p</a:t>
            </a:r>
            <a:r>
              <a:rPr lang="en-US" altLang="zh-CN" sz="1600" dirty="0" smtClean="0">
                <a:latin typeface="Monaco" panose="020B0509030404040204" pitchFamily="49" charset="0"/>
              </a:rPr>
              <a:t>&gt;</a:t>
            </a:r>
          </a:p>
        </p:txBody>
      </p:sp>
      <p:pic>
        <p:nvPicPr>
          <p:cNvPr id="5" name="图片 4"/>
          <p:cNvPicPr>
            <a:picLocks noChangeAspect="1"/>
          </p:cNvPicPr>
          <p:nvPr/>
        </p:nvPicPr>
        <p:blipFill>
          <a:blip r:embed="rId3"/>
          <a:stretch>
            <a:fillRect/>
          </a:stretch>
        </p:blipFill>
        <p:spPr>
          <a:xfrm>
            <a:off x="6580366" y="3433415"/>
            <a:ext cx="1644703" cy="1644703"/>
          </a:xfrm>
          <a:prstGeom prst="rect">
            <a:avLst/>
          </a:prstGeom>
        </p:spPr>
      </p:pic>
      <p:pic>
        <p:nvPicPr>
          <p:cNvPr id="10" name="图片 9"/>
          <p:cNvPicPr>
            <a:picLocks noChangeAspect="1"/>
          </p:cNvPicPr>
          <p:nvPr/>
        </p:nvPicPr>
        <p:blipFill>
          <a:blip r:embed="rId4"/>
          <a:stretch>
            <a:fillRect/>
          </a:stretch>
        </p:blipFill>
        <p:spPr>
          <a:xfrm>
            <a:off x="8608749" y="3433415"/>
            <a:ext cx="3154394" cy="1644703"/>
          </a:xfrm>
          <a:prstGeom prst="rect">
            <a:avLst/>
          </a:prstGeom>
        </p:spPr>
      </p:pic>
      <p:sp>
        <p:nvSpPr>
          <p:cNvPr id="12" name="矩形 11"/>
          <p:cNvSpPr/>
          <p:nvPr/>
        </p:nvSpPr>
        <p:spPr>
          <a:xfrm>
            <a:off x="9820274" y="5275667"/>
            <a:ext cx="928459" cy="369332"/>
          </a:xfrm>
          <a:prstGeom prst="rect">
            <a:avLst/>
          </a:prstGeom>
        </p:spPr>
        <p:txBody>
          <a:bodyPr wrap="none">
            <a:spAutoFit/>
          </a:bodyPr>
          <a:lstStyle/>
          <a:p>
            <a:r>
              <a:rPr lang="en-US" altLang="zh-CN" b="1" dirty="0">
                <a:solidFill>
                  <a:schemeClr val="accent2"/>
                </a:solidFill>
              </a:rPr>
              <a:t>normal</a:t>
            </a:r>
          </a:p>
        </p:txBody>
      </p:sp>
      <p:sp>
        <p:nvSpPr>
          <p:cNvPr id="14" name="矩形 13"/>
          <p:cNvSpPr/>
          <p:nvPr/>
        </p:nvSpPr>
        <p:spPr>
          <a:xfrm>
            <a:off x="6756194" y="5289154"/>
            <a:ext cx="1426994" cy="369332"/>
          </a:xfrm>
          <a:prstGeom prst="rect">
            <a:avLst/>
          </a:prstGeom>
        </p:spPr>
        <p:txBody>
          <a:bodyPr wrap="none">
            <a:spAutoFit/>
          </a:bodyPr>
          <a:lstStyle/>
          <a:p>
            <a:r>
              <a:rPr lang="en-US" altLang="zh-CN" b="1" dirty="0">
                <a:solidFill>
                  <a:schemeClr val="accent2"/>
                </a:solidFill>
              </a:rPr>
              <a:t>break-word</a:t>
            </a:r>
          </a:p>
        </p:txBody>
      </p:sp>
    </p:spTree>
    <p:extLst>
      <p:ext uri="{BB962C8B-B14F-4D97-AF65-F5344CB8AC3E}">
        <p14:creationId xmlns:p14="http://schemas.microsoft.com/office/powerpoint/2010/main" val="408281876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文本与文字</a:t>
            </a:r>
          </a:p>
        </p:txBody>
      </p:sp>
      <p:sp>
        <p:nvSpPr>
          <p:cNvPr id="18" name="文本框 17"/>
          <p:cNvSpPr txBox="1"/>
          <p:nvPr/>
        </p:nvSpPr>
        <p:spPr>
          <a:xfrm>
            <a:off x="862540" y="1526334"/>
            <a:ext cx="8957733" cy="400110"/>
          </a:xfrm>
          <a:prstGeom prst="rect">
            <a:avLst/>
          </a:prstGeom>
          <a:noFill/>
        </p:spPr>
        <p:txBody>
          <a:bodyPr wrap="square" rtlCol="0">
            <a:spAutoFit/>
          </a:bodyPr>
          <a:lstStyle/>
          <a:p>
            <a:r>
              <a:rPr lang="en-US" altLang="zh-CN" sz="2000" b="1" dirty="0" smtClean="0">
                <a:solidFill>
                  <a:schemeClr val="accent2"/>
                </a:solidFill>
              </a:rPr>
              <a:t>@font-face</a:t>
            </a:r>
            <a:r>
              <a:rPr lang="zh-CN" altLang="en-US" sz="2000" b="1" dirty="0" smtClean="0">
                <a:solidFill>
                  <a:schemeClr val="accent2"/>
                </a:solidFill>
              </a:rPr>
              <a:t>规则</a:t>
            </a:r>
            <a:endParaRPr lang="en-US" altLang="zh-CN" sz="2000" b="1" dirty="0" smtClean="0">
              <a:solidFill>
                <a:schemeClr val="tx1">
                  <a:lumMod val="75000"/>
                  <a:lumOff val="25000"/>
                </a:schemeClr>
              </a:solidFill>
            </a:endParaRPr>
          </a:p>
        </p:txBody>
      </p:sp>
      <p:pic>
        <p:nvPicPr>
          <p:cNvPr id="2" name="图片 1"/>
          <p:cNvPicPr>
            <a:picLocks noChangeAspect="1"/>
          </p:cNvPicPr>
          <p:nvPr/>
        </p:nvPicPr>
        <p:blipFill>
          <a:blip r:embed="rId3"/>
          <a:stretch>
            <a:fillRect/>
          </a:stretch>
        </p:blipFill>
        <p:spPr>
          <a:xfrm>
            <a:off x="996332" y="2029526"/>
            <a:ext cx="4330877" cy="2081212"/>
          </a:xfrm>
          <a:prstGeom prst="rect">
            <a:avLst/>
          </a:prstGeom>
        </p:spPr>
      </p:pic>
      <p:sp>
        <p:nvSpPr>
          <p:cNvPr id="14" name="文本框 13"/>
          <p:cNvSpPr txBox="1"/>
          <p:nvPr/>
        </p:nvSpPr>
        <p:spPr>
          <a:xfrm>
            <a:off x="795867" y="4565945"/>
            <a:ext cx="8957733" cy="1692771"/>
          </a:xfrm>
          <a:prstGeom prst="rect">
            <a:avLst/>
          </a:prstGeom>
          <a:noFill/>
        </p:spPr>
        <p:txBody>
          <a:bodyPr wrap="square" rtlCol="0">
            <a:spAutoFit/>
          </a:bodyPr>
          <a:lstStyle/>
          <a:p>
            <a:r>
              <a:rPr lang="zh-CN" altLang="en-US" sz="2000" b="1" dirty="0" smtClean="0">
                <a:solidFill>
                  <a:schemeClr val="accent2"/>
                </a:solidFill>
              </a:rPr>
              <a:t>使用</a:t>
            </a:r>
            <a:endParaRPr lang="en-US" altLang="zh-CN" sz="2000" b="1" dirty="0" smtClean="0">
              <a:solidFill>
                <a:schemeClr val="accent2"/>
              </a:solidFill>
            </a:endParaRPr>
          </a:p>
          <a:p>
            <a:endParaRPr lang="en-US" altLang="zh-CN" sz="2000" b="1" dirty="0">
              <a:solidFill>
                <a:schemeClr val="accent2"/>
              </a:solidFill>
            </a:endParaRPr>
          </a:p>
          <a:p>
            <a:r>
              <a:rPr lang="en-US" altLang="zh-CN" sz="1600" b="1" dirty="0" smtClean="0">
                <a:solidFill>
                  <a:schemeClr val="tx1">
                    <a:lumMod val="85000"/>
                    <a:lumOff val="15000"/>
                  </a:schemeClr>
                </a:solidFill>
              </a:rPr>
              <a:t>1</a:t>
            </a:r>
            <a:r>
              <a:rPr lang="zh-CN" altLang="en-US" sz="1600" b="1" dirty="0" smtClean="0">
                <a:solidFill>
                  <a:schemeClr val="tx1">
                    <a:lumMod val="85000"/>
                    <a:lumOff val="15000"/>
                  </a:schemeClr>
                </a:solidFill>
              </a:rPr>
              <a:t>、下载字体  只有一种</a:t>
            </a:r>
            <a:r>
              <a:rPr lang="en-US" altLang="zh-CN" sz="1600" b="1" dirty="0" smtClean="0">
                <a:solidFill>
                  <a:schemeClr val="tx1">
                    <a:lumMod val="85000"/>
                    <a:lumOff val="15000"/>
                  </a:schemeClr>
                </a:solidFill>
              </a:rPr>
              <a:t>.</a:t>
            </a:r>
            <a:r>
              <a:rPr lang="en-US" altLang="zh-CN" sz="1600" b="1" dirty="0" err="1" smtClean="0">
                <a:solidFill>
                  <a:schemeClr val="tx1">
                    <a:lumMod val="85000"/>
                    <a:lumOff val="15000"/>
                  </a:schemeClr>
                </a:solidFill>
              </a:rPr>
              <a:t>ttf</a:t>
            </a:r>
            <a:r>
              <a:rPr lang="zh-CN" altLang="en-US" sz="1600" b="1" dirty="0" smtClean="0">
                <a:solidFill>
                  <a:schemeClr val="tx1">
                    <a:lumMod val="85000"/>
                    <a:lumOff val="15000"/>
                  </a:schemeClr>
                </a:solidFill>
              </a:rPr>
              <a:t>格式</a:t>
            </a:r>
            <a:endParaRPr lang="en-US" altLang="zh-CN" sz="1600" b="1" dirty="0" smtClean="0">
              <a:solidFill>
                <a:schemeClr val="tx1">
                  <a:lumMod val="85000"/>
                  <a:lumOff val="15000"/>
                </a:schemeClr>
              </a:solidFill>
            </a:endParaRPr>
          </a:p>
          <a:p>
            <a:endParaRPr lang="en-US" altLang="zh-CN" sz="1600" b="1" dirty="0" smtClean="0">
              <a:solidFill>
                <a:schemeClr val="tx1">
                  <a:lumMod val="85000"/>
                  <a:lumOff val="15000"/>
                </a:schemeClr>
              </a:solidFill>
            </a:endParaRPr>
          </a:p>
          <a:p>
            <a:endParaRPr lang="en-US" altLang="zh-CN" sz="1600" b="1" dirty="0">
              <a:solidFill>
                <a:schemeClr val="tx1">
                  <a:lumMod val="85000"/>
                  <a:lumOff val="15000"/>
                </a:schemeClr>
              </a:solidFill>
            </a:endParaRPr>
          </a:p>
          <a:p>
            <a:r>
              <a:rPr lang="en-US" altLang="zh-CN" sz="1600" b="1" dirty="0" smtClean="0">
                <a:solidFill>
                  <a:schemeClr val="tx1">
                    <a:lumMod val="85000"/>
                    <a:lumOff val="15000"/>
                  </a:schemeClr>
                </a:solidFill>
              </a:rPr>
              <a:t>2</a:t>
            </a:r>
            <a:r>
              <a:rPr lang="zh-CN" altLang="en-US" sz="1600" b="1" dirty="0" smtClean="0">
                <a:solidFill>
                  <a:schemeClr val="tx1">
                    <a:lumMod val="85000"/>
                    <a:lumOff val="15000"/>
                  </a:schemeClr>
                </a:solidFill>
              </a:rPr>
              <a:t>、需要生成其他格式字体文件 </a:t>
            </a:r>
            <a:endParaRPr lang="en-US" altLang="zh-CN" sz="1600" b="1" dirty="0" smtClean="0">
              <a:solidFill>
                <a:schemeClr val="tx1">
                  <a:lumMod val="85000"/>
                  <a:lumOff val="15000"/>
                </a:schemeClr>
              </a:solidFill>
            </a:endParaRPr>
          </a:p>
        </p:txBody>
      </p:sp>
      <p:pic>
        <p:nvPicPr>
          <p:cNvPr id="3" name="图片 2"/>
          <p:cNvPicPr>
            <a:picLocks noChangeAspect="1"/>
          </p:cNvPicPr>
          <p:nvPr/>
        </p:nvPicPr>
        <p:blipFill>
          <a:blip r:embed="rId4"/>
          <a:stretch>
            <a:fillRect/>
          </a:stretch>
        </p:blipFill>
        <p:spPr>
          <a:xfrm>
            <a:off x="4185003" y="4760994"/>
            <a:ext cx="933450" cy="1043990"/>
          </a:xfrm>
          <a:prstGeom prst="rect">
            <a:avLst/>
          </a:prstGeom>
        </p:spPr>
      </p:pic>
      <p:pic>
        <p:nvPicPr>
          <p:cNvPr id="5" name="图片 4"/>
          <p:cNvPicPr>
            <a:picLocks noChangeAspect="1"/>
          </p:cNvPicPr>
          <p:nvPr/>
        </p:nvPicPr>
        <p:blipFill>
          <a:blip r:embed="rId5"/>
          <a:stretch>
            <a:fillRect/>
          </a:stretch>
        </p:blipFill>
        <p:spPr>
          <a:xfrm>
            <a:off x="3599657" y="5826405"/>
            <a:ext cx="3205162" cy="962256"/>
          </a:xfrm>
          <a:prstGeom prst="rect">
            <a:avLst/>
          </a:prstGeom>
        </p:spPr>
      </p:pic>
      <p:sp>
        <p:nvSpPr>
          <p:cNvPr id="6" name="矩形 5"/>
          <p:cNvSpPr/>
          <p:nvPr/>
        </p:nvSpPr>
        <p:spPr>
          <a:xfrm>
            <a:off x="5517922" y="2826154"/>
            <a:ext cx="6185381" cy="646331"/>
          </a:xfrm>
          <a:prstGeom prst="rect">
            <a:avLst/>
          </a:prstGeom>
        </p:spPr>
        <p:txBody>
          <a:bodyPr wrap="square">
            <a:spAutoFit/>
          </a:bodyPr>
          <a:lstStyle/>
          <a:p>
            <a:r>
              <a:rPr lang="zh-CN" altLang="en-US" dirty="0" smtClean="0"/>
              <a:t>不同浏览器支持不同字体文件格式，在应用</a:t>
            </a:r>
            <a:r>
              <a:rPr lang="en-US" altLang="zh-CN" dirty="0" smtClean="0"/>
              <a:t>web</a:t>
            </a:r>
            <a:r>
              <a:rPr lang="zh-CN" altLang="en-US" dirty="0" smtClean="0"/>
              <a:t>字体前，需要生成同一种字体的不同格式文件。</a:t>
            </a:r>
            <a:endParaRPr lang="zh-CN" altLang="en-US" dirty="0"/>
          </a:p>
        </p:txBody>
      </p:sp>
    </p:spTree>
    <p:extLst>
      <p:ext uri="{BB962C8B-B14F-4D97-AF65-F5344CB8AC3E}">
        <p14:creationId xmlns:p14="http://schemas.microsoft.com/office/powerpoint/2010/main" val="37519828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文本与文字</a:t>
            </a:r>
          </a:p>
        </p:txBody>
      </p:sp>
      <p:sp>
        <p:nvSpPr>
          <p:cNvPr id="18" name="文本框 17"/>
          <p:cNvSpPr txBox="1"/>
          <p:nvPr/>
        </p:nvSpPr>
        <p:spPr>
          <a:xfrm>
            <a:off x="913038" y="1681207"/>
            <a:ext cx="8957733" cy="400110"/>
          </a:xfrm>
          <a:prstGeom prst="rect">
            <a:avLst/>
          </a:prstGeom>
          <a:noFill/>
        </p:spPr>
        <p:txBody>
          <a:bodyPr wrap="square" rtlCol="0">
            <a:spAutoFit/>
          </a:bodyPr>
          <a:lstStyle/>
          <a:p>
            <a:r>
              <a:rPr lang="en-US" altLang="zh-CN" sz="2000" b="1" dirty="0" smtClean="0">
                <a:solidFill>
                  <a:schemeClr val="accent2"/>
                </a:solidFill>
              </a:rPr>
              <a:t>@font-face</a:t>
            </a:r>
            <a:r>
              <a:rPr lang="zh-CN" altLang="en-US" sz="2000" b="1" dirty="0" smtClean="0">
                <a:solidFill>
                  <a:schemeClr val="accent2"/>
                </a:solidFill>
              </a:rPr>
              <a:t>规则</a:t>
            </a:r>
            <a:endParaRPr lang="en-US" altLang="zh-CN" sz="2000" b="1" dirty="0" smtClean="0">
              <a:solidFill>
                <a:schemeClr val="tx1">
                  <a:lumMod val="75000"/>
                  <a:lumOff val="25000"/>
                </a:schemeClr>
              </a:solidFill>
            </a:endParaRPr>
          </a:p>
        </p:txBody>
      </p:sp>
      <p:sp>
        <p:nvSpPr>
          <p:cNvPr id="6" name="矩形 5"/>
          <p:cNvSpPr/>
          <p:nvPr/>
        </p:nvSpPr>
        <p:spPr>
          <a:xfrm>
            <a:off x="913038" y="2197963"/>
            <a:ext cx="10202856" cy="2862322"/>
          </a:xfrm>
          <a:prstGeom prst="rect">
            <a:avLst/>
          </a:prstGeom>
        </p:spPr>
        <p:txBody>
          <a:bodyPr wrap="square">
            <a:spAutoFit/>
          </a:bodyPr>
          <a:lstStyle/>
          <a:p>
            <a:r>
              <a:rPr lang="en-US" altLang="zh-CN" dirty="0" smtClean="0">
                <a:latin typeface="Monaco" panose="020B0509030404040204" pitchFamily="49" charset="0"/>
              </a:rPr>
              <a:t>Web</a:t>
            </a:r>
            <a:r>
              <a:rPr lang="zh-CN" altLang="en-US" dirty="0" smtClean="0">
                <a:latin typeface="Monaco" panose="020B0509030404040204" pitchFamily="49" charset="0"/>
              </a:rPr>
              <a:t>字体首先用</a:t>
            </a:r>
            <a:r>
              <a:rPr lang="en-US" altLang="zh-CN" dirty="0" smtClean="0">
                <a:latin typeface="Monaco" panose="020B0509030404040204" pitchFamily="49" charset="0"/>
              </a:rPr>
              <a:t>@font-face</a:t>
            </a:r>
            <a:r>
              <a:rPr lang="zh-CN" altLang="en-US" dirty="0" smtClean="0">
                <a:latin typeface="Monaco" panose="020B0509030404040204" pitchFamily="49" charset="0"/>
              </a:rPr>
              <a:t>规则定义字体名称和来源，然后再用</a:t>
            </a:r>
            <a:r>
              <a:rPr lang="en-US" altLang="zh-CN" dirty="0" smtClean="0">
                <a:latin typeface="Monaco" panose="020B0509030404040204" pitchFamily="49" charset="0"/>
              </a:rPr>
              <a:t>font-family</a:t>
            </a:r>
            <a:r>
              <a:rPr lang="zh-CN" altLang="en-US" dirty="0" smtClean="0">
                <a:latin typeface="Monaco" panose="020B0509030404040204" pitchFamily="49" charset="0"/>
              </a:rPr>
              <a:t>引用该字体。语法格式如下：</a:t>
            </a:r>
            <a:endParaRPr lang="en-US" altLang="zh-CN" dirty="0" smtClean="0">
              <a:latin typeface="Monaco" panose="020B0509030404040204" pitchFamily="49" charset="0"/>
            </a:endParaRPr>
          </a:p>
          <a:p>
            <a:endParaRPr lang="en-US" altLang="zh-CN" dirty="0" smtClean="0">
              <a:latin typeface="Monaco" panose="020B0509030404040204" pitchFamily="49" charset="0"/>
            </a:endParaRPr>
          </a:p>
          <a:p>
            <a:r>
              <a:rPr lang="en-US" altLang="zh-CN" dirty="0" smtClean="0">
                <a:latin typeface="Monaco" panose="020B0509030404040204" pitchFamily="49" charset="0"/>
              </a:rPr>
              <a:t>@font-face{</a:t>
            </a:r>
          </a:p>
          <a:p>
            <a:r>
              <a:rPr lang="en-US" altLang="zh-CN" dirty="0" smtClean="0">
                <a:latin typeface="Monaco" panose="020B0509030404040204" pitchFamily="49" charset="0"/>
              </a:rPr>
              <a:t>	font-family:</a:t>
            </a:r>
            <a:r>
              <a:rPr lang="zh-CN" altLang="en-US" dirty="0" smtClean="0">
                <a:latin typeface="Monaco" panose="020B0509030404040204" pitchFamily="49" charset="0"/>
              </a:rPr>
              <a:t>字体名字</a:t>
            </a:r>
            <a:r>
              <a:rPr lang="en-US" altLang="zh-CN" dirty="0" smtClean="0">
                <a:latin typeface="Monaco" panose="020B0509030404040204" pitchFamily="49" charset="0"/>
              </a:rPr>
              <a:t>;</a:t>
            </a:r>
          </a:p>
          <a:p>
            <a:r>
              <a:rPr lang="en-US" altLang="zh-CN" dirty="0">
                <a:latin typeface="Monaco" panose="020B0509030404040204" pitchFamily="49" charset="0"/>
              </a:rPr>
              <a:t>	</a:t>
            </a:r>
            <a:r>
              <a:rPr lang="en-US" altLang="zh-CN" dirty="0" err="1" smtClean="0">
                <a:latin typeface="Monaco" panose="020B0509030404040204" pitchFamily="49" charset="0"/>
              </a:rPr>
              <a:t>src:url</a:t>
            </a:r>
            <a:r>
              <a:rPr lang="en-US" altLang="zh-CN" dirty="0" smtClean="0">
                <a:latin typeface="Monaco" panose="020B0509030404040204" pitchFamily="49" charset="0"/>
              </a:rPr>
              <a:t>(</a:t>
            </a:r>
            <a:r>
              <a:rPr lang="zh-CN" altLang="en-US" dirty="0" smtClean="0">
                <a:latin typeface="Monaco" panose="020B0509030404040204" pitchFamily="49" charset="0"/>
              </a:rPr>
              <a:t>字体来源文件</a:t>
            </a:r>
            <a:r>
              <a:rPr lang="en-US" altLang="zh-CN" dirty="0" smtClean="0">
                <a:latin typeface="Monaco" panose="020B0509030404040204" pitchFamily="49" charset="0"/>
              </a:rPr>
              <a:t>1),</a:t>
            </a:r>
          </a:p>
          <a:p>
            <a:r>
              <a:rPr lang="en-US" altLang="zh-CN" dirty="0" smtClean="0">
                <a:latin typeface="Monaco" panose="020B0509030404040204" pitchFamily="49" charset="0"/>
              </a:rPr>
              <a:t>           …</a:t>
            </a:r>
          </a:p>
          <a:p>
            <a:r>
              <a:rPr lang="en-US" altLang="zh-CN" dirty="0">
                <a:latin typeface="Monaco" panose="020B0509030404040204" pitchFamily="49" charset="0"/>
              </a:rPr>
              <a:t> </a:t>
            </a:r>
            <a:r>
              <a:rPr lang="en-US" altLang="zh-CN" dirty="0" smtClean="0">
                <a:latin typeface="Monaco" panose="020B0509030404040204" pitchFamily="49" charset="0"/>
              </a:rPr>
              <a:t>          </a:t>
            </a:r>
            <a:r>
              <a:rPr lang="en-US" altLang="zh-CN" dirty="0" err="1" smtClean="0">
                <a:latin typeface="Monaco" panose="020B0509030404040204" pitchFamily="49" charset="0"/>
              </a:rPr>
              <a:t>url</a:t>
            </a:r>
            <a:r>
              <a:rPr lang="en-US" altLang="zh-CN" dirty="0">
                <a:latin typeface="Monaco" panose="020B0509030404040204" pitchFamily="49" charset="0"/>
              </a:rPr>
              <a:t>(</a:t>
            </a:r>
            <a:r>
              <a:rPr lang="zh-CN" altLang="en-US" dirty="0">
                <a:latin typeface="Monaco" panose="020B0509030404040204" pitchFamily="49" charset="0"/>
              </a:rPr>
              <a:t>字体来</a:t>
            </a:r>
            <a:r>
              <a:rPr lang="zh-CN" altLang="en-US" dirty="0" smtClean="0">
                <a:latin typeface="Monaco" panose="020B0509030404040204" pitchFamily="49" charset="0"/>
              </a:rPr>
              <a:t>源文件</a:t>
            </a:r>
            <a:r>
              <a:rPr lang="en-US" altLang="zh-CN" dirty="0" smtClean="0">
                <a:latin typeface="Monaco" panose="020B0509030404040204" pitchFamily="49" charset="0"/>
              </a:rPr>
              <a:t>4);</a:t>
            </a:r>
            <a:endParaRPr lang="en-US" altLang="zh-CN" dirty="0">
              <a:latin typeface="Monaco" panose="020B0509030404040204" pitchFamily="49" charset="0"/>
            </a:endParaRPr>
          </a:p>
          <a:p>
            <a:endParaRPr lang="en-US" altLang="zh-CN" dirty="0">
              <a:latin typeface="Monaco" panose="020B0509030404040204" pitchFamily="49" charset="0"/>
            </a:endParaRPr>
          </a:p>
          <a:p>
            <a:r>
              <a:rPr lang="en-US" altLang="zh-CN" dirty="0" smtClean="0">
                <a:latin typeface="Monaco" panose="020B0509030404040204" pitchFamily="49" charset="0"/>
              </a:rPr>
              <a:t>}</a:t>
            </a:r>
            <a:endParaRPr lang="zh-CN" altLang="en-US" dirty="0">
              <a:latin typeface="Monaco" panose="020B0509030404040204" pitchFamily="49" charset="0"/>
            </a:endParaRPr>
          </a:p>
        </p:txBody>
      </p:sp>
    </p:spTree>
    <p:extLst>
      <p:ext uri="{BB962C8B-B14F-4D97-AF65-F5344CB8AC3E}">
        <p14:creationId xmlns:p14="http://schemas.microsoft.com/office/powerpoint/2010/main" val="30943282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文本与文字</a:t>
            </a:r>
          </a:p>
        </p:txBody>
      </p:sp>
      <p:sp>
        <p:nvSpPr>
          <p:cNvPr id="18" name="文本框 17"/>
          <p:cNvSpPr txBox="1"/>
          <p:nvPr/>
        </p:nvSpPr>
        <p:spPr>
          <a:xfrm>
            <a:off x="862541" y="1820907"/>
            <a:ext cx="8957733" cy="400110"/>
          </a:xfrm>
          <a:prstGeom prst="rect">
            <a:avLst/>
          </a:prstGeom>
          <a:noFill/>
        </p:spPr>
        <p:txBody>
          <a:bodyPr wrap="square" rtlCol="0">
            <a:spAutoFit/>
          </a:bodyPr>
          <a:lstStyle/>
          <a:p>
            <a:r>
              <a:rPr lang="en-US" altLang="zh-CN" sz="2000" b="1" dirty="0" smtClean="0">
                <a:solidFill>
                  <a:schemeClr val="accent2"/>
                </a:solidFill>
              </a:rPr>
              <a:t>@font-face</a:t>
            </a:r>
            <a:r>
              <a:rPr lang="zh-CN" altLang="en-US" sz="2000" b="1" dirty="0" smtClean="0">
                <a:solidFill>
                  <a:schemeClr val="accent2"/>
                </a:solidFill>
              </a:rPr>
              <a:t>规则</a:t>
            </a:r>
            <a:endParaRPr lang="en-US" altLang="zh-CN" sz="2000" b="1" dirty="0" smtClean="0">
              <a:solidFill>
                <a:schemeClr val="tx1">
                  <a:lumMod val="75000"/>
                  <a:lumOff val="25000"/>
                </a:schemeClr>
              </a:solidFill>
            </a:endParaRPr>
          </a:p>
        </p:txBody>
      </p:sp>
      <p:pic>
        <p:nvPicPr>
          <p:cNvPr id="2" name="图片 1"/>
          <p:cNvPicPr>
            <a:picLocks noChangeAspect="1"/>
          </p:cNvPicPr>
          <p:nvPr/>
        </p:nvPicPr>
        <p:blipFill>
          <a:blip r:embed="rId3"/>
          <a:stretch>
            <a:fillRect/>
          </a:stretch>
        </p:blipFill>
        <p:spPr>
          <a:xfrm>
            <a:off x="1014060" y="2347806"/>
            <a:ext cx="5938799" cy="4373669"/>
          </a:xfrm>
          <a:prstGeom prst="rect">
            <a:avLst/>
          </a:prstGeom>
        </p:spPr>
      </p:pic>
      <p:cxnSp>
        <p:nvCxnSpPr>
          <p:cNvPr id="6" name="直接箭头连接符 5"/>
          <p:cNvCxnSpPr/>
          <p:nvPr/>
        </p:nvCxnSpPr>
        <p:spPr>
          <a:xfrm flipH="1">
            <a:off x="4450080" y="1609871"/>
            <a:ext cx="1229360" cy="1289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57418" y="1410606"/>
            <a:ext cx="1569660" cy="369332"/>
          </a:xfrm>
          <a:prstGeom prst="rect">
            <a:avLst/>
          </a:prstGeom>
        </p:spPr>
        <p:txBody>
          <a:bodyPr wrap="none">
            <a:spAutoFit/>
          </a:bodyPr>
          <a:lstStyle/>
          <a:p>
            <a:r>
              <a:rPr lang="zh-CN" altLang="en-US" dirty="0" smtClean="0"/>
              <a:t>定义字体名称</a:t>
            </a:r>
            <a:endParaRPr lang="zh-CN" altLang="en-US" dirty="0"/>
          </a:p>
        </p:txBody>
      </p:sp>
      <p:cxnSp>
        <p:nvCxnSpPr>
          <p:cNvPr id="16" name="直接箭头连接符 15"/>
          <p:cNvCxnSpPr/>
          <p:nvPr/>
        </p:nvCxnSpPr>
        <p:spPr>
          <a:xfrm flipH="1">
            <a:off x="5974751" y="1913938"/>
            <a:ext cx="1229360" cy="1289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7182089" y="1714673"/>
            <a:ext cx="1569660" cy="369332"/>
          </a:xfrm>
          <a:prstGeom prst="rect">
            <a:avLst/>
          </a:prstGeom>
        </p:spPr>
        <p:txBody>
          <a:bodyPr wrap="none">
            <a:spAutoFit/>
          </a:bodyPr>
          <a:lstStyle/>
          <a:p>
            <a:r>
              <a:rPr lang="zh-CN" altLang="en-US" dirty="0" smtClean="0"/>
              <a:t>定义字体来源</a:t>
            </a:r>
            <a:endParaRPr lang="zh-CN" altLang="en-US" dirty="0"/>
          </a:p>
        </p:txBody>
      </p:sp>
      <p:cxnSp>
        <p:nvCxnSpPr>
          <p:cNvPr id="20" name="直接箭头连接符 19"/>
          <p:cNvCxnSpPr>
            <a:stCxn id="21" idx="1"/>
          </p:cNvCxnSpPr>
          <p:nvPr/>
        </p:nvCxnSpPr>
        <p:spPr>
          <a:xfrm flipH="1">
            <a:off x="4572001" y="4443036"/>
            <a:ext cx="2794252" cy="824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366253" y="4258370"/>
            <a:ext cx="1107996" cy="369332"/>
          </a:xfrm>
          <a:prstGeom prst="rect">
            <a:avLst/>
          </a:prstGeom>
        </p:spPr>
        <p:txBody>
          <a:bodyPr wrap="none">
            <a:spAutoFit/>
          </a:bodyPr>
          <a:lstStyle/>
          <a:p>
            <a:r>
              <a:rPr lang="zh-CN" altLang="en-US" dirty="0" smtClean="0"/>
              <a:t>引用字体</a:t>
            </a:r>
            <a:endParaRPr lang="zh-CN" altLang="en-US" dirty="0"/>
          </a:p>
        </p:txBody>
      </p:sp>
    </p:spTree>
    <p:extLst>
      <p:ext uri="{BB962C8B-B14F-4D97-AF65-F5344CB8AC3E}">
        <p14:creationId xmlns:p14="http://schemas.microsoft.com/office/powerpoint/2010/main" val="40342990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749735" y="1695687"/>
            <a:ext cx="10997329" cy="3970318"/>
          </a:xfrm>
          <a:prstGeom prst="rect">
            <a:avLst/>
          </a:prstGeom>
        </p:spPr>
        <p:txBody>
          <a:bodyPr wrap="square">
            <a:spAutoFit/>
          </a:bodyPr>
          <a:lstStyle/>
          <a:p>
            <a:pPr>
              <a:lnSpc>
                <a:spcPct val="150000"/>
              </a:lnSpc>
            </a:pPr>
            <a:r>
              <a:rPr lang="zh-CN" altLang="en-US" sz="2400" dirty="0">
                <a:latin typeface="Monaco" panose="020B0509030404040204" pitchFamily="49" charset="0"/>
              </a:rPr>
              <a:t>变换（</a:t>
            </a:r>
            <a:r>
              <a:rPr lang="en-US" altLang="zh-CN" sz="2400" dirty="0">
                <a:latin typeface="Monaco" panose="020B0509030404040204" pitchFamily="49" charset="0"/>
              </a:rPr>
              <a:t>transform</a:t>
            </a:r>
            <a:r>
              <a:rPr lang="zh-CN" altLang="en-US" sz="2400" dirty="0">
                <a:latin typeface="Monaco" panose="020B0509030404040204" pitchFamily="49" charset="0"/>
              </a:rPr>
              <a:t>）是</a:t>
            </a:r>
            <a:r>
              <a:rPr lang="en-US" altLang="zh-CN" sz="2400" dirty="0">
                <a:latin typeface="Monaco" panose="020B0509030404040204" pitchFamily="49" charset="0"/>
              </a:rPr>
              <a:t>CSS3</a:t>
            </a:r>
            <a:r>
              <a:rPr lang="zh-CN" altLang="en-US" sz="2400" dirty="0">
                <a:latin typeface="Monaco" panose="020B0509030404040204" pitchFamily="49" charset="0"/>
              </a:rPr>
              <a:t>中具有颠覆性的特征</a:t>
            </a:r>
            <a:r>
              <a:rPr lang="zh-CN" altLang="en-US" sz="2400" dirty="0" smtClean="0">
                <a:latin typeface="Monaco" panose="020B0509030404040204" pitchFamily="49" charset="0"/>
              </a:rPr>
              <a:t>之一，可以</a:t>
            </a:r>
            <a:r>
              <a:rPr lang="zh-CN" altLang="en-US" sz="2400" dirty="0">
                <a:latin typeface="Monaco" panose="020B0509030404040204" pitchFamily="49" charset="0"/>
              </a:rPr>
              <a:t>实现元素的位移、旋转、缩放等</a:t>
            </a:r>
            <a:r>
              <a:rPr lang="zh-CN" altLang="en-US" sz="2400" dirty="0" smtClean="0">
                <a:latin typeface="Monaco" panose="020B0509030404040204" pitchFamily="49" charset="0"/>
              </a:rPr>
              <a:t>效果。</a:t>
            </a:r>
            <a:endParaRPr lang="en-US" altLang="zh-CN" sz="2400" dirty="0" smtClean="0">
              <a:latin typeface="Monaco" panose="020B0509030404040204" pitchFamily="49" charset="0"/>
            </a:endParaRPr>
          </a:p>
          <a:p>
            <a:pPr>
              <a:lnSpc>
                <a:spcPct val="150000"/>
              </a:lnSpc>
            </a:pPr>
            <a:r>
              <a:rPr lang="zh-CN" altLang="en-US" sz="2400" dirty="0">
                <a:latin typeface="Monaco" panose="020B0509030404040204" pitchFamily="49" charset="0"/>
              </a:rPr>
              <a:t>变换（</a:t>
            </a:r>
            <a:r>
              <a:rPr lang="en-US" altLang="zh-CN" sz="2400" dirty="0">
                <a:latin typeface="Monaco" panose="020B0509030404040204" pitchFamily="49" charset="0"/>
              </a:rPr>
              <a:t>transform</a:t>
            </a:r>
            <a:r>
              <a:rPr lang="zh-CN" altLang="en-US" sz="2400" dirty="0" smtClean="0">
                <a:latin typeface="Monaco" panose="020B0509030404040204" pitchFamily="49" charset="0"/>
              </a:rPr>
              <a:t>）可以</a:t>
            </a:r>
            <a:r>
              <a:rPr lang="zh-CN" altLang="en-US" sz="2400" dirty="0">
                <a:latin typeface="Monaco" panose="020B0509030404040204" pitchFamily="49" charset="0"/>
              </a:rPr>
              <a:t>简单理解为</a:t>
            </a:r>
            <a:r>
              <a:rPr lang="zh-CN" altLang="en-US" sz="2400" dirty="0" smtClean="0">
                <a:latin typeface="Monaco" panose="020B0509030404040204" pitchFamily="49" charset="0"/>
              </a:rPr>
              <a:t>变形。</a:t>
            </a:r>
            <a:endParaRPr lang="zh-CN" altLang="en-US" sz="2400" dirty="0">
              <a:latin typeface="Monaco" panose="020B0509030404040204" pitchFamily="49" charset="0"/>
            </a:endParaRPr>
          </a:p>
          <a:p>
            <a:pPr>
              <a:lnSpc>
                <a:spcPct val="150000"/>
              </a:lnSpc>
            </a:pPr>
            <a:r>
              <a:rPr lang="zh-CN" altLang="en-US" sz="2400" dirty="0">
                <a:latin typeface="Monaco" panose="020B0509030404040204" pitchFamily="49" charset="0"/>
              </a:rPr>
              <a:t> 移动：</a:t>
            </a:r>
            <a:r>
              <a:rPr lang="en-US" altLang="zh-CN" sz="2400" dirty="0">
                <a:latin typeface="Monaco" panose="020B0509030404040204" pitchFamily="49" charset="0"/>
              </a:rPr>
              <a:t>translate</a:t>
            </a:r>
          </a:p>
          <a:p>
            <a:pPr>
              <a:lnSpc>
                <a:spcPct val="150000"/>
              </a:lnSpc>
            </a:pPr>
            <a:r>
              <a:rPr lang="en-US" altLang="zh-CN" sz="2400" dirty="0">
                <a:latin typeface="Monaco" panose="020B0509030404040204" pitchFamily="49" charset="0"/>
              </a:rPr>
              <a:t> </a:t>
            </a:r>
            <a:r>
              <a:rPr lang="zh-CN" altLang="en-US" sz="2400" dirty="0">
                <a:latin typeface="Monaco" panose="020B0509030404040204" pitchFamily="49" charset="0"/>
              </a:rPr>
              <a:t>旋转：</a:t>
            </a:r>
            <a:r>
              <a:rPr lang="en-US" altLang="zh-CN" sz="2400" dirty="0">
                <a:latin typeface="Monaco" panose="020B0509030404040204" pitchFamily="49" charset="0"/>
              </a:rPr>
              <a:t>rotate</a:t>
            </a:r>
          </a:p>
          <a:p>
            <a:pPr>
              <a:lnSpc>
                <a:spcPct val="150000"/>
              </a:lnSpc>
            </a:pPr>
            <a:r>
              <a:rPr lang="en-US" altLang="zh-CN" sz="2400" dirty="0">
                <a:latin typeface="Monaco" panose="020B0509030404040204" pitchFamily="49" charset="0"/>
              </a:rPr>
              <a:t> </a:t>
            </a:r>
            <a:r>
              <a:rPr lang="zh-CN" altLang="en-US" sz="2400" dirty="0">
                <a:latin typeface="Monaco" panose="020B0509030404040204" pitchFamily="49" charset="0"/>
              </a:rPr>
              <a:t>缩放：</a:t>
            </a:r>
            <a:r>
              <a:rPr lang="en-US" altLang="zh-CN" sz="2400" dirty="0" smtClean="0">
                <a:latin typeface="Monaco" panose="020B0509030404040204" pitchFamily="49" charset="0"/>
              </a:rPr>
              <a:t>scale</a:t>
            </a:r>
          </a:p>
          <a:p>
            <a:pPr>
              <a:lnSpc>
                <a:spcPct val="150000"/>
              </a:lnSpc>
            </a:pPr>
            <a:r>
              <a:rPr lang="en-US" altLang="zh-CN" sz="2400" dirty="0" smtClean="0">
                <a:latin typeface="Monaco" panose="020B0509030404040204" pitchFamily="49" charset="0"/>
              </a:rPr>
              <a:t> </a:t>
            </a:r>
            <a:r>
              <a:rPr lang="zh-CN" altLang="en-US" sz="2400" dirty="0" smtClean="0">
                <a:latin typeface="Monaco" panose="020B0509030404040204" pitchFamily="49" charset="0"/>
              </a:rPr>
              <a:t>倾斜：</a:t>
            </a:r>
            <a:r>
              <a:rPr lang="en-US" altLang="zh-CN" sz="2400" dirty="0" smtClean="0">
                <a:latin typeface="Monaco" panose="020B0509030404040204" pitchFamily="49" charset="0"/>
              </a:rPr>
              <a:t>skew</a:t>
            </a:r>
            <a:endParaRPr lang="en-US" altLang="zh-CN" sz="2400" dirty="0">
              <a:latin typeface="Monaco" panose="020B0509030404040204" pitchFamily="49" charset="0"/>
            </a:endParaRPr>
          </a:p>
        </p:txBody>
      </p:sp>
    </p:spTree>
    <p:extLst>
      <p:ext uri="{BB962C8B-B14F-4D97-AF65-F5344CB8AC3E}">
        <p14:creationId xmlns:p14="http://schemas.microsoft.com/office/powerpoint/2010/main" val="426024286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795867" y="1422536"/>
            <a:ext cx="9848850" cy="463973"/>
          </a:xfrm>
          <a:prstGeom prst="rect">
            <a:avLst/>
          </a:prstGeom>
        </p:spPr>
        <p:txBody>
          <a:bodyPr wrap="square">
            <a:spAutoFit/>
          </a:bodyPr>
          <a:lstStyle/>
          <a:p>
            <a:pPr>
              <a:lnSpc>
                <a:spcPct val="150000"/>
              </a:lnSpc>
            </a:pPr>
            <a:r>
              <a:rPr lang="en-US" altLang="zh-CN" dirty="0" smtClean="0">
                <a:latin typeface="Monaco" panose="020B0509030404040204" pitchFamily="49" charset="0"/>
              </a:rPr>
              <a:t>transform</a:t>
            </a:r>
            <a:r>
              <a:rPr lang="zh-CN" altLang="en-US" dirty="0" smtClean="0">
                <a:latin typeface="Monaco" panose="020B0509030404040204" pitchFamily="49" charset="0"/>
              </a:rPr>
              <a:t>属性的常用方法</a:t>
            </a:r>
            <a:endParaRPr lang="zh-CN" altLang="en-US" dirty="0">
              <a:latin typeface="Monaco" panose="020B0509030404040204" pitchFamily="49"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1863912637"/>
              </p:ext>
            </p:extLst>
          </p:nvPr>
        </p:nvGraphicFramePr>
        <p:xfrm>
          <a:off x="873017" y="2016885"/>
          <a:ext cx="10045951" cy="4079240"/>
        </p:xfrm>
        <a:graphic>
          <a:graphicData uri="http://schemas.openxmlformats.org/drawingml/2006/table">
            <a:tbl>
              <a:tblPr firstRow="1" bandRow="1">
                <a:tableStyleId>{5C22544A-7EE6-4342-B048-85BDC9FD1C3A}</a:tableStyleId>
              </a:tblPr>
              <a:tblGrid>
                <a:gridCol w="2784583">
                  <a:extLst>
                    <a:ext uri="{9D8B030D-6E8A-4147-A177-3AD203B41FA5}">
                      <a16:colId xmlns:a16="http://schemas.microsoft.com/office/drawing/2014/main" val="119729180"/>
                    </a:ext>
                  </a:extLst>
                </a:gridCol>
                <a:gridCol w="7261368">
                  <a:extLst>
                    <a:ext uri="{9D8B030D-6E8A-4147-A177-3AD203B41FA5}">
                      <a16:colId xmlns:a16="http://schemas.microsoft.com/office/drawing/2014/main" val="134691052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Monaco" panose="020B0509030404040204" pitchFamily="49" charset="0"/>
                        </a:rPr>
                        <a:t>transform</a:t>
                      </a:r>
                      <a:r>
                        <a:rPr lang="zh-CN" altLang="en-US" sz="1600" dirty="0" smtClean="0">
                          <a:latin typeface="Monaco" panose="020B0509030404040204" pitchFamily="49" charset="0"/>
                        </a:rPr>
                        <a:t>属性常用方法</a:t>
                      </a:r>
                    </a:p>
                  </a:txBody>
                  <a:tcPr/>
                </a:tc>
                <a:tc>
                  <a:txBody>
                    <a:bodyPr/>
                    <a:lstStyle/>
                    <a:p>
                      <a:r>
                        <a:rPr lang="zh-CN" altLang="en-US" sz="1600" dirty="0" smtClean="0">
                          <a:latin typeface="Monaco" panose="020B0509030404040204" pitchFamily="49" charset="0"/>
                        </a:rPr>
                        <a:t>说明</a:t>
                      </a:r>
                      <a:endParaRPr lang="zh-CN" altLang="en-US" sz="1600" dirty="0">
                        <a:latin typeface="Monaco" panose="020B0509030404040204" pitchFamily="49" charset="0"/>
                      </a:endParaRPr>
                    </a:p>
                  </a:txBody>
                  <a:tcPr/>
                </a:tc>
                <a:extLst>
                  <a:ext uri="{0D108BD9-81ED-4DB2-BD59-A6C34878D82A}">
                    <a16:rowId xmlns:a16="http://schemas.microsoft.com/office/drawing/2014/main" val="980080042"/>
                  </a:ext>
                </a:extLst>
              </a:tr>
              <a:tr h="370840">
                <a:tc>
                  <a:txBody>
                    <a:bodyPr/>
                    <a:lstStyle/>
                    <a:p>
                      <a:r>
                        <a:rPr lang="en-US" altLang="zh-CN" sz="1600" dirty="0" smtClean="0">
                          <a:latin typeface="Monaco" panose="020B0509030404040204" pitchFamily="49" charset="0"/>
                        </a:rPr>
                        <a:t>translate(</a:t>
                      </a:r>
                      <a:r>
                        <a:rPr lang="en-US" altLang="zh-CN" sz="1600" dirty="0" err="1" smtClean="0">
                          <a:latin typeface="Monaco" panose="020B0509030404040204" pitchFamily="49" charset="0"/>
                        </a:rPr>
                        <a:t>x,y</a:t>
                      </a:r>
                      <a:r>
                        <a:rPr lang="en-US" altLang="zh-CN" sz="1600" dirty="0" smtClean="0">
                          <a:latin typeface="Monaco" panose="020B0509030404040204" pitchFamily="49" charset="0"/>
                        </a:rPr>
                        <a:t>)</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移动：沿</a:t>
                      </a:r>
                      <a:r>
                        <a:rPr lang="en-US" altLang="zh-CN" sz="1600" dirty="0" smtClean="0">
                          <a:latin typeface="Monaco" panose="020B0509030404040204" pitchFamily="49" charset="0"/>
                        </a:rPr>
                        <a:t>X</a:t>
                      </a:r>
                      <a:r>
                        <a:rPr lang="zh-CN" altLang="en-US" sz="1600" dirty="0" smtClean="0">
                          <a:latin typeface="Monaco" panose="020B0509030404040204" pitchFamily="49" charset="0"/>
                        </a:rPr>
                        <a:t>和</a:t>
                      </a:r>
                      <a:r>
                        <a:rPr lang="en-US" altLang="zh-CN" sz="1600" dirty="0" smtClean="0">
                          <a:latin typeface="Monaco" panose="020B0509030404040204" pitchFamily="49" charset="0"/>
                        </a:rPr>
                        <a:t>Y</a:t>
                      </a:r>
                      <a:r>
                        <a:rPr lang="zh-CN" altLang="en-US" sz="1600" dirty="0" smtClean="0">
                          <a:latin typeface="Monaco" panose="020B0509030404040204" pitchFamily="49" charset="0"/>
                        </a:rPr>
                        <a:t>轴</a:t>
                      </a:r>
                      <a:endParaRPr lang="zh-CN" altLang="en-US" sz="1600" dirty="0">
                        <a:latin typeface="Monaco" panose="020B0509030404040204" pitchFamily="49" charset="0"/>
                      </a:endParaRPr>
                    </a:p>
                  </a:txBody>
                  <a:tcPr/>
                </a:tc>
                <a:extLst>
                  <a:ext uri="{0D108BD9-81ED-4DB2-BD59-A6C34878D82A}">
                    <a16:rowId xmlns:a16="http://schemas.microsoft.com/office/drawing/2014/main" val="25744183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translateX</a:t>
                      </a:r>
                      <a:r>
                        <a:rPr lang="en-US" altLang="zh-CN" sz="1600" dirty="0" smtClean="0">
                          <a:latin typeface="Monaco" panose="020B0509030404040204" pitchFamily="49" charset="0"/>
                        </a:rPr>
                        <a:t>(n)</a:t>
                      </a:r>
                      <a:endParaRPr lang="zh-CN" altLang="en-US" sz="1600" dirty="0" smtClean="0">
                        <a:latin typeface="Monaco" panose="020B050903040404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latin typeface="Monaco" panose="020B0509030404040204" pitchFamily="49" charset="0"/>
                        </a:rPr>
                        <a:t>移动：沿</a:t>
                      </a:r>
                      <a:r>
                        <a:rPr lang="en-US" altLang="zh-CN" sz="1600" dirty="0" smtClean="0">
                          <a:latin typeface="Monaco" panose="020B0509030404040204" pitchFamily="49" charset="0"/>
                        </a:rPr>
                        <a:t>X</a:t>
                      </a:r>
                      <a:r>
                        <a:rPr lang="zh-CN" altLang="en-US" sz="1600" dirty="0" smtClean="0">
                          <a:latin typeface="Monaco" panose="020B0509030404040204" pitchFamily="49" charset="0"/>
                        </a:rPr>
                        <a:t>轴</a:t>
                      </a:r>
                    </a:p>
                  </a:txBody>
                  <a:tcPr/>
                </a:tc>
                <a:extLst>
                  <a:ext uri="{0D108BD9-81ED-4DB2-BD59-A6C34878D82A}">
                    <a16:rowId xmlns:a16="http://schemas.microsoft.com/office/drawing/2014/main" val="23823115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translateY</a:t>
                      </a:r>
                      <a:r>
                        <a:rPr lang="en-US" altLang="zh-CN" sz="1600" dirty="0" smtClean="0">
                          <a:latin typeface="Monaco" panose="020B0509030404040204" pitchFamily="49" charset="0"/>
                        </a:rPr>
                        <a:t>(n)</a:t>
                      </a:r>
                      <a:endParaRPr lang="zh-CN" altLang="en-US" sz="1600" dirty="0" smtClean="0">
                        <a:latin typeface="Monaco" panose="020B050903040404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latin typeface="Monaco" panose="020B0509030404040204" pitchFamily="49" charset="0"/>
                        </a:rPr>
                        <a:t>移动：沿</a:t>
                      </a:r>
                      <a:r>
                        <a:rPr lang="en-US" altLang="zh-CN" sz="1600" dirty="0" smtClean="0">
                          <a:latin typeface="Monaco" panose="020B0509030404040204" pitchFamily="49" charset="0"/>
                        </a:rPr>
                        <a:t>Y</a:t>
                      </a:r>
                      <a:r>
                        <a:rPr lang="zh-CN" altLang="en-US" sz="1600" dirty="0" smtClean="0">
                          <a:latin typeface="Monaco" panose="020B0509030404040204" pitchFamily="49" charset="0"/>
                        </a:rPr>
                        <a:t>轴</a:t>
                      </a:r>
                    </a:p>
                  </a:txBody>
                  <a:tcPr/>
                </a:tc>
                <a:extLst>
                  <a:ext uri="{0D108BD9-81ED-4DB2-BD59-A6C34878D82A}">
                    <a16:rowId xmlns:a16="http://schemas.microsoft.com/office/drawing/2014/main" val="3332239316"/>
                  </a:ext>
                </a:extLst>
              </a:tr>
              <a:tr h="370840">
                <a:tc>
                  <a:txBody>
                    <a:bodyPr/>
                    <a:lstStyle/>
                    <a:p>
                      <a:r>
                        <a:rPr lang="en-US" altLang="zh-CN" sz="1600" dirty="0" smtClean="0">
                          <a:latin typeface="Monaco" panose="020B0509030404040204" pitchFamily="49" charset="0"/>
                        </a:rPr>
                        <a:t>rotate(angle)</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旋转：单位是</a:t>
                      </a:r>
                      <a:r>
                        <a:rPr lang="en-US" altLang="zh-CN" sz="1600" dirty="0" err="1" smtClean="0">
                          <a:latin typeface="Monaco" panose="020B0509030404040204" pitchFamily="49" charset="0"/>
                        </a:rPr>
                        <a:t>deg</a:t>
                      </a:r>
                      <a:r>
                        <a:rPr lang="zh-CN" altLang="en-US" sz="1600" dirty="0" smtClean="0">
                          <a:latin typeface="Monaco" panose="020B0509030404040204" pitchFamily="49" charset="0"/>
                        </a:rPr>
                        <a:t>（角度），正数为顺时针，负数为逆时针</a:t>
                      </a:r>
                      <a:endParaRPr lang="zh-CN" altLang="en-US" sz="1600" dirty="0">
                        <a:latin typeface="Monaco" panose="020B0509030404040204" pitchFamily="49" charset="0"/>
                      </a:endParaRPr>
                    </a:p>
                  </a:txBody>
                  <a:tcPr/>
                </a:tc>
                <a:extLst>
                  <a:ext uri="{0D108BD9-81ED-4DB2-BD59-A6C34878D82A}">
                    <a16:rowId xmlns:a16="http://schemas.microsoft.com/office/drawing/2014/main" val="4246294159"/>
                  </a:ext>
                </a:extLst>
              </a:tr>
              <a:tr h="370840">
                <a:tc>
                  <a:txBody>
                    <a:bodyPr/>
                    <a:lstStyle/>
                    <a:p>
                      <a:r>
                        <a:rPr lang="en-US" altLang="zh-CN" sz="1600" dirty="0" smtClean="0">
                          <a:latin typeface="Monaco" panose="020B0509030404040204" pitchFamily="49" charset="0"/>
                        </a:rPr>
                        <a:t>scale(</a:t>
                      </a:r>
                      <a:r>
                        <a:rPr lang="en-US" altLang="zh-CN" sz="1600" dirty="0" err="1" smtClean="0">
                          <a:latin typeface="Monaco" panose="020B0509030404040204" pitchFamily="49" charset="0"/>
                        </a:rPr>
                        <a:t>x,y</a:t>
                      </a:r>
                      <a:r>
                        <a:rPr lang="en-US" altLang="zh-CN" sz="1600" dirty="0" smtClean="0">
                          <a:latin typeface="Monaco" panose="020B0509030404040204" pitchFamily="49" charset="0"/>
                        </a:rPr>
                        <a:t>)</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缩放：改变元素的宽度和高度，</a:t>
                      </a:r>
                      <a:r>
                        <a:rPr lang="en-US" altLang="zh-CN" sz="1600" dirty="0" smtClean="0">
                          <a:latin typeface="Monaco" panose="020B0509030404040204" pitchFamily="49" charset="0"/>
                        </a:rPr>
                        <a:t>&lt;1</a:t>
                      </a:r>
                      <a:r>
                        <a:rPr lang="zh-CN" altLang="en-US" sz="1600" dirty="0" smtClean="0">
                          <a:latin typeface="Monaco" panose="020B0509030404040204" pitchFamily="49" charset="0"/>
                        </a:rPr>
                        <a:t>为缩小，</a:t>
                      </a:r>
                      <a:r>
                        <a:rPr lang="en-US" altLang="zh-CN" sz="1600" dirty="0" smtClean="0">
                          <a:latin typeface="Monaco" panose="020B0509030404040204" pitchFamily="49" charset="0"/>
                        </a:rPr>
                        <a:t>&gt;1</a:t>
                      </a:r>
                      <a:r>
                        <a:rPr lang="zh-CN" altLang="en-US" sz="1600" dirty="0" smtClean="0">
                          <a:latin typeface="Monaco" panose="020B0509030404040204" pitchFamily="49" charset="0"/>
                        </a:rPr>
                        <a:t>为放大</a:t>
                      </a:r>
                      <a:endParaRPr lang="zh-CN" altLang="en-US" sz="1600" dirty="0">
                        <a:latin typeface="Monaco" panose="020B0509030404040204" pitchFamily="49" charset="0"/>
                      </a:endParaRPr>
                    </a:p>
                  </a:txBody>
                  <a:tcPr/>
                </a:tc>
                <a:extLst>
                  <a:ext uri="{0D108BD9-81ED-4DB2-BD59-A6C34878D82A}">
                    <a16:rowId xmlns:a16="http://schemas.microsoft.com/office/drawing/2014/main" val="293630163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scaleX</a:t>
                      </a:r>
                      <a:r>
                        <a:rPr lang="en-US" altLang="zh-CN" sz="1600" dirty="0" smtClean="0">
                          <a:latin typeface="Monaco" panose="020B0509030404040204" pitchFamily="49" charset="0"/>
                        </a:rPr>
                        <a:t>(n)</a:t>
                      </a:r>
                      <a:endParaRPr lang="zh-CN" altLang="en-US" sz="1600" dirty="0" smtClean="0">
                        <a:latin typeface="Monaco" panose="020B0509030404040204" pitchFamily="49" charset="0"/>
                      </a:endParaRPr>
                    </a:p>
                  </a:txBody>
                  <a:tcPr/>
                </a:tc>
                <a:tc>
                  <a:txBody>
                    <a:bodyPr/>
                    <a:lstStyle/>
                    <a:p>
                      <a:r>
                        <a:rPr lang="zh-CN" altLang="en-US" sz="1600" dirty="0" smtClean="0">
                          <a:latin typeface="Monaco" panose="020B0509030404040204" pitchFamily="49" charset="0"/>
                        </a:rPr>
                        <a:t>缩放：改变元素的宽度</a:t>
                      </a:r>
                      <a:endParaRPr lang="zh-CN" altLang="en-US" sz="1600" dirty="0">
                        <a:latin typeface="Monaco" panose="020B0509030404040204" pitchFamily="49" charset="0"/>
                      </a:endParaRPr>
                    </a:p>
                  </a:txBody>
                  <a:tcPr/>
                </a:tc>
                <a:extLst>
                  <a:ext uri="{0D108BD9-81ED-4DB2-BD59-A6C34878D82A}">
                    <a16:rowId xmlns:a16="http://schemas.microsoft.com/office/drawing/2014/main" val="7229275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scaleY</a:t>
                      </a:r>
                      <a:r>
                        <a:rPr lang="en-US" altLang="zh-CN" sz="1600" dirty="0" smtClean="0">
                          <a:latin typeface="Monaco" panose="020B0509030404040204" pitchFamily="49" charset="0"/>
                        </a:rPr>
                        <a:t>(n)</a:t>
                      </a:r>
                      <a:endParaRPr lang="zh-CN" altLang="en-US" sz="1600" dirty="0" smtClean="0">
                        <a:latin typeface="Monaco" panose="020B0509030404040204" pitchFamily="49" charset="0"/>
                      </a:endParaRPr>
                    </a:p>
                  </a:txBody>
                  <a:tcPr/>
                </a:tc>
                <a:tc>
                  <a:txBody>
                    <a:bodyPr/>
                    <a:lstStyle/>
                    <a:p>
                      <a:r>
                        <a:rPr lang="zh-CN" altLang="en-US" sz="1600" dirty="0" smtClean="0">
                          <a:latin typeface="Monaco" panose="020B0509030404040204" pitchFamily="49" charset="0"/>
                        </a:rPr>
                        <a:t>缩放：改变元素的高度</a:t>
                      </a:r>
                      <a:endParaRPr lang="zh-CN" altLang="en-US" sz="1600" dirty="0">
                        <a:latin typeface="Monaco" panose="020B0509030404040204" pitchFamily="49" charset="0"/>
                      </a:endParaRPr>
                    </a:p>
                  </a:txBody>
                  <a:tcPr/>
                </a:tc>
                <a:extLst>
                  <a:ext uri="{0D108BD9-81ED-4DB2-BD59-A6C34878D82A}">
                    <a16:rowId xmlns:a16="http://schemas.microsoft.com/office/drawing/2014/main" val="28228645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Monaco" panose="020B0509030404040204" pitchFamily="49" charset="0"/>
                        </a:rPr>
                        <a:t>skew(x-</a:t>
                      </a:r>
                      <a:r>
                        <a:rPr lang="en-US" altLang="zh-CN" sz="1600" dirty="0" err="1" smtClean="0">
                          <a:latin typeface="Monaco" panose="020B0509030404040204" pitchFamily="49" charset="0"/>
                        </a:rPr>
                        <a:t>angle,y</a:t>
                      </a:r>
                      <a:r>
                        <a:rPr lang="en-US" altLang="zh-CN" sz="1600" dirty="0" smtClean="0">
                          <a:latin typeface="Monaco" panose="020B0509030404040204" pitchFamily="49" charset="0"/>
                        </a:rPr>
                        <a:t>-angle)</a:t>
                      </a:r>
                      <a:endParaRPr lang="zh-CN" altLang="en-US" sz="1600" dirty="0" smtClean="0">
                        <a:latin typeface="Monaco" panose="020B0509030404040204" pitchFamily="49" charset="0"/>
                      </a:endParaRPr>
                    </a:p>
                  </a:txBody>
                  <a:tcPr/>
                </a:tc>
                <a:tc>
                  <a:txBody>
                    <a:bodyPr/>
                    <a:lstStyle/>
                    <a:p>
                      <a:r>
                        <a:rPr lang="zh-CN" altLang="en-US" sz="1600" dirty="0" smtClean="0">
                          <a:latin typeface="Monaco" panose="020B0509030404040204" pitchFamily="49" charset="0"/>
                        </a:rPr>
                        <a:t>倾斜：沿</a:t>
                      </a:r>
                      <a:r>
                        <a:rPr lang="en-US" altLang="zh-CN" sz="1600" dirty="0" smtClean="0">
                          <a:latin typeface="Monaco" panose="020B0509030404040204" pitchFamily="49" charset="0"/>
                        </a:rPr>
                        <a:t>X</a:t>
                      </a:r>
                      <a:r>
                        <a:rPr lang="zh-CN" altLang="en-US" sz="1600" dirty="0" smtClean="0">
                          <a:latin typeface="Monaco" panose="020B0509030404040204" pitchFamily="49" charset="0"/>
                        </a:rPr>
                        <a:t>轴和</a:t>
                      </a:r>
                      <a:r>
                        <a:rPr lang="en-US" altLang="zh-CN" sz="1600" dirty="0" smtClean="0">
                          <a:latin typeface="Monaco" panose="020B0509030404040204" pitchFamily="49" charset="0"/>
                        </a:rPr>
                        <a:t>Y</a:t>
                      </a:r>
                      <a:r>
                        <a:rPr lang="zh-CN" altLang="en-US" sz="1600" dirty="0" smtClean="0">
                          <a:latin typeface="Monaco" panose="020B0509030404040204" pitchFamily="49" charset="0"/>
                        </a:rPr>
                        <a:t>轴，单位是</a:t>
                      </a:r>
                      <a:r>
                        <a:rPr lang="en-US" altLang="zh-CN" sz="1600" dirty="0" err="1" smtClean="0">
                          <a:latin typeface="Monaco" panose="020B0509030404040204" pitchFamily="49" charset="0"/>
                        </a:rPr>
                        <a:t>deg</a:t>
                      </a:r>
                      <a:r>
                        <a:rPr lang="zh-CN" altLang="en-US" sz="1600" dirty="0" smtClean="0">
                          <a:latin typeface="Monaco" panose="020B0509030404040204" pitchFamily="49" charset="0"/>
                        </a:rPr>
                        <a:t>（角度），一个值表示</a:t>
                      </a:r>
                      <a:r>
                        <a:rPr lang="en-US" altLang="zh-CN" sz="1600" dirty="0" smtClean="0">
                          <a:latin typeface="Monaco" panose="020B0509030404040204" pitchFamily="49" charset="0"/>
                        </a:rPr>
                        <a:t>Y</a:t>
                      </a:r>
                      <a:r>
                        <a:rPr lang="zh-CN" altLang="en-US" sz="1600" dirty="0" smtClean="0">
                          <a:latin typeface="Monaco" panose="020B0509030404040204" pitchFamily="49" charset="0"/>
                        </a:rPr>
                        <a:t>轴不倾斜</a:t>
                      </a:r>
                      <a:endParaRPr lang="zh-CN" altLang="en-US" sz="1600" dirty="0">
                        <a:latin typeface="Monaco" panose="020B0509030404040204" pitchFamily="49" charset="0"/>
                      </a:endParaRPr>
                    </a:p>
                  </a:txBody>
                  <a:tcPr/>
                </a:tc>
                <a:extLst>
                  <a:ext uri="{0D108BD9-81ED-4DB2-BD59-A6C34878D82A}">
                    <a16:rowId xmlns:a16="http://schemas.microsoft.com/office/drawing/2014/main" val="4861973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skewX</a:t>
                      </a:r>
                      <a:r>
                        <a:rPr lang="en-US" altLang="zh-CN" sz="1600" dirty="0" smtClean="0">
                          <a:latin typeface="Monaco" panose="020B0509030404040204" pitchFamily="49" charset="0"/>
                        </a:rPr>
                        <a:t>(angle)</a:t>
                      </a:r>
                      <a:endParaRPr lang="zh-CN" altLang="en-US" sz="1600" dirty="0" smtClean="0">
                        <a:latin typeface="Monaco" panose="020B0509030404040204" pitchFamily="49" charset="0"/>
                      </a:endParaRPr>
                    </a:p>
                  </a:txBody>
                  <a:tcPr/>
                </a:tc>
                <a:tc>
                  <a:txBody>
                    <a:bodyPr/>
                    <a:lstStyle/>
                    <a:p>
                      <a:r>
                        <a:rPr lang="zh-CN" altLang="en-US" sz="1600" dirty="0" smtClean="0">
                          <a:latin typeface="Monaco" panose="020B0509030404040204" pitchFamily="49" charset="0"/>
                        </a:rPr>
                        <a:t>倾斜：沿</a:t>
                      </a:r>
                      <a:r>
                        <a:rPr lang="en-US" altLang="zh-CN" sz="1600" dirty="0" smtClean="0">
                          <a:latin typeface="Monaco" panose="020B0509030404040204" pitchFamily="49" charset="0"/>
                        </a:rPr>
                        <a:t>X</a:t>
                      </a:r>
                      <a:r>
                        <a:rPr lang="zh-CN" altLang="en-US" sz="1600" dirty="0" smtClean="0">
                          <a:latin typeface="Monaco" panose="020B0509030404040204" pitchFamily="49" charset="0"/>
                        </a:rPr>
                        <a:t>轴倾斜，与</a:t>
                      </a:r>
                      <a:r>
                        <a:rPr lang="en-US" altLang="zh-CN" sz="1600" dirty="0" smtClean="0">
                          <a:latin typeface="Monaco" panose="020B0509030404040204" pitchFamily="49" charset="0"/>
                        </a:rPr>
                        <a:t>Y</a:t>
                      </a:r>
                      <a:r>
                        <a:rPr lang="zh-CN" altLang="en-US" sz="1600" dirty="0" smtClean="0">
                          <a:latin typeface="Monaco" panose="020B0509030404040204" pitchFamily="49" charset="0"/>
                        </a:rPr>
                        <a:t>轴夹角为</a:t>
                      </a:r>
                      <a:r>
                        <a:rPr lang="en-US" altLang="zh-CN" sz="1600" dirty="0" smtClean="0">
                          <a:latin typeface="Monaco" panose="020B0509030404040204" pitchFamily="49" charset="0"/>
                        </a:rPr>
                        <a:t>angle</a:t>
                      </a:r>
                      <a:endParaRPr lang="zh-CN" altLang="en-US" sz="1600" dirty="0">
                        <a:latin typeface="Monaco" panose="020B0509030404040204" pitchFamily="49" charset="0"/>
                      </a:endParaRPr>
                    </a:p>
                  </a:txBody>
                  <a:tcPr/>
                </a:tc>
                <a:extLst>
                  <a:ext uri="{0D108BD9-81ED-4DB2-BD59-A6C34878D82A}">
                    <a16:rowId xmlns:a16="http://schemas.microsoft.com/office/drawing/2014/main" val="12436308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skewY</a:t>
                      </a:r>
                      <a:r>
                        <a:rPr lang="en-US" altLang="zh-CN" sz="1600" dirty="0" smtClean="0">
                          <a:latin typeface="Monaco" panose="020B0509030404040204" pitchFamily="49" charset="0"/>
                        </a:rPr>
                        <a:t>(angle)</a:t>
                      </a:r>
                      <a:endParaRPr lang="zh-CN" altLang="en-US" sz="1600" dirty="0" smtClean="0">
                        <a:latin typeface="Monaco" panose="020B0509030404040204" pitchFamily="49" charset="0"/>
                      </a:endParaRPr>
                    </a:p>
                  </a:txBody>
                  <a:tcPr/>
                </a:tc>
                <a:tc>
                  <a:txBody>
                    <a:bodyPr/>
                    <a:lstStyle/>
                    <a:p>
                      <a:r>
                        <a:rPr lang="zh-CN" altLang="en-US" sz="1600" dirty="0" smtClean="0">
                          <a:latin typeface="Monaco" panose="020B0509030404040204" pitchFamily="49" charset="0"/>
                        </a:rPr>
                        <a:t>倾斜：沿</a:t>
                      </a:r>
                      <a:r>
                        <a:rPr lang="en-US" altLang="zh-CN" sz="1600" dirty="0" smtClean="0">
                          <a:latin typeface="Monaco" panose="020B0509030404040204" pitchFamily="49" charset="0"/>
                        </a:rPr>
                        <a:t>Y</a:t>
                      </a:r>
                      <a:r>
                        <a:rPr lang="zh-CN" altLang="en-US" sz="1600" dirty="0" smtClean="0">
                          <a:latin typeface="Monaco" panose="020B0509030404040204" pitchFamily="49" charset="0"/>
                        </a:rPr>
                        <a:t>轴倾斜，与</a:t>
                      </a:r>
                      <a:r>
                        <a:rPr lang="en-US" altLang="zh-CN" sz="1600" dirty="0" smtClean="0">
                          <a:latin typeface="Monaco" panose="020B0509030404040204" pitchFamily="49" charset="0"/>
                        </a:rPr>
                        <a:t>X</a:t>
                      </a:r>
                      <a:r>
                        <a:rPr lang="zh-CN" altLang="en-US" sz="1600" dirty="0" smtClean="0">
                          <a:latin typeface="Monaco" panose="020B0509030404040204" pitchFamily="49" charset="0"/>
                        </a:rPr>
                        <a:t>轴夹角为</a:t>
                      </a:r>
                      <a:r>
                        <a:rPr lang="en-US" altLang="zh-CN" sz="1600" dirty="0" smtClean="0">
                          <a:latin typeface="Monaco" panose="020B0509030404040204" pitchFamily="49" charset="0"/>
                        </a:rPr>
                        <a:t>angle</a:t>
                      </a:r>
                      <a:endParaRPr lang="zh-CN" altLang="en-US" sz="1600" dirty="0">
                        <a:latin typeface="Monaco" panose="020B0509030404040204" pitchFamily="49" charset="0"/>
                      </a:endParaRPr>
                    </a:p>
                  </a:txBody>
                  <a:tcPr/>
                </a:tc>
                <a:extLst>
                  <a:ext uri="{0D108BD9-81ED-4DB2-BD59-A6C34878D82A}">
                    <a16:rowId xmlns:a16="http://schemas.microsoft.com/office/drawing/2014/main" val="2444206694"/>
                  </a:ext>
                </a:extLst>
              </a:tr>
            </a:tbl>
          </a:graphicData>
        </a:graphic>
      </p:graphicFrame>
    </p:spTree>
    <p:extLst>
      <p:ext uri="{BB962C8B-B14F-4D97-AF65-F5344CB8AC3E}">
        <p14:creationId xmlns:p14="http://schemas.microsoft.com/office/powerpoint/2010/main" val="41912497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795867" y="1496143"/>
            <a:ext cx="9848850" cy="1107996"/>
          </a:xfrm>
          <a:prstGeom prst="rect">
            <a:avLst/>
          </a:prstGeom>
        </p:spPr>
        <p:txBody>
          <a:bodyPr wrap="square">
            <a:spAutoFit/>
          </a:bodyPr>
          <a:lstStyle/>
          <a:p>
            <a:pPr>
              <a:lnSpc>
                <a:spcPct val="150000"/>
              </a:lnSpc>
            </a:pPr>
            <a:r>
              <a:rPr lang="zh-CN" altLang="en-US" sz="2400" b="1" dirty="0">
                <a:solidFill>
                  <a:schemeClr val="accent2"/>
                </a:solidFill>
              </a:rPr>
              <a:t>二维</a:t>
            </a:r>
            <a:r>
              <a:rPr lang="zh-CN" altLang="en-US" sz="2400" b="1" dirty="0" smtClean="0">
                <a:solidFill>
                  <a:schemeClr val="accent2"/>
                </a:solidFill>
              </a:rPr>
              <a:t>坐标系</a:t>
            </a:r>
            <a:endParaRPr lang="en-US" altLang="zh-CN" sz="2400" b="1" dirty="0">
              <a:latin typeface="+mn-ea"/>
            </a:endParaRPr>
          </a:p>
          <a:p>
            <a:pPr>
              <a:lnSpc>
                <a:spcPct val="150000"/>
              </a:lnSpc>
            </a:pPr>
            <a:r>
              <a:rPr lang="en-US" altLang="zh-CN" sz="2000" dirty="0" smtClean="0"/>
              <a:t>2D</a:t>
            </a:r>
            <a:r>
              <a:rPr lang="zh-CN" altLang="en-US" sz="2000" dirty="0"/>
              <a:t>变换是改变标签在二维平面上的位置和形状的一种技术，先来学习二维坐标系</a:t>
            </a:r>
            <a:endParaRPr lang="en-US" altLang="zh-CN" sz="2000" dirty="0">
              <a:latin typeface="+mn-ea"/>
            </a:endParaRPr>
          </a:p>
        </p:txBody>
      </p:sp>
      <p:pic>
        <p:nvPicPr>
          <p:cNvPr id="2" name="图片 1"/>
          <p:cNvPicPr>
            <a:picLocks noChangeAspect="1"/>
          </p:cNvPicPr>
          <p:nvPr/>
        </p:nvPicPr>
        <p:blipFill>
          <a:blip r:embed="rId3"/>
          <a:stretch>
            <a:fillRect/>
          </a:stretch>
        </p:blipFill>
        <p:spPr>
          <a:xfrm>
            <a:off x="1017716" y="2823870"/>
            <a:ext cx="4761543" cy="3532480"/>
          </a:xfrm>
          <a:prstGeom prst="rect">
            <a:avLst/>
          </a:prstGeom>
        </p:spPr>
      </p:pic>
    </p:spTree>
    <p:extLst>
      <p:ext uri="{BB962C8B-B14F-4D97-AF65-F5344CB8AC3E}">
        <p14:creationId xmlns:p14="http://schemas.microsoft.com/office/powerpoint/2010/main" val="12133401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932993" y="1625097"/>
            <a:ext cx="9848850" cy="5309146"/>
          </a:xfrm>
          <a:prstGeom prst="rect">
            <a:avLst/>
          </a:prstGeom>
        </p:spPr>
        <p:txBody>
          <a:bodyPr wrap="square">
            <a:spAutoFit/>
          </a:bodyPr>
          <a:lstStyle/>
          <a:p>
            <a:pPr>
              <a:lnSpc>
                <a:spcPct val="150000"/>
              </a:lnSpc>
            </a:pPr>
            <a:r>
              <a:rPr lang="en-US" altLang="zh-CN" sz="2400" b="1" dirty="0" smtClean="0">
                <a:solidFill>
                  <a:schemeClr val="accent2"/>
                </a:solidFill>
              </a:rPr>
              <a:t>2D</a:t>
            </a:r>
            <a:r>
              <a:rPr lang="zh-CN" altLang="en-US" sz="2400" b="1" dirty="0">
                <a:solidFill>
                  <a:schemeClr val="accent2"/>
                </a:solidFill>
              </a:rPr>
              <a:t>变换之移动 </a:t>
            </a:r>
            <a:r>
              <a:rPr lang="en-US" altLang="zh-CN" sz="2400" b="1" dirty="0">
                <a:solidFill>
                  <a:schemeClr val="accent2"/>
                </a:solidFill>
              </a:rPr>
              <a:t>translate</a:t>
            </a:r>
            <a:endParaRPr lang="en-US" altLang="zh-CN" sz="2400" b="1" dirty="0">
              <a:solidFill>
                <a:schemeClr val="accent2"/>
              </a:solidFill>
              <a:latin typeface="+mn-ea"/>
            </a:endParaRPr>
          </a:p>
          <a:p>
            <a:pPr>
              <a:lnSpc>
                <a:spcPct val="150000"/>
              </a:lnSpc>
            </a:pPr>
            <a:endParaRPr lang="en-US" altLang="zh-CN" dirty="0" smtClean="0"/>
          </a:p>
          <a:p>
            <a:pPr>
              <a:lnSpc>
                <a:spcPct val="150000"/>
              </a:lnSpc>
            </a:pPr>
            <a:r>
              <a:rPr lang="en-US" altLang="zh-CN" dirty="0" smtClean="0"/>
              <a:t>2D</a:t>
            </a:r>
            <a:r>
              <a:rPr lang="zh-CN" altLang="en-US" dirty="0"/>
              <a:t>移动是</a:t>
            </a:r>
            <a:r>
              <a:rPr lang="en-US" altLang="zh-CN" dirty="0"/>
              <a:t>2D</a:t>
            </a:r>
            <a:r>
              <a:rPr lang="zh-CN" altLang="en-US" dirty="0"/>
              <a:t>转换里面的一种功能，可以改变元素在页面中的位置，类似定位</a:t>
            </a:r>
            <a:r>
              <a:rPr lang="zh-CN" altLang="en-US" dirty="0" smtClean="0"/>
              <a:t>。</a:t>
            </a:r>
            <a:endParaRPr lang="en-US" altLang="zh-CN" dirty="0" smtClean="0"/>
          </a:p>
          <a:p>
            <a:pPr>
              <a:lnSpc>
                <a:spcPct val="150000"/>
              </a:lnSpc>
            </a:pPr>
            <a:endParaRPr lang="en-US" altLang="zh-CN" sz="1600" dirty="0">
              <a:latin typeface="+mn-ea"/>
            </a:endParaRPr>
          </a:p>
          <a:p>
            <a:pPr>
              <a:lnSpc>
                <a:spcPct val="150000"/>
              </a:lnSpc>
            </a:pPr>
            <a:r>
              <a:rPr lang="en-US" altLang="zh-CN" sz="1600" dirty="0" smtClean="0">
                <a:latin typeface="+mn-ea"/>
              </a:rPr>
              <a:t>1</a:t>
            </a:r>
            <a:r>
              <a:rPr lang="zh-CN" altLang="en-US" sz="1600" dirty="0" smtClean="0">
                <a:latin typeface="+mn-ea"/>
              </a:rPr>
              <a:t>、语法</a:t>
            </a:r>
            <a:endParaRPr lang="en-US" altLang="zh-CN" sz="1600" dirty="0" smtClean="0">
              <a:latin typeface="+mn-ea"/>
            </a:endParaRPr>
          </a:p>
          <a:p>
            <a:pPr>
              <a:lnSpc>
                <a:spcPct val="150000"/>
              </a:lnSpc>
            </a:pPr>
            <a:endParaRPr lang="en-US" altLang="zh-CN" sz="1600" dirty="0">
              <a:latin typeface="+mn-ea"/>
            </a:endParaRPr>
          </a:p>
          <a:p>
            <a:pPr>
              <a:lnSpc>
                <a:spcPct val="150000"/>
              </a:lnSpc>
            </a:pPr>
            <a:endParaRPr lang="en-US" altLang="zh-CN" sz="1600" dirty="0" smtClean="0">
              <a:latin typeface="+mn-ea"/>
            </a:endParaRPr>
          </a:p>
          <a:p>
            <a:pPr>
              <a:lnSpc>
                <a:spcPct val="150000"/>
              </a:lnSpc>
            </a:pPr>
            <a:r>
              <a:rPr lang="en-US" altLang="zh-CN" sz="2000" dirty="0" smtClean="0">
                <a:latin typeface="+mn-ea"/>
              </a:rPr>
              <a:t>2</a:t>
            </a:r>
            <a:r>
              <a:rPr lang="zh-CN" altLang="en-US" sz="2000" dirty="0" smtClean="0">
                <a:latin typeface="+mn-ea"/>
              </a:rPr>
              <a:t>、重点</a:t>
            </a:r>
            <a:endParaRPr lang="en-US" altLang="zh-CN" sz="2000" dirty="0" smtClean="0">
              <a:latin typeface="+mn-ea"/>
            </a:endParaRPr>
          </a:p>
          <a:p>
            <a:pPr>
              <a:lnSpc>
                <a:spcPct val="150000"/>
              </a:lnSpc>
            </a:pPr>
            <a:r>
              <a:rPr lang="zh-CN" altLang="en-US" sz="2400" dirty="0" smtClean="0"/>
              <a:t></a:t>
            </a:r>
            <a:r>
              <a:rPr lang="zh-CN" altLang="en-US" dirty="0" smtClean="0"/>
              <a:t>定义 </a:t>
            </a:r>
            <a:r>
              <a:rPr lang="en-US" altLang="zh-CN" dirty="0"/>
              <a:t>2D </a:t>
            </a:r>
            <a:r>
              <a:rPr lang="zh-CN" altLang="en-US" dirty="0"/>
              <a:t>转换中的移动，沿着 </a:t>
            </a:r>
            <a:r>
              <a:rPr lang="en-US" altLang="zh-CN" dirty="0"/>
              <a:t>X </a:t>
            </a:r>
            <a:r>
              <a:rPr lang="zh-CN" altLang="en-US" dirty="0"/>
              <a:t>和 </a:t>
            </a:r>
            <a:r>
              <a:rPr lang="en-US" altLang="zh-CN" dirty="0"/>
              <a:t>Y </a:t>
            </a:r>
            <a:r>
              <a:rPr lang="zh-CN" altLang="en-US" dirty="0"/>
              <a:t>轴移动</a:t>
            </a:r>
            <a:r>
              <a:rPr lang="zh-CN" altLang="en-US" dirty="0" smtClean="0"/>
              <a:t>元素；</a:t>
            </a:r>
            <a:endParaRPr lang="zh-CN" altLang="en-US" dirty="0"/>
          </a:p>
          <a:p>
            <a:pPr>
              <a:lnSpc>
                <a:spcPct val="150000"/>
              </a:lnSpc>
            </a:pPr>
            <a:r>
              <a:rPr lang="en-US" altLang="zh-CN" dirty="0"/>
              <a:t> translate</a:t>
            </a:r>
            <a:r>
              <a:rPr lang="zh-CN" altLang="en-US" dirty="0"/>
              <a:t>最大的优点：不会影响到其他元素的</a:t>
            </a:r>
            <a:r>
              <a:rPr lang="zh-CN" altLang="en-US" dirty="0" smtClean="0"/>
              <a:t>位置；</a:t>
            </a:r>
            <a:endParaRPr lang="zh-CN" altLang="en-US" dirty="0"/>
          </a:p>
          <a:p>
            <a:pPr>
              <a:lnSpc>
                <a:spcPct val="150000"/>
              </a:lnSpc>
            </a:pPr>
            <a:r>
              <a:rPr lang="en-US" altLang="zh-CN" dirty="0"/>
              <a:t> translate</a:t>
            </a:r>
            <a:r>
              <a:rPr lang="zh-CN" altLang="en-US" dirty="0"/>
              <a:t>中的百分比单位是相对于自身元素的 </a:t>
            </a:r>
            <a:r>
              <a:rPr lang="en-US" altLang="zh-CN" dirty="0"/>
              <a:t>translate:(50%,50%);</a:t>
            </a:r>
          </a:p>
          <a:p>
            <a:pPr>
              <a:lnSpc>
                <a:spcPct val="150000"/>
              </a:lnSpc>
            </a:pPr>
            <a:r>
              <a:rPr lang="zh-CN" altLang="en-US" dirty="0"/>
              <a:t> 对行</a:t>
            </a:r>
            <a:r>
              <a:rPr lang="zh-CN" altLang="en-US" dirty="0" smtClean="0"/>
              <a:t>内元素标签没有效果；</a:t>
            </a:r>
            <a:endParaRPr lang="en-US" altLang="zh-CN" sz="1600" dirty="0">
              <a:latin typeface="+mn-ea"/>
            </a:endParaRPr>
          </a:p>
        </p:txBody>
      </p:sp>
      <p:pic>
        <p:nvPicPr>
          <p:cNvPr id="3" name="图片 2"/>
          <p:cNvPicPr>
            <a:picLocks noChangeAspect="1"/>
          </p:cNvPicPr>
          <p:nvPr/>
        </p:nvPicPr>
        <p:blipFill>
          <a:blip r:embed="rId3"/>
          <a:stretch>
            <a:fillRect/>
          </a:stretch>
        </p:blipFill>
        <p:spPr>
          <a:xfrm>
            <a:off x="8722193" y="1196729"/>
            <a:ext cx="2059650" cy="1745249"/>
          </a:xfrm>
          <a:prstGeom prst="rect">
            <a:avLst/>
          </a:prstGeom>
        </p:spPr>
      </p:pic>
      <p:pic>
        <p:nvPicPr>
          <p:cNvPr id="6" name="图片 5"/>
          <p:cNvPicPr>
            <a:picLocks noChangeAspect="1"/>
          </p:cNvPicPr>
          <p:nvPr/>
        </p:nvPicPr>
        <p:blipFill>
          <a:blip r:embed="rId4"/>
          <a:stretch>
            <a:fillRect/>
          </a:stretch>
        </p:blipFill>
        <p:spPr>
          <a:xfrm>
            <a:off x="2219324" y="3300473"/>
            <a:ext cx="7531517" cy="1248081"/>
          </a:xfrm>
          <a:prstGeom prst="rect">
            <a:avLst/>
          </a:prstGeom>
        </p:spPr>
      </p:pic>
    </p:spTree>
    <p:extLst>
      <p:ext uri="{BB962C8B-B14F-4D97-AF65-F5344CB8AC3E}">
        <p14:creationId xmlns:p14="http://schemas.microsoft.com/office/powerpoint/2010/main" val="178434670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932993" y="1625097"/>
            <a:ext cx="9848850" cy="4847481"/>
          </a:xfrm>
          <a:prstGeom prst="rect">
            <a:avLst/>
          </a:prstGeom>
        </p:spPr>
        <p:txBody>
          <a:bodyPr wrap="square">
            <a:spAutoFit/>
          </a:bodyPr>
          <a:lstStyle/>
          <a:p>
            <a:pPr>
              <a:lnSpc>
                <a:spcPct val="150000"/>
              </a:lnSpc>
            </a:pPr>
            <a:r>
              <a:rPr lang="en-US" altLang="zh-CN" sz="2400" b="1" dirty="0" smtClean="0">
                <a:solidFill>
                  <a:schemeClr val="accent2"/>
                </a:solidFill>
              </a:rPr>
              <a:t>2D</a:t>
            </a:r>
            <a:r>
              <a:rPr lang="zh-CN" altLang="en-US" sz="2400" b="1" dirty="0">
                <a:solidFill>
                  <a:schemeClr val="accent2"/>
                </a:solidFill>
              </a:rPr>
              <a:t>变换</a:t>
            </a:r>
            <a:r>
              <a:rPr lang="zh-CN" altLang="en-US" sz="2400" b="1" dirty="0" smtClean="0">
                <a:solidFill>
                  <a:schemeClr val="accent2"/>
                </a:solidFill>
              </a:rPr>
              <a:t>之旋转</a:t>
            </a:r>
            <a:r>
              <a:rPr lang="en-US" altLang="zh-CN" sz="2400" b="1" dirty="0" smtClean="0">
                <a:solidFill>
                  <a:schemeClr val="accent2"/>
                </a:solidFill>
              </a:rPr>
              <a:t>rotate</a:t>
            </a:r>
            <a:endParaRPr lang="en-US" altLang="zh-CN" sz="2400" b="1" dirty="0">
              <a:solidFill>
                <a:schemeClr val="accent2"/>
              </a:solidFill>
              <a:latin typeface="+mn-ea"/>
            </a:endParaRPr>
          </a:p>
          <a:p>
            <a:pPr>
              <a:lnSpc>
                <a:spcPct val="150000"/>
              </a:lnSpc>
            </a:pPr>
            <a:endParaRPr lang="en-US" altLang="zh-CN" dirty="0" smtClean="0"/>
          </a:p>
          <a:p>
            <a:pPr>
              <a:lnSpc>
                <a:spcPct val="150000"/>
              </a:lnSpc>
            </a:pPr>
            <a:r>
              <a:rPr lang="en-US" altLang="zh-CN" dirty="0"/>
              <a:t>2D</a:t>
            </a:r>
            <a:r>
              <a:rPr lang="zh-CN" altLang="en-US" dirty="0"/>
              <a:t>旋转指的是让元素在</a:t>
            </a:r>
            <a:r>
              <a:rPr lang="en-US" altLang="zh-CN" dirty="0"/>
              <a:t>2</a:t>
            </a:r>
            <a:r>
              <a:rPr lang="zh-CN" altLang="en-US" dirty="0"/>
              <a:t>维平面内顺时针旋转或者逆时针</a:t>
            </a:r>
            <a:r>
              <a:rPr lang="zh-CN" altLang="en-US" dirty="0" smtClean="0"/>
              <a:t>旋转。</a:t>
            </a:r>
            <a:endParaRPr lang="en-US" altLang="zh-CN" dirty="0" smtClean="0"/>
          </a:p>
          <a:p>
            <a:pPr>
              <a:lnSpc>
                <a:spcPct val="150000"/>
              </a:lnSpc>
            </a:pPr>
            <a:endParaRPr lang="en-US" altLang="zh-CN" sz="1600" dirty="0">
              <a:latin typeface="+mn-ea"/>
            </a:endParaRPr>
          </a:p>
          <a:p>
            <a:pPr>
              <a:lnSpc>
                <a:spcPct val="150000"/>
              </a:lnSpc>
            </a:pPr>
            <a:r>
              <a:rPr lang="en-US" altLang="zh-CN" sz="1600" dirty="0" smtClean="0">
                <a:latin typeface="+mn-ea"/>
              </a:rPr>
              <a:t>1</a:t>
            </a:r>
            <a:r>
              <a:rPr lang="zh-CN" altLang="en-US" sz="1600" dirty="0" smtClean="0">
                <a:latin typeface="+mn-ea"/>
              </a:rPr>
              <a:t>、语法</a:t>
            </a:r>
            <a:endParaRPr lang="en-US" altLang="zh-CN" sz="1600" dirty="0" smtClean="0">
              <a:latin typeface="+mn-ea"/>
            </a:endParaRPr>
          </a:p>
          <a:p>
            <a:pPr>
              <a:lnSpc>
                <a:spcPct val="150000"/>
              </a:lnSpc>
            </a:pPr>
            <a:r>
              <a:rPr lang="en-US" altLang="zh-CN" sz="2400" dirty="0" smtClean="0">
                <a:latin typeface="+mn-ea"/>
              </a:rPr>
              <a:t>      </a:t>
            </a:r>
            <a:r>
              <a:rPr lang="en-US" altLang="zh-CN" sz="2400" dirty="0" err="1" smtClean="0">
                <a:solidFill>
                  <a:schemeClr val="accent1">
                    <a:lumMod val="75000"/>
                  </a:schemeClr>
                </a:solidFill>
                <a:latin typeface="+mn-ea"/>
              </a:rPr>
              <a:t>transform:rotate</a:t>
            </a:r>
            <a:r>
              <a:rPr lang="en-US" altLang="zh-CN" sz="2400" dirty="0">
                <a:solidFill>
                  <a:schemeClr val="accent1">
                    <a:lumMod val="75000"/>
                  </a:schemeClr>
                </a:solidFill>
                <a:latin typeface="+mn-ea"/>
              </a:rPr>
              <a:t>(</a:t>
            </a:r>
            <a:r>
              <a:rPr lang="zh-CN" altLang="en-US" sz="2400" dirty="0">
                <a:solidFill>
                  <a:schemeClr val="accent1">
                    <a:lumMod val="75000"/>
                  </a:schemeClr>
                </a:solidFill>
                <a:latin typeface="+mn-ea"/>
              </a:rPr>
              <a:t>度数</a:t>
            </a:r>
            <a:r>
              <a:rPr lang="en-US" altLang="zh-CN" sz="2400" dirty="0">
                <a:solidFill>
                  <a:schemeClr val="accent1">
                    <a:lumMod val="75000"/>
                  </a:schemeClr>
                </a:solidFill>
                <a:latin typeface="+mn-ea"/>
              </a:rPr>
              <a:t>)</a:t>
            </a:r>
          </a:p>
          <a:p>
            <a:pPr>
              <a:lnSpc>
                <a:spcPct val="150000"/>
              </a:lnSpc>
            </a:pPr>
            <a:endParaRPr lang="en-US" altLang="zh-CN" sz="1600" dirty="0" smtClean="0">
              <a:latin typeface="+mn-ea"/>
            </a:endParaRPr>
          </a:p>
          <a:p>
            <a:pPr>
              <a:lnSpc>
                <a:spcPct val="150000"/>
              </a:lnSpc>
            </a:pPr>
            <a:r>
              <a:rPr lang="en-US" altLang="zh-CN" sz="1600" dirty="0" smtClean="0">
                <a:latin typeface="+mn-ea"/>
              </a:rPr>
              <a:t>2</a:t>
            </a:r>
            <a:r>
              <a:rPr lang="zh-CN" altLang="en-US" sz="1600" dirty="0" smtClean="0">
                <a:latin typeface="+mn-ea"/>
              </a:rPr>
              <a:t>、重点</a:t>
            </a:r>
            <a:endParaRPr lang="en-US" altLang="zh-CN" sz="1600" dirty="0" smtClean="0">
              <a:latin typeface="+mn-ea"/>
            </a:endParaRPr>
          </a:p>
          <a:p>
            <a:pPr>
              <a:lnSpc>
                <a:spcPct val="150000"/>
              </a:lnSpc>
            </a:pPr>
            <a:r>
              <a:rPr lang="zh-CN" altLang="en-US" sz="2000" dirty="0"/>
              <a:t> </a:t>
            </a:r>
            <a:r>
              <a:rPr lang="en-US" altLang="zh-CN" sz="2000" dirty="0"/>
              <a:t>rotate</a:t>
            </a:r>
            <a:r>
              <a:rPr lang="zh-CN" altLang="en-US" sz="2000" dirty="0"/>
              <a:t>里面跟度数， 单位是 </a:t>
            </a:r>
            <a:r>
              <a:rPr lang="en-US" altLang="zh-CN" sz="2000" dirty="0" err="1"/>
              <a:t>deg</a:t>
            </a:r>
            <a:r>
              <a:rPr lang="en-US" altLang="zh-CN" sz="2000" dirty="0"/>
              <a:t> </a:t>
            </a:r>
            <a:r>
              <a:rPr lang="zh-CN" altLang="en-US" sz="2000" dirty="0"/>
              <a:t>比如 </a:t>
            </a:r>
            <a:r>
              <a:rPr lang="en-US" altLang="zh-CN" sz="2000" dirty="0"/>
              <a:t>rotate(45deg)</a:t>
            </a:r>
          </a:p>
          <a:p>
            <a:pPr>
              <a:lnSpc>
                <a:spcPct val="150000"/>
              </a:lnSpc>
            </a:pPr>
            <a:r>
              <a:rPr lang="en-US" altLang="zh-CN" sz="2000" dirty="0"/>
              <a:t> </a:t>
            </a:r>
            <a:r>
              <a:rPr lang="zh-CN" altLang="en-US" sz="2000" dirty="0"/>
              <a:t>角度为正时，顺时针，负时，为逆时针</a:t>
            </a:r>
          </a:p>
          <a:p>
            <a:pPr>
              <a:lnSpc>
                <a:spcPct val="150000"/>
              </a:lnSpc>
            </a:pPr>
            <a:r>
              <a:rPr lang="zh-CN" altLang="en-US" sz="2000" dirty="0"/>
              <a:t> 默认旋转的中心点是元素的中心点</a:t>
            </a:r>
            <a:endParaRPr lang="en-US" altLang="zh-CN" sz="1400" dirty="0">
              <a:latin typeface="+mn-ea"/>
            </a:endParaRPr>
          </a:p>
        </p:txBody>
      </p:sp>
      <p:pic>
        <p:nvPicPr>
          <p:cNvPr id="7" name="图片 6"/>
          <p:cNvPicPr>
            <a:picLocks noChangeAspect="1"/>
          </p:cNvPicPr>
          <p:nvPr/>
        </p:nvPicPr>
        <p:blipFill>
          <a:blip r:embed="rId3"/>
          <a:stretch>
            <a:fillRect/>
          </a:stretch>
        </p:blipFill>
        <p:spPr>
          <a:xfrm>
            <a:off x="7409598" y="4141960"/>
            <a:ext cx="4406747" cy="2214390"/>
          </a:xfrm>
          <a:prstGeom prst="rect">
            <a:avLst/>
          </a:prstGeom>
        </p:spPr>
      </p:pic>
      <p:pic>
        <p:nvPicPr>
          <p:cNvPr id="8" name="图片 7"/>
          <p:cNvPicPr>
            <a:picLocks noChangeAspect="1"/>
          </p:cNvPicPr>
          <p:nvPr/>
        </p:nvPicPr>
        <p:blipFill>
          <a:blip r:embed="rId4"/>
          <a:stretch>
            <a:fillRect/>
          </a:stretch>
        </p:blipFill>
        <p:spPr>
          <a:xfrm>
            <a:off x="8419822" y="1405471"/>
            <a:ext cx="2008079" cy="1919811"/>
          </a:xfrm>
          <a:prstGeom prst="rect">
            <a:avLst/>
          </a:prstGeom>
        </p:spPr>
      </p:pic>
    </p:spTree>
    <p:extLst>
      <p:ext uri="{BB962C8B-B14F-4D97-AF65-F5344CB8AC3E}">
        <p14:creationId xmlns:p14="http://schemas.microsoft.com/office/powerpoint/2010/main" val="2474801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932993" y="1500576"/>
            <a:ext cx="9848850" cy="465640"/>
          </a:xfrm>
          <a:prstGeom prst="rect">
            <a:avLst/>
          </a:prstGeom>
        </p:spPr>
        <p:txBody>
          <a:bodyPr wrap="square">
            <a:spAutoFit/>
          </a:bodyPr>
          <a:lstStyle/>
          <a:p>
            <a:pPr>
              <a:lnSpc>
                <a:spcPct val="150000"/>
              </a:lnSpc>
            </a:pPr>
            <a:r>
              <a:rPr lang="zh-CN" altLang="en-US" b="1" dirty="0" smtClean="0"/>
              <a:t>案例：三角形</a:t>
            </a:r>
            <a:endParaRPr lang="en-US" altLang="zh-CN" sz="1100" dirty="0">
              <a:latin typeface="+mn-ea"/>
            </a:endParaRPr>
          </a:p>
        </p:txBody>
      </p:sp>
      <p:pic>
        <p:nvPicPr>
          <p:cNvPr id="2" name="图片 1"/>
          <p:cNvPicPr>
            <a:picLocks noChangeAspect="1"/>
          </p:cNvPicPr>
          <p:nvPr/>
        </p:nvPicPr>
        <p:blipFill>
          <a:blip r:embed="rId3"/>
          <a:stretch>
            <a:fillRect/>
          </a:stretch>
        </p:blipFill>
        <p:spPr>
          <a:xfrm>
            <a:off x="8452078" y="1728885"/>
            <a:ext cx="3449709" cy="559044"/>
          </a:xfrm>
          <a:prstGeom prst="rect">
            <a:avLst/>
          </a:prstGeom>
        </p:spPr>
      </p:pic>
      <p:sp>
        <p:nvSpPr>
          <p:cNvPr id="6" name="矩形 5"/>
          <p:cNvSpPr/>
          <p:nvPr/>
        </p:nvSpPr>
        <p:spPr>
          <a:xfrm>
            <a:off x="2955207" y="500473"/>
            <a:ext cx="5591072" cy="5722464"/>
          </a:xfrm>
          <a:prstGeom prst="rect">
            <a:avLst/>
          </a:prstGeom>
        </p:spPr>
        <p:txBody>
          <a:bodyPr wrap="square">
            <a:spAutoFit/>
          </a:bodyPr>
          <a:lstStyle/>
          <a:p>
            <a:pPr>
              <a:lnSpc>
                <a:spcPct val="125000"/>
              </a:lnSpc>
            </a:pPr>
            <a:r>
              <a:rPr lang="en-US" altLang="zh-CN" sz="1400" dirty="0" smtClean="0">
                <a:latin typeface="Monaco" panose="020B0509030404040204" pitchFamily="49" charset="0"/>
              </a:rPr>
              <a:t>.</a:t>
            </a:r>
            <a:r>
              <a:rPr lang="en-US" altLang="zh-CN" sz="1400" dirty="0">
                <a:latin typeface="Monaco" panose="020B0509030404040204" pitchFamily="49" charset="0"/>
              </a:rPr>
              <a:t>outer {</a:t>
            </a:r>
          </a:p>
          <a:p>
            <a:pPr>
              <a:lnSpc>
                <a:spcPct val="125000"/>
              </a:lnSpc>
            </a:pPr>
            <a:r>
              <a:rPr lang="en-US" altLang="zh-CN" sz="1400" dirty="0">
                <a:latin typeface="Monaco" panose="020B0509030404040204" pitchFamily="49" charset="0"/>
              </a:rPr>
              <a:t>        position: relative;</a:t>
            </a:r>
          </a:p>
          <a:p>
            <a:pPr>
              <a:lnSpc>
                <a:spcPct val="125000"/>
              </a:lnSpc>
            </a:pPr>
            <a:r>
              <a:rPr lang="en-US" altLang="zh-CN" sz="1400" dirty="0">
                <a:latin typeface="Monaco" panose="020B0509030404040204" pitchFamily="49" charset="0"/>
              </a:rPr>
              <a:t>        width: 200px;</a:t>
            </a:r>
          </a:p>
          <a:p>
            <a:pPr>
              <a:lnSpc>
                <a:spcPct val="125000"/>
              </a:lnSpc>
            </a:pPr>
            <a:r>
              <a:rPr lang="en-US" altLang="zh-CN" sz="1400" dirty="0">
                <a:latin typeface="Monaco" panose="020B0509030404040204" pitchFamily="49" charset="0"/>
              </a:rPr>
              <a:t>        height: 30px;</a:t>
            </a:r>
          </a:p>
          <a:p>
            <a:pPr>
              <a:lnSpc>
                <a:spcPct val="125000"/>
              </a:lnSpc>
            </a:pPr>
            <a:r>
              <a:rPr lang="en-US" altLang="zh-CN" sz="1400" dirty="0">
                <a:latin typeface="Monaco" panose="020B0509030404040204" pitchFamily="49" charset="0"/>
              </a:rPr>
              <a:t>        border: 1px solid #000;</a:t>
            </a:r>
          </a:p>
          <a:p>
            <a:pPr>
              <a:lnSpc>
                <a:spcPct val="125000"/>
              </a:lnSpc>
            </a:pPr>
            <a:r>
              <a:rPr lang="en-US" altLang="zh-CN" sz="1400" dirty="0">
                <a:latin typeface="Monaco" panose="020B0509030404040204" pitchFamily="49" charset="0"/>
              </a:rPr>
              <a:t>      }</a:t>
            </a:r>
          </a:p>
          <a:p>
            <a:pPr>
              <a:lnSpc>
                <a:spcPct val="125000"/>
              </a:lnSpc>
            </a:pPr>
            <a:r>
              <a:rPr lang="en-US" altLang="zh-CN" sz="1400" dirty="0" smtClean="0">
                <a:latin typeface="Monaco" panose="020B0509030404040204" pitchFamily="49" charset="0"/>
              </a:rPr>
              <a:t>.</a:t>
            </a:r>
            <a:r>
              <a:rPr lang="en-US" altLang="zh-CN" sz="1400" dirty="0">
                <a:latin typeface="Monaco" panose="020B0509030404040204" pitchFamily="49" charset="0"/>
              </a:rPr>
              <a:t>outer::after {</a:t>
            </a:r>
          </a:p>
          <a:p>
            <a:pPr>
              <a:lnSpc>
                <a:spcPct val="125000"/>
              </a:lnSpc>
            </a:pPr>
            <a:r>
              <a:rPr lang="en-US" altLang="zh-CN" sz="1400" dirty="0">
                <a:latin typeface="Monaco" panose="020B0509030404040204" pitchFamily="49" charset="0"/>
              </a:rPr>
              <a:t>        content: '';</a:t>
            </a:r>
          </a:p>
          <a:p>
            <a:pPr>
              <a:lnSpc>
                <a:spcPct val="125000"/>
              </a:lnSpc>
            </a:pPr>
            <a:r>
              <a:rPr lang="en-US" altLang="zh-CN" sz="1400" dirty="0">
                <a:latin typeface="Monaco" panose="020B0509030404040204" pitchFamily="49" charset="0"/>
              </a:rPr>
              <a:t>        position: absolute;</a:t>
            </a:r>
          </a:p>
          <a:p>
            <a:pPr>
              <a:lnSpc>
                <a:spcPct val="125000"/>
              </a:lnSpc>
            </a:pPr>
            <a:r>
              <a:rPr lang="en-US" altLang="zh-CN" sz="1400" dirty="0">
                <a:latin typeface="Monaco" panose="020B0509030404040204" pitchFamily="49" charset="0"/>
              </a:rPr>
              <a:t>        top: 10px;</a:t>
            </a:r>
          </a:p>
          <a:p>
            <a:pPr>
              <a:lnSpc>
                <a:spcPct val="125000"/>
              </a:lnSpc>
            </a:pPr>
            <a:r>
              <a:rPr lang="en-US" altLang="zh-CN" sz="1400" dirty="0">
                <a:latin typeface="Monaco" panose="020B0509030404040204" pitchFamily="49" charset="0"/>
              </a:rPr>
              <a:t>        right: 15px;</a:t>
            </a:r>
          </a:p>
          <a:p>
            <a:pPr>
              <a:lnSpc>
                <a:spcPct val="125000"/>
              </a:lnSpc>
            </a:pPr>
            <a:r>
              <a:rPr lang="en-US" altLang="zh-CN" sz="1400" dirty="0">
                <a:latin typeface="Monaco" panose="020B0509030404040204" pitchFamily="49" charset="0"/>
              </a:rPr>
              <a:t>        width: 8px;</a:t>
            </a:r>
          </a:p>
          <a:p>
            <a:pPr>
              <a:lnSpc>
                <a:spcPct val="125000"/>
              </a:lnSpc>
            </a:pPr>
            <a:r>
              <a:rPr lang="en-US" altLang="zh-CN" sz="1400" dirty="0">
                <a:latin typeface="Monaco" panose="020B0509030404040204" pitchFamily="49" charset="0"/>
              </a:rPr>
              <a:t>        height: 8px;</a:t>
            </a:r>
          </a:p>
          <a:p>
            <a:pPr>
              <a:lnSpc>
                <a:spcPct val="125000"/>
              </a:lnSpc>
            </a:pPr>
            <a:r>
              <a:rPr lang="en-US" altLang="zh-CN" sz="1400" dirty="0">
                <a:latin typeface="Monaco" panose="020B0509030404040204" pitchFamily="49" charset="0"/>
              </a:rPr>
              <a:t>        border-right: 1px solid #000;</a:t>
            </a:r>
          </a:p>
          <a:p>
            <a:pPr>
              <a:lnSpc>
                <a:spcPct val="125000"/>
              </a:lnSpc>
            </a:pPr>
            <a:r>
              <a:rPr lang="en-US" altLang="zh-CN" sz="1400" dirty="0">
                <a:latin typeface="Monaco" panose="020B0509030404040204" pitchFamily="49" charset="0"/>
              </a:rPr>
              <a:t>        border-bottom: 1px solid #000;</a:t>
            </a:r>
          </a:p>
          <a:p>
            <a:pPr>
              <a:lnSpc>
                <a:spcPct val="125000"/>
              </a:lnSpc>
            </a:pPr>
            <a:r>
              <a:rPr lang="en-US" altLang="zh-CN" sz="1400" dirty="0">
                <a:latin typeface="Monaco" panose="020B0509030404040204" pitchFamily="49" charset="0"/>
              </a:rPr>
              <a:t>        transform: rotate(45deg);</a:t>
            </a:r>
          </a:p>
          <a:p>
            <a:pPr>
              <a:lnSpc>
                <a:spcPct val="125000"/>
              </a:lnSpc>
            </a:pPr>
            <a:r>
              <a:rPr lang="en-US" altLang="zh-CN" sz="1400" dirty="0">
                <a:latin typeface="Monaco" panose="020B0509030404040204" pitchFamily="49" charset="0"/>
              </a:rPr>
              <a:t>        transition: all 0.5s;</a:t>
            </a:r>
          </a:p>
          <a:p>
            <a:pPr>
              <a:lnSpc>
                <a:spcPct val="125000"/>
              </a:lnSpc>
            </a:pPr>
            <a:r>
              <a:rPr lang="en-US" altLang="zh-CN" sz="1400" dirty="0">
                <a:latin typeface="Monaco" panose="020B0509030404040204" pitchFamily="49" charset="0"/>
              </a:rPr>
              <a:t>      }</a:t>
            </a:r>
          </a:p>
          <a:p>
            <a:pPr>
              <a:lnSpc>
                <a:spcPct val="125000"/>
              </a:lnSpc>
            </a:pPr>
            <a:r>
              <a:rPr lang="en-US" altLang="zh-CN" sz="1400" dirty="0" smtClean="0">
                <a:latin typeface="Monaco" panose="020B0509030404040204" pitchFamily="49" charset="0"/>
              </a:rPr>
              <a:t>.</a:t>
            </a:r>
            <a:r>
              <a:rPr lang="en-US" altLang="zh-CN" sz="1400" dirty="0" err="1">
                <a:latin typeface="Monaco" panose="020B0509030404040204" pitchFamily="49" charset="0"/>
              </a:rPr>
              <a:t>outer:hover</a:t>
            </a:r>
            <a:r>
              <a:rPr lang="en-US" altLang="zh-CN" sz="1400" dirty="0">
                <a:latin typeface="Monaco" panose="020B0509030404040204" pitchFamily="49" charset="0"/>
              </a:rPr>
              <a:t>::after {</a:t>
            </a:r>
          </a:p>
          <a:p>
            <a:pPr>
              <a:lnSpc>
                <a:spcPct val="125000"/>
              </a:lnSpc>
            </a:pPr>
            <a:r>
              <a:rPr lang="en-US" altLang="zh-CN" sz="1400" dirty="0">
                <a:latin typeface="Monaco" panose="020B0509030404040204" pitchFamily="49" charset="0"/>
              </a:rPr>
              <a:t>        transform: rotate(225deg);</a:t>
            </a:r>
          </a:p>
          <a:p>
            <a:pPr>
              <a:lnSpc>
                <a:spcPct val="125000"/>
              </a:lnSpc>
            </a:pPr>
            <a:r>
              <a:rPr lang="en-US" altLang="zh-CN" sz="1400" dirty="0">
                <a:latin typeface="Monaco" panose="020B0509030404040204" pitchFamily="49" charset="0"/>
              </a:rPr>
              <a:t>      }</a:t>
            </a:r>
            <a:endParaRPr lang="zh-CN" altLang="en-US" sz="1400" dirty="0">
              <a:latin typeface="Monaco" panose="020B0509030404040204" pitchFamily="49" charset="0"/>
            </a:endParaRPr>
          </a:p>
        </p:txBody>
      </p:sp>
    </p:spTree>
    <p:extLst>
      <p:ext uri="{BB962C8B-B14F-4D97-AF65-F5344CB8AC3E}">
        <p14:creationId xmlns:p14="http://schemas.microsoft.com/office/powerpoint/2010/main" val="337613257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932993" y="1625097"/>
            <a:ext cx="9848850" cy="4755148"/>
          </a:xfrm>
          <a:prstGeom prst="rect">
            <a:avLst/>
          </a:prstGeom>
        </p:spPr>
        <p:txBody>
          <a:bodyPr wrap="square">
            <a:spAutoFit/>
          </a:bodyPr>
          <a:lstStyle/>
          <a:p>
            <a:pPr>
              <a:lnSpc>
                <a:spcPct val="150000"/>
              </a:lnSpc>
            </a:pPr>
            <a:r>
              <a:rPr lang="en-US" altLang="zh-CN" sz="2400" b="1" dirty="0" smtClean="0">
                <a:solidFill>
                  <a:schemeClr val="accent2"/>
                </a:solidFill>
                <a:latin typeface="Monaco" panose="020B0509030404040204" pitchFamily="49" charset="0"/>
              </a:rPr>
              <a:t>2D</a:t>
            </a:r>
            <a:r>
              <a:rPr lang="zh-CN" altLang="en-US" sz="2400" b="1" dirty="0">
                <a:solidFill>
                  <a:schemeClr val="accent2"/>
                </a:solidFill>
                <a:latin typeface="Monaco" panose="020B0509030404040204" pitchFamily="49" charset="0"/>
              </a:rPr>
              <a:t>变换中心</a:t>
            </a:r>
            <a:r>
              <a:rPr lang="zh-CN" altLang="en-US" sz="2400" b="1" dirty="0" smtClean="0">
                <a:solidFill>
                  <a:schemeClr val="accent2"/>
                </a:solidFill>
                <a:latin typeface="Monaco" panose="020B0509030404040204" pitchFamily="49" charset="0"/>
              </a:rPr>
              <a:t>点</a:t>
            </a:r>
            <a:r>
              <a:rPr lang="en-US" altLang="zh-CN" sz="2400" b="1" dirty="0" smtClean="0">
                <a:solidFill>
                  <a:schemeClr val="accent2"/>
                </a:solidFill>
                <a:latin typeface="Monaco" panose="020B0509030404040204" pitchFamily="49" charset="0"/>
              </a:rPr>
              <a:t>transform-origin</a:t>
            </a:r>
            <a:endParaRPr lang="en-US" altLang="zh-CN" sz="2400" b="1" dirty="0">
              <a:solidFill>
                <a:schemeClr val="accent2"/>
              </a:solidFill>
              <a:latin typeface="Monaco" panose="020B0509030404040204" pitchFamily="49" charset="0"/>
            </a:endParaRPr>
          </a:p>
          <a:p>
            <a:pPr>
              <a:lnSpc>
                <a:spcPct val="150000"/>
              </a:lnSpc>
            </a:pPr>
            <a:endParaRPr lang="en-US" altLang="zh-CN" sz="1600" dirty="0" smtClean="0">
              <a:latin typeface="Monaco" panose="020B0509030404040204" pitchFamily="49" charset="0"/>
            </a:endParaRPr>
          </a:p>
          <a:p>
            <a:pPr>
              <a:lnSpc>
                <a:spcPct val="150000"/>
              </a:lnSpc>
            </a:pPr>
            <a:r>
              <a:rPr lang="en-US" altLang="zh-CN" dirty="0" smtClean="0">
                <a:latin typeface="Monaco" panose="020B0509030404040204" pitchFamily="49" charset="0"/>
              </a:rPr>
              <a:t>1</a:t>
            </a:r>
            <a:r>
              <a:rPr lang="zh-CN" altLang="en-US" dirty="0" smtClean="0">
                <a:latin typeface="Monaco" panose="020B0509030404040204" pitchFamily="49" charset="0"/>
              </a:rPr>
              <a:t>、语法</a:t>
            </a:r>
            <a:endParaRPr lang="en-US" altLang="zh-CN" dirty="0" smtClean="0">
              <a:latin typeface="Monaco" panose="020B0509030404040204" pitchFamily="49" charset="0"/>
            </a:endParaRPr>
          </a:p>
          <a:p>
            <a:pPr>
              <a:lnSpc>
                <a:spcPct val="150000"/>
              </a:lnSpc>
            </a:pPr>
            <a:r>
              <a:rPr lang="en-US" altLang="zh-CN" sz="2000" dirty="0">
                <a:latin typeface="Monaco" panose="020B0509030404040204" pitchFamily="49" charset="0"/>
              </a:rPr>
              <a:t>transform-origin: x y</a:t>
            </a:r>
            <a:r>
              <a:rPr lang="en-US" altLang="zh-CN" sz="2000" dirty="0" smtClean="0">
                <a:latin typeface="Monaco" panose="020B0509030404040204" pitchFamily="49" charset="0"/>
              </a:rPr>
              <a:t>;</a:t>
            </a:r>
          </a:p>
          <a:p>
            <a:pPr>
              <a:lnSpc>
                <a:spcPct val="150000"/>
              </a:lnSpc>
            </a:pPr>
            <a:endParaRPr lang="en-US" altLang="zh-CN" sz="1600" dirty="0">
              <a:latin typeface="Monaco" panose="020B0509030404040204" pitchFamily="49" charset="0"/>
            </a:endParaRPr>
          </a:p>
          <a:p>
            <a:pPr>
              <a:lnSpc>
                <a:spcPct val="150000"/>
              </a:lnSpc>
            </a:pPr>
            <a:r>
              <a:rPr lang="en-US" altLang="zh-CN" dirty="0">
                <a:latin typeface="Monaco" panose="020B0509030404040204" pitchFamily="49" charset="0"/>
              </a:rPr>
              <a:t>2</a:t>
            </a:r>
            <a:r>
              <a:rPr lang="zh-CN" altLang="en-US" dirty="0">
                <a:latin typeface="Monaco" panose="020B0509030404040204" pitchFamily="49" charset="0"/>
              </a:rPr>
              <a:t>、</a:t>
            </a:r>
            <a:r>
              <a:rPr lang="zh-CN" altLang="en-US" dirty="0" smtClean="0">
                <a:latin typeface="Monaco" panose="020B0509030404040204" pitchFamily="49" charset="0"/>
              </a:rPr>
              <a:t>重点</a:t>
            </a:r>
            <a:endParaRPr lang="en-US" altLang="zh-CN" dirty="0" smtClean="0">
              <a:latin typeface="Monaco" panose="020B0509030404040204" pitchFamily="49" charset="0"/>
            </a:endParaRPr>
          </a:p>
          <a:p>
            <a:pPr>
              <a:lnSpc>
                <a:spcPct val="150000"/>
              </a:lnSpc>
            </a:pPr>
            <a:r>
              <a:rPr lang="zh-CN" altLang="en-US" dirty="0">
                <a:latin typeface="Monaco" panose="020B0509030404040204" pitchFamily="49" charset="0"/>
              </a:rPr>
              <a:t> 注意后面的参数 </a:t>
            </a:r>
            <a:r>
              <a:rPr lang="en-US" altLang="zh-CN" dirty="0">
                <a:latin typeface="Monaco" panose="020B0509030404040204" pitchFamily="49" charset="0"/>
              </a:rPr>
              <a:t>x </a:t>
            </a:r>
            <a:r>
              <a:rPr lang="zh-CN" altLang="en-US" dirty="0">
                <a:latin typeface="Monaco" panose="020B0509030404040204" pitchFamily="49" charset="0"/>
              </a:rPr>
              <a:t>和 </a:t>
            </a:r>
            <a:r>
              <a:rPr lang="en-US" altLang="zh-CN" dirty="0">
                <a:latin typeface="Monaco" panose="020B0509030404040204" pitchFamily="49" charset="0"/>
              </a:rPr>
              <a:t>y </a:t>
            </a:r>
            <a:r>
              <a:rPr lang="zh-CN" altLang="en-US" dirty="0">
                <a:latin typeface="Monaco" panose="020B0509030404040204" pitchFamily="49" charset="0"/>
              </a:rPr>
              <a:t>用空格隔开</a:t>
            </a:r>
          </a:p>
          <a:p>
            <a:pPr>
              <a:lnSpc>
                <a:spcPct val="150000"/>
              </a:lnSpc>
            </a:pPr>
            <a:r>
              <a:rPr lang="zh-CN" altLang="en-US" dirty="0">
                <a:latin typeface="Monaco" panose="020B0509030404040204" pitchFamily="49" charset="0"/>
              </a:rPr>
              <a:t> </a:t>
            </a:r>
            <a:r>
              <a:rPr lang="en-US" altLang="zh-CN" dirty="0">
                <a:latin typeface="Monaco" panose="020B0509030404040204" pitchFamily="49" charset="0"/>
              </a:rPr>
              <a:t>x y </a:t>
            </a:r>
            <a:r>
              <a:rPr lang="zh-CN" altLang="en-US" dirty="0">
                <a:latin typeface="Monaco" panose="020B0509030404040204" pitchFamily="49" charset="0"/>
              </a:rPr>
              <a:t>默认转换的中心点是元素的中心点 </a:t>
            </a:r>
            <a:r>
              <a:rPr lang="en-US" altLang="zh-CN" dirty="0">
                <a:latin typeface="Monaco" panose="020B0509030404040204" pitchFamily="49" charset="0"/>
              </a:rPr>
              <a:t>(50% 50</a:t>
            </a:r>
            <a:r>
              <a:rPr lang="en-US" altLang="zh-CN" dirty="0" smtClean="0">
                <a:latin typeface="Monaco" panose="020B0509030404040204" pitchFamily="49" charset="0"/>
              </a:rPr>
              <a:t>%),</a:t>
            </a:r>
            <a:r>
              <a:rPr lang="zh-CN" altLang="en-US" dirty="0" smtClean="0">
                <a:latin typeface="Monaco" panose="020B0509030404040204" pitchFamily="49" charset="0"/>
              </a:rPr>
              <a:t>相当于（</a:t>
            </a:r>
            <a:r>
              <a:rPr lang="en-US" altLang="zh-CN" dirty="0" smtClean="0">
                <a:latin typeface="Monaco" panose="020B0509030404040204" pitchFamily="49" charset="0"/>
              </a:rPr>
              <a:t>center </a:t>
            </a:r>
            <a:r>
              <a:rPr lang="en-US" altLang="zh-CN" dirty="0" err="1" smtClean="0">
                <a:latin typeface="Monaco" panose="020B0509030404040204" pitchFamily="49" charset="0"/>
              </a:rPr>
              <a:t>center</a:t>
            </a:r>
            <a:r>
              <a:rPr lang="zh-CN" altLang="en-US" dirty="0" smtClean="0">
                <a:latin typeface="Monaco" panose="020B0509030404040204" pitchFamily="49" charset="0"/>
              </a:rPr>
              <a:t>）</a:t>
            </a:r>
            <a:endParaRPr lang="en-US" altLang="zh-CN" dirty="0">
              <a:latin typeface="Monaco" panose="020B0509030404040204" pitchFamily="49" charset="0"/>
            </a:endParaRPr>
          </a:p>
          <a:p>
            <a:pPr>
              <a:lnSpc>
                <a:spcPct val="150000"/>
              </a:lnSpc>
            </a:pPr>
            <a:r>
              <a:rPr lang="zh-CN" altLang="en-US" dirty="0" smtClean="0">
                <a:latin typeface="Monaco" panose="020B0509030404040204" pitchFamily="49" charset="0"/>
              </a:rPr>
              <a:t> 可以设置</a:t>
            </a:r>
            <a:r>
              <a:rPr lang="en-US" altLang="zh-CN" dirty="0" smtClean="0">
                <a:latin typeface="Monaco" panose="020B0509030404040204" pitchFamily="49" charset="0"/>
              </a:rPr>
              <a:t>9</a:t>
            </a:r>
            <a:r>
              <a:rPr lang="zh-CN" altLang="en-US" dirty="0" smtClean="0">
                <a:latin typeface="Monaco" panose="020B0509030404040204" pitchFamily="49" charset="0"/>
              </a:rPr>
              <a:t>个位置值：水平方向：</a:t>
            </a:r>
            <a:r>
              <a:rPr lang="en-US" altLang="zh-CN" dirty="0" smtClean="0">
                <a:latin typeface="Monaco" panose="020B0509030404040204" pitchFamily="49" charset="0"/>
              </a:rPr>
              <a:t>left center right</a:t>
            </a:r>
          </a:p>
          <a:p>
            <a:pPr>
              <a:lnSpc>
                <a:spcPct val="150000"/>
              </a:lnSpc>
            </a:pPr>
            <a:r>
              <a:rPr lang="en-US" altLang="zh-CN" dirty="0">
                <a:latin typeface="Monaco" panose="020B0509030404040204" pitchFamily="49" charset="0"/>
              </a:rPr>
              <a:t>	</a:t>
            </a:r>
            <a:r>
              <a:rPr lang="en-US" altLang="zh-CN" dirty="0" smtClean="0">
                <a:latin typeface="Monaco" panose="020B0509030404040204" pitchFamily="49" charset="0"/>
              </a:rPr>
              <a:t>			 0    50%    100%</a:t>
            </a:r>
          </a:p>
          <a:p>
            <a:pPr>
              <a:lnSpc>
                <a:spcPct val="150000"/>
              </a:lnSpc>
            </a:pPr>
            <a:r>
              <a:rPr lang="en-US" altLang="zh-CN" dirty="0">
                <a:latin typeface="Monaco" panose="020B0509030404040204" pitchFamily="49" charset="0"/>
              </a:rPr>
              <a:t>	</a:t>
            </a:r>
            <a:r>
              <a:rPr lang="en-US" altLang="zh-CN" dirty="0" smtClean="0">
                <a:latin typeface="Monaco" panose="020B0509030404040204" pitchFamily="49" charset="0"/>
              </a:rPr>
              <a:t>	     </a:t>
            </a:r>
            <a:r>
              <a:rPr lang="zh-CN" altLang="en-US" dirty="0" smtClean="0">
                <a:latin typeface="Monaco" panose="020B0509030404040204" pitchFamily="49" charset="0"/>
              </a:rPr>
              <a:t>垂直方向：</a:t>
            </a:r>
            <a:r>
              <a:rPr lang="en-US" altLang="zh-CN" dirty="0" smtClean="0">
                <a:latin typeface="Monaco" panose="020B0509030404040204" pitchFamily="49" charset="0"/>
              </a:rPr>
              <a:t>top center bottom</a:t>
            </a:r>
          </a:p>
        </p:txBody>
      </p:sp>
      <p:pic>
        <p:nvPicPr>
          <p:cNvPr id="7" name="图片 6"/>
          <p:cNvPicPr>
            <a:picLocks noChangeAspect="1"/>
          </p:cNvPicPr>
          <p:nvPr/>
        </p:nvPicPr>
        <p:blipFill>
          <a:blip r:embed="rId3"/>
          <a:stretch>
            <a:fillRect/>
          </a:stretch>
        </p:blipFill>
        <p:spPr>
          <a:xfrm>
            <a:off x="9553575" y="2982971"/>
            <a:ext cx="1733550" cy="1379339"/>
          </a:xfrm>
          <a:prstGeom prst="rect">
            <a:avLst/>
          </a:prstGeom>
        </p:spPr>
      </p:pic>
    </p:spTree>
    <p:extLst>
      <p:ext uri="{BB962C8B-B14F-4D97-AF65-F5344CB8AC3E}">
        <p14:creationId xmlns:p14="http://schemas.microsoft.com/office/powerpoint/2010/main" val="277584685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795867" y="1546288"/>
            <a:ext cx="9848850" cy="4824398"/>
          </a:xfrm>
          <a:prstGeom prst="rect">
            <a:avLst/>
          </a:prstGeom>
        </p:spPr>
        <p:txBody>
          <a:bodyPr wrap="square">
            <a:spAutoFit/>
          </a:bodyPr>
          <a:lstStyle/>
          <a:p>
            <a:pPr>
              <a:lnSpc>
                <a:spcPct val="150000"/>
              </a:lnSpc>
            </a:pPr>
            <a:r>
              <a:rPr lang="en-US" altLang="zh-CN" sz="2400" b="1" dirty="0" smtClean="0">
                <a:solidFill>
                  <a:schemeClr val="accent2"/>
                </a:solidFill>
                <a:latin typeface="Monaco" panose="020B0509030404040204" pitchFamily="49" charset="0"/>
              </a:rPr>
              <a:t>2D</a:t>
            </a:r>
            <a:r>
              <a:rPr lang="zh-CN" altLang="en-US" sz="2400" b="1" dirty="0">
                <a:solidFill>
                  <a:schemeClr val="accent2"/>
                </a:solidFill>
                <a:latin typeface="Monaco" panose="020B0509030404040204" pitchFamily="49" charset="0"/>
              </a:rPr>
              <a:t>变换</a:t>
            </a:r>
            <a:r>
              <a:rPr lang="zh-CN" altLang="en-US" sz="2400" b="1" dirty="0" smtClean="0">
                <a:solidFill>
                  <a:schemeClr val="accent2"/>
                </a:solidFill>
                <a:latin typeface="Monaco" panose="020B0509030404040204" pitchFamily="49" charset="0"/>
              </a:rPr>
              <a:t>之缩放</a:t>
            </a:r>
            <a:r>
              <a:rPr lang="en-US" altLang="zh-CN" sz="2400" b="1" dirty="0" smtClean="0">
                <a:solidFill>
                  <a:schemeClr val="accent2"/>
                </a:solidFill>
                <a:latin typeface="Monaco" panose="020B0509030404040204" pitchFamily="49" charset="0"/>
              </a:rPr>
              <a:t>scale</a:t>
            </a:r>
            <a:endParaRPr lang="en-US" altLang="zh-CN" sz="2400" dirty="0" smtClean="0">
              <a:solidFill>
                <a:schemeClr val="accent2"/>
              </a:solidFill>
              <a:latin typeface="Monaco" panose="020B0509030404040204" pitchFamily="49" charset="0"/>
            </a:endParaRPr>
          </a:p>
          <a:p>
            <a:pPr>
              <a:lnSpc>
                <a:spcPct val="150000"/>
              </a:lnSpc>
            </a:pPr>
            <a:r>
              <a:rPr lang="zh-CN" altLang="en-US" sz="1600" dirty="0">
                <a:latin typeface="Monaco" panose="020B0509030404040204" pitchFamily="49" charset="0"/>
              </a:rPr>
              <a:t>缩放，顾名思义，可以放大和缩小</a:t>
            </a:r>
            <a:r>
              <a:rPr lang="zh-CN" altLang="en-US" sz="1600" dirty="0" smtClean="0">
                <a:latin typeface="Monaco" panose="020B0509030404040204" pitchFamily="49" charset="0"/>
              </a:rPr>
              <a:t>。只要</a:t>
            </a:r>
            <a:r>
              <a:rPr lang="zh-CN" altLang="en-US" sz="1600" dirty="0">
                <a:latin typeface="Monaco" panose="020B0509030404040204" pitchFamily="49" charset="0"/>
              </a:rPr>
              <a:t>给元素添加上了这个属性就能控制它放大还是缩小。</a:t>
            </a:r>
            <a:endParaRPr lang="en-US" altLang="zh-CN" sz="1600" dirty="0" smtClean="0">
              <a:latin typeface="Monaco" panose="020B0509030404040204" pitchFamily="49" charset="0"/>
            </a:endParaRPr>
          </a:p>
          <a:p>
            <a:pPr>
              <a:lnSpc>
                <a:spcPct val="150000"/>
              </a:lnSpc>
            </a:pPr>
            <a:endParaRPr lang="en-US" altLang="zh-CN" dirty="0" smtClean="0">
              <a:latin typeface="Monaco" panose="020B0509030404040204" pitchFamily="49" charset="0"/>
            </a:endParaRPr>
          </a:p>
          <a:p>
            <a:pPr>
              <a:lnSpc>
                <a:spcPct val="150000"/>
              </a:lnSpc>
            </a:pPr>
            <a:r>
              <a:rPr lang="en-US" altLang="zh-CN" dirty="0" smtClean="0">
                <a:latin typeface="Monaco" panose="020B0509030404040204" pitchFamily="49" charset="0"/>
              </a:rPr>
              <a:t>1</a:t>
            </a:r>
            <a:r>
              <a:rPr lang="zh-CN" altLang="en-US" dirty="0" smtClean="0">
                <a:latin typeface="Monaco" panose="020B0509030404040204" pitchFamily="49" charset="0"/>
              </a:rPr>
              <a:t>、语法</a:t>
            </a:r>
            <a:endParaRPr lang="en-US" altLang="zh-CN" dirty="0" smtClean="0">
              <a:latin typeface="Monaco" panose="020B0509030404040204" pitchFamily="49" charset="0"/>
            </a:endParaRPr>
          </a:p>
          <a:p>
            <a:pPr>
              <a:lnSpc>
                <a:spcPct val="150000"/>
              </a:lnSpc>
            </a:pPr>
            <a:r>
              <a:rPr lang="en-US" altLang="zh-CN" sz="1600" dirty="0" smtClean="0">
                <a:latin typeface="Monaco" panose="020B0509030404040204" pitchFamily="49" charset="0"/>
              </a:rPr>
              <a:t>transform: scale(</a:t>
            </a:r>
            <a:r>
              <a:rPr lang="en-US" altLang="zh-CN" sz="1600" dirty="0" err="1" smtClean="0">
                <a:latin typeface="Monaco" panose="020B0509030404040204" pitchFamily="49" charset="0"/>
              </a:rPr>
              <a:t>x,y</a:t>
            </a:r>
            <a:r>
              <a:rPr lang="en-US" altLang="zh-CN" sz="1600" dirty="0" smtClean="0">
                <a:latin typeface="Monaco" panose="020B0509030404040204" pitchFamily="49" charset="0"/>
              </a:rPr>
              <a:t>);</a:t>
            </a:r>
          </a:p>
          <a:p>
            <a:pPr>
              <a:lnSpc>
                <a:spcPct val="150000"/>
              </a:lnSpc>
            </a:pPr>
            <a:endParaRPr lang="en-US" altLang="zh-CN" sz="1100" dirty="0">
              <a:latin typeface="Monaco" panose="020B0509030404040204" pitchFamily="49" charset="0"/>
            </a:endParaRPr>
          </a:p>
          <a:p>
            <a:pPr>
              <a:lnSpc>
                <a:spcPct val="150000"/>
              </a:lnSpc>
            </a:pPr>
            <a:r>
              <a:rPr lang="en-US" altLang="zh-CN" dirty="0">
                <a:latin typeface="Monaco" panose="020B0509030404040204" pitchFamily="49" charset="0"/>
              </a:rPr>
              <a:t>2</a:t>
            </a:r>
            <a:r>
              <a:rPr lang="zh-CN" altLang="en-US" dirty="0" smtClean="0">
                <a:latin typeface="Monaco" panose="020B0509030404040204" pitchFamily="49" charset="0"/>
              </a:rPr>
              <a:t>、</a:t>
            </a:r>
            <a:r>
              <a:rPr lang="zh-CN" altLang="en-US" dirty="0">
                <a:latin typeface="Monaco" panose="020B0509030404040204" pitchFamily="49" charset="0"/>
              </a:rPr>
              <a:t>注意</a:t>
            </a:r>
            <a:endParaRPr lang="en-US" altLang="zh-CN" dirty="0" smtClean="0">
              <a:latin typeface="Monaco" panose="020B0509030404040204" pitchFamily="49" charset="0"/>
            </a:endParaRPr>
          </a:p>
          <a:p>
            <a:pPr>
              <a:lnSpc>
                <a:spcPct val="150000"/>
              </a:lnSpc>
            </a:pPr>
            <a:r>
              <a:rPr lang="zh-CN" altLang="en-US" sz="1400" dirty="0">
                <a:latin typeface="Monaco" panose="020B0509030404040204" pitchFamily="49" charset="0"/>
              </a:rPr>
              <a:t> 注意其中的</a:t>
            </a:r>
            <a:r>
              <a:rPr lang="en-US" altLang="zh-CN" sz="1400" dirty="0">
                <a:latin typeface="Monaco" panose="020B0509030404040204" pitchFamily="49" charset="0"/>
              </a:rPr>
              <a:t>x</a:t>
            </a:r>
            <a:r>
              <a:rPr lang="zh-CN" altLang="en-US" sz="1400" dirty="0">
                <a:latin typeface="Monaco" panose="020B0509030404040204" pitchFamily="49" charset="0"/>
              </a:rPr>
              <a:t>和</a:t>
            </a:r>
            <a:r>
              <a:rPr lang="en-US" altLang="zh-CN" sz="1400" dirty="0">
                <a:latin typeface="Monaco" panose="020B0509030404040204" pitchFamily="49" charset="0"/>
              </a:rPr>
              <a:t>y</a:t>
            </a:r>
            <a:r>
              <a:rPr lang="zh-CN" altLang="en-US" sz="1400" dirty="0">
                <a:latin typeface="Monaco" panose="020B0509030404040204" pitchFamily="49" charset="0"/>
              </a:rPr>
              <a:t>用逗号分隔</a:t>
            </a:r>
          </a:p>
          <a:p>
            <a:pPr>
              <a:lnSpc>
                <a:spcPct val="150000"/>
              </a:lnSpc>
            </a:pPr>
            <a:r>
              <a:rPr lang="zh-CN" altLang="en-US" sz="1400" dirty="0">
                <a:latin typeface="Monaco" panose="020B0509030404040204" pitchFamily="49" charset="0"/>
              </a:rPr>
              <a:t> </a:t>
            </a:r>
            <a:r>
              <a:rPr lang="en-US" altLang="zh-CN" sz="1400" dirty="0" err="1">
                <a:latin typeface="Monaco" panose="020B0509030404040204" pitchFamily="49" charset="0"/>
              </a:rPr>
              <a:t>transform:scale</a:t>
            </a:r>
            <a:r>
              <a:rPr lang="en-US" altLang="zh-CN" sz="1400" dirty="0">
                <a:latin typeface="Monaco" panose="020B0509030404040204" pitchFamily="49" charset="0"/>
              </a:rPr>
              <a:t>(1,1) </a:t>
            </a:r>
            <a:r>
              <a:rPr lang="zh-CN" altLang="en-US" sz="1400" dirty="0">
                <a:latin typeface="Monaco" panose="020B0509030404040204" pitchFamily="49" charset="0"/>
              </a:rPr>
              <a:t>：宽和高都放大一倍，相对于没有放大</a:t>
            </a:r>
          </a:p>
          <a:p>
            <a:pPr>
              <a:lnSpc>
                <a:spcPct val="150000"/>
              </a:lnSpc>
            </a:pPr>
            <a:r>
              <a:rPr lang="zh-CN" altLang="en-US" sz="1400" dirty="0">
                <a:latin typeface="Monaco" panose="020B0509030404040204" pitchFamily="49" charset="0"/>
              </a:rPr>
              <a:t> </a:t>
            </a:r>
            <a:r>
              <a:rPr lang="en-US" altLang="zh-CN" sz="1400" dirty="0" err="1">
                <a:latin typeface="Monaco" panose="020B0509030404040204" pitchFamily="49" charset="0"/>
              </a:rPr>
              <a:t>transform:scale</a:t>
            </a:r>
            <a:r>
              <a:rPr lang="en-US" altLang="zh-CN" sz="1400" dirty="0">
                <a:latin typeface="Monaco" panose="020B0509030404040204" pitchFamily="49" charset="0"/>
              </a:rPr>
              <a:t>(2,2) </a:t>
            </a:r>
            <a:r>
              <a:rPr lang="zh-CN" altLang="en-US" sz="1400" dirty="0">
                <a:latin typeface="Monaco" panose="020B0509030404040204" pitchFamily="49" charset="0"/>
              </a:rPr>
              <a:t>：宽和高都放大了</a:t>
            </a:r>
            <a:r>
              <a:rPr lang="en-US" altLang="zh-CN" sz="1400" dirty="0">
                <a:latin typeface="Monaco" panose="020B0509030404040204" pitchFamily="49" charset="0"/>
              </a:rPr>
              <a:t>2</a:t>
            </a:r>
            <a:r>
              <a:rPr lang="zh-CN" altLang="en-US" sz="1400" dirty="0">
                <a:latin typeface="Monaco" panose="020B0509030404040204" pitchFamily="49" charset="0"/>
              </a:rPr>
              <a:t>倍</a:t>
            </a:r>
          </a:p>
          <a:p>
            <a:pPr>
              <a:lnSpc>
                <a:spcPct val="150000"/>
              </a:lnSpc>
            </a:pPr>
            <a:r>
              <a:rPr lang="zh-CN" altLang="en-US" sz="1400" dirty="0">
                <a:latin typeface="Monaco" panose="020B0509030404040204" pitchFamily="49" charset="0"/>
              </a:rPr>
              <a:t> </a:t>
            </a:r>
            <a:r>
              <a:rPr lang="en-US" altLang="zh-CN" sz="1400" dirty="0" err="1">
                <a:latin typeface="Monaco" panose="020B0509030404040204" pitchFamily="49" charset="0"/>
              </a:rPr>
              <a:t>transform:scale</a:t>
            </a:r>
            <a:r>
              <a:rPr lang="en-US" altLang="zh-CN" sz="1400" dirty="0">
                <a:latin typeface="Monaco" panose="020B0509030404040204" pitchFamily="49" charset="0"/>
              </a:rPr>
              <a:t>(2) </a:t>
            </a:r>
            <a:r>
              <a:rPr lang="zh-CN" altLang="en-US" sz="1400" dirty="0">
                <a:latin typeface="Monaco" panose="020B0509030404040204" pitchFamily="49" charset="0"/>
              </a:rPr>
              <a:t>：只写一个参数，第二个参数则和第一个参数一样，相当于 </a:t>
            </a:r>
            <a:r>
              <a:rPr lang="en-US" altLang="zh-CN" sz="1400" dirty="0">
                <a:latin typeface="Monaco" panose="020B0509030404040204" pitchFamily="49" charset="0"/>
              </a:rPr>
              <a:t>scale(2,2)</a:t>
            </a:r>
          </a:p>
          <a:p>
            <a:pPr>
              <a:lnSpc>
                <a:spcPct val="150000"/>
              </a:lnSpc>
            </a:pPr>
            <a:r>
              <a:rPr lang="en-US" altLang="zh-CN" sz="1400" dirty="0">
                <a:latin typeface="Monaco" panose="020B0509030404040204" pitchFamily="49" charset="0"/>
              </a:rPr>
              <a:t> </a:t>
            </a:r>
            <a:r>
              <a:rPr lang="en-US" altLang="zh-CN" sz="1400" dirty="0" err="1">
                <a:latin typeface="Monaco" panose="020B0509030404040204" pitchFamily="49" charset="0"/>
              </a:rPr>
              <a:t>transform:scale</a:t>
            </a:r>
            <a:r>
              <a:rPr lang="en-US" altLang="zh-CN" sz="1400" dirty="0">
                <a:latin typeface="Monaco" panose="020B0509030404040204" pitchFamily="49" charset="0"/>
              </a:rPr>
              <a:t>(0.5,0.5)</a:t>
            </a:r>
            <a:r>
              <a:rPr lang="zh-CN" altLang="en-US" sz="1400" dirty="0">
                <a:latin typeface="Monaco" panose="020B0509030404040204" pitchFamily="49" charset="0"/>
              </a:rPr>
              <a:t>：缩小</a:t>
            </a:r>
          </a:p>
          <a:p>
            <a:pPr>
              <a:lnSpc>
                <a:spcPct val="150000"/>
              </a:lnSpc>
            </a:pPr>
            <a:r>
              <a:rPr lang="zh-CN" altLang="en-US" sz="1400" dirty="0">
                <a:latin typeface="Monaco" panose="020B0509030404040204" pitchFamily="49" charset="0"/>
              </a:rPr>
              <a:t> </a:t>
            </a:r>
            <a:r>
              <a:rPr lang="en-US" altLang="zh-CN" sz="1400" dirty="0" smtClean="0">
                <a:latin typeface="Monaco" panose="020B0509030404040204" pitchFamily="49" charset="0"/>
              </a:rPr>
              <a:t>scale</a:t>
            </a:r>
            <a:r>
              <a:rPr lang="zh-CN" altLang="en-US" sz="1400" dirty="0">
                <a:latin typeface="Monaco" panose="020B0509030404040204" pitchFamily="49" charset="0"/>
              </a:rPr>
              <a:t>缩放最大的优势：可以</a:t>
            </a:r>
            <a:r>
              <a:rPr lang="zh-CN" altLang="en-US" sz="1400" dirty="0" smtClean="0">
                <a:latin typeface="Monaco" panose="020B0509030404040204" pitchFamily="49" charset="0"/>
              </a:rPr>
              <a:t>设置变换中心</a:t>
            </a:r>
            <a:r>
              <a:rPr lang="zh-CN" altLang="en-US" sz="1400" dirty="0">
                <a:latin typeface="Monaco" panose="020B0509030404040204" pitchFamily="49" charset="0"/>
              </a:rPr>
              <a:t>点</a:t>
            </a:r>
            <a:r>
              <a:rPr lang="zh-CN" altLang="en-US" sz="1400" dirty="0" smtClean="0">
                <a:latin typeface="Monaco" panose="020B0509030404040204" pitchFamily="49" charset="0"/>
              </a:rPr>
              <a:t>缩放</a:t>
            </a:r>
            <a:r>
              <a:rPr lang="zh-CN" altLang="en-US" sz="1400" dirty="0">
                <a:latin typeface="Monaco" panose="020B0509030404040204" pitchFamily="49" charset="0"/>
              </a:rPr>
              <a:t>。</a:t>
            </a:r>
            <a:r>
              <a:rPr lang="zh-CN" altLang="en-US" sz="1400" dirty="0" smtClean="0">
                <a:latin typeface="Monaco" panose="020B0509030404040204" pitchFamily="49" charset="0"/>
              </a:rPr>
              <a:t>默认</a:t>
            </a:r>
            <a:r>
              <a:rPr lang="zh-CN" altLang="en-US" sz="1400" dirty="0">
                <a:latin typeface="Monaco" panose="020B0509030404040204" pitchFamily="49" charset="0"/>
              </a:rPr>
              <a:t>以中心点缩放的</a:t>
            </a:r>
            <a:r>
              <a:rPr lang="zh-CN" altLang="en-US" sz="1400" dirty="0" smtClean="0">
                <a:latin typeface="Monaco" panose="020B0509030404040204" pitchFamily="49" charset="0"/>
              </a:rPr>
              <a:t>，不</a:t>
            </a:r>
            <a:r>
              <a:rPr lang="zh-CN" altLang="en-US" sz="1400" dirty="0">
                <a:latin typeface="Monaco" panose="020B0509030404040204" pitchFamily="49" charset="0"/>
              </a:rPr>
              <a:t>影响其他盒子</a:t>
            </a:r>
            <a:endParaRPr lang="en-US" altLang="zh-CN" sz="1400" dirty="0">
              <a:latin typeface="Monaco" panose="020B0509030404040204" pitchFamily="49" charset="0"/>
            </a:endParaRPr>
          </a:p>
        </p:txBody>
      </p:sp>
    </p:spTree>
    <p:extLst>
      <p:ext uri="{BB962C8B-B14F-4D97-AF65-F5344CB8AC3E}">
        <p14:creationId xmlns:p14="http://schemas.microsoft.com/office/powerpoint/2010/main" val="13735215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3" name="矩形 2"/>
          <p:cNvSpPr/>
          <p:nvPr/>
        </p:nvSpPr>
        <p:spPr>
          <a:xfrm>
            <a:off x="795867" y="1609871"/>
            <a:ext cx="2680542" cy="369332"/>
          </a:xfrm>
          <a:prstGeom prst="rect">
            <a:avLst/>
          </a:prstGeom>
        </p:spPr>
        <p:txBody>
          <a:bodyPr wrap="none">
            <a:spAutoFit/>
          </a:bodyPr>
          <a:lstStyle/>
          <a:p>
            <a:r>
              <a:rPr lang="en-US" altLang="zh-CN" dirty="0"/>
              <a:t>&lt;div class="box"&gt;&lt;/div&gt;</a:t>
            </a:r>
            <a:endParaRPr lang="zh-CN" altLang="en-US" dirty="0"/>
          </a:p>
        </p:txBody>
      </p:sp>
      <p:pic>
        <p:nvPicPr>
          <p:cNvPr id="7" name="图片 6"/>
          <p:cNvPicPr>
            <a:picLocks noChangeAspect="1"/>
          </p:cNvPicPr>
          <p:nvPr/>
        </p:nvPicPr>
        <p:blipFill>
          <a:blip r:embed="rId3"/>
          <a:stretch>
            <a:fillRect/>
          </a:stretch>
        </p:blipFill>
        <p:spPr>
          <a:xfrm>
            <a:off x="896938" y="2125558"/>
            <a:ext cx="10095392" cy="3976662"/>
          </a:xfrm>
          <a:prstGeom prst="rect">
            <a:avLst/>
          </a:prstGeom>
        </p:spPr>
      </p:pic>
    </p:spTree>
    <p:extLst>
      <p:ext uri="{BB962C8B-B14F-4D97-AF65-F5344CB8AC3E}">
        <p14:creationId xmlns:p14="http://schemas.microsoft.com/office/powerpoint/2010/main" val="219127831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932993" y="1625097"/>
            <a:ext cx="9848850" cy="3924151"/>
          </a:xfrm>
          <a:prstGeom prst="rect">
            <a:avLst/>
          </a:prstGeom>
        </p:spPr>
        <p:txBody>
          <a:bodyPr wrap="square">
            <a:spAutoFit/>
          </a:bodyPr>
          <a:lstStyle/>
          <a:p>
            <a:pPr>
              <a:lnSpc>
                <a:spcPct val="150000"/>
              </a:lnSpc>
            </a:pPr>
            <a:r>
              <a:rPr lang="en-US" altLang="zh-CN" sz="2400" b="1" dirty="0">
                <a:solidFill>
                  <a:schemeClr val="accent2"/>
                </a:solidFill>
                <a:latin typeface="Monaco" panose="020B0509030404040204" pitchFamily="49" charset="0"/>
              </a:rPr>
              <a:t>2D </a:t>
            </a:r>
            <a:r>
              <a:rPr lang="zh-CN" altLang="en-US" sz="2400" b="1" dirty="0" smtClean="0">
                <a:solidFill>
                  <a:schemeClr val="accent2"/>
                </a:solidFill>
                <a:latin typeface="Monaco" panose="020B0509030404040204" pitchFamily="49" charset="0"/>
              </a:rPr>
              <a:t>变换</a:t>
            </a:r>
            <a:r>
              <a:rPr lang="zh-CN" altLang="en-US" sz="2400" b="1" dirty="0">
                <a:solidFill>
                  <a:schemeClr val="accent2"/>
                </a:solidFill>
                <a:latin typeface="Monaco" panose="020B0509030404040204" pitchFamily="49" charset="0"/>
              </a:rPr>
              <a:t>综合</a:t>
            </a:r>
            <a:r>
              <a:rPr lang="zh-CN" altLang="en-US" sz="2400" b="1" dirty="0" smtClean="0">
                <a:solidFill>
                  <a:schemeClr val="accent2"/>
                </a:solidFill>
                <a:latin typeface="Monaco" panose="020B0509030404040204" pitchFamily="49" charset="0"/>
              </a:rPr>
              <a:t>写法</a:t>
            </a:r>
            <a:endParaRPr lang="en-US" altLang="zh-CN" sz="2400" b="1" dirty="0" smtClean="0">
              <a:solidFill>
                <a:schemeClr val="accent2"/>
              </a:solidFill>
              <a:latin typeface="Monaco" panose="020B0509030404040204" pitchFamily="49" charset="0"/>
            </a:endParaRPr>
          </a:p>
          <a:p>
            <a:pPr>
              <a:lnSpc>
                <a:spcPct val="150000"/>
              </a:lnSpc>
            </a:pPr>
            <a:endParaRPr lang="en-US" altLang="zh-CN" dirty="0" smtClean="0">
              <a:solidFill>
                <a:schemeClr val="accent2"/>
              </a:solidFill>
              <a:latin typeface="Monaco" panose="020B0509030404040204" pitchFamily="49" charset="0"/>
            </a:endParaRPr>
          </a:p>
          <a:p>
            <a:pPr>
              <a:lnSpc>
                <a:spcPct val="150000"/>
              </a:lnSpc>
            </a:pPr>
            <a:r>
              <a:rPr lang="zh-CN" altLang="en-US" sz="2400" b="1" dirty="0">
                <a:latin typeface="Monaco" panose="020B0509030404040204" pitchFamily="49" charset="0"/>
              </a:rPr>
              <a:t>注意</a:t>
            </a:r>
            <a:r>
              <a:rPr lang="zh-CN" altLang="en-US" sz="2400" dirty="0">
                <a:latin typeface="Monaco" panose="020B0509030404040204" pitchFamily="49" charset="0"/>
              </a:rPr>
              <a:t>：</a:t>
            </a:r>
            <a:endParaRPr lang="en-US" altLang="zh-CN" sz="2400" dirty="0">
              <a:solidFill>
                <a:schemeClr val="accent2"/>
              </a:solidFill>
              <a:latin typeface="Monaco" panose="020B0509030404040204" pitchFamily="49" charset="0"/>
            </a:endParaRPr>
          </a:p>
          <a:p>
            <a:pPr>
              <a:lnSpc>
                <a:spcPct val="150000"/>
              </a:lnSpc>
            </a:pPr>
            <a:r>
              <a:rPr lang="en-US" altLang="zh-CN" sz="2000" dirty="0">
                <a:latin typeface="Monaco" panose="020B0509030404040204" pitchFamily="49" charset="0"/>
              </a:rPr>
              <a:t>1. </a:t>
            </a:r>
            <a:r>
              <a:rPr lang="zh-CN" altLang="en-US" sz="2000" dirty="0">
                <a:latin typeface="Monaco" panose="020B0509030404040204" pitchFamily="49" charset="0"/>
              </a:rPr>
              <a:t>同时使用多个转换，其格式为：</a:t>
            </a:r>
            <a:r>
              <a:rPr lang="en-US" altLang="zh-CN" sz="2000" dirty="0">
                <a:latin typeface="Monaco" panose="020B0509030404040204" pitchFamily="49" charset="0"/>
              </a:rPr>
              <a:t>transform: translate() </a:t>
            </a:r>
            <a:r>
              <a:rPr lang="en-US" altLang="zh-CN" sz="2000" dirty="0" smtClean="0">
                <a:latin typeface="Monaco" panose="020B0509030404040204" pitchFamily="49" charset="0"/>
              </a:rPr>
              <a:t>rotate</a:t>
            </a:r>
            <a:r>
              <a:rPr lang="en-US" altLang="zh-CN" sz="2000" dirty="0">
                <a:latin typeface="Monaco" panose="020B0509030404040204" pitchFamily="49" charset="0"/>
              </a:rPr>
              <a:t>() scale() ...</a:t>
            </a:r>
            <a:r>
              <a:rPr lang="zh-CN" altLang="en-US" sz="2000" dirty="0" smtClean="0">
                <a:latin typeface="Monaco" panose="020B0509030404040204" pitchFamily="49" charset="0"/>
              </a:rPr>
              <a:t>等。</a:t>
            </a:r>
            <a:endParaRPr lang="zh-CN" altLang="en-US" sz="2000" dirty="0">
              <a:latin typeface="Monaco" panose="020B0509030404040204" pitchFamily="49" charset="0"/>
            </a:endParaRPr>
          </a:p>
          <a:p>
            <a:pPr>
              <a:lnSpc>
                <a:spcPct val="150000"/>
              </a:lnSpc>
            </a:pPr>
            <a:r>
              <a:rPr lang="en-US" altLang="zh-CN" sz="2000" dirty="0">
                <a:latin typeface="Monaco" panose="020B0509030404040204" pitchFamily="49" charset="0"/>
              </a:rPr>
              <a:t>2. </a:t>
            </a:r>
            <a:r>
              <a:rPr lang="zh-CN" altLang="en-US" sz="2000" dirty="0">
                <a:latin typeface="Monaco" panose="020B0509030404040204" pitchFamily="49" charset="0"/>
              </a:rPr>
              <a:t>其顺序会</a:t>
            </a:r>
            <a:r>
              <a:rPr lang="zh-CN" altLang="en-US" sz="2000" dirty="0" smtClean="0">
                <a:latin typeface="Monaco" panose="020B0509030404040204" pitchFamily="49" charset="0"/>
              </a:rPr>
              <a:t>影响转换</a:t>
            </a:r>
            <a:r>
              <a:rPr lang="zh-CN" altLang="en-US" sz="2000" dirty="0">
                <a:latin typeface="Monaco" panose="020B0509030404040204" pitchFamily="49" charset="0"/>
              </a:rPr>
              <a:t>的效果。（先旋转会改变坐标轴方向）</a:t>
            </a:r>
          </a:p>
          <a:p>
            <a:pPr>
              <a:lnSpc>
                <a:spcPct val="150000"/>
              </a:lnSpc>
            </a:pPr>
            <a:r>
              <a:rPr lang="en-US" altLang="zh-CN" sz="2000" dirty="0">
                <a:latin typeface="Monaco" panose="020B0509030404040204" pitchFamily="49" charset="0"/>
              </a:rPr>
              <a:t>3. </a:t>
            </a:r>
            <a:r>
              <a:rPr lang="zh-CN" altLang="en-US" sz="2000" dirty="0">
                <a:latin typeface="Monaco" panose="020B0509030404040204" pitchFamily="49" charset="0"/>
              </a:rPr>
              <a:t>当我们同时有位移和其他属性的时候，记得要将位移放到最前，顺序</a:t>
            </a:r>
            <a:r>
              <a:rPr lang="zh-CN" altLang="en-US" sz="2000" dirty="0" smtClean="0">
                <a:latin typeface="Monaco" panose="020B0509030404040204" pitchFamily="49" charset="0"/>
              </a:rPr>
              <a:t>不能随意</a:t>
            </a:r>
            <a:r>
              <a:rPr lang="zh-CN" altLang="en-US" sz="2000" dirty="0">
                <a:latin typeface="Monaco" panose="020B0509030404040204" pitchFamily="49" charset="0"/>
              </a:rPr>
              <a:t>更改否则效果无法展示。</a:t>
            </a:r>
            <a:endParaRPr lang="en-US" altLang="zh-CN" sz="2000" dirty="0" smtClean="0">
              <a:latin typeface="Monaco" panose="020B0509030404040204" pitchFamily="49" charset="0"/>
            </a:endParaRPr>
          </a:p>
        </p:txBody>
      </p:sp>
    </p:spTree>
    <p:extLst>
      <p:ext uri="{BB962C8B-B14F-4D97-AF65-F5344CB8AC3E}">
        <p14:creationId xmlns:p14="http://schemas.microsoft.com/office/powerpoint/2010/main" val="17748269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2D</a:t>
            </a:r>
            <a:r>
              <a:rPr lang="zh-CN" altLang="en-US" dirty="0"/>
              <a:t>变换</a:t>
            </a:r>
          </a:p>
        </p:txBody>
      </p:sp>
      <p:sp>
        <p:nvSpPr>
          <p:cNvPr id="5" name="矩形 4"/>
          <p:cNvSpPr/>
          <p:nvPr/>
        </p:nvSpPr>
        <p:spPr>
          <a:xfrm>
            <a:off x="932993" y="1625097"/>
            <a:ext cx="11020882" cy="4339650"/>
          </a:xfrm>
          <a:prstGeom prst="rect">
            <a:avLst/>
          </a:prstGeom>
        </p:spPr>
        <p:txBody>
          <a:bodyPr wrap="square">
            <a:spAutoFit/>
          </a:bodyPr>
          <a:lstStyle/>
          <a:p>
            <a:pPr>
              <a:lnSpc>
                <a:spcPct val="150000"/>
              </a:lnSpc>
            </a:pPr>
            <a:r>
              <a:rPr lang="en-US" altLang="zh-CN" sz="2400" b="1" dirty="0" smtClean="0">
                <a:solidFill>
                  <a:schemeClr val="accent2"/>
                </a:solidFill>
                <a:latin typeface="Monaco" panose="020B0509030404040204" pitchFamily="49" charset="0"/>
              </a:rPr>
              <a:t>2D</a:t>
            </a:r>
            <a:r>
              <a:rPr lang="zh-CN" altLang="en-US" sz="2400" b="1" dirty="0" smtClean="0">
                <a:solidFill>
                  <a:schemeClr val="accent2"/>
                </a:solidFill>
                <a:latin typeface="Monaco" panose="020B0509030404040204" pitchFamily="49" charset="0"/>
              </a:rPr>
              <a:t>变换总结</a:t>
            </a:r>
            <a:endParaRPr lang="en-US" altLang="zh-CN" sz="2400" b="1" dirty="0" smtClean="0">
              <a:solidFill>
                <a:schemeClr val="accent2"/>
              </a:solidFill>
              <a:latin typeface="Monaco" panose="020B0509030404040204" pitchFamily="49" charset="0"/>
            </a:endParaRPr>
          </a:p>
          <a:p>
            <a:pPr marL="285750" indent="-285750">
              <a:lnSpc>
                <a:spcPct val="150000"/>
              </a:lnSpc>
              <a:buFont typeface="Arial" panose="020B0604020202020204" pitchFamily="34" charset="0"/>
              <a:buChar char="•"/>
            </a:pPr>
            <a:r>
              <a:rPr lang="en-US" altLang="zh-CN" sz="2000" dirty="0" smtClean="0">
                <a:latin typeface="Monaco" panose="020B0509030404040204" pitchFamily="49" charset="0"/>
              </a:rPr>
              <a:t>transform</a:t>
            </a:r>
            <a:r>
              <a:rPr lang="zh-CN" altLang="en-US" sz="2000" dirty="0" smtClean="0">
                <a:latin typeface="Monaco" panose="020B0509030404040204" pitchFamily="49" charset="0"/>
              </a:rPr>
              <a:t>，简单</a:t>
            </a:r>
            <a:r>
              <a:rPr lang="zh-CN" altLang="en-US" sz="2000" dirty="0">
                <a:latin typeface="Monaco" panose="020B0509030404040204" pitchFamily="49" charset="0"/>
              </a:rPr>
              <a:t>理解就是</a:t>
            </a:r>
            <a:r>
              <a:rPr lang="zh-CN" altLang="en-US" sz="2000" dirty="0" smtClean="0">
                <a:latin typeface="Monaco" panose="020B0509030404040204" pitchFamily="49" charset="0"/>
              </a:rPr>
              <a:t>变形，有</a:t>
            </a:r>
            <a:r>
              <a:rPr lang="en-US" altLang="zh-CN" sz="2000" dirty="0" smtClean="0">
                <a:latin typeface="Monaco" panose="020B0509030404040204" pitchFamily="49" charset="0"/>
              </a:rPr>
              <a:t>2D</a:t>
            </a:r>
            <a:r>
              <a:rPr lang="zh-CN" altLang="en-US" sz="2000" dirty="0" smtClean="0">
                <a:latin typeface="Monaco" panose="020B0509030404040204" pitchFamily="49" charset="0"/>
              </a:rPr>
              <a:t>和</a:t>
            </a:r>
            <a:r>
              <a:rPr lang="en-US" altLang="zh-CN" sz="2000" dirty="0" smtClean="0">
                <a:latin typeface="Monaco" panose="020B0509030404040204" pitchFamily="49" charset="0"/>
              </a:rPr>
              <a:t>3D</a:t>
            </a:r>
            <a:r>
              <a:rPr lang="zh-CN" altLang="en-US" sz="2000" dirty="0" smtClean="0">
                <a:latin typeface="Monaco" panose="020B0509030404040204" pitchFamily="49" charset="0"/>
              </a:rPr>
              <a:t>之分；</a:t>
            </a:r>
            <a:endParaRPr lang="zh-CN" altLang="en-US" sz="2000" dirty="0">
              <a:latin typeface="Monaco" panose="020B0509030404040204" pitchFamily="49" charset="0"/>
            </a:endParaRPr>
          </a:p>
          <a:p>
            <a:pPr marL="285750" indent="-285750">
              <a:lnSpc>
                <a:spcPct val="150000"/>
              </a:lnSpc>
              <a:buFont typeface="Arial" panose="020B0604020202020204" pitchFamily="34" charset="0"/>
              <a:buChar char="•"/>
            </a:pPr>
            <a:r>
              <a:rPr lang="en-US" altLang="zh-CN" sz="2000" dirty="0" smtClean="0">
                <a:latin typeface="Monaco" panose="020B0509030404040204" pitchFamily="49" charset="0"/>
              </a:rPr>
              <a:t>2D </a:t>
            </a:r>
            <a:r>
              <a:rPr lang="zh-CN" altLang="en-US" sz="2000" dirty="0" smtClean="0">
                <a:latin typeface="Monaco" panose="020B0509030404040204" pitchFamily="49" charset="0"/>
              </a:rPr>
              <a:t>移动，</a:t>
            </a:r>
            <a:r>
              <a:rPr lang="en-US" altLang="zh-CN" sz="2000" dirty="0" smtClean="0">
                <a:latin typeface="Monaco" panose="020B0509030404040204" pitchFamily="49" charset="0"/>
              </a:rPr>
              <a:t>translate(x</a:t>
            </a:r>
            <a:r>
              <a:rPr lang="en-US" altLang="zh-CN" sz="2000" dirty="0">
                <a:latin typeface="Monaco" panose="020B0509030404040204" pitchFamily="49" charset="0"/>
              </a:rPr>
              <a:t>, y) </a:t>
            </a:r>
            <a:r>
              <a:rPr lang="zh-CN" altLang="en-US" sz="2000" dirty="0">
                <a:latin typeface="Monaco" panose="020B0509030404040204" pitchFamily="49" charset="0"/>
              </a:rPr>
              <a:t>最大的优势是不影响其他</a:t>
            </a:r>
            <a:r>
              <a:rPr lang="zh-CN" altLang="en-US" sz="2000" dirty="0" smtClean="0">
                <a:latin typeface="Monaco" panose="020B0509030404040204" pitchFamily="49" charset="0"/>
              </a:rPr>
              <a:t>盒子</a:t>
            </a:r>
            <a:r>
              <a:rPr lang="zh-CN" altLang="en-US" sz="2000" dirty="0">
                <a:latin typeface="Monaco" panose="020B0509030404040204" pitchFamily="49" charset="0"/>
              </a:rPr>
              <a:t>，</a:t>
            </a:r>
            <a:r>
              <a:rPr lang="zh-CN" altLang="en-US" sz="2000" dirty="0" smtClean="0">
                <a:latin typeface="Monaco" panose="020B0509030404040204" pitchFamily="49" charset="0"/>
              </a:rPr>
              <a:t>里面参数如果用</a:t>
            </a:r>
            <a:r>
              <a:rPr lang="en-US" altLang="zh-CN" sz="2000" dirty="0">
                <a:latin typeface="Monaco" panose="020B0509030404040204" pitchFamily="49" charset="0"/>
              </a:rPr>
              <a:t>%</a:t>
            </a:r>
            <a:r>
              <a:rPr lang="zh-CN" altLang="en-US" sz="2000" dirty="0">
                <a:latin typeface="Monaco" panose="020B0509030404040204" pitchFamily="49" charset="0"/>
              </a:rPr>
              <a:t>，是相对于自身宽度和高度来计算</a:t>
            </a:r>
            <a:r>
              <a:rPr lang="zh-CN" altLang="en-US" sz="2000" dirty="0" smtClean="0">
                <a:latin typeface="Monaco" panose="020B0509030404040204" pitchFamily="49" charset="0"/>
              </a:rPr>
              <a:t>的，可以</a:t>
            </a:r>
            <a:r>
              <a:rPr lang="zh-CN" altLang="en-US" sz="2000" dirty="0">
                <a:latin typeface="Monaco" panose="020B0509030404040204" pitchFamily="49" charset="0"/>
              </a:rPr>
              <a:t>分开写比如 </a:t>
            </a:r>
            <a:r>
              <a:rPr lang="en-US" altLang="zh-CN" sz="2000" dirty="0" err="1">
                <a:latin typeface="Monaco" panose="020B0509030404040204" pitchFamily="49" charset="0"/>
              </a:rPr>
              <a:t>translateX</a:t>
            </a:r>
            <a:r>
              <a:rPr lang="en-US" altLang="zh-CN" sz="2000" dirty="0">
                <a:latin typeface="Monaco" panose="020B0509030404040204" pitchFamily="49" charset="0"/>
              </a:rPr>
              <a:t>(x) </a:t>
            </a:r>
            <a:r>
              <a:rPr lang="zh-CN" altLang="en-US" sz="2000" dirty="0">
                <a:latin typeface="Monaco" panose="020B0509030404040204" pitchFamily="49" charset="0"/>
              </a:rPr>
              <a:t>和 </a:t>
            </a:r>
            <a:r>
              <a:rPr lang="en-US" altLang="zh-CN" sz="2000" dirty="0" err="1">
                <a:latin typeface="Monaco" panose="020B0509030404040204" pitchFamily="49" charset="0"/>
              </a:rPr>
              <a:t>translateY</a:t>
            </a:r>
            <a:r>
              <a:rPr lang="en-US" altLang="zh-CN" sz="2000" dirty="0">
                <a:latin typeface="Monaco" panose="020B0509030404040204" pitchFamily="49" charset="0"/>
              </a:rPr>
              <a:t>(y</a:t>
            </a:r>
            <a:r>
              <a:rPr lang="en-US" altLang="zh-CN" sz="2000" dirty="0" smtClean="0">
                <a:latin typeface="Monaco" panose="020B0509030404040204" pitchFamily="49" charset="0"/>
              </a:rPr>
              <a:t>)</a:t>
            </a:r>
            <a:r>
              <a:rPr lang="zh-CN" altLang="en-US" sz="2000" dirty="0" smtClean="0">
                <a:latin typeface="Monaco" panose="020B0509030404040204" pitchFamily="49" charset="0"/>
              </a:rPr>
              <a:t>；</a:t>
            </a:r>
            <a:endParaRPr lang="en-US" altLang="zh-CN" sz="2000" dirty="0">
              <a:latin typeface="Monaco" panose="020B0509030404040204" pitchFamily="49" charset="0"/>
            </a:endParaRPr>
          </a:p>
          <a:p>
            <a:pPr marL="285750" indent="-285750">
              <a:lnSpc>
                <a:spcPct val="150000"/>
              </a:lnSpc>
              <a:buFont typeface="Arial" panose="020B0604020202020204" pitchFamily="34" charset="0"/>
              <a:buChar char="•"/>
            </a:pPr>
            <a:r>
              <a:rPr lang="en-US" altLang="zh-CN" sz="2000" dirty="0" smtClean="0">
                <a:latin typeface="Monaco" panose="020B0509030404040204" pitchFamily="49" charset="0"/>
              </a:rPr>
              <a:t>2D </a:t>
            </a:r>
            <a:r>
              <a:rPr lang="zh-CN" altLang="en-US" sz="2000" dirty="0" smtClean="0">
                <a:latin typeface="Monaco" panose="020B0509030404040204" pitchFamily="49" charset="0"/>
              </a:rPr>
              <a:t>旋转，</a:t>
            </a:r>
            <a:r>
              <a:rPr lang="en-US" altLang="zh-CN" sz="2000" dirty="0" smtClean="0">
                <a:latin typeface="Monaco" panose="020B0509030404040204" pitchFamily="49" charset="0"/>
              </a:rPr>
              <a:t>rotate</a:t>
            </a:r>
            <a:r>
              <a:rPr lang="en-US" altLang="zh-CN" sz="2000" dirty="0">
                <a:latin typeface="Monaco" panose="020B0509030404040204" pitchFamily="49" charset="0"/>
              </a:rPr>
              <a:t>(</a:t>
            </a:r>
            <a:r>
              <a:rPr lang="zh-CN" altLang="en-US" sz="2000" dirty="0">
                <a:latin typeface="Monaco" panose="020B0509030404040204" pitchFamily="49" charset="0"/>
              </a:rPr>
              <a:t>度数</a:t>
            </a:r>
            <a:r>
              <a:rPr lang="en-US" altLang="zh-CN" sz="2000" dirty="0">
                <a:latin typeface="Monaco" panose="020B0509030404040204" pitchFamily="49" charset="0"/>
              </a:rPr>
              <a:t>) </a:t>
            </a:r>
            <a:r>
              <a:rPr lang="zh-CN" altLang="en-US" sz="2000" dirty="0">
                <a:latin typeface="Monaco" panose="020B0509030404040204" pitchFamily="49" charset="0"/>
              </a:rPr>
              <a:t>可以实现旋转</a:t>
            </a:r>
            <a:r>
              <a:rPr lang="zh-CN" altLang="en-US" sz="2000" dirty="0" smtClean="0">
                <a:latin typeface="Monaco" panose="020B0509030404040204" pitchFamily="49" charset="0"/>
              </a:rPr>
              <a:t>元素，度数</a:t>
            </a:r>
            <a:r>
              <a:rPr lang="zh-CN" altLang="en-US" sz="2000" dirty="0">
                <a:latin typeface="Monaco" panose="020B0509030404040204" pitchFamily="49" charset="0"/>
              </a:rPr>
              <a:t>的单位是</a:t>
            </a:r>
            <a:r>
              <a:rPr lang="en-US" altLang="zh-CN" sz="2000" dirty="0" err="1" smtClean="0">
                <a:latin typeface="Monaco" panose="020B0509030404040204" pitchFamily="49" charset="0"/>
              </a:rPr>
              <a:t>deg</a:t>
            </a:r>
            <a:r>
              <a:rPr lang="zh-CN" altLang="en-US" sz="2000" dirty="0" smtClean="0">
                <a:latin typeface="Monaco" panose="020B0509030404040204" pitchFamily="49" charset="0"/>
              </a:rPr>
              <a:t>；</a:t>
            </a:r>
            <a:endParaRPr lang="en-US" altLang="zh-CN" sz="2000" dirty="0">
              <a:latin typeface="Monaco" panose="020B0509030404040204" pitchFamily="49" charset="0"/>
            </a:endParaRPr>
          </a:p>
          <a:p>
            <a:pPr marL="285750" indent="-285750">
              <a:lnSpc>
                <a:spcPct val="150000"/>
              </a:lnSpc>
              <a:buFont typeface="Arial" panose="020B0604020202020204" pitchFamily="34" charset="0"/>
              <a:buChar char="•"/>
            </a:pPr>
            <a:r>
              <a:rPr lang="en-US" altLang="zh-CN" sz="2000" dirty="0" smtClean="0">
                <a:latin typeface="Monaco" panose="020B0509030404040204" pitchFamily="49" charset="0"/>
              </a:rPr>
              <a:t>2D </a:t>
            </a:r>
            <a:r>
              <a:rPr lang="zh-CN" altLang="en-US" sz="2000" dirty="0" smtClean="0">
                <a:latin typeface="Monaco" panose="020B0509030404040204" pitchFamily="49" charset="0"/>
              </a:rPr>
              <a:t>缩放，</a:t>
            </a:r>
            <a:r>
              <a:rPr lang="en-US" altLang="zh-CN" sz="2000" dirty="0" smtClean="0">
                <a:latin typeface="Monaco" panose="020B0509030404040204" pitchFamily="49" charset="0"/>
              </a:rPr>
              <a:t>scale(</a:t>
            </a:r>
            <a:r>
              <a:rPr lang="en-US" altLang="zh-CN" sz="2000" dirty="0" err="1" smtClean="0">
                <a:latin typeface="Monaco" panose="020B0509030404040204" pitchFamily="49" charset="0"/>
              </a:rPr>
              <a:t>x,y</a:t>
            </a:r>
            <a:r>
              <a:rPr lang="en-US" altLang="zh-CN" sz="2000" dirty="0">
                <a:latin typeface="Monaco" panose="020B0509030404040204" pitchFamily="49" charset="0"/>
              </a:rPr>
              <a:t>) </a:t>
            </a:r>
            <a:r>
              <a:rPr lang="zh-CN" altLang="en-US" sz="2000" dirty="0">
                <a:latin typeface="Monaco" panose="020B0509030404040204" pitchFamily="49" charset="0"/>
              </a:rPr>
              <a:t>里面参数是</a:t>
            </a:r>
            <a:r>
              <a:rPr lang="zh-CN" altLang="en-US" sz="2000" dirty="0" smtClean="0">
                <a:latin typeface="Monaco" panose="020B0509030404040204" pitchFamily="49" charset="0"/>
              </a:rPr>
              <a:t>数字，不</a:t>
            </a:r>
            <a:r>
              <a:rPr lang="zh-CN" altLang="en-US" sz="2000" dirty="0">
                <a:latin typeface="Monaco" panose="020B0509030404040204" pitchFamily="49" charset="0"/>
              </a:rPr>
              <a:t>跟</a:t>
            </a:r>
            <a:r>
              <a:rPr lang="zh-CN" altLang="en-US" sz="2000" dirty="0" smtClean="0">
                <a:latin typeface="Monaco" panose="020B0509030404040204" pitchFamily="49" charset="0"/>
              </a:rPr>
              <a:t>单位，可以</a:t>
            </a:r>
            <a:r>
              <a:rPr lang="zh-CN" altLang="en-US" sz="2000" dirty="0">
                <a:latin typeface="Monaco" panose="020B0509030404040204" pitchFamily="49" charset="0"/>
              </a:rPr>
              <a:t>是</a:t>
            </a:r>
            <a:r>
              <a:rPr lang="zh-CN" altLang="en-US" sz="2000" dirty="0" smtClean="0">
                <a:latin typeface="Monaco" panose="020B0509030404040204" pitchFamily="49" charset="0"/>
              </a:rPr>
              <a:t>小数，最大</a:t>
            </a:r>
            <a:r>
              <a:rPr lang="zh-CN" altLang="en-US" sz="2000" dirty="0">
                <a:latin typeface="Monaco" panose="020B0509030404040204" pitchFamily="49" charset="0"/>
              </a:rPr>
              <a:t>的</a:t>
            </a:r>
            <a:r>
              <a:rPr lang="zh-CN" altLang="en-US" sz="2000" dirty="0" smtClean="0">
                <a:latin typeface="Monaco" panose="020B0509030404040204" pitchFamily="49" charset="0"/>
              </a:rPr>
              <a:t>优势是不</a:t>
            </a:r>
            <a:r>
              <a:rPr lang="zh-CN" altLang="en-US" sz="2000" dirty="0">
                <a:latin typeface="Monaco" panose="020B0509030404040204" pitchFamily="49" charset="0"/>
              </a:rPr>
              <a:t>影响其他</a:t>
            </a:r>
            <a:r>
              <a:rPr lang="zh-CN" altLang="en-US" sz="2000" dirty="0" smtClean="0">
                <a:latin typeface="Monaco" panose="020B0509030404040204" pitchFamily="49" charset="0"/>
              </a:rPr>
              <a:t>盒子；</a:t>
            </a:r>
            <a:endParaRPr lang="zh-CN" altLang="en-US" sz="2000" dirty="0">
              <a:latin typeface="Monaco" panose="020B0509030404040204" pitchFamily="49" charset="0"/>
            </a:endParaRPr>
          </a:p>
          <a:p>
            <a:pPr marL="285750" indent="-285750">
              <a:lnSpc>
                <a:spcPct val="150000"/>
              </a:lnSpc>
              <a:buFont typeface="Arial" panose="020B0604020202020204" pitchFamily="34" charset="0"/>
              <a:buChar char="•"/>
            </a:pPr>
            <a:r>
              <a:rPr lang="zh-CN" altLang="en-US" sz="2000" dirty="0" smtClean="0">
                <a:latin typeface="Monaco" panose="020B0509030404040204" pitchFamily="49" charset="0"/>
              </a:rPr>
              <a:t>设置</a:t>
            </a:r>
            <a:r>
              <a:rPr lang="zh-CN" altLang="en-US" sz="2000" dirty="0">
                <a:latin typeface="Monaco" panose="020B0509030404040204" pitchFamily="49" charset="0"/>
              </a:rPr>
              <a:t>转换中心点 </a:t>
            </a:r>
            <a:r>
              <a:rPr lang="en-US" altLang="zh-CN" sz="2000" dirty="0" smtClean="0">
                <a:latin typeface="Monaco" panose="020B0509030404040204" pitchFamily="49" charset="0"/>
              </a:rPr>
              <a:t>transform-origin: </a:t>
            </a:r>
            <a:r>
              <a:rPr lang="en-US" altLang="zh-CN" sz="2000" dirty="0">
                <a:latin typeface="Monaco" panose="020B0509030404040204" pitchFamily="49" charset="0"/>
              </a:rPr>
              <a:t>x y; </a:t>
            </a:r>
            <a:r>
              <a:rPr lang="zh-CN" altLang="en-US" sz="2000" dirty="0">
                <a:latin typeface="Monaco" panose="020B0509030404040204" pitchFamily="49" charset="0"/>
              </a:rPr>
              <a:t>参数可以百分比、像素或者是方位</a:t>
            </a:r>
            <a:r>
              <a:rPr lang="zh-CN" altLang="en-US" sz="2000" dirty="0" smtClean="0">
                <a:latin typeface="Monaco" panose="020B0509030404040204" pitchFamily="49" charset="0"/>
              </a:rPr>
              <a:t>名词；</a:t>
            </a:r>
            <a:endParaRPr lang="zh-CN" altLang="en-US" sz="2000" dirty="0">
              <a:latin typeface="Monaco" panose="020B0509030404040204" pitchFamily="49" charset="0"/>
            </a:endParaRPr>
          </a:p>
          <a:p>
            <a:pPr marL="285750" indent="-285750">
              <a:lnSpc>
                <a:spcPct val="150000"/>
              </a:lnSpc>
              <a:buFont typeface="Arial" panose="020B0604020202020204" pitchFamily="34" charset="0"/>
              <a:buChar char="•"/>
            </a:pPr>
            <a:r>
              <a:rPr lang="zh-CN" altLang="en-US" sz="2000" dirty="0" smtClean="0">
                <a:latin typeface="Monaco" panose="020B0509030404040204" pitchFamily="49" charset="0"/>
              </a:rPr>
              <a:t>当</a:t>
            </a:r>
            <a:r>
              <a:rPr lang="zh-CN" altLang="en-US" sz="2000" dirty="0">
                <a:latin typeface="Monaco" panose="020B0509030404040204" pitchFamily="49" charset="0"/>
              </a:rPr>
              <a:t>我们进行综合写法，同时有位移和其他属性的时候，记得要将位移放到最</a:t>
            </a:r>
            <a:r>
              <a:rPr lang="zh-CN" altLang="en-US" sz="2000" dirty="0" smtClean="0">
                <a:latin typeface="Monaco" panose="020B0509030404040204" pitchFamily="49" charset="0"/>
              </a:rPr>
              <a:t>前边；</a:t>
            </a:r>
            <a:endParaRPr lang="en-US" altLang="zh-CN" dirty="0" smtClean="0">
              <a:latin typeface="Monaco" panose="020B0509030404040204" pitchFamily="49" charset="0"/>
            </a:endParaRPr>
          </a:p>
        </p:txBody>
      </p:sp>
    </p:spTree>
    <p:extLst>
      <p:ext uri="{BB962C8B-B14F-4D97-AF65-F5344CB8AC3E}">
        <p14:creationId xmlns:p14="http://schemas.microsoft.com/office/powerpoint/2010/main" val="35295526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 </a:t>
            </a:r>
            <a:r>
              <a:rPr lang="zh-CN" altLang="en-US" dirty="0"/>
              <a:t>变换</a:t>
            </a:r>
          </a:p>
        </p:txBody>
      </p:sp>
      <p:sp>
        <p:nvSpPr>
          <p:cNvPr id="5" name="矩形 4"/>
          <p:cNvSpPr/>
          <p:nvPr/>
        </p:nvSpPr>
        <p:spPr>
          <a:xfrm>
            <a:off x="795867" y="3332335"/>
            <a:ext cx="9848850" cy="2862322"/>
          </a:xfrm>
          <a:prstGeom prst="rect">
            <a:avLst/>
          </a:prstGeom>
        </p:spPr>
        <p:txBody>
          <a:bodyPr wrap="square">
            <a:spAutoFit/>
          </a:bodyPr>
          <a:lstStyle/>
          <a:p>
            <a:pPr>
              <a:lnSpc>
                <a:spcPct val="150000"/>
              </a:lnSpc>
            </a:pPr>
            <a:r>
              <a:rPr lang="en-US" altLang="zh-CN" sz="2000" b="1" dirty="0" smtClean="0">
                <a:solidFill>
                  <a:srgbClr val="FF0000"/>
                </a:solidFill>
                <a:latin typeface="Monaco" panose="020B0509030404040204" pitchFamily="49" charset="0"/>
              </a:rPr>
              <a:t>3D   </a:t>
            </a:r>
            <a:r>
              <a:rPr lang="en-US" altLang="zh-CN" sz="2000" b="1" dirty="0" smtClean="0">
                <a:latin typeface="Monaco" panose="020B0509030404040204" pitchFamily="49" charset="0"/>
              </a:rPr>
              <a:t>-&gt;   </a:t>
            </a:r>
            <a:r>
              <a:rPr lang="en-US" altLang="zh-CN" sz="2000" b="1" u="sng" dirty="0" smtClean="0">
                <a:latin typeface="Monaco" panose="020B0509030404040204" pitchFamily="49" charset="0"/>
              </a:rPr>
              <a:t>transform-style</a:t>
            </a:r>
            <a:r>
              <a:rPr lang="en-US" altLang="zh-CN" sz="2000" b="1" u="sng" dirty="0">
                <a:latin typeface="Monaco" panose="020B0509030404040204" pitchFamily="49" charset="0"/>
              </a:rPr>
              <a:t>: preserve-3d</a:t>
            </a:r>
            <a:r>
              <a:rPr lang="en-US" altLang="zh-CN" sz="2000" b="1" u="sng" dirty="0" smtClean="0">
                <a:latin typeface="Monaco" panose="020B0509030404040204" pitchFamily="49" charset="0"/>
              </a:rPr>
              <a:t>;</a:t>
            </a:r>
          </a:p>
          <a:p>
            <a:pPr>
              <a:lnSpc>
                <a:spcPct val="150000"/>
              </a:lnSpc>
            </a:pPr>
            <a:r>
              <a:rPr lang="zh-CN" altLang="en-US" sz="2000" b="1" dirty="0">
                <a:solidFill>
                  <a:srgbClr val="FF0000"/>
                </a:solidFill>
                <a:latin typeface="Monaco" panose="020B0509030404040204" pitchFamily="49" charset="0"/>
              </a:rPr>
              <a:t>旋转</a:t>
            </a:r>
            <a:r>
              <a:rPr lang="zh-CN" altLang="en-US" sz="2000" b="1" dirty="0">
                <a:latin typeface="Monaco" panose="020B0509030404040204" pitchFamily="49" charset="0"/>
              </a:rPr>
              <a:t>：</a:t>
            </a:r>
            <a:r>
              <a:rPr lang="en-US" altLang="zh-CN" sz="2000" b="1" dirty="0">
                <a:latin typeface="Monaco" panose="020B0509030404040204" pitchFamily="49" charset="0"/>
              </a:rPr>
              <a:t>transform</a:t>
            </a:r>
            <a:r>
              <a:rPr lang="zh-CN" altLang="en-US" sz="2000" b="1" dirty="0">
                <a:latin typeface="Monaco" panose="020B0509030404040204" pitchFamily="49" charset="0"/>
              </a:rPr>
              <a:t>属性</a:t>
            </a:r>
            <a:endParaRPr lang="en-US" altLang="zh-CN" sz="2000" b="1" dirty="0">
              <a:latin typeface="Monaco" panose="020B0509030404040204" pitchFamily="49" charset="0"/>
            </a:endParaRPr>
          </a:p>
          <a:p>
            <a:pPr marL="342900" indent="-342900">
              <a:lnSpc>
                <a:spcPct val="150000"/>
              </a:lnSpc>
              <a:buFont typeface="Arial" panose="020B0604020202020204" pitchFamily="34" charset="0"/>
              <a:buChar char="•"/>
            </a:pPr>
            <a:r>
              <a:rPr lang="en-US" altLang="zh-CN" sz="2000" dirty="0">
                <a:latin typeface="Monaco" panose="020B0509030404040204" pitchFamily="49" charset="0"/>
              </a:rPr>
              <a:t>transform: </a:t>
            </a:r>
            <a:r>
              <a:rPr lang="en-US" altLang="zh-CN" sz="2000" dirty="0" err="1">
                <a:latin typeface="Monaco" panose="020B0509030404040204" pitchFamily="49" charset="0"/>
              </a:rPr>
              <a:t>rotateX</a:t>
            </a:r>
            <a:r>
              <a:rPr lang="en-US" altLang="zh-CN" sz="2000" dirty="0">
                <a:latin typeface="Monaco" panose="020B0509030404040204" pitchFamily="49" charset="0"/>
              </a:rPr>
              <a:t>(</a:t>
            </a:r>
            <a:r>
              <a:rPr lang="en-US" altLang="zh-CN" sz="2000" dirty="0" err="1">
                <a:latin typeface="Monaco" panose="020B0509030404040204" pitchFamily="49" charset="0"/>
              </a:rPr>
              <a:t>deg</a:t>
            </a:r>
            <a:r>
              <a:rPr lang="en-US" altLang="zh-CN" sz="2000" dirty="0">
                <a:latin typeface="Monaco" panose="020B0509030404040204" pitchFamily="49" charset="0"/>
              </a:rPr>
              <a:t>);</a:t>
            </a:r>
          </a:p>
          <a:p>
            <a:pPr marL="342900" indent="-342900">
              <a:lnSpc>
                <a:spcPct val="150000"/>
              </a:lnSpc>
              <a:buFont typeface="Arial" panose="020B0604020202020204" pitchFamily="34" charset="0"/>
              <a:buChar char="•"/>
            </a:pPr>
            <a:r>
              <a:rPr lang="en-US" altLang="zh-CN" sz="2000" dirty="0">
                <a:latin typeface="Monaco" panose="020B0509030404040204" pitchFamily="49" charset="0"/>
              </a:rPr>
              <a:t>transform: </a:t>
            </a:r>
            <a:r>
              <a:rPr lang="en-US" altLang="zh-CN" sz="2000" dirty="0" err="1">
                <a:latin typeface="Monaco" panose="020B0509030404040204" pitchFamily="49" charset="0"/>
              </a:rPr>
              <a:t>rotateY</a:t>
            </a:r>
            <a:r>
              <a:rPr lang="en-US" altLang="zh-CN" sz="2000" dirty="0">
                <a:latin typeface="Monaco" panose="020B0509030404040204" pitchFamily="49" charset="0"/>
              </a:rPr>
              <a:t>(</a:t>
            </a:r>
            <a:r>
              <a:rPr lang="en-US" altLang="zh-CN" sz="2000" dirty="0" err="1">
                <a:latin typeface="Monaco" panose="020B0509030404040204" pitchFamily="49" charset="0"/>
              </a:rPr>
              <a:t>deg</a:t>
            </a:r>
            <a:r>
              <a:rPr lang="en-US" altLang="zh-CN" sz="2000" dirty="0">
                <a:latin typeface="Monaco" panose="020B0509030404040204" pitchFamily="49" charset="0"/>
              </a:rPr>
              <a:t>);</a:t>
            </a:r>
          </a:p>
          <a:p>
            <a:pPr marL="342900" indent="-342900">
              <a:lnSpc>
                <a:spcPct val="150000"/>
              </a:lnSpc>
              <a:buFont typeface="Arial" panose="020B0604020202020204" pitchFamily="34" charset="0"/>
              <a:buChar char="•"/>
            </a:pPr>
            <a:r>
              <a:rPr lang="en-US" altLang="zh-CN" sz="2000" dirty="0">
                <a:latin typeface="Monaco" panose="020B0509030404040204" pitchFamily="49" charset="0"/>
              </a:rPr>
              <a:t>transform: </a:t>
            </a:r>
            <a:r>
              <a:rPr lang="en-US" altLang="zh-CN" sz="2000" dirty="0" err="1">
                <a:latin typeface="Monaco" panose="020B0509030404040204" pitchFamily="49" charset="0"/>
              </a:rPr>
              <a:t>rotateZ</a:t>
            </a:r>
            <a:r>
              <a:rPr lang="en-US" altLang="zh-CN" sz="2000" dirty="0">
                <a:latin typeface="Monaco" panose="020B0509030404040204" pitchFamily="49" charset="0"/>
              </a:rPr>
              <a:t>(</a:t>
            </a:r>
            <a:r>
              <a:rPr lang="en-US" altLang="zh-CN" sz="2000" dirty="0" err="1">
                <a:latin typeface="Monaco" panose="020B0509030404040204" pitchFamily="49" charset="0"/>
              </a:rPr>
              <a:t>deg</a:t>
            </a:r>
            <a:r>
              <a:rPr lang="en-US" altLang="zh-CN" sz="2000" dirty="0">
                <a:latin typeface="Monaco" panose="020B0509030404040204" pitchFamily="49" charset="0"/>
              </a:rPr>
              <a:t>);</a:t>
            </a:r>
          </a:p>
          <a:p>
            <a:pPr>
              <a:lnSpc>
                <a:spcPct val="150000"/>
              </a:lnSpc>
            </a:pPr>
            <a:r>
              <a:rPr lang="zh-CN" altLang="en-US" sz="2000" b="1" dirty="0">
                <a:solidFill>
                  <a:srgbClr val="FF0000"/>
                </a:solidFill>
                <a:latin typeface="Monaco" panose="020B0509030404040204" pitchFamily="49" charset="0"/>
              </a:rPr>
              <a:t>透视</a:t>
            </a:r>
            <a:r>
              <a:rPr lang="zh-CN" altLang="en-US" sz="2000" b="1" dirty="0">
                <a:latin typeface="Monaco" panose="020B0509030404040204" pitchFamily="49" charset="0"/>
              </a:rPr>
              <a:t>：</a:t>
            </a:r>
            <a:r>
              <a:rPr lang="en-US" altLang="zh-CN" sz="2000" b="1" dirty="0">
                <a:latin typeface="Monaco" panose="020B0509030404040204" pitchFamily="49" charset="0"/>
              </a:rPr>
              <a:t>perspective</a:t>
            </a:r>
            <a:r>
              <a:rPr lang="zh-CN" altLang="en-US" sz="2000" b="1" dirty="0">
                <a:latin typeface="Monaco" panose="020B0509030404040204" pitchFamily="49" charset="0"/>
              </a:rPr>
              <a:t>属性</a:t>
            </a:r>
            <a:endParaRPr lang="en-US" altLang="zh-CN" sz="2000" b="1" dirty="0">
              <a:latin typeface="Monaco" panose="020B0509030404040204" pitchFamily="49" charset="0"/>
            </a:endParaRPr>
          </a:p>
        </p:txBody>
      </p:sp>
      <p:sp>
        <p:nvSpPr>
          <p:cNvPr id="3" name="矩形 2"/>
          <p:cNvSpPr/>
          <p:nvPr/>
        </p:nvSpPr>
        <p:spPr>
          <a:xfrm>
            <a:off x="795867" y="1575061"/>
            <a:ext cx="9904908" cy="1467197"/>
          </a:xfrm>
          <a:prstGeom prst="rect">
            <a:avLst/>
          </a:prstGeom>
        </p:spPr>
        <p:txBody>
          <a:bodyPr wrap="square">
            <a:spAutoFit/>
          </a:bodyPr>
          <a:lstStyle/>
          <a:p>
            <a:pPr>
              <a:lnSpc>
                <a:spcPct val="200000"/>
              </a:lnSpc>
            </a:pPr>
            <a:r>
              <a:rPr lang="en-US" altLang="zh-CN" sz="2400" dirty="0" smtClean="0"/>
              <a:t>2D</a:t>
            </a:r>
            <a:r>
              <a:rPr lang="zh-CN" altLang="en-US" sz="2400" dirty="0" smtClean="0"/>
              <a:t>变换能够改变元素在</a:t>
            </a:r>
            <a:r>
              <a:rPr lang="en-US" altLang="zh-CN" sz="2400" dirty="0" smtClean="0"/>
              <a:t>X</a:t>
            </a:r>
            <a:r>
              <a:rPr lang="zh-CN" altLang="en-US" sz="2400" dirty="0" smtClean="0"/>
              <a:t>轴和</a:t>
            </a:r>
            <a:r>
              <a:rPr lang="en-US" altLang="zh-CN" sz="2400" dirty="0" smtClean="0"/>
              <a:t>Y</a:t>
            </a:r>
            <a:r>
              <a:rPr lang="zh-CN" altLang="en-US" sz="2400" dirty="0" smtClean="0"/>
              <a:t>轴方向上的特性，</a:t>
            </a:r>
            <a:r>
              <a:rPr lang="en-US" altLang="zh-CN" sz="2400" dirty="0" smtClean="0"/>
              <a:t>3D</a:t>
            </a:r>
            <a:r>
              <a:rPr lang="zh-CN" altLang="en-US" sz="2400" dirty="0" smtClean="0"/>
              <a:t>变换能改变元素在</a:t>
            </a:r>
            <a:r>
              <a:rPr lang="en-US" altLang="zh-CN" sz="2400" dirty="0" smtClean="0"/>
              <a:t>Z</a:t>
            </a:r>
            <a:r>
              <a:rPr lang="zh-CN" altLang="en-US" sz="2400" dirty="0" smtClean="0"/>
              <a:t>轴方向上的特性，并可以通过视角设置透视关系，使元素具有透视效果。</a:t>
            </a:r>
            <a:endParaRPr lang="zh-CN" altLang="en-US" sz="2400" dirty="0"/>
          </a:p>
        </p:txBody>
      </p:sp>
    </p:spTree>
    <p:extLst>
      <p:ext uri="{BB962C8B-B14F-4D97-AF65-F5344CB8AC3E}">
        <p14:creationId xmlns:p14="http://schemas.microsoft.com/office/powerpoint/2010/main" val="3321610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 </a:t>
            </a:r>
            <a:r>
              <a:rPr lang="zh-CN" altLang="en-US" dirty="0"/>
              <a:t>变换</a:t>
            </a:r>
          </a:p>
        </p:txBody>
      </p:sp>
      <p:sp>
        <p:nvSpPr>
          <p:cNvPr id="5" name="矩形 4"/>
          <p:cNvSpPr/>
          <p:nvPr/>
        </p:nvSpPr>
        <p:spPr>
          <a:xfrm>
            <a:off x="932993" y="1625097"/>
            <a:ext cx="9848850" cy="590033"/>
          </a:xfrm>
          <a:prstGeom prst="rect">
            <a:avLst/>
          </a:prstGeom>
        </p:spPr>
        <p:txBody>
          <a:bodyPr wrap="square">
            <a:spAutoFit/>
          </a:bodyPr>
          <a:lstStyle/>
          <a:p>
            <a:pPr>
              <a:lnSpc>
                <a:spcPct val="150000"/>
              </a:lnSpc>
            </a:pPr>
            <a:r>
              <a:rPr lang="en-US" altLang="zh-CN" sz="2400" b="1" dirty="0" smtClean="0"/>
              <a:t>1</a:t>
            </a:r>
            <a:r>
              <a:rPr lang="zh-CN" altLang="en-US" sz="2400" b="1" dirty="0" smtClean="0"/>
              <a:t>、</a:t>
            </a:r>
            <a:r>
              <a:rPr lang="zh-CN" altLang="en-US" sz="2400" b="1" dirty="0"/>
              <a:t>三维坐标系</a:t>
            </a:r>
            <a:endParaRPr lang="en-US" altLang="zh-CN" sz="1600" dirty="0" smtClean="0"/>
          </a:p>
        </p:txBody>
      </p:sp>
      <p:sp>
        <p:nvSpPr>
          <p:cNvPr id="3" name="矩形 2"/>
          <p:cNvSpPr/>
          <p:nvPr/>
        </p:nvSpPr>
        <p:spPr>
          <a:xfrm>
            <a:off x="1014060" y="2376665"/>
            <a:ext cx="6794708" cy="2308324"/>
          </a:xfrm>
          <a:prstGeom prst="rect">
            <a:avLst/>
          </a:prstGeom>
        </p:spPr>
        <p:txBody>
          <a:bodyPr wrap="square">
            <a:spAutoFit/>
          </a:bodyPr>
          <a:lstStyle/>
          <a:p>
            <a:pPr>
              <a:lnSpc>
                <a:spcPct val="200000"/>
              </a:lnSpc>
            </a:pPr>
            <a:r>
              <a:rPr lang="zh-CN" altLang="en-US" dirty="0"/>
              <a:t>三维坐标系其实就是指立体空间，立体空间是由</a:t>
            </a:r>
            <a:r>
              <a:rPr lang="en-US" altLang="zh-CN" dirty="0"/>
              <a:t>3</a:t>
            </a:r>
            <a:r>
              <a:rPr lang="zh-CN" altLang="en-US" dirty="0"/>
              <a:t>个轴共同组成的。</a:t>
            </a:r>
          </a:p>
          <a:p>
            <a:pPr>
              <a:lnSpc>
                <a:spcPct val="200000"/>
              </a:lnSpc>
            </a:pPr>
            <a:r>
              <a:rPr lang="zh-CN" altLang="en-US" dirty="0"/>
              <a:t> </a:t>
            </a:r>
            <a:r>
              <a:rPr lang="en-US" altLang="zh-CN" dirty="0"/>
              <a:t>x</a:t>
            </a:r>
            <a:r>
              <a:rPr lang="zh-CN" altLang="en-US" dirty="0"/>
              <a:t>轴：水平向右 注意： </a:t>
            </a:r>
            <a:r>
              <a:rPr lang="en-US" altLang="zh-CN" dirty="0"/>
              <a:t>x </a:t>
            </a:r>
            <a:r>
              <a:rPr lang="zh-CN" altLang="en-US" dirty="0"/>
              <a:t>右边是正值，左边是负值</a:t>
            </a:r>
          </a:p>
          <a:p>
            <a:pPr>
              <a:lnSpc>
                <a:spcPct val="200000"/>
              </a:lnSpc>
            </a:pPr>
            <a:r>
              <a:rPr lang="zh-CN" altLang="en-US" dirty="0"/>
              <a:t> </a:t>
            </a:r>
            <a:r>
              <a:rPr lang="en-US" altLang="zh-CN" dirty="0"/>
              <a:t>y</a:t>
            </a:r>
            <a:r>
              <a:rPr lang="zh-CN" altLang="en-US" dirty="0"/>
              <a:t>轴：垂直向下 注意： </a:t>
            </a:r>
            <a:r>
              <a:rPr lang="en-US" altLang="zh-CN" dirty="0"/>
              <a:t>y </a:t>
            </a:r>
            <a:r>
              <a:rPr lang="zh-CN" altLang="en-US" dirty="0"/>
              <a:t>下面是正值，上面是负值</a:t>
            </a:r>
          </a:p>
          <a:p>
            <a:pPr>
              <a:lnSpc>
                <a:spcPct val="200000"/>
              </a:lnSpc>
            </a:pPr>
            <a:r>
              <a:rPr lang="zh-CN" altLang="en-US" dirty="0"/>
              <a:t> </a:t>
            </a:r>
            <a:r>
              <a:rPr lang="en-US" altLang="zh-CN" dirty="0"/>
              <a:t>z</a:t>
            </a:r>
            <a:r>
              <a:rPr lang="zh-CN" altLang="en-US" dirty="0"/>
              <a:t>轴：垂直屏幕 注意： 往外面是正值，往里面是负值</a:t>
            </a:r>
          </a:p>
        </p:txBody>
      </p:sp>
      <p:pic>
        <p:nvPicPr>
          <p:cNvPr id="2" name="图片 1"/>
          <p:cNvPicPr>
            <a:picLocks noChangeAspect="1"/>
          </p:cNvPicPr>
          <p:nvPr/>
        </p:nvPicPr>
        <p:blipFill>
          <a:blip r:embed="rId3"/>
          <a:stretch>
            <a:fillRect/>
          </a:stretch>
        </p:blipFill>
        <p:spPr>
          <a:xfrm>
            <a:off x="7808768" y="2932907"/>
            <a:ext cx="3892165" cy="3624004"/>
          </a:xfrm>
          <a:prstGeom prst="rect">
            <a:avLst/>
          </a:prstGeom>
        </p:spPr>
      </p:pic>
    </p:spTree>
    <p:extLst>
      <p:ext uri="{BB962C8B-B14F-4D97-AF65-F5344CB8AC3E}">
        <p14:creationId xmlns:p14="http://schemas.microsoft.com/office/powerpoint/2010/main" val="21960220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 </a:t>
            </a:r>
            <a:r>
              <a:rPr lang="zh-CN" altLang="en-US" dirty="0"/>
              <a:t>变换</a:t>
            </a:r>
          </a:p>
        </p:txBody>
      </p:sp>
      <p:sp>
        <p:nvSpPr>
          <p:cNvPr id="5" name="矩形 4"/>
          <p:cNvSpPr/>
          <p:nvPr/>
        </p:nvSpPr>
        <p:spPr>
          <a:xfrm>
            <a:off x="932993" y="1625097"/>
            <a:ext cx="9848850" cy="507127"/>
          </a:xfrm>
          <a:prstGeom prst="rect">
            <a:avLst/>
          </a:prstGeom>
        </p:spPr>
        <p:txBody>
          <a:bodyPr wrap="square">
            <a:spAutoFit/>
          </a:bodyPr>
          <a:lstStyle/>
          <a:p>
            <a:pPr>
              <a:lnSpc>
                <a:spcPct val="150000"/>
              </a:lnSpc>
            </a:pPr>
            <a:r>
              <a:rPr lang="en-US" altLang="zh-CN" sz="2000" b="1" dirty="0" smtClean="0"/>
              <a:t>3D</a:t>
            </a:r>
            <a:r>
              <a:rPr lang="zh-CN" altLang="en-US" sz="2000" b="1" dirty="0" smtClean="0"/>
              <a:t>变换常用属性</a:t>
            </a:r>
            <a:endParaRPr lang="en-US" altLang="zh-CN" sz="1400" dirty="0" smtClean="0"/>
          </a:p>
        </p:txBody>
      </p:sp>
      <p:graphicFrame>
        <p:nvGraphicFramePr>
          <p:cNvPr id="6" name="表格 5"/>
          <p:cNvGraphicFramePr>
            <a:graphicFrameLocks noGrp="1"/>
          </p:cNvGraphicFramePr>
          <p:nvPr>
            <p:extLst>
              <p:ext uri="{D42A27DB-BD31-4B8C-83A1-F6EECF244321}">
                <p14:modId xmlns:p14="http://schemas.microsoft.com/office/powerpoint/2010/main" val="3194749451"/>
              </p:ext>
            </p:extLst>
          </p:nvPr>
        </p:nvGraphicFramePr>
        <p:xfrm>
          <a:off x="1014060" y="2354970"/>
          <a:ext cx="10123101" cy="3256280"/>
        </p:xfrm>
        <a:graphic>
          <a:graphicData uri="http://schemas.openxmlformats.org/drawingml/2006/table">
            <a:tbl>
              <a:tblPr firstRow="1" bandRow="1">
                <a:tableStyleId>{5C22544A-7EE6-4342-B048-85BDC9FD1C3A}</a:tableStyleId>
              </a:tblPr>
              <a:tblGrid>
                <a:gridCol w="3126342">
                  <a:extLst>
                    <a:ext uri="{9D8B030D-6E8A-4147-A177-3AD203B41FA5}">
                      <a16:colId xmlns:a16="http://schemas.microsoft.com/office/drawing/2014/main" val="3509558647"/>
                    </a:ext>
                  </a:extLst>
                </a:gridCol>
                <a:gridCol w="6996759">
                  <a:extLst>
                    <a:ext uri="{9D8B030D-6E8A-4147-A177-3AD203B41FA5}">
                      <a16:colId xmlns:a16="http://schemas.microsoft.com/office/drawing/2014/main" val="2069861997"/>
                    </a:ext>
                  </a:extLst>
                </a:gridCol>
              </a:tblGrid>
              <a:tr h="370840">
                <a:tc>
                  <a:txBody>
                    <a:bodyPr/>
                    <a:lstStyle/>
                    <a:p>
                      <a:r>
                        <a:rPr lang="zh-CN" altLang="en-US" sz="1600" dirty="0" smtClean="0">
                          <a:latin typeface="Monaco" panose="020B0509030404040204" pitchFamily="49" charset="0"/>
                        </a:rPr>
                        <a:t>属性</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说明</a:t>
                      </a:r>
                      <a:endParaRPr lang="zh-CN" altLang="en-US" sz="1600" dirty="0">
                        <a:latin typeface="Monaco" panose="020B0509030404040204" pitchFamily="49" charset="0"/>
                      </a:endParaRPr>
                    </a:p>
                  </a:txBody>
                  <a:tcPr/>
                </a:tc>
                <a:extLst>
                  <a:ext uri="{0D108BD9-81ED-4DB2-BD59-A6C34878D82A}">
                    <a16:rowId xmlns:a16="http://schemas.microsoft.com/office/drawing/2014/main" val="64157752"/>
                  </a:ext>
                </a:extLst>
              </a:tr>
              <a:tr h="370840">
                <a:tc>
                  <a:txBody>
                    <a:bodyPr/>
                    <a:lstStyle/>
                    <a:p>
                      <a:r>
                        <a:rPr lang="en-US" altLang="zh-CN" sz="1600" dirty="0" smtClean="0">
                          <a:latin typeface="Monaco" panose="020B0509030404040204" pitchFamily="49" charset="0"/>
                        </a:rPr>
                        <a:t>transform</a:t>
                      </a:r>
                      <a:endParaRPr lang="zh-CN" altLang="en-US" sz="1600" dirty="0">
                        <a:latin typeface="Monaco" panose="020B0509030404040204" pitchFamily="49" charset="0"/>
                      </a:endParaRPr>
                    </a:p>
                  </a:txBody>
                  <a:tcPr/>
                </a:tc>
                <a:tc>
                  <a:txBody>
                    <a:bodyPr/>
                    <a:lstStyle/>
                    <a:p>
                      <a:r>
                        <a:rPr lang="en-US" altLang="zh-CN" sz="1600" dirty="0" smtClean="0">
                          <a:latin typeface="Monaco" panose="020B0509030404040204" pitchFamily="49" charset="0"/>
                        </a:rPr>
                        <a:t>2D</a:t>
                      </a:r>
                      <a:r>
                        <a:rPr lang="zh-CN" altLang="en-US" sz="1600" dirty="0" smtClean="0">
                          <a:latin typeface="Monaco" panose="020B0509030404040204" pitchFamily="49" charset="0"/>
                        </a:rPr>
                        <a:t>或</a:t>
                      </a:r>
                      <a:r>
                        <a:rPr lang="en-US" altLang="zh-CN" sz="1600" dirty="0" smtClean="0">
                          <a:latin typeface="Monaco" panose="020B0509030404040204" pitchFamily="49" charset="0"/>
                        </a:rPr>
                        <a:t>3D</a:t>
                      </a:r>
                      <a:r>
                        <a:rPr lang="zh-CN" altLang="en-US" sz="1600" dirty="0" smtClean="0">
                          <a:latin typeface="Monaco" panose="020B0509030404040204" pitchFamily="49" charset="0"/>
                        </a:rPr>
                        <a:t>变换，取值为变换方法</a:t>
                      </a:r>
                      <a:endParaRPr lang="zh-CN" altLang="en-US" sz="1600" dirty="0">
                        <a:latin typeface="Monaco" panose="020B0509030404040204" pitchFamily="49" charset="0"/>
                      </a:endParaRPr>
                    </a:p>
                  </a:txBody>
                  <a:tcPr/>
                </a:tc>
                <a:extLst>
                  <a:ext uri="{0D108BD9-81ED-4DB2-BD59-A6C34878D82A}">
                    <a16:rowId xmlns:a16="http://schemas.microsoft.com/office/drawing/2014/main" val="705801028"/>
                  </a:ext>
                </a:extLst>
              </a:tr>
              <a:tr h="370840">
                <a:tc>
                  <a:txBody>
                    <a:bodyPr/>
                    <a:lstStyle/>
                    <a:p>
                      <a:r>
                        <a:rPr lang="en-US" altLang="zh-CN" sz="1600" dirty="0" smtClean="0">
                          <a:latin typeface="Monaco" panose="020B0509030404040204" pitchFamily="49" charset="0"/>
                        </a:rPr>
                        <a:t>transform-origin</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变换的起始点，默认为元素中心点</a:t>
                      </a:r>
                      <a:endParaRPr lang="en-US" altLang="zh-CN" sz="1600" dirty="0" smtClean="0">
                        <a:latin typeface="Monaco" panose="020B050903040404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Monaco" panose="020B0509030404040204" pitchFamily="49" charset="0"/>
                        </a:rPr>
                        <a:t>transform-origin</a:t>
                      </a:r>
                      <a:r>
                        <a:rPr lang="zh-CN" altLang="en-US" sz="1600" dirty="0" smtClean="0">
                          <a:latin typeface="Monaco" panose="020B0509030404040204" pitchFamily="49" charset="0"/>
                        </a:rPr>
                        <a:t>：</a:t>
                      </a:r>
                      <a:r>
                        <a:rPr lang="en-US" altLang="zh-CN" sz="1600" dirty="0" smtClean="0">
                          <a:latin typeface="Monaco" panose="020B0509030404040204" pitchFamily="49" charset="0"/>
                        </a:rPr>
                        <a:t>x 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Monaco" panose="020B0509030404040204" pitchFamily="49" charset="0"/>
                        </a:rPr>
                        <a:t>x</a:t>
                      </a:r>
                      <a:r>
                        <a:rPr lang="zh-CN" altLang="en-US" sz="1600" dirty="0" smtClean="0">
                          <a:latin typeface="Monaco" panose="020B0509030404040204" pitchFamily="49" charset="0"/>
                        </a:rPr>
                        <a:t>和</a:t>
                      </a:r>
                      <a:r>
                        <a:rPr lang="en-US" altLang="zh-CN" sz="1600" dirty="0" smtClean="0">
                          <a:latin typeface="Monaco" panose="020B0509030404040204" pitchFamily="49" charset="0"/>
                        </a:rPr>
                        <a:t>y</a:t>
                      </a:r>
                      <a:r>
                        <a:rPr lang="zh-CN" altLang="en-US" sz="1600" dirty="0" smtClean="0">
                          <a:latin typeface="Monaco" panose="020B0509030404040204" pitchFamily="49" charset="0"/>
                        </a:rPr>
                        <a:t>可以取值</a:t>
                      </a:r>
                      <a:r>
                        <a:rPr lang="en-US" altLang="zh-CN" sz="1600" dirty="0" err="1" smtClean="0">
                          <a:latin typeface="Monaco" panose="020B0509030404040204" pitchFamily="49" charset="0"/>
                        </a:rPr>
                        <a:t>px</a:t>
                      </a:r>
                      <a:r>
                        <a:rPr lang="zh-CN" altLang="en-US" sz="1600" dirty="0" smtClean="0">
                          <a:latin typeface="Monaco" panose="020B0509030404040204" pitchFamily="49" charset="0"/>
                        </a:rPr>
                        <a:t>，</a:t>
                      </a:r>
                      <a:r>
                        <a:rPr lang="en-US" altLang="zh-CN" sz="1600" dirty="0" smtClean="0">
                          <a:latin typeface="Monaco" panose="020B0509030404040204" pitchFamily="49" charset="0"/>
                        </a:rPr>
                        <a:t>%</a:t>
                      </a:r>
                      <a:r>
                        <a:rPr lang="zh-CN" altLang="en-US" sz="1600" dirty="0" smtClean="0">
                          <a:latin typeface="Monaco" panose="020B0509030404040204" pitchFamily="49" charset="0"/>
                        </a:rPr>
                        <a:t>，方位名词（</a:t>
                      </a:r>
                      <a:r>
                        <a:rPr lang="en-US" altLang="zh-CN" sz="1600" dirty="0" smtClean="0">
                          <a:latin typeface="Monaco" panose="020B0509030404040204" pitchFamily="49" charset="0"/>
                        </a:rPr>
                        <a:t>left</a:t>
                      </a:r>
                      <a:r>
                        <a:rPr lang="zh-CN" altLang="en-US" sz="1600" dirty="0" smtClean="0">
                          <a:latin typeface="Monaco" panose="020B0509030404040204" pitchFamily="49" charset="0"/>
                        </a:rPr>
                        <a:t>、</a:t>
                      </a:r>
                      <a:r>
                        <a:rPr lang="en-US" altLang="zh-CN" sz="1600" dirty="0" smtClean="0">
                          <a:latin typeface="Monaco" panose="020B0509030404040204" pitchFamily="49" charset="0"/>
                        </a:rPr>
                        <a:t>right</a:t>
                      </a:r>
                      <a:r>
                        <a:rPr lang="zh-CN" altLang="en-US" sz="1600" dirty="0" smtClean="0">
                          <a:latin typeface="Monaco" panose="020B0509030404040204" pitchFamily="49" charset="0"/>
                        </a:rPr>
                        <a:t>、</a:t>
                      </a:r>
                      <a:r>
                        <a:rPr lang="en-US" altLang="zh-CN" sz="1600" dirty="0" smtClean="0">
                          <a:latin typeface="Monaco" panose="020B0509030404040204" pitchFamily="49" charset="0"/>
                        </a:rPr>
                        <a:t>top</a:t>
                      </a:r>
                      <a:r>
                        <a:rPr lang="zh-CN" altLang="en-US" sz="1600" dirty="0" smtClean="0">
                          <a:latin typeface="Monaco" panose="020B0509030404040204" pitchFamily="49" charset="0"/>
                        </a:rPr>
                        <a:t>、</a:t>
                      </a:r>
                      <a:r>
                        <a:rPr lang="en-US" altLang="zh-CN" sz="1600" dirty="0" smtClean="0">
                          <a:latin typeface="Monaco" panose="020B0509030404040204" pitchFamily="49" charset="0"/>
                        </a:rPr>
                        <a:t>bottom</a:t>
                      </a:r>
                      <a:r>
                        <a:rPr lang="zh-CN" altLang="en-US" sz="1600" dirty="0" smtClean="0">
                          <a:latin typeface="Monaco" panose="020B0509030404040204" pitchFamily="49" charset="0"/>
                        </a:rPr>
                        <a:t>、</a:t>
                      </a:r>
                      <a:r>
                        <a:rPr lang="en-US" altLang="zh-CN" sz="1600" dirty="0" smtClean="0">
                          <a:latin typeface="Monaco" panose="020B0509030404040204" pitchFamily="49" charset="0"/>
                        </a:rPr>
                        <a:t>center</a:t>
                      </a:r>
                      <a:r>
                        <a:rPr lang="zh-CN" altLang="en-US" sz="1600" dirty="0" smtClean="0">
                          <a:latin typeface="Monaco" panose="020B0509030404040204" pitchFamily="49" charset="0"/>
                        </a:rPr>
                        <a:t>）</a:t>
                      </a:r>
                    </a:p>
                  </a:txBody>
                  <a:tcPr/>
                </a:tc>
                <a:extLst>
                  <a:ext uri="{0D108BD9-81ED-4DB2-BD59-A6C34878D82A}">
                    <a16:rowId xmlns:a16="http://schemas.microsoft.com/office/drawing/2014/main" val="2938989777"/>
                  </a:ext>
                </a:extLst>
              </a:tr>
              <a:tr h="370840">
                <a:tc>
                  <a:txBody>
                    <a:bodyPr/>
                    <a:lstStyle/>
                    <a:p>
                      <a:r>
                        <a:rPr lang="en-US" altLang="zh-CN" sz="1600" dirty="0" smtClean="0">
                          <a:latin typeface="Monaco" panose="020B0509030404040204" pitchFamily="49" charset="0"/>
                        </a:rPr>
                        <a:t>transform-style</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取值为</a:t>
                      </a:r>
                      <a:r>
                        <a:rPr lang="en-US" altLang="zh-CN" sz="1600" dirty="0" smtClean="0">
                          <a:latin typeface="Monaco" panose="020B0509030404040204" pitchFamily="49" charset="0"/>
                        </a:rPr>
                        <a:t>preserve-3d</a:t>
                      </a:r>
                      <a:r>
                        <a:rPr lang="zh-CN" altLang="en-US" sz="1600" dirty="0" smtClean="0">
                          <a:latin typeface="Monaco" panose="020B0509030404040204" pitchFamily="49" charset="0"/>
                        </a:rPr>
                        <a:t>时，则可以产生</a:t>
                      </a:r>
                      <a:r>
                        <a:rPr lang="en-US" altLang="zh-CN" sz="1600" dirty="0" smtClean="0">
                          <a:latin typeface="Monaco" panose="020B0509030404040204" pitchFamily="49" charset="0"/>
                        </a:rPr>
                        <a:t>3D</a:t>
                      </a:r>
                      <a:r>
                        <a:rPr lang="zh-CN" altLang="en-US" sz="1600" dirty="0" smtClean="0">
                          <a:latin typeface="Monaco" panose="020B0509030404040204" pitchFamily="49" charset="0"/>
                        </a:rPr>
                        <a:t>变换效果</a:t>
                      </a:r>
                      <a:endParaRPr lang="zh-CN" altLang="en-US" sz="1600" dirty="0">
                        <a:latin typeface="Monaco" panose="020B0509030404040204" pitchFamily="49" charset="0"/>
                      </a:endParaRPr>
                    </a:p>
                  </a:txBody>
                  <a:tcPr/>
                </a:tc>
                <a:extLst>
                  <a:ext uri="{0D108BD9-81ED-4DB2-BD59-A6C34878D82A}">
                    <a16:rowId xmlns:a16="http://schemas.microsoft.com/office/drawing/2014/main" val="837527367"/>
                  </a:ext>
                </a:extLst>
              </a:tr>
              <a:tr h="370840">
                <a:tc>
                  <a:txBody>
                    <a:bodyPr/>
                    <a:lstStyle/>
                    <a:p>
                      <a:r>
                        <a:rPr lang="en-US" altLang="zh-CN" sz="1600" dirty="0" smtClean="0">
                          <a:latin typeface="Monaco" panose="020B0509030404040204" pitchFamily="49" charset="0"/>
                        </a:rPr>
                        <a:t>perspective</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眼睛和舞台间的距离，像素为单位</a:t>
                      </a:r>
                      <a:endParaRPr lang="en-US" altLang="zh-CN" sz="1600" dirty="0" smtClean="0">
                        <a:latin typeface="Monaco" panose="020B0509030404040204" pitchFamily="49" charset="0"/>
                      </a:endParaRPr>
                    </a:p>
                    <a:p>
                      <a:r>
                        <a:rPr lang="zh-CN" altLang="en-US" sz="1600" dirty="0" smtClean="0">
                          <a:latin typeface="Monaco" panose="020B0509030404040204" pitchFamily="49" charset="0"/>
                        </a:rPr>
                        <a:t>值越小，透视效果越明显</a:t>
                      </a:r>
                      <a:endParaRPr lang="zh-CN" altLang="en-US" sz="1600" dirty="0">
                        <a:latin typeface="Monaco" panose="020B0509030404040204" pitchFamily="49" charset="0"/>
                      </a:endParaRPr>
                    </a:p>
                  </a:txBody>
                  <a:tcPr/>
                </a:tc>
                <a:extLst>
                  <a:ext uri="{0D108BD9-81ED-4DB2-BD59-A6C34878D82A}">
                    <a16:rowId xmlns:a16="http://schemas.microsoft.com/office/drawing/2014/main" val="26480186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Monaco" panose="020B0509030404040204" pitchFamily="49" charset="0"/>
                        </a:rPr>
                        <a:t>perspective-origin</a:t>
                      </a:r>
                      <a:endParaRPr lang="zh-CN" altLang="en-US" sz="1600" dirty="0" smtClean="0">
                        <a:latin typeface="Monaco" panose="020B0509030404040204" pitchFamily="49" charset="0"/>
                      </a:endParaRPr>
                    </a:p>
                  </a:txBody>
                  <a:tcPr/>
                </a:tc>
                <a:tc>
                  <a:txBody>
                    <a:bodyPr/>
                    <a:lstStyle/>
                    <a:p>
                      <a:r>
                        <a:rPr lang="zh-CN" altLang="en-US" sz="1600" dirty="0" smtClean="0">
                          <a:latin typeface="Monaco" panose="020B0509030404040204" pitchFamily="49" charset="0"/>
                        </a:rPr>
                        <a:t>视线关注的原点，默认为元素中心点</a:t>
                      </a:r>
                      <a:endParaRPr lang="zh-CN" altLang="en-US" sz="1600" dirty="0">
                        <a:latin typeface="Monaco" panose="020B0509030404040204" pitchFamily="49" charset="0"/>
                      </a:endParaRPr>
                    </a:p>
                  </a:txBody>
                  <a:tcPr/>
                </a:tc>
                <a:extLst>
                  <a:ext uri="{0D108BD9-81ED-4DB2-BD59-A6C34878D82A}">
                    <a16:rowId xmlns:a16="http://schemas.microsoft.com/office/drawing/2014/main" val="1381115354"/>
                  </a:ext>
                </a:extLst>
              </a:tr>
              <a:tr h="370840">
                <a:tc>
                  <a:txBody>
                    <a:bodyPr/>
                    <a:lstStyle/>
                    <a:p>
                      <a:r>
                        <a:rPr lang="en-US" altLang="zh-CN" sz="1600" dirty="0" err="1" smtClean="0">
                          <a:latin typeface="Monaco" panose="020B0509030404040204" pitchFamily="49" charset="0"/>
                        </a:rPr>
                        <a:t>backface</a:t>
                      </a:r>
                      <a:r>
                        <a:rPr lang="en-US" altLang="zh-CN" sz="1600" dirty="0" smtClean="0">
                          <a:latin typeface="Monaco" panose="020B0509030404040204" pitchFamily="49" charset="0"/>
                        </a:rPr>
                        <a:t>-visibility</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元素背对屏幕时是否可见，取值为</a:t>
                      </a:r>
                      <a:r>
                        <a:rPr lang="en-US" altLang="zh-CN" sz="1600" dirty="0" smtClean="0">
                          <a:latin typeface="Monaco" panose="020B0509030404040204" pitchFamily="49" charset="0"/>
                        </a:rPr>
                        <a:t>hidden</a:t>
                      </a:r>
                      <a:r>
                        <a:rPr lang="zh-CN" altLang="en-US" sz="1600" dirty="0" smtClean="0">
                          <a:latin typeface="Monaco" panose="020B0509030404040204" pitchFamily="49" charset="0"/>
                        </a:rPr>
                        <a:t>表示隐藏</a:t>
                      </a:r>
                      <a:endParaRPr lang="zh-CN" altLang="en-US" sz="1600" dirty="0">
                        <a:latin typeface="Monaco" panose="020B0509030404040204" pitchFamily="49" charset="0"/>
                      </a:endParaRPr>
                    </a:p>
                  </a:txBody>
                  <a:tcPr/>
                </a:tc>
                <a:extLst>
                  <a:ext uri="{0D108BD9-81ED-4DB2-BD59-A6C34878D82A}">
                    <a16:rowId xmlns:a16="http://schemas.microsoft.com/office/drawing/2014/main" val="1323454237"/>
                  </a:ext>
                </a:extLst>
              </a:tr>
            </a:tbl>
          </a:graphicData>
        </a:graphic>
      </p:graphicFrame>
    </p:spTree>
    <p:extLst>
      <p:ext uri="{BB962C8B-B14F-4D97-AF65-F5344CB8AC3E}">
        <p14:creationId xmlns:p14="http://schemas.microsoft.com/office/powerpoint/2010/main" val="15162916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 </a:t>
            </a:r>
            <a:r>
              <a:rPr lang="zh-CN" altLang="en-US" dirty="0"/>
              <a:t>变换</a:t>
            </a:r>
          </a:p>
        </p:txBody>
      </p:sp>
      <p:sp>
        <p:nvSpPr>
          <p:cNvPr id="5" name="矩形 4"/>
          <p:cNvSpPr/>
          <p:nvPr/>
        </p:nvSpPr>
        <p:spPr>
          <a:xfrm>
            <a:off x="932993" y="1625097"/>
            <a:ext cx="9848850" cy="463973"/>
          </a:xfrm>
          <a:prstGeom prst="rect">
            <a:avLst/>
          </a:prstGeom>
        </p:spPr>
        <p:txBody>
          <a:bodyPr wrap="square">
            <a:spAutoFit/>
          </a:bodyPr>
          <a:lstStyle/>
          <a:p>
            <a:pPr>
              <a:lnSpc>
                <a:spcPct val="150000"/>
              </a:lnSpc>
            </a:pPr>
            <a:r>
              <a:rPr lang="en-US" altLang="zh-CN" b="1" dirty="0" smtClean="0">
                <a:latin typeface="Monaco" panose="020B0509030404040204" pitchFamily="49" charset="0"/>
              </a:rPr>
              <a:t>3D</a:t>
            </a:r>
            <a:r>
              <a:rPr lang="zh-CN" altLang="en-US" b="1" dirty="0" smtClean="0">
                <a:latin typeface="Monaco" panose="020B0509030404040204" pitchFamily="49" charset="0"/>
              </a:rPr>
              <a:t>变换</a:t>
            </a:r>
            <a:r>
              <a:rPr lang="en-US" altLang="zh-CN" b="1" dirty="0" smtClean="0">
                <a:latin typeface="Monaco" panose="020B0509030404040204" pitchFamily="49" charset="0"/>
              </a:rPr>
              <a:t>transform</a:t>
            </a:r>
            <a:r>
              <a:rPr lang="zh-CN" altLang="en-US" b="1" dirty="0" smtClean="0">
                <a:latin typeface="Monaco" panose="020B0509030404040204" pitchFamily="49" charset="0"/>
              </a:rPr>
              <a:t>属性常用方法</a:t>
            </a:r>
            <a:endParaRPr lang="en-US" altLang="zh-CN" sz="1200" dirty="0" smtClean="0">
              <a:latin typeface="Monaco" panose="020B0509030404040204" pitchFamily="49"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959963567"/>
              </p:ext>
            </p:extLst>
          </p:nvPr>
        </p:nvGraphicFramePr>
        <p:xfrm>
          <a:off x="1014061" y="2305050"/>
          <a:ext cx="8139463" cy="1818640"/>
        </p:xfrm>
        <a:graphic>
          <a:graphicData uri="http://schemas.openxmlformats.org/drawingml/2006/table">
            <a:tbl>
              <a:tblPr firstRow="1" bandRow="1">
                <a:tableStyleId>{5C22544A-7EE6-4342-B048-85BDC9FD1C3A}</a:tableStyleId>
              </a:tblPr>
              <a:tblGrid>
                <a:gridCol w="2786974">
                  <a:extLst>
                    <a:ext uri="{9D8B030D-6E8A-4147-A177-3AD203B41FA5}">
                      <a16:colId xmlns:a16="http://schemas.microsoft.com/office/drawing/2014/main" val="3509558647"/>
                    </a:ext>
                  </a:extLst>
                </a:gridCol>
                <a:gridCol w="2488918">
                  <a:extLst>
                    <a:ext uri="{9D8B030D-6E8A-4147-A177-3AD203B41FA5}">
                      <a16:colId xmlns:a16="http://schemas.microsoft.com/office/drawing/2014/main" val="2069861997"/>
                    </a:ext>
                  </a:extLst>
                </a:gridCol>
                <a:gridCol w="2863571">
                  <a:extLst>
                    <a:ext uri="{9D8B030D-6E8A-4147-A177-3AD203B41FA5}">
                      <a16:colId xmlns:a16="http://schemas.microsoft.com/office/drawing/2014/main" val="140115016"/>
                    </a:ext>
                  </a:extLst>
                </a:gridCol>
              </a:tblGrid>
              <a:tr h="296063">
                <a:tc>
                  <a:txBody>
                    <a:bodyPr/>
                    <a:lstStyle/>
                    <a:p>
                      <a:r>
                        <a:rPr lang="zh-CN" altLang="en-US" sz="1600" dirty="0" smtClean="0">
                          <a:latin typeface="Monaco" panose="020B0509030404040204" pitchFamily="49" charset="0"/>
                        </a:rPr>
                        <a:t>旋转</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移动</a:t>
                      </a:r>
                      <a:endParaRPr lang="zh-CN" altLang="en-US" sz="1600" dirty="0">
                        <a:latin typeface="Monaco" panose="020B0509030404040204" pitchFamily="49" charset="0"/>
                      </a:endParaRPr>
                    </a:p>
                  </a:txBody>
                  <a:tcPr/>
                </a:tc>
                <a:tc>
                  <a:txBody>
                    <a:bodyPr/>
                    <a:lstStyle/>
                    <a:p>
                      <a:r>
                        <a:rPr lang="zh-CN" altLang="en-US" sz="1600" dirty="0" smtClean="0">
                          <a:latin typeface="Monaco" panose="020B0509030404040204" pitchFamily="49" charset="0"/>
                        </a:rPr>
                        <a:t>缩放</a:t>
                      </a:r>
                      <a:endParaRPr lang="zh-CN" altLang="en-US" sz="1600" dirty="0">
                        <a:latin typeface="Monaco" panose="020B0509030404040204" pitchFamily="49" charset="0"/>
                      </a:endParaRPr>
                    </a:p>
                  </a:txBody>
                  <a:tcPr/>
                </a:tc>
                <a:extLst>
                  <a:ext uri="{0D108BD9-81ED-4DB2-BD59-A6C34878D82A}">
                    <a16:rowId xmlns:a16="http://schemas.microsoft.com/office/drawing/2014/main" val="64157752"/>
                  </a:ext>
                </a:extLst>
              </a:tr>
              <a:tr h="370840">
                <a:tc>
                  <a:txBody>
                    <a:bodyPr/>
                    <a:lstStyle/>
                    <a:p>
                      <a:r>
                        <a:rPr lang="en-US" altLang="zh-CN" sz="1600" dirty="0" smtClean="0">
                          <a:latin typeface="Monaco" panose="020B0509030404040204" pitchFamily="49" charset="0"/>
                        </a:rPr>
                        <a:t>rotate3d(</a:t>
                      </a:r>
                      <a:r>
                        <a:rPr lang="en-US" altLang="zh-CN" sz="1600" dirty="0" err="1" smtClean="0">
                          <a:latin typeface="Monaco" panose="020B0509030404040204" pitchFamily="49" charset="0"/>
                        </a:rPr>
                        <a:t>x,y,z,angle</a:t>
                      </a:r>
                      <a:r>
                        <a:rPr lang="en-US" altLang="zh-CN" sz="1600" dirty="0" smtClean="0">
                          <a:latin typeface="Monaco" panose="020B0509030404040204" pitchFamily="49" charset="0"/>
                        </a:rPr>
                        <a:t>)</a:t>
                      </a:r>
                      <a:endParaRPr lang="zh-CN" altLang="en-US" sz="1600" dirty="0">
                        <a:latin typeface="Monaco" panose="020B0509030404040204" pitchFamily="49" charset="0"/>
                      </a:endParaRPr>
                    </a:p>
                  </a:txBody>
                  <a:tcPr/>
                </a:tc>
                <a:tc>
                  <a:txBody>
                    <a:bodyPr/>
                    <a:lstStyle/>
                    <a:p>
                      <a:r>
                        <a:rPr lang="en-US" altLang="zh-CN" sz="1600" dirty="0" smtClean="0">
                          <a:latin typeface="Monaco" panose="020B0509030404040204" pitchFamily="49" charset="0"/>
                        </a:rPr>
                        <a:t>translate3d(</a:t>
                      </a:r>
                      <a:r>
                        <a:rPr lang="en-US" altLang="zh-CN" sz="1600" dirty="0" err="1" smtClean="0">
                          <a:latin typeface="Monaco" panose="020B0509030404040204" pitchFamily="49" charset="0"/>
                        </a:rPr>
                        <a:t>x,y,z</a:t>
                      </a:r>
                      <a:r>
                        <a:rPr lang="en-US" altLang="zh-CN" sz="1600" dirty="0" smtClean="0">
                          <a:latin typeface="Monaco" panose="020B0509030404040204" pitchFamily="49" charset="0"/>
                        </a:rPr>
                        <a:t>)</a:t>
                      </a:r>
                      <a:endParaRPr lang="zh-CN" altLang="en-US" sz="1600" dirty="0">
                        <a:latin typeface="Monaco" panose="020B0509030404040204" pitchFamily="49" charset="0"/>
                      </a:endParaRPr>
                    </a:p>
                  </a:txBody>
                  <a:tcPr/>
                </a:tc>
                <a:tc>
                  <a:txBody>
                    <a:bodyPr/>
                    <a:lstStyle/>
                    <a:p>
                      <a:r>
                        <a:rPr lang="en-US" altLang="zh-CN" sz="1600" dirty="0" smtClean="0">
                          <a:latin typeface="Monaco" panose="020B0509030404040204" pitchFamily="49" charset="0"/>
                        </a:rPr>
                        <a:t>scale3d(</a:t>
                      </a:r>
                      <a:r>
                        <a:rPr lang="en-US" altLang="zh-CN" sz="1600" dirty="0" err="1" smtClean="0">
                          <a:latin typeface="Monaco" panose="020B0509030404040204" pitchFamily="49" charset="0"/>
                        </a:rPr>
                        <a:t>x,y,z</a:t>
                      </a:r>
                      <a:r>
                        <a:rPr lang="en-US" altLang="zh-CN" sz="1600" dirty="0" smtClean="0">
                          <a:latin typeface="Monaco" panose="020B0509030404040204" pitchFamily="49" charset="0"/>
                        </a:rPr>
                        <a:t>)</a:t>
                      </a:r>
                      <a:endParaRPr lang="zh-CN" altLang="en-US" sz="1600" dirty="0">
                        <a:latin typeface="Monaco" panose="020B0509030404040204" pitchFamily="49" charset="0"/>
                      </a:endParaRPr>
                    </a:p>
                  </a:txBody>
                  <a:tcPr/>
                </a:tc>
                <a:extLst>
                  <a:ext uri="{0D108BD9-81ED-4DB2-BD59-A6C34878D82A}">
                    <a16:rowId xmlns:a16="http://schemas.microsoft.com/office/drawing/2014/main" val="705801028"/>
                  </a:ext>
                </a:extLst>
              </a:tr>
              <a:tr h="370840">
                <a:tc>
                  <a:txBody>
                    <a:bodyPr/>
                    <a:lstStyle/>
                    <a:p>
                      <a:r>
                        <a:rPr lang="en-US" altLang="zh-CN" sz="1600" dirty="0" err="1" smtClean="0">
                          <a:latin typeface="Monaco" panose="020B0509030404040204" pitchFamily="49" charset="0"/>
                        </a:rPr>
                        <a:t>rotateX</a:t>
                      </a:r>
                      <a:r>
                        <a:rPr lang="en-US" altLang="zh-CN" sz="1600" dirty="0" smtClean="0">
                          <a:latin typeface="Monaco" panose="020B0509030404040204" pitchFamily="49" charset="0"/>
                        </a:rPr>
                        <a:t>(angle)</a:t>
                      </a:r>
                      <a:endParaRPr lang="zh-CN" altLang="en-US" sz="1600" dirty="0">
                        <a:latin typeface="Monaco" panose="020B0509030404040204" pitchFamily="49" charset="0"/>
                      </a:endParaRPr>
                    </a:p>
                  </a:txBody>
                  <a:tcPr/>
                </a:tc>
                <a:tc>
                  <a:txBody>
                    <a:bodyPr/>
                    <a:lstStyle/>
                    <a:p>
                      <a:r>
                        <a:rPr lang="en-US" altLang="zh-CN" sz="1600" dirty="0" err="1" smtClean="0">
                          <a:latin typeface="Monaco" panose="020B0509030404040204" pitchFamily="49" charset="0"/>
                        </a:rPr>
                        <a:t>translateX</a:t>
                      </a:r>
                      <a:r>
                        <a:rPr lang="en-US" altLang="zh-CN" sz="1600" dirty="0" smtClean="0">
                          <a:latin typeface="Monaco" panose="020B0509030404040204" pitchFamily="49" charset="0"/>
                        </a:rPr>
                        <a:t>(x)</a:t>
                      </a:r>
                      <a:endParaRPr lang="zh-CN" altLang="en-US" sz="1600" dirty="0" smtClean="0">
                        <a:latin typeface="Monaco" panose="020B0509030404040204" pitchFamily="49" charset="0"/>
                      </a:endParaRPr>
                    </a:p>
                  </a:txBody>
                  <a:tcPr/>
                </a:tc>
                <a:tc>
                  <a:txBody>
                    <a:bodyPr/>
                    <a:lstStyle/>
                    <a:p>
                      <a:r>
                        <a:rPr lang="en-US" altLang="zh-CN" sz="1600" dirty="0" err="1" smtClean="0">
                          <a:latin typeface="Monaco" panose="020B0509030404040204" pitchFamily="49" charset="0"/>
                        </a:rPr>
                        <a:t>scaleX</a:t>
                      </a:r>
                      <a:r>
                        <a:rPr lang="en-US" altLang="zh-CN" sz="1600" dirty="0" smtClean="0">
                          <a:latin typeface="Monaco" panose="020B0509030404040204" pitchFamily="49" charset="0"/>
                        </a:rPr>
                        <a:t>(x)</a:t>
                      </a:r>
                      <a:endParaRPr lang="zh-CN" altLang="en-US" sz="1600" dirty="0" smtClean="0">
                        <a:latin typeface="Monaco" panose="020B0509030404040204" pitchFamily="49" charset="0"/>
                      </a:endParaRPr>
                    </a:p>
                  </a:txBody>
                  <a:tcPr/>
                </a:tc>
                <a:extLst>
                  <a:ext uri="{0D108BD9-81ED-4DB2-BD59-A6C34878D82A}">
                    <a16:rowId xmlns:a16="http://schemas.microsoft.com/office/drawing/2014/main" val="29389897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rotateY</a:t>
                      </a:r>
                      <a:r>
                        <a:rPr lang="en-US" altLang="zh-CN" sz="1600" dirty="0" smtClean="0">
                          <a:latin typeface="Monaco" panose="020B0509030404040204" pitchFamily="49" charset="0"/>
                        </a:rPr>
                        <a:t>(angle)</a:t>
                      </a:r>
                      <a:endParaRPr lang="zh-CN" altLang="en-US" sz="1600" dirty="0" smtClean="0">
                        <a:latin typeface="Monaco" panose="020B050903040404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translateY</a:t>
                      </a:r>
                      <a:r>
                        <a:rPr lang="en-US" altLang="zh-CN" sz="1600" dirty="0" smtClean="0">
                          <a:latin typeface="Monaco" panose="020B0509030404040204" pitchFamily="49" charset="0"/>
                        </a:rPr>
                        <a:t>(y)</a:t>
                      </a:r>
                      <a:endParaRPr lang="zh-CN" altLang="en-US" sz="1600" dirty="0" smtClean="0">
                        <a:latin typeface="Monaco" panose="020B050903040404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scaleY</a:t>
                      </a:r>
                      <a:r>
                        <a:rPr lang="en-US" altLang="zh-CN" sz="1600" dirty="0" smtClean="0">
                          <a:latin typeface="Monaco" panose="020B0509030404040204" pitchFamily="49" charset="0"/>
                        </a:rPr>
                        <a:t>(y)</a:t>
                      </a:r>
                      <a:endParaRPr lang="zh-CN" altLang="en-US" sz="1600" dirty="0" smtClean="0">
                        <a:latin typeface="Monaco" panose="020B0509030404040204" pitchFamily="49" charset="0"/>
                      </a:endParaRPr>
                    </a:p>
                  </a:txBody>
                  <a:tcPr/>
                </a:tc>
                <a:extLst>
                  <a:ext uri="{0D108BD9-81ED-4DB2-BD59-A6C34878D82A}">
                    <a16:rowId xmlns:a16="http://schemas.microsoft.com/office/drawing/2014/main" val="8375273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rotateZ</a:t>
                      </a:r>
                      <a:r>
                        <a:rPr lang="en-US" altLang="zh-CN" sz="1600" dirty="0" smtClean="0">
                          <a:latin typeface="Monaco" panose="020B0509030404040204" pitchFamily="49" charset="0"/>
                        </a:rPr>
                        <a:t>(angle)</a:t>
                      </a:r>
                      <a:endParaRPr lang="zh-CN" altLang="en-US" sz="1600" dirty="0" smtClean="0">
                        <a:latin typeface="Monaco" panose="020B050903040404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translateZ</a:t>
                      </a:r>
                      <a:r>
                        <a:rPr lang="en-US" altLang="zh-CN" sz="1600" dirty="0" smtClean="0">
                          <a:latin typeface="Monaco" panose="020B0509030404040204" pitchFamily="49" charset="0"/>
                        </a:rPr>
                        <a:t>(z)</a:t>
                      </a:r>
                      <a:endParaRPr lang="zh-CN" altLang="en-US" sz="1600" dirty="0" smtClean="0">
                        <a:latin typeface="Monaco" panose="020B050903040404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smtClean="0">
                          <a:latin typeface="Monaco" panose="020B0509030404040204" pitchFamily="49" charset="0"/>
                        </a:rPr>
                        <a:t>scaleZ</a:t>
                      </a:r>
                      <a:r>
                        <a:rPr lang="en-US" altLang="zh-CN" sz="1600" dirty="0" smtClean="0">
                          <a:latin typeface="Monaco" panose="020B0509030404040204" pitchFamily="49" charset="0"/>
                        </a:rPr>
                        <a:t>(z)</a:t>
                      </a:r>
                      <a:endParaRPr lang="zh-CN" altLang="en-US" sz="1600" dirty="0" smtClean="0">
                        <a:latin typeface="Monaco" panose="020B0509030404040204" pitchFamily="49" charset="0"/>
                      </a:endParaRPr>
                    </a:p>
                  </a:txBody>
                  <a:tcPr/>
                </a:tc>
                <a:extLst>
                  <a:ext uri="{0D108BD9-81ED-4DB2-BD59-A6C34878D82A}">
                    <a16:rowId xmlns:a16="http://schemas.microsoft.com/office/drawing/2014/main" val="2648018628"/>
                  </a:ext>
                </a:extLst>
              </a:tr>
            </a:tbl>
          </a:graphicData>
        </a:graphic>
      </p:graphicFrame>
    </p:spTree>
    <p:extLst>
      <p:ext uri="{BB962C8B-B14F-4D97-AF65-F5344CB8AC3E}">
        <p14:creationId xmlns:p14="http://schemas.microsoft.com/office/powerpoint/2010/main" val="40389294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sp>
        <p:nvSpPr>
          <p:cNvPr id="5" name="矩形 4"/>
          <p:cNvSpPr/>
          <p:nvPr/>
        </p:nvSpPr>
        <p:spPr>
          <a:xfrm>
            <a:off x="932993" y="1625097"/>
            <a:ext cx="9848850" cy="587853"/>
          </a:xfrm>
          <a:prstGeom prst="rect">
            <a:avLst/>
          </a:prstGeom>
        </p:spPr>
        <p:txBody>
          <a:bodyPr wrap="square">
            <a:spAutoFit/>
          </a:bodyPr>
          <a:lstStyle/>
          <a:p>
            <a:pPr>
              <a:lnSpc>
                <a:spcPct val="150000"/>
              </a:lnSpc>
            </a:pPr>
            <a:r>
              <a:rPr lang="en-US" altLang="zh-CN" sz="2400" b="1" dirty="0" smtClean="0">
                <a:latin typeface="Monaco" panose="020B0509030404040204" pitchFamily="49" charset="0"/>
              </a:rPr>
              <a:t>2</a:t>
            </a:r>
            <a:r>
              <a:rPr lang="zh-CN" altLang="en-US" sz="2400" b="1" dirty="0" smtClean="0">
                <a:latin typeface="Monaco" panose="020B0509030404040204" pitchFamily="49" charset="0"/>
              </a:rPr>
              <a:t>、</a:t>
            </a:r>
            <a:r>
              <a:rPr lang="en-US" altLang="zh-CN" sz="2400" b="1" dirty="0" smtClean="0">
                <a:latin typeface="Monaco" panose="020B0509030404040204" pitchFamily="49" charset="0"/>
              </a:rPr>
              <a:t>3</a:t>
            </a:r>
            <a:r>
              <a:rPr lang="en-US" altLang="zh-CN" sz="2400" b="1" dirty="0">
                <a:latin typeface="Monaco" panose="020B0509030404040204" pitchFamily="49" charset="0"/>
              </a:rPr>
              <a:t>D</a:t>
            </a:r>
            <a:r>
              <a:rPr lang="zh-CN" altLang="en-US" sz="2400" b="1" dirty="0">
                <a:latin typeface="Monaco" panose="020B0509030404040204" pitchFamily="49" charset="0"/>
              </a:rPr>
              <a:t>移动 </a:t>
            </a:r>
            <a:r>
              <a:rPr lang="en-US" altLang="zh-CN" sz="2400" b="1" dirty="0">
                <a:latin typeface="Monaco" panose="020B0509030404040204" pitchFamily="49" charset="0"/>
              </a:rPr>
              <a:t>translate3d</a:t>
            </a:r>
            <a:endParaRPr lang="en-US" altLang="zh-CN" sz="1600" dirty="0" smtClean="0">
              <a:latin typeface="Monaco" panose="020B0509030404040204" pitchFamily="49" charset="0"/>
            </a:endParaRPr>
          </a:p>
        </p:txBody>
      </p:sp>
      <p:sp>
        <p:nvSpPr>
          <p:cNvPr id="3" name="矩形 2"/>
          <p:cNvSpPr/>
          <p:nvPr/>
        </p:nvSpPr>
        <p:spPr>
          <a:xfrm>
            <a:off x="1014060" y="2376665"/>
            <a:ext cx="10604199" cy="3416320"/>
          </a:xfrm>
          <a:prstGeom prst="rect">
            <a:avLst/>
          </a:prstGeom>
        </p:spPr>
        <p:txBody>
          <a:bodyPr wrap="square">
            <a:spAutoFit/>
          </a:bodyPr>
          <a:lstStyle/>
          <a:p>
            <a:pPr>
              <a:lnSpc>
                <a:spcPct val="200000"/>
              </a:lnSpc>
            </a:pPr>
            <a:r>
              <a:rPr lang="en-US" altLang="zh-CN" dirty="0">
                <a:latin typeface="Monaco" panose="020B0509030404040204" pitchFamily="49" charset="0"/>
              </a:rPr>
              <a:t>3D</a:t>
            </a:r>
            <a:r>
              <a:rPr lang="zh-CN" altLang="en-US" dirty="0">
                <a:latin typeface="Monaco" panose="020B0509030404040204" pitchFamily="49" charset="0"/>
              </a:rPr>
              <a:t>移动在</a:t>
            </a:r>
            <a:r>
              <a:rPr lang="en-US" altLang="zh-CN" dirty="0">
                <a:latin typeface="Monaco" panose="020B0509030404040204" pitchFamily="49" charset="0"/>
              </a:rPr>
              <a:t>2D</a:t>
            </a:r>
            <a:r>
              <a:rPr lang="zh-CN" altLang="en-US" dirty="0">
                <a:latin typeface="Monaco" panose="020B0509030404040204" pitchFamily="49" charset="0"/>
              </a:rPr>
              <a:t>移动的基础上多加了一个可以移动的方向，就是</a:t>
            </a:r>
            <a:r>
              <a:rPr lang="en-US" altLang="zh-CN" dirty="0">
                <a:latin typeface="Monaco" panose="020B0509030404040204" pitchFamily="49" charset="0"/>
              </a:rPr>
              <a:t>z</a:t>
            </a:r>
            <a:r>
              <a:rPr lang="zh-CN" altLang="en-US" dirty="0">
                <a:latin typeface="Monaco" panose="020B0509030404040204" pitchFamily="49" charset="0"/>
              </a:rPr>
              <a:t>轴方向。</a:t>
            </a:r>
          </a:p>
          <a:p>
            <a:pPr>
              <a:lnSpc>
                <a:spcPct val="200000"/>
              </a:lnSpc>
            </a:pPr>
            <a:r>
              <a:rPr lang="zh-CN" altLang="en-US" dirty="0">
                <a:latin typeface="Monaco" panose="020B0509030404040204" pitchFamily="49" charset="0"/>
              </a:rPr>
              <a:t> </a:t>
            </a:r>
            <a:r>
              <a:rPr lang="en-US" altLang="zh-CN" dirty="0" err="1" smtClean="0">
                <a:latin typeface="Monaco" panose="020B0509030404040204" pitchFamily="49" charset="0"/>
              </a:rPr>
              <a:t>transform:translateX</a:t>
            </a:r>
            <a:r>
              <a:rPr lang="en-US" altLang="zh-CN" dirty="0" smtClean="0">
                <a:latin typeface="Monaco" panose="020B0509030404040204" pitchFamily="49" charset="0"/>
              </a:rPr>
              <a:t>(100px</a:t>
            </a:r>
            <a:r>
              <a:rPr lang="en-US" altLang="zh-CN" dirty="0">
                <a:latin typeface="Monaco" panose="020B0509030404040204" pitchFamily="49" charset="0"/>
              </a:rPr>
              <a:t>)</a:t>
            </a:r>
            <a:r>
              <a:rPr lang="zh-CN" altLang="en-US" dirty="0">
                <a:latin typeface="Monaco" panose="020B0509030404040204" pitchFamily="49" charset="0"/>
              </a:rPr>
              <a:t>：仅仅是在</a:t>
            </a:r>
            <a:r>
              <a:rPr lang="en-US" altLang="zh-CN" dirty="0">
                <a:latin typeface="Monaco" panose="020B0509030404040204" pitchFamily="49" charset="0"/>
              </a:rPr>
              <a:t>x</a:t>
            </a:r>
            <a:r>
              <a:rPr lang="zh-CN" altLang="en-US" dirty="0">
                <a:latin typeface="Monaco" panose="020B0509030404040204" pitchFamily="49" charset="0"/>
              </a:rPr>
              <a:t>轴上移动</a:t>
            </a:r>
          </a:p>
          <a:p>
            <a:pPr>
              <a:lnSpc>
                <a:spcPct val="200000"/>
              </a:lnSpc>
            </a:pPr>
            <a:r>
              <a:rPr lang="zh-CN" altLang="en-US" dirty="0">
                <a:latin typeface="Monaco" panose="020B0509030404040204" pitchFamily="49" charset="0"/>
              </a:rPr>
              <a:t> </a:t>
            </a:r>
            <a:r>
              <a:rPr lang="en-US" altLang="zh-CN" dirty="0" err="1" smtClean="0">
                <a:latin typeface="Monaco" panose="020B0509030404040204" pitchFamily="49" charset="0"/>
              </a:rPr>
              <a:t>transform:translateY</a:t>
            </a:r>
            <a:r>
              <a:rPr lang="en-US" altLang="zh-CN" dirty="0" smtClean="0">
                <a:latin typeface="Monaco" panose="020B0509030404040204" pitchFamily="49" charset="0"/>
              </a:rPr>
              <a:t>(100px</a:t>
            </a:r>
            <a:r>
              <a:rPr lang="en-US" altLang="zh-CN" dirty="0">
                <a:latin typeface="Monaco" panose="020B0509030404040204" pitchFamily="49" charset="0"/>
              </a:rPr>
              <a:t>)</a:t>
            </a:r>
            <a:r>
              <a:rPr lang="zh-CN" altLang="en-US" dirty="0">
                <a:latin typeface="Monaco" panose="020B0509030404040204" pitchFamily="49" charset="0"/>
              </a:rPr>
              <a:t>：仅仅是在</a:t>
            </a:r>
            <a:r>
              <a:rPr lang="en-US" altLang="zh-CN" dirty="0">
                <a:latin typeface="Monaco" panose="020B0509030404040204" pitchFamily="49" charset="0"/>
              </a:rPr>
              <a:t>Y</a:t>
            </a:r>
            <a:r>
              <a:rPr lang="zh-CN" altLang="en-US" dirty="0">
                <a:latin typeface="Monaco" panose="020B0509030404040204" pitchFamily="49" charset="0"/>
              </a:rPr>
              <a:t>轴上移动</a:t>
            </a:r>
          </a:p>
          <a:p>
            <a:pPr>
              <a:lnSpc>
                <a:spcPct val="200000"/>
              </a:lnSpc>
            </a:pPr>
            <a:r>
              <a:rPr lang="zh-CN" altLang="en-US" dirty="0">
                <a:latin typeface="Monaco" panose="020B0509030404040204" pitchFamily="49" charset="0"/>
              </a:rPr>
              <a:t> </a:t>
            </a:r>
            <a:r>
              <a:rPr lang="en-US" altLang="zh-CN" dirty="0" err="1" smtClean="0">
                <a:latin typeface="Monaco" panose="020B0509030404040204" pitchFamily="49" charset="0"/>
              </a:rPr>
              <a:t>transform:translateZ</a:t>
            </a:r>
            <a:r>
              <a:rPr lang="en-US" altLang="zh-CN" dirty="0" smtClean="0">
                <a:latin typeface="Monaco" panose="020B0509030404040204" pitchFamily="49" charset="0"/>
              </a:rPr>
              <a:t>(100px</a:t>
            </a:r>
            <a:r>
              <a:rPr lang="en-US" altLang="zh-CN" dirty="0">
                <a:latin typeface="Monaco" panose="020B0509030404040204" pitchFamily="49" charset="0"/>
              </a:rPr>
              <a:t>)</a:t>
            </a:r>
            <a:r>
              <a:rPr lang="zh-CN" altLang="en-US" dirty="0">
                <a:latin typeface="Monaco" panose="020B0509030404040204" pitchFamily="49" charset="0"/>
              </a:rPr>
              <a:t>：仅仅是在</a:t>
            </a:r>
            <a:r>
              <a:rPr lang="en-US" altLang="zh-CN" dirty="0">
                <a:latin typeface="Monaco" panose="020B0509030404040204" pitchFamily="49" charset="0"/>
              </a:rPr>
              <a:t>Z</a:t>
            </a:r>
            <a:r>
              <a:rPr lang="zh-CN" altLang="en-US" dirty="0">
                <a:latin typeface="Monaco" panose="020B0509030404040204" pitchFamily="49" charset="0"/>
              </a:rPr>
              <a:t>轴上移动（注意：</a:t>
            </a:r>
            <a:r>
              <a:rPr lang="en-US" altLang="zh-CN" dirty="0" err="1">
                <a:latin typeface="Monaco" panose="020B0509030404040204" pitchFamily="49" charset="0"/>
              </a:rPr>
              <a:t>translateZ</a:t>
            </a:r>
            <a:r>
              <a:rPr lang="zh-CN" altLang="en-US" dirty="0">
                <a:latin typeface="Monaco" panose="020B0509030404040204" pitchFamily="49" charset="0"/>
              </a:rPr>
              <a:t>一般用</a:t>
            </a:r>
            <a:r>
              <a:rPr lang="en-US" altLang="zh-CN" dirty="0" err="1">
                <a:latin typeface="Monaco" panose="020B0509030404040204" pitchFamily="49" charset="0"/>
              </a:rPr>
              <a:t>px</a:t>
            </a:r>
            <a:r>
              <a:rPr lang="zh-CN" altLang="en-US" dirty="0">
                <a:latin typeface="Monaco" panose="020B0509030404040204" pitchFamily="49" charset="0"/>
              </a:rPr>
              <a:t>单位）</a:t>
            </a:r>
          </a:p>
          <a:p>
            <a:pPr>
              <a:lnSpc>
                <a:spcPct val="200000"/>
              </a:lnSpc>
            </a:pPr>
            <a:r>
              <a:rPr lang="zh-CN" altLang="en-US" dirty="0">
                <a:latin typeface="Monaco" panose="020B0509030404040204" pitchFamily="49" charset="0"/>
              </a:rPr>
              <a:t> </a:t>
            </a:r>
            <a:r>
              <a:rPr lang="en-US" altLang="zh-CN" dirty="0">
                <a:latin typeface="Monaco" panose="020B0509030404040204" pitchFamily="49" charset="0"/>
              </a:rPr>
              <a:t>transform:translate3d(</a:t>
            </a:r>
            <a:r>
              <a:rPr lang="en-US" altLang="zh-CN" dirty="0" err="1">
                <a:latin typeface="Monaco" panose="020B0509030404040204" pitchFamily="49" charset="0"/>
              </a:rPr>
              <a:t>x,y,z</a:t>
            </a:r>
            <a:r>
              <a:rPr lang="en-US" altLang="zh-CN" dirty="0">
                <a:latin typeface="Monaco" panose="020B0509030404040204" pitchFamily="49" charset="0"/>
              </a:rPr>
              <a:t>)</a:t>
            </a:r>
            <a:r>
              <a:rPr lang="zh-CN" altLang="en-US" dirty="0">
                <a:latin typeface="Monaco" panose="020B0509030404040204" pitchFamily="49" charset="0"/>
              </a:rPr>
              <a:t>：其中 </a:t>
            </a:r>
            <a:r>
              <a:rPr lang="en-US" altLang="zh-CN" dirty="0">
                <a:latin typeface="Monaco" panose="020B0509030404040204" pitchFamily="49" charset="0"/>
              </a:rPr>
              <a:t>x</a:t>
            </a:r>
            <a:r>
              <a:rPr lang="zh-CN" altLang="en-US" dirty="0">
                <a:latin typeface="Monaco" panose="020B0509030404040204" pitchFamily="49" charset="0"/>
              </a:rPr>
              <a:t>、</a:t>
            </a:r>
            <a:r>
              <a:rPr lang="en-US" altLang="zh-CN" dirty="0">
                <a:latin typeface="Monaco" panose="020B0509030404040204" pitchFamily="49" charset="0"/>
              </a:rPr>
              <a:t>y</a:t>
            </a:r>
            <a:r>
              <a:rPr lang="zh-CN" altLang="en-US" dirty="0">
                <a:latin typeface="Monaco" panose="020B0509030404040204" pitchFamily="49" charset="0"/>
              </a:rPr>
              <a:t>、</a:t>
            </a:r>
            <a:r>
              <a:rPr lang="en-US" altLang="zh-CN" dirty="0">
                <a:latin typeface="Monaco" panose="020B0509030404040204" pitchFamily="49" charset="0"/>
              </a:rPr>
              <a:t>z </a:t>
            </a:r>
            <a:r>
              <a:rPr lang="zh-CN" altLang="en-US" dirty="0">
                <a:latin typeface="Monaco" panose="020B0509030404040204" pitchFamily="49" charset="0"/>
              </a:rPr>
              <a:t>分别指要移动的轴的方向的距离</a:t>
            </a:r>
          </a:p>
          <a:p>
            <a:pPr>
              <a:lnSpc>
                <a:spcPct val="200000"/>
              </a:lnSpc>
            </a:pPr>
            <a:r>
              <a:rPr lang="zh-CN" altLang="en-US" dirty="0">
                <a:latin typeface="Monaco" panose="020B0509030404040204" pitchFamily="49" charset="0"/>
              </a:rPr>
              <a:t>因为</a:t>
            </a:r>
            <a:r>
              <a:rPr lang="en-US" altLang="zh-CN" dirty="0">
                <a:latin typeface="Monaco" panose="020B0509030404040204" pitchFamily="49" charset="0"/>
              </a:rPr>
              <a:t>z</a:t>
            </a:r>
            <a:r>
              <a:rPr lang="zh-CN" altLang="en-US" dirty="0">
                <a:latin typeface="Monaco" panose="020B0509030404040204" pitchFamily="49" charset="0"/>
              </a:rPr>
              <a:t>轴是垂直屏幕，由里指向外面，所以默认是看不到元素在</a:t>
            </a:r>
            <a:r>
              <a:rPr lang="en-US" altLang="zh-CN" dirty="0">
                <a:latin typeface="Monaco" panose="020B0509030404040204" pitchFamily="49" charset="0"/>
              </a:rPr>
              <a:t>z</a:t>
            </a:r>
            <a:r>
              <a:rPr lang="zh-CN" altLang="en-US" dirty="0">
                <a:latin typeface="Monaco" panose="020B0509030404040204" pitchFamily="49" charset="0"/>
              </a:rPr>
              <a:t>轴的方向上移动</a:t>
            </a:r>
          </a:p>
        </p:txBody>
      </p:sp>
    </p:spTree>
    <p:extLst>
      <p:ext uri="{BB962C8B-B14F-4D97-AF65-F5344CB8AC3E}">
        <p14:creationId xmlns:p14="http://schemas.microsoft.com/office/powerpoint/2010/main" val="39725931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sp>
        <p:nvSpPr>
          <p:cNvPr id="5" name="矩形 4"/>
          <p:cNvSpPr/>
          <p:nvPr/>
        </p:nvSpPr>
        <p:spPr>
          <a:xfrm>
            <a:off x="932993" y="1625097"/>
            <a:ext cx="9848850" cy="587853"/>
          </a:xfrm>
          <a:prstGeom prst="rect">
            <a:avLst/>
          </a:prstGeom>
        </p:spPr>
        <p:txBody>
          <a:bodyPr wrap="square">
            <a:spAutoFit/>
          </a:bodyPr>
          <a:lstStyle/>
          <a:p>
            <a:pPr>
              <a:lnSpc>
                <a:spcPct val="150000"/>
              </a:lnSpc>
            </a:pPr>
            <a:r>
              <a:rPr lang="en-US" altLang="zh-CN" sz="2400" b="1" dirty="0" smtClean="0">
                <a:latin typeface="Monaco" panose="020B0509030404040204" pitchFamily="49" charset="0"/>
              </a:rPr>
              <a:t>3</a:t>
            </a:r>
            <a:r>
              <a:rPr lang="zh-CN" altLang="en-US" sz="2400" b="1" dirty="0" smtClean="0">
                <a:latin typeface="Monaco" panose="020B0509030404040204" pitchFamily="49" charset="0"/>
              </a:rPr>
              <a:t>、透视 </a:t>
            </a:r>
            <a:r>
              <a:rPr lang="en-US" altLang="zh-CN" sz="2400" b="1" dirty="0">
                <a:latin typeface="Monaco" panose="020B0509030404040204" pitchFamily="49" charset="0"/>
              </a:rPr>
              <a:t>perspective</a:t>
            </a:r>
            <a:endParaRPr lang="en-US" altLang="zh-CN" sz="1600" dirty="0" smtClean="0">
              <a:latin typeface="Monaco" panose="020B0509030404040204" pitchFamily="49" charset="0"/>
            </a:endParaRPr>
          </a:p>
        </p:txBody>
      </p:sp>
      <p:sp>
        <p:nvSpPr>
          <p:cNvPr id="3" name="矩形 2"/>
          <p:cNvSpPr/>
          <p:nvPr/>
        </p:nvSpPr>
        <p:spPr>
          <a:xfrm>
            <a:off x="1159203" y="2371518"/>
            <a:ext cx="10738883" cy="4185761"/>
          </a:xfrm>
          <a:prstGeom prst="rect">
            <a:avLst/>
          </a:prstGeom>
        </p:spPr>
        <p:txBody>
          <a:bodyPr wrap="square">
            <a:spAutoFit/>
          </a:bodyPr>
          <a:lstStyle/>
          <a:p>
            <a:pPr>
              <a:lnSpc>
                <a:spcPct val="200000"/>
              </a:lnSpc>
            </a:pPr>
            <a:r>
              <a:rPr lang="zh-CN" altLang="en-US" sz="1900" dirty="0" smtClean="0"/>
              <a:t>电脑显示屏是个</a:t>
            </a:r>
            <a:r>
              <a:rPr lang="en-US" altLang="zh-CN" sz="1900" dirty="0" smtClean="0"/>
              <a:t>2D</a:t>
            </a:r>
            <a:r>
              <a:rPr lang="zh-CN" altLang="en-US" sz="1900" dirty="0" smtClean="0"/>
              <a:t>的平面，在</a:t>
            </a:r>
            <a:r>
              <a:rPr lang="en-US" altLang="zh-CN" sz="1900" dirty="0"/>
              <a:t>2D</a:t>
            </a:r>
            <a:r>
              <a:rPr lang="zh-CN" altLang="en-US" sz="1900" dirty="0" smtClean="0"/>
              <a:t>平面要产生</a:t>
            </a:r>
            <a:r>
              <a:rPr lang="zh-CN" altLang="en-US" sz="1900" dirty="0"/>
              <a:t>近大远</a:t>
            </a:r>
            <a:r>
              <a:rPr lang="zh-CN" altLang="en-US" sz="1900" dirty="0" smtClean="0"/>
              <a:t>小的立体视觉，</a:t>
            </a:r>
            <a:r>
              <a:rPr lang="zh-CN" altLang="en-US" sz="1900" dirty="0"/>
              <a:t>但是效果只是二维</a:t>
            </a:r>
            <a:r>
              <a:rPr lang="zh-CN" altLang="en-US" sz="1900" dirty="0" smtClean="0"/>
              <a:t>的。</a:t>
            </a:r>
            <a:endParaRPr lang="zh-CN" altLang="en-US" sz="1900" dirty="0"/>
          </a:p>
          <a:p>
            <a:pPr marL="285750" indent="-285750">
              <a:lnSpc>
                <a:spcPct val="200000"/>
              </a:lnSpc>
              <a:buFont typeface="Arial" panose="020B0604020202020204" pitchFamily="34" charset="0"/>
              <a:buChar char="•"/>
            </a:pPr>
            <a:r>
              <a:rPr lang="zh-CN" altLang="en-US" sz="1900" dirty="0" smtClean="0"/>
              <a:t>如果</a:t>
            </a:r>
            <a:r>
              <a:rPr lang="zh-CN" altLang="en-US" sz="1900" dirty="0"/>
              <a:t>想要在</a:t>
            </a:r>
            <a:r>
              <a:rPr lang="zh-CN" altLang="en-US" sz="1900" dirty="0" smtClean="0"/>
              <a:t>网页上产生</a:t>
            </a:r>
            <a:r>
              <a:rPr lang="en-US" altLang="zh-CN" sz="1900" dirty="0"/>
              <a:t>3D</a:t>
            </a:r>
            <a:r>
              <a:rPr lang="zh-CN" altLang="en-US" sz="1900" dirty="0"/>
              <a:t>效果</a:t>
            </a:r>
            <a:r>
              <a:rPr lang="zh-CN" altLang="en-US" sz="1900" dirty="0" smtClean="0"/>
              <a:t>需要加透视（透视原理：近大远小）</a:t>
            </a:r>
            <a:r>
              <a:rPr lang="zh-CN" altLang="en-US" sz="1900" dirty="0"/>
              <a:t>。</a:t>
            </a:r>
          </a:p>
          <a:p>
            <a:pPr marL="285750" indent="-285750">
              <a:lnSpc>
                <a:spcPct val="200000"/>
              </a:lnSpc>
              <a:buFont typeface="Arial" panose="020B0604020202020204" pitchFamily="34" charset="0"/>
              <a:buChar char="•"/>
            </a:pPr>
            <a:r>
              <a:rPr lang="zh-CN" altLang="en-US" sz="1900" dirty="0" smtClean="0"/>
              <a:t>模拟</a:t>
            </a:r>
            <a:r>
              <a:rPr lang="zh-CN" altLang="en-US" sz="1900" dirty="0"/>
              <a:t>人类的视觉位置，可认为安排一只眼睛去</a:t>
            </a:r>
            <a:r>
              <a:rPr lang="zh-CN" altLang="en-US" sz="1900" dirty="0" smtClean="0"/>
              <a:t>看；</a:t>
            </a:r>
            <a:endParaRPr lang="zh-CN" altLang="en-US" sz="1900" dirty="0"/>
          </a:p>
          <a:p>
            <a:pPr marL="285750" indent="-285750">
              <a:lnSpc>
                <a:spcPct val="200000"/>
              </a:lnSpc>
              <a:buFont typeface="Arial" panose="020B0604020202020204" pitchFamily="34" charset="0"/>
              <a:buChar char="•"/>
            </a:pPr>
            <a:r>
              <a:rPr lang="zh-CN" altLang="en-US" sz="1900" dirty="0" smtClean="0"/>
              <a:t>透视</a:t>
            </a:r>
            <a:r>
              <a:rPr lang="zh-CN" altLang="en-US" sz="1900" dirty="0"/>
              <a:t>我们也称为视距：视距就是人的眼睛到屏幕的</a:t>
            </a:r>
            <a:r>
              <a:rPr lang="zh-CN" altLang="en-US" sz="1900" dirty="0" smtClean="0"/>
              <a:t>距离；</a:t>
            </a:r>
            <a:endParaRPr lang="zh-CN" altLang="en-US" sz="1900" dirty="0"/>
          </a:p>
          <a:p>
            <a:pPr marL="285750" indent="-285750">
              <a:lnSpc>
                <a:spcPct val="200000"/>
              </a:lnSpc>
              <a:buFont typeface="Arial" panose="020B0604020202020204" pitchFamily="34" charset="0"/>
              <a:buChar char="•"/>
            </a:pPr>
            <a:r>
              <a:rPr lang="zh-CN" altLang="en-US" sz="1900" dirty="0" smtClean="0"/>
              <a:t>距离</a:t>
            </a:r>
            <a:r>
              <a:rPr lang="zh-CN" altLang="en-US" sz="1900" dirty="0"/>
              <a:t>视觉点越近的在电脑平面成像越大，越远成像越</a:t>
            </a:r>
            <a:r>
              <a:rPr lang="zh-CN" altLang="en-US" sz="1900" dirty="0" smtClean="0"/>
              <a:t>小；</a:t>
            </a:r>
            <a:endParaRPr lang="zh-CN" altLang="en-US" sz="1900" dirty="0"/>
          </a:p>
          <a:p>
            <a:pPr marL="285750" indent="-285750">
              <a:lnSpc>
                <a:spcPct val="200000"/>
              </a:lnSpc>
              <a:buFont typeface="Arial" panose="020B0604020202020204" pitchFamily="34" charset="0"/>
              <a:buChar char="•"/>
            </a:pPr>
            <a:r>
              <a:rPr lang="zh-CN" altLang="en-US" sz="1900" dirty="0" smtClean="0"/>
              <a:t>透视</a:t>
            </a:r>
            <a:r>
              <a:rPr lang="zh-CN" altLang="en-US" sz="1900" dirty="0"/>
              <a:t>的单位是</a:t>
            </a:r>
            <a:r>
              <a:rPr lang="zh-CN" altLang="en-US" sz="1900" dirty="0" smtClean="0"/>
              <a:t>像素；</a:t>
            </a:r>
            <a:endParaRPr lang="zh-CN" altLang="en-US" sz="1900" dirty="0"/>
          </a:p>
          <a:p>
            <a:pPr>
              <a:lnSpc>
                <a:spcPct val="200000"/>
              </a:lnSpc>
            </a:pPr>
            <a:r>
              <a:rPr lang="zh-CN" altLang="en-US" sz="1900" b="1" dirty="0" smtClean="0">
                <a:solidFill>
                  <a:srgbClr val="C00000"/>
                </a:solidFill>
              </a:rPr>
              <a:t>透视属性写</a:t>
            </a:r>
            <a:r>
              <a:rPr lang="zh-CN" altLang="en-US" sz="1900" b="1" dirty="0">
                <a:solidFill>
                  <a:srgbClr val="C00000"/>
                </a:solidFill>
              </a:rPr>
              <a:t>在被观察元素的父盒子上面</a:t>
            </a:r>
            <a:r>
              <a:rPr lang="zh-CN" altLang="en-US" sz="1900" b="1" dirty="0" smtClean="0">
                <a:solidFill>
                  <a:srgbClr val="C00000"/>
                </a:solidFill>
              </a:rPr>
              <a:t>的</a:t>
            </a:r>
            <a:endParaRPr lang="zh-CN" altLang="en-US" sz="1900" b="1" dirty="0">
              <a:solidFill>
                <a:srgbClr val="C00000"/>
              </a:solidFill>
            </a:endParaRPr>
          </a:p>
        </p:txBody>
      </p:sp>
    </p:spTree>
    <p:extLst>
      <p:ext uri="{BB962C8B-B14F-4D97-AF65-F5344CB8AC3E}">
        <p14:creationId xmlns:p14="http://schemas.microsoft.com/office/powerpoint/2010/main" val="18662986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sp>
        <p:nvSpPr>
          <p:cNvPr id="5" name="矩形 4"/>
          <p:cNvSpPr/>
          <p:nvPr/>
        </p:nvSpPr>
        <p:spPr>
          <a:xfrm>
            <a:off x="932993" y="1625097"/>
            <a:ext cx="9848850" cy="590033"/>
          </a:xfrm>
          <a:prstGeom prst="rect">
            <a:avLst/>
          </a:prstGeom>
        </p:spPr>
        <p:txBody>
          <a:bodyPr wrap="square">
            <a:spAutoFit/>
          </a:bodyPr>
          <a:lstStyle/>
          <a:p>
            <a:pPr>
              <a:lnSpc>
                <a:spcPct val="150000"/>
              </a:lnSpc>
            </a:pPr>
            <a:r>
              <a:rPr lang="en-US" altLang="zh-CN" sz="2400" b="1" dirty="0" smtClean="0"/>
              <a:t>4</a:t>
            </a:r>
            <a:r>
              <a:rPr lang="zh-CN" altLang="en-US" sz="2400" b="1" dirty="0" smtClean="0"/>
              <a:t>、</a:t>
            </a:r>
            <a:r>
              <a:rPr lang="en-US" altLang="zh-CN" sz="2400" b="1" dirty="0" err="1" smtClean="0"/>
              <a:t>translateZ</a:t>
            </a:r>
            <a:endParaRPr lang="en-US" altLang="zh-CN" sz="1600" dirty="0" smtClean="0"/>
          </a:p>
        </p:txBody>
      </p:sp>
      <p:sp>
        <p:nvSpPr>
          <p:cNvPr id="3" name="矩形 2"/>
          <p:cNvSpPr/>
          <p:nvPr/>
        </p:nvSpPr>
        <p:spPr>
          <a:xfrm>
            <a:off x="932993" y="2329430"/>
            <a:ext cx="11177940" cy="2862322"/>
          </a:xfrm>
          <a:prstGeom prst="rect">
            <a:avLst/>
          </a:prstGeom>
        </p:spPr>
        <p:txBody>
          <a:bodyPr wrap="square">
            <a:spAutoFit/>
          </a:bodyPr>
          <a:lstStyle/>
          <a:p>
            <a:pPr>
              <a:lnSpc>
                <a:spcPct val="200000"/>
              </a:lnSpc>
            </a:pPr>
            <a:r>
              <a:rPr lang="en-US" altLang="zh-CN" dirty="0" err="1" smtClean="0">
                <a:latin typeface="Monaco" panose="020B0509030404040204" pitchFamily="49" charset="0"/>
              </a:rPr>
              <a:t>transform:translateZ</a:t>
            </a:r>
            <a:r>
              <a:rPr lang="en-US" altLang="zh-CN" dirty="0" smtClean="0">
                <a:latin typeface="Monaco" panose="020B0509030404040204" pitchFamily="49" charset="0"/>
              </a:rPr>
              <a:t>(100px</a:t>
            </a:r>
            <a:r>
              <a:rPr lang="en-US" altLang="zh-CN" dirty="0">
                <a:latin typeface="Monaco" panose="020B0509030404040204" pitchFamily="49" charset="0"/>
              </a:rPr>
              <a:t>)</a:t>
            </a:r>
            <a:r>
              <a:rPr lang="zh-CN" altLang="en-US" dirty="0">
                <a:latin typeface="Monaco" panose="020B0509030404040204" pitchFamily="49" charset="0"/>
              </a:rPr>
              <a:t>：仅仅是在</a:t>
            </a:r>
            <a:r>
              <a:rPr lang="en-US" altLang="zh-CN" dirty="0">
                <a:latin typeface="Monaco" panose="020B0509030404040204" pitchFamily="49" charset="0"/>
              </a:rPr>
              <a:t>Z</a:t>
            </a:r>
            <a:r>
              <a:rPr lang="zh-CN" altLang="en-US" dirty="0">
                <a:latin typeface="Monaco" panose="020B0509030404040204" pitchFamily="49" charset="0"/>
              </a:rPr>
              <a:t>轴上移动。</a:t>
            </a:r>
          </a:p>
          <a:p>
            <a:pPr>
              <a:lnSpc>
                <a:spcPct val="200000"/>
              </a:lnSpc>
            </a:pPr>
            <a:r>
              <a:rPr lang="zh-CN" altLang="en-US" dirty="0">
                <a:latin typeface="Monaco" panose="020B0509030404040204" pitchFamily="49" charset="0"/>
              </a:rPr>
              <a:t>有了</a:t>
            </a:r>
            <a:r>
              <a:rPr lang="zh-CN" altLang="en-US" dirty="0" smtClean="0">
                <a:latin typeface="Monaco" panose="020B0509030404040204" pitchFamily="49" charset="0"/>
              </a:rPr>
              <a:t>透视（</a:t>
            </a:r>
            <a:r>
              <a:rPr lang="en-US" altLang="zh-CN" dirty="0" smtClean="0">
                <a:latin typeface="Monaco" panose="020B0509030404040204" pitchFamily="49" charset="0"/>
              </a:rPr>
              <a:t>perspective</a:t>
            </a:r>
            <a:r>
              <a:rPr lang="zh-CN" altLang="en-US" dirty="0" smtClean="0">
                <a:latin typeface="Monaco" panose="020B0509030404040204" pitchFamily="49" charset="0"/>
              </a:rPr>
              <a:t>属性），</a:t>
            </a:r>
            <a:r>
              <a:rPr lang="zh-CN" altLang="en-US" dirty="0">
                <a:latin typeface="Monaco" panose="020B0509030404040204" pitchFamily="49" charset="0"/>
              </a:rPr>
              <a:t>就能看到</a:t>
            </a:r>
            <a:r>
              <a:rPr lang="en-US" altLang="zh-CN" dirty="0" err="1">
                <a:latin typeface="Monaco" panose="020B0509030404040204" pitchFamily="49" charset="0"/>
              </a:rPr>
              <a:t>translateZ</a:t>
            </a:r>
            <a:r>
              <a:rPr lang="en-US" altLang="zh-CN" dirty="0">
                <a:latin typeface="Monaco" panose="020B0509030404040204" pitchFamily="49" charset="0"/>
              </a:rPr>
              <a:t> </a:t>
            </a:r>
            <a:r>
              <a:rPr lang="zh-CN" altLang="en-US" dirty="0">
                <a:latin typeface="Monaco" panose="020B0509030404040204" pitchFamily="49" charset="0"/>
              </a:rPr>
              <a:t>引起的变化了</a:t>
            </a:r>
          </a:p>
          <a:p>
            <a:pPr>
              <a:lnSpc>
                <a:spcPct val="200000"/>
              </a:lnSpc>
            </a:pPr>
            <a:r>
              <a:rPr lang="zh-CN" altLang="en-US" dirty="0">
                <a:latin typeface="Monaco" panose="020B0509030404040204" pitchFamily="49" charset="0"/>
              </a:rPr>
              <a:t> </a:t>
            </a:r>
            <a:r>
              <a:rPr lang="en-US" altLang="zh-CN" dirty="0" err="1">
                <a:latin typeface="Monaco" panose="020B0509030404040204" pitchFamily="49" charset="0"/>
              </a:rPr>
              <a:t>translateZ</a:t>
            </a:r>
            <a:r>
              <a:rPr lang="zh-CN" altLang="en-US" dirty="0">
                <a:latin typeface="Monaco" panose="020B0509030404040204" pitchFamily="49" charset="0"/>
              </a:rPr>
              <a:t>：近大远小</a:t>
            </a:r>
          </a:p>
          <a:p>
            <a:pPr>
              <a:lnSpc>
                <a:spcPct val="200000"/>
              </a:lnSpc>
            </a:pPr>
            <a:r>
              <a:rPr lang="zh-CN" altLang="en-US" dirty="0">
                <a:latin typeface="Monaco" panose="020B0509030404040204" pitchFamily="49" charset="0"/>
              </a:rPr>
              <a:t> </a:t>
            </a:r>
            <a:r>
              <a:rPr lang="en-US" altLang="zh-CN" dirty="0" err="1">
                <a:latin typeface="Monaco" panose="020B0509030404040204" pitchFamily="49" charset="0"/>
              </a:rPr>
              <a:t>translateZ</a:t>
            </a:r>
            <a:r>
              <a:rPr lang="zh-CN" altLang="en-US" dirty="0">
                <a:latin typeface="Monaco" panose="020B0509030404040204" pitchFamily="49" charset="0"/>
              </a:rPr>
              <a:t>：往外是正值</a:t>
            </a:r>
          </a:p>
          <a:p>
            <a:pPr>
              <a:lnSpc>
                <a:spcPct val="200000"/>
              </a:lnSpc>
            </a:pPr>
            <a:r>
              <a:rPr lang="zh-CN" altLang="en-US" dirty="0">
                <a:latin typeface="Monaco" panose="020B0509030404040204" pitchFamily="49" charset="0"/>
              </a:rPr>
              <a:t> </a:t>
            </a:r>
            <a:r>
              <a:rPr lang="en-US" altLang="zh-CN" dirty="0" err="1">
                <a:latin typeface="Monaco" panose="020B0509030404040204" pitchFamily="49" charset="0"/>
              </a:rPr>
              <a:t>translateZ</a:t>
            </a:r>
            <a:r>
              <a:rPr lang="zh-CN" altLang="en-US" dirty="0">
                <a:latin typeface="Monaco" panose="020B0509030404040204" pitchFamily="49" charset="0"/>
              </a:rPr>
              <a:t>：往里是负值</a:t>
            </a:r>
          </a:p>
        </p:txBody>
      </p:sp>
      <p:pic>
        <p:nvPicPr>
          <p:cNvPr id="2" name="图片 1"/>
          <p:cNvPicPr>
            <a:picLocks noChangeAspect="1"/>
          </p:cNvPicPr>
          <p:nvPr/>
        </p:nvPicPr>
        <p:blipFill>
          <a:blip r:embed="rId3"/>
          <a:stretch>
            <a:fillRect/>
          </a:stretch>
        </p:blipFill>
        <p:spPr>
          <a:xfrm>
            <a:off x="5941260" y="3680357"/>
            <a:ext cx="5607273" cy="2798235"/>
          </a:xfrm>
          <a:prstGeom prst="rect">
            <a:avLst/>
          </a:prstGeom>
        </p:spPr>
      </p:pic>
      <p:sp>
        <p:nvSpPr>
          <p:cNvPr id="6" name="文本框 5"/>
          <p:cNvSpPr txBox="1"/>
          <p:nvPr/>
        </p:nvSpPr>
        <p:spPr>
          <a:xfrm>
            <a:off x="6334125" y="4638675"/>
            <a:ext cx="1276350" cy="369332"/>
          </a:xfrm>
          <a:prstGeom prst="rect">
            <a:avLst/>
          </a:prstGeom>
          <a:noFill/>
        </p:spPr>
        <p:txBody>
          <a:bodyPr wrap="square" rtlCol="0">
            <a:spAutoFit/>
          </a:bodyPr>
          <a:lstStyle/>
          <a:p>
            <a:r>
              <a:rPr lang="zh-CN" altLang="en-US" dirty="0" smtClean="0"/>
              <a:t>演示</a:t>
            </a:r>
            <a:endParaRPr lang="zh-CN" altLang="en-US" dirty="0"/>
          </a:p>
        </p:txBody>
      </p:sp>
    </p:spTree>
    <p:extLst>
      <p:ext uri="{BB962C8B-B14F-4D97-AF65-F5344CB8AC3E}">
        <p14:creationId xmlns:p14="http://schemas.microsoft.com/office/powerpoint/2010/main" val="30118285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3D </a:t>
            </a:r>
            <a:r>
              <a:rPr lang="zh-CN" altLang="en-US" dirty="0" smtClean="0"/>
              <a:t>变换</a:t>
            </a:r>
            <a:endParaRPr lang="zh-CN" altLang="en-US" dirty="0"/>
          </a:p>
        </p:txBody>
      </p:sp>
      <p:sp>
        <p:nvSpPr>
          <p:cNvPr id="5" name="矩形 4"/>
          <p:cNvSpPr/>
          <p:nvPr/>
        </p:nvSpPr>
        <p:spPr>
          <a:xfrm>
            <a:off x="932993" y="1625097"/>
            <a:ext cx="9848850" cy="587853"/>
          </a:xfrm>
          <a:prstGeom prst="rect">
            <a:avLst/>
          </a:prstGeom>
        </p:spPr>
        <p:txBody>
          <a:bodyPr wrap="square">
            <a:spAutoFit/>
          </a:bodyPr>
          <a:lstStyle/>
          <a:p>
            <a:pPr>
              <a:lnSpc>
                <a:spcPct val="150000"/>
              </a:lnSpc>
            </a:pPr>
            <a:r>
              <a:rPr lang="en-US" altLang="zh-CN" sz="2400" b="1" dirty="0" smtClean="0">
                <a:latin typeface="Monaco" panose="020B0509030404040204" pitchFamily="49" charset="0"/>
              </a:rPr>
              <a:t>5</a:t>
            </a:r>
            <a:r>
              <a:rPr lang="zh-CN" altLang="en-US" sz="2400" b="1" dirty="0" smtClean="0">
                <a:latin typeface="Monaco" panose="020B0509030404040204" pitchFamily="49" charset="0"/>
              </a:rPr>
              <a:t>、</a:t>
            </a:r>
            <a:r>
              <a:rPr lang="en-US" altLang="zh-CN" sz="2400" b="1" dirty="0">
                <a:latin typeface="Monaco" panose="020B0509030404040204" pitchFamily="49" charset="0"/>
              </a:rPr>
              <a:t>3D</a:t>
            </a:r>
            <a:r>
              <a:rPr lang="zh-CN" altLang="en-US" sz="2400" b="1" dirty="0" smtClean="0">
                <a:latin typeface="Monaco" panose="020B0509030404040204" pitchFamily="49" charset="0"/>
              </a:rPr>
              <a:t>旋转</a:t>
            </a:r>
            <a:endParaRPr lang="en-US" altLang="zh-CN" sz="1600" dirty="0" smtClean="0">
              <a:latin typeface="Monaco" panose="020B0509030404040204" pitchFamily="49" charset="0"/>
            </a:endParaRPr>
          </a:p>
        </p:txBody>
      </p:sp>
      <p:sp>
        <p:nvSpPr>
          <p:cNvPr id="3" name="矩形 2"/>
          <p:cNvSpPr/>
          <p:nvPr/>
        </p:nvSpPr>
        <p:spPr>
          <a:xfrm>
            <a:off x="932993" y="2008763"/>
            <a:ext cx="11177940" cy="2554545"/>
          </a:xfrm>
          <a:prstGeom prst="rect">
            <a:avLst/>
          </a:prstGeom>
        </p:spPr>
        <p:txBody>
          <a:bodyPr wrap="square">
            <a:spAutoFit/>
          </a:bodyPr>
          <a:lstStyle/>
          <a:p>
            <a:pPr>
              <a:lnSpc>
                <a:spcPct val="200000"/>
              </a:lnSpc>
            </a:pPr>
            <a:r>
              <a:rPr lang="zh-CN" altLang="en-US" sz="2000" dirty="0"/>
              <a:t>对于元素旋转的方向的判断 我们需要先学习一个左手准则</a:t>
            </a:r>
            <a:r>
              <a:rPr lang="zh-CN" altLang="en-US" sz="2000" dirty="0" smtClean="0"/>
              <a:t>。</a:t>
            </a:r>
            <a:endParaRPr lang="en-US" altLang="zh-CN" sz="2000" dirty="0" smtClean="0"/>
          </a:p>
          <a:p>
            <a:pPr>
              <a:lnSpc>
                <a:spcPct val="200000"/>
              </a:lnSpc>
            </a:pPr>
            <a:r>
              <a:rPr lang="zh-CN" altLang="en-US" sz="2000" b="1" dirty="0"/>
              <a:t>左手准则</a:t>
            </a:r>
          </a:p>
          <a:p>
            <a:pPr>
              <a:lnSpc>
                <a:spcPct val="200000"/>
              </a:lnSpc>
            </a:pPr>
            <a:r>
              <a:rPr lang="zh-CN" altLang="en-US" sz="2000" dirty="0"/>
              <a:t> 左手</a:t>
            </a:r>
            <a:r>
              <a:rPr lang="zh-CN" altLang="en-US" sz="2000" dirty="0" smtClean="0"/>
              <a:t>的大拇指</a:t>
            </a:r>
            <a:r>
              <a:rPr lang="zh-CN" altLang="en-US" sz="2000" dirty="0"/>
              <a:t>指向 </a:t>
            </a:r>
            <a:r>
              <a:rPr lang="en-US" altLang="zh-CN" sz="2000" dirty="0"/>
              <a:t>x</a:t>
            </a:r>
            <a:r>
              <a:rPr lang="zh-CN" altLang="en-US" sz="2000" dirty="0"/>
              <a:t>轴的正方向</a:t>
            </a:r>
          </a:p>
          <a:p>
            <a:pPr>
              <a:lnSpc>
                <a:spcPct val="200000"/>
              </a:lnSpc>
            </a:pPr>
            <a:r>
              <a:rPr lang="zh-CN" altLang="en-US" sz="2000" dirty="0"/>
              <a:t> 其余手指的弯曲方向就是该元素沿着</a:t>
            </a:r>
            <a:r>
              <a:rPr lang="en-US" altLang="zh-CN" sz="2000" dirty="0"/>
              <a:t>x</a:t>
            </a:r>
            <a:r>
              <a:rPr lang="zh-CN" altLang="en-US" sz="2000" dirty="0"/>
              <a:t>轴旋转的方向</a:t>
            </a:r>
          </a:p>
        </p:txBody>
      </p:sp>
      <p:pic>
        <p:nvPicPr>
          <p:cNvPr id="6" name="图片 5"/>
          <p:cNvPicPr>
            <a:picLocks noChangeAspect="1"/>
          </p:cNvPicPr>
          <p:nvPr/>
        </p:nvPicPr>
        <p:blipFill>
          <a:blip r:embed="rId3"/>
          <a:stretch>
            <a:fillRect/>
          </a:stretch>
        </p:blipFill>
        <p:spPr>
          <a:xfrm>
            <a:off x="6800244" y="2641417"/>
            <a:ext cx="5310689" cy="3132059"/>
          </a:xfrm>
          <a:prstGeom prst="rect">
            <a:avLst/>
          </a:prstGeom>
        </p:spPr>
      </p:pic>
    </p:spTree>
    <p:extLst>
      <p:ext uri="{BB962C8B-B14F-4D97-AF65-F5344CB8AC3E}">
        <p14:creationId xmlns:p14="http://schemas.microsoft.com/office/powerpoint/2010/main" val="5032441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 </a:t>
            </a:r>
            <a:r>
              <a:rPr lang="zh-CN" altLang="en-US" dirty="0"/>
              <a:t>变换</a:t>
            </a:r>
          </a:p>
        </p:txBody>
      </p:sp>
      <p:sp>
        <p:nvSpPr>
          <p:cNvPr id="5" name="矩形 4"/>
          <p:cNvSpPr/>
          <p:nvPr/>
        </p:nvSpPr>
        <p:spPr>
          <a:xfrm>
            <a:off x="932993" y="1625097"/>
            <a:ext cx="9848850" cy="587853"/>
          </a:xfrm>
          <a:prstGeom prst="rect">
            <a:avLst/>
          </a:prstGeom>
        </p:spPr>
        <p:txBody>
          <a:bodyPr wrap="square">
            <a:spAutoFit/>
          </a:bodyPr>
          <a:lstStyle/>
          <a:p>
            <a:pPr>
              <a:lnSpc>
                <a:spcPct val="150000"/>
              </a:lnSpc>
            </a:pPr>
            <a:r>
              <a:rPr lang="en-US" altLang="zh-CN" sz="2400" b="1" dirty="0" smtClean="0">
                <a:latin typeface="Monaco" panose="020B0509030404040204" pitchFamily="49" charset="0"/>
              </a:rPr>
              <a:t>5</a:t>
            </a:r>
            <a:r>
              <a:rPr lang="zh-CN" altLang="en-US" sz="2400" b="1" dirty="0" smtClean="0">
                <a:latin typeface="Monaco" panose="020B0509030404040204" pitchFamily="49" charset="0"/>
              </a:rPr>
              <a:t>、</a:t>
            </a:r>
            <a:r>
              <a:rPr lang="en-US" altLang="zh-CN" sz="2400" b="1" dirty="0">
                <a:latin typeface="Monaco" panose="020B0509030404040204" pitchFamily="49" charset="0"/>
              </a:rPr>
              <a:t>3D</a:t>
            </a:r>
            <a:r>
              <a:rPr lang="zh-CN" altLang="en-US" sz="2400" b="1" dirty="0" smtClean="0">
                <a:latin typeface="Monaco" panose="020B0509030404040204" pitchFamily="49" charset="0"/>
              </a:rPr>
              <a:t>旋转</a:t>
            </a:r>
            <a:endParaRPr lang="en-US" altLang="zh-CN" sz="1600" dirty="0" smtClean="0">
              <a:latin typeface="Monaco" panose="020B0509030404040204" pitchFamily="49" charset="0"/>
            </a:endParaRPr>
          </a:p>
        </p:txBody>
      </p:sp>
      <p:sp>
        <p:nvSpPr>
          <p:cNvPr id="3" name="矩形 2"/>
          <p:cNvSpPr/>
          <p:nvPr/>
        </p:nvSpPr>
        <p:spPr>
          <a:xfrm>
            <a:off x="932993" y="2407366"/>
            <a:ext cx="11649780" cy="2308324"/>
          </a:xfrm>
          <a:prstGeom prst="rect">
            <a:avLst/>
          </a:prstGeom>
        </p:spPr>
        <p:txBody>
          <a:bodyPr wrap="square">
            <a:spAutoFit/>
          </a:bodyPr>
          <a:lstStyle/>
          <a:p>
            <a:pPr>
              <a:lnSpc>
                <a:spcPct val="200000"/>
              </a:lnSpc>
            </a:pPr>
            <a:r>
              <a:rPr lang="zh-CN" altLang="en-US" sz="2400" b="1" dirty="0" smtClean="0"/>
              <a:t>左手</a:t>
            </a:r>
            <a:r>
              <a:rPr lang="zh-CN" altLang="en-US" sz="2400" b="1" dirty="0"/>
              <a:t>准则</a:t>
            </a:r>
          </a:p>
          <a:p>
            <a:pPr>
              <a:lnSpc>
                <a:spcPct val="200000"/>
              </a:lnSpc>
            </a:pPr>
            <a:r>
              <a:rPr lang="zh-CN" altLang="en-US" sz="2400" dirty="0"/>
              <a:t> 左手</a:t>
            </a:r>
            <a:r>
              <a:rPr lang="zh-CN" altLang="en-US" sz="2400" dirty="0" smtClean="0"/>
              <a:t>的大拇指</a:t>
            </a:r>
            <a:r>
              <a:rPr lang="zh-CN" altLang="en-US" sz="2400" dirty="0"/>
              <a:t>指向 </a:t>
            </a:r>
            <a:r>
              <a:rPr lang="en-US" altLang="zh-CN" sz="2400" dirty="0"/>
              <a:t>y</a:t>
            </a:r>
            <a:r>
              <a:rPr lang="zh-CN" altLang="en-US" sz="2400" dirty="0"/>
              <a:t>轴的正方向</a:t>
            </a:r>
          </a:p>
          <a:p>
            <a:pPr>
              <a:lnSpc>
                <a:spcPct val="200000"/>
              </a:lnSpc>
            </a:pPr>
            <a:r>
              <a:rPr lang="zh-CN" altLang="en-US" sz="2400" dirty="0"/>
              <a:t> 其余手指的弯曲方向就是该元素沿着</a:t>
            </a:r>
            <a:r>
              <a:rPr lang="en-US" altLang="zh-CN" sz="2400" dirty="0"/>
              <a:t>y</a:t>
            </a:r>
            <a:r>
              <a:rPr lang="zh-CN" altLang="en-US" sz="2400" dirty="0"/>
              <a:t>轴旋转的方向（正值</a:t>
            </a:r>
            <a:r>
              <a:rPr lang="zh-CN" altLang="en-US" sz="2400" dirty="0" smtClean="0"/>
              <a:t>）</a:t>
            </a:r>
            <a:endParaRPr lang="zh-CN" altLang="en-US" sz="2400" dirty="0"/>
          </a:p>
        </p:txBody>
      </p:sp>
      <p:pic>
        <p:nvPicPr>
          <p:cNvPr id="2" name="图片 1"/>
          <p:cNvPicPr>
            <a:picLocks noChangeAspect="1"/>
          </p:cNvPicPr>
          <p:nvPr/>
        </p:nvPicPr>
        <p:blipFill>
          <a:blip r:embed="rId3"/>
          <a:stretch>
            <a:fillRect/>
          </a:stretch>
        </p:blipFill>
        <p:spPr>
          <a:xfrm>
            <a:off x="8665677" y="222073"/>
            <a:ext cx="3383599" cy="3508477"/>
          </a:xfrm>
          <a:prstGeom prst="rect">
            <a:avLst/>
          </a:prstGeom>
        </p:spPr>
      </p:pic>
    </p:spTree>
    <p:extLst>
      <p:ext uri="{BB962C8B-B14F-4D97-AF65-F5344CB8AC3E}">
        <p14:creationId xmlns:p14="http://schemas.microsoft.com/office/powerpoint/2010/main" val="234997095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sp>
        <p:nvSpPr>
          <p:cNvPr id="5" name="矩形 4"/>
          <p:cNvSpPr/>
          <p:nvPr/>
        </p:nvSpPr>
        <p:spPr>
          <a:xfrm>
            <a:off x="843276" y="1482778"/>
            <a:ext cx="9848850" cy="587853"/>
          </a:xfrm>
          <a:prstGeom prst="rect">
            <a:avLst/>
          </a:prstGeom>
        </p:spPr>
        <p:txBody>
          <a:bodyPr wrap="square">
            <a:spAutoFit/>
          </a:bodyPr>
          <a:lstStyle/>
          <a:p>
            <a:pPr>
              <a:lnSpc>
                <a:spcPct val="150000"/>
              </a:lnSpc>
            </a:pPr>
            <a:r>
              <a:rPr lang="en-US" altLang="zh-CN" sz="2400" b="1" dirty="0" smtClean="0">
                <a:latin typeface="Monaco" panose="020B0509030404040204" pitchFamily="49" charset="0"/>
              </a:rPr>
              <a:t>5</a:t>
            </a:r>
            <a:r>
              <a:rPr lang="zh-CN" altLang="en-US" sz="2400" b="1" dirty="0" smtClean="0">
                <a:latin typeface="Monaco" panose="020B0509030404040204" pitchFamily="49" charset="0"/>
              </a:rPr>
              <a:t>、</a:t>
            </a:r>
            <a:r>
              <a:rPr lang="en-US" altLang="zh-CN" sz="2400" b="1" dirty="0">
                <a:latin typeface="Monaco" panose="020B0509030404040204" pitchFamily="49" charset="0"/>
              </a:rPr>
              <a:t>3D</a:t>
            </a:r>
            <a:r>
              <a:rPr lang="zh-CN" altLang="en-US" sz="2400" b="1" dirty="0" smtClean="0">
                <a:latin typeface="Monaco" panose="020B0509030404040204" pitchFamily="49" charset="0"/>
              </a:rPr>
              <a:t>旋转</a:t>
            </a:r>
            <a:endParaRPr lang="en-US" altLang="zh-CN" sz="1600" dirty="0" smtClean="0">
              <a:latin typeface="Monaco" panose="020B0509030404040204" pitchFamily="49" charset="0"/>
            </a:endParaRPr>
          </a:p>
        </p:txBody>
      </p:sp>
      <p:sp>
        <p:nvSpPr>
          <p:cNvPr id="3" name="矩形 2"/>
          <p:cNvSpPr/>
          <p:nvPr/>
        </p:nvSpPr>
        <p:spPr>
          <a:xfrm>
            <a:off x="886617" y="2198340"/>
            <a:ext cx="11177940" cy="3785652"/>
          </a:xfrm>
          <a:prstGeom prst="rect">
            <a:avLst/>
          </a:prstGeom>
        </p:spPr>
        <p:txBody>
          <a:bodyPr wrap="square">
            <a:spAutoFit/>
          </a:bodyPr>
          <a:lstStyle/>
          <a:p>
            <a:pPr>
              <a:lnSpc>
                <a:spcPct val="200000"/>
              </a:lnSpc>
            </a:pPr>
            <a:r>
              <a:rPr lang="en-US" altLang="zh-CN" sz="2000" dirty="0">
                <a:latin typeface="Monaco" panose="020B0509030404040204" pitchFamily="49" charset="0"/>
              </a:rPr>
              <a:t>3D</a:t>
            </a:r>
            <a:r>
              <a:rPr lang="zh-CN" altLang="en-US" sz="2000" dirty="0">
                <a:latin typeface="Monaco" panose="020B0509030404040204" pitchFamily="49" charset="0"/>
              </a:rPr>
              <a:t>旋转指可以让元素在三维平面内</a:t>
            </a:r>
            <a:r>
              <a:rPr lang="zh-CN" altLang="en-US" sz="2000" dirty="0" smtClean="0">
                <a:latin typeface="Monaco" panose="020B0509030404040204" pitchFamily="49" charset="0"/>
              </a:rPr>
              <a:t>沿着</a:t>
            </a:r>
            <a:r>
              <a:rPr lang="en-US" altLang="zh-CN" sz="2000" dirty="0" smtClean="0">
                <a:latin typeface="Monaco" panose="020B0509030404040204" pitchFamily="49" charset="0"/>
              </a:rPr>
              <a:t>x</a:t>
            </a:r>
            <a:r>
              <a:rPr lang="zh-CN" altLang="en-US" sz="2000" dirty="0">
                <a:latin typeface="Monaco" panose="020B0509030404040204" pitchFamily="49" charset="0"/>
              </a:rPr>
              <a:t>轴，</a:t>
            </a:r>
            <a:r>
              <a:rPr lang="en-US" altLang="zh-CN" sz="2000" dirty="0">
                <a:latin typeface="Monaco" panose="020B0509030404040204" pitchFamily="49" charset="0"/>
              </a:rPr>
              <a:t>y</a:t>
            </a:r>
            <a:r>
              <a:rPr lang="zh-CN" altLang="en-US" sz="2000" dirty="0">
                <a:latin typeface="Monaco" panose="020B0509030404040204" pitchFamily="49" charset="0"/>
              </a:rPr>
              <a:t>轴，</a:t>
            </a:r>
            <a:r>
              <a:rPr lang="en-US" altLang="zh-CN" sz="2000" dirty="0">
                <a:latin typeface="Monaco" panose="020B0509030404040204" pitchFamily="49" charset="0"/>
              </a:rPr>
              <a:t>z</a:t>
            </a:r>
            <a:r>
              <a:rPr lang="zh-CN" altLang="en-US" sz="2000" dirty="0">
                <a:latin typeface="Monaco" panose="020B0509030404040204" pitchFamily="49" charset="0"/>
              </a:rPr>
              <a:t>轴或者自定义轴进行旋转</a:t>
            </a:r>
            <a:r>
              <a:rPr lang="zh-CN" altLang="en-US" sz="2000" dirty="0" smtClean="0">
                <a:latin typeface="Monaco" panose="020B0509030404040204" pitchFamily="49" charset="0"/>
              </a:rPr>
              <a:t>。</a:t>
            </a:r>
            <a:endParaRPr lang="en-US" altLang="zh-CN" sz="2000" dirty="0" smtClean="0">
              <a:latin typeface="Monaco" panose="020B0509030404040204" pitchFamily="49" charset="0"/>
            </a:endParaRPr>
          </a:p>
          <a:p>
            <a:pPr>
              <a:lnSpc>
                <a:spcPct val="200000"/>
              </a:lnSpc>
            </a:pPr>
            <a:r>
              <a:rPr lang="zh-CN" altLang="en-US" sz="2000" b="1" dirty="0">
                <a:solidFill>
                  <a:schemeClr val="accent2"/>
                </a:solidFill>
                <a:latin typeface="Monaco" panose="020B0509030404040204" pitchFamily="49" charset="0"/>
              </a:rPr>
              <a:t>语法</a:t>
            </a:r>
          </a:p>
          <a:p>
            <a:pPr>
              <a:lnSpc>
                <a:spcPct val="200000"/>
              </a:lnSpc>
            </a:pPr>
            <a:r>
              <a:rPr lang="zh-CN" altLang="en-US" sz="2000" dirty="0">
                <a:latin typeface="Monaco" panose="020B0509030404040204" pitchFamily="49" charset="0"/>
              </a:rPr>
              <a:t> </a:t>
            </a:r>
            <a:r>
              <a:rPr lang="en-US" altLang="zh-CN" sz="2000" dirty="0" err="1">
                <a:latin typeface="Monaco" panose="020B0509030404040204" pitchFamily="49" charset="0"/>
              </a:rPr>
              <a:t>transform:rotateX</a:t>
            </a:r>
            <a:r>
              <a:rPr lang="en-US" altLang="zh-CN" sz="2000" dirty="0">
                <a:latin typeface="Monaco" panose="020B0509030404040204" pitchFamily="49" charset="0"/>
              </a:rPr>
              <a:t>(45deg)</a:t>
            </a:r>
            <a:r>
              <a:rPr lang="zh-CN" altLang="en-US" sz="2000" dirty="0">
                <a:latin typeface="Monaco" panose="020B0509030404040204" pitchFamily="49" charset="0"/>
              </a:rPr>
              <a:t>：沿着</a:t>
            </a:r>
            <a:r>
              <a:rPr lang="en-US" altLang="zh-CN" sz="2000" dirty="0">
                <a:latin typeface="Monaco" panose="020B0509030404040204" pitchFamily="49" charset="0"/>
              </a:rPr>
              <a:t>x</a:t>
            </a:r>
            <a:r>
              <a:rPr lang="zh-CN" altLang="en-US" sz="2000" dirty="0">
                <a:latin typeface="Monaco" panose="020B0509030404040204" pitchFamily="49" charset="0"/>
              </a:rPr>
              <a:t>轴正方向旋转 </a:t>
            </a:r>
            <a:r>
              <a:rPr lang="en-US" altLang="zh-CN" sz="2000" dirty="0">
                <a:latin typeface="Monaco" panose="020B0509030404040204" pitchFamily="49" charset="0"/>
              </a:rPr>
              <a:t>45</a:t>
            </a:r>
            <a:r>
              <a:rPr lang="zh-CN" altLang="en-US" sz="2000" dirty="0">
                <a:latin typeface="Monaco" panose="020B0509030404040204" pitchFamily="49" charset="0"/>
              </a:rPr>
              <a:t>度</a:t>
            </a:r>
          </a:p>
          <a:p>
            <a:pPr>
              <a:lnSpc>
                <a:spcPct val="200000"/>
              </a:lnSpc>
            </a:pPr>
            <a:r>
              <a:rPr lang="zh-CN" altLang="en-US" sz="2000" dirty="0">
                <a:latin typeface="Monaco" panose="020B0509030404040204" pitchFamily="49" charset="0"/>
              </a:rPr>
              <a:t> </a:t>
            </a:r>
            <a:r>
              <a:rPr lang="en-US" altLang="zh-CN" sz="2000" dirty="0" err="1">
                <a:latin typeface="Monaco" panose="020B0509030404040204" pitchFamily="49" charset="0"/>
              </a:rPr>
              <a:t>transform:rotateY</a:t>
            </a:r>
            <a:r>
              <a:rPr lang="en-US" altLang="zh-CN" sz="2000" dirty="0">
                <a:latin typeface="Monaco" panose="020B0509030404040204" pitchFamily="49" charset="0"/>
              </a:rPr>
              <a:t>(45deg) </a:t>
            </a:r>
            <a:r>
              <a:rPr lang="zh-CN" altLang="en-US" sz="2000" dirty="0">
                <a:latin typeface="Monaco" panose="020B0509030404040204" pitchFamily="49" charset="0"/>
              </a:rPr>
              <a:t>：沿着</a:t>
            </a:r>
            <a:r>
              <a:rPr lang="en-US" altLang="zh-CN" sz="2000" dirty="0">
                <a:latin typeface="Monaco" panose="020B0509030404040204" pitchFamily="49" charset="0"/>
              </a:rPr>
              <a:t>y</a:t>
            </a:r>
            <a:r>
              <a:rPr lang="zh-CN" altLang="en-US" sz="2000" dirty="0">
                <a:latin typeface="Monaco" panose="020B0509030404040204" pitchFamily="49" charset="0"/>
              </a:rPr>
              <a:t>轴正方向旋转 </a:t>
            </a:r>
            <a:r>
              <a:rPr lang="en-US" altLang="zh-CN" sz="2000" dirty="0" smtClean="0">
                <a:latin typeface="Monaco" panose="020B0509030404040204" pitchFamily="49" charset="0"/>
              </a:rPr>
              <a:t>45</a:t>
            </a:r>
            <a:r>
              <a:rPr lang="zh-CN" altLang="en-US" sz="2000" dirty="0">
                <a:latin typeface="Monaco" panose="020B0509030404040204" pitchFamily="49" charset="0"/>
              </a:rPr>
              <a:t>度</a:t>
            </a:r>
            <a:endParaRPr lang="en-US" altLang="zh-CN" sz="2000" dirty="0">
              <a:latin typeface="Monaco" panose="020B0509030404040204" pitchFamily="49" charset="0"/>
            </a:endParaRPr>
          </a:p>
          <a:p>
            <a:pPr>
              <a:lnSpc>
                <a:spcPct val="200000"/>
              </a:lnSpc>
            </a:pPr>
            <a:r>
              <a:rPr lang="en-US" altLang="zh-CN" sz="2000" dirty="0">
                <a:latin typeface="Monaco" panose="020B0509030404040204" pitchFamily="49" charset="0"/>
              </a:rPr>
              <a:t> </a:t>
            </a:r>
            <a:r>
              <a:rPr lang="en-US" altLang="zh-CN" sz="2000" dirty="0" err="1">
                <a:latin typeface="Monaco" panose="020B0509030404040204" pitchFamily="49" charset="0"/>
              </a:rPr>
              <a:t>transform:rotateZ</a:t>
            </a:r>
            <a:r>
              <a:rPr lang="en-US" altLang="zh-CN" sz="2000" dirty="0">
                <a:latin typeface="Monaco" panose="020B0509030404040204" pitchFamily="49" charset="0"/>
              </a:rPr>
              <a:t>(45deg) </a:t>
            </a:r>
            <a:r>
              <a:rPr lang="zh-CN" altLang="en-US" sz="2000" dirty="0">
                <a:latin typeface="Monaco" panose="020B0509030404040204" pitchFamily="49" charset="0"/>
              </a:rPr>
              <a:t>：沿着</a:t>
            </a:r>
            <a:r>
              <a:rPr lang="en-US" altLang="zh-CN" sz="2000" dirty="0">
                <a:latin typeface="Monaco" panose="020B0509030404040204" pitchFamily="49" charset="0"/>
              </a:rPr>
              <a:t>Z</a:t>
            </a:r>
            <a:r>
              <a:rPr lang="zh-CN" altLang="en-US" sz="2000" dirty="0">
                <a:latin typeface="Monaco" panose="020B0509030404040204" pitchFamily="49" charset="0"/>
              </a:rPr>
              <a:t>轴正方向旋转 </a:t>
            </a:r>
            <a:r>
              <a:rPr lang="en-US" altLang="zh-CN" sz="2000" dirty="0" smtClean="0">
                <a:latin typeface="Monaco" panose="020B0509030404040204" pitchFamily="49" charset="0"/>
              </a:rPr>
              <a:t>45</a:t>
            </a:r>
            <a:r>
              <a:rPr lang="zh-CN" altLang="en-US" sz="2000" dirty="0">
                <a:latin typeface="Monaco" panose="020B0509030404040204" pitchFamily="49" charset="0"/>
              </a:rPr>
              <a:t>度</a:t>
            </a:r>
            <a:endParaRPr lang="en-US" altLang="zh-CN" sz="2000" dirty="0">
              <a:latin typeface="Monaco" panose="020B0509030404040204" pitchFamily="49" charset="0"/>
            </a:endParaRPr>
          </a:p>
          <a:p>
            <a:pPr>
              <a:lnSpc>
                <a:spcPct val="200000"/>
              </a:lnSpc>
            </a:pPr>
            <a:r>
              <a:rPr lang="en-US" altLang="zh-CN" sz="2000" dirty="0">
                <a:latin typeface="Monaco" panose="020B0509030404040204" pitchFamily="49" charset="0"/>
              </a:rPr>
              <a:t> transform:rotate3d(</a:t>
            </a:r>
            <a:r>
              <a:rPr lang="en-US" altLang="zh-CN" sz="2000" dirty="0" err="1">
                <a:latin typeface="Monaco" panose="020B0509030404040204" pitchFamily="49" charset="0"/>
              </a:rPr>
              <a:t>x,y,z,deg</a:t>
            </a:r>
            <a:r>
              <a:rPr lang="en-US" altLang="zh-CN" sz="2000" dirty="0">
                <a:latin typeface="Monaco" panose="020B0509030404040204" pitchFamily="49" charset="0"/>
              </a:rPr>
              <a:t>)</a:t>
            </a:r>
            <a:r>
              <a:rPr lang="zh-CN" altLang="en-US" sz="2000" dirty="0">
                <a:latin typeface="Monaco" panose="020B0509030404040204" pitchFamily="49" charset="0"/>
              </a:rPr>
              <a:t>： 沿着自定义轴旋转 </a:t>
            </a:r>
            <a:r>
              <a:rPr lang="en-US" altLang="zh-CN" sz="2000" dirty="0" err="1">
                <a:latin typeface="Monaco" panose="020B0509030404040204" pitchFamily="49" charset="0"/>
              </a:rPr>
              <a:t>deg</a:t>
            </a:r>
            <a:r>
              <a:rPr lang="zh-CN" altLang="en-US" sz="2000" dirty="0">
                <a:latin typeface="Monaco" panose="020B0509030404040204" pitchFamily="49" charset="0"/>
              </a:rPr>
              <a:t>为角度（了解即可）</a:t>
            </a:r>
          </a:p>
        </p:txBody>
      </p:sp>
      <p:pic>
        <p:nvPicPr>
          <p:cNvPr id="2" name="图片 1"/>
          <p:cNvPicPr>
            <a:picLocks noChangeAspect="1"/>
          </p:cNvPicPr>
          <p:nvPr/>
        </p:nvPicPr>
        <p:blipFill>
          <a:blip r:embed="rId3"/>
          <a:stretch>
            <a:fillRect/>
          </a:stretch>
        </p:blipFill>
        <p:spPr>
          <a:xfrm>
            <a:off x="7442025" y="160430"/>
            <a:ext cx="4749975" cy="3410083"/>
          </a:xfrm>
          <a:prstGeom prst="rect">
            <a:avLst/>
          </a:prstGeom>
        </p:spPr>
      </p:pic>
      <p:sp>
        <p:nvSpPr>
          <p:cNvPr id="6" name="矩形 5"/>
          <p:cNvSpPr/>
          <p:nvPr/>
        </p:nvSpPr>
        <p:spPr>
          <a:xfrm>
            <a:off x="5767701" y="6148561"/>
            <a:ext cx="1415772" cy="587340"/>
          </a:xfrm>
          <a:prstGeom prst="rect">
            <a:avLst/>
          </a:prstGeom>
        </p:spPr>
        <p:txBody>
          <a:bodyPr wrap="none">
            <a:spAutoFit/>
          </a:bodyPr>
          <a:lstStyle/>
          <a:p>
            <a:pPr>
              <a:lnSpc>
                <a:spcPct val="150000"/>
              </a:lnSpc>
            </a:pPr>
            <a:r>
              <a:rPr lang="zh-CN" altLang="en-US" sz="2400" b="1" dirty="0" smtClean="0">
                <a:solidFill>
                  <a:srgbClr val="FF0000"/>
                </a:solidFill>
              </a:rPr>
              <a:t>没加透视</a:t>
            </a:r>
            <a:endParaRPr lang="en-US" altLang="zh-CN" sz="1600" dirty="0">
              <a:solidFill>
                <a:srgbClr val="FF0000"/>
              </a:solidFill>
            </a:endParaRPr>
          </a:p>
        </p:txBody>
      </p:sp>
      <p:cxnSp>
        <p:nvCxnSpPr>
          <p:cNvPr id="8" name="直接箭头连接符 7"/>
          <p:cNvCxnSpPr/>
          <p:nvPr/>
        </p:nvCxnSpPr>
        <p:spPr>
          <a:xfrm flipV="1">
            <a:off x="7252169" y="3483429"/>
            <a:ext cx="1906345" cy="287292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328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sp>
        <p:nvSpPr>
          <p:cNvPr id="5" name="矩形 4"/>
          <p:cNvSpPr/>
          <p:nvPr/>
        </p:nvSpPr>
        <p:spPr>
          <a:xfrm>
            <a:off x="932993" y="1625097"/>
            <a:ext cx="9848850" cy="590033"/>
          </a:xfrm>
          <a:prstGeom prst="rect">
            <a:avLst/>
          </a:prstGeom>
        </p:spPr>
        <p:txBody>
          <a:bodyPr wrap="square">
            <a:spAutoFit/>
          </a:bodyPr>
          <a:lstStyle/>
          <a:p>
            <a:pPr>
              <a:lnSpc>
                <a:spcPct val="150000"/>
              </a:lnSpc>
            </a:pPr>
            <a:r>
              <a:rPr lang="zh-CN" altLang="en-US" sz="2400" b="1" dirty="0">
                <a:solidFill>
                  <a:srgbClr val="FF0000"/>
                </a:solidFill>
              </a:rPr>
              <a:t>加透视</a:t>
            </a:r>
            <a:endParaRPr lang="en-US" altLang="zh-CN" sz="1600" dirty="0">
              <a:solidFill>
                <a:srgbClr val="FF0000"/>
              </a:solidFill>
            </a:endParaRPr>
          </a:p>
        </p:txBody>
      </p:sp>
      <p:pic>
        <p:nvPicPr>
          <p:cNvPr id="7" name="图片 6"/>
          <p:cNvPicPr>
            <a:picLocks noChangeAspect="1"/>
          </p:cNvPicPr>
          <p:nvPr/>
        </p:nvPicPr>
        <p:blipFill>
          <a:blip r:embed="rId3"/>
          <a:stretch>
            <a:fillRect/>
          </a:stretch>
        </p:blipFill>
        <p:spPr>
          <a:xfrm>
            <a:off x="1014060" y="2159630"/>
            <a:ext cx="7787044" cy="4561845"/>
          </a:xfrm>
          <a:prstGeom prst="rect">
            <a:avLst/>
          </a:prstGeom>
        </p:spPr>
      </p:pic>
    </p:spTree>
    <p:extLst>
      <p:ext uri="{BB962C8B-B14F-4D97-AF65-F5344CB8AC3E}">
        <p14:creationId xmlns:p14="http://schemas.microsoft.com/office/powerpoint/2010/main" val="17037000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pic>
        <p:nvPicPr>
          <p:cNvPr id="2" name="图片 1"/>
          <p:cNvPicPr>
            <a:picLocks noChangeAspect="1"/>
          </p:cNvPicPr>
          <p:nvPr/>
        </p:nvPicPr>
        <p:blipFill>
          <a:blip r:embed="rId3"/>
          <a:stretch>
            <a:fillRect/>
          </a:stretch>
        </p:blipFill>
        <p:spPr>
          <a:xfrm>
            <a:off x="832152" y="1430006"/>
            <a:ext cx="8674089" cy="5389894"/>
          </a:xfrm>
          <a:prstGeom prst="rect">
            <a:avLst/>
          </a:prstGeom>
        </p:spPr>
      </p:pic>
    </p:spTree>
    <p:extLst>
      <p:ext uri="{BB962C8B-B14F-4D97-AF65-F5344CB8AC3E}">
        <p14:creationId xmlns:p14="http://schemas.microsoft.com/office/powerpoint/2010/main" val="1088971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pic>
        <p:nvPicPr>
          <p:cNvPr id="3" name="图片 2"/>
          <p:cNvPicPr>
            <a:picLocks noChangeAspect="1"/>
          </p:cNvPicPr>
          <p:nvPr/>
        </p:nvPicPr>
        <p:blipFill>
          <a:blip r:embed="rId3"/>
          <a:stretch>
            <a:fillRect/>
          </a:stretch>
        </p:blipFill>
        <p:spPr>
          <a:xfrm>
            <a:off x="670705" y="1609871"/>
            <a:ext cx="5658625" cy="1817398"/>
          </a:xfrm>
          <a:prstGeom prst="rect">
            <a:avLst/>
          </a:prstGeom>
        </p:spPr>
      </p:pic>
      <p:pic>
        <p:nvPicPr>
          <p:cNvPr id="5" name="图片 4"/>
          <p:cNvPicPr>
            <a:picLocks noChangeAspect="1"/>
          </p:cNvPicPr>
          <p:nvPr/>
        </p:nvPicPr>
        <p:blipFill>
          <a:blip r:embed="rId4"/>
          <a:stretch>
            <a:fillRect/>
          </a:stretch>
        </p:blipFill>
        <p:spPr>
          <a:xfrm>
            <a:off x="6329330" y="1622210"/>
            <a:ext cx="5461577" cy="2293862"/>
          </a:xfrm>
          <a:prstGeom prst="rect">
            <a:avLst/>
          </a:prstGeom>
        </p:spPr>
      </p:pic>
      <p:pic>
        <p:nvPicPr>
          <p:cNvPr id="6" name="图片 5"/>
          <p:cNvPicPr>
            <a:picLocks noChangeAspect="1"/>
          </p:cNvPicPr>
          <p:nvPr/>
        </p:nvPicPr>
        <p:blipFill>
          <a:blip r:embed="rId5"/>
          <a:stretch>
            <a:fillRect/>
          </a:stretch>
        </p:blipFill>
        <p:spPr>
          <a:xfrm>
            <a:off x="3103418" y="3968350"/>
            <a:ext cx="6135398" cy="2570562"/>
          </a:xfrm>
          <a:prstGeom prst="rect">
            <a:avLst/>
          </a:prstGeom>
        </p:spPr>
      </p:pic>
    </p:spTree>
    <p:extLst>
      <p:ext uri="{BB962C8B-B14F-4D97-AF65-F5344CB8AC3E}">
        <p14:creationId xmlns:p14="http://schemas.microsoft.com/office/powerpoint/2010/main" val="166001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pic>
        <p:nvPicPr>
          <p:cNvPr id="2" name="图片 1"/>
          <p:cNvPicPr>
            <a:picLocks noChangeAspect="1"/>
          </p:cNvPicPr>
          <p:nvPr/>
        </p:nvPicPr>
        <p:blipFill>
          <a:blip r:embed="rId3"/>
          <a:stretch>
            <a:fillRect/>
          </a:stretch>
        </p:blipFill>
        <p:spPr>
          <a:xfrm>
            <a:off x="137638" y="1779109"/>
            <a:ext cx="4152900" cy="2933700"/>
          </a:xfrm>
          <a:prstGeom prst="rect">
            <a:avLst/>
          </a:prstGeom>
        </p:spPr>
      </p:pic>
      <p:pic>
        <p:nvPicPr>
          <p:cNvPr id="7" name="图片 6"/>
          <p:cNvPicPr>
            <a:picLocks noChangeAspect="1"/>
          </p:cNvPicPr>
          <p:nvPr/>
        </p:nvPicPr>
        <p:blipFill>
          <a:blip r:embed="rId4"/>
          <a:stretch>
            <a:fillRect/>
          </a:stretch>
        </p:blipFill>
        <p:spPr>
          <a:xfrm>
            <a:off x="4404662" y="1788404"/>
            <a:ext cx="4033838" cy="2933700"/>
          </a:xfrm>
          <a:prstGeom prst="rect">
            <a:avLst/>
          </a:prstGeom>
        </p:spPr>
      </p:pic>
      <p:pic>
        <p:nvPicPr>
          <p:cNvPr id="8" name="图片 7"/>
          <p:cNvPicPr>
            <a:picLocks noChangeAspect="1"/>
          </p:cNvPicPr>
          <p:nvPr/>
        </p:nvPicPr>
        <p:blipFill>
          <a:blip r:embed="rId5"/>
          <a:stretch>
            <a:fillRect/>
          </a:stretch>
        </p:blipFill>
        <p:spPr>
          <a:xfrm>
            <a:off x="8501496" y="1779109"/>
            <a:ext cx="3588034" cy="2952290"/>
          </a:xfrm>
          <a:prstGeom prst="rect">
            <a:avLst/>
          </a:prstGeom>
        </p:spPr>
      </p:pic>
    </p:spTree>
    <p:extLst>
      <p:ext uri="{BB962C8B-B14F-4D97-AF65-F5344CB8AC3E}">
        <p14:creationId xmlns:p14="http://schemas.microsoft.com/office/powerpoint/2010/main" val="42454215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3D </a:t>
            </a:r>
            <a:r>
              <a:rPr lang="zh-CN" altLang="en-US" dirty="0" smtClean="0"/>
              <a:t>变换</a:t>
            </a:r>
            <a:endParaRPr lang="zh-CN" altLang="en-US" dirty="0"/>
          </a:p>
        </p:txBody>
      </p:sp>
      <p:sp>
        <p:nvSpPr>
          <p:cNvPr id="5" name="矩形 4"/>
          <p:cNvSpPr/>
          <p:nvPr/>
        </p:nvSpPr>
        <p:spPr>
          <a:xfrm>
            <a:off x="932993" y="1625097"/>
            <a:ext cx="9848850" cy="673005"/>
          </a:xfrm>
          <a:prstGeom prst="rect">
            <a:avLst/>
          </a:prstGeom>
        </p:spPr>
        <p:txBody>
          <a:bodyPr wrap="square">
            <a:spAutoFit/>
          </a:bodyPr>
          <a:lstStyle/>
          <a:p>
            <a:pPr>
              <a:lnSpc>
                <a:spcPct val="150000"/>
              </a:lnSpc>
            </a:pPr>
            <a:r>
              <a:rPr lang="en-US" altLang="zh-CN" sz="2800" b="1" dirty="0" smtClean="0"/>
              <a:t>5</a:t>
            </a:r>
            <a:r>
              <a:rPr lang="zh-CN" altLang="en-US" sz="2800" b="1" dirty="0" smtClean="0"/>
              <a:t>、</a:t>
            </a:r>
            <a:r>
              <a:rPr lang="en-US" altLang="zh-CN" sz="2800" b="1" dirty="0"/>
              <a:t>3D</a:t>
            </a:r>
            <a:r>
              <a:rPr lang="zh-CN" altLang="en-US" sz="2800" b="1" dirty="0" smtClean="0"/>
              <a:t>旋转</a:t>
            </a:r>
            <a:endParaRPr lang="en-US" altLang="zh-CN" dirty="0" smtClean="0"/>
          </a:p>
        </p:txBody>
      </p:sp>
      <p:sp>
        <p:nvSpPr>
          <p:cNvPr id="3" name="矩形 2"/>
          <p:cNvSpPr/>
          <p:nvPr/>
        </p:nvSpPr>
        <p:spPr>
          <a:xfrm>
            <a:off x="932993" y="2313328"/>
            <a:ext cx="9967173" cy="2554545"/>
          </a:xfrm>
          <a:prstGeom prst="rect">
            <a:avLst/>
          </a:prstGeom>
        </p:spPr>
        <p:txBody>
          <a:bodyPr wrap="square">
            <a:spAutoFit/>
          </a:bodyPr>
          <a:lstStyle/>
          <a:p>
            <a:pPr>
              <a:lnSpc>
                <a:spcPct val="200000"/>
              </a:lnSpc>
            </a:pPr>
            <a:r>
              <a:rPr lang="en-US" altLang="zh-CN" sz="2000" dirty="0">
                <a:latin typeface="Monaco" panose="020B0509030404040204" pitchFamily="49" charset="0"/>
              </a:rPr>
              <a:t>transform:rotate3d(</a:t>
            </a:r>
            <a:r>
              <a:rPr lang="en-US" altLang="zh-CN" sz="2000" dirty="0" err="1">
                <a:latin typeface="Monaco" panose="020B0509030404040204" pitchFamily="49" charset="0"/>
              </a:rPr>
              <a:t>x,y,z,deg</a:t>
            </a:r>
            <a:r>
              <a:rPr lang="en-US" altLang="zh-CN" sz="2000" dirty="0">
                <a:latin typeface="Monaco" panose="020B0509030404040204" pitchFamily="49" charset="0"/>
              </a:rPr>
              <a:t>)</a:t>
            </a:r>
            <a:r>
              <a:rPr lang="zh-CN" altLang="en-US" sz="2000" dirty="0">
                <a:latin typeface="Monaco" panose="020B0509030404040204" pitchFamily="49" charset="0"/>
              </a:rPr>
              <a:t>： 沿着自定义轴</a:t>
            </a:r>
            <a:r>
              <a:rPr lang="zh-CN" altLang="en-US" sz="2000" dirty="0" smtClean="0">
                <a:latin typeface="Monaco" panose="020B0509030404040204" pitchFamily="49" charset="0"/>
              </a:rPr>
              <a:t>旋转</a:t>
            </a:r>
            <a:r>
              <a:rPr lang="en-US" altLang="zh-CN" sz="2000" dirty="0" err="1" smtClean="0">
                <a:latin typeface="Monaco" panose="020B0509030404040204" pitchFamily="49" charset="0"/>
              </a:rPr>
              <a:t>deg</a:t>
            </a:r>
            <a:r>
              <a:rPr lang="zh-CN" altLang="en-US" sz="2000" dirty="0">
                <a:latin typeface="Monaco" panose="020B0509030404040204" pitchFamily="49" charset="0"/>
              </a:rPr>
              <a:t>为角度（了解即可）</a:t>
            </a:r>
          </a:p>
          <a:p>
            <a:pPr>
              <a:lnSpc>
                <a:spcPct val="200000"/>
              </a:lnSpc>
            </a:pPr>
            <a:r>
              <a:rPr lang="en-US" altLang="zh-CN" sz="2000" dirty="0">
                <a:latin typeface="Monaco" panose="020B0509030404040204" pitchFamily="49" charset="0"/>
              </a:rPr>
              <a:t>xyz</a:t>
            </a:r>
            <a:r>
              <a:rPr lang="zh-CN" altLang="en-US" sz="2000" dirty="0">
                <a:latin typeface="Monaco" panose="020B0509030404040204" pitchFamily="49" charset="0"/>
              </a:rPr>
              <a:t>是表示旋转轴的矢量，是标示你是否希望沿着该轴旋转，最后一个标示旋转的角度。</a:t>
            </a:r>
          </a:p>
          <a:p>
            <a:pPr marL="285750" indent="-285750">
              <a:lnSpc>
                <a:spcPct val="200000"/>
              </a:lnSpc>
              <a:buFont typeface="Arial" panose="020B0604020202020204" pitchFamily="34" charset="0"/>
              <a:buChar char="•"/>
            </a:pPr>
            <a:r>
              <a:rPr lang="en-US" altLang="zh-CN" sz="2000" dirty="0" smtClean="0">
                <a:latin typeface="Monaco" panose="020B0509030404040204" pitchFamily="49" charset="0"/>
              </a:rPr>
              <a:t>transform:rotate3d(1,0,0,45deg</a:t>
            </a:r>
            <a:r>
              <a:rPr lang="en-US" altLang="zh-CN" sz="2000" dirty="0">
                <a:latin typeface="Monaco" panose="020B0509030404040204" pitchFamily="49" charset="0"/>
              </a:rPr>
              <a:t>) </a:t>
            </a:r>
            <a:r>
              <a:rPr lang="zh-CN" altLang="en-US" sz="2000" dirty="0">
                <a:latin typeface="Monaco" panose="020B0509030404040204" pitchFamily="49" charset="0"/>
              </a:rPr>
              <a:t>就是沿着</a:t>
            </a:r>
            <a:r>
              <a:rPr lang="en-US" altLang="zh-CN" sz="2000" dirty="0">
                <a:latin typeface="Monaco" panose="020B0509030404040204" pitchFamily="49" charset="0"/>
              </a:rPr>
              <a:t>x</a:t>
            </a:r>
            <a:r>
              <a:rPr lang="zh-CN" altLang="en-US" sz="2000" dirty="0">
                <a:latin typeface="Monaco" panose="020B0509030404040204" pitchFamily="49" charset="0"/>
              </a:rPr>
              <a:t>轴旋转 </a:t>
            </a:r>
            <a:r>
              <a:rPr lang="en-US" altLang="zh-CN" sz="2000" dirty="0">
                <a:latin typeface="Monaco" panose="020B0509030404040204" pitchFamily="49" charset="0"/>
              </a:rPr>
              <a:t>45deg</a:t>
            </a:r>
          </a:p>
          <a:p>
            <a:pPr marL="285750" indent="-285750">
              <a:lnSpc>
                <a:spcPct val="200000"/>
              </a:lnSpc>
              <a:buFont typeface="Arial" panose="020B0604020202020204" pitchFamily="34" charset="0"/>
              <a:buChar char="•"/>
            </a:pPr>
            <a:r>
              <a:rPr lang="en-US" altLang="zh-CN" sz="2000" dirty="0" smtClean="0">
                <a:latin typeface="Monaco" panose="020B0509030404040204" pitchFamily="49" charset="0"/>
              </a:rPr>
              <a:t>transform:rotate3d(1,1,0,45deg</a:t>
            </a:r>
            <a:r>
              <a:rPr lang="en-US" altLang="zh-CN" sz="2000" dirty="0">
                <a:latin typeface="Monaco" panose="020B0509030404040204" pitchFamily="49" charset="0"/>
              </a:rPr>
              <a:t>) </a:t>
            </a:r>
            <a:r>
              <a:rPr lang="zh-CN" altLang="en-US" sz="2000" dirty="0">
                <a:latin typeface="Monaco" panose="020B0509030404040204" pitchFamily="49" charset="0"/>
              </a:rPr>
              <a:t>就是沿着对角线旋转 </a:t>
            </a:r>
            <a:r>
              <a:rPr lang="en-US" altLang="zh-CN" sz="2000" dirty="0">
                <a:latin typeface="Monaco" panose="020B0509030404040204" pitchFamily="49" charset="0"/>
              </a:rPr>
              <a:t>45deg</a:t>
            </a:r>
            <a:endParaRPr lang="zh-CN" altLang="en-US" sz="2000" dirty="0">
              <a:latin typeface="Monaco" panose="020B0509030404040204" pitchFamily="49" charset="0"/>
            </a:endParaRPr>
          </a:p>
        </p:txBody>
      </p:sp>
    </p:spTree>
    <p:extLst>
      <p:ext uri="{BB962C8B-B14F-4D97-AF65-F5344CB8AC3E}">
        <p14:creationId xmlns:p14="http://schemas.microsoft.com/office/powerpoint/2010/main" val="136981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 </a:t>
            </a:r>
            <a:r>
              <a:rPr lang="zh-CN" altLang="en-US" dirty="0"/>
              <a:t>变换</a:t>
            </a:r>
          </a:p>
        </p:txBody>
      </p:sp>
      <p:sp>
        <p:nvSpPr>
          <p:cNvPr id="5" name="矩形 4"/>
          <p:cNvSpPr/>
          <p:nvPr/>
        </p:nvSpPr>
        <p:spPr>
          <a:xfrm>
            <a:off x="932993" y="1625097"/>
            <a:ext cx="9848850" cy="587853"/>
          </a:xfrm>
          <a:prstGeom prst="rect">
            <a:avLst/>
          </a:prstGeom>
        </p:spPr>
        <p:txBody>
          <a:bodyPr wrap="square">
            <a:spAutoFit/>
          </a:bodyPr>
          <a:lstStyle/>
          <a:p>
            <a:pPr>
              <a:lnSpc>
                <a:spcPct val="150000"/>
              </a:lnSpc>
            </a:pPr>
            <a:r>
              <a:rPr lang="en-US" altLang="zh-CN" sz="2400" b="1" dirty="0" smtClean="0">
                <a:latin typeface="Monaco" panose="020B0509030404040204" pitchFamily="49" charset="0"/>
              </a:rPr>
              <a:t>6</a:t>
            </a:r>
            <a:r>
              <a:rPr lang="zh-CN" altLang="en-US" sz="2400" b="1" dirty="0" smtClean="0">
                <a:latin typeface="Monaco" panose="020B0509030404040204" pitchFamily="49" charset="0"/>
              </a:rPr>
              <a:t>、</a:t>
            </a:r>
            <a:r>
              <a:rPr lang="en-US" altLang="zh-CN" sz="2400" b="1" dirty="0">
                <a:latin typeface="Monaco" panose="020B0509030404040204" pitchFamily="49" charset="0"/>
              </a:rPr>
              <a:t>3D</a:t>
            </a:r>
            <a:r>
              <a:rPr lang="zh-CN" altLang="en-US" sz="2400" b="1" dirty="0">
                <a:latin typeface="Monaco" panose="020B0509030404040204" pitchFamily="49" charset="0"/>
              </a:rPr>
              <a:t>呈现 </a:t>
            </a:r>
            <a:r>
              <a:rPr lang="en-US" altLang="zh-CN" sz="2400" b="1" dirty="0" err="1">
                <a:latin typeface="Monaco" panose="020B0509030404040204" pitchFamily="49" charset="0"/>
              </a:rPr>
              <a:t>transfrom</a:t>
            </a:r>
            <a:r>
              <a:rPr lang="en-US" altLang="zh-CN" sz="2400" b="1" dirty="0">
                <a:latin typeface="Monaco" panose="020B0509030404040204" pitchFamily="49" charset="0"/>
              </a:rPr>
              <a:t>-style</a:t>
            </a:r>
            <a:endParaRPr lang="en-US" altLang="zh-CN" sz="1600" dirty="0" smtClean="0">
              <a:latin typeface="Monaco" panose="020B0509030404040204" pitchFamily="49" charset="0"/>
            </a:endParaRPr>
          </a:p>
        </p:txBody>
      </p:sp>
      <p:sp>
        <p:nvSpPr>
          <p:cNvPr id="3" name="矩形 2"/>
          <p:cNvSpPr/>
          <p:nvPr/>
        </p:nvSpPr>
        <p:spPr>
          <a:xfrm>
            <a:off x="951795" y="2207341"/>
            <a:ext cx="10981233" cy="2554545"/>
          </a:xfrm>
          <a:prstGeom prst="rect">
            <a:avLst/>
          </a:prstGeom>
        </p:spPr>
        <p:txBody>
          <a:bodyPr wrap="square">
            <a:spAutoFit/>
          </a:bodyPr>
          <a:lstStyle/>
          <a:p>
            <a:pPr>
              <a:lnSpc>
                <a:spcPct val="200000"/>
              </a:lnSpc>
            </a:pPr>
            <a:r>
              <a:rPr lang="zh-CN" altLang="en-US" sz="1600" dirty="0">
                <a:latin typeface="Monaco" panose="020B0509030404040204" pitchFamily="49" charset="0"/>
              </a:rPr>
              <a:t> 控制子元素是否开启三维立体</a:t>
            </a:r>
            <a:r>
              <a:rPr lang="zh-CN" altLang="en-US" sz="1600" dirty="0" smtClean="0">
                <a:latin typeface="Monaco" panose="020B0509030404040204" pitchFamily="49" charset="0"/>
              </a:rPr>
              <a:t>环境。</a:t>
            </a:r>
            <a:endParaRPr lang="zh-CN" altLang="en-US" sz="1600" dirty="0">
              <a:latin typeface="Monaco" panose="020B0509030404040204" pitchFamily="49" charset="0"/>
            </a:endParaRPr>
          </a:p>
          <a:p>
            <a:pPr>
              <a:lnSpc>
                <a:spcPct val="200000"/>
              </a:lnSpc>
            </a:pPr>
            <a:r>
              <a:rPr lang="zh-CN" altLang="en-US" sz="1600" dirty="0">
                <a:latin typeface="Monaco" panose="020B0509030404040204" pitchFamily="49" charset="0"/>
              </a:rPr>
              <a:t> </a:t>
            </a:r>
            <a:r>
              <a:rPr lang="en-US" altLang="zh-CN" sz="1600" dirty="0">
                <a:latin typeface="Monaco" panose="020B0509030404040204" pitchFamily="49" charset="0"/>
              </a:rPr>
              <a:t>transform-style: </a:t>
            </a:r>
            <a:r>
              <a:rPr lang="en-US" altLang="zh-CN" sz="1600" dirty="0" smtClean="0">
                <a:latin typeface="Monaco" panose="020B0509030404040204" pitchFamily="49" charset="0"/>
              </a:rPr>
              <a:t>flat; </a:t>
            </a:r>
            <a:r>
              <a:rPr lang="zh-CN" altLang="en-US" sz="1600" dirty="0">
                <a:latin typeface="Monaco" panose="020B0509030404040204" pitchFamily="49" charset="0"/>
              </a:rPr>
              <a:t>子元素不开启</a:t>
            </a:r>
            <a:r>
              <a:rPr lang="en-US" altLang="zh-CN" sz="1600" dirty="0">
                <a:latin typeface="Monaco" panose="020B0509030404040204" pitchFamily="49" charset="0"/>
              </a:rPr>
              <a:t>3d</a:t>
            </a:r>
            <a:r>
              <a:rPr lang="zh-CN" altLang="en-US" sz="1600" dirty="0">
                <a:latin typeface="Monaco" panose="020B0509030404040204" pitchFamily="49" charset="0"/>
              </a:rPr>
              <a:t>立体</a:t>
            </a:r>
            <a:r>
              <a:rPr lang="zh-CN" altLang="en-US" sz="1600" dirty="0" smtClean="0">
                <a:latin typeface="Monaco" panose="020B0509030404040204" pitchFamily="49" charset="0"/>
              </a:rPr>
              <a:t>空间</a:t>
            </a:r>
            <a:r>
              <a:rPr lang="zh-CN" altLang="en-US" sz="1600" dirty="0">
                <a:latin typeface="Monaco" panose="020B0509030404040204" pitchFamily="49" charset="0"/>
              </a:rPr>
              <a:t>，</a:t>
            </a:r>
            <a:r>
              <a:rPr lang="zh-CN" altLang="en-US" sz="1600" dirty="0" smtClean="0">
                <a:latin typeface="Monaco" panose="020B0509030404040204" pitchFamily="49" charset="0"/>
              </a:rPr>
              <a:t>默认的取值。</a:t>
            </a:r>
            <a:endParaRPr lang="zh-CN" altLang="en-US" sz="1600" dirty="0">
              <a:latin typeface="Monaco" panose="020B0509030404040204" pitchFamily="49" charset="0"/>
            </a:endParaRPr>
          </a:p>
          <a:p>
            <a:pPr>
              <a:lnSpc>
                <a:spcPct val="200000"/>
              </a:lnSpc>
            </a:pPr>
            <a:r>
              <a:rPr lang="zh-CN" altLang="en-US" sz="1600" dirty="0">
                <a:latin typeface="Monaco" panose="020B0509030404040204" pitchFamily="49" charset="0"/>
              </a:rPr>
              <a:t> </a:t>
            </a:r>
            <a:r>
              <a:rPr lang="en-US" altLang="zh-CN" sz="1600" dirty="0">
                <a:latin typeface="Monaco" panose="020B0509030404040204" pitchFamily="49" charset="0"/>
              </a:rPr>
              <a:t>transform-style: preserve-3d; </a:t>
            </a:r>
            <a:r>
              <a:rPr lang="zh-CN" altLang="en-US" sz="1600" dirty="0">
                <a:latin typeface="Monaco" panose="020B0509030404040204" pitchFamily="49" charset="0"/>
              </a:rPr>
              <a:t>子元素开启立体</a:t>
            </a:r>
            <a:r>
              <a:rPr lang="zh-CN" altLang="en-US" sz="1600" dirty="0" smtClean="0">
                <a:latin typeface="Monaco" panose="020B0509030404040204" pitchFamily="49" charset="0"/>
              </a:rPr>
              <a:t>空间。</a:t>
            </a:r>
            <a:endParaRPr lang="zh-CN" altLang="en-US" sz="1600" dirty="0">
              <a:latin typeface="Monaco" panose="020B0509030404040204" pitchFamily="49" charset="0"/>
            </a:endParaRPr>
          </a:p>
          <a:p>
            <a:pPr>
              <a:lnSpc>
                <a:spcPct val="200000"/>
              </a:lnSpc>
            </a:pPr>
            <a:r>
              <a:rPr lang="zh-CN" altLang="en-US" sz="1600" dirty="0" smtClean="0">
                <a:latin typeface="Monaco" panose="020B0509030404040204" pitchFamily="49" charset="0"/>
              </a:rPr>
              <a:t>注意</a:t>
            </a:r>
            <a:r>
              <a:rPr lang="en-US" altLang="zh-CN" sz="1600" dirty="0" smtClean="0">
                <a:latin typeface="Monaco" panose="020B0509030404040204" pitchFamily="49" charset="0"/>
              </a:rPr>
              <a:t>transform-style</a:t>
            </a:r>
            <a:r>
              <a:rPr lang="en-US" altLang="zh-CN" sz="1600" dirty="0">
                <a:latin typeface="Monaco" panose="020B0509030404040204" pitchFamily="49" charset="0"/>
              </a:rPr>
              <a:t>: preserve-3d</a:t>
            </a:r>
            <a:r>
              <a:rPr lang="en-US" altLang="zh-CN" sz="1600" dirty="0" smtClean="0">
                <a:latin typeface="Monaco" panose="020B0509030404040204" pitchFamily="49" charset="0"/>
              </a:rPr>
              <a:t>; </a:t>
            </a:r>
            <a:r>
              <a:rPr lang="zh-CN" altLang="en-US" sz="1600" dirty="0" smtClean="0">
                <a:solidFill>
                  <a:srgbClr val="C00000"/>
                </a:solidFill>
                <a:latin typeface="Monaco" panose="020B0509030404040204" pitchFamily="49" charset="0"/>
              </a:rPr>
              <a:t>这段代码</a:t>
            </a:r>
            <a:r>
              <a:rPr lang="zh-CN" altLang="en-US" sz="1600" dirty="0">
                <a:solidFill>
                  <a:srgbClr val="C00000"/>
                </a:solidFill>
                <a:latin typeface="Monaco" panose="020B0509030404040204" pitchFamily="49" charset="0"/>
              </a:rPr>
              <a:t>写给父</a:t>
            </a:r>
            <a:r>
              <a:rPr lang="zh-CN" altLang="en-US" sz="1600" dirty="0" smtClean="0">
                <a:solidFill>
                  <a:srgbClr val="C00000"/>
                </a:solidFill>
                <a:latin typeface="Monaco" panose="020B0509030404040204" pitchFamily="49" charset="0"/>
              </a:rPr>
              <a:t>级容器，但是它影响</a:t>
            </a:r>
            <a:r>
              <a:rPr lang="zh-CN" altLang="en-US" sz="1600" dirty="0">
                <a:solidFill>
                  <a:srgbClr val="C00000"/>
                </a:solidFill>
                <a:latin typeface="Monaco" panose="020B0509030404040204" pitchFamily="49" charset="0"/>
              </a:rPr>
              <a:t>的是子</a:t>
            </a:r>
            <a:r>
              <a:rPr lang="zh-CN" altLang="en-US" sz="1600" dirty="0" smtClean="0">
                <a:solidFill>
                  <a:srgbClr val="C00000"/>
                </a:solidFill>
                <a:latin typeface="Monaco" panose="020B0509030404040204" pitchFamily="49" charset="0"/>
              </a:rPr>
              <a:t>盒子</a:t>
            </a:r>
            <a:r>
              <a:rPr lang="zh-CN" altLang="en-US" sz="1600" dirty="0" smtClean="0">
                <a:latin typeface="Monaco" panose="020B0509030404040204" pitchFamily="49" charset="0"/>
              </a:rPr>
              <a:t>。</a:t>
            </a:r>
            <a:endParaRPr lang="zh-CN" altLang="en-US" sz="1600" dirty="0">
              <a:latin typeface="Monaco" panose="020B0509030404040204" pitchFamily="49" charset="0"/>
            </a:endParaRPr>
          </a:p>
          <a:p>
            <a:pPr>
              <a:lnSpc>
                <a:spcPct val="200000"/>
              </a:lnSpc>
            </a:pPr>
            <a:r>
              <a:rPr lang="zh-CN" altLang="en-US" sz="1600" dirty="0" smtClean="0">
                <a:latin typeface="Monaco" panose="020B0509030404040204" pitchFamily="49" charset="0"/>
              </a:rPr>
              <a:t>这个</a:t>
            </a:r>
            <a:r>
              <a:rPr lang="zh-CN" altLang="en-US" sz="1600" dirty="0">
                <a:latin typeface="Monaco" panose="020B0509030404040204" pitchFamily="49" charset="0"/>
              </a:rPr>
              <a:t>属性很</a:t>
            </a:r>
            <a:r>
              <a:rPr lang="zh-CN" altLang="en-US" sz="1600" dirty="0" smtClean="0">
                <a:latin typeface="Monaco" panose="020B0509030404040204" pitchFamily="49" charset="0"/>
              </a:rPr>
              <a:t>重要。</a:t>
            </a:r>
            <a:endParaRPr lang="zh-CN" altLang="en-US" sz="1600" dirty="0">
              <a:latin typeface="Monaco" panose="020B0509030404040204" pitchFamily="49" charset="0"/>
            </a:endParaRPr>
          </a:p>
        </p:txBody>
      </p:sp>
    </p:spTree>
    <p:extLst>
      <p:ext uri="{BB962C8B-B14F-4D97-AF65-F5344CB8AC3E}">
        <p14:creationId xmlns:p14="http://schemas.microsoft.com/office/powerpoint/2010/main" val="20989618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sp>
        <p:nvSpPr>
          <p:cNvPr id="7" name="文本框 6"/>
          <p:cNvSpPr txBox="1"/>
          <p:nvPr/>
        </p:nvSpPr>
        <p:spPr>
          <a:xfrm>
            <a:off x="796998" y="1263977"/>
            <a:ext cx="6482691" cy="338554"/>
          </a:xfrm>
          <a:prstGeom prst="rect">
            <a:avLst/>
          </a:prstGeom>
          <a:noFill/>
        </p:spPr>
        <p:txBody>
          <a:bodyPr wrap="square" rtlCol="0">
            <a:spAutoFit/>
          </a:bodyPr>
          <a:lstStyle/>
          <a:p>
            <a:r>
              <a:rPr lang="zh-CN" altLang="en-US" sz="1600" dirty="0" smtClean="0"/>
              <a:t>应用</a:t>
            </a:r>
            <a:r>
              <a:rPr lang="en-US" altLang="zh-CN" sz="1600" dirty="0" smtClean="0"/>
              <a:t>3D</a:t>
            </a:r>
            <a:r>
              <a:rPr lang="zh-CN" altLang="en-US" sz="1600" dirty="0" smtClean="0"/>
              <a:t>变换，当鼠标指针悬停时，完成沿</a:t>
            </a:r>
            <a:r>
              <a:rPr lang="en-US" altLang="zh-CN" sz="1600" dirty="0" smtClean="0"/>
              <a:t>Y</a:t>
            </a:r>
            <a:r>
              <a:rPr lang="zh-CN" altLang="en-US" sz="1600" dirty="0" smtClean="0"/>
              <a:t>轴旋转的效果。</a:t>
            </a:r>
            <a:endParaRPr lang="zh-CN" altLang="en-US" sz="1600" dirty="0"/>
          </a:p>
        </p:txBody>
      </p:sp>
      <p:pic>
        <p:nvPicPr>
          <p:cNvPr id="10" name="图片 9"/>
          <p:cNvPicPr>
            <a:picLocks noChangeAspect="1"/>
          </p:cNvPicPr>
          <p:nvPr/>
        </p:nvPicPr>
        <p:blipFill>
          <a:blip r:embed="rId3"/>
          <a:stretch>
            <a:fillRect/>
          </a:stretch>
        </p:blipFill>
        <p:spPr>
          <a:xfrm>
            <a:off x="9750771" y="913839"/>
            <a:ext cx="2336394" cy="2408405"/>
          </a:xfrm>
          <a:prstGeom prst="rect">
            <a:avLst/>
          </a:prstGeom>
        </p:spPr>
      </p:pic>
      <p:pic>
        <p:nvPicPr>
          <p:cNvPr id="12" name="图片 11"/>
          <p:cNvPicPr>
            <a:picLocks noChangeAspect="1"/>
          </p:cNvPicPr>
          <p:nvPr/>
        </p:nvPicPr>
        <p:blipFill>
          <a:blip r:embed="rId4"/>
          <a:stretch>
            <a:fillRect/>
          </a:stretch>
        </p:blipFill>
        <p:spPr>
          <a:xfrm>
            <a:off x="7333089" y="1079397"/>
            <a:ext cx="2162175" cy="2122429"/>
          </a:xfrm>
          <a:prstGeom prst="rect">
            <a:avLst/>
          </a:prstGeom>
        </p:spPr>
      </p:pic>
      <p:pic>
        <p:nvPicPr>
          <p:cNvPr id="2" name="图片 1"/>
          <p:cNvPicPr>
            <a:picLocks noChangeAspect="1"/>
          </p:cNvPicPr>
          <p:nvPr/>
        </p:nvPicPr>
        <p:blipFill>
          <a:blip r:embed="rId5"/>
          <a:stretch>
            <a:fillRect/>
          </a:stretch>
        </p:blipFill>
        <p:spPr>
          <a:xfrm>
            <a:off x="885825" y="1602531"/>
            <a:ext cx="4838700" cy="5194486"/>
          </a:xfrm>
          <a:prstGeom prst="rect">
            <a:avLst/>
          </a:prstGeom>
        </p:spPr>
      </p:pic>
      <p:pic>
        <p:nvPicPr>
          <p:cNvPr id="3" name="图片 2"/>
          <p:cNvPicPr>
            <a:picLocks noChangeAspect="1"/>
          </p:cNvPicPr>
          <p:nvPr/>
        </p:nvPicPr>
        <p:blipFill>
          <a:blip r:embed="rId6"/>
          <a:stretch>
            <a:fillRect/>
          </a:stretch>
        </p:blipFill>
        <p:spPr>
          <a:xfrm>
            <a:off x="7333089" y="4017088"/>
            <a:ext cx="4514850" cy="762000"/>
          </a:xfrm>
          <a:prstGeom prst="rect">
            <a:avLst/>
          </a:prstGeom>
        </p:spPr>
      </p:pic>
    </p:spTree>
    <p:extLst>
      <p:ext uri="{BB962C8B-B14F-4D97-AF65-F5344CB8AC3E}">
        <p14:creationId xmlns:p14="http://schemas.microsoft.com/office/powerpoint/2010/main" val="30452642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过渡</a:t>
            </a:r>
          </a:p>
        </p:txBody>
      </p:sp>
      <p:sp>
        <p:nvSpPr>
          <p:cNvPr id="7" name="矩形 6"/>
          <p:cNvSpPr/>
          <p:nvPr/>
        </p:nvSpPr>
        <p:spPr>
          <a:xfrm>
            <a:off x="795867" y="1609871"/>
            <a:ext cx="11000127" cy="400110"/>
          </a:xfrm>
          <a:prstGeom prst="rect">
            <a:avLst/>
          </a:prstGeom>
        </p:spPr>
        <p:txBody>
          <a:bodyPr wrap="none">
            <a:spAutoFit/>
          </a:bodyPr>
          <a:lstStyle/>
          <a:p>
            <a:r>
              <a:rPr lang="en-US" altLang="zh-CN" sz="2000" dirty="0" smtClean="0">
                <a:latin typeface="宋体" panose="02010600030101010101" pitchFamily="2" charset="-122"/>
                <a:ea typeface="宋体" panose="02010600030101010101" pitchFamily="2" charset="-122"/>
              </a:rPr>
              <a:t>CSS3</a:t>
            </a:r>
            <a:r>
              <a:rPr lang="zh-CN" altLang="en-US" sz="2000" dirty="0" smtClean="0">
                <a:latin typeface="宋体" panose="02010600030101010101" pitchFamily="2" charset="-122"/>
                <a:ea typeface="宋体" panose="02010600030101010101" pitchFamily="2" charset="-122"/>
              </a:rPr>
              <a:t>过渡可以使元素在规定时间内，从一种样式逐渐改变为另一种样式。常见的过渡属性如下：</a:t>
            </a:r>
            <a:endParaRPr lang="zh-CN" altLang="en-US" sz="2000" dirty="0">
              <a:latin typeface="宋体" panose="02010600030101010101" pitchFamily="2" charset="-122"/>
              <a:ea typeface="宋体" panose="0201060003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963992017"/>
              </p:ext>
            </p:extLst>
          </p:nvPr>
        </p:nvGraphicFramePr>
        <p:xfrm>
          <a:off x="921584" y="2284559"/>
          <a:ext cx="9268458" cy="2225040"/>
        </p:xfrm>
        <a:graphic>
          <a:graphicData uri="http://schemas.openxmlformats.org/drawingml/2006/table">
            <a:tbl>
              <a:tblPr firstRow="1" bandRow="1">
                <a:tableStyleId>{5C22544A-7EE6-4342-B048-85BDC9FD1C3A}</a:tableStyleId>
              </a:tblPr>
              <a:tblGrid>
                <a:gridCol w="3496980">
                  <a:extLst>
                    <a:ext uri="{9D8B030D-6E8A-4147-A177-3AD203B41FA5}">
                      <a16:colId xmlns:a16="http://schemas.microsoft.com/office/drawing/2014/main" val="1489289904"/>
                    </a:ext>
                  </a:extLst>
                </a:gridCol>
                <a:gridCol w="5771478">
                  <a:extLst>
                    <a:ext uri="{9D8B030D-6E8A-4147-A177-3AD203B41FA5}">
                      <a16:colId xmlns:a16="http://schemas.microsoft.com/office/drawing/2014/main" val="3260494651"/>
                    </a:ext>
                  </a:extLst>
                </a:gridCol>
              </a:tblGrid>
              <a:tr h="370840">
                <a:tc>
                  <a:txBody>
                    <a:bodyPr/>
                    <a:lstStyle/>
                    <a:p>
                      <a:r>
                        <a:rPr lang="zh-CN" altLang="en-US" sz="1400" dirty="0" smtClean="0">
                          <a:latin typeface="Monaco" panose="020B0509030404040204" pitchFamily="49" charset="0"/>
                        </a:rPr>
                        <a:t>属性</a:t>
                      </a:r>
                      <a:endParaRPr lang="zh-CN" altLang="en-US" sz="1400" dirty="0">
                        <a:latin typeface="Monaco" panose="020B0509030404040204" pitchFamily="49" charset="0"/>
                      </a:endParaRPr>
                    </a:p>
                  </a:txBody>
                  <a:tcPr/>
                </a:tc>
                <a:tc>
                  <a:txBody>
                    <a:bodyPr/>
                    <a:lstStyle/>
                    <a:p>
                      <a:r>
                        <a:rPr lang="zh-CN" altLang="en-US" sz="1400" dirty="0" smtClean="0">
                          <a:latin typeface="Monaco" panose="020B0509030404040204" pitchFamily="49" charset="0"/>
                        </a:rPr>
                        <a:t>说明</a:t>
                      </a:r>
                      <a:endParaRPr lang="zh-CN" altLang="en-US" sz="1400" dirty="0">
                        <a:latin typeface="Monaco" panose="020B0509030404040204" pitchFamily="49" charset="0"/>
                      </a:endParaRPr>
                    </a:p>
                  </a:txBody>
                  <a:tcPr/>
                </a:tc>
                <a:extLst>
                  <a:ext uri="{0D108BD9-81ED-4DB2-BD59-A6C34878D82A}">
                    <a16:rowId xmlns:a16="http://schemas.microsoft.com/office/drawing/2014/main" val="3402268856"/>
                  </a:ext>
                </a:extLst>
              </a:tr>
              <a:tr h="370840">
                <a:tc>
                  <a:txBody>
                    <a:bodyPr/>
                    <a:lstStyle/>
                    <a:p>
                      <a:r>
                        <a:rPr lang="en-US" altLang="zh-CN" sz="1400" dirty="0" smtClean="0">
                          <a:latin typeface="Monaco" panose="020B0509030404040204" pitchFamily="49" charset="0"/>
                        </a:rPr>
                        <a:t>transition</a:t>
                      </a:r>
                      <a:endParaRPr lang="zh-CN" altLang="en-US" sz="1400" dirty="0">
                        <a:latin typeface="Monaco" panose="020B0509030404040204" pitchFamily="49" charset="0"/>
                      </a:endParaRPr>
                    </a:p>
                  </a:txBody>
                  <a:tcPr/>
                </a:tc>
                <a:tc>
                  <a:txBody>
                    <a:bodyPr/>
                    <a:lstStyle/>
                    <a:p>
                      <a:r>
                        <a:rPr lang="zh-CN" altLang="en-US" sz="1400" dirty="0" smtClean="0">
                          <a:latin typeface="Monaco" panose="020B0509030404040204" pitchFamily="49" charset="0"/>
                        </a:rPr>
                        <a:t>简写属性</a:t>
                      </a:r>
                      <a:endParaRPr lang="zh-CN" altLang="en-US" sz="1400" dirty="0">
                        <a:latin typeface="Monaco" panose="020B0509030404040204" pitchFamily="49" charset="0"/>
                      </a:endParaRPr>
                    </a:p>
                  </a:txBody>
                  <a:tcPr/>
                </a:tc>
                <a:extLst>
                  <a:ext uri="{0D108BD9-81ED-4DB2-BD59-A6C34878D82A}">
                    <a16:rowId xmlns:a16="http://schemas.microsoft.com/office/drawing/2014/main" val="2539896866"/>
                  </a:ext>
                </a:extLst>
              </a:tr>
              <a:tr h="370840">
                <a:tc>
                  <a:txBody>
                    <a:bodyPr/>
                    <a:lstStyle/>
                    <a:p>
                      <a:r>
                        <a:rPr lang="en-US" altLang="zh-CN" sz="1400" dirty="0" smtClean="0">
                          <a:latin typeface="Monaco" panose="020B0509030404040204" pitchFamily="49" charset="0"/>
                        </a:rPr>
                        <a:t>transition-property</a:t>
                      </a:r>
                      <a:endParaRPr lang="zh-CN" altLang="en-US" sz="1400" dirty="0">
                        <a:latin typeface="Monaco" panose="020B0509030404040204" pitchFamily="49" charset="0"/>
                      </a:endParaRPr>
                    </a:p>
                  </a:txBody>
                  <a:tcPr/>
                </a:tc>
                <a:tc>
                  <a:txBody>
                    <a:bodyPr/>
                    <a:lstStyle/>
                    <a:p>
                      <a:r>
                        <a:rPr lang="zh-CN" altLang="en-US" sz="1400" dirty="0" smtClean="0">
                          <a:latin typeface="Monaco" panose="020B0509030404040204" pitchFamily="49" charset="0"/>
                        </a:rPr>
                        <a:t>哪些</a:t>
                      </a:r>
                      <a:r>
                        <a:rPr lang="en-US" altLang="zh-CN" sz="1400" dirty="0" smtClean="0">
                          <a:latin typeface="Monaco" panose="020B0509030404040204" pitchFamily="49" charset="0"/>
                        </a:rPr>
                        <a:t>CSS</a:t>
                      </a:r>
                      <a:r>
                        <a:rPr lang="zh-CN" altLang="en-US" sz="1400" dirty="0" smtClean="0">
                          <a:latin typeface="Monaco" panose="020B0509030404040204" pitchFamily="49" charset="0"/>
                        </a:rPr>
                        <a:t>属性产生变化，多个属性用逗号隔开，所有属性用</a:t>
                      </a:r>
                      <a:r>
                        <a:rPr lang="en-US" altLang="zh-CN" sz="1400" dirty="0" smtClean="0">
                          <a:latin typeface="Monaco" panose="020B0509030404040204" pitchFamily="49" charset="0"/>
                        </a:rPr>
                        <a:t>all</a:t>
                      </a:r>
                      <a:r>
                        <a:rPr lang="zh-CN" altLang="en-US" sz="1400" dirty="0" smtClean="0">
                          <a:latin typeface="Monaco" panose="020B0509030404040204" pitchFamily="49" charset="0"/>
                        </a:rPr>
                        <a:t>表示</a:t>
                      </a:r>
                      <a:endParaRPr lang="zh-CN" altLang="en-US" sz="1400" dirty="0">
                        <a:latin typeface="Monaco" panose="020B0509030404040204" pitchFamily="49" charset="0"/>
                      </a:endParaRPr>
                    </a:p>
                  </a:txBody>
                  <a:tcPr/>
                </a:tc>
                <a:extLst>
                  <a:ext uri="{0D108BD9-81ED-4DB2-BD59-A6C34878D82A}">
                    <a16:rowId xmlns:a16="http://schemas.microsoft.com/office/drawing/2014/main" val="35919257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Monaco" panose="020B0509030404040204" pitchFamily="49" charset="0"/>
                        </a:rPr>
                        <a:t>transition-duration</a:t>
                      </a:r>
                      <a:endParaRPr lang="zh-CN" altLang="en-US" sz="1400" dirty="0" smtClean="0">
                        <a:latin typeface="Monaco" panose="020B0509030404040204" pitchFamily="49" charset="0"/>
                      </a:endParaRPr>
                    </a:p>
                  </a:txBody>
                  <a:tcPr/>
                </a:tc>
                <a:tc>
                  <a:txBody>
                    <a:bodyPr/>
                    <a:lstStyle/>
                    <a:p>
                      <a:r>
                        <a:rPr lang="zh-CN" altLang="en-US" sz="1400" dirty="0" smtClean="0">
                          <a:latin typeface="Monaco" panose="020B0509030404040204" pitchFamily="49" charset="0"/>
                        </a:rPr>
                        <a:t>时长</a:t>
                      </a:r>
                      <a:endParaRPr lang="zh-CN" altLang="en-US" sz="1400" dirty="0">
                        <a:latin typeface="Monaco" panose="020B0509030404040204" pitchFamily="49" charset="0"/>
                      </a:endParaRPr>
                    </a:p>
                  </a:txBody>
                  <a:tcPr/>
                </a:tc>
                <a:extLst>
                  <a:ext uri="{0D108BD9-81ED-4DB2-BD59-A6C34878D82A}">
                    <a16:rowId xmlns:a16="http://schemas.microsoft.com/office/drawing/2014/main" val="34920998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Monaco" panose="020B0509030404040204" pitchFamily="49" charset="0"/>
                        </a:rPr>
                        <a:t>transition-delay</a:t>
                      </a:r>
                      <a:endParaRPr lang="zh-CN" altLang="en-US" sz="1400" dirty="0" smtClean="0">
                        <a:latin typeface="Monaco" panose="020B0509030404040204" pitchFamily="49" charset="0"/>
                      </a:endParaRPr>
                    </a:p>
                  </a:txBody>
                  <a:tcPr/>
                </a:tc>
                <a:tc>
                  <a:txBody>
                    <a:bodyPr/>
                    <a:lstStyle/>
                    <a:p>
                      <a:r>
                        <a:rPr lang="zh-CN" altLang="en-US" sz="1400" dirty="0" smtClean="0">
                          <a:latin typeface="Monaco" panose="020B0509030404040204" pitchFamily="49" charset="0"/>
                        </a:rPr>
                        <a:t>过渡效果何时开始</a:t>
                      </a:r>
                      <a:endParaRPr lang="zh-CN" altLang="en-US" sz="1400" dirty="0">
                        <a:latin typeface="Monaco" panose="020B0509030404040204" pitchFamily="49" charset="0"/>
                      </a:endParaRPr>
                    </a:p>
                  </a:txBody>
                  <a:tcPr/>
                </a:tc>
                <a:extLst>
                  <a:ext uri="{0D108BD9-81ED-4DB2-BD59-A6C34878D82A}">
                    <a16:rowId xmlns:a16="http://schemas.microsoft.com/office/drawing/2014/main" val="36304424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Monaco" panose="020B0509030404040204" pitchFamily="49" charset="0"/>
                        </a:rPr>
                        <a:t>transition-timing-function</a:t>
                      </a:r>
                      <a:endParaRPr lang="zh-CN" altLang="en-US" sz="1400" dirty="0" smtClean="0">
                        <a:latin typeface="Monaco" panose="020B0509030404040204" pitchFamily="49" charset="0"/>
                      </a:endParaRPr>
                    </a:p>
                  </a:txBody>
                  <a:tcPr/>
                </a:tc>
                <a:tc>
                  <a:txBody>
                    <a:bodyPr/>
                    <a:lstStyle/>
                    <a:p>
                      <a:r>
                        <a:rPr lang="zh-CN" altLang="en-US" sz="1400" dirty="0" smtClean="0">
                          <a:latin typeface="Monaco" panose="020B0509030404040204" pitchFamily="49" charset="0"/>
                        </a:rPr>
                        <a:t>过渡效果的时间曲线</a:t>
                      </a:r>
                      <a:endParaRPr lang="zh-CN" altLang="en-US" sz="1400" dirty="0">
                        <a:latin typeface="Monaco" panose="020B0509030404040204" pitchFamily="49" charset="0"/>
                      </a:endParaRPr>
                    </a:p>
                  </a:txBody>
                  <a:tcPr/>
                </a:tc>
                <a:extLst>
                  <a:ext uri="{0D108BD9-81ED-4DB2-BD59-A6C34878D82A}">
                    <a16:rowId xmlns:a16="http://schemas.microsoft.com/office/drawing/2014/main" val="1933427370"/>
                  </a:ext>
                </a:extLst>
              </a:tr>
            </a:tbl>
          </a:graphicData>
        </a:graphic>
      </p:graphicFrame>
      <p:sp>
        <p:nvSpPr>
          <p:cNvPr id="5" name="矩形 4"/>
          <p:cNvSpPr/>
          <p:nvPr/>
        </p:nvSpPr>
        <p:spPr>
          <a:xfrm>
            <a:off x="921584" y="4969252"/>
            <a:ext cx="9360934" cy="1569660"/>
          </a:xfrm>
          <a:prstGeom prst="rect">
            <a:avLst/>
          </a:prstGeom>
        </p:spPr>
        <p:txBody>
          <a:bodyPr wrap="square">
            <a:spAutoFit/>
          </a:bodyPr>
          <a:lstStyle/>
          <a:p>
            <a:r>
              <a:rPr lang="en-US" altLang="zh-CN" sz="1600" dirty="0">
                <a:latin typeface="Monaco" panose="020B0509030404040204" pitchFamily="49" charset="0"/>
              </a:rPr>
              <a:t>transition-timing-function</a:t>
            </a:r>
            <a:r>
              <a:rPr lang="zh-CN" altLang="en-US" sz="1600" dirty="0">
                <a:latin typeface="Monaco" panose="020B0509030404040204" pitchFamily="49" charset="0"/>
              </a:rPr>
              <a:t>属性</a:t>
            </a:r>
            <a:r>
              <a:rPr lang="zh-CN" altLang="en-US" sz="1600" dirty="0" smtClean="0">
                <a:latin typeface="Monaco" panose="020B0509030404040204" pitchFamily="49" charset="0"/>
              </a:rPr>
              <a:t>值：</a:t>
            </a:r>
            <a:endParaRPr lang="en-US" altLang="zh-CN" sz="1600" dirty="0" smtClean="0">
              <a:latin typeface="Monaco" panose="020B0509030404040204" pitchFamily="49" charset="0"/>
            </a:endParaRPr>
          </a:p>
          <a:p>
            <a:pPr marL="285750" indent="-285750">
              <a:buFont typeface="Arial" panose="020B0604020202020204" pitchFamily="34" charset="0"/>
              <a:buChar char="•"/>
            </a:pPr>
            <a:r>
              <a:rPr lang="en-US" altLang="zh-CN" sz="1600" dirty="0">
                <a:latin typeface="Monaco" panose="020B0509030404040204" pitchFamily="49" charset="0"/>
              </a:rPr>
              <a:t>linear</a:t>
            </a:r>
            <a:r>
              <a:rPr lang="zh-CN" altLang="en-US" sz="1600" dirty="0" smtClean="0">
                <a:latin typeface="Monaco" panose="020B0509030404040204" pitchFamily="49" charset="0"/>
              </a:rPr>
              <a:t>：匀速</a:t>
            </a:r>
            <a:endParaRPr lang="en-US" altLang="zh-CN" sz="1600" dirty="0" smtClean="0">
              <a:latin typeface="Monaco" panose="020B0509030404040204" pitchFamily="49" charset="0"/>
            </a:endParaRPr>
          </a:p>
          <a:p>
            <a:pPr marL="285750" indent="-285750">
              <a:buFont typeface="Arial" panose="020B0604020202020204" pitchFamily="34" charset="0"/>
              <a:buChar char="•"/>
            </a:pPr>
            <a:r>
              <a:rPr lang="en-US" altLang="zh-CN" sz="1600" dirty="0" smtClean="0">
                <a:latin typeface="Monaco" panose="020B0509030404040204" pitchFamily="49" charset="0"/>
              </a:rPr>
              <a:t>ease</a:t>
            </a:r>
            <a:r>
              <a:rPr lang="zh-CN" altLang="en-US" sz="1600" dirty="0" smtClean="0">
                <a:latin typeface="Monaco" panose="020B0509030404040204" pitchFamily="49" charset="0"/>
              </a:rPr>
              <a:t>：慢</a:t>
            </a:r>
            <a:r>
              <a:rPr lang="en-US" altLang="zh-CN" sz="1600" dirty="0" smtClean="0">
                <a:latin typeface="Monaco" panose="020B0509030404040204" pitchFamily="49" charset="0"/>
              </a:rPr>
              <a:t>-</a:t>
            </a:r>
            <a:r>
              <a:rPr lang="zh-CN" altLang="en-US" sz="1600" dirty="0" smtClean="0">
                <a:latin typeface="Monaco" panose="020B0509030404040204" pitchFamily="49" charset="0"/>
              </a:rPr>
              <a:t>快</a:t>
            </a:r>
            <a:r>
              <a:rPr lang="en-US" altLang="zh-CN" sz="1600" dirty="0" smtClean="0">
                <a:latin typeface="Monaco" panose="020B0509030404040204" pitchFamily="49" charset="0"/>
              </a:rPr>
              <a:t>-</a:t>
            </a:r>
            <a:r>
              <a:rPr lang="zh-CN" altLang="en-US" sz="1600" dirty="0" smtClean="0">
                <a:latin typeface="Monaco" panose="020B0509030404040204" pitchFamily="49" charset="0"/>
              </a:rPr>
              <a:t>慢</a:t>
            </a:r>
            <a:endParaRPr lang="en-US" altLang="zh-CN" sz="1600" dirty="0" smtClean="0">
              <a:latin typeface="Monaco" panose="020B0509030404040204" pitchFamily="49" charset="0"/>
            </a:endParaRPr>
          </a:p>
          <a:p>
            <a:pPr marL="285750" indent="-285750">
              <a:buFont typeface="Arial" panose="020B0604020202020204" pitchFamily="34" charset="0"/>
              <a:buChar char="•"/>
            </a:pPr>
            <a:r>
              <a:rPr lang="en-US" altLang="zh-CN" sz="1600" dirty="0" smtClean="0">
                <a:latin typeface="Monaco" panose="020B0509030404040204" pitchFamily="49" charset="0"/>
              </a:rPr>
              <a:t>ease-in</a:t>
            </a:r>
            <a:r>
              <a:rPr lang="zh-CN" altLang="en-US" sz="1600" dirty="0" smtClean="0">
                <a:latin typeface="Monaco" panose="020B0509030404040204" pitchFamily="49" charset="0"/>
              </a:rPr>
              <a:t>：慢</a:t>
            </a:r>
            <a:r>
              <a:rPr lang="en-US" altLang="zh-CN" sz="1600" dirty="0" smtClean="0">
                <a:latin typeface="Monaco" panose="020B0509030404040204" pitchFamily="49" charset="0"/>
              </a:rPr>
              <a:t>-</a:t>
            </a:r>
            <a:r>
              <a:rPr lang="zh-CN" altLang="en-US" sz="1600" dirty="0" smtClean="0">
                <a:latin typeface="Monaco" panose="020B0509030404040204" pitchFamily="49" charset="0"/>
              </a:rPr>
              <a:t>快</a:t>
            </a:r>
            <a:endParaRPr lang="en-US" altLang="zh-CN" sz="1600" dirty="0" smtClean="0">
              <a:latin typeface="Monaco" panose="020B0509030404040204" pitchFamily="49" charset="0"/>
            </a:endParaRPr>
          </a:p>
          <a:p>
            <a:pPr marL="285750" indent="-285750">
              <a:buFont typeface="Arial" panose="020B0604020202020204" pitchFamily="34" charset="0"/>
              <a:buChar char="•"/>
            </a:pPr>
            <a:r>
              <a:rPr lang="en-US" altLang="zh-CN" sz="1600" dirty="0" smtClean="0">
                <a:latin typeface="Monaco" panose="020B0509030404040204" pitchFamily="49" charset="0"/>
              </a:rPr>
              <a:t>ease-out</a:t>
            </a:r>
            <a:r>
              <a:rPr lang="zh-CN" altLang="en-US" sz="1600" dirty="0" smtClean="0">
                <a:latin typeface="Monaco" panose="020B0509030404040204" pitchFamily="49" charset="0"/>
              </a:rPr>
              <a:t>：快</a:t>
            </a:r>
            <a:r>
              <a:rPr lang="en-US" altLang="zh-CN" sz="1600" dirty="0" smtClean="0">
                <a:latin typeface="Monaco" panose="020B0509030404040204" pitchFamily="49" charset="0"/>
              </a:rPr>
              <a:t>-</a:t>
            </a:r>
            <a:r>
              <a:rPr lang="zh-CN" altLang="en-US" sz="1600" dirty="0" smtClean="0">
                <a:latin typeface="Monaco" panose="020B0509030404040204" pitchFamily="49" charset="0"/>
              </a:rPr>
              <a:t>慢</a:t>
            </a:r>
            <a:endParaRPr lang="en-US" altLang="zh-CN" sz="1600" dirty="0" smtClean="0">
              <a:latin typeface="Monaco" panose="020B0509030404040204" pitchFamily="49" charset="0"/>
            </a:endParaRPr>
          </a:p>
          <a:p>
            <a:pPr marL="285750" indent="-285750">
              <a:buFont typeface="Arial" panose="020B0604020202020204" pitchFamily="34" charset="0"/>
              <a:buChar char="•"/>
            </a:pPr>
            <a:r>
              <a:rPr lang="en-US" altLang="zh-CN" sz="1600" dirty="0" smtClean="0">
                <a:latin typeface="Monaco" panose="020B0509030404040204" pitchFamily="49" charset="0"/>
              </a:rPr>
              <a:t>ease-in-out</a:t>
            </a:r>
            <a:r>
              <a:rPr lang="zh-CN" altLang="en-US" sz="1600" dirty="0" smtClean="0">
                <a:latin typeface="Monaco" panose="020B0509030404040204" pitchFamily="49" charset="0"/>
              </a:rPr>
              <a:t>：慢</a:t>
            </a:r>
            <a:r>
              <a:rPr lang="en-US" altLang="zh-CN" sz="1600" dirty="0" smtClean="0">
                <a:latin typeface="Monaco" panose="020B0509030404040204" pitchFamily="49" charset="0"/>
              </a:rPr>
              <a:t>-</a:t>
            </a:r>
            <a:r>
              <a:rPr lang="zh-CN" altLang="en-US" sz="1600" dirty="0" smtClean="0">
                <a:latin typeface="Monaco" panose="020B0509030404040204" pitchFamily="49" charset="0"/>
              </a:rPr>
              <a:t>快</a:t>
            </a:r>
            <a:r>
              <a:rPr lang="en-US" altLang="zh-CN" sz="1600" dirty="0" smtClean="0">
                <a:latin typeface="Monaco" panose="020B0509030404040204" pitchFamily="49" charset="0"/>
              </a:rPr>
              <a:t>-</a:t>
            </a:r>
            <a:r>
              <a:rPr lang="zh-CN" altLang="en-US" sz="1600" dirty="0" smtClean="0">
                <a:latin typeface="Monaco" panose="020B0509030404040204" pitchFamily="49" charset="0"/>
              </a:rPr>
              <a:t>慢</a:t>
            </a:r>
            <a:endParaRPr lang="zh-CN" altLang="en-US" sz="1600" dirty="0">
              <a:latin typeface="Monaco" panose="020B0509030404040204" pitchFamily="49" charset="0"/>
            </a:endParaRPr>
          </a:p>
        </p:txBody>
      </p:sp>
    </p:spTree>
    <p:extLst>
      <p:ext uri="{BB962C8B-B14F-4D97-AF65-F5344CB8AC3E}">
        <p14:creationId xmlns:p14="http://schemas.microsoft.com/office/powerpoint/2010/main" val="1990349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过渡</a:t>
            </a:r>
          </a:p>
        </p:txBody>
      </p:sp>
      <p:sp>
        <p:nvSpPr>
          <p:cNvPr id="7" name="矩形 6"/>
          <p:cNvSpPr/>
          <p:nvPr/>
        </p:nvSpPr>
        <p:spPr>
          <a:xfrm>
            <a:off x="795867" y="1515886"/>
            <a:ext cx="9296135" cy="400110"/>
          </a:xfrm>
          <a:prstGeom prst="rect">
            <a:avLst/>
          </a:prstGeom>
        </p:spPr>
        <p:txBody>
          <a:bodyPr wrap="none">
            <a:spAutoFit/>
          </a:bodyPr>
          <a:lstStyle/>
          <a:p>
            <a:r>
              <a:rPr lang="zh-CN" altLang="en-US" sz="2000" dirty="0" smtClean="0">
                <a:latin typeface="宋体" panose="02010600030101010101" pitchFamily="2" charset="-122"/>
                <a:ea typeface="宋体" panose="02010600030101010101" pitchFamily="2" charset="-122"/>
              </a:rPr>
              <a:t>例</a:t>
            </a:r>
            <a:r>
              <a:rPr lang="en-US" altLang="zh-CN" sz="2000" dirty="0" smtClean="0">
                <a:latin typeface="宋体" panose="02010600030101010101" pitchFamily="2" charset="-122"/>
                <a:ea typeface="宋体" panose="02010600030101010101" pitchFamily="2" charset="-122"/>
              </a:rPr>
              <a:t>1</a:t>
            </a:r>
            <a:r>
              <a:rPr lang="zh-CN" altLang="en-US" sz="2000" dirty="0" smtClean="0">
                <a:latin typeface="宋体" panose="02010600030101010101" pitchFamily="2" charset="-122"/>
                <a:ea typeface="宋体" panose="02010600030101010101" pitchFamily="2" charset="-122"/>
              </a:rPr>
              <a:t>：应用过渡效果，当鼠标指针悬停时，完成开关圆钮滑动和背景色变换效果：</a:t>
            </a:r>
            <a:endParaRPr lang="zh-CN" altLang="en-US" sz="2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091052" y="2113261"/>
            <a:ext cx="742950" cy="409575"/>
          </a:xfrm>
          <a:prstGeom prst="rect">
            <a:avLst/>
          </a:prstGeom>
        </p:spPr>
      </p:pic>
      <p:pic>
        <p:nvPicPr>
          <p:cNvPr id="6" name="图片 5"/>
          <p:cNvPicPr>
            <a:picLocks noChangeAspect="1"/>
          </p:cNvPicPr>
          <p:nvPr/>
        </p:nvPicPr>
        <p:blipFill>
          <a:blip r:embed="rId4"/>
          <a:stretch>
            <a:fillRect/>
          </a:stretch>
        </p:blipFill>
        <p:spPr>
          <a:xfrm>
            <a:off x="2392177" y="2084005"/>
            <a:ext cx="799259" cy="498361"/>
          </a:xfrm>
          <a:prstGeom prst="rect">
            <a:avLst/>
          </a:prstGeom>
        </p:spPr>
      </p:pic>
      <p:sp>
        <p:nvSpPr>
          <p:cNvPr id="8" name="右箭头 7"/>
          <p:cNvSpPr/>
          <p:nvPr/>
        </p:nvSpPr>
        <p:spPr>
          <a:xfrm>
            <a:off x="1913285" y="2161215"/>
            <a:ext cx="478892" cy="343939"/>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5"/>
          <a:stretch>
            <a:fillRect/>
          </a:stretch>
        </p:blipFill>
        <p:spPr>
          <a:xfrm>
            <a:off x="3646654" y="2031233"/>
            <a:ext cx="2562225" cy="714375"/>
          </a:xfrm>
          <a:prstGeom prst="rect">
            <a:avLst/>
          </a:prstGeom>
        </p:spPr>
      </p:pic>
      <p:pic>
        <p:nvPicPr>
          <p:cNvPr id="5" name="图片 4"/>
          <p:cNvPicPr>
            <a:picLocks noChangeAspect="1"/>
          </p:cNvPicPr>
          <p:nvPr/>
        </p:nvPicPr>
        <p:blipFill>
          <a:blip r:embed="rId6"/>
          <a:stretch>
            <a:fillRect/>
          </a:stretch>
        </p:blipFill>
        <p:spPr>
          <a:xfrm>
            <a:off x="119623" y="2927620"/>
            <a:ext cx="6143625" cy="3238500"/>
          </a:xfrm>
          <a:prstGeom prst="rect">
            <a:avLst/>
          </a:prstGeom>
        </p:spPr>
      </p:pic>
      <p:pic>
        <p:nvPicPr>
          <p:cNvPr id="9" name="图片 8"/>
          <p:cNvPicPr>
            <a:picLocks noChangeAspect="1"/>
          </p:cNvPicPr>
          <p:nvPr/>
        </p:nvPicPr>
        <p:blipFill>
          <a:blip r:embed="rId7"/>
          <a:stretch>
            <a:fillRect/>
          </a:stretch>
        </p:blipFill>
        <p:spPr>
          <a:xfrm>
            <a:off x="6205538" y="2960433"/>
            <a:ext cx="5986462" cy="3761042"/>
          </a:xfrm>
          <a:prstGeom prst="rect">
            <a:avLst/>
          </a:prstGeom>
        </p:spPr>
      </p:pic>
    </p:spTree>
    <p:extLst>
      <p:ext uri="{BB962C8B-B14F-4D97-AF65-F5344CB8AC3E}">
        <p14:creationId xmlns:p14="http://schemas.microsoft.com/office/powerpoint/2010/main" val="214095514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过渡</a:t>
            </a:r>
          </a:p>
        </p:txBody>
      </p:sp>
      <p:sp>
        <p:nvSpPr>
          <p:cNvPr id="7" name="矩形 6"/>
          <p:cNvSpPr/>
          <p:nvPr/>
        </p:nvSpPr>
        <p:spPr>
          <a:xfrm>
            <a:off x="795867" y="1609871"/>
            <a:ext cx="8964313" cy="461665"/>
          </a:xfrm>
          <a:prstGeom prst="rect">
            <a:avLst/>
          </a:prstGeom>
        </p:spPr>
        <p:txBody>
          <a:bodyPr wrap="none">
            <a:spAutoFit/>
          </a:bodyPr>
          <a:lstStyle/>
          <a:p>
            <a:r>
              <a:rPr lang="zh-CN" altLang="en-US" sz="2400" dirty="0" smtClean="0">
                <a:latin typeface="宋体" panose="02010600030101010101" pitchFamily="2" charset="-122"/>
                <a:ea typeface="宋体" panose="02010600030101010101" pitchFamily="2" charset="-122"/>
              </a:rPr>
              <a:t>例</a:t>
            </a:r>
            <a:r>
              <a:rPr lang="en-US" altLang="zh-CN" sz="2400" dirty="0" smtClean="0">
                <a:latin typeface="宋体" panose="02010600030101010101" pitchFamily="2" charset="-122"/>
                <a:ea typeface="宋体" panose="02010600030101010101" pitchFamily="2" charset="-122"/>
              </a:rPr>
              <a:t>2</a:t>
            </a:r>
            <a:r>
              <a:rPr lang="zh-CN" altLang="en-US" sz="2400" dirty="0" smtClean="0">
                <a:latin typeface="宋体" panose="02010600030101010101" pitchFamily="2" charset="-122"/>
                <a:ea typeface="宋体" panose="02010600030101010101" pitchFamily="2" charset="-122"/>
              </a:rPr>
              <a:t>：应用过渡效果，当鼠标指针悬停时，文字部分与父元素重合</a:t>
            </a:r>
            <a:endParaRPr lang="zh-CN" altLang="en-US" sz="2400" dirty="0">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795867" y="2400292"/>
            <a:ext cx="4692183" cy="1760405"/>
          </a:xfrm>
          <a:prstGeom prst="rect">
            <a:avLst/>
          </a:prstGeom>
        </p:spPr>
      </p:pic>
      <p:pic>
        <p:nvPicPr>
          <p:cNvPr id="2" name="图片 1"/>
          <p:cNvPicPr>
            <a:picLocks noChangeAspect="1"/>
          </p:cNvPicPr>
          <p:nvPr/>
        </p:nvPicPr>
        <p:blipFill>
          <a:blip r:embed="rId4"/>
          <a:stretch>
            <a:fillRect/>
          </a:stretch>
        </p:blipFill>
        <p:spPr>
          <a:xfrm>
            <a:off x="6150753" y="2342081"/>
            <a:ext cx="4768215" cy="1820716"/>
          </a:xfrm>
          <a:prstGeom prst="rect">
            <a:avLst/>
          </a:prstGeom>
        </p:spPr>
      </p:pic>
    </p:spTree>
    <p:extLst>
      <p:ext uri="{BB962C8B-B14F-4D97-AF65-F5344CB8AC3E}">
        <p14:creationId xmlns:p14="http://schemas.microsoft.com/office/powerpoint/2010/main" val="298638738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动画</a:t>
            </a:r>
          </a:p>
        </p:txBody>
      </p:sp>
      <p:sp>
        <p:nvSpPr>
          <p:cNvPr id="5" name="矩形 4"/>
          <p:cNvSpPr/>
          <p:nvPr/>
        </p:nvSpPr>
        <p:spPr>
          <a:xfrm>
            <a:off x="932993" y="1625097"/>
            <a:ext cx="9848850" cy="2249847"/>
          </a:xfrm>
          <a:prstGeom prst="rect">
            <a:avLst/>
          </a:prstGeom>
        </p:spPr>
        <p:txBody>
          <a:bodyPr wrap="square">
            <a:spAutoFit/>
          </a:bodyPr>
          <a:lstStyle/>
          <a:p>
            <a:pPr>
              <a:lnSpc>
                <a:spcPct val="150000"/>
              </a:lnSpc>
            </a:pPr>
            <a:r>
              <a:rPr lang="zh-CN" altLang="en-US" sz="2400" b="1" dirty="0">
                <a:solidFill>
                  <a:srgbClr val="FF0000"/>
                </a:solidFill>
                <a:latin typeface="Monaco" panose="020B0509030404040204" pitchFamily="49" charset="0"/>
              </a:rPr>
              <a:t>动画（</a:t>
            </a:r>
            <a:r>
              <a:rPr lang="en-US" altLang="zh-CN" sz="2400" b="1" dirty="0">
                <a:solidFill>
                  <a:srgbClr val="FF0000"/>
                </a:solidFill>
                <a:latin typeface="Monaco" panose="020B0509030404040204" pitchFamily="49" charset="0"/>
              </a:rPr>
              <a:t>animation</a:t>
            </a:r>
            <a:r>
              <a:rPr lang="zh-CN" altLang="en-US" sz="2400" b="1" dirty="0">
                <a:solidFill>
                  <a:srgbClr val="FF0000"/>
                </a:solidFill>
                <a:latin typeface="Monaco" panose="020B0509030404040204" pitchFamily="49" charset="0"/>
              </a:rPr>
              <a:t>）</a:t>
            </a:r>
            <a:r>
              <a:rPr lang="zh-CN" altLang="en-US" sz="2400" dirty="0">
                <a:latin typeface="Monaco" panose="020B0509030404040204" pitchFamily="49" charset="0"/>
              </a:rPr>
              <a:t>是</a:t>
            </a:r>
            <a:r>
              <a:rPr lang="en-US" altLang="zh-CN" sz="2400" dirty="0">
                <a:latin typeface="Monaco" panose="020B0509030404040204" pitchFamily="49" charset="0"/>
              </a:rPr>
              <a:t>CSS3</a:t>
            </a:r>
            <a:r>
              <a:rPr lang="zh-CN" altLang="en-US" sz="2400" dirty="0">
                <a:latin typeface="Monaco" panose="020B0509030404040204" pitchFamily="49" charset="0"/>
              </a:rPr>
              <a:t>中具有颠覆性的特征之一</a:t>
            </a:r>
            <a:r>
              <a:rPr lang="zh-CN" altLang="en-US" sz="2400" dirty="0" smtClean="0">
                <a:latin typeface="Monaco" panose="020B0509030404040204" pitchFamily="49" charset="0"/>
              </a:rPr>
              <a:t>，是由静态图片连续播放而成的，静态图片称为关键帧（</a:t>
            </a:r>
            <a:r>
              <a:rPr lang="en-US" altLang="zh-CN" sz="2400" dirty="0" smtClean="0">
                <a:latin typeface="Monaco" panose="020B0509030404040204" pitchFamily="49" charset="0"/>
              </a:rPr>
              <a:t>Key Frame</a:t>
            </a:r>
            <a:r>
              <a:rPr lang="zh-CN" altLang="en-US" sz="2400" dirty="0" smtClean="0">
                <a:latin typeface="Monaco" panose="020B0509030404040204" pitchFamily="49" charset="0"/>
              </a:rPr>
              <a:t>）。</a:t>
            </a:r>
            <a:r>
              <a:rPr lang="en-US" altLang="zh-CN" sz="2400" dirty="0" smtClean="0">
                <a:latin typeface="Monaco" panose="020B0509030404040204" pitchFamily="49" charset="0"/>
              </a:rPr>
              <a:t>CSS3</a:t>
            </a:r>
            <a:r>
              <a:rPr lang="zh-CN" altLang="en-US" sz="2400" dirty="0" smtClean="0">
                <a:latin typeface="Monaco" panose="020B0509030404040204" pitchFamily="49" charset="0"/>
              </a:rPr>
              <a:t>支持动画创建，可以代替动画图片、</a:t>
            </a:r>
            <a:r>
              <a:rPr lang="en-US" altLang="zh-CN" sz="2400" dirty="0" smtClean="0">
                <a:latin typeface="Monaco" panose="020B0509030404040204" pitchFamily="49" charset="0"/>
              </a:rPr>
              <a:t>Flash</a:t>
            </a:r>
            <a:r>
              <a:rPr lang="zh-CN" altLang="en-US" sz="2400" dirty="0" smtClean="0">
                <a:latin typeface="Monaco" panose="020B0509030404040204" pitchFamily="49" charset="0"/>
              </a:rPr>
              <a:t>以及部分</a:t>
            </a:r>
            <a:r>
              <a:rPr lang="en-US" altLang="zh-CN" sz="2400" dirty="0" smtClean="0">
                <a:latin typeface="Monaco" panose="020B0509030404040204" pitchFamily="49" charset="0"/>
              </a:rPr>
              <a:t>JavaScript</a:t>
            </a:r>
            <a:r>
              <a:rPr lang="zh-CN" altLang="en-US" sz="2400" dirty="0" smtClean="0">
                <a:latin typeface="Monaco" panose="020B0509030404040204" pitchFamily="49" charset="0"/>
              </a:rPr>
              <a:t>动态效果。相比较</a:t>
            </a:r>
            <a:r>
              <a:rPr lang="zh-CN" altLang="en-US" sz="2400" dirty="0">
                <a:latin typeface="Monaco" panose="020B0509030404040204" pitchFamily="49" charset="0"/>
              </a:rPr>
              <a:t>过渡，动画可以实现更多变化，更多控制，连续自动播放等效果。</a:t>
            </a:r>
            <a:endParaRPr lang="en-US" altLang="zh-CN" sz="1600" dirty="0" smtClean="0">
              <a:latin typeface="Monaco" panose="020B0509030404040204" pitchFamily="49" charset="0"/>
            </a:endParaRPr>
          </a:p>
        </p:txBody>
      </p:sp>
    </p:spTree>
    <p:extLst>
      <p:ext uri="{BB962C8B-B14F-4D97-AF65-F5344CB8AC3E}">
        <p14:creationId xmlns:p14="http://schemas.microsoft.com/office/powerpoint/2010/main" val="11889782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动画</a:t>
            </a:r>
          </a:p>
        </p:txBody>
      </p:sp>
      <p:sp>
        <p:nvSpPr>
          <p:cNvPr id="5" name="矩形 4"/>
          <p:cNvSpPr/>
          <p:nvPr/>
        </p:nvSpPr>
        <p:spPr>
          <a:xfrm>
            <a:off x="866318" y="1390546"/>
            <a:ext cx="9848850" cy="507127"/>
          </a:xfrm>
          <a:prstGeom prst="rect">
            <a:avLst/>
          </a:prstGeom>
        </p:spPr>
        <p:txBody>
          <a:bodyPr wrap="square">
            <a:spAutoFit/>
          </a:bodyPr>
          <a:lstStyle/>
          <a:p>
            <a:pPr>
              <a:lnSpc>
                <a:spcPct val="150000"/>
              </a:lnSpc>
            </a:pPr>
            <a:r>
              <a:rPr lang="en-US" altLang="zh-CN" sz="2000" b="1" dirty="0" smtClean="0"/>
              <a:t>1</a:t>
            </a:r>
            <a:r>
              <a:rPr lang="zh-CN" altLang="en-US" sz="2000" b="1" dirty="0" smtClean="0"/>
              <a:t>、动画</a:t>
            </a:r>
            <a:r>
              <a:rPr lang="zh-CN" altLang="en-US" sz="2000" b="1" dirty="0"/>
              <a:t>的基本使用</a:t>
            </a:r>
            <a:endParaRPr lang="en-US" altLang="zh-CN" sz="1400" dirty="0" smtClean="0"/>
          </a:p>
        </p:txBody>
      </p:sp>
      <p:sp>
        <p:nvSpPr>
          <p:cNvPr id="3" name="矩形 2"/>
          <p:cNvSpPr/>
          <p:nvPr/>
        </p:nvSpPr>
        <p:spPr>
          <a:xfrm>
            <a:off x="1208059" y="1858652"/>
            <a:ext cx="6096000" cy="1338828"/>
          </a:xfrm>
          <a:prstGeom prst="rect">
            <a:avLst/>
          </a:prstGeom>
        </p:spPr>
        <p:txBody>
          <a:bodyPr>
            <a:spAutoFit/>
          </a:bodyPr>
          <a:lstStyle/>
          <a:p>
            <a:pPr>
              <a:lnSpc>
                <a:spcPct val="150000"/>
              </a:lnSpc>
            </a:pPr>
            <a:r>
              <a:rPr lang="zh-CN" altLang="en-US" dirty="0"/>
              <a:t>制作动画分为两步：</a:t>
            </a:r>
          </a:p>
          <a:p>
            <a:pPr>
              <a:lnSpc>
                <a:spcPct val="150000"/>
              </a:lnSpc>
            </a:pPr>
            <a:r>
              <a:rPr lang="en-US" altLang="zh-CN" dirty="0"/>
              <a:t>1</a:t>
            </a:r>
            <a:r>
              <a:rPr lang="en-US" altLang="zh-CN" dirty="0" smtClean="0"/>
              <a:t>. </a:t>
            </a:r>
            <a:r>
              <a:rPr lang="zh-CN" altLang="en-US" dirty="0" smtClean="0"/>
              <a:t>先</a:t>
            </a:r>
            <a:r>
              <a:rPr lang="zh-CN" altLang="en-US" dirty="0"/>
              <a:t>定义动画</a:t>
            </a:r>
          </a:p>
          <a:p>
            <a:pPr>
              <a:lnSpc>
                <a:spcPct val="150000"/>
              </a:lnSpc>
            </a:pPr>
            <a:r>
              <a:rPr lang="en-US" altLang="zh-CN" dirty="0"/>
              <a:t>2</a:t>
            </a:r>
            <a:r>
              <a:rPr lang="en-US" altLang="zh-CN" dirty="0" smtClean="0"/>
              <a:t>. </a:t>
            </a:r>
            <a:r>
              <a:rPr lang="zh-CN" altLang="en-US" dirty="0" smtClean="0"/>
              <a:t>再</a:t>
            </a:r>
            <a:r>
              <a:rPr lang="zh-CN" altLang="en-US" dirty="0"/>
              <a:t>使用（调用）动画</a:t>
            </a:r>
          </a:p>
        </p:txBody>
      </p:sp>
      <p:sp>
        <p:nvSpPr>
          <p:cNvPr id="6" name="矩形 5"/>
          <p:cNvSpPr/>
          <p:nvPr/>
        </p:nvSpPr>
        <p:spPr>
          <a:xfrm>
            <a:off x="1196918" y="3233564"/>
            <a:ext cx="5562741" cy="400110"/>
          </a:xfrm>
          <a:prstGeom prst="rect">
            <a:avLst/>
          </a:prstGeom>
        </p:spPr>
        <p:txBody>
          <a:bodyPr wrap="none">
            <a:spAutoFit/>
          </a:bodyPr>
          <a:lstStyle/>
          <a:p>
            <a:pPr marL="342900" indent="-342900">
              <a:buFont typeface="+mj-ea"/>
              <a:buAutoNum type="circleNumDbPlain"/>
            </a:pPr>
            <a:r>
              <a:rPr lang="zh-CN" altLang="en-US" sz="2000" dirty="0" smtClean="0"/>
              <a:t>用</a:t>
            </a:r>
            <a:r>
              <a:rPr lang="en-US" altLang="zh-CN" sz="2000" dirty="0" err="1"/>
              <a:t>keyframes</a:t>
            </a:r>
            <a:r>
              <a:rPr lang="en-US" altLang="zh-CN" sz="2000" dirty="0"/>
              <a:t> </a:t>
            </a:r>
            <a:r>
              <a:rPr lang="zh-CN" altLang="en-US" sz="2000" dirty="0"/>
              <a:t>定义动画（类似定义类选择器）</a:t>
            </a:r>
          </a:p>
        </p:txBody>
      </p:sp>
      <p:pic>
        <p:nvPicPr>
          <p:cNvPr id="7" name="图片 6"/>
          <p:cNvPicPr>
            <a:picLocks noChangeAspect="1"/>
          </p:cNvPicPr>
          <p:nvPr/>
        </p:nvPicPr>
        <p:blipFill>
          <a:blip r:embed="rId3"/>
          <a:stretch>
            <a:fillRect/>
          </a:stretch>
        </p:blipFill>
        <p:spPr>
          <a:xfrm>
            <a:off x="1208058" y="3711949"/>
            <a:ext cx="3344891" cy="3071616"/>
          </a:xfrm>
          <a:prstGeom prst="rect">
            <a:avLst/>
          </a:prstGeom>
        </p:spPr>
      </p:pic>
    </p:spTree>
    <p:extLst>
      <p:ext uri="{BB962C8B-B14F-4D97-AF65-F5344CB8AC3E}">
        <p14:creationId xmlns:p14="http://schemas.microsoft.com/office/powerpoint/2010/main" val="8600077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动画</a:t>
            </a:r>
          </a:p>
        </p:txBody>
      </p:sp>
      <p:sp>
        <p:nvSpPr>
          <p:cNvPr id="2" name="矩形 1"/>
          <p:cNvSpPr/>
          <p:nvPr/>
        </p:nvSpPr>
        <p:spPr>
          <a:xfrm>
            <a:off x="795866" y="1397787"/>
            <a:ext cx="11396133" cy="2169825"/>
          </a:xfrm>
          <a:prstGeom prst="rect">
            <a:avLst/>
          </a:prstGeom>
        </p:spPr>
        <p:txBody>
          <a:bodyPr wrap="square">
            <a:spAutoFit/>
          </a:bodyPr>
          <a:lstStyle/>
          <a:p>
            <a:pPr>
              <a:lnSpc>
                <a:spcPct val="150000"/>
              </a:lnSpc>
            </a:pPr>
            <a:r>
              <a:rPr lang="zh-CN" altLang="en-US" b="1" dirty="0"/>
              <a:t>动画序列</a:t>
            </a:r>
          </a:p>
          <a:p>
            <a:pPr>
              <a:lnSpc>
                <a:spcPct val="150000"/>
              </a:lnSpc>
            </a:pPr>
            <a:r>
              <a:rPr lang="zh-CN" altLang="en-US" dirty="0"/>
              <a:t> </a:t>
            </a:r>
            <a:r>
              <a:rPr lang="en-US" altLang="zh-CN" dirty="0"/>
              <a:t>0% </a:t>
            </a:r>
            <a:r>
              <a:rPr lang="zh-CN" altLang="en-US" dirty="0"/>
              <a:t>是动画的</a:t>
            </a:r>
            <a:r>
              <a:rPr lang="zh-CN" altLang="en-US" b="1" dirty="0">
                <a:solidFill>
                  <a:schemeClr val="accent2"/>
                </a:solidFill>
              </a:rPr>
              <a:t>开始</a:t>
            </a:r>
            <a:r>
              <a:rPr lang="zh-CN" altLang="en-US" dirty="0"/>
              <a:t>，</a:t>
            </a:r>
            <a:r>
              <a:rPr lang="en-US" altLang="zh-CN" dirty="0"/>
              <a:t>100% </a:t>
            </a:r>
            <a:r>
              <a:rPr lang="zh-CN" altLang="en-US" dirty="0"/>
              <a:t>是动画的</a:t>
            </a:r>
            <a:r>
              <a:rPr lang="zh-CN" altLang="en-US" b="1" dirty="0">
                <a:solidFill>
                  <a:schemeClr val="accent2"/>
                </a:solidFill>
              </a:rPr>
              <a:t>完成</a:t>
            </a:r>
            <a:r>
              <a:rPr lang="zh-CN" altLang="en-US" dirty="0"/>
              <a:t>。这样的规则就是动画序列。</a:t>
            </a:r>
          </a:p>
          <a:p>
            <a:pPr>
              <a:lnSpc>
                <a:spcPct val="150000"/>
              </a:lnSpc>
            </a:pPr>
            <a:r>
              <a:rPr lang="zh-CN" altLang="en-US" dirty="0"/>
              <a:t> 在 </a:t>
            </a:r>
            <a:r>
              <a:rPr lang="en-US" altLang="zh-CN" b="1" dirty="0">
                <a:solidFill>
                  <a:schemeClr val="accent2"/>
                </a:solidFill>
              </a:rPr>
              <a:t>@</a:t>
            </a:r>
            <a:r>
              <a:rPr lang="en-US" altLang="zh-CN" b="1" dirty="0" err="1">
                <a:solidFill>
                  <a:schemeClr val="accent2"/>
                </a:solidFill>
              </a:rPr>
              <a:t>keyframes</a:t>
            </a:r>
            <a:r>
              <a:rPr lang="en-US" altLang="zh-CN" b="1" dirty="0">
                <a:solidFill>
                  <a:schemeClr val="accent2"/>
                </a:solidFill>
              </a:rPr>
              <a:t> </a:t>
            </a:r>
            <a:r>
              <a:rPr lang="zh-CN" altLang="en-US" dirty="0"/>
              <a:t>中规定某项 </a:t>
            </a:r>
            <a:r>
              <a:rPr lang="en-US" altLang="zh-CN" dirty="0"/>
              <a:t>CSS </a:t>
            </a:r>
            <a:r>
              <a:rPr lang="zh-CN" altLang="en-US" dirty="0"/>
              <a:t>样式，就能创建由当前样式逐渐改为新样式的动画效果。</a:t>
            </a:r>
          </a:p>
          <a:p>
            <a:pPr>
              <a:lnSpc>
                <a:spcPct val="150000"/>
              </a:lnSpc>
            </a:pPr>
            <a:r>
              <a:rPr lang="zh-CN" altLang="en-US" dirty="0"/>
              <a:t> 动画是使元素从一种样式逐渐变化为另一种样式的效果。您可以改变任意多的样式任意多的</a:t>
            </a:r>
            <a:r>
              <a:rPr lang="zh-CN" altLang="en-US" b="1" dirty="0">
                <a:solidFill>
                  <a:schemeClr val="accent2"/>
                </a:solidFill>
              </a:rPr>
              <a:t>次数</a:t>
            </a:r>
            <a:r>
              <a:rPr lang="zh-CN" altLang="en-US" dirty="0"/>
              <a:t>。</a:t>
            </a:r>
          </a:p>
          <a:p>
            <a:pPr>
              <a:lnSpc>
                <a:spcPct val="150000"/>
              </a:lnSpc>
            </a:pPr>
            <a:r>
              <a:rPr lang="zh-CN" altLang="en-US" dirty="0"/>
              <a:t> 请用百分比来规定变化发生的时间，或用关键词 </a:t>
            </a:r>
            <a:r>
              <a:rPr lang="en-US" altLang="zh-CN" dirty="0"/>
              <a:t>"</a:t>
            </a:r>
            <a:r>
              <a:rPr lang="en-US" altLang="zh-CN" b="1" dirty="0">
                <a:solidFill>
                  <a:schemeClr val="accent2"/>
                </a:solidFill>
              </a:rPr>
              <a:t>from</a:t>
            </a:r>
            <a:r>
              <a:rPr lang="en-US" altLang="zh-CN" dirty="0"/>
              <a:t>" </a:t>
            </a:r>
            <a:r>
              <a:rPr lang="zh-CN" altLang="en-US" dirty="0"/>
              <a:t>和 </a:t>
            </a:r>
            <a:r>
              <a:rPr lang="en-US" altLang="zh-CN" dirty="0"/>
              <a:t>"</a:t>
            </a:r>
            <a:r>
              <a:rPr lang="en-US" altLang="zh-CN" b="1" dirty="0">
                <a:solidFill>
                  <a:schemeClr val="accent2"/>
                </a:solidFill>
              </a:rPr>
              <a:t>to</a:t>
            </a:r>
            <a:r>
              <a:rPr lang="en-US" altLang="zh-CN" dirty="0"/>
              <a:t>"</a:t>
            </a:r>
            <a:r>
              <a:rPr lang="zh-CN" altLang="en-US" dirty="0"/>
              <a:t>，等同于 </a:t>
            </a:r>
            <a:r>
              <a:rPr lang="en-US" altLang="zh-CN" b="1" dirty="0">
                <a:solidFill>
                  <a:schemeClr val="accent2"/>
                </a:solidFill>
              </a:rPr>
              <a:t>0%</a:t>
            </a:r>
            <a:r>
              <a:rPr lang="en-US" altLang="zh-CN" dirty="0"/>
              <a:t> </a:t>
            </a:r>
            <a:r>
              <a:rPr lang="zh-CN" altLang="en-US" dirty="0"/>
              <a:t>和 </a:t>
            </a:r>
            <a:r>
              <a:rPr lang="en-US" altLang="zh-CN" b="1" dirty="0">
                <a:solidFill>
                  <a:schemeClr val="accent2"/>
                </a:solidFill>
              </a:rPr>
              <a:t>100%</a:t>
            </a:r>
            <a:r>
              <a:rPr lang="zh-CN" altLang="en-US" dirty="0"/>
              <a:t>。</a:t>
            </a:r>
          </a:p>
        </p:txBody>
      </p:sp>
      <p:pic>
        <p:nvPicPr>
          <p:cNvPr id="8" name="图片 7"/>
          <p:cNvPicPr>
            <a:picLocks noChangeAspect="1"/>
          </p:cNvPicPr>
          <p:nvPr/>
        </p:nvPicPr>
        <p:blipFill>
          <a:blip r:embed="rId3"/>
          <a:stretch>
            <a:fillRect/>
          </a:stretch>
        </p:blipFill>
        <p:spPr>
          <a:xfrm>
            <a:off x="3526824" y="3870419"/>
            <a:ext cx="4970558" cy="2851056"/>
          </a:xfrm>
          <a:prstGeom prst="rect">
            <a:avLst/>
          </a:prstGeom>
        </p:spPr>
      </p:pic>
      <p:pic>
        <p:nvPicPr>
          <p:cNvPr id="10" name="图片 9"/>
          <p:cNvPicPr>
            <a:picLocks noChangeAspect="1"/>
          </p:cNvPicPr>
          <p:nvPr/>
        </p:nvPicPr>
        <p:blipFill>
          <a:blip r:embed="rId4"/>
          <a:stretch>
            <a:fillRect/>
          </a:stretch>
        </p:blipFill>
        <p:spPr>
          <a:xfrm>
            <a:off x="1026511" y="3682681"/>
            <a:ext cx="1743075" cy="485775"/>
          </a:xfrm>
          <a:prstGeom prst="rect">
            <a:avLst/>
          </a:prstGeom>
        </p:spPr>
      </p:pic>
      <p:pic>
        <p:nvPicPr>
          <p:cNvPr id="12" name="图片 11"/>
          <p:cNvPicPr>
            <a:picLocks noChangeAspect="1"/>
          </p:cNvPicPr>
          <p:nvPr/>
        </p:nvPicPr>
        <p:blipFill>
          <a:blip r:embed="rId5"/>
          <a:stretch>
            <a:fillRect/>
          </a:stretch>
        </p:blipFill>
        <p:spPr>
          <a:xfrm>
            <a:off x="1026511" y="4636308"/>
            <a:ext cx="1905000" cy="409575"/>
          </a:xfrm>
          <a:prstGeom prst="rect">
            <a:avLst/>
          </a:prstGeom>
        </p:spPr>
      </p:pic>
      <p:pic>
        <p:nvPicPr>
          <p:cNvPr id="14" name="图片 13"/>
          <p:cNvPicPr>
            <a:picLocks noChangeAspect="1"/>
          </p:cNvPicPr>
          <p:nvPr/>
        </p:nvPicPr>
        <p:blipFill>
          <a:blip r:embed="rId6"/>
          <a:stretch>
            <a:fillRect/>
          </a:stretch>
        </p:blipFill>
        <p:spPr>
          <a:xfrm>
            <a:off x="1026511" y="5646941"/>
            <a:ext cx="1924050" cy="552450"/>
          </a:xfrm>
          <a:prstGeom prst="rect">
            <a:avLst/>
          </a:prstGeom>
        </p:spPr>
      </p:pic>
      <p:pic>
        <p:nvPicPr>
          <p:cNvPr id="16" name="图片 15"/>
          <p:cNvPicPr>
            <a:picLocks noChangeAspect="1"/>
          </p:cNvPicPr>
          <p:nvPr/>
        </p:nvPicPr>
        <p:blipFill>
          <a:blip r:embed="rId7"/>
          <a:stretch>
            <a:fillRect/>
          </a:stretch>
        </p:blipFill>
        <p:spPr>
          <a:xfrm>
            <a:off x="9634008" y="3596430"/>
            <a:ext cx="1828800" cy="561975"/>
          </a:xfrm>
          <a:prstGeom prst="rect">
            <a:avLst/>
          </a:prstGeom>
        </p:spPr>
      </p:pic>
      <p:pic>
        <p:nvPicPr>
          <p:cNvPr id="18" name="图片 17"/>
          <p:cNvPicPr>
            <a:picLocks noChangeAspect="1"/>
          </p:cNvPicPr>
          <p:nvPr/>
        </p:nvPicPr>
        <p:blipFill>
          <a:blip r:embed="rId8"/>
          <a:stretch>
            <a:fillRect/>
          </a:stretch>
        </p:blipFill>
        <p:spPr>
          <a:xfrm>
            <a:off x="9634008" y="5219411"/>
            <a:ext cx="1914525" cy="552450"/>
          </a:xfrm>
          <a:prstGeom prst="rect">
            <a:avLst/>
          </a:prstGeom>
        </p:spPr>
      </p:pic>
      <p:cxnSp>
        <p:nvCxnSpPr>
          <p:cNvPr id="20" name="直接箭头连接符 19"/>
          <p:cNvCxnSpPr>
            <a:stCxn id="16" idx="1"/>
          </p:cNvCxnSpPr>
          <p:nvPr/>
        </p:nvCxnSpPr>
        <p:spPr>
          <a:xfrm flipH="1">
            <a:off x="8108433" y="3877418"/>
            <a:ext cx="1525575" cy="801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8108432" y="5522456"/>
            <a:ext cx="1525575" cy="801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0" idx="3"/>
          </p:cNvCxnSpPr>
          <p:nvPr/>
        </p:nvCxnSpPr>
        <p:spPr>
          <a:xfrm>
            <a:off x="2769586" y="3925569"/>
            <a:ext cx="938213" cy="62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2" idx="3"/>
          </p:cNvCxnSpPr>
          <p:nvPr/>
        </p:nvCxnSpPr>
        <p:spPr>
          <a:xfrm flipV="1">
            <a:off x="2931511" y="4636308"/>
            <a:ext cx="747713" cy="2047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4" idx="3"/>
          </p:cNvCxnSpPr>
          <p:nvPr/>
        </p:nvCxnSpPr>
        <p:spPr>
          <a:xfrm>
            <a:off x="2950561" y="5923166"/>
            <a:ext cx="919163" cy="276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30797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动画</a:t>
            </a:r>
          </a:p>
        </p:txBody>
      </p:sp>
      <p:sp>
        <p:nvSpPr>
          <p:cNvPr id="5" name="矩形 4"/>
          <p:cNvSpPr/>
          <p:nvPr/>
        </p:nvSpPr>
        <p:spPr>
          <a:xfrm>
            <a:off x="795867" y="1459889"/>
            <a:ext cx="9848850" cy="507127"/>
          </a:xfrm>
          <a:prstGeom prst="rect">
            <a:avLst/>
          </a:prstGeom>
        </p:spPr>
        <p:txBody>
          <a:bodyPr wrap="square">
            <a:spAutoFit/>
          </a:bodyPr>
          <a:lstStyle/>
          <a:p>
            <a:pPr marL="342900" indent="-342900">
              <a:lnSpc>
                <a:spcPct val="150000"/>
              </a:lnSpc>
              <a:buFont typeface="+mj-ea"/>
              <a:buAutoNum type="circleNumDbPlain" startAt="2"/>
            </a:pPr>
            <a:r>
              <a:rPr lang="zh-CN" altLang="en-US" sz="2000" b="1" dirty="0" smtClean="0"/>
              <a:t>元素</a:t>
            </a:r>
            <a:r>
              <a:rPr lang="zh-CN" altLang="en-US" sz="2000" b="1" dirty="0"/>
              <a:t>使用动画</a:t>
            </a:r>
            <a:endParaRPr lang="en-US" altLang="zh-CN" sz="1400" dirty="0" smtClean="0"/>
          </a:p>
        </p:txBody>
      </p:sp>
      <p:pic>
        <p:nvPicPr>
          <p:cNvPr id="2" name="图片 1"/>
          <p:cNvPicPr>
            <a:picLocks noChangeAspect="1"/>
          </p:cNvPicPr>
          <p:nvPr/>
        </p:nvPicPr>
        <p:blipFill>
          <a:blip r:embed="rId3"/>
          <a:stretch>
            <a:fillRect/>
          </a:stretch>
        </p:blipFill>
        <p:spPr>
          <a:xfrm>
            <a:off x="877958" y="2305174"/>
            <a:ext cx="5236001" cy="4032188"/>
          </a:xfrm>
          <a:prstGeom prst="rect">
            <a:avLst/>
          </a:prstGeom>
        </p:spPr>
      </p:pic>
    </p:spTree>
    <p:extLst>
      <p:ext uri="{BB962C8B-B14F-4D97-AF65-F5344CB8AC3E}">
        <p14:creationId xmlns:p14="http://schemas.microsoft.com/office/powerpoint/2010/main" val="307475601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动画</a:t>
            </a:r>
          </a:p>
        </p:txBody>
      </p:sp>
      <p:sp>
        <p:nvSpPr>
          <p:cNvPr id="5" name="矩形 4"/>
          <p:cNvSpPr/>
          <p:nvPr/>
        </p:nvSpPr>
        <p:spPr>
          <a:xfrm>
            <a:off x="795867" y="1332225"/>
            <a:ext cx="9848850" cy="559769"/>
          </a:xfrm>
          <a:prstGeom prst="rect">
            <a:avLst/>
          </a:prstGeom>
        </p:spPr>
        <p:txBody>
          <a:bodyPr wrap="square">
            <a:spAutoFit/>
          </a:bodyPr>
          <a:lstStyle/>
          <a:p>
            <a:pPr>
              <a:lnSpc>
                <a:spcPct val="150000"/>
              </a:lnSpc>
            </a:pPr>
            <a:r>
              <a:rPr lang="en-US" altLang="zh-CN" sz="2400" b="1" dirty="0" smtClean="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、动画常用属性</a:t>
            </a:r>
            <a:endParaRPr lang="en-US" altLang="zh-CN" sz="1600" dirty="0" smtClean="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937403" y="1978556"/>
            <a:ext cx="7758232" cy="4742919"/>
          </a:xfrm>
          <a:prstGeom prst="rect">
            <a:avLst/>
          </a:prstGeom>
        </p:spPr>
      </p:pic>
    </p:spTree>
    <p:extLst>
      <p:ext uri="{BB962C8B-B14F-4D97-AF65-F5344CB8AC3E}">
        <p14:creationId xmlns:p14="http://schemas.microsoft.com/office/powerpoint/2010/main" val="152113972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动画</a:t>
            </a:r>
          </a:p>
        </p:txBody>
      </p:sp>
      <p:sp>
        <p:nvSpPr>
          <p:cNvPr id="5" name="矩形 4"/>
          <p:cNvSpPr/>
          <p:nvPr/>
        </p:nvSpPr>
        <p:spPr>
          <a:xfrm>
            <a:off x="795866" y="1314854"/>
            <a:ext cx="9848850" cy="559769"/>
          </a:xfrm>
          <a:prstGeom prst="rect">
            <a:avLst/>
          </a:prstGeom>
        </p:spPr>
        <p:txBody>
          <a:bodyPr wrap="square">
            <a:spAutoFit/>
          </a:bodyPr>
          <a:lstStyle/>
          <a:p>
            <a:pPr>
              <a:lnSpc>
                <a:spcPct val="150000"/>
              </a:lnSpc>
            </a:pPr>
            <a:r>
              <a:rPr lang="en-US" altLang="zh-CN" sz="2400" b="1" dirty="0" smtClean="0">
                <a:latin typeface="宋体" panose="02010600030101010101" pitchFamily="2" charset="-122"/>
                <a:ea typeface="宋体" panose="02010600030101010101" pitchFamily="2" charset="-122"/>
              </a:rPr>
              <a:t>3</a:t>
            </a:r>
            <a:r>
              <a:rPr lang="zh-CN" altLang="en-US" sz="2400" b="1" dirty="0" smtClean="0">
                <a:latin typeface="宋体" panose="02010600030101010101" pitchFamily="2" charset="-122"/>
                <a:ea typeface="宋体" panose="02010600030101010101" pitchFamily="2" charset="-122"/>
              </a:rPr>
              <a:t>、动画简写属性</a:t>
            </a:r>
            <a:endParaRPr lang="en-US" altLang="zh-CN" sz="1600" dirty="0" smtClean="0">
              <a:latin typeface="宋体" panose="02010600030101010101" pitchFamily="2" charset="-122"/>
              <a:ea typeface="宋体" panose="02010600030101010101" pitchFamily="2" charset="-122"/>
            </a:endParaRPr>
          </a:p>
        </p:txBody>
      </p:sp>
      <p:sp>
        <p:nvSpPr>
          <p:cNvPr id="3" name="矩形 2"/>
          <p:cNvSpPr/>
          <p:nvPr/>
        </p:nvSpPr>
        <p:spPr>
          <a:xfrm>
            <a:off x="476250" y="2034865"/>
            <a:ext cx="11544300" cy="400110"/>
          </a:xfrm>
          <a:prstGeom prst="rect">
            <a:avLst/>
          </a:prstGeom>
        </p:spPr>
        <p:txBody>
          <a:bodyPr wrap="square">
            <a:spAutoFit/>
          </a:bodyPr>
          <a:lstStyle/>
          <a:p>
            <a:r>
              <a:rPr lang="en-US" altLang="zh-CN" sz="2000" dirty="0">
                <a:latin typeface="Monaco" panose="020B0509030404040204" pitchFamily="49" charset="0"/>
              </a:rPr>
              <a:t>animation</a:t>
            </a:r>
            <a:r>
              <a:rPr lang="zh-CN" altLang="en-US" sz="2000" dirty="0"/>
              <a:t>：动画名称 持续时间 运动曲线 何时开始 播放次数 是否反方向 动画起始或者结束的状态</a:t>
            </a:r>
            <a:r>
              <a:rPr lang="en-US" altLang="zh-CN" sz="2000" dirty="0"/>
              <a:t>;</a:t>
            </a:r>
            <a:endParaRPr lang="zh-CN" altLang="en-US" sz="2000" dirty="0"/>
          </a:p>
        </p:txBody>
      </p:sp>
      <p:pic>
        <p:nvPicPr>
          <p:cNvPr id="6" name="图片 5"/>
          <p:cNvPicPr>
            <a:picLocks noChangeAspect="1"/>
          </p:cNvPicPr>
          <p:nvPr/>
        </p:nvPicPr>
        <p:blipFill>
          <a:blip r:embed="rId3"/>
          <a:stretch>
            <a:fillRect/>
          </a:stretch>
        </p:blipFill>
        <p:spPr>
          <a:xfrm>
            <a:off x="520121" y="2756321"/>
            <a:ext cx="8007598" cy="574708"/>
          </a:xfrm>
          <a:prstGeom prst="rect">
            <a:avLst/>
          </a:prstGeom>
        </p:spPr>
      </p:pic>
      <p:sp>
        <p:nvSpPr>
          <p:cNvPr id="7" name="矩形 6"/>
          <p:cNvSpPr/>
          <p:nvPr/>
        </p:nvSpPr>
        <p:spPr>
          <a:xfrm>
            <a:off x="652991" y="3385382"/>
            <a:ext cx="10123101" cy="2554545"/>
          </a:xfrm>
          <a:prstGeom prst="rect">
            <a:avLst/>
          </a:prstGeom>
        </p:spPr>
        <p:txBody>
          <a:bodyPr wrap="square">
            <a:spAutoFit/>
          </a:bodyPr>
          <a:lstStyle/>
          <a:p>
            <a:pPr>
              <a:lnSpc>
                <a:spcPct val="200000"/>
              </a:lnSpc>
            </a:pPr>
            <a:r>
              <a:rPr lang="zh-CN" altLang="en-US" sz="2000" dirty="0">
                <a:latin typeface="Monaco" panose="020B0509030404040204" pitchFamily="49" charset="0"/>
              </a:rPr>
              <a:t> 简写属性里面不包含 </a:t>
            </a:r>
            <a:r>
              <a:rPr lang="en-US" altLang="zh-CN" sz="2000" dirty="0">
                <a:latin typeface="Monaco" panose="020B0509030404040204" pitchFamily="49" charset="0"/>
              </a:rPr>
              <a:t>animation-play-state</a:t>
            </a:r>
          </a:p>
          <a:p>
            <a:pPr>
              <a:lnSpc>
                <a:spcPct val="200000"/>
              </a:lnSpc>
            </a:pPr>
            <a:r>
              <a:rPr lang="en-US" altLang="zh-CN" sz="2000" dirty="0">
                <a:latin typeface="Monaco" panose="020B0509030404040204" pitchFamily="49" charset="0"/>
              </a:rPr>
              <a:t> </a:t>
            </a:r>
            <a:r>
              <a:rPr lang="zh-CN" altLang="en-US" sz="2000" dirty="0">
                <a:latin typeface="Monaco" panose="020B0509030404040204" pitchFamily="49" charset="0"/>
              </a:rPr>
              <a:t>暂停动画：</a:t>
            </a:r>
            <a:r>
              <a:rPr lang="en-US" altLang="zh-CN" sz="2000" dirty="0">
                <a:latin typeface="Monaco" panose="020B0509030404040204" pitchFamily="49" charset="0"/>
              </a:rPr>
              <a:t>animation-play-state: </a:t>
            </a:r>
            <a:r>
              <a:rPr lang="en-US" altLang="zh-CN" sz="2000" dirty="0" err="1">
                <a:latin typeface="Monaco" panose="020B0509030404040204" pitchFamily="49" charset="0"/>
              </a:rPr>
              <a:t>puased</a:t>
            </a:r>
            <a:r>
              <a:rPr lang="en-US" altLang="zh-CN" sz="2000" dirty="0">
                <a:latin typeface="Monaco" panose="020B0509030404040204" pitchFamily="49" charset="0"/>
              </a:rPr>
              <a:t>; </a:t>
            </a:r>
            <a:r>
              <a:rPr lang="zh-CN" altLang="en-US" sz="2000" dirty="0">
                <a:latin typeface="Monaco" panose="020B0509030404040204" pitchFamily="49" charset="0"/>
              </a:rPr>
              <a:t>经常和鼠标经过等其他配合使用</a:t>
            </a:r>
          </a:p>
          <a:p>
            <a:pPr>
              <a:lnSpc>
                <a:spcPct val="200000"/>
              </a:lnSpc>
            </a:pPr>
            <a:r>
              <a:rPr lang="zh-CN" altLang="en-US" sz="2000" dirty="0">
                <a:latin typeface="Monaco" panose="020B0509030404040204" pitchFamily="49" charset="0"/>
              </a:rPr>
              <a:t> 想要动画走回来 ，而不是直接跳回来：</a:t>
            </a:r>
            <a:r>
              <a:rPr lang="en-US" altLang="zh-CN" sz="2000" dirty="0">
                <a:latin typeface="Monaco" panose="020B0509030404040204" pitchFamily="49" charset="0"/>
              </a:rPr>
              <a:t>animation-direction </a:t>
            </a:r>
            <a:r>
              <a:rPr lang="zh-CN" altLang="en-US" sz="2000" dirty="0" smtClean="0">
                <a:latin typeface="Monaco" panose="020B0509030404040204" pitchFamily="49" charset="0"/>
              </a:rPr>
              <a:t>：</a:t>
            </a:r>
            <a:r>
              <a:rPr lang="en-US" altLang="zh-CN" sz="2000" dirty="0" smtClean="0">
                <a:latin typeface="Monaco" panose="020B0509030404040204" pitchFamily="49" charset="0"/>
              </a:rPr>
              <a:t>alternate</a:t>
            </a:r>
            <a:endParaRPr lang="en-US" altLang="zh-CN" sz="2000" dirty="0">
              <a:latin typeface="Monaco" panose="020B0509030404040204" pitchFamily="49" charset="0"/>
            </a:endParaRPr>
          </a:p>
          <a:p>
            <a:pPr>
              <a:lnSpc>
                <a:spcPct val="200000"/>
              </a:lnSpc>
            </a:pPr>
            <a:r>
              <a:rPr lang="en-US" altLang="zh-CN" sz="2000" dirty="0">
                <a:latin typeface="Monaco" panose="020B0509030404040204" pitchFamily="49" charset="0"/>
              </a:rPr>
              <a:t> </a:t>
            </a:r>
            <a:r>
              <a:rPr lang="zh-CN" altLang="en-US" sz="2000" dirty="0" smtClean="0">
                <a:latin typeface="Monaco" panose="020B0509030404040204" pitchFamily="49" charset="0"/>
              </a:rPr>
              <a:t>想要动画</a:t>
            </a:r>
            <a:r>
              <a:rPr lang="zh-CN" altLang="en-US" sz="2000" dirty="0">
                <a:latin typeface="Monaco" panose="020B0509030404040204" pitchFamily="49" charset="0"/>
              </a:rPr>
              <a:t>结束后，停在结束位置： </a:t>
            </a:r>
            <a:r>
              <a:rPr lang="en-US" altLang="zh-CN" sz="2000" dirty="0">
                <a:latin typeface="Monaco" panose="020B0509030404040204" pitchFamily="49" charset="0"/>
              </a:rPr>
              <a:t>animation-fill-mode </a:t>
            </a:r>
            <a:r>
              <a:rPr lang="zh-CN" altLang="en-US" sz="2000" dirty="0" smtClean="0">
                <a:latin typeface="Monaco" panose="020B0509030404040204" pitchFamily="49" charset="0"/>
              </a:rPr>
              <a:t>：</a:t>
            </a:r>
            <a:r>
              <a:rPr lang="en-US" altLang="zh-CN" sz="2000" dirty="0" smtClean="0">
                <a:latin typeface="Monaco" panose="020B0509030404040204" pitchFamily="49" charset="0"/>
              </a:rPr>
              <a:t>forwards</a:t>
            </a:r>
            <a:endParaRPr lang="zh-CN" altLang="en-US" sz="2000" dirty="0">
              <a:latin typeface="Monaco" panose="020B0509030404040204" pitchFamily="49" charset="0"/>
            </a:endParaRPr>
          </a:p>
        </p:txBody>
      </p:sp>
    </p:spTree>
    <p:extLst>
      <p:ext uri="{BB962C8B-B14F-4D97-AF65-F5344CB8AC3E}">
        <p14:creationId xmlns:p14="http://schemas.microsoft.com/office/powerpoint/2010/main" val="730377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动画</a:t>
            </a:r>
          </a:p>
        </p:txBody>
      </p:sp>
      <p:sp>
        <p:nvSpPr>
          <p:cNvPr id="5" name="矩形 4"/>
          <p:cNvSpPr/>
          <p:nvPr/>
        </p:nvSpPr>
        <p:spPr>
          <a:xfrm>
            <a:off x="795867" y="1314854"/>
            <a:ext cx="9848850" cy="559769"/>
          </a:xfrm>
          <a:prstGeom prst="rect">
            <a:avLst/>
          </a:prstGeom>
        </p:spPr>
        <p:txBody>
          <a:bodyPr wrap="square">
            <a:spAutoFit/>
          </a:bodyPr>
          <a:lstStyle/>
          <a:p>
            <a:pPr>
              <a:lnSpc>
                <a:spcPct val="150000"/>
              </a:lnSpc>
            </a:pPr>
            <a:r>
              <a:rPr lang="en-US" altLang="zh-CN" sz="2400" b="1" dirty="0" smtClean="0">
                <a:latin typeface="宋体" panose="02010600030101010101" pitchFamily="2" charset="-122"/>
                <a:ea typeface="宋体" panose="02010600030101010101" pitchFamily="2" charset="-122"/>
              </a:rPr>
              <a:t>4</a:t>
            </a:r>
            <a:r>
              <a:rPr lang="zh-CN" altLang="en-US" sz="2400" b="1" dirty="0" smtClean="0">
                <a:latin typeface="宋体" panose="02010600030101010101" pitchFamily="2" charset="-122"/>
                <a:ea typeface="宋体" panose="02010600030101010101" pitchFamily="2" charset="-122"/>
              </a:rPr>
              <a:t>、速度</a:t>
            </a:r>
            <a:r>
              <a:rPr lang="zh-CN" altLang="en-US" sz="2400" b="1" dirty="0">
                <a:latin typeface="宋体" panose="02010600030101010101" pitchFamily="2" charset="-122"/>
                <a:ea typeface="宋体" panose="02010600030101010101" pitchFamily="2" charset="-122"/>
              </a:rPr>
              <a:t>曲线细节</a:t>
            </a:r>
            <a:endParaRPr lang="en-US" altLang="zh-CN" sz="1600" dirty="0" smtClean="0">
              <a:latin typeface="宋体" panose="02010600030101010101" pitchFamily="2" charset="-122"/>
              <a:ea typeface="宋体" panose="02010600030101010101" pitchFamily="2" charset="-122"/>
            </a:endParaRPr>
          </a:p>
        </p:txBody>
      </p:sp>
      <p:sp>
        <p:nvSpPr>
          <p:cNvPr id="3" name="矩形 2"/>
          <p:cNvSpPr/>
          <p:nvPr/>
        </p:nvSpPr>
        <p:spPr>
          <a:xfrm>
            <a:off x="795867" y="2110743"/>
            <a:ext cx="9625633" cy="400110"/>
          </a:xfrm>
          <a:prstGeom prst="rect">
            <a:avLst/>
          </a:prstGeom>
        </p:spPr>
        <p:txBody>
          <a:bodyPr wrap="square">
            <a:spAutoFit/>
          </a:bodyPr>
          <a:lstStyle/>
          <a:p>
            <a:r>
              <a:rPr lang="en-US" altLang="zh-CN" sz="2000" dirty="0">
                <a:latin typeface="Monaco" panose="020B0509030404040204" pitchFamily="49" charset="0"/>
              </a:rPr>
              <a:t>animation-timing-function</a:t>
            </a:r>
            <a:r>
              <a:rPr lang="zh-CN" altLang="en-US" sz="2000" dirty="0">
                <a:latin typeface="Monaco" panose="020B0509030404040204" pitchFamily="49" charset="0"/>
              </a:rPr>
              <a:t>：规定动画的速度曲线，默认是“</a:t>
            </a:r>
            <a:r>
              <a:rPr lang="en-US" altLang="zh-CN" sz="2000" dirty="0">
                <a:latin typeface="Monaco" panose="020B0509030404040204" pitchFamily="49" charset="0"/>
              </a:rPr>
              <a:t>ease”</a:t>
            </a:r>
            <a:endParaRPr lang="zh-CN" altLang="en-US" sz="2000" dirty="0">
              <a:latin typeface="Monaco" panose="020B0509030404040204" pitchFamily="49" charset="0"/>
            </a:endParaRPr>
          </a:p>
        </p:txBody>
      </p:sp>
      <p:pic>
        <p:nvPicPr>
          <p:cNvPr id="6" name="图片 5"/>
          <p:cNvPicPr>
            <a:picLocks noChangeAspect="1"/>
          </p:cNvPicPr>
          <p:nvPr/>
        </p:nvPicPr>
        <p:blipFill>
          <a:blip r:embed="rId3"/>
          <a:stretch>
            <a:fillRect/>
          </a:stretch>
        </p:blipFill>
        <p:spPr>
          <a:xfrm>
            <a:off x="903535" y="2660411"/>
            <a:ext cx="10202909" cy="3845164"/>
          </a:xfrm>
          <a:prstGeom prst="rect">
            <a:avLst/>
          </a:prstGeom>
        </p:spPr>
      </p:pic>
    </p:spTree>
    <p:extLst>
      <p:ext uri="{BB962C8B-B14F-4D97-AF65-F5344CB8AC3E}">
        <p14:creationId xmlns:p14="http://schemas.microsoft.com/office/powerpoint/2010/main" val="26349366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总结</a:t>
            </a:r>
          </a:p>
        </p:txBody>
      </p:sp>
      <p:sp>
        <p:nvSpPr>
          <p:cNvPr id="3" name="矩形 2"/>
          <p:cNvSpPr/>
          <p:nvPr/>
        </p:nvSpPr>
        <p:spPr>
          <a:xfrm>
            <a:off x="795866" y="1839084"/>
            <a:ext cx="10905067" cy="4524315"/>
          </a:xfrm>
          <a:prstGeom prst="rect">
            <a:avLst/>
          </a:prstGeom>
        </p:spPr>
        <p:txBody>
          <a:bodyPr wrap="square">
            <a:spAutoFit/>
          </a:bodyPr>
          <a:lstStyle/>
          <a:p>
            <a:pPr algn="just">
              <a:lnSpc>
                <a:spcPct val="150000"/>
              </a:lnSpc>
            </a:pPr>
            <a:r>
              <a:rPr lang="zh-CN" altLang="en-US" sz="2400" dirty="0" smtClean="0">
                <a:latin typeface="Monaco" panose="020B0509030404040204" pitchFamily="49" charset="0"/>
              </a:rPr>
              <a:t>利用</a:t>
            </a:r>
            <a:r>
              <a:rPr lang="en-US" altLang="zh-CN" sz="2400" dirty="0" smtClean="0">
                <a:latin typeface="Monaco" panose="020B0509030404040204" pitchFamily="49" charset="0"/>
              </a:rPr>
              <a:t>CSS3</a:t>
            </a:r>
            <a:r>
              <a:rPr lang="zh-CN" altLang="en-US" sz="2400" dirty="0" smtClean="0">
                <a:latin typeface="Monaco" panose="020B0509030404040204" pitchFamily="49" charset="0"/>
              </a:rPr>
              <a:t>可以实现很多图像处理软件、</a:t>
            </a:r>
            <a:r>
              <a:rPr lang="en-US" altLang="zh-CN" sz="2400" dirty="0" smtClean="0">
                <a:latin typeface="Monaco" panose="020B0509030404040204" pitchFamily="49" charset="0"/>
              </a:rPr>
              <a:t>Flash</a:t>
            </a:r>
            <a:r>
              <a:rPr lang="zh-CN" altLang="en-US" sz="2400" dirty="0" smtClean="0">
                <a:latin typeface="Monaco" panose="020B0509030404040204" pitchFamily="49" charset="0"/>
              </a:rPr>
              <a:t>和</a:t>
            </a:r>
            <a:r>
              <a:rPr lang="en-US" altLang="zh-CN" sz="2400" dirty="0" smtClean="0">
                <a:latin typeface="Monaco" panose="020B0509030404040204" pitchFamily="49" charset="0"/>
              </a:rPr>
              <a:t>JavaScript</a:t>
            </a:r>
            <a:r>
              <a:rPr lang="zh-CN" altLang="en-US" sz="2400" dirty="0" smtClean="0">
                <a:latin typeface="Monaco" panose="020B0509030404040204" pitchFamily="49" charset="0"/>
              </a:rPr>
              <a:t>才能完成的效果。</a:t>
            </a:r>
            <a:endParaRPr lang="en-US" altLang="zh-CN" sz="2400" dirty="0" smtClean="0">
              <a:latin typeface="Monaco" panose="020B0509030404040204" pitchFamily="49" charset="0"/>
            </a:endParaRPr>
          </a:p>
          <a:p>
            <a:pPr algn="just">
              <a:lnSpc>
                <a:spcPct val="150000"/>
              </a:lnSpc>
            </a:pPr>
            <a:endParaRPr lang="en-US" altLang="zh-CN" sz="2400" dirty="0" smtClean="0">
              <a:latin typeface="Monaco" panose="020B0509030404040204" pitchFamily="49" charset="0"/>
            </a:endParaRPr>
          </a:p>
          <a:p>
            <a:pPr algn="just">
              <a:lnSpc>
                <a:spcPct val="150000"/>
              </a:lnSpc>
            </a:pPr>
            <a:r>
              <a:rPr lang="zh-CN" altLang="en-US" sz="2400" dirty="0" smtClean="0">
                <a:latin typeface="Monaco" panose="020B0509030404040204" pitchFamily="49" charset="0"/>
              </a:rPr>
              <a:t>可以通过</a:t>
            </a:r>
            <a:r>
              <a:rPr lang="en-US" altLang="zh-CN" sz="2400" dirty="0" smtClean="0">
                <a:latin typeface="Monaco" panose="020B0509030404040204" pitchFamily="49" charset="0"/>
              </a:rPr>
              <a:t>border-radius</a:t>
            </a:r>
            <a:r>
              <a:rPr lang="zh-CN" altLang="en-US" sz="2400" dirty="0" smtClean="0">
                <a:latin typeface="Monaco" panose="020B0509030404040204" pitchFamily="49" charset="0"/>
              </a:rPr>
              <a:t>设置圆角边框；</a:t>
            </a:r>
            <a:r>
              <a:rPr lang="en-US" altLang="zh-CN" sz="2400" dirty="0" smtClean="0">
                <a:latin typeface="Monaco" panose="020B0509030404040204" pitchFamily="49" charset="0"/>
              </a:rPr>
              <a:t>box-shadow</a:t>
            </a:r>
            <a:r>
              <a:rPr lang="zh-CN" altLang="en-US" sz="2400" dirty="0" smtClean="0">
                <a:latin typeface="Monaco" panose="020B0509030404040204" pitchFamily="49" charset="0"/>
              </a:rPr>
              <a:t>设置阴影效果；</a:t>
            </a:r>
            <a:r>
              <a:rPr lang="en-US" altLang="zh-CN" sz="2400" dirty="0" smtClean="0">
                <a:latin typeface="Monaco" panose="020B0509030404040204" pitchFamily="49" charset="0"/>
              </a:rPr>
              <a:t>text-shadow</a:t>
            </a:r>
            <a:r>
              <a:rPr lang="zh-CN" altLang="en-US" sz="2400" dirty="0" smtClean="0">
                <a:latin typeface="Monaco" panose="020B0509030404040204" pitchFamily="49" charset="0"/>
              </a:rPr>
              <a:t>设置文字阴影效果。</a:t>
            </a:r>
            <a:r>
              <a:rPr lang="en-US" altLang="zh-CN" sz="2400" dirty="0" smtClean="0">
                <a:latin typeface="Monaco" panose="020B0509030404040204" pitchFamily="49" charset="0"/>
              </a:rPr>
              <a:t>@font-face</a:t>
            </a:r>
            <a:r>
              <a:rPr lang="zh-CN" altLang="en-US" sz="2400" dirty="0" smtClean="0">
                <a:latin typeface="Monaco" panose="020B0509030404040204" pitchFamily="49" charset="0"/>
              </a:rPr>
              <a:t>规则可以实现</a:t>
            </a:r>
            <a:r>
              <a:rPr lang="en-US" altLang="zh-CN" sz="2400" dirty="0" smtClean="0">
                <a:latin typeface="Monaco" panose="020B0509030404040204" pitchFamily="49" charset="0"/>
              </a:rPr>
              <a:t>Web</a:t>
            </a:r>
            <a:r>
              <a:rPr lang="zh-CN" altLang="en-US" sz="2400" dirty="0" smtClean="0">
                <a:latin typeface="Monaco" panose="020B0509030404040204" pitchFamily="49" charset="0"/>
              </a:rPr>
              <a:t>字体的添加，使客户端可以不必预先安装而是从服务器端下载对应的字体文件，完成字体显示。</a:t>
            </a:r>
            <a:endParaRPr lang="en-US" altLang="zh-CN" sz="2400" dirty="0" smtClean="0">
              <a:latin typeface="Monaco" panose="020B0509030404040204" pitchFamily="49" charset="0"/>
            </a:endParaRPr>
          </a:p>
          <a:p>
            <a:pPr algn="just">
              <a:lnSpc>
                <a:spcPct val="150000"/>
              </a:lnSpc>
            </a:pPr>
            <a:endParaRPr lang="en-US" altLang="zh-CN" sz="2400" dirty="0" smtClean="0">
              <a:latin typeface="Monaco" panose="020B0509030404040204" pitchFamily="49" charset="0"/>
            </a:endParaRPr>
          </a:p>
          <a:p>
            <a:pPr algn="just">
              <a:lnSpc>
                <a:spcPct val="150000"/>
              </a:lnSpc>
            </a:pPr>
            <a:r>
              <a:rPr lang="en-US" altLang="zh-CN" sz="2400" dirty="0" smtClean="0">
                <a:latin typeface="Monaco" panose="020B0509030404040204" pitchFamily="49" charset="0"/>
              </a:rPr>
              <a:t>CSS3</a:t>
            </a:r>
            <a:r>
              <a:rPr lang="zh-CN" altLang="en-US" sz="2400" dirty="0" smtClean="0">
                <a:latin typeface="Monaco" panose="020B0509030404040204" pitchFamily="49" charset="0"/>
              </a:rPr>
              <a:t>支持</a:t>
            </a:r>
            <a:r>
              <a:rPr lang="en-US" altLang="zh-CN" sz="2400" dirty="0" smtClean="0">
                <a:latin typeface="Monaco" panose="020B0509030404040204" pitchFamily="49" charset="0"/>
              </a:rPr>
              <a:t>2D</a:t>
            </a:r>
            <a:r>
              <a:rPr lang="zh-CN" altLang="en-US" sz="2400" dirty="0" smtClean="0">
                <a:latin typeface="Monaco" panose="020B0509030404040204" pitchFamily="49" charset="0"/>
              </a:rPr>
              <a:t>和</a:t>
            </a:r>
            <a:r>
              <a:rPr lang="en-US" altLang="zh-CN" sz="2400" dirty="0" smtClean="0">
                <a:latin typeface="Monaco" panose="020B0509030404040204" pitchFamily="49" charset="0"/>
              </a:rPr>
              <a:t>3D</a:t>
            </a:r>
            <a:r>
              <a:rPr lang="zh-CN" altLang="en-US" sz="2400" dirty="0" smtClean="0">
                <a:latin typeface="Monaco" panose="020B0509030404040204" pitchFamily="49" charset="0"/>
              </a:rPr>
              <a:t>变换，可完成缩放、移动、旋转、倾斜、透视等效果。还可以应用过渡和动画，使元素在两个或多个状态间切换。</a:t>
            </a:r>
            <a:endParaRPr lang="zh-CN" altLang="en-US" sz="2400" dirty="0">
              <a:latin typeface="Monaco" panose="020B0509030404040204" pitchFamily="49" charset="0"/>
            </a:endParaRPr>
          </a:p>
        </p:txBody>
      </p:sp>
    </p:spTree>
    <p:extLst>
      <p:ext uri="{BB962C8B-B14F-4D97-AF65-F5344CB8AC3E}">
        <p14:creationId xmlns:p14="http://schemas.microsoft.com/office/powerpoint/2010/main" val="32214546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14974</TotalTime>
  <Words>6974</Words>
  <Application>Microsoft Office PowerPoint</Application>
  <PresentationFormat>宽屏</PresentationFormat>
  <Paragraphs>828</Paragraphs>
  <Slides>79</Slides>
  <Notes>69</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79</vt:i4>
      </vt:variant>
    </vt:vector>
  </HeadingPairs>
  <TitlesOfParts>
    <vt:vector size="91" baseType="lpstr">
      <vt:lpstr>Microsoft JhengHei</vt:lpstr>
      <vt:lpstr>等线</vt:lpstr>
      <vt:lpstr>宋体</vt:lpstr>
      <vt:lpstr>微软雅黑</vt:lpstr>
      <vt:lpstr>Arial</vt:lpstr>
      <vt:lpstr>Calibri</vt:lpstr>
      <vt:lpstr>Fira Code</vt:lpstr>
      <vt:lpstr>Monaco</vt:lpstr>
      <vt:lpstr>Segoe UI</vt:lpstr>
      <vt:lpstr>Wingdings</vt:lpstr>
      <vt:lpstr>Office 主题​​</vt:lpstr>
      <vt:lpstr>Office Theme</vt:lpstr>
      <vt:lpstr>HTML5简介</vt:lpstr>
      <vt:lpstr>什么是HTML5？</vt:lpstr>
      <vt:lpstr>HTML5标准</vt:lpstr>
      <vt:lpstr>HTML5标准</vt:lpstr>
      <vt:lpstr>HTML5标准</vt:lpstr>
      <vt:lpstr>HTML5标准</vt:lpstr>
      <vt:lpstr>PowerPoint 演示文稿</vt:lpstr>
      <vt:lpstr>HTML5标准</vt:lpstr>
      <vt:lpstr>HTML5标准</vt:lpstr>
      <vt:lpstr>HTML5 音频 audio</vt:lpstr>
      <vt:lpstr>HTML5 音频 audio</vt:lpstr>
      <vt:lpstr>HTML5 视频 video</vt:lpstr>
      <vt:lpstr>HTML5 视频 video</vt:lpstr>
      <vt:lpstr>HTML5 视频 video</vt:lpstr>
      <vt:lpstr>HTML5 canvas</vt:lpstr>
      <vt:lpstr>HTML5 canvas</vt:lpstr>
      <vt:lpstr>HTML5 canvas</vt:lpstr>
      <vt:lpstr>HTML5 canvas</vt:lpstr>
      <vt:lpstr>HTML5  svg</vt:lpstr>
      <vt:lpstr>将SVG添加到页面</vt:lpstr>
      <vt:lpstr>将SVG添加到页面</vt:lpstr>
      <vt:lpstr>HTML5标准</vt:lpstr>
      <vt:lpstr>HTML5标准</vt:lpstr>
      <vt:lpstr>HTML5标准</vt:lpstr>
      <vt:lpstr>HTML5标准</vt:lpstr>
      <vt:lpstr>HTML5标准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软件学院2021年绩效考核汇报</dc:title>
  <dc:creator>zhu jw</dc:creator>
  <cp:lastModifiedBy>zhu jw</cp:lastModifiedBy>
  <cp:revision>419</cp:revision>
  <dcterms:created xsi:type="dcterms:W3CDTF">2021-08-30T07:26:29Z</dcterms:created>
  <dcterms:modified xsi:type="dcterms:W3CDTF">2023-03-29T08:42:15Z</dcterms:modified>
</cp:coreProperties>
</file>