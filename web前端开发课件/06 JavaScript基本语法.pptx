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60" r:id="rId4"/>
    <p:sldId id="384" r:id="rId5"/>
    <p:sldId id="385" r:id="rId6"/>
    <p:sldId id="373" r:id="rId7"/>
    <p:sldId id="376" r:id="rId9"/>
    <p:sldId id="261" r:id="rId10"/>
    <p:sldId id="265" r:id="rId11"/>
    <p:sldId id="266" r:id="rId12"/>
    <p:sldId id="267" r:id="rId13"/>
    <p:sldId id="268" r:id="rId14"/>
    <p:sldId id="272" r:id="rId15"/>
    <p:sldId id="274" r:id="rId16"/>
    <p:sldId id="277" r:id="rId17"/>
    <p:sldId id="280" r:id="rId18"/>
    <p:sldId id="282" r:id="rId19"/>
    <p:sldId id="283" r:id="rId20"/>
    <p:sldId id="287" r:id="rId21"/>
    <p:sldId id="291" r:id="rId22"/>
    <p:sldId id="377" r:id="rId23"/>
    <p:sldId id="304" r:id="rId24"/>
    <p:sldId id="378" r:id="rId25"/>
    <p:sldId id="379" r:id="rId26"/>
    <p:sldId id="307" r:id="rId27"/>
    <p:sldId id="308" r:id="rId28"/>
    <p:sldId id="380" r:id="rId29"/>
    <p:sldId id="311" r:id="rId30"/>
    <p:sldId id="312" r:id="rId31"/>
    <p:sldId id="319" r:id="rId32"/>
    <p:sldId id="321" r:id="rId33"/>
    <p:sldId id="322" r:id="rId34"/>
    <p:sldId id="387" r:id="rId35"/>
    <p:sldId id="324" r:id="rId36"/>
    <p:sldId id="325" r:id="rId37"/>
    <p:sldId id="327" r:id="rId38"/>
    <p:sldId id="328" r:id="rId39"/>
    <p:sldId id="329" r:id="rId40"/>
    <p:sldId id="330" r:id="rId41"/>
    <p:sldId id="451" r:id="rId42"/>
    <p:sldId id="331" r:id="rId43"/>
    <p:sldId id="333" r:id="rId44"/>
    <p:sldId id="334" r:id="rId45"/>
    <p:sldId id="337" r:id="rId46"/>
    <p:sldId id="339" r:id="rId47"/>
    <p:sldId id="340" r:id="rId48"/>
    <p:sldId id="342" r:id="rId49"/>
    <p:sldId id="388" r:id="rId50"/>
    <p:sldId id="355" r:id="rId51"/>
    <p:sldId id="356" r:id="rId52"/>
    <p:sldId id="389" r:id="rId53"/>
    <p:sldId id="390" r:id="rId54"/>
    <p:sldId id="391" r:id="rId55"/>
    <p:sldId id="392" r:id="rId56"/>
    <p:sldId id="393" r:id="rId57"/>
    <p:sldId id="394" r:id="rId58"/>
    <p:sldId id="395" r:id="rId59"/>
    <p:sldId id="396" r:id="rId60"/>
    <p:sldId id="397" r:id="rId61"/>
    <p:sldId id="368" r:id="rId62"/>
    <p:sldId id="369" r:id="rId63"/>
    <p:sldId id="370" r:id="rId64"/>
    <p:sldId id="347" r:id="rId65"/>
    <p:sldId id="348" r:id="rId66"/>
    <p:sldId id="350" r:id="rId67"/>
    <p:sldId id="351" r:id="rId68"/>
    <p:sldId id="352" r:id="rId69"/>
    <p:sldId id="398" r:id="rId70"/>
    <p:sldId id="399" r:id="rId71"/>
    <p:sldId id="354" r:id="rId7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6" autoAdjust="0"/>
    <p:restoredTop sz="87136" autoAdjust="0"/>
  </p:normalViewPr>
  <p:slideViewPr>
    <p:cSldViewPr showGuides="1">
      <p:cViewPr>
        <p:scale>
          <a:sx n="66" d="100"/>
          <a:sy n="66" d="100"/>
        </p:scale>
        <p:origin x="1243" y="2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3C590-6F94-45FD-B16E-3530CEBB5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913FB-3E5A-4E62-979F-A31DC039ED8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913FB-3E5A-4E62-979F-A31DC039ED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913FB-3E5A-4E62-979F-A31DC039ED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913FB-3E5A-4E62-979F-A31DC039ED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913FB-3E5A-4E62-979F-A31DC039ED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913FB-3E5A-4E62-979F-A31DC039ED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B9B0-85BB-4FEA-B0E7-8507526FAF84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45A9-5441-4D00-B3C8-594B58043021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406900"/>
            <a:ext cx="10515600" cy="1362075"/>
          </a:xfrm>
        </p:spPr>
        <p:txBody>
          <a:bodyPr anchor="t"/>
          <a:lstStyle>
            <a:lvl1pPr>
              <a:defRPr sz="4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2906713"/>
            <a:ext cx="105156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C1090-A6DA-4D35-97D4-07D0357F9F06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28A9-947B-46CB-858B-0CA6C1D7BF78}" type="datetime1">
              <a:rPr lang="en-US" altLang="zh-CN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1535113"/>
            <a:ext cx="51562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1850" y="2174875"/>
            <a:ext cx="51562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9663" y="1535113"/>
            <a:ext cx="51577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9663" y="2174875"/>
            <a:ext cx="5157787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1D33-D0F2-4F1A-8FBC-72370025DEDB}" type="datetime1">
              <a:rPr lang="en-US" altLang="zh-CN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40D2-B1D5-44F2-86BB-6429E01876EF}" type="datetime1">
              <a:rPr lang="en-US" altLang="zh-CN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F777A-F51E-4999-A3FE-54E17DF841A7}" type="datetime1">
              <a:rPr lang="en-US" altLang="zh-CN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85800"/>
            <a:ext cx="4013200" cy="1160463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46663" y="685800"/>
            <a:ext cx="6300787" cy="5486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1850" y="1846263"/>
            <a:ext cx="4013200" cy="4325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67B0A-9850-4688-B605-E4BF80AF133D}" type="datetime1">
              <a:rPr lang="en-US" altLang="zh-CN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075" y="4800600"/>
            <a:ext cx="7177088" cy="566738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5075" y="685800"/>
            <a:ext cx="7177088" cy="4041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5075" y="5367338"/>
            <a:ext cx="71770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7CDC9-3C41-400B-93EF-0CD2E61D9EB6}" type="datetime1">
              <a:rPr lang="en-US" altLang="zh-CN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F1D-1F28-45C3-9D83-CA47B34E4184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6F2A-9BEE-4DA8-B31F-ADA72047A45E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81605" y="2344292"/>
            <a:ext cx="6828789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252525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D90AF-3E14-42DF-88F8-9C451E069AAE}" type="datetime1">
              <a:rPr lang="en-US" altLang="zh-CN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  <p:sp>
        <p:nvSpPr>
          <p:cNvPr id="7" name="矩形 6"/>
          <p:cNvSpPr/>
          <p:nvPr userDrawn="1"/>
        </p:nvSpPr>
        <p:spPr>
          <a:xfrm>
            <a:off x="381000" y="823119"/>
            <a:ext cx="228600" cy="228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 flipV="1">
            <a:off x="0" y="6857999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F0626-9C6F-425A-B556-CAF96BFB645D}" type="datetime1">
              <a:rPr lang="en-US" altLang="zh-CN" smtClean="0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  <p:sp>
        <p:nvSpPr>
          <p:cNvPr id="5" name="矩形 4"/>
          <p:cNvSpPr/>
          <p:nvPr userDrawn="1"/>
        </p:nvSpPr>
        <p:spPr>
          <a:xfrm>
            <a:off x="381000" y="823119"/>
            <a:ext cx="228600" cy="228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 flipV="1">
            <a:off x="0" y="6857999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086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7F389-EC92-46C5-A64F-DF0C6B23B048}" type="datetime1">
              <a:rPr lang="en-US" altLang="zh-CN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81000" y="823119"/>
            <a:ext cx="228600" cy="228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 flipV="1">
            <a:off x="0" y="6857999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tags" Target="../tags/tag3.xml"/><Relationship Id="rId4" Type="http://schemas.openxmlformats.org/officeDocument/2006/relationships/image" Target="../media/image19.png"/><Relationship Id="rId3" Type="http://schemas.openxmlformats.org/officeDocument/2006/relationships/tags" Target="../tags/tag2.xml"/><Relationship Id="rId2" Type="http://schemas.openxmlformats.org/officeDocument/2006/relationships/image" Target="../media/image18.png"/><Relationship Id="rId1" Type="http://schemas.openxmlformats.org/officeDocument/2006/relationships/tags" Target="../tags/tag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png"/><Relationship Id="rId3" Type="http://schemas.openxmlformats.org/officeDocument/2006/relationships/tags" Target="../tags/tag5.xml"/><Relationship Id="rId2" Type="http://schemas.openxmlformats.org/officeDocument/2006/relationships/image" Target="../media/image28.png"/><Relationship Id="rId1" Type="http://schemas.openxmlformats.org/officeDocument/2006/relationships/tags" Target="../tags/tag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270250" y="2819400"/>
            <a:ext cx="5935345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00"/>
              </a:spcBef>
            </a:pPr>
            <a:r>
              <a:rPr sz="4800" spc="-165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sz="4800" spc="-165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sz="4800" spc="-165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endParaRPr lang="zh-CN" sz="4800" spc="-165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5800"/>
            <a:ext cx="443240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404040"/>
                </a:solidFill>
                <a:latin typeface="微软雅黑"/>
                <a:cs typeface="微软雅黑"/>
              </a:rPr>
              <a:t>JavaScript</a:t>
            </a:r>
            <a:r>
              <a:rPr sz="2800" b="1" spc="-135" dirty="0" smtClean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800" b="1" spc="-40" dirty="0">
                <a:solidFill>
                  <a:srgbClr val="404040"/>
                </a:solidFill>
                <a:latin typeface="微软雅黑"/>
                <a:cs typeface="微软雅黑"/>
              </a:rPr>
              <a:t>是什么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491376"/>
            <a:ext cx="10757002" cy="4539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>
              <a:lnSpc>
                <a:spcPct val="150000"/>
              </a:lnSpc>
              <a:spcBef>
                <a:spcPts val="1345"/>
              </a:spcBef>
            </a:pPr>
            <a:r>
              <a:rPr lang="en-US" altLang="zh-CN" sz="2000" spc="-30" dirty="0">
                <a:solidFill>
                  <a:srgbClr val="252525"/>
                </a:solidFill>
                <a:cs typeface="宋体"/>
              </a:rPr>
              <a:t>JavaScript 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是一种脚本，一门编程语言，它可以在网页上实现复杂的功能，网页展现给你的不再是简单的静态信息，而是实时的内容更新，交互式的地图，</a:t>
            </a:r>
            <a:r>
              <a:rPr lang="en-US" altLang="zh-CN" sz="2000" spc="-30" dirty="0">
                <a:solidFill>
                  <a:srgbClr val="252525"/>
                </a:solidFill>
                <a:cs typeface="宋体"/>
              </a:rPr>
              <a:t>2D/3D 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动画，滚动播放的视频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等等。</a:t>
            </a:r>
            <a:endParaRPr lang="en-US" altLang="zh-CN" sz="2000" spc="-30" dirty="0" smtClean="0">
              <a:solidFill>
                <a:srgbClr val="252525"/>
              </a:solidFill>
              <a:cs typeface="宋体"/>
            </a:endParaRPr>
          </a:p>
          <a:p>
            <a:pPr marL="130810">
              <a:lnSpc>
                <a:spcPct val="150000"/>
              </a:lnSpc>
              <a:spcBef>
                <a:spcPts val="1345"/>
              </a:spcBef>
            </a:pP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特点：</a:t>
            </a:r>
            <a:endParaRPr sz="2000" dirty="0" smtClean="0">
              <a:cs typeface="宋体"/>
            </a:endParaRPr>
          </a:p>
          <a:p>
            <a:pPr marL="588010" indent="-457200">
              <a:lnSpc>
                <a:spcPct val="150000"/>
              </a:lnSpc>
              <a:spcBef>
                <a:spcPts val="1345"/>
              </a:spcBef>
              <a:buFont typeface="+mj-lt"/>
              <a:buAutoNum type="arabicPeriod"/>
              <a:tabLst>
                <a:tab pos="370840" algn="l"/>
              </a:tabLst>
            </a:pP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一种解释性脚本语言（代码不进行预编译）</a:t>
            </a:r>
            <a:r>
              <a:rPr lang="zh-CN" altLang="en-US" sz="2000" spc="-30" dirty="0" smtClean="0">
                <a:solidFill>
                  <a:srgbClr val="252525"/>
                </a:solidFill>
                <a:cs typeface="微软雅黑"/>
              </a:rPr>
              <a:t>。</a:t>
            </a:r>
            <a:endParaRPr lang="en-US" altLang="zh-CN" sz="2000" spc="-30" dirty="0" smtClean="0">
              <a:solidFill>
                <a:srgbClr val="252525"/>
              </a:solidFill>
              <a:cs typeface="微软雅黑"/>
            </a:endParaRPr>
          </a:p>
          <a:p>
            <a:pPr marL="588010" indent="-457200">
              <a:lnSpc>
                <a:spcPct val="150000"/>
              </a:lnSpc>
              <a:spcBef>
                <a:spcPts val="1345"/>
              </a:spcBef>
              <a:buFont typeface="+mj-lt"/>
              <a:buAutoNum type="arabicPeriod"/>
              <a:tabLst>
                <a:tab pos="370840" algn="l"/>
              </a:tabLst>
            </a:pPr>
            <a:r>
              <a:rPr lang="zh-CN" altLang="en-US" sz="2000" spc="-30" dirty="0" smtClean="0">
                <a:solidFill>
                  <a:srgbClr val="252525"/>
                </a:solidFill>
                <a:cs typeface="微软雅黑"/>
              </a:rPr>
              <a:t>主要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用来向 </a:t>
            </a:r>
            <a:r>
              <a:rPr lang="en-US" altLang="zh-CN" sz="2000" spc="-30" dirty="0">
                <a:solidFill>
                  <a:srgbClr val="252525"/>
                </a:solidFill>
                <a:cs typeface="微软雅黑"/>
              </a:rPr>
              <a:t>HTML 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页面添加交互行为</a:t>
            </a:r>
            <a:r>
              <a:rPr lang="zh-CN" altLang="en-US" sz="2000" spc="-30" dirty="0" smtClean="0">
                <a:solidFill>
                  <a:srgbClr val="252525"/>
                </a:solidFill>
                <a:cs typeface="微软雅黑"/>
              </a:rPr>
              <a:t>。</a:t>
            </a:r>
            <a:endParaRPr lang="en-US" altLang="zh-CN" sz="2000" spc="-30" dirty="0" smtClean="0">
              <a:solidFill>
                <a:srgbClr val="252525"/>
              </a:solidFill>
              <a:cs typeface="微软雅黑"/>
            </a:endParaRPr>
          </a:p>
          <a:p>
            <a:pPr marL="588010" indent="-457200">
              <a:lnSpc>
                <a:spcPct val="150000"/>
              </a:lnSpc>
              <a:spcBef>
                <a:spcPts val="1345"/>
              </a:spcBef>
              <a:buFont typeface="+mj-lt"/>
              <a:buAutoNum type="arabicPeriod"/>
              <a:tabLst>
                <a:tab pos="370840" algn="l"/>
              </a:tabLst>
            </a:pPr>
            <a:r>
              <a:rPr lang="zh-CN" altLang="en-US" sz="2000" spc="-30" dirty="0" smtClean="0">
                <a:solidFill>
                  <a:srgbClr val="252525"/>
                </a:solidFill>
                <a:cs typeface="微软雅黑"/>
              </a:rPr>
              <a:t>可以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直接嵌入 </a:t>
            </a:r>
            <a:r>
              <a:rPr lang="en-US" altLang="zh-CN" sz="2000" spc="-30" dirty="0">
                <a:solidFill>
                  <a:srgbClr val="252525"/>
                </a:solidFill>
                <a:cs typeface="微软雅黑"/>
              </a:rPr>
              <a:t>HTML 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页面，但写成单独的 </a:t>
            </a:r>
            <a:r>
              <a:rPr lang="en-US" altLang="zh-CN" sz="2000" spc="-30" dirty="0" err="1">
                <a:solidFill>
                  <a:srgbClr val="252525"/>
                </a:solidFill>
                <a:cs typeface="微软雅黑"/>
              </a:rPr>
              <a:t>js</a:t>
            </a:r>
            <a:r>
              <a:rPr lang="en-US" altLang="zh-CN" sz="2000" spc="-30" dirty="0">
                <a:solidFill>
                  <a:srgbClr val="252525"/>
                </a:solidFill>
                <a:cs typeface="微软雅黑"/>
              </a:rPr>
              <a:t> 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文件有利于结构和行为的分离</a:t>
            </a:r>
            <a:r>
              <a:rPr lang="zh-CN" altLang="en-US" sz="2000" spc="-30" dirty="0" smtClean="0">
                <a:solidFill>
                  <a:srgbClr val="252525"/>
                </a:solidFill>
                <a:cs typeface="微软雅黑"/>
              </a:rPr>
              <a:t>。</a:t>
            </a:r>
            <a:endParaRPr lang="en-US" altLang="zh-CN" sz="2000" spc="-30" dirty="0" smtClean="0">
              <a:solidFill>
                <a:srgbClr val="252525"/>
              </a:solidFill>
              <a:cs typeface="微软雅黑"/>
            </a:endParaRPr>
          </a:p>
          <a:p>
            <a:pPr marL="588010" indent="-457200">
              <a:lnSpc>
                <a:spcPct val="150000"/>
              </a:lnSpc>
              <a:spcBef>
                <a:spcPts val="1345"/>
              </a:spcBef>
              <a:buFont typeface="+mj-lt"/>
              <a:buAutoNum type="arabicPeriod"/>
              <a:tabLst>
                <a:tab pos="370840" algn="l"/>
              </a:tabLst>
            </a:pPr>
            <a:r>
              <a:rPr lang="zh-CN" altLang="en-US" sz="2000" spc="-30" dirty="0" smtClean="0">
                <a:solidFill>
                  <a:srgbClr val="252525"/>
                </a:solidFill>
                <a:cs typeface="微软雅黑"/>
              </a:rPr>
              <a:t>跨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平台特性，在绝大多数浏览器的支持下，可以在多种平台下运行（如</a:t>
            </a:r>
            <a:r>
              <a:rPr lang="en-US" altLang="zh-CN" sz="2000" spc="-30" dirty="0">
                <a:solidFill>
                  <a:srgbClr val="252525"/>
                </a:solidFill>
                <a:cs typeface="微软雅黑"/>
              </a:rPr>
              <a:t>Windows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、</a:t>
            </a:r>
            <a:r>
              <a:rPr lang="en-US" altLang="zh-CN" sz="2000" spc="-30" dirty="0">
                <a:solidFill>
                  <a:srgbClr val="252525"/>
                </a:solidFill>
                <a:cs typeface="微软雅黑"/>
              </a:rPr>
              <a:t>Linux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、</a:t>
            </a:r>
            <a:r>
              <a:rPr lang="en-US" altLang="zh-CN" sz="2000" spc="-30" dirty="0">
                <a:solidFill>
                  <a:srgbClr val="252525"/>
                </a:solidFill>
                <a:cs typeface="微软雅黑"/>
              </a:rPr>
              <a:t>Mac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、</a:t>
            </a:r>
            <a:r>
              <a:rPr lang="en-US" altLang="zh-CN" sz="2000" spc="-30" dirty="0">
                <a:solidFill>
                  <a:srgbClr val="252525"/>
                </a:solidFill>
                <a:cs typeface="微软雅黑"/>
              </a:rPr>
              <a:t>Android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、</a:t>
            </a:r>
            <a:r>
              <a:rPr lang="en-US" altLang="zh-CN" sz="2000" spc="-30" dirty="0">
                <a:solidFill>
                  <a:srgbClr val="252525"/>
                </a:solidFill>
                <a:cs typeface="微软雅黑"/>
              </a:rPr>
              <a:t>iOS</a:t>
            </a:r>
            <a:r>
              <a:rPr lang="zh-CN" altLang="en-US" sz="2000" spc="-30" dirty="0">
                <a:solidFill>
                  <a:srgbClr val="252525"/>
                </a:solidFill>
                <a:cs typeface="微软雅黑"/>
              </a:rPr>
              <a:t>等</a:t>
            </a:r>
            <a:r>
              <a:rPr lang="zh-CN" altLang="en-US" sz="2000" spc="-30" dirty="0" smtClean="0">
                <a:solidFill>
                  <a:srgbClr val="252525"/>
                </a:solidFill>
                <a:cs typeface="微软雅黑"/>
              </a:rPr>
              <a:t>）</a:t>
            </a:r>
            <a:endParaRPr lang="zh-CN" altLang="en-US" sz="2000" spc="-30" dirty="0">
              <a:solidFill>
                <a:srgbClr val="252525"/>
              </a:solidFill>
              <a:cs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454005" y="685800"/>
            <a:ext cx="173799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5800"/>
            <a:ext cx="443240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404040"/>
                </a:solidFill>
                <a:latin typeface="微软雅黑"/>
                <a:cs typeface="微软雅黑"/>
              </a:rPr>
              <a:t>JavaScript</a:t>
            </a:r>
            <a:r>
              <a:rPr sz="2800" b="1" spc="-135" dirty="0" smtClean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800" b="1" spc="-40" dirty="0">
                <a:solidFill>
                  <a:srgbClr val="404040"/>
                </a:solidFill>
                <a:latin typeface="微软雅黑"/>
                <a:cs typeface="微软雅黑"/>
              </a:rPr>
              <a:t>是什么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491376"/>
            <a:ext cx="10757002" cy="3116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010" indent="-457200">
              <a:lnSpc>
                <a:spcPct val="150000"/>
              </a:lnSpc>
              <a:spcBef>
                <a:spcPts val="1345"/>
              </a:spcBef>
              <a:buFont typeface="+mj-lt"/>
              <a:buAutoNum type="arabicPeriod"/>
            </a:pPr>
            <a:r>
              <a:rPr lang="en-US" altLang="zh-CN" sz="2000" spc="-30" dirty="0">
                <a:solidFill>
                  <a:srgbClr val="252525"/>
                </a:solidFill>
                <a:cs typeface="宋体"/>
              </a:rPr>
              <a:t>HTML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是一种标记语言，用来结构化我们的网页内容并赋予内容含义，例如定义段落、标题和数据表，或在页面中嵌入图片和视频。</a:t>
            </a:r>
            <a:endParaRPr lang="zh-CN" altLang="en-US" sz="2000" spc="-30" dirty="0">
              <a:solidFill>
                <a:srgbClr val="252525"/>
              </a:solidFill>
              <a:cs typeface="宋体"/>
            </a:endParaRPr>
          </a:p>
          <a:p>
            <a:pPr marL="588010" indent="-457200">
              <a:lnSpc>
                <a:spcPct val="150000"/>
              </a:lnSpc>
              <a:spcBef>
                <a:spcPts val="1345"/>
              </a:spcBef>
              <a:buFont typeface="+mj-lt"/>
              <a:buAutoNum type="arabicPeriod"/>
            </a:pPr>
            <a:r>
              <a:rPr lang="en-US" altLang="zh-CN" sz="2000" spc="-30" dirty="0">
                <a:solidFill>
                  <a:srgbClr val="252525"/>
                </a:solidFill>
                <a:cs typeface="宋体"/>
              </a:rPr>
              <a:t>CSS 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是一种样式规则语言，可将样式应用于 </a:t>
            </a:r>
            <a:r>
              <a:rPr lang="en-US" altLang="zh-CN" sz="2000" spc="-30" dirty="0">
                <a:solidFill>
                  <a:srgbClr val="252525"/>
                </a:solidFill>
                <a:cs typeface="宋体"/>
              </a:rPr>
              <a:t>HTML 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内容，例如设置背景颜色和字体，在多个列中布局内容。</a:t>
            </a:r>
            <a:endParaRPr lang="zh-CN" altLang="en-US" sz="2000" spc="-30" dirty="0">
              <a:solidFill>
                <a:srgbClr val="252525"/>
              </a:solidFill>
              <a:cs typeface="宋体"/>
            </a:endParaRPr>
          </a:p>
          <a:p>
            <a:pPr marL="588010" indent="-457200">
              <a:lnSpc>
                <a:spcPct val="150000"/>
              </a:lnSpc>
              <a:spcBef>
                <a:spcPts val="1345"/>
              </a:spcBef>
              <a:buFont typeface="+mj-lt"/>
              <a:buAutoNum type="arabicPeriod"/>
            </a:pPr>
            <a:r>
              <a:rPr lang="en-US" altLang="zh-CN" sz="2000" spc="-30" dirty="0" smtClean="0">
                <a:solidFill>
                  <a:srgbClr val="252525"/>
                </a:solidFill>
                <a:cs typeface="宋体"/>
              </a:rPr>
              <a:t>JavaScript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是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一种脚本语言，可以用来创建动态更新的内容，控制多媒体，制作图像动画，还有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很多其他操作。</a:t>
            </a:r>
            <a:endParaRPr lang="zh-CN" altLang="en-US" sz="2000" spc="-30" dirty="0">
              <a:solidFill>
                <a:srgbClr val="252525"/>
              </a:solidFill>
              <a:cs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425430" y="685800"/>
            <a:ext cx="176657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  <p:pic>
        <p:nvPicPr>
          <p:cNvPr id="1026" name="Picture 2" descr="https://developer.mozilla.org/en-US/docs/Learn/JavaScript/First_steps/What_is_JavaScript/cake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58" y="4333221"/>
            <a:ext cx="2460625" cy="238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001909" y="5638800"/>
            <a:ext cx="5147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1B1B1B"/>
                </a:solidFill>
                <a:latin typeface="Inter"/>
              </a:rPr>
              <a:t>Web</a:t>
            </a:r>
            <a:r>
              <a:rPr lang="zh-CN" altLang="en-US" dirty="0" smtClean="0">
                <a:solidFill>
                  <a:srgbClr val="1B1B1B"/>
                </a:solidFill>
                <a:latin typeface="Inter"/>
              </a:rPr>
              <a:t>技术三层蛋糕，这</a:t>
            </a:r>
            <a:r>
              <a:rPr lang="zh-CN" altLang="en-US" dirty="0">
                <a:solidFill>
                  <a:srgbClr val="1B1B1B"/>
                </a:solidFill>
                <a:latin typeface="Inter"/>
              </a:rPr>
              <a:t>三层依次建立，秩序井然。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JavaScript </a:t>
            </a:r>
            <a:r>
              <a:rPr lang="zh-CN" altLang="en-US" dirty="0"/>
              <a:t>在页面上做了什么？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1210" y="1600200"/>
            <a:ext cx="10515600" cy="840397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浏览器在读取一个网页时，代码（</a:t>
            </a:r>
            <a:r>
              <a:rPr lang="en-US" altLang="zh-CN" sz="2000" dirty="0"/>
              <a:t>HTML, CSS </a:t>
            </a:r>
            <a:r>
              <a:rPr lang="zh-CN" altLang="en-US" sz="2000" dirty="0"/>
              <a:t>和 </a:t>
            </a:r>
            <a:r>
              <a:rPr lang="en-US" altLang="zh-CN" sz="2000" dirty="0"/>
              <a:t>JavaScript</a:t>
            </a:r>
            <a:r>
              <a:rPr lang="zh-CN" altLang="en-US" sz="2000" dirty="0"/>
              <a:t>）将在一个运行环境（浏览器标签页）中得到执行。就像一间工厂，将原材料（代码）加工为一件产品（网页）。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2050" name="Picture 2" descr="https://developer.mozilla.org/en-US/docs/Learn/JavaScript/First_steps/What_is_JavaScript/execution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86000"/>
            <a:ext cx="5956391" cy="2672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824884" y="5105400"/>
            <a:ext cx="10491926" cy="1616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Font typeface="Arial" panose="020B0604020202090204" pitchFamily="34" charset="0"/>
              <a:buChar char="•"/>
            </a:pPr>
            <a:r>
              <a:rPr lang="zh-CN" altLang="en-US" sz="2000" dirty="0"/>
              <a:t>在 </a:t>
            </a:r>
            <a:r>
              <a:rPr lang="en-US" altLang="zh-CN" sz="2000" dirty="0"/>
              <a:t>HTML </a:t>
            </a:r>
            <a:r>
              <a:rPr lang="zh-CN" altLang="en-US" sz="2000" dirty="0"/>
              <a:t>和 </a:t>
            </a:r>
            <a:r>
              <a:rPr lang="en-US" altLang="zh-CN" sz="2000" dirty="0"/>
              <a:t>CSS </a:t>
            </a:r>
            <a:r>
              <a:rPr lang="zh-CN" altLang="en-US" sz="2000" dirty="0"/>
              <a:t>集合组装成一个网页后，浏览器的 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引擎将执行 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代码。这保证了当 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开始运行之前，网页的结构和样式已经就位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Font typeface="Arial" panose="020B0604020202090204" pitchFamily="34" charset="0"/>
              <a:buChar char="•"/>
            </a:pPr>
            <a:r>
              <a:rPr lang="zh-CN" altLang="en-US" sz="2000" dirty="0"/>
              <a:t>因为 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最普遍的用处是通过 </a:t>
            </a:r>
            <a:r>
              <a:rPr lang="en-US" altLang="zh-CN" sz="2000" dirty="0"/>
              <a:t>DOM </a:t>
            </a:r>
            <a:r>
              <a:rPr lang="en-US" altLang="zh-CN" sz="2000" dirty="0" smtClean="0"/>
              <a:t>API</a:t>
            </a:r>
            <a:r>
              <a:rPr lang="zh-CN" altLang="en-US" sz="2000" dirty="0" smtClean="0"/>
              <a:t>动态</a:t>
            </a:r>
            <a:r>
              <a:rPr lang="zh-CN" altLang="en-US" sz="2000" dirty="0"/>
              <a:t>修改 </a:t>
            </a:r>
            <a:r>
              <a:rPr lang="en-US" altLang="zh-CN" sz="2000" dirty="0"/>
              <a:t>HTML </a:t>
            </a:r>
            <a:r>
              <a:rPr lang="zh-CN" altLang="en-US" sz="2000" dirty="0"/>
              <a:t>和 </a:t>
            </a:r>
            <a:r>
              <a:rPr lang="en-US" altLang="zh-CN" sz="2000" dirty="0"/>
              <a:t>CSS </a:t>
            </a:r>
            <a:r>
              <a:rPr lang="zh-CN" altLang="en-US" sz="2000" dirty="0"/>
              <a:t>来更新用户界面（</a:t>
            </a:r>
            <a:r>
              <a:rPr lang="en-US" altLang="zh-CN" sz="2000" dirty="0"/>
              <a:t>user interface</a:t>
            </a:r>
            <a:r>
              <a:rPr lang="zh-CN" altLang="en-US" sz="2000" dirty="0"/>
              <a:t>）。如果 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在 </a:t>
            </a:r>
            <a:r>
              <a:rPr lang="en-US" altLang="zh-CN" sz="2000" dirty="0"/>
              <a:t>HTML </a:t>
            </a:r>
            <a:r>
              <a:rPr lang="zh-CN" altLang="en-US" sz="2000" dirty="0"/>
              <a:t>和 </a:t>
            </a:r>
            <a:r>
              <a:rPr lang="en-US" altLang="zh-CN" sz="2000" dirty="0"/>
              <a:t>CSS </a:t>
            </a:r>
            <a:r>
              <a:rPr lang="zh-CN" altLang="en-US" sz="2000" dirty="0"/>
              <a:t>就位之前加载运行，就会引发错误。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JavaScript</a:t>
            </a:r>
            <a:r>
              <a:rPr lang="zh-CN" altLang="en-US" dirty="0"/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Website</a:t>
            </a:r>
            <a:r>
              <a:rPr lang="zh-CN" altLang="en-US" dirty="0" smtClean="0"/>
              <a:t>演示</a:t>
            </a:r>
            <a:endParaRPr lang="en-US" altLang="zh-CN" dirty="0" smtClean="0"/>
          </a:p>
          <a:p>
            <a:r>
              <a:rPr lang="en-US" altLang="zh-CN" dirty="0" smtClean="0"/>
              <a:t>JS</a:t>
            </a:r>
            <a:r>
              <a:rPr lang="zh-CN" altLang="en-US" dirty="0" smtClean="0"/>
              <a:t>文件中所</a:t>
            </a:r>
            <a:r>
              <a:rPr lang="zh-CN" altLang="en-US" dirty="0"/>
              <a:t>用</a:t>
            </a:r>
            <a:r>
              <a:rPr lang="zh-CN" altLang="en-US" dirty="0" smtClean="0"/>
              <a:t>到的函数均属于文档对象模型（</a:t>
            </a:r>
            <a:r>
              <a:rPr lang="en-US" altLang="zh-CN" dirty="0" smtClean="0"/>
              <a:t>DOM</a:t>
            </a:r>
            <a:r>
              <a:rPr lang="zh-CN" altLang="en-US" dirty="0" smtClean="0"/>
              <a:t>）</a:t>
            </a:r>
            <a:r>
              <a:rPr lang="en-US" altLang="zh-CN" dirty="0" smtClean="0"/>
              <a:t>API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15880" y="685800"/>
            <a:ext cx="197612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运行方式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直接在浏览器的控制台编写</a:t>
            </a:r>
            <a:r>
              <a:rPr lang="zh-CN" altLang="en-US" dirty="0" smtClean="0"/>
              <a:t>运行</a:t>
            </a:r>
            <a:endParaRPr lang="en-US" altLang="zh-CN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编写一个独立的</a:t>
            </a:r>
            <a:r>
              <a:rPr lang="en-US" altLang="zh-CN" dirty="0" err="1"/>
              <a:t>js</a:t>
            </a:r>
            <a:r>
              <a:rPr lang="zh-CN" altLang="en-US" dirty="0"/>
              <a:t>文件，然后</a:t>
            </a:r>
            <a:r>
              <a:rPr lang="zh-CN" altLang="en-US" dirty="0" smtClean="0"/>
              <a:t>在</a:t>
            </a:r>
            <a:r>
              <a:rPr lang="en-US" altLang="zh-CN" dirty="0" smtClean="0"/>
              <a:t>html</a:t>
            </a:r>
            <a:r>
              <a:rPr lang="zh-CN" altLang="en-US" dirty="0"/>
              <a:t>文件中</a:t>
            </a:r>
            <a:r>
              <a:rPr lang="zh-CN" altLang="en-US" dirty="0" smtClean="0"/>
              <a:t>引入</a:t>
            </a:r>
            <a:endParaRPr lang="en-US" altLang="zh-CN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/>
              <a:t>用</a:t>
            </a:r>
            <a:r>
              <a:rPr lang="zh-CN" altLang="en-US" dirty="0"/>
              <a:t>开发工具</a:t>
            </a:r>
            <a:r>
              <a:rPr lang="zh-CN" altLang="en-US" dirty="0" smtClean="0"/>
              <a:t>如 </a:t>
            </a:r>
            <a:r>
              <a:rPr lang="en-US" altLang="zh-CN" dirty="0" err="1" smtClean="0"/>
              <a:t>Webstorm</a:t>
            </a:r>
            <a:r>
              <a:rPr lang="en-US" altLang="zh-CN" dirty="0" smtClean="0"/>
              <a:t> </a:t>
            </a:r>
            <a:r>
              <a:rPr lang="zh-CN" altLang="en-US" dirty="0"/>
              <a:t>或 </a:t>
            </a:r>
            <a:r>
              <a:rPr lang="en-US" altLang="zh-CN" dirty="0" err="1"/>
              <a:t>VSCode</a:t>
            </a:r>
            <a:r>
              <a:rPr lang="en-US" altLang="zh-CN" dirty="0"/>
              <a:t> </a:t>
            </a:r>
            <a:r>
              <a:rPr lang="zh-CN" altLang="en-US" dirty="0"/>
              <a:t>编写独立的</a:t>
            </a:r>
            <a:r>
              <a:rPr lang="en-US" altLang="zh-CN" dirty="0" err="1"/>
              <a:t>js</a:t>
            </a:r>
            <a:r>
              <a:rPr lang="zh-CN" altLang="en-US" dirty="0"/>
              <a:t>文件，由安装好的 </a:t>
            </a:r>
            <a:r>
              <a:rPr lang="en-US" altLang="zh-CN" dirty="0"/>
              <a:t>Node.js </a:t>
            </a:r>
            <a:r>
              <a:rPr lang="zh-CN" altLang="en-US" dirty="0"/>
              <a:t>解释</a:t>
            </a:r>
            <a:r>
              <a:rPr lang="zh-CN" altLang="en-US" dirty="0" smtClean="0"/>
              <a:t>执行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320020" y="685800"/>
            <a:ext cx="187198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4124960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spc="-10" dirty="0" smtClean="0">
                <a:solidFill>
                  <a:srgbClr val="585858"/>
                </a:solidFill>
                <a:latin typeface="+mn-lt"/>
                <a:cs typeface="微软雅黑"/>
              </a:rPr>
              <a:t>JavaScript </a:t>
            </a:r>
            <a:r>
              <a:rPr sz="2800" b="1" spc="-10" dirty="0">
                <a:solidFill>
                  <a:srgbClr val="585858"/>
                </a:solidFill>
                <a:latin typeface="+mn-lt"/>
                <a:cs typeface="微软雅黑"/>
              </a:rPr>
              <a:t>是什么</a:t>
            </a:r>
            <a:endParaRPr sz="2800" b="1" spc="-10" dirty="0">
              <a:solidFill>
                <a:srgbClr val="585858"/>
              </a:solidFill>
              <a:latin typeface="+mn-lt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807" y="1656568"/>
            <a:ext cx="6814314" cy="36984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 err="1" smtClean="0">
                <a:solidFill>
                  <a:srgbClr val="252525"/>
                </a:solidFill>
                <a:ea typeface="微软雅黑" panose="020B0503020204020204" pitchFamily="34" charset="-122"/>
                <a:cs typeface="微软雅黑"/>
              </a:rPr>
              <a:t>JavaScript</a:t>
            </a:r>
            <a:r>
              <a:rPr sz="2400" b="1" spc="-30" dirty="0" err="1" smtClean="0">
                <a:solidFill>
                  <a:srgbClr val="252525"/>
                </a:solidFill>
                <a:ea typeface="微软雅黑" panose="020B0503020204020204" pitchFamily="34" charset="-122"/>
                <a:cs typeface="微软雅黑"/>
              </a:rPr>
              <a:t>的组成</a:t>
            </a:r>
            <a:endParaRPr sz="2400" dirty="0">
              <a:ea typeface="微软雅黑" panose="020B0503020204020204" pitchFamily="34" charset="-122"/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390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000" spc="25" dirty="0">
                <a:solidFill>
                  <a:schemeClr val="accent2"/>
                </a:solidFill>
                <a:ea typeface="微软雅黑" panose="020B0503020204020204" pitchFamily="34" charset="-122"/>
                <a:cs typeface="宋体"/>
              </a:rPr>
              <a:t>ECMAScript:</a:t>
            </a:r>
            <a:endParaRPr sz="2000" dirty="0">
              <a:solidFill>
                <a:schemeClr val="accent2"/>
              </a:solidFill>
              <a:ea typeface="微软雅黑" panose="020B0503020204020204" pitchFamily="34" charset="-122"/>
              <a:cs typeface="宋体"/>
            </a:endParaRPr>
          </a:p>
          <a:p>
            <a:pPr marL="274320">
              <a:lnSpc>
                <a:spcPct val="100000"/>
              </a:lnSpc>
              <a:spcBef>
                <a:spcPts val="1545"/>
              </a:spcBef>
            </a:pPr>
            <a:r>
              <a:rPr lang="zh-CN" altLang="en-US" spc="-25" dirty="0" smtClean="0">
                <a:solidFill>
                  <a:srgbClr val="252525"/>
                </a:solidFill>
                <a:ea typeface="微软雅黑" panose="020B0503020204020204" pitchFamily="34" charset="-122"/>
                <a:cs typeface="宋体"/>
              </a:rPr>
              <a:t>规定了</a:t>
            </a:r>
            <a:r>
              <a:rPr lang="en-US" altLang="zh-CN" spc="-25" dirty="0" smtClean="0">
                <a:solidFill>
                  <a:srgbClr val="252525"/>
                </a:solidFill>
                <a:ea typeface="微软雅黑" panose="020B0503020204020204" pitchFamily="34" charset="-122"/>
                <a:cs typeface="宋体"/>
              </a:rPr>
              <a:t>JS</a:t>
            </a:r>
            <a:r>
              <a:rPr lang="zh-CN" altLang="en-US" spc="-25" dirty="0" smtClean="0">
                <a:solidFill>
                  <a:srgbClr val="252525"/>
                </a:solidFill>
                <a:ea typeface="微软雅黑" panose="020B0503020204020204" pitchFamily="34" charset="-122"/>
                <a:cs typeface="宋体"/>
              </a:rPr>
              <a:t>基础语法核心知识</a:t>
            </a:r>
            <a:endParaRPr lang="en-US" altLang="zh-CN" spc="-25" dirty="0" smtClean="0">
              <a:solidFill>
                <a:srgbClr val="252525"/>
              </a:solidFill>
              <a:ea typeface="微软雅黑" panose="020B0503020204020204" pitchFamily="34" charset="-122"/>
              <a:cs typeface="宋体"/>
            </a:endParaRPr>
          </a:p>
          <a:p>
            <a:pPr marL="274320">
              <a:lnSpc>
                <a:spcPct val="100000"/>
              </a:lnSpc>
              <a:spcBef>
                <a:spcPts val="1545"/>
              </a:spcBef>
            </a:pPr>
            <a:r>
              <a:rPr spc="-20" dirty="0" err="1" smtClean="0">
                <a:ea typeface="微软雅黑" panose="020B0503020204020204" pitchFamily="34" charset="-122"/>
                <a:cs typeface="宋体"/>
              </a:rPr>
              <a:t>比如</a:t>
            </a:r>
            <a:r>
              <a:rPr spc="-20" dirty="0" smtClean="0">
                <a:ea typeface="微软雅黑" panose="020B0503020204020204" pitchFamily="34" charset="-122"/>
                <a:cs typeface="宋体"/>
              </a:rPr>
              <a:t>：</a:t>
            </a:r>
            <a:r>
              <a:rPr lang="zh-CN" altLang="en-US" spc="-20" dirty="0" smtClean="0">
                <a:ea typeface="微软雅黑" panose="020B0503020204020204" pitchFamily="34" charset="-122"/>
                <a:cs typeface="宋体"/>
              </a:rPr>
              <a:t>数据类型、</a:t>
            </a:r>
            <a:r>
              <a:rPr spc="-20" dirty="0" err="1" smtClean="0">
                <a:ea typeface="微软雅黑" panose="020B0503020204020204" pitchFamily="34" charset="-122"/>
                <a:cs typeface="宋体"/>
              </a:rPr>
              <a:t>变量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、分支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语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句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、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循环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语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句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、</a:t>
            </a:r>
            <a:r>
              <a:rPr spc="-20" dirty="0" err="1" smtClean="0">
                <a:ea typeface="微软雅黑" panose="020B0503020204020204" pitchFamily="34" charset="-122"/>
                <a:cs typeface="宋体"/>
              </a:rPr>
              <a:t>对象</a:t>
            </a:r>
            <a:r>
              <a:rPr spc="-35" dirty="0" err="1" smtClean="0">
                <a:ea typeface="微软雅黑" panose="020B0503020204020204" pitchFamily="34" charset="-122"/>
                <a:cs typeface="宋体"/>
              </a:rPr>
              <a:t>等</a:t>
            </a:r>
            <a:r>
              <a:rPr spc="-20" dirty="0" err="1" smtClean="0">
                <a:ea typeface="微软雅黑" panose="020B0503020204020204" pitchFamily="34" charset="-122"/>
                <a:cs typeface="宋体"/>
              </a:rPr>
              <a:t>等</a:t>
            </a:r>
            <a:r>
              <a:rPr lang="zh-CN" altLang="en-US" spc="-20" dirty="0" smtClean="0">
                <a:ea typeface="微软雅黑" panose="020B0503020204020204" pitchFamily="34" charset="-122"/>
                <a:cs typeface="宋体"/>
              </a:rPr>
              <a:t>。</a:t>
            </a:r>
            <a:endParaRPr dirty="0">
              <a:ea typeface="微软雅黑" panose="020B0503020204020204" pitchFamily="34" charset="-122"/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290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000" spc="320" dirty="0">
                <a:solidFill>
                  <a:schemeClr val="accent2"/>
                </a:solidFill>
                <a:ea typeface="微软雅黑" panose="020B0503020204020204" pitchFamily="34" charset="-122"/>
                <a:cs typeface="宋体"/>
              </a:rPr>
              <a:t>Web</a:t>
            </a:r>
            <a:r>
              <a:rPr sz="2000" spc="-380" dirty="0">
                <a:solidFill>
                  <a:schemeClr val="accent2"/>
                </a:solidFill>
                <a:ea typeface="微软雅黑" panose="020B0503020204020204" pitchFamily="34" charset="-122"/>
                <a:cs typeface="宋体"/>
              </a:rPr>
              <a:t> </a:t>
            </a:r>
            <a:r>
              <a:rPr sz="2000" dirty="0">
                <a:solidFill>
                  <a:schemeClr val="accent2"/>
                </a:solidFill>
                <a:ea typeface="微软雅黑" panose="020B0503020204020204" pitchFamily="34" charset="-122"/>
                <a:cs typeface="宋体"/>
              </a:rPr>
              <a:t>APIs</a:t>
            </a:r>
            <a:r>
              <a:rPr sz="2000" spc="-390" dirty="0">
                <a:solidFill>
                  <a:schemeClr val="accent2"/>
                </a:solidFill>
                <a:ea typeface="微软雅黑" panose="020B0503020204020204" pitchFamily="34" charset="-122"/>
                <a:cs typeface="宋体"/>
              </a:rPr>
              <a:t> </a:t>
            </a:r>
            <a:r>
              <a:rPr sz="2000" spc="-200" dirty="0">
                <a:solidFill>
                  <a:schemeClr val="accent2"/>
                </a:solidFill>
                <a:ea typeface="微软雅黑" panose="020B0503020204020204" pitchFamily="34" charset="-122"/>
                <a:cs typeface="宋体"/>
              </a:rPr>
              <a:t>:</a:t>
            </a:r>
            <a:endParaRPr sz="2000" dirty="0">
              <a:solidFill>
                <a:schemeClr val="accent2"/>
              </a:solidFill>
              <a:ea typeface="微软雅黑" panose="020B0503020204020204" pitchFamily="34" charset="-122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"/>
              <a:tabLst>
                <a:tab pos="658495" algn="l"/>
                <a:tab pos="659130" algn="l"/>
                <a:tab pos="1199515" algn="l"/>
              </a:tabLst>
            </a:pPr>
            <a:r>
              <a:rPr lang="en-US" altLang="zh-CN" spc="360" dirty="0" smtClean="0">
                <a:ea typeface="微软雅黑" panose="020B0503020204020204" pitchFamily="34" charset="-122"/>
                <a:cs typeface="宋体"/>
              </a:rPr>
              <a:t>DOM</a:t>
            </a:r>
            <a:r>
              <a:rPr lang="zh-CN" altLang="en-US" spc="360" dirty="0" smtClean="0">
                <a:ea typeface="微软雅黑" panose="020B0503020204020204" pitchFamily="34" charset="-122"/>
                <a:cs typeface="宋体"/>
              </a:rPr>
              <a:t>：</a:t>
            </a:r>
            <a:r>
              <a:rPr lang="zh-CN" altLang="en-US" spc="325" dirty="0">
                <a:ea typeface="微软雅黑" panose="020B0503020204020204" pitchFamily="34" charset="-122"/>
                <a:cs typeface="宋体"/>
              </a:rPr>
              <a:t>文档对象模型，</a:t>
            </a:r>
            <a:r>
              <a:rPr spc="-25" dirty="0" err="1" smtClean="0">
                <a:ea typeface="微软雅黑" panose="020B0503020204020204" pitchFamily="34" charset="-122"/>
                <a:cs typeface="宋体"/>
              </a:rPr>
              <a:t>操作文档</a:t>
            </a:r>
            <a:r>
              <a:rPr spc="-25" dirty="0" err="1">
                <a:ea typeface="微软雅黑" panose="020B0503020204020204" pitchFamily="34" charset="-122"/>
                <a:cs typeface="宋体"/>
              </a:rPr>
              <a:t>，比如对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页</a:t>
            </a:r>
            <a:r>
              <a:rPr spc="-25" dirty="0" err="1">
                <a:ea typeface="微软雅黑" panose="020B0503020204020204" pitchFamily="34" charset="-122"/>
                <a:cs typeface="宋体"/>
              </a:rPr>
              <a:t>面元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素</a:t>
            </a:r>
            <a:r>
              <a:rPr spc="-25" dirty="0" err="1">
                <a:ea typeface="微软雅黑" panose="020B0503020204020204" pitchFamily="34" charset="-122"/>
                <a:cs typeface="宋体"/>
              </a:rPr>
              <a:t>进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行</a:t>
            </a:r>
            <a:r>
              <a:rPr spc="-25" dirty="0" err="1">
                <a:ea typeface="微软雅黑" panose="020B0503020204020204" pitchFamily="34" charset="-122"/>
                <a:cs typeface="宋体"/>
              </a:rPr>
              <a:t>移动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、</a:t>
            </a:r>
            <a:r>
              <a:rPr spc="-25" dirty="0" err="1">
                <a:ea typeface="微软雅黑" panose="020B0503020204020204" pitchFamily="34" charset="-122"/>
                <a:cs typeface="宋体"/>
              </a:rPr>
              <a:t>大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小</a:t>
            </a:r>
            <a:r>
              <a:rPr spc="-25" dirty="0" err="1">
                <a:ea typeface="微软雅黑" panose="020B0503020204020204" pitchFamily="34" charset="-122"/>
                <a:cs typeface="宋体"/>
              </a:rPr>
              <a:t>、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添</a:t>
            </a:r>
            <a:r>
              <a:rPr spc="-25" dirty="0" err="1">
                <a:ea typeface="微软雅黑" panose="020B0503020204020204" pitchFamily="34" charset="-122"/>
                <a:cs typeface="宋体"/>
              </a:rPr>
              <a:t>加删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除</a:t>
            </a:r>
            <a:r>
              <a:rPr spc="-25" dirty="0" err="1">
                <a:ea typeface="微软雅黑" panose="020B0503020204020204" pitchFamily="34" charset="-122"/>
                <a:cs typeface="宋体"/>
              </a:rPr>
              <a:t>等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操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作</a:t>
            </a:r>
            <a:endParaRPr dirty="0">
              <a:ea typeface="微软雅黑" panose="020B0503020204020204" pitchFamily="34" charset="-122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"/>
              <a:tabLst>
                <a:tab pos="658495" algn="l"/>
                <a:tab pos="659130" algn="l"/>
                <a:tab pos="1186180" algn="l"/>
              </a:tabLst>
            </a:pPr>
            <a:r>
              <a:rPr spc="325" dirty="0" smtClean="0">
                <a:ea typeface="微软雅黑" panose="020B0503020204020204" pitchFamily="34" charset="-122"/>
                <a:cs typeface="宋体"/>
              </a:rPr>
              <a:t>BOM</a:t>
            </a:r>
            <a:r>
              <a:rPr lang="zh-CN" altLang="en-US" spc="325" dirty="0" smtClean="0">
                <a:ea typeface="微软雅黑" panose="020B0503020204020204" pitchFamily="34" charset="-122"/>
                <a:cs typeface="宋体"/>
              </a:rPr>
              <a:t>：浏览器对象模型，</a:t>
            </a:r>
            <a:r>
              <a:rPr spc="-25" dirty="0" err="1" smtClean="0">
                <a:ea typeface="微软雅黑" panose="020B0503020204020204" pitchFamily="34" charset="-122"/>
                <a:cs typeface="宋体"/>
              </a:rPr>
              <a:t>操作浏览器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，比</a:t>
            </a:r>
            <a:r>
              <a:rPr spc="-25" dirty="0" err="1">
                <a:ea typeface="微软雅黑" panose="020B0503020204020204" pitchFamily="34" charset="-122"/>
                <a:cs typeface="宋体"/>
              </a:rPr>
              <a:t>如</a:t>
            </a:r>
            <a:r>
              <a:rPr spc="-35" dirty="0" err="1">
                <a:ea typeface="微软雅黑" panose="020B0503020204020204" pitchFamily="34" charset="-122"/>
                <a:cs typeface="宋体"/>
              </a:rPr>
              <a:t>页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面</a:t>
            </a:r>
            <a:r>
              <a:rPr spc="-40" dirty="0" err="1">
                <a:ea typeface="微软雅黑" panose="020B0503020204020204" pitchFamily="34" charset="-122"/>
                <a:cs typeface="宋体"/>
              </a:rPr>
              <a:t>弹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窗</a:t>
            </a:r>
            <a:r>
              <a:rPr spc="-40" dirty="0" err="1">
                <a:ea typeface="微软雅黑" panose="020B0503020204020204" pitchFamily="34" charset="-122"/>
                <a:cs typeface="宋体"/>
              </a:rPr>
              <a:t>，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检测</a:t>
            </a:r>
            <a:r>
              <a:rPr spc="-40" dirty="0" err="1">
                <a:ea typeface="微软雅黑" panose="020B0503020204020204" pitchFamily="34" charset="-122"/>
                <a:cs typeface="宋体"/>
              </a:rPr>
              <a:t>窗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口</a:t>
            </a:r>
            <a:r>
              <a:rPr spc="-40" dirty="0" err="1">
                <a:ea typeface="微软雅黑" panose="020B0503020204020204" pitchFamily="34" charset="-122"/>
                <a:cs typeface="宋体"/>
              </a:rPr>
              <a:t>宽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度、</a:t>
            </a:r>
            <a:r>
              <a:rPr spc="-40" dirty="0" err="1">
                <a:ea typeface="微软雅黑" panose="020B0503020204020204" pitchFamily="34" charset="-122"/>
                <a:cs typeface="宋体"/>
              </a:rPr>
              <a:t>存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储</a:t>
            </a:r>
            <a:r>
              <a:rPr spc="-40" dirty="0" err="1">
                <a:ea typeface="微软雅黑" panose="020B0503020204020204" pitchFamily="34" charset="-122"/>
                <a:cs typeface="宋体"/>
              </a:rPr>
              <a:t>数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据</a:t>
            </a:r>
            <a:r>
              <a:rPr spc="-40" dirty="0" err="1">
                <a:ea typeface="微软雅黑" panose="020B0503020204020204" pitchFamily="34" charset="-122"/>
                <a:cs typeface="宋体"/>
              </a:rPr>
              <a:t>到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浏览</a:t>
            </a:r>
            <a:r>
              <a:rPr spc="-40" dirty="0" err="1">
                <a:ea typeface="微软雅黑" panose="020B0503020204020204" pitchFamily="34" charset="-122"/>
                <a:cs typeface="宋体"/>
              </a:rPr>
              <a:t>器</a:t>
            </a:r>
            <a:r>
              <a:rPr spc="-20" dirty="0" err="1">
                <a:ea typeface="微软雅黑" panose="020B0503020204020204" pitchFamily="34" charset="-122"/>
                <a:cs typeface="宋体"/>
              </a:rPr>
              <a:t>等等</a:t>
            </a:r>
            <a:endParaRPr dirty="0">
              <a:ea typeface="微软雅黑" panose="020B0503020204020204" pitchFamily="34" charset="-122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807" y="6012679"/>
            <a:ext cx="272046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252525"/>
                </a:solidFill>
                <a:cs typeface="微软雅黑"/>
              </a:rPr>
              <a:t>权威网站</a:t>
            </a:r>
            <a:r>
              <a:rPr sz="2000" b="1" spc="-20" dirty="0">
                <a:solidFill>
                  <a:srgbClr val="252525"/>
                </a:solidFill>
                <a:cs typeface="微软雅黑"/>
              </a:rPr>
              <a:t>：</a:t>
            </a:r>
            <a:r>
              <a:rPr sz="2000" b="1" spc="180" dirty="0">
                <a:solidFill>
                  <a:srgbClr val="252525"/>
                </a:solidFill>
                <a:cs typeface="微软雅黑"/>
              </a:rPr>
              <a:t> </a:t>
            </a:r>
            <a:r>
              <a:rPr sz="2000" b="1" spc="-130" dirty="0">
                <a:solidFill>
                  <a:srgbClr val="252525"/>
                </a:solidFill>
                <a:cs typeface="微软雅黑"/>
              </a:rPr>
              <a:t>MDN</a:t>
            </a:r>
            <a:endParaRPr sz="2000" dirty="0"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02980" y="2040635"/>
            <a:ext cx="1338580" cy="313547"/>
          </a:xfrm>
          <a:prstGeom prst="rect">
            <a:avLst/>
          </a:prstGeom>
          <a:solidFill>
            <a:schemeClr val="accent6"/>
          </a:solidFill>
        </p:spPr>
        <p:txBody>
          <a:bodyPr vert="horz" wrap="square" lIns="0" tIns="150495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1185"/>
              </a:spcBef>
            </a:pPr>
            <a:r>
              <a:rPr sz="1050" spc="-5" dirty="0">
                <a:solidFill>
                  <a:srgbClr val="FFFFFF"/>
                </a:solidFill>
                <a:cs typeface="微软雅黑"/>
              </a:rPr>
              <a:t>JavaScript</a:t>
            </a:r>
            <a:endParaRPr sz="1050"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20000" y="3137916"/>
            <a:ext cx="1007744" cy="1007744"/>
          </a:xfrm>
          <a:custGeom>
            <a:avLst/>
            <a:gdLst/>
            <a:ahLst/>
            <a:cxnLst/>
            <a:rect l="l" t="t" r="r" b="b"/>
            <a:pathLst>
              <a:path w="1007745" h="1007745">
                <a:moveTo>
                  <a:pt x="503681" y="0"/>
                </a:moveTo>
                <a:lnTo>
                  <a:pt x="455181" y="2306"/>
                </a:lnTo>
                <a:lnTo>
                  <a:pt x="407983" y="9083"/>
                </a:lnTo>
                <a:lnTo>
                  <a:pt x="362299" y="20121"/>
                </a:lnTo>
                <a:lnTo>
                  <a:pt x="318340" y="35208"/>
                </a:lnTo>
                <a:lnTo>
                  <a:pt x="276318" y="54133"/>
                </a:lnTo>
                <a:lnTo>
                  <a:pt x="236444" y="76684"/>
                </a:lnTo>
                <a:lnTo>
                  <a:pt x="198929" y="102651"/>
                </a:lnTo>
                <a:lnTo>
                  <a:pt x="163984" y="131821"/>
                </a:lnTo>
                <a:lnTo>
                  <a:pt x="131821" y="163984"/>
                </a:lnTo>
                <a:lnTo>
                  <a:pt x="102651" y="198929"/>
                </a:lnTo>
                <a:lnTo>
                  <a:pt x="76684" y="236444"/>
                </a:lnTo>
                <a:lnTo>
                  <a:pt x="54133" y="276318"/>
                </a:lnTo>
                <a:lnTo>
                  <a:pt x="35208" y="318340"/>
                </a:lnTo>
                <a:lnTo>
                  <a:pt x="20121" y="362299"/>
                </a:lnTo>
                <a:lnTo>
                  <a:pt x="9083" y="407983"/>
                </a:lnTo>
                <a:lnTo>
                  <a:pt x="2306" y="455181"/>
                </a:lnTo>
                <a:lnTo>
                  <a:pt x="0" y="503682"/>
                </a:lnTo>
                <a:lnTo>
                  <a:pt x="2306" y="552182"/>
                </a:lnTo>
                <a:lnTo>
                  <a:pt x="9083" y="599380"/>
                </a:lnTo>
                <a:lnTo>
                  <a:pt x="20121" y="645064"/>
                </a:lnTo>
                <a:lnTo>
                  <a:pt x="35208" y="689023"/>
                </a:lnTo>
                <a:lnTo>
                  <a:pt x="54133" y="731045"/>
                </a:lnTo>
                <a:lnTo>
                  <a:pt x="76684" y="770919"/>
                </a:lnTo>
                <a:lnTo>
                  <a:pt x="102651" y="808434"/>
                </a:lnTo>
                <a:lnTo>
                  <a:pt x="131821" y="843379"/>
                </a:lnTo>
                <a:lnTo>
                  <a:pt x="163984" y="875542"/>
                </a:lnTo>
                <a:lnTo>
                  <a:pt x="198929" y="904712"/>
                </a:lnTo>
                <a:lnTo>
                  <a:pt x="236444" y="930679"/>
                </a:lnTo>
                <a:lnTo>
                  <a:pt x="276318" y="953230"/>
                </a:lnTo>
                <a:lnTo>
                  <a:pt x="318340" y="972155"/>
                </a:lnTo>
                <a:lnTo>
                  <a:pt x="362299" y="987242"/>
                </a:lnTo>
                <a:lnTo>
                  <a:pt x="407983" y="998280"/>
                </a:lnTo>
                <a:lnTo>
                  <a:pt x="455181" y="1005057"/>
                </a:lnTo>
                <a:lnTo>
                  <a:pt x="503681" y="1007364"/>
                </a:lnTo>
                <a:lnTo>
                  <a:pt x="552182" y="1005057"/>
                </a:lnTo>
                <a:lnTo>
                  <a:pt x="599380" y="998280"/>
                </a:lnTo>
                <a:lnTo>
                  <a:pt x="645064" y="987242"/>
                </a:lnTo>
                <a:lnTo>
                  <a:pt x="689023" y="972155"/>
                </a:lnTo>
                <a:lnTo>
                  <a:pt x="731045" y="953230"/>
                </a:lnTo>
                <a:lnTo>
                  <a:pt x="770919" y="930679"/>
                </a:lnTo>
                <a:lnTo>
                  <a:pt x="808434" y="904712"/>
                </a:lnTo>
                <a:lnTo>
                  <a:pt x="843379" y="875542"/>
                </a:lnTo>
                <a:lnTo>
                  <a:pt x="875542" y="843379"/>
                </a:lnTo>
                <a:lnTo>
                  <a:pt x="904712" y="808434"/>
                </a:lnTo>
                <a:lnTo>
                  <a:pt x="930679" y="770919"/>
                </a:lnTo>
                <a:lnTo>
                  <a:pt x="953230" y="731045"/>
                </a:lnTo>
                <a:lnTo>
                  <a:pt x="972155" y="689023"/>
                </a:lnTo>
                <a:lnTo>
                  <a:pt x="987242" y="645064"/>
                </a:lnTo>
                <a:lnTo>
                  <a:pt x="998280" y="599380"/>
                </a:lnTo>
                <a:lnTo>
                  <a:pt x="1005057" y="552182"/>
                </a:lnTo>
                <a:lnTo>
                  <a:pt x="1007364" y="503682"/>
                </a:lnTo>
                <a:lnTo>
                  <a:pt x="1005057" y="455181"/>
                </a:lnTo>
                <a:lnTo>
                  <a:pt x="998280" y="407983"/>
                </a:lnTo>
                <a:lnTo>
                  <a:pt x="987242" y="362299"/>
                </a:lnTo>
                <a:lnTo>
                  <a:pt x="972155" y="318340"/>
                </a:lnTo>
                <a:lnTo>
                  <a:pt x="953230" y="276318"/>
                </a:lnTo>
                <a:lnTo>
                  <a:pt x="930679" y="236444"/>
                </a:lnTo>
                <a:lnTo>
                  <a:pt x="904712" y="198929"/>
                </a:lnTo>
                <a:lnTo>
                  <a:pt x="875542" y="163984"/>
                </a:lnTo>
                <a:lnTo>
                  <a:pt x="843379" y="131821"/>
                </a:lnTo>
                <a:lnTo>
                  <a:pt x="808434" y="102651"/>
                </a:lnTo>
                <a:lnTo>
                  <a:pt x="770919" y="76684"/>
                </a:lnTo>
                <a:lnTo>
                  <a:pt x="731045" y="54133"/>
                </a:lnTo>
                <a:lnTo>
                  <a:pt x="689023" y="35208"/>
                </a:lnTo>
                <a:lnTo>
                  <a:pt x="645064" y="20121"/>
                </a:lnTo>
                <a:lnTo>
                  <a:pt x="599380" y="9083"/>
                </a:lnTo>
                <a:lnTo>
                  <a:pt x="552182" y="2306"/>
                </a:lnTo>
                <a:lnTo>
                  <a:pt x="503681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733538" y="3548252"/>
            <a:ext cx="77978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FFFFFF"/>
                </a:solidFill>
                <a:cs typeface="微软雅黑"/>
              </a:rPr>
              <a:t>ECMAScript</a:t>
            </a:r>
            <a:endParaRPr sz="1050"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7351" y="4175886"/>
            <a:ext cx="135763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chemeClr val="accent2"/>
                </a:solidFill>
                <a:cs typeface="Courier New" panose="02070409020205090404"/>
              </a:rPr>
              <a:t>JavaScript</a:t>
            </a:r>
            <a:r>
              <a:rPr sz="1050" spc="-10" dirty="0">
                <a:solidFill>
                  <a:schemeClr val="accent2"/>
                </a:solidFill>
                <a:cs typeface="微软雅黑"/>
              </a:rPr>
              <a:t>语</a:t>
            </a:r>
            <a:r>
              <a:rPr sz="1050" spc="5" dirty="0">
                <a:solidFill>
                  <a:schemeClr val="accent2"/>
                </a:solidFill>
                <a:cs typeface="微软雅黑"/>
              </a:rPr>
              <a:t>言</a:t>
            </a:r>
            <a:r>
              <a:rPr sz="1050" spc="-10" dirty="0">
                <a:solidFill>
                  <a:schemeClr val="accent2"/>
                </a:solidFill>
                <a:cs typeface="微软雅黑"/>
              </a:rPr>
              <a:t>基</a:t>
            </a:r>
            <a:r>
              <a:rPr sz="1050" spc="5" dirty="0">
                <a:solidFill>
                  <a:schemeClr val="accent2"/>
                </a:solidFill>
                <a:cs typeface="微软雅黑"/>
              </a:rPr>
              <a:t>础</a:t>
            </a:r>
            <a:endParaRPr sz="1050" dirty="0">
              <a:solidFill>
                <a:schemeClr val="accent2"/>
              </a:solidFill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33688" y="4789932"/>
            <a:ext cx="1009015" cy="1009015"/>
          </a:xfrm>
          <a:custGeom>
            <a:avLst/>
            <a:gdLst/>
            <a:ahLst/>
            <a:cxnLst/>
            <a:rect l="l" t="t" r="r" b="b"/>
            <a:pathLst>
              <a:path w="1009015" h="1009014">
                <a:moveTo>
                  <a:pt x="504443" y="0"/>
                </a:moveTo>
                <a:lnTo>
                  <a:pt x="455856" y="2308"/>
                </a:lnTo>
                <a:lnTo>
                  <a:pt x="408576" y="9094"/>
                </a:lnTo>
                <a:lnTo>
                  <a:pt x="362816" y="20145"/>
                </a:lnTo>
                <a:lnTo>
                  <a:pt x="318786" y="35250"/>
                </a:lnTo>
                <a:lnTo>
                  <a:pt x="276698" y="54199"/>
                </a:lnTo>
                <a:lnTo>
                  <a:pt x="236763" y="76779"/>
                </a:lnTo>
                <a:lnTo>
                  <a:pt x="199193" y="102780"/>
                </a:lnTo>
                <a:lnTo>
                  <a:pt x="164198" y="131990"/>
                </a:lnTo>
                <a:lnTo>
                  <a:pt x="131990" y="164198"/>
                </a:lnTo>
                <a:lnTo>
                  <a:pt x="102780" y="199193"/>
                </a:lnTo>
                <a:lnTo>
                  <a:pt x="76779" y="236763"/>
                </a:lnTo>
                <a:lnTo>
                  <a:pt x="54199" y="276698"/>
                </a:lnTo>
                <a:lnTo>
                  <a:pt x="35250" y="318786"/>
                </a:lnTo>
                <a:lnTo>
                  <a:pt x="20145" y="362816"/>
                </a:lnTo>
                <a:lnTo>
                  <a:pt x="9094" y="408576"/>
                </a:lnTo>
                <a:lnTo>
                  <a:pt x="2308" y="455856"/>
                </a:lnTo>
                <a:lnTo>
                  <a:pt x="0" y="504444"/>
                </a:lnTo>
                <a:lnTo>
                  <a:pt x="2308" y="553031"/>
                </a:lnTo>
                <a:lnTo>
                  <a:pt x="9094" y="600311"/>
                </a:lnTo>
                <a:lnTo>
                  <a:pt x="20145" y="646071"/>
                </a:lnTo>
                <a:lnTo>
                  <a:pt x="35250" y="690101"/>
                </a:lnTo>
                <a:lnTo>
                  <a:pt x="54199" y="732189"/>
                </a:lnTo>
                <a:lnTo>
                  <a:pt x="76779" y="772124"/>
                </a:lnTo>
                <a:lnTo>
                  <a:pt x="102780" y="809694"/>
                </a:lnTo>
                <a:lnTo>
                  <a:pt x="131990" y="844689"/>
                </a:lnTo>
                <a:lnTo>
                  <a:pt x="164198" y="876897"/>
                </a:lnTo>
                <a:lnTo>
                  <a:pt x="199193" y="906107"/>
                </a:lnTo>
                <a:lnTo>
                  <a:pt x="236763" y="932108"/>
                </a:lnTo>
                <a:lnTo>
                  <a:pt x="276698" y="954688"/>
                </a:lnTo>
                <a:lnTo>
                  <a:pt x="318786" y="973637"/>
                </a:lnTo>
                <a:lnTo>
                  <a:pt x="362816" y="988742"/>
                </a:lnTo>
                <a:lnTo>
                  <a:pt x="408576" y="999793"/>
                </a:lnTo>
                <a:lnTo>
                  <a:pt x="455856" y="1006579"/>
                </a:lnTo>
                <a:lnTo>
                  <a:pt x="504443" y="1008888"/>
                </a:lnTo>
                <a:lnTo>
                  <a:pt x="553031" y="1006579"/>
                </a:lnTo>
                <a:lnTo>
                  <a:pt x="600311" y="999793"/>
                </a:lnTo>
                <a:lnTo>
                  <a:pt x="646071" y="988742"/>
                </a:lnTo>
                <a:lnTo>
                  <a:pt x="690101" y="973637"/>
                </a:lnTo>
                <a:lnTo>
                  <a:pt x="732189" y="954688"/>
                </a:lnTo>
                <a:lnTo>
                  <a:pt x="772124" y="932108"/>
                </a:lnTo>
                <a:lnTo>
                  <a:pt x="809694" y="906107"/>
                </a:lnTo>
                <a:lnTo>
                  <a:pt x="844689" y="876897"/>
                </a:lnTo>
                <a:lnTo>
                  <a:pt x="876897" y="844689"/>
                </a:lnTo>
                <a:lnTo>
                  <a:pt x="906107" y="809694"/>
                </a:lnTo>
                <a:lnTo>
                  <a:pt x="932108" y="772124"/>
                </a:lnTo>
                <a:lnTo>
                  <a:pt x="954688" y="732189"/>
                </a:lnTo>
                <a:lnTo>
                  <a:pt x="973637" y="690101"/>
                </a:lnTo>
                <a:lnTo>
                  <a:pt x="988742" y="646071"/>
                </a:lnTo>
                <a:lnTo>
                  <a:pt x="999793" y="600311"/>
                </a:lnTo>
                <a:lnTo>
                  <a:pt x="1006579" y="553031"/>
                </a:lnTo>
                <a:lnTo>
                  <a:pt x="1008887" y="504444"/>
                </a:lnTo>
                <a:lnTo>
                  <a:pt x="1006579" y="455856"/>
                </a:lnTo>
                <a:lnTo>
                  <a:pt x="999793" y="408576"/>
                </a:lnTo>
                <a:lnTo>
                  <a:pt x="988742" y="362816"/>
                </a:lnTo>
                <a:lnTo>
                  <a:pt x="973637" y="318786"/>
                </a:lnTo>
                <a:lnTo>
                  <a:pt x="954688" y="276698"/>
                </a:lnTo>
                <a:lnTo>
                  <a:pt x="932108" y="236763"/>
                </a:lnTo>
                <a:lnTo>
                  <a:pt x="906107" y="199193"/>
                </a:lnTo>
                <a:lnTo>
                  <a:pt x="876897" y="164198"/>
                </a:lnTo>
                <a:lnTo>
                  <a:pt x="844689" y="131990"/>
                </a:lnTo>
                <a:lnTo>
                  <a:pt x="809694" y="102780"/>
                </a:lnTo>
                <a:lnTo>
                  <a:pt x="772124" y="76779"/>
                </a:lnTo>
                <a:lnTo>
                  <a:pt x="732189" y="54199"/>
                </a:lnTo>
                <a:lnTo>
                  <a:pt x="690101" y="35250"/>
                </a:lnTo>
                <a:lnTo>
                  <a:pt x="646071" y="20145"/>
                </a:lnTo>
                <a:lnTo>
                  <a:pt x="600311" y="9094"/>
                </a:lnTo>
                <a:lnTo>
                  <a:pt x="553031" y="2308"/>
                </a:lnTo>
                <a:lnTo>
                  <a:pt x="504443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254108" y="5201158"/>
            <a:ext cx="36830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5" dirty="0">
                <a:solidFill>
                  <a:srgbClr val="FFFFFF"/>
                </a:solidFill>
                <a:cs typeface="微软雅黑"/>
              </a:rPr>
              <a:t>DOM</a:t>
            </a:r>
            <a:endParaRPr sz="1050"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85935" y="5851042"/>
            <a:ext cx="109728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5" dirty="0">
                <a:cs typeface="微软雅黑"/>
              </a:rPr>
              <a:t>页面文档对象</a:t>
            </a:r>
            <a:r>
              <a:rPr sz="1050" spc="-10" dirty="0">
                <a:cs typeface="微软雅黑"/>
              </a:rPr>
              <a:t>模</a:t>
            </a:r>
            <a:r>
              <a:rPr sz="1050" spc="5" dirty="0">
                <a:cs typeface="微软雅黑"/>
              </a:rPr>
              <a:t>型</a:t>
            </a:r>
            <a:endParaRPr sz="1050"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831068" y="4788408"/>
            <a:ext cx="1009015" cy="1007744"/>
          </a:xfrm>
          <a:custGeom>
            <a:avLst/>
            <a:gdLst/>
            <a:ahLst/>
            <a:cxnLst/>
            <a:rect l="l" t="t" r="r" b="b"/>
            <a:pathLst>
              <a:path w="1009015" h="1007745">
                <a:moveTo>
                  <a:pt x="504443" y="0"/>
                </a:moveTo>
                <a:lnTo>
                  <a:pt x="455856" y="2306"/>
                </a:lnTo>
                <a:lnTo>
                  <a:pt x="408576" y="9083"/>
                </a:lnTo>
                <a:lnTo>
                  <a:pt x="362816" y="20121"/>
                </a:lnTo>
                <a:lnTo>
                  <a:pt x="318786" y="35208"/>
                </a:lnTo>
                <a:lnTo>
                  <a:pt x="276698" y="54133"/>
                </a:lnTo>
                <a:lnTo>
                  <a:pt x="236763" y="76684"/>
                </a:lnTo>
                <a:lnTo>
                  <a:pt x="199193" y="102651"/>
                </a:lnTo>
                <a:lnTo>
                  <a:pt x="164198" y="131821"/>
                </a:lnTo>
                <a:lnTo>
                  <a:pt x="131990" y="163984"/>
                </a:lnTo>
                <a:lnTo>
                  <a:pt x="102780" y="198929"/>
                </a:lnTo>
                <a:lnTo>
                  <a:pt x="76779" y="236444"/>
                </a:lnTo>
                <a:lnTo>
                  <a:pt x="54199" y="276318"/>
                </a:lnTo>
                <a:lnTo>
                  <a:pt x="35250" y="318340"/>
                </a:lnTo>
                <a:lnTo>
                  <a:pt x="20145" y="362299"/>
                </a:lnTo>
                <a:lnTo>
                  <a:pt x="9094" y="407983"/>
                </a:lnTo>
                <a:lnTo>
                  <a:pt x="2308" y="455181"/>
                </a:lnTo>
                <a:lnTo>
                  <a:pt x="0" y="503682"/>
                </a:lnTo>
                <a:lnTo>
                  <a:pt x="2308" y="552182"/>
                </a:lnTo>
                <a:lnTo>
                  <a:pt x="9094" y="599380"/>
                </a:lnTo>
                <a:lnTo>
                  <a:pt x="20145" y="645064"/>
                </a:lnTo>
                <a:lnTo>
                  <a:pt x="35250" y="689023"/>
                </a:lnTo>
                <a:lnTo>
                  <a:pt x="54199" y="731045"/>
                </a:lnTo>
                <a:lnTo>
                  <a:pt x="76779" y="770919"/>
                </a:lnTo>
                <a:lnTo>
                  <a:pt x="102780" y="808434"/>
                </a:lnTo>
                <a:lnTo>
                  <a:pt x="131990" y="843379"/>
                </a:lnTo>
                <a:lnTo>
                  <a:pt x="164198" y="875542"/>
                </a:lnTo>
                <a:lnTo>
                  <a:pt x="199193" y="904712"/>
                </a:lnTo>
                <a:lnTo>
                  <a:pt x="236763" y="930679"/>
                </a:lnTo>
                <a:lnTo>
                  <a:pt x="276698" y="953230"/>
                </a:lnTo>
                <a:lnTo>
                  <a:pt x="318786" y="972155"/>
                </a:lnTo>
                <a:lnTo>
                  <a:pt x="362816" y="987242"/>
                </a:lnTo>
                <a:lnTo>
                  <a:pt x="408576" y="998280"/>
                </a:lnTo>
                <a:lnTo>
                  <a:pt x="455856" y="1005057"/>
                </a:lnTo>
                <a:lnTo>
                  <a:pt x="504443" y="1007364"/>
                </a:lnTo>
                <a:lnTo>
                  <a:pt x="553031" y="1005057"/>
                </a:lnTo>
                <a:lnTo>
                  <a:pt x="600311" y="998280"/>
                </a:lnTo>
                <a:lnTo>
                  <a:pt x="646071" y="987242"/>
                </a:lnTo>
                <a:lnTo>
                  <a:pt x="690101" y="972155"/>
                </a:lnTo>
                <a:lnTo>
                  <a:pt x="732189" y="953230"/>
                </a:lnTo>
                <a:lnTo>
                  <a:pt x="772124" y="930679"/>
                </a:lnTo>
                <a:lnTo>
                  <a:pt x="809694" y="904712"/>
                </a:lnTo>
                <a:lnTo>
                  <a:pt x="844689" y="875542"/>
                </a:lnTo>
                <a:lnTo>
                  <a:pt x="876897" y="843379"/>
                </a:lnTo>
                <a:lnTo>
                  <a:pt x="906107" y="808434"/>
                </a:lnTo>
                <a:lnTo>
                  <a:pt x="932108" y="770919"/>
                </a:lnTo>
                <a:lnTo>
                  <a:pt x="954688" y="731045"/>
                </a:lnTo>
                <a:lnTo>
                  <a:pt x="973637" y="689023"/>
                </a:lnTo>
                <a:lnTo>
                  <a:pt x="988742" y="645064"/>
                </a:lnTo>
                <a:lnTo>
                  <a:pt x="999793" y="599380"/>
                </a:lnTo>
                <a:lnTo>
                  <a:pt x="1006579" y="552182"/>
                </a:lnTo>
                <a:lnTo>
                  <a:pt x="1008887" y="503682"/>
                </a:lnTo>
                <a:lnTo>
                  <a:pt x="1006579" y="455181"/>
                </a:lnTo>
                <a:lnTo>
                  <a:pt x="999793" y="407983"/>
                </a:lnTo>
                <a:lnTo>
                  <a:pt x="988742" y="362299"/>
                </a:lnTo>
                <a:lnTo>
                  <a:pt x="973637" y="318340"/>
                </a:lnTo>
                <a:lnTo>
                  <a:pt x="954688" y="276318"/>
                </a:lnTo>
                <a:lnTo>
                  <a:pt x="932108" y="236444"/>
                </a:lnTo>
                <a:lnTo>
                  <a:pt x="906107" y="198929"/>
                </a:lnTo>
                <a:lnTo>
                  <a:pt x="876897" y="163984"/>
                </a:lnTo>
                <a:lnTo>
                  <a:pt x="844689" y="131821"/>
                </a:lnTo>
                <a:lnTo>
                  <a:pt x="809694" y="102651"/>
                </a:lnTo>
                <a:lnTo>
                  <a:pt x="772124" y="76684"/>
                </a:lnTo>
                <a:lnTo>
                  <a:pt x="732189" y="54133"/>
                </a:lnTo>
                <a:lnTo>
                  <a:pt x="690101" y="35208"/>
                </a:lnTo>
                <a:lnTo>
                  <a:pt x="646071" y="20121"/>
                </a:lnTo>
                <a:lnTo>
                  <a:pt x="600311" y="9083"/>
                </a:lnTo>
                <a:lnTo>
                  <a:pt x="553031" y="2306"/>
                </a:lnTo>
                <a:lnTo>
                  <a:pt x="504443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132057" y="5203697"/>
            <a:ext cx="34988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FFFFFF"/>
                </a:solidFill>
                <a:cs typeface="微软雅黑"/>
              </a:rPr>
              <a:t>BOM</a:t>
            </a:r>
            <a:endParaRPr sz="1050"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96345" y="5837631"/>
            <a:ext cx="96456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5" dirty="0">
                <a:cs typeface="微软雅黑"/>
              </a:rPr>
              <a:t>浏览器对象模型</a:t>
            </a:r>
            <a:endParaRPr sz="1050"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22919" y="2533395"/>
            <a:ext cx="1151255" cy="605155"/>
          </a:xfrm>
          <a:custGeom>
            <a:avLst/>
            <a:gdLst/>
            <a:ahLst/>
            <a:cxnLst/>
            <a:rect l="l" t="t" r="r" b="b"/>
            <a:pathLst>
              <a:path w="1151254" h="605155">
                <a:moveTo>
                  <a:pt x="49910" y="535939"/>
                </a:moveTo>
                <a:lnTo>
                  <a:pt x="0" y="605027"/>
                </a:lnTo>
                <a:lnTo>
                  <a:pt x="85216" y="603503"/>
                </a:lnTo>
                <a:lnTo>
                  <a:pt x="73603" y="581278"/>
                </a:lnTo>
                <a:lnTo>
                  <a:pt x="59181" y="581278"/>
                </a:lnTo>
                <a:lnTo>
                  <a:pt x="53339" y="569976"/>
                </a:lnTo>
                <a:lnTo>
                  <a:pt x="64619" y="564087"/>
                </a:lnTo>
                <a:lnTo>
                  <a:pt x="49910" y="535939"/>
                </a:lnTo>
                <a:close/>
              </a:path>
              <a:path w="1151254" h="605155">
                <a:moveTo>
                  <a:pt x="64619" y="564087"/>
                </a:moveTo>
                <a:lnTo>
                  <a:pt x="53339" y="569976"/>
                </a:lnTo>
                <a:lnTo>
                  <a:pt x="59181" y="581278"/>
                </a:lnTo>
                <a:lnTo>
                  <a:pt x="70512" y="575363"/>
                </a:lnTo>
                <a:lnTo>
                  <a:pt x="64619" y="564087"/>
                </a:lnTo>
                <a:close/>
              </a:path>
              <a:path w="1151254" h="605155">
                <a:moveTo>
                  <a:pt x="70512" y="575363"/>
                </a:moveTo>
                <a:lnTo>
                  <a:pt x="59181" y="581278"/>
                </a:lnTo>
                <a:lnTo>
                  <a:pt x="73603" y="581278"/>
                </a:lnTo>
                <a:lnTo>
                  <a:pt x="70512" y="575363"/>
                </a:lnTo>
                <a:close/>
              </a:path>
              <a:path w="1151254" h="605155">
                <a:moveTo>
                  <a:pt x="1145158" y="0"/>
                </a:moveTo>
                <a:lnTo>
                  <a:pt x="64619" y="564087"/>
                </a:lnTo>
                <a:lnTo>
                  <a:pt x="70512" y="575363"/>
                </a:lnTo>
                <a:lnTo>
                  <a:pt x="1151127" y="11175"/>
                </a:lnTo>
                <a:lnTo>
                  <a:pt x="1145158" y="0"/>
                </a:lnTo>
                <a:close/>
              </a:path>
            </a:pathLst>
          </a:custGeom>
          <a:solidFill>
            <a:srgbClr val="497DBA"/>
          </a:solid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435083" y="4186428"/>
            <a:ext cx="1861185" cy="558165"/>
          </a:xfrm>
          <a:custGeom>
            <a:avLst/>
            <a:gdLst/>
            <a:ahLst/>
            <a:cxnLst/>
            <a:rect l="l" t="t" r="r" b="b"/>
            <a:pathLst>
              <a:path w="1861184" h="558164">
                <a:moveTo>
                  <a:pt x="0" y="557784"/>
                </a:moveTo>
                <a:lnTo>
                  <a:pt x="1661" y="483635"/>
                </a:lnTo>
                <a:lnTo>
                  <a:pt x="6350" y="417011"/>
                </a:lnTo>
                <a:lnTo>
                  <a:pt x="13620" y="360568"/>
                </a:lnTo>
                <a:lnTo>
                  <a:pt x="23029" y="316963"/>
                </a:lnTo>
                <a:lnTo>
                  <a:pt x="46482" y="278892"/>
                </a:lnTo>
                <a:lnTo>
                  <a:pt x="883920" y="278892"/>
                </a:lnTo>
                <a:lnTo>
                  <a:pt x="896270" y="268931"/>
                </a:lnTo>
                <a:lnTo>
                  <a:pt x="916781" y="197215"/>
                </a:lnTo>
                <a:lnTo>
                  <a:pt x="924051" y="140772"/>
                </a:lnTo>
                <a:lnTo>
                  <a:pt x="928740" y="74148"/>
                </a:lnTo>
                <a:lnTo>
                  <a:pt x="930401" y="0"/>
                </a:lnTo>
                <a:lnTo>
                  <a:pt x="932063" y="74148"/>
                </a:lnTo>
                <a:lnTo>
                  <a:pt x="936752" y="140772"/>
                </a:lnTo>
                <a:lnTo>
                  <a:pt x="944022" y="197215"/>
                </a:lnTo>
                <a:lnTo>
                  <a:pt x="953431" y="240820"/>
                </a:lnTo>
                <a:lnTo>
                  <a:pt x="976884" y="278892"/>
                </a:lnTo>
                <a:lnTo>
                  <a:pt x="1814322" y="278892"/>
                </a:lnTo>
                <a:lnTo>
                  <a:pt x="1826672" y="288852"/>
                </a:lnTo>
                <a:lnTo>
                  <a:pt x="1837774" y="316963"/>
                </a:lnTo>
                <a:lnTo>
                  <a:pt x="1847183" y="360568"/>
                </a:lnTo>
                <a:lnTo>
                  <a:pt x="1854454" y="417011"/>
                </a:lnTo>
                <a:lnTo>
                  <a:pt x="1859142" y="483635"/>
                </a:lnTo>
                <a:lnTo>
                  <a:pt x="1860804" y="557784"/>
                </a:lnTo>
              </a:path>
            </a:pathLst>
          </a:custGeom>
          <a:ln w="9144"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823704" y="3166872"/>
            <a:ext cx="1007744" cy="1009015"/>
          </a:xfrm>
          <a:custGeom>
            <a:avLst/>
            <a:gdLst/>
            <a:ahLst/>
            <a:cxnLst/>
            <a:rect l="l" t="t" r="r" b="b"/>
            <a:pathLst>
              <a:path w="1007745" h="1009014">
                <a:moveTo>
                  <a:pt x="503681" y="0"/>
                </a:moveTo>
                <a:lnTo>
                  <a:pt x="455181" y="2308"/>
                </a:lnTo>
                <a:lnTo>
                  <a:pt x="407983" y="9094"/>
                </a:lnTo>
                <a:lnTo>
                  <a:pt x="362299" y="20145"/>
                </a:lnTo>
                <a:lnTo>
                  <a:pt x="318340" y="35250"/>
                </a:lnTo>
                <a:lnTo>
                  <a:pt x="276318" y="54199"/>
                </a:lnTo>
                <a:lnTo>
                  <a:pt x="236444" y="76779"/>
                </a:lnTo>
                <a:lnTo>
                  <a:pt x="198929" y="102780"/>
                </a:lnTo>
                <a:lnTo>
                  <a:pt x="163984" y="131990"/>
                </a:lnTo>
                <a:lnTo>
                  <a:pt x="131821" y="164198"/>
                </a:lnTo>
                <a:lnTo>
                  <a:pt x="102651" y="199193"/>
                </a:lnTo>
                <a:lnTo>
                  <a:pt x="76684" y="236763"/>
                </a:lnTo>
                <a:lnTo>
                  <a:pt x="54133" y="276698"/>
                </a:lnTo>
                <a:lnTo>
                  <a:pt x="35208" y="318786"/>
                </a:lnTo>
                <a:lnTo>
                  <a:pt x="20121" y="362816"/>
                </a:lnTo>
                <a:lnTo>
                  <a:pt x="9083" y="408576"/>
                </a:lnTo>
                <a:lnTo>
                  <a:pt x="2306" y="455856"/>
                </a:lnTo>
                <a:lnTo>
                  <a:pt x="0" y="504444"/>
                </a:lnTo>
                <a:lnTo>
                  <a:pt x="2306" y="553031"/>
                </a:lnTo>
                <a:lnTo>
                  <a:pt x="9083" y="600311"/>
                </a:lnTo>
                <a:lnTo>
                  <a:pt x="20121" y="646071"/>
                </a:lnTo>
                <a:lnTo>
                  <a:pt x="35208" y="690101"/>
                </a:lnTo>
                <a:lnTo>
                  <a:pt x="54133" y="732189"/>
                </a:lnTo>
                <a:lnTo>
                  <a:pt x="76684" y="772124"/>
                </a:lnTo>
                <a:lnTo>
                  <a:pt x="102651" y="809694"/>
                </a:lnTo>
                <a:lnTo>
                  <a:pt x="131821" y="844689"/>
                </a:lnTo>
                <a:lnTo>
                  <a:pt x="163984" y="876897"/>
                </a:lnTo>
                <a:lnTo>
                  <a:pt x="198929" y="906107"/>
                </a:lnTo>
                <a:lnTo>
                  <a:pt x="236444" y="932108"/>
                </a:lnTo>
                <a:lnTo>
                  <a:pt x="276318" y="954688"/>
                </a:lnTo>
                <a:lnTo>
                  <a:pt x="318340" y="973637"/>
                </a:lnTo>
                <a:lnTo>
                  <a:pt x="362299" y="988742"/>
                </a:lnTo>
                <a:lnTo>
                  <a:pt x="407983" y="999793"/>
                </a:lnTo>
                <a:lnTo>
                  <a:pt x="455181" y="1006579"/>
                </a:lnTo>
                <a:lnTo>
                  <a:pt x="503681" y="1008888"/>
                </a:lnTo>
                <a:lnTo>
                  <a:pt x="552182" y="1006579"/>
                </a:lnTo>
                <a:lnTo>
                  <a:pt x="599380" y="999793"/>
                </a:lnTo>
                <a:lnTo>
                  <a:pt x="645064" y="988742"/>
                </a:lnTo>
                <a:lnTo>
                  <a:pt x="689023" y="973637"/>
                </a:lnTo>
                <a:lnTo>
                  <a:pt x="731045" y="954688"/>
                </a:lnTo>
                <a:lnTo>
                  <a:pt x="770919" y="932108"/>
                </a:lnTo>
                <a:lnTo>
                  <a:pt x="808434" y="906107"/>
                </a:lnTo>
                <a:lnTo>
                  <a:pt x="843379" y="876897"/>
                </a:lnTo>
                <a:lnTo>
                  <a:pt x="875542" y="844689"/>
                </a:lnTo>
                <a:lnTo>
                  <a:pt x="904712" y="809694"/>
                </a:lnTo>
                <a:lnTo>
                  <a:pt x="930679" y="772124"/>
                </a:lnTo>
                <a:lnTo>
                  <a:pt x="953230" y="732189"/>
                </a:lnTo>
                <a:lnTo>
                  <a:pt x="972155" y="690101"/>
                </a:lnTo>
                <a:lnTo>
                  <a:pt x="987242" y="646071"/>
                </a:lnTo>
                <a:lnTo>
                  <a:pt x="998280" y="600311"/>
                </a:lnTo>
                <a:lnTo>
                  <a:pt x="1005057" y="553031"/>
                </a:lnTo>
                <a:lnTo>
                  <a:pt x="1007364" y="504444"/>
                </a:lnTo>
                <a:lnTo>
                  <a:pt x="1005057" y="455856"/>
                </a:lnTo>
                <a:lnTo>
                  <a:pt x="998280" y="408576"/>
                </a:lnTo>
                <a:lnTo>
                  <a:pt x="987242" y="362816"/>
                </a:lnTo>
                <a:lnTo>
                  <a:pt x="972155" y="318786"/>
                </a:lnTo>
                <a:lnTo>
                  <a:pt x="953230" y="276698"/>
                </a:lnTo>
                <a:lnTo>
                  <a:pt x="930679" y="236763"/>
                </a:lnTo>
                <a:lnTo>
                  <a:pt x="904712" y="199193"/>
                </a:lnTo>
                <a:lnTo>
                  <a:pt x="875542" y="164198"/>
                </a:lnTo>
                <a:lnTo>
                  <a:pt x="843379" y="131990"/>
                </a:lnTo>
                <a:lnTo>
                  <a:pt x="808434" y="102780"/>
                </a:lnTo>
                <a:lnTo>
                  <a:pt x="770919" y="76779"/>
                </a:lnTo>
                <a:lnTo>
                  <a:pt x="731045" y="54199"/>
                </a:lnTo>
                <a:lnTo>
                  <a:pt x="689023" y="35250"/>
                </a:lnTo>
                <a:lnTo>
                  <a:pt x="645064" y="20145"/>
                </a:lnTo>
                <a:lnTo>
                  <a:pt x="599380" y="9094"/>
                </a:lnTo>
                <a:lnTo>
                  <a:pt x="552182" y="2308"/>
                </a:lnTo>
                <a:lnTo>
                  <a:pt x="503681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007854" y="3577589"/>
            <a:ext cx="64071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cs typeface="微软雅黑"/>
              </a:rPr>
              <a:t>Web</a:t>
            </a:r>
            <a:r>
              <a:rPr sz="1050" spc="-75" dirty="0">
                <a:solidFill>
                  <a:srgbClr val="FFFFFF"/>
                </a:solidFill>
                <a:cs typeface="微软雅黑"/>
              </a:rPr>
              <a:t> </a:t>
            </a:r>
            <a:r>
              <a:rPr sz="1050" dirty="0">
                <a:solidFill>
                  <a:srgbClr val="FFFFFF"/>
                </a:solidFill>
                <a:cs typeface="微软雅黑"/>
              </a:rPr>
              <a:t>APIs</a:t>
            </a:r>
            <a:endParaRPr sz="1050"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268714" y="2533523"/>
            <a:ext cx="1059180" cy="634365"/>
          </a:xfrm>
          <a:custGeom>
            <a:avLst/>
            <a:gdLst/>
            <a:ahLst/>
            <a:cxnLst/>
            <a:rect l="l" t="t" r="r" b="b"/>
            <a:pathLst>
              <a:path w="1059179" h="634364">
                <a:moveTo>
                  <a:pt x="990350" y="600685"/>
                </a:moveTo>
                <a:lnTo>
                  <a:pt x="974089" y="628014"/>
                </a:lnTo>
                <a:lnTo>
                  <a:pt x="1059052" y="634238"/>
                </a:lnTo>
                <a:lnTo>
                  <a:pt x="1041721" y="607187"/>
                </a:lnTo>
                <a:lnTo>
                  <a:pt x="1001267" y="607187"/>
                </a:lnTo>
                <a:lnTo>
                  <a:pt x="990350" y="600685"/>
                </a:lnTo>
                <a:close/>
              </a:path>
              <a:path w="1059179" h="634364">
                <a:moveTo>
                  <a:pt x="996843" y="589771"/>
                </a:moveTo>
                <a:lnTo>
                  <a:pt x="990350" y="600685"/>
                </a:lnTo>
                <a:lnTo>
                  <a:pt x="1001267" y="607187"/>
                </a:lnTo>
                <a:lnTo>
                  <a:pt x="1007744" y="596264"/>
                </a:lnTo>
                <a:lnTo>
                  <a:pt x="996843" y="589771"/>
                </a:lnTo>
                <a:close/>
              </a:path>
              <a:path w="1059179" h="634364">
                <a:moveTo>
                  <a:pt x="1013078" y="562482"/>
                </a:moveTo>
                <a:lnTo>
                  <a:pt x="996843" y="589771"/>
                </a:lnTo>
                <a:lnTo>
                  <a:pt x="1007744" y="596264"/>
                </a:lnTo>
                <a:lnTo>
                  <a:pt x="1001267" y="607187"/>
                </a:lnTo>
                <a:lnTo>
                  <a:pt x="1041721" y="607187"/>
                </a:lnTo>
                <a:lnTo>
                  <a:pt x="1013078" y="562482"/>
                </a:lnTo>
                <a:close/>
              </a:path>
              <a:path w="1059179" h="634364">
                <a:moveTo>
                  <a:pt x="6603" y="0"/>
                </a:moveTo>
                <a:lnTo>
                  <a:pt x="0" y="10922"/>
                </a:lnTo>
                <a:lnTo>
                  <a:pt x="990350" y="600685"/>
                </a:lnTo>
                <a:lnTo>
                  <a:pt x="996843" y="589771"/>
                </a:lnTo>
                <a:lnTo>
                  <a:pt x="6603" y="0"/>
                </a:lnTo>
                <a:close/>
              </a:path>
            </a:pathLst>
          </a:custGeom>
          <a:solidFill>
            <a:srgbClr val="497DBA"/>
          </a:solid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0331450" y="685800"/>
            <a:ext cx="186055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470" y="703231"/>
            <a:ext cx="44063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585858"/>
                </a:solidFill>
                <a:latin typeface="+mn-lt"/>
                <a:cs typeface="微软雅黑"/>
              </a:rPr>
              <a:t>JavaScript</a:t>
            </a:r>
            <a:r>
              <a:rPr sz="2800" b="1" spc="-130" dirty="0" smtClean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+mn-lt"/>
                <a:cs typeface="微软雅黑"/>
              </a:rPr>
              <a:t>书写位置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29684" y="2668523"/>
            <a:ext cx="767080" cy="219710"/>
          </a:xfrm>
          <a:custGeom>
            <a:avLst/>
            <a:gdLst/>
            <a:ahLst/>
            <a:cxnLst/>
            <a:rect l="l" t="t" r="r" b="b"/>
            <a:pathLst>
              <a:path w="767079" h="219710">
                <a:moveTo>
                  <a:pt x="656843" y="0"/>
                </a:moveTo>
                <a:lnTo>
                  <a:pt x="656843" y="54863"/>
                </a:lnTo>
                <a:lnTo>
                  <a:pt x="0" y="54863"/>
                </a:lnTo>
                <a:lnTo>
                  <a:pt x="0" y="164591"/>
                </a:lnTo>
                <a:lnTo>
                  <a:pt x="656843" y="164591"/>
                </a:lnTo>
                <a:lnTo>
                  <a:pt x="656843" y="219455"/>
                </a:lnTo>
                <a:lnTo>
                  <a:pt x="766571" y="109727"/>
                </a:lnTo>
                <a:lnTo>
                  <a:pt x="65684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54223" y="2022506"/>
            <a:ext cx="3256915" cy="3632835"/>
          </a:xfrm>
          <a:custGeom>
            <a:avLst/>
            <a:gdLst/>
            <a:ahLst/>
            <a:cxnLst/>
            <a:rect l="l" t="t" r="r" b="b"/>
            <a:pathLst>
              <a:path w="3256915" h="3632835">
                <a:moveTo>
                  <a:pt x="1628394" y="0"/>
                </a:moveTo>
                <a:lnTo>
                  <a:pt x="1577954" y="2887"/>
                </a:lnTo>
                <a:lnTo>
                  <a:pt x="1528056" y="11549"/>
                </a:lnTo>
                <a:lnTo>
                  <a:pt x="1479241" y="25985"/>
                </a:lnTo>
                <a:lnTo>
                  <a:pt x="1432052" y="46196"/>
                </a:lnTo>
                <a:lnTo>
                  <a:pt x="192531" y="762349"/>
                </a:lnTo>
                <a:lnTo>
                  <a:pt x="151077" y="791092"/>
                </a:lnTo>
                <a:lnTo>
                  <a:pt x="113692" y="824988"/>
                </a:lnTo>
                <a:lnTo>
                  <a:pt x="80826" y="863402"/>
                </a:lnTo>
                <a:lnTo>
                  <a:pt x="52927" y="905700"/>
                </a:lnTo>
                <a:lnTo>
                  <a:pt x="30445" y="951249"/>
                </a:lnTo>
                <a:lnTo>
                  <a:pt x="13831" y="999414"/>
                </a:lnTo>
                <a:lnTo>
                  <a:pt x="3532" y="1049562"/>
                </a:lnTo>
                <a:lnTo>
                  <a:pt x="0" y="1101058"/>
                </a:lnTo>
                <a:lnTo>
                  <a:pt x="0" y="2525617"/>
                </a:lnTo>
                <a:lnTo>
                  <a:pt x="3532" y="2577128"/>
                </a:lnTo>
                <a:lnTo>
                  <a:pt x="13831" y="2627381"/>
                </a:lnTo>
                <a:lnTo>
                  <a:pt x="30445" y="2675834"/>
                </a:lnTo>
                <a:lnTo>
                  <a:pt x="52927" y="2721943"/>
                </a:lnTo>
                <a:lnTo>
                  <a:pt x="80826" y="2765164"/>
                </a:lnTo>
                <a:lnTo>
                  <a:pt x="113692" y="2804955"/>
                </a:lnTo>
                <a:lnTo>
                  <a:pt x="151097" y="2840788"/>
                </a:lnTo>
                <a:lnTo>
                  <a:pt x="192531" y="2872073"/>
                </a:lnTo>
                <a:lnTo>
                  <a:pt x="1432052" y="3580517"/>
                </a:lnTo>
                <a:lnTo>
                  <a:pt x="1477017" y="3603257"/>
                </a:lnTo>
                <a:lnTo>
                  <a:pt x="1524787" y="3619500"/>
                </a:lnTo>
                <a:lnTo>
                  <a:pt x="1574549" y="3629246"/>
                </a:lnTo>
                <a:lnTo>
                  <a:pt x="1625488" y="3632495"/>
                </a:lnTo>
                <a:lnTo>
                  <a:pt x="1676791" y="3629246"/>
                </a:lnTo>
                <a:lnTo>
                  <a:pt x="1727642" y="3619500"/>
                </a:lnTo>
                <a:lnTo>
                  <a:pt x="1777228" y="3603257"/>
                </a:lnTo>
                <a:lnTo>
                  <a:pt x="1824736" y="3580517"/>
                </a:lnTo>
                <a:lnTo>
                  <a:pt x="3064255" y="2872073"/>
                </a:lnTo>
                <a:lnTo>
                  <a:pt x="3105407" y="2840772"/>
                </a:lnTo>
                <a:lnTo>
                  <a:pt x="3142005" y="2805076"/>
                </a:lnTo>
                <a:lnTo>
                  <a:pt x="3173919" y="2765573"/>
                </a:lnTo>
                <a:lnTo>
                  <a:pt x="3200955" y="2722911"/>
                </a:lnTo>
                <a:lnTo>
                  <a:pt x="3222937" y="2677726"/>
                </a:lnTo>
                <a:lnTo>
                  <a:pt x="3239688" y="2630650"/>
                </a:lnTo>
                <a:lnTo>
                  <a:pt x="3251031" y="2582318"/>
                </a:lnTo>
                <a:lnTo>
                  <a:pt x="3256788" y="2533364"/>
                </a:lnTo>
                <a:lnTo>
                  <a:pt x="3256788" y="1101058"/>
                </a:lnTo>
                <a:lnTo>
                  <a:pt x="3251016" y="1049562"/>
                </a:lnTo>
                <a:lnTo>
                  <a:pt x="3239569" y="999414"/>
                </a:lnTo>
                <a:lnTo>
                  <a:pt x="3222535" y="951249"/>
                </a:lnTo>
                <a:lnTo>
                  <a:pt x="3200003" y="905700"/>
                </a:lnTo>
                <a:lnTo>
                  <a:pt x="3172058" y="863402"/>
                </a:lnTo>
                <a:lnTo>
                  <a:pt x="3138791" y="824988"/>
                </a:lnTo>
                <a:lnTo>
                  <a:pt x="3100287" y="791092"/>
                </a:lnTo>
                <a:lnTo>
                  <a:pt x="3056636" y="762349"/>
                </a:lnTo>
                <a:lnTo>
                  <a:pt x="1824736" y="46196"/>
                </a:lnTo>
                <a:lnTo>
                  <a:pt x="1777546" y="25985"/>
                </a:lnTo>
                <a:lnTo>
                  <a:pt x="1728731" y="11549"/>
                </a:lnTo>
                <a:lnTo>
                  <a:pt x="1678833" y="2887"/>
                </a:lnTo>
                <a:lnTo>
                  <a:pt x="16283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554223" y="2022506"/>
            <a:ext cx="3256915" cy="3632835"/>
          </a:xfrm>
          <a:custGeom>
            <a:avLst/>
            <a:gdLst/>
            <a:ahLst/>
            <a:cxnLst/>
            <a:rect l="l" t="t" r="r" b="b"/>
            <a:pathLst>
              <a:path w="3256915" h="3632835">
                <a:moveTo>
                  <a:pt x="192531" y="762349"/>
                </a:moveTo>
                <a:lnTo>
                  <a:pt x="237039" y="736768"/>
                </a:lnTo>
                <a:lnTo>
                  <a:pt x="281493" y="711188"/>
                </a:lnTo>
                <a:lnTo>
                  <a:pt x="325897" y="685609"/>
                </a:lnTo>
                <a:lnTo>
                  <a:pt x="370254" y="660030"/>
                </a:lnTo>
                <a:lnTo>
                  <a:pt x="414571" y="634452"/>
                </a:lnTo>
                <a:lnTo>
                  <a:pt x="458850" y="608875"/>
                </a:lnTo>
                <a:lnTo>
                  <a:pt x="503096" y="583299"/>
                </a:lnTo>
                <a:lnTo>
                  <a:pt x="547313" y="557722"/>
                </a:lnTo>
                <a:lnTo>
                  <a:pt x="591506" y="532147"/>
                </a:lnTo>
                <a:lnTo>
                  <a:pt x="635677" y="506571"/>
                </a:lnTo>
                <a:lnTo>
                  <a:pt x="679833" y="480996"/>
                </a:lnTo>
                <a:lnTo>
                  <a:pt x="723977" y="455422"/>
                </a:lnTo>
                <a:lnTo>
                  <a:pt x="768112" y="429847"/>
                </a:lnTo>
                <a:lnTo>
                  <a:pt x="812244" y="404272"/>
                </a:lnTo>
                <a:lnTo>
                  <a:pt x="856376" y="378698"/>
                </a:lnTo>
                <a:lnTo>
                  <a:pt x="900513" y="353123"/>
                </a:lnTo>
                <a:lnTo>
                  <a:pt x="944659" y="327548"/>
                </a:lnTo>
                <a:lnTo>
                  <a:pt x="988818" y="301973"/>
                </a:lnTo>
                <a:lnTo>
                  <a:pt x="1032994" y="276398"/>
                </a:lnTo>
                <a:lnTo>
                  <a:pt x="1077192" y="250822"/>
                </a:lnTo>
                <a:lnTo>
                  <a:pt x="1121415" y="225246"/>
                </a:lnTo>
                <a:lnTo>
                  <a:pt x="1165669" y="199669"/>
                </a:lnTo>
                <a:lnTo>
                  <a:pt x="1209956" y="174092"/>
                </a:lnTo>
                <a:lnTo>
                  <a:pt x="1254282" y="148514"/>
                </a:lnTo>
                <a:lnTo>
                  <a:pt x="1298650" y="122936"/>
                </a:lnTo>
                <a:lnTo>
                  <a:pt x="1343065" y="97357"/>
                </a:lnTo>
                <a:lnTo>
                  <a:pt x="1387531" y="71777"/>
                </a:lnTo>
                <a:lnTo>
                  <a:pt x="1432052" y="46196"/>
                </a:lnTo>
                <a:lnTo>
                  <a:pt x="1479241" y="25985"/>
                </a:lnTo>
                <a:lnTo>
                  <a:pt x="1528056" y="11549"/>
                </a:lnTo>
                <a:lnTo>
                  <a:pt x="1577954" y="2887"/>
                </a:lnTo>
                <a:lnTo>
                  <a:pt x="1628394" y="0"/>
                </a:lnTo>
                <a:lnTo>
                  <a:pt x="1678833" y="2887"/>
                </a:lnTo>
                <a:lnTo>
                  <a:pt x="1728731" y="11549"/>
                </a:lnTo>
                <a:lnTo>
                  <a:pt x="1777546" y="25985"/>
                </a:lnTo>
                <a:lnTo>
                  <a:pt x="1824736" y="46196"/>
                </a:lnTo>
                <a:lnTo>
                  <a:pt x="1868484" y="71777"/>
                </a:lnTo>
                <a:lnTo>
                  <a:pt x="1912288" y="97357"/>
                </a:lnTo>
                <a:lnTo>
                  <a:pt x="1956142" y="122936"/>
                </a:lnTo>
                <a:lnTo>
                  <a:pt x="2000044" y="148514"/>
                </a:lnTo>
                <a:lnTo>
                  <a:pt x="2043987" y="174092"/>
                </a:lnTo>
                <a:lnTo>
                  <a:pt x="2087969" y="199669"/>
                </a:lnTo>
                <a:lnTo>
                  <a:pt x="2131984" y="225246"/>
                </a:lnTo>
                <a:lnTo>
                  <a:pt x="2176029" y="250822"/>
                </a:lnTo>
                <a:lnTo>
                  <a:pt x="2220100" y="276398"/>
                </a:lnTo>
                <a:lnTo>
                  <a:pt x="2264192" y="301973"/>
                </a:lnTo>
                <a:lnTo>
                  <a:pt x="2308300" y="327548"/>
                </a:lnTo>
                <a:lnTo>
                  <a:pt x="2352422" y="353123"/>
                </a:lnTo>
                <a:lnTo>
                  <a:pt x="2396551" y="378698"/>
                </a:lnTo>
                <a:lnTo>
                  <a:pt x="2440686" y="404272"/>
                </a:lnTo>
                <a:lnTo>
                  <a:pt x="2484820" y="429847"/>
                </a:lnTo>
                <a:lnTo>
                  <a:pt x="2528949" y="455422"/>
                </a:lnTo>
                <a:lnTo>
                  <a:pt x="2573071" y="480996"/>
                </a:lnTo>
                <a:lnTo>
                  <a:pt x="2617179" y="506571"/>
                </a:lnTo>
                <a:lnTo>
                  <a:pt x="2661271" y="532147"/>
                </a:lnTo>
                <a:lnTo>
                  <a:pt x="2705342" y="557722"/>
                </a:lnTo>
                <a:lnTo>
                  <a:pt x="2749387" y="583299"/>
                </a:lnTo>
                <a:lnTo>
                  <a:pt x="2793402" y="608875"/>
                </a:lnTo>
                <a:lnTo>
                  <a:pt x="2837384" y="634452"/>
                </a:lnTo>
                <a:lnTo>
                  <a:pt x="2881327" y="660030"/>
                </a:lnTo>
                <a:lnTo>
                  <a:pt x="2925229" y="685609"/>
                </a:lnTo>
                <a:lnTo>
                  <a:pt x="2969083" y="711188"/>
                </a:lnTo>
                <a:lnTo>
                  <a:pt x="3012887" y="736768"/>
                </a:lnTo>
                <a:lnTo>
                  <a:pt x="3056636" y="762349"/>
                </a:lnTo>
                <a:lnTo>
                  <a:pt x="3100287" y="791092"/>
                </a:lnTo>
                <a:lnTo>
                  <a:pt x="3138791" y="824988"/>
                </a:lnTo>
                <a:lnTo>
                  <a:pt x="3172058" y="863402"/>
                </a:lnTo>
                <a:lnTo>
                  <a:pt x="3200003" y="905700"/>
                </a:lnTo>
                <a:lnTo>
                  <a:pt x="3222535" y="951249"/>
                </a:lnTo>
                <a:lnTo>
                  <a:pt x="3239569" y="999414"/>
                </a:lnTo>
                <a:lnTo>
                  <a:pt x="3251016" y="1049562"/>
                </a:lnTo>
                <a:lnTo>
                  <a:pt x="3256788" y="1101058"/>
                </a:lnTo>
                <a:lnTo>
                  <a:pt x="3256788" y="1929110"/>
                </a:lnTo>
                <a:lnTo>
                  <a:pt x="3256788" y="2354326"/>
                </a:lnTo>
                <a:lnTo>
                  <a:pt x="3256788" y="2510984"/>
                </a:lnTo>
                <a:lnTo>
                  <a:pt x="3256788" y="2533364"/>
                </a:lnTo>
                <a:lnTo>
                  <a:pt x="3251031" y="2582318"/>
                </a:lnTo>
                <a:lnTo>
                  <a:pt x="3239688" y="2630650"/>
                </a:lnTo>
                <a:lnTo>
                  <a:pt x="3222937" y="2677726"/>
                </a:lnTo>
                <a:lnTo>
                  <a:pt x="3200955" y="2722911"/>
                </a:lnTo>
                <a:lnTo>
                  <a:pt x="3173919" y="2765573"/>
                </a:lnTo>
                <a:lnTo>
                  <a:pt x="3142005" y="2805076"/>
                </a:lnTo>
                <a:lnTo>
                  <a:pt x="3105392" y="2840788"/>
                </a:lnTo>
                <a:lnTo>
                  <a:pt x="3064255" y="2872073"/>
                </a:lnTo>
                <a:lnTo>
                  <a:pt x="2347658" y="3281642"/>
                </a:lnTo>
                <a:lnTo>
                  <a:pt x="1979676" y="3491961"/>
                </a:lnTo>
                <a:lnTo>
                  <a:pt x="1844103" y="3569447"/>
                </a:lnTo>
                <a:lnTo>
                  <a:pt x="1777228" y="3603257"/>
                </a:lnTo>
                <a:lnTo>
                  <a:pt x="1727642" y="3619500"/>
                </a:lnTo>
                <a:lnTo>
                  <a:pt x="1676791" y="3629246"/>
                </a:lnTo>
                <a:lnTo>
                  <a:pt x="1625488" y="3632495"/>
                </a:lnTo>
                <a:lnTo>
                  <a:pt x="1574549" y="3629246"/>
                </a:lnTo>
                <a:lnTo>
                  <a:pt x="1524787" y="3619500"/>
                </a:lnTo>
                <a:lnTo>
                  <a:pt x="1477017" y="3603257"/>
                </a:lnTo>
                <a:lnTo>
                  <a:pt x="1432052" y="3580517"/>
                </a:lnTo>
                <a:lnTo>
                  <a:pt x="1071550" y="3375721"/>
                </a:lnTo>
                <a:lnTo>
                  <a:pt x="886428" y="3270556"/>
                </a:lnTo>
                <a:lnTo>
                  <a:pt x="818225" y="3231811"/>
                </a:lnTo>
                <a:lnTo>
                  <a:pt x="808481" y="3226276"/>
                </a:lnTo>
                <a:lnTo>
                  <a:pt x="452385" y="3021502"/>
                </a:lnTo>
                <a:lnTo>
                  <a:pt x="269525" y="2916348"/>
                </a:lnTo>
                <a:lnTo>
                  <a:pt x="202156" y="2877607"/>
                </a:lnTo>
                <a:lnTo>
                  <a:pt x="151077" y="2840772"/>
                </a:lnTo>
                <a:lnTo>
                  <a:pt x="113692" y="2804955"/>
                </a:lnTo>
                <a:lnTo>
                  <a:pt x="80826" y="2765164"/>
                </a:lnTo>
                <a:lnTo>
                  <a:pt x="52927" y="2721943"/>
                </a:lnTo>
                <a:lnTo>
                  <a:pt x="30445" y="2675834"/>
                </a:lnTo>
                <a:lnTo>
                  <a:pt x="13831" y="2627381"/>
                </a:lnTo>
                <a:lnTo>
                  <a:pt x="3532" y="2577128"/>
                </a:lnTo>
                <a:lnTo>
                  <a:pt x="0" y="2525617"/>
                </a:lnTo>
                <a:lnTo>
                  <a:pt x="0" y="1702044"/>
                </a:lnTo>
                <a:lnTo>
                  <a:pt x="0" y="1279128"/>
                </a:lnTo>
                <a:lnTo>
                  <a:pt x="0" y="1123316"/>
                </a:lnTo>
                <a:lnTo>
                  <a:pt x="0" y="1101058"/>
                </a:lnTo>
                <a:lnTo>
                  <a:pt x="3532" y="1049562"/>
                </a:lnTo>
                <a:lnTo>
                  <a:pt x="13831" y="999414"/>
                </a:lnTo>
                <a:lnTo>
                  <a:pt x="30445" y="951249"/>
                </a:lnTo>
                <a:lnTo>
                  <a:pt x="52927" y="905700"/>
                </a:lnTo>
                <a:lnTo>
                  <a:pt x="80826" y="863402"/>
                </a:lnTo>
                <a:lnTo>
                  <a:pt x="113692" y="824988"/>
                </a:lnTo>
                <a:lnTo>
                  <a:pt x="151077" y="791092"/>
                </a:lnTo>
                <a:lnTo>
                  <a:pt x="192531" y="762349"/>
                </a:lnTo>
                <a:close/>
              </a:path>
            </a:pathLst>
          </a:cu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38900" y="2022506"/>
            <a:ext cx="3255645" cy="3632835"/>
          </a:xfrm>
          <a:custGeom>
            <a:avLst/>
            <a:gdLst/>
            <a:ahLst/>
            <a:cxnLst/>
            <a:rect l="l" t="t" r="r" b="b"/>
            <a:pathLst>
              <a:path w="3255645" h="3632835">
                <a:moveTo>
                  <a:pt x="192404" y="762349"/>
                </a:moveTo>
                <a:lnTo>
                  <a:pt x="236899" y="736768"/>
                </a:lnTo>
                <a:lnTo>
                  <a:pt x="281339" y="711188"/>
                </a:lnTo>
                <a:lnTo>
                  <a:pt x="325729" y="685609"/>
                </a:lnTo>
                <a:lnTo>
                  <a:pt x="370073" y="660030"/>
                </a:lnTo>
                <a:lnTo>
                  <a:pt x="414375" y="634452"/>
                </a:lnTo>
                <a:lnTo>
                  <a:pt x="458640" y="608875"/>
                </a:lnTo>
                <a:lnTo>
                  <a:pt x="502872" y="583299"/>
                </a:lnTo>
                <a:lnTo>
                  <a:pt x="547074" y="557722"/>
                </a:lnTo>
                <a:lnTo>
                  <a:pt x="591252" y="532147"/>
                </a:lnTo>
                <a:lnTo>
                  <a:pt x="635409" y="506571"/>
                </a:lnTo>
                <a:lnTo>
                  <a:pt x="679549" y="480996"/>
                </a:lnTo>
                <a:lnTo>
                  <a:pt x="723676" y="455422"/>
                </a:lnTo>
                <a:lnTo>
                  <a:pt x="767795" y="429847"/>
                </a:lnTo>
                <a:lnTo>
                  <a:pt x="811910" y="404272"/>
                </a:lnTo>
                <a:lnTo>
                  <a:pt x="856026" y="378698"/>
                </a:lnTo>
                <a:lnTo>
                  <a:pt x="900145" y="353123"/>
                </a:lnTo>
                <a:lnTo>
                  <a:pt x="944272" y="327548"/>
                </a:lnTo>
                <a:lnTo>
                  <a:pt x="988412" y="301973"/>
                </a:lnTo>
                <a:lnTo>
                  <a:pt x="1032569" y="276398"/>
                </a:lnTo>
                <a:lnTo>
                  <a:pt x="1076747" y="250822"/>
                </a:lnTo>
                <a:lnTo>
                  <a:pt x="1120949" y="225246"/>
                </a:lnTo>
                <a:lnTo>
                  <a:pt x="1165181" y="199669"/>
                </a:lnTo>
                <a:lnTo>
                  <a:pt x="1209446" y="174092"/>
                </a:lnTo>
                <a:lnTo>
                  <a:pt x="1253748" y="148514"/>
                </a:lnTo>
                <a:lnTo>
                  <a:pt x="1298092" y="122936"/>
                </a:lnTo>
                <a:lnTo>
                  <a:pt x="1342482" y="97357"/>
                </a:lnTo>
                <a:lnTo>
                  <a:pt x="1386922" y="71777"/>
                </a:lnTo>
                <a:lnTo>
                  <a:pt x="1431417" y="46196"/>
                </a:lnTo>
                <a:lnTo>
                  <a:pt x="1478564" y="25985"/>
                </a:lnTo>
                <a:lnTo>
                  <a:pt x="1527345" y="11549"/>
                </a:lnTo>
                <a:lnTo>
                  <a:pt x="1577216" y="2887"/>
                </a:lnTo>
                <a:lnTo>
                  <a:pt x="1627631" y="0"/>
                </a:lnTo>
                <a:lnTo>
                  <a:pt x="1678047" y="2887"/>
                </a:lnTo>
                <a:lnTo>
                  <a:pt x="1727918" y="11549"/>
                </a:lnTo>
                <a:lnTo>
                  <a:pt x="1776699" y="25985"/>
                </a:lnTo>
                <a:lnTo>
                  <a:pt x="1823847" y="46196"/>
                </a:lnTo>
                <a:lnTo>
                  <a:pt x="1867581" y="71777"/>
                </a:lnTo>
                <a:lnTo>
                  <a:pt x="1911370" y="97357"/>
                </a:lnTo>
                <a:lnTo>
                  <a:pt x="1955209" y="122936"/>
                </a:lnTo>
                <a:lnTo>
                  <a:pt x="1999093" y="148514"/>
                </a:lnTo>
                <a:lnTo>
                  <a:pt x="2043019" y="174092"/>
                </a:lnTo>
                <a:lnTo>
                  <a:pt x="2086983" y="199669"/>
                </a:lnTo>
                <a:lnTo>
                  <a:pt x="2130980" y="225246"/>
                </a:lnTo>
                <a:lnTo>
                  <a:pt x="2175006" y="250822"/>
                </a:lnTo>
                <a:lnTo>
                  <a:pt x="2219057" y="276398"/>
                </a:lnTo>
                <a:lnTo>
                  <a:pt x="2263130" y="301973"/>
                </a:lnTo>
                <a:lnTo>
                  <a:pt x="2307218" y="327548"/>
                </a:lnTo>
                <a:lnTo>
                  <a:pt x="2351319" y="353123"/>
                </a:lnTo>
                <a:lnTo>
                  <a:pt x="2395429" y="378698"/>
                </a:lnTo>
                <a:lnTo>
                  <a:pt x="2439543" y="404272"/>
                </a:lnTo>
                <a:lnTo>
                  <a:pt x="2483656" y="429847"/>
                </a:lnTo>
                <a:lnTo>
                  <a:pt x="2527766" y="455422"/>
                </a:lnTo>
                <a:lnTo>
                  <a:pt x="2571867" y="480996"/>
                </a:lnTo>
                <a:lnTo>
                  <a:pt x="2615955" y="506571"/>
                </a:lnTo>
                <a:lnTo>
                  <a:pt x="2660028" y="532147"/>
                </a:lnTo>
                <a:lnTo>
                  <a:pt x="2704079" y="557722"/>
                </a:lnTo>
                <a:lnTo>
                  <a:pt x="2748105" y="583299"/>
                </a:lnTo>
                <a:lnTo>
                  <a:pt x="2792102" y="608875"/>
                </a:lnTo>
                <a:lnTo>
                  <a:pt x="2836066" y="634452"/>
                </a:lnTo>
                <a:lnTo>
                  <a:pt x="2879992" y="660030"/>
                </a:lnTo>
                <a:lnTo>
                  <a:pt x="2923876" y="685609"/>
                </a:lnTo>
                <a:lnTo>
                  <a:pt x="2967715" y="711188"/>
                </a:lnTo>
                <a:lnTo>
                  <a:pt x="3011504" y="736768"/>
                </a:lnTo>
                <a:lnTo>
                  <a:pt x="3055239" y="762349"/>
                </a:lnTo>
                <a:lnTo>
                  <a:pt x="3098848" y="791092"/>
                </a:lnTo>
                <a:lnTo>
                  <a:pt x="3137320" y="824988"/>
                </a:lnTo>
                <a:lnTo>
                  <a:pt x="3170565" y="863402"/>
                </a:lnTo>
                <a:lnTo>
                  <a:pt x="3198495" y="905700"/>
                </a:lnTo>
                <a:lnTo>
                  <a:pt x="3221018" y="951249"/>
                </a:lnTo>
                <a:lnTo>
                  <a:pt x="3238047" y="999414"/>
                </a:lnTo>
                <a:lnTo>
                  <a:pt x="3249492" y="1049562"/>
                </a:lnTo>
                <a:lnTo>
                  <a:pt x="3255264" y="1101058"/>
                </a:lnTo>
                <a:lnTo>
                  <a:pt x="3255264" y="1929110"/>
                </a:lnTo>
                <a:lnTo>
                  <a:pt x="3255264" y="2354326"/>
                </a:lnTo>
                <a:lnTo>
                  <a:pt x="3255264" y="2510984"/>
                </a:lnTo>
                <a:lnTo>
                  <a:pt x="3255264" y="2533364"/>
                </a:lnTo>
                <a:lnTo>
                  <a:pt x="3249507" y="2582318"/>
                </a:lnTo>
                <a:lnTo>
                  <a:pt x="3238166" y="2630650"/>
                </a:lnTo>
                <a:lnTo>
                  <a:pt x="3221420" y="2677726"/>
                </a:lnTo>
                <a:lnTo>
                  <a:pt x="3199447" y="2722911"/>
                </a:lnTo>
                <a:lnTo>
                  <a:pt x="3172426" y="2765573"/>
                </a:lnTo>
                <a:lnTo>
                  <a:pt x="3140535" y="2805076"/>
                </a:lnTo>
                <a:lnTo>
                  <a:pt x="3103953" y="2840788"/>
                </a:lnTo>
                <a:lnTo>
                  <a:pt x="3062858" y="2872073"/>
                </a:lnTo>
                <a:lnTo>
                  <a:pt x="2346555" y="3281642"/>
                </a:lnTo>
                <a:lnTo>
                  <a:pt x="1978723" y="3491961"/>
                </a:lnTo>
                <a:lnTo>
                  <a:pt x="1843206" y="3569447"/>
                </a:lnTo>
                <a:lnTo>
                  <a:pt x="1823847" y="3580517"/>
                </a:lnTo>
                <a:lnTo>
                  <a:pt x="1776387" y="3603257"/>
                </a:lnTo>
                <a:lnTo>
                  <a:pt x="1726846" y="3619500"/>
                </a:lnTo>
                <a:lnTo>
                  <a:pt x="1676038" y="3629246"/>
                </a:lnTo>
                <a:lnTo>
                  <a:pt x="1624774" y="3632495"/>
                </a:lnTo>
                <a:lnTo>
                  <a:pt x="1573867" y="3629246"/>
                </a:lnTo>
                <a:lnTo>
                  <a:pt x="1524130" y="3619500"/>
                </a:lnTo>
                <a:lnTo>
                  <a:pt x="1476376" y="3603257"/>
                </a:lnTo>
                <a:lnTo>
                  <a:pt x="1431417" y="3580517"/>
                </a:lnTo>
                <a:lnTo>
                  <a:pt x="1071062" y="3375721"/>
                </a:lnTo>
                <a:lnTo>
                  <a:pt x="886015" y="3270556"/>
                </a:lnTo>
                <a:lnTo>
                  <a:pt x="817840" y="3231811"/>
                </a:lnTo>
                <a:lnTo>
                  <a:pt x="808101" y="3226276"/>
                </a:lnTo>
                <a:lnTo>
                  <a:pt x="452151" y="3021502"/>
                </a:lnTo>
                <a:lnTo>
                  <a:pt x="269366" y="2916348"/>
                </a:lnTo>
                <a:lnTo>
                  <a:pt x="202025" y="2877607"/>
                </a:lnTo>
                <a:lnTo>
                  <a:pt x="192404" y="2872073"/>
                </a:lnTo>
                <a:lnTo>
                  <a:pt x="150992" y="2840772"/>
                </a:lnTo>
                <a:lnTo>
                  <a:pt x="113639" y="2804955"/>
                </a:lnTo>
                <a:lnTo>
                  <a:pt x="80795" y="2765164"/>
                </a:lnTo>
                <a:lnTo>
                  <a:pt x="52911" y="2721943"/>
                </a:lnTo>
                <a:lnTo>
                  <a:pt x="30439" y="2675834"/>
                </a:lnTo>
                <a:lnTo>
                  <a:pt x="13829" y="2627381"/>
                </a:lnTo>
                <a:lnTo>
                  <a:pt x="3532" y="2577128"/>
                </a:lnTo>
                <a:lnTo>
                  <a:pt x="0" y="2525617"/>
                </a:lnTo>
                <a:lnTo>
                  <a:pt x="0" y="1702044"/>
                </a:lnTo>
                <a:lnTo>
                  <a:pt x="0" y="1279128"/>
                </a:lnTo>
                <a:lnTo>
                  <a:pt x="0" y="1123316"/>
                </a:lnTo>
                <a:lnTo>
                  <a:pt x="0" y="1101058"/>
                </a:lnTo>
                <a:lnTo>
                  <a:pt x="3532" y="1049562"/>
                </a:lnTo>
                <a:lnTo>
                  <a:pt x="13829" y="999414"/>
                </a:lnTo>
                <a:lnTo>
                  <a:pt x="30439" y="951249"/>
                </a:lnTo>
                <a:lnTo>
                  <a:pt x="52911" y="905700"/>
                </a:lnTo>
                <a:lnTo>
                  <a:pt x="80795" y="863402"/>
                </a:lnTo>
                <a:lnTo>
                  <a:pt x="113639" y="824988"/>
                </a:lnTo>
                <a:lnTo>
                  <a:pt x="150992" y="791092"/>
                </a:lnTo>
                <a:lnTo>
                  <a:pt x="192404" y="762349"/>
                </a:lnTo>
                <a:close/>
              </a:path>
            </a:pathLst>
          </a:custGeom>
          <a:ln w="76200">
            <a:solidFill>
              <a:schemeClr val="accent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97848" y="3006851"/>
            <a:ext cx="1915795" cy="1722120"/>
          </a:xfrm>
          <a:custGeom>
            <a:avLst/>
            <a:gdLst/>
            <a:ahLst/>
            <a:cxnLst/>
            <a:rect l="l" t="t" r="r" b="b"/>
            <a:pathLst>
              <a:path w="1915795" h="1722120">
                <a:moveTo>
                  <a:pt x="1333896" y="0"/>
                </a:moveTo>
                <a:lnTo>
                  <a:pt x="579262" y="0"/>
                </a:lnTo>
                <a:lnTo>
                  <a:pt x="527966" y="9036"/>
                </a:lnTo>
                <a:lnTo>
                  <a:pt x="479313" y="29527"/>
                </a:lnTo>
                <a:lnTo>
                  <a:pt x="435994" y="60686"/>
                </a:lnTo>
                <a:lnTo>
                  <a:pt x="400700" y="101726"/>
                </a:lnTo>
                <a:lnTo>
                  <a:pt x="27384" y="757301"/>
                </a:lnTo>
                <a:lnTo>
                  <a:pt x="6846" y="808585"/>
                </a:lnTo>
                <a:lnTo>
                  <a:pt x="0" y="862583"/>
                </a:lnTo>
                <a:lnTo>
                  <a:pt x="6846" y="915820"/>
                </a:lnTo>
                <a:lnTo>
                  <a:pt x="27384" y="964819"/>
                </a:lnTo>
                <a:lnTo>
                  <a:pt x="214010" y="1290574"/>
                </a:lnTo>
                <a:lnTo>
                  <a:pt x="400700" y="1620393"/>
                </a:lnTo>
                <a:lnTo>
                  <a:pt x="436058" y="1662005"/>
                </a:lnTo>
                <a:lnTo>
                  <a:pt x="479821" y="1694116"/>
                </a:lnTo>
                <a:lnTo>
                  <a:pt x="529681" y="1714797"/>
                </a:lnTo>
                <a:lnTo>
                  <a:pt x="583326" y="1722120"/>
                </a:lnTo>
                <a:lnTo>
                  <a:pt x="1333896" y="1722120"/>
                </a:lnTo>
                <a:lnTo>
                  <a:pt x="1387478" y="1714797"/>
                </a:lnTo>
                <a:lnTo>
                  <a:pt x="1436893" y="1694116"/>
                </a:lnTo>
                <a:lnTo>
                  <a:pt x="1479450" y="1662005"/>
                </a:lnTo>
                <a:lnTo>
                  <a:pt x="1512458" y="1620393"/>
                </a:lnTo>
                <a:lnTo>
                  <a:pt x="1889775" y="964819"/>
                </a:lnTo>
                <a:lnTo>
                  <a:pt x="1909778" y="914106"/>
                </a:lnTo>
                <a:lnTo>
                  <a:pt x="1915683" y="861059"/>
                </a:lnTo>
                <a:lnTo>
                  <a:pt x="1908635" y="808013"/>
                </a:lnTo>
                <a:lnTo>
                  <a:pt x="1889775" y="757301"/>
                </a:lnTo>
                <a:lnTo>
                  <a:pt x="1512458" y="101726"/>
                </a:lnTo>
                <a:lnTo>
                  <a:pt x="1479450" y="60686"/>
                </a:lnTo>
                <a:lnTo>
                  <a:pt x="1436893" y="29527"/>
                </a:lnTo>
                <a:lnTo>
                  <a:pt x="1387478" y="9036"/>
                </a:lnTo>
                <a:lnTo>
                  <a:pt x="1333896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0255" y="3648836"/>
            <a:ext cx="1233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80" dirty="0">
                <a:solidFill>
                  <a:srgbClr val="FFFFFF"/>
                </a:solidFill>
                <a:cs typeface="宋体"/>
              </a:rPr>
              <a:t>CSS</a:t>
            </a:r>
            <a:r>
              <a:rPr sz="2400" spc="-650" dirty="0">
                <a:solidFill>
                  <a:srgbClr val="FFFFFF"/>
                </a:solidFill>
                <a:cs typeface="宋体"/>
              </a:rPr>
              <a:t> </a:t>
            </a:r>
            <a:r>
              <a:rPr sz="2400" spc="-40" dirty="0">
                <a:solidFill>
                  <a:srgbClr val="FFFFFF"/>
                </a:solidFill>
                <a:cs typeface="宋体"/>
              </a:rPr>
              <a:t>位置</a:t>
            </a:r>
            <a:endParaRPr sz="2400"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5523" y="3019044"/>
            <a:ext cx="1917700" cy="1722120"/>
          </a:xfrm>
          <a:custGeom>
            <a:avLst/>
            <a:gdLst/>
            <a:ahLst/>
            <a:cxnLst/>
            <a:rect l="l" t="t" r="r" b="b"/>
            <a:pathLst>
              <a:path w="1917700" h="1722120">
                <a:moveTo>
                  <a:pt x="1335024" y="0"/>
                </a:moveTo>
                <a:lnTo>
                  <a:pt x="579627" y="0"/>
                </a:lnTo>
                <a:lnTo>
                  <a:pt x="528329" y="9036"/>
                </a:lnTo>
                <a:lnTo>
                  <a:pt x="479663" y="29527"/>
                </a:lnTo>
                <a:lnTo>
                  <a:pt x="436306" y="60686"/>
                </a:lnTo>
                <a:lnTo>
                  <a:pt x="400939" y="101726"/>
                </a:lnTo>
                <a:lnTo>
                  <a:pt x="27431" y="757300"/>
                </a:lnTo>
                <a:lnTo>
                  <a:pt x="6857" y="808585"/>
                </a:lnTo>
                <a:lnTo>
                  <a:pt x="0" y="862583"/>
                </a:lnTo>
                <a:lnTo>
                  <a:pt x="6857" y="915820"/>
                </a:lnTo>
                <a:lnTo>
                  <a:pt x="27431" y="964818"/>
                </a:lnTo>
                <a:lnTo>
                  <a:pt x="214249" y="1290573"/>
                </a:lnTo>
                <a:lnTo>
                  <a:pt x="400939" y="1620392"/>
                </a:lnTo>
                <a:lnTo>
                  <a:pt x="436370" y="1662005"/>
                </a:lnTo>
                <a:lnTo>
                  <a:pt x="480171" y="1694116"/>
                </a:lnTo>
                <a:lnTo>
                  <a:pt x="530044" y="1714797"/>
                </a:lnTo>
                <a:lnTo>
                  <a:pt x="583692" y="1722119"/>
                </a:lnTo>
                <a:lnTo>
                  <a:pt x="1335024" y="1722119"/>
                </a:lnTo>
                <a:lnTo>
                  <a:pt x="1388608" y="1714797"/>
                </a:lnTo>
                <a:lnTo>
                  <a:pt x="1438036" y="1694116"/>
                </a:lnTo>
                <a:lnTo>
                  <a:pt x="1480631" y="1662005"/>
                </a:lnTo>
                <a:lnTo>
                  <a:pt x="1513712" y="1620392"/>
                </a:lnTo>
                <a:lnTo>
                  <a:pt x="1891283" y="964818"/>
                </a:lnTo>
                <a:lnTo>
                  <a:pt x="1911286" y="914106"/>
                </a:lnTo>
                <a:lnTo>
                  <a:pt x="1917191" y="861059"/>
                </a:lnTo>
                <a:lnTo>
                  <a:pt x="1910143" y="808013"/>
                </a:lnTo>
                <a:lnTo>
                  <a:pt x="1891283" y="757300"/>
                </a:lnTo>
                <a:lnTo>
                  <a:pt x="1513712" y="101726"/>
                </a:lnTo>
                <a:lnTo>
                  <a:pt x="1480631" y="60686"/>
                </a:lnTo>
                <a:lnTo>
                  <a:pt x="1438036" y="29527"/>
                </a:lnTo>
                <a:lnTo>
                  <a:pt x="1388608" y="9036"/>
                </a:lnTo>
                <a:lnTo>
                  <a:pt x="1335024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376409" y="3661664"/>
            <a:ext cx="1457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45" dirty="0">
                <a:solidFill>
                  <a:srgbClr val="FFFFFF"/>
                </a:solidFill>
                <a:cs typeface="宋体"/>
              </a:rPr>
              <a:t>J</a:t>
            </a:r>
            <a:r>
              <a:rPr sz="2400" spc="-155" dirty="0">
                <a:solidFill>
                  <a:srgbClr val="FFFFFF"/>
                </a:solidFill>
                <a:cs typeface="宋体"/>
              </a:rPr>
              <a:t>a</a:t>
            </a:r>
            <a:r>
              <a:rPr sz="2400" spc="165" dirty="0">
                <a:solidFill>
                  <a:srgbClr val="FFFFFF"/>
                </a:solidFill>
                <a:cs typeface="宋体"/>
              </a:rPr>
              <a:t>v</a:t>
            </a:r>
            <a:r>
              <a:rPr sz="2400" spc="155" dirty="0">
                <a:solidFill>
                  <a:srgbClr val="FFFFFF"/>
                </a:solidFill>
                <a:cs typeface="宋体"/>
              </a:rPr>
              <a:t>a</a:t>
            </a:r>
            <a:r>
              <a:rPr sz="2400" spc="75" dirty="0">
                <a:solidFill>
                  <a:srgbClr val="FFFFFF"/>
                </a:solidFill>
                <a:cs typeface="宋体"/>
              </a:rPr>
              <a:t>S</a:t>
            </a:r>
            <a:r>
              <a:rPr sz="2400" spc="65" dirty="0">
                <a:solidFill>
                  <a:srgbClr val="FFFFFF"/>
                </a:solidFill>
                <a:cs typeface="宋体"/>
              </a:rPr>
              <a:t>c</a:t>
            </a:r>
            <a:r>
              <a:rPr sz="2400" spc="-175" dirty="0">
                <a:solidFill>
                  <a:srgbClr val="FFFFFF"/>
                </a:solidFill>
                <a:cs typeface="宋体"/>
              </a:rPr>
              <a:t>rip</a:t>
            </a:r>
            <a:r>
              <a:rPr sz="2400" spc="-395" dirty="0">
                <a:solidFill>
                  <a:srgbClr val="FFFFFF"/>
                </a:solidFill>
                <a:cs typeface="宋体"/>
              </a:rPr>
              <a:t>t</a:t>
            </a:r>
            <a:endParaRPr sz="2400"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8180" y="2890627"/>
            <a:ext cx="2343007" cy="20185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299720" algn="l"/>
              </a:tabLst>
            </a:pPr>
            <a:r>
              <a:rPr sz="2800" spc="-30" dirty="0">
                <a:solidFill>
                  <a:schemeClr val="accent6"/>
                </a:solidFill>
                <a:cs typeface="宋体"/>
              </a:rPr>
              <a:t>行内样式表</a:t>
            </a:r>
            <a:endParaRPr sz="2800" dirty="0">
              <a:solidFill>
                <a:schemeClr val="accent6"/>
              </a:solidFill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Wingdings" panose="05000000000000000000"/>
              <a:buChar char=""/>
              <a:tabLst>
                <a:tab pos="299720" algn="l"/>
              </a:tabLst>
            </a:pPr>
            <a:r>
              <a:rPr sz="2800" spc="-30" dirty="0">
                <a:solidFill>
                  <a:schemeClr val="accent6"/>
                </a:solidFill>
                <a:cs typeface="宋体"/>
              </a:rPr>
              <a:t>内部样式表</a:t>
            </a:r>
            <a:endParaRPr sz="2800" dirty="0">
              <a:solidFill>
                <a:schemeClr val="accent6"/>
              </a:solidFill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 panose="05000000000000000000"/>
              <a:buChar char=""/>
            </a:pPr>
            <a:endParaRPr sz="2800" dirty="0">
              <a:solidFill>
                <a:schemeClr val="accent6"/>
              </a:solidFill>
              <a:cs typeface="Times New Roman" panose="02020503050405090304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299720" algn="l"/>
              </a:tabLst>
            </a:pPr>
            <a:r>
              <a:rPr sz="2800" spc="-30" dirty="0">
                <a:solidFill>
                  <a:schemeClr val="accent6"/>
                </a:solidFill>
                <a:cs typeface="宋体"/>
              </a:rPr>
              <a:t>外部样式表</a:t>
            </a:r>
            <a:endParaRPr sz="2800" dirty="0">
              <a:solidFill>
                <a:schemeClr val="accent6"/>
              </a:solidFill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66991" y="2938169"/>
            <a:ext cx="285432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299720" algn="l"/>
              </a:tabLst>
            </a:pPr>
            <a:r>
              <a:rPr sz="2400" spc="-30" dirty="0">
                <a:solidFill>
                  <a:schemeClr val="accent2"/>
                </a:solidFill>
                <a:cs typeface="宋体"/>
              </a:rPr>
              <a:t>内联</a:t>
            </a:r>
            <a:r>
              <a:rPr sz="2400" spc="-515" dirty="0">
                <a:solidFill>
                  <a:schemeClr val="accent2"/>
                </a:solidFill>
                <a:cs typeface="宋体"/>
              </a:rPr>
              <a:t> </a:t>
            </a:r>
            <a:r>
              <a:rPr sz="2400" spc="-55" dirty="0">
                <a:solidFill>
                  <a:schemeClr val="accent2"/>
                </a:solidFill>
                <a:cs typeface="宋体"/>
              </a:rPr>
              <a:t>JavaScript</a:t>
            </a:r>
            <a:endParaRPr sz="2400" dirty="0">
              <a:solidFill>
                <a:schemeClr val="accent2"/>
              </a:solidFill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C00000"/>
              </a:buClr>
              <a:buFont typeface="Wingdings" panose="05000000000000000000"/>
              <a:buChar char=""/>
            </a:pPr>
            <a:endParaRPr sz="2400" dirty="0">
              <a:solidFill>
                <a:schemeClr val="accent2"/>
              </a:solidFill>
              <a:cs typeface="Times New Roman" panose="02020503050405090304"/>
            </a:endParaRPr>
          </a:p>
          <a:p>
            <a:pPr marL="299085" indent="-286385">
              <a:lnSpc>
                <a:spcPct val="100000"/>
              </a:lnSpc>
              <a:buFont typeface="Wingdings" panose="05000000000000000000"/>
              <a:buChar char=""/>
              <a:tabLst>
                <a:tab pos="299720" algn="l"/>
              </a:tabLst>
            </a:pPr>
            <a:r>
              <a:rPr sz="2400" spc="-30" dirty="0">
                <a:solidFill>
                  <a:schemeClr val="accent2"/>
                </a:solidFill>
                <a:cs typeface="宋体"/>
              </a:rPr>
              <a:t>内部</a:t>
            </a:r>
            <a:r>
              <a:rPr sz="2400" spc="-515" dirty="0">
                <a:solidFill>
                  <a:schemeClr val="accent2"/>
                </a:solidFill>
                <a:cs typeface="宋体"/>
              </a:rPr>
              <a:t> </a:t>
            </a:r>
            <a:r>
              <a:rPr sz="2400" spc="-55" dirty="0">
                <a:solidFill>
                  <a:schemeClr val="accent2"/>
                </a:solidFill>
                <a:cs typeface="宋体"/>
              </a:rPr>
              <a:t>JavaScript</a:t>
            </a:r>
            <a:endParaRPr sz="2400" dirty="0">
              <a:solidFill>
                <a:schemeClr val="accent2"/>
              </a:solidFill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 panose="05000000000000000000"/>
              <a:buChar char=""/>
            </a:pPr>
            <a:endParaRPr sz="2400" dirty="0">
              <a:solidFill>
                <a:schemeClr val="accent2"/>
              </a:solidFill>
              <a:cs typeface="Times New Roman" panose="02020503050405090304"/>
            </a:endParaRPr>
          </a:p>
          <a:p>
            <a:pPr marL="299085" indent="-286385">
              <a:lnSpc>
                <a:spcPct val="100000"/>
              </a:lnSpc>
              <a:buFont typeface="Wingdings" panose="05000000000000000000"/>
              <a:buChar char=""/>
              <a:tabLst>
                <a:tab pos="299720" algn="l"/>
              </a:tabLst>
            </a:pPr>
            <a:r>
              <a:rPr sz="2400" spc="-30" dirty="0">
                <a:solidFill>
                  <a:schemeClr val="accent2"/>
                </a:solidFill>
                <a:cs typeface="宋体"/>
              </a:rPr>
              <a:t>外部</a:t>
            </a:r>
            <a:r>
              <a:rPr sz="2400" spc="-515" dirty="0">
                <a:solidFill>
                  <a:schemeClr val="accent2"/>
                </a:solidFill>
                <a:cs typeface="宋体"/>
              </a:rPr>
              <a:t> </a:t>
            </a:r>
            <a:r>
              <a:rPr sz="2400" spc="-55" dirty="0">
                <a:solidFill>
                  <a:schemeClr val="accent2"/>
                </a:solidFill>
                <a:cs typeface="宋体"/>
              </a:rPr>
              <a:t>JavaScript</a:t>
            </a:r>
            <a:endParaRPr sz="2400" dirty="0">
              <a:solidFill>
                <a:schemeClr val="accent2"/>
              </a:solidFill>
              <a:cs typeface="宋体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387330" y="685800"/>
            <a:ext cx="180467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1694" y="714165"/>
            <a:ext cx="46385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585858"/>
                </a:solidFill>
                <a:latin typeface="+mn-lt"/>
                <a:cs typeface="微软雅黑"/>
              </a:rPr>
              <a:t>JavaScript</a:t>
            </a:r>
            <a:r>
              <a:rPr sz="2800" b="1" spc="-130" dirty="0" smtClean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+mn-lt"/>
                <a:cs typeface="微软雅黑"/>
              </a:rPr>
              <a:t>书写位置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1695" y="1447800"/>
            <a:ext cx="9725762" cy="28084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85"/>
              </a:spcBef>
            </a:pPr>
            <a:r>
              <a:rPr sz="2800" b="1" spc="5" dirty="0" smtClean="0">
                <a:solidFill>
                  <a:srgbClr val="404040"/>
                </a:solidFill>
                <a:cs typeface="微软雅黑"/>
              </a:rPr>
              <a:t>1</a:t>
            </a:r>
            <a:r>
              <a:rPr sz="2800" b="1" spc="5" dirty="0">
                <a:solidFill>
                  <a:srgbClr val="404040"/>
                </a:solidFill>
                <a:cs typeface="微软雅黑"/>
              </a:rPr>
              <a:t>.</a:t>
            </a:r>
            <a:r>
              <a:rPr sz="2800" b="1" spc="-60" dirty="0">
                <a:solidFill>
                  <a:srgbClr val="404040"/>
                </a:solidFill>
                <a:cs typeface="微软雅黑"/>
              </a:rPr>
              <a:t> </a:t>
            </a:r>
            <a:r>
              <a:rPr sz="2800" b="1" spc="-30" dirty="0">
                <a:solidFill>
                  <a:srgbClr val="404040"/>
                </a:solidFill>
                <a:cs typeface="微软雅黑"/>
              </a:rPr>
              <a:t>内部</a:t>
            </a:r>
            <a:r>
              <a:rPr sz="2800" b="1" spc="-60" dirty="0">
                <a:solidFill>
                  <a:srgbClr val="404040"/>
                </a:solidFill>
                <a:cs typeface="微软雅黑"/>
              </a:rPr>
              <a:t> </a:t>
            </a:r>
            <a:r>
              <a:rPr sz="2800" b="1" spc="-45" dirty="0">
                <a:solidFill>
                  <a:srgbClr val="404040"/>
                </a:solidFill>
                <a:cs typeface="微软雅黑"/>
              </a:rPr>
              <a:t>JavaScript</a:t>
            </a:r>
            <a:endParaRPr sz="2800" dirty="0">
              <a:cs typeface="微软雅黑"/>
            </a:endParaRPr>
          </a:p>
          <a:p>
            <a:pPr marL="78105">
              <a:lnSpc>
                <a:spcPct val="150000"/>
              </a:lnSpc>
            </a:pPr>
            <a:r>
              <a:rPr sz="2400" spc="-30" dirty="0" err="1" smtClean="0">
                <a:solidFill>
                  <a:srgbClr val="404040"/>
                </a:solidFill>
                <a:cs typeface="宋体"/>
              </a:rPr>
              <a:t>直接写在</a:t>
            </a:r>
            <a:r>
              <a:rPr sz="2400" spc="55" dirty="0" err="1">
                <a:solidFill>
                  <a:srgbClr val="404040"/>
                </a:solidFill>
                <a:cs typeface="宋体"/>
              </a:rPr>
              <a:t>html</a:t>
            </a:r>
            <a:r>
              <a:rPr sz="2400" spc="-30" dirty="0" err="1">
                <a:solidFill>
                  <a:srgbClr val="404040"/>
                </a:solidFill>
                <a:cs typeface="宋体"/>
              </a:rPr>
              <a:t>文件里，用</a:t>
            </a:r>
            <a:r>
              <a:rPr sz="2400" spc="-114" dirty="0" err="1">
                <a:solidFill>
                  <a:srgbClr val="404040"/>
                </a:solidFill>
                <a:cs typeface="宋体"/>
              </a:rPr>
              <a:t>script</a:t>
            </a:r>
            <a:r>
              <a:rPr sz="2400" spc="-30" dirty="0" err="1" smtClean="0">
                <a:solidFill>
                  <a:srgbClr val="404040"/>
                </a:solidFill>
                <a:cs typeface="宋体"/>
              </a:rPr>
              <a:t>标签</a:t>
            </a:r>
            <a:r>
              <a:rPr sz="2400" spc="-20" dirty="0" err="1" smtClean="0">
                <a:solidFill>
                  <a:srgbClr val="404040"/>
                </a:solidFill>
                <a:cs typeface="宋体"/>
              </a:rPr>
              <a:t>包住</a:t>
            </a:r>
            <a:r>
              <a:rPr lang="zh-CN" altLang="en-US" sz="2400" spc="-20" dirty="0" smtClean="0">
                <a:solidFill>
                  <a:srgbClr val="404040"/>
                </a:solidFill>
                <a:cs typeface="宋体"/>
              </a:rPr>
              <a:t>。</a:t>
            </a:r>
            <a:endParaRPr sz="2400" dirty="0">
              <a:cs typeface="宋体"/>
            </a:endParaRPr>
          </a:p>
          <a:p>
            <a:pPr marL="78105">
              <a:lnSpc>
                <a:spcPct val="150000"/>
              </a:lnSpc>
              <a:spcBef>
                <a:spcPts val="1920"/>
              </a:spcBef>
            </a:pPr>
            <a:r>
              <a:rPr sz="2400" b="1" spc="-30" dirty="0">
                <a:solidFill>
                  <a:schemeClr val="accent2"/>
                </a:solidFill>
                <a:cs typeface="微软雅黑"/>
              </a:rPr>
              <a:t>规范</a:t>
            </a:r>
            <a:r>
              <a:rPr sz="2400" spc="-100" dirty="0">
                <a:solidFill>
                  <a:srgbClr val="404040"/>
                </a:solidFill>
                <a:cs typeface="宋体"/>
              </a:rPr>
              <a:t>：script</a:t>
            </a:r>
            <a:r>
              <a:rPr sz="2400" spc="-30" dirty="0">
                <a:solidFill>
                  <a:srgbClr val="404040"/>
                </a:solidFill>
                <a:cs typeface="宋体"/>
              </a:rPr>
              <a:t>标签写在</a:t>
            </a:r>
            <a:r>
              <a:rPr sz="2400" spc="110" dirty="0">
                <a:solidFill>
                  <a:srgbClr val="404040"/>
                </a:solidFill>
                <a:cs typeface="宋体"/>
              </a:rPr>
              <a:t>&lt;/body&gt;</a:t>
            </a:r>
            <a:r>
              <a:rPr sz="2400" spc="-20" dirty="0" err="1" smtClean="0">
                <a:solidFill>
                  <a:srgbClr val="404040"/>
                </a:solidFill>
                <a:cs typeface="宋体"/>
              </a:rPr>
              <a:t>上面</a:t>
            </a:r>
            <a:r>
              <a:rPr lang="zh-CN" altLang="en-US" sz="2400" spc="-20" dirty="0" smtClean="0">
                <a:solidFill>
                  <a:srgbClr val="404040"/>
                </a:solidFill>
                <a:cs typeface="宋体"/>
              </a:rPr>
              <a:t>。</a:t>
            </a:r>
            <a:endParaRPr sz="2400" dirty="0">
              <a:cs typeface="宋体"/>
            </a:endParaRPr>
          </a:p>
          <a:p>
            <a:pPr marL="78105">
              <a:lnSpc>
                <a:spcPct val="150000"/>
              </a:lnSpc>
              <a:spcBef>
                <a:spcPts val="1925"/>
              </a:spcBef>
            </a:pPr>
            <a:r>
              <a:rPr sz="2400" spc="-30" dirty="0" err="1" smtClean="0">
                <a:solidFill>
                  <a:srgbClr val="404040"/>
                </a:solidFill>
                <a:cs typeface="宋体"/>
              </a:rPr>
              <a:t>拓展</a:t>
            </a:r>
            <a:r>
              <a:rPr lang="zh-CN" altLang="en-US" sz="2400" spc="-30" dirty="0" smtClean="0">
                <a:solidFill>
                  <a:srgbClr val="404040"/>
                </a:solidFill>
                <a:cs typeface="宋体"/>
              </a:rPr>
              <a:t>：</a:t>
            </a:r>
            <a:r>
              <a:rPr lang="en-US" altLang="zh-CN" sz="2400" spc="-30" dirty="0" smtClean="0">
                <a:solidFill>
                  <a:srgbClr val="404040"/>
                </a:solidFill>
                <a:cs typeface="宋体"/>
              </a:rPr>
              <a:t>alert(“Hello, JS”)</a:t>
            </a:r>
            <a:r>
              <a:rPr sz="2400" spc="-30" dirty="0" err="1" smtClean="0">
                <a:solidFill>
                  <a:srgbClr val="404040"/>
                </a:solidFill>
                <a:cs typeface="宋体"/>
              </a:rPr>
              <a:t>页面弹出警告对话框</a:t>
            </a:r>
            <a:r>
              <a:rPr lang="zh-CN" altLang="en-US" sz="2400" spc="-30" dirty="0" smtClean="0">
                <a:solidFill>
                  <a:srgbClr val="404040"/>
                </a:solidFill>
                <a:cs typeface="宋体"/>
              </a:rPr>
              <a:t>。</a:t>
            </a:r>
            <a:endParaRPr sz="2400" dirty="0">
              <a:cs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5800" y="4261084"/>
            <a:ext cx="109340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</a:rPr>
              <a:t>注意</a:t>
            </a:r>
            <a:r>
              <a:rPr lang="zh-CN" altLang="en-US" sz="2400" dirty="0" smtClean="0"/>
              <a:t>：将 </a:t>
            </a:r>
            <a:r>
              <a:rPr lang="en-US" altLang="zh-CN" sz="2400" dirty="0"/>
              <a:t>&lt;script&gt; </a:t>
            </a:r>
            <a:r>
              <a:rPr lang="zh-CN" altLang="en-US" sz="2400" dirty="0"/>
              <a:t>放在</a:t>
            </a:r>
            <a:r>
              <a:rPr lang="en-US" altLang="zh-CN" sz="2400" dirty="0"/>
              <a:t>HTML</a:t>
            </a:r>
            <a:r>
              <a:rPr lang="zh-CN" altLang="en-US" sz="2400" dirty="0"/>
              <a:t>文件的底部附近的原因是浏览器会按照代码在文件中的顺序加载 </a:t>
            </a:r>
            <a:r>
              <a:rPr lang="en-US" altLang="zh-CN" sz="2400" dirty="0"/>
              <a:t>HTML</a:t>
            </a:r>
            <a:r>
              <a:rPr lang="zh-CN" altLang="en-US" sz="2400" dirty="0"/>
              <a:t>。 如果先加载的 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期望修改其下方的 </a:t>
            </a:r>
            <a:r>
              <a:rPr lang="en-US" altLang="zh-CN" sz="2400" dirty="0"/>
              <a:t>HTML</a:t>
            </a:r>
            <a:r>
              <a:rPr lang="zh-CN" altLang="en-US" sz="2400" dirty="0"/>
              <a:t>，那么它可能由于 </a:t>
            </a:r>
            <a:r>
              <a:rPr lang="en-US" altLang="zh-CN" sz="2400" dirty="0"/>
              <a:t>HTML </a:t>
            </a:r>
            <a:r>
              <a:rPr lang="zh-CN" altLang="en-US" sz="2400" dirty="0"/>
              <a:t>尚未被加载而失效。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因此，将 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代码放在 </a:t>
            </a:r>
            <a:r>
              <a:rPr lang="en-US" altLang="zh-CN" sz="2400" dirty="0"/>
              <a:t>HTML</a:t>
            </a:r>
            <a:r>
              <a:rPr lang="zh-CN" altLang="en-US" sz="2400" dirty="0"/>
              <a:t>页面的底部附近通常是最好的策略。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0321290" y="685800"/>
            <a:ext cx="187071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682" y="704138"/>
            <a:ext cx="462751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585858"/>
                </a:solidFill>
                <a:latin typeface="+mn-lt"/>
                <a:cs typeface="微软雅黑"/>
              </a:rPr>
              <a:t>JavaScript</a:t>
            </a:r>
            <a:r>
              <a:rPr sz="2800" b="1" spc="-130" dirty="0" smtClean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+mn-lt"/>
                <a:cs typeface="微软雅黑"/>
              </a:rPr>
              <a:t>书写位置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338" y="1537854"/>
            <a:ext cx="6347462" cy="18562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5" dirty="0">
                <a:solidFill>
                  <a:srgbClr val="404040"/>
                </a:solidFill>
                <a:cs typeface="微软雅黑"/>
              </a:rPr>
              <a:t>2.</a:t>
            </a:r>
            <a:r>
              <a:rPr sz="2400" b="1" spc="-60" dirty="0">
                <a:solidFill>
                  <a:srgbClr val="404040"/>
                </a:solidFill>
                <a:cs typeface="微软雅黑"/>
              </a:rPr>
              <a:t> </a:t>
            </a:r>
            <a:r>
              <a:rPr sz="2400" b="1" spc="-30" dirty="0">
                <a:solidFill>
                  <a:srgbClr val="404040"/>
                </a:solidFill>
                <a:cs typeface="微软雅黑"/>
              </a:rPr>
              <a:t>外部</a:t>
            </a:r>
            <a:r>
              <a:rPr sz="2400" b="1" spc="-55" dirty="0">
                <a:solidFill>
                  <a:srgbClr val="404040"/>
                </a:solidFill>
                <a:cs typeface="微软雅黑"/>
              </a:rPr>
              <a:t> </a:t>
            </a:r>
            <a:r>
              <a:rPr sz="2400" b="1" spc="-45" dirty="0">
                <a:solidFill>
                  <a:srgbClr val="404040"/>
                </a:solidFill>
                <a:cs typeface="微软雅黑"/>
              </a:rPr>
              <a:t>JavaScript</a:t>
            </a:r>
            <a:endParaRPr sz="2400" dirty="0"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 dirty="0">
              <a:cs typeface="Times New Roman" panose="02020503050405090304"/>
            </a:endParaRPr>
          </a:p>
          <a:p>
            <a:pPr marL="145415">
              <a:lnSpc>
                <a:spcPct val="100000"/>
              </a:lnSpc>
            </a:pPr>
            <a:r>
              <a:rPr sz="2400" spc="-30" dirty="0">
                <a:solidFill>
                  <a:srgbClr val="404040"/>
                </a:solidFill>
                <a:cs typeface="宋体"/>
              </a:rPr>
              <a:t>代码写在以</a:t>
            </a:r>
            <a:r>
              <a:rPr sz="2400" spc="-245" dirty="0">
                <a:solidFill>
                  <a:srgbClr val="404040"/>
                </a:solidFill>
                <a:cs typeface="宋体"/>
              </a:rPr>
              <a:t>.</a:t>
            </a:r>
            <a:r>
              <a:rPr sz="2400" spc="-245" dirty="0" smtClean="0">
                <a:solidFill>
                  <a:srgbClr val="404040"/>
                </a:solidFill>
                <a:cs typeface="宋体"/>
              </a:rPr>
              <a:t>js</a:t>
            </a:r>
            <a:r>
              <a:rPr lang="en-US" sz="2400" spc="-245" dirty="0" smtClean="0">
                <a:solidFill>
                  <a:srgbClr val="404040"/>
                </a:solidFill>
                <a:cs typeface="宋体"/>
              </a:rPr>
              <a:t> </a:t>
            </a:r>
            <a:r>
              <a:rPr sz="2400" spc="-30" dirty="0" err="1" smtClean="0">
                <a:solidFill>
                  <a:srgbClr val="404040"/>
                </a:solidFill>
                <a:cs typeface="宋体"/>
              </a:rPr>
              <a:t>结尾的文件里</a:t>
            </a:r>
            <a:endParaRPr sz="2400" dirty="0">
              <a:cs typeface="宋体"/>
            </a:endParaRPr>
          </a:p>
          <a:p>
            <a:pPr marL="145415">
              <a:lnSpc>
                <a:spcPct val="100000"/>
              </a:lnSpc>
              <a:spcBef>
                <a:spcPts val="1920"/>
              </a:spcBef>
            </a:pPr>
            <a:r>
              <a:rPr sz="2400" b="1" spc="-30" dirty="0">
                <a:solidFill>
                  <a:schemeClr val="accent2"/>
                </a:solidFill>
                <a:cs typeface="微软雅黑"/>
              </a:rPr>
              <a:t>语法：</a:t>
            </a:r>
            <a:r>
              <a:rPr sz="2400" spc="-30" dirty="0">
                <a:solidFill>
                  <a:srgbClr val="404040"/>
                </a:solidFill>
                <a:cs typeface="宋体"/>
              </a:rPr>
              <a:t>通过</a:t>
            </a:r>
            <a:r>
              <a:rPr sz="2400" spc="-114" dirty="0">
                <a:solidFill>
                  <a:srgbClr val="404040"/>
                </a:solidFill>
                <a:cs typeface="宋体"/>
              </a:rPr>
              <a:t>script</a:t>
            </a:r>
            <a:r>
              <a:rPr sz="2400" spc="-30" dirty="0">
                <a:solidFill>
                  <a:srgbClr val="404040"/>
                </a:solidFill>
                <a:cs typeface="宋体"/>
              </a:rPr>
              <a:t>标签，引入到</a:t>
            </a:r>
            <a:r>
              <a:rPr sz="2400" spc="55" dirty="0">
                <a:solidFill>
                  <a:srgbClr val="404040"/>
                </a:solidFill>
                <a:cs typeface="宋体"/>
              </a:rPr>
              <a:t>html</a:t>
            </a:r>
            <a:r>
              <a:rPr sz="2400" spc="-20" dirty="0">
                <a:solidFill>
                  <a:srgbClr val="404040"/>
                </a:solidFill>
                <a:cs typeface="宋体"/>
              </a:rPr>
              <a:t>页</a:t>
            </a:r>
            <a:r>
              <a:rPr sz="2400" spc="-30" dirty="0">
                <a:solidFill>
                  <a:srgbClr val="404040"/>
                </a:solidFill>
                <a:cs typeface="宋体"/>
              </a:rPr>
              <a:t>面中。</a:t>
            </a:r>
            <a:endParaRPr sz="2400" dirty="0"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53478" y="1929208"/>
            <a:ext cx="4924044" cy="182879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37109" y="3962400"/>
            <a:ext cx="110985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</a:rPr>
              <a:t>注意：</a:t>
            </a:r>
            <a:r>
              <a:rPr lang="en-US" altLang="zh-CN" sz="2400" dirty="0" smtClean="0"/>
              <a:t>script</a:t>
            </a:r>
            <a:r>
              <a:rPr lang="zh-CN" altLang="en-US" sz="2400" dirty="0"/>
              <a:t>标签中间无需写代码，否则会被忽略！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外部</a:t>
            </a:r>
            <a:r>
              <a:rPr lang="en-US" altLang="zh-CN" sz="2400" dirty="0"/>
              <a:t>JavaScript</a:t>
            </a:r>
            <a:r>
              <a:rPr lang="zh-CN" altLang="en-US" sz="2400" dirty="0"/>
              <a:t>会使代码更加有序，更易于复用，且没有了脚本的混合，</a:t>
            </a:r>
            <a:r>
              <a:rPr lang="en-US" altLang="zh-CN" sz="2400" dirty="0"/>
              <a:t>HTML </a:t>
            </a:r>
            <a:r>
              <a:rPr lang="zh-CN" altLang="en-US" sz="2400" dirty="0"/>
              <a:t>也会更加易读，因此这是个好的习惯。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10292080" y="685800"/>
            <a:ext cx="189992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35725"/>
            <a:ext cx="4876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585858"/>
                </a:solidFill>
                <a:latin typeface="+mn-lt"/>
                <a:cs typeface="微软雅黑"/>
              </a:rPr>
              <a:t>JavaScript</a:t>
            </a:r>
            <a:r>
              <a:rPr sz="2800" b="1" spc="-130" dirty="0" smtClean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+mn-lt"/>
                <a:cs typeface="微软雅黑"/>
              </a:rPr>
              <a:t>书写位置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3686" y="1600200"/>
            <a:ext cx="9920514" cy="35721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5" dirty="0">
                <a:solidFill>
                  <a:srgbClr val="404040"/>
                </a:solidFill>
                <a:cs typeface="微软雅黑"/>
              </a:rPr>
              <a:t>3.</a:t>
            </a:r>
            <a:r>
              <a:rPr sz="2400" b="1" spc="-95" dirty="0">
                <a:solidFill>
                  <a:srgbClr val="404040"/>
                </a:solidFill>
                <a:cs typeface="微软雅黑"/>
              </a:rPr>
              <a:t> </a:t>
            </a:r>
            <a:r>
              <a:rPr sz="2400" b="1" spc="-30" dirty="0">
                <a:solidFill>
                  <a:srgbClr val="404040"/>
                </a:solidFill>
                <a:cs typeface="微软雅黑"/>
              </a:rPr>
              <a:t>内联</a:t>
            </a:r>
            <a:r>
              <a:rPr sz="2400" b="1" spc="-95" dirty="0">
                <a:solidFill>
                  <a:srgbClr val="404040"/>
                </a:solidFill>
                <a:cs typeface="微软雅黑"/>
              </a:rPr>
              <a:t> </a:t>
            </a:r>
            <a:r>
              <a:rPr sz="2400" b="1" spc="-45" dirty="0">
                <a:solidFill>
                  <a:srgbClr val="404040"/>
                </a:solidFill>
                <a:cs typeface="微软雅黑"/>
              </a:rPr>
              <a:t>JavaScript</a:t>
            </a:r>
            <a:endParaRPr sz="2400" dirty="0"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cs typeface="Times New Roman" panose="02020503050405090304"/>
            </a:endParaRPr>
          </a:p>
          <a:p>
            <a:pPr marL="78105">
              <a:lnSpc>
                <a:spcPct val="100000"/>
              </a:lnSpc>
            </a:pPr>
            <a:r>
              <a:rPr sz="2400" spc="-30" dirty="0">
                <a:solidFill>
                  <a:srgbClr val="FF0000"/>
                </a:solidFill>
                <a:cs typeface="宋体"/>
              </a:rPr>
              <a:t>代码写在标签内部</a:t>
            </a:r>
            <a:endParaRPr sz="2400" dirty="0">
              <a:solidFill>
                <a:srgbClr val="FF0000"/>
              </a:solidFill>
              <a:cs typeface="宋体"/>
            </a:endParaRPr>
          </a:p>
          <a:p>
            <a:pPr marL="78105">
              <a:lnSpc>
                <a:spcPct val="100000"/>
              </a:lnSpc>
              <a:spcBef>
                <a:spcPts val="1920"/>
              </a:spcBef>
            </a:pPr>
            <a:r>
              <a:rPr sz="2400" b="1" spc="-30" dirty="0" err="1">
                <a:solidFill>
                  <a:schemeClr val="accent2"/>
                </a:solidFill>
                <a:cs typeface="微软雅黑"/>
              </a:rPr>
              <a:t>语法</a:t>
            </a:r>
            <a:r>
              <a:rPr sz="2400" b="1" spc="-30" dirty="0" smtClean="0">
                <a:solidFill>
                  <a:schemeClr val="accent2"/>
                </a:solidFill>
                <a:cs typeface="微软雅黑"/>
              </a:rPr>
              <a:t>：</a:t>
            </a:r>
            <a:endParaRPr lang="en-US" sz="2400" b="1" spc="-30" dirty="0" smtClean="0">
              <a:solidFill>
                <a:schemeClr val="accent2"/>
              </a:solidFill>
              <a:cs typeface="微软雅黑"/>
            </a:endParaRPr>
          </a:p>
          <a:p>
            <a:pPr marL="78105">
              <a:lnSpc>
                <a:spcPct val="100000"/>
              </a:lnSpc>
              <a:spcBef>
                <a:spcPts val="1920"/>
              </a:spcBef>
            </a:pPr>
            <a:r>
              <a:rPr lang="en-US" sz="2400" spc="-3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微软雅黑"/>
              </a:rPr>
              <a:t>&lt;body&gt;</a:t>
            </a:r>
            <a:endParaRPr lang="en-US" sz="2400" spc="-30" dirty="0" smtClean="0">
              <a:solidFill>
                <a:schemeClr val="tx1">
                  <a:lumMod val="85000"/>
                  <a:lumOff val="15000"/>
                </a:schemeClr>
              </a:solidFill>
              <a:cs typeface="微软雅黑"/>
            </a:endParaRPr>
          </a:p>
          <a:p>
            <a:pPr marL="78105">
              <a:lnSpc>
                <a:spcPct val="100000"/>
              </a:lnSpc>
              <a:spcBef>
                <a:spcPts val="1920"/>
              </a:spcBef>
            </a:pPr>
            <a:r>
              <a:rPr lang="en-US" sz="2400" spc="-3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微软雅黑"/>
              </a:rPr>
              <a:t>    &lt;button </a:t>
            </a:r>
            <a:r>
              <a:rPr lang="en-US" sz="2400" spc="-30" dirty="0" err="1" smtClean="0">
                <a:solidFill>
                  <a:schemeClr val="tx1">
                    <a:lumMod val="85000"/>
                    <a:lumOff val="15000"/>
                  </a:schemeClr>
                </a:solidFill>
                <a:cs typeface="微软雅黑"/>
              </a:rPr>
              <a:t>onclick</a:t>
            </a:r>
            <a:r>
              <a:rPr lang="en-US" sz="2400" spc="-3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微软雅黑"/>
              </a:rPr>
              <a:t>=“alert(‘Hi, </a:t>
            </a:r>
            <a:r>
              <a:rPr lang="zh-CN" altLang="en-US" sz="2400" spc="-3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微软雅黑"/>
              </a:rPr>
              <a:t>你好呀！</a:t>
            </a:r>
            <a:r>
              <a:rPr lang="en-US" sz="2400" spc="-3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微软雅黑"/>
              </a:rPr>
              <a:t>’)”&gt;</a:t>
            </a:r>
            <a:r>
              <a:rPr lang="zh-CN" altLang="en-US" sz="2400" spc="-3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微软雅黑"/>
              </a:rPr>
              <a:t>点击一下</a:t>
            </a:r>
            <a:r>
              <a:rPr lang="en-US" sz="2400" spc="-3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微软雅黑"/>
              </a:rPr>
              <a:t>&lt;/button&gt;</a:t>
            </a:r>
            <a:endParaRPr lang="en-US" sz="2400" spc="-30" dirty="0" smtClean="0">
              <a:solidFill>
                <a:schemeClr val="tx1">
                  <a:lumMod val="85000"/>
                  <a:lumOff val="15000"/>
                </a:schemeClr>
              </a:solidFill>
              <a:cs typeface="微软雅黑"/>
            </a:endParaRPr>
          </a:p>
          <a:p>
            <a:pPr marL="78105">
              <a:lnSpc>
                <a:spcPct val="100000"/>
              </a:lnSpc>
              <a:spcBef>
                <a:spcPts val="1920"/>
              </a:spcBef>
            </a:pPr>
            <a:r>
              <a:rPr lang="en-US" sz="2400" dirty="0" smtClean="0">
                <a:cs typeface="微软雅黑"/>
              </a:rPr>
              <a:t>&lt;/body&gt;</a:t>
            </a:r>
            <a:endParaRPr sz="2400" dirty="0">
              <a:cs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321290" y="685800"/>
            <a:ext cx="187071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580" y="624880"/>
            <a:ext cx="4343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585858"/>
                </a:solidFill>
                <a:latin typeface="+mn-lt"/>
                <a:cs typeface="微软雅黑"/>
              </a:rPr>
              <a:t>JavaScript</a:t>
            </a:r>
            <a:r>
              <a:rPr sz="2800" b="1" spc="-130" dirty="0" smtClean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+mn-lt"/>
                <a:cs typeface="微软雅黑"/>
              </a:rPr>
              <a:t>注释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809" y="1487689"/>
            <a:ext cx="4696562" cy="30726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45" dirty="0" smtClean="0">
                <a:solidFill>
                  <a:srgbClr val="FF0000"/>
                </a:solidFill>
                <a:cs typeface="微软雅黑"/>
              </a:rPr>
              <a:t>两种</a:t>
            </a:r>
            <a:r>
              <a:rPr sz="2400" b="1" spc="-45" dirty="0" err="1" smtClean="0">
                <a:solidFill>
                  <a:srgbClr val="FF0000"/>
                </a:solidFill>
                <a:cs typeface="微软雅黑"/>
              </a:rPr>
              <a:t>JavaScript</a:t>
            </a:r>
            <a:r>
              <a:rPr sz="2400" b="1" spc="-30" dirty="0" err="1">
                <a:solidFill>
                  <a:srgbClr val="FF0000"/>
                </a:solidFill>
                <a:cs typeface="微软雅黑"/>
              </a:rPr>
              <a:t>注释方法</a:t>
            </a:r>
            <a:endParaRPr sz="2400" dirty="0">
              <a:solidFill>
                <a:srgbClr val="FF0000"/>
              </a:solidFill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000" dirty="0" smtClean="0">
              <a:cs typeface="Times New Roman" panose="02020503050405090304"/>
            </a:endParaRPr>
          </a:p>
          <a:p>
            <a:pPr marL="372110" indent="-359410">
              <a:lnSpc>
                <a:spcPct val="100000"/>
              </a:lnSpc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400" spc="-30" dirty="0" err="1" smtClean="0">
                <a:solidFill>
                  <a:srgbClr val="252525"/>
                </a:solidFill>
                <a:cs typeface="宋体"/>
              </a:rPr>
              <a:t>单行注释</a:t>
            </a:r>
            <a:endParaRPr sz="24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2000" spc="-25" dirty="0">
                <a:cs typeface="宋体"/>
              </a:rPr>
              <a:t>符号</a:t>
            </a:r>
            <a:r>
              <a:rPr sz="2000" spc="-5" dirty="0">
                <a:cs typeface="宋体"/>
              </a:rPr>
              <a:t>：//</a:t>
            </a:r>
            <a:endParaRPr sz="20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2000" spc="-25" dirty="0">
                <a:cs typeface="宋体"/>
              </a:rPr>
              <a:t>作用</a:t>
            </a:r>
            <a:r>
              <a:rPr sz="2000" spc="-5" dirty="0">
                <a:cs typeface="宋体"/>
              </a:rPr>
              <a:t>：//</a:t>
            </a:r>
            <a:r>
              <a:rPr sz="2000" spc="-20" dirty="0">
                <a:cs typeface="宋体"/>
              </a:rPr>
              <a:t>右边</a:t>
            </a:r>
            <a:r>
              <a:rPr sz="2000" spc="-40" dirty="0">
                <a:cs typeface="宋体"/>
              </a:rPr>
              <a:t>这</a:t>
            </a:r>
            <a:r>
              <a:rPr sz="2000" spc="-20" dirty="0">
                <a:cs typeface="宋体"/>
              </a:rPr>
              <a:t>一</a:t>
            </a:r>
            <a:r>
              <a:rPr sz="2000" spc="-40" dirty="0">
                <a:cs typeface="宋体"/>
              </a:rPr>
              <a:t>行</a:t>
            </a:r>
            <a:r>
              <a:rPr sz="2000" spc="-20" dirty="0">
                <a:cs typeface="宋体"/>
              </a:rPr>
              <a:t>的代</a:t>
            </a:r>
            <a:r>
              <a:rPr sz="2000" spc="-40" dirty="0">
                <a:cs typeface="宋体"/>
              </a:rPr>
              <a:t>码</a:t>
            </a:r>
            <a:r>
              <a:rPr sz="2000" spc="-20" dirty="0">
                <a:cs typeface="宋体"/>
              </a:rPr>
              <a:t>会</a:t>
            </a:r>
            <a:r>
              <a:rPr sz="2000" spc="-40" dirty="0">
                <a:cs typeface="宋体"/>
              </a:rPr>
              <a:t>被</a:t>
            </a:r>
            <a:r>
              <a:rPr sz="2000" spc="-20" dirty="0">
                <a:cs typeface="宋体"/>
              </a:rPr>
              <a:t>忽略</a:t>
            </a:r>
            <a:endParaRPr sz="20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2000" spc="-25" dirty="0">
                <a:cs typeface="宋体"/>
              </a:rPr>
              <a:t>快捷键</a:t>
            </a:r>
            <a:r>
              <a:rPr sz="2000" spc="-150" dirty="0">
                <a:cs typeface="宋体"/>
              </a:rPr>
              <a:t>：ctrl</a:t>
            </a:r>
            <a:r>
              <a:rPr sz="2000" spc="-355" dirty="0">
                <a:cs typeface="宋体"/>
              </a:rPr>
              <a:t> </a:t>
            </a:r>
            <a:r>
              <a:rPr sz="2000" spc="75" dirty="0">
                <a:cs typeface="宋体"/>
              </a:rPr>
              <a:t>+</a:t>
            </a:r>
            <a:r>
              <a:rPr sz="2000" spc="-350" dirty="0">
                <a:cs typeface="宋体"/>
              </a:rPr>
              <a:t> </a:t>
            </a:r>
            <a:r>
              <a:rPr sz="2000" dirty="0">
                <a:cs typeface="宋体"/>
              </a:rPr>
              <a:t>/</a:t>
            </a:r>
            <a:endParaRPr sz="2000" dirty="0"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7180" y="4589840"/>
            <a:ext cx="5709914" cy="17665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95"/>
              </a:spcBef>
              <a:buClr>
                <a:srgbClr val="404040"/>
              </a:buClr>
              <a:buSzPct val="84000"/>
              <a:buAutoNum type="arabicPeriod" startAt="2"/>
              <a:tabLst>
                <a:tab pos="372110" algn="l"/>
                <a:tab pos="372745" algn="l"/>
              </a:tabLst>
            </a:pPr>
            <a:r>
              <a:rPr sz="2400" spc="-30" dirty="0">
                <a:solidFill>
                  <a:srgbClr val="252525"/>
                </a:solidFill>
                <a:cs typeface="宋体"/>
              </a:rPr>
              <a:t>块注释</a:t>
            </a:r>
            <a:endParaRPr sz="24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2000" spc="-25" dirty="0">
                <a:cs typeface="宋体"/>
              </a:rPr>
              <a:t>符号</a:t>
            </a:r>
            <a:r>
              <a:rPr sz="2000" spc="-40" dirty="0">
                <a:cs typeface="宋体"/>
              </a:rPr>
              <a:t>：/*</a:t>
            </a:r>
            <a:r>
              <a:rPr sz="2000" spc="-15" dirty="0">
                <a:cs typeface="宋体"/>
              </a:rPr>
              <a:t> </a:t>
            </a:r>
            <a:r>
              <a:rPr sz="2000" spc="-50" dirty="0">
                <a:cs typeface="宋体"/>
              </a:rPr>
              <a:t>*/</a:t>
            </a:r>
            <a:endParaRPr sz="20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2000" spc="-25" dirty="0">
                <a:cs typeface="宋体"/>
              </a:rPr>
              <a:t>作用：在</a:t>
            </a:r>
            <a:r>
              <a:rPr sz="2000" spc="-50" dirty="0">
                <a:cs typeface="宋体"/>
              </a:rPr>
              <a:t>/*</a:t>
            </a:r>
            <a:r>
              <a:rPr sz="2000" spc="-35" dirty="0">
                <a:cs typeface="宋体"/>
              </a:rPr>
              <a:t> </a:t>
            </a:r>
            <a:r>
              <a:rPr sz="2000" spc="-20" dirty="0">
                <a:cs typeface="宋体"/>
              </a:rPr>
              <a:t>和</a:t>
            </a:r>
            <a:r>
              <a:rPr sz="2000" spc="-10" dirty="0">
                <a:cs typeface="宋体"/>
              </a:rPr>
              <a:t> </a:t>
            </a:r>
            <a:r>
              <a:rPr sz="2000" spc="-50" dirty="0">
                <a:cs typeface="宋体"/>
              </a:rPr>
              <a:t>*/</a:t>
            </a:r>
            <a:r>
              <a:rPr sz="2000" spc="-350" dirty="0">
                <a:cs typeface="宋体"/>
              </a:rPr>
              <a:t> </a:t>
            </a:r>
            <a:r>
              <a:rPr sz="2000" spc="-20" dirty="0">
                <a:cs typeface="宋体"/>
              </a:rPr>
              <a:t>之间的所有内容</a:t>
            </a:r>
            <a:r>
              <a:rPr sz="2000" spc="-35" dirty="0">
                <a:cs typeface="宋体"/>
              </a:rPr>
              <a:t>都</a:t>
            </a:r>
            <a:r>
              <a:rPr sz="2000" spc="-20" dirty="0">
                <a:cs typeface="宋体"/>
              </a:rPr>
              <a:t>会</a:t>
            </a:r>
            <a:r>
              <a:rPr sz="2000" spc="-35" dirty="0">
                <a:cs typeface="宋体"/>
              </a:rPr>
              <a:t>被</a:t>
            </a:r>
            <a:r>
              <a:rPr sz="2000" spc="-20" dirty="0">
                <a:cs typeface="宋体"/>
              </a:rPr>
              <a:t>忽略</a:t>
            </a:r>
            <a:endParaRPr sz="20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2000" spc="-25" dirty="0">
                <a:cs typeface="宋体"/>
              </a:rPr>
              <a:t>快捷键</a:t>
            </a:r>
            <a:r>
              <a:rPr sz="2000" spc="-110" dirty="0">
                <a:cs typeface="宋体"/>
              </a:rPr>
              <a:t>：shift</a:t>
            </a:r>
            <a:r>
              <a:rPr sz="2000" spc="-365" dirty="0">
                <a:cs typeface="宋体"/>
              </a:rPr>
              <a:t> </a:t>
            </a:r>
            <a:r>
              <a:rPr sz="2000" spc="75" dirty="0">
                <a:cs typeface="宋体"/>
              </a:rPr>
              <a:t>+</a:t>
            </a:r>
            <a:r>
              <a:rPr sz="2000" spc="-340" dirty="0">
                <a:cs typeface="宋体"/>
              </a:rPr>
              <a:t> </a:t>
            </a:r>
            <a:r>
              <a:rPr sz="2000" spc="-125" dirty="0">
                <a:cs typeface="宋体"/>
              </a:rPr>
              <a:t>alt</a:t>
            </a:r>
            <a:r>
              <a:rPr sz="2000" spc="-335" dirty="0">
                <a:cs typeface="宋体"/>
              </a:rPr>
              <a:t> </a:t>
            </a:r>
            <a:r>
              <a:rPr sz="2000" spc="75" dirty="0">
                <a:cs typeface="宋体"/>
              </a:rPr>
              <a:t>+</a:t>
            </a:r>
            <a:r>
              <a:rPr sz="2000" spc="-345" dirty="0">
                <a:cs typeface="宋体"/>
              </a:rPr>
              <a:t> </a:t>
            </a:r>
            <a:r>
              <a:rPr sz="2000" spc="235" dirty="0">
                <a:cs typeface="宋体"/>
              </a:rPr>
              <a:t>A</a:t>
            </a:r>
            <a:endParaRPr sz="2000" dirty="0"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67094" y="4059740"/>
            <a:ext cx="3896106" cy="229660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67094" y="1606425"/>
            <a:ext cx="3896106" cy="1974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330180" y="685800"/>
            <a:ext cx="186182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882" y="639303"/>
            <a:ext cx="440791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585858"/>
                </a:solidFill>
                <a:latin typeface="微软雅黑"/>
                <a:cs typeface="微软雅黑"/>
              </a:rPr>
              <a:t>JavaScript</a:t>
            </a:r>
            <a:r>
              <a:rPr sz="2800" b="1" spc="-135" dirty="0" smtClean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微软雅黑"/>
                <a:cs typeface="微软雅黑"/>
              </a:rPr>
              <a:t>结束符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2539" y="1361832"/>
            <a:ext cx="10668000" cy="327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 err="1" smtClean="0">
                <a:solidFill>
                  <a:srgbClr val="404040"/>
                </a:solidFill>
                <a:cs typeface="微软雅黑"/>
              </a:rPr>
              <a:t>JavaScript</a:t>
            </a:r>
            <a:r>
              <a:rPr sz="2400" b="1" spc="-30" dirty="0" err="1">
                <a:solidFill>
                  <a:srgbClr val="404040"/>
                </a:solidFill>
                <a:cs typeface="微软雅黑"/>
              </a:rPr>
              <a:t>结束符</a:t>
            </a:r>
            <a:endParaRPr sz="2400" dirty="0">
              <a:cs typeface="微软雅黑"/>
            </a:endParaRPr>
          </a:p>
          <a:p>
            <a:pPr marL="499110" indent="-359410">
              <a:lnSpc>
                <a:spcPct val="100000"/>
              </a:lnSpc>
              <a:spcBef>
                <a:spcPts val="5"/>
              </a:spcBef>
              <a:buClr>
                <a:srgbClr val="404040"/>
              </a:buClr>
              <a:buSzPct val="84000"/>
              <a:buAutoNum type="arabicPeriod"/>
              <a:tabLst>
                <a:tab pos="498475" algn="l"/>
                <a:tab pos="499745" algn="l"/>
              </a:tabLst>
            </a:pPr>
            <a:endParaRPr lang="en-US" sz="2000" spc="-30" dirty="0" smtClean="0">
              <a:solidFill>
                <a:srgbClr val="252525"/>
              </a:solidFill>
              <a:cs typeface="宋体"/>
            </a:endParaRPr>
          </a:p>
          <a:p>
            <a:pPr marL="860425" lvl="1" indent="-361315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"/>
              <a:tabLst>
                <a:tab pos="860425" algn="l"/>
                <a:tab pos="861060" algn="l"/>
              </a:tabLst>
            </a:pPr>
            <a:r>
              <a:rPr spc="-25" dirty="0" err="1" smtClean="0">
                <a:cs typeface="宋体"/>
              </a:rPr>
              <a:t>代表语句结束</a:t>
            </a:r>
            <a:endParaRPr dirty="0">
              <a:cs typeface="宋体"/>
            </a:endParaRPr>
          </a:p>
          <a:p>
            <a:pPr marL="860425" lvl="1" indent="-361315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860425" algn="l"/>
                <a:tab pos="861060" algn="l"/>
              </a:tabLst>
            </a:pPr>
            <a:r>
              <a:rPr spc="-25" dirty="0" err="1" smtClean="0">
                <a:cs typeface="宋体"/>
              </a:rPr>
              <a:t>英文分</a:t>
            </a:r>
            <a:r>
              <a:rPr spc="-20" dirty="0" err="1" smtClean="0">
                <a:cs typeface="宋体"/>
              </a:rPr>
              <a:t>号</a:t>
            </a:r>
            <a:r>
              <a:rPr spc="-170" dirty="0" smtClean="0">
                <a:cs typeface="宋体"/>
              </a:rPr>
              <a:t>;</a:t>
            </a:r>
            <a:endParaRPr dirty="0">
              <a:cs typeface="宋体"/>
            </a:endParaRPr>
          </a:p>
          <a:p>
            <a:pPr marL="860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860425" algn="l"/>
                <a:tab pos="861060" algn="l"/>
              </a:tabLst>
            </a:pPr>
            <a:r>
              <a:rPr spc="-25" dirty="0" err="1">
                <a:cs typeface="宋体"/>
              </a:rPr>
              <a:t>可写可不</a:t>
            </a:r>
            <a:r>
              <a:rPr spc="-20" dirty="0" err="1">
                <a:cs typeface="宋体"/>
              </a:rPr>
              <a:t>写（</a:t>
            </a:r>
            <a:r>
              <a:rPr spc="-25" dirty="0" err="1" smtClean="0">
                <a:cs typeface="宋体"/>
              </a:rPr>
              <a:t>现</a:t>
            </a:r>
            <a:r>
              <a:rPr spc="-20" dirty="0" err="1" smtClean="0">
                <a:cs typeface="宋体"/>
              </a:rPr>
              <a:t>在</a:t>
            </a:r>
            <a:r>
              <a:rPr spc="-40" dirty="0" err="1" smtClean="0">
                <a:cs typeface="宋体"/>
              </a:rPr>
              <a:t>不</a:t>
            </a:r>
            <a:r>
              <a:rPr spc="-20" dirty="0" err="1" smtClean="0">
                <a:cs typeface="宋体"/>
              </a:rPr>
              <a:t>写</a:t>
            </a:r>
            <a:r>
              <a:rPr spc="-40" dirty="0" err="1" smtClean="0">
                <a:cs typeface="宋体"/>
              </a:rPr>
              <a:t>结</a:t>
            </a:r>
            <a:r>
              <a:rPr spc="-20" dirty="0" err="1" smtClean="0">
                <a:cs typeface="宋体"/>
              </a:rPr>
              <a:t>束符</a:t>
            </a:r>
            <a:r>
              <a:rPr spc="-40" dirty="0" err="1" smtClean="0">
                <a:cs typeface="宋体"/>
              </a:rPr>
              <a:t>的</a:t>
            </a:r>
            <a:r>
              <a:rPr spc="-20" dirty="0" err="1" smtClean="0">
                <a:cs typeface="宋体"/>
              </a:rPr>
              <a:t>越</a:t>
            </a:r>
            <a:r>
              <a:rPr spc="-40" dirty="0" err="1" smtClean="0">
                <a:cs typeface="宋体"/>
              </a:rPr>
              <a:t>来</a:t>
            </a:r>
            <a:r>
              <a:rPr spc="-20" dirty="0" err="1" smtClean="0">
                <a:cs typeface="宋体"/>
              </a:rPr>
              <a:t>越</a:t>
            </a:r>
            <a:r>
              <a:rPr spc="-40" dirty="0" err="1" smtClean="0">
                <a:cs typeface="宋体"/>
              </a:rPr>
              <a:t>多</a:t>
            </a:r>
            <a:r>
              <a:rPr spc="-20" dirty="0">
                <a:cs typeface="宋体"/>
              </a:rPr>
              <a:t>）</a:t>
            </a:r>
            <a:endParaRPr dirty="0">
              <a:cs typeface="宋体"/>
            </a:endParaRPr>
          </a:p>
          <a:p>
            <a:pPr marL="860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860425" algn="l"/>
                <a:tab pos="861060" algn="l"/>
              </a:tabLst>
            </a:pPr>
            <a:r>
              <a:rPr spc="-25" dirty="0" err="1">
                <a:cs typeface="宋体"/>
              </a:rPr>
              <a:t>换行符（回车）</a:t>
            </a:r>
            <a:r>
              <a:rPr spc="-25" dirty="0" err="1" smtClean="0">
                <a:cs typeface="宋体"/>
              </a:rPr>
              <a:t>会</a:t>
            </a:r>
            <a:r>
              <a:rPr spc="-35" dirty="0" err="1" smtClean="0">
                <a:cs typeface="宋体"/>
              </a:rPr>
              <a:t>被</a:t>
            </a:r>
            <a:r>
              <a:rPr spc="-25" dirty="0" err="1" smtClean="0">
                <a:cs typeface="宋体"/>
              </a:rPr>
              <a:t>识</a:t>
            </a:r>
            <a:r>
              <a:rPr spc="-35" dirty="0" err="1" smtClean="0">
                <a:cs typeface="宋体"/>
              </a:rPr>
              <a:t>别</a:t>
            </a:r>
            <a:r>
              <a:rPr spc="-25" dirty="0" err="1" smtClean="0">
                <a:cs typeface="宋体"/>
              </a:rPr>
              <a:t>成结</a:t>
            </a:r>
            <a:r>
              <a:rPr spc="-35" dirty="0" err="1" smtClean="0">
                <a:cs typeface="宋体"/>
              </a:rPr>
              <a:t>束</a:t>
            </a:r>
            <a:r>
              <a:rPr spc="-20" dirty="0" err="1" smtClean="0">
                <a:cs typeface="宋体"/>
              </a:rPr>
              <a:t>符</a:t>
            </a:r>
            <a:endParaRPr dirty="0">
              <a:cs typeface="宋体"/>
            </a:endParaRPr>
          </a:p>
          <a:p>
            <a:pPr marL="860425" lvl="1" indent="-361315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860425" algn="l"/>
                <a:tab pos="861060" algn="l"/>
              </a:tabLst>
            </a:pPr>
            <a:r>
              <a:rPr spc="-25" dirty="0">
                <a:cs typeface="宋体"/>
              </a:rPr>
              <a:t>因此</a:t>
            </a:r>
            <a:r>
              <a:rPr spc="-20" dirty="0">
                <a:cs typeface="宋体"/>
              </a:rPr>
              <a:t>在实</a:t>
            </a:r>
            <a:r>
              <a:rPr spc="-25" dirty="0">
                <a:cs typeface="宋体"/>
              </a:rPr>
              <a:t>际</a:t>
            </a:r>
            <a:r>
              <a:rPr spc="-20" dirty="0">
                <a:cs typeface="宋体"/>
              </a:rPr>
              <a:t>开发</a:t>
            </a:r>
            <a:r>
              <a:rPr spc="-25" dirty="0">
                <a:cs typeface="宋体"/>
              </a:rPr>
              <a:t>中</a:t>
            </a:r>
            <a:r>
              <a:rPr spc="-35" dirty="0">
                <a:cs typeface="宋体"/>
              </a:rPr>
              <a:t>有</a:t>
            </a:r>
            <a:r>
              <a:rPr spc="-20" dirty="0">
                <a:cs typeface="宋体"/>
              </a:rPr>
              <a:t>许</a:t>
            </a:r>
            <a:r>
              <a:rPr spc="-40" dirty="0">
                <a:cs typeface="宋体"/>
              </a:rPr>
              <a:t>多</a:t>
            </a:r>
            <a:r>
              <a:rPr spc="-20" dirty="0">
                <a:cs typeface="宋体"/>
              </a:rPr>
              <a:t>人主</a:t>
            </a:r>
            <a:r>
              <a:rPr spc="-40" dirty="0">
                <a:cs typeface="宋体"/>
              </a:rPr>
              <a:t>张</a:t>
            </a:r>
            <a:r>
              <a:rPr spc="-20" dirty="0">
                <a:cs typeface="宋体"/>
              </a:rPr>
              <a:t>书写</a:t>
            </a:r>
            <a:r>
              <a:rPr spc="-360" dirty="0">
                <a:cs typeface="宋体"/>
              </a:rPr>
              <a:t> </a:t>
            </a:r>
            <a:r>
              <a:rPr spc="-45" dirty="0">
                <a:cs typeface="宋体"/>
              </a:rPr>
              <a:t>JavaScript</a:t>
            </a:r>
            <a:r>
              <a:rPr spc="-370" dirty="0">
                <a:cs typeface="宋体"/>
              </a:rPr>
              <a:t> </a:t>
            </a:r>
            <a:r>
              <a:rPr spc="-25" dirty="0">
                <a:cs typeface="宋体"/>
              </a:rPr>
              <a:t>代码时省略结束符</a:t>
            </a:r>
            <a:endParaRPr dirty="0">
              <a:cs typeface="宋体"/>
            </a:endParaRPr>
          </a:p>
          <a:p>
            <a:pPr marL="860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860425" algn="l"/>
                <a:tab pos="861060" algn="l"/>
              </a:tabLst>
            </a:pPr>
            <a:r>
              <a:rPr spc="-25" dirty="0" err="1">
                <a:solidFill>
                  <a:schemeClr val="accent2"/>
                </a:solidFill>
                <a:cs typeface="宋体"/>
              </a:rPr>
              <a:t>但为了风格统一，</a:t>
            </a:r>
            <a:r>
              <a:rPr spc="-35" dirty="0" err="1">
                <a:solidFill>
                  <a:schemeClr val="accent2"/>
                </a:solidFill>
                <a:cs typeface="宋体"/>
              </a:rPr>
              <a:t>要</a:t>
            </a:r>
            <a:r>
              <a:rPr spc="-25" dirty="0" err="1">
                <a:solidFill>
                  <a:schemeClr val="accent2"/>
                </a:solidFill>
                <a:cs typeface="宋体"/>
              </a:rPr>
              <a:t>写</a:t>
            </a:r>
            <a:r>
              <a:rPr spc="-35" dirty="0" err="1">
                <a:solidFill>
                  <a:schemeClr val="accent2"/>
                </a:solidFill>
                <a:cs typeface="宋体"/>
              </a:rPr>
              <a:t>结</a:t>
            </a:r>
            <a:r>
              <a:rPr spc="-25" dirty="0" err="1">
                <a:solidFill>
                  <a:schemeClr val="accent2"/>
                </a:solidFill>
                <a:cs typeface="宋体"/>
              </a:rPr>
              <a:t>束符</a:t>
            </a:r>
            <a:r>
              <a:rPr spc="-35" dirty="0" err="1">
                <a:solidFill>
                  <a:schemeClr val="accent2"/>
                </a:solidFill>
                <a:cs typeface="宋体"/>
              </a:rPr>
              <a:t>就</a:t>
            </a:r>
            <a:r>
              <a:rPr spc="-25" dirty="0" err="1">
                <a:solidFill>
                  <a:schemeClr val="accent2"/>
                </a:solidFill>
                <a:cs typeface="宋体"/>
              </a:rPr>
              <a:t>每</a:t>
            </a:r>
            <a:r>
              <a:rPr spc="-35" dirty="0" err="1">
                <a:solidFill>
                  <a:schemeClr val="accent2"/>
                </a:solidFill>
                <a:cs typeface="宋体"/>
              </a:rPr>
              <a:t>句</a:t>
            </a:r>
            <a:r>
              <a:rPr spc="-25" dirty="0" err="1">
                <a:solidFill>
                  <a:schemeClr val="accent2"/>
                </a:solidFill>
                <a:cs typeface="宋体"/>
              </a:rPr>
              <a:t>都写</a:t>
            </a:r>
            <a:r>
              <a:rPr spc="-35" dirty="0" err="1">
                <a:solidFill>
                  <a:schemeClr val="accent2"/>
                </a:solidFill>
                <a:cs typeface="宋体"/>
              </a:rPr>
              <a:t>，</a:t>
            </a:r>
            <a:r>
              <a:rPr spc="-25" dirty="0" err="1" smtClean="0">
                <a:solidFill>
                  <a:schemeClr val="accent2"/>
                </a:solidFill>
                <a:cs typeface="宋体"/>
              </a:rPr>
              <a:t>要</a:t>
            </a:r>
            <a:r>
              <a:rPr spc="-35" dirty="0" err="1" smtClean="0">
                <a:solidFill>
                  <a:schemeClr val="accent2"/>
                </a:solidFill>
                <a:cs typeface="宋体"/>
              </a:rPr>
              <a:t>么</a:t>
            </a:r>
            <a:r>
              <a:rPr spc="-25" dirty="0" err="1" smtClean="0">
                <a:solidFill>
                  <a:schemeClr val="accent2"/>
                </a:solidFill>
                <a:cs typeface="宋体"/>
              </a:rPr>
              <a:t>每</a:t>
            </a:r>
            <a:r>
              <a:rPr spc="-35" dirty="0" err="1" smtClean="0">
                <a:solidFill>
                  <a:schemeClr val="accent2"/>
                </a:solidFill>
                <a:cs typeface="宋体"/>
              </a:rPr>
              <a:t>句</a:t>
            </a:r>
            <a:r>
              <a:rPr spc="-25" dirty="0" err="1" smtClean="0">
                <a:solidFill>
                  <a:schemeClr val="accent2"/>
                </a:solidFill>
                <a:cs typeface="宋体"/>
              </a:rPr>
              <a:t>都</a:t>
            </a:r>
            <a:r>
              <a:rPr spc="-15" dirty="0" err="1" smtClean="0">
                <a:solidFill>
                  <a:schemeClr val="accent2"/>
                </a:solidFill>
                <a:cs typeface="宋体"/>
              </a:rPr>
              <a:t>不</a:t>
            </a:r>
            <a:r>
              <a:rPr spc="-35" dirty="0" err="1" smtClean="0">
                <a:solidFill>
                  <a:schemeClr val="accent2"/>
                </a:solidFill>
                <a:cs typeface="宋体"/>
              </a:rPr>
              <a:t>写</a:t>
            </a:r>
            <a:endParaRPr dirty="0">
              <a:solidFill>
                <a:schemeClr val="accent2"/>
              </a:solidFill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51660" y="5105400"/>
            <a:ext cx="2028825" cy="1495425"/>
          </a:xfrm>
          <a:custGeom>
            <a:avLst/>
            <a:gdLst/>
            <a:ahLst/>
            <a:cxnLst/>
            <a:rect l="l" t="t" r="r" b="b"/>
            <a:pathLst>
              <a:path w="2028825" h="1495425">
                <a:moveTo>
                  <a:pt x="1899919" y="0"/>
                </a:moveTo>
                <a:lnTo>
                  <a:pt x="128523" y="0"/>
                </a:lnTo>
                <a:lnTo>
                  <a:pt x="78491" y="10098"/>
                </a:lnTo>
                <a:lnTo>
                  <a:pt x="37639" y="37639"/>
                </a:lnTo>
                <a:lnTo>
                  <a:pt x="10098" y="78491"/>
                </a:lnTo>
                <a:lnTo>
                  <a:pt x="0" y="128524"/>
                </a:lnTo>
                <a:lnTo>
                  <a:pt x="0" y="1366558"/>
                </a:lnTo>
                <a:lnTo>
                  <a:pt x="10098" y="1416568"/>
                </a:lnTo>
                <a:lnTo>
                  <a:pt x="37639" y="1457409"/>
                </a:lnTo>
                <a:lnTo>
                  <a:pt x="78491" y="1484946"/>
                </a:lnTo>
                <a:lnTo>
                  <a:pt x="128523" y="1495044"/>
                </a:lnTo>
                <a:lnTo>
                  <a:pt x="1899919" y="1495044"/>
                </a:lnTo>
                <a:lnTo>
                  <a:pt x="1949952" y="1484946"/>
                </a:lnTo>
                <a:lnTo>
                  <a:pt x="1990804" y="1457409"/>
                </a:lnTo>
                <a:lnTo>
                  <a:pt x="2018345" y="1416568"/>
                </a:lnTo>
                <a:lnTo>
                  <a:pt x="2028443" y="1366558"/>
                </a:lnTo>
                <a:lnTo>
                  <a:pt x="2028443" y="128524"/>
                </a:lnTo>
                <a:lnTo>
                  <a:pt x="2018345" y="78491"/>
                </a:lnTo>
                <a:lnTo>
                  <a:pt x="1990804" y="37639"/>
                </a:lnTo>
                <a:lnTo>
                  <a:pt x="1949952" y="10098"/>
                </a:lnTo>
                <a:lnTo>
                  <a:pt x="1899919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51660" y="5105400"/>
            <a:ext cx="2028443" cy="14950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92468" y="5105400"/>
            <a:ext cx="1885314" cy="1495425"/>
          </a:xfrm>
          <a:custGeom>
            <a:avLst/>
            <a:gdLst/>
            <a:ahLst/>
            <a:cxnLst/>
            <a:rect l="l" t="t" r="r" b="b"/>
            <a:pathLst>
              <a:path w="1885315" h="1495425">
                <a:moveTo>
                  <a:pt x="1756663" y="0"/>
                </a:moveTo>
                <a:lnTo>
                  <a:pt x="128524" y="0"/>
                </a:lnTo>
                <a:lnTo>
                  <a:pt x="78491" y="10098"/>
                </a:lnTo>
                <a:lnTo>
                  <a:pt x="37639" y="37639"/>
                </a:lnTo>
                <a:lnTo>
                  <a:pt x="10098" y="78491"/>
                </a:lnTo>
                <a:lnTo>
                  <a:pt x="0" y="128524"/>
                </a:lnTo>
                <a:lnTo>
                  <a:pt x="0" y="1366558"/>
                </a:lnTo>
                <a:lnTo>
                  <a:pt x="10098" y="1416573"/>
                </a:lnTo>
                <a:lnTo>
                  <a:pt x="37639" y="1457413"/>
                </a:lnTo>
                <a:lnTo>
                  <a:pt x="78491" y="1484947"/>
                </a:lnTo>
                <a:lnTo>
                  <a:pt x="128524" y="1495044"/>
                </a:lnTo>
                <a:lnTo>
                  <a:pt x="1756663" y="1495044"/>
                </a:lnTo>
                <a:lnTo>
                  <a:pt x="1806696" y="1484947"/>
                </a:lnTo>
                <a:lnTo>
                  <a:pt x="1847548" y="1457413"/>
                </a:lnTo>
                <a:lnTo>
                  <a:pt x="1875089" y="1416573"/>
                </a:lnTo>
                <a:lnTo>
                  <a:pt x="1885187" y="1366558"/>
                </a:lnTo>
                <a:lnTo>
                  <a:pt x="1885187" y="128524"/>
                </a:lnTo>
                <a:lnTo>
                  <a:pt x="1875089" y="78491"/>
                </a:lnTo>
                <a:lnTo>
                  <a:pt x="1847548" y="37639"/>
                </a:lnTo>
                <a:lnTo>
                  <a:pt x="1806696" y="10098"/>
                </a:lnTo>
                <a:lnTo>
                  <a:pt x="1756663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92468" y="5105400"/>
            <a:ext cx="1885187" cy="1495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78679" y="5570220"/>
            <a:ext cx="1106805" cy="281940"/>
          </a:xfrm>
          <a:custGeom>
            <a:avLst/>
            <a:gdLst/>
            <a:ahLst/>
            <a:cxnLst/>
            <a:rect l="l" t="t" r="r" b="b"/>
            <a:pathLst>
              <a:path w="1106804" h="281939">
                <a:moveTo>
                  <a:pt x="140970" y="0"/>
                </a:moveTo>
                <a:lnTo>
                  <a:pt x="0" y="140970"/>
                </a:lnTo>
                <a:lnTo>
                  <a:pt x="140970" y="281940"/>
                </a:lnTo>
                <a:lnTo>
                  <a:pt x="140970" y="211455"/>
                </a:lnTo>
                <a:lnTo>
                  <a:pt x="1035939" y="211455"/>
                </a:lnTo>
                <a:lnTo>
                  <a:pt x="1106424" y="140970"/>
                </a:lnTo>
                <a:lnTo>
                  <a:pt x="1035939" y="70485"/>
                </a:lnTo>
                <a:lnTo>
                  <a:pt x="140970" y="70485"/>
                </a:lnTo>
                <a:lnTo>
                  <a:pt x="140970" y="0"/>
                </a:lnTo>
                <a:close/>
              </a:path>
              <a:path w="1106804" h="281939">
                <a:moveTo>
                  <a:pt x="1035939" y="211455"/>
                </a:moveTo>
                <a:lnTo>
                  <a:pt x="965454" y="211455"/>
                </a:lnTo>
                <a:lnTo>
                  <a:pt x="965454" y="281940"/>
                </a:lnTo>
                <a:lnTo>
                  <a:pt x="1035939" y="211455"/>
                </a:lnTo>
                <a:close/>
              </a:path>
              <a:path w="1106804" h="281939">
                <a:moveTo>
                  <a:pt x="965454" y="0"/>
                </a:moveTo>
                <a:lnTo>
                  <a:pt x="965454" y="70485"/>
                </a:lnTo>
                <a:lnTo>
                  <a:pt x="1035939" y="70485"/>
                </a:lnTo>
                <a:lnTo>
                  <a:pt x="9654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330180" y="685800"/>
            <a:ext cx="186182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663079"/>
            <a:ext cx="507756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585858"/>
                </a:solidFill>
                <a:latin typeface="微软雅黑"/>
                <a:cs typeface="微软雅黑"/>
              </a:rPr>
              <a:t>JavaScript</a:t>
            </a:r>
            <a:r>
              <a:rPr sz="2800" b="1" spc="-130" dirty="0" smtClean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微软雅黑"/>
                <a:cs typeface="微软雅黑"/>
              </a:rPr>
              <a:t>输入输</a:t>
            </a:r>
            <a:r>
              <a:rPr sz="2800" b="1" spc="-45" dirty="0">
                <a:solidFill>
                  <a:srgbClr val="585858"/>
                </a:solidFill>
                <a:latin typeface="微软雅黑"/>
                <a:cs typeface="微软雅黑"/>
              </a:rPr>
              <a:t>出</a:t>
            </a:r>
            <a:r>
              <a:rPr sz="2800" b="1" spc="-40" dirty="0">
                <a:solidFill>
                  <a:srgbClr val="585858"/>
                </a:solidFill>
                <a:latin typeface="微软雅黑"/>
                <a:cs typeface="微软雅黑"/>
              </a:rPr>
              <a:t>语法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0236" y="1102252"/>
            <a:ext cx="10649763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400" dirty="0">
              <a:latin typeface="Times New Roman" panose="02020503050405090304"/>
              <a:cs typeface="Times New Roman" panose="02020503050405090304"/>
            </a:endParaRPr>
          </a:p>
          <a:p>
            <a:pPr marL="122555">
              <a:lnSpc>
                <a:spcPct val="100000"/>
              </a:lnSpc>
            </a:pPr>
            <a:r>
              <a:rPr b="1" spc="-30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语法：</a:t>
            </a:r>
            <a:r>
              <a:rPr sz="1600" spc="-25" dirty="0" err="1" smtClean="0">
                <a:latin typeface="宋体"/>
                <a:cs typeface="宋体"/>
              </a:rPr>
              <a:t>人和计算机打交道</a:t>
            </a:r>
            <a:r>
              <a:rPr sz="1600" spc="-40" dirty="0" err="1" smtClean="0">
                <a:latin typeface="宋体"/>
                <a:cs typeface="宋体"/>
              </a:rPr>
              <a:t>的</a:t>
            </a:r>
            <a:r>
              <a:rPr sz="1600" spc="-25" dirty="0" err="1" smtClean="0">
                <a:latin typeface="宋体"/>
                <a:cs typeface="宋体"/>
              </a:rPr>
              <a:t>规</a:t>
            </a:r>
            <a:r>
              <a:rPr sz="1600" spc="-40" dirty="0" err="1" smtClean="0">
                <a:latin typeface="宋体"/>
                <a:cs typeface="宋体"/>
              </a:rPr>
              <a:t>则</a:t>
            </a:r>
            <a:r>
              <a:rPr sz="1600" spc="-25" dirty="0" err="1" smtClean="0">
                <a:latin typeface="宋体"/>
                <a:cs typeface="宋体"/>
              </a:rPr>
              <a:t>约定</a:t>
            </a:r>
            <a:r>
              <a:rPr lang="zh-CN" altLang="en-US" sz="1600" dirty="0">
                <a:latin typeface="宋体"/>
                <a:cs typeface="宋体"/>
              </a:rPr>
              <a:t>，</a:t>
            </a:r>
            <a:r>
              <a:rPr sz="1600" spc="-25" dirty="0" err="1" smtClean="0">
                <a:latin typeface="宋体"/>
                <a:cs typeface="宋体"/>
              </a:rPr>
              <a:t>要按照</a:t>
            </a:r>
            <a:r>
              <a:rPr lang="zh-CN" altLang="en-US" sz="1600" spc="-25" dirty="0" smtClean="0">
                <a:latin typeface="宋体"/>
                <a:cs typeface="宋体"/>
              </a:rPr>
              <a:t>约定的</a:t>
            </a:r>
            <a:r>
              <a:rPr sz="1600" spc="-25" dirty="0" err="1" smtClean="0">
                <a:latin typeface="宋体"/>
                <a:cs typeface="宋体"/>
              </a:rPr>
              <a:t>规</a:t>
            </a:r>
            <a:r>
              <a:rPr sz="1600" spc="-35" dirty="0" err="1" smtClean="0">
                <a:latin typeface="宋体"/>
                <a:cs typeface="宋体"/>
              </a:rPr>
              <a:t>则</a:t>
            </a:r>
            <a:r>
              <a:rPr sz="1600" spc="-20" dirty="0" err="1" smtClean="0">
                <a:latin typeface="宋体"/>
                <a:cs typeface="宋体"/>
              </a:rPr>
              <a:t>去写</a:t>
            </a:r>
            <a:r>
              <a:rPr lang="zh-CN" altLang="en-US" sz="1600" dirty="0">
                <a:latin typeface="宋体"/>
                <a:cs typeface="宋体"/>
              </a:rPr>
              <a:t>，</a:t>
            </a:r>
            <a:r>
              <a:rPr sz="1600" spc="-20" dirty="0" err="1" smtClean="0">
                <a:latin typeface="宋体"/>
                <a:cs typeface="宋体"/>
              </a:rPr>
              <a:t>程序</a:t>
            </a:r>
            <a:r>
              <a:rPr sz="1600" spc="-25" dirty="0" err="1" smtClean="0">
                <a:latin typeface="宋体"/>
                <a:cs typeface="宋体"/>
              </a:rPr>
              <a:t>员</a:t>
            </a:r>
            <a:r>
              <a:rPr sz="1600" spc="-20" dirty="0" err="1" smtClean="0">
                <a:latin typeface="宋体"/>
                <a:cs typeface="宋体"/>
              </a:rPr>
              <a:t>需要</a:t>
            </a:r>
            <a:r>
              <a:rPr sz="1600" spc="-25" dirty="0" err="1" smtClean="0">
                <a:latin typeface="宋体"/>
                <a:cs typeface="宋体"/>
              </a:rPr>
              <a:t>操</a:t>
            </a:r>
            <a:r>
              <a:rPr sz="1600" spc="-35" dirty="0" err="1" smtClean="0">
                <a:latin typeface="宋体"/>
                <a:cs typeface="宋体"/>
              </a:rPr>
              <a:t>控</a:t>
            </a:r>
            <a:r>
              <a:rPr sz="1600" spc="-20" dirty="0" err="1" smtClean="0">
                <a:latin typeface="宋体"/>
                <a:cs typeface="宋体"/>
              </a:rPr>
              <a:t>计</a:t>
            </a:r>
            <a:r>
              <a:rPr sz="1600" spc="-40" dirty="0" err="1" smtClean="0">
                <a:latin typeface="宋体"/>
                <a:cs typeface="宋体"/>
              </a:rPr>
              <a:t>算</a:t>
            </a:r>
            <a:r>
              <a:rPr sz="1600" spc="-20" dirty="0" err="1" smtClean="0">
                <a:latin typeface="宋体"/>
                <a:cs typeface="宋体"/>
              </a:rPr>
              <a:t>机</a:t>
            </a:r>
            <a:r>
              <a:rPr sz="1600" spc="-20" dirty="0" err="1">
                <a:latin typeface="宋体"/>
                <a:cs typeface="宋体"/>
              </a:rPr>
              <a:t>，</a:t>
            </a:r>
            <a:r>
              <a:rPr sz="1600" spc="-40" dirty="0" err="1" smtClean="0">
                <a:latin typeface="宋体"/>
                <a:cs typeface="宋体"/>
              </a:rPr>
              <a:t>需</a:t>
            </a:r>
            <a:r>
              <a:rPr sz="1600" spc="-20" dirty="0" err="1" smtClean="0">
                <a:latin typeface="宋体"/>
                <a:cs typeface="宋体"/>
              </a:rPr>
              <a:t>要</a:t>
            </a:r>
            <a:r>
              <a:rPr sz="1600" spc="-40" dirty="0" err="1" smtClean="0">
                <a:latin typeface="宋体"/>
                <a:cs typeface="宋体"/>
              </a:rPr>
              <a:t>计</a:t>
            </a:r>
            <a:r>
              <a:rPr sz="1600" spc="-20" dirty="0" err="1" smtClean="0">
                <a:latin typeface="宋体"/>
                <a:cs typeface="宋体"/>
              </a:rPr>
              <a:t>算机</a:t>
            </a:r>
            <a:r>
              <a:rPr sz="1600" spc="-40" dirty="0" err="1" smtClean="0">
                <a:latin typeface="宋体"/>
                <a:cs typeface="宋体"/>
              </a:rPr>
              <a:t>能</a:t>
            </a:r>
            <a:r>
              <a:rPr sz="1600" spc="-20" dirty="0" err="1" smtClean="0">
                <a:latin typeface="宋体"/>
                <a:cs typeface="宋体"/>
              </a:rPr>
              <a:t>看懂</a:t>
            </a:r>
            <a:r>
              <a:rPr lang="zh-CN" altLang="en-US" sz="1600" spc="-20" dirty="0" smtClean="0">
                <a:latin typeface="宋体"/>
                <a:cs typeface="宋体"/>
              </a:rPr>
              <a:t>。</a:t>
            </a:r>
            <a:endParaRPr sz="1600" dirty="0">
              <a:latin typeface="宋体"/>
              <a:cs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object 3"/>
          <p:cNvSpPr txBox="1"/>
          <p:nvPr/>
        </p:nvSpPr>
        <p:spPr>
          <a:xfrm>
            <a:off x="780236" y="1942548"/>
            <a:ext cx="105283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345"/>
              </a:spcBef>
              <a:tabLst>
                <a:tab pos="481965" algn="l"/>
              </a:tabLst>
            </a:pPr>
            <a:r>
              <a:rPr sz="1350" b="1" spc="-85" dirty="0" smtClean="0">
                <a:solidFill>
                  <a:schemeClr val="accent2"/>
                </a:solidFill>
                <a:latin typeface="宋体"/>
                <a:cs typeface="宋体"/>
              </a:rPr>
              <a:t>1</a:t>
            </a:r>
            <a:r>
              <a:rPr sz="1350" b="1" spc="-85" dirty="0">
                <a:solidFill>
                  <a:schemeClr val="accent2"/>
                </a:solidFill>
                <a:latin typeface="宋体"/>
                <a:cs typeface="宋体"/>
              </a:rPr>
              <a:t>.	</a:t>
            </a:r>
            <a:r>
              <a:rPr sz="1600" b="1" spc="-30" dirty="0">
                <a:solidFill>
                  <a:schemeClr val="accent2"/>
                </a:solidFill>
                <a:latin typeface="宋体"/>
                <a:cs typeface="宋体"/>
              </a:rPr>
              <a:t>输出语法：</a:t>
            </a:r>
            <a:endParaRPr sz="1600" b="1" dirty="0">
              <a:solidFill>
                <a:schemeClr val="accent2"/>
              </a:solidFill>
              <a:latin typeface="宋体"/>
              <a:cs typeface="宋体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912181" y="2957260"/>
            <a:ext cx="440944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73380" algn="l"/>
                <a:tab pos="374015" algn="l"/>
              </a:tabLst>
            </a:pPr>
            <a:r>
              <a:rPr sz="1400" spc="-25" dirty="0">
                <a:latin typeface="宋体"/>
                <a:cs typeface="宋体"/>
              </a:rPr>
              <a:t>向</a:t>
            </a:r>
            <a:r>
              <a:rPr sz="1400" spc="140" dirty="0">
                <a:latin typeface="宋体"/>
                <a:cs typeface="宋体"/>
              </a:rPr>
              <a:t>body</a:t>
            </a:r>
            <a:r>
              <a:rPr sz="1400" spc="-25" dirty="0">
                <a:latin typeface="宋体"/>
                <a:cs typeface="宋体"/>
              </a:rPr>
              <a:t>内输出内容</a:t>
            </a:r>
            <a:endParaRPr sz="1400" dirty="0">
              <a:latin typeface="宋体"/>
              <a:cs typeface="宋体"/>
            </a:endParaRPr>
          </a:p>
          <a:p>
            <a:pPr marL="373380" indent="-360680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373380" algn="l"/>
                <a:tab pos="374015" algn="l"/>
              </a:tabLst>
            </a:pPr>
            <a:r>
              <a:rPr sz="1400" spc="-25" dirty="0">
                <a:latin typeface="宋体"/>
                <a:cs typeface="宋体"/>
              </a:rPr>
              <a:t>如果输出的内容写</a:t>
            </a:r>
            <a:r>
              <a:rPr sz="1400" spc="-35" dirty="0">
                <a:latin typeface="宋体"/>
                <a:cs typeface="宋体"/>
              </a:rPr>
              <a:t>的</a:t>
            </a:r>
            <a:r>
              <a:rPr sz="1400" spc="-25" dirty="0">
                <a:latin typeface="宋体"/>
                <a:cs typeface="宋体"/>
              </a:rPr>
              <a:t>是</a:t>
            </a:r>
            <a:r>
              <a:rPr sz="1400" spc="-35" dirty="0">
                <a:latin typeface="宋体"/>
                <a:cs typeface="宋体"/>
              </a:rPr>
              <a:t>标</a:t>
            </a:r>
            <a:r>
              <a:rPr sz="1400" spc="-25" dirty="0">
                <a:latin typeface="宋体"/>
                <a:cs typeface="宋体"/>
              </a:rPr>
              <a:t>签，</a:t>
            </a:r>
            <a:r>
              <a:rPr sz="1400" spc="-35" dirty="0">
                <a:latin typeface="宋体"/>
                <a:cs typeface="宋体"/>
              </a:rPr>
              <a:t>也</a:t>
            </a:r>
            <a:r>
              <a:rPr sz="1400" spc="-25" dirty="0">
                <a:latin typeface="宋体"/>
                <a:cs typeface="宋体"/>
              </a:rPr>
              <a:t>会</a:t>
            </a:r>
            <a:r>
              <a:rPr sz="1400" spc="-35" dirty="0">
                <a:latin typeface="宋体"/>
                <a:cs typeface="宋体"/>
              </a:rPr>
              <a:t>被</a:t>
            </a:r>
            <a:r>
              <a:rPr sz="1400" spc="-25" dirty="0">
                <a:latin typeface="宋体"/>
                <a:cs typeface="宋体"/>
              </a:rPr>
              <a:t>解析</a:t>
            </a:r>
            <a:r>
              <a:rPr sz="1400" spc="-35" dirty="0">
                <a:latin typeface="宋体"/>
                <a:cs typeface="宋体"/>
              </a:rPr>
              <a:t>成</a:t>
            </a:r>
            <a:r>
              <a:rPr sz="1400" spc="-25" dirty="0">
                <a:latin typeface="宋体"/>
                <a:cs typeface="宋体"/>
              </a:rPr>
              <a:t>网</a:t>
            </a:r>
            <a:r>
              <a:rPr sz="1400" spc="-30" dirty="0">
                <a:latin typeface="宋体"/>
                <a:cs typeface="宋体"/>
              </a:rPr>
              <a:t>页</a:t>
            </a:r>
            <a:r>
              <a:rPr sz="1400" spc="-25" dirty="0">
                <a:latin typeface="宋体"/>
                <a:cs typeface="宋体"/>
              </a:rPr>
              <a:t>元素</a:t>
            </a:r>
            <a:endParaRPr sz="1400" dirty="0">
              <a:latin typeface="宋体"/>
              <a:cs typeface="宋体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6688027" y="2897539"/>
            <a:ext cx="196468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73380" algn="l"/>
                <a:tab pos="374015" algn="l"/>
              </a:tabLst>
            </a:pPr>
            <a:r>
              <a:rPr sz="1400" spc="-25" dirty="0">
                <a:latin typeface="宋体"/>
                <a:cs typeface="宋体"/>
              </a:rPr>
              <a:t>页面弹出警</a:t>
            </a:r>
            <a:r>
              <a:rPr sz="1400" spc="-20" dirty="0">
                <a:latin typeface="宋体"/>
                <a:cs typeface="宋体"/>
              </a:rPr>
              <a:t>告</a:t>
            </a:r>
            <a:r>
              <a:rPr sz="1400" spc="-25" dirty="0">
                <a:latin typeface="宋体"/>
                <a:cs typeface="宋体"/>
              </a:rPr>
              <a:t>对话框</a:t>
            </a:r>
            <a:endParaRPr sz="1400" dirty="0">
              <a:latin typeface="宋体"/>
              <a:cs typeface="宋体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911476" y="4283598"/>
            <a:ext cx="30118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73380" algn="l"/>
                <a:tab pos="374015" algn="l"/>
              </a:tabLst>
            </a:pPr>
            <a:r>
              <a:rPr sz="1400" spc="-25" dirty="0">
                <a:latin typeface="宋体"/>
                <a:cs typeface="宋体"/>
              </a:rPr>
              <a:t>控制台输出语</a:t>
            </a:r>
            <a:r>
              <a:rPr sz="1400" spc="-20" dirty="0">
                <a:latin typeface="宋体"/>
                <a:cs typeface="宋体"/>
              </a:rPr>
              <a:t>法，</a:t>
            </a:r>
            <a:r>
              <a:rPr sz="1400" spc="-40" dirty="0">
                <a:latin typeface="宋体"/>
                <a:cs typeface="宋体"/>
              </a:rPr>
              <a:t>程</a:t>
            </a:r>
            <a:r>
              <a:rPr sz="1400" spc="-20" dirty="0">
                <a:latin typeface="宋体"/>
                <a:cs typeface="宋体"/>
              </a:rPr>
              <a:t>序</a:t>
            </a:r>
            <a:r>
              <a:rPr sz="1400" spc="-40" dirty="0">
                <a:latin typeface="宋体"/>
                <a:cs typeface="宋体"/>
              </a:rPr>
              <a:t>员</a:t>
            </a:r>
            <a:r>
              <a:rPr sz="1400" spc="-20" dirty="0">
                <a:latin typeface="宋体"/>
                <a:cs typeface="宋体"/>
              </a:rPr>
              <a:t>调试</a:t>
            </a:r>
            <a:r>
              <a:rPr sz="1400" spc="-40" dirty="0">
                <a:latin typeface="宋体"/>
                <a:cs typeface="宋体"/>
              </a:rPr>
              <a:t>使</a:t>
            </a:r>
            <a:r>
              <a:rPr sz="1400" spc="-20" dirty="0">
                <a:latin typeface="宋体"/>
                <a:cs typeface="宋体"/>
              </a:rPr>
              <a:t>用</a:t>
            </a:r>
            <a:endParaRPr sz="1400" dirty="0">
              <a:latin typeface="宋体"/>
              <a:cs typeface="宋体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915140" y="2396228"/>
            <a:ext cx="3875532" cy="37185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54736" y="2380870"/>
            <a:ext cx="3875532" cy="391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2"/>
          <p:cNvSpPr/>
          <p:nvPr/>
        </p:nvSpPr>
        <p:spPr>
          <a:xfrm>
            <a:off x="911476" y="3705931"/>
            <a:ext cx="3799332" cy="371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矩形 11"/>
          <p:cNvSpPr/>
          <p:nvPr/>
        </p:nvSpPr>
        <p:spPr>
          <a:xfrm>
            <a:off x="914400" y="4685425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lvl="0">
              <a:spcBef>
                <a:spcPts val="1345"/>
              </a:spcBef>
            </a:pPr>
            <a:r>
              <a:rPr lang="en-US" altLang="zh-CN" sz="1600" b="1" spc="-110" dirty="0">
                <a:solidFill>
                  <a:schemeClr val="accent2"/>
                </a:solidFill>
                <a:latin typeface="宋体"/>
                <a:cs typeface="宋体"/>
              </a:rPr>
              <a:t>2.</a:t>
            </a:r>
            <a:r>
              <a:rPr lang="zh-CN" altLang="en-US" sz="1600" b="1" spc="-375" dirty="0">
                <a:solidFill>
                  <a:schemeClr val="accent2"/>
                </a:solidFill>
                <a:latin typeface="宋体"/>
                <a:cs typeface="宋体"/>
              </a:rPr>
              <a:t> </a:t>
            </a:r>
            <a:r>
              <a:rPr lang="zh-CN" altLang="en-US" sz="1600" b="1" spc="-30" dirty="0">
                <a:solidFill>
                  <a:schemeClr val="accent2"/>
                </a:solidFill>
                <a:latin typeface="宋体"/>
                <a:cs typeface="宋体"/>
              </a:rPr>
              <a:t>输入语法</a:t>
            </a:r>
            <a:r>
              <a:rPr lang="zh-CN" altLang="en-US" sz="1600" b="1" spc="-30" dirty="0" smtClean="0">
                <a:solidFill>
                  <a:schemeClr val="accent2"/>
                </a:solidFill>
                <a:latin typeface="宋体"/>
                <a:cs typeface="宋体"/>
              </a:rPr>
              <a:t>：</a:t>
            </a:r>
            <a:endParaRPr lang="zh-CN" altLang="en-US" sz="1600" b="1" spc="-30" dirty="0">
              <a:solidFill>
                <a:schemeClr val="accent2"/>
              </a:solidFill>
              <a:latin typeface="宋体"/>
              <a:cs typeface="宋体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11476" y="5226305"/>
            <a:ext cx="3183885" cy="33855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</a:t>
            </a:r>
            <a:r>
              <a:rPr lang="en-US" altLang="zh-CN" sz="1600" dirty="0">
                <a:solidFill>
                  <a:srgbClr val="89DDFF"/>
                </a:solidFill>
                <a:latin typeface="Monaco" pitchFamily="49" charset="0"/>
              </a:rPr>
              <a:t>prompt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zh-CN" altLang="en-US" sz="1600" dirty="0">
                <a:solidFill>
                  <a:srgbClr val="C3E88D"/>
                </a:solidFill>
                <a:latin typeface="Monaco" pitchFamily="49" charset="0"/>
              </a:rPr>
              <a:t>请输入你的年龄：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zh-CN" altLang="en-US" sz="16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823129" y="5821328"/>
            <a:ext cx="58070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73380" algn="l"/>
                <a:tab pos="374015" algn="l"/>
              </a:tabLst>
            </a:pPr>
            <a:r>
              <a:rPr sz="1400" spc="-25" dirty="0">
                <a:latin typeface="宋体"/>
                <a:cs typeface="宋体"/>
              </a:rPr>
              <a:t>显示一个对话框，</a:t>
            </a:r>
            <a:r>
              <a:rPr sz="1400" spc="-35" dirty="0">
                <a:latin typeface="宋体"/>
                <a:cs typeface="宋体"/>
              </a:rPr>
              <a:t>对</a:t>
            </a:r>
            <a:r>
              <a:rPr sz="1400" spc="-25" dirty="0">
                <a:latin typeface="宋体"/>
                <a:cs typeface="宋体"/>
              </a:rPr>
              <a:t>话</a:t>
            </a:r>
            <a:r>
              <a:rPr sz="1400" spc="-35" dirty="0">
                <a:latin typeface="宋体"/>
                <a:cs typeface="宋体"/>
              </a:rPr>
              <a:t>框</a:t>
            </a:r>
            <a:r>
              <a:rPr sz="1400" spc="-25" dirty="0">
                <a:latin typeface="宋体"/>
                <a:cs typeface="宋体"/>
              </a:rPr>
              <a:t>中包</a:t>
            </a:r>
            <a:r>
              <a:rPr sz="1400" spc="-35" dirty="0">
                <a:latin typeface="宋体"/>
                <a:cs typeface="宋体"/>
              </a:rPr>
              <a:t>含</a:t>
            </a:r>
            <a:r>
              <a:rPr sz="1400" spc="-25" dirty="0">
                <a:latin typeface="宋体"/>
                <a:cs typeface="宋体"/>
              </a:rPr>
              <a:t>一</a:t>
            </a:r>
            <a:r>
              <a:rPr sz="1400" spc="-35" dirty="0">
                <a:latin typeface="宋体"/>
                <a:cs typeface="宋体"/>
              </a:rPr>
              <a:t>条</a:t>
            </a:r>
            <a:r>
              <a:rPr sz="1400" spc="-25" dirty="0">
                <a:latin typeface="宋体"/>
                <a:cs typeface="宋体"/>
              </a:rPr>
              <a:t>文字</a:t>
            </a:r>
            <a:r>
              <a:rPr sz="1400" spc="-35" dirty="0">
                <a:latin typeface="宋体"/>
                <a:cs typeface="宋体"/>
              </a:rPr>
              <a:t>信</a:t>
            </a:r>
            <a:r>
              <a:rPr sz="1400" spc="-25" dirty="0">
                <a:latin typeface="宋体"/>
                <a:cs typeface="宋体"/>
              </a:rPr>
              <a:t>息</a:t>
            </a:r>
            <a:r>
              <a:rPr sz="1400" spc="-35" dirty="0">
                <a:latin typeface="宋体"/>
                <a:cs typeface="宋体"/>
              </a:rPr>
              <a:t>，</a:t>
            </a:r>
            <a:r>
              <a:rPr sz="1400" spc="-25" dirty="0">
                <a:latin typeface="宋体"/>
                <a:cs typeface="宋体"/>
              </a:rPr>
              <a:t>用</a:t>
            </a:r>
            <a:r>
              <a:rPr sz="1400" spc="-35" dirty="0">
                <a:latin typeface="宋体"/>
                <a:cs typeface="宋体"/>
              </a:rPr>
              <a:t>来</a:t>
            </a:r>
            <a:r>
              <a:rPr sz="1400" spc="-25" dirty="0">
                <a:latin typeface="宋体"/>
                <a:cs typeface="宋体"/>
              </a:rPr>
              <a:t>提示</a:t>
            </a:r>
            <a:r>
              <a:rPr sz="1400" spc="-35" dirty="0">
                <a:latin typeface="宋体"/>
                <a:cs typeface="宋体"/>
              </a:rPr>
              <a:t>用</a:t>
            </a:r>
            <a:r>
              <a:rPr sz="1400" spc="-25" dirty="0">
                <a:latin typeface="宋体"/>
                <a:cs typeface="宋体"/>
              </a:rPr>
              <a:t>户</a:t>
            </a:r>
            <a:r>
              <a:rPr sz="1400" spc="-35" dirty="0">
                <a:latin typeface="宋体"/>
                <a:cs typeface="宋体"/>
              </a:rPr>
              <a:t>输</a:t>
            </a:r>
            <a:r>
              <a:rPr sz="1400" spc="-15" dirty="0">
                <a:latin typeface="宋体"/>
                <a:cs typeface="宋体"/>
              </a:rPr>
              <a:t>入</a:t>
            </a:r>
            <a:r>
              <a:rPr sz="1400" spc="-25" dirty="0">
                <a:latin typeface="宋体"/>
                <a:cs typeface="宋体"/>
              </a:rPr>
              <a:t>文字</a:t>
            </a:r>
            <a:endParaRPr sz="1400" dirty="0">
              <a:latin typeface="宋体"/>
              <a:cs typeface="宋体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359390" y="685800"/>
            <a:ext cx="183261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62000" y="706331"/>
            <a:ext cx="46482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 smtClean="0">
                <a:solidFill>
                  <a:srgbClr val="585858"/>
                </a:solidFill>
                <a:latin typeface="微软雅黑"/>
                <a:cs typeface="微软雅黑"/>
              </a:rPr>
              <a:t>JavaScript</a:t>
            </a:r>
            <a:r>
              <a:rPr sz="2800" b="1" spc="-130" dirty="0" smtClean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微软雅黑"/>
                <a:cs typeface="微软雅黑"/>
              </a:rPr>
              <a:t>输入输出语句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000" y="1451488"/>
            <a:ext cx="9079230" cy="18004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 err="1" smtClean="0">
                <a:solidFill>
                  <a:schemeClr val="accent2"/>
                </a:solidFill>
                <a:latin typeface="宋体"/>
                <a:cs typeface="宋体"/>
              </a:rPr>
              <a:t>输入和输</a:t>
            </a:r>
            <a:r>
              <a:rPr lang="zh-CN" altLang="en-US" sz="2400" spc="-40" dirty="0">
                <a:solidFill>
                  <a:schemeClr val="accent2"/>
                </a:solidFill>
                <a:latin typeface="宋体"/>
                <a:cs typeface="宋体"/>
              </a:rPr>
              <a:t>出</a:t>
            </a:r>
            <a:r>
              <a:rPr sz="2400" spc="-40" dirty="0" err="1" smtClean="0">
                <a:solidFill>
                  <a:schemeClr val="accent2"/>
                </a:solidFill>
                <a:latin typeface="宋体"/>
                <a:cs typeface="宋体"/>
              </a:rPr>
              <a:t>练习</a:t>
            </a:r>
            <a:endParaRPr sz="2400" dirty="0">
              <a:solidFill>
                <a:schemeClr val="accent2"/>
              </a:solidFill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sz="1600" spc="-30" dirty="0">
                <a:solidFill>
                  <a:srgbClr val="252525"/>
                </a:solidFill>
                <a:latin typeface="宋体"/>
                <a:cs typeface="宋体"/>
              </a:rPr>
              <a:t>需求：</a:t>
            </a:r>
            <a:endParaRPr sz="1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600" spc="-5" dirty="0">
                <a:solidFill>
                  <a:srgbClr val="252525"/>
                </a:solidFill>
                <a:latin typeface="微软雅黑"/>
                <a:cs typeface="微软雅黑"/>
              </a:rPr>
              <a:t>浏览器中弹出对话框：</a:t>
            </a:r>
            <a:r>
              <a:rPr sz="1600" spc="3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1600" spc="-5" dirty="0" err="1" smtClean="0">
                <a:solidFill>
                  <a:srgbClr val="252525"/>
                </a:solidFill>
                <a:latin typeface="宋体" pitchFamily="2" charset="-122"/>
                <a:ea typeface="宋体" pitchFamily="2" charset="-122"/>
                <a:cs typeface="微软雅黑"/>
              </a:rPr>
              <a:t>你好</a:t>
            </a:r>
            <a:r>
              <a:rPr sz="1600" spc="-5" dirty="0" smtClean="0">
                <a:solidFill>
                  <a:srgbClr val="252525"/>
                </a:solidFill>
                <a:latin typeface="宋体" pitchFamily="2" charset="-122"/>
                <a:ea typeface="宋体" pitchFamily="2" charset="-122"/>
                <a:cs typeface="微软雅黑"/>
              </a:rPr>
              <a:t>~</a:t>
            </a:r>
            <a:endParaRPr sz="1600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600" spc="-5" dirty="0" err="1">
                <a:solidFill>
                  <a:srgbClr val="252525"/>
                </a:solidFill>
                <a:latin typeface="微软雅黑"/>
                <a:cs typeface="微软雅黑"/>
              </a:rPr>
              <a:t>页面中打印输出</a:t>
            </a:r>
            <a:r>
              <a:rPr sz="1600" spc="-5" dirty="0" smtClean="0">
                <a:solidFill>
                  <a:srgbClr val="252525"/>
                </a:solidFill>
                <a:latin typeface="微软雅黑"/>
                <a:cs typeface="微软雅黑"/>
              </a:rPr>
              <a:t>：</a:t>
            </a:r>
            <a:r>
              <a:rPr lang="zh-CN" altLang="en-US" sz="1600" spc="-5" dirty="0" smtClean="0">
                <a:solidFill>
                  <a:srgbClr val="252525"/>
                </a:solidFill>
                <a:latin typeface="微软雅黑"/>
                <a:cs typeface="微软雅黑"/>
              </a:rPr>
              <a:t>自己的姓名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83220" y="3474983"/>
            <a:ext cx="6629400" cy="267765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80CBC4"/>
                </a:solidFill>
              </a:rPr>
              <a:t>&lt;</a:t>
            </a:r>
            <a:r>
              <a:rPr lang="en-US" altLang="zh-CN" sz="2400" dirty="0">
                <a:solidFill>
                  <a:srgbClr val="FF5370"/>
                </a:solidFill>
              </a:rPr>
              <a:t>body</a:t>
            </a:r>
            <a:r>
              <a:rPr lang="en-US" altLang="zh-CN" sz="2400" dirty="0">
                <a:solidFill>
                  <a:srgbClr val="80CBC4"/>
                </a:solidFill>
              </a:rPr>
              <a:t>&gt;</a:t>
            </a:r>
            <a:endParaRPr lang="en-US" altLang="zh-CN" sz="2400" dirty="0">
              <a:solidFill>
                <a:srgbClr val="CBCCC6"/>
              </a:solidFill>
            </a:endParaRPr>
          </a:p>
          <a:p>
            <a:r>
              <a:rPr lang="en-US" altLang="zh-CN" sz="2400" dirty="0">
                <a:solidFill>
                  <a:srgbClr val="CDD3DE"/>
                </a:solidFill>
              </a:rPr>
              <a:t>    </a:t>
            </a:r>
            <a:r>
              <a:rPr lang="en-US" altLang="zh-CN" sz="2400" dirty="0">
                <a:solidFill>
                  <a:srgbClr val="80CBC4"/>
                </a:solidFill>
              </a:rPr>
              <a:t>&lt;</a:t>
            </a:r>
            <a:r>
              <a:rPr lang="en-US" altLang="zh-CN" sz="2400" dirty="0">
                <a:solidFill>
                  <a:srgbClr val="FF5370"/>
                </a:solidFill>
              </a:rPr>
              <a:t>script</a:t>
            </a:r>
            <a:r>
              <a:rPr lang="en-US" altLang="zh-CN" sz="2400" dirty="0">
                <a:solidFill>
                  <a:srgbClr val="80CBC4"/>
                </a:solidFill>
              </a:rPr>
              <a:t>&gt;</a:t>
            </a:r>
            <a:endParaRPr lang="en-US" altLang="zh-CN" sz="2400" dirty="0">
              <a:solidFill>
                <a:srgbClr val="CBCCC6"/>
              </a:solidFill>
            </a:endParaRPr>
          </a:p>
          <a:p>
            <a:r>
              <a:rPr lang="en-US" altLang="zh-CN" sz="2400" dirty="0">
                <a:solidFill>
                  <a:srgbClr val="80CBC4"/>
                </a:solidFill>
              </a:rPr>
              <a:t>      </a:t>
            </a:r>
            <a:r>
              <a:rPr lang="en-US" altLang="zh-CN" sz="2400" dirty="0">
                <a:solidFill>
                  <a:srgbClr val="89DDFF"/>
                </a:solidFill>
              </a:rPr>
              <a:t>alert</a:t>
            </a:r>
            <a:r>
              <a:rPr lang="en-US" altLang="zh-CN" sz="2400" dirty="0">
                <a:solidFill>
                  <a:srgbClr val="80CBC4"/>
                </a:solidFill>
              </a:rPr>
              <a:t>(</a:t>
            </a:r>
            <a:r>
              <a:rPr lang="en-US" altLang="zh-CN" sz="2400" dirty="0">
                <a:solidFill>
                  <a:srgbClr val="D9F5DD"/>
                </a:solidFill>
              </a:rPr>
              <a:t>'</a:t>
            </a:r>
            <a:r>
              <a:rPr lang="zh-CN" altLang="en-US" sz="2400" dirty="0">
                <a:solidFill>
                  <a:srgbClr val="C3E88D"/>
                </a:solidFill>
              </a:rPr>
              <a:t>你好</a:t>
            </a:r>
            <a:r>
              <a:rPr lang="en-US" altLang="zh-CN" sz="2400" dirty="0">
                <a:solidFill>
                  <a:srgbClr val="C3E88D"/>
                </a:solidFill>
              </a:rPr>
              <a:t>~</a:t>
            </a:r>
            <a:r>
              <a:rPr lang="en-US" altLang="zh-CN" sz="2400" dirty="0">
                <a:solidFill>
                  <a:srgbClr val="D9F5DD"/>
                </a:solidFill>
              </a:rPr>
              <a:t>'</a:t>
            </a:r>
            <a:r>
              <a:rPr lang="en-US" altLang="zh-CN" sz="2400" dirty="0">
                <a:solidFill>
                  <a:srgbClr val="80CBC4"/>
                </a:solidFill>
              </a:rPr>
              <a:t>)</a:t>
            </a:r>
            <a:endParaRPr lang="zh-CN" altLang="en-US" sz="2400" dirty="0">
              <a:solidFill>
                <a:srgbClr val="CBCCC6"/>
              </a:solidFill>
            </a:endParaRPr>
          </a:p>
          <a:p>
            <a:r>
              <a:rPr lang="zh-CN" altLang="en-US" sz="2400" dirty="0">
                <a:solidFill>
                  <a:srgbClr val="80CBC4"/>
                </a:solidFill>
              </a:rPr>
              <a:t>      </a:t>
            </a:r>
            <a:r>
              <a:rPr lang="en-US" altLang="zh-CN" sz="2400" dirty="0">
                <a:solidFill>
                  <a:srgbClr val="C792EA"/>
                </a:solidFill>
              </a:rPr>
              <a:t>let</a:t>
            </a:r>
            <a:r>
              <a:rPr lang="en-US" altLang="zh-CN" sz="2400" dirty="0">
                <a:solidFill>
                  <a:srgbClr val="80CBC4"/>
                </a:solidFill>
              </a:rPr>
              <a:t> </a:t>
            </a:r>
            <a:r>
              <a:rPr lang="en-US" altLang="zh-CN" sz="2400" dirty="0">
                <a:solidFill>
                  <a:srgbClr val="FF5370"/>
                </a:solidFill>
              </a:rPr>
              <a:t>name</a:t>
            </a:r>
            <a:r>
              <a:rPr lang="en-US" altLang="zh-CN" sz="2400" dirty="0">
                <a:solidFill>
                  <a:srgbClr val="1290BF"/>
                </a:solidFill>
              </a:rPr>
              <a:t> </a:t>
            </a:r>
            <a:r>
              <a:rPr lang="en-US" altLang="zh-CN" sz="2400" dirty="0">
                <a:solidFill>
                  <a:srgbClr val="80CBC4"/>
                </a:solidFill>
              </a:rPr>
              <a:t>= </a:t>
            </a:r>
            <a:r>
              <a:rPr lang="en-US" altLang="zh-CN" sz="2400" dirty="0">
                <a:solidFill>
                  <a:srgbClr val="89DDFF"/>
                </a:solidFill>
              </a:rPr>
              <a:t>prompt</a:t>
            </a:r>
            <a:r>
              <a:rPr lang="en-US" altLang="zh-CN" sz="2400" dirty="0">
                <a:solidFill>
                  <a:srgbClr val="80CBC4"/>
                </a:solidFill>
              </a:rPr>
              <a:t>(</a:t>
            </a:r>
            <a:r>
              <a:rPr lang="en-US" altLang="zh-CN" sz="2400" dirty="0">
                <a:solidFill>
                  <a:srgbClr val="D9F5DD"/>
                </a:solidFill>
              </a:rPr>
              <a:t>'</a:t>
            </a:r>
            <a:r>
              <a:rPr lang="zh-CN" altLang="en-US" sz="2400" dirty="0">
                <a:solidFill>
                  <a:srgbClr val="C3E88D"/>
                </a:solidFill>
              </a:rPr>
              <a:t>输入自己的姓名：</a:t>
            </a:r>
            <a:r>
              <a:rPr lang="en-US" altLang="zh-CN" sz="2400" dirty="0">
                <a:solidFill>
                  <a:srgbClr val="D9F5DD"/>
                </a:solidFill>
              </a:rPr>
              <a:t>'</a:t>
            </a:r>
            <a:r>
              <a:rPr lang="en-US" altLang="zh-CN" sz="2400" dirty="0">
                <a:solidFill>
                  <a:srgbClr val="80CBC4"/>
                </a:solidFill>
              </a:rPr>
              <a:t>)</a:t>
            </a:r>
            <a:endParaRPr lang="zh-CN" altLang="en-US" sz="2400" dirty="0">
              <a:solidFill>
                <a:srgbClr val="CBCCC6"/>
              </a:solidFill>
            </a:endParaRPr>
          </a:p>
          <a:p>
            <a:r>
              <a:rPr lang="zh-CN" altLang="en-US" sz="2400" dirty="0">
                <a:solidFill>
                  <a:srgbClr val="80CBC4"/>
                </a:solidFill>
              </a:rPr>
              <a:t>      </a:t>
            </a:r>
            <a:r>
              <a:rPr lang="en-US" altLang="zh-CN" sz="2400" dirty="0" err="1">
                <a:solidFill>
                  <a:srgbClr val="FF5370"/>
                </a:solidFill>
              </a:rPr>
              <a:t>document</a:t>
            </a:r>
            <a:r>
              <a:rPr lang="en-US" altLang="zh-CN" sz="2400" dirty="0" err="1">
                <a:solidFill>
                  <a:srgbClr val="89DDFF"/>
                </a:solidFill>
              </a:rPr>
              <a:t>.write</a:t>
            </a:r>
            <a:r>
              <a:rPr lang="en-US" altLang="zh-CN" sz="2400" dirty="0">
                <a:solidFill>
                  <a:srgbClr val="80CBC4"/>
                </a:solidFill>
              </a:rPr>
              <a:t>(</a:t>
            </a:r>
            <a:r>
              <a:rPr lang="en-US" altLang="zh-CN" sz="2400" dirty="0">
                <a:solidFill>
                  <a:srgbClr val="FF5370"/>
                </a:solidFill>
              </a:rPr>
              <a:t>name</a:t>
            </a:r>
            <a:r>
              <a:rPr lang="en-US" altLang="zh-CN" sz="2400" dirty="0">
                <a:solidFill>
                  <a:srgbClr val="80CBC4"/>
                </a:solidFill>
              </a:rPr>
              <a:t>)</a:t>
            </a:r>
            <a:endParaRPr lang="en-US" altLang="zh-CN" sz="2400" dirty="0">
              <a:solidFill>
                <a:srgbClr val="CBCCC6"/>
              </a:solidFill>
            </a:endParaRPr>
          </a:p>
          <a:p>
            <a:r>
              <a:rPr lang="en-US" altLang="zh-CN" sz="2400" dirty="0">
                <a:solidFill>
                  <a:srgbClr val="80CBC4"/>
                </a:solidFill>
              </a:rPr>
              <a:t>    </a:t>
            </a:r>
            <a:r>
              <a:rPr lang="en-US" altLang="zh-CN" sz="2400" dirty="0">
                <a:solidFill>
                  <a:srgbClr val="CDD3DE"/>
                </a:solidFill>
              </a:rPr>
              <a:t>&lt;</a:t>
            </a:r>
            <a:r>
              <a:rPr lang="en-US" altLang="zh-CN" sz="2400" dirty="0">
                <a:solidFill>
                  <a:srgbClr val="80CBC4"/>
                </a:solidFill>
              </a:rPr>
              <a:t>/</a:t>
            </a:r>
            <a:r>
              <a:rPr lang="en-US" altLang="zh-CN" sz="2400" dirty="0">
                <a:solidFill>
                  <a:srgbClr val="FF5370"/>
                </a:solidFill>
              </a:rPr>
              <a:t>script</a:t>
            </a:r>
            <a:r>
              <a:rPr lang="en-US" altLang="zh-CN" sz="2400" dirty="0">
                <a:solidFill>
                  <a:srgbClr val="80CBC4"/>
                </a:solidFill>
              </a:rPr>
              <a:t>&gt;</a:t>
            </a:r>
            <a:endParaRPr lang="en-US" altLang="zh-CN" sz="2400" dirty="0">
              <a:solidFill>
                <a:srgbClr val="CBCCC6"/>
              </a:solidFill>
            </a:endParaRPr>
          </a:p>
          <a:p>
            <a:r>
              <a:rPr lang="en-US" altLang="zh-CN" sz="2400" dirty="0">
                <a:solidFill>
                  <a:srgbClr val="CDD3DE"/>
                </a:solidFill>
              </a:rPr>
              <a:t>  </a:t>
            </a:r>
            <a:r>
              <a:rPr lang="en-US" altLang="zh-CN" sz="2400" dirty="0">
                <a:solidFill>
                  <a:srgbClr val="80CBC4"/>
                </a:solidFill>
              </a:rPr>
              <a:t>&lt;/</a:t>
            </a:r>
            <a:r>
              <a:rPr lang="en-US" altLang="zh-CN" sz="2400" dirty="0">
                <a:solidFill>
                  <a:srgbClr val="FF5370"/>
                </a:solidFill>
              </a:rPr>
              <a:t>body</a:t>
            </a:r>
            <a:r>
              <a:rPr lang="en-US" altLang="zh-CN" sz="2400" dirty="0">
                <a:solidFill>
                  <a:srgbClr val="80CBC4"/>
                </a:solidFill>
              </a:rPr>
              <a:t>&gt;</a:t>
            </a:r>
            <a:endParaRPr lang="en-US" altLang="zh-CN" sz="2400" b="0" dirty="0">
              <a:solidFill>
                <a:srgbClr val="CBCCC6"/>
              </a:solidFill>
              <a:effectLst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368280" y="685800"/>
            <a:ext cx="182372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2667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字面量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100" y="1524000"/>
            <a:ext cx="10055861" cy="307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30" dirty="0" err="1">
                <a:solidFill>
                  <a:srgbClr val="252525"/>
                </a:solidFill>
                <a:cs typeface="宋体"/>
              </a:rPr>
              <a:t>在计算机科学中，字面量</a:t>
            </a:r>
            <a:r>
              <a:rPr sz="2400" spc="-145" dirty="0" err="1">
                <a:solidFill>
                  <a:srgbClr val="252525"/>
                </a:solidFill>
                <a:cs typeface="宋体"/>
              </a:rPr>
              <a:t>（literal）</a:t>
            </a:r>
            <a:r>
              <a:rPr sz="2400" spc="-30" dirty="0" err="1" smtClean="0">
                <a:solidFill>
                  <a:srgbClr val="252525"/>
                </a:solidFill>
                <a:cs typeface="宋体"/>
              </a:rPr>
              <a:t>是</a:t>
            </a:r>
            <a:r>
              <a:rPr sz="2400" spc="-20" dirty="0" err="1" smtClean="0">
                <a:solidFill>
                  <a:srgbClr val="252525"/>
                </a:solidFill>
                <a:cs typeface="宋体"/>
              </a:rPr>
              <a:t>在</a:t>
            </a:r>
            <a:r>
              <a:rPr sz="2400" spc="-30" dirty="0" err="1" smtClean="0">
                <a:solidFill>
                  <a:srgbClr val="252525"/>
                </a:solidFill>
                <a:cs typeface="宋体"/>
              </a:rPr>
              <a:t>计算机</a:t>
            </a:r>
            <a:r>
              <a:rPr sz="2400" spc="-10" dirty="0" err="1" smtClean="0">
                <a:solidFill>
                  <a:srgbClr val="252525"/>
                </a:solidFill>
                <a:cs typeface="宋体"/>
              </a:rPr>
              <a:t>中</a:t>
            </a:r>
            <a:r>
              <a:rPr sz="2400" spc="-30" dirty="0" err="1" smtClean="0">
                <a:solidFill>
                  <a:srgbClr val="252525"/>
                </a:solidFill>
                <a:cs typeface="宋体"/>
              </a:rPr>
              <a:t>描述事</a:t>
            </a:r>
            <a:r>
              <a:rPr sz="2400" spc="-15" dirty="0">
                <a:solidFill>
                  <a:srgbClr val="252525"/>
                </a:solidFill>
                <a:cs typeface="宋体"/>
              </a:rPr>
              <a:t>/</a:t>
            </a:r>
            <a:r>
              <a:rPr sz="2400" spc="-30" dirty="0" smtClean="0">
                <a:solidFill>
                  <a:srgbClr val="252525"/>
                </a:solidFill>
                <a:cs typeface="宋体"/>
              </a:rPr>
              <a:t>物</a:t>
            </a:r>
            <a:r>
              <a:rPr lang="zh-CN" altLang="en-US" sz="2400" spc="-30" dirty="0" smtClean="0">
                <a:solidFill>
                  <a:srgbClr val="252525"/>
                </a:solidFill>
                <a:cs typeface="宋体"/>
              </a:rPr>
              <a:t>的。</a:t>
            </a:r>
            <a:endParaRPr sz="24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400" spc="-30" dirty="0">
                <a:solidFill>
                  <a:srgbClr val="252525"/>
                </a:solidFill>
                <a:cs typeface="宋体"/>
              </a:rPr>
              <a:t>比如：</a:t>
            </a:r>
            <a:endParaRPr sz="2400" dirty="0"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340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  <a:tab pos="2231390" algn="l"/>
              </a:tabLst>
            </a:pPr>
            <a:r>
              <a:rPr sz="2400" spc="114" dirty="0" smtClean="0">
                <a:solidFill>
                  <a:srgbClr val="252525"/>
                </a:solidFill>
                <a:cs typeface="宋体"/>
              </a:rPr>
              <a:t>1000</a:t>
            </a:r>
            <a:r>
              <a:rPr sz="2400" spc="-365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sz="2400" spc="-35" dirty="0" err="1" smtClean="0">
                <a:solidFill>
                  <a:srgbClr val="252525"/>
                </a:solidFill>
                <a:cs typeface="宋体"/>
              </a:rPr>
              <a:t>就</a:t>
            </a:r>
            <a:r>
              <a:rPr sz="2400" spc="-30" dirty="0" err="1" smtClean="0">
                <a:solidFill>
                  <a:srgbClr val="252525"/>
                </a:solidFill>
                <a:cs typeface="宋体"/>
              </a:rPr>
              <a:t>是</a:t>
            </a:r>
            <a:r>
              <a:rPr lang="zh-CN" altLang="en-US" sz="2400" spc="-390" dirty="0" smtClean="0">
                <a:solidFill>
                  <a:srgbClr val="252525"/>
                </a:solidFill>
                <a:cs typeface="宋体"/>
              </a:rPr>
              <a:t>：</a:t>
            </a:r>
            <a:r>
              <a:rPr sz="2400" spc="-35" dirty="0" err="1" smtClean="0">
                <a:solidFill>
                  <a:srgbClr val="252525"/>
                </a:solidFill>
                <a:cs typeface="宋体"/>
              </a:rPr>
              <a:t>数字字面量</a:t>
            </a:r>
            <a:endParaRPr sz="2400" dirty="0"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350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400" spc="-400" dirty="0" smtClean="0">
                <a:solidFill>
                  <a:srgbClr val="252525"/>
                </a:solidFill>
                <a:cs typeface="宋体"/>
              </a:rPr>
              <a:t>'</a:t>
            </a:r>
            <a:r>
              <a:rPr lang="zh-CN" altLang="en-US" sz="2400" spc="-30" dirty="0" smtClean="0">
                <a:solidFill>
                  <a:srgbClr val="252525"/>
                </a:solidFill>
                <a:cs typeface="宋体"/>
              </a:rPr>
              <a:t>你好</a:t>
            </a:r>
            <a:r>
              <a:rPr sz="2400" spc="-400" dirty="0" smtClean="0">
                <a:solidFill>
                  <a:srgbClr val="252525"/>
                </a:solidFill>
                <a:cs typeface="宋体"/>
              </a:rPr>
              <a:t>'</a:t>
            </a:r>
            <a:r>
              <a:rPr sz="2400" spc="-375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lang="en-US" sz="2400" spc="-375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lang="zh-CN" altLang="en-US" sz="2400" spc="-375" dirty="0" smtClean="0">
                <a:solidFill>
                  <a:srgbClr val="252525"/>
                </a:solidFill>
                <a:cs typeface="宋体"/>
              </a:rPr>
              <a:t>就是 ：</a:t>
            </a:r>
            <a:r>
              <a:rPr sz="2400" spc="-30" dirty="0" err="1" smtClean="0">
                <a:solidFill>
                  <a:srgbClr val="252525"/>
                </a:solidFill>
                <a:cs typeface="宋体"/>
              </a:rPr>
              <a:t>字符串字面量</a:t>
            </a:r>
            <a:endParaRPr sz="2400" dirty="0"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  <a:tab pos="2481580" algn="l"/>
                <a:tab pos="4004945" algn="l"/>
                <a:tab pos="4284980" algn="l"/>
                <a:tab pos="5441950" algn="l"/>
              </a:tabLst>
            </a:pPr>
            <a:r>
              <a:rPr sz="2400" spc="-335" dirty="0" smtClean="0">
                <a:solidFill>
                  <a:srgbClr val="252525"/>
                </a:solidFill>
                <a:cs typeface="宋体"/>
              </a:rPr>
              <a:t>[</a:t>
            </a:r>
            <a:r>
              <a:rPr lang="en-US" sz="2400" spc="-335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sz="2400" spc="-335" dirty="0" smtClean="0">
                <a:solidFill>
                  <a:srgbClr val="252525"/>
                </a:solidFill>
                <a:cs typeface="宋体"/>
              </a:rPr>
              <a:t>]</a:t>
            </a:r>
            <a:r>
              <a:rPr lang="en-US" sz="2400" spc="-335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lang="zh-CN" altLang="en-US" sz="2400" dirty="0" smtClean="0">
                <a:solidFill>
                  <a:srgbClr val="252525"/>
                </a:solidFill>
                <a:cs typeface="宋体"/>
              </a:rPr>
              <a:t>就是</a:t>
            </a:r>
            <a:r>
              <a:rPr lang="zh-CN" altLang="en-US" sz="2400" dirty="0" smtClean="0">
                <a:solidFill>
                  <a:srgbClr val="252525"/>
                </a:solidFill>
                <a:cs typeface="宋体"/>
              </a:rPr>
              <a:t>：</a:t>
            </a:r>
            <a:r>
              <a:rPr sz="2400" spc="-30" dirty="0" err="1" smtClean="0">
                <a:solidFill>
                  <a:srgbClr val="252525"/>
                </a:solidFill>
                <a:cs typeface="宋体"/>
              </a:rPr>
              <a:t>数组字面量</a:t>
            </a:r>
            <a:r>
              <a:rPr sz="2400" dirty="0">
                <a:solidFill>
                  <a:srgbClr val="252525"/>
                </a:solidFill>
                <a:cs typeface="宋体"/>
              </a:rPr>
              <a:t>	</a:t>
            </a:r>
            <a:endParaRPr lang="en-US" sz="2400" dirty="0" smtClean="0">
              <a:solidFill>
                <a:srgbClr val="252525"/>
              </a:solidFill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  <a:tab pos="2481580" algn="l"/>
                <a:tab pos="4004945" algn="l"/>
                <a:tab pos="4284980" algn="l"/>
                <a:tab pos="5441950" algn="l"/>
              </a:tabLst>
            </a:pPr>
            <a:r>
              <a:rPr sz="2400" spc="-325" dirty="0" smtClean="0">
                <a:solidFill>
                  <a:srgbClr val="252525"/>
                </a:solidFill>
                <a:cs typeface="宋体"/>
              </a:rPr>
              <a:t>{</a:t>
            </a:r>
            <a:r>
              <a:rPr lang="en-US" sz="2400" spc="-325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sz="2400" spc="-325" dirty="0" smtClean="0">
                <a:solidFill>
                  <a:srgbClr val="252525"/>
                </a:solidFill>
                <a:cs typeface="宋体"/>
              </a:rPr>
              <a:t>}</a:t>
            </a:r>
            <a:r>
              <a:rPr lang="en-US" sz="2400" spc="-325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lang="zh-CN" altLang="en-US" sz="2400" dirty="0" smtClean="0">
                <a:solidFill>
                  <a:srgbClr val="252525"/>
                </a:solidFill>
                <a:cs typeface="宋体"/>
              </a:rPr>
              <a:t>就是</a:t>
            </a:r>
            <a:r>
              <a:rPr lang="zh-CN" altLang="en-US" sz="2400" dirty="0" smtClean="0">
                <a:solidFill>
                  <a:srgbClr val="252525"/>
                </a:solidFill>
                <a:cs typeface="宋体"/>
              </a:rPr>
              <a:t>：</a:t>
            </a:r>
            <a:r>
              <a:rPr sz="2400" spc="-30" dirty="0" err="1" smtClean="0">
                <a:solidFill>
                  <a:srgbClr val="252525"/>
                </a:solidFill>
                <a:cs typeface="宋体"/>
              </a:rPr>
              <a:t>对象字面量等等</a:t>
            </a:r>
            <a:endParaRPr sz="2400" dirty="0">
              <a:cs typeface="宋体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387330" y="685800"/>
            <a:ext cx="180467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685800"/>
            <a:ext cx="3657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>
                <a:solidFill>
                  <a:srgbClr val="585858"/>
                </a:solidFill>
                <a:latin typeface="+mn-lt"/>
                <a:cs typeface="微软雅黑"/>
              </a:rPr>
              <a:t>JavaScript</a:t>
            </a:r>
            <a:r>
              <a:rPr sz="2800" b="1" spc="-160" dirty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+mn-lt"/>
                <a:cs typeface="微软雅黑"/>
              </a:rPr>
              <a:t>介绍小结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5350" y="1283118"/>
            <a:ext cx="9499600" cy="5603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52095" algn="l"/>
              </a:tabLst>
            </a:pPr>
            <a:r>
              <a:rPr sz="1600" b="1" spc="-45" dirty="0">
                <a:solidFill>
                  <a:srgbClr val="252525"/>
                </a:solidFill>
                <a:cs typeface="微软雅黑"/>
              </a:rPr>
              <a:t>JavaScript</a:t>
            </a:r>
            <a:r>
              <a:rPr sz="1600" b="1" spc="-30" dirty="0">
                <a:solidFill>
                  <a:srgbClr val="252525"/>
                </a:solidFill>
                <a:cs typeface="微软雅黑"/>
              </a:rPr>
              <a:t>是什么？</a:t>
            </a:r>
            <a:endParaRPr sz="1600" dirty="0">
              <a:cs typeface="微软雅黑"/>
            </a:endParaRPr>
          </a:p>
          <a:p>
            <a:pPr marL="372110">
              <a:lnSpc>
                <a:spcPct val="100000"/>
              </a:lnSpc>
              <a:spcBef>
                <a:spcPts val="1230"/>
              </a:spcBef>
            </a:pPr>
            <a:r>
              <a:rPr sz="1400" spc="-45" dirty="0">
                <a:cs typeface="宋体"/>
              </a:rPr>
              <a:t>JavaScript</a:t>
            </a:r>
            <a:r>
              <a:rPr sz="1400" spc="-20" dirty="0">
                <a:cs typeface="宋体"/>
              </a:rPr>
              <a:t>是</a:t>
            </a:r>
            <a:r>
              <a:rPr sz="1400" spc="-30" dirty="0">
                <a:cs typeface="宋体"/>
              </a:rPr>
              <a:t>一</a:t>
            </a:r>
            <a:r>
              <a:rPr sz="1400" spc="-20" dirty="0">
                <a:cs typeface="宋体"/>
              </a:rPr>
              <a:t>门</a:t>
            </a:r>
            <a:r>
              <a:rPr sz="1400" spc="-30" dirty="0">
                <a:cs typeface="宋体"/>
              </a:rPr>
              <a:t>编</a:t>
            </a:r>
            <a:r>
              <a:rPr sz="1400" spc="-20" dirty="0">
                <a:cs typeface="宋体"/>
              </a:rPr>
              <a:t>程</a:t>
            </a:r>
            <a:r>
              <a:rPr sz="1400" spc="-40" dirty="0">
                <a:cs typeface="宋体"/>
              </a:rPr>
              <a:t>语</a:t>
            </a:r>
            <a:r>
              <a:rPr sz="1400" spc="-20" dirty="0">
                <a:cs typeface="宋体"/>
              </a:rPr>
              <a:t>言</a:t>
            </a:r>
            <a:r>
              <a:rPr sz="1400" spc="-30" dirty="0">
                <a:cs typeface="宋体"/>
              </a:rPr>
              <a:t>，</a:t>
            </a:r>
            <a:r>
              <a:rPr sz="1400" spc="-40" dirty="0">
                <a:cs typeface="宋体"/>
              </a:rPr>
              <a:t>可</a:t>
            </a:r>
            <a:r>
              <a:rPr sz="1400" spc="-20" dirty="0">
                <a:cs typeface="宋体"/>
              </a:rPr>
              <a:t>以</a:t>
            </a:r>
            <a:r>
              <a:rPr sz="1400" spc="-40" dirty="0">
                <a:cs typeface="宋体"/>
              </a:rPr>
              <a:t>实</a:t>
            </a:r>
            <a:r>
              <a:rPr sz="1400" spc="-20" dirty="0">
                <a:cs typeface="宋体"/>
              </a:rPr>
              <a:t>现</a:t>
            </a:r>
            <a:r>
              <a:rPr sz="1400" spc="-30" dirty="0">
                <a:cs typeface="宋体"/>
              </a:rPr>
              <a:t>很</a:t>
            </a:r>
            <a:r>
              <a:rPr sz="1400" spc="-40" dirty="0">
                <a:cs typeface="宋体"/>
              </a:rPr>
              <a:t>多</a:t>
            </a:r>
            <a:r>
              <a:rPr sz="1400" spc="-20" dirty="0">
                <a:cs typeface="宋体"/>
              </a:rPr>
              <a:t>的</a:t>
            </a:r>
            <a:r>
              <a:rPr sz="1400" spc="-40" dirty="0">
                <a:cs typeface="宋体"/>
              </a:rPr>
              <a:t>网</a:t>
            </a:r>
            <a:r>
              <a:rPr sz="1400" spc="-20" dirty="0">
                <a:cs typeface="宋体"/>
              </a:rPr>
              <a:t>页</a:t>
            </a:r>
            <a:r>
              <a:rPr sz="1400" spc="-40" dirty="0">
                <a:cs typeface="宋体"/>
              </a:rPr>
              <a:t>交</a:t>
            </a:r>
            <a:r>
              <a:rPr sz="1400" spc="-20" dirty="0">
                <a:cs typeface="宋体"/>
              </a:rPr>
              <a:t>互</a:t>
            </a:r>
            <a:r>
              <a:rPr sz="1400" spc="-30" dirty="0">
                <a:cs typeface="宋体"/>
              </a:rPr>
              <a:t>效</a:t>
            </a:r>
            <a:r>
              <a:rPr sz="1400" spc="-40" dirty="0">
                <a:cs typeface="宋体"/>
              </a:rPr>
              <a:t>果</a:t>
            </a:r>
            <a:r>
              <a:rPr sz="1400" spc="-20" dirty="0">
                <a:cs typeface="宋体"/>
              </a:rPr>
              <a:t>。</a:t>
            </a:r>
            <a:endParaRPr sz="1400" dirty="0">
              <a:cs typeface="宋体"/>
            </a:endParaRPr>
          </a:p>
          <a:p>
            <a:pPr marL="251460" indent="-238760">
              <a:lnSpc>
                <a:spcPct val="100000"/>
              </a:lnSpc>
              <a:spcBef>
                <a:spcPts val="1290"/>
              </a:spcBef>
              <a:buClr>
                <a:srgbClr val="252525"/>
              </a:buClr>
              <a:buAutoNum type="arabicPeriod" startAt="2"/>
              <a:tabLst>
                <a:tab pos="252095" algn="l"/>
              </a:tabLst>
            </a:pPr>
            <a:r>
              <a:rPr sz="1600" b="1" spc="-45" dirty="0">
                <a:solidFill>
                  <a:srgbClr val="404040"/>
                </a:solidFill>
                <a:cs typeface="微软雅黑"/>
              </a:rPr>
              <a:t>JavaScript</a:t>
            </a:r>
            <a:r>
              <a:rPr sz="1600" b="1" spc="-30" dirty="0">
                <a:solidFill>
                  <a:srgbClr val="404040"/>
                </a:solidFill>
                <a:cs typeface="微软雅黑"/>
              </a:rPr>
              <a:t> 书写位置</a:t>
            </a:r>
            <a:r>
              <a:rPr sz="1600" b="1" spc="-45" dirty="0">
                <a:solidFill>
                  <a:srgbClr val="404040"/>
                </a:solidFill>
                <a:cs typeface="微软雅黑"/>
              </a:rPr>
              <a:t>?</a:t>
            </a:r>
            <a:endParaRPr sz="1600" dirty="0">
              <a:cs typeface="微软雅黑"/>
            </a:endParaRPr>
          </a:p>
          <a:p>
            <a:pPr marL="733425" lvl="1" indent="-361315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400" spc="-25" dirty="0">
                <a:solidFill>
                  <a:srgbClr val="404040"/>
                </a:solidFill>
                <a:cs typeface="宋体"/>
              </a:rPr>
              <a:t>内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联</a:t>
            </a:r>
            <a:r>
              <a:rPr sz="1400" spc="-360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45" dirty="0">
                <a:solidFill>
                  <a:srgbClr val="404040"/>
                </a:solidFill>
                <a:cs typeface="宋体"/>
              </a:rPr>
              <a:t>JavaScript</a:t>
            </a:r>
            <a:endParaRPr sz="14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400" spc="-25" dirty="0">
                <a:solidFill>
                  <a:srgbClr val="404040"/>
                </a:solidFill>
                <a:cs typeface="宋体"/>
              </a:rPr>
              <a:t>内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部</a:t>
            </a:r>
            <a:r>
              <a:rPr sz="1400" spc="-360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45" dirty="0">
                <a:solidFill>
                  <a:srgbClr val="404040"/>
                </a:solidFill>
                <a:cs typeface="宋体"/>
              </a:rPr>
              <a:t>JavaScript</a:t>
            </a:r>
            <a:r>
              <a:rPr sz="1400" spc="-345" dirty="0">
                <a:solidFill>
                  <a:srgbClr val="404040"/>
                </a:solidFill>
                <a:cs typeface="宋体"/>
              </a:rPr>
              <a:t> </a:t>
            </a:r>
            <a:r>
              <a:rPr lang="en-US" sz="1400" spc="-705" dirty="0" smtClean="0">
                <a:solidFill>
                  <a:srgbClr val="404040"/>
                </a:solidFill>
                <a:cs typeface="宋体"/>
              </a:rPr>
              <a:t> </a:t>
            </a:r>
            <a:r>
              <a:rPr sz="1400" spc="-25" dirty="0" err="1" smtClean="0">
                <a:solidFill>
                  <a:srgbClr val="404040"/>
                </a:solidFill>
                <a:cs typeface="宋体"/>
              </a:rPr>
              <a:t>写</a:t>
            </a:r>
            <a:r>
              <a:rPr sz="1400" spc="-20" dirty="0" err="1" smtClean="0">
                <a:solidFill>
                  <a:srgbClr val="404040"/>
                </a:solidFill>
                <a:cs typeface="宋体"/>
              </a:rPr>
              <a:t>到</a:t>
            </a:r>
            <a:r>
              <a:rPr sz="1400" spc="-355" dirty="0" smtClean="0">
                <a:solidFill>
                  <a:srgbClr val="404040"/>
                </a:solidFill>
                <a:cs typeface="宋体"/>
              </a:rPr>
              <a:t> </a:t>
            </a:r>
            <a:r>
              <a:rPr sz="1400" spc="100" dirty="0">
                <a:solidFill>
                  <a:srgbClr val="404040"/>
                </a:solidFill>
                <a:cs typeface="宋体"/>
              </a:rPr>
              <a:t>&lt;/body&gt;</a:t>
            </a:r>
            <a:r>
              <a:rPr sz="1400" spc="-360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标签上方</a:t>
            </a:r>
            <a:endParaRPr sz="14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400" spc="-25" dirty="0">
                <a:solidFill>
                  <a:srgbClr val="404040"/>
                </a:solidFill>
                <a:cs typeface="宋体"/>
              </a:rPr>
              <a:t>外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部</a:t>
            </a:r>
            <a:r>
              <a:rPr sz="1400" spc="-355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45" dirty="0">
                <a:solidFill>
                  <a:srgbClr val="404040"/>
                </a:solidFill>
                <a:cs typeface="宋体"/>
              </a:rPr>
              <a:t>JavaScript</a:t>
            </a:r>
            <a:r>
              <a:rPr sz="1400" spc="-345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85" dirty="0">
                <a:solidFill>
                  <a:srgbClr val="404040"/>
                </a:solidFill>
                <a:cs typeface="宋体"/>
              </a:rPr>
              <a:t>-</a:t>
            </a:r>
            <a:r>
              <a:rPr sz="1400" spc="15" dirty="0">
                <a:solidFill>
                  <a:srgbClr val="404040"/>
                </a:solidFill>
                <a:cs typeface="宋体"/>
              </a:rPr>
              <a:t> </a:t>
            </a:r>
            <a:r>
              <a:rPr lang="en-US" sz="1400" spc="15" dirty="0" smtClean="0">
                <a:solidFill>
                  <a:srgbClr val="404040"/>
                </a:solidFill>
                <a:cs typeface="宋体"/>
              </a:rPr>
              <a:t>-- </a:t>
            </a:r>
            <a:r>
              <a:rPr sz="1400" spc="-25" dirty="0" err="1" smtClean="0">
                <a:solidFill>
                  <a:srgbClr val="404040"/>
                </a:solidFill>
                <a:cs typeface="宋体"/>
              </a:rPr>
              <a:t>通</a:t>
            </a:r>
            <a:r>
              <a:rPr sz="1400" spc="-20" dirty="0" err="1" smtClean="0">
                <a:solidFill>
                  <a:srgbClr val="404040"/>
                </a:solidFill>
                <a:cs typeface="宋体"/>
              </a:rPr>
              <a:t>过</a:t>
            </a:r>
            <a:r>
              <a:rPr sz="1400" spc="-355" dirty="0" smtClean="0">
                <a:solidFill>
                  <a:srgbClr val="404040"/>
                </a:solidFill>
                <a:cs typeface="宋体"/>
              </a:rPr>
              <a:t> </a:t>
            </a:r>
            <a:r>
              <a:rPr sz="1400" spc="-70" dirty="0">
                <a:solidFill>
                  <a:srgbClr val="404040"/>
                </a:solidFill>
                <a:cs typeface="宋体"/>
              </a:rPr>
              <a:t>src</a:t>
            </a:r>
            <a:r>
              <a:rPr sz="1400" spc="-335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引入</a:t>
            </a:r>
            <a:r>
              <a:rPr sz="1400" spc="55" dirty="0">
                <a:solidFill>
                  <a:srgbClr val="404040"/>
                </a:solidFill>
                <a:cs typeface="宋体"/>
              </a:rPr>
              <a:t>html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页面中，但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是</a:t>
            </a:r>
            <a:r>
              <a:rPr sz="1400" spc="-375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55" dirty="0">
                <a:solidFill>
                  <a:srgbClr val="404040"/>
                </a:solidFill>
                <a:cs typeface="宋体"/>
              </a:rPr>
              <a:t>&lt;script&gt;</a:t>
            </a:r>
            <a:r>
              <a:rPr sz="1400" spc="-335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标签不要写内容，否</a:t>
            </a:r>
            <a:r>
              <a:rPr sz="1400" spc="-35" dirty="0">
                <a:solidFill>
                  <a:srgbClr val="404040"/>
                </a:solidFill>
                <a:cs typeface="宋体"/>
              </a:rPr>
              <a:t>则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会</a:t>
            </a:r>
            <a:r>
              <a:rPr sz="1400" spc="-35" dirty="0">
                <a:solidFill>
                  <a:srgbClr val="404040"/>
                </a:solidFill>
                <a:cs typeface="宋体"/>
              </a:rPr>
              <a:t>被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忽略</a:t>
            </a:r>
            <a:endParaRPr sz="1400" dirty="0">
              <a:cs typeface="宋体"/>
            </a:endParaRPr>
          </a:p>
          <a:p>
            <a:pPr marL="251460" indent="-238760">
              <a:lnSpc>
                <a:spcPct val="100000"/>
              </a:lnSpc>
              <a:spcBef>
                <a:spcPts val="1285"/>
              </a:spcBef>
              <a:buAutoNum type="arabicPeriod" startAt="2"/>
              <a:tabLst>
                <a:tab pos="252095" algn="l"/>
              </a:tabLst>
            </a:pPr>
            <a:r>
              <a:rPr sz="1600" b="1" spc="-45" dirty="0">
                <a:solidFill>
                  <a:srgbClr val="404040"/>
                </a:solidFill>
                <a:cs typeface="微软雅黑"/>
              </a:rPr>
              <a:t>JavaScript</a:t>
            </a:r>
            <a:r>
              <a:rPr sz="1600" b="1" spc="-30" dirty="0">
                <a:solidFill>
                  <a:srgbClr val="404040"/>
                </a:solidFill>
                <a:cs typeface="微软雅黑"/>
              </a:rPr>
              <a:t> 的注释？</a:t>
            </a:r>
            <a:endParaRPr sz="1600" dirty="0">
              <a:cs typeface="微软雅黑"/>
            </a:endParaRPr>
          </a:p>
          <a:p>
            <a:pPr marL="733425" lvl="1" indent="-361315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400" spc="-25" dirty="0">
                <a:solidFill>
                  <a:srgbClr val="404040"/>
                </a:solidFill>
                <a:cs typeface="宋体"/>
              </a:rPr>
              <a:t>单行注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释</a:t>
            </a:r>
            <a:r>
              <a:rPr sz="1400" dirty="0">
                <a:solidFill>
                  <a:srgbClr val="404040"/>
                </a:solidFill>
                <a:cs typeface="宋体"/>
              </a:rPr>
              <a:t> //</a:t>
            </a:r>
            <a:endParaRPr sz="14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400" spc="-25" dirty="0">
                <a:solidFill>
                  <a:srgbClr val="404040"/>
                </a:solidFill>
                <a:cs typeface="宋体"/>
              </a:rPr>
              <a:t>多行注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释</a:t>
            </a:r>
            <a:r>
              <a:rPr sz="1400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50" dirty="0">
                <a:solidFill>
                  <a:srgbClr val="404040"/>
                </a:solidFill>
                <a:cs typeface="宋体"/>
              </a:rPr>
              <a:t>/*</a:t>
            </a:r>
            <a:r>
              <a:rPr sz="1400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-50" dirty="0">
                <a:solidFill>
                  <a:srgbClr val="404040"/>
                </a:solidFill>
                <a:cs typeface="宋体"/>
              </a:rPr>
              <a:t>*/</a:t>
            </a:r>
            <a:endParaRPr sz="1400" dirty="0">
              <a:cs typeface="宋体"/>
            </a:endParaRPr>
          </a:p>
          <a:p>
            <a:pPr marL="251460" indent="-238760">
              <a:lnSpc>
                <a:spcPct val="100000"/>
              </a:lnSpc>
              <a:spcBef>
                <a:spcPts val="1290"/>
              </a:spcBef>
              <a:buAutoNum type="arabicPeriod" startAt="2"/>
              <a:tabLst>
                <a:tab pos="252095" algn="l"/>
              </a:tabLst>
            </a:pPr>
            <a:r>
              <a:rPr sz="1600" b="1" spc="-45" dirty="0">
                <a:solidFill>
                  <a:srgbClr val="404040"/>
                </a:solidFill>
                <a:cs typeface="微软雅黑"/>
              </a:rPr>
              <a:t>JavaScript</a:t>
            </a:r>
            <a:r>
              <a:rPr sz="1600" b="1" spc="-30" dirty="0">
                <a:solidFill>
                  <a:srgbClr val="404040"/>
                </a:solidFill>
                <a:cs typeface="微软雅黑"/>
              </a:rPr>
              <a:t> 的结束符？</a:t>
            </a:r>
            <a:endParaRPr sz="1600" dirty="0">
              <a:cs typeface="微软雅黑"/>
            </a:endParaRPr>
          </a:p>
          <a:p>
            <a:pPr marL="733425" lvl="1" indent="-361315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"/>
              <a:tabLst>
                <a:tab pos="733425" algn="l"/>
                <a:tab pos="734060" algn="l"/>
                <a:tab pos="1394460" algn="l"/>
              </a:tabLst>
            </a:pPr>
            <a:r>
              <a:rPr sz="1400" spc="-25" dirty="0">
                <a:solidFill>
                  <a:srgbClr val="404040"/>
                </a:solidFill>
                <a:cs typeface="宋体"/>
              </a:rPr>
              <a:t>分号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；	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可以加也可以不加，</a:t>
            </a:r>
            <a:r>
              <a:rPr sz="1400" spc="-35" dirty="0">
                <a:solidFill>
                  <a:srgbClr val="404040"/>
                </a:solidFill>
                <a:cs typeface="宋体"/>
              </a:rPr>
              <a:t>可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以</a:t>
            </a:r>
            <a:r>
              <a:rPr sz="1400" spc="-35" dirty="0">
                <a:solidFill>
                  <a:srgbClr val="404040"/>
                </a:solidFill>
                <a:cs typeface="宋体"/>
              </a:rPr>
              <a:t>按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照团</a:t>
            </a:r>
            <a:r>
              <a:rPr sz="1400" spc="-35" dirty="0">
                <a:solidFill>
                  <a:srgbClr val="404040"/>
                </a:solidFill>
                <a:cs typeface="宋体"/>
              </a:rPr>
              <a:t>队</a:t>
            </a:r>
            <a:r>
              <a:rPr sz="1400" spc="-25" dirty="0">
                <a:solidFill>
                  <a:srgbClr val="404040"/>
                </a:solidFill>
                <a:cs typeface="宋体"/>
              </a:rPr>
              <a:t>约定</a:t>
            </a:r>
            <a:endParaRPr sz="14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400" spc="-25" dirty="0">
                <a:solidFill>
                  <a:srgbClr val="404040"/>
                </a:solidFill>
                <a:cs typeface="宋体"/>
              </a:rPr>
              <a:t>注意换行默认为结</a:t>
            </a:r>
            <a:r>
              <a:rPr sz="1400" spc="-35" dirty="0">
                <a:solidFill>
                  <a:srgbClr val="404040"/>
                </a:solidFill>
                <a:cs typeface="宋体"/>
              </a:rPr>
              <a:t>束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符</a:t>
            </a:r>
            <a:endParaRPr sz="1400" dirty="0">
              <a:cs typeface="宋体"/>
            </a:endParaRPr>
          </a:p>
          <a:p>
            <a:pPr marL="251460" indent="-238760">
              <a:lnSpc>
                <a:spcPct val="100000"/>
              </a:lnSpc>
              <a:spcBef>
                <a:spcPts val="1295"/>
              </a:spcBef>
              <a:buAutoNum type="arabicPeriod" startAt="2"/>
              <a:tabLst>
                <a:tab pos="252095" algn="l"/>
              </a:tabLst>
            </a:pPr>
            <a:r>
              <a:rPr sz="1600" b="1" spc="-45" dirty="0">
                <a:solidFill>
                  <a:srgbClr val="404040"/>
                </a:solidFill>
                <a:cs typeface="微软雅黑"/>
              </a:rPr>
              <a:t>JavaScript</a:t>
            </a:r>
            <a:r>
              <a:rPr sz="1600" b="1" spc="-30" dirty="0">
                <a:solidFill>
                  <a:srgbClr val="404040"/>
                </a:solidFill>
                <a:cs typeface="微软雅黑"/>
              </a:rPr>
              <a:t> 输入输出语句？</a:t>
            </a:r>
            <a:endParaRPr sz="1600" dirty="0">
              <a:cs typeface="微软雅黑"/>
            </a:endParaRPr>
          </a:p>
          <a:p>
            <a:pPr marL="733425" lvl="1" indent="-361315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400" spc="-25" dirty="0">
                <a:solidFill>
                  <a:srgbClr val="404040"/>
                </a:solidFill>
                <a:cs typeface="宋体"/>
              </a:rPr>
              <a:t>输入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：</a:t>
            </a:r>
            <a:r>
              <a:rPr sz="1400" spc="-360" dirty="0">
                <a:solidFill>
                  <a:srgbClr val="404040"/>
                </a:solidFill>
                <a:cs typeface="宋体"/>
              </a:rPr>
              <a:t> </a:t>
            </a:r>
            <a:r>
              <a:rPr sz="1400" spc="40" dirty="0">
                <a:solidFill>
                  <a:srgbClr val="404040"/>
                </a:solidFill>
                <a:cs typeface="宋体"/>
              </a:rPr>
              <a:t>prompt()</a:t>
            </a:r>
            <a:endParaRPr sz="14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733425" algn="l"/>
                <a:tab pos="734060" algn="l"/>
                <a:tab pos="2004060" algn="l"/>
                <a:tab pos="3606800" algn="l"/>
              </a:tabLst>
            </a:pPr>
            <a:r>
              <a:rPr sz="1400" spc="-25" dirty="0">
                <a:solidFill>
                  <a:srgbClr val="404040"/>
                </a:solidFill>
                <a:cs typeface="宋体"/>
              </a:rPr>
              <a:t>输出</a:t>
            </a:r>
            <a:r>
              <a:rPr sz="1400" spc="-20" dirty="0">
                <a:solidFill>
                  <a:srgbClr val="404040"/>
                </a:solidFill>
                <a:cs typeface="宋体"/>
              </a:rPr>
              <a:t>：</a:t>
            </a:r>
            <a:r>
              <a:rPr sz="1400" spc="-355" dirty="0">
                <a:solidFill>
                  <a:srgbClr val="404040"/>
                </a:solidFill>
                <a:cs typeface="宋体"/>
              </a:rPr>
              <a:t> </a:t>
            </a:r>
            <a:r>
              <a:rPr lang="en-US" altLang="zh-CN" sz="1400" spc="-120" dirty="0" smtClean="0">
                <a:solidFill>
                  <a:srgbClr val="404040"/>
                </a:solidFill>
                <a:cs typeface="宋体"/>
              </a:rPr>
              <a:t>alert()   </a:t>
            </a:r>
            <a:r>
              <a:rPr sz="1400" spc="20" dirty="0" err="1" smtClean="0">
                <a:solidFill>
                  <a:srgbClr val="404040"/>
                </a:solidFill>
                <a:cs typeface="宋体"/>
              </a:rPr>
              <a:t>document.write</a:t>
            </a:r>
            <a:r>
              <a:rPr sz="1400" spc="20" dirty="0" smtClean="0">
                <a:solidFill>
                  <a:srgbClr val="404040"/>
                </a:solidFill>
                <a:cs typeface="宋体"/>
              </a:rPr>
              <a:t>()</a:t>
            </a:r>
            <a:r>
              <a:rPr lang="en-US" sz="1400" spc="20" dirty="0" smtClean="0">
                <a:solidFill>
                  <a:srgbClr val="404040"/>
                </a:solidFill>
                <a:cs typeface="宋体"/>
              </a:rPr>
              <a:t>  </a:t>
            </a:r>
            <a:r>
              <a:rPr sz="1400" spc="20" dirty="0" smtClean="0">
                <a:solidFill>
                  <a:srgbClr val="404040"/>
                </a:solidFill>
                <a:cs typeface="宋体"/>
              </a:rPr>
              <a:t> </a:t>
            </a:r>
            <a:r>
              <a:rPr sz="1400" spc="-30" dirty="0" smtClean="0">
                <a:solidFill>
                  <a:srgbClr val="404040"/>
                </a:solidFill>
                <a:cs typeface="宋体"/>
              </a:rPr>
              <a:t>console.log</a:t>
            </a:r>
            <a:r>
              <a:rPr sz="1400" spc="-30" dirty="0">
                <a:solidFill>
                  <a:srgbClr val="404040"/>
                </a:solidFill>
                <a:cs typeface="宋体"/>
              </a:rPr>
              <a:t>()</a:t>
            </a:r>
            <a:endParaRPr sz="1400" dirty="0">
              <a:cs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45065" y="685800"/>
            <a:ext cx="214693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JavaScript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3249"/>
            <a:ext cx="5105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变量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+mn-lt"/>
                <a:cs typeface="微软雅黑"/>
              </a:rPr>
              <a:t>（</a:t>
            </a:r>
            <a:r>
              <a:rPr lang="en-US" altLang="zh-CN" sz="2800" b="1" spc="-40" dirty="0" smtClean="0">
                <a:solidFill>
                  <a:srgbClr val="585858"/>
                </a:solidFill>
                <a:latin typeface="+mn-lt"/>
                <a:cs typeface="微软雅黑"/>
              </a:rPr>
              <a:t>Variable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+mn-lt"/>
                <a:cs typeface="微软雅黑"/>
              </a:rPr>
              <a:t>）</a:t>
            </a: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是什么</a:t>
            </a:r>
            <a:r>
              <a:rPr sz="2800" b="1" spc="-40" dirty="0">
                <a:solidFill>
                  <a:srgbClr val="585858"/>
                </a:solidFill>
                <a:latin typeface="+mn-lt"/>
                <a:cs typeface="微软雅黑"/>
              </a:rPr>
              <a:t>？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1546725"/>
            <a:ext cx="11430000" cy="168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zh-CN" altLang="en-US" sz="2400" b="1" spc="5" dirty="0" smtClean="0">
                <a:solidFill>
                  <a:srgbClr val="252525"/>
                </a:solidFill>
                <a:cs typeface="微软雅黑"/>
              </a:rPr>
              <a:t>变量是</a:t>
            </a:r>
            <a:r>
              <a:rPr lang="zh-CN" altLang="en-US" sz="2400" b="1" spc="5" dirty="0">
                <a:solidFill>
                  <a:srgbClr val="252525"/>
                </a:solidFill>
                <a:cs typeface="微软雅黑"/>
              </a:rPr>
              <a:t>存储值的</a:t>
            </a:r>
            <a:r>
              <a:rPr lang="zh-CN" altLang="en-US" sz="2400" b="1" spc="5" dirty="0">
                <a:solidFill>
                  <a:srgbClr val="FF0000"/>
                </a:solidFill>
                <a:cs typeface="微软雅黑"/>
              </a:rPr>
              <a:t>容器</a:t>
            </a:r>
            <a:r>
              <a:rPr lang="zh-CN" altLang="en-US" sz="2400" b="1" spc="5" dirty="0">
                <a:solidFill>
                  <a:srgbClr val="252525"/>
                </a:solidFill>
                <a:cs typeface="微软雅黑"/>
              </a:rPr>
              <a:t>。要声明一个变量，先输入关键字 </a:t>
            </a:r>
            <a:r>
              <a:rPr lang="en-US" altLang="zh-CN" sz="2400" b="1" spc="5" dirty="0">
                <a:solidFill>
                  <a:srgbClr val="252525"/>
                </a:solidFill>
                <a:cs typeface="微软雅黑"/>
              </a:rPr>
              <a:t>let </a:t>
            </a:r>
            <a:r>
              <a:rPr lang="zh-CN" altLang="en-US" sz="2400" b="1" spc="5" dirty="0">
                <a:solidFill>
                  <a:srgbClr val="252525"/>
                </a:solidFill>
                <a:cs typeface="微软雅黑"/>
              </a:rPr>
              <a:t>或 </a:t>
            </a:r>
            <a:r>
              <a:rPr lang="en-US" altLang="zh-CN" sz="2400" b="1" spc="5" dirty="0" err="1">
                <a:solidFill>
                  <a:srgbClr val="252525"/>
                </a:solidFill>
                <a:cs typeface="微软雅黑"/>
              </a:rPr>
              <a:t>var</a:t>
            </a:r>
            <a:r>
              <a:rPr lang="zh-CN" altLang="en-US" sz="2400" b="1" spc="5" dirty="0">
                <a:solidFill>
                  <a:srgbClr val="252525"/>
                </a:solidFill>
                <a:cs typeface="微软雅黑"/>
              </a:rPr>
              <a:t>，然后输入合适的</a:t>
            </a:r>
            <a:r>
              <a:rPr lang="zh-CN" altLang="en-US" sz="2400" b="1" spc="5" dirty="0" smtClean="0">
                <a:solidFill>
                  <a:srgbClr val="252525"/>
                </a:solidFill>
                <a:cs typeface="微软雅黑"/>
              </a:rPr>
              <a:t>名称。</a:t>
            </a:r>
            <a:endParaRPr lang="en-US" altLang="zh-CN" sz="2400" b="1" spc="5" dirty="0" smtClean="0">
              <a:solidFill>
                <a:srgbClr val="252525"/>
              </a:solidFill>
              <a:cs typeface="微软雅黑"/>
            </a:endParaRP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en-US" sz="2400" dirty="0">
                <a:cs typeface="宋体"/>
              </a:rPr>
              <a:t>let </a:t>
            </a:r>
            <a:r>
              <a:rPr lang="en-US" sz="2400" dirty="0" err="1">
                <a:cs typeface="宋体"/>
              </a:rPr>
              <a:t>myVariable</a:t>
            </a:r>
            <a:r>
              <a:rPr lang="en-US" sz="2400" dirty="0" smtClean="0">
                <a:cs typeface="宋体"/>
              </a:rPr>
              <a:t>; //</a:t>
            </a:r>
            <a:r>
              <a:rPr lang="zh-CN" altLang="en-US" sz="2400" dirty="0" smtClean="0">
                <a:cs typeface="宋体"/>
              </a:rPr>
              <a:t>变量声明</a:t>
            </a:r>
            <a:endParaRPr lang="en-US" sz="2400" dirty="0"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79235" y="3654552"/>
            <a:ext cx="1656080" cy="76200"/>
          </a:xfrm>
          <a:custGeom>
            <a:avLst/>
            <a:gdLst/>
            <a:ahLst/>
            <a:cxnLst/>
            <a:rect l="l" t="t" r="r" b="b"/>
            <a:pathLst>
              <a:path w="165607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656079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656079" h="76200">
                <a:moveTo>
                  <a:pt x="1655825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55825" y="44450"/>
                </a:lnTo>
                <a:lnTo>
                  <a:pt x="1655825" y="31750"/>
                </a:lnTo>
                <a:close/>
              </a:path>
            </a:pathLst>
          </a:custGeom>
          <a:solidFill>
            <a:srgbClr val="497DBA"/>
          </a:solid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12023" y="3465576"/>
            <a:ext cx="1260475" cy="454659"/>
          </a:xfrm>
          <a:custGeom>
            <a:avLst/>
            <a:gdLst/>
            <a:ahLst/>
            <a:cxnLst/>
            <a:rect l="l" t="t" r="r" b="b"/>
            <a:pathLst>
              <a:path w="1260475" h="454660">
                <a:moveTo>
                  <a:pt x="1184655" y="0"/>
                </a:moveTo>
                <a:lnTo>
                  <a:pt x="75692" y="0"/>
                </a:lnTo>
                <a:lnTo>
                  <a:pt x="46237" y="5951"/>
                </a:lnTo>
                <a:lnTo>
                  <a:pt x="22177" y="22177"/>
                </a:lnTo>
                <a:lnTo>
                  <a:pt x="5951" y="46237"/>
                </a:lnTo>
                <a:lnTo>
                  <a:pt x="0" y="75691"/>
                </a:lnTo>
                <a:lnTo>
                  <a:pt x="0" y="378460"/>
                </a:lnTo>
                <a:lnTo>
                  <a:pt x="5951" y="407914"/>
                </a:lnTo>
                <a:lnTo>
                  <a:pt x="22177" y="431974"/>
                </a:lnTo>
                <a:lnTo>
                  <a:pt x="46237" y="448200"/>
                </a:lnTo>
                <a:lnTo>
                  <a:pt x="75692" y="454151"/>
                </a:lnTo>
                <a:lnTo>
                  <a:pt x="1184655" y="454151"/>
                </a:lnTo>
                <a:lnTo>
                  <a:pt x="1214110" y="448200"/>
                </a:lnTo>
                <a:lnTo>
                  <a:pt x="1238170" y="431974"/>
                </a:lnTo>
                <a:lnTo>
                  <a:pt x="1254396" y="407914"/>
                </a:lnTo>
                <a:lnTo>
                  <a:pt x="1260348" y="378460"/>
                </a:lnTo>
                <a:lnTo>
                  <a:pt x="1260348" y="75691"/>
                </a:lnTo>
                <a:lnTo>
                  <a:pt x="1254396" y="46237"/>
                </a:lnTo>
                <a:lnTo>
                  <a:pt x="1238170" y="22177"/>
                </a:lnTo>
                <a:lnTo>
                  <a:pt x="1214110" y="5951"/>
                </a:lnTo>
                <a:lnTo>
                  <a:pt x="1184655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201659" y="3532758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cs typeface="黑体"/>
              </a:rPr>
              <a:t>数据</a:t>
            </a:r>
            <a:endParaRPr sz="1800" dirty="0">
              <a:cs typeface="黑体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387330" y="685800"/>
            <a:ext cx="180467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09600" y="5830652"/>
            <a:ext cx="9982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上述语句行</a:t>
            </a:r>
            <a:r>
              <a:rPr lang="zh-CN" altLang="en-US" dirty="0"/>
              <a:t>末的分号表示当前语句结束，不过只有在单行内需要分割多条语句时，这个分号才是必须的。然而，一些人认为每条语句末尾加分号是一种好的风格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752600" y="2205559"/>
            <a:ext cx="70840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u="sng" dirty="0"/>
              <a:t>JavaScript </a:t>
            </a:r>
            <a:r>
              <a:rPr lang="zh-CN" altLang="en-US" u="sng" dirty="0"/>
              <a:t>对大小写敏感，</a:t>
            </a:r>
            <a:r>
              <a:rPr lang="en-US" altLang="zh-CN" u="sng" dirty="0" err="1"/>
              <a:t>myVariable</a:t>
            </a:r>
            <a:r>
              <a:rPr lang="en-US" altLang="zh-CN" u="sng" dirty="0"/>
              <a:t> </a:t>
            </a:r>
            <a:r>
              <a:rPr lang="zh-CN" altLang="en-US" u="sng" dirty="0"/>
              <a:t>和 </a:t>
            </a:r>
            <a:r>
              <a:rPr lang="en-US" altLang="zh-CN" u="sng" dirty="0" err="1"/>
              <a:t>myvariable</a:t>
            </a:r>
            <a:r>
              <a:rPr lang="en-US" altLang="zh-CN" u="sng" dirty="0"/>
              <a:t> </a:t>
            </a:r>
            <a:r>
              <a:rPr lang="zh-CN" altLang="en-US" u="sng" dirty="0"/>
              <a:t>是不同的。</a:t>
            </a:r>
            <a:endParaRPr lang="zh-CN" altLang="en-US" u="sng" dirty="0"/>
          </a:p>
        </p:txBody>
      </p:sp>
      <p:pic>
        <p:nvPicPr>
          <p:cNvPr id="1026" name="Picture 2" descr="https://developer.mozilla.org/en-US/docs/Learn/JavaScript/First_steps/Variables/boxes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69" y="3532758"/>
            <a:ext cx="4533900" cy="187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889" y="726644"/>
            <a:ext cx="38379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变量的基本使用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1633" y="1557244"/>
            <a:ext cx="10700767" cy="4590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5" dirty="0">
                <a:solidFill>
                  <a:srgbClr val="252525"/>
                </a:solidFill>
                <a:cs typeface="微软雅黑"/>
              </a:rPr>
              <a:t>2.</a:t>
            </a:r>
            <a:r>
              <a:rPr sz="2000" b="1" spc="-60" dirty="0">
                <a:solidFill>
                  <a:srgbClr val="252525"/>
                </a:solidFill>
                <a:cs typeface="微软雅黑"/>
              </a:rPr>
              <a:t> </a:t>
            </a:r>
            <a:r>
              <a:rPr sz="2000" b="1" spc="-30" dirty="0">
                <a:solidFill>
                  <a:srgbClr val="252525"/>
                </a:solidFill>
                <a:cs typeface="微软雅黑"/>
              </a:rPr>
              <a:t>变量赋值：</a:t>
            </a:r>
            <a:endParaRPr sz="2000" dirty="0"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000" spc="-30" dirty="0" err="1">
                <a:solidFill>
                  <a:srgbClr val="252525"/>
                </a:solidFill>
                <a:cs typeface="宋体"/>
              </a:rPr>
              <a:t>定义了一个变量后，你就能够初始化它（赋值</a:t>
            </a:r>
            <a:r>
              <a:rPr sz="2000" spc="-20" dirty="0" smtClean="0">
                <a:solidFill>
                  <a:srgbClr val="252525"/>
                </a:solidFill>
                <a:cs typeface="宋体"/>
              </a:rPr>
              <a:t>）</a:t>
            </a:r>
            <a:r>
              <a:rPr sz="2000" spc="-30" dirty="0" smtClean="0">
                <a:solidFill>
                  <a:srgbClr val="252525"/>
                </a:solidFill>
                <a:cs typeface="宋体"/>
              </a:rPr>
              <a:t>。</a:t>
            </a:r>
            <a:endParaRPr lang="en-US" sz="2000" spc="-30" dirty="0" smtClean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lang="en-US" sz="2000" dirty="0" err="1">
                <a:solidFill>
                  <a:srgbClr val="FF0000"/>
                </a:solidFill>
                <a:cs typeface="宋体"/>
              </a:rPr>
              <a:t>myVariable</a:t>
            </a:r>
            <a:r>
              <a:rPr lang="en-US" sz="2000" dirty="0">
                <a:solidFill>
                  <a:srgbClr val="FF0000"/>
                </a:solidFill>
                <a:cs typeface="宋体"/>
              </a:rPr>
              <a:t> = '</a:t>
            </a:r>
            <a:r>
              <a:rPr lang="zh-CN" altLang="en-US" sz="2000" dirty="0">
                <a:solidFill>
                  <a:srgbClr val="FF0000"/>
                </a:solidFill>
                <a:cs typeface="宋体"/>
              </a:rPr>
              <a:t>李雷</a:t>
            </a:r>
            <a:r>
              <a:rPr lang="en-US" altLang="zh-CN" sz="2000" dirty="0" smtClean="0">
                <a:solidFill>
                  <a:srgbClr val="FF0000"/>
                </a:solidFill>
                <a:cs typeface="宋体"/>
              </a:rPr>
              <a:t>';</a:t>
            </a:r>
            <a:endParaRPr lang="en-US" altLang="zh-CN" sz="2000" dirty="0" smtClean="0">
              <a:solidFill>
                <a:srgbClr val="FF0000"/>
              </a:solidFill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lang="zh-CN" altLang="en-US" sz="2000" dirty="0">
                <a:cs typeface="宋体"/>
              </a:rPr>
              <a:t>也可以将定义、赋值操作写在同一行</a:t>
            </a:r>
            <a:r>
              <a:rPr lang="zh-CN" altLang="en-US" sz="2000" dirty="0" smtClean="0">
                <a:cs typeface="宋体"/>
              </a:rPr>
              <a:t>：</a:t>
            </a:r>
            <a:endParaRPr lang="en-US" altLang="zh-CN" sz="2000" dirty="0" smtClean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lang="en-US" sz="2000" dirty="0">
                <a:solidFill>
                  <a:srgbClr val="FF0000"/>
                </a:solidFill>
                <a:cs typeface="宋体"/>
              </a:rPr>
              <a:t>let </a:t>
            </a:r>
            <a:r>
              <a:rPr lang="en-US" sz="2000" dirty="0" err="1">
                <a:solidFill>
                  <a:srgbClr val="FF0000"/>
                </a:solidFill>
                <a:cs typeface="宋体"/>
              </a:rPr>
              <a:t>myVariable</a:t>
            </a:r>
            <a:r>
              <a:rPr lang="en-US" sz="2000" dirty="0">
                <a:solidFill>
                  <a:srgbClr val="FF0000"/>
                </a:solidFill>
                <a:cs typeface="宋体"/>
              </a:rPr>
              <a:t> = '</a:t>
            </a:r>
            <a:r>
              <a:rPr lang="zh-CN" altLang="en-US" sz="2000" dirty="0">
                <a:solidFill>
                  <a:srgbClr val="FF0000"/>
                </a:solidFill>
                <a:cs typeface="宋体"/>
              </a:rPr>
              <a:t>李雷</a:t>
            </a:r>
            <a:r>
              <a:rPr lang="en-US" altLang="zh-CN" sz="2000" dirty="0" smtClean="0">
                <a:solidFill>
                  <a:srgbClr val="FF0000"/>
                </a:solidFill>
                <a:cs typeface="宋体"/>
              </a:rPr>
              <a:t>';</a:t>
            </a:r>
            <a:endParaRPr lang="en-US" altLang="zh-CN" sz="2000" dirty="0" smtClean="0">
              <a:solidFill>
                <a:srgbClr val="FF0000"/>
              </a:solidFill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lang="zh-CN" altLang="en-US" sz="2000" dirty="0">
                <a:cs typeface="宋体"/>
              </a:rPr>
              <a:t>可以直接通过变量名取得变量的值</a:t>
            </a:r>
            <a:r>
              <a:rPr lang="zh-CN" altLang="en-US" sz="2000" dirty="0" smtClean="0">
                <a:cs typeface="宋体"/>
              </a:rPr>
              <a:t>：</a:t>
            </a:r>
            <a:endParaRPr lang="en-US" altLang="zh-CN" sz="2000" dirty="0" smtClean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lang="en-US" sz="2000" dirty="0" err="1">
                <a:solidFill>
                  <a:srgbClr val="FF0000"/>
                </a:solidFill>
                <a:cs typeface="宋体"/>
              </a:rPr>
              <a:t>myVariable</a:t>
            </a:r>
            <a:r>
              <a:rPr lang="en-US" sz="2000" dirty="0" smtClean="0">
                <a:solidFill>
                  <a:srgbClr val="FF0000"/>
                </a:solidFill>
                <a:cs typeface="宋体"/>
              </a:rPr>
              <a:t>;</a:t>
            </a:r>
            <a:endParaRPr lang="en-US" sz="2000" dirty="0" smtClean="0">
              <a:solidFill>
                <a:srgbClr val="FF0000"/>
              </a:solidFill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lang="zh-CN" altLang="en-US" sz="2000" dirty="0">
                <a:cs typeface="宋体"/>
              </a:rPr>
              <a:t>变量在赋值后是可以更改的</a:t>
            </a:r>
            <a:r>
              <a:rPr lang="zh-CN" altLang="en-US" sz="2000" dirty="0" smtClean="0">
                <a:cs typeface="宋体"/>
              </a:rPr>
              <a:t>：</a:t>
            </a:r>
            <a:endParaRPr lang="en-US" altLang="zh-CN" sz="2000" dirty="0" smtClean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lang="en-US" sz="2000" dirty="0">
                <a:solidFill>
                  <a:srgbClr val="FF0000"/>
                </a:solidFill>
                <a:cs typeface="宋体"/>
              </a:rPr>
              <a:t>let </a:t>
            </a:r>
            <a:r>
              <a:rPr lang="en-US" sz="2000" dirty="0" err="1">
                <a:solidFill>
                  <a:srgbClr val="FF0000"/>
                </a:solidFill>
                <a:cs typeface="宋体"/>
              </a:rPr>
              <a:t>myVariable</a:t>
            </a:r>
            <a:r>
              <a:rPr lang="en-US" sz="2000" dirty="0">
                <a:solidFill>
                  <a:srgbClr val="FF0000"/>
                </a:solidFill>
                <a:cs typeface="宋体"/>
              </a:rPr>
              <a:t> = '</a:t>
            </a:r>
            <a:r>
              <a:rPr lang="zh-CN" altLang="en-US" sz="2000" dirty="0">
                <a:solidFill>
                  <a:srgbClr val="FF0000"/>
                </a:solidFill>
                <a:cs typeface="宋体"/>
              </a:rPr>
              <a:t>李雷</a:t>
            </a:r>
            <a:r>
              <a:rPr lang="en-US" altLang="zh-CN" sz="2000" dirty="0">
                <a:solidFill>
                  <a:srgbClr val="FF0000"/>
                </a:solidFill>
                <a:cs typeface="宋体"/>
              </a:rPr>
              <a:t>';</a:t>
            </a:r>
            <a:endParaRPr lang="en-US" altLang="zh-CN" sz="2000" dirty="0">
              <a:solidFill>
                <a:srgbClr val="FF0000"/>
              </a:solidFill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lang="en-US" sz="2000" dirty="0" err="1">
                <a:solidFill>
                  <a:srgbClr val="FF0000"/>
                </a:solidFill>
                <a:cs typeface="宋体"/>
              </a:rPr>
              <a:t>myVariable</a:t>
            </a:r>
            <a:r>
              <a:rPr lang="en-US" sz="2000" dirty="0">
                <a:solidFill>
                  <a:srgbClr val="FF0000"/>
                </a:solidFill>
                <a:cs typeface="宋体"/>
              </a:rPr>
              <a:t> = '</a:t>
            </a:r>
            <a:r>
              <a:rPr lang="zh-CN" altLang="en-US" sz="2000" dirty="0">
                <a:solidFill>
                  <a:srgbClr val="FF0000"/>
                </a:solidFill>
                <a:cs typeface="宋体"/>
              </a:rPr>
              <a:t>韩梅梅</a:t>
            </a:r>
            <a:r>
              <a:rPr lang="en-US" altLang="zh-CN" sz="2000" dirty="0" smtClean="0">
                <a:solidFill>
                  <a:srgbClr val="FF0000"/>
                </a:solidFill>
                <a:cs typeface="宋体"/>
              </a:rPr>
              <a:t>';</a:t>
            </a:r>
            <a:endParaRPr lang="en-US" altLang="zh-CN" sz="2000" dirty="0">
              <a:solidFill>
                <a:srgbClr val="FF0000"/>
              </a:solidFill>
              <a:cs typeface="宋体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591800" y="685800"/>
            <a:ext cx="16002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889" y="726644"/>
            <a:ext cx="38379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0" dirty="0" smtClean="0">
                <a:solidFill>
                  <a:srgbClr val="585858"/>
                </a:solidFill>
                <a:latin typeface="+mn-lt"/>
                <a:cs typeface="微软雅黑"/>
              </a:rPr>
              <a:t>变量的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+mn-lt"/>
                <a:cs typeface="微软雅黑"/>
              </a:rPr>
              <a:t>练习</a:t>
            </a:r>
            <a:endParaRPr sz="2800" b="1" spc="-40" dirty="0">
              <a:solidFill>
                <a:srgbClr val="585858"/>
              </a:solidFill>
              <a:latin typeface="+mn-lt"/>
              <a:cs typeface="微软雅黑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425430" y="685800"/>
            <a:ext cx="176657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6" name="object 8"/>
          <p:cNvSpPr txBox="1"/>
          <p:nvPr/>
        </p:nvSpPr>
        <p:spPr>
          <a:xfrm>
            <a:off x="927481" y="1524000"/>
            <a:ext cx="8828843" cy="36413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solidFill>
                  <a:srgbClr val="252525"/>
                </a:solidFill>
                <a:cs typeface="宋体"/>
              </a:rPr>
              <a:t>需求：</a:t>
            </a:r>
            <a:endParaRPr sz="2000" dirty="0">
              <a:cs typeface="宋体"/>
            </a:endParaRPr>
          </a:p>
          <a:p>
            <a:pPr marL="243840" indent="-23114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244475" algn="l"/>
              </a:tabLst>
            </a:pP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浏览器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中弹出对话框： 请输入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姓名</a:t>
            </a:r>
            <a:endParaRPr lang="en-US" altLang="zh-CN" sz="2000" spc="-30" dirty="0" smtClean="0">
              <a:solidFill>
                <a:srgbClr val="252525"/>
              </a:solidFill>
              <a:cs typeface="宋体"/>
            </a:endParaRPr>
          </a:p>
          <a:p>
            <a:pPr marL="243840" indent="-23114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244475" algn="l"/>
              </a:tabLst>
            </a:pPr>
            <a:r>
              <a:rPr lang="zh-CN" altLang="en-US" sz="2000" dirty="0">
                <a:cs typeface="宋体"/>
              </a:rPr>
              <a:t>页面中输出：刚才输入的姓名</a:t>
            </a:r>
            <a:endParaRPr lang="zh-CN" altLang="en-US"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244475" algn="l"/>
              </a:tabLst>
            </a:pPr>
            <a:r>
              <a:rPr lang="zh-CN" altLang="en-US" sz="2000" dirty="0">
                <a:cs typeface="宋体"/>
              </a:rPr>
              <a:t>分析：</a:t>
            </a:r>
            <a:endParaRPr lang="zh-CN" altLang="en-US"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244475" algn="l"/>
              </a:tabLst>
            </a:pPr>
            <a:r>
              <a:rPr lang="zh-CN" altLang="en-US" sz="2000" dirty="0">
                <a:cs typeface="宋体"/>
              </a:rPr>
              <a:t>①：输入：用户输入框： </a:t>
            </a:r>
            <a:r>
              <a:rPr lang="en-US" sz="2000" dirty="0">
                <a:cs typeface="宋体"/>
              </a:rPr>
              <a:t>prompt()</a:t>
            </a:r>
            <a:endParaRPr lang="en-US"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244475" algn="l"/>
              </a:tabLst>
            </a:pPr>
            <a:r>
              <a:rPr lang="en-US" sz="2000" dirty="0">
                <a:cs typeface="宋体"/>
              </a:rPr>
              <a:t>②：</a:t>
            </a:r>
            <a:r>
              <a:rPr lang="zh-CN" altLang="en-US" sz="2000" dirty="0">
                <a:cs typeface="宋体"/>
              </a:rPr>
              <a:t>内部处理：保存数据</a:t>
            </a:r>
            <a:endParaRPr lang="zh-CN" altLang="en-US"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244475" algn="l"/>
              </a:tabLst>
            </a:pPr>
            <a:r>
              <a:rPr lang="zh-CN" altLang="en-US" sz="2000" dirty="0">
                <a:cs typeface="宋体"/>
              </a:rPr>
              <a:t>③：输出： 页面打印 </a:t>
            </a:r>
            <a:r>
              <a:rPr lang="en-US" sz="2000" dirty="0" err="1">
                <a:cs typeface="宋体"/>
              </a:rPr>
              <a:t>document.write</a:t>
            </a:r>
            <a:r>
              <a:rPr lang="en-US" sz="2000" dirty="0">
                <a:cs typeface="宋体"/>
              </a:rPr>
              <a:t>()</a:t>
            </a:r>
            <a:endParaRPr lang="en-US" sz="2000" dirty="0">
              <a:cs typeface="宋体"/>
            </a:endParaRPr>
          </a:p>
          <a:p>
            <a:pPr marL="243840" indent="-23114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244475" algn="l"/>
              </a:tabLst>
            </a:pPr>
            <a:endParaRPr sz="2000" dirty="0">
              <a:cs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35724"/>
            <a:ext cx="46482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变量命名规则</a:t>
            </a:r>
            <a:r>
              <a:rPr sz="2800" b="1" spc="-35" dirty="0" err="1" smtClean="0">
                <a:solidFill>
                  <a:srgbClr val="585858"/>
                </a:solidFill>
                <a:latin typeface="+mn-lt"/>
                <a:cs typeface="微软雅黑"/>
              </a:rPr>
              <a:t>与</a:t>
            </a: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规范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348" y="1502277"/>
            <a:ext cx="9903461" cy="47596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30" dirty="0">
                <a:solidFill>
                  <a:srgbClr val="252525"/>
                </a:solidFill>
                <a:ea typeface="宋体" pitchFamily="2" charset="-122"/>
                <a:cs typeface="微软雅黑"/>
              </a:rPr>
              <a:t>规则：</a:t>
            </a:r>
            <a:r>
              <a:rPr sz="2000" spc="-30" dirty="0">
                <a:solidFill>
                  <a:srgbClr val="252525"/>
                </a:solidFill>
                <a:ea typeface="宋体" pitchFamily="2" charset="-122"/>
                <a:cs typeface="宋体"/>
              </a:rPr>
              <a:t>必须遵守，不遵守报错</a:t>
            </a:r>
            <a:endParaRPr sz="2000" dirty="0">
              <a:ea typeface="宋体" pitchFamily="2" charset="-122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000" b="1" spc="-30" dirty="0">
                <a:solidFill>
                  <a:srgbClr val="252525"/>
                </a:solidFill>
                <a:ea typeface="宋体" pitchFamily="2" charset="-122"/>
                <a:cs typeface="微软雅黑"/>
              </a:rPr>
              <a:t>规范：</a:t>
            </a:r>
            <a:r>
              <a:rPr sz="2000" spc="-30" dirty="0">
                <a:solidFill>
                  <a:srgbClr val="252525"/>
                </a:solidFill>
                <a:ea typeface="宋体" pitchFamily="2" charset="-122"/>
                <a:cs typeface="宋体"/>
              </a:rPr>
              <a:t>建议，不遵守不会报错，但不符合业内</a:t>
            </a:r>
            <a:r>
              <a:rPr sz="2000" spc="-20" dirty="0">
                <a:solidFill>
                  <a:srgbClr val="252525"/>
                </a:solidFill>
                <a:ea typeface="宋体" pitchFamily="2" charset="-122"/>
                <a:cs typeface="宋体"/>
              </a:rPr>
              <a:t>通</a:t>
            </a:r>
            <a:r>
              <a:rPr sz="2000" spc="-30" dirty="0">
                <a:solidFill>
                  <a:srgbClr val="252525"/>
                </a:solidFill>
                <a:ea typeface="宋体" pitchFamily="2" charset="-122"/>
                <a:cs typeface="宋体"/>
              </a:rPr>
              <a:t>识</a:t>
            </a:r>
            <a:endParaRPr sz="2000" dirty="0">
              <a:ea typeface="宋体" pitchFamily="2" charset="-122"/>
              <a:cs typeface="宋体"/>
            </a:endParaRPr>
          </a:p>
          <a:p>
            <a:pPr marL="251460" indent="-23876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252095" algn="l"/>
              </a:tabLst>
            </a:pPr>
            <a:r>
              <a:rPr sz="2000" b="1" spc="-30" dirty="0">
                <a:solidFill>
                  <a:srgbClr val="C00000"/>
                </a:solidFill>
                <a:ea typeface="宋体" pitchFamily="2" charset="-122"/>
                <a:cs typeface="微软雅黑"/>
              </a:rPr>
              <a:t>规则：</a:t>
            </a:r>
            <a:endParaRPr sz="2000" dirty="0">
              <a:ea typeface="宋体" pitchFamily="2" charset="-122"/>
              <a:cs typeface="微软雅黑"/>
            </a:endParaRPr>
          </a:p>
          <a:p>
            <a:pPr marL="659130" lvl="1" indent="-287020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-25" dirty="0">
                <a:ea typeface="宋体" pitchFamily="2" charset="-122"/>
                <a:cs typeface="宋体"/>
              </a:rPr>
              <a:t>不能用关键字</a:t>
            </a:r>
            <a:endParaRPr dirty="0">
              <a:ea typeface="宋体" pitchFamily="2" charset="-122"/>
              <a:cs typeface="宋体"/>
            </a:endParaRPr>
          </a:p>
          <a:p>
            <a:pPr marL="1018540" lvl="2" indent="-2863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"/>
              <a:tabLst>
                <a:tab pos="1018540" algn="l"/>
                <a:tab pos="1019175" algn="l"/>
              </a:tabLst>
            </a:pPr>
            <a:r>
              <a:rPr spc="5" dirty="0">
                <a:ea typeface="宋体" pitchFamily="2" charset="-122"/>
                <a:cs typeface="黑体"/>
              </a:rPr>
              <a:t>关</a:t>
            </a:r>
            <a:r>
              <a:rPr dirty="0">
                <a:ea typeface="宋体" pitchFamily="2" charset="-122"/>
                <a:cs typeface="黑体"/>
              </a:rPr>
              <a:t>键</a:t>
            </a:r>
            <a:r>
              <a:rPr spc="5" dirty="0">
                <a:ea typeface="宋体" pitchFamily="2" charset="-122"/>
                <a:cs typeface="黑体"/>
              </a:rPr>
              <a:t>字</a:t>
            </a:r>
            <a:r>
              <a:rPr spc="-15" dirty="0">
                <a:ea typeface="宋体" pitchFamily="2" charset="-122"/>
                <a:cs typeface="黑体"/>
              </a:rPr>
              <a:t>：</a:t>
            </a:r>
            <a:r>
              <a:rPr spc="5" dirty="0">
                <a:ea typeface="宋体" pitchFamily="2" charset="-122"/>
                <a:cs typeface="黑体"/>
              </a:rPr>
              <a:t>有</a:t>
            </a:r>
            <a:r>
              <a:rPr dirty="0">
                <a:ea typeface="宋体" pitchFamily="2" charset="-122"/>
                <a:cs typeface="黑体"/>
              </a:rPr>
              <a:t>特</a:t>
            </a:r>
            <a:r>
              <a:rPr spc="-10" dirty="0">
                <a:ea typeface="宋体" pitchFamily="2" charset="-122"/>
                <a:cs typeface="黑体"/>
              </a:rPr>
              <a:t>殊含</a:t>
            </a:r>
            <a:r>
              <a:rPr spc="5" dirty="0">
                <a:ea typeface="宋体" pitchFamily="2" charset="-122"/>
                <a:cs typeface="黑体"/>
              </a:rPr>
              <a:t>义</a:t>
            </a:r>
            <a:r>
              <a:rPr dirty="0">
                <a:ea typeface="宋体" pitchFamily="2" charset="-122"/>
                <a:cs typeface="黑体"/>
              </a:rPr>
              <a:t>的</a:t>
            </a:r>
            <a:r>
              <a:rPr spc="5" dirty="0">
                <a:ea typeface="宋体" pitchFamily="2" charset="-122"/>
                <a:cs typeface="黑体"/>
              </a:rPr>
              <a:t>字</a:t>
            </a:r>
            <a:r>
              <a:rPr spc="-15" dirty="0">
                <a:ea typeface="宋体" pitchFamily="2" charset="-122"/>
                <a:cs typeface="黑体"/>
              </a:rPr>
              <a:t>符</a:t>
            </a:r>
            <a:r>
              <a:rPr spc="-5" dirty="0">
                <a:ea typeface="宋体" pitchFamily="2" charset="-122"/>
                <a:cs typeface="黑体"/>
              </a:rPr>
              <a:t>，JavaScript</a:t>
            </a:r>
            <a:r>
              <a:rPr spc="-25" dirty="0">
                <a:ea typeface="宋体" pitchFamily="2" charset="-122"/>
                <a:cs typeface="黑体"/>
              </a:rPr>
              <a:t> </a:t>
            </a:r>
            <a:r>
              <a:rPr spc="5" dirty="0">
                <a:ea typeface="宋体" pitchFamily="2" charset="-122"/>
                <a:cs typeface="黑体"/>
              </a:rPr>
              <a:t>内</a:t>
            </a:r>
            <a:r>
              <a:rPr dirty="0">
                <a:ea typeface="宋体" pitchFamily="2" charset="-122"/>
                <a:cs typeface="黑体"/>
              </a:rPr>
              <a:t>置</a:t>
            </a:r>
            <a:r>
              <a:rPr spc="5" dirty="0">
                <a:ea typeface="宋体" pitchFamily="2" charset="-122"/>
                <a:cs typeface="黑体"/>
              </a:rPr>
              <a:t>的</a:t>
            </a:r>
            <a:r>
              <a:rPr dirty="0">
                <a:ea typeface="宋体" pitchFamily="2" charset="-122"/>
                <a:cs typeface="黑体"/>
              </a:rPr>
              <a:t>一</a:t>
            </a:r>
            <a:r>
              <a:rPr spc="-10" dirty="0">
                <a:ea typeface="宋体" pitchFamily="2" charset="-122"/>
                <a:cs typeface="黑体"/>
              </a:rPr>
              <a:t>些英</a:t>
            </a:r>
            <a:r>
              <a:rPr spc="5" dirty="0">
                <a:ea typeface="宋体" pitchFamily="2" charset="-122"/>
                <a:cs typeface="黑体"/>
              </a:rPr>
              <a:t>语</a:t>
            </a:r>
            <a:r>
              <a:rPr dirty="0">
                <a:ea typeface="宋体" pitchFamily="2" charset="-122"/>
                <a:cs typeface="黑体"/>
              </a:rPr>
              <a:t>词</a:t>
            </a:r>
            <a:r>
              <a:rPr spc="5" dirty="0">
                <a:ea typeface="宋体" pitchFamily="2" charset="-122"/>
                <a:cs typeface="黑体"/>
              </a:rPr>
              <a:t>汇</a:t>
            </a:r>
            <a:r>
              <a:rPr spc="-15" dirty="0">
                <a:ea typeface="宋体" pitchFamily="2" charset="-122"/>
                <a:cs typeface="黑体"/>
              </a:rPr>
              <a:t>。</a:t>
            </a:r>
            <a:r>
              <a:rPr spc="5" dirty="0">
                <a:ea typeface="宋体" pitchFamily="2" charset="-122"/>
                <a:cs typeface="黑体"/>
              </a:rPr>
              <a:t>例</a:t>
            </a:r>
            <a:r>
              <a:rPr spc="-5" dirty="0">
                <a:ea typeface="宋体" pitchFamily="2" charset="-122"/>
                <a:cs typeface="黑体"/>
              </a:rPr>
              <a:t>如：let</a:t>
            </a:r>
            <a:r>
              <a:rPr dirty="0">
                <a:ea typeface="宋体" pitchFamily="2" charset="-122"/>
                <a:cs typeface="黑体"/>
              </a:rPr>
              <a:t>、</a:t>
            </a:r>
            <a:r>
              <a:rPr spc="-5" dirty="0">
                <a:ea typeface="宋体" pitchFamily="2" charset="-122"/>
                <a:cs typeface="黑体"/>
              </a:rPr>
              <a:t>var</a:t>
            </a:r>
            <a:r>
              <a:rPr dirty="0">
                <a:ea typeface="宋体" pitchFamily="2" charset="-122"/>
                <a:cs typeface="黑体"/>
              </a:rPr>
              <a:t>、</a:t>
            </a:r>
            <a:r>
              <a:rPr spc="-10" dirty="0">
                <a:ea typeface="宋体" pitchFamily="2" charset="-122"/>
                <a:cs typeface="黑体"/>
              </a:rPr>
              <a:t>if</a:t>
            </a:r>
            <a:r>
              <a:rPr spc="5" dirty="0">
                <a:ea typeface="宋体" pitchFamily="2" charset="-122"/>
                <a:cs typeface="黑体"/>
              </a:rPr>
              <a:t>、</a:t>
            </a:r>
            <a:r>
              <a:rPr spc="-5" dirty="0">
                <a:ea typeface="宋体" pitchFamily="2" charset="-122"/>
                <a:cs typeface="黑体"/>
              </a:rPr>
              <a:t>for</a:t>
            </a:r>
            <a:r>
              <a:rPr spc="5" dirty="0">
                <a:ea typeface="宋体" pitchFamily="2" charset="-122"/>
                <a:cs typeface="黑体"/>
              </a:rPr>
              <a:t>等</a:t>
            </a:r>
            <a:endParaRPr dirty="0">
              <a:ea typeface="宋体" pitchFamily="2" charset="-122"/>
              <a:cs typeface="黑体"/>
            </a:endParaRPr>
          </a:p>
          <a:p>
            <a:pPr marL="659130" lvl="1" indent="-287020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-25" dirty="0">
                <a:ea typeface="宋体" pitchFamily="2" charset="-122"/>
                <a:cs typeface="宋体"/>
              </a:rPr>
              <a:t>只能用下划线、字</a:t>
            </a:r>
            <a:r>
              <a:rPr spc="-35" dirty="0">
                <a:ea typeface="宋体" pitchFamily="2" charset="-122"/>
                <a:cs typeface="宋体"/>
              </a:rPr>
              <a:t>母</a:t>
            </a:r>
            <a:r>
              <a:rPr spc="-25" dirty="0">
                <a:ea typeface="宋体" pitchFamily="2" charset="-122"/>
                <a:cs typeface="宋体"/>
              </a:rPr>
              <a:t>、</a:t>
            </a:r>
            <a:r>
              <a:rPr spc="-35" dirty="0">
                <a:ea typeface="宋体" pitchFamily="2" charset="-122"/>
                <a:cs typeface="宋体"/>
              </a:rPr>
              <a:t>数</a:t>
            </a:r>
            <a:r>
              <a:rPr spc="-25" dirty="0">
                <a:ea typeface="宋体" pitchFamily="2" charset="-122"/>
                <a:cs typeface="宋体"/>
              </a:rPr>
              <a:t>字</a:t>
            </a:r>
            <a:r>
              <a:rPr spc="-20" dirty="0">
                <a:ea typeface="宋体" pitchFamily="2" charset="-122"/>
                <a:cs typeface="宋体"/>
              </a:rPr>
              <a:t>、</a:t>
            </a:r>
            <a:r>
              <a:rPr spc="85" dirty="0">
                <a:solidFill>
                  <a:srgbClr val="FF0000"/>
                </a:solidFill>
                <a:ea typeface="宋体" pitchFamily="2" charset="-122"/>
                <a:cs typeface="宋体"/>
              </a:rPr>
              <a:t>$</a:t>
            </a:r>
            <a:r>
              <a:rPr spc="-20" dirty="0">
                <a:ea typeface="宋体" pitchFamily="2" charset="-122"/>
                <a:cs typeface="宋体"/>
              </a:rPr>
              <a:t>组</a:t>
            </a:r>
            <a:r>
              <a:rPr spc="-40" dirty="0">
                <a:ea typeface="宋体" pitchFamily="2" charset="-122"/>
                <a:cs typeface="宋体"/>
              </a:rPr>
              <a:t>成</a:t>
            </a:r>
            <a:r>
              <a:rPr spc="-20" dirty="0">
                <a:ea typeface="宋体" pitchFamily="2" charset="-122"/>
                <a:cs typeface="宋体"/>
              </a:rPr>
              <a:t>，且</a:t>
            </a:r>
            <a:r>
              <a:rPr spc="-40" dirty="0">
                <a:ea typeface="宋体" pitchFamily="2" charset="-122"/>
                <a:cs typeface="宋体"/>
              </a:rPr>
              <a:t>数</a:t>
            </a:r>
            <a:r>
              <a:rPr spc="-20" dirty="0">
                <a:ea typeface="宋体" pitchFamily="2" charset="-122"/>
                <a:cs typeface="宋体"/>
              </a:rPr>
              <a:t>字</a:t>
            </a:r>
            <a:r>
              <a:rPr spc="-40" dirty="0">
                <a:ea typeface="宋体" pitchFamily="2" charset="-122"/>
                <a:cs typeface="宋体"/>
              </a:rPr>
              <a:t>不</a:t>
            </a:r>
            <a:r>
              <a:rPr spc="-25" dirty="0">
                <a:ea typeface="宋体" pitchFamily="2" charset="-122"/>
                <a:cs typeface="宋体"/>
              </a:rPr>
              <a:t>能开头</a:t>
            </a:r>
            <a:endParaRPr dirty="0">
              <a:ea typeface="宋体" pitchFamily="2" charset="-122"/>
              <a:cs typeface="宋体"/>
            </a:endParaRPr>
          </a:p>
          <a:p>
            <a:pPr marL="659130" lvl="1" indent="-287020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-25" dirty="0">
                <a:ea typeface="宋体" pitchFamily="2" charset="-122"/>
                <a:cs typeface="宋体"/>
              </a:rPr>
              <a:t>字母严格</a:t>
            </a:r>
            <a:r>
              <a:rPr spc="-25" dirty="0">
                <a:solidFill>
                  <a:srgbClr val="C00000"/>
                </a:solidFill>
                <a:ea typeface="宋体" pitchFamily="2" charset="-122"/>
                <a:cs typeface="宋体"/>
              </a:rPr>
              <a:t>区分大小</a:t>
            </a:r>
            <a:r>
              <a:rPr spc="-35" dirty="0">
                <a:solidFill>
                  <a:srgbClr val="C00000"/>
                </a:solidFill>
                <a:ea typeface="宋体" pitchFamily="2" charset="-122"/>
                <a:cs typeface="宋体"/>
              </a:rPr>
              <a:t>写</a:t>
            </a:r>
            <a:r>
              <a:rPr spc="-25" dirty="0">
                <a:ea typeface="宋体" pitchFamily="2" charset="-122"/>
                <a:cs typeface="宋体"/>
              </a:rPr>
              <a:t>，</a:t>
            </a:r>
            <a:r>
              <a:rPr spc="-20" dirty="0">
                <a:ea typeface="宋体" pitchFamily="2" charset="-122"/>
                <a:cs typeface="宋体"/>
              </a:rPr>
              <a:t>如</a:t>
            </a:r>
            <a:r>
              <a:rPr spc="-360" dirty="0">
                <a:ea typeface="宋体" pitchFamily="2" charset="-122"/>
                <a:cs typeface="宋体"/>
              </a:rPr>
              <a:t> </a:t>
            </a:r>
            <a:r>
              <a:rPr spc="180" dirty="0">
                <a:ea typeface="宋体" pitchFamily="2" charset="-122"/>
                <a:cs typeface="宋体"/>
              </a:rPr>
              <a:t>Age</a:t>
            </a:r>
            <a:r>
              <a:rPr spc="-365" dirty="0">
                <a:ea typeface="宋体" pitchFamily="2" charset="-122"/>
                <a:cs typeface="宋体"/>
              </a:rPr>
              <a:t> </a:t>
            </a:r>
            <a:r>
              <a:rPr spc="325" dirty="0">
                <a:ea typeface="宋体" pitchFamily="2" charset="-122"/>
                <a:cs typeface="宋体"/>
              </a:rPr>
              <a:t>和</a:t>
            </a:r>
            <a:r>
              <a:rPr spc="150" dirty="0">
                <a:ea typeface="宋体" pitchFamily="2" charset="-122"/>
                <a:cs typeface="宋体"/>
              </a:rPr>
              <a:t>age</a:t>
            </a:r>
            <a:r>
              <a:rPr spc="-335" dirty="0">
                <a:ea typeface="宋体" pitchFamily="2" charset="-122"/>
                <a:cs typeface="宋体"/>
              </a:rPr>
              <a:t> </a:t>
            </a:r>
            <a:r>
              <a:rPr spc="-25" dirty="0">
                <a:ea typeface="宋体" pitchFamily="2" charset="-122"/>
                <a:cs typeface="宋体"/>
              </a:rPr>
              <a:t>是不同的变量</a:t>
            </a:r>
            <a:endParaRPr dirty="0">
              <a:ea typeface="宋体" pitchFamily="2" charset="-122"/>
              <a:cs typeface="宋体"/>
            </a:endParaRPr>
          </a:p>
          <a:p>
            <a:pPr marL="251460" indent="-238760">
              <a:lnSpc>
                <a:spcPct val="100000"/>
              </a:lnSpc>
              <a:spcBef>
                <a:spcPts val="1290"/>
              </a:spcBef>
              <a:buAutoNum type="arabicPeriod"/>
              <a:tabLst>
                <a:tab pos="252095" algn="l"/>
              </a:tabLst>
            </a:pPr>
            <a:r>
              <a:rPr sz="2000" b="1" spc="-30" dirty="0">
                <a:solidFill>
                  <a:srgbClr val="C00000"/>
                </a:solidFill>
                <a:ea typeface="宋体" pitchFamily="2" charset="-122"/>
                <a:cs typeface="微软雅黑"/>
              </a:rPr>
              <a:t>规范：</a:t>
            </a:r>
            <a:endParaRPr sz="2000" dirty="0">
              <a:ea typeface="宋体" pitchFamily="2" charset="-122"/>
              <a:cs typeface="微软雅黑"/>
            </a:endParaRPr>
          </a:p>
          <a:p>
            <a:pPr marL="659130" lvl="1" indent="-287020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-25" dirty="0">
                <a:ea typeface="宋体" pitchFamily="2" charset="-122"/>
                <a:cs typeface="宋体"/>
              </a:rPr>
              <a:t>起名要有意义</a:t>
            </a:r>
            <a:endParaRPr dirty="0">
              <a:ea typeface="宋体" pitchFamily="2" charset="-122"/>
              <a:cs typeface="宋体"/>
            </a:endParaRPr>
          </a:p>
          <a:p>
            <a:pPr marL="659130" lvl="1" indent="-287020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-25" dirty="0">
                <a:ea typeface="宋体" pitchFamily="2" charset="-122"/>
                <a:cs typeface="宋体"/>
              </a:rPr>
              <a:t>遵守小驼峰命名法</a:t>
            </a:r>
            <a:endParaRPr dirty="0">
              <a:ea typeface="宋体" pitchFamily="2" charset="-122"/>
              <a:cs typeface="宋体"/>
            </a:endParaRPr>
          </a:p>
          <a:p>
            <a:pPr marL="1018540" lvl="2" indent="-2863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"/>
              <a:tabLst>
                <a:tab pos="1018540" algn="l"/>
                <a:tab pos="1019175" algn="l"/>
              </a:tabLst>
            </a:pPr>
            <a:r>
              <a:rPr dirty="0">
                <a:ea typeface="宋体" pitchFamily="2" charset="-122"/>
                <a:cs typeface="黑体"/>
              </a:rPr>
              <a:t>第一个</a:t>
            </a:r>
            <a:r>
              <a:rPr spc="-15" dirty="0">
                <a:ea typeface="宋体" pitchFamily="2" charset="-122"/>
                <a:cs typeface="黑体"/>
              </a:rPr>
              <a:t>单</a:t>
            </a:r>
            <a:r>
              <a:rPr dirty="0">
                <a:ea typeface="宋体" pitchFamily="2" charset="-122"/>
                <a:cs typeface="黑体"/>
              </a:rPr>
              <a:t>词首</a:t>
            </a:r>
            <a:r>
              <a:rPr spc="-15" dirty="0">
                <a:ea typeface="宋体" pitchFamily="2" charset="-122"/>
                <a:cs typeface="黑体"/>
              </a:rPr>
              <a:t>字母</a:t>
            </a:r>
            <a:r>
              <a:rPr dirty="0">
                <a:ea typeface="宋体" pitchFamily="2" charset="-122"/>
                <a:cs typeface="黑体"/>
              </a:rPr>
              <a:t>小写，</a:t>
            </a:r>
            <a:r>
              <a:rPr spc="-15" dirty="0">
                <a:ea typeface="宋体" pitchFamily="2" charset="-122"/>
                <a:cs typeface="黑体"/>
              </a:rPr>
              <a:t>后</a:t>
            </a:r>
            <a:r>
              <a:rPr dirty="0">
                <a:ea typeface="宋体" pitchFamily="2" charset="-122"/>
                <a:cs typeface="黑体"/>
              </a:rPr>
              <a:t>面每</a:t>
            </a:r>
            <a:r>
              <a:rPr spc="-15" dirty="0">
                <a:ea typeface="宋体" pitchFamily="2" charset="-122"/>
                <a:cs typeface="黑体"/>
              </a:rPr>
              <a:t>个单</a:t>
            </a:r>
            <a:r>
              <a:rPr dirty="0">
                <a:ea typeface="宋体" pitchFamily="2" charset="-122"/>
                <a:cs typeface="黑体"/>
              </a:rPr>
              <a:t>词首字</a:t>
            </a:r>
            <a:r>
              <a:rPr spc="-15" dirty="0">
                <a:ea typeface="宋体" pitchFamily="2" charset="-122"/>
                <a:cs typeface="黑体"/>
              </a:rPr>
              <a:t>母</a:t>
            </a:r>
            <a:r>
              <a:rPr dirty="0">
                <a:ea typeface="宋体" pitchFamily="2" charset="-122"/>
                <a:cs typeface="黑体"/>
              </a:rPr>
              <a:t>大写</a:t>
            </a:r>
            <a:r>
              <a:rPr spc="-15" dirty="0">
                <a:ea typeface="宋体" pitchFamily="2" charset="-122"/>
                <a:cs typeface="黑体"/>
              </a:rPr>
              <a:t>。例</a:t>
            </a:r>
            <a:r>
              <a:rPr spc="-5" dirty="0">
                <a:ea typeface="宋体" pitchFamily="2" charset="-122"/>
                <a:cs typeface="黑体"/>
              </a:rPr>
              <a:t>：userName</a:t>
            </a:r>
            <a:endParaRPr dirty="0">
              <a:ea typeface="宋体" pitchFamily="2" charset="-122"/>
              <a:cs typeface="黑体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425430" y="685800"/>
            <a:ext cx="176657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35724"/>
            <a:ext cx="46482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变量命名规则</a:t>
            </a:r>
            <a:r>
              <a:rPr sz="2800" b="1" spc="-35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与</a:t>
            </a: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规范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348" y="1502277"/>
            <a:ext cx="990346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000" b="1" spc="-30" dirty="0" smtClean="0">
                <a:solidFill>
                  <a:srgbClr val="252525"/>
                </a:solidFill>
                <a:latin typeface="宋体" pitchFamily="2" charset="-122"/>
                <a:ea typeface="宋体" pitchFamily="2" charset="-122"/>
                <a:cs typeface="微软雅黑"/>
              </a:rPr>
              <a:t>以下哪些是合法的变量名？</a:t>
            </a:r>
            <a:endParaRPr sz="2000" dirty="0">
              <a:latin typeface="宋体" pitchFamily="2" charset="-122"/>
              <a:ea typeface="宋体" pitchFamily="2" charset="-122"/>
              <a:cs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382885" y="685800"/>
            <a:ext cx="180911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7" name="object 5"/>
          <p:cNvSpPr/>
          <p:nvPr/>
        </p:nvSpPr>
        <p:spPr>
          <a:xfrm>
            <a:off x="809348" y="2142957"/>
            <a:ext cx="8922076" cy="389267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889" y="726644"/>
            <a:ext cx="38379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0" dirty="0" smtClean="0">
                <a:solidFill>
                  <a:srgbClr val="585858"/>
                </a:solidFill>
                <a:latin typeface="微软雅黑"/>
                <a:cs typeface="微软雅黑"/>
              </a:rPr>
              <a:t>变量的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微软雅黑"/>
                <a:cs typeface="微软雅黑"/>
              </a:rPr>
              <a:t>练习</a:t>
            </a:r>
            <a:endParaRPr sz="2800" b="1" spc="-40" dirty="0">
              <a:solidFill>
                <a:srgbClr val="585858"/>
              </a:solidFill>
              <a:latin typeface="微软雅黑"/>
              <a:cs typeface="微软雅黑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444480" y="685800"/>
            <a:ext cx="174752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6" name="object 8"/>
          <p:cNvSpPr txBox="1"/>
          <p:nvPr/>
        </p:nvSpPr>
        <p:spPr>
          <a:xfrm>
            <a:off x="891921" y="1337017"/>
            <a:ext cx="8828843" cy="2846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zh-CN" altLang="en-US" sz="2000" b="1" spc="-30" dirty="0">
                <a:solidFill>
                  <a:srgbClr val="FF0000"/>
                </a:solidFill>
                <a:cs typeface="宋体"/>
              </a:rPr>
              <a:t>需求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：让用户输入自己的名字、年龄、性别，再输出到网页 </a:t>
            </a:r>
            <a:endParaRPr lang="en-US" altLang="zh-CN" sz="2000" spc="-30" dirty="0" smtClean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分析：</a:t>
            </a:r>
            <a:endParaRPr lang="en-US" altLang="zh-CN" sz="2000" spc="-30" dirty="0" smtClean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弹出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输入框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（</a:t>
            </a:r>
            <a:r>
              <a:rPr lang="en-US" altLang="zh-CN" sz="2000" spc="-30" dirty="0">
                <a:solidFill>
                  <a:srgbClr val="252525"/>
                </a:solidFill>
                <a:cs typeface="宋体"/>
              </a:rPr>
              <a:t>prompt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）： 请输入您的姓名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：输入用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变量保存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起来；</a:t>
            </a:r>
            <a:endParaRPr lang="zh-CN" altLang="en-US" sz="2000" spc="-30" dirty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弹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出输入框（</a:t>
            </a:r>
            <a:r>
              <a:rPr lang="en-US" altLang="zh-CN" sz="2000" spc="-30" dirty="0">
                <a:solidFill>
                  <a:srgbClr val="252525"/>
                </a:solidFill>
                <a:cs typeface="宋体"/>
              </a:rPr>
              <a:t>prompt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） ： 请输入您的年龄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：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输入用变量保存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起来；</a:t>
            </a:r>
            <a:endParaRPr lang="zh-CN" altLang="en-US" sz="2000" spc="-30" dirty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弹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出输入框（</a:t>
            </a:r>
            <a:r>
              <a:rPr lang="en-US" altLang="zh-CN" sz="2000" spc="-30" dirty="0">
                <a:solidFill>
                  <a:srgbClr val="252525"/>
                </a:solidFill>
                <a:cs typeface="宋体"/>
              </a:rPr>
              <a:t>prompt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） ： 请输入您的性别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：</a:t>
            </a: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输入用变量保存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起来；</a:t>
            </a:r>
            <a:endParaRPr lang="zh-CN" altLang="en-US" sz="2000" spc="-30" dirty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zh-CN" altLang="en-US" sz="2000" spc="-30" dirty="0">
                <a:solidFill>
                  <a:srgbClr val="252525"/>
                </a:solidFill>
                <a:cs typeface="宋体"/>
              </a:rPr>
              <a:t>页面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分别输出</a:t>
            </a:r>
            <a:r>
              <a:rPr lang="en-US" altLang="zh-CN" sz="2000" spc="-30" dirty="0" smtClean="0">
                <a:solidFill>
                  <a:srgbClr val="252525"/>
                </a:solidFill>
                <a:cs typeface="宋体"/>
              </a:rPr>
              <a:t>(</a:t>
            </a:r>
            <a:r>
              <a:rPr lang="en-US" altLang="zh-CN" sz="2000" spc="-30" dirty="0" err="1">
                <a:solidFill>
                  <a:srgbClr val="252525"/>
                </a:solidFill>
                <a:cs typeface="宋体"/>
              </a:rPr>
              <a:t>document.write</a:t>
            </a:r>
            <a:r>
              <a:rPr lang="en-US" altLang="zh-CN" sz="2000" spc="-30" dirty="0" smtClean="0">
                <a:solidFill>
                  <a:srgbClr val="252525"/>
                </a:solidFill>
                <a:cs typeface="宋体"/>
              </a:rPr>
              <a:t>)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刚才的</a:t>
            </a:r>
            <a:r>
              <a:rPr lang="en-US" altLang="zh-CN" sz="2000" spc="-30" dirty="0" smtClean="0">
                <a:solidFill>
                  <a:srgbClr val="252525"/>
                </a:solidFill>
                <a:cs typeface="宋体"/>
              </a:rPr>
              <a:t>3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个变量。</a:t>
            </a:r>
            <a:endParaRPr lang="zh-CN" altLang="en-US" sz="2000" spc="-30" dirty="0">
              <a:solidFill>
                <a:srgbClr val="252525"/>
              </a:solidFill>
              <a:cs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2175" y="4194810"/>
            <a:ext cx="9227185" cy="255333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80CBC4"/>
                </a:solidFill>
              </a:rPr>
              <a:t>&lt;</a:t>
            </a:r>
            <a:r>
              <a:rPr lang="en-US" altLang="zh-CN" sz="2000" dirty="0">
                <a:solidFill>
                  <a:srgbClr val="FF5370"/>
                </a:solidFill>
              </a:rPr>
              <a:t>body</a:t>
            </a:r>
            <a:r>
              <a:rPr lang="en-US" altLang="zh-CN" sz="2000" dirty="0">
                <a:solidFill>
                  <a:srgbClr val="80CBC4"/>
                </a:solidFill>
              </a:rPr>
              <a:t>&gt;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CDD3DE"/>
                </a:solidFill>
              </a:rPr>
              <a:t>    </a:t>
            </a:r>
            <a:r>
              <a:rPr lang="en-US" altLang="zh-CN" sz="2000" dirty="0">
                <a:solidFill>
                  <a:srgbClr val="80CBC4"/>
                </a:solidFill>
              </a:rPr>
              <a:t>&lt;</a:t>
            </a:r>
            <a:r>
              <a:rPr lang="en-US" altLang="zh-CN" sz="2000" dirty="0">
                <a:solidFill>
                  <a:srgbClr val="FF5370"/>
                </a:solidFill>
              </a:rPr>
              <a:t>script</a:t>
            </a:r>
            <a:r>
              <a:rPr lang="en-US" altLang="zh-CN" sz="2000" dirty="0">
                <a:solidFill>
                  <a:srgbClr val="80CBC4"/>
                </a:solidFill>
              </a:rPr>
              <a:t>&gt;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80CBC4"/>
                </a:solidFill>
              </a:rPr>
              <a:t>      </a:t>
            </a:r>
            <a:r>
              <a:rPr lang="en-US" altLang="zh-CN" sz="2000" dirty="0">
                <a:solidFill>
                  <a:srgbClr val="C792EA"/>
                </a:solidFill>
              </a:rPr>
              <a:t>let</a:t>
            </a:r>
            <a:r>
              <a:rPr lang="en-US" altLang="zh-CN" sz="2000" dirty="0">
                <a:solidFill>
                  <a:srgbClr val="80CBC4"/>
                </a:solidFill>
              </a:rPr>
              <a:t> </a:t>
            </a:r>
            <a:r>
              <a:rPr lang="en-US" altLang="zh-CN" sz="2000" dirty="0">
                <a:solidFill>
                  <a:srgbClr val="FF5370"/>
                </a:solidFill>
              </a:rPr>
              <a:t>name</a:t>
            </a:r>
            <a:r>
              <a:rPr lang="en-US" altLang="zh-CN" sz="2000" dirty="0">
                <a:solidFill>
                  <a:srgbClr val="1290BF"/>
                </a:solidFill>
              </a:rPr>
              <a:t> </a:t>
            </a:r>
            <a:r>
              <a:rPr lang="en-US" altLang="zh-CN" sz="2000" dirty="0">
                <a:solidFill>
                  <a:srgbClr val="80CBC4"/>
                </a:solidFill>
              </a:rPr>
              <a:t>= </a:t>
            </a:r>
            <a:r>
              <a:rPr lang="en-US" altLang="zh-CN" sz="2000" dirty="0">
                <a:solidFill>
                  <a:srgbClr val="89DDFF"/>
                </a:solidFill>
              </a:rPr>
              <a:t>prompt</a:t>
            </a:r>
            <a:r>
              <a:rPr lang="en-US" altLang="zh-CN" sz="2000" dirty="0">
                <a:solidFill>
                  <a:srgbClr val="80CBC4"/>
                </a:solidFill>
              </a:rPr>
              <a:t>(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zh-CN" altLang="en-US" sz="2000" dirty="0">
                <a:solidFill>
                  <a:srgbClr val="C3E88D"/>
                </a:solidFill>
              </a:rPr>
              <a:t>请输入您的姓名：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80CBC4"/>
                </a:solidFill>
              </a:rPr>
              <a:t>)</a:t>
            </a:r>
            <a:endParaRPr lang="zh-CN" altLang="en-US" sz="2000" dirty="0">
              <a:solidFill>
                <a:srgbClr val="CBCCC6"/>
              </a:solidFill>
            </a:endParaRPr>
          </a:p>
          <a:p>
            <a:r>
              <a:rPr lang="zh-CN" altLang="en-US" sz="2000" dirty="0">
                <a:solidFill>
                  <a:srgbClr val="80CBC4"/>
                </a:solidFill>
              </a:rPr>
              <a:t>      </a:t>
            </a:r>
            <a:r>
              <a:rPr lang="en-US" altLang="zh-CN" sz="2000" dirty="0">
                <a:solidFill>
                  <a:srgbClr val="C792EA"/>
                </a:solidFill>
              </a:rPr>
              <a:t>let</a:t>
            </a:r>
            <a:r>
              <a:rPr lang="en-US" altLang="zh-CN" sz="2000" dirty="0">
                <a:solidFill>
                  <a:srgbClr val="80CBC4"/>
                </a:solidFill>
              </a:rPr>
              <a:t> </a:t>
            </a:r>
            <a:r>
              <a:rPr lang="en-US" altLang="zh-CN" sz="2000" dirty="0">
                <a:solidFill>
                  <a:srgbClr val="FF5370"/>
                </a:solidFill>
              </a:rPr>
              <a:t>age</a:t>
            </a:r>
            <a:r>
              <a:rPr lang="en-US" altLang="zh-CN" sz="2000" dirty="0">
                <a:solidFill>
                  <a:srgbClr val="1290BF"/>
                </a:solidFill>
              </a:rPr>
              <a:t> </a:t>
            </a:r>
            <a:r>
              <a:rPr lang="en-US" altLang="zh-CN" sz="2000" dirty="0">
                <a:solidFill>
                  <a:srgbClr val="80CBC4"/>
                </a:solidFill>
              </a:rPr>
              <a:t>= </a:t>
            </a:r>
            <a:r>
              <a:rPr lang="en-US" altLang="zh-CN" sz="2000" dirty="0">
                <a:solidFill>
                  <a:srgbClr val="89DDFF"/>
                </a:solidFill>
              </a:rPr>
              <a:t>prompt</a:t>
            </a:r>
            <a:r>
              <a:rPr lang="en-US" altLang="zh-CN" sz="2000" dirty="0">
                <a:solidFill>
                  <a:srgbClr val="80CBC4"/>
                </a:solidFill>
              </a:rPr>
              <a:t>(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zh-CN" altLang="en-US" sz="2000" dirty="0">
                <a:solidFill>
                  <a:srgbClr val="C3E88D"/>
                </a:solidFill>
              </a:rPr>
              <a:t>请输入您的年龄：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80CBC4"/>
                </a:solidFill>
              </a:rPr>
              <a:t>)</a:t>
            </a:r>
            <a:endParaRPr lang="zh-CN" altLang="en-US" sz="2000" dirty="0">
              <a:solidFill>
                <a:srgbClr val="CBCCC6"/>
              </a:solidFill>
            </a:endParaRPr>
          </a:p>
          <a:p>
            <a:r>
              <a:rPr lang="zh-CN" altLang="en-US" sz="2000" dirty="0">
                <a:solidFill>
                  <a:srgbClr val="80CBC4"/>
                </a:solidFill>
              </a:rPr>
              <a:t>      </a:t>
            </a:r>
            <a:r>
              <a:rPr lang="en-US" altLang="zh-CN" sz="2000" dirty="0">
                <a:solidFill>
                  <a:srgbClr val="C792EA"/>
                </a:solidFill>
              </a:rPr>
              <a:t>let</a:t>
            </a:r>
            <a:r>
              <a:rPr lang="en-US" altLang="zh-CN" sz="2000" dirty="0">
                <a:solidFill>
                  <a:srgbClr val="80CBC4"/>
                </a:solidFill>
              </a:rPr>
              <a:t> </a:t>
            </a:r>
            <a:r>
              <a:rPr lang="en-US" altLang="zh-CN" sz="2000" dirty="0">
                <a:solidFill>
                  <a:srgbClr val="FF5370"/>
                </a:solidFill>
              </a:rPr>
              <a:t>gender</a:t>
            </a:r>
            <a:r>
              <a:rPr lang="en-US" altLang="zh-CN" sz="2000" dirty="0">
                <a:solidFill>
                  <a:srgbClr val="1290BF"/>
                </a:solidFill>
              </a:rPr>
              <a:t> </a:t>
            </a:r>
            <a:r>
              <a:rPr lang="en-US" altLang="zh-CN" sz="2000" dirty="0">
                <a:solidFill>
                  <a:srgbClr val="80CBC4"/>
                </a:solidFill>
              </a:rPr>
              <a:t>= </a:t>
            </a:r>
            <a:r>
              <a:rPr lang="en-US" altLang="zh-CN" sz="2000" dirty="0">
                <a:solidFill>
                  <a:srgbClr val="89DDFF"/>
                </a:solidFill>
              </a:rPr>
              <a:t>prompt</a:t>
            </a:r>
            <a:r>
              <a:rPr lang="en-US" altLang="zh-CN" sz="2000" dirty="0">
                <a:solidFill>
                  <a:srgbClr val="80CBC4"/>
                </a:solidFill>
              </a:rPr>
              <a:t>(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zh-CN" altLang="en-US" sz="2000" dirty="0">
                <a:solidFill>
                  <a:srgbClr val="C3E88D"/>
                </a:solidFill>
              </a:rPr>
              <a:t>请输入您的性别：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80CBC4"/>
                </a:solidFill>
              </a:rPr>
              <a:t>)</a:t>
            </a:r>
            <a:endParaRPr lang="zh-CN" altLang="en-US" sz="2000" dirty="0">
              <a:solidFill>
                <a:srgbClr val="CBCCC6"/>
              </a:solidFill>
            </a:endParaRPr>
          </a:p>
          <a:p>
            <a:r>
              <a:rPr lang="zh-CN" altLang="en-US" sz="2000" dirty="0">
                <a:solidFill>
                  <a:srgbClr val="80CBC4"/>
                </a:solidFill>
              </a:rPr>
              <a:t>      </a:t>
            </a:r>
            <a:r>
              <a:rPr lang="en-US" altLang="zh-CN" sz="2000" dirty="0" err="1">
                <a:solidFill>
                  <a:srgbClr val="FF5370"/>
                </a:solidFill>
              </a:rPr>
              <a:t>document</a:t>
            </a:r>
            <a:r>
              <a:rPr lang="en-US" altLang="zh-CN" sz="2000" dirty="0" err="1">
                <a:solidFill>
                  <a:srgbClr val="89DDFF"/>
                </a:solidFill>
              </a:rPr>
              <a:t>.write</a:t>
            </a:r>
            <a:r>
              <a:rPr lang="en-US" altLang="zh-CN" sz="2000" dirty="0">
                <a:solidFill>
                  <a:srgbClr val="80CBC4"/>
                </a:solidFill>
              </a:rPr>
              <a:t>(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zh-CN" altLang="en-US" sz="2000" dirty="0">
                <a:solidFill>
                  <a:srgbClr val="C3E88D"/>
                </a:solidFill>
              </a:rPr>
              <a:t>姓名：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zh-CN" altLang="en-US" sz="2000" dirty="0">
                <a:solidFill>
                  <a:srgbClr val="80CBC4"/>
                </a:solidFill>
              </a:rPr>
              <a:t> </a:t>
            </a:r>
            <a:r>
              <a:rPr lang="en-US" altLang="zh-CN" sz="2000" dirty="0">
                <a:solidFill>
                  <a:srgbClr val="80CBC4"/>
                </a:solidFill>
              </a:rPr>
              <a:t>+ </a:t>
            </a:r>
            <a:r>
              <a:rPr lang="en-US" altLang="zh-CN" sz="2000" dirty="0">
                <a:solidFill>
                  <a:srgbClr val="FF5370"/>
                </a:solidFill>
              </a:rPr>
              <a:t>name</a:t>
            </a:r>
            <a:r>
              <a:rPr lang="en-US" altLang="zh-CN" sz="2000" dirty="0">
                <a:solidFill>
                  <a:srgbClr val="80CBC4"/>
                </a:solidFill>
              </a:rPr>
              <a:t> + 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C3E88D"/>
                </a:solidFill>
              </a:rPr>
              <a:t>, </a:t>
            </a:r>
            <a:r>
              <a:rPr lang="zh-CN" altLang="en-US" sz="2000" dirty="0">
                <a:solidFill>
                  <a:srgbClr val="C3E88D"/>
                </a:solidFill>
              </a:rPr>
              <a:t>年龄：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zh-CN" altLang="en-US" sz="2000" dirty="0">
                <a:solidFill>
                  <a:srgbClr val="80CBC4"/>
                </a:solidFill>
              </a:rPr>
              <a:t> </a:t>
            </a:r>
            <a:r>
              <a:rPr lang="en-US" altLang="zh-CN" sz="2000" dirty="0">
                <a:solidFill>
                  <a:srgbClr val="80CBC4"/>
                </a:solidFill>
              </a:rPr>
              <a:t>+ </a:t>
            </a:r>
            <a:r>
              <a:rPr lang="en-US" altLang="zh-CN" sz="2000" dirty="0">
                <a:solidFill>
                  <a:srgbClr val="FF5370"/>
                </a:solidFill>
              </a:rPr>
              <a:t>age</a:t>
            </a:r>
            <a:r>
              <a:rPr lang="en-US" altLang="zh-CN" sz="2000" dirty="0">
                <a:solidFill>
                  <a:srgbClr val="80CBC4"/>
                </a:solidFill>
              </a:rPr>
              <a:t> + 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C3E88D"/>
                </a:solidFill>
              </a:rPr>
              <a:t>, </a:t>
            </a:r>
            <a:r>
              <a:rPr lang="zh-CN" altLang="en-US" sz="2000" dirty="0">
                <a:solidFill>
                  <a:srgbClr val="C3E88D"/>
                </a:solidFill>
              </a:rPr>
              <a:t>性别：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zh-CN" altLang="en-US" sz="2000" dirty="0">
                <a:solidFill>
                  <a:srgbClr val="80CBC4"/>
                </a:solidFill>
              </a:rPr>
              <a:t> </a:t>
            </a:r>
            <a:r>
              <a:rPr lang="en-US" altLang="zh-CN" sz="2000" dirty="0">
                <a:solidFill>
                  <a:srgbClr val="80CBC4"/>
                </a:solidFill>
              </a:rPr>
              <a:t>+ </a:t>
            </a:r>
            <a:r>
              <a:rPr lang="en-US" altLang="zh-CN" sz="2000" dirty="0">
                <a:solidFill>
                  <a:srgbClr val="FF5370"/>
                </a:solidFill>
              </a:rPr>
              <a:t>gender</a:t>
            </a:r>
            <a:r>
              <a:rPr lang="en-US" altLang="zh-CN" sz="2000" dirty="0">
                <a:solidFill>
                  <a:srgbClr val="80CBC4"/>
                </a:solidFill>
              </a:rPr>
              <a:t>)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80CBC4"/>
                </a:solidFill>
              </a:rPr>
              <a:t>    </a:t>
            </a:r>
            <a:r>
              <a:rPr lang="en-US" altLang="zh-CN" sz="2000" dirty="0">
                <a:solidFill>
                  <a:srgbClr val="CDD3DE"/>
                </a:solidFill>
              </a:rPr>
              <a:t>&lt;</a:t>
            </a:r>
            <a:r>
              <a:rPr lang="en-US" altLang="zh-CN" sz="2000" dirty="0">
                <a:solidFill>
                  <a:srgbClr val="80CBC4"/>
                </a:solidFill>
              </a:rPr>
              <a:t>/</a:t>
            </a:r>
            <a:r>
              <a:rPr lang="en-US" altLang="zh-CN" sz="2000" dirty="0">
                <a:solidFill>
                  <a:srgbClr val="FF5370"/>
                </a:solidFill>
              </a:rPr>
              <a:t>script</a:t>
            </a:r>
            <a:r>
              <a:rPr lang="en-US" altLang="zh-CN" sz="2000" dirty="0">
                <a:solidFill>
                  <a:srgbClr val="80CBC4"/>
                </a:solidFill>
              </a:rPr>
              <a:t>&gt;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CDD3DE"/>
                </a:solidFill>
              </a:rPr>
              <a:t>  </a:t>
            </a:r>
            <a:r>
              <a:rPr lang="en-US" altLang="zh-CN" sz="2000" dirty="0">
                <a:solidFill>
                  <a:srgbClr val="80CBC4"/>
                </a:solidFill>
              </a:rPr>
              <a:t>&lt;/</a:t>
            </a:r>
            <a:r>
              <a:rPr lang="en-US" altLang="zh-CN" sz="2000" dirty="0">
                <a:solidFill>
                  <a:srgbClr val="FF5370"/>
                </a:solidFill>
              </a:rPr>
              <a:t>body</a:t>
            </a:r>
            <a:r>
              <a:rPr lang="en-US" altLang="zh-CN" sz="2000" dirty="0">
                <a:solidFill>
                  <a:srgbClr val="80CBC4"/>
                </a:solidFill>
              </a:rPr>
              <a:t>&gt;</a:t>
            </a:r>
            <a:endParaRPr lang="en-US" altLang="zh-CN" sz="2000" b="0" dirty="0">
              <a:solidFill>
                <a:srgbClr val="CBCCC6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06110" y="1289430"/>
            <a:ext cx="6147690" cy="754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΢"/>
              <a:buAutoNum type="arabicPeriod"/>
              <a:tabLst>
                <a:tab pos="340360" algn="l"/>
              </a:tabLst>
            </a:pPr>
            <a:r>
              <a:rPr sz="1800" spc="-30" dirty="0">
                <a:latin typeface="宋体"/>
                <a:cs typeface="宋体"/>
              </a:rPr>
              <a:t>为什么需要变量？</a:t>
            </a:r>
            <a:endParaRPr sz="1800" dirty="0">
              <a:latin typeface="宋体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660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lang="zh-CN" altLang="en-US" sz="1600" spc="-30" dirty="0" smtClean="0">
                <a:latin typeface="宋体"/>
                <a:cs typeface="宋体"/>
              </a:rPr>
              <a:t>变量无处不在，</a:t>
            </a:r>
            <a:r>
              <a:rPr sz="1600" spc="-30" dirty="0" err="1" smtClean="0">
                <a:latin typeface="宋体"/>
                <a:cs typeface="宋体"/>
              </a:rPr>
              <a:t>因为我们一些数据需要保存</a:t>
            </a:r>
            <a:r>
              <a:rPr sz="1600" spc="-30" dirty="0" err="1">
                <a:latin typeface="宋体"/>
                <a:cs typeface="宋体"/>
              </a:rPr>
              <a:t>，所以需要变量</a:t>
            </a:r>
            <a:endParaRPr sz="16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6110" y="2307158"/>
            <a:ext cx="5464810" cy="1118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΢"/>
              <a:buAutoNum type="arabicPeriod" startAt="2"/>
              <a:tabLst>
                <a:tab pos="340360" algn="l"/>
              </a:tabLst>
            </a:pPr>
            <a:r>
              <a:rPr sz="1800" spc="-30" dirty="0">
                <a:latin typeface="宋体"/>
                <a:cs typeface="宋体"/>
              </a:rPr>
              <a:t>变量是什么？</a:t>
            </a:r>
            <a:endParaRPr sz="1800">
              <a:latin typeface="宋体"/>
              <a:cs typeface="宋体"/>
            </a:endParaRPr>
          </a:p>
          <a:p>
            <a:pPr marL="658495" marR="5080" lvl="1" indent="-286385">
              <a:lnSpc>
                <a:spcPct val="150000"/>
              </a:lnSpc>
              <a:spcBef>
                <a:spcPts val="705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latin typeface="宋体"/>
                <a:cs typeface="宋体"/>
              </a:rPr>
              <a:t>变量就是一个容器，用来存放数据的。方便我</a:t>
            </a:r>
            <a:r>
              <a:rPr sz="1600" spc="-20" dirty="0">
                <a:latin typeface="宋体"/>
                <a:cs typeface="宋体"/>
              </a:rPr>
              <a:t>们</a:t>
            </a:r>
            <a:r>
              <a:rPr sz="1600" spc="-30" dirty="0">
                <a:latin typeface="宋体"/>
                <a:cs typeface="宋体"/>
              </a:rPr>
              <a:t>以后使 用里面的数据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6110" y="3691890"/>
            <a:ext cx="4465320" cy="754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΢"/>
              <a:buAutoNum type="arabicPeriod" startAt="3"/>
              <a:tabLst>
                <a:tab pos="340360" algn="l"/>
              </a:tabLst>
            </a:pPr>
            <a:r>
              <a:rPr sz="1800" spc="-30" dirty="0">
                <a:latin typeface="宋体"/>
                <a:cs typeface="宋体"/>
              </a:rPr>
              <a:t>变量的本质是什么</a:t>
            </a:r>
            <a:r>
              <a:rPr sz="1800" spc="-125" dirty="0">
                <a:latin typeface="宋体"/>
                <a:cs typeface="宋体"/>
              </a:rPr>
              <a:t>?</a:t>
            </a:r>
            <a:endParaRPr sz="1800">
              <a:latin typeface="宋体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665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latin typeface="宋体"/>
                <a:cs typeface="宋体"/>
              </a:rPr>
              <a:t>变量是内存里的一块空间，用来存储数据。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6110" y="4709921"/>
            <a:ext cx="5065395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indent="-26797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΢"/>
              <a:buAutoNum type="arabicPeriod" startAt="4"/>
              <a:tabLst>
                <a:tab pos="281305" algn="l"/>
              </a:tabLst>
            </a:pPr>
            <a:r>
              <a:rPr sz="1800" spc="-30" dirty="0">
                <a:latin typeface="宋体"/>
                <a:cs typeface="宋体"/>
              </a:rPr>
              <a:t>变量怎么使用的？</a:t>
            </a:r>
            <a:endParaRPr sz="1800">
              <a:latin typeface="宋体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665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latin typeface="宋体"/>
                <a:cs typeface="宋体"/>
              </a:rPr>
              <a:t>我们使用变量的时候，一定要声明变量，然后</a:t>
            </a:r>
            <a:r>
              <a:rPr sz="1600" spc="-20" dirty="0">
                <a:latin typeface="宋体"/>
                <a:cs typeface="宋体"/>
              </a:rPr>
              <a:t>赋</a:t>
            </a:r>
            <a:r>
              <a:rPr sz="1600" spc="-30" dirty="0">
                <a:latin typeface="宋体"/>
                <a:cs typeface="宋体"/>
              </a:rPr>
              <a:t>值</a:t>
            </a:r>
            <a:endParaRPr sz="1600">
              <a:latin typeface="宋体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345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latin typeface="宋体"/>
                <a:cs typeface="宋体"/>
              </a:rPr>
              <a:t>声明变量本质是去内存申请空间。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3028" y="716088"/>
            <a:ext cx="149917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>
                <a:solidFill>
                  <a:srgbClr val="585858"/>
                </a:solidFill>
                <a:latin typeface="微软雅黑"/>
                <a:cs typeface="微软雅黑"/>
              </a:rPr>
              <a:t>小结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11" name="object 2"/>
          <p:cNvSpPr/>
          <p:nvPr/>
        </p:nvSpPr>
        <p:spPr>
          <a:xfrm>
            <a:off x="1194816" y="4376928"/>
            <a:ext cx="588645" cy="588645"/>
          </a:xfrm>
          <a:custGeom>
            <a:avLst/>
            <a:gdLst/>
            <a:ahLst/>
            <a:cxnLst/>
            <a:rect l="l" t="t" r="r" b="b"/>
            <a:pathLst>
              <a:path w="588644" h="588645">
                <a:moveTo>
                  <a:pt x="0" y="294132"/>
                </a:moveTo>
                <a:lnTo>
                  <a:pt x="3850" y="246425"/>
                </a:lnTo>
                <a:lnTo>
                  <a:pt x="14996" y="201168"/>
                </a:lnTo>
                <a:lnTo>
                  <a:pt x="32832" y="158966"/>
                </a:lnTo>
                <a:lnTo>
                  <a:pt x="56753" y="120426"/>
                </a:lnTo>
                <a:lnTo>
                  <a:pt x="86153" y="86153"/>
                </a:lnTo>
                <a:lnTo>
                  <a:pt x="120426" y="56753"/>
                </a:lnTo>
                <a:lnTo>
                  <a:pt x="158966" y="32832"/>
                </a:lnTo>
                <a:lnTo>
                  <a:pt x="201168" y="14996"/>
                </a:lnTo>
                <a:lnTo>
                  <a:pt x="246425" y="3850"/>
                </a:lnTo>
                <a:lnTo>
                  <a:pt x="294131" y="0"/>
                </a:lnTo>
                <a:lnTo>
                  <a:pt x="341838" y="3850"/>
                </a:lnTo>
                <a:lnTo>
                  <a:pt x="387096" y="14996"/>
                </a:lnTo>
                <a:lnTo>
                  <a:pt x="429297" y="32832"/>
                </a:lnTo>
                <a:lnTo>
                  <a:pt x="467837" y="56753"/>
                </a:lnTo>
                <a:lnTo>
                  <a:pt x="502110" y="86153"/>
                </a:lnTo>
                <a:lnTo>
                  <a:pt x="531510" y="120426"/>
                </a:lnTo>
                <a:lnTo>
                  <a:pt x="555431" y="158966"/>
                </a:lnTo>
                <a:lnTo>
                  <a:pt x="573267" y="201168"/>
                </a:lnTo>
                <a:lnTo>
                  <a:pt x="584413" y="246425"/>
                </a:lnTo>
                <a:lnTo>
                  <a:pt x="588264" y="294132"/>
                </a:lnTo>
                <a:lnTo>
                  <a:pt x="584413" y="341838"/>
                </a:lnTo>
                <a:lnTo>
                  <a:pt x="573267" y="387096"/>
                </a:lnTo>
                <a:lnTo>
                  <a:pt x="555431" y="429297"/>
                </a:lnTo>
                <a:lnTo>
                  <a:pt x="531510" y="467837"/>
                </a:lnTo>
                <a:lnTo>
                  <a:pt x="502110" y="502110"/>
                </a:lnTo>
                <a:lnTo>
                  <a:pt x="467837" y="531510"/>
                </a:lnTo>
                <a:lnTo>
                  <a:pt x="429297" y="555431"/>
                </a:lnTo>
                <a:lnTo>
                  <a:pt x="387095" y="573267"/>
                </a:lnTo>
                <a:lnTo>
                  <a:pt x="341838" y="584413"/>
                </a:lnTo>
                <a:lnTo>
                  <a:pt x="294131" y="588264"/>
                </a:lnTo>
                <a:lnTo>
                  <a:pt x="246425" y="584413"/>
                </a:lnTo>
                <a:lnTo>
                  <a:pt x="201168" y="573267"/>
                </a:lnTo>
                <a:lnTo>
                  <a:pt x="158966" y="555431"/>
                </a:lnTo>
                <a:lnTo>
                  <a:pt x="120426" y="531510"/>
                </a:lnTo>
                <a:lnTo>
                  <a:pt x="86153" y="502110"/>
                </a:lnTo>
                <a:lnTo>
                  <a:pt x="56753" y="467837"/>
                </a:lnTo>
                <a:lnTo>
                  <a:pt x="32832" y="429297"/>
                </a:lnTo>
                <a:lnTo>
                  <a:pt x="14996" y="387096"/>
                </a:lnTo>
                <a:lnTo>
                  <a:pt x="3850" y="341838"/>
                </a:lnTo>
                <a:lnTo>
                  <a:pt x="0" y="294132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3"/>
          <p:cNvSpPr/>
          <p:nvPr/>
        </p:nvSpPr>
        <p:spPr>
          <a:xfrm>
            <a:off x="2808732" y="3784091"/>
            <a:ext cx="927100" cy="927100"/>
          </a:xfrm>
          <a:custGeom>
            <a:avLst/>
            <a:gdLst/>
            <a:ahLst/>
            <a:cxnLst/>
            <a:rect l="l" t="t" r="r" b="b"/>
            <a:pathLst>
              <a:path w="927100" h="927100">
                <a:moveTo>
                  <a:pt x="463295" y="0"/>
                </a:moveTo>
                <a:lnTo>
                  <a:pt x="415921" y="2391"/>
                </a:lnTo>
                <a:lnTo>
                  <a:pt x="369916" y="9411"/>
                </a:lnTo>
                <a:lnTo>
                  <a:pt x="325513" y="20825"/>
                </a:lnTo>
                <a:lnTo>
                  <a:pt x="282946" y="36403"/>
                </a:lnTo>
                <a:lnTo>
                  <a:pt x="242446" y="55910"/>
                </a:lnTo>
                <a:lnTo>
                  <a:pt x="204247" y="79114"/>
                </a:lnTo>
                <a:lnTo>
                  <a:pt x="168582" y="105783"/>
                </a:lnTo>
                <a:lnTo>
                  <a:pt x="135683" y="135683"/>
                </a:lnTo>
                <a:lnTo>
                  <a:pt x="105783" y="168582"/>
                </a:lnTo>
                <a:lnTo>
                  <a:pt x="79114" y="204247"/>
                </a:lnTo>
                <a:lnTo>
                  <a:pt x="55910" y="242446"/>
                </a:lnTo>
                <a:lnTo>
                  <a:pt x="36403" y="282946"/>
                </a:lnTo>
                <a:lnTo>
                  <a:pt x="20825" y="325513"/>
                </a:lnTo>
                <a:lnTo>
                  <a:pt x="9411" y="369916"/>
                </a:lnTo>
                <a:lnTo>
                  <a:pt x="2391" y="415921"/>
                </a:lnTo>
                <a:lnTo>
                  <a:pt x="0" y="463295"/>
                </a:lnTo>
                <a:lnTo>
                  <a:pt x="2391" y="510670"/>
                </a:lnTo>
                <a:lnTo>
                  <a:pt x="9411" y="556675"/>
                </a:lnTo>
                <a:lnTo>
                  <a:pt x="20825" y="601078"/>
                </a:lnTo>
                <a:lnTo>
                  <a:pt x="36403" y="643645"/>
                </a:lnTo>
                <a:lnTo>
                  <a:pt x="55910" y="684145"/>
                </a:lnTo>
                <a:lnTo>
                  <a:pt x="79114" y="722344"/>
                </a:lnTo>
                <a:lnTo>
                  <a:pt x="105783" y="758009"/>
                </a:lnTo>
                <a:lnTo>
                  <a:pt x="135683" y="790908"/>
                </a:lnTo>
                <a:lnTo>
                  <a:pt x="168582" y="820808"/>
                </a:lnTo>
                <a:lnTo>
                  <a:pt x="204247" y="847477"/>
                </a:lnTo>
                <a:lnTo>
                  <a:pt x="242446" y="870681"/>
                </a:lnTo>
                <a:lnTo>
                  <a:pt x="282946" y="890188"/>
                </a:lnTo>
                <a:lnTo>
                  <a:pt x="325513" y="905766"/>
                </a:lnTo>
                <a:lnTo>
                  <a:pt x="369916" y="917180"/>
                </a:lnTo>
                <a:lnTo>
                  <a:pt x="415921" y="924200"/>
                </a:lnTo>
                <a:lnTo>
                  <a:pt x="463295" y="926591"/>
                </a:lnTo>
                <a:lnTo>
                  <a:pt x="510670" y="924200"/>
                </a:lnTo>
                <a:lnTo>
                  <a:pt x="556675" y="917180"/>
                </a:lnTo>
                <a:lnTo>
                  <a:pt x="601078" y="905766"/>
                </a:lnTo>
                <a:lnTo>
                  <a:pt x="643645" y="890188"/>
                </a:lnTo>
                <a:lnTo>
                  <a:pt x="684145" y="870681"/>
                </a:lnTo>
                <a:lnTo>
                  <a:pt x="722344" y="847477"/>
                </a:lnTo>
                <a:lnTo>
                  <a:pt x="758009" y="820808"/>
                </a:lnTo>
                <a:lnTo>
                  <a:pt x="790908" y="790908"/>
                </a:lnTo>
                <a:lnTo>
                  <a:pt x="820808" y="758009"/>
                </a:lnTo>
                <a:lnTo>
                  <a:pt x="847477" y="722344"/>
                </a:lnTo>
                <a:lnTo>
                  <a:pt x="870681" y="684145"/>
                </a:lnTo>
                <a:lnTo>
                  <a:pt x="890188" y="643645"/>
                </a:lnTo>
                <a:lnTo>
                  <a:pt x="905766" y="601078"/>
                </a:lnTo>
                <a:lnTo>
                  <a:pt x="917180" y="556675"/>
                </a:lnTo>
                <a:lnTo>
                  <a:pt x="924200" y="510670"/>
                </a:lnTo>
                <a:lnTo>
                  <a:pt x="926592" y="463295"/>
                </a:lnTo>
                <a:lnTo>
                  <a:pt x="924200" y="415921"/>
                </a:lnTo>
                <a:lnTo>
                  <a:pt x="917180" y="369916"/>
                </a:lnTo>
                <a:lnTo>
                  <a:pt x="905766" y="325513"/>
                </a:lnTo>
                <a:lnTo>
                  <a:pt x="890188" y="282946"/>
                </a:lnTo>
                <a:lnTo>
                  <a:pt x="870681" y="242446"/>
                </a:lnTo>
                <a:lnTo>
                  <a:pt x="847477" y="204247"/>
                </a:lnTo>
                <a:lnTo>
                  <a:pt x="820808" y="168582"/>
                </a:lnTo>
                <a:lnTo>
                  <a:pt x="790908" y="135683"/>
                </a:lnTo>
                <a:lnTo>
                  <a:pt x="758009" y="105783"/>
                </a:lnTo>
                <a:lnTo>
                  <a:pt x="722344" y="79114"/>
                </a:lnTo>
                <a:lnTo>
                  <a:pt x="684145" y="55910"/>
                </a:lnTo>
                <a:lnTo>
                  <a:pt x="643645" y="36403"/>
                </a:lnTo>
                <a:lnTo>
                  <a:pt x="601078" y="20825"/>
                </a:lnTo>
                <a:lnTo>
                  <a:pt x="556675" y="9411"/>
                </a:lnTo>
                <a:lnTo>
                  <a:pt x="510670" y="2391"/>
                </a:lnTo>
                <a:lnTo>
                  <a:pt x="463295" y="0"/>
                </a:lnTo>
                <a:close/>
              </a:path>
            </a:pathLst>
          </a:custGeom>
          <a:solidFill>
            <a:schemeClr val="accent6">
              <a:alpha val="63136"/>
            </a:scheme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/>
          <p:nvPr/>
        </p:nvSpPr>
        <p:spPr>
          <a:xfrm>
            <a:off x="2708148" y="2377439"/>
            <a:ext cx="1590040" cy="1591310"/>
          </a:xfrm>
          <a:custGeom>
            <a:avLst/>
            <a:gdLst/>
            <a:ahLst/>
            <a:cxnLst/>
            <a:rect l="l" t="t" r="r" b="b"/>
            <a:pathLst>
              <a:path w="1590039" h="1591310">
                <a:moveTo>
                  <a:pt x="0" y="795527"/>
                </a:moveTo>
                <a:lnTo>
                  <a:pt x="1450" y="747060"/>
                </a:lnTo>
                <a:lnTo>
                  <a:pt x="5746" y="699361"/>
                </a:lnTo>
                <a:lnTo>
                  <a:pt x="12805" y="652514"/>
                </a:lnTo>
                <a:lnTo>
                  <a:pt x="22543" y="606602"/>
                </a:lnTo>
                <a:lnTo>
                  <a:pt x="34878" y="561709"/>
                </a:lnTo>
                <a:lnTo>
                  <a:pt x="49725" y="517917"/>
                </a:lnTo>
                <a:lnTo>
                  <a:pt x="67002" y="475310"/>
                </a:lnTo>
                <a:lnTo>
                  <a:pt x="86626" y="433970"/>
                </a:lnTo>
                <a:lnTo>
                  <a:pt x="108514" y="393982"/>
                </a:lnTo>
                <a:lnTo>
                  <a:pt x="132582" y="355427"/>
                </a:lnTo>
                <a:lnTo>
                  <a:pt x="158747" y="318390"/>
                </a:lnTo>
                <a:lnTo>
                  <a:pt x="186927" y="282953"/>
                </a:lnTo>
                <a:lnTo>
                  <a:pt x="217037" y="249200"/>
                </a:lnTo>
                <a:lnTo>
                  <a:pt x="248995" y="217214"/>
                </a:lnTo>
                <a:lnTo>
                  <a:pt x="282718" y="187077"/>
                </a:lnTo>
                <a:lnTo>
                  <a:pt x="318123" y="158874"/>
                </a:lnTo>
                <a:lnTo>
                  <a:pt x="355125" y="132687"/>
                </a:lnTo>
                <a:lnTo>
                  <a:pt x="393643" y="108599"/>
                </a:lnTo>
                <a:lnTo>
                  <a:pt x="433593" y="86693"/>
                </a:lnTo>
                <a:lnTo>
                  <a:pt x="474892" y="67053"/>
                </a:lnTo>
                <a:lnTo>
                  <a:pt x="517456" y="49763"/>
                </a:lnTo>
                <a:lnTo>
                  <a:pt x="561203" y="34904"/>
                </a:lnTo>
                <a:lnTo>
                  <a:pt x="606049" y="22560"/>
                </a:lnTo>
                <a:lnTo>
                  <a:pt x="651912" y="12814"/>
                </a:lnTo>
                <a:lnTo>
                  <a:pt x="698708" y="5750"/>
                </a:lnTo>
                <a:lnTo>
                  <a:pt x="746353" y="1451"/>
                </a:lnTo>
                <a:lnTo>
                  <a:pt x="794765" y="0"/>
                </a:lnTo>
                <a:lnTo>
                  <a:pt x="843178" y="1451"/>
                </a:lnTo>
                <a:lnTo>
                  <a:pt x="890823" y="5750"/>
                </a:lnTo>
                <a:lnTo>
                  <a:pt x="937619" y="12814"/>
                </a:lnTo>
                <a:lnTo>
                  <a:pt x="983482" y="22560"/>
                </a:lnTo>
                <a:lnTo>
                  <a:pt x="1028328" y="34904"/>
                </a:lnTo>
                <a:lnTo>
                  <a:pt x="1072075" y="49763"/>
                </a:lnTo>
                <a:lnTo>
                  <a:pt x="1114639" y="67053"/>
                </a:lnTo>
                <a:lnTo>
                  <a:pt x="1155938" y="86693"/>
                </a:lnTo>
                <a:lnTo>
                  <a:pt x="1195888" y="108599"/>
                </a:lnTo>
                <a:lnTo>
                  <a:pt x="1234406" y="132687"/>
                </a:lnTo>
                <a:lnTo>
                  <a:pt x="1271408" y="158874"/>
                </a:lnTo>
                <a:lnTo>
                  <a:pt x="1306813" y="187077"/>
                </a:lnTo>
                <a:lnTo>
                  <a:pt x="1340536" y="217214"/>
                </a:lnTo>
                <a:lnTo>
                  <a:pt x="1372494" y="249200"/>
                </a:lnTo>
                <a:lnTo>
                  <a:pt x="1402604" y="282953"/>
                </a:lnTo>
                <a:lnTo>
                  <a:pt x="1430784" y="318390"/>
                </a:lnTo>
                <a:lnTo>
                  <a:pt x="1456949" y="355427"/>
                </a:lnTo>
                <a:lnTo>
                  <a:pt x="1481017" y="393982"/>
                </a:lnTo>
                <a:lnTo>
                  <a:pt x="1502905" y="433970"/>
                </a:lnTo>
                <a:lnTo>
                  <a:pt x="1522529" y="475310"/>
                </a:lnTo>
                <a:lnTo>
                  <a:pt x="1539806" y="517917"/>
                </a:lnTo>
                <a:lnTo>
                  <a:pt x="1554653" y="561709"/>
                </a:lnTo>
                <a:lnTo>
                  <a:pt x="1566988" y="606602"/>
                </a:lnTo>
                <a:lnTo>
                  <a:pt x="1576726" y="652514"/>
                </a:lnTo>
                <a:lnTo>
                  <a:pt x="1583785" y="699361"/>
                </a:lnTo>
                <a:lnTo>
                  <a:pt x="1588081" y="747060"/>
                </a:lnTo>
                <a:lnTo>
                  <a:pt x="1589531" y="795527"/>
                </a:lnTo>
                <a:lnTo>
                  <a:pt x="1588081" y="843995"/>
                </a:lnTo>
                <a:lnTo>
                  <a:pt x="1583785" y="891694"/>
                </a:lnTo>
                <a:lnTo>
                  <a:pt x="1576726" y="938541"/>
                </a:lnTo>
                <a:lnTo>
                  <a:pt x="1566988" y="984453"/>
                </a:lnTo>
                <a:lnTo>
                  <a:pt x="1554653" y="1029346"/>
                </a:lnTo>
                <a:lnTo>
                  <a:pt x="1539806" y="1073138"/>
                </a:lnTo>
                <a:lnTo>
                  <a:pt x="1522529" y="1115745"/>
                </a:lnTo>
                <a:lnTo>
                  <a:pt x="1502905" y="1157085"/>
                </a:lnTo>
                <a:lnTo>
                  <a:pt x="1481017" y="1197073"/>
                </a:lnTo>
                <a:lnTo>
                  <a:pt x="1456949" y="1235628"/>
                </a:lnTo>
                <a:lnTo>
                  <a:pt x="1430784" y="1272665"/>
                </a:lnTo>
                <a:lnTo>
                  <a:pt x="1402604" y="1308102"/>
                </a:lnTo>
                <a:lnTo>
                  <a:pt x="1372494" y="1341855"/>
                </a:lnTo>
                <a:lnTo>
                  <a:pt x="1340536" y="1373841"/>
                </a:lnTo>
                <a:lnTo>
                  <a:pt x="1306813" y="1403978"/>
                </a:lnTo>
                <a:lnTo>
                  <a:pt x="1271408" y="1432181"/>
                </a:lnTo>
                <a:lnTo>
                  <a:pt x="1234406" y="1458368"/>
                </a:lnTo>
                <a:lnTo>
                  <a:pt x="1195888" y="1482456"/>
                </a:lnTo>
                <a:lnTo>
                  <a:pt x="1155938" y="1504362"/>
                </a:lnTo>
                <a:lnTo>
                  <a:pt x="1114639" y="1524002"/>
                </a:lnTo>
                <a:lnTo>
                  <a:pt x="1072075" y="1541292"/>
                </a:lnTo>
                <a:lnTo>
                  <a:pt x="1028328" y="1556151"/>
                </a:lnTo>
                <a:lnTo>
                  <a:pt x="983482" y="1568495"/>
                </a:lnTo>
                <a:lnTo>
                  <a:pt x="937619" y="1578241"/>
                </a:lnTo>
                <a:lnTo>
                  <a:pt x="890823" y="1585305"/>
                </a:lnTo>
                <a:lnTo>
                  <a:pt x="843178" y="1589604"/>
                </a:lnTo>
                <a:lnTo>
                  <a:pt x="794765" y="1591056"/>
                </a:lnTo>
                <a:lnTo>
                  <a:pt x="746353" y="1589604"/>
                </a:lnTo>
                <a:lnTo>
                  <a:pt x="698708" y="1585305"/>
                </a:lnTo>
                <a:lnTo>
                  <a:pt x="651912" y="1578241"/>
                </a:lnTo>
                <a:lnTo>
                  <a:pt x="606049" y="1568495"/>
                </a:lnTo>
                <a:lnTo>
                  <a:pt x="561203" y="1556151"/>
                </a:lnTo>
                <a:lnTo>
                  <a:pt x="517456" y="1541292"/>
                </a:lnTo>
                <a:lnTo>
                  <a:pt x="474892" y="1524002"/>
                </a:lnTo>
                <a:lnTo>
                  <a:pt x="433593" y="1504362"/>
                </a:lnTo>
                <a:lnTo>
                  <a:pt x="393643" y="1482456"/>
                </a:lnTo>
                <a:lnTo>
                  <a:pt x="355125" y="1458368"/>
                </a:lnTo>
                <a:lnTo>
                  <a:pt x="318123" y="1432181"/>
                </a:lnTo>
                <a:lnTo>
                  <a:pt x="282718" y="1403978"/>
                </a:lnTo>
                <a:lnTo>
                  <a:pt x="248995" y="1373841"/>
                </a:lnTo>
                <a:lnTo>
                  <a:pt x="217037" y="1341855"/>
                </a:lnTo>
                <a:lnTo>
                  <a:pt x="186927" y="1308102"/>
                </a:lnTo>
                <a:lnTo>
                  <a:pt x="158747" y="1272665"/>
                </a:lnTo>
                <a:lnTo>
                  <a:pt x="132582" y="1235628"/>
                </a:lnTo>
                <a:lnTo>
                  <a:pt x="108514" y="1197073"/>
                </a:lnTo>
                <a:lnTo>
                  <a:pt x="86626" y="1157085"/>
                </a:lnTo>
                <a:lnTo>
                  <a:pt x="67002" y="1115745"/>
                </a:lnTo>
                <a:lnTo>
                  <a:pt x="49725" y="1073138"/>
                </a:lnTo>
                <a:lnTo>
                  <a:pt x="34878" y="1029346"/>
                </a:lnTo>
                <a:lnTo>
                  <a:pt x="22543" y="984453"/>
                </a:lnTo>
                <a:lnTo>
                  <a:pt x="12805" y="938541"/>
                </a:lnTo>
                <a:lnTo>
                  <a:pt x="5746" y="891694"/>
                </a:lnTo>
                <a:lnTo>
                  <a:pt x="1450" y="843995"/>
                </a:lnTo>
                <a:lnTo>
                  <a:pt x="0" y="795527"/>
                </a:lnTo>
                <a:close/>
              </a:path>
            </a:pathLst>
          </a:custGeom>
          <a:ln w="12192">
            <a:solidFill>
              <a:srgbClr val="51515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5"/>
          <p:cNvSpPr/>
          <p:nvPr/>
        </p:nvSpPr>
        <p:spPr>
          <a:xfrm>
            <a:off x="1489710" y="2554985"/>
            <a:ext cx="1925320" cy="1896110"/>
          </a:xfrm>
          <a:custGeom>
            <a:avLst/>
            <a:gdLst/>
            <a:ahLst/>
            <a:cxnLst/>
            <a:rect l="l" t="t" r="r" b="b"/>
            <a:pathLst>
              <a:path w="1925320" h="1896110">
                <a:moveTo>
                  <a:pt x="962406" y="0"/>
                </a:moveTo>
                <a:lnTo>
                  <a:pt x="914374" y="1160"/>
                </a:lnTo>
                <a:lnTo>
                  <a:pt x="866952" y="4604"/>
                </a:lnTo>
                <a:lnTo>
                  <a:pt x="820194" y="10278"/>
                </a:lnTo>
                <a:lnTo>
                  <a:pt x="774156" y="18128"/>
                </a:lnTo>
                <a:lnTo>
                  <a:pt x="728893" y="28099"/>
                </a:lnTo>
                <a:lnTo>
                  <a:pt x="684460" y="40136"/>
                </a:lnTo>
                <a:lnTo>
                  <a:pt x="640912" y="54187"/>
                </a:lnTo>
                <a:lnTo>
                  <a:pt x="598304" y="70195"/>
                </a:lnTo>
                <a:lnTo>
                  <a:pt x="556691" y="88108"/>
                </a:lnTo>
                <a:lnTo>
                  <a:pt x="516129" y="107869"/>
                </a:lnTo>
                <a:lnTo>
                  <a:pt x="476673" y="129427"/>
                </a:lnTo>
                <a:lnTo>
                  <a:pt x="438377" y="152725"/>
                </a:lnTo>
                <a:lnTo>
                  <a:pt x="401298" y="177709"/>
                </a:lnTo>
                <a:lnTo>
                  <a:pt x="365490" y="204326"/>
                </a:lnTo>
                <a:lnTo>
                  <a:pt x="331007" y="232521"/>
                </a:lnTo>
                <a:lnTo>
                  <a:pt x="297907" y="262240"/>
                </a:lnTo>
                <a:lnTo>
                  <a:pt x="266243" y="293427"/>
                </a:lnTo>
                <a:lnTo>
                  <a:pt x="236071" y="326030"/>
                </a:lnTo>
                <a:lnTo>
                  <a:pt x="207445" y="359994"/>
                </a:lnTo>
                <a:lnTo>
                  <a:pt x="180422" y="395263"/>
                </a:lnTo>
                <a:lnTo>
                  <a:pt x="155056" y="431785"/>
                </a:lnTo>
                <a:lnTo>
                  <a:pt x="131402" y="469504"/>
                </a:lnTo>
                <a:lnTo>
                  <a:pt x="109516" y="508367"/>
                </a:lnTo>
                <a:lnTo>
                  <a:pt x="89452" y="548319"/>
                </a:lnTo>
                <a:lnTo>
                  <a:pt x="71267" y="589305"/>
                </a:lnTo>
                <a:lnTo>
                  <a:pt x="55014" y="631272"/>
                </a:lnTo>
                <a:lnTo>
                  <a:pt x="40749" y="674165"/>
                </a:lnTo>
                <a:lnTo>
                  <a:pt x="28528" y="717930"/>
                </a:lnTo>
                <a:lnTo>
                  <a:pt x="18405" y="762512"/>
                </a:lnTo>
                <a:lnTo>
                  <a:pt x="10435" y="807857"/>
                </a:lnTo>
                <a:lnTo>
                  <a:pt x="4674" y="853911"/>
                </a:lnTo>
                <a:lnTo>
                  <a:pt x="1177" y="900619"/>
                </a:lnTo>
                <a:lnTo>
                  <a:pt x="0" y="947927"/>
                </a:lnTo>
                <a:lnTo>
                  <a:pt x="1177" y="995236"/>
                </a:lnTo>
                <a:lnTo>
                  <a:pt x="4674" y="1041944"/>
                </a:lnTo>
                <a:lnTo>
                  <a:pt x="10435" y="1087998"/>
                </a:lnTo>
                <a:lnTo>
                  <a:pt x="18405" y="1133343"/>
                </a:lnTo>
                <a:lnTo>
                  <a:pt x="28528" y="1177925"/>
                </a:lnTo>
                <a:lnTo>
                  <a:pt x="40749" y="1221690"/>
                </a:lnTo>
                <a:lnTo>
                  <a:pt x="55014" y="1264583"/>
                </a:lnTo>
                <a:lnTo>
                  <a:pt x="71267" y="1306550"/>
                </a:lnTo>
                <a:lnTo>
                  <a:pt x="89452" y="1347536"/>
                </a:lnTo>
                <a:lnTo>
                  <a:pt x="109516" y="1387488"/>
                </a:lnTo>
                <a:lnTo>
                  <a:pt x="131402" y="1426351"/>
                </a:lnTo>
                <a:lnTo>
                  <a:pt x="155056" y="1464070"/>
                </a:lnTo>
                <a:lnTo>
                  <a:pt x="180422" y="1500592"/>
                </a:lnTo>
                <a:lnTo>
                  <a:pt x="207445" y="1535861"/>
                </a:lnTo>
                <a:lnTo>
                  <a:pt x="236071" y="1569825"/>
                </a:lnTo>
                <a:lnTo>
                  <a:pt x="266243" y="1602428"/>
                </a:lnTo>
                <a:lnTo>
                  <a:pt x="297907" y="1633615"/>
                </a:lnTo>
                <a:lnTo>
                  <a:pt x="331007" y="1663334"/>
                </a:lnTo>
                <a:lnTo>
                  <a:pt x="365490" y="1691529"/>
                </a:lnTo>
                <a:lnTo>
                  <a:pt x="401298" y="1718146"/>
                </a:lnTo>
                <a:lnTo>
                  <a:pt x="438377" y="1743130"/>
                </a:lnTo>
                <a:lnTo>
                  <a:pt x="476673" y="1766428"/>
                </a:lnTo>
                <a:lnTo>
                  <a:pt x="516129" y="1787986"/>
                </a:lnTo>
                <a:lnTo>
                  <a:pt x="556691" y="1807747"/>
                </a:lnTo>
                <a:lnTo>
                  <a:pt x="598304" y="1825660"/>
                </a:lnTo>
                <a:lnTo>
                  <a:pt x="640912" y="1841668"/>
                </a:lnTo>
                <a:lnTo>
                  <a:pt x="684460" y="1855719"/>
                </a:lnTo>
                <a:lnTo>
                  <a:pt x="728893" y="1867756"/>
                </a:lnTo>
                <a:lnTo>
                  <a:pt x="774156" y="1877727"/>
                </a:lnTo>
                <a:lnTo>
                  <a:pt x="820194" y="1885577"/>
                </a:lnTo>
                <a:lnTo>
                  <a:pt x="866952" y="1891251"/>
                </a:lnTo>
                <a:lnTo>
                  <a:pt x="914374" y="1894695"/>
                </a:lnTo>
                <a:lnTo>
                  <a:pt x="962406" y="1895856"/>
                </a:lnTo>
                <a:lnTo>
                  <a:pt x="1010437" y="1894695"/>
                </a:lnTo>
                <a:lnTo>
                  <a:pt x="1057859" y="1891251"/>
                </a:lnTo>
                <a:lnTo>
                  <a:pt x="1104617" y="1885577"/>
                </a:lnTo>
                <a:lnTo>
                  <a:pt x="1150655" y="1877727"/>
                </a:lnTo>
                <a:lnTo>
                  <a:pt x="1195918" y="1867756"/>
                </a:lnTo>
                <a:lnTo>
                  <a:pt x="1240351" y="1855719"/>
                </a:lnTo>
                <a:lnTo>
                  <a:pt x="1283899" y="1841668"/>
                </a:lnTo>
                <a:lnTo>
                  <a:pt x="1326507" y="1825660"/>
                </a:lnTo>
                <a:lnTo>
                  <a:pt x="1368120" y="1807747"/>
                </a:lnTo>
                <a:lnTo>
                  <a:pt x="1408682" y="1787986"/>
                </a:lnTo>
                <a:lnTo>
                  <a:pt x="1448138" y="1766428"/>
                </a:lnTo>
                <a:lnTo>
                  <a:pt x="1486434" y="1743130"/>
                </a:lnTo>
                <a:lnTo>
                  <a:pt x="1523513" y="1718146"/>
                </a:lnTo>
                <a:lnTo>
                  <a:pt x="1559321" y="1691529"/>
                </a:lnTo>
                <a:lnTo>
                  <a:pt x="1593804" y="1663334"/>
                </a:lnTo>
                <a:lnTo>
                  <a:pt x="1626904" y="1633615"/>
                </a:lnTo>
                <a:lnTo>
                  <a:pt x="1658568" y="1602428"/>
                </a:lnTo>
                <a:lnTo>
                  <a:pt x="1688740" y="1569825"/>
                </a:lnTo>
                <a:lnTo>
                  <a:pt x="1717366" y="1535861"/>
                </a:lnTo>
                <a:lnTo>
                  <a:pt x="1744389" y="1500592"/>
                </a:lnTo>
                <a:lnTo>
                  <a:pt x="1769755" y="1464070"/>
                </a:lnTo>
                <a:lnTo>
                  <a:pt x="1793409" y="1426351"/>
                </a:lnTo>
                <a:lnTo>
                  <a:pt x="1815295" y="1387488"/>
                </a:lnTo>
                <a:lnTo>
                  <a:pt x="1835359" y="1347536"/>
                </a:lnTo>
                <a:lnTo>
                  <a:pt x="1853544" y="1306550"/>
                </a:lnTo>
                <a:lnTo>
                  <a:pt x="1869797" y="1264583"/>
                </a:lnTo>
                <a:lnTo>
                  <a:pt x="1884062" y="1221690"/>
                </a:lnTo>
                <a:lnTo>
                  <a:pt x="1896283" y="1177925"/>
                </a:lnTo>
                <a:lnTo>
                  <a:pt x="1906406" y="1133343"/>
                </a:lnTo>
                <a:lnTo>
                  <a:pt x="1914376" y="1087998"/>
                </a:lnTo>
                <a:lnTo>
                  <a:pt x="1920137" y="1041944"/>
                </a:lnTo>
                <a:lnTo>
                  <a:pt x="1923634" y="995236"/>
                </a:lnTo>
                <a:lnTo>
                  <a:pt x="1924812" y="947927"/>
                </a:lnTo>
                <a:lnTo>
                  <a:pt x="1923634" y="900619"/>
                </a:lnTo>
                <a:lnTo>
                  <a:pt x="1920137" y="853911"/>
                </a:lnTo>
                <a:lnTo>
                  <a:pt x="1914376" y="807857"/>
                </a:lnTo>
                <a:lnTo>
                  <a:pt x="1906406" y="762512"/>
                </a:lnTo>
                <a:lnTo>
                  <a:pt x="1896283" y="717930"/>
                </a:lnTo>
                <a:lnTo>
                  <a:pt x="1884062" y="674165"/>
                </a:lnTo>
                <a:lnTo>
                  <a:pt x="1869797" y="631272"/>
                </a:lnTo>
                <a:lnTo>
                  <a:pt x="1853544" y="589305"/>
                </a:lnTo>
                <a:lnTo>
                  <a:pt x="1835359" y="548319"/>
                </a:lnTo>
                <a:lnTo>
                  <a:pt x="1815295" y="508367"/>
                </a:lnTo>
                <a:lnTo>
                  <a:pt x="1793409" y="469504"/>
                </a:lnTo>
                <a:lnTo>
                  <a:pt x="1769755" y="431785"/>
                </a:lnTo>
                <a:lnTo>
                  <a:pt x="1744389" y="395263"/>
                </a:lnTo>
                <a:lnTo>
                  <a:pt x="1717366" y="359994"/>
                </a:lnTo>
                <a:lnTo>
                  <a:pt x="1688740" y="326030"/>
                </a:lnTo>
                <a:lnTo>
                  <a:pt x="1658568" y="293427"/>
                </a:lnTo>
                <a:lnTo>
                  <a:pt x="1626904" y="262240"/>
                </a:lnTo>
                <a:lnTo>
                  <a:pt x="1593804" y="232521"/>
                </a:lnTo>
                <a:lnTo>
                  <a:pt x="1559321" y="204326"/>
                </a:lnTo>
                <a:lnTo>
                  <a:pt x="1523513" y="177709"/>
                </a:lnTo>
                <a:lnTo>
                  <a:pt x="1486434" y="152725"/>
                </a:lnTo>
                <a:lnTo>
                  <a:pt x="1448138" y="129427"/>
                </a:lnTo>
                <a:lnTo>
                  <a:pt x="1408682" y="107869"/>
                </a:lnTo>
                <a:lnTo>
                  <a:pt x="1368120" y="88108"/>
                </a:lnTo>
                <a:lnTo>
                  <a:pt x="1326507" y="70195"/>
                </a:lnTo>
                <a:lnTo>
                  <a:pt x="1283899" y="54187"/>
                </a:lnTo>
                <a:lnTo>
                  <a:pt x="1240351" y="40136"/>
                </a:lnTo>
                <a:lnTo>
                  <a:pt x="1195918" y="28099"/>
                </a:lnTo>
                <a:lnTo>
                  <a:pt x="1150655" y="18128"/>
                </a:lnTo>
                <a:lnTo>
                  <a:pt x="1104617" y="10278"/>
                </a:lnTo>
                <a:lnTo>
                  <a:pt x="1057859" y="4604"/>
                </a:lnTo>
                <a:lnTo>
                  <a:pt x="1010437" y="1160"/>
                </a:lnTo>
                <a:lnTo>
                  <a:pt x="962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6"/>
          <p:cNvSpPr/>
          <p:nvPr/>
        </p:nvSpPr>
        <p:spPr>
          <a:xfrm>
            <a:off x="1489710" y="2554985"/>
            <a:ext cx="1925320" cy="1896110"/>
          </a:xfrm>
          <a:custGeom>
            <a:avLst/>
            <a:gdLst/>
            <a:ahLst/>
            <a:cxnLst/>
            <a:rect l="l" t="t" r="r" b="b"/>
            <a:pathLst>
              <a:path w="1925320" h="1896110">
                <a:moveTo>
                  <a:pt x="0" y="947927"/>
                </a:moveTo>
                <a:lnTo>
                  <a:pt x="1177" y="900619"/>
                </a:lnTo>
                <a:lnTo>
                  <a:pt x="4674" y="853911"/>
                </a:lnTo>
                <a:lnTo>
                  <a:pt x="10435" y="807857"/>
                </a:lnTo>
                <a:lnTo>
                  <a:pt x="18405" y="762512"/>
                </a:lnTo>
                <a:lnTo>
                  <a:pt x="28528" y="717930"/>
                </a:lnTo>
                <a:lnTo>
                  <a:pt x="40749" y="674165"/>
                </a:lnTo>
                <a:lnTo>
                  <a:pt x="55014" y="631272"/>
                </a:lnTo>
                <a:lnTo>
                  <a:pt x="71267" y="589305"/>
                </a:lnTo>
                <a:lnTo>
                  <a:pt x="89452" y="548319"/>
                </a:lnTo>
                <a:lnTo>
                  <a:pt x="109516" y="508367"/>
                </a:lnTo>
                <a:lnTo>
                  <a:pt x="131402" y="469504"/>
                </a:lnTo>
                <a:lnTo>
                  <a:pt x="155056" y="431785"/>
                </a:lnTo>
                <a:lnTo>
                  <a:pt x="180422" y="395263"/>
                </a:lnTo>
                <a:lnTo>
                  <a:pt x="207445" y="359994"/>
                </a:lnTo>
                <a:lnTo>
                  <a:pt x="236071" y="326030"/>
                </a:lnTo>
                <a:lnTo>
                  <a:pt x="266243" y="293427"/>
                </a:lnTo>
                <a:lnTo>
                  <a:pt x="297907" y="262240"/>
                </a:lnTo>
                <a:lnTo>
                  <a:pt x="331007" y="232521"/>
                </a:lnTo>
                <a:lnTo>
                  <a:pt x="365490" y="204326"/>
                </a:lnTo>
                <a:lnTo>
                  <a:pt x="401298" y="177709"/>
                </a:lnTo>
                <a:lnTo>
                  <a:pt x="438377" y="152725"/>
                </a:lnTo>
                <a:lnTo>
                  <a:pt x="476673" y="129427"/>
                </a:lnTo>
                <a:lnTo>
                  <a:pt x="516129" y="107869"/>
                </a:lnTo>
                <a:lnTo>
                  <a:pt x="556691" y="88108"/>
                </a:lnTo>
                <a:lnTo>
                  <a:pt x="598304" y="70195"/>
                </a:lnTo>
                <a:lnTo>
                  <a:pt x="640912" y="54187"/>
                </a:lnTo>
                <a:lnTo>
                  <a:pt x="684460" y="40136"/>
                </a:lnTo>
                <a:lnTo>
                  <a:pt x="728893" y="28099"/>
                </a:lnTo>
                <a:lnTo>
                  <a:pt x="774156" y="18128"/>
                </a:lnTo>
                <a:lnTo>
                  <a:pt x="820194" y="10278"/>
                </a:lnTo>
                <a:lnTo>
                  <a:pt x="866952" y="4604"/>
                </a:lnTo>
                <a:lnTo>
                  <a:pt x="914374" y="1160"/>
                </a:lnTo>
                <a:lnTo>
                  <a:pt x="962406" y="0"/>
                </a:lnTo>
                <a:lnTo>
                  <a:pt x="1010437" y="1160"/>
                </a:lnTo>
                <a:lnTo>
                  <a:pt x="1057859" y="4604"/>
                </a:lnTo>
                <a:lnTo>
                  <a:pt x="1104617" y="10278"/>
                </a:lnTo>
                <a:lnTo>
                  <a:pt x="1150655" y="18128"/>
                </a:lnTo>
                <a:lnTo>
                  <a:pt x="1195918" y="28099"/>
                </a:lnTo>
                <a:lnTo>
                  <a:pt x="1240351" y="40136"/>
                </a:lnTo>
                <a:lnTo>
                  <a:pt x="1283899" y="54187"/>
                </a:lnTo>
                <a:lnTo>
                  <a:pt x="1326507" y="70195"/>
                </a:lnTo>
                <a:lnTo>
                  <a:pt x="1368120" y="88108"/>
                </a:lnTo>
                <a:lnTo>
                  <a:pt x="1408682" y="107869"/>
                </a:lnTo>
                <a:lnTo>
                  <a:pt x="1448138" y="129427"/>
                </a:lnTo>
                <a:lnTo>
                  <a:pt x="1486434" y="152725"/>
                </a:lnTo>
                <a:lnTo>
                  <a:pt x="1523513" y="177709"/>
                </a:lnTo>
                <a:lnTo>
                  <a:pt x="1559321" y="204326"/>
                </a:lnTo>
                <a:lnTo>
                  <a:pt x="1593804" y="232521"/>
                </a:lnTo>
                <a:lnTo>
                  <a:pt x="1626904" y="262240"/>
                </a:lnTo>
                <a:lnTo>
                  <a:pt x="1658568" y="293427"/>
                </a:lnTo>
                <a:lnTo>
                  <a:pt x="1688740" y="326030"/>
                </a:lnTo>
                <a:lnTo>
                  <a:pt x="1717366" y="359994"/>
                </a:lnTo>
                <a:lnTo>
                  <a:pt x="1744389" y="395263"/>
                </a:lnTo>
                <a:lnTo>
                  <a:pt x="1769755" y="431785"/>
                </a:lnTo>
                <a:lnTo>
                  <a:pt x="1793409" y="469504"/>
                </a:lnTo>
                <a:lnTo>
                  <a:pt x="1815295" y="508367"/>
                </a:lnTo>
                <a:lnTo>
                  <a:pt x="1835359" y="548319"/>
                </a:lnTo>
                <a:lnTo>
                  <a:pt x="1853544" y="589305"/>
                </a:lnTo>
                <a:lnTo>
                  <a:pt x="1869797" y="631272"/>
                </a:lnTo>
                <a:lnTo>
                  <a:pt x="1884062" y="674165"/>
                </a:lnTo>
                <a:lnTo>
                  <a:pt x="1896283" y="717930"/>
                </a:lnTo>
                <a:lnTo>
                  <a:pt x="1906406" y="762512"/>
                </a:lnTo>
                <a:lnTo>
                  <a:pt x="1914376" y="807857"/>
                </a:lnTo>
                <a:lnTo>
                  <a:pt x="1920137" y="853911"/>
                </a:lnTo>
                <a:lnTo>
                  <a:pt x="1923634" y="900619"/>
                </a:lnTo>
                <a:lnTo>
                  <a:pt x="1924812" y="947927"/>
                </a:lnTo>
                <a:lnTo>
                  <a:pt x="1923634" y="995236"/>
                </a:lnTo>
                <a:lnTo>
                  <a:pt x="1920137" y="1041944"/>
                </a:lnTo>
                <a:lnTo>
                  <a:pt x="1914376" y="1087998"/>
                </a:lnTo>
                <a:lnTo>
                  <a:pt x="1906406" y="1133343"/>
                </a:lnTo>
                <a:lnTo>
                  <a:pt x="1896283" y="1177925"/>
                </a:lnTo>
                <a:lnTo>
                  <a:pt x="1884062" y="1221690"/>
                </a:lnTo>
                <a:lnTo>
                  <a:pt x="1869797" y="1264583"/>
                </a:lnTo>
                <a:lnTo>
                  <a:pt x="1853544" y="1306550"/>
                </a:lnTo>
                <a:lnTo>
                  <a:pt x="1835359" y="1347536"/>
                </a:lnTo>
                <a:lnTo>
                  <a:pt x="1815295" y="1387488"/>
                </a:lnTo>
                <a:lnTo>
                  <a:pt x="1793409" y="1426351"/>
                </a:lnTo>
                <a:lnTo>
                  <a:pt x="1769755" y="1464070"/>
                </a:lnTo>
                <a:lnTo>
                  <a:pt x="1744389" y="1500592"/>
                </a:lnTo>
                <a:lnTo>
                  <a:pt x="1717366" y="1535861"/>
                </a:lnTo>
                <a:lnTo>
                  <a:pt x="1688740" y="1569825"/>
                </a:lnTo>
                <a:lnTo>
                  <a:pt x="1658568" y="1602428"/>
                </a:lnTo>
                <a:lnTo>
                  <a:pt x="1626904" y="1633615"/>
                </a:lnTo>
                <a:lnTo>
                  <a:pt x="1593804" y="1663334"/>
                </a:lnTo>
                <a:lnTo>
                  <a:pt x="1559321" y="1691529"/>
                </a:lnTo>
                <a:lnTo>
                  <a:pt x="1523513" y="1718146"/>
                </a:lnTo>
                <a:lnTo>
                  <a:pt x="1486434" y="1743130"/>
                </a:lnTo>
                <a:lnTo>
                  <a:pt x="1448138" y="1766428"/>
                </a:lnTo>
                <a:lnTo>
                  <a:pt x="1408682" y="1787986"/>
                </a:lnTo>
                <a:lnTo>
                  <a:pt x="1368120" y="1807747"/>
                </a:lnTo>
                <a:lnTo>
                  <a:pt x="1326507" y="1825660"/>
                </a:lnTo>
                <a:lnTo>
                  <a:pt x="1283899" y="1841668"/>
                </a:lnTo>
                <a:lnTo>
                  <a:pt x="1240351" y="1855719"/>
                </a:lnTo>
                <a:lnTo>
                  <a:pt x="1195918" y="1867756"/>
                </a:lnTo>
                <a:lnTo>
                  <a:pt x="1150655" y="1877727"/>
                </a:lnTo>
                <a:lnTo>
                  <a:pt x="1104617" y="1885577"/>
                </a:lnTo>
                <a:lnTo>
                  <a:pt x="1057859" y="1891251"/>
                </a:lnTo>
                <a:lnTo>
                  <a:pt x="1010437" y="1894695"/>
                </a:lnTo>
                <a:lnTo>
                  <a:pt x="962406" y="1895856"/>
                </a:lnTo>
                <a:lnTo>
                  <a:pt x="914374" y="1894695"/>
                </a:lnTo>
                <a:lnTo>
                  <a:pt x="866952" y="1891251"/>
                </a:lnTo>
                <a:lnTo>
                  <a:pt x="820194" y="1885577"/>
                </a:lnTo>
                <a:lnTo>
                  <a:pt x="774156" y="1877727"/>
                </a:lnTo>
                <a:lnTo>
                  <a:pt x="728893" y="1867756"/>
                </a:lnTo>
                <a:lnTo>
                  <a:pt x="684460" y="1855719"/>
                </a:lnTo>
                <a:lnTo>
                  <a:pt x="640912" y="1841668"/>
                </a:lnTo>
                <a:lnTo>
                  <a:pt x="598304" y="1825660"/>
                </a:lnTo>
                <a:lnTo>
                  <a:pt x="556691" y="1807747"/>
                </a:lnTo>
                <a:lnTo>
                  <a:pt x="516129" y="1787986"/>
                </a:lnTo>
                <a:lnTo>
                  <a:pt x="476673" y="1766428"/>
                </a:lnTo>
                <a:lnTo>
                  <a:pt x="438377" y="1743130"/>
                </a:lnTo>
                <a:lnTo>
                  <a:pt x="401298" y="1718146"/>
                </a:lnTo>
                <a:lnTo>
                  <a:pt x="365490" y="1691529"/>
                </a:lnTo>
                <a:lnTo>
                  <a:pt x="331007" y="1663334"/>
                </a:lnTo>
                <a:lnTo>
                  <a:pt x="297907" y="1633615"/>
                </a:lnTo>
                <a:lnTo>
                  <a:pt x="266243" y="1602428"/>
                </a:lnTo>
                <a:lnTo>
                  <a:pt x="236071" y="1569825"/>
                </a:lnTo>
                <a:lnTo>
                  <a:pt x="207445" y="1535861"/>
                </a:lnTo>
                <a:lnTo>
                  <a:pt x="180422" y="1500592"/>
                </a:lnTo>
                <a:lnTo>
                  <a:pt x="155056" y="1464070"/>
                </a:lnTo>
                <a:lnTo>
                  <a:pt x="131402" y="1426351"/>
                </a:lnTo>
                <a:lnTo>
                  <a:pt x="109516" y="1387488"/>
                </a:lnTo>
                <a:lnTo>
                  <a:pt x="89452" y="1347536"/>
                </a:lnTo>
                <a:lnTo>
                  <a:pt x="71267" y="1306550"/>
                </a:lnTo>
                <a:lnTo>
                  <a:pt x="55014" y="1264583"/>
                </a:lnTo>
                <a:lnTo>
                  <a:pt x="40749" y="1221690"/>
                </a:lnTo>
                <a:lnTo>
                  <a:pt x="28528" y="1177925"/>
                </a:lnTo>
                <a:lnTo>
                  <a:pt x="18405" y="1133343"/>
                </a:lnTo>
                <a:lnTo>
                  <a:pt x="10435" y="1087998"/>
                </a:lnTo>
                <a:lnTo>
                  <a:pt x="4674" y="1041944"/>
                </a:lnTo>
                <a:lnTo>
                  <a:pt x="1177" y="995236"/>
                </a:lnTo>
                <a:lnTo>
                  <a:pt x="0" y="947927"/>
                </a:lnTo>
                <a:close/>
              </a:path>
            </a:pathLst>
          </a:custGeom>
          <a:ln w="114300">
            <a:solidFill>
              <a:schemeClr val="accent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7"/>
          <p:cNvSpPr/>
          <p:nvPr/>
        </p:nvSpPr>
        <p:spPr>
          <a:xfrm>
            <a:off x="710183" y="1929383"/>
            <a:ext cx="805180" cy="803275"/>
          </a:xfrm>
          <a:custGeom>
            <a:avLst/>
            <a:gdLst/>
            <a:ahLst/>
            <a:cxnLst/>
            <a:rect l="l" t="t" r="r" b="b"/>
            <a:pathLst>
              <a:path w="805180" h="803275">
                <a:moveTo>
                  <a:pt x="402335" y="0"/>
                </a:moveTo>
                <a:lnTo>
                  <a:pt x="355416" y="2702"/>
                </a:lnTo>
                <a:lnTo>
                  <a:pt x="310085" y="10608"/>
                </a:lnTo>
                <a:lnTo>
                  <a:pt x="266646" y="23415"/>
                </a:lnTo>
                <a:lnTo>
                  <a:pt x="225400" y="40823"/>
                </a:lnTo>
                <a:lnTo>
                  <a:pt x="186650" y="62530"/>
                </a:lnTo>
                <a:lnTo>
                  <a:pt x="150697" y="88234"/>
                </a:lnTo>
                <a:lnTo>
                  <a:pt x="117843" y="117633"/>
                </a:lnTo>
                <a:lnTo>
                  <a:pt x="88390" y="150427"/>
                </a:lnTo>
                <a:lnTo>
                  <a:pt x="62640" y="186313"/>
                </a:lnTo>
                <a:lnTo>
                  <a:pt x="40894" y="224989"/>
                </a:lnTo>
                <a:lnTo>
                  <a:pt x="23456" y="266155"/>
                </a:lnTo>
                <a:lnTo>
                  <a:pt x="10626" y="309509"/>
                </a:lnTo>
                <a:lnTo>
                  <a:pt x="2706" y="354749"/>
                </a:lnTo>
                <a:lnTo>
                  <a:pt x="0" y="401574"/>
                </a:lnTo>
                <a:lnTo>
                  <a:pt x="2706" y="448398"/>
                </a:lnTo>
                <a:lnTo>
                  <a:pt x="10626" y="493638"/>
                </a:lnTo>
                <a:lnTo>
                  <a:pt x="23456" y="536992"/>
                </a:lnTo>
                <a:lnTo>
                  <a:pt x="40894" y="578158"/>
                </a:lnTo>
                <a:lnTo>
                  <a:pt x="62640" y="616834"/>
                </a:lnTo>
                <a:lnTo>
                  <a:pt x="88390" y="652720"/>
                </a:lnTo>
                <a:lnTo>
                  <a:pt x="117843" y="685514"/>
                </a:lnTo>
                <a:lnTo>
                  <a:pt x="150697" y="714913"/>
                </a:lnTo>
                <a:lnTo>
                  <a:pt x="186650" y="740617"/>
                </a:lnTo>
                <a:lnTo>
                  <a:pt x="225400" y="762324"/>
                </a:lnTo>
                <a:lnTo>
                  <a:pt x="266646" y="779732"/>
                </a:lnTo>
                <a:lnTo>
                  <a:pt x="310085" y="792539"/>
                </a:lnTo>
                <a:lnTo>
                  <a:pt x="355416" y="800445"/>
                </a:lnTo>
                <a:lnTo>
                  <a:pt x="402335" y="803148"/>
                </a:lnTo>
                <a:lnTo>
                  <a:pt x="449265" y="800445"/>
                </a:lnTo>
                <a:lnTo>
                  <a:pt x="494602" y="792539"/>
                </a:lnTo>
                <a:lnTo>
                  <a:pt x="538045" y="779732"/>
                </a:lnTo>
                <a:lnTo>
                  <a:pt x="579293" y="762324"/>
                </a:lnTo>
                <a:lnTo>
                  <a:pt x="618043" y="740617"/>
                </a:lnTo>
                <a:lnTo>
                  <a:pt x="653995" y="714913"/>
                </a:lnTo>
                <a:lnTo>
                  <a:pt x="686847" y="685514"/>
                </a:lnTo>
                <a:lnTo>
                  <a:pt x="716297" y="652720"/>
                </a:lnTo>
                <a:lnTo>
                  <a:pt x="742044" y="616834"/>
                </a:lnTo>
                <a:lnTo>
                  <a:pt x="763786" y="578158"/>
                </a:lnTo>
                <a:lnTo>
                  <a:pt x="781221" y="536992"/>
                </a:lnTo>
                <a:lnTo>
                  <a:pt x="794048" y="493638"/>
                </a:lnTo>
                <a:lnTo>
                  <a:pt x="801965" y="448398"/>
                </a:lnTo>
                <a:lnTo>
                  <a:pt x="804672" y="401574"/>
                </a:lnTo>
                <a:lnTo>
                  <a:pt x="801965" y="354749"/>
                </a:lnTo>
                <a:lnTo>
                  <a:pt x="794048" y="309509"/>
                </a:lnTo>
                <a:lnTo>
                  <a:pt x="781221" y="266155"/>
                </a:lnTo>
                <a:lnTo>
                  <a:pt x="763786" y="224989"/>
                </a:lnTo>
                <a:lnTo>
                  <a:pt x="742044" y="186313"/>
                </a:lnTo>
                <a:lnTo>
                  <a:pt x="716297" y="150427"/>
                </a:lnTo>
                <a:lnTo>
                  <a:pt x="686847" y="117633"/>
                </a:lnTo>
                <a:lnTo>
                  <a:pt x="653995" y="88234"/>
                </a:lnTo>
                <a:lnTo>
                  <a:pt x="618043" y="62530"/>
                </a:lnTo>
                <a:lnTo>
                  <a:pt x="579293" y="40823"/>
                </a:lnTo>
                <a:lnTo>
                  <a:pt x="538045" y="23415"/>
                </a:lnTo>
                <a:lnTo>
                  <a:pt x="494602" y="10608"/>
                </a:lnTo>
                <a:lnTo>
                  <a:pt x="449265" y="2702"/>
                </a:lnTo>
                <a:lnTo>
                  <a:pt x="402335" y="0"/>
                </a:lnTo>
                <a:close/>
              </a:path>
            </a:pathLst>
          </a:custGeom>
          <a:solidFill>
            <a:schemeClr val="accent6">
              <a:alpha val="70195"/>
            </a:schemeClr>
          </a:solid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8"/>
          <p:cNvSpPr/>
          <p:nvPr/>
        </p:nvSpPr>
        <p:spPr>
          <a:xfrm>
            <a:off x="3104388" y="2034539"/>
            <a:ext cx="314325" cy="315595"/>
          </a:xfrm>
          <a:custGeom>
            <a:avLst/>
            <a:gdLst/>
            <a:ahLst/>
            <a:cxnLst/>
            <a:rect l="l" t="t" r="r" b="b"/>
            <a:pathLst>
              <a:path w="314325" h="315594">
                <a:moveTo>
                  <a:pt x="156972" y="0"/>
                </a:moveTo>
                <a:lnTo>
                  <a:pt x="107338" y="8040"/>
                </a:lnTo>
                <a:lnTo>
                  <a:pt x="64245" y="30431"/>
                </a:lnTo>
                <a:lnTo>
                  <a:pt x="30272" y="64574"/>
                </a:lnTo>
                <a:lnTo>
                  <a:pt x="7997" y="107874"/>
                </a:lnTo>
                <a:lnTo>
                  <a:pt x="0" y="157734"/>
                </a:lnTo>
                <a:lnTo>
                  <a:pt x="7997" y="207593"/>
                </a:lnTo>
                <a:lnTo>
                  <a:pt x="30272" y="250893"/>
                </a:lnTo>
                <a:lnTo>
                  <a:pt x="64245" y="285036"/>
                </a:lnTo>
                <a:lnTo>
                  <a:pt x="107338" y="307427"/>
                </a:lnTo>
                <a:lnTo>
                  <a:pt x="156972" y="315468"/>
                </a:lnTo>
                <a:lnTo>
                  <a:pt x="206605" y="307427"/>
                </a:lnTo>
                <a:lnTo>
                  <a:pt x="249698" y="285036"/>
                </a:lnTo>
                <a:lnTo>
                  <a:pt x="283671" y="250893"/>
                </a:lnTo>
                <a:lnTo>
                  <a:pt x="305946" y="207593"/>
                </a:lnTo>
                <a:lnTo>
                  <a:pt x="313944" y="157734"/>
                </a:lnTo>
                <a:lnTo>
                  <a:pt x="305946" y="107874"/>
                </a:lnTo>
                <a:lnTo>
                  <a:pt x="283671" y="64574"/>
                </a:lnTo>
                <a:lnTo>
                  <a:pt x="249698" y="30431"/>
                </a:lnTo>
                <a:lnTo>
                  <a:pt x="206605" y="8040"/>
                </a:lnTo>
                <a:lnTo>
                  <a:pt x="156972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9"/>
          <p:cNvSpPr txBox="1"/>
          <p:nvPr/>
        </p:nvSpPr>
        <p:spPr>
          <a:xfrm>
            <a:off x="1940179" y="3168776"/>
            <a:ext cx="1025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>
                <a:latin typeface="宋体"/>
                <a:cs typeface="宋体"/>
              </a:rPr>
              <a:t>总结</a:t>
            </a:r>
            <a:endParaRPr sz="4000" dirty="0">
              <a:latin typeface="宋体"/>
              <a:cs typeface="宋体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0591800" y="685800"/>
            <a:ext cx="16002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80352"/>
            <a:ext cx="4800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变量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+mn-lt"/>
                <a:ea typeface="微软雅黑" panose="020B0503020204020204" pitchFamily="34" charset="-122"/>
                <a:cs typeface="微软雅黑"/>
              </a:rPr>
              <a:t>声明</a:t>
            </a:r>
            <a:r>
              <a:rPr sz="2800" b="1" spc="-25" dirty="0" smtClean="0">
                <a:solidFill>
                  <a:srgbClr val="585858"/>
                </a:solidFill>
                <a:latin typeface="+mn-lt"/>
                <a:cs typeface="微软雅黑"/>
              </a:rPr>
              <a:t>-</a:t>
            </a:r>
            <a:r>
              <a:rPr sz="2800" b="1" spc="-25" dirty="0" err="1">
                <a:solidFill>
                  <a:srgbClr val="585858"/>
                </a:solidFill>
                <a:latin typeface="+mn-lt"/>
                <a:cs typeface="微软雅黑"/>
              </a:rPr>
              <a:t>let</a:t>
            </a:r>
            <a:r>
              <a:rPr sz="2800" b="1" spc="-40" dirty="0" err="1">
                <a:solidFill>
                  <a:srgbClr val="585858"/>
                </a:solidFill>
                <a:latin typeface="+mn-lt"/>
                <a:cs typeface="微软雅黑"/>
              </a:rPr>
              <a:t>和</a:t>
            </a:r>
            <a:r>
              <a:rPr sz="2800" b="1" spc="15" dirty="0" err="1">
                <a:solidFill>
                  <a:srgbClr val="585858"/>
                </a:solidFill>
                <a:latin typeface="+mn-lt"/>
                <a:cs typeface="微软雅黑"/>
              </a:rPr>
              <a:t>var</a:t>
            </a:r>
            <a:r>
              <a:rPr sz="2800" b="1" spc="-40" dirty="0" err="1">
                <a:solidFill>
                  <a:srgbClr val="585858"/>
                </a:solidFill>
                <a:latin typeface="+mn-lt"/>
                <a:cs typeface="微软雅黑"/>
              </a:rPr>
              <a:t>的区别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959" y="1600200"/>
            <a:ext cx="8684261" cy="352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30" dirty="0">
                <a:solidFill>
                  <a:srgbClr val="252525"/>
                </a:solidFill>
                <a:cs typeface="微软雅黑"/>
              </a:rPr>
              <a:t>let</a:t>
            </a:r>
            <a:r>
              <a:rPr sz="2000" b="1" spc="-55" dirty="0">
                <a:solidFill>
                  <a:srgbClr val="252525"/>
                </a:solidFill>
                <a:cs typeface="微软雅黑"/>
              </a:rPr>
              <a:t> </a:t>
            </a:r>
            <a:r>
              <a:rPr sz="2000" b="1" spc="-30" dirty="0">
                <a:solidFill>
                  <a:srgbClr val="252525"/>
                </a:solidFill>
                <a:cs typeface="微软雅黑"/>
              </a:rPr>
              <a:t>和</a:t>
            </a:r>
            <a:r>
              <a:rPr sz="2000" b="1" spc="-60" dirty="0">
                <a:solidFill>
                  <a:srgbClr val="252525"/>
                </a:solidFill>
                <a:cs typeface="微软雅黑"/>
              </a:rPr>
              <a:t> </a:t>
            </a:r>
            <a:r>
              <a:rPr sz="2000" b="1" spc="5" dirty="0">
                <a:solidFill>
                  <a:srgbClr val="252525"/>
                </a:solidFill>
                <a:cs typeface="微软雅黑"/>
              </a:rPr>
              <a:t>var</a:t>
            </a:r>
            <a:r>
              <a:rPr sz="2000" b="1" spc="-65" dirty="0">
                <a:solidFill>
                  <a:srgbClr val="252525"/>
                </a:solidFill>
                <a:cs typeface="微软雅黑"/>
              </a:rPr>
              <a:t> </a:t>
            </a:r>
            <a:r>
              <a:rPr sz="2000" b="1" spc="-30" dirty="0">
                <a:solidFill>
                  <a:srgbClr val="252525"/>
                </a:solidFill>
                <a:cs typeface="微软雅黑"/>
              </a:rPr>
              <a:t>区别：</a:t>
            </a:r>
            <a:endParaRPr sz="2000" dirty="0"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000" spc="-165" dirty="0">
                <a:solidFill>
                  <a:srgbClr val="252525"/>
                </a:solidFill>
                <a:cs typeface="宋体"/>
              </a:rPr>
              <a:t>let</a:t>
            </a:r>
            <a:r>
              <a:rPr sz="2000" spc="-385" dirty="0">
                <a:solidFill>
                  <a:srgbClr val="252525"/>
                </a:solidFill>
                <a:cs typeface="宋体"/>
              </a:rPr>
              <a:t> 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为了解决</a:t>
            </a:r>
            <a:r>
              <a:rPr sz="2000" spc="-380" dirty="0">
                <a:solidFill>
                  <a:srgbClr val="252525"/>
                </a:solidFill>
                <a:cs typeface="宋体"/>
              </a:rPr>
              <a:t> </a:t>
            </a:r>
            <a:r>
              <a:rPr sz="2000" spc="5" dirty="0" err="1">
                <a:solidFill>
                  <a:srgbClr val="252525"/>
                </a:solidFill>
                <a:cs typeface="宋体"/>
              </a:rPr>
              <a:t>var</a:t>
            </a:r>
            <a:r>
              <a:rPr sz="2000" spc="-385" dirty="0">
                <a:solidFill>
                  <a:srgbClr val="252525"/>
                </a:solidFill>
                <a:cs typeface="宋体"/>
              </a:rPr>
              <a:t> </a:t>
            </a:r>
            <a:r>
              <a:rPr sz="2000" spc="-30" dirty="0" err="1" smtClean="0">
                <a:solidFill>
                  <a:srgbClr val="252525"/>
                </a:solidFill>
                <a:cs typeface="宋体"/>
              </a:rPr>
              <a:t>的一些问题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。</a:t>
            </a:r>
            <a:endParaRPr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000" spc="5" dirty="0">
                <a:solidFill>
                  <a:srgbClr val="252525"/>
                </a:solidFill>
                <a:cs typeface="宋体"/>
              </a:rPr>
              <a:t>var</a:t>
            </a:r>
            <a:r>
              <a:rPr sz="2000" spc="-395" dirty="0">
                <a:solidFill>
                  <a:srgbClr val="252525"/>
                </a:solidFill>
                <a:cs typeface="宋体"/>
              </a:rPr>
              <a:t> 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声明</a:t>
            </a:r>
            <a:r>
              <a:rPr sz="2000" spc="-200" dirty="0">
                <a:solidFill>
                  <a:srgbClr val="252525"/>
                </a:solidFill>
                <a:cs typeface="宋体"/>
              </a:rPr>
              <a:t>:</a:t>
            </a:r>
            <a:endParaRPr sz="2000" dirty="0">
              <a:cs typeface="宋体"/>
            </a:endParaRPr>
          </a:p>
          <a:p>
            <a:pPr marL="659130" indent="-287020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-25" dirty="0" err="1" smtClean="0">
                <a:solidFill>
                  <a:srgbClr val="252525"/>
                </a:solidFill>
                <a:cs typeface="宋体"/>
              </a:rPr>
              <a:t>可以先使</a:t>
            </a:r>
            <a:r>
              <a:rPr spc="-20" dirty="0" err="1" smtClean="0">
                <a:solidFill>
                  <a:srgbClr val="252525"/>
                </a:solidFill>
                <a:cs typeface="宋体"/>
              </a:rPr>
              <a:t>用</a:t>
            </a:r>
            <a:r>
              <a:rPr lang="zh-CN" altLang="en-US" spc="-375" dirty="0" smtClean="0">
                <a:solidFill>
                  <a:srgbClr val="252525"/>
                </a:solidFill>
                <a:cs typeface="宋体"/>
              </a:rPr>
              <a:t>，再 </a:t>
            </a:r>
            <a:r>
              <a:rPr spc="-25" dirty="0" err="1" smtClean="0">
                <a:solidFill>
                  <a:srgbClr val="252525"/>
                </a:solidFill>
                <a:cs typeface="宋体"/>
              </a:rPr>
              <a:t>声</a:t>
            </a:r>
            <a:r>
              <a:rPr spc="-20" dirty="0" err="1" smtClean="0">
                <a:solidFill>
                  <a:srgbClr val="252525"/>
                </a:solidFill>
                <a:cs typeface="宋体"/>
              </a:rPr>
              <a:t>明</a:t>
            </a:r>
            <a:r>
              <a:rPr spc="-360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spc="-204" dirty="0">
                <a:solidFill>
                  <a:srgbClr val="252525"/>
                </a:solidFill>
                <a:cs typeface="宋体"/>
              </a:rPr>
              <a:t>(</a:t>
            </a:r>
            <a:r>
              <a:rPr spc="-25" dirty="0">
                <a:solidFill>
                  <a:srgbClr val="252525"/>
                </a:solidFill>
                <a:cs typeface="宋体"/>
              </a:rPr>
              <a:t>不合理</a:t>
            </a:r>
            <a:r>
              <a:rPr spc="-200" dirty="0">
                <a:solidFill>
                  <a:srgbClr val="252525"/>
                </a:solidFill>
                <a:cs typeface="宋体"/>
              </a:rPr>
              <a:t>)</a:t>
            </a:r>
            <a:endParaRPr dirty="0">
              <a:cs typeface="宋体"/>
            </a:endParaRPr>
          </a:p>
          <a:p>
            <a:pPr marL="659130" indent="-287020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10" dirty="0">
                <a:solidFill>
                  <a:srgbClr val="252525"/>
                </a:solidFill>
                <a:cs typeface="宋体"/>
              </a:rPr>
              <a:t>var</a:t>
            </a:r>
            <a:r>
              <a:rPr spc="-365" dirty="0">
                <a:solidFill>
                  <a:srgbClr val="252525"/>
                </a:solidFill>
                <a:cs typeface="宋体"/>
              </a:rPr>
              <a:t> </a:t>
            </a:r>
            <a:r>
              <a:rPr spc="-25" dirty="0">
                <a:solidFill>
                  <a:srgbClr val="252525"/>
                </a:solidFill>
                <a:cs typeface="宋体"/>
              </a:rPr>
              <a:t>声明过的变量可以重</a:t>
            </a:r>
            <a:r>
              <a:rPr spc="-35" dirty="0">
                <a:solidFill>
                  <a:srgbClr val="252525"/>
                </a:solidFill>
                <a:cs typeface="宋体"/>
              </a:rPr>
              <a:t>复</a:t>
            </a:r>
            <a:r>
              <a:rPr spc="-25" dirty="0">
                <a:solidFill>
                  <a:srgbClr val="252525"/>
                </a:solidFill>
                <a:cs typeface="宋体"/>
              </a:rPr>
              <a:t>声</a:t>
            </a:r>
            <a:r>
              <a:rPr spc="-30" dirty="0">
                <a:solidFill>
                  <a:srgbClr val="252525"/>
                </a:solidFill>
                <a:cs typeface="宋体"/>
              </a:rPr>
              <a:t>明</a:t>
            </a:r>
            <a:r>
              <a:rPr spc="-200" dirty="0">
                <a:solidFill>
                  <a:srgbClr val="252525"/>
                </a:solidFill>
                <a:cs typeface="宋体"/>
              </a:rPr>
              <a:t>(</a:t>
            </a:r>
            <a:r>
              <a:rPr spc="-20" dirty="0">
                <a:solidFill>
                  <a:srgbClr val="252525"/>
                </a:solidFill>
                <a:cs typeface="宋体"/>
              </a:rPr>
              <a:t>不</a:t>
            </a:r>
            <a:r>
              <a:rPr spc="-40" dirty="0">
                <a:solidFill>
                  <a:srgbClr val="252525"/>
                </a:solidFill>
                <a:cs typeface="宋体"/>
              </a:rPr>
              <a:t>合</a:t>
            </a:r>
            <a:r>
              <a:rPr spc="-25" dirty="0">
                <a:solidFill>
                  <a:srgbClr val="252525"/>
                </a:solidFill>
                <a:cs typeface="宋体"/>
              </a:rPr>
              <a:t>理</a:t>
            </a:r>
            <a:r>
              <a:rPr spc="-200" dirty="0">
                <a:solidFill>
                  <a:srgbClr val="252525"/>
                </a:solidFill>
                <a:cs typeface="宋体"/>
              </a:rPr>
              <a:t>)</a:t>
            </a:r>
            <a:endParaRPr dirty="0">
              <a:cs typeface="宋体"/>
            </a:endParaRPr>
          </a:p>
          <a:p>
            <a:pPr marL="659130" indent="-287020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-25" dirty="0">
                <a:solidFill>
                  <a:srgbClr val="252525"/>
                </a:solidFill>
                <a:cs typeface="宋体"/>
              </a:rPr>
              <a:t>比如</a:t>
            </a:r>
            <a:r>
              <a:rPr spc="-20" dirty="0">
                <a:solidFill>
                  <a:srgbClr val="252525"/>
                </a:solidFill>
                <a:cs typeface="宋体"/>
              </a:rPr>
              <a:t>变量</a:t>
            </a:r>
            <a:r>
              <a:rPr spc="-25" dirty="0">
                <a:solidFill>
                  <a:srgbClr val="252525"/>
                </a:solidFill>
                <a:cs typeface="宋体"/>
              </a:rPr>
              <a:t>提</a:t>
            </a:r>
            <a:r>
              <a:rPr spc="-20" dirty="0">
                <a:solidFill>
                  <a:srgbClr val="252525"/>
                </a:solidFill>
                <a:cs typeface="宋体"/>
              </a:rPr>
              <a:t>升、</a:t>
            </a:r>
            <a:r>
              <a:rPr spc="-25" dirty="0">
                <a:solidFill>
                  <a:srgbClr val="252525"/>
                </a:solidFill>
                <a:cs typeface="宋体"/>
              </a:rPr>
              <a:t>全</a:t>
            </a:r>
            <a:r>
              <a:rPr spc="-35" dirty="0">
                <a:solidFill>
                  <a:srgbClr val="252525"/>
                </a:solidFill>
                <a:cs typeface="宋体"/>
              </a:rPr>
              <a:t>局</a:t>
            </a:r>
            <a:r>
              <a:rPr spc="-20" dirty="0">
                <a:solidFill>
                  <a:srgbClr val="252525"/>
                </a:solidFill>
                <a:cs typeface="宋体"/>
              </a:rPr>
              <a:t>变</a:t>
            </a:r>
            <a:r>
              <a:rPr spc="-40" dirty="0">
                <a:solidFill>
                  <a:srgbClr val="252525"/>
                </a:solidFill>
                <a:cs typeface="宋体"/>
              </a:rPr>
              <a:t>量</a:t>
            </a:r>
            <a:r>
              <a:rPr spc="-20" dirty="0">
                <a:solidFill>
                  <a:srgbClr val="252525"/>
                </a:solidFill>
                <a:cs typeface="宋体"/>
              </a:rPr>
              <a:t>、没</a:t>
            </a:r>
            <a:r>
              <a:rPr spc="-40" dirty="0">
                <a:solidFill>
                  <a:srgbClr val="252525"/>
                </a:solidFill>
                <a:cs typeface="宋体"/>
              </a:rPr>
              <a:t>有</a:t>
            </a:r>
            <a:r>
              <a:rPr spc="-20" dirty="0">
                <a:solidFill>
                  <a:srgbClr val="252525"/>
                </a:solidFill>
                <a:cs typeface="宋体"/>
              </a:rPr>
              <a:t>块</a:t>
            </a:r>
            <a:r>
              <a:rPr spc="-40" dirty="0">
                <a:solidFill>
                  <a:srgbClr val="252525"/>
                </a:solidFill>
                <a:cs typeface="宋体"/>
              </a:rPr>
              <a:t>级</a:t>
            </a:r>
            <a:r>
              <a:rPr spc="-20" dirty="0">
                <a:solidFill>
                  <a:srgbClr val="252525"/>
                </a:solidFill>
                <a:cs typeface="宋体"/>
              </a:rPr>
              <a:t>作用</a:t>
            </a:r>
            <a:r>
              <a:rPr spc="-35" dirty="0">
                <a:solidFill>
                  <a:srgbClr val="252525"/>
                </a:solidFill>
                <a:cs typeface="宋体"/>
              </a:rPr>
              <a:t>域</a:t>
            </a:r>
            <a:r>
              <a:rPr spc="-25" dirty="0">
                <a:solidFill>
                  <a:srgbClr val="252525"/>
                </a:solidFill>
                <a:cs typeface="宋体"/>
              </a:rPr>
              <a:t>等等</a:t>
            </a:r>
            <a:endParaRPr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2000" spc="-30" dirty="0">
                <a:solidFill>
                  <a:srgbClr val="252525"/>
                </a:solidFill>
                <a:cs typeface="宋体"/>
              </a:rPr>
              <a:t>结论：</a:t>
            </a:r>
            <a:endParaRPr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000" spc="-30" dirty="0" err="1">
                <a:solidFill>
                  <a:srgbClr val="C00000"/>
                </a:solidFill>
                <a:cs typeface="宋体"/>
              </a:rPr>
              <a:t>以后声明变量我们统一使用</a:t>
            </a:r>
            <a:r>
              <a:rPr sz="2000" spc="-360" dirty="0">
                <a:solidFill>
                  <a:srgbClr val="C00000"/>
                </a:solidFill>
                <a:cs typeface="宋体"/>
              </a:rPr>
              <a:t> </a:t>
            </a:r>
            <a:r>
              <a:rPr sz="2000" spc="-165" dirty="0" smtClean="0">
                <a:solidFill>
                  <a:srgbClr val="C00000"/>
                </a:solidFill>
                <a:cs typeface="宋体"/>
              </a:rPr>
              <a:t>let</a:t>
            </a:r>
            <a:r>
              <a:rPr lang="zh-CN" altLang="en-US" sz="2000" spc="-165" dirty="0" smtClean="0">
                <a:solidFill>
                  <a:srgbClr val="C00000"/>
                </a:solidFill>
                <a:cs typeface="宋体"/>
              </a:rPr>
              <a:t>。</a:t>
            </a:r>
            <a:endParaRPr sz="2000" dirty="0">
              <a:cs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434955" y="685800"/>
            <a:ext cx="175704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变量数据类型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01806"/>
            <a:ext cx="8610600" cy="525467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302240" y="685800"/>
            <a:ext cx="188976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98698"/>
            <a:ext cx="26638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数组的基本使用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200" y="3352800"/>
            <a:ext cx="9293861" cy="2358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95"/>
              </a:spcBef>
              <a:buFont typeface="Wingdings" panose="05000000000000000000"/>
              <a:buChar char=""/>
              <a:tabLst>
                <a:tab pos="355600" algn="l"/>
                <a:tab pos="356235" algn="l"/>
              </a:tabLst>
            </a:pP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数组是按顺序保存，所以每个数据都有自己的</a:t>
            </a:r>
            <a:r>
              <a:rPr sz="2000" spc="-20" dirty="0">
                <a:solidFill>
                  <a:srgbClr val="404040"/>
                </a:solidFill>
                <a:latin typeface="宋体"/>
                <a:cs typeface="宋体"/>
              </a:rPr>
              <a:t>编</a:t>
            </a: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号</a:t>
            </a:r>
            <a:endParaRPr sz="2000" dirty="0">
              <a:latin typeface="宋体"/>
              <a:cs typeface="宋体"/>
            </a:endParaRPr>
          </a:p>
          <a:p>
            <a:pPr marL="355600" indent="-342900">
              <a:lnSpc>
                <a:spcPct val="150000"/>
              </a:lnSpc>
              <a:spcBef>
                <a:spcPts val="1345"/>
              </a:spcBef>
              <a:buFont typeface="Wingdings" panose="05000000000000000000"/>
              <a:buChar char=""/>
              <a:tabLst>
                <a:tab pos="355600" algn="l"/>
                <a:tab pos="356235" algn="l"/>
              </a:tabLst>
            </a:pP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计算机中的编号从</a:t>
            </a:r>
            <a:r>
              <a:rPr sz="2000" spc="105" dirty="0">
                <a:solidFill>
                  <a:srgbClr val="404040"/>
                </a:solidFill>
                <a:latin typeface="宋体"/>
                <a:cs typeface="宋体"/>
              </a:rPr>
              <a:t>0</a:t>
            </a: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开始，</a:t>
            </a:r>
            <a:r>
              <a:rPr sz="2000" spc="-30" dirty="0" smtClean="0">
                <a:solidFill>
                  <a:srgbClr val="404040"/>
                </a:solidFill>
                <a:latin typeface="宋体"/>
                <a:cs typeface="宋体"/>
              </a:rPr>
              <a:t>所以</a:t>
            </a:r>
            <a:r>
              <a:rPr lang="zh-CN" altLang="en-US" sz="2000" spc="-30" dirty="0" smtClean="0">
                <a:solidFill>
                  <a:srgbClr val="404040"/>
                </a:solidFill>
                <a:latin typeface="宋体"/>
                <a:cs typeface="宋体"/>
              </a:rPr>
              <a:t>张三</a:t>
            </a:r>
            <a:r>
              <a:rPr sz="2000" spc="-30" dirty="0" smtClean="0">
                <a:solidFill>
                  <a:srgbClr val="404040"/>
                </a:solidFill>
                <a:latin typeface="宋体"/>
                <a:cs typeface="宋体"/>
              </a:rPr>
              <a:t>的</a:t>
            </a:r>
            <a:r>
              <a:rPr sz="2000" spc="-20" dirty="0" smtClean="0">
                <a:solidFill>
                  <a:srgbClr val="404040"/>
                </a:solidFill>
                <a:latin typeface="宋体"/>
                <a:cs typeface="宋体"/>
              </a:rPr>
              <a:t>编</a:t>
            </a:r>
            <a:r>
              <a:rPr sz="2000" spc="-30" dirty="0" smtClean="0">
                <a:solidFill>
                  <a:srgbClr val="404040"/>
                </a:solidFill>
                <a:latin typeface="宋体"/>
                <a:cs typeface="宋体"/>
              </a:rPr>
              <a:t>号</a:t>
            </a:r>
            <a:r>
              <a:rPr sz="2000" spc="-15" dirty="0" smtClean="0">
                <a:solidFill>
                  <a:srgbClr val="404040"/>
                </a:solidFill>
                <a:latin typeface="宋体"/>
                <a:cs typeface="宋体"/>
              </a:rPr>
              <a:t>为</a:t>
            </a:r>
            <a:r>
              <a:rPr sz="2000" spc="35" dirty="0">
                <a:solidFill>
                  <a:srgbClr val="404040"/>
                </a:solidFill>
                <a:latin typeface="宋体"/>
                <a:cs typeface="宋体"/>
              </a:rPr>
              <a:t>0</a:t>
            </a:r>
            <a:r>
              <a:rPr sz="2000" spc="35" dirty="0" smtClean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lang="zh-CN" altLang="en-US" sz="2000" spc="-20" dirty="0" smtClean="0">
                <a:solidFill>
                  <a:srgbClr val="404040"/>
                </a:solidFill>
                <a:latin typeface="宋体"/>
                <a:cs typeface="宋体"/>
              </a:rPr>
              <a:t>李四</a:t>
            </a:r>
            <a:r>
              <a:rPr sz="2000" spc="-30" dirty="0" smtClean="0">
                <a:solidFill>
                  <a:srgbClr val="404040"/>
                </a:solidFill>
                <a:latin typeface="宋体"/>
                <a:cs typeface="宋体"/>
              </a:rPr>
              <a:t>编号</a:t>
            </a:r>
            <a:r>
              <a:rPr sz="2000" spc="-10" dirty="0" smtClean="0">
                <a:solidFill>
                  <a:srgbClr val="404040"/>
                </a:solidFill>
                <a:latin typeface="宋体"/>
                <a:cs typeface="宋体"/>
              </a:rPr>
              <a:t>为</a:t>
            </a:r>
            <a:r>
              <a:rPr sz="2000" spc="45" dirty="0">
                <a:solidFill>
                  <a:srgbClr val="404040"/>
                </a:solidFill>
                <a:latin typeface="宋体"/>
                <a:cs typeface="宋体"/>
              </a:rPr>
              <a:t>1，</a:t>
            </a: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以</a:t>
            </a:r>
            <a:r>
              <a:rPr sz="2000" spc="-20" dirty="0">
                <a:solidFill>
                  <a:srgbClr val="404040"/>
                </a:solidFill>
                <a:latin typeface="宋体"/>
                <a:cs typeface="宋体"/>
              </a:rPr>
              <a:t>此</a:t>
            </a: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类推</a:t>
            </a:r>
            <a:endParaRPr sz="2000" dirty="0">
              <a:latin typeface="宋体"/>
              <a:cs typeface="宋体"/>
            </a:endParaRPr>
          </a:p>
          <a:p>
            <a:pPr marL="355600" indent="-342900">
              <a:lnSpc>
                <a:spcPct val="150000"/>
              </a:lnSpc>
              <a:spcBef>
                <a:spcPts val="1345"/>
              </a:spcBef>
              <a:buFont typeface="Wingdings" panose="05000000000000000000"/>
              <a:buChar char=""/>
              <a:tabLst>
                <a:tab pos="355600" algn="l"/>
                <a:tab pos="356235" algn="l"/>
              </a:tabLst>
            </a:pP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在数组中，数据的编号也叫</a:t>
            </a:r>
            <a:r>
              <a:rPr sz="2000" b="1" spc="-30" dirty="0">
                <a:solidFill>
                  <a:srgbClr val="C00000"/>
                </a:solidFill>
                <a:latin typeface="微软雅黑"/>
                <a:cs typeface="微软雅黑"/>
              </a:rPr>
              <a:t>索引或下标</a:t>
            </a:r>
            <a:endParaRPr sz="2000" dirty="0">
              <a:latin typeface="微软雅黑"/>
              <a:cs typeface="微软雅黑"/>
            </a:endParaRPr>
          </a:p>
          <a:p>
            <a:pPr marL="355600" indent="-342900">
              <a:lnSpc>
                <a:spcPct val="150000"/>
              </a:lnSpc>
              <a:spcBef>
                <a:spcPts val="1345"/>
              </a:spcBef>
              <a:buFont typeface="Wingdings" panose="05000000000000000000"/>
              <a:buChar char=""/>
              <a:tabLst>
                <a:tab pos="355600" algn="l"/>
                <a:tab pos="356235" algn="l"/>
              </a:tabLst>
            </a:pP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数组可以存储任意类型的数据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6939" y="1559874"/>
            <a:ext cx="5742432" cy="6921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矩形 12"/>
          <p:cNvSpPr/>
          <p:nvPr/>
        </p:nvSpPr>
        <p:spPr>
          <a:xfrm>
            <a:off x="817485" y="2743200"/>
            <a:ext cx="3168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ea typeface="宋体" pitchFamily="2" charset="-122"/>
              </a:rPr>
              <a:t>let names=['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宋体" pitchFamily="2" charset="-122"/>
              </a:rPr>
              <a:t>张三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ea typeface="宋体" pitchFamily="2" charset="-122"/>
              </a:rPr>
              <a:t>','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宋体" pitchFamily="2" charset="-122"/>
              </a:rPr>
              <a:t>李四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ea typeface="宋体" pitchFamily="2" charset="-122"/>
              </a:rPr>
              <a:t>','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宋体" pitchFamily="2" charset="-122"/>
              </a:rPr>
              <a:t>刘七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ea typeface="宋体" pitchFamily="2" charset="-122"/>
              </a:rPr>
              <a:t>']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ea typeface="宋体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714719"/>
            <a:ext cx="26638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数组的基本使用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3537" y="1450233"/>
            <a:ext cx="274066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30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取值语法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9838" y="1957096"/>
            <a:ext cx="3409188" cy="54254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60986" y="3019864"/>
            <a:ext cx="7122385" cy="7944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"/>
              <a:tabLst>
                <a:tab pos="355600" algn="l"/>
                <a:tab pos="356235" algn="l"/>
              </a:tabLst>
            </a:pP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通过下标取数据</a:t>
            </a:r>
            <a:endParaRPr sz="20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45"/>
              </a:spcBef>
              <a:buFont typeface="Wingdings" panose="05000000000000000000"/>
              <a:buChar char=""/>
              <a:tabLst>
                <a:tab pos="355600" algn="l"/>
                <a:tab pos="356235" algn="l"/>
              </a:tabLst>
            </a:pP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取出来是什么类型的，就根据这种类型特点来</a:t>
            </a:r>
            <a:r>
              <a:rPr sz="2000" spc="-20" dirty="0">
                <a:solidFill>
                  <a:srgbClr val="404040"/>
                </a:solidFill>
                <a:latin typeface="宋体"/>
                <a:cs typeface="宋体"/>
              </a:rPr>
              <a:t>访</a:t>
            </a:r>
            <a:r>
              <a:rPr sz="2000" spc="-30" dirty="0">
                <a:solidFill>
                  <a:srgbClr val="404040"/>
                </a:solidFill>
                <a:latin typeface="宋体"/>
                <a:cs typeface="宋体"/>
              </a:rPr>
              <a:t>问</a:t>
            </a:r>
            <a:endParaRPr sz="2000" dirty="0">
              <a:latin typeface="宋体"/>
              <a:cs typeface="宋体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94" y="1870609"/>
            <a:ext cx="3962400" cy="9048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0" name="object 2"/>
          <p:cNvSpPr txBox="1"/>
          <p:nvPr/>
        </p:nvSpPr>
        <p:spPr>
          <a:xfrm>
            <a:off x="381000" y="5351058"/>
            <a:ext cx="83058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8495" lvl="1" indent="-286385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z="2000" spc="-25" dirty="0" err="1" smtClean="0">
                <a:solidFill>
                  <a:srgbClr val="404040"/>
                </a:solidFill>
                <a:latin typeface="宋体"/>
                <a:cs typeface="宋体"/>
              </a:rPr>
              <a:t>元素</a:t>
            </a:r>
            <a:r>
              <a:rPr sz="2000" spc="-25" dirty="0" err="1">
                <a:solidFill>
                  <a:srgbClr val="404040"/>
                </a:solidFill>
                <a:latin typeface="宋体"/>
                <a:cs typeface="宋体"/>
              </a:rPr>
              <a:t>：</a:t>
            </a:r>
            <a:r>
              <a:rPr sz="2000" spc="-25" dirty="0" err="1" smtClean="0">
                <a:solidFill>
                  <a:srgbClr val="404040"/>
                </a:solidFill>
                <a:latin typeface="宋体"/>
                <a:cs typeface="宋体"/>
              </a:rPr>
              <a:t>数组中保存</a:t>
            </a:r>
            <a:r>
              <a:rPr sz="2000" spc="-40" dirty="0" err="1" smtClean="0">
                <a:solidFill>
                  <a:srgbClr val="404040"/>
                </a:solidFill>
                <a:latin typeface="宋体"/>
                <a:cs typeface="宋体"/>
              </a:rPr>
              <a:t>的</a:t>
            </a:r>
            <a:r>
              <a:rPr sz="2000" spc="-25" dirty="0" err="1" smtClean="0">
                <a:solidFill>
                  <a:srgbClr val="404040"/>
                </a:solidFill>
                <a:latin typeface="宋体"/>
                <a:cs typeface="宋体"/>
              </a:rPr>
              <a:t>每</a:t>
            </a:r>
            <a:r>
              <a:rPr sz="2000" spc="-40" dirty="0" err="1" smtClean="0">
                <a:solidFill>
                  <a:srgbClr val="404040"/>
                </a:solidFill>
                <a:latin typeface="宋体"/>
                <a:cs typeface="宋体"/>
              </a:rPr>
              <a:t>个</a:t>
            </a:r>
            <a:r>
              <a:rPr sz="2000" spc="-25" dirty="0" err="1" smtClean="0">
                <a:solidFill>
                  <a:srgbClr val="404040"/>
                </a:solidFill>
                <a:latin typeface="宋体"/>
                <a:cs typeface="宋体"/>
              </a:rPr>
              <a:t>数据</a:t>
            </a:r>
            <a:r>
              <a:rPr sz="2000" spc="-40" dirty="0" err="1" smtClean="0">
                <a:solidFill>
                  <a:srgbClr val="404040"/>
                </a:solidFill>
                <a:latin typeface="宋体"/>
                <a:cs typeface="宋体"/>
              </a:rPr>
              <a:t>都</a:t>
            </a:r>
            <a:r>
              <a:rPr sz="2000" spc="-25" dirty="0" err="1" smtClean="0">
                <a:solidFill>
                  <a:srgbClr val="404040"/>
                </a:solidFill>
                <a:latin typeface="宋体"/>
                <a:cs typeface="宋体"/>
              </a:rPr>
              <a:t>叫</a:t>
            </a:r>
            <a:r>
              <a:rPr sz="2000" spc="-40" dirty="0" err="1" smtClean="0">
                <a:solidFill>
                  <a:srgbClr val="404040"/>
                </a:solidFill>
                <a:latin typeface="宋体"/>
                <a:cs typeface="宋体"/>
              </a:rPr>
              <a:t>数</a:t>
            </a:r>
            <a:r>
              <a:rPr sz="2000" spc="-25" dirty="0" err="1" smtClean="0">
                <a:solidFill>
                  <a:srgbClr val="404040"/>
                </a:solidFill>
                <a:latin typeface="宋体"/>
                <a:cs typeface="宋体"/>
              </a:rPr>
              <a:t>组元素</a:t>
            </a:r>
            <a:r>
              <a:rPr lang="zh-CN" altLang="en-US" sz="2000" spc="-25" dirty="0" smtClean="0">
                <a:solidFill>
                  <a:srgbClr val="404040"/>
                </a:solidFill>
                <a:latin typeface="宋体"/>
                <a:cs typeface="宋体"/>
              </a:rPr>
              <a:t>；</a:t>
            </a:r>
            <a:endParaRPr sz="2000" dirty="0">
              <a:latin typeface="宋体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z="2000" spc="-25" dirty="0" err="1">
                <a:solidFill>
                  <a:srgbClr val="404040"/>
                </a:solidFill>
                <a:latin typeface="宋体"/>
                <a:cs typeface="宋体"/>
              </a:rPr>
              <a:t>下标：</a:t>
            </a:r>
            <a:r>
              <a:rPr sz="2000" spc="-25" dirty="0" err="1" smtClean="0">
                <a:solidFill>
                  <a:srgbClr val="404040"/>
                </a:solidFill>
                <a:latin typeface="宋体"/>
                <a:cs typeface="宋体"/>
              </a:rPr>
              <a:t>数组中数据</a:t>
            </a:r>
            <a:r>
              <a:rPr sz="2000" spc="-35" dirty="0" err="1" smtClean="0">
                <a:solidFill>
                  <a:srgbClr val="404040"/>
                </a:solidFill>
                <a:latin typeface="宋体"/>
                <a:cs typeface="宋体"/>
              </a:rPr>
              <a:t>的</a:t>
            </a:r>
            <a:r>
              <a:rPr sz="2000" spc="-25" dirty="0" err="1" smtClean="0">
                <a:solidFill>
                  <a:srgbClr val="404040"/>
                </a:solidFill>
                <a:latin typeface="宋体"/>
                <a:cs typeface="宋体"/>
              </a:rPr>
              <a:t>编号</a:t>
            </a:r>
            <a:r>
              <a:rPr lang="zh-CN" altLang="en-US" sz="2000" spc="-25" dirty="0" smtClean="0">
                <a:solidFill>
                  <a:srgbClr val="404040"/>
                </a:solidFill>
                <a:latin typeface="宋体"/>
                <a:cs typeface="宋体"/>
              </a:rPr>
              <a:t>；</a:t>
            </a:r>
            <a:endParaRPr sz="2000" dirty="0">
              <a:latin typeface="宋体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z="2000" spc="-25" dirty="0" err="1">
                <a:solidFill>
                  <a:srgbClr val="404040"/>
                </a:solidFill>
                <a:latin typeface="宋体"/>
                <a:cs typeface="宋体"/>
              </a:rPr>
              <a:t>长度：数组中数据</a:t>
            </a:r>
            <a:r>
              <a:rPr sz="2000" spc="-35" dirty="0" err="1">
                <a:solidFill>
                  <a:srgbClr val="404040"/>
                </a:solidFill>
                <a:latin typeface="宋体"/>
                <a:cs typeface="宋体"/>
              </a:rPr>
              <a:t>的</a:t>
            </a:r>
            <a:r>
              <a:rPr sz="2000" spc="-25" dirty="0" err="1">
                <a:solidFill>
                  <a:srgbClr val="404040"/>
                </a:solidFill>
                <a:latin typeface="宋体"/>
                <a:cs typeface="宋体"/>
              </a:rPr>
              <a:t>个</a:t>
            </a:r>
            <a:r>
              <a:rPr sz="2000" spc="-35" dirty="0" err="1">
                <a:solidFill>
                  <a:srgbClr val="404040"/>
                </a:solidFill>
                <a:latin typeface="宋体"/>
                <a:cs typeface="宋体"/>
              </a:rPr>
              <a:t>数</a:t>
            </a:r>
            <a:r>
              <a:rPr sz="2000" spc="-25" dirty="0" err="1">
                <a:solidFill>
                  <a:srgbClr val="404040"/>
                </a:solidFill>
                <a:latin typeface="宋体"/>
                <a:cs typeface="宋体"/>
              </a:rPr>
              <a:t>，通</a:t>
            </a:r>
            <a:r>
              <a:rPr sz="2000" spc="-35" dirty="0" err="1">
                <a:solidFill>
                  <a:srgbClr val="404040"/>
                </a:solidFill>
                <a:latin typeface="宋体"/>
                <a:cs typeface="宋体"/>
              </a:rPr>
              <a:t>过</a:t>
            </a:r>
            <a:r>
              <a:rPr sz="2000" spc="-25" dirty="0" err="1">
                <a:solidFill>
                  <a:srgbClr val="404040"/>
                </a:solidFill>
                <a:latin typeface="宋体"/>
                <a:cs typeface="宋体"/>
              </a:rPr>
              <a:t>数</a:t>
            </a:r>
            <a:r>
              <a:rPr sz="2000" spc="-35" dirty="0" err="1">
                <a:solidFill>
                  <a:srgbClr val="404040"/>
                </a:solidFill>
                <a:latin typeface="宋体"/>
                <a:cs typeface="宋体"/>
              </a:rPr>
              <a:t>组</a:t>
            </a:r>
            <a:r>
              <a:rPr sz="2000" spc="-20" dirty="0" err="1">
                <a:solidFill>
                  <a:srgbClr val="404040"/>
                </a:solidFill>
                <a:latin typeface="宋体"/>
                <a:cs typeface="宋体"/>
              </a:rPr>
              <a:t>的</a:t>
            </a:r>
            <a:r>
              <a:rPr sz="2000" spc="10" dirty="0" err="1">
                <a:solidFill>
                  <a:srgbClr val="404040"/>
                </a:solidFill>
                <a:latin typeface="宋体"/>
                <a:cs typeface="宋体"/>
              </a:rPr>
              <a:t>length</a:t>
            </a:r>
            <a:r>
              <a:rPr sz="2000" spc="-20" dirty="0" err="1" smtClean="0">
                <a:solidFill>
                  <a:srgbClr val="404040"/>
                </a:solidFill>
                <a:latin typeface="宋体"/>
                <a:cs typeface="宋体"/>
              </a:rPr>
              <a:t>属</a:t>
            </a:r>
            <a:r>
              <a:rPr sz="2000" spc="-40" dirty="0" err="1" smtClean="0">
                <a:solidFill>
                  <a:srgbClr val="404040"/>
                </a:solidFill>
                <a:latin typeface="宋体"/>
                <a:cs typeface="宋体"/>
              </a:rPr>
              <a:t>性</a:t>
            </a:r>
            <a:r>
              <a:rPr sz="2000" spc="-20" dirty="0" err="1" smtClean="0">
                <a:solidFill>
                  <a:srgbClr val="404040"/>
                </a:solidFill>
                <a:latin typeface="宋体"/>
                <a:cs typeface="宋体"/>
              </a:rPr>
              <a:t>获得</a:t>
            </a:r>
            <a:r>
              <a:rPr lang="zh-CN" altLang="en-US" sz="2000" spc="-20" dirty="0" smtClean="0">
                <a:solidFill>
                  <a:srgbClr val="404040"/>
                </a:solidFill>
                <a:latin typeface="宋体"/>
                <a:cs typeface="宋体"/>
              </a:rPr>
              <a:t>；</a:t>
            </a:r>
            <a:endParaRPr sz="2000" dirty="0">
              <a:latin typeface="宋体"/>
              <a:cs typeface="宋体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86" y="3982610"/>
            <a:ext cx="4400550" cy="1200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08519"/>
            <a:ext cx="17627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数据类型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9837" y="1422349"/>
            <a:ext cx="5014061" cy="11817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55" dirty="0">
                <a:solidFill>
                  <a:srgbClr val="252525"/>
                </a:solidFill>
                <a:cs typeface="微软雅黑"/>
              </a:rPr>
              <a:t>JS</a:t>
            </a:r>
            <a:r>
              <a:rPr sz="2000" b="1" spc="-110" dirty="0">
                <a:solidFill>
                  <a:srgbClr val="252525"/>
                </a:solidFill>
                <a:cs typeface="微软雅黑"/>
              </a:rPr>
              <a:t> </a:t>
            </a:r>
            <a:r>
              <a:rPr sz="2000" b="1" spc="-35" dirty="0">
                <a:solidFill>
                  <a:srgbClr val="252525"/>
                </a:solidFill>
                <a:cs typeface="微软雅黑"/>
              </a:rPr>
              <a:t>数据类型整体分为两大类：</a:t>
            </a:r>
            <a:endParaRPr sz="2000" dirty="0">
              <a:cs typeface="微软雅黑"/>
            </a:endParaRPr>
          </a:p>
          <a:p>
            <a:pPr marL="658495" indent="-286385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-25" dirty="0">
                <a:cs typeface="宋体"/>
              </a:rPr>
              <a:t>基本数据类型</a:t>
            </a:r>
            <a:endParaRPr dirty="0">
              <a:cs typeface="宋体"/>
            </a:endParaRPr>
          </a:p>
          <a:p>
            <a:pPr marL="658495" indent="-28638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pc="-25" dirty="0">
                <a:cs typeface="宋体"/>
              </a:rPr>
              <a:t>引用数据类型</a:t>
            </a:r>
            <a:endParaRPr dirty="0"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301" y="2857909"/>
            <a:ext cx="15252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FF0000"/>
                </a:solidFill>
                <a:cs typeface="宋体"/>
              </a:rPr>
              <a:t>基本数据类型</a:t>
            </a:r>
            <a:endParaRPr sz="2000" dirty="0">
              <a:solidFill>
                <a:srgbClr val="FF0000"/>
              </a:solidFill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03210" y="2857908"/>
            <a:ext cx="15252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FF0000"/>
                </a:solidFill>
                <a:cs typeface="宋体"/>
              </a:rPr>
              <a:t>引用数据类型</a:t>
            </a:r>
            <a:endParaRPr sz="2000" dirty="0">
              <a:solidFill>
                <a:srgbClr val="FF0000"/>
              </a:solidFill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4065" y="3278505"/>
            <a:ext cx="4639945" cy="34429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 smtClean="0">
                <a:latin typeface="+mj-lt"/>
                <a:cs typeface="+mj-lt"/>
                <a:sym typeface="+mn-ea"/>
              </a:rPr>
              <a:t>有</a:t>
            </a:r>
            <a:r>
              <a:rPr lang="en-US" altLang="zh-CN" sz="2000" dirty="0" smtClean="0">
                <a:latin typeface="+mj-lt"/>
                <a:cs typeface="+mj-lt"/>
                <a:sym typeface="+mn-ea"/>
              </a:rPr>
              <a:t>6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种（</a:t>
            </a:r>
            <a:r>
              <a:rPr lang="en-US" altLang="zh-CN" sz="2000" dirty="0">
                <a:latin typeface="+mj-lt"/>
                <a:cs typeface="+mj-lt"/>
                <a:sym typeface="+mn-ea"/>
              </a:rPr>
              <a:t>s</a:t>
            </a:r>
            <a:r>
              <a:rPr lang="en-US" altLang="zh-CN" sz="2000" dirty="0" smtClean="0">
                <a:latin typeface="+mj-lt"/>
                <a:cs typeface="+mj-lt"/>
                <a:sym typeface="+mn-ea"/>
              </a:rPr>
              <a:t>ymbol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为</a:t>
            </a:r>
            <a:r>
              <a:rPr lang="en-US" altLang="zh-CN" sz="2000" dirty="0" smtClean="0">
                <a:latin typeface="+mj-lt"/>
                <a:cs typeface="+mj-lt"/>
                <a:sym typeface="+mn-ea"/>
              </a:rPr>
              <a:t>ES6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新增），具体如下：</a:t>
            </a:r>
            <a:endParaRPr lang="en-US" altLang="zh-CN" sz="2000" dirty="0" smtClean="0">
              <a:latin typeface="+mj-lt"/>
              <a:cs typeface="+mj-lt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+mj-lt"/>
                <a:cs typeface="+mj-lt"/>
                <a:sym typeface="+mn-ea"/>
              </a:rPr>
              <a:t>s</a:t>
            </a:r>
            <a:r>
              <a:rPr lang="en-US" altLang="zh-CN" sz="2000" dirty="0" smtClean="0">
                <a:latin typeface="+mj-lt"/>
                <a:cs typeface="+mj-lt"/>
                <a:sym typeface="+mn-ea"/>
              </a:rPr>
              <a:t>tring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：字符串</a:t>
            </a:r>
            <a:endParaRPr lang="en-US" altLang="zh-CN" sz="2000" dirty="0" smtClean="0">
              <a:latin typeface="+mj-lt"/>
              <a:cs typeface="+mj-lt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+mj-lt"/>
                <a:cs typeface="+mj-lt"/>
                <a:sym typeface="+mn-ea"/>
              </a:rPr>
              <a:t>n</a:t>
            </a:r>
            <a:r>
              <a:rPr lang="en-US" altLang="zh-CN" sz="2000" dirty="0" smtClean="0">
                <a:latin typeface="+mj-lt"/>
                <a:cs typeface="+mj-lt"/>
                <a:sym typeface="+mn-ea"/>
              </a:rPr>
              <a:t>umber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：数值</a:t>
            </a:r>
            <a:endParaRPr lang="en-US" altLang="zh-CN" sz="2000" dirty="0" smtClean="0">
              <a:latin typeface="+mj-lt"/>
              <a:cs typeface="+mj-lt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 err="1">
                <a:latin typeface="+mj-lt"/>
                <a:cs typeface="+mj-lt"/>
                <a:sym typeface="+mn-ea"/>
              </a:rPr>
              <a:t>b</a:t>
            </a:r>
            <a:r>
              <a:rPr lang="en-US" altLang="zh-CN" sz="2000" dirty="0" err="1" smtClean="0">
                <a:latin typeface="+mj-lt"/>
                <a:cs typeface="+mj-lt"/>
                <a:sym typeface="+mn-ea"/>
              </a:rPr>
              <a:t>oolean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：布尔值</a:t>
            </a:r>
            <a:endParaRPr lang="en-US" altLang="zh-CN" sz="2000" dirty="0" smtClean="0">
              <a:latin typeface="+mj-lt"/>
              <a:cs typeface="+mj-lt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+mj-lt"/>
                <a:cs typeface="+mj-lt"/>
                <a:sym typeface="+mn-ea"/>
              </a:rPr>
              <a:t>n</a:t>
            </a:r>
            <a:r>
              <a:rPr lang="en-US" altLang="zh-CN" sz="2000" dirty="0" smtClean="0">
                <a:latin typeface="+mj-lt"/>
                <a:cs typeface="+mj-lt"/>
                <a:sym typeface="+mn-ea"/>
              </a:rPr>
              <a:t>ull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：空</a:t>
            </a:r>
            <a:endParaRPr lang="en-US" altLang="zh-CN" sz="2000" dirty="0" smtClean="0">
              <a:latin typeface="+mj-lt"/>
              <a:cs typeface="+mj-lt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+mj-lt"/>
                <a:cs typeface="+mj-lt"/>
                <a:sym typeface="+mn-ea"/>
              </a:rPr>
              <a:t>u</a:t>
            </a:r>
            <a:r>
              <a:rPr lang="en-US" altLang="zh-CN" sz="2000" dirty="0" smtClean="0">
                <a:latin typeface="+mj-lt"/>
                <a:cs typeface="+mj-lt"/>
                <a:sym typeface="+mn-ea"/>
              </a:rPr>
              <a:t>ndefined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：未定义</a:t>
            </a:r>
            <a:endParaRPr lang="en-US" altLang="zh-CN" sz="2000" dirty="0" smtClean="0">
              <a:latin typeface="+mj-lt"/>
              <a:cs typeface="+mj-lt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+mj-lt"/>
                <a:cs typeface="+mj-lt"/>
                <a:sym typeface="+mn-ea"/>
              </a:rPr>
              <a:t>s</a:t>
            </a:r>
            <a:r>
              <a:rPr lang="en-US" altLang="zh-CN" sz="2000" dirty="0" smtClean="0">
                <a:latin typeface="+mj-lt"/>
                <a:cs typeface="+mj-lt"/>
                <a:sym typeface="+mn-ea"/>
              </a:rPr>
              <a:t>ymbol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：唯一的值</a:t>
            </a:r>
            <a:endParaRPr lang="en-US" altLang="zh-CN" sz="2000" dirty="0" smtClean="0">
              <a:latin typeface="+mj-lt"/>
              <a:cs typeface="+mj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 smtClean="0">
                <a:latin typeface="+mj-lt"/>
                <a:cs typeface="+mj-lt"/>
                <a:sym typeface="+mn-ea"/>
              </a:rPr>
              <a:t>这</a:t>
            </a:r>
            <a:r>
              <a:rPr lang="en-US" altLang="zh-CN" sz="2000" dirty="0" smtClean="0">
                <a:latin typeface="+mj-lt"/>
                <a:cs typeface="+mj-lt"/>
                <a:sym typeface="+mn-ea"/>
              </a:rPr>
              <a:t>6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种基本类型可以用</a:t>
            </a:r>
            <a:r>
              <a:rPr lang="en-US" altLang="zh-CN" sz="2000" dirty="0" err="1" smtClean="0">
                <a:latin typeface="+mj-lt"/>
                <a:cs typeface="+mj-lt"/>
                <a:sym typeface="+mn-ea"/>
              </a:rPr>
              <a:t>typeof</a:t>
            </a:r>
            <a:r>
              <a:rPr lang="zh-CN" altLang="en-US" sz="2000" dirty="0" smtClean="0">
                <a:latin typeface="+mj-lt"/>
                <a:cs typeface="+mj-lt"/>
                <a:sym typeface="+mn-ea"/>
              </a:rPr>
              <a:t>关键字来判断，方法如右：</a:t>
            </a:r>
            <a:endParaRPr sz="2000" dirty="0">
              <a:latin typeface="+mj-lt"/>
              <a:cs typeface="+mj-l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4664" y="3429000"/>
            <a:ext cx="2134108" cy="244792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000" dirty="0">
                <a:solidFill>
                  <a:srgbClr val="252525"/>
                </a:solidFill>
                <a:cs typeface="宋体"/>
              </a:rPr>
              <a:t>object：对象</a:t>
            </a:r>
            <a:endParaRPr sz="2000" dirty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000" dirty="0">
                <a:solidFill>
                  <a:srgbClr val="252525"/>
                </a:solidFill>
                <a:cs typeface="宋体"/>
              </a:rPr>
              <a:t>array：数组</a:t>
            </a:r>
            <a:endParaRPr sz="2000" dirty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000" dirty="0">
                <a:solidFill>
                  <a:srgbClr val="252525"/>
                </a:solidFill>
                <a:cs typeface="宋体"/>
              </a:rPr>
              <a:t>function：函数</a:t>
            </a:r>
            <a:endParaRPr sz="2000" dirty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000" dirty="0">
                <a:solidFill>
                  <a:srgbClr val="252525"/>
                </a:solidFill>
                <a:cs typeface="宋体"/>
              </a:rPr>
              <a:t>Date：时间</a:t>
            </a:r>
            <a:endParaRPr sz="2000" dirty="0">
              <a:solidFill>
                <a:srgbClr val="252525"/>
              </a:solidFill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000" dirty="0">
                <a:solidFill>
                  <a:srgbClr val="252525"/>
                </a:solidFill>
                <a:cs typeface="宋体"/>
              </a:rPr>
              <a:t>RegExp：正则表达式</a:t>
            </a:r>
            <a:endParaRPr sz="2000" dirty="0">
              <a:solidFill>
                <a:srgbClr val="252525"/>
              </a:solidFill>
              <a:cs typeface="宋体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844405" y="685800"/>
            <a:ext cx="234759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62411" y="3574245"/>
            <a:ext cx="2085975" cy="32575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62411" y="2910470"/>
            <a:ext cx="1771650" cy="666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05999" y="2910434"/>
            <a:ext cx="2286965" cy="23039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924800" y="5943600"/>
            <a:ext cx="39554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dirty="0" smtClean="0">
                <a:latin typeface="+mj-lt"/>
                <a:cs typeface="+mj-lt"/>
                <a:sym typeface="+mn-ea"/>
              </a:rPr>
              <a:t>如果尝试用</a:t>
            </a:r>
            <a:r>
              <a:rPr lang="en-US" altLang="zh-CN" sz="1600" dirty="0" err="1" smtClean="0">
                <a:latin typeface="+mj-lt"/>
                <a:cs typeface="+mj-lt"/>
                <a:sym typeface="+mn-ea"/>
              </a:rPr>
              <a:t>typeof</a:t>
            </a:r>
            <a:r>
              <a:rPr lang="zh-CN" altLang="en-US" sz="1600" dirty="0" smtClean="0">
                <a:latin typeface="+mj-lt"/>
                <a:cs typeface="+mj-lt"/>
                <a:sym typeface="+mn-ea"/>
              </a:rPr>
              <a:t>关键字判断引用类型，除了函数，其他类型结果都是“</a:t>
            </a:r>
            <a:r>
              <a:rPr lang="en-US" altLang="zh-CN" sz="1600" dirty="0">
                <a:latin typeface="+mj-lt"/>
                <a:cs typeface="+mj-lt"/>
                <a:sym typeface="+mn-ea"/>
              </a:rPr>
              <a:t>o</a:t>
            </a:r>
            <a:r>
              <a:rPr lang="en-US" altLang="zh-CN" sz="1600" dirty="0" smtClean="0">
                <a:latin typeface="+mj-lt"/>
                <a:cs typeface="+mj-lt"/>
                <a:sym typeface="+mn-ea"/>
              </a:rPr>
              <a:t>bject</a:t>
            </a:r>
            <a:r>
              <a:rPr lang="zh-CN" altLang="en-US" sz="1600" dirty="0" smtClean="0">
                <a:latin typeface="+mj-lt"/>
                <a:cs typeface="+mj-lt"/>
                <a:sym typeface="+mn-ea"/>
              </a:rPr>
              <a:t>”</a:t>
            </a:r>
            <a:r>
              <a:rPr lang="en-US" altLang="zh-CN" sz="1600" dirty="0" smtClean="0">
                <a:latin typeface="+mj-lt"/>
                <a:cs typeface="+mj-lt"/>
                <a:sym typeface="+mn-ea"/>
              </a:rPr>
              <a:t>.</a:t>
            </a:r>
            <a:endParaRPr lang="en-US" altLang="zh-CN" sz="1600" dirty="0" smtClean="0"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724" y="701243"/>
            <a:ext cx="609447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数据类型</a:t>
            </a:r>
            <a:r>
              <a:rPr sz="2800" b="1" spc="-130" dirty="0" smtClean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110" dirty="0">
                <a:solidFill>
                  <a:srgbClr val="585858"/>
                </a:solidFill>
                <a:latin typeface="微软雅黑"/>
                <a:cs typeface="微软雅黑"/>
              </a:rPr>
              <a:t>–</a:t>
            </a:r>
            <a:r>
              <a:rPr sz="2800" b="1" spc="-130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40" dirty="0" err="1">
                <a:solidFill>
                  <a:srgbClr val="585858"/>
                </a:solidFill>
                <a:latin typeface="微软雅黑"/>
                <a:cs typeface="微软雅黑"/>
              </a:rPr>
              <a:t>数字类型</a:t>
            </a:r>
            <a:r>
              <a:rPr sz="2800" b="1" spc="-45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（</a:t>
            </a:r>
            <a:r>
              <a:rPr lang="en-US" altLang="zh-CN" sz="2800" b="1" spc="-45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N</a:t>
            </a:r>
            <a:r>
              <a:rPr sz="2800" b="1" spc="-45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umber</a:t>
            </a:r>
            <a:r>
              <a:rPr sz="2800" b="1" spc="-45" dirty="0">
                <a:solidFill>
                  <a:srgbClr val="585858"/>
                </a:solidFill>
                <a:latin typeface="微软雅黑"/>
                <a:cs typeface="微软雅黑"/>
              </a:rPr>
              <a:t>）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41" y="1454616"/>
            <a:ext cx="561911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400" spc="-30" dirty="0" smtClean="0">
                <a:solidFill>
                  <a:srgbClr val="252525"/>
                </a:solidFill>
                <a:latin typeface="宋体"/>
                <a:cs typeface="宋体"/>
              </a:rPr>
              <a:t>整数</a:t>
            </a:r>
            <a:r>
              <a:rPr sz="2400" spc="-30" dirty="0" smtClean="0">
                <a:solidFill>
                  <a:srgbClr val="252525"/>
                </a:solidFill>
                <a:latin typeface="宋体"/>
                <a:cs typeface="宋体"/>
              </a:rPr>
              <a:t>、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小</a:t>
            </a:r>
            <a:r>
              <a:rPr sz="2400" spc="-20" dirty="0">
                <a:solidFill>
                  <a:srgbClr val="252525"/>
                </a:solidFill>
                <a:latin typeface="宋体"/>
                <a:cs typeface="宋体"/>
              </a:rPr>
              <a:t>数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、正数</a:t>
            </a:r>
            <a:r>
              <a:rPr sz="2400" spc="-15" dirty="0">
                <a:solidFill>
                  <a:srgbClr val="252525"/>
                </a:solidFill>
                <a:latin typeface="宋体"/>
                <a:cs typeface="宋体"/>
              </a:rPr>
              <a:t>、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负数。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9724" y="3797086"/>
            <a:ext cx="8609076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55" dirty="0">
                <a:solidFill>
                  <a:srgbClr val="252525"/>
                </a:solidFill>
                <a:latin typeface="宋体" pitchFamily="2" charset="-122"/>
                <a:ea typeface="宋体" pitchFamily="2" charset="-122"/>
                <a:cs typeface="宋体"/>
              </a:rPr>
              <a:t>JavaScript</a:t>
            </a:r>
            <a:r>
              <a:rPr sz="2400" spc="-385" dirty="0">
                <a:solidFill>
                  <a:srgbClr val="252525"/>
                </a:solidFill>
                <a:latin typeface="宋体" pitchFamily="2" charset="-122"/>
                <a:ea typeface="宋体" pitchFamily="2" charset="-122"/>
                <a:cs typeface="宋体"/>
              </a:rPr>
              <a:t> </a:t>
            </a:r>
            <a:r>
              <a:rPr sz="2400" spc="-30" dirty="0" err="1">
                <a:solidFill>
                  <a:srgbClr val="252525"/>
                </a:solidFill>
                <a:latin typeface="宋体" pitchFamily="2" charset="-122"/>
                <a:ea typeface="宋体" pitchFamily="2" charset="-122"/>
                <a:cs typeface="宋体"/>
              </a:rPr>
              <a:t>中的正数、负数、</a:t>
            </a:r>
            <a:r>
              <a:rPr sz="2400" spc="-30" dirty="0" err="1" smtClean="0">
                <a:solidFill>
                  <a:srgbClr val="252525"/>
                </a:solidFill>
                <a:latin typeface="宋体" pitchFamily="2" charset="-122"/>
                <a:ea typeface="宋体" pitchFamily="2" charset="-122"/>
                <a:cs typeface="宋体"/>
              </a:rPr>
              <a:t>小数等统一称为</a:t>
            </a:r>
            <a:r>
              <a:rPr sz="2400" spc="-395" dirty="0" smtClean="0">
                <a:solidFill>
                  <a:srgbClr val="252525"/>
                </a:solidFill>
                <a:latin typeface="宋体" pitchFamily="2" charset="-122"/>
                <a:ea typeface="宋体" pitchFamily="2" charset="-122"/>
                <a:cs typeface="宋体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宋体" pitchFamily="2" charset="-122"/>
                <a:ea typeface="宋体" pitchFamily="2" charset="-122"/>
                <a:cs typeface="宋体"/>
              </a:rPr>
              <a:t>数字类型。</a:t>
            </a:r>
            <a:endParaRPr sz="2400" dirty="0">
              <a:latin typeface="宋体" pitchFamily="2" charset="-122"/>
              <a:ea typeface="宋体" pitchFamily="2" charset="-122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8958" y="2049356"/>
            <a:ext cx="4475987" cy="14569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57200" y="4488263"/>
            <a:ext cx="11201400" cy="937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7025">
              <a:lnSpc>
                <a:spcPct val="100000"/>
              </a:lnSpc>
            </a:pPr>
            <a:r>
              <a:rPr lang="en-US" altLang="zh-CN" sz="2400" spc="-114" dirty="0">
                <a:latin typeface="+mj-lt"/>
                <a:cs typeface="+mj-lt"/>
              </a:rPr>
              <a:t>JS</a:t>
            </a:r>
            <a:r>
              <a:rPr lang="zh-CN" altLang="en-US" sz="2400" spc="-360" dirty="0">
                <a:latin typeface="+mj-lt"/>
                <a:cs typeface="+mj-lt"/>
              </a:rPr>
              <a:t> </a:t>
            </a:r>
            <a:r>
              <a:rPr lang="zh-CN" altLang="en-US" sz="2400" spc="-25" dirty="0">
                <a:latin typeface="+mj-lt"/>
                <a:cs typeface="+mj-lt"/>
              </a:rPr>
              <a:t>是弱数据类型，变</a:t>
            </a:r>
            <a:r>
              <a:rPr lang="zh-CN" altLang="en-US" sz="2400" spc="-35" dirty="0">
                <a:latin typeface="+mj-lt"/>
                <a:cs typeface="+mj-lt"/>
              </a:rPr>
              <a:t>量</a:t>
            </a:r>
            <a:r>
              <a:rPr lang="zh-CN" altLang="en-US" sz="2400" spc="-25" dirty="0">
                <a:latin typeface="+mj-lt"/>
                <a:cs typeface="+mj-lt"/>
              </a:rPr>
              <a:t>到底</a:t>
            </a:r>
            <a:r>
              <a:rPr lang="zh-CN" altLang="en-US" sz="2400" spc="-35" dirty="0">
                <a:latin typeface="+mj-lt"/>
                <a:cs typeface="+mj-lt"/>
              </a:rPr>
              <a:t>属</a:t>
            </a:r>
            <a:r>
              <a:rPr lang="zh-CN" altLang="en-US" sz="2400" spc="-25" dirty="0">
                <a:latin typeface="+mj-lt"/>
                <a:cs typeface="+mj-lt"/>
              </a:rPr>
              <a:t>于</a:t>
            </a:r>
            <a:r>
              <a:rPr lang="zh-CN" altLang="en-US" sz="2400" spc="-35" dirty="0">
                <a:latin typeface="+mj-lt"/>
                <a:cs typeface="+mj-lt"/>
              </a:rPr>
              <a:t>那</a:t>
            </a:r>
            <a:r>
              <a:rPr lang="zh-CN" altLang="en-US" sz="2400" spc="-25" dirty="0">
                <a:latin typeface="+mj-lt"/>
                <a:cs typeface="+mj-lt"/>
              </a:rPr>
              <a:t>种</a:t>
            </a:r>
            <a:r>
              <a:rPr lang="zh-CN" altLang="en-US" sz="2400" spc="-35" dirty="0">
                <a:latin typeface="+mj-lt"/>
                <a:cs typeface="+mj-lt"/>
              </a:rPr>
              <a:t>类</a:t>
            </a:r>
            <a:r>
              <a:rPr lang="zh-CN" altLang="en-US" sz="2400" spc="-25" dirty="0">
                <a:latin typeface="+mj-lt"/>
                <a:cs typeface="+mj-lt"/>
              </a:rPr>
              <a:t>型，</a:t>
            </a:r>
            <a:r>
              <a:rPr lang="zh-CN" altLang="en-US" sz="2400" spc="-35" dirty="0">
                <a:latin typeface="+mj-lt"/>
                <a:cs typeface="+mj-lt"/>
              </a:rPr>
              <a:t>只</a:t>
            </a:r>
            <a:r>
              <a:rPr lang="zh-CN" altLang="en-US" sz="2400" spc="-25" dirty="0">
                <a:latin typeface="+mj-lt"/>
                <a:cs typeface="+mj-lt"/>
              </a:rPr>
              <a:t>有</a:t>
            </a:r>
            <a:r>
              <a:rPr lang="zh-CN" altLang="en-US" sz="2400" spc="-35" dirty="0">
                <a:latin typeface="+mj-lt"/>
                <a:cs typeface="+mj-lt"/>
              </a:rPr>
              <a:t>赋</a:t>
            </a:r>
            <a:r>
              <a:rPr lang="zh-CN" altLang="en-US" sz="2400" spc="-25" dirty="0">
                <a:latin typeface="+mj-lt"/>
                <a:cs typeface="+mj-lt"/>
              </a:rPr>
              <a:t>值之</a:t>
            </a:r>
            <a:r>
              <a:rPr lang="zh-CN" altLang="en-US" sz="2400" spc="-35" dirty="0">
                <a:latin typeface="+mj-lt"/>
                <a:cs typeface="+mj-lt"/>
              </a:rPr>
              <a:t>后</a:t>
            </a:r>
            <a:r>
              <a:rPr lang="zh-CN" altLang="en-US" sz="2400" spc="-25" dirty="0">
                <a:latin typeface="+mj-lt"/>
                <a:cs typeface="+mj-lt"/>
              </a:rPr>
              <a:t>，</a:t>
            </a:r>
            <a:r>
              <a:rPr lang="zh-CN" altLang="en-US" sz="2400" spc="-35" dirty="0">
                <a:latin typeface="+mj-lt"/>
                <a:cs typeface="+mj-lt"/>
              </a:rPr>
              <a:t>我</a:t>
            </a:r>
            <a:r>
              <a:rPr lang="zh-CN" altLang="en-US" sz="2400" spc="-25" dirty="0">
                <a:latin typeface="+mj-lt"/>
                <a:cs typeface="+mj-lt"/>
              </a:rPr>
              <a:t>们</a:t>
            </a:r>
            <a:r>
              <a:rPr lang="zh-CN" altLang="en-US" sz="2400" spc="-35" dirty="0">
                <a:latin typeface="+mj-lt"/>
                <a:cs typeface="+mj-lt"/>
              </a:rPr>
              <a:t>才</a:t>
            </a:r>
            <a:r>
              <a:rPr lang="zh-CN" altLang="en-US" sz="2400" spc="-25" dirty="0">
                <a:latin typeface="+mj-lt"/>
                <a:cs typeface="+mj-lt"/>
              </a:rPr>
              <a:t>能确认</a:t>
            </a:r>
            <a:endParaRPr lang="zh-CN" altLang="en-US" sz="2400" dirty="0">
              <a:latin typeface="+mj-lt"/>
              <a:cs typeface="+mj-lt"/>
            </a:endParaRPr>
          </a:p>
          <a:p>
            <a:pPr marL="327025">
              <a:lnSpc>
                <a:spcPct val="100000"/>
              </a:lnSpc>
              <a:spcBef>
                <a:spcPts val="840"/>
              </a:spcBef>
              <a:tabLst>
                <a:tab pos="3210560" algn="l"/>
              </a:tabLst>
            </a:pPr>
            <a:r>
              <a:rPr lang="en-US" altLang="zh-CN" sz="2400" spc="10" dirty="0">
                <a:latin typeface="+mj-lt"/>
                <a:cs typeface="+mj-lt"/>
              </a:rPr>
              <a:t>Java</a:t>
            </a:r>
            <a:r>
              <a:rPr lang="zh-CN" altLang="en-US" sz="2400" spc="-20" dirty="0">
                <a:latin typeface="+mj-lt"/>
                <a:cs typeface="+mj-lt"/>
              </a:rPr>
              <a:t>是强数据</a:t>
            </a:r>
            <a:r>
              <a:rPr lang="zh-CN" altLang="en-US" sz="2400" spc="-30" dirty="0">
                <a:latin typeface="+mj-lt"/>
                <a:cs typeface="+mj-lt"/>
              </a:rPr>
              <a:t>类</a:t>
            </a:r>
            <a:r>
              <a:rPr lang="zh-CN" altLang="en-US" sz="2400" spc="-20" dirty="0">
                <a:latin typeface="+mj-lt"/>
                <a:cs typeface="+mj-lt"/>
              </a:rPr>
              <a:t>型</a:t>
            </a:r>
            <a:r>
              <a:rPr lang="zh-CN" altLang="en-US" sz="2400" spc="345" dirty="0">
                <a:latin typeface="+mj-lt"/>
                <a:cs typeface="+mj-lt"/>
              </a:rPr>
              <a:t> </a:t>
            </a:r>
            <a:r>
              <a:rPr lang="zh-CN" altLang="en-US" sz="2400" spc="-25" dirty="0">
                <a:latin typeface="+mj-lt"/>
                <a:cs typeface="+mj-lt"/>
              </a:rPr>
              <a:t>例</a:t>
            </a:r>
            <a:r>
              <a:rPr lang="zh-CN" altLang="en-US" sz="2400" spc="-20" dirty="0">
                <a:latin typeface="+mj-lt"/>
                <a:cs typeface="+mj-lt"/>
              </a:rPr>
              <a:t>如</a:t>
            </a:r>
            <a:r>
              <a:rPr lang="zh-CN" altLang="en-US" sz="2400" spc="15" dirty="0">
                <a:latin typeface="+mj-lt"/>
                <a:cs typeface="+mj-lt"/>
              </a:rPr>
              <a:t> </a:t>
            </a:r>
            <a:r>
              <a:rPr lang="en-US" altLang="zh-CN" sz="2400" spc="-135" dirty="0" err="1">
                <a:solidFill>
                  <a:srgbClr val="FF0000"/>
                </a:solidFill>
                <a:latin typeface="+mj-lt"/>
                <a:cs typeface="+mj-lt"/>
              </a:rPr>
              <a:t>int</a:t>
            </a:r>
            <a:r>
              <a:rPr lang="zh-CN" altLang="en-US" sz="2400" spc="30" dirty="0">
                <a:solidFill>
                  <a:srgbClr val="FF0000"/>
                </a:solidFill>
                <a:latin typeface="+mj-lt"/>
                <a:cs typeface="+mj-lt"/>
              </a:rPr>
              <a:t> </a:t>
            </a:r>
            <a:r>
              <a:rPr lang="en-US" altLang="zh-CN" sz="2400" spc="155" dirty="0">
                <a:solidFill>
                  <a:srgbClr val="FF0000"/>
                </a:solidFill>
                <a:latin typeface="+mj-lt"/>
                <a:cs typeface="+mj-lt"/>
              </a:rPr>
              <a:t>a</a:t>
            </a:r>
            <a:r>
              <a:rPr lang="zh-CN" altLang="en-US" sz="2400" spc="-335" dirty="0">
                <a:solidFill>
                  <a:srgbClr val="FF0000"/>
                </a:solidFill>
                <a:latin typeface="+mj-lt"/>
                <a:cs typeface="+mj-lt"/>
              </a:rPr>
              <a:t> </a:t>
            </a:r>
            <a:r>
              <a:rPr lang="en-US" altLang="zh-CN" sz="2400" spc="75" dirty="0">
                <a:solidFill>
                  <a:srgbClr val="FF0000"/>
                </a:solidFill>
                <a:latin typeface="+mj-lt"/>
                <a:cs typeface="+mj-lt"/>
              </a:rPr>
              <a:t>=</a:t>
            </a:r>
            <a:r>
              <a:rPr lang="zh-CN" altLang="en-US" sz="2400" spc="-335" dirty="0">
                <a:solidFill>
                  <a:srgbClr val="FF0000"/>
                </a:solidFill>
                <a:latin typeface="+mj-lt"/>
                <a:cs typeface="+mj-lt"/>
              </a:rPr>
              <a:t> </a:t>
            </a:r>
            <a:r>
              <a:rPr lang="en-US" altLang="zh-CN" sz="2400" spc="105" dirty="0" smtClean="0">
                <a:solidFill>
                  <a:srgbClr val="FF0000"/>
                </a:solidFill>
                <a:latin typeface="+mj-lt"/>
                <a:cs typeface="+mj-lt"/>
              </a:rPr>
              <a:t>3</a:t>
            </a:r>
            <a:r>
              <a:rPr lang="en-US" altLang="zh-CN" sz="2400" spc="105" dirty="0" smtClean="0">
                <a:latin typeface="+mj-lt"/>
                <a:cs typeface="+mj-lt"/>
              </a:rPr>
              <a:t>; a</a:t>
            </a:r>
            <a:r>
              <a:rPr lang="zh-CN" altLang="en-US" sz="2400" spc="-20" dirty="0" smtClean="0">
                <a:latin typeface="+mj-lt"/>
                <a:cs typeface="+mj-lt"/>
              </a:rPr>
              <a:t>必须</a:t>
            </a:r>
            <a:r>
              <a:rPr lang="zh-CN" altLang="en-US" sz="2400" spc="-20" dirty="0">
                <a:latin typeface="+mj-lt"/>
                <a:cs typeface="+mj-lt"/>
              </a:rPr>
              <a:t>是整数</a:t>
            </a:r>
            <a:endParaRPr lang="zh-CN" altLang="en-US" sz="2400" dirty="0">
              <a:latin typeface="+mj-lt"/>
              <a:cs typeface="+mj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681845" y="685800"/>
            <a:ext cx="251015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04255"/>
            <a:ext cx="595247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数据类型</a:t>
            </a:r>
            <a:r>
              <a:rPr sz="2800" b="1" spc="-120" dirty="0" smtClean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110" dirty="0">
                <a:solidFill>
                  <a:srgbClr val="585858"/>
                </a:solidFill>
                <a:latin typeface="微软雅黑"/>
                <a:cs typeface="微软雅黑"/>
              </a:rPr>
              <a:t>–</a:t>
            </a:r>
            <a:r>
              <a:rPr sz="2800" b="1" spc="-125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40" dirty="0" err="1">
                <a:solidFill>
                  <a:srgbClr val="585858"/>
                </a:solidFill>
                <a:latin typeface="微软雅黑"/>
                <a:cs typeface="微软雅黑"/>
              </a:rPr>
              <a:t>字符串类型</a:t>
            </a:r>
            <a:r>
              <a:rPr sz="2800" b="1" spc="-5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（</a:t>
            </a:r>
            <a:r>
              <a:rPr lang="en-US" sz="2800" b="1" spc="-5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S</a:t>
            </a:r>
            <a:r>
              <a:rPr sz="2800" b="1" spc="-5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tring</a:t>
            </a:r>
            <a:r>
              <a:rPr sz="2800" b="1" spc="-50" dirty="0">
                <a:solidFill>
                  <a:srgbClr val="585858"/>
                </a:solidFill>
                <a:latin typeface="微软雅黑"/>
                <a:cs typeface="微软雅黑"/>
              </a:rPr>
              <a:t>）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300733"/>
            <a:ext cx="11049000" cy="864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spc="-30" dirty="0">
                <a:solidFill>
                  <a:srgbClr val="C00000"/>
                </a:solidFill>
                <a:latin typeface="宋体"/>
                <a:cs typeface="宋体"/>
              </a:rPr>
              <a:t>通过单引号（</a:t>
            </a:r>
            <a:r>
              <a:rPr sz="2000" spc="-380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000" spc="-275" dirty="0">
                <a:solidFill>
                  <a:srgbClr val="C00000"/>
                </a:solidFill>
                <a:latin typeface="宋体"/>
                <a:cs typeface="宋体"/>
              </a:rPr>
              <a:t>''）</a:t>
            </a:r>
            <a:r>
              <a:rPr sz="2000" spc="-415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000" spc="-30" dirty="0">
                <a:solidFill>
                  <a:srgbClr val="C00000"/>
                </a:solidFill>
                <a:latin typeface="宋体"/>
                <a:cs typeface="宋体"/>
              </a:rPr>
              <a:t>、双引号（</a:t>
            </a:r>
            <a:r>
              <a:rPr sz="2000" spc="-380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000" spc="-114" dirty="0">
                <a:solidFill>
                  <a:srgbClr val="C00000"/>
                </a:solidFill>
                <a:latin typeface="宋体"/>
                <a:cs typeface="宋体"/>
              </a:rPr>
              <a:t>""）</a:t>
            </a:r>
            <a:r>
              <a:rPr sz="2000" spc="-30" dirty="0">
                <a:solidFill>
                  <a:srgbClr val="C00000"/>
                </a:solidFill>
                <a:latin typeface="宋体"/>
                <a:cs typeface="宋体"/>
              </a:rPr>
              <a:t>或反引号</a:t>
            </a:r>
            <a:r>
              <a:rPr sz="2000" spc="-229" dirty="0">
                <a:solidFill>
                  <a:srgbClr val="C00000"/>
                </a:solidFill>
                <a:latin typeface="宋体"/>
                <a:cs typeface="宋体"/>
              </a:rPr>
              <a:t>(</a:t>
            </a:r>
            <a:r>
              <a:rPr sz="2000" spc="-385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000" spc="-250" dirty="0">
                <a:solidFill>
                  <a:srgbClr val="C00000"/>
                </a:solidFill>
                <a:latin typeface="宋体"/>
                <a:cs typeface="宋体"/>
              </a:rPr>
              <a:t>`</a:t>
            </a:r>
            <a:r>
              <a:rPr sz="2000" spc="-400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000" spc="-229" dirty="0">
                <a:solidFill>
                  <a:srgbClr val="C00000"/>
                </a:solidFill>
                <a:latin typeface="宋体"/>
                <a:cs typeface="宋体"/>
              </a:rPr>
              <a:t>)</a:t>
            </a:r>
            <a:r>
              <a:rPr sz="2000" spc="-30" dirty="0" err="1">
                <a:solidFill>
                  <a:srgbClr val="C00000"/>
                </a:solidFill>
                <a:latin typeface="宋体"/>
                <a:cs typeface="宋体"/>
              </a:rPr>
              <a:t>包裹的数据都叫字符串</a:t>
            </a:r>
            <a:r>
              <a:rPr sz="2000" spc="-30" dirty="0" err="1">
                <a:solidFill>
                  <a:srgbClr val="252525"/>
                </a:solidFill>
                <a:latin typeface="宋体"/>
                <a:cs typeface="宋体"/>
              </a:rPr>
              <a:t>，单引号和双引号没有本</a:t>
            </a:r>
            <a:r>
              <a:rPr sz="2000" spc="-20" dirty="0" err="1">
                <a:solidFill>
                  <a:srgbClr val="252525"/>
                </a:solidFill>
                <a:latin typeface="宋体"/>
                <a:cs typeface="宋体"/>
              </a:rPr>
              <a:t>质</a:t>
            </a:r>
            <a:r>
              <a:rPr sz="2000" spc="-30" dirty="0" err="1">
                <a:solidFill>
                  <a:srgbClr val="252525"/>
                </a:solidFill>
                <a:latin typeface="宋体"/>
                <a:cs typeface="宋体"/>
              </a:rPr>
              <a:t>上的区</a:t>
            </a:r>
            <a:r>
              <a:rPr sz="2000" spc="-20" dirty="0" err="1">
                <a:solidFill>
                  <a:srgbClr val="252525"/>
                </a:solidFill>
                <a:latin typeface="宋体"/>
                <a:cs typeface="宋体"/>
              </a:rPr>
              <a:t>别</a:t>
            </a:r>
            <a:r>
              <a:rPr sz="20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，推荐用</a:t>
            </a:r>
            <a:r>
              <a:rPr sz="2000" spc="-30" dirty="0" err="1" smtClean="0">
                <a:solidFill>
                  <a:srgbClr val="C00000"/>
                </a:solidFill>
                <a:latin typeface="宋体"/>
                <a:cs typeface="宋体"/>
              </a:rPr>
              <a:t>单引号</a:t>
            </a: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。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4487709"/>
            <a:ext cx="11049000" cy="17434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注意事项：</a:t>
            </a:r>
            <a:endParaRPr sz="2000" dirty="0">
              <a:latin typeface="宋体"/>
              <a:cs typeface="宋体"/>
            </a:endParaRPr>
          </a:p>
          <a:p>
            <a:pPr marL="243840" indent="-23114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244475" algn="l"/>
              </a:tabLst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无论单引号或是双引号必须成对使用</a:t>
            </a:r>
            <a:endParaRPr sz="2000" dirty="0">
              <a:latin typeface="宋体"/>
              <a:cs typeface="宋体"/>
            </a:endParaRPr>
          </a:p>
          <a:p>
            <a:pPr marL="243840" indent="-23114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244475" algn="l"/>
              </a:tabLst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单引</a:t>
            </a:r>
            <a:r>
              <a:rPr sz="2000" spc="-35" dirty="0">
                <a:solidFill>
                  <a:srgbClr val="252525"/>
                </a:solidFill>
                <a:latin typeface="宋体"/>
                <a:cs typeface="宋体"/>
              </a:rPr>
              <a:t>号</a:t>
            </a:r>
            <a:r>
              <a:rPr sz="2000" spc="-15" dirty="0">
                <a:solidFill>
                  <a:srgbClr val="252525"/>
                </a:solidFill>
                <a:latin typeface="宋体"/>
                <a:cs typeface="宋体"/>
              </a:rPr>
              <a:t>/</a:t>
            </a:r>
            <a:r>
              <a:rPr sz="2000" spc="-30" dirty="0" err="1">
                <a:solidFill>
                  <a:srgbClr val="252525"/>
                </a:solidFill>
                <a:latin typeface="宋体"/>
                <a:cs typeface="宋体"/>
              </a:rPr>
              <a:t>双引号可以互相嵌套，</a:t>
            </a:r>
            <a:r>
              <a:rPr sz="20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但是不</a:t>
            </a:r>
            <a:r>
              <a:rPr lang="zh-CN" altLang="en-US" sz="2000" spc="-30" dirty="0" smtClean="0">
                <a:solidFill>
                  <a:srgbClr val="252525"/>
                </a:solidFill>
                <a:latin typeface="宋体"/>
                <a:cs typeface="宋体"/>
              </a:rPr>
              <a:t>可</a:t>
            </a:r>
            <a:r>
              <a:rPr sz="20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以</a:t>
            </a:r>
            <a:r>
              <a:rPr sz="2000" spc="-20" dirty="0" err="1" smtClean="0">
                <a:solidFill>
                  <a:srgbClr val="252525"/>
                </a:solidFill>
                <a:latin typeface="宋体"/>
                <a:cs typeface="宋体"/>
              </a:rPr>
              <a:t>自</a:t>
            </a:r>
            <a:r>
              <a:rPr sz="20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已嵌套</a:t>
            </a:r>
            <a:r>
              <a:rPr sz="2000" spc="-20" dirty="0" err="1" smtClean="0">
                <a:solidFill>
                  <a:srgbClr val="252525"/>
                </a:solidFill>
                <a:latin typeface="宋体"/>
                <a:cs typeface="宋体"/>
              </a:rPr>
              <a:t>自</a:t>
            </a:r>
            <a:r>
              <a:rPr sz="2000" spc="-25" dirty="0" err="1" smtClean="0">
                <a:solidFill>
                  <a:srgbClr val="252525"/>
                </a:solidFill>
                <a:latin typeface="宋体"/>
                <a:cs typeface="宋体"/>
              </a:rPr>
              <a:t>已</a:t>
            </a:r>
            <a:r>
              <a:rPr sz="2000" spc="-30" dirty="0" err="1">
                <a:solidFill>
                  <a:srgbClr val="252525"/>
                </a:solidFill>
                <a:latin typeface="宋体"/>
                <a:cs typeface="宋体"/>
              </a:rPr>
              <a:t>（口</a:t>
            </a:r>
            <a:r>
              <a:rPr sz="2000" spc="-20" dirty="0" err="1">
                <a:solidFill>
                  <a:srgbClr val="252525"/>
                </a:solidFill>
                <a:latin typeface="宋体"/>
                <a:cs typeface="宋体"/>
              </a:rPr>
              <a:t>诀</a:t>
            </a:r>
            <a:r>
              <a:rPr sz="2000" spc="-30" dirty="0" err="1">
                <a:solidFill>
                  <a:srgbClr val="252525"/>
                </a:solidFill>
                <a:latin typeface="宋体"/>
                <a:cs typeface="宋体"/>
              </a:rPr>
              <a:t>：</a:t>
            </a:r>
            <a:r>
              <a:rPr sz="2000" spc="-25" dirty="0" err="1">
                <a:solidFill>
                  <a:srgbClr val="252525"/>
                </a:solidFill>
                <a:latin typeface="宋体"/>
                <a:cs typeface="宋体"/>
              </a:rPr>
              <a:t>外</a:t>
            </a:r>
            <a:r>
              <a:rPr sz="2000" spc="-30" dirty="0" err="1">
                <a:solidFill>
                  <a:srgbClr val="252525"/>
                </a:solidFill>
                <a:latin typeface="宋体"/>
                <a:cs typeface="宋体"/>
              </a:rPr>
              <a:t>双</a:t>
            </a:r>
            <a:r>
              <a:rPr sz="2000" spc="-20" dirty="0" err="1">
                <a:solidFill>
                  <a:srgbClr val="252525"/>
                </a:solidFill>
                <a:latin typeface="宋体"/>
                <a:cs typeface="宋体"/>
              </a:rPr>
              <a:t>内</a:t>
            </a:r>
            <a:r>
              <a:rPr sz="2000" spc="-30" dirty="0" err="1">
                <a:solidFill>
                  <a:srgbClr val="252525"/>
                </a:solidFill>
                <a:latin typeface="宋体"/>
                <a:cs typeface="宋体"/>
              </a:rPr>
              <a:t>单，或</a:t>
            </a:r>
            <a:r>
              <a:rPr sz="2000" spc="-15" dirty="0" err="1">
                <a:solidFill>
                  <a:srgbClr val="252525"/>
                </a:solidFill>
                <a:latin typeface="宋体"/>
                <a:cs typeface="宋体"/>
              </a:rPr>
              <a:t>者</a:t>
            </a:r>
            <a:r>
              <a:rPr sz="2000" spc="-30" dirty="0" err="1">
                <a:solidFill>
                  <a:srgbClr val="252525"/>
                </a:solidFill>
                <a:latin typeface="宋体"/>
                <a:cs typeface="宋体"/>
              </a:rPr>
              <a:t>外单内</a:t>
            </a:r>
            <a:r>
              <a:rPr sz="2000" spc="-15" dirty="0" err="1">
                <a:solidFill>
                  <a:srgbClr val="252525"/>
                </a:solidFill>
                <a:latin typeface="宋体"/>
                <a:cs typeface="宋体"/>
              </a:rPr>
              <a:t>双</a:t>
            </a: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）</a:t>
            </a:r>
            <a:endParaRPr sz="2000" dirty="0">
              <a:latin typeface="宋体"/>
              <a:cs typeface="宋体"/>
            </a:endParaRPr>
          </a:p>
          <a:p>
            <a:pPr marL="243840" indent="-23114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244475" algn="l"/>
              </a:tabLst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必要时可以使用转义符</a:t>
            </a:r>
            <a:r>
              <a:rPr sz="2000" spc="-380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宋体"/>
                <a:cs typeface="宋体"/>
              </a:rPr>
              <a:t>\，</a:t>
            </a: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输出单引号或双引号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8200" y="2359143"/>
            <a:ext cx="7847076" cy="19232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834245" y="685800"/>
            <a:ext cx="235775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04255"/>
            <a:ext cx="595247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数据类型</a:t>
            </a:r>
            <a:r>
              <a:rPr sz="2800" b="1" spc="-120" dirty="0" smtClean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110" dirty="0">
                <a:solidFill>
                  <a:srgbClr val="585858"/>
                </a:solidFill>
                <a:latin typeface="微软雅黑"/>
                <a:cs typeface="微软雅黑"/>
              </a:rPr>
              <a:t>–</a:t>
            </a:r>
            <a:r>
              <a:rPr sz="2800" b="1" spc="-125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40" dirty="0" err="1">
                <a:solidFill>
                  <a:srgbClr val="585858"/>
                </a:solidFill>
                <a:latin typeface="微软雅黑"/>
                <a:cs typeface="微软雅黑"/>
              </a:rPr>
              <a:t>字符串类型</a:t>
            </a:r>
            <a:r>
              <a:rPr sz="2800" b="1" spc="-5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（</a:t>
            </a:r>
            <a:r>
              <a:rPr lang="en-US" sz="2800" b="1" spc="-5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S</a:t>
            </a:r>
            <a:r>
              <a:rPr sz="2800" b="1" spc="-5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tring</a:t>
            </a:r>
            <a:r>
              <a:rPr sz="2800" b="1" spc="-50" dirty="0">
                <a:solidFill>
                  <a:srgbClr val="585858"/>
                </a:solidFill>
                <a:latin typeface="微软雅黑"/>
                <a:cs typeface="微软雅黑"/>
              </a:rPr>
              <a:t>）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300733"/>
            <a:ext cx="11049000" cy="293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zh-CN" altLang="en-US" sz="2400" b="1" spc="-30" dirty="0" smtClean="0">
                <a:solidFill>
                  <a:srgbClr val="C00000"/>
                </a:solidFill>
                <a:cs typeface="+mn-lt"/>
              </a:rPr>
              <a:t>字符串拼接</a:t>
            </a:r>
            <a:r>
              <a:rPr lang="zh-CN" altLang="en-US" sz="2000" spc="-30" dirty="0" smtClean="0">
                <a:solidFill>
                  <a:srgbClr val="C00000"/>
                </a:solidFill>
                <a:cs typeface="+mn-lt"/>
              </a:rPr>
              <a:t>：</a:t>
            </a:r>
            <a:endParaRPr lang="en-US" altLang="zh-CN" sz="2000" spc="-30" dirty="0" smtClean="0">
              <a:solidFill>
                <a:srgbClr val="C00000"/>
              </a:solidFill>
              <a:cs typeface="+mn-lt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altLang="zh-CN" sz="2000" dirty="0" err="1" smtClean="0">
                <a:cs typeface="+mn-lt"/>
              </a:rPr>
              <a:t>document.write</a:t>
            </a:r>
            <a:r>
              <a:rPr lang="en-US" altLang="zh-CN" sz="2000" dirty="0" smtClean="0">
                <a:cs typeface="+mn-lt"/>
              </a:rPr>
              <a:t>(‘</a:t>
            </a:r>
            <a:r>
              <a:rPr lang="en-US" altLang="zh-CN" sz="2000" dirty="0" err="1" smtClean="0">
                <a:cs typeface="+mn-lt"/>
              </a:rPr>
              <a:t>Java’+’Script</a:t>
            </a:r>
            <a:r>
              <a:rPr lang="en-US" altLang="zh-CN" sz="2000" dirty="0" smtClean="0">
                <a:cs typeface="+mn-lt"/>
              </a:rPr>
              <a:t>’);</a:t>
            </a:r>
            <a:endParaRPr lang="en-US" altLang="zh-CN" sz="2000" dirty="0" smtClean="0">
              <a:cs typeface="+mn-lt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endParaRPr lang="en-US" sz="2000" dirty="0">
              <a:cs typeface="+mn-lt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altLang="zh-CN" sz="2000" dirty="0" smtClean="0">
                <a:cs typeface="+mn-lt"/>
              </a:rPr>
              <a:t>l</a:t>
            </a:r>
            <a:r>
              <a:rPr lang="en-US" sz="2000" dirty="0" smtClean="0">
                <a:cs typeface="+mn-lt"/>
              </a:rPr>
              <a:t>et </a:t>
            </a:r>
            <a:r>
              <a:rPr lang="en-US" altLang="zh-CN" sz="2000" dirty="0" smtClean="0">
                <a:cs typeface="+mn-lt"/>
              </a:rPr>
              <a:t>a = </a:t>
            </a:r>
            <a:r>
              <a:rPr lang="zh-CN" altLang="en-US" sz="2000" dirty="0" smtClean="0">
                <a:cs typeface="+mn-lt"/>
              </a:rPr>
              <a:t>‘</a:t>
            </a:r>
            <a:r>
              <a:rPr lang="en-US" altLang="zh-CN" sz="2000" dirty="0" smtClean="0">
                <a:cs typeface="+mn-lt"/>
              </a:rPr>
              <a:t>J</a:t>
            </a:r>
            <a:r>
              <a:rPr lang="zh-CN" altLang="en-US" sz="2000" dirty="0" smtClean="0">
                <a:cs typeface="+mn-lt"/>
              </a:rPr>
              <a:t>’；</a:t>
            </a:r>
            <a:endParaRPr lang="en-US" altLang="zh-CN" sz="2000" dirty="0" smtClean="0">
              <a:cs typeface="+mn-lt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altLang="zh-CN" sz="2000" dirty="0">
                <a:cs typeface="+mn-lt"/>
              </a:rPr>
              <a:t>l</a:t>
            </a:r>
            <a:r>
              <a:rPr lang="en-US" altLang="zh-CN" sz="2000" dirty="0" smtClean="0">
                <a:cs typeface="+mn-lt"/>
              </a:rPr>
              <a:t>et b = </a:t>
            </a:r>
            <a:r>
              <a:rPr lang="zh-CN" altLang="en-US" sz="2000" dirty="0" smtClean="0">
                <a:cs typeface="+mn-lt"/>
              </a:rPr>
              <a:t>‘</a:t>
            </a:r>
            <a:r>
              <a:rPr lang="en-US" altLang="zh-CN" sz="2000" dirty="0" smtClean="0">
                <a:cs typeface="+mn-lt"/>
              </a:rPr>
              <a:t>S</a:t>
            </a:r>
            <a:r>
              <a:rPr lang="zh-CN" altLang="en-US" sz="2000" dirty="0" smtClean="0">
                <a:cs typeface="+mn-lt"/>
              </a:rPr>
              <a:t>’；</a:t>
            </a:r>
            <a:endParaRPr lang="en-US" altLang="zh-CN" sz="2000" dirty="0" smtClean="0">
              <a:cs typeface="+mn-lt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altLang="zh-CN" sz="2000" dirty="0" err="1" smtClean="0">
                <a:cs typeface="+mn-lt"/>
              </a:rPr>
              <a:t>document.write</a:t>
            </a:r>
            <a:r>
              <a:rPr lang="en-US" altLang="zh-CN" sz="2000" dirty="0" smtClean="0">
                <a:cs typeface="+mn-lt"/>
              </a:rPr>
              <a:t>(a + b);</a:t>
            </a:r>
            <a:endParaRPr lang="en-US" altLang="zh-CN" sz="2000" dirty="0">
              <a:cs typeface="+mn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911080" y="685800"/>
            <a:ext cx="228092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70117"/>
            <a:ext cx="274066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>
                <a:solidFill>
                  <a:srgbClr val="585858"/>
                </a:solidFill>
                <a:latin typeface="微软雅黑"/>
                <a:cs typeface="微软雅黑"/>
              </a:rPr>
              <a:t>模板字符串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0127" y="1355248"/>
            <a:ext cx="5179061" cy="1089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9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b="1" spc="-30" dirty="0">
                <a:solidFill>
                  <a:srgbClr val="252525"/>
                </a:solidFill>
                <a:latin typeface="微软雅黑"/>
                <a:cs typeface="微软雅黑"/>
              </a:rPr>
              <a:t>作用</a:t>
            </a:r>
            <a:endParaRPr dirty="0">
              <a:latin typeface="微软雅黑"/>
              <a:cs typeface="微软雅黑"/>
            </a:endParaRPr>
          </a:p>
          <a:p>
            <a:pPr marL="733425" lvl="1" indent="-361315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600" spc="-25" dirty="0">
                <a:latin typeface="宋体"/>
                <a:cs typeface="宋体"/>
              </a:rPr>
              <a:t>拼接字符串和变量</a:t>
            </a:r>
            <a:endParaRPr sz="1600" dirty="0">
              <a:latin typeface="宋体"/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600" spc="-25" dirty="0">
                <a:latin typeface="宋体"/>
                <a:cs typeface="宋体"/>
              </a:rPr>
              <a:t>在没有它之前，要</a:t>
            </a:r>
            <a:r>
              <a:rPr sz="1600" spc="-35" dirty="0">
                <a:latin typeface="宋体"/>
                <a:cs typeface="宋体"/>
              </a:rPr>
              <a:t>拼</a:t>
            </a:r>
            <a:r>
              <a:rPr sz="1600" spc="-25" dirty="0">
                <a:latin typeface="宋体"/>
                <a:cs typeface="宋体"/>
              </a:rPr>
              <a:t>接</a:t>
            </a:r>
            <a:r>
              <a:rPr sz="1600" spc="-35" dirty="0">
                <a:latin typeface="宋体"/>
                <a:cs typeface="宋体"/>
              </a:rPr>
              <a:t>变</a:t>
            </a:r>
            <a:r>
              <a:rPr sz="1600" spc="-25" dirty="0">
                <a:latin typeface="宋体"/>
                <a:cs typeface="宋体"/>
              </a:rPr>
              <a:t>量比</a:t>
            </a:r>
            <a:r>
              <a:rPr sz="1600" spc="-30" dirty="0">
                <a:latin typeface="宋体"/>
                <a:cs typeface="宋体"/>
              </a:rPr>
              <a:t>较</a:t>
            </a:r>
            <a:r>
              <a:rPr sz="1600" spc="-25" dirty="0">
                <a:latin typeface="宋体"/>
                <a:cs typeface="宋体"/>
              </a:rPr>
              <a:t>麻烦</a:t>
            </a:r>
            <a:endParaRPr sz="16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449573"/>
            <a:ext cx="6931661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2110" indent="-359410">
              <a:lnSpc>
                <a:spcPct val="100000"/>
              </a:lnSpc>
              <a:spcBef>
                <a:spcPts val="95"/>
              </a:spcBef>
              <a:buClr>
                <a:srgbClr val="404040"/>
              </a:buClr>
              <a:buSzPct val="84000"/>
              <a:buAutoNum type="arabicPeriod" startAt="2"/>
              <a:tabLst>
                <a:tab pos="372110" algn="l"/>
                <a:tab pos="372745" algn="l"/>
              </a:tabLst>
            </a:pPr>
            <a:r>
              <a:rPr b="1" spc="-30" dirty="0">
                <a:solidFill>
                  <a:srgbClr val="252525"/>
                </a:solidFill>
                <a:cs typeface="微软雅黑"/>
              </a:rPr>
              <a:t>符号</a:t>
            </a:r>
            <a:endParaRPr dirty="0">
              <a:cs typeface="微软雅黑"/>
            </a:endParaRPr>
          </a:p>
          <a:p>
            <a:pPr marL="733425" lvl="1" indent="-361315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600" spc="-225" dirty="0">
                <a:cs typeface="宋体"/>
              </a:rPr>
              <a:t>``</a:t>
            </a:r>
            <a:endParaRPr sz="16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600" spc="-25" dirty="0">
                <a:cs typeface="宋体"/>
              </a:rPr>
              <a:t>在英文输入模式下</a:t>
            </a:r>
            <a:r>
              <a:rPr sz="1600" spc="-40" dirty="0">
                <a:cs typeface="宋体"/>
              </a:rPr>
              <a:t>按</a:t>
            </a:r>
            <a:r>
              <a:rPr sz="1600" spc="-25" dirty="0">
                <a:cs typeface="宋体"/>
              </a:rPr>
              <a:t>键</a:t>
            </a:r>
            <a:r>
              <a:rPr sz="1600" spc="-40" dirty="0">
                <a:cs typeface="宋体"/>
              </a:rPr>
              <a:t>盘</a:t>
            </a:r>
            <a:r>
              <a:rPr sz="1600" spc="-20" dirty="0">
                <a:cs typeface="宋体"/>
              </a:rPr>
              <a:t>的</a:t>
            </a:r>
            <a:r>
              <a:rPr sz="1600" spc="35" dirty="0">
                <a:cs typeface="宋体"/>
              </a:rPr>
              <a:t>tab</a:t>
            </a:r>
            <a:r>
              <a:rPr sz="1600" spc="-20" dirty="0">
                <a:cs typeface="宋体"/>
              </a:rPr>
              <a:t>键</a:t>
            </a:r>
            <a:r>
              <a:rPr sz="1600" spc="-30" dirty="0">
                <a:cs typeface="宋体"/>
              </a:rPr>
              <a:t>上</a:t>
            </a:r>
            <a:r>
              <a:rPr sz="1600" spc="-40" dirty="0">
                <a:cs typeface="宋体"/>
              </a:rPr>
              <a:t>方</a:t>
            </a:r>
            <a:r>
              <a:rPr sz="1600" spc="-20" dirty="0">
                <a:cs typeface="宋体"/>
              </a:rPr>
              <a:t>那</a:t>
            </a:r>
            <a:r>
              <a:rPr sz="1600" spc="-40" dirty="0">
                <a:cs typeface="宋体"/>
              </a:rPr>
              <a:t>个</a:t>
            </a:r>
            <a:r>
              <a:rPr sz="1600" spc="-20" dirty="0">
                <a:cs typeface="宋体"/>
              </a:rPr>
              <a:t>键</a:t>
            </a:r>
            <a:r>
              <a:rPr sz="1600" spc="30" dirty="0">
                <a:cs typeface="宋体"/>
              </a:rPr>
              <a:t>（1</a:t>
            </a:r>
            <a:r>
              <a:rPr sz="1600" spc="-20" dirty="0">
                <a:cs typeface="宋体"/>
              </a:rPr>
              <a:t>左</a:t>
            </a:r>
            <a:r>
              <a:rPr sz="1600" spc="-40" dirty="0">
                <a:cs typeface="宋体"/>
              </a:rPr>
              <a:t>边</a:t>
            </a:r>
            <a:r>
              <a:rPr sz="1600" spc="-20" dirty="0">
                <a:cs typeface="宋体"/>
              </a:rPr>
              <a:t>那</a:t>
            </a:r>
            <a:r>
              <a:rPr sz="1600" spc="-30" dirty="0">
                <a:cs typeface="宋体"/>
              </a:rPr>
              <a:t>个</a:t>
            </a:r>
            <a:r>
              <a:rPr sz="1600" spc="-40" dirty="0">
                <a:cs typeface="宋体"/>
              </a:rPr>
              <a:t>键</a:t>
            </a:r>
            <a:r>
              <a:rPr sz="1600" spc="-20" dirty="0">
                <a:cs typeface="宋体"/>
              </a:rPr>
              <a:t>）</a:t>
            </a:r>
            <a:endParaRPr sz="1600" dirty="0">
              <a:cs typeface="宋体"/>
            </a:endParaRPr>
          </a:p>
          <a:p>
            <a:pPr marL="733425" lvl="1" indent="-361315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733425" algn="l"/>
                <a:tab pos="734060" algn="l"/>
              </a:tabLst>
            </a:pPr>
            <a:r>
              <a:rPr sz="1600" spc="-25" dirty="0" err="1">
                <a:cs typeface="宋体"/>
              </a:rPr>
              <a:t>内容拼接变量时，</a:t>
            </a:r>
            <a:r>
              <a:rPr sz="1600" spc="-20" dirty="0" err="1">
                <a:cs typeface="宋体"/>
              </a:rPr>
              <a:t>用</a:t>
            </a:r>
            <a:r>
              <a:rPr sz="1600" spc="-395" dirty="0">
                <a:cs typeface="宋体"/>
              </a:rPr>
              <a:t> </a:t>
            </a:r>
            <a:r>
              <a:rPr sz="1600" spc="-155" dirty="0" smtClean="0">
                <a:cs typeface="宋体"/>
              </a:rPr>
              <a:t>${}</a:t>
            </a:r>
            <a:r>
              <a:rPr sz="1600" spc="-355" dirty="0" smtClean="0">
                <a:cs typeface="宋体"/>
              </a:rPr>
              <a:t> </a:t>
            </a:r>
            <a:r>
              <a:rPr sz="1600" spc="-20" dirty="0">
                <a:cs typeface="宋体"/>
              </a:rPr>
              <a:t>包住变量</a:t>
            </a:r>
            <a:endParaRPr sz="1600" dirty="0"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1644" y="2609088"/>
            <a:ext cx="8467725" cy="668020"/>
          </a:xfrm>
          <a:custGeom>
            <a:avLst/>
            <a:gdLst/>
            <a:ahLst/>
            <a:cxnLst/>
            <a:rect l="l" t="t" r="r" b="b"/>
            <a:pathLst>
              <a:path w="8467725" h="668020">
                <a:moveTo>
                  <a:pt x="8409940" y="0"/>
                </a:moveTo>
                <a:lnTo>
                  <a:pt x="57365" y="0"/>
                </a:lnTo>
                <a:lnTo>
                  <a:pt x="35034" y="4504"/>
                </a:lnTo>
                <a:lnTo>
                  <a:pt x="16800" y="16795"/>
                </a:lnTo>
                <a:lnTo>
                  <a:pt x="4507" y="35040"/>
                </a:lnTo>
                <a:lnTo>
                  <a:pt x="0" y="57403"/>
                </a:lnTo>
                <a:lnTo>
                  <a:pt x="0" y="610108"/>
                </a:lnTo>
                <a:lnTo>
                  <a:pt x="4507" y="632471"/>
                </a:lnTo>
                <a:lnTo>
                  <a:pt x="16800" y="650716"/>
                </a:lnTo>
                <a:lnTo>
                  <a:pt x="35034" y="663007"/>
                </a:lnTo>
                <a:lnTo>
                  <a:pt x="57365" y="667512"/>
                </a:lnTo>
                <a:lnTo>
                  <a:pt x="8409940" y="667512"/>
                </a:lnTo>
                <a:lnTo>
                  <a:pt x="8432303" y="663007"/>
                </a:lnTo>
                <a:lnTo>
                  <a:pt x="8450548" y="650716"/>
                </a:lnTo>
                <a:lnTo>
                  <a:pt x="8462839" y="632471"/>
                </a:lnTo>
                <a:lnTo>
                  <a:pt x="8467344" y="610108"/>
                </a:lnTo>
                <a:lnTo>
                  <a:pt x="8467344" y="57403"/>
                </a:lnTo>
                <a:lnTo>
                  <a:pt x="8462839" y="35040"/>
                </a:lnTo>
                <a:lnTo>
                  <a:pt x="8450548" y="16795"/>
                </a:lnTo>
                <a:lnTo>
                  <a:pt x="8432303" y="4504"/>
                </a:lnTo>
                <a:lnTo>
                  <a:pt x="840994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1644" y="2609088"/>
            <a:ext cx="8467344" cy="6675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46403" y="5267960"/>
            <a:ext cx="8467344" cy="629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796145" y="685800"/>
            <a:ext cx="239585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4816" y="4376928"/>
            <a:ext cx="588645" cy="588645"/>
          </a:xfrm>
          <a:custGeom>
            <a:avLst/>
            <a:gdLst/>
            <a:ahLst/>
            <a:cxnLst/>
            <a:rect l="l" t="t" r="r" b="b"/>
            <a:pathLst>
              <a:path w="588644" h="588645">
                <a:moveTo>
                  <a:pt x="0" y="294132"/>
                </a:moveTo>
                <a:lnTo>
                  <a:pt x="3850" y="246425"/>
                </a:lnTo>
                <a:lnTo>
                  <a:pt x="14996" y="201168"/>
                </a:lnTo>
                <a:lnTo>
                  <a:pt x="32832" y="158966"/>
                </a:lnTo>
                <a:lnTo>
                  <a:pt x="56753" y="120426"/>
                </a:lnTo>
                <a:lnTo>
                  <a:pt x="86153" y="86153"/>
                </a:lnTo>
                <a:lnTo>
                  <a:pt x="120426" y="56753"/>
                </a:lnTo>
                <a:lnTo>
                  <a:pt x="158966" y="32832"/>
                </a:lnTo>
                <a:lnTo>
                  <a:pt x="201168" y="14996"/>
                </a:lnTo>
                <a:lnTo>
                  <a:pt x="246425" y="3850"/>
                </a:lnTo>
                <a:lnTo>
                  <a:pt x="294131" y="0"/>
                </a:lnTo>
                <a:lnTo>
                  <a:pt x="341838" y="3850"/>
                </a:lnTo>
                <a:lnTo>
                  <a:pt x="387096" y="14996"/>
                </a:lnTo>
                <a:lnTo>
                  <a:pt x="429297" y="32832"/>
                </a:lnTo>
                <a:lnTo>
                  <a:pt x="467837" y="56753"/>
                </a:lnTo>
                <a:lnTo>
                  <a:pt x="502110" y="86153"/>
                </a:lnTo>
                <a:lnTo>
                  <a:pt x="531510" y="120426"/>
                </a:lnTo>
                <a:lnTo>
                  <a:pt x="555431" y="158966"/>
                </a:lnTo>
                <a:lnTo>
                  <a:pt x="573267" y="201168"/>
                </a:lnTo>
                <a:lnTo>
                  <a:pt x="584413" y="246425"/>
                </a:lnTo>
                <a:lnTo>
                  <a:pt x="588264" y="294132"/>
                </a:lnTo>
                <a:lnTo>
                  <a:pt x="584413" y="341838"/>
                </a:lnTo>
                <a:lnTo>
                  <a:pt x="573267" y="387096"/>
                </a:lnTo>
                <a:lnTo>
                  <a:pt x="555431" y="429297"/>
                </a:lnTo>
                <a:lnTo>
                  <a:pt x="531510" y="467837"/>
                </a:lnTo>
                <a:lnTo>
                  <a:pt x="502110" y="502110"/>
                </a:lnTo>
                <a:lnTo>
                  <a:pt x="467837" y="531510"/>
                </a:lnTo>
                <a:lnTo>
                  <a:pt x="429297" y="555431"/>
                </a:lnTo>
                <a:lnTo>
                  <a:pt x="387095" y="573267"/>
                </a:lnTo>
                <a:lnTo>
                  <a:pt x="341838" y="584413"/>
                </a:lnTo>
                <a:lnTo>
                  <a:pt x="294131" y="588264"/>
                </a:lnTo>
                <a:lnTo>
                  <a:pt x="246425" y="584413"/>
                </a:lnTo>
                <a:lnTo>
                  <a:pt x="201168" y="573267"/>
                </a:lnTo>
                <a:lnTo>
                  <a:pt x="158966" y="555431"/>
                </a:lnTo>
                <a:lnTo>
                  <a:pt x="120426" y="531510"/>
                </a:lnTo>
                <a:lnTo>
                  <a:pt x="86153" y="502110"/>
                </a:lnTo>
                <a:lnTo>
                  <a:pt x="56753" y="467837"/>
                </a:lnTo>
                <a:lnTo>
                  <a:pt x="32832" y="429297"/>
                </a:lnTo>
                <a:lnTo>
                  <a:pt x="14996" y="387096"/>
                </a:lnTo>
                <a:lnTo>
                  <a:pt x="3850" y="341838"/>
                </a:lnTo>
                <a:lnTo>
                  <a:pt x="0" y="294132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08732" y="3784091"/>
            <a:ext cx="927100" cy="927100"/>
          </a:xfrm>
          <a:custGeom>
            <a:avLst/>
            <a:gdLst/>
            <a:ahLst/>
            <a:cxnLst/>
            <a:rect l="l" t="t" r="r" b="b"/>
            <a:pathLst>
              <a:path w="927100" h="927100">
                <a:moveTo>
                  <a:pt x="463295" y="0"/>
                </a:moveTo>
                <a:lnTo>
                  <a:pt x="415921" y="2391"/>
                </a:lnTo>
                <a:lnTo>
                  <a:pt x="369916" y="9411"/>
                </a:lnTo>
                <a:lnTo>
                  <a:pt x="325513" y="20825"/>
                </a:lnTo>
                <a:lnTo>
                  <a:pt x="282946" y="36403"/>
                </a:lnTo>
                <a:lnTo>
                  <a:pt x="242446" y="55910"/>
                </a:lnTo>
                <a:lnTo>
                  <a:pt x="204247" y="79114"/>
                </a:lnTo>
                <a:lnTo>
                  <a:pt x="168582" y="105783"/>
                </a:lnTo>
                <a:lnTo>
                  <a:pt x="135683" y="135683"/>
                </a:lnTo>
                <a:lnTo>
                  <a:pt x="105783" y="168582"/>
                </a:lnTo>
                <a:lnTo>
                  <a:pt x="79114" y="204247"/>
                </a:lnTo>
                <a:lnTo>
                  <a:pt x="55910" y="242446"/>
                </a:lnTo>
                <a:lnTo>
                  <a:pt x="36403" y="282946"/>
                </a:lnTo>
                <a:lnTo>
                  <a:pt x="20825" y="325513"/>
                </a:lnTo>
                <a:lnTo>
                  <a:pt x="9411" y="369916"/>
                </a:lnTo>
                <a:lnTo>
                  <a:pt x="2391" y="415921"/>
                </a:lnTo>
                <a:lnTo>
                  <a:pt x="0" y="463295"/>
                </a:lnTo>
                <a:lnTo>
                  <a:pt x="2391" y="510670"/>
                </a:lnTo>
                <a:lnTo>
                  <a:pt x="9411" y="556675"/>
                </a:lnTo>
                <a:lnTo>
                  <a:pt x="20825" y="601078"/>
                </a:lnTo>
                <a:lnTo>
                  <a:pt x="36403" y="643645"/>
                </a:lnTo>
                <a:lnTo>
                  <a:pt x="55910" y="684145"/>
                </a:lnTo>
                <a:lnTo>
                  <a:pt x="79114" y="722344"/>
                </a:lnTo>
                <a:lnTo>
                  <a:pt x="105783" y="758009"/>
                </a:lnTo>
                <a:lnTo>
                  <a:pt x="135683" y="790908"/>
                </a:lnTo>
                <a:lnTo>
                  <a:pt x="168582" y="820808"/>
                </a:lnTo>
                <a:lnTo>
                  <a:pt x="204247" y="847477"/>
                </a:lnTo>
                <a:lnTo>
                  <a:pt x="242446" y="870681"/>
                </a:lnTo>
                <a:lnTo>
                  <a:pt x="282946" y="890188"/>
                </a:lnTo>
                <a:lnTo>
                  <a:pt x="325513" y="905766"/>
                </a:lnTo>
                <a:lnTo>
                  <a:pt x="369916" y="917180"/>
                </a:lnTo>
                <a:lnTo>
                  <a:pt x="415921" y="924200"/>
                </a:lnTo>
                <a:lnTo>
                  <a:pt x="463295" y="926591"/>
                </a:lnTo>
                <a:lnTo>
                  <a:pt x="510670" y="924200"/>
                </a:lnTo>
                <a:lnTo>
                  <a:pt x="556675" y="917180"/>
                </a:lnTo>
                <a:lnTo>
                  <a:pt x="601078" y="905766"/>
                </a:lnTo>
                <a:lnTo>
                  <a:pt x="643645" y="890188"/>
                </a:lnTo>
                <a:lnTo>
                  <a:pt x="684145" y="870681"/>
                </a:lnTo>
                <a:lnTo>
                  <a:pt x="722344" y="847477"/>
                </a:lnTo>
                <a:lnTo>
                  <a:pt x="758009" y="820808"/>
                </a:lnTo>
                <a:lnTo>
                  <a:pt x="790908" y="790908"/>
                </a:lnTo>
                <a:lnTo>
                  <a:pt x="820808" y="758009"/>
                </a:lnTo>
                <a:lnTo>
                  <a:pt x="847477" y="722344"/>
                </a:lnTo>
                <a:lnTo>
                  <a:pt x="870681" y="684145"/>
                </a:lnTo>
                <a:lnTo>
                  <a:pt x="890188" y="643645"/>
                </a:lnTo>
                <a:lnTo>
                  <a:pt x="905766" y="601078"/>
                </a:lnTo>
                <a:lnTo>
                  <a:pt x="917180" y="556675"/>
                </a:lnTo>
                <a:lnTo>
                  <a:pt x="924200" y="510670"/>
                </a:lnTo>
                <a:lnTo>
                  <a:pt x="926592" y="463295"/>
                </a:lnTo>
                <a:lnTo>
                  <a:pt x="924200" y="415921"/>
                </a:lnTo>
                <a:lnTo>
                  <a:pt x="917180" y="369916"/>
                </a:lnTo>
                <a:lnTo>
                  <a:pt x="905766" y="325513"/>
                </a:lnTo>
                <a:lnTo>
                  <a:pt x="890188" y="282946"/>
                </a:lnTo>
                <a:lnTo>
                  <a:pt x="870681" y="242446"/>
                </a:lnTo>
                <a:lnTo>
                  <a:pt x="847477" y="204247"/>
                </a:lnTo>
                <a:lnTo>
                  <a:pt x="820808" y="168582"/>
                </a:lnTo>
                <a:lnTo>
                  <a:pt x="790908" y="135683"/>
                </a:lnTo>
                <a:lnTo>
                  <a:pt x="758009" y="105783"/>
                </a:lnTo>
                <a:lnTo>
                  <a:pt x="722344" y="79114"/>
                </a:lnTo>
                <a:lnTo>
                  <a:pt x="684145" y="55910"/>
                </a:lnTo>
                <a:lnTo>
                  <a:pt x="643645" y="36403"/>
                </a:lnTo>
                <a:lnTo>
                  <a:pt x="601078" y="20825"/>
                </a:lnTo>
                <a:lnTo>
                  <a:pt x="556675" y="9411"/>
                </a:lnTo>
                <a:lnTo>
                  <a:pt x="510670" y="2391"/>
                </a:lnTo>
                <a:lnTo>
                  <a:pt x="463295" y="0"/>
                </a:lnTo>
                <a:close/>
              </a:path>
            </a:pathLst>
          </a:custGeom>
          <a:solidFill>
            <a:schemeClr val="accent6">
              <a:alpha val="63136"/>
            </a:scheme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08148" y="2377439"/>
            <a:ext cx="1590040" cy="1591310"/>
          </a:xfrm>
          <a:custGeom>
            <a:avLst/>
            <a:gdLst/>
            <a:ahLst/>
            <a:cxnLst/>
            <a:rect l="l" t="t" r="r" b="b"/>
            <a:pathLst>
              <a:path w="1590039" h="1591310">
                <a:moveTo>
                  <a:pt x="0" y="795527"/>
                </a:moveTo>
                <a:lnTo>
                  <a:pt x="1450" y="747060"/>
                </a:lnTo>
                <a:lnTo>
                  <a:pt x="5746" y="699361"/>
                </a:lnTo>
                <a:lnTo>
                  <a:pt x="12805" y="652514"/>
                </a:lnTo>
                <a:lnTo>
                  <a:pt x="22543" y="606602"/>
                </a:lnTo>
                <a:lnTo>
                  <a:pt x="34878" y="561709"/>
                </a:lnTo>
                <a:lnTo>
                  <a:pt x="49725" y="517917"/>
                </a:lnTo>
                <a:lnTo>
                  <a:pt x="67002" y="475310"/>
                </a:lnTo>
                <a:lnTo>
                  <a:pt x="86626" y="433970"/>
                </a:lnTo>
                <a:lnTo>
                  <a:pt x="108514" y="393982"/>
                </a:lnTo>
                <a:lnTo>
                  <a:pt x="132582" y="355427"/>
                </a:lnTo>
                <a:lnTo>
                  <a:pt x="158747" y="318390"/>
                </a:lnTo>
                <a:lnTo>
                  <a:pt x="186927" y="282953"/>
                </a:lnTo>
                <a:lnTo>
                  <a:pt x="217037" y="249200"/>
                </a:lnTo>
                <a:lnTo>
                  <a:pt x="248995" y="217214"/>
                </a:lnTo>
                <a:lnTo>
                  <a:pt x="282718" y="187077"/>
                </a:lnTo>
                <a:lnTo>
                  <a:pt x="318123" y="158874"/>
                </a:lnTo>
                <a:lnTo>
                  <a:pt x="355125" y="132687"/>
                </a:lnTo>
                <a:lnTo>
                  <a:pt x="393643" y="108599"/>
                </a:lnTo>
                <a:lnTo>
                  <a:pt x="433593" y="86693"/>
                </a:lnTo>
                <a:lnTo>
                  <a:pt x="474892" y="67053"/>
                </a:lnTo>
                <a:lnTo>
                  <a:pt x="517456" y="49763"/>
                </a:lnTo>
                <a:lnTo>
                  <a:pt x="561203" y="34904"/>
                </a:lnTo>
                <a:lnTo>
                  <a:pt x="606049" y="22560"/>
                </a:lnTo>
                <a:lnTo>
                  <a:pt x="651912" y="12814"/>
                </a:lnTo>
                <a:lnTo>
                  <a:pt x="698708" y="5750"/>
                </a:lnTo>
                <a:lnTo>
                  <a:pt x="746353" y="1451"/>
                </a:lnTo>
                <a:lnTo>
                  <a:pt x="794765" y="0"/>
                </a:lnTo>
                <a:lnTo>
                  <a:pt x="843178" y="1451"/>
                </a:lnTo>
                <a:lnTo>
                  <a:pt x="890823" y="5750"/>
                </a:lnTo>
                <a:lnTo>
                  <a:pt x="937619" y="12814"/>
                </a:lnTo>
                <a:lnTo>
                  <a:pt x="983482" y="22560"/>
                </a:lnTo>
                <a:lnTo>
                  <a:pt x="1028328" y="34904"/>
                </a:lnTo>
                <a:lnTo>
                  <a:pt x="1072075" y="49763"/>
                </a:lnTo>
                <a:lnTo>
                  <a:pt x="1114639" y="67053"/>
                </a:lnTo>
                <a:lnTo>
                  <a:pt x="1155938" y="86693"/>
                </a:lnTo>
                <a:lnTo>
                  <a:pt x="1195888" y="108599"/>
                </a:lnTo>
                <a:lnTo>
                  <a:pt x="1234406" y="132687"/>
                </a:lnTo>
                <a:lnTo>
                  <a:pt x="1271408" y="158874"/>
                </a:lnTo>
                <a:lnTo>
                  <a:pt x="1306813" y="187077"/>
                </a:lnTo>
                <a:lnTo>
                  <a:pt x="1340536" y="217214"/>
                </a:lnTo>
                <a:lnTo>
                  <a:pt x="1372494" y="249200"/>
                </a:lnTo>
                <a:lnTo>
                  <a:pt x="1402604" y="282953"/>
                </a:lnTo>
                <a:lnTo>
                  <a:pt x="1430784" y="318390"/>
                </a:lnTo>
                <a:lnTo>
                  <a:pt x="1456949" y="355427"/>
                </a:lnTo>
                <a:lnTo>
                  <a:pt x="1481017" y="393982"/>
                </a:lnTo>
                <a:lnTo>
                  <a:pt x="1502905" y="433970"/>
                </a:lnTo>
                <a:lnTo>
                  <a:pt x="1522529" y="475310"/>
                </a:lnTo>
                <a:lnTo>
                  <a:pt x="1539806" y="517917"/>
                </a:lnTo>
                <a:lnTo>
                  <a:pt x="1554653" y="561709"/>
                </a:lnTo>
                <a:lnTo>
                  <a:pt x="1566988" y="606602"/>
                </a:lnTo>
                <a:lnTo>
                  <a:pt x="1576726" y="652514"/>
                </a:lnTo>
                <a:lnTo>
                  <a:pt x="1583785" y="699361"/>
                </a:lnTo>
                <a:lnTo>
                  <a:pt x="1588081" y="747060"/>
                </a:lnTo>
                <a:lnTo>
                  <a:pt x="1589531" y="795527"/>
                </a:lnTo>
                <a:lnTo>
                  <a:pt x="1588081" y="843995"/>
                </a:lnTo>
                <a:lnTo>
                  <a:pt x="1583785" y="891694"/>
                </a:lnTo>
                <a:lnTo>
                  <a:pt x="1576726" y="938541"/>
                </a:lnTo>
                <a:lnTo>
                  <a:pt x="1566988" y="984453"/>
                </a:lnTo>
                <a:lnTo>
                  <a:pt x="1554653" y="1029346"/>
                </a:lnTo>
                <a:lnTo>
                  <a:pt x="1539806" y="1073138"/>
                </a:lnTo>
                <a:lnTo>
                  <a:pt x="1522529" y="1115745"/>
                </a:lnTo>
                <a:lnTo>
                  <a:pt x="1502905" y="1157085"/>
                </a:lnTo>
                <a:lnTo>
                  <a:pt x="1481017" y="1197073"/>
                </a:lnTo>
                <a:lnTo>
                  <a:pt x="1456949" y="1235628"/>
                </a:lnTo>
                <a:lnTo>
                  <a:pt x="1430784" y="1272665"/>
                </a:lnTo>
                <a:lnTo>
                  <a:pt x="1402604" y="1308102"/>
                </a:lnTo>
                <a:lnTo>
                  <a:pt x="1372494" y="1341855"/>
                </a:lnTo>
                <a:lnTo>
                  <a:pt x="1340536" y="1373841"/>
                </a:lnTo>
                <a:lnTo>
                  <a:pt x="1306813" y="1403978"/>
                </a:lnTo>
                <a:lnTo>
                  <a:pt x="1271408" y="1432181"/>
                </a:lnTo>
                <a:lnTo>
                  <a:pt x="1234406" y="1458368"/>
                </a:lnTo>
                <a:lnTo>
                  <a:pt x="1195888" y="1482456"/>
                </a:lnTo>
                <a:lnTo>
                  <a:pt x="1155938" y="1504362"/>
                </a:lnTo>
                <a:lnTo>
                  <a:pt x="1114639" y="1524002"/>
                </a:lnTo>
                <a:lnTo>
                  <a:pt x="1072075" y="1541292"/>
                </a:lnTo>
                <a:lnTo>
                  <a:pt x="1028328" y="1556151"/>
                </a:lnTo>
                <a:lnTo>
                  <a:pt x="983482" y="1568495"/>
                </a:lnTo>
                <a:lnTo>
                  <a:pt x="937619" y="1578241"/>
                </a:lnTo>
                <a:lnTo>
                  <a:pt x="890823" y="1585305"/>
                </a:lnTo>
                <a:lnTo>
                  <a:pt x="843178" y="1589604"/>
                </a:lnTo>
                <a:lnTo>
                  <a:pt x="794765" y="1591056"/>
                </a:lnTo>
                <a:lnTo>
                  <a:pt x="746353" y="1589604"/>
                </a:lnTo>
                <a:lnTo>
                  <a:pt x="698708" y="1585305"/>
                </a:lnTo>
                <a:lnTo>
                  <a:pt x="651912" y="1578241"/>
                </a:lnTo>
                <a:lnTo>
                  <a:pt x="606049" y="1568495"/>
                </a:lnTo>
                <a:lnTo>
                  <a:pt x="561203" y="1556151"/>
                </a:lnTo>
                <a:lnTo>
                  <a:pt x="517456" y="1541292"/>
                </a:lnTo>
                <a:lnTo>
                  <a:pt x="474892" y="1524002"/>
                </a:lnTo>
                <a:lnTo>
                  <a:pt x="433593" y="1504362"/>
                </a:lnTo>
                <a:lnTo>
                  <a:pt x="393643" y="1482456"/>
                </a:lnTo>
                <a:lnTo>
                  <a:pt x="355125" y="1458368"/>
                </a:lnTo>
                <a:lnTo>
                  <a:pt x="318123" y="1432181"/>
                </a:lnTo>
                <a:lnTo>
                  <a:pt x="282718" y="1403978"/>
                </a:lnTo>
                <a:lnTo>
                  <a:pt x="248995" y="1373841"/>
                </a:lnTo>
                <a:lnTo>
                  <a:pt x="217037" y="1341855"/>
                </a:lnTo>
                <a:lnTo>
                  <a:pt x="186927" y="1308102"/>
                </a:lnTo>
                <a:lnTo>
                  <a:pt x="158747" y="1272665"/>
                </a:lnTo>
                <a:lnTo>
                  <a:pt x="132582" y="1235628"/>
                </a:lnTo>
                <a:lnTo>
                  <a:pt x="108514" y="1197073"/>
                </a:lnTo>
                <a:lnTo>
                  <a:pt x="86626" y="1157085"/>
                </a:lnTo>
                <a:lnTo>
                  <a:pt x="67002" y="1115745"/>
                </a:lnTo>
                <a:lnTo>
                  <a:pt x="49725" y="1073138"/>
                </a:lnTo>
                <a:lnTo>
                  <a:pt x="34878" y="1029346"/>
                </a:lnTo>
                <a:lnTo>
                  <a:pt x="22543" y="984453"/>
                </a:lnTo>
                <a:lnTo>
                  <a:pt x="12805" y="938541"/>
                </a:lnTo>
                <a:lnTo>
                  <a:pt x="5746" y="891694"/>
                </a:lnTo>
                <a:lnTo>
                  <a:pt x="1450" y="843995"/>
                </a:lnTo>
                <a:lnTo>
                  <a:pt x="0" y="795527"/>
                </a:lnTo>
                <a:close/>
              </a:path>
            </a:pathLst>
          </a:custGeom>
          <a:ln w="12192">
            <a:solidFill>
              <a:srgbClr val="51515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89710" y="2554985"/>
            <a:ext cx="1925320" cy="1896110"/>
          </a:xfrm>
          <a:custGeom>
            <a:avLst/>
            <a:gdLst/>
            <a:ahLst/>
            <a:cxnLst/>
            <a:rect l="l" t="t" r="r" b="b"/>
            <a:pathLst>
              <a:path w="1925320" h="1896110">
                <a:moveTo>
                  <a:pt x="962406" y="0"/>
                </a:moveTo>
                <a:lnTo>
                  <a:pt x="914374" y="1160"/>
                </a:lnTo>
                <a:lnTo>
                  <a:pt x="866952" y="4604"/>
                </a:lnTo>
                <a:lnTo>
                  <a:pt x="820194" y="10278"/>
                </a:lnTo>
                <a:lnTo>
                  <a:pt x="774156" y="18128"/>
                </a:lnTo>
                <a:lnTo>
                  <a:pt x="728893" y="28099"/>
                </a:lnTo>
                <a:lnTo>
                  <a:pt x="684460" y="40136"/>
                </a:lnTo>
                <a:lnTo>
                  <a:pt x="640912" y="54187"/>
                </a:lnTo>
                <a:lnTo>
                  <a:pt x="598304" y="70195"/>
                </a:lnTo>
                <a:lnTo>
                  <a:pt x="556691" y="88108"/>
                </a:lnTo>
                <a:lnTo>
                  <a:pt x="516129" y="107869"/>
                </a:lnTo>
                <a:lnTo>
                  <a:pt x="476673" y="129427"/>
                </a:lnTo>
                <a:lnTo>
                  <a:pt x="438377" y="152725"/>
                </a:lnTo>
                <a:lnTo>
                  <a:pt x="401298" y="177709"/>
                </a:lnTo>
                <a:lnTo>
                  <a:pt x="365490" y="204326"/>
                </a:lnTo>
                <a:lnTo>
                  <a:pt x="331007" y="232521"/>
                </a:lnTo>
                <a:lnTo>
                  <a:pt x="297907" y="262240"/>
                </a:lnTo>
                <a:lnTo>
                  <a:pt x="266243" y="293427"/>
                </a:lnTo>
                <a:lnTo>
                  <a:pt x="236071" y="326030"/>
                </a:lnTo>
                <a:lnTo>
                  <a:pt x="207445" y="359994"/>
                </a:lnTo>
                <a:lnTo>
                  <a:pt x="180422" y="395263"/>
                </a:lnTo>
                <a:lnTo>
                  <a:pt x="155056" y="431785"/>
                </a:lnTo>
                <a:lnTo>
                  <a:pt x="131402" y="469504"/>
                </a:lnTo>
                <a:lnTo>
                  <a:pt x="109516" y="508367"/>
                </a:lnTo>
                <a:lnTo>
                  <a:pt x="89452" y="548319"/>
                </a:lnTo>
                <a:lnTo>
                  <a:pt x="71267" y="589305"/>
                </a:lnTo>
                <a:lnTo>
                  <a:pt x="55014" y="631272"/>
                </a:lnTo>
                <a:lnTo>
                  <a:pt x="40749" y="674165"/>
                </a:lnTo>
                <a:lnTo>
                  <a:pt x="28528" y="717930"/>
                </a:lnTo>
                <a:lnTo>
                  <a:pt x="18405" y="762512"/>
                </a:lnTo>
                <a:lnTo>
                  <a:pt x="10435" y="807857"/>
                </a:lnTo>
                <a:lnTo>
                  <a:pt x="4674" y="853911"/>
                </a:lnTo>
                <a:lnTo>
                  <a:pt x="1177" y="900619"/>
                </a:lnTo>
                <a:lnTo>
                  <a:pt x="0" y="947927"/>
                </a:lnTo>
                <a:lnTo>
                  <a:pt x="1177" y="995236"/>
                </a:lnTo>
                <a:lnTo>
                  <a:pt x="4674" y="1041944"/>
                </a:lnTo>
                <a:lnTo>
                  <a:pt x="10435" y="1087998"/>
                </a:lnTo>
                <a:lnTo>
                  <a:pt x="18405" y="1133343"/>
                </a:lnTo>
                <a:lnTo>
                  <a:pt x="28528" y="1177925"/>
                </a:lnTo>
                <a:lnTo>
                  <a:pt x="40749" y="1221690"/>
                </a:lnTo>
                <a:lnTo>
                  <a:pt x="55014" y="1264583"/>
                </a:lnTo>
                <a:lnTo>
                  <a:pt x="71267" y="1306550"/>
                </a:lnTo>
                <a:lnTo>
                  <a:pt x="89452" y="1347536"/>
                </a:lnTo>
                <a:lnTo>
                  <a:pt x="109516" y="1387488"/>
                </a:lnTo>
                <a:lnTo>
                  <a:pt x="131402" y="1426351"/>
                </a:lnTo>
                <a:lnTo>
                  <a:pt x="155056" y="1464070"/>
                </a:lnTo>
                <a:lnTo>
                  <a:pt x="180422" y="1500592"/>
                </a:lnTo>
                <a:lnTo>
                  <a:pt x="207445" y="1535861"/>
                </a:lnTo>
                <a:lnTo>
                  <a:pt x="236071" y="1569825"/>
                </a:lnTo>
                <a:lnTo>
                  <a:pt x="266243" y="1602428"/>
                </a:lnTo>
                <a:lnTo>
                  <a:pt x="297907" y="1633615"/>
                </a:lnTo>
                <a:lnTo>
                  <a:pt x="331007" y="1663334"/>
                </a:lnTo>
                <a:lnTo>
                  <a:pt x="365490" y="1691529"/>
                </a:lnTo>
                <a:lnTo>
                  <a:pt x="401298" y="1718146"/>
                </a:lnTo>
                <a:lnTo>
                  <a:pt x="438377" y="1743130"/>
                </a:lnTo>
                <a:lnTo>
                  <a:pt x="476673" y="1766428"/>
                </a:lnTo>
                <a:lnTo>
                  <a:pt x="516129" y="1787986"/>
                </a:lnTo>
                <a:lnTo>
                  <a:pt x="556691" y="1807747"/>
                </a:lnTo>
                <a:lnTo>
                  <a:pt x="598304" y="1825660"/>
                </a:lnTo>
                <a:lnTo>
                  <a:pt x="640912" y="1841668"/>
                </a:lnTo>
                <a:lnTo>
                  <a:pt x="684460" y="1855719"/>
                </a:lnTo>
                <a:lnTo>
                  <a:pt x="728893" y="1867756"/>
                </a:lnTo>
                <a:lnTo>
                  <a:pt x="774156" y="1877727"/>
                </a:lnTo>
                <a:lnTo>
                  <a:pt x="820194" y="1885577"/>
                </a:lnTo>
                <a:lnTo>
                  <a:pt x="866952" y="1891251"/>
                </a:lnTo>
                <a:lnTo>
                  <a:pt x="914374" y="1894695"/>
                </a:lnTo>
                <a:lnTo>
                  <a:pt x="962406" y="1895856"/>
                </a:lnTo>
                <a:lnTo>
                  <a:pt x="1010437" y="1894695"/>
                </a:lnTo>
                <a:lnTo>
                  <a:pt x="1057859" y="1891251"/>
                </a:lnTo>
                <a:lnTo>
                  <a:pt x="1104617" y="1885577"/>
                </a:lnTo>
                <a:lnTo>
                  <a:pt x="1150655" y="1877727"/>
                </a:lnTo>
                <a:lnTo>
                  <a:pt x="1195918" y="1867756"/>
                </a:lnTo>
                <a:lnTo>
                  <a:pt x="1240351" y="1855719"/>
                </a:lnTo>
                <a:lnTo>
                  <a:pt x="1283899" y="1841668"/>
                </a:lnTo>
                <a:lnTo>
                  <a:pt x="1326507" y="1825660"/>
                </a:lnTo>
                <a:lnTo>
                  <a:pt x="1368120" y="1807747"/>
                </a:lnTo>
                <a:lnTo>
                  <a:pt x="1408682" y="1787986"/>
                </a:lnTo>
                <a:lnTo>
                  <a:pt x="1448138" y="1766428"/>
                </a:lnTo>
                <a:lnTo>
                  <a:pt x="1486434" y="1743130"/>
                </a:lnTo>
                <a:lnTo>
                  <a:pt x="1523513" y="1718146"/>
                </a:lnTo>
                <a:lnTo>
                  <a:pt x="1559321" y="1691529"/>
                </a:lnTo>
                <a:lnTo>
                  <a:pt x="1593804" y="1663334"/>
                </a:lnTo>
                <a:lnTo>
                  <a:pt x="1626904" y="1633615"/>
                </a:lnTo>
                <a:lnTo>
                  <a:pt x="1658568" y="1602428"/>
                </a:lnTo>
                <a:lnTo>
                  <a:pt x="1688740" y="1569825"/>
                </a:lnTo>
                <a:lnTo>
                  <a:pt x="1717366" y="1535861"/>
                </a:lnTo>
                <a:lnTo>
                  <a:pt x="1744389" y="1500592"/>
                </a:lnTo>
                <a:lnTo>
                  <a:pt x="1769755" y="1464070"/>
                </a:lnTo>
                <a:lnTo>
                  <a:pt x="1793409" y="1426351"/>
                </a:lnTo>
                <a:lnTo>
                  <a:pt x="1815295" y="1387488"/>
                </a:lnTo>
                <a:lnTo>
                  <a:pt x="1835359" y="1347536"/>
                </a:lnTo>
                <a:lnTo>
                  <a:pt x="1853544" y="1306550"/>
                </a:lnTo>
                <a:lnTo>
                  <a:pt x="1869797" y="1264583"/>
                </a:lnTo>
                <a:lnTo>
                  <a:pt x="1884062" y="1221690"/>
                </a:lnTo>
                <a:lnTo>
                  <a:pt x="1896283" y="1177925"/>
                </a:lnTo>
                <a:lnTo>
                  <a:pt x="1906406" y="1133343"/>
                </a:lnTo>
                <a:lnTo>
                  <a:pt x="1914376" y="1087998"/>
                </a:lnTo>
                <a:lnTo>
                  <a:pt x="1920137" y="1041944"/>
                </a:lnTo>
                <a:lnTo>
                  <a:pt x="1923634" y="995236"/>
                </a:lnTo>
                <a:lnTo>
                  <a:pt x="1924812" y="947927"/>
                </a:lnTo>
                <a:lnTo>
                  <a:pt x="1923634" y="900619"/>
                </a:lnTo>
                <a:lnTo>
                  <a:pt x="1920137" y="853911"/>
                </a:lnTo>
                <a:lnTo>
                  <a:pt x="1914376" y="807857"/>
                </a:lnTo>
                <a:lnTo>
                  <a:pt x="1906406" y="762512"/>
                </a:lnTo>
                <a:lnTo>
                  <a:pt x="1896283" y="717930"/>
                </a:lnTo>
                <a:lnTo>
                  <a:pt x="1884062" y="674165"/>
                </a:lnTo>
                <a:lnTo>
                  <a:pt x="1869797" y="631272"/>
                </a:lnTo>
                <a:lnTo>
                  <a:pt x="1853544" y="589305"/>
                </a:lnTo>
                <a:lnTo>
                  <a:pt x="1835359" y="548319"/>
                </a:lnTo>
                <a:lnTo>
                  <a:pt x="1815295" y="508367"/>
                </a:lnTo>
                <a:lnTo>
                  <a:pt x="1793409" y="469504"/>
                </a:lnTo>
                <a:lnTo>
                  <a:pt x="1769755" y="431785"/>
                </a:lnTo>
                <a:lnTo>
                  <a:pt x="1744389" y="395263"/>
                </a:lnTo>
                <a:lnTo>
                  <a:pt x="1717366" y="359994"/>
                </a:lnTo>
                <a:lnTo>
                  <a:pt x="1688740" y="326030"/>
                </a:lnTo>
                <a:lnTo>
                  <a:pt x="1658568" y="293427"/>
                </a:lnTo>
                <a:lnTo>
                  <a:pt x="1626904" y="262240"/>
                </a:lnTo>
                <a:lnTo>
                  <a:pt x="1593804" y="232521"/>
                </a:lnTo>
                <a:lnTo>
                  <a:pt x="1559321" y="204326"/>
                </a:lnTo>
                <a:lnTo>
                  <a:pt x="1523513" y="177709"/>
                </a:lnTo>
                <a:lnTo>
                  <a:pt x="1486434" y="152725"/>
                </a:lnTo>
                <a:lnTo>
                  <a:pt x="1448138" y="129427"/>
                </a:lnTo>
                <a:lnTo>
                  <a:pt x="1408682" y="107869"/>
                </a:lnTo>
                <a:lnTo>
                  <a:pt x="1368120" y="88108"/>
                </a:lnTo>
                <a:lnTo>
                  <a:pt x="1326507" y="70195"/>
                </a:lnTo>
                <a:lnTo>
                  <a:pt x="1283899" y="54187"/>
                </a:lnTo>
                <a:lnTo>
                  <a:pt x="1240351" y="40136"/>
                </a:lnTo>
                <a:lnTo>
                  <a:pt x="1195918" y="28099"/>
                </a:lnTo>
                <a:lnTo>
                  <a:pt x="1150655" y="18128"/>
                </a:lnTo>
                <a:lnTo>
                  <a:pt x="1104617" y="10278"/>
                </a:lnTo>
                <a:lnTo>
                  <a:pt x="1057859" y="4604"/>
                </a:lnTo>
                <a:lnTo>
                  <a:pt x="1010437" y="1160"/>
                </a:lnTo>
                <a:lnTo>
                  <a:pt x="962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89710" y="2554985"/>
            <a:ext cx="1925320" cy="1896110"/>
          </a:xfrm>
          <a:custGeom>
            <a:avLst/>
            <a:gdLst/>
            <a:ahLst/>
            <a:cxnLst/>
            <a:rect l="l" t="t" r="r" b="b"/>
            <a:pathLst>
              <a:path w="1925320" h="1896110">
                <a:moveTo>
                  <a:pt x="0" y="947927"/>
                </a:moveTo>
                <a:lnTo>
                  <a:pt x="1177" y="900619"/>
                </a:lnTo>
                <a:lnTo>
                  <a:pt x="4674" y="853911"/>
                </a:lnTo>
                <a:lnTo>
                  <a:pt x="10435" y="807857"/>
                </a:lnTo>
                <a:lnTo>
                  <a:pt x="18405" y="762512"/>
                </a:lnTo>
                <a:lnTo>
                  <a:pt x="28528" y="717930"/>
                </a:lnTo>
                <a:lnTo>
                  <a:pt x="40749" y="674165"/>
                </a:lnTo>
                <a:lnTo>
                  <a:pt x="55014" y="631272"/>
                </a:lnTo>
                <a:lnTo>
                  <a:pt x="71267" y="589305"/>
                </a:lnTo>
                <a:lnTo>
                  <a:pt x="89452" y="548319"/>
                </a:lnTo>
                <a:lnTo>
                  <a:pt x="109516" y="508367"/>
                </a:lnTo>
                <a:lnTo>
                  <a:pt x="131402" y="469504"/>
                </a:lnTo>
                <a:lnTo>
                  <a:pt x="155056" y="431785"/>
                </a:lnTo>
                <a:lnTo>
                  <a:pt x="180422" y="395263"/>
                </a:lnTo>
                <a:lnTo>
                  <a:pt x="207445" y="359994"/>
                </a:lnTo>
                <a:lnTo>
                  <a:pt x="236071" y="326030"/>
                </a:lnTo>
                <a:lnTo>
                  <a:pt x="266243" y="293427"/>
                </a:lnTo>
                <a:lnTo>
                  <a:pt x="297907" y="262240"/>
                </a:lnTo>
                <a:lnTo>
                  <a:pt x="331007" y="232521"/>
                </a:lnTo>
                <a:lnTo>
                  <a:pt x="365490" y="204326"/>
                </a:lnTo>
                <a:lnTo>
                  <a:pt x="401298" y="177709"/>
                </a:lnTo>
                <a:lnTo>
                  <a:pt x="438377" y="152725"/>
                </a:lnTo>
                <a:lnTo>
                  <a:pt x="476673" y="129427"/>
                </a:lnTo>
                <a:lnTo>
                  <a:pt x="516129" y="107869"/>
                </a:lnTo>
                <a:lnTo>
                  <a:pt x="556691" y="88108"/>
                </a:lnTo>
                <a:lnTo>
                  <a:pt x="598304" y="70195"/>
                </a:lnTo>
                <a:lnTo>
                  <a:pt x="640912" y="54187"/>
                </a:lnTo>
                <a:lnTo>
                  <a:pt x="684460" y="40136"/>
                </a:lnTo>
                <a:lnTo>
                  <a:pt x="728893" y="28099"/>
                </a:lnTo>
                <a:lnTo>
                  <a:pt x="774156" y="18128"/>
                </a:lnTo>
                <a:lnTo>
                  <a:pt x="820194" y="10278"/>
                </a:lnTo>
                <a:lnTo>
                  <a:pt x="866952" y="4604"/>
                </a:lnTo>
                <a:lnTo>
                  <a:pt x="914374" y="1160"/>
                </a:lnTo>
                <a:lnTo>
                  <a:pt x="962406" y="0"/>
                </a:lnTo>
                <a:lnTo>
                  <a:pt x="1010437" y="1160"/>
                </a:lnTo>
                <a:lnTo>
                  <a:pt x="1057859" y="4604"/>
                </a:lnTo>
                <a:lnTo>
                  <a:pt x="1104617" y="10278"/>
                </a:lnTo>
                <a:lnTo>
                  <a:pt x="1150655" y="18128"/>
                </a:lnTo>
                <a:lnTo>
                  <a:pt x="1195918" y="28099"/>
                </a:lnTo>
                <a:lnTo>
                  <a:pt x="1240351" y="40136"/>
                </a:lnTo>
                <a:lnTo>
                  <a:pt x="1283899" y="54187"/>
                </a:lnTo>
                <a:lnTo>
                  <a:pt x="1326507" y="70195"/>
                </a:lnTo>
                <a:lnTo>
                  <a:pt x="1368120" y="88108"/>
                </a:lnTo>
                <a:lnTo>
                  <a:pt x="1408682" y="107869"/>
                </a:lnTo>
                <a:lnTo>
                  <a:pt x="1448138" y="129427"/>
                </a:lnTo>
                <a:lnTo>
                  <a:pt x="1486434" y="152725"/>
                </a:lnTo>
                <a:lnTo>
                  <a:pt x="1523513" y="177709"/>
                </a:lnTo>
                <a:lnTo>
                  <a:pt x="1559321" y="204326"/>
                </a:lnTo>
                <a:lnTo>
                  <a:pt x="1593804" y="232521"/>
                </a:lnTo>
                <a:lnTo>
                  <a:pt x="1626904" y="262240"/>
                </a:lnTo>
                <a:lnTo>
                  <a:pt x="1658568" y="293427"/>
                </a:lnTo>
                <a:lnTo>
                  <a:pt x="1688740" y="326030"/>
                </a:lnTo>
                <a:lnTo>
                  <a:pt x="1717366" y="359994"/>
                </a:lnTo>
                <a:lnTo>
                  <a:pt x="1744389" y="395263"/>
                </a:lnTo>
                <a:lnTo>
                  <a:pt x="1769755" y="431785"/>
                </a:lnTo>
                <a:lnTo>
                  <a:pt x="1793409" y="469504"/>
                </a:lnTo>
                <a:lnTo>
                  <a:pt x="1815295" y="508367"/>
                </a:lnTo>
                <a:lnTo>
                  <a:pt x="1835359" y="548319"/>
                </a:lnTo>
                <a:lnTo>
                  <a:pt x="1853544" y="589305"/>
                </a:lnTo>
                <a:lnTo>
                  <a:pt x="1869797" y="631272"/>
                </a:lnTo>
                <a:lnTo>
                  <a:pt x="1884062" y="674165"/>
                </a:lnTo>
                <a:lnTo>
                  <a:pt x="1896283" y="717930"/>
                </a:lnTo>
                <a:lnTo>
                  <a:pt x="1906406" y="762512"/>
                </a:lnTo>
                <a:lnTo>
                  <a:pt x="1914376" y="807857"/>
                </a:lnTo>
                <a:lnTo>
                  <a:pt x="1920137" y="853911"/>
                </a:lnTo>
                <a:lnTo>
                  <a:pt x="1923634" y="900619"/>
                </a:lnTo>
                <a:lnTo>
                  <a:pt x="1924812" y="947927"/>
                </a:lnTo>
                <a:lnTo>
                  <a:pt x="1923634" y="995236"/>
                </a:lnTo>
                <a:lnTo>
                  <a:pt x="1920137" y="1041944"/>
                </a:lnTo>
                <a:lnTo>
                  <a:pt x="1914376" y="1087998"/>
                </a:lnTo>
                <a:lnTo>
                  <a:pt x="1906406" y="1133343"/>
                </a:lnTo>
                <a:lnTo>
                  <a:pt x="1896283" y="1177925"/>
                </a:lnTo>
                <a:lnTo>
                  <a:pt x="1884062" y="1221690"/>
                </a:lnTo>
                <a:lnTo>
                  <a:pt x="1869797" y="1264583"/>
                </a:lnTo>
                <a:lnTo>
                  <a:pt x="1853544" y="1306550"/>
                </a:lnTo>
                <a:lnTo>
                  <a:pt x="1835359" y="1347536"/>
                </a:lnTo>
                <a:lnTo>
                  <a:pt x="1815295" y="1387488"/>
                </a:lnTo>
                <a:lnTo>
                  <a:pt x="1793409" y="1426351"/>
                </a:lnTo>
                <a:lnTo>
                  <a:pt x="1769755" y="1464070"/>
                </a:lnTo>
                <a:lnTo>
                  <a:pt x="1744389" y="1500592"/>
                </a:lnTo>
                <a:lnTo>
                  <a:pt x="1717366" y="1535861"/>
                </a:lnTo>
                <a:lnTo>
                  <a:pt x="1688740" y="1569825"/>
                </a:lnTo>
                <a:lnTo>
                  <a:pt x="1658568" y="1602428"/>
                </a:lnTo>
                <a:lnTo>
                  <a:pt x="1626904" y="1633615"/>
                </a:lnTo>
                <a:lnTo>
                  <a:pt x="1593804" y="1663334"/>
                </a:lnTo>
                <a:lnTo>
                  <a:pt x="1559321" y="1691529"/>
                </a:lnTo>
                <a:lnTo>
                  <a:pt x="1523513" y="1718146"/>
                </a:lnTo>
                <a:lnTo>
                  <a:pt x="1486434" y="1743130"/>
                </a:lnTo>
                <a:lnTo>
                  <a:pt x="1448138" y="1766428"/>
                </a:lnTo>
                <a:lnTo>
                  <a:pt x="1408682" y="1787986"/>
                </a:lnTo>
                <a:lnTo>
                  <a:pt x="1368120" y="1807747"/>
                </a:lnTo>
                <a:lnTo>
                  <a:pt x="1326507" y="1825660"/>
                </a:lnTo>
                <a:lnTo>
                  <a:pt x="1283899" y="1841668"/>
                </a:lnTo>
                <a:lnTo>
                  <a:pt x="1240351" y="1855719"/>
                </a:lnTo>
                <a:lnTo>
                  <a:pt x="1195918" y="1867756"/>
                </a:lnTo>
                <a:lnTo>
                  <a:pt x="1150655" y="1877727"/>
                </a:lnTo>
                <a:lnTo>
                  <a:pt x="1104617" y="1885577"/>
                </a:lnTo>
                <a:lnTo>
                  <a:pt x="1057859" y="1891251"/>
                </a:lnTo>
                <a:lnTo>
                  <a:pt x="1010437" y="1894695"/>
                </a:lnTo>
                <a:lnTo>
                  <a:pt x="962406" y="1895856"/>
                </a:lnTo>
                <a:lnTo>
                  <a:pt x="914374" y="1894695"/>
                </a:lnTo>
                <a:lnTo>
                  <a:pt x="866952" y="1891251"/>
                </a:lnTo>
                <a:lnTo>
                  <a:pt x="820194" y="1885577"/>
                </a:lnTo>
                <a:lnTo>
                  <a:pt x="774156" y="1877727"/>
                </a:lnTo>
                <a:lnTo>
                  <a:pt x="728893" y="1867756"/>
                </a:lnTo>
                <a:lnTo>
                  <a:pt x="684460" y="1855719"/>
                </a:lnTo>
                <a:lnTo>
                  <a:pt x="640912" y="1841668"/>
                </a:lnTo>
                <a:lnTo>
                  <a:pt x="598304" y="1825660"/>
                </a:lnTo>
                <a:lnTo>
                  <a:pt x="556691" y="1807747"/>
                </a:lnTo>
                <a:lnTo>
                  <a:pt x="516129" y="1787986"/>
                </a:lnTo>
                <a:lnTo>
                  <a:pt x="476673" y="1766428"/>
                </a:lnTo>
                <a:lnTo>
                  <a:pt x="438377" y="1743130"/>
                </a:lnTo>
                <a:lnTo>
                  <a:pt x="401298" y="1718146"/>
                </a:lnTo>
                <a:lnTo>
                  <a:pt x="365490" y="1691529"/>
                </a:lnTo>
                <a:lnTo>
                  <a:pt x="331007" y="1663334"/>
                </a:lnTo>
                <a:lnTo>
                  <a:pt x="297907" y="1633615"/>
                </a:lnTo>
                <a:lnTo>
                  <a:pt x="266243" y="1602428"/>
                </a:lnTo>
                <a:lnTo>
                  <a:pt x="236071" y="1569825"/>
                </a:lnTo>
                <a:lnTo>
                  <a:pt x="207445" y="1535861"/>
                </a:lnTo>
                <a:lnTo>
                  <a:pt x="180422" y="1500592"/>
                </a:lnTo>
                <a:lnTo>
                  <a:pt x="155056" y="1464070"/>
                </a:lnTo>
                <a:lnTo>
                  <a:pt x="131402" y="1426351"/>
                </a:lnTo>
                <a:lnTo>
                  <a:pt x="109516" y="1387488"/>
                </a:lnTo>
                <a:lnTo>
                  <a:pt x="89452" y="1347536"/>
                </a:lnTo>
                <a:lnTo>
                  <a:pt x="71267" y="1306550"/>
                </a:lnTo>
                <a:lnTo>
                  <a:pt x="55014" y="1264583"/>
                </a:lnTo>
                <a:lnTo>
                  <a:pt x="40749" y="1221690"/>
                </a:lnTo>
                <a:lnTo>
                  <a:pt x="28528" y="1177925"/>
                </a:lnTo>
                <a:lnTo>
                  <a:pt x="18405" y="1133343"/>
                </a:lnTo>
                <a:lnTo>
                  <a:pt x="10435" y="1087998"/>
                </a:lnTo>
                <a:lnTo>
                  <a:pt x="4674" y="1041944"/>
                </a:lnTo>
                <a:lnTo>
                  <a:pt x="1177" y="995236"/>
                </a:lnTo>
                <a:lnTo>
                  <a:pt x="0" y="947927"/>
                </a:lnTo>
                <a:close/>
              </a:path>
            </a:pathLst>
          </a:custGeom>
          <a:ln w="114300">
            <a:solidFill>
              <a:schemeClr val="accent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0183" y="1929383"/>
            <a:ext cx="805180" cy="803275"/>
          </a:xfrm>
          <a:custGeom>
            <a:avLst/>
            <a:gdLst/>
            <a:ahLst/>
            <a:cxnLst/>
            <a:rect l="l" t="t" r="r" b="b"/>
            <a:pathLst>
              <a:path w="805180" h="803275">
                <a:moveTo>
                  <a:pt x="402335" y="0"/>
                </a:moveTo>
                <a:lnTo>
                  <a:pt x="355416" y="2702"/>
                </a:lnTo>
                <a:lnTo>
                  <a:pt x="310085" y="10608"/>
                </a:lnTo>
                <a:lnTo>
                  <a:pt x="266646" y="23415"/>
                </a:lnTo>
                <a:lnTo>
                  <a:pt x="225400" y="40823"/>
                </a:lnTo>
                <a:lnTo>
                  <a:pt x="186650" y="62530"/>
                </a:lnTo>
                <a:lnTo>
                  <a:pt x="150697" y="88234"/>
                </a:lnTo>
                <a:lnTo>
                  <a:pt x="117843" y="117633"/>
                </a:lnTo>
                <a:lnTo>
                  <a:pt x="88390" y="150427"/>
                </a:lnTo>
                <a:lnTo>
                  <a:pt x="62640" y="186313"/>
                </a:lnTo>
                <a:lnTo>
                  <a:pt x="40894" y="224989"/>
                </a:lnTo>
                <a:lnTo>
                  <a:pt x="23456" y="266155"/>
                </a:lnTo>
                <a:lnTo>
                  <a:pt x="10626" y="309509"/>
                </a:lnTo>
                <a:lnTo>
                  <a:pt x="2706" y="354749"/>
                </a:lnTo>
                <a:lnTo>
                  <a:pt x="0" y="401574"/>
                </a:lnTo>
                <a:lnTo>
                  <a:pt x="2706" y="448398"/>
                </a:lnTo>
                <a:lnTo>
                  <a:pt x="10626" y="493638"/>
                </a:lnTo>
                <a:lnTo>
                  <a:pt x="23456" y="536992"/>
                </a:lnTo>
                <a:lnTo>
                  <a:pt x="40894" y="578158"/>
                </a:lnTo>
                <a:lnTo>
                  <a:pt x="62640" y="616834"/>
                </a:lnTo>
                <a:lnTo>
                  <a:pt x="88390" y="652720"/>
                </a:lnTo>
                <a:lnTo>
                  <a:pt x="117843" y="685514"/>
                </a:lnTo>
                <a:lnTo>
                  <a:pt x="150697" y="714913"/>
                </a:lnTo>
                <a:lnTo>
                  <a:pt x="186650" y="740617"/>
                </a:lnTo>
                <a:lnTo>
                  <a:pt x="225400" y="762324"/>
                </a:lnTo>
                <a:lnTo>
                  <a:pt x="266646" y="779732"/>
                </a:lnTo>
                <a:lnTo>
                  <a:pt x="310085" y="792539"/>
                </a:lnTo>
                <a:lnTo>
                  <a:pt x="355416" y="800445"/>
                </a:lnTo>
                <a:lnTo>
                  <a:pt x="402335" y="803148"/>
                </a:lnTo>
                <a:lnTo>
                  <a:pt x="449265" y="800445"/>
                </a:lnTo>
                <a:lnTo>
                  <a:pt x="494602" y="792539"/>
                </a:lnTo>
                <a:lnTo>
                  <a:pt x="538045" y="779732"/>
                </a:lnTo>
                <a:lnTo>
                  <a:pt x="579293" y="762324"/>
                </a:lnTo>
                <a:lnTo>
                  <a:pt x="618043" y="740617"/>
                </a:lnTo>
                <a:lnTo>
                  <a:pt x="653995" y="714913"/>
                </a:lnTo>
                <a:lnTo>
                  <a:pt x="686847" y="685514"/>
                </a:lnTo>
                <a:lnTo>
                  <a:pt x="716297" y="652720"/>
                </a:lnTo>
                <a:lnTo>
                  <a:pt x="742044" y="616834"/>
                </a:lnTo>
                <a:lnTo>
                  <a:pt x="763786" y="578158"/>
                </a:lnTo>
                <a:lnTo>
                  <a:pt x="781221" y="536992"/>
                </a:lnTo>
                <a:lnTo>
                  <a:pt x="794048" y="493638"/>
                </a:lnTo>
                <a:lnTo>
                  <a:pt x="801965" y="448398"/>
                </a:lnTo>
                <a:lnTo>
                  <a:pt x="804672" y="401574"/>
                </a:lnTo>
                <a:lnTo>
                  <a:pt x="801965" y="354749"/>
                </a:lnTo>
                <a:lnTo>
                  <a:pt x="794048" y="309509"/>
                </a:lnTo>
                <a:lnTo>
                  <a:pt x="781221" y="266155"/>
                </a:lnTo>
                <a:lnTo>
                  <a:pt x="763786" y="224989"/>
                </a:lnTo>
                <a:lnTo>
                  <a:pt x="742044" y="186313"/>
                </a:lnTo>
                <a:lnTo>
                  <a:pt x="716297" y="150427"/>
                </a:lnTo>
                <a:lnTo>
                  <a:pt x="686847" y="117633"/>
                </a:lnTo>
                <a:lnTo>
                  <a:pt x="653995" y="88234"/>
                </a:lnTo>
                <a:lnTo>
                  <a:pt x="618043" y="62530"/>
                </a:lnTo>
                <a:lnTo>
                  <a:pt x="579293" y="40823"/>
                </a:lnTo>
                <a:lnTo>
                  <a:pt x="538045" y="23415"/>
                </a:lnTo>
                <a:lnTo>
                  <a:pt x="494602" y="10608"/>
                </a:lnTo>
                <a:lnTo>
                  <a:pt x="449265" y="2702"/>
                </a:lnTo>
                <a:lnTo>
                  <a:pt x="402335" y="0"/>
                </a:lnTo>
                <a:close/>
              </a:path>
            </a:pathLst>
          </a:custGeom>
          <a:solidFill>
            <a:srgbClr val="F1F1F1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04388" y="2034539"/>
            <a:ext cx="314325" cy="315595"/>
          </a:xfrm>
          <a:custGeom>
            <a:avLst/>
            <a:gdLst/>
            <a:ahLst/>
            <a:cxnLst/>
            <a:rect l="l" t="t" r="r" b="b"/>
            <a:pathLst>
              <a:path w="314325" h="315594">
                <a:moveTo>
                  <a:pt x="156972" y="0"/>
                </a:moveTo>
                <a:lnTo>
                  <a:pt x="107338" y="8040"/>
                </a:lnTo>
                <a:lnTo>
                  <a:pt x="64245" y="30431"/>
                </a:lnTo>
                <a:lnTo>
                  <a:pt x="30272" y="64574"/>
                </a:lnTo>
                <a:lnTo>
                  <a:pt x="7997" y="107874"/>
                </a:lnTo>
                <a:lnTo>
                  <a:pt x="0" y="157734"/>
                </a:lnTo>
                <a:lnTo>
                  <a:pt x="7997" y="207593"/>
                </a:lnTo>
                <a:lnTo>
                  <a:pt x="30272" y="250893"/>
                </a:lnTo>
                <a:lnTo>
                  <a:pt x="64245" y="285036"/>
                </a:lnTo>
                <a:lnTo>
                  <a:pt x="107338" y="307427"/>
                </a:lnTo>
                <a:lnTo>
                  <a:pt x="156972" y="315468"/>
                </a:lnTo>
                <a:lnTo>
                  <a:pt x="206605" y="307427"/>
                </a:lnTo>
                <a:lnTo>
                  <a:pt x="249698" y="285036"/>
                </a:lnTo>
                <a:lnTo>
                  <a:pt x="283671" y="250893"/>
                </a:lnTo>
                <a:lnTo>
                  <a:pt x="305946" y="207593"/>
                </a:lnTo>
                <a:lnTo>
                  <a:pt x="313944" y="157734"/>
                </a:lnTo>
                <a:lnTo>
                  <a:pt x="305946" y="107874"/>
                </a:lnTo>
                <a:lnTo>
                  <a:pt x="283671" y="64574"/>
                </a:lnTo>
                <a:lnTo>
                  <a:pt x="249698" y="30431"/>
                </a:lnTo>
                <a:lnTo>
                  <a:pt x="206605" y="8040"/>
                </a:lnTo>
                <a:lnTo>
                  <a:pt x="156972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40179" y="3168776"/>
            <a:ext cx="1025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>
                <a:latin typeface="宋体"/>
                <a:cs typeface="宋体"/>
              </a:rPr>
              <a:t>总结</a:t>
            </a:r>
            <a:endParaRPr sz="4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06110" y="1549400"/>
            <a:ext cx="6217920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΢"/>
              <a:buAutoNum type="arabicPeriod"/>
              <a:tabLst>
                <a:tab pos="340360" algn="l"/>
              </a:tabLst>
            </a:pPr>
            <a:r>
              <a:rPr sz="1800" spc="-55" dirty="0">
                <a:latin typeface="宋体"/>
                <a:cs typeface="宋体"/>
              </a:rPr>
              <a:t>JavaScript</a:t>
            </a:r>
            <a:r>
              <a:rPr sz="1800" spc="-30" dirty="0">
                <a:latin typeface="宋体"/>
                <a:cs typeface="宋体"/>
              </a:rPr>
              <a:t>中什么样数据我们知道是字符串类型？</a:t>
            </a:r>
            <a:endParaRPr sz="1800">
              <a:latin typeface="宋体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660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latin typeface="宋体"/>
                <a:cs typeface="宋体"/>
              </a:rPr>
              <a:t>只要用</a:t>
            </a:r>
            <a:r>
              <a:rPr sz="1600" spc="-395" dirty="0">
                <a:latin typeface="宋体"/>
                <a:cs typeface="宋体"/>
              </a:rPr>
              <a:t> </a:t>
            </a:r>
            <a:r>
              <a:rPr sz="1600" spc="-30" dirty="0">
                <a:latin typeface="宋体"/>
                <a:cs typeface="宋体"/>
              </a:rPr>
              <a:t>单引号、双引号、反引号包含起来的就是字符</a:t>
            </a:r>
            <a:r>
              <a:rPr sz="1600" spc="-20" dirty="0">
                <a:latin typeface="宋体"/>
                <a:cs typeface="宋体"/>
              </a:rPr>
              <a:t>串</a:t>
            </a:r>
            <a:r>
              <a:rPr sz="1600" spc="-30" dirty="0">
                <a:latin typeface="宋体"/>
                <a:cs typeface="宋体"/>
              </a:rPr>
              <a:t>类型</a:t>
            </a:r>
            <a:endParaRPr sz="16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Wingdings" panose="05000000000000000000"/>
              <a:buChar char=""/>
            </a:pPr>
            <a:endParaRPr sz="1950">
              <a:latin typeface="Times New Roman" panose="02020503050405090304"/>
              <a:cs typeface="Times New Roman" panose="02020503050405090304"/>
            </a:endParaRPr>
          </a:p>
          <a:p>
            <a:pPr marL="340360" indent="-327660">
              <a:lnSpc>
                <a:spcPct val="100000"/>
              </a:lnSpc>
              <a:buClr>
                <a:srgbClr val="252525"/>
              </a:buClr>
              <a:buFont typeface="΢"/>
              <a:buAutoNum type="arabicPeriod"/>
              <a:tabLst>
                <a:tab pos="340360" algn="l"/>
              </a:tabLst>
            </a:pPr>
            <a:r>
              <a:rPr sz="1800" spc="-30" dirty="0">
                <a:latin typeface="宋体"/>
                <a:cs typeface="宋体"/>
              </a:rPr>
              <a:t>字符串拼接比较麻烦，我们可以使用什么来解决这个问题？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5775" y="3053842"/>
            <a:ext cx="41605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299720" algn="l"/>
              </a:tabLst>
            </a:pPr>
            <a:r>
              <a:rPr sz="1600" spc="-30" dirty="0">
                <a:latin typeface="宋体"/>
                <a:cs typeface="宋体"/>
              </a:rPr>
              <a:t>模板字符串，</a:t>
            </a:r>
            <a:r>
              <a:rPr sz="1600" spc="-440" dirty="0">
                <a:latin typeface="宋体"/>
                <a:cs typeface="宋体"/>
              </a:rPr>
              <a:t> </a:t>
            </a:r>
            <a:r>
              <a:rPr sz="1600" spc="-30" dirty="0">
                <a:latin typeface="宋体"/>
                <a:cs typeface="宋体"/>
              </a:rPr>
              <a:t>可以让我们拼接字符串更简便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06110" y="3585413"/>
            <a:ext cx="3060065" cy="2046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΢"/>
              <a:buAutoNum type="arabicPeriod" startAt="3"/>
              <a:tabLst>
                <a:tab pos="340360" algn="l"/>
              </a:tabLst>
            </a:pPr>
            <a:r>
              <a:rPr sz="1800" spc="-30" dirty="0">
                <a:latin typeface="宋体"/>
                <a:cs typeface="宋体"/>
              </a:rPr>
              <a:t>模板字符串使用注意事项：</a:t>
            </a:r>
            <a:endParaRPr sz="1800" dirty="0">
              <a:latin typeface="宋体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670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latin typeface="宋体"/>
                <a:cs typeface="宋体"/>
              </a:rPr>
              <a:t>用什么符号包含数据？</a:t>
            </a:r>
            <a:endParaRPr sz="1600" dirty="0">
              <a:latin typeface="宋体"/>
              <a:cs typeface="宋体"/>
            </a:endParaRPr>
          </a:p>
          <a:p>
            <a:pPr marL="1268095" lvl="2" indent="-286385">
              <a:lnSpc>
                <a:spcPct val="100000"/>
              </a:lnSpc>
              <a:spcBef>
                <a:spcPts val="1400"/>
              </a:spcBef>
              <a:buFont typeface="Wingdings" panose="05000000000000000000"/>
              <a:buChar char=""/>
              <a:tabLst>
                <a:tab pos="1268730" algn="l"/>
              </a:tabLst>
            </a:pPr>
            <a:r>
              <a:rPr sz="1650" spc="-10" dirty="0" err="1" smtClean="0">
                <a:latin typeface="宋体"/>
                <a:cs typeface="宋体"/>
              </a:rPr>
              <a:t>反引号</a:t>
            </a:r>
            <a:r>
              <a:rPr lang="en-US" sz="1650" spc="-10" dirty="0" smtClean="0">
                <a:latin typeface="宋体"/>
                <a:cs typeface="宋体"/>
              </a:rPr>
              <a:t>``</a:t>
            </a:r>
            <a:endParaRPr sz="1650" dirty="0">
              <a:latin typeface="宋体"/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360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latin typeface="宋体"/>
                <a:cs typeface="宋体"/>
              </a:rPr>
              <a:t>用什么来使用变量？</a:t>
            </a:r>
            <a:endParaRPr sz="1600" dirty="0">
              <a:latin typeface="宋体"/>
              <a:cs typeface="宋体"/>
            </a:endParaRPr>
          </a:p>
          <a:p>
            <a:pPr marL="1268095" lvl="2" indent="-286385">
              <a:lnSpc>
                <a:spcPct val="100000"/>
              </a:lnSpc>
              <a:spcBef>
                <a:spcPts val="1400"/>
              </a:spcBef>
              <a:buFont typeface="Wingdings" panose="05000000000000000000"/>
              <a:buChar char=""/>
              <a:tabLst>
                <a:tab pos="1268730" algn="l"/>
              </a:tabLst>
            </a:pPr>
            <a:r>
              <a:rPr sz="1650" spc="-95" dirty="0">
                <a:latin typeface="宋体"/>
                <a:cs typeface="宋体"/>
              </a:rPr>
              <a:t>${</a:t>
            </a:r>
            <a:r>
              <a:rPr sz="1650" spc="-10" dirty="0">
                <a:latin typeface="宋体"/>
                <a:cs typeface="宋体"/>
              </a:rPr>
              <a:t>变量名</a:t>
            </a:r>
            <a:r>
              <a:rPr sz="1650" spc="-330" dirty="0">
                <a:latin typeface="宋体"/>
                <a:cs typeface="宋体"/>
              </a:rPr>
              <a:t>}</a:t>
            </a:r>
            <a:endParaRPr sz="1650" dirty="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76554" y="674369"/>
            <a:ext cx="331444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小结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66800" y="5995035"/>
            <a:ext cx="9950450" cy="4603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FF5370"/>
                </a:solidFill>
              </a:rPr>
              <a:t>document</a:t>
            </a:r>
            <a:r>
              <a:rPr lang="en-US" altLang="zh-CN" sz="2400" dirty="0" err="1">
                <a:solidFill>
                  <a:srgbClr val="89DDFF"/>
                </a:solidFill>
              </a:rPr>
              <a:t>.write</a:t>
            </a:r>
            <a:r>
              <a:rPr lang="en-US" altLang="zh-CN" sz="2400" dirty="0">
                <a:solidFill>
                  <a:srgbClr val="80CBC4"/>
                </a:solidFill>
              </a:rPr>
              <a:t>(</a:t>
            </a:r>
            <a:r>
              <a:rPr lang="en-US" altLang="zh-CN" sz="2400" dirty="0">
                <a:solidFill>
                  <a:srgbClr val="D9F5DD"/>
                </a:solidFill>
              </a:rPr>
              <a:t>`</a:t>
            </a:r>
            <a:r>
              <a:rPr lang="en-US" altLang="zh-CN" sz="2400" dirty="0">
                <a:solidFill>
                  <a:srgbClr val="C3E88D"/>
                </a:solidFill>
              </a:rPr>
              <a:t>Hello, my name is ${</a:t>
            </a:r>
            <a:r>
              <a:rPr lang="en-US" altLang="zh-CN" sz="2400" dirty="0">
                <a:solidFill>
                  <a:srgbClr val="FF5370"/>
                </a:solidFill>
              </a:rPr>
              <a:t>name</a:t>
            </a:r>
            <a:r>
              <a:rPr lang="en-US" altLang="zh-CN" sz="2400" dirty="0">
                <a:solidFill>
                  <a:srgbClr val="C3E88D"/>
                </a:solidFill>
              </a:rPr>
              <a:t>}, I'm ${</a:t>
            </a:r>
            <a:r>
              <a:rPr lang="en-US" altLang="zh-CN" sz="2400" dirty="0">
                <a:solidFill>
                  <a:srgbClr val="FF5370"/>
                </a:solidFill>
              </a:rPr>
              <a:t>age</a:t>
            </a:r>
            <a:r>
              <a:rPr lang="en-US" altLang="zh-CN" sz="2400" dirty="0">
                <a:solidFill>
                  <a:srgbClr val="C3E88D"/>
                </a:solidFill>
              </a:rPr>
              <a:t>} years old.</a:t>
            </a:r>
            <a:r>
              <a:rPr lang="en-US" altLang="zh-CN" sz="2400" dirty="0">
                <a:solidFill>
                  <a:srgbClr val="D9F5DD"/>
                </a:solidFill>
              </a:rPr>
              <a:t>`</a:t>
            </a:r>
            <a:r>
              <a:rPr lang="en-US" altLang="zh-CN" sz="2400" dirty="0">
                <a:solidFill>
                  <a:srgbClr val="80CBC4"/>
                </a:solidFill>
              </a:rPr>
              <a:t>)</a:t>
            </a:r>
            <a:endParaRPr lang="en-US" altLang="zh-CN" sz="2400" b="0" dirty="0">
              <a:solidFill>
                <a:srgbClr val="CBCCC6"/>
              </a:solidFill>
              <a:effectLst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44405" y="685800"/>
            <a:ext cx="234759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719341"/>
            <a:ext cx="6096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数据类型</a:t>
            </a:r>
            <a:r>
              <a:rPr sz="2800" b="1" spc="-114" dirty="0" smtClean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110" dirty="0">
                <a:solidFill>
                  <a:srgbClr val="585858"/>
                </a:solidFill>
                <a:latin typeface="微软雅黑"/>
                <a:cs typeface="微软雅黑"/>
              </a:rPr>
              <a:t>–</a:t>
            </a:r>
            <a:r>
              <a:rPr sz="2800" b="1" spc="-114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40" dirty="0" err="1">
                <a:solidFill>
                  <a:srgbClr val="585858"/>
                </a:solidFill>
                <a:latin typeface="微软雅黑"/>
                <a:cs typeface="微软雅黑"/>
              </a:rPr>
              <a:t>布尔类型</a:t>
            </a:r>
            <a:r>
              <a:rPr sz="2800" b="1" spc="-3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（</a:t>
            </a:r>
            <a:r>
              <a:rPr lang="en-US" sz="2800" b="1" spc="-3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B</a:t>
            </a:r>
            <a:r>
              <a:rPr sz="2800" b="1" spc="-3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oolean</a:t>
            </a:r>
            <a:r>
              <a:rPr sz="2800" b="1" spc="-30" dirty="0">
                <a:solidFill>
                  <a:srgbClr val="585858"/>
                </a:solidFill>
                <a:latin typeface="微软雅黑"/>
                <a:cs typeface="微软雅黑"/>
              </a:rPr>
              <a:t>）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649596"/>
            <a:ext cx="10591800" cy="18408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sz="2400" spc="-30" dirty="0">
                <a:solidFill>
                  <a:srgbClr val="252525"/>
                </a:solidFill>
                <a:cs typeface="宋体"/>
              </a:rPr>
              <a:t>表示肯定或否定时在计算机中对应的是布尔类</a:t>
            </a:r>
            <a:r>
              <a:rPr sz="2400" spc="-15" dirty="0">
                <a:solidFill>
                  <a:srgbClr val="252525"/>
                </a:solidFill>
                <a:cs typeface="宋体"/>
              </a:rPr>
              <a:t>型</a:t>
            </a:r>
            <a:r>
              <a:rPr sz="2400" spc="-30" dirty="0">
                <a:solidFill>
                  <a:srgbClr val="252525"/>
                </a:solidFill>
                <a:cs typeface="宋体"/>
              </a:rPr>
              <a:t>数据。</a:t>
            </a:r>
            <a:endParaRPr sz="2400" dirty="0"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345"/>
              </a:spcBef>
            </a:pPr>
            <a:r>
              <a:rPr sz="2400" spc="-30" dirty="0">
                <a:solidFill>
                  <a:srgbClr val="252525"/>
                </a:solidFill>
                <a:cs typeface="宋体"/>
              </a:rPr>
              <a:t>它有两个固定的值</a:t>
            </a:r>
            <a:r>
              <a:rPr sz="2400" spc="-395" dirty="0">
                <a:solidFill>
                  <a:srgbClr val="252525"/>
                </a:solidFill>
                <a:cs typeface="宋体"/>
              </a:rPr>
              <a:t> </a:t>
            </a:r>
            <a:r>
              <a:rPr sz="2400" spc="-40" dirty="0">
                <a:solidFill>
                  <a:srgbClr val="252525"/>
                </a:solidFill>
                <a:cs typeface="宋体"/>
              </a:rPr>
              <a:t>true</a:t>
            </a:r>
            <a:r>
              <a:rPr sz="2400" spc="-390" dirty="0">
                <a:solidFill>
                  <a:srgbClr val="252525"/>
                </a:solidFill>
                <a:cs typeface="宋体"/>
              </a:rPr>
              <a:t> </a:t>
            </a:r>
            <a:r>
              <a:rPr sz="2400" spc="-30" dirty="0">
                <a:solidFill>
                  <a:srgbClr val="252525"/>
                </a:solidFill>
                <a:cs typeface="宋体"/>
              </a:rPr>
              <a:t>和</a:t>
            </a:r>
            <a:r>
              <a:rPr sz="2400" spc="-390" dirty="0">
                <a:solidFill>
                  <a:srgbClr val="252525"/>
                </a:solidFill>
                <a:cs typeface="宋体"/>
              </a:rPr>
              <a:t> </a:t>
            </a:r>
            <a:r>
              <a:rPr sz="2400" spc="-60" dirty="0">
                <a:solidFill>
                  <a:srgbClr val="252525"/>
                </a:solidFill>
                <a:cs typeface="宋体"/>
              </a:rPr>
              <a:t>false，</a:t>
            </a:r>
            <a:r>
              <a:rPr sz="2400" spc="-30" dirty="0">
                <a:solidFill>
                  <a:srgbClr val="252525"/>
                </a:solidFill>
                <a:cs typeface="宋体"/>
              </a:rPr>
              <a:t>表示肯定的数据用</a:t>
            </a:r>
            <a:r>
              <a:rPr sz="2400" spc="-370" dirty="0">
                <a:solidFill>
                  <a:srgbClr val="252525"/>
                </a:solidFill>
                <a:cs typeface="宋体"/>
              </a:rPr>
              <a:t> </a:t>
            </a:r>
            <a:r>
              <a:rPr sz="2400" spc="-40" dirty="0">
                <a:solidFill>
                  <a:srgbClr val="252525"/>
                </a:solidFill>
                <a:cs typeface="宋体"/>
              </a:rPr>
              <a:t>true（</a:t>
            </a:r>
            <a:r>
              <a:rPr sz="2400" spc="-30" dirty="0">
                <a:solidFill>
                  <a:srgbClr val="252525"/>
                </a:solidFill>
                <a:cs typeface="宋体"/>
              </a:rPr>
              <a:t>真），表示否定的数据用</a:t>
            </a:r>
            <a:r>
              <a:rPr sz="2400" spc="-355" dirty="0">
                <a:solidFill>
                  <a:srgbClr val="252525"/>
                </a:solidFill>
                <a:cs typeface="宋体"/>
              </a:rPr>
              <a:t> </a:t>
            </a:r>
            <a:r>
              <a:rPr sz="2400" spc="-60" dirty="0">
                <a:solidFill>
                  <a:srgbClr val="252525"/>
                </a:solidFill>
                <a:cs typeface="宋体"/>
              </a:rPr>
              <a:t>false（</a:t>
            </a:r>
            <a:r>
              <a:rPr sz="2400" spc="-30" dirty="0">
                <a:solidFill>
                  <a:srgbClr val="252525"/>
                </a:solidFill>
                <a:cs typeface="宋体"/>
              </a:rPr>
              <a:t>假）。</a:t>
            </a:r>
            <a:endParaRPr sz="2400" dirty="0">
              <a:cs typeface="宋体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657600"/>
            <a:ext cx="4267200" cy="10668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5800" y="5181600"/>
            <a:ext cx="9372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布尔值（真 </a:t>
            </a:r>
            <a:r>
              <a:rPr lang="en-US" altLang="zh-CN" sz="2400" dirty="0"/>
              <a:t>/ </a:t>
            </a:r>
            <a:r>
              <a:rPr lang="zh-CN" altLang="en-US" sz="2400" dirty="0"/>
              <a:t>假）： </a:t>
            </a:r>
            <a:r>
              <a:rPr lang="en-US" altLang="zh-CN" sz="2400" dirty="0"/>
              <a:t>true/false </a:t>
            </a:r>
            <a:r>
              <a:rPr lang="zh-CN" altLang="en-US" sz="2400" dirty="0"/>
              <a:t>是 </a:t>
            </a:r>
            <a:r>
              <a:rPr lang="en-US" altLang="zh-CN" sz="2400" dirty="0"/>
              <a:t>JS </a:t>
            </a:r>
            <a:r>
              <a:rPr lang="zh-CN" altLang="en-US" sz="2400" dirty="0"/>
              <a:t>里的特殊关键字，无需引号。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59525"/>
            <a:ext cx="7543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数据类型</a:t>
            </a:r>
            <a:r>
              <a:rPr sz="2800" b="1" spc="-125" dirty="0" smtClean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110" dirty="0">
                <a:solidFill>
                  <a:srgbClr val="585858"/>
                </a:solidFill>
                <a:latin typeface="+mn-lt"/>
                <a:cs typeface="微软雅黑"/>
              </a:rPr>
              <a:t>–</a:t>
            </a:r>
            <a:r>
              <a:rPr sz="2800" b="1" spc="-130" dirty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40" dirty="0">
                <a:solidFill>
                  <a:srgbClr val="585858"/>
                </a:solidFill>
                <a:latin typeface="+mn-lt"/>
                <a:cs typeface="微软雅黑"/>
              </a:rPr>
              <a:t>未定义类型（undefined）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369399"/>
            <a:ext cx="11046461" cy="17049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solidFill>
                  <a:srgbClr val="252525"/>
                </a:solidFill>
                <a:cs typeface="宋体"/>
              </a:rPr>
              <a:t>未定义是比较特殊的类型，只有一个值</a:t>
            </a:r>
            <a:r>
              <a:rPr sz="2000" spc="-335" dirty="0">
                <a:solidFill>
                  <a:srgbClr val="252525"/>
                </a:solidFill>
                <a:cs typeface="宋体"/>
              </a:rPr>
              <a:t> </a:t>
            </a:r>
            <a:r>
              <a:rPr sz="2000" spc="65" dirty="0">
                <a:solidFill>
                  <a:srgbClr val="252525"/>
                </a:solidFill>
                <a:cs typeface="宋体"/>
              </a:rPr>
              <a:t>undefined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。</a:t>
            </a:r>
            <a:endParaRPr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000" b="1" spc="-30" dirty="0">
                <a:solidFill>
                  <a:srgbClr val="252525"/>
                </a:solidFill>
                <a:cs typeface="微软雅黑"/>
              </a:rPr>
              <a:t>什么情况出现未定义类型？</a:t>
            </a:r>
            <a:endParaRPr sz="2000" dirty="0"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000" spc="-30" dirty="0">
                <a:solidFill>
                  <a:srgbClr val="252525"/>
                </a:solidFill>
                <a:cs typeface="宋体"/>
              </a:rPr>
              <a:t>只声明变量，不赋值的情况下，变量的默认值为</a:t>
            </a:r>
            <a:r>
              <a:rPr sz="2000" spc="-409" dirty="0">
                <a:solidFill>
                  <a:srgbClr val="252525"/>
                </a:solidFill>
                <a:cs typeface="宋体"/>
              </a:rPr>
              <a:t> </a:t>
            </a:r>
            <a:r>
              <a:rPr sz="2000" spc="55" dirty="0">
                <a:solidFill>
                  <a:srgbClr val="252525"/>
                </a:solidFill>
                <a:cs typeface="宋体"/>
              </a:rPr>
              <a:t>undefined，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一般很少【直接】为某个变量赋值为</a:t>
            </a:r>
            <a:endParaRPr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spc="65" dirty="0">
                <a:solidFill>
                  <a:srgbClr val="252525"/>
                </a:solidFill>
                <a:cs typeface="宋体"/>
              </a:rPr>
              <a:t>undefined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。</a:t>
            </a:r>
            <a:endParaRPr sz="2000" dirty="0"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4892040"/>
            <a:ext cx="11125200" cy="17690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30" dirty="0">
                <a:solidFill>
                  <a:srgbClr val="252525"/>
                </a:solidFill>
                <a:cs typeface="微软雅黑"/>
              </a:rPr>
              <a:t>工作中的使用场景：</a:t>
            </a:r>
            <a:endParaRPr sz="2000" dirty="0"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000" spc="-30" dirty="0" err="1" smtClean="0">
                <a:solidFill>
                  <a:srgbClr val="252525"/>
                </a:solidFill>
                <a:cs typeface="宋体"/>
              </a:rPr>
              <a:t>开发中经常声明一个变量</a:t>
            </a:r>
            <a:r>
              <a:rPr sz="2000" spc="-30" dirty="0" err="1">
                <a:solidFill>
                  <a:srgbClr val="252525"/>
                </a:solidFill>
                <a:cs typeface="宋体"/>
              </a:rPr>
              <a:t>，等待传送过来</a:t>
            </a:r>
            <a:r>
              <a:rPr sz="2000" spc="-20" dirty="0" err="1">
                <a:solidFill>
                  <a:srgbClr val="252525"/>
                </a:solidFill>
                <a:cs typeface="宋体"/>
              </a:rPr>
              <a:t>的</a:t>
            </a:r>
            <a:r>
              <a:rPr sz="2000" spc="-30" dirty="0" err="1">
                <a:solidFill>
                  <a:srgbClr val="252525"/>
                </a:solidFill>
                <a:cs typeface="宋体"/>
              </a:rPr>
              <a:t>数据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。</a:t>
            </a:r>
            <a:endParaRPr sz="2000" dirty="0">
              <a:cs typeface="宋体"/>
            </a:endParaRPr>
          </a:p>
          <a:p>
            <a:pPr marL="12700" marR="5080">
              <a:lnSpc>
                <a:spcPct val="150000"/>
              </a:lnSpc>
              <a:spcBef>
                <a:spcPts val="385"/>
              </a:spcBef>
            </a:pPr>
            <a:r>
              <a:rPr sz="2000" spc="-30" dirty="0" err="1">
                <a:solidFill>
                  <a:srgbClr val="252525"/>
                </a:solidFill>
                <a:cs typeface="宋体"/>
              </a:rPr>
              <a:t>如果我们不知道这个数据是否传递过来，</a:t>
            </a:r>
            <a:r>
              <a:rPr sz="2000" spc="-30" dirty="0" err="1" smtClean="0">
                <a:solidFill>
                  <a:srgbClr val="252525"/>
                </a:solidFill>
                <a:cs typeface="宋体"/>
              </a:rPr>
              <a:t>此时可以</a:t>
            </a:r>
            <a:r>
              <a:rPr sz="2000" spc="-20" dirty="0" err="1" smtClean="0">
                <a:solidFill>
                  <a:srgbClr val="252525"/>
                </a:solidFill>
                <a:cs typeface="宋体"/>
              </a:rPr>
              <a:t>通</a:t>
            </a:r>
            <a:r>
              <a:rPr sz="2000" spc="-30" dirty="0" err="1" smtClean="0">
                <a:solidFill>
                  <a:srgbClr val="252525"/>
                </a:solidFill>
                <a:cs typeface="宋体"/>
              </a:rPr>
              <a:t>过检测</a:t>
            </a:r>
            <a:r>
              <a:rPr sz="2000" spc="-20" dirty="0" err="1" smtClean="0">
                <a:solidFill>
                  <a:srgbClr val="252525"/>
                </a:solidFill>
                <a:cs typeface="宋体"/>
              </a:rPr>
              <a:t>这</a:t>
            </a:r>
            <a:r>
              <a:rPr sz="2000" spc="-30" dirty="0" err="1" smtClean="0">
                <a:solidFill>
                  <a:srgbClr val="252525"/>
                </a:solidFill>
                <a:cs typeface="宋体"/>
              </a:rPr>
              <a:t>个变量</a:t>
            </a:r>
            <a:r>
              <a:rPr sz="2000" spc="-20" dirty="0" err="1" smtClean="0">
                <a:solidFill>
                  <a:srgbClr val="252525"/>
                </a:solidFill>
                <a:cs typeface="宋体"/>
              </a:rPr>
              <a:t>是</a:t>
            </a:r>
            <a:r>
              <a:rPr sz="2000" spc="-30" dirty="0" err="1" smtClean="0">
                <a:solidFill>
                  <a:srgbClr val="252525"/>
                </a:solidFill>
                <a:cs typeface="宋体"/>
              </a:rPr>
              <a:t>不</a:t>
            </a:r>
            <a:r>
              <a:rPr sz="2000" spc="-20" dirty="0" err="1" smtClean="0">
                <a:solidFill>
                  <a:srgbClr val="252525"/>
                </a:solidFill>
                <a:cs typeface="宋体"/>
              </a:rPr>
              <a:t>是</a:t>
            </a:r>
            <a:r>
              <a:rPr sz="2000" spc="55" dirty="0" err="1">
                <a:solidFill>
                  <a:srgbClr val="252525"/>
                </a:solidFill>
                <a:cs typeface="宋体"/>
              </a:rPr>
              <a:t>undefined，</a:t>
            </a:r>
            <a:r>
              <a:rPr sz="2000" spc="-20" dirty="0" err="1" smtClean="0">
                <a:solidFill>
                  <a:srgbClr val="252525"/>
                </a:solidFill>
                <a:cs typeface="宋体"/>
              </a:rPr>
              <a:t>就</a:t>
            </a:r>
            <a:r>
              <a:rPr lang="zh-CN" altLang="en-US" sz="2000" spc="-20" dirty="0">
                <a:solidFill>
                  <a:srgbClr val="252525"/>
                </a:solidFill>
                <a:cs typeface="宋体"/>
              </a:rPr>
              <a:t>能够</a:t>
            </a:r>
            <a:r>
              <a:rPr sz="2000" spc="-30" dirty="0" err="1" smtClean="0">
                <a:solidFill>
                  <a:srgbClr val="252525"/>
                </a:solidFill>
                <a:cs typeface="宋体"/>
              </a:rPr>
              <a:t>判断用</a:t>
            </a:r>
            <a:r>
              <a:rPr sz="2000" spc="-15" dirty="0" err="1" smtClean="0">
                <a:solidFill>
                  <a:srgbClr val="252525"/>
                </a:solidFill>
                <a:cs typeface="宋体"/>
              </a:rPr>
              <a:t>户</a:t>
            </a:r>
            <a:r>
              <a:rPr sz="2000" spc="-30" dirty="0" err="1" smtClean="0">
                <a:solidFill>
                  <a:srgbClr val="252525"/>
                </a:solidFill>
                <a:cs typeface="宋体"/>
              </a:rPr>
              <a:t>是否有数据传递过来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。</a:t>
            </a:r>
            <a:endParaRPr sz="2000" dirty="0"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6939" y="3300752"/>
            <a:ext cx="6124956" cy="11902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47714"/>
            <a:ext cx="73152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数据类型</a:t>
            </a:r>
            <a:r>
              <a:rPr sz="2800" b="1" spc="-135" dirty="0" smtClean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spc="-110" dirty="0">
                <a:solidFill>
                  <a:srgbClr val="585858"/>
                </a:solidFill>
                <a:latin typeface="微软雅黑"/>
                <a:cs typeface="微软雅黑"/>
              </a:rPr>
              <a:t>–</a:t>
            </a:r>
            <a:r>
              <a:rPr sz="2800" b="1" spc="-40" dirty="0">
                <a:solidFill>
                  <a:srgbClr val="585858"/>
                </a:solidFill>
                <a:latin typeface="微软雅黑"/>
                <a:cs typeface="微软雅黑"/>
              </a:rPr>
              <a:t>未定义类型（undefined）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1397882"/>
            <a:ext cx="8013700" cy="7944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solidFill>
                  <a:srgbClr val="252525"/>
                </a:solidFill>
                <a:cs typeface="宋体"/>
              </a:rPr>
              <a:t>未定义是比较特殊的类型，只有一个值</a:t>
            </a:r>
            <a:r>
              <a:rPr sz="2000" spc="-395" dirty="0">
                <a:solidFill>
                  <a:srgbClr val="252525"/>
                </a:solidFill>
                <a:cs typeface="宋体"/>
              </a:rPr>
              <a:t> </a:t>
            </a:r>
            <a:r>
              <a:rPr sz="2000" spc="65" dirty="0">
                <a:solidFill>
                  <a:srgbClr val="252525"/>
                </a:solidFill>
                <a:cs typeface="宋体"/>
              </a:rPr>
              <a:t>undefined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。</a:t>
            </a:r>
            <a:endParaRPr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000" spc="-30" dirty="0" err="1" smtClean="0">
                <a:solidFill>
                  <a:srgbClr val="252525"/>
                </a:solidFill>
                <a:cs typeface="宋体"/>
              </a:rPr>
              <a:t>总结使用</a:t>
            </a:r>
            <a:r>
              <a:rPr lang="zh-CN" altLang="en-US" sz="2000" spc="-30" dirty="0" smtClean="0">
                <a:solidFill>
                  <a:srgbClr val="252525"/>
                </a:solidFill>
                <a:cs typeface="宋体"/>
              </a:rPr>
              <a:t>情况如下</a:t>
            </a:r>
            <a:r>
              <a:rPr sz="2000" spc="-30" dirty="0" smtClean="0">
                <a:solidFill>
                  <a:srgbClr val="252525"/>
                </a:solidFill>
                <a:cs typeface="宋体"/>
              </a:rPr>
              <a:t>：</a:t>
            </a:r>
            <a:endParaRPr sz="2000" dirty="0">
              <a:cs typeface="宋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49300" y="2743200"/>
          <a:ext cx="10972800" cy="234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3400"/>
                <a:gridCol w="3810000"/>
                <a:gridCol w="2819400"/>
              </a:tblGrid>
              <a:tr h="497282">
                <a:tc>
                  <a:txBody>
                    <a:bodyPr/>
                    <a:lstStyle/>
                    <a:p>
                      <a:pPr marR="3873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8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情况</a:t>
                      </a:r>
                      <a:endParaRPr sz="2800" dirty="0">
                        <a:solidFill>
                          <a:schemeClr val="bg1"/>
                        </a:solidFill>
                        <a:latin typeface="+mj-lt"/>
                        <a:cs typeface="黑体"/>
                      </a:endParaRPr>
                    </a:p>
                  </a:txBody>
                  <a:tcPr marL="0" marR="0" marT="9715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R="48514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8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说明</a:t>
                      </a:r>
                      <a:endParaRPr sz="2800" dirty="0">
                        <a:solidFill>
                          <a:schemeClr val="bg1"/>
                        </a:solidFill>
                        <a:latin typeface="+mj-lt"/>
                        <a:cs typeface="黑体"/>
                      </a:endParaRPr>
                    </a:p>
                  </a:txBody>
                  <a:tcPr marL="0" marR="0" marT="9715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64516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8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结果</a:t>
                      </a:r>
                      <a:endParaRPr sz="2800">
                        <a:solidFill>
                          <a:schemeClr val="bg1"/>
                        </a:solidFill>
                        <a:latin typeface="+mj-lt"/>
                        <a:cs typeface="黑体"/>
                      </a:endParaRPr>
                    </a:p>
                  </a:txBody>
                  <a:tcPr marL="0" marR="0" marT="9715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</a:tr>
              <a:tr h="612531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2400" spc="-5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let age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; </a:t>
                      </a:r>
                      <a:r>
                        <a:rPr sz="2400" spc="-5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console.log</a:t>
                      </a:r>
                      <a:r>
                        <a:rPr sz="2400" spc="5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(age)</a:t>
                      </a:r>
                      <a:endParaRPr sz="2400" dirty="0">
                        <a:solidFill>
                          <a:schemeClr val="bg1"/>
                        </a:solidFill>
                        <a:latin typeface="+mj-lt"/>
                        <a:cs typeface="Calibri"/>
                      </a:endParaRPr>
                    </a:p>
                  </a:txBody>
                  <a:tcPr marL="0" marR="0" marT="11557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R="486410"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只声</a:t>
                      </a:r>
                      <a:r>
                        <a:rPr sz="2400" spc="275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明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不赋值</a:t>
                      </a:r>
                      <a:endParaRPr sz="2400" dirty="0">
                        <a:solidFill>
                          <a:schemeClr val="bg1"/>
                        </a:solidFill>
                        <a:latin typeface="+mj-lt"/>
                        <a:cs typeface="黑体"/>
                      </a:endParaRPr>
                    </a:p>
                  </a:txBody>
                  <a:tcPr marL="0" marR="0" marT="11874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64198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2400" spc="-5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undefined</a:t>
                      </a:r>
                      <a:endParaRPr sz="2400">
                        <a:solidFill>
                          <a:schemeClr val="bg1"/>
                        </a:solidFill>
                        <a:latin typeface="+mj-lt"/>
                        <a:cs typeface="Calibri"/>
                      </a:endParaRPr>
                    </a:p>
                  </a:txBody>
                  <a:tcPr marL="0" marR="0" marT="11557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</a:tr>
              <a:tr h="604641">
                <a:tc>
                  <a:txBody>
                    <a:bodyPr/>
                    <a:lstStyle/>
                    <a:p>
                      <a:pPr marR="4254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2400" spc="-5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console.log(age)</a:t>
                      </a:r>
                      <a:endParaRPr sz="2400" dirty="0">
                        <a:solidFill>
                          <a:schemeClr val="bg1"/>
                        </a:solidFill>
                        <a:latin typeface="+mj-lt"/>
                        <a:cs typeface="Calibri"/>
                      </a:endParaRPr>
                    </a:p>
                  </a:txBody>
                  <a:tcPr marL="0" marR="0" marT="10604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R="486410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不声</a:t>
                      </a:r>
                      <a:r>
                        <a:rPr sz="2400" spc="275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明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不赋值</a:t>
                      </a:r>
                      <a:r>
                        <a:rPr sz="2400" spc="-75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直接使用</a:t>
                      </a:r>
                      <a:endParaRPr sz="2400" dirty="0">
                        <a:solidFill>
                          <a:schemeClr val="bg1"/>
                        </a:solidFill>
                        <a:latin typeface="+mj-lt"/>
                        <a:cs typeface="黑体"/>
                      </a:endParaRPr>
                    </a:p>
                  </a:txBody>
                  <a:tcPr marL="0" marR="0" marT="10858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64198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报错</a:t>
                      </a:r>
                      <a:endParaRPr sz="2400">
                        <a:solidFill>
                          <a:schemeClr val="bg1"/>
                        </a:solidFill>
                        <a:latin typeface="+mj-lt"/>
                        <a:cs typeface="黑体"/>
                      </a:endParaRPr>
                    </a:p>
                  </a:txBody>
                  <a:tcPr marL="0" marR="0" marT="11176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</a:tr>
              <a:tr h="601772">
                <a:tc>
                  <a:txBody>
                    <a:bodyPr/>
                    <a:lstStyle/>
                    <a:p>
                      <a:pPr marR="4254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2400" spc="-5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age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= 10; </a:t>
                      </a:r>
                      <a:r>
                        <a:rPr sz="2400" spc="-5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console.log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(age)</a:t>
                      </a:r>
                      <a:endParaRPr sz="2400" dirty="0">
                        <a:solidFill>
                          <a:schemeClr val="bg1"/>
                        </a:solidFill>
                        <a:latin typeface="+mj-lt"/>
                        <a:cs typeface="Calibri"/>
                      </a:endParaRPr>
                    </a:p>
                  </a:txBody>
                  <a:tcPr marL="0" marR="0" marT="10604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R="48641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不声</a:t>
                      </a:r>
                      <a:r>
                        <a:rPr sz="2400" spc="275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明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只赋值</a:t>
                      </a:r>
                      <a:endParaRPr sz="2400">
                        <a:solidFill>
                          <a:schemeClr val="bg1"/>
                        </a:solidFill>
                        <a:latin typeface="+mj-lt"/>
                        <a:cs typeface="黑体"/>
                      </a:endParaRPr>
                    </a:p>
                  </a:txBody>
                  <a:tcPr marL="0" marR="0" marT="1092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64389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10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+mj-lt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+mj-lt"/>
                          <a:cs typeface="黑体"/>
                        </a:rPr>
                        <a:t>（不提倡）</a:t>
                      </a:r>
                      <a:endParaRPr sz="2400" dirty="0">
                        <a:solidFill>
                          <a:schemeClr val="bg1"/>
                        </a:solidFill>
                        <a:latin typeface="+mj-lt"/>
                        <a:cs typeface="黑体"/>
                      </a:endParaRPr>
                    </a:p>
                  </a:txBody>
                  <a:tcPr marL="0" marR="0" marT="1092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50896"/>
            <a:ext cx="61722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数据类型</a:t>
            </a:r>
            <a:r>
              <a:rPr sz="2800" b="1" spc="-130" dirty="0" smtClean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110" dirty="0">
                <a:solidFill>
                  <a:srgbClr val="585858"/>
                </a:solidFill>
                <a:latin typeface="+mn-lt"/>
                <a:cs typeface="微软雅黑"/>
              </a:rPr>
              <a:t>–</a:t>
            </a:r>
            <a:r>
              <a:rPr sz="2800" b="1" spc="-125" dirty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15" dirty="0">
                <a:solidFill>
                  <a:srgbClr val="585858"/>
                </a:solidFill>
                <a:latin typeface="+mn-lt"/>
                <a:cs typeface="微软雅黑"/>
              </a:rPr>
              <a:t>null（</a:t>
            </a:r>
            <a:r>
              <a:rPr sz="2800" b="1" spc="-40" dirty="0">
                <a:solidFill>
                  <a:srgbClr val="585858"/>
                </a:solidFill>
                <a:latin typeface="+mn-lt"/>
                <a:cs typeface="微软雅黑"/>
              </a:rPr>
              <a:t>空类型）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295146"/>
            <a:ext cx="434086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85" dirty="0">
                <a:solidFill>
                  <a:srgbClr val="252525"/>
                </a:solidFill>
                <a:cs typeface="宋体"/>
              </a:rPr>
              <a:t>null</a:t>
            </a:r>
            <a:r>
              <a:rPr sz="2400" spc="-405" dirty="0">
                <a:solidFill>
                  <a:srgbClr val="252525"/>
                </a:solidFill>
                <a:cs typeface="宋体"/>
              </a:rPr>
              <a:t> </a:t>
            </a:r>
            <a:r>
              <a:rPr sz="2400" spc="-30" dirty="0" err="1" smtClean="0">
                <a:solidFill>
                  <a:srgbClr val="252525"/>
                </a:solidFill>
                <a:cs typeface="宋体"/>
              </a:rPr>
              <a:t>表示值为</a:t>
            </a:r>
            <a:r>
              <a:rPr sz="2400" spc="-405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sz="2400" spc="-30" dirty="0">
                <a:solidFill>
                  <a:srgbClr val="252525"/>
                </a:solidFill>
                <a:cs typeface="宋体"/>
              </a:rPr>
              <a:t>空</a:t>
            </a:r>
            <a:endParaRPr sz="2400" dirty="0"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953638"/>
            <a:ext cx="10970261" cy="28950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252525"/>
                </a:solidFill>
                <a:cs typeface="微软雅黑"/>
              </a:rPr>
              <a:t>null</a:t>
            </a:r>
            <a:r>
              <a:rPr sz="2200" b="1" spc="-70" dirty="0">
                <a:solidFill>
                  <a:srgbClr val="252525"/>
                </a:solidFill>
                <a:cs typeface="微软雅黑"/>
              </a:rPr>
              <a:t> </a:t>
            </a:r>
            <a:r>
              <a:rPr sz="2200" b="1" spc="-30" dirty="0">
                <a:solidFill>
                  <a:srgbClr val="252525"/>
                </a:solidFill>
                <a:cs typeface="微软雅黑"/>
              </a:rPr>
              <a:t>和</a:t>
            </a:r>
            <a:r>
              <a:rPr sz="2200" b="1" spc="-55" dirty="0">
                <a:solidFill>
                  <a:srgbClr val="252525"/>
                </a:solidFill>
                <a:cs typeface="微软雅黑"/>
              </a:rPr>
              <a:t> </a:t>
            </a:r>
            <a:r>
              <a:rPr sz="2200" b="1" spc="-30" dirty="0">
                <a:solidFill>
                  <a:srgbClr val="252525"/>
                </a:solidFill>
                <a:cs typeface="微软雅黑"/>
              </a:rPr>
              <a:t>undefined</a:t>
            </a:r>
            <a:r>
              <a:rPr sz="2200" b="1" spc="-60" dirty="0">
                <a:solidFill>
                  <a:srgbClr val="252525"/>
                </a:solidFill>
                <a:cs typeface="微软雅黑"/>
              </a:rPr>
              <a:t> </a:t>
            </a:r>
            <a:r>
              <a:rPr sz="2200" b="1" spc="-30" dirty="0">
                <a:solidFill>
                  <a:srgbClr val="252525"/>
                </a:solidFill>
                <a:cs typeface="微软雅黑"/>
              </a:rPr>
              <a:t>区别：</a:t>
            </a:r>
            <a:endParaRPr sz="2200" dirty="0">
              <a:cs typeface="微软雅黑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200" spc="65" dirty="0">
                <a:solidFill>
                  <a:srgbClr val="252525"/>
                </a:solidFill>
                <a:cs typeface="宋体"/>
              </a:rPr>
              <a:t>undefined</a:t>
            </a:r>
            <a:r>
              <a:rPr sz="2200" spc="30" dirty="0">
                <a:solidFill>
                  <a:srgbClr val="252525"/>
                </a:solidFill>
                <a:cs typeface="宋体"/>
              </a:rPr>
              <a:t> 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表示没有赋值</a:t>
            </a:r>
            <a:endParaRPr sz="2200" dirty="0"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0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200" spc="-85" dirty="0">
                <a:solidFill>
                  <a:srgbClr val="252525"/>
                </a:solidFill>
                <a:cs typeface="宋体"/>
              </a:rPr>
              <a:t>null</a:t>
            </a:r>
            <a:r>
              <a:rPr sz="2200" spc="-385" dirty="0">
                <a:solidFill>
                  <a:srgbClr val="252525"/>
                </a:solidFill>
                <a:cs typeface="宋体"/>
              </a:rPr>
              <a:t> </a:t>
            </a:r>
            <a:r>
              <a:rPr sz="2200" spc="-35" dirty="0">
                <a:solidFill>
                  <a:srgbClr val="252525"/>
                </a:solidFill>
                <a:cs typeface="宋体"/>
              </a:rPr>
              <a:t>表示赋值了，但是内容为空</a:t>
            </a:r>
            <a:endParaRPr sz="2200" dirty="0">
              <a:cs typeface="宋体"/>
            </a:endParaRPr>
          </a:p>
          <a:p>
            <a:pPr>
              <a:lnSpc>
                <a:spcPct val="100000"/>
              </a:lnSpc>
            </a:pPr>
            <a:endParaRPr sz="2200" dirty="0"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 dirty="0"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solidFill>
                  <a:srgbClr val="252525"/>
                </a:solidFill>
                <a:cs typeface="微软雅黑"/>
              </a:rPr>
              <a:t>null</a:t>
            </a:r>
            <a:r>
              <a:rPr sz="2200" b="1" spc="-70" dirty="0">
                <a:solidFill>
                  <a:srgbClr val="252525"/>
                </a:solidFill>
                <a:cs typeface="微软雅黑"/>
              </a:rPr>
              <a:t> </a:t>
            </a:r>
            <a:r>
              <a:rPr sz="2200" b="1" spc="-30" dirty="0">
                <a:solidFill>
                  <a:srgbClr val="252525"/>
                </a:solidFill>
                <a:cs typeface="微软雅黑"/>
              </a:rPr>
              <a:t>开发中的使用场景：</a:t>
            </a:r>
            <a:endParaRPr sz="2200" dirty="0"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200" spc="-30" dirty="0" err="1" smtClean="0">
                <a:solidFill>
                  <a:srgbClr val="252525"/>
                </a:solidFill>
                <a:cs typeface="宋体"/>
              </a:rPr>
              <a:t>将来有个变量里面存放的是一个对象</a:t>
            </a:r>
            <a:r>
              <a:rPr sz="2200" spc="-30" dirty="0" err="1">
                <a:solidFill>
                  <a:srgbClr val="252525"/>
                </a:solidFill>
                <a:cs typeface="宋体"/>
              </a:rPr>
              <a:t>，但是</a:t>
            </a:r>
            <a:r>
              <a:rPr sz="2200" spc="-20" dirty="0" err="1">
                <a:solidFill>
                  <a:srgbClr val="252525"/>
                </a:solidFill>
                <a:cs typeface="宋体"/>
              </a:rPr>
              <a:t>对</a:t>
            </a:r>
            <a:r>
              <a:rPr sz="2200" spc="-30" dirty="0" err="1">
                <a:solidFill>
                  <a:srgbClr val="252525"/>
                </a:solidFill>
                <a:cs typeface="宋体"/>
              </a:rPr>
              <a:t>象还没</a:t>
            </a:r>
            <a:r>
              <a:rPr sz="2200" spc="-20" dirty="0" err="1">
                <a:solidFill>
                  <a:srgbClr val="252525"/>
                </a:solidFill>
                <a:cs typeface="宋体"/>
              </a:rPr>
              <a:t>创</a:t>
            </a:r>
            <a:r>
              <a:rPr sz="2200" spc="-30" dirty="0" err="1">
                <a:solidFill>
                  <a:srgbClr val="252525"/>
                </a:solidFill>
                <a:cs typeface="宋体"/>
              </a:rPr>
              <a:t>建好，</a:t>
            </a:r>
            <a:r>
              <a:rPr sz="2200" spc="-20" dirty="0" err="1">
                <a:solidFill>
                  <a:srgbClr val="252525"/>
                </a:solidFill>
                <a:cs typeface="宋体"/>
              </a:rPr>
              <a:t>可</a:t>
            </a:r>
            <a:r>
              <a:rPr sz="2200" spc="-30" dirty="0" err="1">
                <a:solidFill>
                  <a:srgbClr val="252525"/>
                </a:solidFill>
                <a:cs typeface="宋体"/>
              </a:rPr>
              <a:t>以先给</a:t>
            </a:r>
            <a:r>
              <a:rPr sz="2200" spc="-10" dirty="0" err="1">
                <a:solidFill>
                  <a:srgbClr val="252525"/>
                </a:solidFill>
                <a:cs typeface="宋体"/>
              </a:rPr>
              <a:t>个</a:t>
            </a:r>
            <a:r>
              <a:rPr sz="2200" spc="-85" dirty="0" err="1">
                <a:solidFill>
                  <a:srgbClr val="252525"/>
                </a:solidFill>
                <a:cs typeface="宋体"/>
              </a:rPr>
              <a:t>null</a:t>
            </a:r>
            <a:endParaRPr sz="2200" dirty="0"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6939" y="1903341"/>
            <a:ext cx="4645661" cy="82361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834245" y="685800"/>
            <a:ext cx="235775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51137"/>
            <a:ext cx="6172200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数据类型</a:t>
            </a:r>
            <a:r>
              <a:rPr sz="2800" b="1" spc="-130" dirty="0" smtClean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sz="2800" b="1" spc="-110" dirty="0">
                <a:solidFill>
                  <a:srgbClr val="585858"/>
                </a:solidFill>
                <a:latin typeface="+mn-lt"/>
                <a:cs typeface="微软雅黑"/>
              </a:rPr>
              <a:t>–</a:t>
            </a:r>
            <a:r>
              <a:rPr sz="2800" b="1" spc="-125" dirty="0">
                <a:solidFill>
                  <a:srgbClr val="585858"/>
                </a:solidFill>
                <a:latin typeface="+mn-lt"/>
                <a:cs typeface="微软雅黑"/>
              </a:rPr>
              <a:t> </a:t>
            </a:r>
            <a:r>
              <a:rPr lang="en-US" sz="2800" b="1" spc="-15" dirty="0">
                <a:solidFill>
                  <a:srgbClr val="585858"/>
                </a:solidFill>
                <a:latin typeface="+mn-lt"/>
                <a:cs typeface="微软雅黑"/>
              </a:rPr>
              <a:t>Symbol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295400"/>
            <a:ext cx="1066736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>
                <a:solidFill>
                  <a:srgbClr val="252525"/>
                </a:solidFill>
                <a:cs typeface="宋体"/>
              </a:rPr>
              <a:t>‌Symbol是‌JavaScript中的一种新的基本数据类型，引入自‌ECMAScript 6（ES6）标准。‌ 它是一种不可变且唯一的数据类型，可以用来创建独一无二的键（key）</a:t>
            </a:r>
            <a:endParaRPr>
              <a:solidFill>
                <a:srgbClr val="252525"/>
              </a:solidFill>
              <a:cs typeface="宋体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834245" y="685800"/>
            <a:ext cx="2357755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2000" y="2013585"/>
            <a:ext cx="5401945" cy="12185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000" y="4186555"/>
            <a:ext cx="4160520" cy="24898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38200" y="3524885"/>
            <a:ext cx="104609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使用 Symbol 作为对象属性名，可以确保属性名的唯一性，避免属性名冲突的问题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06110" y="1591183"/>
            <a:ext cx="2834640" cy="754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΢"/>
              <a:buAutoNum type="arabicPeriod"/>
              <a:tabLst>
                <a:tab pos="340360" algn="l"/>
              </a:tabLst>
            </a:pPr>
            <a:r>
              <a:rPr sz="1800" spc="-30" dirty="0">
                <a:cs typeface="宋体"/>
              </a:rPr>
              <a:t>布尔数据类型有几个值？</a:t>
            </a:r>
            <a:endParaRPr sz="1800"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660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45" dirty="0">
                <a:cs typeface="宋体"/>
              </a:rPr>
              <a:t>true</a:t>
            </a:r>
            <a:r>
              <a:rPr sz="1600" spc="-385" dirty="0">
                <a:cs typeface="宋体"/>
              </a:rPr>
              <a:t> </a:t>
            </a:r>
            <a:r>
              <a:rPr sz="1600" spc="-30" dirty="0">
                <a:cs typeface="宋体"/>
              </a:rPr>
              <a:t>和</a:t>
            </a:r>
            <a:r>
              <a:rPr sz="1600" spc="-400" dirty="0">
                <a:cs typeface="宋体"/>
              </a:rPr>
              <a:t> </a:t>
            </a:r>
            <a:r>
              <a:rPr sz="1600" spc="-70" dirty="0">
                <a:cs typeface="宋体"/>
              </a:rPr>
              <a:t>false</a:t>
            </a:r>
            <a:endParaRPr sz="1600"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6110" y="2609469"/>
            <a:ext cx="5315585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΢"/>
              <a:buAutoNum type="arabicPeriod" startAt="2"/>
              <a:tabLst>
                <a:tab pos="340360" algn="l"/>
              </a:tabLst>
            </a:pPr>
            <a:r>
              <a:rPr sz="1800" spc="-30" dirty="0">
                <a:cs typeface="宋体"/>
              </a:rPr>
              <a:t>什么时候出现未定义数据类型？以后开发场景是？</a:t>
            </a:r>
            <a:endParaRPr sz="1800"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660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cs typeface="宋体"/>
              </a:rPr>
              <a:t>定义变量未给值就是</a:t>
            </a:r>
            <a:r>
              <a:rPr sz="1600" spc="-360" dirty="0">
                <a:cs typeface="宋体"/>
              </a:rPr>
              <a:t> </a:t>
            </a:r>
            <a:r>
              <a:rPr sz="1600" spc="65" dirty="0">
                <a:cs typeface="宋体"/>
              </a:rPr>
              <a:t>undefined</a:t>
            </a:r>
            <a:endParaRPr sz="1600"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345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cs typeface="宋体"/>
              </a:rPr>
              <a:t>如果检测变量是</a:t>
            </a:r>
            <a:r>
              <a:rPr sz="1600" spc="65" dirty="0">
                <a:cs typeface="宋体"/>
              </a:rPr>
              <a:t>undefined</a:t>
            </a:r>
            <a:r>
              <a:rPr sz="1600" spc="-30" dirty="0">
                <a:cs typeface="宋体"/>
              </a:rPr>
              <a:t>就说明没有值传递过来</a:t>
            </a:r>
            <a:endParaRPr sz="1600"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06110" y="4042409"/>
            <a:ext cx="6864984" cy="15414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lr>
                <a:srgbClr val="252525"/>
              </a:buClr>
              <a:buFont typeface="΢"/>
              <a:buAutoNum type="arabicPeriod" startAt="3"/>
              <a:tabLst>
                <a:tab pos="340360" algn="l"/>
              </a:tabLst>
            </a:pPr>
            <a:r>
              <a:rPr sz="1800" spc="-90" dirty="0">
                <a:cs typeface="宋体"/>
              </a:rPr>
              <a:t>null</a:t>
            </a:r>
            <a:r>
              <a:rPr sz="1800" spc="-30" dirty="0">
                <a:cs typeface="宋体"/>
              </a:rPr>
              <a:t>是什么类型？</a:t>
            </a:r>
            <a:r>
              <a:rPr sz="1800" spc="-470" dirty="0">
                <a:cs typeface="宋体"/>
              </a:rPr>
              <a:t> </a:t>
            </a:r>
            <a:r>
              <a:rPr sz="1800" spc="-25" dirty="0">
                <a:cs typeface="宋体"/>
              </a:rPr>
              <a:t>开发场景是？</a:t>
            </a:r>
            <a:endParaRPr sz="1800"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660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0" dirty="0">
                <a:cs typeface="宋体"/>
              </a:rPr>
              <a:t>空类型</a:t>
            </a:r>
            <a:endParaRPr sz="1600">
              <a:cs typeface="宋体"/>
            </a:endParaRPr>
          </a:p>
          <a:p>
            <a:pPr marL="658495" lvl="1" indent="-286385">
              <a:lnSpc>
                <a:spcPct val="100000"/>
              </a:lnSpc>
              <a:spcBef>
                <a:spcPts val="1345"/>
              </a:spcBef>
              <a:buFont typeface="Wingdings" panose="05000000000000000000"/>
              <a:buChar char=""/>
              <a:tabLst>
                <a:tab pos="659130" algn="l"/>
              </a:tabLst>
            </a:pPr>
            <a:r>
              <a:rPr sz="1600" spc="-35" dirty="0">
                <a:cs typeface="宋体"/>
              </a:rPr>
              <a:t>如果一个变量里面确定存放的是对象，如果还</a:t>
            </a:r>
            <a:r>
              <a:rPr sz="1600" spc="-20" dirty="0">
                <a:cs typeface="宋体"/>
              </a:rPr>
              <a:t>没</a:t>
            </a:r>
            <a:r>
              <a:rPr sz="1600" spc="-35" dirty="0">
                <a:cs typeface="宋体"/>
              </a:rPr>
              <a:t>准备好</a:t>
            </a:r>
            <a:r>
              <a:rPr sz="1600" spc="-20" dirty="0">
                <a:cs typeface="宋体"/>
              </a:rPr>
              <a:t>对</a:t>
            </a:r>
            <a:r>
              <a:rPr sz="1600" spc="-35" dirty="0">
                <a:cs typeface="宋体"/>
              </a:rPr>
              <a:t>象，可</a:t>
            </a:r>
            <a:r>
              <a:rPr sz="1600" spc="-20" dirty="0">
                <a:cs typeface="宋体"/>
              </a:rPr>
              <a:t>以</a:t>
            </a:r>
            <a:r>
              <a:rPr sz="1600" spc="-35" dirty="0">
                <a:cs typeface="宋体"/>
              </a:rPr>
              <a:t>放个</a:t>
            </a:r>
            <a:endParaRPr sz="1600">
              <a:cs typeface="宋体"/>
            </a:endParaRPr>
          </a:p>
          <a:p>
            <a:pPr marL="658495">
              <a:lnSpc>
                <a:spcPct val="100000"/>
              </a:lnSpc>
              <a:spcBef>
                <a:spcPts val="965"/>
              </a:spcBef>
            </a:pPr>
            <a:r>
              <a:rPr sz="1600" spc="-85" dirty="0">
                <a:cs typeface="宋体"/>
              </a:rPr>
              <a:t>null</a:t>
            </a:r>
            <a:endParaRPr sz="1600"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9252" y="716088"/>
            <a:ext cx="154914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>
                <a:solidFill>
                  <a:srgbClr val="585858"/>
                </a:solidFill>
                <a:cs typeface="微软雅黑"/>
              </a:rPr>
              <a:t>小结</a:t>
            </a:r>
            <a:endParaRPr sz="2800" dirty="0">
              <a:cs typeface="微软雅黑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1194816" y="4376928"/>
            <a:ext cx="588645" cy="588645"/>
          </a:xfrm>
          <a:custGeom>
            <a:avLst/>
            <a:gdLst/>
            <a:ahLst/>
            <a:cxnLst/>
            <a:rect l="l" t="t" r="r" b="b"/>
            <a:pathLst>
              <a:path w="588644" h="588645">
                <a:moveTo>
                  <a:pt x="0" y="294132"/>
                </a:moveTo>
                <a:lnTo>
                  <a:pt x="3850" y="246425"/>
                </a:lnTo>
                <a:lnTo>
                  <a:pt x="14996" y="201168"/>
                </a:lnTo>
                <a:lnTo>
                  <a:pt x="32832" y="158966"/>
                </a:lnTo>
                <a:lnTo>
                  <a:pt x="56753" y="120426"/>
                </a:lnTo>
                <a:lnTo>
                  <a:pt x="86153" y="86153"/>
                </a:lnTo>
                <a:lnTo>
                  <a:pt x="120426" y="56753"/>
                </a:lnTo>
                <a:lnTo>
                  <a:pt x="158966" y="32832"/>
                </a:lnTo>
                <a:lnTo>
                  <a:pt x="201168" y="14996"/>
                </a:lnTo>
                <a:lnTo>
                  <a:pt x="246425" y="3850"/>
                </a:lnTo>
                <a:lnTo>
                  <a:pt x="294131" y="0"/>
                </a:lnTo>
                <a:lnTo>
                  <a:pt x="341838" y="3850"/>
                </a:lnTo>
                <a:lnTo>
                  <a:pt x="387096" y="14996"/>
                </a:lnTo>
                <a:lnTo>
                  <a:pt x="429297" y="32832"/>
                </a:lnTo>
                <a:lnTo>
                  <a:pt x="467837" y="56753"/>
                </a:lnTo>
                <a:lnTo>
                  <a:pt x="502110" y="86153"/>
                </a:lnTo>
                <a:lnTo>
                  <a:pt x="531510" y="120426"/>
                </a:lnTo>
                <a:lnTo>
                  <a:pt x="555431" y="158966"/>
                </a:lnTo>
                <a:lnTo>
                  <a:pt x="573267" y="201168"/>
                </a:lnTo>
                <a:lnTo>
                  <a:pt x="584413" y="246425"/>
                </a:lnTo>
                <a:lnTo>
                  <a:pt x="588264" y="294132"/>
                </a:lnTo>
                <a:lnTo>
                  <a:pt x="584413" y="341838"/>
                </a:lnTo>
                <a:lnTo>
                  <a:pt x="573267" y="387096"/>
                </a:lnTo>
                <a:lnTo>
                  <a:pt x="555431" y="429297"/>
                </a:lnTo>
                <a:lnTo>
                  <a:pt x="531510" y="467837"/>
                </a:lnTo>
                <a:lnTo>
                  <a:pt x="502110" y="502110"/>
                </a:lnTo>
                <a:lnTo>
                  <a:pt x="467837" y="531510"/>
                </a:lnTo>
                <a:lnTo>
                  <a:pt x="429297" y="555431"/>
                </a:lnTo>
                <a:lnTo>
                  <a:pt x="387095" y="573267"/>
                </a:lnTo>
                <a:lnTo>
                  <a:pt x="341838" y="584413"/>
                </a:lnTo>
                <a:lnTo>
                  <a:pt x="294131" y="588264"/>
                </a:lnTo>
                <a:lnTo>
                  <a:pt x="246425" y="584413"/>
                </a:lnTo>
                <a:lnTo>
                  <a:pt x="201168" y="573267"/>
                </a:lnTo>
                <a:lnTo>
                  <a:pt x="158966" y="555431"/>
                </a:lnTo>
                <a:lnTo>
                  <a:pt x="120426" y="531510"/>
                </a:lnTo>
                <a:lnTo>
                  <a:pt x="86153" y="502110"/>
                </a:lnTo>
                <a:lnTo>
                  <a:pt x="56753" y="467837"/>
                </a:lnTo>
                <a:lnTo>
                  <a:pt x="32832" y="429297"/>
                </a:lnTo>
                <a:lnTo>
                  <a:pt x="14996" y="387096"/>
                </a:lnTo>
                <a:lnTo>
                  <a:pt x="3850" y="341838"/>
                </a:lnTo>
                <a:lnTo>
                  <a:pt x="0" y="294132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3"/>
          <p:cNvSpPr/>
          <p:nvPr/>
        </p:nvSpPr>
        <p:spPr>
          <a:xfrm>
            <a:off x="2808732" y="3784091"/>
            <a:ext cx="927100" cy="927100"/>
          </a:xfrm>
          <a:custGeom>
            <a:avLst/>
            <a:gdLst/>
            <a:ahLst/>
            <a:cxnLst/>
            <a:rect l="l" t="t" r="r" b="b"/>
            <a:pathLst>
              <a:path w="927100" h="927100">
                <a:moveTo>
                  <a:pt x="463295" y="0"/>
                </a:moveTo>
                <a:lnTo>
                  <a:pt x="415921" y="2391"/>
                </a:lnTo>
                <a:lnTo>
                  <a:pt x="369916" y="9411"/>
                </a:lnTo>
                <a:lnTo>
                  <a:pt x="325513" y="20825"/>
                </a:lnTo>
                <a:lnTo>
                  <a:pt x="282946" y="36403"/>
                </a:lnTo>
                <a:lnTo>
                  <a:pt x="242446" y="55910"/>
                </a:lnTo>
                <a:lnTo>
                  <a:pt x="204247" y="79114"/>
                </a:lnTo>
                <a:lnTo>
                  <a:pt x="168582" y="105783"/>
                </a:lnTo>
                <a:lnTo>
                  <a:pt x="135683" y="135683"/>
                </a:lnTo>
                <a:lnTo>
                  <a:pt x="105783" y="168582"/>
                </a:lnTo>
                <a:lnTo>
                  <a:pt x="79114" y="204247"/>
                </a:lnTo>
                <a:lnTo>
                  <a:pt x="55910" y="242446"/>
                </a:lnTo>
                <a:lnTo>
                  <a:pt x="36403" y="282946"/>
                </a:lnTo>
                <a:lnTo>
                  <a:pt x="20825" y="325513"/>
                </a:lnTo>
                <a:lnTo>
                  <a:pt x="9411" y="369916"/>
                </a:lnTo>
                <a:lnTo>
                  <a:pt x="2391" y="415921"/>
                </a:lnTo>
                <a:lnTo>
                  <a:pt x="0" y="463295"/>
                </a:lnTo>
                <a:lnTo>
                  <a:pt x="2391" y="510670"/>
                </a:lnTo>
                <a:lnTo>
                  <a:pt x="9411" y="556675"/>
                </a:lnTo>
                <a:lnTo>
                  <a:pt x="20825" y="601078"/>
                </a:lnTo>
                <a:lnTo>
                  <a:pt x="36403" y="643645"/>
                </a:lnTo>
                <a:lnTo>
                  <a:pt x="55910" y="684145"/>
                </a:lnTo>
                <a:lnTo>
                  <a:pt x="79114" y="722344"/>
                </a:lnTo>
                <a:lnTo>
                  <a:pt x="105783" y="758009"/>
                </a:lnTo>
                <a:lnTo>
                  <a:pt x="135683" y="790908"/>
                </a:lnTo>
                <a:lnTo>
                  <a:pt x="168582" y="820808"/>
                </a:lnTo>
                <a:lnTo>
                  <a:pt x="204247" y="847477"/>
                </a:lnTo>
                <a:lnTo>
                  <a:pt x="242446" y="870681"/>
                </a:lnTo>
                <a:lnTo>
                  <a:pt x="282946" y="890188"/>
                </a:lnTo>
                <a:lnTo>
                  <a:pt x="325513" y="905766"/>
                </a:lnTo>
                <a:lnTo>
                  <a:pt x="369916" y="917180"/>
                </a:lnTo>
                <a:lnTo>
                  <a:pt x="415921" y="924200"/>
                </a:lnTo>
                <a:lnTo>
                  <a:pt x="463295" y="926591"/>
                </a:lnTo>
                <a:lnTo>
                  <a:pt x="510670" y="924200"/>
                </a:lnTo>
                <a:lnTo>
                  <a:pt x="556675" y="917180"/>
                </a:lnTo>
                <a:lnTo>
                  <a:pt x="601078" y="905766"/>
                </a:lnTo>
                <a:lnTo>
                  <a:pt x="643645" y="890188"/>
                </a:lnTo>
                <a:lnTo>
                  <a:pt x="684145" y="870681"/>
                </a:lnTo>
                <a:lnTo>
                  <a:pt x="722344" y="847477"/>
                </a:lnTo>
                <a:lnTo>
                  <a:pt x="758009" y="820808"/>
                </a:lnTo>
                <a:lnTo>
                  <a:pt x="790908" y="790908"/>
                </a:lnTo>
                <a:lnTo>
                  <a:pt x="820808" y="758009"/>
                </a:lnTo>
                <a:lnTo>
                  <a:pt x="847477" y="722344"/>
                </a:lnTo>
                <a:lnTo>
                  <a:pt x="870681" y="684145"/>
                </a:lnTo>
                <a:lnTo>
                  <a:pt x="890188" y="643645"/>
                </a:lnTo>
                <a:lnTo>
                  <a:pt x="905766" y="601078"/>
                </a:lnTo>
                <a:lnTo>
                  <a:pt x="917180" y="556675"/>
                </a:lnTo>
                <a:lnTo>
                  <a:pt x="924200" y="510670"/>
                </a:lnTo>
                <a:lnTo>
                  <a:pt x="926592" y="463295"/>
                </a:lnTo>
                <a:lnTo>
                  <a:pt x="924200" y="415921"/>
                </a:lnTo>
                <a:lnTo>
                  <a:pt x="917180" y="369916"/>
                </a:lnTo>
                <a:lnTo>
                  <a:pt x="905766" y="325513"/>
                </a:lnTo>
                <a:lnTo>
                  <a:pt x="890188" y="282946"/>
                </a:lnTo>
                <a:lnTo>
                  <a:pt x="870681" y="242446"/>
                </a:lnTo>
                <a:lnTo>
                  <a:pt x="847477" y="204247"/>
                </a:lnTo>
                <a:lnTo>
                  <a:pt x="820808" y="168582"/>
                </a:lnTo>
                <a:lnTo>
                  <a:pt x="790908" y="135683"/>
                </a:lnTo>
                <a:lnTo>
                  <a:pt x="758009" y="105783"/>
                </a:lnTo>
                <a:lnTo>
                  <a:pt x="722344" y="79114"/>
                </a:lnTo>
                <a:lnTo>
                  <a:pt x="684145" y="55910"/>
                </a:lnTo>
                <a:lnTo>
                  <a:pt x="643645" y="36403"/>
                </a:lnTo>
                <a:lnTo>
                  <a:pt x="601078" y="20825"/>
                </a:lnTo>
                <a:lnTo>
                  <a:pt x="556675" y="9411"/>
                </a:lnTo>
                <a:lnTo>
                  <a:pt x="510670" y="2391"/>
                </a:lnTo>
                <a:lnTo>
                  <a:pt x="463295" y="0"/>
                </a:lnTo>
                <a:close/>
              </a:path>
            </a:pathLst>
          </a:custGeom>
          <a:solidFill>
            <a:schemeClr val="accent6">
              <a:alpha val="63136"/>
            </a:scheme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4"/>
          <p:cNvSpPr/>
          <p:nvPr/>
        </p:nvSpPr>
        <p:spPr>
          <a:xfrm>
            <a:off x="2708148" y="2377439"/>
            <a:ext cx="1590040" cy="1591310"/>
          </a:xfrm>
          <a:custGeom>
            <a:avLst/>
            <a:gdLst/>
            <a:ahLst/>
            <a:cxnLst/>
            <a:rect l="l" t="t" r="r" b="b"/>
            <a:pathLst>
              <a:path w="1590039" h="1591310">
                <a:moveTo>
                  <a:pt x="0" y="795527"/>
                </a:moveTo>
                <a:lnTo>
                  <a:pt x="1450" y="747060"/>
                </a:lnTo>
                <a:lnTo>
                  <a:pt x="5746" y="699361"/>
                </a:lnTo>
                <a:lnTo>
                  <a:pt x="12805" y="652514"/>
                </a:lnTo>
                <a:lnTo>
                  <a:pt x="22543" y="606602"/>
                </a:lnTo>
                <a:lnTo>
                  <a:pt x="34878" y="561709"/>
                </a:lnTo>
                <a:lnTo>
                  <a:pt x="49725" y="517917"/>
                </a:lnTo>
                <a:lnTo>
                  <a:pt x="67002" y="475310"/>
                </a:lnTo>
                <a:lnTo>
                  <a:pt x="86626" y="433970"/>
                </a:lnTo>
                <a:lnTo>
                  <a:pt x="108514" y="393982"/>
                </a:lnTo>
                <a:lnTo>
                  <a:pt x="132582" y="355427"/>
                </a:lnTo>
                <a:lnTo>
                  <a:pt x="158747" y="318390"/>
                </a:lnTo>
                <a:lnTo>
                  <a:pt x="186927" y="282953"/>
                </a:lnTo>
                <a:lnTo>
                  <a:pt x="217037" y="249200"/>
                </a:lnTo>
                <a:lnTo>
                  <a:pt x="248995" y="217214"/>
                </a:lnTo>
                <a:lnTo>
                  <a:pt x="282718" y="187077"/>
                </a:lnTo>
                <a:lnTo>
                  <a:pt x="318123" y="158874"/>
                </a:lnTo>
                <a:lnTo>
                  <a:pt x="355125" y="132687"/>
                </a:lnTo>
                <a:lnTo>
                  <a:pt x="393643" y="108599"/>
                </a:lnTo>
                <a:lnTo>
                  <a:pt x="433593" y="86693"/>
                </a:lnTo>
                <a:lnTo>
                  <a:pt x="474892" y="67053"/>
                </a:lnTo>
                <a:lnTo>
                  <a:pt x="517456" y="49763"/>
                </a:lnTo>
                <a:lnTo>
                  <a:pt x="561203" y="34904"/>
                </a:lnTo>
                <a:lnTo>
                  <a:pt x="606049" y="22560"/>
                </a:lnTo>
                <a:lnTo>
                  <a:pt x="651912" y="12814"/>
                </a:lnTo>
                <a:lnTo>
                  <a:pt x="698708" y="5750"/>
                </a:lnTo>
                <a:lnTo>
                  <a:pt x="746353" y="1451"/>
                </a:lnTo>
                <a:lnTo>
                  <a:pt x="794765" y="0"/>
                </a:lnTo>
                <a:lnTo>
                  <a:pt x="843178" y="1451"/>
                </a:lnTo>
                <a:lnTo>
                  <a:pt x="890823" y="5750"/>
                </a:lnTo>
                <a:lnTo>
                  <a:pt x="937619" y="12814"/>
                </a:lnTo>
                <a:lnTo>
                  <a:pt x="983482" y="22560"/>
                </a:lnTo>
                <a:lnTo>
                  <a:pt x="1028328" y="34904"/>
                </a:lnTo>
                <a:lnTo>
                  <a:pt x="1072075" y="49763"/>
                </a:lnTo>
                <a:lnTo>
                  <a:pt x="1114639" y="67053"/>
                </a:lnTo>
                <a:lnTo>
                  <a:pt x="1155938" y="86693"/>
                </a:lnTo>
                <a:lnTo>
                  <a:pt x="1195888" y="108599"/>
                </a:lnTo>
                <a:lnTo>
                  <a:pt x="1234406" y="132687"/>
                </a:lnTo>
                <a:lnTo>
                  <a:pt x="1271408" y="158874"/>
                </a:lnTo>
                <a:lnTo>
                  <a:pt x="1306813" y="187077"/>
                </a:lnTo>
                <a:lnTo>
                  <a:pt x="1340536" y="217214"/>
                </a:lnTo>
                <a:lnTo>
                  <a:pt x="1372494" y="249200"/>
                </a:lnTo>
                <a:lnTo>
                  <a:pt x="1402604" y="282953"/>
                </a:lnTo>
                <a:lnTo>
                  <a:pt x="1430784" y="318390"/>
                </a:lnTo>
                <a:lnTo>
                  <a:pt x="1456949" y="355427"/>
                </a:lnTo>
                <a:lnTo>
                  <a:pt x="1481017" y="393982"/>
                </a:lnTo>
                <a:lnTo>
                  <a:pt x="1502905" y="433970"/>
                </a:lnTo>
                <a:lnTo>
                  <a:pt x="1522529" y="475310"/>
                </a:lnTo>
                <a:lnTo>
                  <a:pt x="1539806" y="517917"/>
                </a:lnTo>
                <a:lnTo>
                  <a:pt x="1554653" y="561709"/>
                </a:lnTo>
                <a:lnTo>
                  <a:pt x="1566988" y="606602"/>
                </a:lnTo>
                <a:lnTo>
                  <a:pt x="1576726" y="652514"/>
                </a:lnTo>
                <a:lnTo>
                  <a:pt x="1583785" y="699361"/>
                </a:lnTo>
                <a:lnTo>
                  <a:pt x="1588081" y="747060"/>
                </a:lnTo>
                <a:lnTo>
                  <a:pt x="1589531" y="795527"/>
                </a:lnTo>
                <a:lnTo>
                  <a:pt x="1588081" y="843995"/>
                </a:lnTo>
                <a:lnTo>
                  <a:pt x="1583785" y="891694"/>
                </a:lnTo>
                <a:lnTo>
                  <a:pt x="1576726" y="938541"/>
                </a:lnTo>
                <a:lnTo>
                  <a:pt x="1566988" y="984453"/>
                </a:lnTo>
                <a:lnTo>
                  <a:pt x="1554653" y="1029346"/>
                </a:lnTo>
                <a:lnTo>
                  <a:pt x="1539806" y="1073138"/>
                </a:lnTo>
                <a:lnTo>
                  <a:pt x="1522529" y="1115745"/>
                </a:lnTo>
                <a:lnTo>
                  <a:pt x="1502905" y="1157085"/>
                </a:lnTo>
                <a:lnTo>
                  <a:pt x="1481017" y="1197073"/>
                </a:lnTo>
                <a:lnTo>
                  <a:pt x="1456949" y="1235628"/>
                </a:lnTo>
                <a:lnTo>
                  <a:pt x="1430784" y="1272665"/>
                </a:lnTo>
                <a:lnTo>
                  <a:pt x="1402604" y="1308102"/>
                </a:lnTo>
                <a:lnTo>
                  <a:pt x="1372494" y="1341855"/>
                </a:lnTo>
                <a:lnTo>
                  <a:pt x="1340536" y="1373841"/>
                </a:lnTo>
                <a:lnTo>
                  <a:pt x="1306813" y="1403978"/>
                </a:lnTo>
                <a:lnTo>
                  <a:pt x="1271408" y="1432181"/>
                </a:lnTo>
                <a:lnTo>
                  <a:pt x="1234406" y="1458368"/>
                </a:lnTo>
                <a:lnTo>
                  <a:pt x="1195888" y="1482456"/>
                </a:lnTo>
                <a:lnTo>
                  <a:pt x="1155938" y="1504362"/>
                </a:lnTo>
                <a:lnTo>
                  <a:pt x="1114639" y="1524002"/>
                </a:lnTo>
                <a:lnTo>
                  <a:pt x="1072075" y="1541292"/>
                </a:lnTo>
                <a:lnTo>
                  <a:pt x="1028328" y="1556151"/>
                </a:lnTo>
                <a:lnTo>
                  <a:pt x="983482" y="1568495"/>
                </a:lnTo>
                <a:lnTo>
                  <a:pt x="937619" y="1578241"/>
                </a:lnTo>
                <a:lnTo>
                  <a:pt x="890823" y="1585305"/>
                </a:lnTo>
                <a:lnTo>
                  <a:pt x="843178" y="1589604"/>
                </a:lnTo>
                <a:lnTo>
                  <a:pt x="794765" y="1591056"/>
                </a:lnTo>
                <a:lnTo>
                  <a:pt x="746353" y="1589604"/>
                </a:lnTo>
                <a:lnTo>
                  <a:pt x="698708" y="1585305"/>
                </a:lnTo>
                <a:lnTo>
                  <a:pt x="651912" y="1578241"/>
                </a:lnTo>
                <a:lnTo>
                  <a:pt x="606049" y="1568495"/>
                </a:lnTo>
                <a:lnTo>
                  <a:pt x="561203" y="1556151"/>
                </a:lnTo>
                <a:lnTo>
                  <a:pt x="517456" y="1541292"/>
                </a:lnTo>
                <a:lnTo>
                  <a:pt x="474892" y="1524002"/>
                </a:lnTo>
                <a:lnTo>
                  <a:pt x="433593" y="1504362"/>
                </a:lnTo>
                <a:lnTo>
                  <a:pt x="393643" y="1482456"/>
                </a:lnTo>
                <a:lnTo>
                  <a:pt x="355125" y="1458368"/>
                </a:lnTo>
                <a:lnTo>
                  <a:pt x="318123" y="1432181"/>
                </a:lnTo>
                <a:lnTo>
                  <a:pt x="282718" y="1403978"/>
                </a:lnTo>
                <a:lnTo>
                  <a:pt x="248995" y="1373841"/>
                </a:lnTo>
                <a:lnTo>
                  <a:pt x="217037" y="1341855"/>
                </a:lnTo>
                <a:lnTo>
                  <a:pt x="186927" y="1308102"/>
                </a:lnTo>
                <a:lnTo>
                  <a:pt x="158747" y="1272665"/>
                </a:lnTo>
                <a:lnTo>
                  <a:pt x="132582" y="1235628"/>
                </a:lnTo>
                <a:lnTo>
                  <a:pt x="108514" y="1197073"/>
                </a:lnTo>
                <a:lnTo>
                  <a:pt x="86626" y="1157085"/>
                </a:lnTo>
                <a:lnTo>
                  <a:pt x="67002" y="1115745"/>
                </a:lnTo>
                <a:lnTo>
                  <a:pt x="49725" y="1073138"/>
                </a:lnTo>
                <a:lnTo>
                  <a:pt x="34878" y="1029346"/>
                </a:lnTo>
                <a:lnTo>
                  <a:pt x="22543" y="984453"/>
                </a:lnTo>
                <a:lnTo>
                  <a:pt x="12805" y="938541"/>
                </a:lnTo>
                <a:lnTo>
                  <a:pt x="5746" y="891694"/>
                </a:lnTo>
                <a:lnTo>
                  <a:pt x="1450" y="843995"/>
                </a:lnTo>
                <a:lnTo>
                  <a:pt x="0" y="795527"/>
                </a:lnTo>
                <a:close/>
              </a:path>
            </a:pathLst>
          </a:custGeom>
          <a:ln w="12192">
            <a:solidFill>
              <a:srgbClr val="51515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5"/>
          <p:cNvSpPr/>
          <p:nvPr/>
        </p:nvSpPr>
        <p:spPr>
          <a:xfrm>
            <a:off x="1489710" y="2554985"/>
            <a:ext cx="1925320" cy="1896110"/>
          </a:xfrm>
          <a:custGeom>
            <a:avLst/>
            <a:gdLst/>
            <a:ahLst/>
            <a:cxnLst/>
            <a:rect l="l" t="t" r="r" b="b"/>
            <a:pathLst>
              <a:path w="1925320" h="1896110">
                <a:moveTo>
                  <a:pt x="962406" y="0"/>
                </a:moveTo>
                <a:lnTo>
                  <a:pt x="914374" y="1160"/>
                </a:lnTo>
                <a:lnTo>
                  <a:pt x="866952" y="4604"/>
                </a:lnTo>
                <a:lnTo>
                  <a:pt x="820194" y="10278"/>
                </a:lnTo>
                <a:lnTo>
                  <a:pt x="774156" y="18128"/>
                </a:lnTo>
                <a:lnTo>
                  <a:pt x="728893" y="28099"/>
                </a:lnTo>
                <a:lnTo>
                  <a:pt x="684460" y="40136"/>
                </a:lnTo>
                <a:lnTo>
                  <a:pt x="640912" y="54187"/>
                </a:lnTo>
                <a:lnTo>
                  <a:pt x="598304" y="70195"/>
                </a:lnTo>
                <a:lnTo>
                  <a:pt x="556691" y="88108"/>
                </a:lnTo>
                <a:lnTo>
                  <a:pt x="516129" y="107869"/>
                </a:lnTo>
                <a:lnTo>
                  <a:pt x="476673" y="129427"/>
                </a:lnTo>
                <a:lnTo>
                  <a:pt x="438377" y="152725"/>
                </a:lnTo>
                <a:lnTo>
                  <a:pt x="401298" y="177709"/>
                </a:lnTo>
                <a:lnTo>
                  <a:pt x="365490" y="204326"/>
                </a:lnTo>
                <a:lnTo>
                  <a:pt x="331007" y="232521"/>
                </a:lnTo>
                <a:lnTo>
                  <a:pt x="297907" y="262240"/>
                </a:lnTo>
                <a:lnTo>
                  <a:pt x="266243" y="293427"/>
                </a:lnTo>
                <a:lnTo>
                  <a:pt x="236071" y="326030"/>
                </a:lnTo>
                <a:lnTo>
                  <a:pt x="207445" y="359994"/>
                </a:lnTo>
                <a:lnTo>
                  <a:pt x="180422" y="395263"/>
                </a:lnTo>
                <a:lnTo>
                  <a:pt x="155056" y="431785"/>
                </a:lnTo>
                <a:lnTo>
                  <a:pt x="131402" y="469504"/>
                </a:lnTo>
                <a:lnTo>
                  <a:pt x="109516" y="508367"/>
                </a:lnTo>
                <a:lnTo>
                  <a:pt x="89452" y="548319"/>
                </a:lnTo>
                <a:lnTo>
                  <a:pt x="71267" y="589305"/>
                </a:lnTo>
                <a:lnTo>
                  <a:pt x="55014" y="631272"/>
                </a:lnTo>
                <a:lnTo>
                  <a:pt x="40749" y="674165"/>
                </a:lnTo>
                <a:lnTo>
                  <a:pt x="28528" y="717930"/>
                </a:lnTo>
                <a:lnTo>
                  <a:pt x="18405" y="762512"/>
                </a:lnTo>
                <a:lnTo>
                  <a:pt x="10435" y="807857"/>
                </a:lnTo>
                <a:lnTo>
                  <a:pt x="4674" y="853911"/>
                </a:lnTo>
                <a:lnTo>
                  <a:pt x="1177" y="900619"/>
                </a:lnTo>
                <a:lnTo>
                  <a:pt x="0" y="947927"/>
                </a:lnTo>
                <a:lnTo>
                  <a:pt x="1177" y="995236"/>
                </a:lnTo>
                <a:lnTo>
                  <a:pt x="4674" y="1041944"/>
                </a:lnTo>
                <a:lnTo>
                  <a:pt x="10435" y="1087998"/>
                </a:lnTo>
                <a:lnTo>
                  <a:pt x="18405" y="1133343"/>
                </a:lnTo>
                <a:lnTo>
                  <a:pt x="28528" y="1177925"/>
                </a:lnTo>
                <a:lnTo>
                  <a:pt x="40749" y="1221690"/>
                </a:lnTo>
                <a:lnTo>
                  <a:pt x="55014" y="1264583"/>
                </a:lnTo>
                <a:lnTo>
                  <a:pt x="71267" y="1306550"/>
                </a:lnTo>
                <a:lnTo>
                  <a:pt x="89452" y="1347536"/>
                </a:lnTo>
                <a:lnTo>
                  <a:pt x="109516" y="1387488"/>
                </a:lnTo>
                <a:lnTo>
                  <a:pt x="131402" y="1426351"/>
                </a:lnTo>
                <a:lnTo>
                  <a:pt x="155056" y="1464070"/>
                </a:lnTo>
                <a:lnTo>
                  <a:pt x="180422" y="1500592"/>
                </a:lnTo>
                <a:lnTo>
                  <a:pt x="207445" y="1535861"/>
                </a:lnTo>
                <a:lnTo>
                  <a:pt x="236071" y="1569825"/>
                </a:lnTo>
                <a:lnTo>
                  <a:pt x="266243" y="1602428"/>
                </a:lnTo>
                <a:lnTo>
                  <a:pt x="297907" y="1633615"/>
                </a:lnTo>
                <a:lnTo>
                  <a:pt x="331007" y="1663334"/>
                </a:lnTo>
                <a:lnTo>
                  <a:pt x="365490" y="1691529"/>
                </a:lnTo>
                <a:lnTo>
                  <a:pt x="401298" y="1718146"/>
                </a:lnTo>
                <a:lnTo>
                  <a:pt x="438377" y="1743130"/>
                </a:lnTo>
                <a:lnTo>
                  <a:pt x="476673" y="1766428"/>
                </a:lnTo>
                <a:lnTo>
                  <a:pt x="516129" y="1787986"/>
                </a:lnTo>
                <a:lnTo>
                  <a:pt x="556691" y="1807747"/>
                </a:lnTo>
                <a:lnTo>
                  <a:pt x="598304" y="1825660"/>
                </a:lnTo>
                <a:lnTo>
                  <a:pt x="640912" y="1841668"/>
                </a:lnTo>
                <a:lnTo>
                  <a:pt x="684460" y="1855719"/>
                </a:lnTo>
                <a:lnTo>
                  <a:pt x="728893" y="1867756"/>
                </a:lnTo>
                <a:lnTo>
                  <a:pt x="774156" y="1877727"/>
                </a:lnTo>
                <a:lnTo>
                  <a:pt x="820194" y="1885577"/>
                </a:lnTo>
                <a:lnTo>
                  <a:pt x="866952" y="1891251"/>
                </a:lnTo>
                <a:lnTo>
                  <a:pt x="914374" y="1894695"/>
                </a:lnTo>
                <a:lnTo>
                  <a:pt x="962406" y="1895856"/>
                </a:lnTo>
                <a:lnTo>
                  <a:pt x="1010437" y="1894695"/>
                </a:lnTo>
                <a:lnTo>
                  <a:pt x="1057859" y="1891251"/>
                </a:lnTo>
                <a:lnTo>
                  <a:pt x="1104617" y="1885577"/>
                </a:lnTo>
                <a:lnTo>
                  <a:pt x="1150655" y="1877727"/>
                </a:lnTo>
                <a:lnTo>
                  <a:pt x="1195918" y="1867756"/>
                </a:lnTo>
                <a:lnTo>
                  <a:pt x="1240351" y="1855719"/>
                </a:lnTo>
                <a:lnTo>
                  <a:pt x="1283899" y="1841668"/>
                </a:lnTo>
                <a:lnTo>
                  <a:pt x="1326507" y="1825660"/>
                </a:lnTo>
                <a:lnTo>
                  <a:pt x="1368120" y="1807747"/>
                </a:lnTo>
                <a:lnTo>
                  <a:pt x="1408682" y="1787986"/>
                </a:lnTo>
                <a:lnTo>
                  <a:pt x="1448138" y="1766428"/>
                </a:lnTo>
                <a:lnTo>
                  <a:pt x="1486434" y="1743130"/>
                </a:lnTo>
                <a:lnTo>
                  <a:pt x="1523513" y="1718146"/>
                </a:lnTo>
                <a:lnTo>
                  <a:pt x="1559321" y="1691529"/>
                </a:lnTo>
                <a:lnTo>
                  <a:pt x="1593804" y="1663334"/>
                </a:lnTo>
                <a:lnTo>
                  <a:pt x="1626904" y="1633615"/>
                </a:lnTo>
                <a:lnTo>
                  <a:pt x="1658568" y="1602428"/>
                </a:lnTo>
                <a:lnTo>
                  <a:pt x="1688740" y="1569825"/>
                </a:lnTo>
                <a:lnTo>
                  <a:pt x="1717366" y="1535861"/>
                </a:lnTo>
                <a:lnTo>
                  <a:pt x="1744389" y="1500592"/>
                </a:lnTo>
                <a:lnTo>
                  <a:pt x="1769755" y="1464070"/>
                </a:lnTo>
                <a:lnTo>
                  <a:pt x="1793409" y="1426351"/>
                </a:lnTo>
                <a:lnTo>
                  <a:pt x="1815295" y="1387488"/>
                </a:lnTo>
                <a:lnTo>
                  <a:pt x="1835359" y="1347536"/>
                </a:lnTo>
                <a:lnTo>
                  <a:pt x="1853544" y="1306550"/>
                </a:lnTo>
                <a:lnTo>
                  <a:pt x="1869797" y="1264583"/>
                </a:lnTo>
                <a:lnTo>
                  <a:pt x="1884062" y="1221690"/>
                </a:lnTo>
                <a:lnTo>
                  <a:pt x="1896283" y="1177925"/>
                </a:lnTo>
                <a:lnTo>
                  <a:pt x="1906406" y="1133343"/>
                </a:lnTo>
                <a:lnTo>
                  <a:pt x="1914376" y="1087998"/>
                </a:lnTo>
                <a:lnTo>
                  <a:pt x="1920137" y="1041944"/>
                </a:lnTo>
                <a:lnTo>
                  <a:pt x="1923634" y="995236"/>
                </a:lnTo>
                <a:lnTo>
                  <a:pt x="1924812" y="947927"/>
                </a:lnTo>
                <a:lnTo>
                  <a:pt x="1923634" y="900619"/>
                </a:lnTo>
                <a:lnTo>
                  <a:pt x="1920137" y="853911"/>
                </a:lnTo>
                <a:lnTo>
                  <a:pt x="1914376" y="807857"/>
                </a:lnTo>
                <a:lnTo>
                  <a:pt x="1906406" y="762512"/>
                </a:lnTo>
                <a:lnTo>
                  <a:pt x="1896283" y="717930"/>
                </a:lnTo>
                <a:lnTo>
                  <a:pt x="1884062" y="674165"/>
                </a:lnTo>
                <a:lnTo>
                  <a:pt x="1869797" y="631272"/>
                </a:lnTo>
                <a:lnTo>
                  <a:pt x="1853544" y="589305"/>
                </a:lnTo>
                <a:lnTo>
                  <a:pt x="1835359" y="548319"/>
                </a:lnTo>
                <a:lnTo>
                  <a:pt x="1815295" y="508367"/>
                </a:lnTo>
                <a:lnTo>
                  <a:pt x="1793409" y="469504"/>
                </a:lnTo>
                <a:lnTo>
                  <a:pt x="1769755" y="431785"/>
                </a:lnTo>
                <a:lnTo>
                  <a:pt x="1744389" y="395263"/>
                </a:lnTo>
                <a:lnTo>
                  <a:pt x="1717366" y="359994"/>
                </a:lnTo>
                <a:lnTo>
                  <a:pt x="1688740" y="326030"/>
                </a:lnTo>
                <a:lnTo>
                  <a:pt x="1658568" y="293427"/>
                </a:lnTo>
                <a:lnTo>
                  <a:pt x="1626904" y="262240"/>
                </a:lnTo>
                <a:lnTo>
                  <a:pt x="1593804" y="232521"/>
                </a:lnTo>
                <a:lnTo>
                  <a:pt x="1559321" y="204326"/>
                </a:lnTo>
                <a:lnTo>
                  <a:pt x="1523513" y="177709"/>
                </a:lnTo>
                <a:lnTo>
                  <a:pt x="1486434" y="152725"/>
                </a:lnTo>
                <a:lnTo>
                  <a:pt x="1448138" y="129427"/>
                </a:lnTo>
                <a:lnTo>
                  <a:pt x="1408682" y="107869"/>
                </a:lnTo>
                <a:lnTo>
                  <a:pt x="1368120" y="88108"/>
                </a:lnTo>
                <a:lnTo>
                  <a:pt x="1326507" y="70195"/>
                </a:lnTo>
                <a:lnTo>
                  <a:pt x="1283899" y="54187"/>
                </a:lnTo>
                <a:lnTo>
                  <a:pt x="1240351" y="40136"/>
                </a:lnTo>
                <a:lnTo>
                  <a:pt x="1195918" y="28099"/>
                </a:lnTo>
                <a:lnTo>
                  <a:pt x="1150655" y="18128"/>
                </a:lnTo>
                <a:lnTo>
                  <a:pt x="1104617" y="10278"/>
                </a:lnTo>
                <a:lnTo>
                  <a:pt x="1057859" y="4604"/>
                </a:lnTo>
                <a:lnTo>
                  <a:pt x="1010437" y="1160"/>
                </a:lnTo>
                <a:lnTo>
                  <a:pt x="962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6"/>
          <p:cNvSpPr/>
          <p:nvPr/>
        </p:nvSpPr>
        <p:spPr>
          <a:xfrm>
            <a:off x="1489710" y="2554985"/>
            <a:ext cx="1925320" cy="1896110"/>
          </a:xfrm>
          <a:custGeom>
            <a:avLst/>
            <a:gdLst/>
            <a:ahLst/>
            <a:cxnLst/>
            <a:rect l="l" t="t" r="r" b="b"/>
            <a:pathLst>
              <a:path w="1925320" h="1896110">
                <a:moveTo>
                  <a:pt x="0" y="947927"/>
                </a:moveTo>
                <a:lnTo>
                  <a:pt x="1177" y="900619"/>
                </a:lnTo>
                <a:lnTo>
                  <a:pt x="4674" y="853911"/>
                </a:lnTo>
                <a:lnTo>
                  <a:pt x="10435" y="807857"/>
                </a:lnTo>
                <a:lnTo>
                  <a:pt x="18405" y="762512"/>
                </a:lnTo>
                <a:lnTo>
                  <a:pt x="28528" y="717930"/>
                </a:lnTo>
                <a:lnTo>
                  <a:pt x="40749" y="674165"/>
                </a:lnTo>
                <a:lnTo>
                  <a:pt x="55014" y="631272"/>
                </a:lnTo>
                <a:lnTo>
                  <a:pt x="71267" y="589305"/>
                </a:lnTo>
                <a:lnTo>
                  <a:pt x="89452" y="548319"/>
                </a:lnTo>
                <a:lnTo>
                  <a:pt x="109516" y="508367"/>
                </a:lnTo>
                <a:lnTo>
                  <a:pt x="131402" y="469504"/>
                </a:lnTo>
                <a:lnTo>
                  <a:pt x="155056" y="431785"/>
                </a:lnTo>
                <a:lnTo>
                  <a:pt x="180422" y="395263"/>
                </a:lnTo>
                <a:lnTo>
                  <a:pt x="207445" y="359994"/>
                </a:lnTo>
                <a:lnTo>
                  <a:pt x="236071" y="326030"/>
                </a:lnTo>
                <a:lnTo>
                  <a:pt x="266243" y="293427"/>
                </a:lnTo>
                <a:lnTo>
                  <a:pt x="297907" y="262240"/>
                </a:lnTo>
                <a:lnTo>
                  <a:pt x="331007" y="232521"/>
                </a:lnTo>
                <a:lnTo>
                  <a:pt x="365490" y="204326"/>
                </a:lnTo>
                <a:lnTo>
                  <a:pt x="401298" y="177709"/>
                </a:lnTo>
                <a:lnTo>
                  <a:pt x="438377" y="152725"/>
                </a:lnTo>
                <a:lnTo>
                  <a:pt x="476673" y="129427"/>
                </a:lnTo>
                <a:lnTo>
                  <a:pt x="516129" y="107869"/>
                </a:lnTo>
                <a:lnTo>
                  <a:pt x="556691" y="88108"/>
                </a:lnTo>
                <a:lnTo>
                  <a:pt x="598304" y="70195"/>
                </a:lnTo>
                <a:lnTo>
                  <a:pt x="640912" y="54187"/>
                </a:lnTo>
                <a:lnTo>
                  <a:pt x="684460" y="40136"/>
                </a:lnTo>
                <a:lnTo>
                  <a:pt x="728893" y="28099"/>
                </a:lnTo>
                <a:lnTo>
                  <a:pt x="774156" y="18128"/>
                </a:lnTo>
                <a:lnTo>
                  <a:pt x="820194" y="10278"/>
                </a:lnTo>
                <a:lnTo>
                  <a:pt x="866952" y="4604"/>
                </a:lnTo>
                <a:lnTo>
                  <a:pt x="914374" y="1160"/>
                </a:lnTo>
                <a:lnTo>
                  <a:pt x="962406" y="0"/>
                </a:lnTo>
                <a:lnTo>
                  <a:pt x="1010437" y="1160"/>
                </a:lnTo>
                <a:lnTo>
                  <a:pt x="1057859" y="4604"/>
                </a:lnTo>
                <a:lnTo>
                  <a:pt x="1104617" y="10278"/>
                </a:lnTo>
                <a:lnTo>
                  <a:pt x="1150655" y="18128"/>
                </a:lnTo>
                <a:lnTo>
                  <a:pt x="1195918" y="28099"/>
                </a:lnTo>
                <a:lnTo>
                  <a:pt x="1240351" y="40136"/>
                </a:lnTo>
                <a:lnTo>
                  <a:pt x="1283899" y="54187"/>
                </a:lnTo>
                <a:lnTo>
                  <a:pt x="1326507" y="70195"/>
                </a:lnTo>
                <a:lnTo>
                  <a:pt x="1368120" y="88108"/>
                </a:lnTo>
                <a:lnTo>
                  <a:pt x="1408682" y="107869"/>
                </a:lnTo>
                <a:lnTo>
                  <a:pt x="1448138" y="129427"/>
                </a:lnTo>
                <a:lnTo>
                  <a:pt x="1486434" y="152725"/>
                </a:lnTo>
                <a:lnTo>
                  <a:pt x="1523513" y="177709"/>
                </a:lnTo>
                <a:lnTo>
                  <a:pt x="1559321" y="204326"/>
                </a:lnTo>
                <a:lnTo>
                  <a:pt x="1593804" y="232521"/>
                </a:lnTo>
                <a:lnTo>
                  <a:pt x="1626904" y="262240"/>
                </a:lnTo>
                <a:lnTo>
                  <a:pt x="1658568" y="293427"/>
                </a:lnTo>
                <a:lnTo>
                  <a:pt x="1688740" y="326030"/>
                </a:lnTo>
                <a:lnTo>
                  <a:pt x="1717366" y="359994"/>
                </a:lnTo>
                <a:lnTo>
                  <a:pt x="1744389" y="395263"/>
                </a:lnTo>
                <a:lnTo>
                  <a:pt x="1769755" y="431785"/>
                </a:lnTo>
                <a:lnTo>
                  <a:pt x="1793409" y="469504"/>
                </a:lnTo>
                <a:lnTo>
                  <a:pt x="1815295" y="508367"/>
                </a:lnTo>
                <a:lnTo>
                  <a:pt x="1835359" y="548319"/>
                </a:lnTo>
                <a:lnTo>
                  <a:pt x="1853544" y="589305"/>
                </a:lnTo>
                <a:lnTo>
                  <a:pt x="1869797" y="631272"/>
                </a:lnTo>
                <a:lnTo>
                  <a:pt x="1884062" y="674165"/>
                </a:lnTo>
                <a:lnTo>
                  <a:pt x="1896283" y="717930"/>
                </a:lnTo>
                <a:lnTo>
                  <a:pt x="1906406" y="762512"/>
                </a:lnTo>
                <a:lnTo>
                  <a:pt x="1914376" y="807857"/>
                </a:lnTo>
                <a:lnTo>
                  <a:pt x="1920137" y="853911"/>
                </a:lnTo>
                <a:lnTo>
                  <a:pt x="1923634" y="900619"/>
                </a:lnTo>
                <a:lnTo>
                  <a:pt x="1924812" y="947927"/>
                </a:lnTo>
                <a:lnTo>
                  <a:pt x="1923634" y="995236"/>
                </a:lnTo>
                <a:lnTo>
                  <a:pt x="1920137" y="1041944"/>
                </a:lnTo>
                <a:lnTo>
                  <a:pt x="1914376" y="1087998"/>
                </a:lnTo>
                <a:lnTo>
                  <a:pt x="1906406" y="1133343"/>
                </a:lnTo>
                <a:lnTo>
                  <a:pt x="1896283" y="1177925"/>
                </a:lnTo>
                <a:lnTo>
                  <a:pt x="1884062" y="1221690"/>
                </a:lnTo>
                <a:lnTo>
                  <a:pt x="1869797" y="1264583"/>
                </a:lnTo>
                <a:lnTo>
                  <a:pt x="1853544" y="1306550"/>
                </a:lnTo>
                <a:lnTo>
                  <a:pt x="1835359" y="1347536"/>
                </a:lnTo>
                <a:lnTo>
                  <a:pt x="1815295" y="1387488"/>
                </a:lnTo>
                <a:lnTo>
                  <a:pt x="1793409" y="1426351"/>
                </a:lnTo>
                <a:lnTo>
                  <a:pt x="1769755" y="1464070"/>
                </a:lnTo>
                <a:lnTo>
                  <a:pt x="1744389" y="1500592"/>
                </a:lnTo>
                <a:lnTo>
                  <a:pt x="1717366" y="1535861"/>
                </a:lnTo>
                <a:lnTo>
                  <a:pt x="1688740" y="1569825"/>
                </a:lnTo>
                <a:lnTo>
                  <a:pt x="1658568" y="1602428"/>
                </a:lnTo>
                <a:lnTo>
                  <a:pt x="1626904" y="1633615"/>
                </a:lnTo>
                <a:lnTo>
                  <a:pt x="1593804" y="1663334"/>
                </a:lnTo>
                <a:lnTo>
                  <a:pt x="1559321" y="1691529"/>
                </a:lnTo>
                <a:lnTo>
                  <a:pt x="1523513" y="1718146"/>
                </a:lnTo>
                <a:lnTo>
                  <a:pt x="1486434" y="1743130"/>
                </a:lnTo>
                <a:lnTo>
                  <a:pt x="1448138" y="1766428"/>
                </a:lnTo>
                <a:lnTo>
                  <a:pt x="1408682" y="1787986"/>
                </a:lnTo>
                <a:lnTo>
                  <a:pt x="1368120" y="1807747"/>
                </a:lnTo>
                <a:lnTo>
                  <a:pt x="1326507" y="1825660"/>
                </a:lnTo>
                <a:lnTo>
                  <a:pt x="1283899" y="1841668"/>
                </a:lnTo>
                <a:lnTo>
                  <a:pt x="1240351" y="1855719"/>
                </a:lnTo>
                <a:lnTo>
                  <a:pt x="1195918" y="1867756"/>
                </a:lnTo>
                <a:lnTo>
                  <a:pt x="1150655" y="1877727"/>
                </a:lnTo>
                <a:lnTo>
                  <a:pt x="1104617" y="1885577"/>
                </a:lnTo>
                <a:lnTo>
                  <a:pt x="1057859" y="1891251"/>
                </a:lnTo>
                <a:lnTo>
                  <a:pt x="1010437" y="1894695"/>
                </a:lnTo>
                <a:lnTo>
                  <a:pt x="962406" y="1895856"/>
                </a:lnTo>
                <a:lnTo>
                  <a:pt x="914374" y="1894695"/>
                </a:lnTo>
                <a:lnTo>
                  <a:pt x="866952" y="1891251"/>
                </a:lnTo>
                <a:lnTo>
                  <a:pt x="820194" y="1885577"/>
                </a:lnTo>
                <a:lnTo>
                  <a:pt x="774156" y="1877727"/>
                </a:lnTo>
                <a:lnTo>
                  <a:pt x="728893" y="1867756"/>
                </a:lnTo>
                <a:lnTo>
                  <a:pt x="684460" y="1855719"/>
                </a:lnTo>
                <a:lnTo>
                  <a:pt x="640912" y="1841668"/>
                </a:lnTo>
                <a:lnTo>
                  <a:pt x="598304" y="1825660"/>
                </a:lnTo>
                <a:lnTo>
                  <a:pt x="556691" y="1807747"/>
                </a:lnTo>
                <a:lnTo>
                  <a:pt x="516129" y="1787986"/>
                </a:lnTo>
                <a:lnTo>
                  <a:pt x="476673" y="1766428"/>
                </a:lnTo>
                <a:lnTo>
                  <a:pt x="438377" y="1743130"/>
                </a:lnTo>
                <a:lnTo>
                  <a:pt x="401298" y="1718146"/>
                </a:lnTo>
                <a:lnTo>
                  <a:pt x="365490" y="1691529"/>
                </a:lnTo>
                <a:lnTo>
                  <a:pt x="331007" y="1663334"/>
                </a:lnTo>
                <a:lnTo>
                  <a:pt x="297907" y="1633615"/>
                </a:lnTo>
                <a:lnTo>
                  <a:pt x="266243" y="1602428"/>
                </a:lnTo>
                <a:lnTo>
                  <a:pt x="236071" y="1569825"/>
                </a:lnTo>
                <a:lnTo>
                  <a:pt x="207445" y="1535861"/>
                </a:lnTo>
                <a:lnTo>
                  <a:pt x="180422" y="1500592"/>
                </a:lnTo>
                <a:lnTo>
                  <a:pt x="155056" y="1464070"/>
                </a:lnTo>
                <a:lnTo>
                  <a:pt x="131402" y="1426351"/>
                </a:lnTo>
                <a:lnTo>
                  <a:pt x="109516" y="1387488"/>
                </a:lnTo>
                <a:lnTo>
                  <a:pt x="89452" y="1347536"/>
                </a:lnTo>
                <a:lnTo>
                  <a:pt x="71267" y="1306550"/>
                </a:lnTo>
                <a:lnTo>
                  <a:pt x="55014" y="1264583"/>
                </a:lnTo>
                <a:lnTo>
                  <a:pt x="40749" y="1221690"/>
                </a:lnTo>
                <a:lnTo>
                  <a:pt x="28528" y="1177925"/>
                </a:lnTo>
                <a:lnTo>
                  <a:pt x="18405" y="1133343"/>
                </a:lnTo>
                <a:lnTo>
                  <a:pt x="10435" y="1087998"/>
                </a:lnTo>
                <a:lnTo>
                  <a:pt x="4674" y="1041944"/>
                </a:lnTo>
                <a:lnTo>
                  <a:pt x="1177" y="995236"/>
                </a:lnTo>
                <a:lnTo>
                  <a:pt x="0" y="947927"/>
                </a:lnTo>
                <a:close/>
              </a:path>
            </a:pathLst>
          </a:custGeom>
          <a:ln w="114300">
            <a:solidFill>
              <a:schemeClr val="accent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7"/>
          <p:cNvSpPr/>
          <p:nvPr/>
        </p:nvSpPr>
        <p:spPr>
          <a:xfrm>
            <a:off x="710183" y="1929383"/>
            <a:ext cx="805180" cy="803275"/>
          </a:xfrm>
          <a:custGeom>
            <a:avLst/>
            <a:gdLst/>
            <a:ahLst/>
            <a:cxnLst/>
            <a:rect l="l" t="t" r="r" b="b"/>
            <a:pathLst>
              <a:path w="805180" h="803275">
                <a:moveTo>
                  <a:pt x="402335" y="0"/>
                </a:moveTo>
                <a:lnTo>
                  <a:pt x="355416" y="2702"/>
                </a:lnTo>
                <a:lnTo>
                  <a:pt x="310085" y="10608"/>
                </a:lnTo>
                <a:lnTo>
                  <a:pt x="266646" y="23415"/>
                </a:lnTo>
                <a:lnTo>
                  <a:pt x="225400" y="40823"/>
                </a:lnTo>
                <a:lnTo>
                  <a:pt x="186650" y="62530"/>
                </a:lnTo>
                <a:lnTo>
                  <a:pt x="150697" y="88234"/>
                </a:lnTo>
                <a:lnTo>
                  <a:pt x="117843" y="117633"/>
                </a:lnTo>
                <a:lnTo>
                  <a:pt x="88390" y="150427"/>
                </a:lnTo>
                <a:lnTo>
                  <a:pt x="62640" y="186313"/>
                </a:lnTo>
                <a:lnTo>
                  <a:pt x="40894" y="224989"/>
                </a:lnTo>
                <a:lnTo>
                  <a:pt x="23456" y="266155"/>
                </a:lnTo>
                <a:lnTo>
                  <a:pt x="10626" y="309509"/>
                </a:lnTo>
                <a:lnTo>
                  <a:pt x="2706" y="354749"/>
                </a:lnTo>
                <a:lnTo>
                  <a:pt x="0" y="401574"/>
                </a:lnTo>
                <a:lnTo>
                  <a:pt x="2706" y="448398"/>
                </a:lnTo>
                <a:lnTo>
                  <a:pt x="10626" y="493638"/>
                </a:lnTo>
                <a:lnTo>
                  <a:pt x="23456" y="536992"/>
                </a:lnTo>
                <a:lnTo>
                  <a:pt x="40894" y="578158"/>
                </a:lnTo>
                <a:lnTo>
                  <a:pt x="62640" y="616834"/>
                </a:lnTo>
                <a:lnTo>
                  <a:pt x="88390" y="652720"/>
                </a:lnTo>
                <a:lnTo>
                  <a:pt x="117843" y="685514"/>
                </a:lnTo>
                <a:lnTo>
                  <a:pt x="150697" y="714913"/>
                </a:lnTo>
                <a:lnTo>
                  <a:pt x="186650" y="740617"/>
                </a:lnTo>
                <a:lnTo>
                  <a:pt x="225400" y="762324"/>
                </a:lnTo>
                <a:lnTo>
                  <a:pt x="266646" y="779732"/>
                </a:lnTo>
                <a:lnTo>
                  <a:pt x="310085" y="792539"/>
                </a:lnTo>
                <a:lnTo>
                  <a:pt x="355416" y="800445"/>
                </a:lnTo>
                <a:lnTo>
                  <a:pt x="402335" y="803148"/>
                </a:lnTo>
                <a:lnTo>
                  <a:pt x="449265" y="800445"/>
                </a:lnTo>
                <a:lnTo>
                  <a:pt x="494602" y="792539"/>
                </a:lnTo>
                <a:lnTo>
                  <a:pt x="538045" y="779732"/>
                </a:lnTo>
                <a:lnTo>
                  <a:pt x="579293" y="762324"/>
                </a:lnTo>
                <a:lnTo>
                  <a:pt x="618043" y="740617"/>
                </a:lnTo>
                <a:lnTo>
                  <a:pt x="653995" y="714913"/>
                </a:lnTo>
                <a:lnTo>
                  <a:pt x="686847" y="685514"/>
                </a:lnTo>
                <a:lnTo>
                  <a:pt x="716297" y="652720"/>
                </a:lnTo>
                <a:lnTo>
                  <a:pt x="742044" y="616834"/>
                </a:lnTo>
                <a:lnTo>
                  <a:pt x="763786" y="578158"/>
                </a:lnTo>
                <a:lnTo>
                  <a:pt x="781221" y="536992"/>
                </a:lnTo>
                <a:lnTo>
                  <a:pt x="794048" y="493638"/>
                </a:lnTo>
                <a:lnTo>
                  <a:pt x="801965" y="448398"/>
                </a:lnTo>
                <a:lnTo>
                  <a:pt x="804672" y="401574"/>
                </a:lnTo>
                <a:lnTo>
                  <a:pt x="801965" y="354749"/>
                </a:lnTo>
                <a:lnTo>
                  <a:pt x="794048" y="309509"/>
                </a:lnTo>
                <a:lnTo>
                  <a:pt x="781221" y="266155"/>
                </a:lnTo>
                <a:lnTo>
                  <a:pt x="763786" y="224989"/>
                </a:lnTo>
                <a:lnTo>
                  <a:pt x="742044" y="186313"/>
                </a:lnTo>
                <a:lnTo>
                  <a:pt x="716297" y="150427"/>
                </a:lnTo>
                <a:lnTo>
                  <a:pt x="686847" y="117633"/>
                </a:lnTo>
                <a:lnTo>
                  <a:pt x="653995" y="88234"/>
                </a:lnTo>
                <a:lnTo>
                  <a:pt x="618043" y="62530"/>
                </a:lnTo>
                <a:lnTo>
                  <a:pt x="579293" y="40823"/>
                </a:lnTo>
                <a:lnTo>
                  <a:pt x="538045" y="23415"/>
                </a:lnTo>
                <a:lnTo>
                  <a:pt x="494602" y="10608"/>
                </a:lnTo>
                <a:lnTo>
                  <a:pt x="449265" y="2702"/>
                </a:lnTo>
                <a:lnTo>
                  <a:pt x="402335" y="0"/>
                </a:lnTo>
                <a:close/>
              </a:path>
            </a:pathLst>
          </a:custGeom>
          <a:solidFill>
            <a:schemeClr val="accent6">
              <a:alpha val="70195"/>
            </a:schemeClr>
          </a:solid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8"/>
          <p:cNvSpPr/>
          <p:nvPr/>
        </p:nvSpPr>
        <p:spPr>
          <a:xfrm>
            <a:off x="3104388" y="2034539"/>
            <a:ext cx="314325" cy="315595"/>
          </a:xfrm>
          <a:custGeom>
            <a:avLst/>
            <a:gdLst/>
            <a:ahLst/>
            <a:cxnLst/>
            <a:rect l="l" t="t" r="r" b="b"/>
            <a:pathLst>
              <a:path w="314325" h="315594">
                <a:moveTo>
                  <a:pt x="156972" y="0"/>
                </a:moveTo>
                <a:lnTo>
                  <a:pt x="107338" y="8040"/>
                </a:lnTo>
                <a:lnTo>
                  <a:pt x="64245" y="30431"/>
                </a:lnTo>
                <a:lnTo>
                  <a:pt x="30272" y="64574"/>
                </a:lnTo>
                <a:lnTo>
                  <a:pt x="7997" y="107874"/>
                </a:lnTo>
                <a:lnTo>
                  <a:pt x="0" y="157734"/>
                </a:lnTo>
                <a:lnTo>
                  <a:pt x="7997" y="207593"/>
                </a:lnTo>
                <a:lnTo>
                  <a:pt x="30272" y="250893"/>
                </a:lnTo>
                <a:lnTo>
                  <a:pt x="64245" y="285036"/>
                </a:lnTo>
                <a:lnTo>
                  <a:pt x="107338" y="307427"/>
                </a:lnTo>
                <a:lnTo>
                  <a:pt x="156972" y="315468"/>
                </a:lnTo>
                <a:lnTo>
                  <a:pt x="206605" y="307427"/>
                </a:lnTo>
                <a:lnTo>
                  <a:pt x="249698" y="285036"/>
                </a:lnTo>
                <a:lnTo>
                  <a:pt x="283671" y="250893"/>
                </a:lnTo>
                <a:lnTo>
                  <a:pt x="305946" y="207593"/>
                </a:lnTo>
                <a:lnTo>
                  <a:pt x="313944" y="157734"/>
                </a:lnTo>
                <a:lnTo>
                  <a:pt x="305946" y="107874"/>
                </a:lnTo>
                <a:lnTo>
                  <a:pt x="283671" y="64574"/>
                </a:lnTo>
                <a:lnTo>
                  <a:pt x="249698" y="30431"/>
                </a:lnTo>
                <a:lnTo>
                  <a:pt x="206605" y="8040"/>
                </a:lnTo>
                <a:lnTo>
                  <a:pt x="156972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9"/>
          <p:cNvSpPr txBox="1"/>
          <p:nvPr/>
        </p:nvSpPr>
        <p:spPr>
          <a:xfrm>
            <a:off x="1940179" y="3168776"/>
            <a:ext cx="1025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>
                <a:cs typeface="宋体"/>
              </a:rPr>
              <a:t>总结</a:t>
            </a:r>
            <a:endParaRPr sz="4000" dirty="0">
              <a:cs typeface="宋体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883140" y="685800"/>
            <a:ext cx="230886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4550" y="697131"/>
            <a:ext cx="701493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控制台输出语句和检测数据类型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0836" y="1448428"/>
            <a:ext cx="2190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sz="1500" b="1" spc="30" dirty="0">
                <a:solidFill>
                  <a:srgbClr val="404040"/>
                </a:solidFill>
                <a:latin typeface="微软雅黑"/>
                <a:cs typeface="微软雅黑"/>
              </a:rPr>
              <a:t>1.	</a:t>
            </a:r>
            <a:r>
              <a:rPr sz="1800" b="1" spc="-30" dirty="0">
                <a:solidFill>
                  <a:srgbClr val="252525"/>
                </a:solidFill>
                <a:latin typeface="微软雅黑"/>
                <a:cs typeface="微软雅黑"/>
              </a:rPr>
              <a:t>控制台输出语句：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9150" y="5414652"/>
            <a:ext cx="10687050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400" spc="-25" dirty="0">
                <a:cs typeface="宋体"/>
              </a:rPr>
              <a:t>控制台语句经常用</a:t>
            </a:r>
            <a:r>
              <a:rPr sz="2400" spc="-35" dirty="0">
                <a:cs typeface="宋体"/>
              </a:rPr>
              <a:t>于</a:t>
            </a:r>
            <a:r>
              <a:rPr sz="2400" spc="-25" dirty="0">
                <a:cs typeface="宋体"/>
              </a:rPr>
              <a:t>测</a:t>
            </a:r>
            <a:r>
              <a:rPr sz="2400" spc="-35" dirty="0">
                <a:cs typeface="宋体"/>
              </a:rPr>
              <a:t>试</a:t>
            </a:r>
            <a:r>
              <a:rPr sz="2400" spc="-25" dirty="0">
                <a:cs typeface="宋体"/>
              </a:rPr>
              <a:t>结果</a:t>
            </a:r>
            <a:r>
              <a:rPr sz="2400" spc="-35" dirty="0">
                <a:cs typeface="宋体"/>
              </a:rPr>
              <a:t>来</a:t>
            </a:r>
            <a:r>
              <a:rPr sz="2400" spc="-25" dirty="0">
                <a:cs typeface="宋体"/>
              </a:rPr>
              <a:t>使</a:t>
            </a:r>
            <a:r>
              <a:rPr sz="2400" spc="-35" dirty="0">
                <a:cs typeface="宋体"/>
              </a:rPr>
              <a:t>用</a:t>
            </a:r>
            <a:r>
              <a:rPr sz="2400" spc="-20" dirty="0">
                <a:cs typeface="宋体"/>
              </a:rPr>
              <a:t>。</a:t>
            </a:r>
            <a:endParaRPr sz="2400" dirty="0"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400" spc="-25" dirty="0">
                <a:cs typeface="宋体"/>
              </a:rPr>
              <a:t>可以看出数字型和</a:t>
            </a:r>
            <a:r>
              <a:rPr sz="2400" spc="-35" dirty="0">
                <a:cs typeface="宋体"/>
              </a:rPr>
              <a:t>布</a:t>
            </a:r>
            <a:r>
              <a:rPr sz="2400" spc="-25" dirty="0">
                <a:cs typeface="宋体"/>
              </a:rPr>
              <a:t>尔</a:t>
            </a:r>
            <a:r>
              <a:rPr sz="2400" spc="-35" dirty="0">
                <a:cs typeface="宋体"/>
              </a:rPr>
              <a:t>型</a:t>
            </a:r>
            <a:r>
              <a:rPr sz="2400" spc="-25" dirty="0">
                <a:cs typeface="宋体"/>
              </a:rPr>
              <a:t>颜色</a:t>
            </a:r>
            <a:r>
              <a:rPr sz="2400" spc="-35" dirty="0">
                <a:cs typeface="宋体"/>
              </a:rPr>
              <a:t>为</a:t>
            </a:r>
            <a:r>
              <a:rPr sz="2400" spc="-25" dirty="0">
                <a:cs typeface="宋体"/>
              </a:rPr>
              <a:t>蓝</a:t>
            </a:r>
            <a:r>
              <a:rPr sz="2400" spc="-35" dirty="0">
                <a:cs typeface="宋体"/>
              </a:rPr>
              <a:t>色</a:t>
            </a:r>
            <a:r>
              <a:rPr sz="2400" spc="-25" dirty="0">
                <a:cs typeface="宋体"/>
              </a:rPr>
              <a:t>，字</a:t>
            </a:r>
            <a:r>
              <a:rPr sz="2400" spc="-35" dirty="0">
                <a:cs typeface="宋体"/>
              </a:rPr>
              <a:t>符</a:t>
            </a:r>
            <a:r>
              <a:rPr sz="2400" spc="-25" dirty="0">
                <a:cs typeface="宋体"/>
              </a:rPr>
              <a:t>串</a:t>
            </a:r>
            <a:r>
              <a:rPr sz="2400" spc="-30" dirty="0">
                <a:cs typeface="宋体"/>
              </a:rPr>
              <a:t>和</a:t>
            </a:r>
            <a:r>
              <a:rPr sz="2400" spc="60" dirty="0">
                <a:cs typeface="宋体"/>
              </a:rPr>
              <a:t>undefined</a:t>
            </a:r>
            <a:r>
              <a:rPr sz="2400" spc="-20" dirty="0">
                <a:cs typeface="宋体"/>
              </a:rPr>
              <a:t>颜</a:t>
            </a:r>
            <a:r>
              <a:rPr sz="2400" spc="-30" dirty="0">
                <a:cs typeface="宋体"/>
              </a:rPr>
              <a:t>色</a:t>
            </a:r>
            <a:r>
              <a:rPr sz="2400" spc="-20" dirty="0">
                <a:cs typeface="宋体"/>
              </a:rPr>
              <a:t>为</a:t>
            </a:r>
            <a:r>
              <a:rPr sz="2400" spc="-30" dirty="0">
                <a:cs typeface="宋体"/>
              </a:rPr>
              <a:t>灰</a:t>
            </a:r>
            <a:r>
              <a:rPr sz="2400" spc="-20" dirty="0">
                <a:cs typeface="宋体"/>
              </a:rPr>
              <a:t>色</a:t>
            </a:r>
            <a:endParaRPr sz="2400" dirty="0">
              <a:cs typeface="宋体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650" y="2159000"/>
            <a:ext cx="5420802" cy="25654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44550" y="2133600"/>
            <a:ext cx="5784850" cy="2895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792EA"/>
                </a:solidFill>
                <a:latin typeface="+mj-lt"/>
              </a:rPr>
              <a:t> </a:t>
            </a:r>
            <a:r>
              <a:rPr lang="en-US" altLang="zh-CN" sz="2200" dirty="0" smtClean="0">
                <a:solidFill>
                  <a:srgbClr val="C792EA"/>
                </a:solidFill>
                <a:latin typeface="+mj-lt"/>
              </a:rPr>
              <a:t>     let</a:t>
            </a:r>
            <a:r>
              <a:rPr lang="en-US" altLang="zh-CN" sz="2200" dirty="0" smtClean="0">
                <a:solidFill>
                  <a:srgbClr val="80CBC4"/>
                </a:solidFill>
                <a:latin typeface="+mj-lt"/>
              </a:rPr>
              <a:t> 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age</a:t>
            </a:r>
            <a:r>
              <a:rPr lang="en-US" altLang="zh-CN" sz="2200" dirty="0">
                <a:solidFill>
                  <a:srgbClr val="1290BF"/>
                </a:solidFill>
                <a:latin typeface="+mj-lt"/>
              </a:rPr>
              <a:t> 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= </a:t>
            </a:r>
            <a:r>
              <a:rPr lang="en-US" altLang="zh-CN" sz="2200" dirty="0">
                <a:solidFill>
                  <a:srgbClr val="F77669"/>
                </a:solidFill>
                <a:latin typeface="+mj-lt"/>
              </a:rPr>
              <a:t>22</a:t>
            </a:r>
            <a:endParaRPr lang="en-US" altLang="zh-CN" sz="2200" dirty="0">
              <a:solidFill>
                <a:srgbClr val="CBCCC6"/>
              </a:solidFill>
              <a:latin typeface="+mj-lt"/>
            </a:endParaRPr>
          </a:p>
          <a:p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      </a:t>
            </a:r>
            <a:r>
              <a:rPr lang="en-US" altLang="zh-CN" sz="2200" dirty="0">
                <a:solidFill>
                  <a:srgbClr val="C792EA"/>
                </a:solidFill>
                <a:latin typeface="+mj-lt"/>
              </a:rPr>
              <a:t>let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 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username</a:t>
            </a:r>
            <a:r>
              <a:rPr lang="en-US" altLang="zh-CN" sz="2200" dirty="0">
                <a:solidFill>
                  <a:srgbClr val="1290BF"/>
                </a:solidFill>
                <a:latin typeface="+mj-lt"/>
              </a:rPr>
              <a:t> 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= </a:t>
            </a:r>
            <a:r>
              <a:rPr lang="en-US" altLang="zh-CN" sz="2200" dirty="0">
                <a:solidFill>
                  <a:srgbClr val="D9F5DD"/>
                </a:solidFill>
                <a:latin typeface="+mj-lt"/>
              </a:rPr>
              <a:t>'</a:t>
            </a:r>
            <a:r>
              <a:rPr lang="zh-CN" altLang="en-US" sz="2200" dirty="0">
                <a:solidFill>
                  <a:srgbClr val="C3E88D"/>
                </a:solidFill>
                <a:latin typeface="+mj-lt"/>
              </a:rPr>
              <a:t>邓邓</a:t>
            </a:r>
            <a:r>
              <a:rPr lang="en-US" altLang="zh-CN" sz="2200" dirty="0">
                <a:solidFill>
                  <a:srgbClr val="D9F5DD"/>
                </a:solidFill>
                <a:latin typeface="+mj-lt"/>
              </a:rPr>
              <a:t>'</a:t>
            </a:r>
            <a:endParaRPr lang="zh-CN" altLang="en-US" sz="2200" dirty="0">
              <a:solidFill>
                <a:srgbClr val="CBCCC6"/>
              </a:solidFill>
              <a:latin typeface="+mj-lt"/>
            </a:endParaRPr>
          </a:p>
          <a:p>
            <a:r>
              <a:rPr lang="zh-CN" altLang="en-US" sz="2200" dirty="0">
                <a:solidFill>
                  <a:srgbClr val="80CBC4"/>
                </a:solidFill>
                <a:latin typeface="+mj-lt"/>
              </a:rPr>
              <a:t>      </a:t>
            </a:r>
            <a:r>
              <a:rPr lang="en-US" altLang="zh-CN" sz="2200" dirty="0">
                <a:solidFill>
                  <a:srgbClr val="C792EA"/>
                </a:solidFill>
                <a:latin typeface="+mj-lt"/>
              </a:rPr>
              <a:t>let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 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flag</a:t>
            </a:r>
            <a:r>
              <a:rPr lang="en-US" altLang="zh-CN" sz="2200" dirty="0">
                <a:solidFill>
                  <a:srgbClr val="1290BF"/>
                </a:solidFill>
                <a:latin typeface="+mj-lt"/>
              </a:rPr>
              <a:t> 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= </a:t>
            </a:r>
            <a:r>
              <a:rPr lang="en-US" altLang="zh-CN" sz="2200" dirty="0">
                <a:solidFill>
                  <a:srgbClr val="F77669"/>
                </a:solidFill>
                <a:latin typeface="+mj-lt"/>
              </a:rPr>
              <a:t>true</a:t>
            </a:r>
            <a:endParaRPr lang="en-US" altLang="zh-CN" sz="2200" dirty="0">
              <a:solidFill>
                <a:srgbClr val="CBCCC6"/>
              </a:solidFill>
              <a:latin typeface="+mj-lt"/>
            </a:endParaRPr>
          </a:p>
          <a:p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      </a:t>
            </a:r>
            <a:r>
              <a:rPr lang="en-US" altLang="zh-CN" sz="2200" dirty="0">
                <a:solidFill>
                  <a:srgbClr val="C792EA"/>
                </a:solidFill>
                <a:latin typeface="+mj-lt"/>
              </a:rPr>
              <a:t>let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 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las</a:t>
            </a:r>
            <a:endParaRPr lang="en-US" altLang="zh-CN" sz="2200" dirty="0">
              <a:solidFill>
                <a:srgbClr val="CBCCC6"/>
              </a:solidFill>
              <a:latin typeface="+mj-lt"/>
            </a:endParaRPr>
          </a:p>
          <a:p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      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console</a:t>
            </a:r>
            <a:r>
              <a:rPr lang="en-US" altLang="zh-CN" sz="2200" dirty="0">
                <a:solidFill>
                  <a:srgbClr val="89DDFF"/>
                </a:solidFill>
                <a:latin typeface="+mj-lt"/>
              </a:rPr>
              <a:t>.log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(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age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)</a:t>
            </a:r>
            <a:endParaRPr lang="en-US" altLang="zh-CN" sz="2200" dirty="0">
              <a:solidFill>
                <a:srgbClr val="CBCCC6"/>
              </a:solidFill>
              <a:latin typeface="+mj-lt"/>
            </a:endParaRPr>
          </a:p>
          <a:p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      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console</a:t>
            </a:r>
            <a:r>
              <a:rPr lang="en-US" altLang="zh-CN" sz="2200" dirty="0">
                <a:solidFill>
                  <a:srgbClr val="89DDFF"/>
                </a:solidFill>
                <a:latin typeface="+mj-lt"/>
              </a:rPr>
              <a:t>.log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(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username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)</a:t>
            </a:r>
            <a:endParaRPr lang="en-US" altLang="zh-CN" sz="2200" dirty="0">
              <a:solidFill>
                <a:srgbClr val="CBCCC6"/>
              </a:solidFill>
              <a:latin typeface="+mj-lt"/>
            </a:endParaRPr>
          </a:p>
          <a:p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      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console</a:t>
            </a:r>
            <a:r>
              <a:rPr lang="en-US" altLang="zh-CN" sz="2200" dirty="0">
                <a:solidFill>
                  <a:srgbClr val="89DDFF"/>
                </a:solidFill>
                <a:latin typeface="+mj-lt"/>
              </a:rPr>
              <a:t>.log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(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flag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)</a:t>
            </a:r>
            <a:endParaRPr lang="en-US" altLang="zh-CN" sz="2200" dirty="0">
              <a:solidFill>
                <a:srgbClr val="CBCCC6"/>
              </a:solidFill>
              <a:latin typeface="+mj-lt"/>
            </a:endParaRPr>
          </a:p>
          <a:p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      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console</a:t>
            </a:r>
            <a:r>
              <a:rPr lang="en-US" altLang="zh-CN" sz="2200" dirty="0">
                <a:solidFill>
                  <a:srgbClr val="89DDFF"/>
                </a:solidFill>
                <a:latin typeface="+mj-lt"/>
              </a:rPr>
              <a:t>.log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(</a:t>
            </a:r>
            <a:r>
              <a:rPr lang="en-US" altLang="zh-CN" sz="2200" dirty="0">
                <a:solidFill>
                  <a:srgbClr val="FF5370"/>
                </a:solidFill>
                <a:latin typeface="+mj-lt"/>
              </a:rPr>
              <a:t>las</a:t>
            </a:r>
            <a:r>
              <a:rPr lang="en-US" altLang="zh-CN" sz="2200" dirty="0">
                <a:solidFill>
                  <a:srgbClr val="80CBC4"/>
                </a:solidFill>
                <a:latin typeface="+mj-lt"/>
              </a:rPr>
              <a:t>)</a:t>
            </a:r>
            <a:endParaRPr lang="en-US" altLang="zh-CN" sz="2200" b="0" dirty="0">
              <a:solidFill>
                <a:srgbClr val="CBCCC6"/>
              </a:solidFill>
              <a:effectLst/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847580" y="685800"/>
            <a:ext cx="234442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726720"/>
            <a:ext cx="6324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控制台输出语句和检测数据类型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9838" y="1600200"/>
            <a:ext cx="576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0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通过</a:t>
            </a:r>
            <a:r>
              <a:rPr sz="2400" b="1" spc="-95" dirty="0" smtClean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b="1" spc="-50" dirty="0">
                <a:solidFill>
                  <a:srgbClr val="252525"/>
                </a:solidFill>
                <a:latin typeface="微软雅黑"/>
                <a:cs typeface="微软雅黑"/>
              </a:rPr>
              <a:t>typeof</a:t>
            </a:r>
            <a:r>
              <a:rPr sz="2400" b="1" spc="-9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b="1" spc="-30" dirty="0">
                <a:solidFill>
                  <a:srgbClr val="252525"/>
                </a:solidFill>
                <a:latin typeface="微软雅黑"/>
                <a:cs typeface="微软雅黑"/>
              </a:rPr>
              <a:t>关键字检测</a:t>
            </a:r>
            <a:r>
              <a:rPr sz="2400" b="1" spc="-25" dirty="0">
                <a:solidFill>
                  <a:srgbClr val="252525"/>
                </a:solidFill>
                <a:latin typeface="微软雅黑"/>
                <a:cs typeface="微软雅黑"/>
              </a:rPr>
              <a:t>数据类型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993" y="2438400"/>
            <a:ext cx="6000007" cy="291286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68464" y="2494449"/>
            <a:ext cx="6184736" cy="280076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solidFill>
                  <a:srgbClr val="C792EA"/>
                </a:solidFill>
              </a:rPr>
              <a:t>      let</a:t>
            </a:r>
            <a:r>
              <a:rPr lang="en-US" altLang="zh-CN" sz="2200" dirty="0" smtClean="0">
                <a:solidFill>
                  <a:srgbClr val="80CBC4"/>
                </a:solidFill>
              </a:rPr>
              <a:t> </a:t>
            </a:r>
            <a:r>
              <a:rPr lang="en-US" altLang="zh-CN" sz="2200" dirty="0">
                <a:solidFill>
                  <a:srgbClr val="FF5370"/>
                </a:solidFill>
              </a:rPr>
              <a:t>age</a:t>
            </a:r>
            <a:r>
              <a:rPr lang="en-US" altLang="zh-CN" sz="2200" dirty="0">
                <a:solidFill>
                  <a:srgbClr val="1290BF"/>
                </a:solidFill>
              </a:rPr>
              <a:t> </a:t>
            </a:r>
            <a:r>
              <a:rPr lang="en-US" altLang="zh-CN" sz="2200" dirty="0">
                <a:solidFill>
                  <a:srgbClr val="80CBC4"/>
                </a:solidFill>
              </a:rPr>
              <a:t>= </a:t>
            </a:r>
            <a:r>
              <a:rPr lang="en-US" altLang="zh-CN" sz="2200" dirty="0">
                <a:solidFill>
                  <a:srgbClr val="F77669"/>
                </a:solidFill>
              </a:rPr>
              <a:t>22</a:t>
            </a:r>
            <a:endParaRPr lang="en-US" altLang="zh-CN" sz="2200" dirty="0">
              <a:solidFill>
                <a:srgbClr val="CBCCC6"/>
              </a:solidFill>
            </a:endParaRPr>
          </a:p>
          <a:p>
            <a:r>
              <a:rPr lang="en-US" altLang="zh-CN" sz="2200" dirty="0">
                <a:solidFill>
                  <a:srgbClr val="80CBC4"/>
                </a:solidFill>
              </a:rPr>
              <a:t>      </a:t>
            </a:r>
            <a:r>
              <a:rPr lang="en-US" altLang="zh-CN" sz="2200" dirty="0">
                <a:solidFill>
                  <a:srgbClr val="C792EA"/>
                </a:solidFill>
              </a:rPr>
              <a:t>let</a:t>
            </a:r>
            <a:r>
              <a:rPr lang="en-US" altLang="zh-CN" sz="2200" dirty="0">
                <a:solidFill>
                  <a:srgbClr val="80CBC4"/>
                </a:solidFill>
              </a:rPr>
              <a:t> </a:t>
            </a:r>
            <a:r>
              <a:rPr lang="en-US" altLang="zh-CN" sz="2200" dirty="0">
                <a:solidFill>
                  <a:srgbClr val="FF5370"/>
                </a:solidFill>
              </a:rPr>
              <a:t>username</a:t>
            </a:r>
            <a:r>
              <a:rPr lang="en-US" altLang="zh-CN" sz="2200" dirty="0">
                <a:solidFill>
                  <a:srgbClr val="1290BF"/>
                </a:solidFill>
              </a:rPr>
              <a:t> </a:t>
            </a:r>
            <a:r>
              <a:rPr lang="en-US" altLang="zh-CN" sz="2200" dirty="0">
                <a:solidFill>
                  <a:srgbClr val="80CBC4"/>
                </a:solidFill>
              </a:rPr>
              <a:t>= </a:t>
            </a:r>
            <a:r>
              <a:rPr lang="en-US" altLang="zh-CN" sz="2200" dirty="0">
                <a:solidFill>
                  <a:srgbClr val="D9F5DD"/>
                </a:solidFill>
              </a:rPr>
              <a:t>'</a:t>
            </a:r>
            <a:r>
              <a:rPr lang="zh-CN" altLang="en-US" sz="2200" dirty="0">
                <a:solidFill>
                  <a:srgbClr val="C3E88D"/>
                </a:solidFill>
              </a:rPr>
              <a:t>邓邓</a:t>
            </a:r>
            <a:r>
              <a:rPr lang="en-US" altLang="zh-CN" sz="2200" dirty="0">
                <a:solidFill>
                  <a:srgbClr val="D9F5DD"/>
                </a:solidFill>
              </a:rPr>
              <a:t>'</a:t>
            </a:r>
            <a:endParaRPr lang="zh-CN" altLang="en-US" sz="2200" dirty="0">
              <a:solidFill>
                <a:srgbClr val="CBCCC6"/>
              </a:solidFill>
            </a:endParaRPr>
          </a:p>
          <a:p>
            <a:r>
              <a:rPr lang="zh-CN" altLang="en-US" sz="2200" dirty="0">
                <a:solidFill>
                  <a:srgbClr val="80CBC4"/>
                </a:solidFill>
              </a:rPr>
              <a:t>      </a:t>
            </a:r>
            <a:r>
              <a:rPr lang="en-US" altLang="zh-CN" sz="2200" dirty="0">
                <a:solidFill>
                  <a:srgbClr val="C792EA"/>
                </a:solidFill>
              </a:rPr>
              <a:t>let</a:t>
            </a:r>
            <a:r>
              <a:rPr lang="en-US" altLang="zh-CN" sz="2200" dirty="0">
                <a:solidFill>
                  <a:srgbClr val="80CBC4"/>
                </a:solidFill>
              </a:rPr>
              <a:t> </a:t>
            </a:r>
            <a:r>
              <a:rPr lang="en-US" altLang="zh-CN" sz="2200" dirty="0">
                <a:solidFill>
                  <a:srgbClr val="FF5370"/>
                </a:solidFill>
              </a:rPr>
              <a:t>flag</a:t>
            </a:r>
            <a:r>
              <a:rPr lang="en-US" altLang="zh-CN" sz="2200" dirty="0">
                <a:solidFill>
                  <a:srgbClr val="1290BF"/>
                </a:solidFill>
              </a:rPr>
              <a:t> </a:t>
            </a:r>
            <a:r>
              <a:rPr lang="en-US" altLang="zh-CN" sz="2200" dirty="0">
                <a:solidFill>
                  <a:srgbClr val="80CBC4"/>
                </a:solidFill>
              </a:rPr>
              <a:t>= </a:t>
            </a:r>
            <a:r>
              <a:rPr lang="en-US" altLang="zh-CN" sz="2200" dirty="0">
                <a:solidFill>
                  <a:srgbClr val="F77669"/>
                </a:solidFill>
              </a:rPr>
              <a:t>true</a:t>
            </a:r>
            <a:endParaRPr lang="en-US" altLang="zh-CN" sz="2200" dirty="0">
              <a:solidFill>
                <a:srgbClr val="CBCCC6"/>
              </a:solidFill>
            </a:endParaRPr>
          </a:p>
          <a:p>
            <a:r>
              <a:rPr lang="en-US" altLang="zh-CN" sz="2200" dirty="0">
                <a:solidFill>
                  <a:srgbClr val="80CBC4"/>
                </a:solidFill>
              </a:rPr>
              <a:t>      </a:t>
            </a:r>
            <a:r>
              <a:rPr lang="en-US" altLang="zh-CN" sz="2200" dirty="0">
                <a:solidFill>
                  <a:srgbClr val="C792EA"/>
                </a:solidFill>
              </a:rPr>
              <a:t>let</a:t>
            </a:r>
            <a:r>
              <a:rPr lang="en-US" altLang="zh-CN" sz="2200" dirty="0">
                <a:solidFill>
                  <a:srgbClr val="80CBC4"/>
                </a:solidFill>
              </a:rPr>
              <a:t> </a:t>
            </a:r>
            <a:r>
              <a:rPr lang="en-US" altLang="zh-CN" sz="2200" dirty="0">
                <a:solidFill>
                  <a:srgbClr val="FF5370"/>
                </a:solidFill>
              </a:rPr>
              <a:t>las</a:t>
            </a:r>
            <a:endParaRPr lang="en-US" altLang="zh-CN" sz="2200" dirty="0">
              <a:solidFill>
                <a:srgbClr val="CBCCC6"/>
              </a:solidFill>
            </a:endParaRPr>
          </a:p>
          <a:p>
            <a:r>
              <a:rPr lang="en-US" altLang="zh-CN" sz="2200" dirty="0">
                <a:solidFill>
                  <a:srgbClr val="80CBC4"/>
                </a:solidFill>
              </a:rPr>
              <a:t>      </a:t>
            </a:r>
            <a:r>
              <a:rPr lang="en-US" altLang="zh-CN" sz="2200" dirty="0">
                <a:solidFill>
                  <a:srgbClr val="FF5370"/>
                </a:solidFill>
              </a:rPr>
              <a:t>console</a:t>
            </a:r>
            <a:r>
              <a:rPr lang="en-US" altLang="zh-CN" sz="2200" dirty="0">
                <a:solidFill>
                  <a:srgbClr val="89DDFF"/>
                </a:solidFill>
              </a:rPr>
              <a:t>.log</a:t>
            </a:r>
            <a:r>
              <a:rPr lang="en-US" altLang="zh-CN" sz="2200" dirty="0">
                <a:solidFill>
                  <a:srgbClr val="80CBC4"/>
                </a:solidFill>
              </a:rPr>
              <a:t>(</a:t>
            </a:r>
            <a:r>
              <a:rPr lang="en-US" altLang="zh-CN" sz="2200" dirty="0" err="1">
                <a:solidFill>
                  <a:srgbClr val="80CBC4"/>
                </a:solidFill>
              </a:rPr>
              <a:t>typeof</a:t>
            </a:r>
            <a:r>
              <a:rPr lang="en-US" altLang="zh-CN" sz="2200" dirty="0">
                <a:solidFill>
                  <a:srgbClr val="80CBC4"/>
                </a:solidFill>
              </a:rPr>
              <a:t> </a:t>
            </a:r>
            <a:r>
              <a:rPr lang="en-US" altLang="zh-CN" sz="2200" dirty="0">
                <a:solidFill>
                  <a:srgbClr val="FF5370"/>
                </a:solidFill>
              </a:rPr>
              <a:t>age</a:t>
            </a:r>
            <a:r>
              <a:rPr lang="en-US" altLang="zh-CN" sz="2200" dirty="0">
                <a:solidFill>
                  <a:srgbClr val="80CBC4"/>
                </a:solidFill>
              </a:rPr>
              <a:t>)</a:t>
            </a:r>
            <a:endParaRPr lang="en-US" altLang="zh-CN" sz="2200" dirty="0">
              <a:solidFill>
                <a:srgbClr val="CBCCC6"/>
              </a:solidFill>
            </a:endParaRPr>
          </a:p>
          <a:p>
            <a:r>
              <a:rPr lang="en-US" altLang="zh-CN" sz="2200" dirty="0">
                <a:solidFill>
                  <a:srgbClr val="80CBC4"/>
                </a:solidFill>
              </a:rPr>
              <a:t>      </a:t>
            </a:r>
            <a:r>
              <a:rPr lang="en-US" altLang="zh-CN" sz="2200" dirty="0">
                <a:solidFill>
                  <a:srgbClr val="FF5370"/>
                </a:solidFill>
              </a:rPr>
              <a:t>console</a:t>
            </a:r>
            <a:r>
              <a:rPr lang="en-US" altLang="zh-CN" sz="2200" dirty="0">
                <a:solidFill>
                  <a:srgbClr val="89DDFF"/>
                </a:solidFill>
              </a:rPr>
              <a:t>.log</a:t>
            </a:r>
            <a:r>
              <a:rPr lang="en-US" altLang="zh-CN" sz="2200" dirty="0">
                <a:solidFill>
                  <a:srgbClr val="80CBC4"/>
                </a:solidFill>
              </a:rPr>
              <a:t>(</a:t>
            </a:r>
            <a:r>
              <a:rPr lang="en-US" altLang="zh-CN" sz="2200" dirty="0" err="1">
                <a:solidFill>
                  <a:srgbClr val="80CBC4"/>
                </a:solidFill>
              </a:rPr>
              <a:t>typeof</a:t>
            </a:r>
            <a:r>
              <a:rPr lang="en-US" altLang="zh-CN" sz="2200" dirty="0">
                <a:solidFill>
                  <a:srgbClr val="80CBC4"/>
                </a:solidFill>
              </a:rPr>
              <a:t> </a:t>
            </a:r>
            <a:r>
              <a:rPr lang="en-US" altLang="zh-CN" sz="2200" dirty="0">
                <a:solidFill>
                  <a:srgbClr val="FF5370"/>
                </a:solidFill>
              </a:rPr>
              <a:t>username</a:t>
            </a:r>
            <a:r>
              <a:rPr lang="en-US" altLang="zh-CN" sz="2200" dirty="0">
                <a:solidFill>
                  <a:srgbClr val="80CBC4"/>
                </a:solidFill>
              </a:rPr>
              <a:t>)</a:t>
            </a:r>
            <a:endParaRPr lang="en-US" altLang="zh-CN" sz="2200" dirty="0">
              <a:solidFill>
                <a:srgbClr val="CBCCC6"/>
              </a:solidFill>
            </a:endParaRPr>
          </a:p>
          <a:p>
            <a:r>
              <a:rPr lang="en-US" altLang="zh-CN" sz="2200" dirty="0">
                <a:solidFill>
                  <a:srgbClr val="80CBC4"/>
                </a:solidFill>
              </a:rPr>
              <a:t>      </a:t>
            </a:r>
            <a:r>
              <a:rPr lang="en-US" altLang="zh-CN" sz="2200" dirty="0">
                <a:solidFill>
                  <a:srgbClr val="FF5370"/>
                </a:solidFill>
              </a:rPr>
              <a:t>console</a:t>
            </a:r>
            <a:r>
              <a:rPr lang="en-US" altLang="zh-CN" sz="2200" dirty="0">
                <a:solidFill>
                  <a:srgbClr val="89DDFF"/>
                </a:solidFill>
              </a:rPr>
              <a:t>.log</a:t>
            </a:r>
            <a:r>
              <a:rPr lang="en-US" altLang="zh-CN" sz="2200" dirty="0">
                <a:solidFill>
                  <a:srgbClr val="80CBC4"/>
                </a:solidFill>
              </a:rPr>
              <a:t>(</a:t>
            </a:r>
            <a:r>
              <a:rPr lang="en-US" altLang="zh-CN" sz="2200" dirty="0" err="1">
                <a:solidFill>
                  <a:srgbClr val="80CBC4"/>
                </a:solidFill>
              </a:rPr>
              <a:t>typeof</a:t>
            </a:r>
            <a:r>
              <a:rPr lang="en-US" altLang="zh-CN" sz="2200" dirty="0">
                <a:solidFill>
                  <a:srgbClr val="80CBC4"/>
                </a:solidFill>
              </a:rPr>
              <a:t> </a:t>
            </a:r>
            <a:r>
              <a:rPr lang="en-US" altLang="zh-CN" sz="2200" dirty="0">
                <a:solidFill>
                  <a:srgbClr val="FF5370"/>
                </a:solidFill>
              </a:rPr>
              <a:t>flag</a:t>
            </a:r>
            <a:r>
              <a:rPr lang="en-US" altLang="zh-CN" sz="2200" dirty="0">
                <a:solidFill>
                  <a:srgbClr val="80CBC4"/>
                </a:solidFill>
              </a:rPr>
              <a:t>)</a:t>
            </a:r>
            <a:endParaRPr lang="en-US" altLang="zh-CN" sz="2200" dirty="0">
              <a:solidFill>
                <a:srgbClr val="CBCCC6"/>
              </a:solidFill>
            </a:endParaRPr>
          </a:p>
          <a:p>
            <a:r>
              <a:rPr lang="en-US" altLang="zh-CN" sz="2200" dirty="0">
                <a:solidFill>
                  <a:srgbClr val="80CBC4"/>
                </a:solidFill>
              </a:rPr>
              <a:t>      </a:t>
            </a:r>
            <a:r>
              <a:rPr lang="en-US" altLang="zh-CN" sz="2200" dirty="0">
                <a:solidFill>
                  <a:srgbClr val="FF5370"/>
                </a:solidFill>
              </a:rPr>
              <a:t>console</a:t>
            </a:r>
            <a:r>
              <a:rPr lang="en-US" altLang="zh-CN" sz="2200" dirty="0">
                <a:solidFill>
                  <a:srgbClr val="89DDFF"/>
                </a:solidFill>
              </a:rPr>
              <a:t>.log</a:t>
            </a:r>
            <a:r>
              <a:rPr lang="en-US" altLang="zh-CN" sz="2200" dirty="0">
                <a:solidFill>
                  <a:srgbClr val="80CBC4"/>
                </a:solidFill>
              </a:rPr>
              <a:t>(</a:t>
            </a:r>
            <a:r>
              <a:rPr lang="en-US" altLang="zh-CN" sz="2200" dirty="0" err="1">
                <a:solidFill>
                  <a:srgbClr val="80CBC4"/>
                </a:solidFill>
              </a:rPr>
              <a:t>typeof</a:t>
            </a:r>
            <a:r>
              <a:rPr lang="en-US" altLang="zh-CN" sz="2200" dirty="0">
                <a:solidFill>
                  <a:srgbClr val="80CBC4"/>
                </a:solidFill>
              </a:rPr>
              <a:t> </a:t>
            </a:r>
            <a:r>
              <a:rPr lang="en-US" altLang="zh-CN" sz="2200" dirty="0">
                <a:solidFill>
                  <a:srgbClr val="FF5370"/>
                </a:solidFill>
              </a:rPr>
              <a:t>las</a:t>
            </a:r>
            <a:r>
              <a:rPr lang="en-US" altLang="zh-CN" sz="2200" dirty="0">
                <a:solidFill>
                  <a:srgbClr val="80CBC4"/>
                </a:solidFill>
              </a:rPr>
              <a:t>)</a:t>
            </a:r>
            <a:endParaRPr lang="en-US" altLang="zh-CN" sz="2200" b="0" dirty="0">
              <a:solidFill>
                <a:srgbClr val="CBCCC6"/>
              </a:solidFill>
              <a:effectLst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525" y="699221"/>
            <a:ext cx="464566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类型转换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525" y="1934255"/>
            <a:ext cx="10943275" cy="15331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5" dirty="0">
                <a:solidFill>
                  <a:srgbClr val="252525"/>
                </a:solidFill>
                <a:cs typeface="宋体"/>
              </a:rPr>
              <a:t>JavaScript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是弱数据类型：</a:t>
            </a:r>
            <a:r>
              <a:rPr sz="2200" spc="-350" dirty="0">
                <a:solidFill>
                  <a:srgbClr val="252525"/>
                </a:solidFill>
                <a:cs typeface="宋体"/>
              </a:rPr>
              <a:t> </a:t>
            </a:r>
            <a:r>
              <a:rPr sz="2200" spc="-55" dirty="0">
                <a:solidFill>
                  <a:srgbClr val="252525"/>
                </a:solidFill>
                <a:cs typeface="宋体"/>
              </a:rPr>
              <a:t>JavaScript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也不知道变量到底属于那种</a:t>
            </a:r>
            <a:r>
              <a:rPr sz="2200" spc="-20" dirty="0">
                <a:solidFill>
                  <a:srgbClr val="252525"/>
                </a:solidFill>
                <a:cs typeface="宋体"/>
              </a:rPr>
              <a:t>数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据类型</a:t>
            </a:r>
            <a:r>
              <a:rPr sz="2200" spc="-20" dirty="0">
                <a:solidFill>
                  <a:srgbClr val="252525"/>
                </a:solidFill>
                <a:cs typeface="宋体"/>
              </a:rPr>
              <a:t>，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只有赋</a:t>
            </a:r>
            <a:r>
              <a:rPr sz="2200" spc="-20" dirty="0">
                <a:solidFill>
                  <a:srgbClr val="252525"/>
                </a:solidFill>
                <a:cs typeface="宋体"/>
              </a:rPr>
              <a:t>值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了才清</a:t>
            </a:r>
            <a:r>
              <a:rPr sz="2200" spc="-20" dirty="0">
                <a:solidFill>
                  <a:srgbClr val="252525"/>
                </a:solidFill>
                <a:cs typeface="宋体"/>
              </a:rPr>
              <a:t>楚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。</a:t>
            </a:r>
            <a:endParaRPr sz="22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200" spc="-30" dirty="0" err="1" smtClean="0">
                <a:solidFill>
                  <a:srgbClr val="252525"/>
                </a:solidFill>
                <a:cs typeface="宋体"/>
              </a:rPr>
              <a:t>使用表单</a:t>
            </a:r>
            <a:r>
              <a:rPr sz="2200" spc="-30" dirty="0" err="1">
                <a:solidFill>
                  <a:srgbClr val="252525"/>
                </a:solidFill>
                <a:cs typeface="宋体"/>
              </a:rPr>
              <a:t>、</a:t>
            </a:r>
            <a:r>
              <a:rPr sz="2200" spc="130" dirty="0" err="1">
                <a:solidFill>
                  <a:srgbClr val="252525"/>
                </a:solidFill>
                <a:cs typeface="宋体"/>
              </a:rPr>
              <a:t>prompt</a:t>
            </a:r>
            <a:r>
              <a:rPr sz="2200" spc="-375" dirty="0">
                <a:solidFill>
                  <a:srgbClr val="252525"/>
                </a:solidFill>
                <a:cs typeface="宋体"/>
              </a:rPr>
              <a:t> 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获取过来的数据默认是字符串类型的，此时</a:t>
            </a:r>
            <a:r>
              <a:rPr sz="2200" spc="-20" dirty="0">
                <a:solidFill>
                  <a:srgbClr val="252525"/>
                </a:solidFill>
                <a:cs typeface="宋体"/>
              </a:rPr>
              <a:t>就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不能直</a:t>
            </a:r>
            <a:r>
              <a:rPr sz="2200" spc="-20" dirty="0">
                <a:solidFill>
                  <a:srgbClr val="252525"/>
                </a:solidFill>
                <a:cs typeface="宋体"/>
              </a:rPr>
              <a:t>接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简单的</a:t>
            </a:r>
            <a:r>
              <a:rPr sz="2200" spc="-20" dirty="0">
                <a:solidFill>
                  <a:srgbClr val="252525"/>
                </a:solidFill>
                <a:cs typeface="宋体"/>
              </a:rPr>
              <a:t>进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行加</a:t>
            </a:r>
            <a:r>
              <a:rPr sz="2200" spc="-20" dirty="0">
                <a:solidFill>
                  <a:srgbClr val="252525"/>
                </a:solidFill>
                <a:cs typeface="宋体"/>
              </a:rPr>
              <a:t>法运</a:t>
            </a:r>
            <a:r>
              <a:rPr sz="2200" spc="-30" dirty="0">
                <a:solidFill>
                  <a:srgbClr val="252525"/>
                </a:solidFill>
                <a:cs typeface="宋体"/>
              </a:rPr>
              <a:t>算。</a:t>
            </a:r>
            <a:endParaRPr sz="2200" dirty="0"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953000"/>
            <a:ext cx="10817861" cy="8688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5" dirty="0">
                <a:solidFill>
                  <a:srgbClr val="252525"/>
                </a:solidFill>
                <a:latin typeface="宋体"/>
                <a:cs typeface="宋体"/>
              </a:rPr>
              <a:t>此时需</a:t>
            </a:r>
            <a:r>
              <a:rPr sz="2200" spc="-30" dirty="0">
                <a:solidFill>
                  <a:srgbClr val="252525"/>
                </a:solidFill>
                <a:latin typeface="宋体"/>
                <a:cs typeface="宋体"/>
              </a:rPr>
              <a:t>要</a:t>
            </a:r>
            <a:r>
              <a:rPr sz="2200" spc="-35" dirty="0">
                <a:solidFill>
                  <a:srgbClr val="252525"/>
                </a:solidFill>
                <a:latin typeface="宋体"/>
                <a:cs typeface="宋体"/>
              </a:rPr>
              <a:t>转换变量的数据类型</a:t>
            </a:r>
            <a:r>
              <a:rPr sz="2200" spc="-30" dirty="0">
                <a:solidFill>
                  <a:srgbClr val="252525"/>
                </a:solidFill>
                <a:latin typeface="宋体"/>
                <a:cs typeface="宋体"/>
              </a:rPr>
              <a:t>。</a:t>
            </a:r>
            <a:endParaRPr sz="22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200" spc="-30" dirty="0">
                <a:solidFill>
                  <a:srgbClr val="252525"/>
                </a:solidFill>
                <a:latin typeface="宋体"/>
                <a:cs typeface="宋体"/>
              </a:rPr>
              <a:t>通俗来说，就是</a:t>
            </a:r>
            <a:r>
              <a:rPr sz="2200" spc="-30" dirty="0">
                <a:solidFill>
                  <a:srgbClr val="C00000"/>
                </a:solidFill>
                <a:latin typeface="宋体"/>
                <a:cs typeface="宋体"/>
              </a:rPr>
              <a:t>把一种数据类型的变量转换成</a:t>
            </a:r>
            <a:r>
              <a:rPr sz="2200" spc="-20" dirty="0">
                <a:solidFill>
                  <a:srgbClr val="C00000"/>
                </a:solidFill>
                <a:latin typeface="宋体"/>
                <a:cs typeface="宋体"/>
              </a:rPr>
              <a:t>我</a:t>
            </a:r>
            <a:r>
              <a:rPr sz="2200" spc="-30" dirty="0">
                <a:solidFill>
                  <a:srgbClr val="C00000"/>
                </a:solidFill>
                <a:latin typeface="宋体"/>
                <a:cs typeface="宋体"/>
              </a:rPr>
              <a:t>们需要</a:t>
            </a:r>
            <a:r>
              <a:rPr sz="2200" spc="-15" dirty="0">
                <a:solidFill>
                  <a:srgbClr val="C00000"/>
                </a:solidFill>
                <a:latin typeface="宋体"/>
                <a:cs typeface="宋体"/>
              </a:rPr>
              <a:t>的</a:t>
            </a:r>
            <a:r>
              <a:rPr sz="2200" spc="-30" dirty="0">
                <a:solidFill>
                  <a:srgbClr val="C00000"/>
                </a:solidFill>
                <a:latin typeface="宋体"/>
                <a:cs typeface="宋体"/>
              </a:rPr>
              <a:t>数据类</a:t>
            </a:r>
            <a:r>
              <a:rPr sz="2200" spc="-10" dirty="0">
                <a:solidFill>
                  <a:srgbClr val="C00000"/>
                </a:solidFill>
                <a:latin typeface="宋体"/>
                <a:cs typeface="宋体"/>
              </a:rPr>
              <a:t>型</a:t>
            </a:r>
            <a:r>
              <a:rPr sz="2200" spc="-30" dirty="0">
                <a:solidFill>
                  <a:srgbClr val="252525"/>
                </a:solidFill>
                <a:latin typeface="宋体"/>
                <a:cs typeface="宋体"/>
              </a:rPr>
              <a:t>。</a:t>
            </a:r>
            <a:endParaRPr sz="2200" dirty="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4268" y="3786512"/>
            <a:ext cx="7723632" cy="84734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65218" y="1399733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为什么需要类型转换？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类型转换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59525"/>
            <a:ext cx="304546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隐式转换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301010"/>
            <a:ext cx="11125200" cy="34361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solidFill>
                  <a:srgbClr val="252525"/>
                </a:solidFill>
                <a:cs typeface="宋体"/>
              </a:rPr>
              <a:t>某些运算符被执行时，系统内部自动将数据类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型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进行转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换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，这种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转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换称为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隐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式转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换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。</a:t>
            </a:r>
            <a:endParaRPr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000" b="1" spc="-30" dirty="0">
                <a:solidFill>
                  <a:srgbClr val="252525"/>
                </a:solidFill>
                <a:cs typeface="微软雅黑"/>
              </a:rPr>
              <a:t>规则：</a:t>
            </a:r>
            <a:endParaRPr sz="2000" dirty="0">
              <a:cs typeface="微软雅黑"/>
            </a:endParaRPr>
          </a:p>
          <a:p>
            <a:pPr marL="715010" indent="-3429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658495" algn="l"/>
              </a:tabLst>
            </a:pPr>
            <a:r>
              <a:rPr sz="2000" dirty="0">
                <a:cs typeface="Times New Roman" panose="02020503050405090304"/>
              </a:rPr>
              <a:t>	</a:t>
            </a:r>
            <a:r>
              <a:rPr sz="2000" spc="75" dirty="0">
                <a:cs typeface="宋体"/>
              </a:rPr>
              <a:t>+</a:t>
            </a:r>
            <a:r>
              <a:rPr sz="2000" spc="-340" dirty="0">
                <a:cs typeface="宋体"/>
              </a:rPr>
              <a:t> </a:t>
            </a:r>
            <a:r>
              <a:rPr sz="2000" spc="-25" dirty="0">
                <a:cs typeface="宋体"/>
              </a:rPr>
              <a:t>号</a:t>
            </a:r>
            <a:r>
              <a:rPr sz="2000" spc="-20" dirty="0">
                <a:cs typeface="宋体"/>
              </a:rPr>
              <a:t>两边</a:t>
            </a:r>
            <a:r>
              <a:rPr sz="2000" spc="-25" dirty="0">
                <a:cs typeface="宋体"/>
              </a:rPr>
              <a:t>只</a:t>
            </a:r>
            <a:r>
              <a:rPr sz="2000" spc="-20" dirty="0">
                <a:cs typeface="宋体"/>
              </a:rPr>
              <a:t>要有</a:t>
            </a:r>
            <a:r>
              <a:rPr sz="2000" spc="-25" dirty="0">
                <a:cs typeface="宋体"/>
              </a:rPr>
              <a:t>一</a:t>
            </a:r>
            <a:r>
              <a:rPr sz="2000" spc="-35" dirty="0">
                <a:cs typeface="宋体"/>
              </a:rPr>
              <a:t>个</a:t>
            </a:r>
            <a:r>
              <a:rPr sz="2000" spc="-20" dirty="0">
                <a:cs typeface="宋体"/>
              </a:rPr>
              <a:t>是字</a:t>
            </a:r>
            <a:r>
              <a:rPr sz="2000" spc="-40" dirty="0">
                <a:cs typeface="宋体"/>
              </a:rPr>
              <a:t>符</a:t>
            </a:r>
            <a:r>
              <a:rPr sz="2000" spc="-20" dirty="0">
                <a:cs typeface="宋体"/>
              </a:rPr>
              <a:t>串</a:t>
            </a:r>
            <a:r>
              <a:rPr sz="2000" spc="-40" dirty="0">
                <a:cs typeface="宋体"/>
              </a:rPr>
              <a:t>，</a:t>
            </a:r>
            <a:r>
              <a:rPr sz="2000" spc="-20" dirty="0">
                <a:cs typeface="宋体"/>
              </a:rPr>
              <a:t>都会</a:t>
            </a:r>
            <a:r>
              <a:rPr sz="2000" spc="-40" dirty="0">
                <a:cs typeface="宋体"/>
              </a:rPr>
              <a:t>把</a:t>
            </a:r>
            <a:r>
              <a:rPr sz="2000" spc="-20" dirty="0">
                <a:cs typeface="宋体"/>
              </a:rPr>
              <a:t>另</a:t>
            </a:r>
            <a:r>
              <a:rPr sz="2000" spc="-40" dirty="0">
                <a:cs typeface="宋体"/>
              </a:rPr>
              <a:t>外</a:t>
            </a:r>
            <a:r>
              <a:rPr sz="2000" spc="-20" dirty="0">
                <a:cs typeface="宋体"/>
              </a:rPr>
              <a:t>一</a:t>
            </a:r>
            <a:r>
              <a:rPr sz="2000" spc="-40" dirty="0">
                <a:cs typeface="宋体"/>
              </a:rPr>
              <a:t>个</a:t>
            </a:r>
            <a:r>
              <a:rPr sz="2000" spc="-20" dirty="0">
                <a:cs typeface="宋体"/>
              </a:rPr>
              <a:t>转成</a:t>
            </a:r>
            <a:r>
              <a:rPr sz="2000" spc="-40" dirty="0">
                <a:cs typeface="宋体"/>
              </a:rPr>
              <a:t>字</a:t>
            </a:r>
            <a:r>
              <a:rPr sz="2000" spc="-20" dirty="0">
                <a:cs typeface="宋体"/>
              </a:rPr>
              <a:t>符串</a:t>
            </a:r>
            <a:endParaRPr sz="2000" dirty="0">
              <a:cs typeface="宋体"/>
            </a:endParaRPr>
          </a:p>
          <a:p>
            <a:pPr marL="659130" indent="-287020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z="2000" spc="-25" dirty="0">
                <a:solidFill>
                  <a:srgbClr val="C00000"/>
                </a:solidFill>
                <a:cs typeface="宋体"/>
              </a:rPr>
              <a:t>除了</a:t>
            </a:r>
            <a:r>
              <a:rPr sz="2000" spc="75" dirty="0">
                <a:solidFill>
                  <a:srgbClr val="C00000"/>
                </a:solidFill>
                <a:cs typeface="宋体"/>
              </a:rPr>
              <a:t>+</a:t>
            </a:r>
            <a:r>
              <a:rPr sz="2000" spc="-25" dirty="0">
                <a:solidFill>
                  <a:srgbClr val="C00000"/>
                </a:solidFill>
                <a:cs typeface="宋体"/>
              </a:rPr>
              <a:t>以外</a:t>
            </a:r>
            <a:r>
              <a:rPr sz="2000" spc="-20" dirty="0">
                <a:cs typeface="宋体"/>
              </a:rPr>
              <a:t>的</a:t>
            </a:r>
            <a:r>
              <a:rPr sz="2000" spc="-30" dirty="0">
                <a:cs typeface="宋体"/>
              </a:rPr>
              <a:t>算</a:t>
            </a:r>
            <a:r>
              <a:rPr sz="2000" spc="-20" dirty="0">
                <a:cs typeface="宋体"/>
              </a:rPr>
              <a:t>术</a:t>
            </a:r>
            <a:r>
              <a:rPr sz="2000" spc="-40" dirty="0">
                <a:cs typeface="宋体"/>
              </a:rPr>
              <a:t>运</a:t>
            </a:r>
            <a:r>
              <a:rPr sz="2000" spc="-20" dirty="0">
                <a:cs typeface="宋体"/>
              </a:rPr>
              <a:t>算符</a:t>
            </a:r>
            <a:r>
              <a:rPr sz="2000" spc="-360" dirty="0">
                <a:cs typeface="宋体"/>
              </a:rPr>
              <a:t> </a:t>
            </a:r>
            <a:r>
              <a:rPr sz="2000" spc="-25" dirty="0">
                <a:cs typeface="宋体"/>
              </a:rPr>
              <a:t>比</a:t>
            </a:r>
            <a:r>
              <a:rPr sz="2000" spc="-20" dirty="0">
                <a:cs typeface="宋体"/>
              </a:rPr>
              <a:t>如</a:t>
            </a:r>
            <a:r>
              <a:rPr sz="2000" spc="-380" dirty="0">
                <a:cs typeface="宋体"/>
              </a:rPr>
              <a:t> </a:t>
            </a:r>
            <a:r>
              <a:rPr sz="2000" spc="-85" dirty="0">
                <a:cs typeface="宋体"/>
              </a:rPr>
              <a:t>-</a:t>
            </a:r>
            <a:r>
              <a:rPr sz="2000" spc="10" dirty="0">
                <a:cs typeface="宋体"/>
              </a:rPr>
              <a:t> </a:t>
            </a:r>
            <a:r>
              <a:rPr sz="2000" spc="-100" dirty="0">
                <a:cs typeface="宋体"/>
              </a:rPr>
              <a:t>*</a:t>
            </a:r>
            <a:r>
              <a:rPr sz="2000" spc="25" dirty="0">
                <a:cs typeface="宋体"/>
              </a:rPr>
              <a:t> </a:t>
            </a:r>
            <a:r>
              <a:rPr sz="2000" dirty="0">
                <a:cs typeface="宋体"/>
              </a:rPr>
              <a:t>/</a:t>
            </a:r>
            <a:r>
              <a:rPr sz="2000" spc="20" dirty="0">
                <a:cs typeface="宋体"/>
              </a:rPr>
              <a:t> </a:t>
            </a:r>
            <a:r>
              <a:rPr sz="2000" spc="-25" dirty="0">
                <a:cs typeface="宋体"/>
              </a:rPr>
              <a:t>等都会把数据转</a:t>
            </a:r>
            <a:r>
              <a:rPr sz="2000" spc="-40" dirty="0">
                <a:cs typeface="宋体"/>
              </a:rPr>
              <a:t>成</a:t>
            </a:r>
            <a:r>
              <a:rPr sz="2000" spc="-20" dirty="0">
                <a:cs typeface="宋体"/>
              </a:rPr>
              <a:t>数</a:t>
            </a:r>
            <a:r>
              <a:rPr sz="2000" spc="-40" dirty="0">
                <a:cs typeface="宋体"/>
              </a:rPr>
              <a:t>字</a:t>
            </a:r>
            <a:r>
              <a:rPr sz="2000" spc="-20" dirty="0">
                <a:cs typeface="宋体"/>
              </a:rPr>
              <a:t>类型</a:t>
            </a:r>
            <a:endParaRPr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000" b="1" spc="-30" dirty="0">
                <a:solidFill>
                  <a:srgbClr val="252525"/>
                </a:solidFill>
                <a:cs typeface="微软雅黑"/>
              </a:rPr>
              <a:t>缺点：</a:t>
            </a:r>
            <a:endParaRPr sz="2000" dirty="0">
              <a:cs typeface="微软雅黑"/>
            </a:endParaRPr>
          </a:p>
          <a:p>
            <a:pPr marL="659130" indent="-287020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z="2000" spc="-25" dirty="0">
                <a:cs typeface="宋体"/>
              </a:rPr>
              <a:t>转换类型不明确，</a:t>
            </a:r>
            <a:r>
              <a:rPr sz="2000" spc="-35" dirty="0">
                <a:cs typeface="宋体"/>
              </a:rPr>
              <a:t>靠</a:t>
            </a:r>
            <a:r>
              <a:rPr sz="2000" spc="-25" dirty="0">
                <a:cs typeface="宋体"/>
              </a:rPr>
              <a:t>经</a:t>
            </a:r>
            <a:r>
              <a:rPr sz="2000" spc="-35" dirty="0">
                <a:cs typeface="宋体"/>
              </a:rPr>
              <a:t>验</a:t>
            </a:r>
            <a:r>
              <a:rPr sz="2000" spc="-25" dirty="0">
                <a:cs typeface="宋体"/>
              </a:rPr>
              <a:t>才能</a:t>
            </a:r>
            <a:r>
              <a:rPr sz="2000" spc="-35" dirty="0">
                <a:cs typeface="宋体"/>
              </a:rPr>
              <a:t>总</a:t>
            </a:r>
            <a:r>
              <a:rPr sz="2000" spc="-20" dirty="0">
                <a:cs typeface="宋体"/>
              </a:rPr>
              <a:t>结</a:t>
            </a:r>
            <a:endParaRPr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2000" b="1" spc="-30" dirty="0">
                <a:solidFill>
                  <a:srgbClr val="252525"/>
                </a:solidFill>
                <a:cs typeface="微软雅黑"/>
              </a:rPr>
              <a:t>小技巧：</a:t>
            </a:r>
            <a:endParaRPr sz="2000" dirty="0">
              <a:cs typeface="微软雅黑"/>
            </a:endParaRPr>
          </a:p>
          <a:p>
            <a:pPr marL="715010" indent="-342900">
              <a:lnSpc>
                <a:spcPct val="100000"/>
              </a:lnSpc>
              <a:spcBef>
                <a:spcPts val="1235"/>
              </a:spcBef>
              <a:buFont typeface="Wingdings" panose="05000000000000000000" pitchFamily="2" charset="2"/>
              <a:buChar char="Ø"/>
              <a:tabLst>
                <a:tab pos="658495" algn="l"/>
              </a:tabLst>
            </a:pPr>
            <a:r>
              <a:rPr sz="2000" dirty="0">
                <a:cs typeface="Times New Roman" panose="02020503050405090304"/>
              </a:rPr>
              <a:t>	</a:t>
            </a:r>
            <a:r>
              <a:rPr sz="2000" spc="80" dirty="0">
                <a:cs typeface="宋体"/>
              </a:rPr>
              <a:t>+</a:t>
            </a:r>
            <a:r>
              <a:rPr sz="2000" spc="-25" dirty="0">
                <a:cs typeface="宋体"/>
              </a:rPr>
              <a:t>号作为正号解析</a:t>
            </a:r>
            <a:r>
              <a:rPr sz="2000" spc="-35" dirty="0">
                <a:cs typeface="宋体"/>
              </a:rPr>
              <a:t>可</a:t>
            </a:r>
            <a:r>
              <a:rPr sz="2000" spc="-25" dirty="0">
                <a:cs typeface="宋体"/>
              </a:rPr>
              <a:t>以</a:t>
            </a:r>
            <a:r>
              <a:rPr sz="2000" spc="-35" dirty="0">
                <a:cs typeface="宋体"/>
              </a:rPr>
              <a:t>转</a:t>
            </a:r>
            <a:r>
              <a:rPr sz="2000" spc="-25" dirty="0">
                <a:cs typeface="宋体"/>
              </a:rPr>
              <a:t>换</a:t>
            </a:r>
            <a:r>
              <a:rPr sz="2000" spc="-20" dirty="0">
                <a:cs typeface="宋体"/>
              </a:rPr>
              <a:t>成</a:t>
            </a:r>
            <a:r>
              <a:rPr sz="2000" spc="200" dirty="0">
                <a:cs typeface="宋体"/>
              </a:rPr>
              <a:t>Number</a:t>
            </a:r>
            <a:endParaRPr sz="2000" dirty="0"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0" y="3382708"/>
            <a:ext cx="3791711" cy="315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685020" y="3851137"/>
            <a:ext cx="2781300" cy="2563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888220" y="685800"/>
            <a:ext cx="230378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类型转换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60920"/>
            <a:ext cx="33528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+mn-lt"/>
                <a:cs typeface="微软雅黑"/>
              </a:rPr>
              <a:t>显式转换</a:t>
            </a:r>
            <a:endParaRPr sz="2800" dirty="0">
              <a:latin typeface="+mn-lt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371600"/>
            <a:ext cx="11353800" cy="4848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solidFill>
                  <a:srgbClr val="252525"/>
                </a:solidFill>
                <a:cs typeface="宋体"/>
              </a:rPr>
              <a:t>编写程序时过度依靠系统内部的隐式转换是不</a:t>
            </a:r>
            <a:r>
              <a:rPr lang="zh-CN" sz="2000" spc="-30" dirty="0">
                <a:solidFill>
                  <a:srgbClr val="252525"/>
                </a:solidFill>
                <a:cs typeface="宋体"/>
              </a:rPr>
              <a:t>严谨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的，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因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为隐式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转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换规律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并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不清晰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，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大多是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靠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经验总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结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的规</a:t>
            </a:r>
            <a:r>
              <a:rPr sz="2000" spc="-15" dirty="0">
                <a:solidFill>
                  <a:srgbClr val="252525"/>
                </a:solidFill>
                <a:cs typeface="宋体"/>
              </a:rPr>
              <a:t>律</a:t>
            </a:r>
            <a:r>
              <a:rPr sz="2000" spc="-30" dirty="0" smtClean="0">
                <a:solidFill>
                  <a:srgbClr val="252525"/>
                </a:solidFill>
                <a:cs typeface="宋体"/>
              </a:rPr>
              <a:t>。为了避免因隐式转换带来的问题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，通常</a:t>
            </a:r>
            <a:r>
              <a:rPr lang="zh-CN" sz="2000" spc="-30" dirty="0">
                <a:solidFill>
                  <a:srgbClr val="252525"/>
                </a:solidFill>
                <a:cs typeface="宋体"/>
              </a:rPr>
              <a:t>根据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逻辑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需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要对数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据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进行显</a:t>
            </a:r>
            <a:r>
              <a:rPr sz="2000" spc="-20" dirty="0">
                <a:solidFill>
                  <a:srgbClr val="252525"/>
                </a:solidFill>
                <a:cs typeface="宋体"/>
              </a:rPr>
              <a:t>示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转</a:t>
            </a:r>
            <a:r>
              <a:rPr sz="2000" spc="-25" dirty="0">
                <a:solidFill>
                  <a:srgbClr val="252525"/>
                </a:solidFill>
                <a:cs typeface="宋体"/>
              </a:rPr>
              <a:t>换</a:t>
            </a:r>
            <a:r>
              <a:rPr sz="2000" spc="-30" dirty="0">
                <a:solidFill>
                  <a:srgbClr val="252525"/>
                </a:solidFill>
                <a:cs typeface="宋体"/>
              </a:rPr>
              <a:t>。</a:t>
            </a:r>
            <a:endParaRPr sz="2000" dirty="0"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000" b="1" spc="-30" dirty="0" err="1" smtClean="0">
                <a:solidFill>
                  <a:srgbClr val="252525"/>
                </a:solidFill>
                <a:cs typeface="微软雅黑"/>
              </a:rPr>
              <a:t>转换为数字型</a:t>
            </a:r>
            <a:endParaRPr sz="2000" dirty="0"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000" spc="160" dirty="0">
                <a:solidFill>
                  <a:srgbClr val="C00000"/>
                </a:solidFill>
                <a:cs typeface="宋体"/>
              </a:rPr>
              <a:t>Number(</a:t>
            </a:r>
            <a:r>
              <a:rPr sz="2000" spc="-30" dirty="0">
                <a:solidFill>
                  <a:srgbClr val="C00000"/>
                </a:solidFill>
                <a:cs typeface="宋体"/>
              </a:rPr>
              <a:t>数据</a:t>
            </a:r>
            <a:r>
              <a:rPr sz="2000" spc="-229" dirty="0">
                <a:solidFill>
                  <a:srgbClr val="C00000"/>
                </a:solidFill>
                <a:cs typeface="宋体"/>
              </a:rPr>
              <a:t>)</a:t>
            </a:r>
            <a:endParaRPr sz="2000" dirty="0">
              <a:cs typeface="宋体"/>
            </a:endParaRPr>
          </a:p>
          <a:p>
            <a:pPr marL="659130" lvl="1" indent="-287020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"/>
              <a:tabLst>
                <a:tab pos="658495" algn="l"/>
                <a:tab pos="659130" algn="l"/>
              </a:tabLst>
            </a:pPr>
            <a:r>
              <a:rPr sz="2000" spc="-25" dirty="0">
                <a:cs typeface="宋体"/>
              </a:rPr>
              <a:t>转成数字类型</a:t>
            </a:r>
            <a:endParaRPr sz="2000" dirty="0">
              <a:cs typeface="宋体"/>
            </a:endParaRPr>
          </a:p>
          <a:p>
            <a:pPr marL="659130" lvl="1" indent="-287020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"/>
              <a:tabLst>
                <a:tab pos="658495" algn="l"/>
                <a:tab pos="659130" algn="l"/>
              </a:tabLst>
            </a:pPr>
            <a:r>
              <a:rPr sz="2000" spc="-25" dirty="0">
                <a:cs typeface="宋体"/>
              </a:rPr>
              <a:t>如果字符串内容里</a:t>
            </a:r>
            <a:r>
              <a:rPr sz="2000" spc="-35" dirty="0">
                <a:cs typeface="宋体"/>
              </a:rPr>
              <a:t>有</a:t>
            </a:r>
            <a:r>
              <a:rPr sz="2000" spc="-25" dirty="0">
                <a:cs typeface="宋体"/>
              </a:rPr>
              <a:t>非</a:t>
            </a:r>
            <a:r>
              <a:rPr sz="2000" spc="-35" dirty="0">
                <a:cs typeface="宋体"/>
              </a:rPr>
              <a:t>数</a:t>
            </a:r>
            <a:r>
              <a:rPr sz="2000" spc="-20" dirty="0">
                <a:cs typeface="宋体"/>
              </a:rPr>
              <a:t>字，</a:t>
            </a:r>
            <a:r>
              <a:rPr sz="2000" spc="-40" dirty="0">
                <a:cs typeface="宋体"/>
              </a:rPr>
              <a:t>转</a:t>
            </a:r>
            <a:r>
              <a:rPr sz="2000" spc="-25" dirty="0">
                <a:cs typeface="宋体"/>
              </a:rPr>
              <a:t>换</a:t>
            </a:r>
            <a:r>
              <a:rPr sz="2000" spc="-35" dirty="0">
                <a:cs typeface="宋体"/>
              </a:rPr>
              <a:t>失</a:t>
            </a:r>
            <a:r>
              <a:rPr sz="2000" spc="-20" dirty="0">
                <a:cs typeface="宋体"/>
              </a:rPr>
              <a:t>败时</a:t>
            </a:r>
            <a:r>
              <a:rPr sz="2000" spc="-40" dirty="0">
                <a:cs typeface="宋体"/>
              </a:rPr>
              <a:t>结</a:t>
            </a:r>
            <a:r>
              <a:rPr sz="2000" spc="-20" dirty="0">
                <a:cs typeface="宋体"/>
              </a:rPr>
              <a:t>果为</a:t>
            </a:r>
            <a:r>
              <a:rPr sz="2000" spc="-400" dirty="0">
                <a:cs typeface="宋体"/>
              </a:rPr>
              <a:t> </a:t>
            </a:r>
            <a:r>
              <a:rPr sz="2000" spc="150" dirty="0">
                <a:cs typeface="宋体"/>
              </a:rPr>
              <a:t>NaN（Not</a:t>
            </a:r>
            <a:r>
              <a:rPr sz="2000" spc="-325" dirty="0">
                <a:cs typeface="宋体"/>
              </a:rPr>
              <a:t> </a:t>
            </a:r>
            <a:r>
              <a:rPr sz="2000" spc="155" dirty="0">
                <a:cs typeface="宋体"/>
              </a:rPr>
              <a:t>a</a:t>
            </a:r>
            <a:r>
              <a:rPr sz="2000" spc="-340" dirty="0">
                <a:cs typeface="宋体"/>
              </a:rPr>
              <a:t> </a:t>
            </a:r>
            <a:r>
              <a:rPr sz="2000" spc="170" dirty="0">
                <a:cs typeface="宋体"/>
              </a:rPr>
              <a:t>Number）</a:t>
            </a:r>
            <a:r>
              <a:rPr sz="2000" spc="-20" dirty="0">
                <a:cs typeface="宋体"/>
              </a:rPr>
              <a:t>即</a:t>
            </a:r>
            <a:r>
              <a:rPr sz="2000" spc="-25" dirty="0">
                <a:cs typeface="宋体"/>
              </a:rPr>
              <a:t>不</a:t>
            </a:r>
            <a:r>
              <a:rPr sz="2000" spc="-20" dirty="0">
                <a:cs typeface="宋体"/>
              </a:rPr>
              <a:t>是一</a:t>
            </a:r>
            <a:r>
              <a:rPr sz="2000" spc="-25" dirty="0">
                <a:cs typeface="宋体"/>
              </a:rPr>
              <a:t>个</a:t>
            </a:r>
            <a:r>
              <a:rPr sz="2000" spc="-35" dirty="0">
                <a:cs typeface="宋体"/>
              </a:rPr>
              <a:t>数</a:t>
            </a:r>
            <a:r>
              <a:rPr sz="2000" spc="-20" dirty="0">
                <a:cs typeface="宋体"/>
              </a:rPr>
              <a:t>字</a:t>
            </a:r>
            <a:endParaRPr sz="2000" dirty="0">
              <a:cs typeface="宋体"/>
            </a:endParaRPr>
          </a:p>
          <a:p>
            <a:pPr marL="659130" lvl="1" indent="-287020">
              <a:lnSpc>
                <a:spcPct val="100000"/>
              </a:lnSpc>
              <a:spcBef>
                <a:spcPts val="1175"/>
              </a:spcBef>
              <a:buFont typeface="Wingdings" panose="05000000000000000000"/>
              <a:buChar char=""/>
              <a:tabLst>
                <a:tab pos="658495" algn="l"/>
                <a:tab pos="659130" algn="l"/>
              </a:tabLst>
            </a:pPr>
            <a:r>
              <a:rPr sz="2000" spc="270" dirty="0">
                <a:cs typeface="宋体"/>
              </a:rPr>
              <a:t>NaN</a:t>
            </a:r>
            <a:r>
              <a:rPr sz="2000" spc="-25" dirty="0">
                <a:cs typeface="宋体"/>
              </a:rPr>
              <a:t>也是</a:t>
            </a:r>
            <a:r>
              <a:rPr sz="2000" spc="175" dirty="0">
                <a:cs typeface="宋体"/>
              </a:rPr>
              <a:t>number</a:t>
            </a:r>
            <a:r>
              <a:rPr sz="2000" spc="-20" dirty="0">
                <a:cs typeface="宋体"/>
              </a:rPr>
              <a:t>类型</a:t>
            </a:r>
            <a:r>
              <a:rPr sz="2000" spc="-25" dirty="0">
                <a:cs typeface="宋体"/>
              </a:rPr>
              <a:t>的</a:t>
            </a:r>
            <a:r>
              <a:rPr sz="2000" spc="-20" dirty="0">
                <a:cs typeface="宋体"/>
              </a:rPr>
              <a:t>数</a:t>
            </a:r>
            <a:r>
              <a:rPr sz="2000" spc="-40" dirty="0">
                <a:cs typeface="宋体"/>
              </a:rPr>
              <a:t>据</a:t>
            </a:r>
            <a:r>
              <a:rPr sz="2000" spc="-20" dirty="0">
                <a:cs typeface="宋体"/>
              </a:rPr>
              <a:t>，代</a:t>
            </a:r>
            <a:r>
              <a:rPr sz="2000" spc="-40" dirty="0">
                <a:cs typeface="宋体"/>
              </a:rPr>
              <a:t>表</a:t>
            </a:r>
            <a:r>
              <a:rPr sz="2000" spc="-20" dirty="0">
                <a:cs typeface="宋体"/>
              </a:rPr>
              <a:t>非</a:t>
            </a:r>
            <a:r>
              <a:rPr sz="2000" spc="-40" dirty="0">
                <a:cs typeface="宋体"/>
              </a:rPr>
              <a:t>数</a:t>
            </a:r>
            <a:r>
              <a:rPr sz="2000" spc="-20" dirty="0">
                <a:cs typeface="宋体"/>
              </a:rPr>
              <a:t>字</a:t>
            </a:r>
            <a:endParaRPr sz="2000" dirty="0"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290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000" spc="-45" dirty="0">
                <a:solidFill>
                  <a:srgbClr val="C00000"/>
                </a:solidFill>
                <a:cs typeface="宋体"/>
              </a:rPr>
              <a:t>parseInt(</a:t>
            </a:r>
            <a:r>
              <a:rPr sz="2000" spc="-30" dirty="0">
                <a:solidFill>
                  <a:srgbClr val="C00000"/>
                </a:solidFill>
                <a:cs typeface="宋体"/>
              </a:rPr>
              <a:t>数据</a:t>
            </a:r>
            <a:r>
              <a:rPr sz="2000" spc="-229" dirty="0">
                <a:solidFill>
                  <a:srgbClr val="C00000"/>
                </a:solidFill>
                <a:cs typeface="宋体"/>
              </a:rPr>
              <a:t>)</a:t>
            </a:r>
            <a:endParaRPr sz="2000" dirty="0">
              <a:cs typeface="宋体"/>
            </a:endParaRPr>
          </a:p>
          <a:p>
            <a:pPr marL="659130" indent="-287020">
              <a:lnSpc>
                <a:spcPct val="100000"/>
              </a:lnSpc>
              <a:spcBef>
                <a:spcPts val="1230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z="2000" spc="-25" dirty="0">
                <a:solidFill>
                  <a:srgbClr val="C00000"/>
                </a:solidFill>
                <a:cs typeface="宋体"/>
              </a:rPr>
              <a:t>只保留整数</a:t>
            </a:r>
            <a:endParaRPr sz="2000" dirty="0"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290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000" spc="-20" dirty="0">
                <a:solidFill>
                  <a:srgbClr val="C00000"/>
                </a:solidFill>
                <a:cs typeface="宋体"/>
              </a:rPr>
              <a:t>parseFloat(</a:t>
            </a:r>
            <a:r>
              <a:rPr sz="2000" spc="-30" dirty="0">
                <a:solidFill>
                  <a:srgbClr val="C00000"/>
                </a:solidFill>
                <a:cs typeface="宋体"/>
              </a:rPr>
              <a:t>数据</a:t>
            </a:r>
            <a:r>
              <a:rPr sz="2000" spc="-229" dirty="0">
                <a:solidFill>
                  <a:srgbClr val="C00000"/>
                </a:solidFill>
                <a:cs typeface="宋体"/>
              </a:rPr>
              <a:t>)</a:t>
            </a:r>
            <a:endParaRPr sz="2000" dirty="0">
              <a:cs typeface="宋体"/>
            </a:endParaRPr>
          </a:p>
          <a:p>
            <a:pPr marL="659130" lvl="1" indent="-287020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"/>
              <a:tabLst>
                <a:tab pos="658495" algn="l"/>
                <a:tab pos="659130" algn="l"/>
              </a:tabLst>
            </a:pPr>
            <a:r>
              <a:rPr sz="2000" spc="-25" dirty="0">
                <a:solidFill>
                  <a:srgbClr val="C00000"/>
                </a:solidFill>
                <a:cs typeface="宋体"/>
              </a:rPr>
              <a:t>可以保留小数</a:t>
            </a:r>
            <a:endParaRPr sz="2000" dirty="0">
              <a:cs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257800" y="4856529"/>
            <a:ext cx="6096000" cy="141064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lang="zh-CN" altLang="en-US" sz="2400" b="1" spc="-30" dirty="0">
                <a:solidFill>
                  <a:srgbClr val="252525"/>
                </a:solidFill>
                <a:cs typeface="微软雅黑"/>
              </a:rPr>
              <a:t>转换为字符型</a:t>
            </a:r>
            <a:r>
              <a:rPr lang="en-US" altLang="zh-CN" sz="2400" b="1" spc="185" dirty="0">
                <a:solidFill>
                  <a:srgbClr val="252525"/>
                </a:solidFill>
                <a:cs typeface="微软雅黑"/>
              </a:rPr>
              <a:t>:</a:t>
            </a:r>
            <a:endParaRPr lang="zh-CN" altLang="en-US" sz="2400" b="1" dirty="0">
              <a:cs typeface="微软雅黑"/>
            </a:endParaRPr>
          </a:p>
          <a:p>
            <a:pPr marL="299085" indent="-286385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lang="en-US" altLang="zh-CN" sz="2000" spc="-80" dirty="0">
                <a:solidFill>
                  <a:srgbClr val="C00000"/>
                </a:solidFill>
                <a:cs typeface="宋体"/>
              </a:rPr>
              <a:t>String(</a:t>
            </a:r>
            <a:r>
              <a:rPr lang="zh-CN" altLang="en-US" sz="2000" spc="-30" dirty="0">
                <a:solidFill>
                  <a:srgbClr val="C00000"/>
                </a:solidFill>
                <a:cs typeface="宋体"/>
              </a:rPr>
              <a:t>数据</a:t>
            </a:r>
            <a:r>
              <a:rPr lang="en-US" altLang="zh-CN" sz="2000" spc="-229" dirty="0">
                <a:solidFill>
                  <a:srgbClr val="C00000"/>
                </a:solidFill>
                <a:cs typeface="宋体"/>
              </a:rPr>
              <a:t>)</a:t>
            </a:r>
            <a:endParaRPr lang="zh-CN" altLang="en-US" sz="2000" dirty="0"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lang="zh-CN" altLang="en-US" sz="2000" spc="-30" dirty="0">
                <a:solidFill>
                  <a:srgbClr val="C00000"/>
                </a:solidFill>
                <a:cs typeface="宋体"/>
              </a:rPr>
              <a:t>变量</a:t>
            </a:r>
            <a:r>
              <a:rPr lang="en-US" altLang="zh-CN" sz="2000" spc="-100" dirty="0">
                <a:solidFill>
                  <a:srgbClr val="C00000"/>
                </a:solidFill>
                <a:cs typeface="宋体"/>
              </a:rPr>
              <a:t>.</a:t>
            </a:r>
            <a:r>
              <a:rPr lang="en-US" altLang="zh-CN" sz="2000" spc="-100" dirty="0" err="1">
                <a:solidFill>
                  <a:srgbClr val="C00000"/>
                </a:solidFill>
                <a:cs typeface="宋体"/>
              </a:rPr>
              <a:t>toString</a:t>
            </a:r>
            <a:r>
              <a:rPr lang="en-US" altLang="zh-CN" sz="2000" spc="-100" dirty="0">
                <a:solidFill>
                  <a:srgbClr val="C00000"/>
                </a:solidFill>
                <a:cs typeface="宋体"/>
              </a:rPr>
              <a:t>(</a:t>
            </a:r>
            <a:r>
              <a:rPr lang="zh-CN" altLang="en-US" sz="2000" spc="-30" dirty="0">
                <a:solidFill>
                  <a:srgbClr val="C00000"/>
                </a:solidFill>
                <a:cs typeface="宋体"/>
              </a:rPr>
              <a:t>进制</a:t>
            </a:r>
            <a:r>
              <a:rPr lang="en-US" altLang="zh-CN" sz="2000" spc="-229" dirty="0">
                <a:solidFill>
                  <a:srgbClr val="C00000"/>
                </a:solidFill>
                <a:cs typeface="宋体"/>
              </a:rPr>
              <a:t>)</a:t>
            </a:r>
            <a:endParaRPr lang="zh-CN" altLang="en-US" sz="2000" dirty="0">
              <a:cs typeface="宋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93300" y="685800"/>
            <a:ext cx="22987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类型转换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25565"/>
            <a:ext cx="266446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585858"/>
                </a:solidFill>
                <a:latin typeface="微软雅黑"/>
                <a:cs typeface="微软雅黑"/>
              </a:rPr>
              <a:t>类型转换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21336"/>
            <a:ext cx="510286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404040"/>
                </a:solidFill>
                <a:latin typeface="微软雅黑"/>
                <a:cs typeface="微软雅黑"/>
              </a:rPr>
              <a:t>输入</a:t>
            </a:r>
            <a:r>
              <a:rPr sz="2000" b="1" spc="-5" dirty="0">
                <a:solidFill>
                  <a:srgbClr val="404040"/>
                </a:solidFill>
                <a:latin typeface="微软雅黑"/>
                <a:cs typeface="微软雅黑"/>
              </a:rPr>
              <a:t>2</a:t>
            </a: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个数，计算两者的</a:t>
            </a:r>
            <a:r>
              <a:rPr sz="2000" b="1" spc="-15" dirty="0">
                <a:solidFill>
                  <a:srgbClr val="404040"/>
                </a:solidFill>
                <a:latin typeface="微软雅黑"/>
                <a:cs typeface="微软雅黑"/>
              </a:rPr>
              <a:t>和</a:t>
            </a: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，打</a:t>
            </a:r>
            <a:r>
              <a:rPr sz="2000" b="1" spc="-15" dirty="0">
                <a:solidFill>
                  <a:srgbClr val="404040"/>
                </a:solidFill>
                <a:latin typeface="微软雅黑"/>
                <a:cs typeface="微软雅黑"/>
              </a:rPr>
              <a:t>印</a:t>
            </a: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到页</a:t>
            </a:r>
            <a:r>
              <a:rPr sz="2000" b="1" spc="-15" dirty="0">
                <a:solidFill>
                  <a:srgbClr val="404040"/>
                </a:solidFill>
                <a:latin typeface="微软雅黑"/>
                <a:cs typeface="微软雅黑"/>
              </a:rPr>
              <a:t>面</a:t>
            </a: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中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16939" y="2175570"/>
            <a:ext cx="7501129" cy="353943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80CBC4"/>
                </a:solidFill>
              </a:rPr>
              <a:t>&lt;</a:t>
            </a:r>
            <a:r>
              <a:rPr lang="en-US" altLang="zh-CN" sz="2800" dirty="0">
                <a:solidFill>
                  <a:srgbClr val="FF5370"/>
                </a:solidFill>
              </a:rPr>
              <a:t>body</a:t>
            </a:r>
            <a:r>
              <a:rPr lang="en-US" altLang="zh-CN" sz="2800" dirty="0">
                <a:solidFill>
                  <a:srgbClr val="80CBC4"/>
                </a:solidFill>
              </a:rPr>
              <a:t>&gt;</a:t>
            </a:r>
            <a:endParaRPr lang="en-US" altLang="zh-CN" sz="2800" dirty="0">
              <a:solidFill>
                <a:srgbClr val="CBCCC6"/>
              </a:solidFill>
            </a:endParaRPr>
          </a:p>
          <a:p>
            <a:r>
              <a:rPr lang="en-US" altLang="zh-CN" sz="2800" dirty="0">
                <a:solidFill>
                  <a:srgbClr val="CDD3DE"/>
                </a:solidFill>
              </a:rPr>
              <a:t>    </a:t>
            </a:r>
            <a:r>
              <a:rPr lang="en-US" altLang="zh-CN" sz="2800" dirty="0">
                <a:solidFill>
                  <a:srgbClr val="80CBC4"/>
                </a:solidFill>
              </a:rPr>
              <a:t>&lt;</a:t>
            </a:r>
            <a:r>
              <a:rPr lang="en-US" altLang="zh-CN" sz="2800" dirty="0">
                <a:solidFill>
                  <a:srgbClr val="FF5370"/>
                </a:solidFill>
              </a:rPr>
              <a:t>script</a:t>
            </a:r>
            <a:r>
              <a:rPr lang="en-US" altLang="zh-CN" sz="2800" dirty="0">
                <a:solidFill>
                  <a:srgbClr val="80CBC4"/>
                </a:solidFill>
              </a:rPr>
              <a:t>&gt;</a:t>
            </a:r>
            <a:endParaRPr lang="en-US" altLang="zh-CN" sz="2800" dirty="0">
              <a:solidFill>
                <a:srgbClr val="CBCCC6"/>
              </a:solidFill>
            </a:endParaRPr>
          </a:p>
          <a:p>
            <a:r>
              <a:rPr lang="en-US" altLang="zh-CN" sz="2800" dirty="0">
                <a:solidFill>
                  <a:srgbClr val="80CBC4"/>
                </a:solidFill>
              </a:rPr>
              <a:t>      </a:t>
            </a:r>
            <a:r>
              <a:rPr lang="en-US" altLang="zh-CN" sz="2800" dirty="0">
                <a:solidFill>
                  <a:srgbClr val="C792EA"/>
                </a:solidFill>
              </a:rPr>
              <a:t>let</a:t>
            </a:r>
            <a:r>
              <a:rPr lang="en-US" altLang="zh-CN" sz="2800" dirty="0">
                <a:solidFill>
                  <a:srgbClr val="80CBC4"/>
                </a:solidFill>
              </a:rPr>
              <a:t> </a:t>
            </a:r>
            <a:r>
              <a:rPr lang="en-US" altLang="zh-CN" sz="2800" dirty="0">
                <a:solidFill>
                  <a:srgbClr val="FF5370"/>
                </a:solidFill>
              </a:rPr>
              <a:t>a1</a:t>
            </a:r>
            <a:r>
              <a:rPr lang="en-US" altLang="zh-CN" sz="2800" dirty="0">
                <a:solidFill>
                  <a:srgbClr val="1290BF"/>
                </a:solidFill>
              </a:rPr>
              <a:t> </a:t>
            </a:r>
            <a:r>
              <a:rPr lang="en-US" altLang="zh-CN" sz="2800" dirty="0">
                <a:solidFill>
                  <a:srgbClr val="80CBC4"/>
                </a:solidFill>
              </a:rPr>
              <a:t>= </a:t>
            </a:r>
            <a:r>
              <a:rPr lang="en-US" altLang="zh-CN" sz="2800" dirty="0">
                <a:solidFill>
                  <a:srgbClr val="89DDFF"/>
                </a:solidFill>
              </a:rPr>
              <a:t>prompt</a:t>
            </a:r>
            <a:r>
              <a:rPr lang="en-US" altLang="zh-CN" sz="2800" dirty="0">
                <a:solidFill>
                  <a:srgbClr val="80CBC4"/>
                </a:solidFill>
              </a:rPr>
              <a:t>(</a:t>
            </a:r>
            <a:r>
              <a:rPr lang="en-US" altLang="zh-CN" sz="2800" dirty="0">
                <a:solidFill>
                  <a:srgbClr val="D9F5DD"/>
                </a:solidFill>
              </a:rPr>
              <a:t>'</a:t>
            </a:r>
            <a:r>
              <a:rPr lang="zh-CN" altLang="en-US" sz="2800" dirty="0">
                <a:solidFill>
                  <a:srgbClr val="C3E88D"/>
                </a:solidFill>
              </a:rPr>
              <a:t>第一个数：</a:t>
            </a:r>
            <a:r>
              <a:rPr lang="en-US" altLang="zh-CN" sz="2800" dirty="0">
                <a:solidFill>
                  <a:srgbClr val="D9F5DD"/>
                </a:solidFill>
              </a:rPr>
              <a:t>'</a:t>
            </a:r>
            <a:r>
              <a:rPr lang="en-US" altLang="zh-CN" sz="2800" dirty="0">
                <a:solidFill>
                  <a:srgbClr val="80CBC4"/>
                </a:solidFill>
              </a:rPr>
              <a:t>)</a:t>
            </a:r>
            <a:endParaRPr lang="zh-CN" altLang="en-US" sz="2800" dirty="0">
              <a:solidFill>
                <a:srgbClr val="CBCCC6"/>
              </a:solidFill>
            </a:endParaRPr>
          </a:p>
          <a:p>
            <a:r>
              <a:rPr lang="zh-CN" altLang="en-US" sz="2800" dirty="0">
                <a:solidFill>
                  <a:srgbClr val="80CBC4"/>
                </a:solidFill>
              </a:rPr>
              <a:t>      </a:t>
            </a:r>
            <a:r>
              <a:rPr lang="en-US" altLang="zh-CN" sz="2800" dirty="0">
                <a:solidFill>
                  <a:srgbClr val="C792EA"/>
                </a:solidFill>
              </a:rPr>
              <a:t>let</a:t>
            </a:r>
            <a:r>
              <a:rPr lang="en-US" altLang="zh-CN" sz="2800" dirty="0">
                <a:solidFill>
                  <a:srgbClr val="80CBC4"/>
                </a:solidFill>
              </a:rPr>
              <a:t> </a:t>
            </a:r>
            <a:r>
              <a:rPr lang="en-US" altLang="zh-CN" sz="2800" dirty="0">
                <a:solidFill>
                  <a:srgbClr val="FF5370"/>
                </a:solidFill>
              </a:rPr>
              <a:t>a2</a:t>
            </a:r>
            <a:r>
              <a:rPr lang="en-US" altLang="zh-CN" sz="2800" dirty="0">
                <a:solidFill>
                  <a:srgbClr val="1290BF"/>
                </a:solidFill>
              </a:rPr>
              <a:t> </a:t>
            </a:r>
            <a:r>
              <a:rPr lang="en-US" altLang="zh-CN" sz="2800" dirty="0">
                <a:solidFill>
                  <a:srgbClr val="80CBC4"/>
                </a:solidFill>
              </a:rPr>
              <a:t>= </a:t>
            </a:r>
            <a:r>
              <a:rPr lang="en-US" altLang="zh-CN" sz="2800" dirty="0">
                <a:solidFill>
                  <a:srgbClr val="89DDFF"/>
                </a:solidFill>
              </a:rPr>
              <a:t>prompt</a:t>
            </a:r>
            <a:r>
              <a:rPr lang="en-US" altLang="zh-CN" sz="2800" dirty="0">
                <a:solidFill>
                  <a:srgbClr val="80CBC4"/>
                </a:solidFill>
              </a:rPr>
              <a:t>(</a:t>
            </a:r>
            <a:r>
              <a:rPr lang="en-US" altLang="zh-CN" sz="2800" dirty="0">
                <a:solidFill>
                  <a:srgbClr val="D9F5DD"/>
                </a:solidFill>
              </a:rPr>
              <a:t>'</a:t>
            </a:r>
            <a:r>
              <a:rPr lang="zh-CN" altLang="en-US" sz="2800" dirty="0">
                <a:solidFill>
                  <a:srgbClr val="C3E88D"/>
                </a:solidFill>
              </a:rPr>
              <a:t>第二个数：</a:t>
            </a:r>
            <a:r>
              <a:rPr lang="en-US" altLang="zh-CN" sz="2800" dirty="0">
                <a:solidFill>
                  <a:srgbClr val="D9F5DD"/>
                </a:solidFill>
              </a:rPr>
              <a:t>'</a:t>
            </a:r>
            <a:r>
              <a:rPr lang="en-US" altLang="zh-CN" sz="2800" dirty="0">
                <a:solidFill>
                  <a:srgbClr val="80CBC4"/>
                </a:solidFill>
              </a:rPr>
              <a:t>)</a:t>
            </a:r>
            <a:endParaRPr lang="zh-CN" altLang="en-US" sz="2800" dirty="0">
              <a:solidFill>
                <a:srgbClr val="CBCCC6"/>
              </a:solidFill>
            </a:endParaRPr>
          </a:p>
          <a:p>
            <a:r>
              <a:rPr lang="zh-CN" altLang="en-US" sz="2800" dirty="0">
                <a:solidFill>
                  <a:srgbClr val="80CBC4"/>
                </a:solidFill>
              </a:rPr>
              <a:t>      </a:t>
            </a:r>
            <a:r>
              <a:rPr lang="en-US" altLang="zh-CN" sz="2800" dirty="0">
                <a:solidFill>
                  <a:srgbClr val="C792EA"/>
                </a:solidFill>
              </a:rPr>
              <a:t>let</a:t>
            </a:r>
            <a:r>
              <a:rPr lang="en-US" altLang="zh-CN" sz="2800" dirty="0">
                <a:solidFill>
                  <a:srgbClr val="80CBC4"/>
                </a:solidFill>
              </a:rPr>
              <a:t> </a:t>
            </a:r>
            <a:r>
              <a:rPr lang="en-US" altLang="zh-CN" sz="2800" dirty="0">
                <a:solidFill>
                  <a:srgbClr val="FF5370"/>
                </a:solidFill>
              </a:rPr>
              <a:t>sum</a:t>
            </a:r>
            <a:r>
              <a:rPr lang="en-US" altLang="zh-CN" sz="2800" dirty="0">
                <a:solidFill>
                  <a:srgbClr val="1290BF"/>
                </a:solidFill>
              </a:rPr>
              <a:t> </a:t>
            </a:r>
            <a:r>
              <a:rPr lang="en-US" altLang="zh-CN" sz="2800" dirty="0">
                <a:solidFill>
                  <a:srgbClr val="80CBC4"/>
                </a:solidFill>
              </a:rPr>
              <a:t>= </a:t>
            </a:r>
            <a:r>
              <a:rPr lang="en-US" altLang="zh-CN" sz="2800" dirty="0">
                <a:solidFill>
                  <a:srgbClr val="89DDFF"/>
                </a:solidFill>
              </a:rPr>
              <a:t>Number</a:t>
            </a:r>
            <a:r>
              <a:rPr lang="en-US" altLang="zh-CN" sz="2800" dirty="0">
                <a:solidFill>
                  <a:srgbClr val="80CBC4"/>
                </a:solidFill>
              </a:rPr>
              <a:t>(</a:t>
            </a:r>
            <a:r>
              <a:rPr lang="en-US" altLang="zh-CN" sz="2800" dirty="0">
                <a:solidFill>
                  <a:srgbClr val="FF5370"/>
                </a:solidFill>
              </a:rPr>
              <a:t>a1</a:t>
            </a:r>
            <a:r>
              <a:rPr lang="en-US" altLang="zh-CN" sz="2800" dirty="0">
                <a:solidFill>
                  <a:srgbClr val="80CBC4"/>
                </a:solidFill>
              </a:rPr>
              <a:t>) + </a:t>
            </a:r>
            <a:r>
              <a:rPr lang="en-US" altLang="zh-CN" sz="2800" dirty="0">
                <a:solidFill>
                  <a:srgbClr val="89DDFF"/>
                </a:solidFill>
              </a:rPr>
              <a:t>Number</a:t>
            </a:r>
            <a:r>
              <a:rPr lang="en-US" altLang="zh-CN" sz="2800" dirty="0">
                <a:solidFill>
                  <a:srgbClr val="80CBC4"/>
                </a:solidFill>
              </a:rPr>
              <a:t>(</a:t>
            </a:r>
            <a:r>
              <a:rPr lang="en-US" altLang="zh-CN" sz="2800" dirty="0">
                <a:solidFill>
                  <a:srgbClr val="FF5370"/>
                </a:solidFill>
              </a:rPr>
              <a:t>a2</a:t>
            </a:r>
            <a:r>
              <a:rPr lang="en-US" altLang="zh-CN" sz="2800" dirty="0">
                <a:solidFill>
                  <a:srgbClr val="80CBC4"/>
                </a:solidFill>
              </a:rPr>
              <a:t>)</a:t>
            </a:r>
            <a:endParaRPr lang="en-US" altLang="zh-CN" sz="2800" dirty="0">
              <a:solidFill>
                <a:srgbClr val="CBCCC6"/>
              </a:solidFill>
            </a:endParaRPr>
          </a:p>
          <a:p>
            <a:r>
              <a:rPr lang="en-US" altLang="zh-CN" sz="2800" dirty="0">
                <a:solidFill>
                  <a:srgbClr val="80CBC4"/>
                </a:solidFill>
              </a:rPr>
              <a:t>      </a:t>
            </a:r>
            <a:r>
              <a:rPr lang="en-US" altLang="zh-CN" sz="2800" dirty="0" err="1">
                <a:solidFill>
                  <a:srgbClr val="FF5370"/>
                </a:solidFill>
              </a:rPr>
              <a:t>document</a:t>
            </a:r>
            <a:r>
              <a:rPr lang="en-US" altLang="zh-CN" sz="2800" dirty="0" err="1">
                <a:solidFill>
                  <a:srgbClr val="89DDFF"/>
                </a:solidFill>
              </a:rPr>
              <a:t>.write</a:t>
            </a:r>
            <a:r>
              <a:rPr lang="en-US" altLang="zh-CN" sz="2800" dirty="0">
                <a:solidFill>
                  <a:srgbClr val="80CBC4"/>
                </a:solidFill>
              </a:rPr>
              <a:t>(</a:t>
            </a:r>
            <a:r>
              <a:rPr lang="en-US" altLang="zh-CN" sz="2800" dirty="0">
                <a:solidFill>
                  <a:srgbClr val="FF5370"/>
                </a:solidFill>
              </a:rPr>
              <a:t>a1</a:t>
            </a:r>
            <a:r>
              <a:rPr lang="en-US" altLang="zh-CN" sz="2800" dirty="0">
                <a:solidFill>
                  <a:srgbClr val="80CBC4"/>
                </a:solidFill>
              </a:rPr>
              <a:t> + </a:t>
            </a:r>
            <a:r>
              <a:rPr lang="en-US" altLang="zh-CN" sz="2800" dirty="0">
                <a:solidFill>
                  <a:srgbClr val="D9F5DD"/>
                </a:solidFill>
              </a:rPr>
              <a:t>'</a:t>
            </a:r>
            <a:r>
              <a:rPr lang="en-US" altLang="zh-CN" sz="2800" dirty="0">
                <a:solidFill>
                  <a:srgbClr val="C3E88D"/>
                </a:solidFill>
              </a:rPr>
              <a:t>+</a:t>
            </a:r>
            <a:r>
              <a:rPr lang="en-US" altLang="zh-CN" sz="2800" dirty="0">
                <a:solidFill>
                  <a:srgbClr val="D9F5DD"/>
                </a:solidFill>
              </a:rPr>
              <a:t>'</a:t>
            </a:r>
            <a:r>
              <a:rPr lang="en-US" altLang="zh-CN" sz="2800" dirty="0">
                <a:solidFill>
                  <a:srgbClr val="80CBC4"/>
                </a:solidFill>
              </a:rPr>
              <a:t> + </a:t>
            </a:r>
            <a:r>
              <a:rPr lang="en-US" altLang="zh-CN" sz="2800" dirty="0">
                <a:solidFill>
                  <a:srgbClr val="FF5370"/>
                </a:solidFill>
              </a:rPr>
              <a:t>a2</a:t>
            </a:r>
            <a:r>
              <a:rPr lang="en-US" altLang="zh-CN" sz="2800" dirty="0">
                <a:solidFill>
                  <a:srgbClr val="80CBC4"/>
                </a:solidFill>
              </a:rPr>
              <a:t> + </a:t>
            </a:r>
            <a:r>
              <a:rPr lang="en-US" altLang="zh-CN" sz="2800" dirty="0">
                <a:solidFill>
                  <a:srgbClr val="D9F5DD"/>
                </a:solidFill>
              </a:rPr>
              <a:t>'</a:t>
            </a:r>
            <a:r>
              <a:rPr lang="en-US" altLang="zh-CN" sz="2800" dirty="0">
                <a:solidFill>
                  <a:srgbClr val="C3E88D"/>
                </a:solidFill>
              </a:rPr>
              <a:t>=</a:t>
            </a:r>
            <a:r>
              <a:rPr lang="en-US" altLang="zh-CN" sz="2800" dirty="0">
                <a:solidFill>
                  <a:srgbClr val="D9F5DD"/>
                </a:solidFill>
              </a:rPr>
              <a:t>'</a:t>
            </a:r>
            <a:r>
              <a:rPr lang="en-US" altLang="zh-CN" sz="2800" dirty="0">
                <a:solidFill>
                  <a:srgbClr val="80CBC4"/>
                </a:solidFill>
              </a:rPr>
              <a:t> + </a:t>
            </a:r>
            <a:r>
              <a:rPr lang="en-US" altLang="zh-CN" sz="2800" dirty="0">
                <a:solidFill>
                  <a:srgbClr val="FF5370"/>
                </a:solidFill>
              </a:rPr>
              <a:t>sum</a:t>
            </a:r>
            <a:r>
              <a:rPr lang="en-US" altLang="zh-CN" sz="2800" dirty="0">
                <a:solidFill>
                  <a:srgbClr val="80CBC4"/>
                </a:solidFill>
              </a:rPr>
              <a:t>)</a:t>
            </a:r>
            <a:endParaRPr lang="en-US" altLang="zh-CN" sz="2800" dirty="0">
              <a:solidFill>
                <a:srgbClr val="CBCCC6"/>
              </a:solidFill>
            </a:endParaRPr>
          </a:p>
          <a:p>
            <a:r>
              <a:rPr lang="en-US" altLang="zh-CN" sz="2800" dirty="0">
                <a:solidFill>
                  <a:srgbClr val="80CBC4"/>
                </a:solidFill>
              </a:rPr>
              <a:t>    </a:t>
            </a:r>
            <a:r>
              <a:rPr lang="en-US" altLang="zh-CN" sz="2800" dirty="0">
                <a:solidFill>
                  <a:srgbClr val="CDD3DE"/>
                </a:solidFill>
              </a:rPr>
              <a:t>&lt;</a:t>
            </a:r>
            <a:r>
              <a:rPr lang="en-US" altLang="zh-CN" sz="2800" dirty="0">
                <a:solidFill>
                  <a:srgbClr val="80CBC4"/>
                </a:solidFill>
              </a:rPr>
              <a:t>/</a:t>
            </a:r>
            <a:r>
              <a:rPr lang="en-US" altLang="zh-CN" sz="2800" dirty="0">
                <a:solidFill>
                  <a:srgbClr val="FF5370"/>
                </a:solidFill>
              </a:rPr>
              <a:t>script</a:t>
            </a:r>
            <a:r>
              <a:rPr lang="en-US" altLang="zh-CN" sz="2800" dirty="0">
                <a:solidFill>
                  <a:srgbClr val="80CBC4"/>
                </a:solidFill>
              </a:rPr>
              <a:t>&gt;</a:t>
            </a:r>
            <a:endParaRPr lang="en-US" altLang="zh-CN" sz="2800" dirty="0">
              <a:solidFill>
                <a:srgbClr val="CBCCC6"/>
              </a:solidFill>
            </a:endParaRPr>
          </a:p>
          <a:p>
            <a:r>
              <a:rPr lang="en-US" altLang="zh-CN" sz="2800" dirty="0">
                <a:solidFill>
                  <a:srgbClr val="CDD3DE"/>
                </a:solidFill>
              </a:rPr>
              <a:t>  </a:t>
            </a:r>
            <a:r>
              <a:rPr lang="en-US" altLang="zh-CN" sz="2800" dirty="0">
                <a:solidFill>
                  <a:srgbClr val="80CBC4"/>
                </a:solidFill>
              </a:rPr>
              <a:t>&lt;/</a:t>
            </a:r>
            <a:r>
              <a:rPr lang="en-US" altLang="zh-CN" sz="2800" dirty="0">
                <a:solidFill>
                  <a:srgbClr val="FF5370"/>
                </a:solidFill>
              </a:rPr>
              <a:t>body</a:t>
            </a:r>
            <a:r>
              <a:rPr lang="en-US" altLang="zh-CN" sz="2800" dirty="0">
                <a:solidFill>
                  <a:srgbClr val="80CBC4"/>
                </a:solidFill>
              </a:rPr>
              <a:t>&gt;</a:t>
            </a:r>
            <a:endParaRPr lang="en-US" altLang="zh-CN" sz="2800" b="0" dirty="0">
              <a:solidFill>
                <a:srgbClr val="CBCCC6"/>
              </a:solidFill>
              <a:effectLst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JavaScript</a:t>
            </a:r>
            <a:r>
              <a:rPr lang="zh-CN" altLang="en-US" dirty="0" smtClean="0"/>
              <a:t>类型转换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JavaScript</a:t>
            </a:r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fld id="{B6F15528-21DE-4FAA-801E-634DDDAF4B2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241" y="1219200"/>
            <a:ext cx="6464601" cy="56388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382000" y="2895600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“3”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+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“5” =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12832" y="366926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Menlo" panose="020B0609030804020204"/>
                <a:ea typeface="宋体" pitchFamily="2" charset="-122"/>
                <a:cs typeface="+mn-cs"/>
              </a:rPr>
              <a:t>3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Menlo" panose="020B0609030804020204"/>
                <a:ea typeface="宋体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Menlo" panose="020B0609030804020204"/>
                <a:ea typeface="宋体" pitchFamily="2" charset="-122"/>
                <a:cs typeface="+mn-cs"/>
              </a:rPr>
              <a:t>+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Menlo" panose="020B0609030804020204"/>
                <a:ea typeface="宋体" pitchFamily="2" charset="-122"/>
                <a:cs typeface="+mn-cs"/>
              </a:rPr>
              <a:t>5 =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Menlo" panose="020B0609030804020204"/>
                <a:ea typeface="宋体" pitchFamily="2" charset="-122"/>
                <a:cs typeface="+mn-cs"/>
              </a:rPr>
              <a:t>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85825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5" name="object 5"/>
          <p:cNvSpPr txBox="1"/>
          <p:nvPr/>
        </p:nvSpPr>
        <p:spPr>
          <a:xfrm>
            <a:off x="885825" y="1524000"/>
            <a:ext cx="2695575" cy="3141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 panose="020B0604020202090204"/>
              <a:buChar char="•"/>
              <a:tabLst>
                <a:tab pos="240665" algn="l"/>
                <a:tab pos="241300" algn="l"/>
              </a:tabLst>
            </a:pPr>
            <a:r>
              <a:rPr sz="2000" b="1" spc="-3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算术运算符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1960"/>
              </a:spcBef>
              <a:buFont typeface="Arial" panose="020B0604020202090204"/>
              <a:buChar char="•"/>
              <a:tabLst>
                <a:tab pos="240665" algn="l"/>
                <a:tab pos="241300" algn="l"/>
              </a:tabLst>
            </a:pPr>
            <a:r>
              <a:rPr sz="2000" b="1" spc="-3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赋值运算符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1965"/>
              </a:spcBef>
              <a:buFont typeface="Arial" panose="020B0604020202090204"/>
              <a:buChar char="•"/>
              <a:tabLst>
                <a:tab pos="240665" algn="l"/>
                <a:tab pos="241300" algn="l"/>
              </a:tabLst>
            </a:pPr>
            <a:r>
              <a:rPr sz="2000" b="1" spc="-3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一元运算符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1955"/>
              </a:spcBef>
              <a:buFont typeface="Arial" panose="020B0604020202090204"/>
              <a:buChar char="•"/>
              <a:tabLst>
                <a:tab pos="240665" algn="l"/>
                <a:tab pos="241300" algn="l"/>
              </a:tabLst>
            </a:pPr>
            <a:r>
              <a:rPr sz="2000" b="1" spc="-3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比较运算符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1960"/>
              </a:spcBef>
              <a:buFont typeface="Arial" panose="020B0604020202090204"/>
              <a:buChar char="•"/>
              <a:tabLst>
                <a:tab pos="240665" algn="l"/>
                <a:tab pos="241300" algn="l"/>
              </a:tabLst>
            </a:pPr>
            <a:r>
              <a:rPr sz="2000" b="1" spc="-3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逻辑运算符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1970"/>
              </a:spcBef>
              <a:buFont typeface="Arial" panose="020B0604020202090204"/>
              <a:buChar char="•"/>
              <a:tabLst>
                <a:tab pos="240665" algn="l"/>
                <a:tab pos="241300" algn="l"/>
              </a:tabLst>
            </a:pPr>
            <a:r>
              <a:rPr sz="2000" b="1" spc="-3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运算符优先级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8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算术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789838" y="1676400"/>
            <a:ext cx="10640162" cy="2895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数学运算符也叫算术运算符</a:t>
            </a:r>
            <a:r>
              <a:rPr sz="2400" spc="-30" dirty="0" err="1">
                <a:solidFill>
                  <a:srgbClr val="252525"/>
                </a:solidFill>
                <a:latin typeface="宋体"/>
                <a:cs typeface="宋体"/>
              </a:rPr>
              <a:t>，主要包括加、减</a:t>
            </a:r>
            <a:r>
              <a:rPr sz="2400" spc="-20" dirty="0" err="1">
                <a:solidFill>
                  <a:srgbClr val="252525"/>
                </a:solidFill>
                <a:latin typeface="宋体"/>
                <a:cs typeface="宋体"/>
              </a:rPr>
              <a:t>、</a:t>
            </a:r>
            <a:r>
              <a:rPr sz="2400" spc="-30" dirty="0" err="1">
                <a:solidFill>
                  <a:srgbClr val="252525"/>
                </a:solidFill>
                <a:latin typeface="宋体"/>
                <a:cs typeface="宋体"/>
              </a:rPr>
              <a:t>乘、除</a:t>
            </a:r>
            <a:r>
              <a:rPr sz="2400" spc="-20" dirty="0" err="1">
                <a:solidFill>
                  <a:srgbClr val="252525"/>
                </a:solidFill>
                <a:latin typeface="宋体"/>
                <a:cs typeface="宋体"/>
              </a:rPr>
              <a:t>、</a:t>
            </a:r>
            <a:r>
              <a:rPr sz="2400" spc="-30" dirty="0" err="1">
                <a:solidFill>
                  <a:srgbClr val="252525"/>
                </a:solidFill>
                <a:latin typeface="宋体"/>
                <a:cs typeface="宋体"/>
              </a:rPr>
              <a:t>取余（</a:t>
            </a:r>
            <a:r>
              <a:rPr sz="2400" spc="-20" dirty="0" err="1">
                <a:solidFill>
                  <a:srgbClr val="252525"/>
                </a:solidFill>
                <a:latin typeface="宋体"/>
                <a:cs typeface="宋体"/>
              </a:rPr>
              <a:t>求</a:t>
            </a:r>
            <a:r>
              <a:rPr sz="2400" spc="-30" dirty="0" err="1">
                <a:solidFill>
                  <a:srgbClr val="252525"/>
                </a:solidFill>
                <a:latin typeface="宋体"/>
                <a:cs typeface="宋体"/>
              </a:rPr>
              <a:t>模</a:t>
            </a:r>
            <a:r>
              <a:rPr sz="2400" spc="-25" dirty="0">
                <a:solidFill>
                  <a:srgbClr val="252525"/>
                </a:solidFill>
                <a:latin typeface="宋体"/>
                <a:cs typeface="宋体"/>
              </a:rPr>
              <a:t>）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。</a:t>
            </a:r>
            <a:endParaRPr sz="24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tabLst>
                <a:tab pos="299085" algn="l"/>
              </a:tabLst>
            </a:pPr>
            <a:r>
              <a:rPr sz="2400" dirty="0">
                <a:solidFill>
                  <a:srgbClr val="404040"/>
                </a:solidFill>
                <a:latin typeface="Wingdings" panose="05000000000000000000"/>
                <a:cs typeface="Wingdings" panose="05000000000000000000"/>
              </a:rPr>
              <a:t></a:t>
            </a:r>
            <a:r>
              <a:rPr sz="2400" dirty="0">
                <a:solidFill>
                  <a:srgbClr val="404040"/>
                </a:solid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400" spc="20" dirty="0">
                <a:solidFill>
                  <a:srgbClr val="252525"/>
                </a:solidFill>
                <a:latin typeface="宋体"/>
                <a:cs typeface="宋体"/>
              </a:rPr>
              <a:t>+：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求和</a:t>
            </a:r>
            <a:endParaRPr sz="2400" dirty="0">
              <a:latin typeface="宋体"/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400" spc="-95" dirty="0">
                <a:solidFill>
                  <a:srgbClr val="252525"/>
                </a:solidFill>
                <a:latin typeface="宋体"/>
                <a:cs typeface="宋体"/>
              </a:rPr>
              <a:t>-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：求差</a:t>
            </a:r>
            <a:endParaRPr sz="2400" dirty="0">
              <a:latin typeface="宋体"/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400" spc="-120" dirty="0">
                <a:solidFill>
                  <a:srgbClr val="252525"/>
                </a:solidFill>
                <a:latin typeface="宋体"/>
                <a:cs typeface="宋体"/>
              </a:rPr>
              <a:t>*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：求积</a:t>
            </a:r>
            <a:endParaRPr sz="2400" dirty="0">
              <a:latin typeface="宋体"/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400" spc="-15" dirty="0">
                <a:solidFill>
                  <a:srgbClr val="252525"/>
                </a:solidFill>
                <a:latin typeface="宋体"/>
                <a:cs typeface="宋体"/>
              </a:rPr>
              <a:t>/</a:t>
            </a:r>
            <a:r>
              <a:rPr sz="2400" spc="-35" dirty="0">
                <a:solidFill>
                  <a:srgbClr val="252525"/>
                </a:solidFill>
                <a:latin typeface="宋体"/>
                <a:cs typeface="宋体"/>
              </a:rPr>
              <a:t>：求商</a:t>
            </a:r>
            <a:endParaRPr sz="2400" dirty="0">
              <a:latin typeface="宋体"/>
              <a:cs typeface="宋体"/>
            </a:endParaRPr>
          </a:p>
          <a:p>
            <a:pPr marL="299085" indent="-286385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Font typeface="Wingdings" panose="05000000000000000000"/>
              <a:buChar char=""/>
              <a:tabLst>
                <a:tab pos="299085" algn="l"/>
                <a:tab pos="299720" algn="l"/>
              </a:tabLst>
            </a:pPr>
            <a:r>
              <a:rPr sz="2400" spc="235" dirty="0">
                <a:solidFill>
                  <a:srgbClr val="252525"/>
                </a:solidFill>
                <a:latin typeface="宋体"/>
                <a:cs typeface="宋体"/>
              </a:rPr>
              <a:t>%：</a:t>
            </a:r>
            <a:r>
              <a:rPr sz="2400" spc="-30" dirty="0" err="1">
                <a:solidFill>
                  <a:srgbClr val="252525"/>
                </a:solidFill>
                <a:latin typeface="宋体"/>
                <a:cs typeface="宋体"/>
              </a:rPr>
              <a:t>取模（取余数</a:t>
            </a:r>
            <a:r>
              <a:rPr sz="2400" spc="-30" dirty="0" smtClean="0">
                <a:solidFill>
                  <a:srgbClr val="252525"/>
                </a:solidFill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70788" y="5178231"/>
            <a:ext cx="69557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优先级：先</a:t>
            </a:r>
            <a:r>
              <a:rPr lang="zh-CN" altLang="en-US" sz="2400" dirty="0"/>
              <a:t>乘除后加减，有括号先算括号里面</a:t>
            </a:r>
            <a:r>
              <a:rPr lang="zh-CN" altLang="en-US" sz="2400" dirty="0" smtClean="0"/>
              <a:t>的。</a:t>
            </a:r>
            <a:endParaRPr lang="zh-CN" altLang="en-US" sz="2400" dirty="0"/>
          </a:p>
        </p:txBody>
      </p:sp>
      <p:sp>
        <p:nvSpPr>
          <p:cNvPr id="7" name="object 6"/>
          <p:cNvSpPr/>
          <p:nvPr/>
        </p:nvSpPr>
        <p:spPr>
          <a:xfrm>
            <a:off x="4191000" y="2667000"/>
            <a:ext cx="5009387" cy="138226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7"/>
          <p:cNvSpPr/>
          <p:nvPr/>
        </p:nvSpPr>
        <p:spPr>
          <a:xfrm>
            <a:off x="7709154" y="4482852"/>
            <a:ext cx="4482846" cy="18524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8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赋值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789838" y="1676400"/>
            <a:ext cx="10640162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altLang="zh-CN" sz="2400" dirty="0" smtClean="0">
                <a:latin typeface="宋体"/>
                <a:cs typeface="宋体"/>
              </a:rPr>
              <a:t>= </a:t>
            </a:r>
            <a:r>
              <a:rPr lang="zh-CN" altLang="en-US" sz="2400" dirty="0" smtClean="0">
                <a:latin typeface="宋体"/>
                <a:cs typeface="宋体"/>
              </a:rPr>
              <a:t>：将</a:t>
            </a:r>
            <a:r>
              <a:rPr lang="zh-CN" altLang="en-US" sz="2400" dirty="0">
                <a:latin typeface="宋体"/>
                <a:cs typeface="宋体"/>
              </a:rPr>
              <a:t>等号右边的值赋予给左边</a:t>
            </a:r>
            <a:r>
              <a:rPr lang="en-US" altLang="zh-CN" sz="2400" dirty="0">
                <a:latin typeface="宋体"/>
                <a:cs typeface="宋体"/>
              </a:rPr>
              <a:t>, </a:t>
            </a:r>
            <a:r>
              <a:rPr lang="zh-CN" altLang="en-US" sz="2400" dirty="0">
                <a:latin typeface="宋体"/>
                <a:cs typeface="宋体"/>
              </a:rPr>
              <a:t>要求左边必须是一个</a:t>
            </a:r>
            <a:r>
              <a:rPr lang="zh-CN" altLang="en-US" sz="2400" dirty="0" smtClean="0">
                <a:latin typeface="宋体"/>
                <a:cs typeface="宋体"/>
              </a:rPr>
              <a:t>容器。</a:t>
            </a:r>
            <a:endParaRPr lang="zh-CN" altLang="en-US" sz="2400" dirty="0">
              <a:latin typeface="宋体"/>
              <a:cs typeface="宋体"/>
            </a:endParaRPr>
          </a:p>
          <a:p>
            <a:pPr marL="12700">
              <a:lnSpc>
                <a:spcPct val="150000"/>
              </a:lnSpc>
            </a:pPr>
            <a:r>
              <a:rPr lang="zh-CN" altLang="en-US" sz="2400" dirty="0">
                <a:latin typeface="宋体"/>
                <a:cs typeface="宋体"/>
              </a:rPr>
              <a:t>其他赋值运算符：</a:t>
            </a:r>
            <a:endParaRPr lang="zh-CN" altLang="en-US" sz="2400" dirty="0">
              <a:latin typeface="宋体"/>
              <a:cs typeface="宋体"/>
            </a:endParaRPr>
          </a:p>
          <a:p>
            <a:pPr marL="3556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 smtClean="0">
                <a:latin typeface="宋体"/>
                <a:cs typeface="宋体"/>
              </a:rPr>
              <a:t>+=</a:t>
            </a:r>
            <a:endParaRPr lang="en-US" altLang="zh-CN" sz="2400" dirty="0">
              <a:latin typeface="宋体"/>
              <a:cs typeface="宋体"/>
            </a:endParaRPr>
          </a:p>
          <a:p>
            <a:pPr marL="3556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>
                <a:latin typeface="宋体"/>
                <a:cs typeface="宋体"/>
              </a:rPr>
              <a:t>-=</a:t>
            </a:r>
            <a:endParaRPr lang="en-US" altLang="zh-CN" sz="2400" dirty="0">
              <a:latin typeface="宋体"/>
              <a:cs typeface="宋体"/>
            </a:endParaRPr>
          </a:p>
          <a:p>
            <a:pPr marL="3556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>
                <a:latin typeface="宋体"/>
                <a:cs typeface="宋体"/>
              </a:rPr>
              <a:t>*=</a:t>
            </a:r>
            <a:endParaRPr lang="en-US" altLang="zh-CN" sz="2400" dirty="0">
              <a:latin typeface="宋体"/>
              <a:cs typeface="宋体"/>
            </a:endParaRPr>
          </a:p>
          <a:p>
            <a:pPr marL="3556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>
                <a:latin typeface="宋体"/>
                <a:cs typeface="宋体"/>
              </a:rPr>
              <a:t>/=</a:t>
            </a:r>
            <a:endParaRPr lang="en-US" altLang="zh-CN" sz="2400" dirty="0">
              <a:latin typeface="宋体"/>
              <a:cs typeface="宋体"/>
            </a:endParaRPr>
          </a:p>
          <a:p>
            <a:pPr marL="3556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>
                <a:latin typeface="宋体"/>
                <a:cs typeface="宋体"/>
              </a:rPr>
              <a:t>%=</a:t>
            </a:r>
            <a:endParaRPr lang="en-US" altLang="zh-CN" sz="2400" dirty="0">
              <a:latin typeface="宋体"/>
              <a:cs typeface="宋体"/>
            </a:endParaRPr>
          </a:p>
          <a:p>
            <a:pPr marL="12700">
              <a:lnSpc>
                <a:spcPct val="150000"/>
              </a:lnSpc>
            </a:pPr>
            <a:r>
              <a:rPr lang="zh-CN" altLang="en-US" sz="2400" dirty="0">
                <a:latin typeface="宋体"/>
                <a:cs typeface="宋体"/>
              </a:rPr>
              <a:t>使用这些运算符可以在对变量赋值时进行快速</a:t>
            </a:r>
            <a:r>
              <a:rPr lang="zh-CN" altLang="en-US" sz="2400" dirty="0" smtClean="0">
                <a:latin typeface="宋体"/>
                <a:cs typeface="宋体"/>
              </a:rPr>
              <a:t>操作</a:t>
            </a:r>
            <a:r>
              <a:rPr lang="zh-CN" altLang="en-US" sz="2400" dirty="0">
                <a:latin typeface="宋体"/>
                <a:cs typeface="宋体"/>
              </a:rPr>
              <a:t>。</a:t>
            </a:r>
            <a:endParaRPr lang="zh-CN" altLang="en-US" sz="2400" dirty="0">
              <a:latin typeface="宋体"/>
              <a:cs typeface="宋体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6" name="object 8"/>
          <p:cNvSpPr/>
          <p:nvPr/>
        </p:nvSpPr>
        <p:spPr>
          <a:xfrm>
            <a:off x="7086600" y="3276600"/>
            <a:ext cx="4963668" cy="158191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8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一元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789838" y="1676400"/>
            <a:ext cx="10640162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/>
                <a:cs typeface="宋体"/>
              </a:rPr>
              <a:t>自增：</a:t>
            </a:r>
            <a:endParaRPr lang="zh-CN" altLang="en-US" sz="2400" b="1" dirty="0">
              <a:solidFill>
                <a:srgbClr val="FF0000"/>
              </a:solidFill>
              <a:latin typeface="宋体"/>
              <a:cs typeface="宋体"/>
            </a:endParaRPr>
          </a:p>
          <a:p>
            <a:pPr marL="12700">
              <a:lnSpc>
                <a:spcPct val="150000"/>
              </a:lnSpc>
            </a:pPr>
            <a:r>
              <a:rPr lang="zh-CN" altLang="en-US" sz="2400" dirty="0">
                <a:latin typeface="宋体"/>
                <a:cs typeface="宋体"/>
              </a:rPr>
              <a:t>符号：</a:t>
            </a:r>
            <a:r>
              <a:rPr lang="en-US" altLang="zh-CN" sz="2400" dirty="0">
                <a:latin typeface="宋体"/>
                <a:cs typeface="宋体"/>
              </a:rPr>
              <a:t>++</a:t>
            </a:r>
            <a:endParaRPr lang="en-US" altLang="zh-CN" sz="2400" dirty="0">
              <a:latin typeface="宋体"/>
              <a:cs typeface="宋体"/>
            </a:endParaRPr>
          </a:p>
          <a:p>
            <a:pPr marL="12700">
              <a:lnSpc>
                <a:spcPct val="150000"/>
              </a:lnSpc>
            </a:pPr>
            <a:r>
              <a:rPr lang="zh-CN" altLang="en-US" sz="2400" dirty="0">
                <a:latin typeface="宋体"/>
                <a:cs typeface="宋体"/>
              </a:rPr>
              <a:t>作用：让变量的值 </a:t>
            </a:r>
            <a:r>
              <a:rPr lang="en-US" altLang="zh-CN" sz="2400" dirty="0">
                <a:latin typeface="宋体"/>
                <a:cs typeface="宋体"/>
              </a:rPr>
              <a:t>+1</a:t>
            </a:r>
            <a:endParaRPr lang="en-US" altLang="zh-CN" sz="2400" dirty="0">
              <a:latin typeface="宋体"/>
              <a:cs typeface="宋体"/>
            </a:endParaRPr>
          </a:p>
          <a:p>
            <a:pPr marL="127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/>
                <a:cs typeface="宋体"/>
              </a:rPr>
              <a:t>自减：</a:t>
            </a:r>
            <a:endParaRPr lang="zh-CN" altLang="en-US" sz="2400" b="1" dirty="0">
              <a:solidFill>
                <a:srgbClr val="FF0000"/>
              </a:solidFill>
              <a:latin typeface="宋体"/>
              <a:cs typeface="宋体"/>
            </a:endParaRPr>
          </a:p>
          <a:p>
            <a:pPr marL="12700">
              <a:lnSpc>
                <a:spcPct val="150000"/>
              </a:lnSpc>
            </a:pPr>
            <a:r>
              <a:rPr lang="zh-CN" altLang="en-US" sz="2400" dirty="0">
                <a:latin typeface="宋体"/>
                <a:cs typeface="宋体"/>
              </a:rPr>
              <a:t>符号：</a:t>
            </a:r>
            <a:r>
              <a:rPr lang="en-US" altLang="zh-CN" sz="2400" dirty="0">
                <a:latin typeface="宋体"/>
                <a:cs typeface="宋体"/>
              </a:rPr>
              <a:t>--</a:t>
            </a:r>
            <a:endParaRPr lang="en-US" altLang="zh-CN" sz="2400" dirty="0">
              <a:latin typeface="宋体"/>
              <a:cs typeface="宋体"/>
            </a:endParaRPr>
          </a:p>
          <a:p>
            <a:pPr marL="12700">
              <a:lnSpc>
                <a:spcPct val="150000"/>
              </a:lnSpc>
            </a:pPr>
            <a:r>
              <a:rPr lang="zh-CN" altLang="en-US" sz="2400" dirty="0">
                <a:latin typeface="宋体"/>
                <a:cs typeface="宋体"/>
              </a:rPr>
              <a:t>作用：让变量的值 </a:t>
            </a:r>
            <a:r>
              <a:rPr lang="en-US" altLang="zh-CN" sz="2400" dirty="0">
                <a:latin typeface="宋体"/>
                <a:cs typeface="宋体"/>
              </a:rPr>
              <a:t>-1</a:t>
            </a:r>
            <a:endParaRPr lang="zh-CN" altLang="en-US" sz="2400" dirty="0">
              <a:latin typeface="宋体"/>
              <a:cs typeface="宋体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8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一元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789838" y="1676400"/>
            <a:ext cx="10640162" cy="48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宋体"/>
                <a:cs typeface="宋体"/>
              </a:rPr>
              <a:t>前置自</a:t>
            </a:r>
            <a:r>
              <a:rPr lang="zh-CN" altLang="en-US" sz="2400" b="1" dirty="0">
                <a:solidFill>
                  <a:srgbClr val="FF0000"/>
                </a:solidFill>
                <a:latin typeface="宋体"/>
                <a:cs typeface="宋体"/>
              </a:rPr>
              <a:t>增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宋体"/>
              <a:cs typeface="宋体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6" name="object 7"/>
          <p:cNvSpPr/>
          <p:nvPr/>
        </p:nvSpPr>
        <p:spPr>
          <a:xfrm>
            <a:off x="820318" y="2354199"/>
            <a:ext cx="4408932" cy="8961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3"/>
          <p:cNvSpPr txBox="1"/>
          <p:nvPr/>
        </p:nvSpPr>
        <p:spPr>
          <a:xfrm>
            <a:off x="789838" y="3447850"/>
            <a:ext cx="10640162" cy="48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宋体"/>
                <a:cs typeface="宋体"/>
              </a:rPr>
              <a:t>后置自</a:t>
            </a:r>
            <a:r>
              <a:rPr lang="zh-CN" altLang="en-US" sz="2400" b="1" dirty="0">
                <a:solidFill>
                  <a:srgbClr val="FF0000"/>
                </a:solidFill>
                <a:latin typeface="宋体"/>
                <a:cs typeface="宋体"/>
              </a:rPr>
              <a:t>增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宋体"/>
              <a:cs typeface="宋体"/>
            </a:endParaRPr>
          </a:p>
        </p:txBody>
      </p:sp>
      <p:sp>
        <p:nvSpPr>
          <p:cNvPr id="8" name="object 11"/>
          <p:cNvSpPr/>
          <p:nvPr/>
        </p:nvSpPr>
        <p:spPr>
          <a:xfrm>
            <a:off x="820318" y="4093444"/>
            <a:ext cx="4361282" cy="935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5638800" y="23865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每执行</a:t>
            </a:r>
            <a:r>
              <a:rPr lang="en-US" altLang="zh-CN" dirty="0"/>
              <a:t>1</a:t>
            </a:r>
            <a:r>
              <a:rPr lang="zh-CN" altLang="en-US" dirty="0"/>
              <a:t>次，当前变量数值加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zh-CN" altLang="en-US" dirty="0"/>
              <a:t>其作用相当于 </a:t>
            </a:r>
            <a:r>
              <a:rPr lang="en-US" altLang="zh-CN" dirty="0" err="1"/>
              <a:t>num</a:t>
            </a:r>
            <a:r>
              <a:rPr lang="en-US" altLang="zh-CN" dirty="0"/>
              <a:t> += 1</a:t>
            </a:r>
            <a:endParaRPr lang="en-US" altLang="zh-CN" dirty="0"/>
          </a:p>
        </p:txBody>
      </p:sp>
      <p:sp>
        <p:nvSpPr>
          <p:cNvPr id="9" name="矩形 8"/>
          <p:cNvSpPr/>
          <p:nvPr/>
        </p:nvSpPr>
        <p:spPr>
          <a:xfrm>
            <a:off x="5638800" y="42764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每执行</a:t>
            </a:r>
            <a:r>
              <a:rPr lang="en-US" altLang="zh-CN" dirty="0"/>
              <a:t>1</a:t>
            </a:r>
            <a:r>
              <a:rPr lang="zh-CN" altLang="en-US" dirty="0"/>
              <a:t>次，当前变量数值加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zh-CN" altLang="en-US" dirty="0"/>
              <a:t>其作用相当于 </a:t>
            </a:r>
            <a:r>
              <a:rPr lang="en-US" altLang="zh-CN" dirty="0" err="1"/>
              <a:t>num</a:t>
            </a:r>
            <a:r>
              <a:rPr lang="en-US" altLang="zh-CN" dirty="0"/>
              <a:t> += 1</a:t>
            </a:r>
            <a:endParaRPr lang="en-US" altLang="zh-CN" dirty="0"/>
          </a:p>
        </p:txBody>
      </p:sp>
      <p:sp>
        <p:nvSpPr>
          <p:cNvPr id="10" name="矩形 9"/>
          <p:cNvSpPr/>
          <p:nvPr/>
        </p:nvSpPr>
        <p:spPr>
          <a:xfrm>
            <a:off x="789838" y="5486400"/>
            <a:ext cx="6372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前置自</a:t>
            </a:r>
            <a:r>
              <a:rPr lang="zh-CN" altLang="en-US" sz="2400" b="1" dirty="0" smtClean="0"/>
              <a:t>增和后置自增单独使用没有任何区别。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8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一元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09600" y="1447800"/>
            <a:ext cx="795820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前置自</a:t>
            </a:r>
            <a:r>
              <a:rPr lang="zh-CN" altLang="en-US" sz="2400" b="1" dirty="0" smtClean="0"/>
              <a:t>增和后置自增如果参与运算就有区别了：</a:t>
            </a:r>
            <a:endParaRPr lang="en-US" altLang="zh-CN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/>
              <a:t>前置自增：先自加再使用（记忆口诀：</a:t>
            </a:r>
            <a:r>
              <a:rPr lang="en-US" altLang="zh-CN" sz="2400" dirty="0"/>
              <a:t>++</a:t>
            </a:r>
            <a:r>
              <a:rPr lang="zh-CN" altLang="en-US" sz="2400" dirty="0"/>
              <a:t>在</a:t>
            </a:r>
            <a:r>
              <a:rPr lang="zh-CN" altLang="en-US" sz="2400" dirty="0" smtClean="0"/>
              <a:t>前，先</a:t>
            </a:r>
            <a:r>
              <a:rPr lang="zh-CN" altLang="en-US" sz="2400" dirty="0"/>
              <a:t>加</a:t>
            </a:r>
            <a:r>
              <a:rPr lang="zh-CN" altLang="en-US" sz="2400" dirty="0" smtClean="0"/>
              <a:t>）</a:t>
            </a:r>
            <a:endParaRPr lang="zh-CN" altLang="en-US" sz="2400" dirty="0"/>
          </a:p>
        </p:txBody>
      </p:sp>
      <p:sp>
        <p:nvSpPr>
          <p:cNvPr id="15" name="object 18"/>
          <p:cNvSpPr/>
          <p:nvPr/>
        </p:nvSpPr>
        <p:spPr>
          <a:xfrm>
            <a:off x="685800" y="2676704"/>
            <a:ext cx="5341620" cy="14859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7140" y="4376067"/>
            <a:ext cx="78620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400" dirty="0"/>
              <a:t>后置自增：先使用再自加（记忆口诀：</a:t>
            </a:r>
            <a:r>
              <a:rPr lang="en-US" altLang="zh-CN" sz="2400" dirty="0"/>
              <a:t>++</a:t>
            </a:r>
            <a:r>
              <a:rPr lang="zh-CN" altLang="en-US" sz="2400" dirty="0"/>
              <a:t>在</a:t>
            </a:r>
            <a:r>
              <a:rPr lang="zh-CN" altLang="en-US" sz="2400" dirty="0" smtClean="0"/>
              <a:t>后，后</a:t>
            </a:r>
            <a:r>
              <a:rPr lang="zh-CN" altLang="en-US" sz="2400" dirty="0"/>
              <a:t>加）</a:t>
            </a:r>
            <a:endParaRPr lang="zh-CN" altLang="en-US" sz="2400" dirty="0"/>
          </a:p>
        </p:txBody>
      </p:sp>
      <p:sp>
        <p:nvSpPr>
          <p:cNvPr id="16" name="object 21"/>
          <p:cNvSpPr/>
          <p:nvPr/>
        </p:nvSpPr>
        <p:spPr>
          <a:xfrm>
            <a:off x="704850" y="4953000"/>
            <a:ext cx="5058156" cy="1478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比较运算符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09600" y="1447800"/>
            <a:ext cx="6695936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&gt; </a:t>
            </a:r>
            <a:r>
              <a:rPr lang="zh-CN" altLang="en-US" sz="2400" b="1" dirty="0"/>
              <a:t>：	左边是否大于右边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&lt;</a:t>
            </a:r>
            <a:r>
              <a:rPr lang="zh-CN" altLang="en-US" sz="2400" b="1" dirty="0"/>
              <a:t>：	左边是否小于右边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&gt;=</a:t>
            </a:r>
            <a:r>
              <a:rPr lang="zh-CN" altLang="en-US" sz="2400" b="1" dirty="0"/>
              <a:t>：	左边是否大于或等于右边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&lt;=</a:t>
            </a:r>
            <a:r>
              <a:rPr lang="zh-CN" altLang="en-US" sz="2400" b="1" dirty="0"/>
              <a:t>：	左边是否小于或等于右边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 smtClean="0"/>
              <a:t>==</a:t>
            </a:r>
            <a:r>
              <a:rPr lang="zh-CN" altLang="en-US" sz="2400" b="1" dirty="0"/>
              <a:t>：	左右两边是否相等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 smtClean="0"/>
              <a:t>===</a:t>
            </a:r>
            <a:r>
              <a:rPr lang="zh-CN" altLang="en-US" sz="2400" b="1" dirty="0"/>
              <a:t>： 左右两边是否类型和值都相等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!==</a:t>
            </a:r>
            <a:r>
              <a:rPr lang="zh-CN" altLang="en-US" sz="2400" b="1" dirty="0"/>
              <a:t>： 左右两边是否不全等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比较结果为</a:t>
            </a:r>
            <a:r>
              <a:rPr lang="en-US" altLang="zh-CN" sz="2400" b="1" dirty="0" err="1"/>
              <a:t>boolean</a:t>
            </a:r>
            <a:r>
              <a:rPr lang="zh-CN" altLang="en-US" sz="2400" b="1" dirty="0"/>
              <a:t>类型，即只会得到</a:t>
            </a:r>
            <a:r>
              <a:rPr lang="en-US" altLang="zh-CN" sz="2400" b="1" dirty="0"/>
              <a:t>true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false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比较运算符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09600" y="1447800"/>
            <a:ext cx="9233618" cy="5078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比较细节：</a:t>
            </a:r>
            <a:endParaRPr lang="en-US" altLang="zh-CN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="1" dirty="0"/>
              <a:t>字符串比较，是比较的字符对应的</a:t>
            </a:r>
            <a:r>
              <a:rPr lang="en-US" altLang="zh-CN" sz="2400" b="1" dirty="0"/>
              <a:t>ASCII</a:t>
            </a:r>
            <a:r>
              <a:rPr lang="zh-CN" altLang="en-US" sz="2400" b="1" dirty="0" smtClean="0"/>
              <a:t>码，从</a:t>
            </a:r>
            <a:r>
              <a:rPr lang="zh-CN" altLang="en-US" sz="2400" b="1" dirty="0"/>
              <a:t>左往右依次</a:t>
            </a:r>
            <a:r>
              <a:rPr lang="zh-CN" altLang="en-US" sz="2400" b="1" dirty="0" smtClean="0"/>
              <a:t>比较。</a:t>
            </a:r>
            <a:endParaRPr lang="zh-CN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dirty="0" err="1"/>
              <a:t>NaN</a:t>
            </a:r>
            <a:r>
              <a:rPr lang="zh-CN" altLang="en-US" sz="2400" b="1" dirty="0"/>
              <a:t>不等于任何值，包括它本身</a:t>
            </a:r>
            <a:endParaRPr lang="zh-CN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="1" dirty="0"/>
              <a:t>尽量不要比较小数，因为小数有精度问题</a:t>
            </a:r>
            <a:endParaRPr lang="zh-CN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="1" dirty="0"/>
              <a:t>不同类型之间比较会发生隐式</a:t>
            </a:r>
            <a:r>
              <a:rPr lang="zh-CN" altLang="en-US" sz="2400" b="1" dirty="0" smtClean="0"/>
              <a:t>转换：</a:t>
            </a:r>
            <a:endParaRPr lang="en-US" altLang="zh-CN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="1" dirty="0" smtClean="0"/>
              <a:t>最终</a:t>
            </a:r>
            <a:r>
              <a:rPr lang="zh-CN" altLang="en-US" sz="2400" b="1" dirty="0"/>
              <a:t>把数据隐式转换转成</a:t>
            </a:r>
            <a:r>
              <a:rPr lang="en-US" altLang="zh-CN" sz="2400" b="1" dirty="0"/>
              <a:t>number</a:t>
            </a:r>
            <a:r>
              <a:rPr lang="zh-CN" altLang="en-US" sz="2400" b="1" dirty="0"/>
              <a:t>类型再</a:t>
            </a:r>
            <a:r>
              <a:rPr lang="zh-CN" altLang="en-US" sz="2400" b="1" dirty="0" smtClean="0"/>
              <a:t>比较</a:t>
            </a:r>
            <a:endParaRPr lang="en-US" altLang="zh-CN" sz="24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="1" dirty="0"/>
              <a:t>所以开发中，如果进行准确的</a:t>
            </a:r>
            <a:r>
              <a:rPr lang="zh-CN" altLang="en-US" sz="2400" b="1" dirty="0" smtClean="0"/>
              <a:t>比较使用</a:t>
            </a:r>
            <a:r>
              <a:rPr lang="en-US" altLang="zh-CN" sz="2400" b="1" dirty="0" smtClean="0"/>
              <a:t>=== </a:t>
            </a:r>
            <a:r>
              <a:rPr lang="zh-CN" altLang="en-US" sz="2400" b="1" dirty="0"/>
              <a:t>或者 </a:t>
            </a:r>
            <a:r>
              <a:rPr lang="en-US" altLang="zh-CN" sz="2400" b="1" dirty="0"/>
              <a:t>!==</a:t>
            </a:r>
            <a:endParaRPr lang="en-US" altLang="zh-CN" sz="2400" b="1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比较运算符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09600" y="1447800"/>
            <a:ext cx="8712642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/>
              <a:t>= </a:t>
            </a:r>
            <a:r>
              <a:rPr lang="zh-CN" altLang="en-US" sz="2400" b="1" dirty="0"/>
              <a:t>和 </a:t>
            </a:r>
            <a:r>
              <a:rPr lang="en-US" altLang="zh-CN" sz="2400" b="1" dirty="0"/>
              <a:t>== </a:t>
            </a:r>
            <a:r>
              <a:rPr lang="zh-CN" altLang="en-US" sz="2400" b="1" dirty="0"/>
              <a:t>和 </a:t>
            </a:r>
            <a:r>
              <a:rPr lang="en-US" altLang="zh-CN" sz="2400" b="1" dirty="0"/>
              <a:t>=== </a:t>
            </a:r>
            <a:r>
              <a:rPr lang="zh-CN" altLang="en-US" sz="2400" b="1" dirty="0"/>
              <a:t>怎么区别？</a:t>
            </a:r>
            <a:endParaRPr lang="zh-CN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 smtClean="0"/>
              <a:t>= </a:t>
            </a:r>
            <a:r>
              <a:rPr lang="zh-CN" altLang="en-US" sz="2400" dirty="0"/>
              <a:t>是赋值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 smtClean="0"/>
              <a:t>== </a:t>
            </a:r>
            <a:r>
              <a:rPr lang="zh-CN" altLang="en-US" sz="2400" dirty="0"/>
              <a:t>是判断	只要求值相等，不要求数据类型一样即可返回</a:t>
            </a:r>
            <a:r>
              <a:rPr lang="en-US" altLang="zh-CN" sz="2400" dirty="0"/>
              <a:t>true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 smtClean="0"/>
              <a:t>=== </a:t>
            </a:r>
            <a:r>
              <a:rPr lang="zh-CN" altLang="en-US" sz="2400" dirty="0"/>
              <a:t>是全等 要求值和数据类型都一样返回的才是</a:t>
            </a:r>
            <a:r>
              <a:rPr lang="en-US" altLang="zh-CN" sz="2400" dirty="0"/>
              <a:t>true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开发中，请使用</a:t>
            </a:r>
            <a:r>
              <a:rPr lang="en-US" altLang="zh-CN" sz="2400" dirty="0" smtClean="0"/>
              <a:t>===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endParaRPr lang="en-US" altLang="zh-CN" sz="2400" b="1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逻辑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  <p:graphicFrame>
        <p:nvGraphicFramePr>
          <p:cNvPr id="6" name="object 4"/>
          <p:cNvGraphicFramePr>
            <a:graphicFrameLocks noGrp="1"/>
          </p:cNvGraphicFramePr>
          <p:nvPr/>
        </p:nvGraphicFramePr>
        <p:xfrm>
          <a:off x="789838" y="1600200"/>
          <a:ext cx="8963762" cy="21945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362"/>
                <a:gridCol w="1524000"/>
                <a:gridCol w="38100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符号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名称</a:t>
                      </a:r>
                      <a:endParaRPr sz="2400" dirty="0">
                        <a:latin typeface="黑体"/>
                        <a:cs typeface="黑体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特点</a:t>
                      </a:r>
                      <a:endParaRPr sz="2400" dirty="0">
                        <a:latin typeface="黑体"/>
                        <a:cs typeface="黑体"/>
                      </a:endParaRPr>
                    </a:p>
                  </a:txBody>
                  <a:tcPr marL="0" marR="0" marT="32384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黑体"/>
                          <a:cs typeface="黑体"/>
                        </a:rPr>
                        <a:t>口诀</a:t>
                      </a:r>
                      <a:endParaRPr sz="2400">
                        <a:latin typeface="黑体"/>
                        <a:cs typeface="黑体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spc="215" dirty="0">
                          <a:latin typeface="宋体"/>
                          <a:cs typeface="宋体"/>
                        </a:rPr>
                        <a:t>&amp;&amp;</a:t>
                      </a:r>
                      <a:endParaRPr sz="1600" dirty="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spc="-30" dirty="0">
                          <a:latin typeface="宋体"/>
                          <a:cs typeface="宋体"/>
                        </a:rPr>
                        <a:t>逻辑与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42265" marR="135255" indent="-20002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符号两边都为true </a:t>
                      </a:r>
                      <a:r>
                        <a:rPr sz="1600" spc="-30" dirty="0">
                          <a:latin typeface="宋体"/>
                          <a:cs typeface="宋体"/>
                        </a:rPr>
                        <a:t>结果才为</a:t>
                      </a:r>
                      <a:r>
                        <a:rPr sz="1600" spc="-40" dirty="0">
                          <a:latin typeface="宋体"/>
                          <a:cs typeface="宋体"/>
                        </a:rPr>
                        <a:t>true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9209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spc="-30" dirty="0">
                          <a:latin typeface="宋体"/>
                          <a:cs typeface="宋体"/>
                        </a:rPr>
                        <a:t>一假则假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spc="-515" dirty="0">
                          <a:latin typeface="宋体"/>
                          <a:cs typeface="宋体"/>
                        </a:rPr>
                        <a:t>||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spc="-30" dirty="0">
                          <a:latin typeface="宋体"/>
                          <a:cs typeface="宋体"/>
                        </a:rPr>
                        <a:t>逻辑或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spc="-35" dirty="0">
                          <a:latin typeface="宋体"/>
                          <a:cs typeface="宋体"/>
                        </a:rPr>
                        <a:t>符号两边有一个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40" dirty="0">
                          <a:latin typeface="宋体"/>
                          <a:cs typeface="宋体"/>
                        </a:rPr>
                        <a:t>true</a:t>
                      </a:r>
                      <a:r>
                        <a:rPr sz="1600" spc="-30" dirty="0">
                          <a:latin typeface="宋体"/>
                          <a:cs typeface="宋体"/>
                        </a:rPr>
                        <a:t>就为</a:t>
                      </a:r>
                      <a:r>
                        <a:rPr sz="1600" spc="-40" dirty="0">
                          <a:latin typeface="宋体"/>
                          <a:cs typeface="宋体"/>
                        </a:rPr>
                        <a:t>true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9209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spc="-30" dirty="0">
                          <a:latin typeface="宋体"/>
                          <a:cs typeface="宋体"/>
                        </a:rPr>
                        <a:t>一真则真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!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spc="-30" dirty="0">
                          <a:latin typeface="宋体"/>
                          <a:cs typeface="宋体"/>
                        </a:rPr>
                        <a:t>逻辑非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true变</a:t>
                      </a:r>
                      <a:r>
                        <a:rPr sz="1600" spc="-5" dirty="0">
                          <a:latin typeface="宋体"/>
                          <a:cs typeface="宋体"/>
                        </a:rPr>
                        <a:t>f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600" spc="-5" dirty="0">
                          <a:latin typeface="宋体"/>
                          <a:cs typeface="宋体"/>
                        </a:rPr>
                        <a:t>l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se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40957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f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600" spc="-5" dirty="0">
                          <a:latin typeface="宋体"/>
                          <a:cs typeface="宋体"/>
                        </a:rPr>
                        <a:t>l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se变true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9209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600" spc="-30" dirty="0">
                          <a:latin typeface="宋体"/>
                          <a:cs typeface="宋体"/>
                        </a:rPr>
                        <a:t>真变假，假变真</a:t>
                      </a:r>
                      <a:endParaRPr sz="1600" dirty="0">
                        <a:latin typeface="宋体"/>
                        <a:cs typeface="宋体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609600" y="4114800"/>
            <a:ext cx="112783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逻辑运算符里的</a:t>
            </a:r>
            <a:r>
              <a:rPr lang="zh-CN" altLang="en-US" sz="2400" dirty="0" smtClean="0"/>
              <a:t>短路：只</a:t>
            </a:r>
            <a:r>
              <a:rPr lang="zh-CN" altLang="en-US" sz="2400" dirty="0"/>
              <a:t>存在于 </a:t>
            </a:r>
            <a:r>
              <a:rPr lang="en-US" altLang="zh-CN" sz="2400" dirty="0"/>
              <a:t>&amp;&amp; </a:t>
            </a:r>
            <a:r>
              <a:rPr lang="zh-CN" altLang="en-US" sz="2400" dirty="0"/>
              <a:t>和 </a:t>
            </a:r>
            <a:r>
              <a:rPr lang="en-US" altLang="zh-CN" sz="2400" dirty="0"/>
              <a:t>|| </a:t>
            </a:r>
            <a:r>
              <a:rPr lang="zh-CN" altLang="en-US" sz="2400" dirty="0"/>
              <a:t>中，当满足一定条件会让右边代码不执行</a:t>
            </a:r>
            <a:endParaRPr lang="zh-CN" altLang="en-US" sz="2400" dirty="0"/>
          </a:p>
        </p:txBody>
      </p:sp>
      <p:graphicFrame>
        <p:nvGraphicFramePr>
          <p:cNvPr id="8" name="object 3"/>
          <p:cNvGraphicFramePr>
            <a:graphicFrameLocks noGrp="1"/>
          </p:cNvGraphicFramePr>
          <p:nvPr/>
        </p:nvGraphicFramePr>
        <p:xfrm>
          <a:off x="685800" y="4648200"/>
          <a:ext cx="8128000" cy="10769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4064000"/>
              </a:tblGrid>
              <a:tr h="3352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b="1" spc="-3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符号</a:t>
                      </a:r>
                      <a:endParaRPr sz="1600" dirty="0">
                        <a:latin typeface="微软雅黑"/>
                        <a:cs typeface="微软雅黑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b="1" spc="-3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短路条件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215" dirty="0">
                          <a:latin typeface="宋体"/>
                          <a:cs typeface="宋体"/>
                        </a:rPr>
                        <a:t>&amp;&amp;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30" dirty="0">
                          <a:latin typeface="宋体"/>
                          <a:cs typeface="宋体"/>
                        </a:rPr>
                        <a:t>左边为</a:t>
                      </a:r>
                      <a:r>
                        <a:rPr sz="1600" spc="-70" dirty="0">
                          <a:latin typeface="宋体"/>
                          <a:cs typeface="宋体"/>
                        </a:rPr>
                        <a:t>false</a:t>
                      </a:r>
                      <a:r>
                        <a:rPr sz="1600" spc="-30" dirty="0">
                          <a:latin typeface="宋体"/>
                          <a:cs typeface="宋体"/>
                        </a:rPr>
                        <a:t>就短路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15" dirty="0">
                          <a:latin typeface="宋体"/>
                          <a:cs typeface="宋体"/>
                        </a:rPr>
                        <a:t>||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30" dirty="0">
                          <a:latin typeface="宋体"/>
                          <a:cs typeface="宋体"/>
                        </a:rPr>
                        <a:t>左边为</a:t>
                      </a:r>
                      <a:r>
                        <a:rPr sz="1600" spc="-40" dirty="0">
                          <a:latin typeface="宋体"/>
                          <a:cs typeface="宋体"/>
                        </a:rPr>
                        <a:t>true</a:t>
                      </a:r>
                      <a:r>
                        <a:rPr sz="1600" spc="-30" dirty="0">
                          <a:latin typeface="宋体"/>
                          <a:cs typeface="宋体"/>
                        </a:rPr>
                        <a:t>就短路</a:t>
                      </a:r>
                      <a:endParaRPr sz="1600" dirty="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09600" y="5867400"/>
            <a:ext cx="10363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原因：通过左边能得到整个式子的结果，因此没必要再判断右边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运算结果：无论 </a:t>
            </a:r>
            <a:r>
              <a:rPr lang="en-US" altLang="zh-CN" sz="2000" dirty="0"/>
              <a:t>&amp;&amp; </a:t>
            </a:r>
            <a:r>
              <a:rPr lang="zh-CN" altLang="en-US" sz="2000" dirty="0"/>
              <a:t>还是 </a:t>
            </a:r>
            <a:r>
              <a:rPr lang="en-US" altLang="zh-CN" sz="2000" dirty="0"/>
              <a:t>|| </a:t>
            </a:r>
            <a:r>
              <a:rPr lang="zh-CN" altLang="en-US" sz="2000" dirty="0"/>
              <a:t>，运算结果都是最后被执行的表达式值，一般用在变量赋值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89838" y="68580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逻辑</a:t>
            </a:r>
            <a:r>
              <a:rPr lang="zh-CN" altLang="en-US" sz="2800" b="1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  <p:sp>
        <p:nvSpPr>
          <p:cNvPr id="9" name="object 7"/>
          <p:cNvSpPr/>
          <p:nvPr/>
        </p:nvSpPr>
        <p:spPr>
          <a:xfrm>
            <a:off x="685800" y="1905000"/>
            <a:ext cx="5413248" cy="180441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9"/>
          <p:cNvSpPr/>
          <p:nvPr/>
        </p:nvSpPr>
        <p:spPr>
          <a:xfrm>
            <a:off x="695325" y="4419600"/>
            <a:ext cx="5403723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62000" y="669910"/>
            <a:ext cx="23056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8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逻辑运算符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762000" y="1241433"/>
            <a:ext cx="8686800" cy="237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400" spc="-40" dirty="0" smtClean="0">
                <a:solidFill>
                  <a:srgbClr val="AC2B25"/>
                </a:solidFill>
                <a:latin typeface="宋体"/>
                <a:cs typeface="宋体"/>
              </a:rPr>
              <a:t>示例：</a:t>
            </a:r>
            <a:r>
              <a:rPr sz="2400" spc="-40" dirty="0" smtClean="0">
                <a:solidFill>
                  <a:srgbClr val="AC2B25"/>
                </a:solidFill>
                <a:latin typeface="宋体"/>
                <a:cs typeface="宋体"/>
              </a:rPr>
              <a:t>判断一个数是</a:t>
            </a:r>
            <a:r>
              <a:rPr sz="2400" spc="175" dirty="0">
                <a:solidFill>
                  <a:srgbClr val="AC2B25"/>
                </a:solidFill>
                <a:latin typeface="宋体"/>
                <a:cs typeface="宋体"/>
              </a:rPr>
              <a:t>4</a:t>
            </a:r>
            <a:r>
              <a:rPr sz="2400" spc="-40" dirty="0">
                <a:solidFill>
                  <a:srgbClr val="AC2B25"/>
                </a:solidFill>
                <a:latin typeface="宋体"/>
                <a:cs typeface="宋体"/>
              </a:rPr>
              <a:t>的倍数，且不是</a:t>
            </a:r>
            <a:r>
              <a:rPr sz="2400" spc="175" dirty="0">
                <a:solidFill>
                  <a:srgbClr val="AC2B25"/>
                </a:solidFill>
                <a:latin typeface="宋体"/>
                <a:cs typeface="宋体"/>
              </a:rPr>
              <a:t>100</a:t>
            </a:r>
            <a:r>
              <a:rPr sz="2400" spc="-40" dirty="0">
                <a:solidFill>
                  <a:srgbClr val="AC2B25"/>
                </a:solidFill>
                <a:latin typeface="宋体"/>
                <a:cs typeface="宋体"/>
              </a:rPr>
              <a:t>的</a:t>
            </a:r>
            <a:r>
              <a:rPr sz="2400" spc="-55" dirty="0">
                <a:solidFill>
                  <a:srgbClr val="AC2B25"/>
                </a:solidFill>
                <a:latin typeface="宋体"/>
                <a:cs typeface="宋体"/>
              </a:rPr>
              <a:t>倍</a:t>
            </a:r>
            <a:r>
              <a:rPr sz="2400" spc="-40" dirty="0">
                <a:solidFill>
                  <a:srgbClr val="AC2B25"/>
                </a:solidFill>
                <a:latin typeface="宋体"/>
                <a:cs typeface="宋体"/>
              </a:rPr>
              <a:t>数</a:t>
            </a:r>
            <a:endParaRPr sz="2400" dirty="0">
              <a:solidFill>
                <a:prstClr val="black"/>
              </a:solidFill>
              <a:latin typeface="宋体"/>
              <a:cs typeface="宋体"/>
            </a:endParaRPr>
          </a:p>
          <a:p>
            <a:pPr marL="12700" marR="5080">
              <a:lnSpc>
                <a:spcPct val="170000"/>
              </a:lnSpc>
              <a:spcBef>
                <a:spcPts val="1335"/>
              </a:spcBef>
            </a:pPr>
            <a:r>
              <a:rPr sz="1600" spc="-30" dirty="0">
                <a:solidFill>
                  <a:srgbClr val="252525"/>
                </a:solidFill>
                <a:latin typeface="宋体"/>
                <a:cs typeface="宋体"/>
              </a:rPr>
              <a:t>需求：用户输入一个，判断这个数能被</a:t>
            </a:r>
            <a:r>
              <a:rPr sz="1600" spc="120" dirty="0">
                <a:solidFill>
                  <a:srgbClr val="252525"/>
                </a:solidFill>
                <a:latin typeface="宋体"/>
                <a:cs typeface="宋体"/>
              </a:rPr>
              <a:t>4</a:t>
            </a:r>
            <a:r>
              <a:rPr sz="1600" spc="-30" dirty="0">
                <a:solidFill>
                  <a:srgbClr val="252525"/>
                </a:solidFill>
                <a:latin typeface="宋体"/>
                <a:cs typeface="宋体"/>
              </a:rPr>
              <a:t>整除，</a:t>
            </a:r>
            <a:r>
              <a:rPr sz="1600" spc="-15" dirty="0">
                <a:solidFill>
                  <a:srgbClr val="252525"/>
                </a:solidFill>
                <a:latin typeface="宋体"/>
                <a:cs typeface="宋体"/>
              </a:rPr>
              <a:t>但</a:t>
            </a:r>
            <a:r>
              <a:rPr sz="1600" spc="-30" dirty="0">
                <a:solidFill>
                  <a:srgbClr val="252525"/>
                </a:solidFill>
                <a:latin typeface="宋体"/>
                <a:cs typeface="宋体"/>
              </a:rPr>
              <a:t>是不能</a:t>
            </a:r>
            <a:r>
              <a:rPr sz="1600" spc="-10" dirty="0">
                <a:solidFill>
                  <a:srgbClr val="252525"/>
                </a:solidFill>
                <a:latin typeface="宋体"/>
                <a:cs typeface="宋体"/>
              </a:rPr>
              <a:t>被</a:t>
            </a:r>
            <a:r>
              <a:rPr sz="1600" spc="114" dirty="0">
                <a:solidFill>
                  <a:srgbClr val="252525"/>
                </a:solidFill>
                <a:latin typeface="宋体"/>
                <a:cs typeface="宋体"/>
              </a:rPr>
              <a:t>1</a:t>
            </a:r>
            <a:r>
              <a:rPr sz="1600" spc="130" dirty="0">
                <a:solidFill>
                  <a:srgbClr val="252525"/>
                </a:solidFill>
                <a:latin typeface="宋体"/>
                <a:cs typeface="宋体"/>
              </a:rPr>
              <a:t>0</a:t>
            </a:r>
            <a:r>
              <a:rPr sz="1600" spc="110" dirty="0">
                <a:solidFill>
                  <a:srgbClr val="252525"/>
                </a:solidFill>
                <a:latin typeface="宋体"/>
                <a:cs typeface="宋体"/>
              </a:rPr>
              <a:t>0</a:t>
            </a:r>
            <a:r>
              <a:rPr sz="1600" spc="-25" dirty="0">
                <a:solidFill>
                  <a:srgbClr val="252525"/>
                </a:solidFill>
                <a:latin typeface="宋体"/>
                <a:cs typeface="宋体"/>
              </a:rPr>
              <a:t>整除 </a:t>
            </a:r>
            <a:endParaRPr lang="en-US" sz="1600" spc="-25" dirty="0" smtClean="0">
              <a:solidFill>
                <a:srgbClr val="252525"/>
              </a:solidFill>
              <a:latin typeface="宋体"/>
              <a:cs typeface="宋体"/>
            </a:endParaRPr>
          </a:p>
          <a:p>
            <a:pPr marL="12700" marR="5080">
              <a:lnSpc>
                <a:spcPct val="170000"/>
              </a:lnSpc>
              <a:spcBef>
                <a:spcPts val="1335"/>
              </a:spcBef>
            </a:pPr>
            <a:r>
              <a:rPr sz="16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分析</a:t>
            </a:r>
            <a:r>
              <a:rPr sz="1600" spc="-30" dirty="0">
                <a:solidFill>
                  <a:srgbClr val="252525"/>
                </a:solidFill>
                <a:latin typeface="宋体"/>
                <a:cs typeface="宋体"/>
              </a:rPr>
              <a:t>：</a:t>
            </a:r>
            <a:endParaRPr sz="1600" dirty="0">
              <a:solidFill>
                <a:prstClr val="black"/>
              </a:solidFill>
              <a:latin typeface="宋体"/>
              <a:cs typeface="宋体"/>
            </a:endParaRPr>
          </a:p>
          <a:p>
            <a:pPr marL="12700">
              <a:spcBef>
                <a:spcPts val="1345"/>
              </a:spcBef>
            </a:pPr>
            <a:r>
              <a:rPr sz="1600" spc="-30" dirty="0">
                <a:solidFill>
                  <a:srgbClr val="252525"/>
                </a:solidFill>
                <a:latin typeface="宋体"/>
                <a:cs typeface="宋体"/>
              </a:rPr>
              <a:t>①：用户输入</a:t>
            </a:r>
            <a:endParaRPr sz="1600" dirty="0">
              <a:solidFill>
                <a:prstClr val="black"/>
              </a:solidFill>
              <a:latin typeface="宋体"/>
              <a:cs typeface="宋体"/>
            </a:endParaRPr>
          </a:p>
          <a:p>
            <a:pPr marL="12700">
              <a:spcBef>
                <a:spcPts val="1340"/>
              </a:spcBef>
            </a:pPr>
            <a:r>
              <a:rPr sz="1600" spc="-35" dirty="0">
                <a:solidFill>
                  <a:srgbClr val="252525"/>
                </a:solidFill>
                <a:latin typeface="宋体"/>
                <a:cs typeface="宋体"/>
              </a:rPr>
              <a:t>②：控制台</a:t>
            </a:r>
            <a:r>
              <a:rPr sz="1600" spc="-30" dirty="0">
                <a:solidFill>
                  <a:srgbClr val="252525"/>
                </a:solidFill>
                <a:latin typeface="宋体"/>
                <a:cs typeface="宋体"/>
              </a:rPr>
              <a:t>：</a:t>
            </a:r>
            <a:r>
              <a:rPr sz="1600" spc="-375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1600" spc="-35" dirty="0">
                <a:solidFill>
                  <a:srgbClr val="252525"/>
                </a:solidFill>
                <a:latin typeface="宋体"/>
                <a:cs typeface="宋体"/>
              </a:rPr>
              <a:t>是否能</a:t>
            </a:r>
            <a:r>
              <a:rPr sz="1600" spc="-30" dirty="0">
                <a:solidFill>
                  <a:srgbClr val="252525"/>
                </a:solidFill>
                <a:latin typeface="宋体"/>
                <a:cs typeface="宋体"/>
              </a:rPr>
              <a:t>被</a:t>
            </a:r>
            <a:r>
              <a:rPr sz="1600" spc="105" dirty="0">
                <a:solidFill>
                  <a:srgbClr val="252525"/>
                </a:solidFill>
                <a:latin typeface="宋体"/>
                <a:cs typeface="宋体"/>
              </a:rPr>
              <a:t>4</a:t>
            </a:r>
            <a:r>
              <a:rPr sz="1600" spc="-35" dirty="0">
                <a:solidFill>
                  <a:srgbClr val="252525"/>
                </a:solidFill>
                <a:latin typeface="宋体"/>
                <a:cs typeface="宋体"/>
              </a:rPr>
              <a:t>整除并且</a:t>
            </a:r>
            <a:r>
              <a:rPr sz="1600" spc="110" dirty="0">
                <a:solidFill>
                  <a:srgbClr val="252525"/>
                </a:solidFill>
                <a:latin typeface="宋体"/>
                <a:cs typeface="宋体"/>
              </a:rPr>
              <a:t>100</a:t>
            </a:r>
            <a:r>
              <a:rPr sz="1600" spc="-20" dirty="0">
                <a:solidFill>
                  <a:srgbClr val="252525"/>
                </a:solidFill>
                <a:latin typeface="宋体"/>
                <a:cs typeface="宋体"/>
              </a:rPr>
              <a:t>整除</a:t>
            </a:r>
            <a:endParaRPr sz="1600" dirty="0">
              <a:solidFill>
                <a:prstClr val="black"/>
              </a:solidFill>
              <a:latin typeface="宋体"/>
              <a:cs typeface="宋体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62000" y="3733800"/>
            <a:ext cx="6610350" cy="31700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80CBC4"/>
                </a:solidFill>
              </a:rPr>
              <a:t>&lt;</a:t>
            </a:r>
            <a:r>
              <a:rPr lang="en-US" altLang="zh-CN" sz="2000" dirty="0">
                <a:solidFill>
                  <a:srgbClr val="FF5370"/>
                </a:solidFill>
              </a:rPr>
              <a:t>body</a:t>
            </a:r>
            <a:r>
              <a:rPr lang="en-US" altLang="zh-CN" sz="2000" dirty="0">
                <a:solidFill>
                  <a:srgbClr val="80CBC4"/>
                </a:solidFill>
              </a:rPr>
              <a:t>&gt;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CDD3DE"/>
                </a:solidFill>
              </a:rPr>
              <a:t>    </a:t>
            </a:r>
            <a:r>
              <a:rPr lang="en-US" altLang="zh-CN" sz="2000" dirty="0">
                <a:solidFill>
                  <a:srgbClr val="80CBC4"/>
                </a:solidFill>
              </a:rPr>
              <a:t>&lt;</a:t>
            </a:r>
            <a:r>
              <a:rPr lang="en-US" altLang="zh-CN" sz="2000" dirty="0">
                <a:solidFill>
                  <a:srgbClr val="FF5370"/>
                </a:solidFill>
              </a:rPr>
              <a:t>script</a:t>
            </a:r>
            <a:r>
              <a:rPr lang="en-US" altLang="zh-CN" sz="2000" dirty="0">
                <a:solidFill>
                  <a:srgbClr val="80CBC4"/>
                </a:solidFill>
              </a:rPr>
              <a:t>&gt;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80CBC4"/>
                </a:solidFill>
              </a:rPr>
              <a:t>      </a:t>
            </a:r>
            <a:r>
              <a:rPr lang="en-US" altLang="zh-CN" sz="2000" dirty="0">
                <a:solidFill>
                  <a:srgbClr val="C792EA"/>
                </a:solidFill>
              </a:rPr>
              <a:t>let</a:t>
            </a:r>
            <a:r>
              <a:rPr lang="en-US" altLang="zh-CN" sz="2000" dirty="0">
                <a:solidFill>
                  <a:srgbClr val="80CBC4"/>
                </a:solidFill>
              </a:rPr>
              <a:t> </a:t>
            </a:r>
            <a:r>
              <a:rPr lang="en-US" altLang="zh-CN" sz="2000" dirty="0" err="1">
                <a:solidFill>
                  <a:srgbClr val="FF5370"/>
                </a:solidFill>
              </a:rPr>
              <a:t>num</a:t>
            </a:r>
            <a:r>
              <a:rPr lang="en-US" altLang="zh-CN" sz="2000" dirty="0">
                <a:solidFill>
                  <a:srgbClr val="1290BF"/>
                </a:solidFill>
              </a:rPr>
              <a:t> </a:t>
            </a:r>
            <a:r>
              <a:rPr lang="en-US" altLang="zh-CN" sz="2000" dirty="0">
                <a:solidFill>
                  <a:srgbClr val="80CBC4"/>
                </a:solidFill>
              </a:rPr>
              <a:t>= </a:t>
            </a:r>
            <a:r>
              <a:rPr lang="en-US" altLang="zh-CN" sz="2000" dirty="0">
                <a:solidFill>
                  <a:srgbClr val="89DDFF"/>
                </a:solidFill>
              </a:rPr>
              <a:t>prompt</a:t>
            </a:r>
            <a:r>
              <a:rPr lang="en-US" altLang="zh-CN" sz="2000" dirty="0">
                <a:solidFill>
                  <a:srgbClr val="80CBC4"/>
                </a:solidFill>
              </a:rPr>
              <a:t>(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zh-CN" altLang="en-US" sz="2000" dirty="0">
                <a:solidFill>
                  <a:srgbClr val="C3E88D"/>
                </a:solidFill>
              </a:rPr>
              <a:t>请输入一个数字：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80CBC4"/>
                </a:solidFill>
              </a:rPr>
              <a:t>)</a:t>
            </a:r>
            <a:endParaRPr lang="zh-CN" altLang="en-US" sz="2000" dirty="0">
              <a:solidFill>
                <a:srgbClr val="CBCCC6"/>
              </a:solidFill>
            </a:endParaRPr>
          </a:p>
          <a:p>
            <a:r>
              <a:rPr lang="zh-CN" altLang="en-US" sz="2000" dirty="0">
                <a:solidFill>
                  <a:srgbClr val="80CBC4"/>
                </a:solidFill>
              </a:rPr>
              <a:t>      </a:t>
            </a:r>
            <a:r>
              <a:rPr lang="en-US" altLang="zh-CN" sz="2000" dirty="0">
                <a:solidFill>
                  <a:srgbClr val="C792EA"/>
                </a:solidFill>
              </a:rPr>
              <a:t>if</a:t>
            </a:r>
            <a:r>
              <a:rPr lang="en-US" altLang="zh-CN" sz="2000" dirty="0">
                <a:solidFill>
                  <a:srgbClr val="80CBC4"/>
                </a:solidFill>
              </a:rPr>
              <a:t> (</a:t>
            </a:r>
            <a:r>
              <a:rPr lang="en-US" altLang="zh-CN" sz="2000" dirty="0" err="1">
                <a:solidFill>
                  <a:srgbClr val="FF5370"/>
                </a:solidFill>
              </a:rPr>
              <a:t>num</a:t>
            </a:r>
            <a:r>
              <a:rPr lang="en-US" altLang="zh-CN" sz="2000" dirty="0">
                <a:solidFill>
                  <a:srgbClr val="80CBC4"/>
                </a:solidFill>
              </a:rPr>
              <a:t> % </a:t>
            </a:r>
            <a:r>
              <a:rPr lang="en-US" altLang="zh-CN" sz="2000" dirty="0">
                <a:solidFill>
                  <a:srgbClr val="F77669"/>
                </a:solidFill>
              </a:rPr>
              <a:t>4</a:t>
            </a:r>
            <a:r>
              <a:rPr lang="en-US" altLang="zh-CN" sz="2000" dirty="0">
                <a:solidFill>
                  <a:srgbClr val="80CBC4"/>
                </a:solidFill>
              </a:rPr>
              <a:t> === </a:t>
            </a:r>
            <a:r>
              <a:rPr lang="en-US" altLang="zh-CN" sz="2000" dirty="0">
                <a:solidFill>
                  <a:srgbClr val="F77669"/>
                </a:solidFill>
              </a:rPr>
              <a:t>0</a:t>
            </a:r>
            <a:r>
              <a:rPr lang="en-US" altLang="zh-CN" sz="2000" dirty="0">
                <a:solidFill>
                  <a:srgbClr val="80CBC4"/>
                </a:solidFill>
              </a:rPr>
              <a:t> &amp;&amp; </a:t>
            </a:r>
            <a:r>
              <a:rPr lang="en-US" altLang="zh-CN" sz="2000" dirty="0" err="1">
                <a:solidFill>
                  <a:srgbClr val="FF5370"/>
                </a:solidFill>
              </a:rPr>
              <a:t>num</a:t>
            </a:r>
            <a:r>
              <a:rPr lang="en-US" altLang="zh-CN" sz="2000" dirty="0">
                <a:solidFill>
                  <a:srgbClr val="80CBC4"/>
                </a:solidFill>
              </a:rPr>
              <a:t> % </a:t>
            </a:r>
            <a:r>
              <a:rPr lang="en-US" altLang="zh-CN" sz="2000" dirty="0">
                <a:solidFill>
                  <a:srgbClr val="F77669"/>
                </a:solidFill>
              </a:rPr>
              <a:t>100</a:t>
            </a:r>
            <a:r>
              <a:rPr lang="en-US" altLang="zh-CN" sz="2000" dirty="0">
                <a:solidFill>
                  <a:srgbClr val="80CBC4"/>
                </a:solidFill>
              </a:rPr>
              <a:t> === </a:t>
            </a:r>
            <a:r>
              <a:rPr lang="en-US" altLang="zh-CN" sz="2000" dirty="0">
                <a:solidFill>
                  <a:srgbClr val="F77669"/>
                </a:solidFill>
              </a:rPr>
              <a:t>0</a:t>
            </a:r>
            <a:r>
              <a:rPr lang="en-US" altLang="zh-CN" sz="2000" dirty="0">
                <a:solidFill>
                  <a:srgbClr val="80CBC4"/>
                </a:solidFill>
              </a:rPr>
              <a:t>) {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80CBC4"/>
                </a:solidFill>
              </a:rPr>
              <a:t>        </a:t>
            </a:r>
            <a:r>
              <a:rPr lang="en-US" altLang="zh-CN" sz="2000" dirty="0">
                <a:solidFill>
                  <a:srgbClr val="89DDFF"/>
                </a:solidFill>
              </a:rPr>
              <a:t>alert</a:t>
            </a:r>
            <a:r>
              <a:rPr lang="en-US" altLang="zh-CN" sz="2000" dirty="0">
                <a:solidFill>
                  <a:srgbClr val="80CBC4"/>
                </a:solidFill>
              </a:rPr>
              <a:t>(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C3E88D"/>
                </a:solidFill>
              </a:rPr>
              <a:t>Yes!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80CBC4"/>
                </a:solidFill>
              </a:rPr>
              <a:t>)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80CBC4"/>
                </a:solidFill>
              </a:rPr>
              <a:t>      } </a:t>
            </a:r>
            <a:r>
              <a:rPr lang="en-US" altLang="zh-CN" sz="2000" dirty="0">
                <a:solidFill>
                  <a:srgbClr val="C792EA"/>
                </a:solidFill>
              </a:rPr>
              <a:t>else</a:t>
            </a:r>
            <a:r>
              <a:rPr lang="en-US" altLang="zh-CN" sz="2000" dirty="0">
                <a:solidFill>
                  <a:srgbClr val="80CBC4"/>
                </a:solidFill>
              </a:rPr>
              <a:t> {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80CBC4"/>
                </a:solidFill>
              </a:rPr>
              <a:t>        </a:t>
            </a:r>
            <a:r>
              <a:rPr lang="en-US" altLang="zh-CN" sz="2000" dirty="0">
                <a:solidFill>
                  <a:srgbClr val="89DDFF"/>
                </a:solidFill>
              </a:rPr>
              <a:t>alert</a:t>
            </a:r>
            <a:r>
              <a:rPr lang="en-US" altLang="zh-CN" sz="2000" dirty="0">
                <a:solidFill>
                  <a:srgbClr val="80CBC4"/>
                </a:solidFill>
              </a:rPr>
              <a:t>(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C3E88D"/>
                </a:solidFill>
              </a:rPr>
              <a:t>No!</a:t>
            </a:r>
            <a:r>
              <a:rPr lang="en-US" altLang="zh-CN" sz="2000" dirty="0">
                <a:solidFill>
                  <a:srgbClr val="D9F5DD"/>
                </a:solidFill>
              </a:rPr>
              <a:t>'</a:t>
            </a:r>
            <a:r>
              <a:rPr lang="en-US" altLang="zh-CN" sz="2000" dirty="0">
                <a:solidFill>
                  <a:srgbClr val="80CBC4"/>
                </a:solidFill>
              </a:rPr>
              <a:t>)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80CBC4"/>
                </a:solidFill>
              </a:rPr>
              <a:t>      }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80CBC4"/>
                </a:solidFill>
              </a:rPr>
              <a:t>    </a:t>
            </a:r>
            <a:r>
              <a:rPr lang="en-US" altLang="zh-CN" sz="2000" dirty="0">
                <a:solidFill>
                  <a:srgbClr val="CDD3DE"/>
                </a:solidFill>
              </a:rPr>
              <a:t>&lt;</a:t>
            </a:r>
            <a:r>
              <a:rPr lang="en-US" altLang="zh-CN" sz="2000" dirty="0">
                <a:solidFill>
                  <a:srgbClr val="80CBC4"/>
                </a:solidFill>
              </a:rPr>
              <a:t>/</a:t>
            </a:r>
            <a:r>
              <a:rPr lang="en-US" altLang="zh-CN" sz="2000" dirty="0">
                <a:solidFill>
                  <a:srgbClr val="FF5370"/>
                </a:solidFill>
              </a:rPr>
              <a:t>script</a:t>
            </a:r>
            <a:r>
              <a:rPr lang="en-US" altLang="zh-CN" sz="2000" dirty="0">
                <a:solidFill>
                  <a:srgbClr val="80CBC4"/>
                </a:solidFill>
              </a:rPr>
              <a:t>&gt;</a:t>
            </a:r>
            <a:endParaRPr lang="en-US" altLang="zh-CN" sz="2000" dirty="0">
              <a:solidFill>
                <a:srgbClr val="CBCCC6"/>
              </a:solidFill>
            </a:endParaRPr>
          </a:p>
          <a:p>
            <a:r>
              <a:rPr lang="en-US" altLang="zh-CN" sz="2000" dirty="0">
                <a:solidFill>
                  <a:srgbClr val="CDD3DE"/>
                </a:solidFill>
              </a:rPr>
              <a:t>  </a:t>
            </a:r>
            <a:r>
              <a:rPr lang="en-US" altLang="zh-CN" sz="2000" dirty="0">
                <a:solidFill>
                  <a:srgbClr val="80CBC4"/>
                </a:solidFill>
              </a:rPr>
              <a:t>&lt;/</a:t>
            </a:r>
            <a:r>
              <a:rPr lang="en-US" altLang="zh-CN" sz="2000" dirty="0">
                <a:solidFill>
                  <a:srgbClr val="FF5370"/>
                </a:solidFill>
              </a:rPr>
              <a:t>body</a:t>
            </a:r>
            <a:r>
              <a:rPr lang="en-US" altLang="zh-CN" sz="2000" dirty="0">
                <a:solidFill>
                  <a:srgbClr val="80CBC4"/>
                </a:solidFill>
              </a:rPr>
              <a:t>&gt;</a:t>
            </a:r>
            <a:endParaRPr lang="en-US" altLang="zh-CN" sz="2000" b="0" dirty="0">
              <a:solidFill>
                <a:srgbClr val="CBCCC6"/>
              </a:solidFill>
              <a:effectLst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62000" y="684949"/>
            <a:ext cx="309636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8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运算符优先级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742950" y="5632895"/>
            <a:ext cx="8303261" cy="9060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"/>
              <a:tabLst>
                <a:tab pos="241300" algn="l"/>
              </a:tabLst>
            </a:pPr>
            <a:r>
              <a:rPr sz="2400" spc="-25" dirty="0">
                <a:solidFill>
                  <a:srgbClr val="252525"/>
                </a:solidFill>
                <a:latin typeface="宋体"/>
                <a:cs typeface="宋体"/>
              </a:rPr>
              <a:t>一元运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算</a:t>
            </a:r>
            <a:r>
              <a:rPr sz="2400" spc="-25" dirty="0">
                <a:solidFill>
                  <a:srgbClr val="252525"/>
                </a:solidFill>
                <a:latin typeface="宋体"/>
                <a:cs typeface="宋体"/>
              </a:rPr>
              <a:t>符里面的</a:t>
            </a:r>
            <a:r>
              <a:rPr sz="2400" spc="-40" dirty="0">
                <a:solidFill>
                  <a:srgbClr val="FF0000"/>
                </a:solidFill>
                <a:latin typeface="宋体"/>
                <a:cs typeface="宋体"/>
              </a:rPr>
              <a:t>逻</a:t>
            </a:r>
            <a:r>
              <a:rPr sz="2400" spc="-25" dirty="0">
                <a:solidFill>
                  <a:srgbClr val="FF0000"/>
                </a:solidFill>
                <a:latin typeface="宋体"/>
                <a:cs typeface="宋体"/>
              </a:rPr>
              <a:t>辑</a:t>
            </a:r>
            <a:r>
              <a:rPr sz="2400" spc="-40" dirty="0">
                <a:solidFill>
                  <a:srgbClr val="FF0000"/>
                </a:solidFill>
                <a:latin typeface="宋体"/>
                <a:cs typeface="宋体"/>
              </a:rPr>
              <a:t>非</a:t>
            </a:r>
            <a:r>
              <a:rPr sz="2400" spc="-20" dirty="0">
                <a:solidFill>
                  <a:srgbClr val="FF0000"/>
                </a:solidFill>
                <a:latin typeface="宋体"/>
                <a:cs typeface="宋体"/>
              </a:rPr>
              <a:t>优</a:t>
            </a:r>
            <a:r>
              <a:rPr sz="2400" spc="-30" dirty="0">
                <a:solidFill>
                  <a:srgbClr val="FF0000"/>
                </a:solidFill>
                <a:latin typeface="宋体"/>
                <a:cs typeface="宋体"/>
              </a:rPr>
              <a:t>先</a:t>
            </a:r>
            <a:r>
              <a:rPr sz="2400" spc="-40" dirty="0">
                <a:solidFill>
                  <a:srgbClr val="FF0000"/>
                </a:solidFill>
                <a:latin typeface="宋体"/>
                <a:cs typeface="宋体"/>
              </a:rPr>
              <a:t>级</a:t>
            </a:r>
            <a:r>
              <a:rPr sz="2400" spc="-25" dirty="0">
                <a:solidFill>
                  <a:srgbClr val="FF0000"/>
                </a:solidFill>
                <a:latin typeface="宋体"/>
                <a:cs typeface="宋体"/>
              </a:rPr>
              <a:t>很高</a:t>
            </a:r>
            <a:endParaRPr sz="2400" dirty="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1180"/>
              </a:spcBef>
              <a:buFont typeface="Wingdings" panose="05000000000000000000"/>
              <a:buChar char=""/>
              <a:tabLst>
                <a:tab pos="241300" algn="l"/>
              </a:tabLst>
            </a:pPr>
            <a:r>
              <a:rPr sz="2400" spc="-20" dirty="0">
                <a:solidFill>
                  <a:srgbClr val="252525"/>
                </a:solidFill>
                <a:latin typeface="宋体"/>
                <a:cs typeface="宋体"/>
              </a:rPr>
              <a:t>逻</a:t>
            </a:r>
            <a:r>
              <a:rPr sz="2400" spc="-25" dirty="0">
                <a:solidFill>
                  <a:srgbClr val="252525"/>
                </a:solidFill>
                <a:latin typeface="宋体"/>
                <a:cs typeface="宋体"/>
              </a:rPr>
              <a:t>辑</a:t>
            </a:r>
            <a:r>
              <a:rPr sz="2400" spc="-20" dirty="0">
                <a:solidFill>
                  <a:srgbClr val="252525"/>
                </a:solidFill>
                <a:latin typeface="宋体"/>
                <a:cs typeface="宋体"/>
              </a:rPr>
              <a:t>与比</a:t>
            </a:r>
            <a:r>
              <a:rPr sz="2400" spc="-25" dirty="0">
                <a:solidFill>
                  <a:srgbClr val="252525"/>
                </a:solidFill>
                <a:latin typeface="宋体"/>
                <a:cs typeface="宋体"/>
              </a:rPr>
              <a:t>逻</a:t>
            </a:r>
            <a:r>
              <a:rPr sz="2400" spc="-20" dirty="0">
                <a:solidFill>
                  <a:srgbClr val="252525"/>
                </a:solidFill>
                <a:latin typeface="宋体"/>
                <a:cs typeface="宋体"/>
              </a:rPr>
              <a:t>辑或</a:t>
            </a:r>
            <a:r>
              <a:rPr sz="2400" spc="-25" dirty="0">
                <a:solidFill>
                  <a:srgbClr val="252525"/>
                </a:solidFill>
                <a:latin typeface="宋体"/>
                <a:cs typeface="宋体"/>
              </a:rPr>
              <a:t>优</a:t>
            </a:r>
            <a:r>
              <a:rPr sz="2400" spc="-35" dirty="0">
                <a:solidFill>
                  <a:srgbClr val="252525"/>
                </a:solidFill>
                <a:latin typeface="宋体"/>
                <a:cs typeface="宋体"/>
              </a:rPr>
              <a:t>先</a:t>
            </a:r>
            <a:r>
              <a:rPr sz="2400" spc="-25" dirty="0">
                <a:solidFill>
                  <a:srgbClr val="252525"/>
                </a:solidFill>
                <a:latin typeface="宋体"/>
                <a:cs typeface="宋体"/>
              </a:rPr>
              <a:t>级</a:t>
            </a:r>
            <a:r>
              <a:rPr sz="2400" spc="-20" dirty="0">
                <a:solidFill>
                  <a:srgbClr val="252525"/>
                </a:solidFill>
                <a:latin typeface="宋体"/>
                <a:cs typeface="宋体"/>
              </a:rPr>
              <a:t>高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762000" y="1351432"/>
            <a:ext cx="7924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 err="1" smtClean="0">
                <a:latin typeface="宋体"/>
                <a:cs typeface="宋体"/>
              </a:rPr>
              <a:t>掌握运算符优先级</a:t>
            </a:r>
            <a:r>
              <a:rPr sz="2400" spc="-30" dirty="0" err="1">
                <a:latin typeface="宋体"/>
                <a:cs typeface="宋体"/>
              </a:rPr>
              <a:t>，能判断运算符执行的顺序</a:t>
            </a:r>
            <a:endParaRPr sz="2400" dirty="0">
              <a:latin typeface="宋体"/>
              <a:cs typeface="宋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927785"/>
            <a:ext cx="7853362" cy="3501032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38200" y="655023"/>
            <a:ext cx="309636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18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运算符优先级</a:t>
            </a:r>
            <a:endParaRPr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object 2"/>
          <p:cNvSpPr txBox="1"/>
          <p:nvPr/>
        </p:nvSpPr>
        <p:spPr>
          <a:xfrm>
            <a:off x="1098600" y="1298828"/>
            <a:ext cx="50101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20" dirty="0">
                <a:solidFill>
                  <a:srgbClr val="252525"/>
                </a:solidFill>
                <a:latin typeface="微软雅黑"/>
                <a:cs typeface="微软雅黑"/>
              </a:rPr>
              <a:t>练习</a:t>
            </a:r>
            <a:endParaRPr sz="1850">
              <a:latin typeface="微软雅黑"/>
              <a:cs typeface="微软雅黑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1019555" y="1938527"/>
            <a:ext cx="4346575" cy="3701013"/>
          </a:xfrm>
          <a:prstGeom prst="rect">
            <a:avLst/>
          </a:prstGeom>
          <a:solidFill>
            <a:srgbClr val="E6EFFF"/>
          </a:solidFill>
        </p:spPr>
        <p:txBody>
          <a:bodyPr vert="horz" wrap="square" lIns="0" tIns="121920" rIns="0" bIns="0" rtlCol="0">
            <a:spAutoFit/>
          </a:bodyPr>
          <a:lstStyle/>
          <a:p>
            <a:pPr marL="237490" marR="694690">
              <a:lnSpc>
                <a:spcPct val="150000"/>
              </a:lnSpc>
              <a:spcBef>
                <a:spcPts val="960"/>
              </a:spcBef>
            </a:pPr>
            <a:r>
              <a:rPr sz="1400" spc="-5" dirty="0">
                <a:latin typeface="Courier New" panose="02070409020205090404"/>
                <a:cs typeface="Courier New" panose="02070409020205090404"/>
              </a:rPr>
              <a:t>let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a = 3 &gt; 5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&amp;&amp;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2 &lt; 7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&amp;&amp;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3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==</a:t>
            </a:r>
            <a:r>
              <a:rPr sz="1400" spc="-160" dirty="0">
                <a:latin typeface="Courier New" panose="02070409020205090404"/>
                <a:cs typeface="Courier New" panose="02070409020205090404"/>
              </a:rPr>
              <a:t>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4 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console.log(a);</a:t>
            </a:r>
            <a:endParaRPr sz="1400" dirty="0">
              <a:latin typeface="Courier New" panose="02070409020205090404"/>
              <a:cs typeface="Courier New" panose="020704090202050904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 dirty="0">
              <a:latin typeface="Times New Roman" panose="02020503050405090304"/>
              <a:cs typeface="Times New Roman" panose="02020503050405090304"/>
            </a:endParaRPr>
          </a:p>
          <a:p>
            <a:pPr marL="237490" marR="588010">
              <a:lnSpc>
                <a:spcPct val="150000"/>
              </a:lnSpc>
              <a:spcBef>
                <a:spcPts val="5"/>
              </a:spcBef>
            </a:pPr>
            <a:r>
              <a:rPr sz="1400" spc="-5" dirty="0">
                <a:latin typeface="Courier New" panose="02070409020205090404"/>
                <a:cs typeface="Courier New" panose="02070409020205090404"/>
              </a:rPr>
              <a:t>let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b = 3 </a:t>
            </a:r>
            <a:r>
              <a:rPr sz="1400" spc="-10" dirty="0">
                <a:latin typeface="Courier New" panose="02070409020205090404"/>
                <a:cs typeface="Courier New" panose="02070409020205090404"/>
              </a:rPr>
              <a:t>&lt;=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4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||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3 &gt; 1 </a:t>
            </a:r>
            <a:r>
              <a:rPr sz="1400" spc="-10" dirty="0">
                <a:latin typeface="Courier New" panose="02070409020205090404"/>
                <a:cs typeface="Courier New" panose="02070409020205090404"/>
              </a:rPr>
              <a:t>||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3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!=</a:t>
            </a:r>
            <a:r>
              <a:rPr sz="1400" spc="-114" dirty="0">
                <a:latin typeface="Courier New" panose="02070409020205090404"/>
                <a:cs typeface="Courier New" panose="02070409020205090404"/>
              </a:rPr>
              <a:t>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2 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console.log(b);</a:t>
            </a:r>
            <a:endParaRPr sz="1400" dirty="0">
              <a:latin typeface="Courier New" panose="02070409020205090404"/>
              <a:cs typeface="Courier New" panose="020704090202050904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 dirty="0">
              <a:latin typeface="Times New Roman" panose="02020503050405090304"/>
              <a:cs typeface="Times New Roman" panose="02020503050405090304"/>
            </a:endParaRPr>
          </a:p>
          <a:p>
            <a:pPr marL="237490" marR="2291080">
              <a:lnSpc>
                <a:spcPct val="150000"/>
              </a:lnSpc>
            </a:pPr>
            <a:r>
              <a:rPr sz="1400" spc="-5" dirty="0">
                <a:latin typeface="Courier New" panose="02070409020205090404"/>
                <a:cs typeface="Courier New" panose="02070409020205090404"/>
              </a:rPr>
              <a:t>let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c = 2 </a:t>
            </a:r>
            <a:r>
              <a:rPr sz="1400" spc="-10" dirty="0">
                <a:latin typeface="Courier New" panose="02070409020205090404"/>
                <a:cs typeface="Courier New" panose="02070409020205090404"/>
              </a:rPr>
              <a:t>===</a:t>
            </a:r>
            <a:r>
              <a:rPr sz="1400" spc="-105" dirty="0">
                <a:latin typeface="Courier New" panose="02070409020205090404"/>
                <a:cs typeface="Courier New" panose="02070409020205090404"/>
              </a:rPr>
              <a:t>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"2"  console.log(c);</a:t>
            </a:r>
            <a:endParaRPr sz="1400" dirty="0">
              <a:latin typeface="Courier New" panose="02070409020205090404"/>
              <a:cs typeface="Courier New" panose="020704090202050904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 dirty="0">
              <a:latin typeface="Times New Roman" panose="02020503050405090304"/>
              <a:cs typeface="Times New Roman" panose="02020503050405090304"/>
            </a:endParaRPr>
          </a:p>
          <a:p>
            <a:pPr marL="237490" marR="1969770">
              <a:lnSpc>
                <a:spcPct val="150000"/>
              </a:lnSpc>
            </a:pPr>
            <a:r>
              <a:rPr sz="1400" spc="-5" dirty="0">
                <a:latin typeface="Courier New" panose="02070409020205090404"/>
                <a:cs typeface="Courier New" panose="02070409020205090404"/>
              </a:rPr>
              <a:t>let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d =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!c ||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b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&amp;&amp;</a:t>
            </a:r>
            <a:r>
              <a:rPr sz="1400" spc="-100" dirty="0">
                <a:latin typeface="Courier New" panose="02070409020205090404"/>
                <a:cs typeface="Courier New" panose="02070409020205090404"/>
              </a:rPr>
              <a:t> </a:t>
            </a:r>
            <a:r>
              <a:rPr sz="1400" dirty="0">
                <a:latin typeface="Courier New" panose="02070409020205090404"/>
                <a:cs typeface="Courier New" panose="02070409020205090404"/>
              </a:rPr>
              <a:t>a  </a:t>
            </a:r>
            <a:r>
              <a:rPr sz="1400" spc="-5" dirty="0">
                <a:latin typeface="Courier New" panose="02070409020205090404"/>
                <a:cs typeface="Courier New" panose="02070409020205090404"/>
              </a:rPr>
              <a:t>console.log(d);</a:t>
            </a:r>
            <a:endParaRPr sz="1400" dirty="0">
              <a:latin typeface="Courier New" panose="02070409020205090404"/>
              <a:cs typeface="Courier New" panose="02070409020205090404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6877050" y="2102485"/>
            <a:ext cx="3905250" cy="289560"/>
          </a:xfrm>
          <a:prstGeom prst="rect">
            <a:avLst/>
          </a:prstGeom>
          <a:solidFill>
            <a:schemeClr val="accent6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黑体"/>
                <a:cs typeface="黑体"/>
              </a:rPr>
              <a:t>答案是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alse</a:t>
            </a:r>
            <a:r>
              <a:rPr sz="1800" dirty="0">
                <a:solidFill>
                  <a:srgbClr val="FFFFFF"/>
                </a:solidFill>
                <a:latin typeface="黑体"/>
                <a:cs typeface="黑体"/>
              </a:rPr>
              <a:t>，此时发生了逻辑与中断</a:t>
            </a:r>
            <a:endParaRPr sz="1800" dirty="0">
              <a:latin typeface="黑体"/>
              <a:cs typeface="黑体"/>
            </a:endParaRPr>
          </a:p>
        </p:txBody>
      </p:sp>
      <p:sp>
        <p:nvSpPr>
          <p:cNvPr id="11" name="object 7"/>
          <p:cNvSpPr/>
          <p:nvPr/>
        </p:nvSpPr>
        <p:spPr>
          <a:xfrm>
            <a:off x="5588508" y="2215895"/>
            <a:ext cx="1090295" cy="76200"/>
          </a:xfrm>
          <a:custGeom>
            <a:avLst/>
            <a:gdLst/>
            <a:ahLst/>
            <a:cxnLst/>
            <a:rect l="l" t="t" r="r" b="b"/>
            <a:pathLst>
              <a:path w="109029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09029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090295" h="76200">
                <a:moveTo>
                  <a:pt x="10899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089914" y="44450"/>
                </a:lnTo>
                <a:lnTo>
                  <a:pt x="1089914" y="31750"/>
                </a:lnTo>
                <a:close/>
              </a:path>
            </a:pathLst>
          </a:custGeom>
          <a:solidFill>
            <a:srgbClr val="497DBA"/>
          </a:solid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9"/>
          <p:cNvSpPr/>
          <p:nvPr/>
        </p:nvSpPr>
        <p:spPr>
          <a:xfrm>
            <a:off x="5606796" y="3246120"/>
            <a:ext cx="1090295" cy="76200"/>
          </a:xfrm>
          <a:custGeom>
            <a:avLst/>
            <a:gdLst/>
            <a:ahLst/>
            <a:cxnLst/>
            <a:rect l="l" t="t" r="r" b="b"/>
            <a:pathLst>
              <a:path w="109029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09029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090295" h="76200">
                <a:moveTo>
                  <a:pt x="108991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089913" y="44450"/>
                </a:lnTo>
                <a:lnTo>
                  <a:pt x="1089913" y="31750"/>
                </a:lnTo>
                <a:close/>
              </a:path>
            </a:pathLst>
          </a:custGeom>
          <a:solidFill>
            <a:srgbClr val="497DBA"/>
          </a:solid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1"/>
          <p:cNvSpPr txBox="1"/>
          <p:nvPr/>
        </p:nvSpPr>
        <p:spPr>
          <a:xfrm>
            <a:off x="6916928" y="3132582"/>
            <a:ext cx="3616325" cy="289823"/>
          </a:xfrm>
          <a:prstGeom prst="rect">
            <a:avLst/>
          </a:prstGeom>
          <a:solidFill>
            <a:schemeClr val="accent6"/>
          </a:solidFill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 err="1">
                <a:solidFill>
                  <a:srgbClr val="FFFFFF"/>
                </a:solidFill>
                <a:latin typeface="黑体"/>
                <a:cs typeface="黑体"/>
              </a:rPr>
              <a:t>答案是</a:t>
            </a:r>
            <a:r>
              <a:rPr sz="1800" dirty="0" err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10" dirty="0" err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5" dirty="0" err="1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5" dirty="0" err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 err="1">
                <a:solidFill>
                  <a:srgbClr val="FFFFFF"/>
                </a:solidFill>
                <a:latin typeface="黑体"/>
                <a:cs typeface="黑体"/>
              </a:rPr>
              <a:t>，</a:t>
            </a:r>
            <a:r>
              <a:rPr sz="1800" dirty="0" err="1" smtClean="0">
                <a:solidFill>
                  <a:srgbClr val="FFFFFF"/>
                </a:solidFill>
                <a:latin typeface="黑体"/>
                <a:cs typeface="黑体"/>
              </a:rPr>
              <a:t>此时发生了逻辑或中断</a:t>
            </a:r>
            <a:endParaRPr sz="1800" dirty="0">
              <a:latin typeface="黑体"/>
              <a:cs typeface="黑体"/>
            </a:endParaRPr>
          </a:p>
        </p:txBody>
      </p:sp>
      <p:sp>
        <p:nvSpPr>
          <p:cNvPr id="17" name="object 12"/>
          <p:cNvSpPr/>
          <p:nvPr/>
        </p:nvSpPr>
        <p:spPr>
          <a:xfrm>
            <a:off x="5606796" y="4201667"/>
            <a:ext cx="1090295" cy="76200"/>
          </a:xfrm>
          <a:custGeom>
            <a:avLst/>
            <a:gdLst/>
            <a:ahLst/>
            <a:cxnLst/>
            <a:rect l="l" t="t" r="r" b="b"/>
            <a:pathLst>
              <a:path w="1090295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4449"/>
                </a:lnTo>
                <a:lnTo>
                  <a:pt x="63500" y="44449"/>
                </a:lnTo>
                <a:lnTo>
                  <a:pt x="63500" y="31749"/>
                </a:lnTo>
                <a:lnTo>
                  <a:pt x="76200" y="31749"/>
                </a:lnTo>
                <a:lnTo>
                  <a:pt x="76200" y="0"/>
                </a:lnTo>
                <a:close/>
              </a:path>
              <a:path w="1090295" h="76200">
                <a:moveTo>
                  <a:pt x="76200" y="31749"/>
                </a:moveTo>
                <a:lnTo>
                  <a:pt x="63500" y="31749"/>
                </a:lnTo>
                <a:lnTo>
                  <a:pt x="63500" y="44449"/>
                </a:lnTo>
                <a:lnTo>
                  <a:pt x="76200" y="44449"/>
                </a:lnTo>
                <a:lnTo>
                  <a:pt x="76200" y="31749"/>
                </a:lnTo>
                <a:close/>
              </a:path>
              <a:path w="1090295" h="76200">
                <a:moveTo>
                  <a:pt x="1089913" y="31749"/>
                </a:moveTo>
                <a:lnTo>
                  <a:pt x="76200" y="31749"/>
                </a:lnTo>
                <a:lnTo>
                  <a:pt x="76200" y="44449"/>
                </a:lnTo>
                <a:lnTo>
                  <a:pt x="1089913" y="44449"/>
                </a:lnTo>
                <a:lnTo>
                  <a:pt x="1089913" y="31749"/>
                </a:lnTo>
                <a:close/>
              </a:path>
            </a:pathLst>
          </a:custGeom>
          <a:solidFill>
            <a:srgbClr val="497DBA"/>
          </a:solid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3"/>
          <p:cNvSpPr/>
          <p:nvPr/>
        </p:nvSpPr>
        <p:spPr>
          <a:xfrm>
            <a:off x="5606796" y="5277611"/>
            <a:ext cx="1090295" cy="76200"/>
          </a:xfrm>
          <a:custGeom>
            <a:avLst/>
            <a:gdLst/>
            <a:ahLst/>
            <a:cxnLst/>
            <a:rect l="l" t="t" r="r" b="b"/>
            <a:pathLst>
              <a:path w="109029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09029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090295" h="76200">
                <a:moveTo>
                  <a:pt x="108991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089913" y="44450"/>
                </a:lnTo>
                <a:lnTo>
                  <a:pt x="1089913" y="31750"/>
                </a:lnTo>
                <a:close/>
              </a:path>
            </a:pathLst>
          </a:custGeom>
          <a:solidFill>
            <a:srgbClr val="497DBA"/>
          </a:solidFill>
          <a:ln>
            <a:solidFill>
              <a:schemeClr val="accent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15"/>
          <p:cNvSpPr txBox="1"/>
          <p:nvPr/>
        </p:nvSpPr>
        <p:spPr>
          <a:xfrm>
            <a:off x="6916928" y="5155768"/>
            <a:ext cx="3616325" cy="300355"/>
          </a:xfrm>
          <a:prstGeom prst="rect">
            <a:avLst/>
          </a:prstGeom>
          <a:solidFill>
            <a:schemeClr val="accent6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黑体"/>
                <a:cs typeface="黑体"/>
              </a:rPr>
              <a:t>答案是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sz="1800" spc="-5" dirty="0">
                <a:solidFill>
                  <a:srgbClr val="FFFFFF"/>
                </a:solidFill>
                <a:latin typeface="黑体"/>
                <a:cs typeface="黑体"/>
              </a:rPr>
              <a:t>，此时发生了逻辑或中断</a:t>
            </a:r>
            <a:endParaRPr sz="1800" dirty="0">
              <a:latin typeface="黑体"/>
              <a:cs typeface="黑体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16928" y="4050274"/>
            <a:ext cx="3616325" cy="289823"/>
          </a:xfrm>
          <a:prstGeom prst="rect">
            <a:avLst/>
          </a:prstGeom>
          <a:solidFill>
            <a:schemeClr val="accent6"/>
          </a:solidFill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zh-CN" altLang="en-US" dirty="0">
                <a:solidFill>
                  <a:srgbClr val="FFFFFF"/>
                </a:solidFill>
                <a:latin typeface="黑体"/>
                <a:cs typeface="黑体"/>
              </a:rPr>
              <a:t>答案是</a:t>
            </a:r>
            <a:r>
              <a:rPr lang="en-US" altLang="zh-CN" dirty="0">
                <a:solidFill>
                  <a:srgbClr val="FFFFFF"/>
                </a:solidFill>
                <a:latin typeface="黑体"/>
                <a:cs typeface="黑体"/>
              </a:rPr>
              <a:t>false</a:t>
            </a:r>
            <a:r>
              <a:rPr lang="zh-CN" altLang="en-US" dirty="0">
                <a:solidFill>
                  <a:srgbClr val="FFFFFF"/>
                </a:solidFill>
                <a:latin typeface="黑体"/>
                <a:cs typeface="黑体"/>
              </a:rPr>
              <a:t> 数据类型不匹配</a:t>
            </a:r>
            <a:endParaRPr lang="zh-CN" altLang="en-US" dirty="0">
              <a:solidFill>
                <a:srgbClr val="FFFFFF"/>
              </a:solidFill>
              <a:latin typeface="黑体"/>
              <a:cs typeface="黑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058400" y="685800"/>
            <a:ext cx="2133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运算符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495" y="662637"/>
            <a:ext cx="17049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常见错误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8315" y="1230799"/>
            <a:ext cx="579488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110" algn="l"/>
              </a:tabLst>
            </a:pPr>
            <a:r>
              <a:rPr lang="en-US" sz="2400" spc="-85" dirty="0" smtClean="0">
                <a:solidFill>
                  <a:srgbClr val="404040"/>
                </a:solidFill>
                <a:latin typeface="宋体"/>
                <a:cs typeface="宋体"/>
              </a:rPr>
              <a:t>1</a:t>
            </a:r>
            <a:r>
              <a:rPr lang="zh-CN" altLang="en-US" sz="2400" spc="-85" dirty="0" smtClean="0">
                <a:solidFill>
                  <a:srgbClr val="404040"/>
                </a:solidFill>
                <a:latin typeface="宋体"/>
                <a:cs typeface="宋体"/>
              </a:rPr>
              <a:t>、</a:t>
            </a:r>
            <a:r>
              <a:rPr sz="28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下面可能出现的原因是什么</a:t>
            </a:r>
            <a:r>
              <a:rPr sz="2800" spc="-30" dirty="0">
                <a:solidFill>
                  <a:srgbClr val="252525"/>
                </a:solidFill>
                <a:latin typeface="宋体"/>
                <a:cs typeface="宋体"/>
              </a:rPr>
              <a:t>？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315" y="4795486"/>
            <a:ext cx="5988305" cy="17434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分析：</a:t>
            </a:r>
            <a:endParaRPr sz="20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提示</a:t>
            </a:r>
            <a:r>
              <a:rPr sz="2000" spc="-385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000" spc="170" dirty="0">
                <a:solidFill>
                  <a:srgbClr val="252525"/>
                </a:solidFill>
                <a:latin typeface="宋体"/>
                <a:cs typeface="宋体"/>
              </a:rPr>
              <a:t>age</a:t>
            </a: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变量没有定义过</a:t>
            </a:r>
            <a:endParaRPr sz="20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很可能</a:t>
            </a:r>
            <a:r>
              <a:rPr sz="2000" spc="-385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000" spc="170" dirty="0">
                <a:solidFill>
                  <a:srgbClr val="252525"/>
                </a:solidFill>
                <a:latin typeface="宋体"/>
                <a:cs typeface="宋体"/>
              </a:rPr>
              <a:t>age</a:t>
            </a:r>
            <a:r>
              <a:rPr sz="2000" spc="-395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变量没有声明和赋值</a:t>
            </a:r>
            <a:endParaRPr sz="20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或者我们输出变量名和声明的变量不一致引起</a:t>
            </a:r>
            <a:r>
              <a:rPr sz="2000" spc="-20" dirty="0">
                <a:solidFill>
                  <a:srgbClr val="252525"/>
                </a:solidFill>
                <a:latin typeface="宋体"/>
                <a:cs typeface="宋体"/>
              </a:rPr>
              <a:t>的</a:t>
            </a: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。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1890527"/>
            <a:ext cx="8417052" cy="275996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305800" y="4897882"/>
            <a:ext cx="3537966" cy="1448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142" y="662828"/>
            <a:ext cx="236725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常见错误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970" y="1424222"/>
            <a:ext cx="556920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110" dirty="0">
                <a:solidFill>
                  <a:srgbClr val="252525"/>
                </a:solidFill>
                <a:latin typeface="宋体"/>
                <a:cs typeface="宋体"/>
              </a:rPr>
              <a:t>2.</a:t>
            </a:r>
            <a:r>
              <a:rPr sz="2400" spc="-434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下面可能出现的原因是什么？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50" y="4458411"/>
            <a:ext cx="5581650" cy="17434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分析：</a:t>
            </a:r>
            <a:endParaRPr sz="20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提示</a:t>
            </a:r>
            <a:r>
              <a:rPr sz="2000" spc="-385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000" spc="90" dirty="0">
                <a:solidFill>
                  <a:srgbClr val="252525"/>
                </a:solidFill>
                <a:latin typeface="宋体"/>
                <a:cs typeface="宋体"/>
              </a:rPr>
              <a:t>“age”</a:t>
            </a: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已经声明</a:t>
            </a:r>
            <a:endParaRPr sz="20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很大概率是因为使用</a:t>
            </a:r>
            <a:r>
              <a:rPr sz="2000" spc="-165" dirty="0">
                <a:solidFill>
                  <a:srgbClr val="252525"/>
                </a:solidFill>
                <a:latin typeface="宋体"/>
                <a:cs typeface="宋体"/>
              </a:rPr>
              <a:t>let</a:t>
            </a:r>
            <a:r>
              <a:rPr sz="2000" spc="-420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重复声明了一个变量。</a:t>
            </a:r>
            <a:endParaRPr sz="20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注意</a:t>
            </a:r>
            <a:r>
              <a:rPr sz="2000" spc="-165" dirty="0">
                <a:solidFill>
                  <a:srgbClr val="252525"/>
                </a:solidFill>
                <a:latin typeface="宋体"/>
                <a:cs typeface="宋体"/>
              </a:rPr>
              <a:t>let</a:t>
            </a:r>
            <a:r>
              <a:rPr sz="2000" spc="-390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宋体"/>
                <a:cs typeface="宋体"/>
              </a:rPr>
              <a:t>变量不允许多次声明同一个变量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5800" y="1965452"/>
            <a:ext cx="8200644" cy="23332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15200" y="4298696"/>
            <a:ext cx="4596384" cy="21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692" y="661811"/>
            <a:ext cx="17049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常见错误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3495" y="1382858"/>
            <a:ext cx="492150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110" dirty="0">
                <a:solidFill>
                  <a:srgbClr val="252525"/>
                </a:solidFill>
                <a:latin typeface="宋体"/>
                <a:cs typeface="宋体"/>
              </a:rPr>
              <a:t>3.</a:t>
            </a:r>
            <a:r>
              <a:rPr sz="2400" spc="-434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下面可能出现的原因是什么？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919" y="4572000"/>
            <a:ext cx="5559681" cy="14536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分析：</a:t>
            </a:r>
            <a:endParaRPr sz="24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提示</a:t>
            </a:r>
            <a:r>
              <a:rPr sz="2400" spc="-385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参数少了</a:t>
            </a:r>
            <a:r>
              <a:rPr sz="2400" spc="35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400" spc="-229" dirty="0">
                <a:solidFill>
                  <a:srgbClr val="252525"/>
                </a:solidFill>
                <a:latin typeface="宋体"/>
                <a:cs typeface="宋体"/>
              </a:rPr>
              <a:t>)</a:t>
            </a:r>
            <a:endParaRPr sz="24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4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很大概率是小括号不匹配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1958722"/>
            <a:ext cx="8484108" cy="233172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29400" y="4362961"/>
            <a:ext cx="5161788" cy="1876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58967" y="4354067"/>
            <a:ext cx="6376670" cy="1929764"/>
          </a:xfrm>
          <a:custGeom>
            <a:avLst/>
            <a:gdLst/>
            <a:ahLst/>
            <a:cxnLst/>
            <a:rect l="l" t="t" r="r" b="b"/>
            <a:pathLst>
              <a:path w="6376670" h="1929764">
                <a:moveTo>
                  <a:pt x="350266" y="0"/>
                </a:moveTo>
                <a:lnTo>
                  <a:pt x="6376416" y="0"/>
                </a:lnTo>
                <a:lnTo>
                  <a:pt x="6376416" y="1579638"/>
                </a:lnTo>
                <a:lnTo>
                  <a:pt x="6369304" y="1649348"/>
                </a:lnTo>
                <a:lnTo>
                  <a:pt x="6348857" y="1715134"/>
                </a:lnTo>
                <a:lnTo>
                  <a:pt x="6316091" y="1775574"/>
                </a:lnTo>
                <a:lnTo>
                  <a:pt x="6274054" y="1827009"/>
                </a:lnTo>
                <a:lnTo>
                  <a:pt x="6222492" y="1869058"/>
                </a:lnTo>
                <a:lnTo>
                  <a:pt x="6162167" y="1901875"/>
                </a:lnTo>
                <a:lnTo>
                  <a:pt x="6096381" y="1922284"/>
                </a:lnTo>
                <a:lnTo>
                  <a:pt x="6026658" y="1929498"/>
                </a:lnTo>
                <a:lnTo>
                  <a:pt x="0" y="1929498"/>
                </a:lnTo>
                <a:lnTo>
                  <a:pt x="0" y="350265"/>
                </a:lnTo>
                <a:lnTo>
                  <a:pt x="1778" y="315467"/>
                </a:lnTo>
                <a:lnTo>
                  <a:pt x="15875" y="247014"/>
                </a:lnTo>
                <a:lnTo>
                  <a:pt x="42545" y="184022"/>
                </a:lnTo>
                <a:lnTo>
                  <a:pt x="102870" y="102869"/>
                </a:lnTo>
                <a:lnTo>
                  <a:pt x="153924" y="60324"/>
                </a:lnTo>
                <a:lnTo>
                  <a:pt x="214630" y="27685"/>
                </a:lnTo>
                <a:lnTo>
                  <a:pt x="280543" y="7238"/>
                </a:lnTo>
                <a:lnTo>
                  <a:pt x="350266" y="0"/>
                </a:lnTo>
                <a:close/>
              </a:path>
            </a:pathLst>
          </a:custGeom>
          <a:ln w="8839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59525"/>
            <a:ext cx="17049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0" dirty="0" err="1" smtClean="0">
                <a:solidFill>
                  <a:srgbClr val="C00000"/>
                </a:solidFill>
                <a:latin typeface="微软雅黑"/>
                <a:cs typeface="微软雅黑"/>
              </a:rPr>
              <a:t>常见错误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4495800"/>
            <a:ext cx="8045705" cy="14536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分析：</a:t>
            </a:r>
            <a:endParaRPr sz="24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400" spc="-30" dirty="0">
                <a:solidFill>
                  <a:srgbClr val="252525"/>
                </a:solidFill>
                <a:latin typeface="宋体"/>
                <a:cs typeface="宋体"/>
              </a:rPr>
              <a:t>出现字符相加的问题</a:t>
            </a:r>
            <a:endParaRPr sz="2400" dirty="0">
              <a:latin typeface="宋体"/>
              <a:cs typeface="宋体"/>
            </a:endParaRPr>
          </a:p>
          <a:p>
            <a:pPr marL="372110" indent="-359410">
              <a:lnSpc>
                <a:spcPct val="100000"/>
              </a:lnSpc>
              <a:spcBef>
                <a:spcPts val="1345"/>
              </a:spcBef>
              <a:buClr>
                <a:srgbClr val="404040"/>
              </a:buClr>
              <a:buSzPct val="84000"/>
              <a:buAutoNum type="arabicPeriod"/>
              <a:tabLst>
                <a:tab pos="372110" algn="l"/>
                <a:tab pos="372745" algn="l"/>
              </a:tabLst>
            </a:pPr>
            <a:r>
              <a:rPr sz="2400" spc="130" dirty="0">
                <a:solidFill>
                  <a:srgbClr val="252525"/>
                </a:solidFill>
                <a:latin typeface="宋体"/>
                <a:cs typeface="宋体"/>
              </a:rPr>
              <a:t>prompt</a:t>
            </a:r>
            <a:r>
              <a:rPr sz="2400" spc="-390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z="24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如果出现相加</a:t>
            </a:r>
            <a:r>
              <a:rPr lang="zh-CN" altLang="en-US" sz="2400" spc="-400" dirty="0" smtClean="0">
                <a:solidFill>
                  <a:srgbClr val="252525"/>
                </a:solidFill>
                <a:latin typeface="宋体"/>
                <a:cs typeface="宋体"/>
              </a:rPr>
              <a:t>，</a:t>
            </a:r>
            <a:r>
              <a:rPr sz="2400" spc="-30" dirty="0" err="1" smtClean="0">
                <a:solidFill>
                  <a:srgbClr val="252525"/>
                </a:solidFill>
                <a:latin typeface="宋体"/>
                <a:cs typeface="宋体"/>
              </a:rPr>
              <a:t>记得要转为数字型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1524000"/>
            <a:ext cx="6778752" cy="263652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18413" y="1524000"/>
            <a:ext cx="10026905" cy="51007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2700" indent="457200">
              <a:lnSpc>
                <a:spcPct val="150000"/>
              </a:lnSpc>
              <a:spcBef>
                <a:spcPts val="95"/>
              </a:spcBef>
            </a:pPr>
            <a:r>
              <a:rPr lang="en-US" sz="2400" spc="-110" dirty="0">
                <a:solidFill>
                  <a:srgbClr val="252525"/>
                </a:solidFill>
                <a:cs typeface="宋体"/>
              </a:rPr>
              <a:t>#</a:t>
            </a:r>
            <a:r>
              <a:rPr lang="en-US" sz="2400" spc="-110" dirty="0" err="1">
                <a:solidFill>
                  <a:srgbClr val="252525"/>
                </a:solidFill>
                <a:cs typeface="宋体"/>
              </a:rPr>
              <a:t>js</a:t>
            </a: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拥有动态类型</a:t>
            </a:r>
            <a:endParaRPr lang="zh-CN" altLang="en-US" sz="2400" spc="-110" dirty="0">
              <a:solidFill>
                <a:srgbClr val="252525"/>
              </a:solidFill>
              <a:cs typeface="宋体"/>
            </a:endParaRPr>
          </a:p>
          <a:p>
            <a:pPr marL="12700" indent="457200">
              <a:lnSpc>
                <a:spcPct val="150000"/>
              </a:lnSpc>
              <a:spcBef>
                <a:spcPts val="95"/>
              </a:spcBef>
            </a:pPr>
            <a:r>
              <a:rPr lang="en-US" sz="2400" spc="-110" dirty="0" smtClean="0">
                <a:solidFill>
                  <a:srgbClr val="252525"/>
                </a:solidFill>
                <a:cs typeface="宋体"/>
              </a:rPr>
              <a:t>let 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x;  // </a:t>
            </a: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此时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x</a:t>
            </a: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是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undefined</a:t>
            </a:r>
            <a:endParaRPr lang="en-US" sz="2400" spc="-110" dirty="0">
              <a:solidFill>
                <a:srgbClr val="252525"/>
              </a:solidFill>
              <a:cs typeface="宋体"/>
            </a:endParaRPr>
          </a:p>
          <a:p>
            <a:pPr marL="12700" indent="457200">
              <a:lnSpc>
                <a:spcPct val="150000"/>
              </a:lnSpc>
              <a:spcBef>
                <a:spcPts val="95"/>
              </a:spcBef>
            </a:pPr>
            <a:r>
              <a:rPr lang="en-US" altLang="zh-CN" sz="2400" spc="-110" dirty="0">
                <a:solidFill>
                  <a:srgbClr val="252525"/>
                </a:solidFill>
                <a:cs typeface="宋体"/>
              </a:rPr>
              <a:t>let</a:t>
            </a:r>
            <a:r>
              <a:rPr lang="en-US" sz="2400" spc="-110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x = 1;  // </a:t>
            </a: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此时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x</a:t>
            </a: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是数字</a:t>
            </a:r>
            <a:endParaRPr lang="zh-CN" altLang="en-US" sz="2400" spc="-110" dirty="0">
              <a:solidFill>
                <a:srgbClr val="252525"/>
              </a:solidFill>
              <a:cs typeface="宋体"/>
            </a:endParaRPr>
          </a:p>
          <a:p>
            <a:pPr marL="12700" indent="457200">
              <a:lnSpc>
                <a:spcPct val="150000"/>
              </a:lnSpc>
              <a:spcBef>
                <a:spcPts val="95"/>
              </a:spcBef>
            </a:pPr>
            <a:r>
              <a:rPr lang="en-US" altLang="zh-CN" sz="2400" spc="-110" dirty="0">
                <a:solidFill>
                  <a:srgbClr val="252525"/>
                </a:solidFill>
                <a:cs typeface="宋体"/>
              </a:rPr>
              <a:t>let</a:t>
            </a:r>
            <a:r>
              <a:rPr lang="en-US" sz="2400" spc="-110" dirty="0" smtClean="0">
                <a:solidFill>
                  <a:srgbClr val="252525"/>
                </a:solidFill>
                <a:cs typeface="宋体"/>
              </a:rPr>
              <a:t> 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x = "Alex"  // </a:t>
            </a: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此时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x</a:t>
            </a: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是字符串 </a:t>
            </a:r>
            <a:endParaRPr lang="zh-CN" altLang="en-US" sz="2400" spc="-110" dirty="0">
              <a:solidFill>
                <a:srgbClr val="252525"/>
              </a:solidFill>
              <a:cs typeface="宋体"/>
            </a:endParaRPr>
          </a:p>
          <a:p>
            <a:pPr marL="12700" indent="457200">
              <a:lnSpc>
                <a:spcPct val="150000"/>
              </a:lnSpc>
              <a:spcBef>
                <a:spcPts val="95"/>
              </a:spcBef>
            </a:pPr>
            <a:endParaRPr lang="zh-CN" altLang="en-US" sz="2400" spc="-110" dirty="0">
              <a:solidFill>
                <a:srgbClr val="252525"/>
              </a:solidFill>
              <a:cs typeface="宋体"/>
            </a:endParaRPr>
          </a:p>
          <a:p>
            <a:pPr marL="12700" indent="457200">
              <a:lnSpc>
                <a:spcPct val="150000"/>
              </a:lnSpc>
              <a:spcBef>
                <a:spcPts val="95"/>
              </a:spcBef>
            </a:pPr>
            <a:r>
              <a:rPr lang="en-US" altLang="zh-CN" sz="2400" spc="-110" dirty="0">
                <a:solidFill>
                  <a:srgbClr val="252525"/>
                </a:solidFill>
                <a:cs typeface="宋体"/>
              </a:rPr>
              <a:t># </a:t>
            </a:r>
            <a:r>
              <a:rPr lang="en-US" sz="2400" spc="-110" dirty="0" err="1">
                <a:solidFill>
                  <a:srgbClr val="252525"/>
                </a:solidFill>
                <a:cs typeface="宋体"/>
              </a:rPr>
              <a:t>NaN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 </a:t>
            </a: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表示不是一个数字  （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Not a Number)</a:t>
            </a:r>
            <a:endParaRPr lang="en-US" sz="2400" spc="-110" dirty="0">
              <a:solidFill>
                <a:srgbClr val="252525"/>
              </a:solidFill>
              <a:cs typeface="宋体"/>
            </a:endParaRPr>
          </a:p>
          <a:p>
            <a:pPr marL="12700" indent="457200">
              <a:lnSpc>
                <a:spcPct val="150000"/>
              </a:lnSpc>
              <a:spcBef>
                <a:spcPts val="95"/>
              </a:spcBef>
            </a:pP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数值</a:t>
            </a:r>
            <a:r>
              <a:rPr lang="en-US" sz="2400" spc="-110" dirty="0">
                <a:solidFill>
                  <a:srgbClr val="252525"/>
                </a:solidFill>
                <a:cs typeface="宋体"/>
              </a:rPr>
              <a:t>Number</a:t>
            </a:r>
            <a:endParaRPr lang="en-US" sz="2400" spc="-110" dirty="0">
              <a:solidFill>
                <a:srgbClr val="252525"/>
              </a:solidFill>
              <a:cs typeface="宋体"/>
            </a:endParaRPr>
          </a:p>
          <a:p>
            <a:pPr marL="12700" indent="457200">
              <a:lnSpc>
                <a:spcPct val="150000"/>
              </a:lnSpc>
              <a:spcBef>
                <a:spcPts val="95"/>
              </a:spcBef>
            </a:pPr>
            <a:r>
              <a:rPr lang="en-US" sz="2400" spc="-110" dirty="0" err="1">
                <a:solidFill>
                  <a:srgbClr val="252525"/>
                </a:solidFill>
                <a:cs typeface="宋体"/>
              </a:rPr>
              <a:t>js</a:t>
            </a:r>
            <a:r>
              <a:rPr lang="zh-CN" altLang="en-US" sz="2400" spc="-110" dirty="0">
                <a:solidFill>
                  <a:srgbClr val="252525"/>
                </a:solidFill>
                <a:cs typeface="宋体"/>
              </a:rPr>
              <a:t>不分整型与浮点型都是数值</a:t>
            </a:r>
            <a:r>
              <a:rPr lang="en-US" sz="2400" spc="-110" dirty="0" smtClean="0">
                <a:solidFill>
                  <a:srgbClr val="252525"/>
                </a:solidFill>
                <a:cs typeface="宋体"/>
              </a:rPr>
              <a:t>N</a:t>
            </a:r>
            <a:r>
              <a:rPr lang="en-US" altLang="zh-CN" sz="2400" spc="-110" dirty="0" smtClean="0">
                <a:solidFill>
                  <a:srgbClr val="252525"/>
                </a:solidFill>
                <a:cs typeface="宋体"/>
              </a:rPr>
              <a:t>um</a:t>
            </a:r>
            <a:r>
              <a:rPr lang="en-US" sz="2400" spc="-110" dirty="0" smtClean="0">
                <a:solidFill>
                  <a:srgbClr val="252525"/>
                </a:solidFill>
                <a:cs typeface="宋体"/>
              </a:rPr>
              <a:t>ber</a:t>
            </a:r>
            <a:endParaRPr lang="en-US" sz="2400" spc="-110" dirty="0">
              <a:solidFill>
                <a:srgbClr val="252525"/>
              </a:solidFill>
              <a:cs typeface="宋体"/>
            </a:endParaRPr>
          </a:p>
          <a:p>
            <a:pPr marL="12700" indent="457200">
              <a:lnSpc>
                <a:spcPct val="150000"/>
              </a:lnSpc>
              <a:spcBef>
                <a:spcPts val="95"/>
              </a:spcBef>
            </a:pPr>
            <a:endParaRPr lang="en-US" sz="2400" spc="-110" dirty="0">
              <a:solidFill>
                <a:srgbClr val="252525"/>
              </a:solidFill>
              <a:cs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325562"/>
          </a:xfrm>
        </p:spPr>
        <p:txBody>
          <a:bodyPr/>
          <a:lstStyle/>
          <a:p>
            <a:r>
              <a:rPr lang="zh-CN" altLang="en-US" dirty="0" smtClean="0">
                <a:solidFill>
                  <a:srgbClr val="C00000"/>
                </a:solidFill>
                <a:latin typeface="+mn-lt"/>
              </a:rPr>
              <a:t>总结</a:t>
            </a:r>
            <a:endParaRPr lang="zh-CN" altLang="en-US" dirty="0">
              <a:solidFill>
                <a:srgbClr val="C0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00000"/>
                </a:solidFill>
                <a:latin typeface="+mn-lt"/>
              </a:rPr>
              <a:t>总结</a:t>
            </a:r>
            <a:endParaRPr lang="zh-CN" altLang="en-US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8125" y="1600200"/>
            <a:ext cx="11963400" cy="435133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#</a:t>
            </a:r>
            <a:r>
              <a:rPr lang="zh-CN" altLang="en-US" dirty="0"/>
              <a:t>常用方法</a:t>
            </a:r>
            <a:endParaRPr lang="zh-CN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parseInt</a:t>
            </a:r>
            <a:r>
              <a:rPr lang="en-US" altLang="zh-CN" dirty="0"/>
              <a:t>("123")  // </a:t>
            </a:r>
            <a:r>
              <a:rPr lang="zh-CN" altLang="en-US" dirty="0"/>
              <a:t>返回</a:t>
            </a:r>
            <a:r>
              <a:rPr lang="en-US" altLang="zh-CN" dirty="0"/>
              <a:t>123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parseInt</a:t>
            </a:r>
            <a:r>
              <a:rPr lang="en-US" altLang="zh-CN" dirty="0"/>
              <a:t>("ABC")  // </a:t>
            </a:r>
            <a:r>
              <a:rPr lang="zh-CN" altLang="en-US" dirty="0"/>
              <a:t>返回</a:t>
            </a:r>
            <a:r>
              <a:rPr lang="en-US" altLang="zh-CN" dirty="0" err="1"/>
              <a:t>NaN,NaN</a:t>
            </a:r>
            <a:r>
              <a:rPr lang="zh-CN" altLang="en-US" dirty="0"/>
              <a:t>属性是代表非数字值的特殊值。该属性用于指示某个值不是数字。</a:t>
            </a:r>
            <a:endParaRPr lang="zh-CN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parseFloat</a:t>
            </a:r>
            <a:r>
              <a:rPr lang="en-US" altLang="zh-CN" dirty="0"/>
              <a:t>("123.456")  // </a:t>
            </a:r>
            <a:r>
              <a:rPr lang="zh-CN" altLang="en-US" dirty="0"/>
              <a:t>返回</a:t>
            </a:r>
            <a:r>
              <a:rPr lang="en-US" altLang="zh-CN" dirty="0"/>
              <a:t>123.456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字符串</a:t>
            </a:r>
            <a:r>
              <a:rPr lang="en-US" altLang="zh-CN" dirty="0"/>
              <a:t>String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let </a:t>
            </a:r>
            <a:r>
              <a:rPr lang="en-US" altLang="zh-CN" dirty="0"/>
              <a:t>a = "Hello"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let</a:t>
            </a:r>
            <a:r>
              <a:rPr lang="en-US" altLang="zh-CN" dirty="0" smtClean="0"/>
              <a:t> </a:t>
            </a:r>
            <a:r>
              <a:rPr lang="en-US" altLang="zh-CN" dirty="0"/>
              <a:t>b = "world;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let</a:t>
            </a:r>
            <a:r>
              <a:rPr lang="en-US" altLang="zh-CN" dirty="0" smtClean="0"/>
              <a:t> </a:t>
            </a:r>
            <a:r>
              <a:rPr lang="en-US" altLang="zh-CN" dirty="0"/>
              <a:t>c = a + b;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console.log(c);  // </a:t>
            </a:r>
            <a:r>
              <a:rPr lang="zh-CN" altLang="en-US" dirty="0"/>
              <a:t>得到</a:t>
            </a:r>
            <a:r>
              <a:rPr lang="en-US" altLang="zh-CN" dirty="0" err="1"/>
              <a:t>Helloworld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00000"/>
                </a:solidFill>
                <a:latin typeface="+mn-lt"/>
              </a:rPr>
              <a:t>总结</a:t>
            </a:r>
            <a:endParaRPr lang="zh-CN" altLang="en-US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10439401" cy="435133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// </a:t>
            </a:r>
            <a:r>
              <a:rPr lang="zh-CN" altLang="en-US" dirty="0"/>
              <a:t>普通字符串</a:t>
            </a:r>
            <a:endParaRPr lang="zh-CN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`</a:t>
            </a:r>
            <a:r>
              <a:rPr lang="zh-CN" altLang="en-US" dirty="0"/>
              <a:t>这是普通字符串！</a:t>
            </a:r>
            <a:r>
              <a:rPr lang="en-US" altLang="zh-CN" dirty="0"/>
              <a:t>`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// </a:t>
            </a:r>
            <a:r>
              <a:rPr lang="zh-CN" altLang="en-US" dirty="0"/>
              <a:t>多行文本</a:t>
            </a:r>
            <a:endParaRPr lang="zh-CN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`</a:t>
            </a:r>
            <a:r>
              <a:rPr lang="zh-CN" altLang="en-US" dirty="0"/>
              <a:t>这是多行的</a:t>
            </a:r>
            <a:endParaRPr lang="zh-CN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文本</a:t>
            </a:r>
            <a:r>
              <a:rPr lang="en-US" altLang="zh-CN" dirty="0"/>
              <a:t>`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// </a:t>
            </a:r>
            <a:r>
              <a:rPr lang="zh-CN" altLang="en-US" dirty="0"/>
              <a:t>字符串中嵌入变量</a:t>
            </a:r>
            <a:endParaRPr lang="zh-CN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var</a:t>
            </a:r>
            <a:r>
              <a:rPr lang="en-US" altLang="zh-CN" dirty="0"/>
              <a:t> name = "</a:t>
            </a:r>
            <a:r>
              <a:rPr lang="en-US" altLang="zh-CN" dirty="0" err="1"/>
              <a:t>jason</a:t>
            </a:r>
            <a:r>
              <a:rPr lang="en-US" altLang="zh-CN" dirty="0"/>
              <a:t>", time = "today";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`Hello ${name}, how are you ${time}?`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 smtClean="0">
                <a:solidFill>
                  <a:srgbClr val="C00000"/>
                </a:solidFill>
              </a:rPr>
              <a:t>注意：</a:t>
            </a:r>
            <a:r>
              <a:rPr lang="en-US" altLang="zh-CN" b="1" dirty="0" smtClean="0">
                <a:solidFill>
                  <a:srgbClr val="C00000"/>
                </a:solidFill>
              </a:rPr>
              <a:t>``</a:t>
            </a:r>
            <a:r>
              <a:rPr lang="zh-CN" altLang="en-US" b="1" dirty="0" smtClean="0">
                <a:solidFill>
                  <a:srgbClr val="C00000"/>
                </a:solidFill>
              </a:rPr>
              <a:t>是反引号，不是</a:t>
            </a:r>
            <a:r>
              <a:rPr lang="zh-CN" altLang="en-US" b="1" dirty="0">
                <a:solidFill>
                  <a:srgbClr val="C00000"/>
                </a:solidFill>
              </a:rPr>
              <a:t>单引号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8200" y="1450981"/>
            <a:ext cx="10487762" cy="50879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12700">
              <a:lnSpc>
                <a:spcPct val="150000"/>
              </a:lnSpc>
              <a:spcBef>
                <a:spcPts val="95"/>
              </a:spcBef>
              <a:defRPr sz="1200" spc="-110">
                <a:solidFill>
                  <a:srgbClr val="252525"/>
                </a:solidFill>
                <a:latin typeface="Monaco" pitchFamily="49" charset="0"/>
                <a:cs typeface="宋体"/>
              </a:defRPr>
            </a:lvl1pPr>
          </a:lstStyle>
          <a:p>
            <a:pPr indent="457200"/>
            <a:r>
              <a:rPr lang="en-US" altLang="zh-CN" sz="2400" dirty="0" smtClean="0">
                <a:latin typeface="+mn-lt"/>
              </a:rPr>
              <a:t>#</a:t>
            </a:r>
            <a:r>
              <a:rPr lang="zh-CN" altLang="en-US" sz="2400" dirty="0">
                <a:latin typeface="+mn-lt"/>
              </a:rPr>
              <a:t>布尔值</a:t>
            </a:r>
            <a:r>
              <a:rPr lang="en-US" altLang="zh-CN" sz="2400" dirty="0">
                <a:latin typeface="+mn-lt"/>
              </a:rPr>
              <a:t>(Boolean</a:t>
            </a:r>
            <a:r>
              <a:rPr lang="en-US" altLang="zh-CN" sz="2400" dirty="0" smtClean="0">
                <a:latin typeface="+mn-lt"/>
              </a:rPr>
              <a:t>), </a:t>
            </a:r>
            <a:r>
              <a:rPr lang="zh-CN" altLang="en-US" sz="2400" dirty="0" smtClean="0">
                <a:latin typeface="+mn-lt"/>
              </a:rPr>
              <a:t>区别</a:t>
            </a:r>
            <a:r>
              <a:rPr lang="zh-CN" altLang="en-US" sz="2400" dirty="0">
                <a:latin typeface="+mn-lt"/>
              </a:rPr>
              <a:t>于</a:t>
            </a:r>
            <a:r>
              <a:rPr lang="en-US" altLang="zh-CN" sz="2400" dirty="0" err="1">
                <a:latin typeface="+mn-lt"/>
              </a:rPr>
              <a:t>Python，true</a:t>
            </a:r>
            <a:r>
              <a:rPr lang="zh-CN" altLang="en-US" sz="2400" dirty="0">
                <a:latin typeface="+mn-lt"/>
              </a:rPr>
              <a:t>和</a:t>
            </a:r>
            <a:r>
              <a:rPr lang="en-US" altLang="zh-CN" sz="2400" dirty="0">
                <a:latin typeface="+mn-lt"/>
              </a:rPr>
              <a:t>false</a:t>
            </a:r>
            <a:r>
              <a:rPr lang="zh-CN" altLang="en-US" sz="2400" dirty="0">
                <a:latin typeface="+mn-lt"/>
              </a:rPr>
              <a:t>都是小写</a:t>
            </a:r>
            <a:r>
              <a:rPr lang="zh-CN" altLang="en-US" sz="2400" dirty="0" smtClean="0">
                <a:latin typeface="+mn-lt"/>
              </a:rPr>
              <a:t>。</a:t>
            </a:r>
            <a:endParaRPr lang="zh-CN" altLang="en-US" sz="2400" dirty="0">
              <a:latin typeface="+mn-lt"/>
            </a:endParaRPr>
          </a:p>
          <a:p>
            <a:pPr indent="457200"/>
            <a:r>
              <a:rPr lang="en-US" altLang="zh-CN" sz="2400" dirty="0" smtClean="0">
                <a:latin typeface="+mn-lt"/>
              </a:rPr>
              <a:t>let </a:t>
            </a:r>
            <a:r>
              <a:rPr lang="en-US" altLang="zh-CN" sz="2400" dirty="0">
                <a:latin typeface="+mn-lt"/>
              </a:rPr>
              <a:t>a = true;</a:t>
            </a:r>
            <a:endParaRPr lang="en-US" altLang="zh-CN" sz="2400" dirty="0">
              <a:latin typeface="+mn-lt"/>
            </a:endParaRPr>
          </a:p>
          <a:p>
            <a:pPr indent="457200"/>
            <a:r>
              <a:rPr lang="en-US" altLang="zh-CN" sz="2400" dirty="0" smtClean="0">
                <a:latin typeface="+mn-lt"/>
              </a:rPr>
              <a:t>let </a:t>
            </a:r>
            <a:r>
              <a:rPr lang="en-US" altLang="zh-CN" sz="2400" dirty="0">
                <a:latin typeface="+mn-lt"/>
              </a:rPr>
              <a:t>b = false;</a:t>
            </a:r>
            <a:endParaRPr lang="en-US" altLang="zh-CN" sz="2400" dirty="0">
              <a:latin typeface="+mn-lt"/>
            </a:endParaRPr>
          </a:p>
          <a:p>
            <a:pPr indent="457200"/>
            <a:r>
              <a:rPr lang="en-US" altLang="zh-CN" sz="2400" dirty="0">
                <a:latin typeface="+mn-lt"/>
              </a:rPr>
              <a:t>""(</a:t>
            </a:r>
            <a:r>
              <a:rPr lang="zh-CN" altLang="en-US" sz="2400" dirty="0">
                <a:latin typeface="+mn-lt"/>
              </a:rPr>
              <a:t>空字符串</a:t>
            </a:r>
            <a:r>
              <a:rPr lang="en-US" altLang="zh-CN" sz="2400" dirty="0">
                <a:latin typeface="+mn-lt"/>
              </a:rPr>
              <a:t>)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 err="1">
                <a:latin typeface="+mn-lt"/>
              </a:rPr>
              <a:t>null、undefined、NaN</a:t>
            </a:r>
            <a:r>
              <a:rPr lang="zh-CN" altLang="en-US" sz="2400" dirty="0">
                <a:latin typeface="+mn-lt"/>
              </a:rPr>
              <a:t>都是</a:t>
            </a:r>
            <a:r>
              <a:rPr lang="en-US" altLang="zh-CN" sz="2400" dirty="0">
                <a:latin typeface="+mn-lt"/>
              </a:rPr>
              <a:t>false。</a:t>
            </a:r>
            <a:endParaRPr lang="en-US" altLang="zh-CN" sz="2400" dirty="0">
              <a:latin typeface="+mn-lt"/>
            </a:endParaRPr>
          </a:p>
          <a:p>
            <a:pPr indent="457200"/>
            <a:endParaRPr lang="en-US" altLang="zh-CN" sz="2400" dirty="0">
              <a:latin typeface="+mn-lt"/>
            </a:endParaRPr>
          </a:p>
          <a:p>
            <a:pPr indent="457200"/>
            <a:r>
              <a:rPr lang="en-US" altLang="zh-CN" sz="2400" dirty="0">
                <a:solidFill>
                  <a:srgbClr val="C00000"/>
                </a:solidFill>
                <a:latin typeface="+mn-lt"/>
              </a:rPr>
              <a:t>null</a:t>
            </a:r>
            <a:r>
              <a:rPr lang="zh-CN" altLang="en-US" sz="2400" dirty="0">
                <a:solidFill>
                  <a:srgbClr val="C00000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rgbClr val="C00000"/>
                </a:solidFill>
                <a:latin typeface="+mn-lt"/>
              </a:rPr>
              <a:t>undefined</a:t>
            </a:r>
            <a:endParaRPr lang="en-US" altLang="zh-CN" sz="2400" dirty="0">
              <a:solidFill>
                <a:srgbClr val="C00000"/>
              </a:solidFill>
              <a:latin typeface="+mn-lt"/>
            </a:endParaRPr>
          </a:p>
          <a:p>
            <a:pPr marL="355600" indent="457200">
              <a:buFont typeface="Arial" panose="020B0604020202090204" pitchFamily="34" charset="0"/>
              <a:buChar char="•"/>
            </a:pPr>
            <a:r>
              <a:rPr lang="en-US" altLang="zh-CN" sz="2400" dirty="0">
                <a:latin typeface="+mn-lt"/>
              </a:rPr>
              <a:t>null</a:t>
            </a:r>
            <a:r>
              <a:rPr lang="zh-CN" altLang="en-US" sz="2400" dirty="0">
                <a:latin typeface="+mn-lt"/>
              </a:rPr>
              <a:t>表示值是空，一般在需要指定或清空一个变量时才会使用，如 </a:t>
            </a:r>
            <a:r>
              <a:rPr lang="en-US" altLang="zh-CN" sz="2400" dirty="0">
                <a:latin typeface="+mn-lt"/>
              </a:rPr>
              <a:t>name=null;</a:t>
            </a:r>
            <a:endParaRPr lang="en-US" altLang="zh-CN" sz="2400" dirty="0">
              <a:latin typeface="+mn-lt"/>
            </a:endParaRPr>
          </a:p>
          <a:p>
            <a:pPr marL="355600" indent="457200">
              <a:buFont typeface="Arial" panose="020B0604020202090204" pitchFamily="34" charset="0"/>
              <a:buChar char="•"/>
            </a:pPr>
            <a:r>
              <a:rPr lang="en-US" altLang="zh-CN" sz="2400" dirty="0">
                <a:latin typeface="+mn-lt"/>
              </a:rPr>
              <a:t>undefined</a:t>
            </a:r>
            <a:r>
              <a:rPr lang="zh-CN" altLang="en-US" sz="2400" dirty="0">
                <a:latin typeface="+mn-lt"/>
              </a:rPr>
              <a:t>表示当声明一个变量但未初始化时，该变量的默认值是</a:t>
            </a:r>
            <a:r>
              <a:rPr lang="en-US" altLang="zh-CN" sz="2400" dirty="0">
                <a:latin typeface="+mn-lt"/>
              </a:rPr>
              <a:t>undefined。</a:t>
            </a:r>
            <a:r>
              <a:rPr lang="zh-CN" altLang="en-US" sz="2400" dirty="0">
                <a:latin typeface="+mn-lt"/>
              </a:rPr>
              <a:t>还有就是函数无明确的返回值时，返回的也是</a:t>
            </a:r>
            <a:r>
              <a:rPr lang="en-US" altLang="zh-CN" sz="2400" dirty="0">
                <a:latin typeface="+mn-lt"/>
              </a:rPr>
              <a:t>undefined</a:t>
            </a:r>
            <a:r>
              <a:rPr lang="en-US" altLang="zh-CN" sz="2400" dirty="0" smtClean="0">
                <a:latin typeface="+mn-lt"/>
              </a:rPr>
              <a:t>。</a:t>
            </a:r>
            <a:endParaRPr lang="en-US" altLang="zh-CN" sz="2400" dirty="0"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325562"/>
          </a:xfrm>
        </p:spPr>
        <p:txBody>
          <a:bodyPr/>
          <a:lstStyle/>
          <a:p>
            <a:r>
              <a:rPr lang="zh-CN" altLang="en-US" dirty="0" smtClean="0">
                <a:solidFill>
                  <a:srgbClr val="C00000"/>
                </a:solidFill>
                <a:latin typeface="+mn-lt"/>
              </a:rPr>
              <a:t>总结</a:t>
            </a:r>
            <a:endParaRPr lang="zh-CN" altLang="en-US" dirty="0">
              <a:solidFill>
                <a:srgbClr val="C0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10779</Words>
  <Application>WPS 表格</Application>
  <PresentationFormat>宽屏</PresentationFormat>
  <Paragraphs>1098</Paragraphs>
  <Slides>69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105" baseType="lpstr">
      <vt:lpstr>Arial</vt:lpstr>
      <vt:lpstr>宋体</vt:lpstr>
      <vt:lpstr>Wingdings</vt:lpstr>
      <vt:lpstr>宋体</vt:lpstr>
      <vt:lpstr>汉仪书宋二KW</vt:lpstr>
      <vt:lpstr>微软雅黑</vt:lpstr>
      <vt:lpstr>汉仪旗黑</vt:lpstr>
      <vt:lpstr>微软雅黑</vt:lpstr>
      <vt:lpstr>Inter</vt:lpstr>
      <vt:lpstr>Wingdings</vt:lpstr>
      <vt:lpstr>Courier New</vt:lpstr>
      <vt:lpstr>Times New Roman</vt:lpstr>
      <vt:lpstr>Calibri</vt:lpstr>
      <vt:lpstr>Helvetica Neue</vt:lpstr>
      <vt:lpstr>宋体</vt:lpstr>
      <vt:lpstr>Arial Unicode MS</vt:lpstr>
      <vt:lpstr>等线</vt:lpstr>
      <vt:lpstr>汉仪中等线KW</vt:lpstr>
      <vt:lpstr>Monaco</vt:lpstr>
      <vt:lpstr>黑体</vt:lpstr>
      <vt:lpstr>΢</vt:lpstr>
      <vt:lpstr>Thonburi</vt:lpstr>
      <vt:lpstr>Calibri</vt:lpstr>
      <vt:lpstr>Menlo</vt:lpstr>
      <vt:lpstr>Arial</vt:lpstr>
      <vt:lpstr>汉仪中黑KW</vt:lpstr>
      <vt:lpstr>Times New Roman</vt:lpstr>
      <vt:lpstr>Courier New</vt:lpstr>
      <vt:lpstr>Inter</vt:lpstr>
      <vt:lpstr>Menlo</vt:lpstr>
      <vt:lpstr>Wingdings</vt:lpstr>
      <vt:lpstr>΢</vt:lpstr>
      <vt:lpstr>微软雅黑</vt:lpstr>
      <vt:lpstr>黑体</vt:lpstr>
      <vt:lpstr>苹方-简</vt:lpstr>
      <vt:lpstr>Blank</vt:lpstr>
      <vt:lpstr>JavaScript基本语法</vt:lpstr>
      <vt:lpstr>JavaScript 是什么</vt:lpstr>
      <vt:lpstr>JavaScript 是什么</vt:lpstr>
      <vt:lpstr>JavaScript 在页面上做了什么？</vt:lpstr>
      <vt:lpstr>JavaScript示例</vt:lpstr>
      <vt:lpstr>运行方式</vt:lpstr>
      <vt:lpstr>JavaScript 是什么</vt:lpstr>
      <vt:lpstr>JavaScript 书写位置</vt:lpstr>
      <vt:lpstr>JavaScript 书写位置</vt:lpstr>
      <vt:lpstr>JavaScript 书写位置</vt:lpstr>
      <vt:lpstr>JavaScript 书写位置</vt:lpstr>
      <vt:lpstr>JavaScript 注释</vt:lpstr>
      <vt:lpstr>JavaScript 结束符</vt:lpstr>
      <vt:lpstr>JavaScript 输入输出语法</vt:lpstr>
      <vt:lpstr>JavaScript 输入输出语句</vt:lpstr>
      <vt:lpstr>字面量</vt:lpstr>
      <vt:lpstr>JavaScript 介绍小结</vt:lpstr>
      <vt:lpstr>变量（Variable）是什么？</vt:lpstr>
      <vt:lpstr>变量的基本使用</vt:lpstr>
      <vt:lpstr>变量的练习</vt:lpstr>
      <vt:lpstr>变量命名规则与规范</vt:lpstr>
      <vt:lpstr>变量命名规则与规范</vt:lpstr>
      <vt:lpstr>变量的练习</vt:lpstr>
      <vt:lpstr>PowerPoint 演示文稿</vt:lpstr>
      <vt:lpstr>变量声明-let和var的区别</vt:lpstr>
      <vt:lpstr>变量数据类型</vt:lpstr>
      <vt:lpstr>数组的基本使用</vt:lpstr>
      <vt:lpstr>数组的基本使用</vt:lpstr>
      <vt:lpstr>数据类型</vt:lpstr>
      <vt:lpstr>数据类型 – 数字类型（Number）</vt:lpstr>
      <vt:lpstr>数据类型 – 字符串类型（String）</vt:lpstr>
      <vt:lpstr>数据类型 – 字符串类型（String）</vt:lpstr>
      <vt:lpstr>模板字符串</vt:lpstr>
      <vt:lpstr>小结</vt:lpstr>
      <vt:lpstr>数据类型 – 布尔类型（Boolean）</vt:lpstr>
      <vt:lpstr>数据类型 – 未定义类型（undefined）</vt:lpstr>
      <vt:lpstr>数据类型 –未定义类型（undefined）</vt:lpstr>
      <vt:lpstr>数据类型 – null（空类型）</vt:lpstr>
      <vt:lpstr>数据类型 – null（空类型）</vt:lpstr>
      <vt:lpstr>PowerPoint 演示文稿</vt:lpstr>
      <vt:lpstr>控制台输出语句和检测数据类型</vt:lpstr>
      <vt:lpstr>控制台输出语句和检测数据类型</vt:lpstr>
      <vt:lpstr>类型转换</vt:lpstr>
      <vt:lpstr>隐式转换</vt:lpstr>
      <vt:lpstr>显式转换</vt:lpstr>
      <vt:lpstr>类型转换</vt:lpstr>
      <vt:lpstr>JavaScript运算符</vt:lpstr>
      <vt:lpstr>运算符</vt:lpstr>
      <vt:lpstr>算术运算符</vt:lpstr>
      <vt:lpstr>赋值运算符</vt:lpstr>
      <vt:lpstr>一元运算符</vt:lpstr>
      <vt:lpstr>一元运算符</vt:lpstr>
      <vt:lpstr>一元运算符</vt:lpstr>
      <vt:lpstr>比较运算符</vt:lpstr>
      <vt:lpstr>比较运算符</vt:lpstr>
      <vt:lpstr>比较运算符</vt:lpstr>
      <vt:lpstr>逻辑运算符</vt:lpstr>
      <vt:lpstr>逻辑运算符</vt:lpstr>
      <vt:lpstr>逻辑运算符</vt:lpstr>
      <vt:lpstr>运算符优先级</vt:lpstr>
      <vt:lpstr>运算符优先级</vt:lpstr>
      <vt:lpstr>常见错误</vt:lpstr>
      <vt:lpstr>常见错误</vt:lpstr>
      <vt:lpstr>常见错误</vt:lpstr>
      <vt:lpstr>常见错误</vt:lpstr>
      <vt:lpstr>总结</vt:lpstr>
      <vt:lpstr>总结</vt:lpstr>
      <vt:lpstr>总结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朱静雯</cp:lastModifiedBy>
  <cp:revision>132</cp:revision>
  <dcterms:created xsi:type="dcterms:W3CDTF">2024-10-30T09:08:27Z</dcterms:created>
  <dcterms:modified xsi:type="dcterms:W3CDTF">2024-10-30T09:08:27Z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2021-07-19T00:00:00Z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2022-09-12T00:00:00Z</vt:filetime>
  </property>
  <property fmtid="{D5CDD505-2E9C-101B-9397-08002B2CF9AE}" pid="5" name="ICV">
    <vt:lpwstr>391831B4A2D107DB89982167FCAADEDE_42</vt:lpwstr>
  </property>
  <property fmtid="{D5CDD505-2E9C-101B-9397-08002B2CF9AE}" pid="6" name="KSOProductBuildVer">
    <vt:lpwstr>2052-6.8.2.8850</vt:lpwstr>
  </property>
</Properties>
</file>