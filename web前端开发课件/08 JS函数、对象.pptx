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21"/>
  </p:notesMasterIdLst>
  <p:sldIdLst>
    <p:sldId id="259" r:id="rId4"/>
    <p:sldId id="336" r:id="rId5"/>
    <p:sldId id="33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2"/>
    <p:sldId id="353" r:id="rId23"/>
    <p:sldId id="354" r:id="rId24"/>
    <p:sldId id="355" r:id="rId25"/>
    <p:sldId id="356" r:id="rId26"/>
    <p:sldId id="357" r:id="rId27"/>
    <p:sldId id="358" r:id="rId28"/>
    <p:sldId id="261" r:id="rId29"/>
    <p:sldId id="312" r:id="rId30"/>
    <p:sldId id="311" r:id="rId31"/>
    <p:sldId id="264" r:id="rId32"/>
    <p:sldId id="313" r:id="rId33"/>
    <p:sldId id="314" r:id="rId34"/>
    <p:sldId id="315" r:id="rId35"/>
    <p:sldId id="316" r:id="rId36"/>
    <p:sldId id="317" r:id="rId37"/>
    <p:sldId id="318" r:id="rId38"/>
    <p:sldId id="319" r:id="rId39"/>
    <p:sldId id="320" r:id="rId40"/>
    <p:sldId id="321" r:id="rId41"/>
    <p:sldId id="331" r:id="rId42"/>
    <p:sldId id="332" r:id="rId43"/>
    <p:sldId id="333" r:id="rId44"/>
    <p:sldId id="275" r:id="rId45"/>
    <p:sldId id="276" r:id="rId46"/>
    <p:sldId id="277" r:id="rId47"/>
    <p:sldId id="280" r:id="rId48"/>
    <p:sldId id="283" r:id="rId49"/>
    <p:sldId id="284" r:id="rId50"/>
    <p:sldId id="287" r:id="rId51"/>
    <p:sldId id="289" r:id="rId52"/>
    <p:sldId id="290" r:id="rId53"/>
    <p:sldId id="292" r:id="rId54"/>
    <p:sldId id="294" r:id="rId55"/>
    <p:sldId id="305" r:id="rId56"/>
    <p:sldId id="306" r:id="rId57"/>
    <p:sldId id="392" r:id="rId58"/>
    <p:sldId id="307" r:id="rId59"/>
    <p:sldId id="308" r:id="rId60"/>
    <p:sldId id="309" r:id="rId61"/>
    <p:sldId id="310" r:id="rId62"/>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1" autoAdjust="0"/>
    <p:restoredTop sz="94417" autoAdjust="0"/>
  </p:normalViewPr>
  <p:slideViewPr>
    <p:cSldViewPr showGuides="1">
      <p:cViewPr>
        <p:scale>
          <a:sx n="50" d="100"/>
          <a:sy n="50" d="100"/>
        </p:scale>
        <p:origin x="1853" y="71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notesMaster" Target="notesMasters/notes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CF933F20-D14C-4244-A486-CF66E1D7493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948AD83-9547-4881-8EF4-C51D0A08B5F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948AD83-9547-4881-8EF4-C51D0A08B5F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and Content">
    <p:bg>
      <p:bgPr>
        <a:solidFill>
          <a:schemeClr val="bg1"/>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B1AFD6D7-BD31-4AEC-BEBC-02653367CC84}" type="datetime1">
              <a:rPr lang="en-US" altLang="zh-CN"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
        <p:nvSpPr>
          <p:cNvPr id="11" name="矩形 10"/>
          <p:cNvSpPr/>
          <p:nvPr userDrawn="1"/>
        </p:nvSpPr>
        <p:spPr>
          <a:xfrm>
            <a:off x="381000" y="457200"/>
            <a:ext cx="228600" cy="228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flipV="1">
            <a:off x="0" y="6857999"/>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Holder 3"/>
          <p:cNvSpPr>
            <a:spLocks noGrp="1"/>
          </p:cNvSpPr>
          <p:nvPr>
            <p:ph sz="half" idx="2"/>
          </p:nvPr>
        </p:nvSpPr>
        <p:spPr>
          <a:xfrm>
            <a:off x="609600" y="1577340"/>
            <a:ext cx="10972800" cy="4526280"/>
          </a:xfrm>
          <a:prstGeom prst="rect">
            <a:avLst/>
          </a:prstGeom>
        </p:spPr>
        <p:txBody>
          <a:bodyPr wrap="square" lIns="0" tIns="0" rIns="0" bIns="0">
            <a:spAutoFit/>
          </a:bodyPr>
          <a:lstStyle>
            <a:lvl1pPr>
              <a:defRPr/>
            </a:lvl1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459593E4-C001-4D39-9E47-7CD281449BFA}" type="datetime1">
              <a:rPr lang="en-US" altLang="zh-CN"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FF0D524C-630B-4B86-8D94-DD7FD8816342}" type="datetime1">
              <a:rPr lang="en-US" altLang="zh-CN"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DFA00D3A-115F-4F7A-8FEE-528DB491C90B}" type="datetime1">
              <a:rPr lang="en-US" altLang="zh-CN"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
        <p:nvSpPr>
          <p:cNvPr id="9" name="矩形 8"/>
          <p:cNvSpPr/>
          <p:nvPr userDrawn="1"/>
        </p:nvSpPr>
        <p:spPr>
          <a:xfrm>
            <a:off x="381000" y="457200"/>
            <a:ext cx="228600" cy="228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flipV="1">
            <a:off x="0" y="6857999"/>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5400"/>
            </a:lvl1pPr>
          </a:lstStyle>
          <a:p>
            <a:r>
              <a:rPr lang="zh-CN" altLang="en-US" smtClean="0"/>
              <a:t>单击此处编辑母版标题样式</a:t>
            </a:r>
            <a:endParaRPr lang="en-US"/>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3200"/>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单击以编辑母版副标题样式</a:t>
            </a:r>
            <a:endParaRPr lang="en-US"/>
          </a:p>
        </p:txBody>
      </p:sp>
      <p:sp>
        <p:nvSpPr>
          <p:cNvPr id="4" name="Date Placeholder 3"/>
          <p:cNvSpPr>
            <a:spLocks noGrp="1"/>
          </p:cNvSpPr>
          <p:nvPr>
            <p:ph type="dt" sz="half" idx="10"/>
          </p:nvPr>
        </p:nvSpPr>
        <p:spPr/>
        <p:txBody>
          <a:bodyPr/>
          <a:lstStyle/>
          <a:p>
            <a:fld id="{FE63162C-209A-45B1-8750-00A0290475BB}" type="datetime1">
              <a:rPr lang="en-US" altLang="zh-CN" smtClean="0"/>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051A1045-A9D8-467A-8608-A3AE33891D49}" type="datetime1">
              <a:rPr lang="en-US" altLang="zh-CN" smtClean="0"/>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4406900"/>
            <a:ext cx="10515600" cy="1362075"/>
          </a:xfrm>
        </p:spPr>
        <p:txBody>
          <a:bodyPr anchor="t"/>
          <a:lstStyle>
            <a:lvl1pPr>
              <a:defRPr sz="4000" b="1"/>
            </a:lvl1pPr>
          </a:lstStyle>
          <a:p>
            <a:r>
              <a:rPr lang="zh-CN" altLang="en-US" smtClean="0"/>
              <a:t>单击此处编辑母版标题样式</a:t>
            </a:r>
            <a:endParaRPr lang="en-US"/>
          </a:p>
        </p:txBody>
      </p:sp>
      <p:sp>
        <p:nvSpPr>
          <p:cNvPr id="3" name="Text Placeholder 2"/>
          <p:cNvSpPr>
            <a:spLocks noGrp="1"/>
          </p:cNvSpPr>
          <p:nvPr>
            <p:ph type="body" idx="1" hasCustomPrompt="1"/>
          </p:nvPr>
        </p:nvSpPr>
        <p:spPr>
          <a:xfrm>
            <a:off x="831850" y="2906713"/>
            <a:ext cx="105156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86A26AED-82A0-4070-A047-0D71A156D1A8}" type="datetime1">
              <a:rPr lang="en-US" altLang="zh-CN" smtClean="0"/>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hasCustomPrompt="1"/>
          </p:nvPr>
        </p:nvSpPr>
        <p:spPr>
          <a:xfrm>
            <a:off x="838200" y="1820863"/>
            <a:ext cx="5181600" cy="4351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Content Placeholder 3"/>
          <p:cNvSpPr>
            <a:spLocks noGrp="1"/>
          </p:cNvSpPr>
          <p:nvPr>
            <p:ph sz="half" idx="2" hasCustomPrompt="1"/>
          </p:nvPr>
        </p:nvSpPr>
        <p:spPr>
          <a:xfrm>
            <a:off x="6172200" y="1820863"/>
            <a:ext cx="5181600" cy="4351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lstStyle/>
          <a:p>
            <a:fld id="{AA5F8009-2C7B-4039-BB68-77BBD0CA082F}" type="datetime1">
              <a:rPr lang="en-US" altLang="zh-CN" smtClean="0"/>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1850" y="274638"/>
            <a:ext cx="10515600" cy="1143000"/>
          </a:xfrm>
        </p:spPr>
        <p:txBody>
          <a:bodyPr/>
          <a:lstStyle/>
          <a:p>
            <a:r>
              <a:rPr lang="zh-CN" altLang="en-US" smtClean="0"/>
              <a:t>单击此处编辑母版标题样式</a:t>
            </a:r>
            <a:endParaRPr lang="en-US"/>
          </a:p>
        </p:txBody>
      </p:sp>
      <p:sp>
        <p:nvSpPr>
          <p:cNvPr id="3" name="Text Placeholder 2"/>
          <p:cNvSpPr>
            <a:spLocks noGrp="1"/>
          </p:cNvSpPr>
          <p:nvPr>
            <p:ph type="body" idx="1" hasCustomPrompt="1"/>
          </p:nvPr>
        </p:nvSpPr>
        <p:spPr>
          <a:xfrm>
            <a:off x="831850" y="1535113"/>
            <a:ext cx="51562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831850" y="2174875"/>
            <a:ext cx="5156200" cy="399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Text Placeholder 4"/>
          <p:cNvSpPr>
            <a:spLocks noGrp="1"/>
          </p:cNvSpPr>
          <p:nvPr>
            <p:ph type="body" sz="quarter" idx="3" hasCustomPrompt="1"/>
          </p:nvPr>
        </p:nvSpPr>
        <p:spPr>
          <a:xfrm>
            <a:off x="6189663" y="1535113"/>
            <a:ext cx="515778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6189663" y="2174875"/>
            <a:ext cx="5157787" cy="399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Date Placeholder 6"/>
          <p:cNvSpPr>
            <a:spLocks noGrp="1"/>
          </p:cNvSpPr>
          <p:nvPr>
            <p:ph type="dt" sz="half" idx="10"/>
          </p:nvPr>
        </p:nvSpPr>
        <p:spPr/>
        <p:txBody>
          <a:bodyPr/>
          <a:lstStyle/>
          <a:p>
            <a:fld id="{291DB1B0-8ED6-4B7B-B11F-8B56CF976F9B}" type="datetime1">
              <a:rPr lang="en-US" altLang="zh-CN" smtClean="0"/>
            </a:fld>
            <a:endParaRPr lang="en-US" dirty="0"/>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41D70519-EB0F-4FA6-9523-4C5569B88691}" type="datetime1">
              <a:rPr lang="en-US" altLang="zh-CN" smtClean="0"/>
            </a:fld>
            <a:endParaRPr lang="en-US" dirty="0"/>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A022C-396B-41DF-A504-4DC72FECBCAC}" type="datetime1">
              <a:rPr lang="en-US" altLang="zh-CN" smtClean="0"/>
            </a:fld>
            <a:endParaRPr lang="en-US" dirty="0"/>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685800"/>
            <a:ext cx="4013200" cy="1160463"/>
          </a:xfrm>
        </p:spPr>
        <p:txBody>
          <a:bodyPr anchor="b"/>
          <a:lstStyle>
            <a:lvl1pPr>
              <a:defRPr sz="2000" b="1"/>
            </a:lvl1pPr>
          </a:lstStyle>
          <a:p>
            <a:r>
              <a:rPr lang="zh-CN" altLang="en-US" smtClean="0"/>
              <a:t>单击此处编辑母版标题样式</a:t>
            </a:r>
            <a:endParaRPr lang="en-US"/>
          </a:p>
        </p:txBody>
      </p:sp>
      <p:sp>
        <p:nvSpPr>
          <p:cNvPr id="3" name="Content Placeholder 2"/>
          <p:cNvSpPr>
            <a:spLocks noGrp="1"/>
          </p:cNvSpPr>
          <p:nvPr>
            <p:ph idx="1" hasCustomPrompt="1"/>
          </p:nvPr>
        </p:nvSpPr>
        <p:spPr>
          <a:xfrm>
            <a:off x="5046663" y="685800"/>
            <a:ext cx="6300787" cy="5486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Text Placeholder 3"/>
          <p:cNvSpPr>
            <a:spLocks noGrp="1"/>
          </p:cNvSpPr>
          <p:nvPr>
            <p:ph type="body" sz="half" idx="2" hasCustomPrompt="1"/>
          </p:nvPr>
        </p:nvSpPr>
        <p:spPr>
          <a:xfrm>
            <a:off x="831850" y="1846263"/>
            <a:ext cx="4013200" cy="43259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EF5A9596-1636-433D-AFA2-9143FB706BD6}" type="datetime1">
              <a:rPr lang="en-US" altLang="zh-CN" smtClean="0"/>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05075" y="4800600"/>
            <a:ext cx="7177088" cy="566738"/>
          </a:xfrm>
        </p:spPr>
        <p:txBody>
          <a:bodyPr anchor="b"/>
          <a:lstStyle>
            <a:lvl1pPr>
              <a:defRPr sz="2000" b="1"/>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2505075" y="685800"/>
            <a:ext cx="7177088" cy="40417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4" name="Text Placeholder 3"/>
          <p:cNvSpPr>
            <a:spLocks noGrp="1"/>
          </p:cNvSpPr>
          <p:nvPr>
            <p:ph type="body" sz="half" idx="2" hasCustomPrompt="1"/>
          </p:nvPr>
        </p:nvSpPr>
        <p:spPr>
          <a:xfrm>
            <a:off x="2505075" y="5367338"/>
            <a:ext cx="71770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967FFAC5-AD84-4971-8D2D-5BA188B3F373}" type="datetime1">
              <a:rPr lang="en-US" altLang="zh-CN" smtClean="0"/>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BDFD17E1-607A-45E0-AAE0-C120FA84B961}" type="datetime1">
              <a:rPr lang="en-US" altLang="zh-CN" smtClean="0"/>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hasCustomPrompt="1"/>
          </p:nvPr>
        </p:nvSpPr>
        <p:spPr>
          <a:xfrm>
            <a:off x="838200" y="274638"/>
            <a:ext cx="7734300" cy="5897562"/>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CADA4891-4F25-4164-BD9D-D440387F2A54}" type="datetime1">
              <a:rPr lang="en-US" altLang="zh-CN" smtClean="0"/>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slideLayout" Target="../slideLayouts/slideLayout12.xml"/><Relationship Id="rId7" Type="http://schemas.openxmlformats.org/officeDocument/2006/relationships/slideLayout" Target="../slideLayouts/slideLayout11.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2" Type="http://schemas.openxmlformats.org/officeDocument/2006/relationships/theme" Target="../theme/theme2.xml"/><Relationship Id="rId11" Type="http://schemas.openxmlformats.org/officeDocument/2006/relationships/slideLayout" Target="../slideLayouts/slideLayout15.xml"/><Relationship Id="rId10" Type="http://schemas.openxmlformats.org/officeDocument/2006/relationships/slideLayout" Target="../slideLayouts/slideLayout14.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09AB2948-9C52-4ECC-AEF9-14490794BD98}" type="datetime1">
              <a:rPr lang="en-US" altLang="zh-CN" smtClean="0"/>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
        <p:nvSpPr>
          <p:cNvPr id="7" name="矩形 6"/>
          <p:cNvSpPr/>
          <p:nvPr userDrawn="1"/>
        </p:nvSpPr>
        <p:spPr>
          <a:xfrm>
            <a:off x="381000" y="457200"/>
            <a:ext cx="228600" cy="228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flipV="1">
            <a:off x="0" y="6857999"/>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defRPr>
          <a:latin typeface="+mj-lt"/>
          <a:ea typeface="+mj-ea"/>
          <a:cs typeface="+mj-cs"/>
        </a:defRPr>
      </a:lvl1pPr>
    </p:titleStyle>
    <p:bodyStyle>
      <a:lvl1pPr marL="0">
        <a:defRPr sz="2800">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74638"/>
            <a:ext cx="10515600" cy="1325562"/>
          </a:xfrm>
          <a:prstGeom prst="rect">
            <a:avLst/>
          </a:prstGeom>
        </p:spPr>
        <p:txBody>
          <a:bodyPr vert="horz" lIns="91440" tIns="45720" rIns="91440" bIns="45720" rtlCol="0" anchor="ctr">
            <a:normAutofit/>
          </a:bodyPr>
          <a:lstStyle/>
          <a:p>
            <a:r>
              <a:rPr lang="zh-CN" altLang="en-US" smtClean="0"/>
              <a:t>单击此处编辑母版标题样式</a:t>
            </a:r>
            <a:endParaRPr lang="en-US"/>
          </a:p>
        </p:txBody>
      </p:sp>
      <p:sp>
        <p:nvSpPr>
          <p:cNvPr id="3" name="Text Placeholder 2"/>
          <p:cNvSpPr>
            <a:spLocks noGrp="1"/>
          </p:cNvSpPr>
          <p:nvPr>
            <p:ph type="body" idx="1"/>
          </p:nvPr>
        </p:nvSpPr>
        <p:spPr>
          <a:xfrm>
            <a:off x="838200" y="1820863"/>
            <a:ext cx="10515600" cy="4351337"/>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5EEAB5-0EBA-4FB9-8666-C336D5259515}" type="datetime1">
              <a:rPr lang="en-US" altLang="zh-CN" smtClean="0"/>
            </a:fld>
            <a:endParaRPr lang="en-US" dirty="0"/>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ltLang="zh-CN" smtClean="0"/>
            </a:fld>
            <a:endParaRPr lang="zh-CN" altLang="en-US"/>
          </a:p>
        </p:txBody>
      </p:sp>
      <p:sp>
        <p:nvSpPr>
          <p:cNvPr id="7" name="矩形 6"/>
          <p:cNvSpPr/>
          <p:nvPr userDrawn="1"/>
        </p:nvSpPr>
        <p:spPr>
          <a:xfrm>
            <a:off x="304800" y="823119"/>
            <a:ext cx="228600" cy="228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858000"/>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9.png"/><Relationship Id="rId1"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0.png"/><Relationship Id="rId1" Type="http://schemas.openxmlformats.org/officeDocument/2006/relationships/image" Target="../media/image3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3.png"/><Relationship Id="rId1" Type="http://schemas.openxmlformats.org/officeDocument/2006/relationships/image" Target="../media/image4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8.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0.png"/><Relationship Id="rId1"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www.w3school.com.cn/js/jsref_obj_math.asp"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9.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2.png"/><Relationship Id="rId2" Type="http://schemas.openxmlformats.org/officeDocument/2006/relationships/tags" Target="../tags/tag1.xml"/><Relationship Id="rId1" Type="http://schemas.openxmlformats.org/officeDocument/2006/relationships/image" Target="../media/image49.png"/></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9.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0.png"/><Relationship Id="rId1" Type="http://schemas.openxmlformats.org/officeDocument/2006/relationships/tags" Target="../tags/tag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1.png"/><Relationship Id="rId1"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2"/>
          <p:cNvSpPr txBox="1"/>
          <p:nvPr/>
        </p:nvSpPr>
        <p:spPr>
          <a:xfrm>
            <a:off x="2514600" y="2743200"/>
            <a:ext cx="7289038" cy="936154"/>
          </a:xfrm>
          <a:prstGeom prst="rect">
            <a:avLst/>
          </a:prstGeom>
        </p:spPr>
        <p:txBody>
          <a:bodyPr vert="horz" wrap="square" lIns="0" tIns="12700" rIns="0" bIns="0" rtlCol="0">
            <a:spAutoFit/>
          </a:bodyPr>
          <a:lstStyle>
            <a:lvl1pPr>
              <a:defRPr sz="2400" b="1" i="0">
                <a:solidFill>
                  <a:srgbClr val="C00000"/>
                </a:solidFill>
                <a:latin typeface="Microsoft JhengHei"/>
                <a:ea typeface="+mj-ea"/>
                <a:cs typeface="Microsoft JhengHei"/>
              </a:defRPr>
            </a:lvl1pPr>
          </a:lstStyle>
          <a:p>
            <a:pPr marL="40640" algn="ctr">
              <a:spcBef>
                <a:spcPts val="100"/>
              </a:spcBef>
            </a:pPr>
            <a:r>
              <a:rPr lang="en-US" sz="6000" kern="0" spc="-215" dirty="0" smtClean="0">
                <a:solidFill>
                  <a:schemeClr val="tx1"/>
                </a:solidFill>
              </a:rPr>
              <a:t>JavaScript</a:t>
            </a:r>
            <a:r>
              <a:rPr lang="zh-CN" altLang="en-US" sz="6000" kern="0" spc="-215" dirty="0" smtClean="0">
                <a:solidFill>
                  <a:schemeClr val="tx1"/>
                </a:solidFill>
              </a:rPr>
              <a:t>函数、</a:t>
            </a:r>
            <a:r>
              <a:rPr lang="en-US" sz="6000" kern="0" spc="-1830" dirty="0" smtClean="0">
                <a:solidFill>
                  <a:schemeClr val="tx1"/>
                </a:solidFill>
              </a:rPr>
              <a:t> </a:t>
            </a:r>
            <a:r>
              <a:rPr lang="zh-CN" altLang="en-US" sz="6000" kern="0" spc="-125" dirty="0" smtClean="0">
                <a:solidFill>
                  <a:schemeClr val="tx1"/>
                </a:solidFill>
              </a:rPr>
              <a:t>对象</a:t>
            </a:r>
            <a:endParaRPr lang="zh-CN" altLang="en-US" sz="6000" kern="0" spc="-114" dirty="0">
              <a:solidFill>
                <a:schemeClr val="tx1"/>
              </a:solidFill>
            </a:endParaRPr>
          </a:p>
        </p:txBody>
      </p:sp>
      <p:sp>
        <p:nvSpPr>
          <p:cNvPr id="2" name="灯片编号占位符 1"/>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952500" y="1524000"/>
            <a:ext cx="10219055" cy="207685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1345"/>
              </a:spcBef>
              <a:spcAft>
                <a:spcPts val="0"/>
              </a:spcAft>
              <a:buClrTx/>
              <a:buSzTx/>
              <a:buFontTx/>
              <a:buNone/>
              <a:defRPr/>
            </a:pPr>
            <a:r>
              <a:rPr kumimoji="0" sz="2400" b="0" i="0" u="none" strike="noStrike" kern="1200" cap="none" spc="-30" normalizeH="0" baseline="0" noProof="0" dirty="0" err="1" smtClean="0">
                <a:ln>
                  <a:noFill/>
                </a:ln>
                <a:solidFill>
                  <a:srgbClr val="252525"/>
                </a:solidFill>
                <a:effectLst/>
                <a:uLnTx/>
                <a:uFillTx/>
                <a:latin typeface="宋体"/>
                <a:ea typeface="+mn-ea"/>
                <a:cs typeface="宋体"/>
              </a:rPr>
              <a:t>是被设计为</a:t>
            </a:r>
            <a:r>
              <a:rPr kumimoji="0" sz="2400" b="0" i="0" u="none" strike="noStrike" kern="1200" cap="none" spc="-30" normalizeH="0" baseline="0" noProof="0" dirty="0" err="1" smtClean="0">
                <a:ln>
                  <a:noFill/>
                </a:ln>
                <a:solidFill>
                  <a:srgbClr val="C00000"/>
                </a:solidFill>
                <a:effectLst/>
                <a:uLnTx/>
                <a:uFillTx/>
                <a:latin typeface="宋体"/>
                <a:ea typeface="+mn-ea"/>
                <a:cs typeface="宋体"/>
              </a:rPr>
              <a:t>执行特定任务</a:t>
            </a:r>
            <a:r>
              <a:rPr kumimoji="0" sz="2400" b="0" i="0" u="none" strike="noStrike" kern="1200" cap="none" spc="-30" normalizeH="0" baseline="0" noProof="0" dirty="0" err="1" smtClean="0">
                <a:ln>
                  <a:noFill/>
                </a:ln>
                <a:solidFill>
                  <a:srgbClr val="252525"/>
                </a:solidFill>
                <a:effectLst/>
                <a:uLnTx/>
                <a:uFillTx/>
                <a:latin typeface="宋体"/>
                <a:ea typeface="+mn-ea"/>
                <a:cs typeface="宋体"/>
              </a:rPr>
              <a:t>的代码块</a:t>
            </a:r>
            <a:r>
              <a:rPr kumimoji="0" lang="zh-CN" altLang="en-US" sz="2400" b="0" i="0" u="none" strike="noStrike" kern="1200" cap="none" spc="-30" normalizeH="0" baseline="0" noProof="0" dirty="0" smtClean="0">
                <a:ln>
                  <a:noFill/>
                </a:ln>
                <a:solidFill>
                  <a:srgbClr val="252525"/>
                </a:solidFill>
                <a:effectLst/>
                <a:uLnTx/>
                <a:uFillTx/>
                <a:latin typeface="宋体"/>
                <a:ea typeface="宋体" pitchFamily="2" charset="-122"/>
                <a:cs typeface="宋体"/>
              </a:rPr>
              <a:t>。</a:t>
            </a:r>
            <a:endParaRPr kumimoji="0" sz="2400" b="0" i="0" u="none" strike="noStrike" kern="1200" cap="none" spc="0" normalizeH="0" baseline="0" noProof="0" dirty="0">
              <a:ln>
                <a:noFill/>
              </a:ln>
              <a:solidFill>
                <a:prstClr val="black"/>
              </a:solidFill>
              <a:effectLst/>
              <a:uLnTx/>
              <a:uFillTx/>
              <a:latin typeface="宋体"/>
              <a:ea typeface="+mn-ea"/>
              <a:cs typeface="宋体"/>
            </a:endParaRPr>
          </a:p>
          <a:p>
            <a:pPr marL="12700" marR="0" lvl="0" indent="0" algn="l" defTabSz="914400" rtl="0" eaLnBrk="1" fontAlgn="auto" latinLnBrk="0" hangingPunct="1">
              <a:lnSpc>
                <a:spcPct val="100000"/>
              </a:lnSpc>
              <a:spcBef>
                <a:spcPts val="1340"/>
              </a:spcBef>
              <a:spcAft>
                <a:spcPts val="0"/>
              </a:spcAft>
              <a:buClrTx/>
              <a:buSzTx/>
              <a:buFontTx/>
              <a:buNone/>
              <a:defRPr/>
            </a:pPr>
            <a:r>
              <a:rPr kumimoji="0" sz="2400" b="1" i="0" u="none" strike="noStrike" kern="1200" cap="none" spc="-35" normalizeH="0" baseline="0" noProof="0" dirty="0">
                <a:ln>
                  <a:noFill/>
                </a:ln>
                <a:solidFill>
                  <a:srgbClr val="252525"/>
                </a:solidFill>
                <a:effectLst/>
                <a:uLnTx/>
                <a:uFillTx/>
                <a:latin typeface="微软雅黑"/>
                <a:ea typeface="+mn-ea"/>
                <a:cs typeface="微软雅黑"/>
              </a:rPr>
              <a:t>说明：</a:t>
            </a:r>
            <a:endParaRPr kumimoji="0" sz="2400" b="0" i="0" u="none" strike="noStrike" kern="1200" cap="none" spc="0" normalizeH="0" baseline="0" noProof="0" dirty="0">
              <a:ln>
                <a:noFill/>
              </a:ln>
              <a:solidFill>
                <a:prstClr val="black"/>
              </a:solidFill>
              <a:effectLst/>
              <a:uLnTx/>
              <a:uFillTx/>
              <a:latin typeface="微软雅黑"/>
              <a:ea typeface="+mn-ea"/>
              <a:cs typeface="微软雅黑"/>
            </a:endParaRPr>
          </a:p>
          <a:p>
            <a:pPr marL="12700" marR="5080" lvl="0" indent="0" algn="l" defTabSz="914400" rtl="0" eaLnBrk="1" fontAlgn="auto" latinLnBrk="0" hangingPunct="1">
              <a:lnSpc>
                <a:spcPct val="150000"/>
              </a:lnSpc>
              <a:spcBef>
                <a:spcPts val="390"/>
              </a:spcBef>
              <a:spcAft>
                <a:spcPts val="0"/>
              </a:spcAft>
              <a:buClrTx/>
              <a:buSzTx/>
              <a:buFontTx/>
              <a:buNone/>
              <a:defRPr/>
            </a:pPr>
            <a:r>
              <a:rPr kumimoji="0" sz="2400" b="0" i="0" u="none" strike="noStrike" kern="1200" cap="none" spc="-30" normalizeH="0" baseline="0" noProof="0" dirty="0" err="1">
                <a:ln>
                  <a:noFill/>
                </a:ln>
                <a:solidFill>
                  <a:srgbClr val="252525"/>
                </a:solidFill>
                <a:effectLst/>
                <a:uLnTx/>
                <a:uFillTx/>
                <a:latin typeface="宋体"/>
                <a:ea typeface="+mn-ea"/>
                <a:cs typeface="宋体"/>
              </a:rPr>
              <a:t>函数可以把具有相同或相似逻辑的代码“包裹</a:t>
            </a:r>
            <a:r>
              <a:rPr kumimoji="0" sz="2400" b="0" i="0" u="none" strike="noStrike" kern="1200" cap="none" spc="-20" normalizeH="0" baseline="0" noProof="0" dirty="0" err="1">
                <a:ln>
                  <a:noFill/>
                </a:ln>
                <a:solidFill>
                  <a:srgbClr val="252525"/>
                </a:solidFill>
                <a:effectLst/>
                <a:uLnTx/>
                <a:uFillTx/>
                <a:latin typeface="宋体"/>
                <a:ea typeface="+mn-ea"/>
                <a:cs typeface="宋体"/>
              </a:rPr>
              <a:t>”</a:t>
            </a:r>
            <a:r>
              <a:rPr kumimoji="0" sz="2400" b="0" i="0" u="none" strike="noStrike" kern="1200" cap="none" spc="-30" normalizeH="0" baseline="0" noProof="0" dirty="0" err="1">
                <a:ln>
                  <a:noFill/>
                </a:ln>
                <a:solidFill>
                  <a:srgbClr val="252525"/>
                </a:solidFill>
                <a:effectLst/>
                <a:uLnTx/>
                <a:uFillTx/>
                <a:latin typeface="宋体"/>
                <a:ea typeface="+mn-ea"/>
                <a:cs typeface="宋体"/>
              </a:rPr>
              <a:t>起来，</a:t>
            </a:r>
            <a:r>
              <a:rPr kumimoji="0" sz="2400" b="0" i="0" u="none" strike="noStrike" kern="1200" cap="none" spc="-20" normalizeH="0" baseline="0" noProof="0" dirty="0" err="1">
                <a:ln>
                  <a:noFill/>
                </a:ln>
                <a:solidFill>
                  <a:srgbClr val="252525"/>
                </a:solidFill>
                <a:effectLst/>
                <a:uLnTx/>
                <a:uFillTx/>
                <a:latin typeface="宋体"/>
                <a:ea typeface="+mn-ea"/>
                <a:cs typeface="宋体"/>
              </a:rPr>
              <a:t>通</a:t>
            </a:r>
            <a:r>
              <a:rPr kumimoji="0" sz="2400" b="0" i="0" u="none" strike="noStrike" kern="1200" cap="none" spc="-30" normalizeH="0" baseline="0" noProof="0" dirty="0" err="1">
                <a:ln>
                  <a:noFill/>
                </a:ln>
                <a:solidFill>
                  <a:srgbClr val="252525"/>
                </a:solidFill>
                <a:effectLst/>
                <a:uLnTx/>
                <a:uFillTx/>
                <a:latin typeface="宋体"/>
                <a:ea typeface="+mn-ea"/>
                <a:cs typeface="宋体"/>
              </a:rPr>
              <a:t>过函数</a:t>
            </a:r>
            <a:r>
              <a:rPr kumimoji="0" sz="2400" b="0" i="0" u="none" strike="noStrike" kern="1200" cap="none" spc="-20" normalizeH="0" baseline="0" noProof="0" dirty="0" err="1">
                <a:ln>
                  <a:noFill/>
                </a:ln>
                <a:solidFill>
                  <a:srgbClr val="252525"/>
                </a:solidFill>
                <a:effectLst/>
                <a:uLnTx/>
                <a:uFillTx/>
                <a:latin typeface="宋体"/>
                <a:ea typeface="+mn-ea"/>
                <a:cs typeface="宋体"/>
              </a:rPr>
              <a:t>调</a:t>
            </a:r>
            <a:r>
              <a:rPr kumimoji="0" sz="2400" b="0" i="0" u="none" strike="noStrike" kern="1200" cap="none" spc="-30" normalizeH="0" baseline="0" noProof="0" dirty="0" err="1">
                <a:ln>
                  <a:noFill/>
                </a:ln>
                <a:solidFill>
                  <a:srgbClr val="252525"/>
                </a:solidFill>
                <a:effectLst/>
                <a:uLnTx/>
                <a:uFillTx/>
                <a:latin typeface="宋体"/>
                <a:ea typeface="+mn-ea"/>
                <a:cs typeface="宋体"/>
              </a:rPr>
              <a:t>用执行</a:t>
            </a:r>
            <a:r>
              <a:rPr kumimoji="0" sz="2400" b="0" i="0" u="none" strike="noStrike" kern="1200" cap="none" spc="-20" normalizeH="0" baseline="0" noProof="0" dirty="0" err="1">
                <a:ln>
                  <a:noFill/>
                </a:ln>
                <a:solidFill>
                  <a:srgbClr val="252525"/>
                </a:solidFill>
                <a:effectLst/>
                <a:uLnTx/>
                <a:uFillTx/>
                <a:latin typeface="宋体"/>
                <a:ea typeface="+mn-ea"/>
                <a:cs typeface="宋体"/>
              </a:rPr>
              <a:t>这</a:t>
            </a:r>
            <a:r>
              <a:rPr kumimoji="0" sz="2400" b="0" i="0" u="none" strike="noStrike" kern="1200" cap="none" spc="-30" normalizeH="0" baseline="0" noProof="0" dirty="0" err="1">
                <a:ln>
                  <a:noFill/>
                </a:ln>
                <a:solidFill>
                  <a:srgbClr val="252525"/>
                </a:solidFill>
                <a:effectLst/>
                <a:uLnTx/>
                <a:uFillTx/>
                <a:latin typeface="宋体"/>
                <a:ea typeface="+mn-ea"/>
                <a:cs typeface="宋体"/>
              </a:rPr>
              <a:t>些被“</a:t>
            </a:r>
            <a:r>
              <a:rPr kumimoji="0" sz="2400" b="0" i="0" u="none" strike="noStrike" kern="1200" cap="none" spc="-20" normalizeH="0" baseline="0" noProof="0" dirty="0" err="1">
                <a:ln>
                  <a:noFill/>
                </a:ln>
                <a:solidFill>
                  <a:srgbClr val="252525"/>
                </a:solidFill>
                <a:effectLst/>
                <a:uLnTx/>
                <a:uFillTx/>
                <a:latin typeface="宋体"/>
                <a:ea typeface="+mn-ea"/>
                <a:cs typeface="宋体"/>
              </a:rPr>
              <a:t>包</a:t>
            </a:r>
            <a:r>
              <a:rPr kumimoji="0" sz="2400" b="0" i="0" u="none" strike="noStrike" kern="1200" cap="none" spc="-30" normalizeH="0" baseline="0" noProof="0" dirty="0" err="1">
                <a:ln>
                  <a:noFill/>
                </a:ln>
                <a:solidFill>
                  <a:srgbClr val="252525"/>
                </a:solidFill>
                <a:effectLst/>
                <a:uLnTx/>
                <a:uFillTx/>
                <a:latin typeface="宋体"/>
                <a:ea typeface="+mn-ea"/>
                <a:cs typeface="宋体"/>
              </a:rPr>
              <a:t>裹”的</a:t>
            </a:r>
            <a:r>
              <a:rPr kumimoji="0" sz="2400" b="0" i="0" u="none" strike="noStrike" kern="1200" cap="none" spc="-20" normalizeH="0" baseline="0" noProof="0" dirty="0" err="1">
                <a:ln>
                  <a:noFill/>
                </a:ln>
                <a:solidFill>
                  <a:srgbClr val="252525"/>
                </a:solidFill>
                <a:effectLst/>
                <a:uLnTx/>
                <a:uFillTx/>
                <a:latin typeface="宋体"/>
                <a:ea typeface="+mn-ea"/>
                <a:cs typeface="宋体"/>
              </a:rPr>
              <a:t>代</a:t>
            </a:r>
            <a:r>
              <a:rPr kumimoji="0" sz="2400" b="0" i="0" u="none" strike="noStrike" kern="1200" cap="none" spc="-30" normalizeH="0" baseline="0" noProof="0" dirty="0" err="1">
                <a:ln>
                  <a:noFill/>
                </a:ln>
                <a:solidFill>
                  <a:srgbClr val="252525"/>
                </a:solidFill>
                <a:effectLst/>
                <a:uLnTx/>
                <a:uFillTx/>
                <a:latin typeface="宋体"/>
                <a:ea typeface="+mn-ea"/>
                <a:cs typeface="宋体"/>
              </a:rPr>
              <a:t>码逻辑</a:t>
            </a:r>
            <a:r>
              <a:rPr kumimoji="0" sz="2400" b="0" i="0" u="none" strike="noStrike" kern="1200" cap="none" spc="-20" normalizeH="0" baseline="0" noProof="0" dirty="0" err="1">
                <a:ln>
                  <a:noFill/>
                </a:ln>
                <a:solidFill>
                  <a:srgbClr val="252525"/>
                </a:solidFill>
                <a:effectLst/>
                <a:uLnTx/>
                <a:uFillTx/>
                <a:latin typeface="宋体"/>
                <a:ea typeface="+mn-ea"/>
                <a:cs typeface="宋体"/>
              </a:rPr>
              <a:t>，</a:t>
            </a:r>
            <a:r>
              <a:rPr kumimoji="0" sz="2400" b="0" i="0" u="none" strike="noStrike" kern="1200" cap="none" spc="-30" normalizeH="0" baseline="0" noProof="0" dirty="0" err="1" smtClean="0">
                <a:ln>
                  <a:noFill/>
                </a:ln>
                <a:solidFill>
                  <a:srgbClr val="252525"/>
                </a:solidFill>
                <a:effectLst/>
                <a:uLnTx/>
                <a:uFillTx/>
                <a:latin typeface="宋体"/>
                <a:ea typeface="+mn-ea"/>
                <a:cs typeface="宋体"/>
              </a:rPr>
              <a:t>这么做</a:t>
            </a:r>
            <a:r>
              <a:rPr kumimoji="0" sz="2400" b="0" i="0" u="none" strike="noStrike" kern="1200" cap="none" spc="-20" normalizeH="0" baseline="0" noProof="0" dirty="0" err="1" smtClean="0">
                <a:ln>
                  <a:noFill/>
                </a:ln>
                <a:solidFill>
                  <a:srgbClr val="252525"/>
                </a:solidFill>
                <a:effectLst/>
                <a:uLnTx/>
                <a:uFillTx/>
                <a:latin typeface="宋体"/>
                <a:ea typeface="+mn-ea"/>
                <a:cs typeface="宋体"/>
              </a:rPr>
              <a:t>的</a:t>
            </a:r>
            <a:r>
              <a:rPr kumimoji="0" sz="2400" b="0" i="0" u="none" strike="noStrike" kern="1200" cap="none" spc="-25" normalizeH="0" baseline="0" noProof="0" dirty="0" err="1" smtClean="0">
                <a:ln>
                  <a:noFill/>
                </a:ln>
                <a:solidFill>
                  <a:srgbClr val="252525"/>
                </a:solidFill>
                <a:effectLst/>
                <a:uLnTx/>
                <a:uFillTx/>
                <a:latin typeface="宋体"/>
                <a:ea typeface="+mn-ea"/>
                <a:cs typeface="宋体"/>
              </a:rPr>
              <a:t>优势</a:t>
            </a:r>
            <a:r>
              <a:rPr kumimoji="0" lang="zh-CN" altLang="en-US" sz="2400" b="0" i="0" u="none" strike="noStrike" kern="1200" cap="none" spc="-25" normalizeH="0" baseline="0" noProof="0" dirty="0" smtClean="0">
                <a:ln>
                  <a:noFill/>
                </a:ln>
                <a:solidFill>
                  <a:srgbClr val="252525"/>
                </a:solidFill>
                <a:effectLst/>
                <a:uLnTx/>
                <a:uFillTx/>
                <a:latin typeface="宋体"/>
                <a:ea typeface="宋体" pitchFamily="2" charset="-122"/>
                <a:cs typeface="宋体"/>
              </a:rPr>
              <a:t>：</a:t>
            </a:r>
            <a:r>
              <a:rPr kumimoji="0" sz="2400" b="0" i="0" u="none" strike="noStrike" kern="1200" cap="none" spc="-30" normalizeH="0" baseline="0" noProof="0" dirty="0" err="1" smtClean="0">
                <a:ln>
                  <a:noFill/>
                </a:ln>
                <a:solidFill>
                  <a:srgbClr val="252525"/>
                </a:solidFill>
                <a:effectLst/>
                <a:uLnTx/>
                <a:uFillTx/>
                <a:latin typeface="宋体"/>
                <a:ea typeface="+mn-ea"/>
                <a:cs typeface="宋体"/>
              </a:rPr>
              <a:t>有利于</a:t>
            </a:r>
            <a:r>
              <a:rPr kumimoji="0" sz="2400" b="0" i="0" u="none" strike="noStrike" kern="1200" cap="none" spc="-30" normalizeH="0" baseline="0" noProof="0" dirty="0" err="1" smtClean="0">
                <a:ln>
                  <a:noFill/>
                </a:ln>
                <a:solidFill>
                  <a:srgbClr val="C00000"/>
                </a:solidFill>
                <a:effectLst/>
                <a:uLnTx/>
                <a:uFillTx/>
                <a:latin typeface="宋体"/>
                <a:ea typeface="+mn-ea"/>
                <a:cs typeface="宋体"/>
              </a:rPr>
              <a:t>精简代码方便复用</a:t>
            </a:r>
            <a:r>
              <a:rPr kumimoji="0" sz="2400" b="0" i="0" u="none" strike="noStrike" kern="1200" cap="none" spc="-30" normalizeH="0" baseline="0" noProof="0" dirty="0">
                <a:ln>
                  <a:noFill/>
                </a:ln>
                <a:solidFill>
                  <a:srgbClr val="252525"/>
                </a:solidFill>
                <a:effectLst/>
                <a:uLnTx/>
                <a:uFillTx/>
                <a:latin typeface="宋体"/>
                <a:ea typeface="+mn-ea"/>
                <a:cs typeface="宋体"/>
              </a:rPr>
              <a:t>。</a:t>
            </a:r>
            <a:endParaRPr kumimoji="0" sz="2400" b="0" i="0" u="none" strike="noStrike" kern="1200" cap="none" spc="0" normalizeH="0" baseline="0" noProof="0" dirty="0">
              <a:ln>
                <a:noFill/>
              </a:ln>
              <a:solidFill>
                <a:prstClr val="black"/>
              </a:solidFill>
              <a:effectLst/>
              <a:uLnTx/>
              <a:uFillTx/>
              <a:latin typeface="宋体"/>
              <a:ea typeface="+mn-ea"/>
              <a:cs typeface="宋体"/>
            </a:endParaRPr>
          </a:p>
        </p:txBody>
      </p:sp>
      <p:sp>
        <p:nvSpPr>
          <p:cNvPr id="8" name="object 7"/>
          <p:cNvSpPr txBox="1"/>
          <p:nvPr/>
        </p:nvSpPr>
        <p:spPr>
          <a:xfrm>
            <a:off x="952500" y="4114800"/>
            <a:ext cx="10439400" cy="1034257"/>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50000"/>
              </a:lnSpc>
              <a:spcBef>
                <a:spcPts val="100"/>
              </a:spcBef>
              <a:spcAft>
                <a:spcPts val="0"/>
              </a:spcAft>
              <a:buClrTx/>
              <a:buSzTx/>
              <a:buFontTx/>
              <a:buNone/>
              <a:defRPr/>
            </a:pPr>
            <a:r>
              <a:rPr kumimoji="0" lang="en-US" altLang="zh-CN" sz="2400" b="0" i="0" u="none" strike="noStrike" kern="1200" cap="none" spc="-30" normalizeH="0" baseline="0" noProof="0" dirty="0" smtClean="0">
                <a:ln>
                  <a:noFill/>
                </a:ln>
                <a:solidFill>
                  <a:srgbClr val="252525"/>
                </a:solidFill>
                <a:effectLst/>
                <a:uLnTx/>
                <a:uFillTx/>
                <a:latin typeface="宋体"/>
                <a:ea typeface="宋体" pitchFamily="2" charset="-122"/>
                <a:cs typeface="宋体"/>
              </a:rPr>
              <a:t>--</a:t>
            </a:r>
            <a:r>
              <a:rPr kumimoji="0" lang="zh-CN" altLang="en-US" sz="2400" b="0" i="0" u="none" strike="noStrike" kern="1200" cap="none" spc="-30" normalizeH="0" baseline="0" noProof="0" dirty="0" smtClean="0">
                <a:ln>
                  <a:noFill/>
                </a:ln>
                <a:solidFill>
                  <a:srgbClr val="252525"/>
                </a:solidFill>
                <a:effectLst/>
                <a:uLnTx/>
                <a:uFillTx/>
                <a:latin typeface="宋体"/>
                <a:ea typeface="宋体" pitchFamily="2" charset="-122"/>
                <a:cs typeface="宋体"/>
              </a:rPr>
              <a:t>它</a:t>
            </a:r>
            <a:r>
              <a:rPr kumimoji="0" lang="zh-CN" altLang="en-US" sz="2400" b="0" i="0" u="none" strike="noStrike" kern="1200" cap="none" spc="-30" normalizeH="0" baseline="0" noProof="0" dirty="0">
                <a:ln>
                  <a:noFill/>
                </a:ln>
                <a:solidFill>
                  <a:srgbClr val="252525"/>
                </a:solidFill>
                <a:effectLst/>
                <a:uLnTx/>
                <a:uFillTx/>
                <a:latin typeface="宋体"/>
                <a:ea typeface="宋体" pitchFamily="2" charset="-122"/>
                <a:cs typeface="宋体"/>
              </a:rPr>
              <a:t>允许你在一个代码块中存储一段用于处理单任务的代码，然后在任何你需要的时候用一个简短的命令来调用，而不是把相同的代码写很多次。</a:t>
            </a:r>
            <a:endParaRPr kumimoji="0" lang="en-US" altLang="zh-CN" sz="2400" b="0" i="0" u="none" strike="noStrike" kern="1200" cap="none" spc="-30" normalizeH="0" baseline="0" noProof="0" dirty="0">
              <a:ln>
                <a:noFill/>
              </a:ln>
              <a:solidFill>
                <a:srgbClr val="252525"/>
              </a:solidFill>
              <a:effectLst/>
              <a:uLnTx/>
              <a:uFillTx/>
              <a:latin typeface="宋体"/>
              <a:ea typeface="宋体" pitchFamily="2" charset="-122"/>
              <a:cs typeface="宋体"/>
            </a:endParaRPr>
          </a:p>
        </p:txBody>
      </p:sp>
      <p:sp>
        <p:nvSpPr>
          <p:cNvPr id="2" name="标题 1"/>
          <p:cNvSpPr>
            <a:spLocks noGrp="1"/>
          </p:cNvSpPr>
          <p:nvPr>
            <p:ph type="title"/>
          </p:nvPr>
        </p:nvSpPr>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4" name="矩形 3"/>
          <p:cNvSpPr/>
          <p:nvPr/>
        </p:nvSpPr>
        <p:spPr>
          <a:xfrm>
            <a:off x="914400" y="1371600"/>
            <a:ext cx="10439400" cy="415498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40" normalizeH="0" baseline="0" noProof="0" dirty="0" smtClean="0">
                <a:ln>
                  <a:noFill/>
                </a:ln>
                <a:solidFill>
                  <a:srgbClr val="C00000"/>
                </a:solidFill>
                <a:effectLst/>
                <a:uLnTx/>
                <a:uFillTx/>
                <a:latin typeface="宋体"/>
                <a:ea typeface="宋体" pitchFamily="2" charset="-122"/>
                <a:cs typeface="宋体"/>
              </a:rPr>
              <a:t>函数的声明和调用：</a:t>
            </a:r>
            <a:endParaRPr kumimoji="0" lang="en-US" altLang="zh-CN" sz="2400" b="1" i="0" u="none" strike="noStrike" kern="1200" cap="none" spc="-40" normalizeH="0" baseline="0" noProof="0" dirty="0">
              <a:ln>
                <a:noFill/>
              </a:ln>
              <a:solidFill>
                <a:srgbClr val="C00000"/>
              </a:solidFill>
              <a:effectLst/>
              <a:uLnTx/>
              <a:uFillTx/>
              <a:latin typeface="宋体"/>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function </a:t>
            </a:r>
            <a:r>
              <a:rPr kumimoji="0" lang="zh-CN" altLang="en-US" sz="2000" b="0" i="0" u="none" strike="noStrike" kern="1200" cap="none" spc="-40" normalizeH="0" baseline="0" noProof="0" dirty="0" smtClean="0">
                <a:ln>
                  <a:noFill/>
                </a:ln>
                <a:solidFill>
                  <a:prstClr val="black"/>
                </a:solidFill>
                <a:effectLst/>
                <a:uLnTx/>
                <a:uFillTx/>
                <a:latin typeface="宋体"/>
                <a:ea typeface="宋体" pitchFamily="2" charset="-122"/>
                <a:cs typeface="+mn-cs"/>
              </a:rPr>
              <a:t>函数名</a:t>
            </a: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a:t>
            </a:r>
            <a:r>
              <a:rPr kumimoji="0" lang="zh-CN" altLang="en-US" sz="2000" b="0" i="0" u="none" strike="noStrike" kern="1200" cap="none" spc="-40" normalizeH="0" baseline="0" noProof="0" dirty="0" smtClean="0">
                <a:ln>
                  <a:noFill/>
                </a:ln>
                <a:solidFill>
                  <a:prstClr val="black"/>
                </a:solidFill>
                <a:effectLst/>
                <a:uLnTx/>
                <a:uFillTx/>
                <a:latin typeface="宋体"/>
                <a:ea typeface="宋体" pitchFamily="2" charset="-122"/>
                <a:cs typeface="+mn-cs"/>
              </a:rPr>
              <a:t>参数列表</a:t>
            </a: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a:t>
            </a:r>
            <a:endPar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    //</a:t>
            </a:r>
            <a:r>
              <a:rPr kumimoji="0" lang="zh-CN" altLang="en-US" sz="2000" b="0" i="0" u="none" strike="noStrike" kern="1200" cap="none" spc="-40" normalizeH="0" baseline="0" noProof="0" dirty="0" smtClean="0">
                <a:ln>
                  <a:noFill/>
                </a:ln>
                <a:solidFill>
                  <a:prstClr val="black"/>
                </a:solidFill>
                <a:effectLst/>
                <a:uLnTx/>
                <a:uFillTx/>
                <a:latin typeface="宋体"/>
                <a:ea typeface="宋体" pitchFamily="2" charset="-122"/>
                <a:cs typeface="+mn-cs"/>
              </a:rPr>
              <a:t>函数体</a:t>
            </a:r>
            <a:endPar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    return </a:t>
            </a:r>
            <a:r>
              <a:rPr kumimoji="0" lang="zh-CN" altLang="en-US" sz="2000" b="0" i="0" u="none" strike="noStrike" kern="1200" cap="none" spc="-40" normalizeH="0" baseline="0" noProof="0" dirty="0" smtClean="0">
                <a:ln>
                  <a:noFill/>
                </a:ln>
                <a:solidFill>
                  <a:prstClr val="black"/>
                </a:solidFill>
                <a:effectLst/>
                <a:uLnTx/>
                <a:uFillTx/>
                <a:latin typeface="宋体"/>
                <a:ea typeface="宋体" pitchFamily="2" charset="-122"/>
                <a:cs typeface="+mn-cs"/>
              </a:rPr>
              <a:t>返回值</a:t>
            </a: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a:t>
            </a:r>
            <a:endParaRPr kumimoji="0" lang="en-US" altLang="zh-CN" sz="2000" b="0" i="0" u="none" strike="noStrike" kern="1200" cap="none" spc="-40" normalizeH="0" baseline="0" noProof="0" dirty="0">
              <a:ln>
                <a:noFill/>
              </a:ln>
              <a:solidFill>
                <a:prstClr val="black"/>
              </a:solidFill>
              <a:effectLst/>
              <a:uLnTx/>
              <a:uFillTx/>
              <a:latin typeface="宋体"/>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40" normalizeH="0" baseline="0" noProof="0" dirty="0" smtClean="0">
                <a:ln>
                  <a:noFill/>
                </a:ln>
                <a:solidFill>
                  <a:prstClr val="black"/>
                </a:solidFill>
                <a:effectLst/>
                <a:uLnTx/>
                <a:uFillTx/>
                <a:latin typeface="宋体"/>
                <a:ea typeface="宋体" pitchFamily="2" charset="-122"/>
                <a:cs typeface="+mn-cs"/>
              </a:rPr>
              <a:t>}</a:t>
            </a:r>
            <a:endParaRPr kumimoji="0" lang="en-US" altLang="zh-CN" sz="2000" b="0" i="0" u="none" strike="noStrike" kern="1200" cap="none" spc="-40" normalizeH="0" baseline="0" noProof="0" dirty="0">
              <a:ln>
                <a:noFill/>
              </a:ln>
              <a:solidFill>
                <a:prstClr val="black"/>
              </a:solidFill>
              <a:effectLst/>
              <a:uLnTx/>
              <a:uFillTx/>
              <a:latin typeface="宋体"/>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40" normalizeH="0" baseline="0" noProof="0" dirty="0" smtClean="0">
                <a:ln>
                  <a:noFill/>
                </a:ln>
                <a:solidFill>
                  <a:prstClr val="black"/>
                </a:solidFill>
                <a:effectLst/>
                <a:uLnTx/>
                <a:uFillTx/>
                <a:latin typeface="宋体"/>
                <a:ea typeface="宋体" pitchFamily="2" charset="-122"/>
                <a:cs typeface="+mn-cs"/>
              </a:rPr>
              <a:t>无返回值的函数可以直接函数名调用；有返回值的函数，其返回值可以直接输出或赋值给其他变量。</a:t>
            </a:r>
            <a:endParaRPr kumimoji="0" lang="en-US" altLang="zh-CN" sz="2400" b="0" i="0" u="none" strike="noStrike" kern="1200" cap="none" spc="-40" normalizeH="0" baseline="0" noProof="0" dirty="0" smtClean="0">
              <a:ln>
                <a:noFill/>
              </a:ln>
              <a:solidFill>
                <a:prstClr val="black"/>
              </a:solidFill>
              <a:effectLst/>
              <a:uLnTx/>
              <a:uFillTx/>
              <a:latin typeface="宋体"/>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40" normalizeH="0" baseline="0" noProof="0" dirty="0" smtClean="0">
                <a:ln>
                  <a:noFill/>
                </a:ln>
                <a:solidFill>
                  <a:prstClr val="black"/>
                </a:solidFill>
                <a:effectLst/>
                <a:uLnTx/>
                <a:uFillTx/>
                <a:latin typeface="宋体"/>
                <a:ea typeface="宋体" pitchFamily="2" charset="-122"/>
                <a:cs typeface="+mn-cs"/>
              </a:rPr>
              <a:t>执行到</a:t>
            </a:r>
            <a:r>
              <a:rPr kumimoji="0" lang="en-US" altLang="zh-CN" sz="2400" b="0" i="0" u="none" strike="noStrike" kern="1200" cap="none" spc="-40" normalizeH="0" baseline="0" noProof="0" dirty="0" smtClean="0">
                <a:ln>
                  <a:noFill/>
                </a:ln>
                <a:solidFill>
                  <a:prstClr val="black"/>
                </a:solidFill>
                <a:effectLst/>
                <a:uLnTx/>
                <a:uFillTx/>
                <a:latin typeface="宋体"/>
                <a:ea typeface="宋体" pitchFamily="2" charset="-122"/>
                <a:cs typeface="+mn-cs"/>
              </a:rPr>
              <a:t>return</a:t>
            </a:r>
            <a:r>
              <a:rPr kumimoji="0" lang="zh-CN" altLang="en-US" sz="2400" b="0" i="0" u="none" strike="noStrike" kern="1200" cap="none" spc="-40" normalizeH="0" baseline="0" noProof="0" dirty="0" smtClean="0">
                <a:ln>
                  <a:noFill/>
                </a:ln>
                <a:solidFill>
                  <a:prstClr val="black"/>
                </a:solidFill>
                <a:effectLst/>
                <a:uLnTx/>
                <a:uFillTx/>
                <a:latin typeface="宋体"/>
                <a:ea typeface="宋体" pitchFamily="2" charset="-122"/>
                <a:cs typeface="+mn-cs"/>
              </a:rPr>
              <a:t>语句时，函数将停止执行，将返回值返回给主调函数。</a:t>
            </a:r>
            <a:endPar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endParaRPr>
          </a:p>
        </p:txBody>
      </p:sp>
      <p:sp>
        <p:nvSpPr>
          <p:cNvPr id="2" name="标题 1"/>
          <p:cNvSpPr>
            <a:spLocks noGrp="1"/>
          </p:cNvSpPr>
          <p:nvPr>
            <p:ph type="title"/>
          </p:nvPr>
        </p:nvSpPr>
        <p:spPr/>
        <p:txBody>
          <a:bodyPr/>
          <a:lstStyle/>
          <a:p>
            <a:r>
              <a:rPr lang="zh-CN" altLang="en-US" dirty="0" smtClean="0"/>
              <a:t>函数</a:t>
            </a:r>
            <a:endParaRPr lang="zh-CN" altLang="en-US" dirty="0"/>
          </a:p>
        </p:txBody>
      </p:sp>
      <p:pic>
        <p:nvPicPr>
          <p:cNvPr id="5" name="图片 4"/>
          <p:cNvPicPr>
            <a:picLocks noChangeAspect="1"/>
          </p:cNvPicPr>
          <p:nvPr/>
        </p:nvPicPr>
        <p:blipFill>
          <a:blip r:embed="rId1"/>
          <a:stretch>
            <a:fillRect/>
          </a:stretch>
        </p:blipFill>
        <p:spPr>
          <a:xfrm>
            <a:off x="5029200" y="457200"/>
            <a:ext cx="6920488" cy="2633662"/>
          </a:xfrm>
          <a:prstGeom prst="rect">
            <a:avLst/>
          </a:prstGeom>
        </p:spPr>
      </p:pic>
      <p:pic>
        <p:nvPicPr>
          <p:cNvPr id="6" name="图片 5"/>
          <p:cNvPicPr>
            <a:picLocks noChangeAspect="1"/>
          </p:cNvPicPr>
          <p:nvPr/>
        </p:nvPicPr>
        <p:blipFill>
          <a:blip r:embed="rId2"/>
          <a:stretch>
            <a:fillRect/>
          </a:stretch>
        </p:blipFill>
        <p:spPr>
          <a:xfrm>
            <a:off x="5029200" y="3108076"/>
            <a:ext cx="6920489" cy="71913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4" name="标题 3"/>
          <p:cNvSpPr>
            <a:spLocks noGrp="1"/>
          </p:cNvSpPr>
          <p:nvPr>
            <p:ph type="title"/>
          </p:nvPr>
        </p:nvSpPr>
        <p:spPr/>
        <p:txBody>
          <a:bodyPr/>
          <a:lstStyle/>
          <a:p>
            <a:r>
              <a:rPr lang="zh-CN" altLang="en-US" dirty="0" smtClean="0"/>
              <a:t>函数</a:t>
            </a:r>
            <a:endParaRPr lang="zh-CN" altLang="en-US" dirty="0"/>
          </a:p>
        </p:txBody>
      </p:sp>
      <p:sp>
        <p:nvSpPr>
          <p:cNvPr id="5" name="矩形 4"/>
          <p:cNvSpPr/>
          <p:nvPr/>
        </p:nvSpPr>
        <p:spPr>
          <a:xfrm>
            <a:off x="863600" y="1600200"/>
            <a:ext cx="4515980"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C00000"/>
                </a:solidFill>
                <a:effectLst/>
                <a:uLnTx/>
                <a:uFillTx/>
                <a:latin typeface="Calibri"/>
                <a:ea typeface="宋体" pitchFamily="2" charset="-122"/>
                <a:cs typeface="+mn-cs"/>
              </a:rPr>
              <a:t>匿名函数：一个没有名称的函数</a:t>
            </a:r>
            <a:endParaRPr kumimoji="0" lang="zh-CN" altLang="en-US" sz="2400" b="1" i="0" u="none" strike="noStrike" kern="1200" cap="none" spc="0" normalizeH="0" baseline="0" noProof="0" dirty="0">
              <a:ln>
                <a:noFill/>
              </a:ln>
              <a:solidFill>
                <a:srgbClr val="C00000"/>
              </a:solidFill>
              <a:effectLst/>
              <a:uLnTx/>
              <a:uFillTx/>
              <a:latin typeface="Calibri"/>
              <a:ea typeface="宋体" pitchFamily="2" charset="-122"/>
              <a:cs typeface="+mn-cs"/>
            </a:endParaRPr>
          </a:p>
        </p:txBody>
      </p:sp>
      <p:sp>
        <p:nvSpPr>
          <p:cNvPr id="7" name="矩形 6"/>
          <p:cNvSpPr/>
          <p:nvPr/>
        </p:nvSpPr>
        <p:spPr>
          <a:xfrm>
            <a:off x="889000" y="2209800"/>
            <a:ext cx="6096000" cy="1200329"/>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function() {</a:t>
            </a:r>
            <a:endPar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  alert('hello');</a:t>
            </a:r>
            <a:endPar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a:t>
            </a:r>
            <a:endPar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endParaRPr>
          </a:p>
        </p:txBody>
      </p:sp>
      <p:sp>
        <p:nvSpPr>
          <p:cNvPr id="10" name="矩形 9"/>
          <p:cNvSpPr/>
          <p:nvPr/>
        </p:nvSpPr>
        <p:spPr>
          <a:xfrm>
            <a:off x="838200" y="3423861"/>
            <a:ext cx="10922000" cy="830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它</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也不会自己做任何事情</a:t>
            </a: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。通常</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将匿名函数与事件处理程序一起使用，例如，如果单击相关按钮，以下操作将在函数内运行代码</a:t>
            </a:r>
            <a:endPar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endParaRPr>
          </a:p>
        </p:txBody>
      </p:sp>
      <p:pic>
        <p:nvPicPr>
          <p:cNvPr id="12" name="图片 11"/>
          <p:cNvPicPr>
            <a:picLocks noChangeAspect="1"/>
          </p:cNvPicPr>
          <p:nvPr/>
        </p:nvPicPr>
        <p:blipFill>
          <a:blip r:embed="rId1"/>
          <a:stretch>
            <a:fillRect/>
          </a:stretch>
        </p:blipFill>
        <p:spPr>
          <a:xfrm>
            <a:off x="889000" y="4371975"/>
            <a:ext cx="7707324" cy="23622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4" name="标题 3"/>
          <p:cNvSpPr>
            <a:spLocks noGrp="1"/>
          </p:cNvSpPr>
          <p:nvPr>
            <p:ph type="title"/>
          </p:nvPr>
        </p:nvSpPr>
        <p:spPr/>
        <p:txBody>
          <a:bodyPr/>
          <a:lstStyle/>
          <a:p>
            <a:r>
              <a:rPr lang="zh-CN" altLang="en-US" dirty="0" smtClean="0"/>
              <a:t>函数</a:t>
            </a:r>
            <a:endParaRPr lang="zh-CN" altLang="en-US" dirty="0"/>
          </a:p>
        </p:txBody>
      </p:sp>
      <p:sp>
        <p:nvSpPr>
          <p:cNvPr id="5" name="矩形 4"/>
          <p:cNvSpPr/>
          <p:nvPr/>
        </p:nvSpPr>
        <p:spPr>
          <a:xfrm>
            <a:off x="863600" y="1600200"/>
            <a:ext cx="4515980"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C00000"/>
                </a:solidFill>
                <a:effectLst/>
                <a:uLnTx/>
                <a:uFillTx/>
                <a:latin typeface="Calibri"/>
                <a:ea typeface="宋体" pitchFamily="2" charset="-122"/>
                <a:cs typeface="+mn-cs"/>
              </a:rPr>
              <a:t>匿名函数：一个没有名称的函数</a:t>
            </a:r>
            <a:endParaRPr kumimoji="0" lang="zh-CN" altLang="en-US" sz="2400" b="1" i="0" u="none" strike="noStrike" kern="1200" cap="none" spc="0" normalizeH="0" baseline="0" noProof="0" dirty="0">
              <a:ln>
                <a:noFill/>
              </a:ln>
              <a:solidFill>
                <a:srgbClr val="C00000"/>
              </a:solidFill>
              <a:effectLst/>
              <a:uLnTx/>
              <a:uFillTx/>
              <a:latin typeface="Calibri"/>
              <a:ea typeface="宋体" pitchFamily="2" charset="-122"/>
              <a:cs typeface="+mn-cs"/>
            </a:endParaRPr>
          </a:p>
        </p:txBody>
      </p:sp>
      <p:sp>
        <p:nvSpPr>
          <p:cNvPr id="10" name="矩形 9"/>
          <p:cNvSpPr/>
          <p:nvPr/>
        </p:nvSpPr>
        <p:spPr>
          <a:xfrm>
            <a:off x="863600" y="2155090"/>
            <a:ext cx="10922000" cy="452431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还可以将匿名</a:t>
            </a: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函数赋值给变量，</a:t>
            </a:r>
            <a:endPar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err="1">
                <a:ln>
                  <a:noFill/>
                </a:ln>
                <a:solidFill>
                  <a:prstClr val="black"/>
                </a:solidFill>
                <a:effectLst/>
                <a:uLnTx/>
                <a:uFillTx/>
                <a:latin typeface="Calibri"/>
                <a:ea typeface="宋体" pitchFamily="2" charset="-122"/>
                <a:cs typeface="+mn-cs"/>
              </a:rPr>
              <a:t>var</a:t>
            </a: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 </a:t>
            </a:r>
            <a:r>
              <a:rPr kumimoji="0" lang="en-US" altLang="zh-CN" sz="2400" b="0" i="0" u="none" strike="noStrike" kern="1200" cap="none" spc="0" normalizeH="0" baseline="0" noProof="0" dirty="0" err="1">
                <a:ln>
                  <a:noFill/>
                </a:ln>
                <a:solidFill>
                  <a:prstClr val="black"/>
                </a:solidFill>
                <a:effectLst/>
                <a:uLnTx/>
                <a:uFillTx/>
                <a:latin typeface="Calibri"/>
                <a:ea typeface="宋体" pitchFamily="2" charset="-122"/>
                <a:cs typeface="+mn-cs"/>
              </a:rPr>
              <a:t>myGreeting</a:t>
            </a: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 = function() {</a:t>
            </a:r>
            <a:endPar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  alert('hello');</a:t>
            </a:r>
            <a:endPar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rPr>
              <a:t>}</a:t>
            </a:r>
            <a:endPar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调用通过如下：</a:t>
            </a:r>
            <a:endPar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0" i="0" u="none" strike="noStrike" kern="1200" cap="none" spc="0" normalizeH="0" baseline="0" noProof="0" dirty="0" err="1" smtClean="0">
                <a:ln>
                  <a:noFill/>
                </a:ln>
                <a:solidFill>
                  <a:prstClr val="black"/>
                </a:solidFill>
                <a:effectLst/>
                <a:uLnTx/>
                <a:uFillTx/>
                <a:latin typeface="Calibri"/>
                <a:ea typeface="宋体" pitchFamily="2" charset="-122"/>
                <a:cs typeface="+mn-cs"/>
              </a:rPr>
              <a:t>myGreeting</a:t>
            </a:r>
            <a:r>
              <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rPr>
              <a:t>();</a:t>
            </a:r>
            <a:endPar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rgbClr val="C00000"/>
                </a:solidFill>
                <a:effectLst/>
                <a:uLnTx/>
                <a:uFillTx/>
                <a:latin typeface="Calibri"/>
                <a:ea typeface="宋体" pitchFamily="2" charset="-122"/>
                <a:cs typeface="+mn-cs"/>
              </a:rPr>
              <a:t>匿名函数也称为函数表达式</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。函数表达式与函数声明有一些区别。函数声明会进行声明提升（</a:t>
            </a: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declaration hoisting</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），而函数表达式不会</a:t>
            </a: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a:t>
            </a:r>
            <a:endPar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4" name="标题 3"/>
          <p:cNvSpPr>
            <a:spLocks noGrp="1"/>
          </p:cNvSpPr>
          <p:nvPr>
            <p:ph type="title"/>
          </p:nvPr>
        </p:nvSpPr>
        <p:spPr/>
        <p:txBody>
          <a:bodyPr/>
          <a:lstStyle/>
          <a:p>
            <a:r>
              <a:rPr lang="zh-CN" altLang="en-US" dirty="0" smtClean="0"/>
              <a:t>函数</a:t>
            </a:r>
            <a:endParaRPr lang="zh-CN" altLang="en-US" dirty="0"/>
          </a:p>
        </p:txBody>
      </p:sp>
      <p:sp>
        <p:nvSpPr>
          <p:cNvPr id="10" name="矩形 9"/>
          <p:cNvSpPr/>
          <p:nvPr/>
        </p:nvSpPr>
        <p:spPr>
          <a:xfrm>
            <a:off x="762000" y="2061865"/>
            <a:ext cx="10922000" cy="175432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一些函数需要在调用它们时指定参数 </a:t>
            </a:r>
            <a:r>
              <a:rPr kumimoji="0" lang="en-US" altLang="zh-CN" sz="2400" b="0" i="0" u="none" strike="noStrike" kern="1200" cap="none" spc="0" normalizeH="0" baseline="0" noProof="0" dirty="0">
                <a:ln>
                  <a:noFill/>
                </a:ln>
                <a:solidFill>
                  <a:prstClr val="black"/>
                </a:solidFill>
                <a:effectLst/>
                <a:uLnTx/>
                <a:uFillTx/>
                <a:latin typeface="Calibri"/>
                <a:ea typeface="宋体"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这些参数值需要放在函数括号内，才能正确地完成其工作</a:t>
            </a: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。例如：浏览器</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的内置字符串</a:t>
            </a:r>
            <a:r>
              <a:rPr kumimoji="0" lang="en-US" altLang="zh-CN" sz="2400" b="0" i="0" u="none" strike="noStrike" kern="1200" cap="none" spc="0" normalizeH="0" baseline="0" noProof="0" dirty="0" smtClean="0">
                <a:ln>
                  <a:noFill/>
                </a:ln>
                <a:solidFill>
                  <a:prstClr val="black"/>
                </a:solidFill>
                <a:effectLst/>
                <a:uLnTx/>
                <a:uFillTx/>
                <a:latin typeface="Calibri"/>
                <a:ea typeface="宋体" pitchFamily="2" charset="-122"/>
                <a:cs typeface="+mn-cs"/>
              </a:rPr>
              <a:t>replace()</a:t>
            </a:r>
            <a:r>
              <a:rPr kumimoji="0" lang="zh-CN" altLang="en-US" sz="2400" b="0" i="0" u="none" strike="noStrike" kern="1200" cap="none" spc="0" normalizeH="0" baseline="0" noProof="0" dirty="0" smtClean="0">
                <a:ln>
                  <a:noFill/>
                </a:ln>
                <a:solidFill>
                  <a:prstClr val="black"/>
                </a:solidFill>
                <a:effectLst/>
                <a:uLnTx/>
                <a:uFillTx/>
                <a:latin typeface="Calibri"/>
                <a:ea typeface="宋体" pitchFamily="2" charset="-122"/>
                <a:cs typeface="+mn-cs"/>
              </a:rPr>
              <a:t>函数</a:t>
            </a:r>
            <a:r>
              <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rPr>
              <a:t>需要两个参数：在主字符串中查找的子字符串，以及用以下替换该字符串的子字符串：</a:t>
            </a:r>
            <a:endParaRPr kumimoji="0" lang="zh-CN" altLang="en-US" sz="2400" b="0" i="0" u="none" strike="noStrike" kern="1200" cap="none" spc="0" normalizeH="0" baseline="0" noProof="0" dirty="0">
              <a:ln>
                <a:noFill/>
              </a:ln>
              <a:solidFill>
                <a:prstClr val="black"/>
              </a:solidFill>
              <a:effectLst/>
              <a:uLnTx/>
              <a:uFillTx/>
              <a:latin typeface="Calibri"/>
              <a:ea typeface="宋体" pitchFamily="2" charset="-122"/>
              <a:cs typeface="+mn-cs"/>
            </a:endParaRPr>
          </a:p>
        </p:txBody>
      </p:sp>
      <p:sp>
        <p:nvSpPr>
          <p:cNvPr id="6" name="矩形 5"/>
          <p:cNvSpPr/>
          <p:nvPr/>
        </p:nvSpPr>
        <p:spPr>
          <a:xfrm>
            <a:off x="863600" y="1600200"/>
            <a:ext cx="142218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rgbClr val="C00000"/>
                </a:solidFill>
                <a:effectLst/>
                <a:uLnTx/>
                <a:uFillTx/>
                <a:latin typeface="Calibri"/>
                <a:ea typeface="宋体" pitchFamily="2" charset="-122"/>
                <a:cs typeface="+mn-cs"/>
              </a:rPr>
              <a:t>函数传参</a:t>
            </a:r>
            <a:endParaRPr kumimoji="0" lang="zh-CN" altLang="en-US" sz="2400" b="1" i="0" u="none" strike="noStrike" kern="1200" cap="none" spc="0" normalizeH="0" baseline="0" noProof="0" dirty="0">
              <a:ln>
                <a:noFill/>
              </a:ln>
              <a:solidFill>
                <a:srgbClr val="C00000"/>
              </a:solidFill>
              <a:effectLst/>
              <a:uLnTx/>
              <a:uFillTx/>
              <a:latin typeface="Calibri"/>
              <a:ea typeface="宋体" pitchFamily="2" charset="-122"/>
              <a:cs typeface="+mn-cs"/>
            </a:endParaRPr>
          </a:p>
        </p:txBody>
      </p:sp>
      <p:pic>
        <p:nvPicPr>
          <p:cNvPr id="2" name="图片 1"/>
          <p:cNvPicPr>
            <a:picLocks noChangeAspect="1"/>
          </p:cNvPicPr>
          <p:nvPr/>
        </p:nvPicPr>
        <p:blipFill>
          <a:blip r:embed="rId1"/>
          <a:stretch>
            <a:fillRect/>
          </a:stretch>
        </p:blipFill>
        <p:spPr>
          <a:xfrm>
            <a:off x="889000" y="3816191"/>
            <a:ext cx="10655707" cy="128920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a:t>
            </a:r>
            <a:endParaRPr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5" name="object 11"/>
          <p:cNvSpPr/>
          <p:nvPr/>
        </p:nvSpPr>
        <p:spPr>
          <a:xfrm>
            <a:off x="876300" y="1600200"/>
            <a:ext cx="3863340" cy="1255776"/>
          </a:xfrm>
          <a:prstGeom prst="rect">
            <a:avLst/>
          </a:prstGeom>
          <a:blipFill>
            <a:blip r:embed="rId1"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13"/>
          <p:cNvSpPr/>
          <p:nvPr/>
        </p:nvSpPr>
        <p:spPr>
          <a:xfrm>
            <a:off x="838200" y="3350387"/>
            <a:ext cx="4514088" cy="125577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9"/>
          <p:cNvSpPr/>
          <p:nvPr/>
        </p:nvSpPr>
        <p:spPr>
          <a:xfrm>
            <a:off x="7162800" y="1183005"/>
            <a:ext cx="2895600" cy="580644"/>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11"/>
          <p:cNvSpPr/>
          <p:nvPr/>
        </p:nvSpPr>
        <p:spPr>
          <a:xfrm>
            <a:off x="6629400" y="5133308"/>
            <a:ext cx="2895600" cy="595884"/>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cxnSp>
        <p:nvCxnSpPr>
          <p:cNvPr id="10" name="直接箭头连接符 9"/>
          <p:cNvCxnSpPr/>
          <p:nvPr/>
        </p:nvCxnSpPr>
        <p:spPr>
          <a:xfrm flipH="1">
            <a:off x="3505200" y="1500442"/>
            <a:ext cx="5105400" cy="40455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flipV="1">
            <a:off x="3543300" y="3775996"/>
            <a:ext cx="4229100" cy="165525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3124200" y="702832"/>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C00000"/>
                </a:solidFill>
                <a:effectLst/>
                <a:uLnTx/>
                <a:uFillTx/>
                <a:latin typeface="宋体"/>
                <a:ea typeface="宋体" pitchFamily="2" charset="-122"/>
                <a:cs typeface="宋体"/>
              </a:rPr>
              <a:t>函数返回值</a:t>
            </a:r>
            <a:endParaRPr kumimoji="0" sz="2800" b="1" i="0" u="none" strike="noStrike" kern="1200" cap="none" spc="0" normalizeH="0" baseline="0" noProof="0" dirty="0">
              <a:ln>
                <a:noFill/>
              </a:ln>
              <a:solidFill>
                <a:srgbClr val="C00000"/>
              </a:solidFill>
              <a:effectLst/>
              <a:uLnTx/>
              <a:uFillTx/>
              <a:latin typeface="宋体"/>
              <a:ea typeface="+mn-ea"/>
              <a:cs typeface="宋体"/>
            </a:endParaRPr>
          </a:p>
        </p:txBody>
      </p:sp>
      <p:sp>
        <p:nvSpPr>
          <p:cNvPr id="7" name="object 4"/>
          <p:cNvSpPr txBox="1"/>
          <p:nvPr/>
        </p:nvSpPr>
        <p:spPr>
          <a:xfrm>
            <a:off x="939800" y="1295400"/>
            <a:ext cx="10363200" cy="188449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除基本类型外，函数返回值还可以是数组、对象和函数。</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1</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）返回数组</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例如，电话号码是由区号</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district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和座机号</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number</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组成，定义</a:t>
            </a:r>
            <a:r>
              <a:rPr kumimoji="0" lang="en-US" altLang="zh-CN" sz="2000" b="0" i="0" u="none" strike="noStrike" kern="1200" cap="none" spc="0" normalizeH="0" baseline="0" noProof="0" dirty="0" err="1" smtClean="0">
                <a:ln>
                  <a:noFill/>
                </a:ln>
                <a:solidFill>
                  <a:prstClr val="black"/>
                </a:solidFill>
                <a:effectLst/>
                <a:uLnTx/>
                <a:uFillTx/>
                <a:latin typeface="宋体"/>
                <a:ea typeface="宋体" pitchFamily="2" charset="-122"/>
                <a:cs typeface="宋体"/>
              </a:rPr>
              <a:t>getPhone</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函数，以数组形式返回电话号码的两个部分，代码如下：</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2" name="图片 1"/>
          <p:cNvPicPr>
            <a:picLocks noChangeAspect="1"/>
          </p:cNvPicPr>
          <p:nvPr/>
        </p:nvPicPr>
        <p:blipFill>
          <a:blip r:embed="rId1"/>
          <a:stretch>
            <a:fillRect/>
          </a:stretch>
        </p:blipFill>
        <p:spPr>
          <a:xfrm>
            <a:off x="939800" y="3256090"/>
            <a:ext cx="7518400" cy="3549628"/>
          </a:xfrm>
          <a:prstGeom prst="rect">
            <a:avLst/>
          </a:prstGeom>
        </p:spPr>
      </p:pic>
      <p:sp>
        <p:nvSpPr>
          <p:cNvPr id="4"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3124200" y="702832"/>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C00000"/>
                </a:solidFill>
                <a:effectLst/>
                <a:uLnTx/>
                <a:uFillTx/>
                <a:latin typeface="宋体"/>
                <a:ea typeface="宋体" pitchFamily="2" charset="-122"/>
                <a:cs typeface="宋体"/>
              </a:rPr>
              <a:t>函数返回值</a:t>
            </a:r>
            <a:endParaRPr kumimoji="0" sz="2800" b="1" i="0" u="none" strike="noStrike" kern="1200" cap="none" spc="0" normalizeH="0" baseline="0" noProof="0" dirty="0">
              <a:ln>
                <a:noFill/>
              </a:ln>
              <a:solidFill>
                <a:srgbClr val="C00000"/>
              </a:solidFill>
              <a:effectLst/>
              <a:uLnTx/>
              <a:uFillTx/>
              <a:latin typeface="宋体"/>
              <a:ea typeface="+mn-ea"/>
              <a:cs typeface="宋体"/>
            </a:endParaRPr>
          </a:p>
        </p:txBody>
      </p:sp>
      <p:sp>
        <p:nvSpPr>
          <p:cNvPr id="7" name="object 4"/>
          <p:cNvSpPr txBox="1"/>
          <p:nvPr/>
        </p:nvSpPr>
        <p:spPr>
          <a:xfrm>
            <a:off x="939800" y="1371600"/>
            <a:ext cx="10363200" cy="142282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函数返回值还可以是对象。</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a:t>
            </a:r>
            <a:r>
              <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rPr>
              <a:t>2</a:t>
            </a: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）返回对象</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例如：</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sp>
        <p:nvSpPr>
          <p:cNvPr id="4"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pic>
        <p:nvPicPr>
          <p:cNvPr id="8" name="图片 7"/>
          <p:cNvPicPr>
            <a:picLocks noChangeAspect="1"/>
          </p:cNvPicPr>
          <p:nvPr/>
        </p:nvPicPr>
        <p:blipFill>
          <a:blip r:embed="rId1"/>
          <a:stretch>
            <a:fillRect/>
          </a:stretch>
        </p:blipFill>
        <p:spPr>
          <a:xfrm>
            <a:off x="939800" y="2997297"/>
            <a:ext cx="10548633" cy="346075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3124200" y="702832"/>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C00000"/>
                </a:solidFill>
                <a:effectLst/>
                <a:uLnTx/>
                <a:uFillTx/>
                <a:latin typeface="宋体"/>
                <a:ea typeface="宋体" pitchFamily="2" charset="-122"/>
                <a:cs typeface="宋体"/>
              </a:rPr>
              <a:t>函数返回值</a:t>
            </a:r>
            <a:endParaRPr kumimoji="0" sz="2800" b="1" i="0" u="none" strike="noStrike" kern="1200" cap="none" spc="0" normalizeH="0" baseline="0" noProof="0" dirty="0">
              <a:ln>
                <a:noFill/>
              </a:ln>
              <a:solidFill>
                <a:srgbClr val="C00000"/>
              </a:solidFill>
              <a:effectLst/>
              <a:uLnTx/>
              <a:uFillTx/>
              <a:latin typeface="宋体"/>
              <a:ea typeface="+mn-ea"/>
              <a:cs typeface="宋体"/>
            </a:endParaRPr>
          </a:p>
        </p:txBody>
      </p:sp>
      <p:sp>
        <p:nvSpPr>
          <p:cNvPr id="7" name="object 4"/>
          <p:cNvSpPr txBox="1"/>
          <p:nvPr/>
        </p:nvSpPr>
        <p:spPr>
          <a:xfrm>
            <a:off x="939800" y="1371600"/>
            <a:ext cx="10363200" cy="142282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函数返回值还可以是函数。</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a:t>
            </a:r>
            <a:r>
              <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rPr>
              <a:t>3</a:t>
            </a: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）返回函数</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例如：</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p:txBody>
      </p:sp>
      <p:sp>
        <p:nvSpPr>
          <p:cNvPr id="4"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pic>
        <p:nvPicPr>
          <p:cNvPr id="9" name="图片 8"/>
          <p:cNvPicPr>
            <a:picLocks noChangeAspect="1"/>
          </p:cNvPicPr>
          <p:nvPr/>
        </p:nvPicPr>
        <p:blipFill>
          <a:blip r:embed="rId1"/>
          <a:stretch>
            <a:fillRect/>
          </a:stretch>
        </p:blipFill>
        <p:spPr>
          <a:xfrm>
            <a:off x="1295399" y="2819400"/>
            <a:ext cx="7956755" cy="29718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函数表达式</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7" name="object 4"/>
          <p:cNvSpPr txBox="1"/>
          <p:nvPr/>
        </p:nvSpPr>
        <p:spPr>
          <a:xfrm>
            <a:off x="609600" y="1447800"/>
            <a:ext cx="11582400" cy="3782446"/>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函数表达式是以赋值形式使函数成为表达式的一部分，并可以作为更强大表达式的一部分，此时可以带函数名或者不带函数</a:t>
            </a: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名。带函数</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名的称为命名函数。不带函数名的则为匿名函数。</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格式：</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sz="2000" b="0" i="0" u="none" strike="noStrike" kern="1200" cap="none" spc="0" normalizeH="0" baseline="0" noProof="0" dirty="0" smtClean="0">
                <a:ln>
                  <a:noFill/>
                </a:ln>
                <a:solidFill>
                  <a:prstClr val="black"/>
                </a:solidFill>
                <a:effectLst/>
                <a:uLnTx/>
                <a:uFillTx/>
                <a:latin typeface="宋体"/>
                <a:ea typeface="+mn-ea"/>
                <a:cs typeface="宋体"/>
              </a:rPr>
              <a:t>let </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对象属性</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=function </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函数名</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 }; //</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命名函数的函数表达式</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let </a:t>
            </a: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变量</a:t>
            </a:r>
            <a:r>
              <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rPr>
              <a:t>|</a:t>
            </a: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对象属性</a:t>
            </a:r>
            <a:r>
              <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rPr>
              <a:t>=function </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 }; //</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匿名函数的函数表达式</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sz="2000" b="1" i="0" u="none" strike="noStrike" kern="1200" cap="none" spc="0" normalizeH="0" baseline="0" noProof="0" dirty="0" smtClean="0">
                <a:ln>
                  <a:noFill/>
                </a:ln>
                <a:solidFill>
                  <a:srgbClr val="C00000"/>
                </a:solidFill>
                <a:effectLst/>
                <a:uLnTx/>
                <a:uFillTx/>
                <a:latin typeface="宋体"/>
                <a:ea typeface="+mn-ea"/>
                <a:cs typeface="宋体"/>
              </a:rPr>
              <a:t>1</a:t>
            </a:r>
            <a:r>
              <a:rPr kumimoji="0" lang="zh-CN" altLang="en-US" sz="2000" b="1" i="0" u="none" strike="noStrike" kern="1200" cap="none" spc="0" normalizeH="0" baseline="0" noProof="0" dirty="0" smtClean="0">
                <a:ln>
                  <a:noFill/>
                </a:ln>
                <a:solidFill>
                  <a:srgbClr val="C00000"/>
                </a:solidFill>
                <a:effectLst/>
                <a:uLnTx/>
                <a:uFillTx/>
                <a:latin typeface="宋体"/>
                <a:ea typeface="宋体" pitchFamily="2" charset="-122"/>
                <a:cs typeface="宋体"/>
              </a:rPr>
              <a:t>、赋值给变量</a:t>
            </a:r>
            <a:endParaRPr kumimoji="0" lang="en-US" altLang="zh-CN" sz="2000" b="1" i="0" u="none" strike="noStrike" kern="1200" cap="none" spc="0" normalizeH="0" baseline="0" noProof="0" dirty="0" smtClean="0">
              <a:ln>
                <a:noFill/>
              </a:ln>
              <a:solidFill>
                <a:srgbClr val="C00000"/>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1</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）命名函数                   </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(2)</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匿名函数：可以将匿名函数赋值给一个变量，再通过变量进行函数调用</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sz="2000" b="0" i="0" u="none" strike="noStrike" kern="1200" cap="none" spc="0" normalizeH="0" baseline="0" noProof="0" dirty="0">
              <a:ln>
                <a:noFill/>
              </a:ln>
              <a:solidFill>
                <a:prstClr val="black"/>
              </a:solidFill>
              <a:effectLst/>
              <a:uLnTx/>
              <a:uFillTx/>
              <a:latin typeface="宋体"/>
              <a:ea typeface="+mn-ea"/>
              <a:cs typeface="宋体"/>
            </a:endParaRPr>
          </a:p>
        </p:txBody>
      </p:sp>
      <p:pic>
        <p:nvPicPr>
          <p:cNvPr id="4" name="图片 3"/>
          <p:cNvPicPr>
            <a:picLocks noChangeAspect="1"/>
          </p:cNvPicPr>
          <p:nvPr/>
        </p:nvPicPr>
        <p:blipFill>
          <a:blip r:embed="rId1"/>
          <a:stretch>
            <a:fillRect/>
          </a:stretch>
        </p:blipFill>
        <p:spPr>
          <a:xfrm>
            <a:off x="38100" y="5008531"/>
            <a:ext cx="4876646" cy="1712944"/>
          </a:xfrm>
          <a:prstGeom prst="rect">
            <a:avLst/>
          </a:prstGeom>
        </p:spPr>
      </p:pic>
      <p:pic>
        <p:nvPicPr>
          <p:cNvPr id="5" name="图片 4"/>
          <p:cNvPicPr>
            <a:picLocks noChangeAspect="1"/>
          </p:cNvPicPr>
          <p:nvPr/>
        </p:nvPicPr>
        <p:blipFill>
          <a:blip r:embed="rId2"/>
          <a:stretch>
            <a:fillRect/>
          </a:stretch>
        </p:blipFill>
        <p:spPr>
          <a:xfrm>
            <a:off x="5029200" y="5008531"/>
            <a:ext cx="5536788" cy="1712944"/>
          </a:xfrm>
          <a:prstGeom prst="rect">
            <a:avLst/>
          </a:prstGeom>
        </p:spPr>
      </p:pic>
      <p:sp>
        <p:nvSpPr>
          <p:cNvPr id="9"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609600" y="1367077"/>
            <a:ext cx="11353800" cy="154850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sz="2200" b="0" i="0" u="none" strike="noStrike" kern="1200" cap="none" spc="0" normalizeH="0" baseline="0" noProof="0" dirty="0" smtClean="0">
                <a:ln>
                  <a:noFill/>
                </a:ln>
                <a:solidFill>
                  <a:prstClr val="black"/>
                </a:solidFill>
                <a:effectLst/>
                <a:uLnTx/>
                <a:uFillTx/>
                <a:latin typeface="宋体"/>
                <a:ea typeface="+mn-ea"/>
                <a:cs typeface="宋体"/>
              </a:rPr>
              <a:t>2</a:t>
            </a:r>
            <a:r>
              <a:rPr kumimoji="0" lang="zh-CN" altLang="en-US" sz="2200" b="0" i="0" u="none" strike="noStrike" kern="1200" cap="none" spc="0" normalizeH="0" baseline="0" noProof="0" dirty="0" smtClean="0">
                <a:ln>
                  <a:noFill/>
                </a:ln>
                <a:solidFill>
                  <a:prstClr val="black"/>
                </a:solidFill>
                <a:effectLst/>
                <a:uLnTx/>
                <a:uFillTx/>
                <a:latin typeface="宋体"/>
                <a:ea typeface="宋体" pitchFamily="2" charset="-122"/>
                <a:cs typeface="宋体"/>
              </a:rPr>
              <a:t>、赋值给对象属性</a:t>
            </a:r>
            <a:endParaRPr kumimoji="0" lang="en-US" altLang="zh-CN" sz="22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200" b="0" i="0" u="none" strike="noStrike" kern="1200" cap="none" spc="0" normalizeH="0" baseline="0" noProof="0" dirty="0" smtClean="0">
                <a:ln>
                  <a:noFill/>
                </a:ln>
                <a:solidFill>
                  <a:prstClr val="black"/>
                </a:solidFill>
                <a:effectLst/>
                <a:uLnTx/>
                <a:uFillTx/>
                <a:latin typeface="宋体"/>
                <a:ea typeface="宋体" pitchFamily="2" charset="-122"/>
                <a:cs typeface="宋体"/>
              </a:rPr>
              <a:t>将匿名函数赋值给对象属性也很常见，如果赋值给事件属性，则事件发生时调用该函数。例如，定义匿名函数，单击“显示”时，调用该匿名函数，显示警告框，给出提示信息。</a:t>
            </a:r>
            <a:endParaRPr kumimoji="0" sz="2200" b="0" i="0" u="none" strike="noStrike" kern="1200" cap="none" spc="0" normalizeH="0" baseline="0" noProof="0" dirty="0">
              <a:ln>
                <a:noFill/>
              </a:ln>
              <a:solidFill>
                <a:prstClr val="black"/>
              </a:solidFill>
              <a:effectLst/>
              <a:uLnTx/>
              <a:uFillTx/>
              <a:latin typeface="宋体"/>
              <a:ea typeface="+mn-ea"/>
              <a:cs typeface="宋体"/>
            </a:endParaRPr>
          </a:p>
        </p:txBody>
      </p:sp>
      <p:pic>
        <p:nvPicPr>
          <p:cNvPr id="2" name="图片 1"/>
          <p:cNvPicPr>
            <a:picLocks noChangeAspect="1"/>
          </p:cNvPicPr>
          <p:nvPr/>
        </p:nvPicPr>
        <p:blipFill>
          <a:blip r:embed="rId1"/>
          <a:stretch>
            <a:fillRect/>
          </a:stretch>
        </p:blipFill>
        <p:spPr>
          <a:xfrm>
            <a:off x="609600" y="2894012"/>
            <a:ext cx="8457726" cy="3963988"/>
          </a:xfrm>
          <a:prstGeom prst="rect">
            <a:avLst/>
          </a:prstGeom>
        </p:spPr>
      </p:pic>
      <p:sp>
        <p:nvSpPr>
          <p:cNvPr id="8"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函数表达式</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9"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901700" y="1412509"/>
            <a:ext cx="10363200" cy="4731423"/>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sz="2000" b="0" i="0" u="none" strike="noStrike" kern="1200" cap="none" spc="0" normalizeH="0" baseline="0" noProof="0" dirty="0" smtClean="0">
                <a:ln>
                  <a:noFill/>
                </a:ln>
                <a:solidFill>
                  <a:prstClr val="black"/>
                </a:solidFill>
                <a:effectLst/>
                <a:uLnTx/>
                <a:uFillTx/>
                <a:latin typeface="宋体"/>
                <a:ea typeface="+mn-ea"/>
                <a:cs typeface="宋体"/>
              </a:rPr>
              <a:t>3</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、立即执行函数</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匿名函数可以通过自调用方式来执行，此时也被称为立即执行函数。立即执行函数执行后被释放，通常适用于只被执行一次的函数，也常用于初始化工作。立即执行函数函数格式如下：</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例如，定义无参数和返回值的立即执行函数输出字符串，代码如下：</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也可以带有参数和返回值。</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4" name="图片 3"/>
          <p:cNvPicPr>
            <a:picLocks noChangeAspect="1"/>
          </p:cNvPicPr>
          <p:nvPr/>
        </p:nvPicPr>
        <p:blipFill>
          <a:blip r:embed="rId1"/>
          <a:stretch>
            <a:fillRect/>
          </a:stretch>
        </p:blipFill>
        <p:spPr>
          <a:xfrm>
            <a:off x="939800" y="2819400"/>
            <a:ext cx="4090184" cy="1448607"/>
          </a:xfrm>
          <a:prstGeom prst="rect">
            <a:avLst/>
          </a:prstGeom>
        </p:spPr>
      </p:pic>
      <p:sp>
        <p:nvSpPr>
          <p:cNvPr id="5" name="矩形 4"/>
          <p:cNvSpPr/>
          <p:nvPr/>
        </p:nvSpPr>
        <p:spPr>
          <a:xfrm>
            <a:off x="939800" y="4715510"/>
            <a:ext cx="4090184" cy="830997"/>
          </a:xfrm>
          <a:prstGeom prst="rect">
            <a:avLst/>
          </a:prstGeom>
          <a:solidFill>
            <a:schemeClr val="tx1">
              <a:lumMod val="95000"/>
              <a:lumOff val="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80CBC4"/>
                </a:solidFill>
                <a:effectLst/>
                <a:uLnTx/>
                <a:uFillTx/>
                <a:latin typeface="Monaco" pitchFamily="49" charset="0"/>
                <a:ea typeface="宋体" pitchFamily="2" charset="-122"/>
                <a:cs typeface="+mn-cs"/>
              </a:rPr>
              <a:t>(</a:t>
            </a:r>
            <a:r>
              <a:rPr kumimoji="0" lang="en-US" altLang="zh-CN" sz="1600" b="0" i="0" u="none" strike="noStrike" kern="1200" cap="none" spc="0" normalizeH="0" baseline="0" noProof="0" dirty="0">
                <a:ln>
                  <a:noFill/>
                </a:ln>
                <a:solidFill>
                  <a:srgbClr val="C792EA"/>
                </a:solidFill>
                <a:effectLst/>
                <a:uLnTx/>
                <a:uFillTx/>
                <a:latin typeface="Monaco" pitchFamily="49" charset="0"/>
                <a:ea typeface="宋体" pitchFamily="2" charset="-122"/>
                <a:cs typeface="+mn-cs"/>
              </a:rPr>
              <a:t>function</a:t>
            </a:r>
            <a:r>
              <a:rPr kumimoji="0" lang="en-US" altLang="zh-CN" sz="1600" b="0" i="0" u="none" strike="noStrike" kern="1200" cap="none" spc="0" normalizeH="0" baseline="0" noProof="0" dirty="0">
                <a:ln>
                  <a:noFill/>
                </a:ln>
                <a:solidFill>
                  <a:srgbClr val="80CBC4"/>
                </a:solidFill>
                <a:effectLst/>
                <a:uLnTx/>
                <a:uFillTx/>
                <a:latin typeface="Monaco" pitchFamily="49" charset="0"/>
                <a:ea typeface="宋体" pitchFamily="2" charset="-122"/>
                <a:cs typeface="+mn-cs"/>
              </a:rPr>
              <a:t> </a:t>
            </a:r>
            <a:r>
              <a:rPr kumimoji="0" lang="en-US" altLang="zh-CN" sz="1600" b="0" i="0" u="none" strike="noStrike" kern="1200" cap="none" spc="0" normalizeH="0" baseline="0" noProof="0" dirty="0">
                <a:ln>
                  <a:noFill/>
                </a:ln>
                <a:solidFill>
                  <a:srgbClr val="D9F5DD"/>
                </a:solidFill>
                <a:effectLst/>
                <a:uLnTx/>
                <a:uFillTx/>
                <a:latin typeface="Monaco" pitchFamily="49" charset="0"/>
                <a:ea typeface="宋体" pitchFamily="2" charset="-122"/>
                <a:cs typeface="+mn-cs"/>
              </a:rPr>
              <a:t>()</a:t>
            </a:r>
            <a:r>
              <a:rPr kumimoji="0" lang="en-US" altLang="zh-CN" sz="1600" b="0" i="0" u="none" strike="noStrike" kern="1200" cap="none" spc="0" normalizeH="0" baseline="0" noProof="0" dirty="0">
                <a:ln>
                  <a:noFill/>
                </a:ln>
                <a:solidFill>
                  <a:srgbClr val="80CBC4"/>
                </a:solidFill>
                <a:effectLst/>
                <a:uLnTx/>
                <a:uFillTx/>
                <a:latin typeface="Monaco" pitchFamily="49" charset="0"/>
                <a:ea typeface="宋体" pitchFamily="2" charset="-122"/>
                <a:cs typeface="+mn-cs"/>
              </a:rPr>
              <a:t> {</a:t>
            </a:r>
            <a:endParaRPr kumimoji="0" lang="en-US" altLang="zh-CN" sz="1600" b="0" i="0" u="none" strike="noStrike" kern="1200" cap="none" spc="0" normalizeH="0" baseline="0" noProof="0" dirty="0">
              <a:ln>
                <a:noFill/>
              </a:ln>
              <a:solidFill>
                <a:srgbClr val="CBCCC6"/>
              </a:solidFill>
              <a:effectLst/>
              <a:uLnTx/>
              <a:uFillTx/>
              <a:latin typeface="Monaco" pitchFamily="49" charset="0"/>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80CBC4"/>
                </a:solidFill>
                <a:effectLst/>
                <a:uLnTx/>
                <a:uFillTx/>
                <a:latin typeface="Monaco" pitchFamily="49" charset="0"/>
                <a:ea typeface="宋体" pitchFamily="2" charset="-122"/>
                <a:cs typeface="+mn-cs"/>
              </a:rPr>
              <a:t>   </a:t>
            </a:r>
            <a:r>
              <a:rPr kumimoji="0" lang="en-US" altLang="zh-CN" sz="1600" b="0" i="0" u="none" strike="noStrike" kern="1200" cap="none" spc="0" normalizeH="0" baseline="0" noProof="0" dirty="0" smtClean="0">
                <a:ln>
                  <a:noFill/>
                </a:ln>
                <a:solidFill>
                  <a:srgbClr val="89DDFF"/>
                </a:solidFill>
                <a:effectLst/>
                <a:uLnTx/>
                <a:uFillTx/>
                <a:latin typeface="Monaco" pitchFamily="49" charset="0"/>
                <a:ea typeface="宋体" pitchFamily="2" charset="-122"/>
                <a:cs typeface="+mn-cs"/>
              </a:rPr>
              <a:t>alert</a:t>
            </a:r>
            <a:r>
              <a:rPr kumimoji="0" lang="en-US" altLang="zh-CN" sz="1600" b="0" i="0" u="none" strike="noStrike" kern="1200" cap="none" spc="0" normalizeH="0" baseline="0" noProof="0" dirty="0">
                <a:ln>
                  <a:noFill/>
                </a:ln>
                <a:solidFill>
                  <a:srgbClr val="80CBC4"/>
                </a:solidFill>
                <a:effectLst/>
                <a:uLnTx/>
                <a:uFillTx/>
                <a:latin typeface="Monaco" pitchFamily="49" charset="0"/>
                <a:ea typeface="宋体" pitchFamily="2" charset="-122"/>
                <a:cs typeface="+mn-cs"/>
              </a:rPr>
              <a:t>(</a:t>
            </a:r>
            <a:r>
              <a:rPr kumimoji="0" lang="en-US" altLang="zh-CN" sz="1600" b="0" i="0" u="none" strike="noStrike" kern="1200" cap="none" spc="0" normalizeH="0" baseline="0" noProof="0" dirty="0">
                <a:ln>
                  <a:noFill/>
                </a:ln>
                <a:solidFill>
                  <a:srgbClr val="D9F5DD"/>
                </a:solidFill>
                <a:effectLst/>
                <a:uLnTx/>
                <a:uFillTx/>
                <a:latin typeface="Monaco" pitchFamily="49" charset="0"/>
                <a:ea typeface="宋体" pitchFamily="2" charset="-122"/>
                <a:cs typeface="+mn-cs"/>
              </a:rPr>
              <a:t>'</a:t>
            </a:r>
            <a:r>
              <a:rPr kumimoji="0" lang="en-US" altLang="zh-CN" sz="1600" b="0" i="0" u="none" strike="noStrike" kern="1200" cap="none" spc="0" normalizeH="0" baseline="0" noProof="0" dirty="0">
                <a:ln>
                  <a:noFill/>
                </a:ln>
                <a:solidFill>
                  <a:srgbClr val="C3E88D"/>
                </a:solidFill>
                <a:effectLst/>
                <a:uLnTx/>
                <a:uFillTx/>
                <a:latin typeface="Monaco" pitchFamily="49" charset="0"/>
                <a:ea typeface="宋体" pitchFamily="2" charset="-122"/>
                <a:cs typeface="+mn-cs"/>
              </a:rPr>
              <a:t>Hello~</a:t>
            </a:r>
            <a:r>
              <a:rPr kumimoji="0" lang="en-US" altLang="zh-CN" sz="1600" b="0" i="0" u="none" strike="noStrike" kern="1200" cap="none" spc="0" normalizeH="0" baseline="0" noProof="0" dirty="0">
                <a:ln>
                  <a:noFill/>
                </a:ln>
                <a:solidFill>
                  <a:srgbClr val="D9F5DD"/>
                </a:solidFill>
                <a:effectLst/>
                <a:uLnTx/>
                <a:uFillTx/>
                <a:latin typeface="Monaco" pitchFamily="49" charset="0"/>
                <a:ea typeface="宋体" pitchFamily="2" charset="-122"/>
                <a:cs typeface="+mn-cs"/>
              </a:rPr>
              <a:t>'</a:t>
            </a:r>
            <a:r>
              <a:rPr kumimoji="0" lang="en-US" altLang="zh-CN" sz="1600" b="0" i="0" u="none" strike="noStrike" kern="1200" cap="none" spc="0" normalizeH="0" baseline="0" noProof="0" dirty="0">
                <a:ln>
                  <a:noFill/>
                </a:ln>
                <a:solidFill>
                  <a:srgbClr val="80CBC4"/>
                </a:solidFill>
                <a:effectLst/>
                <a:uLnTx/>
                <a:uFillTx/>
                <a:latin typeface="Monaco" pitchFamily="49" charset="0"/>
                <a:ea typeface="宋体" pitchFamily="2" charset="-122"/>
                <a:cs typeface="+mn-cs"/>
              </a:rPr>
              <a:t>)</a:t>
            </a:r>
            <a:endParaRPr kumimoji="0" lang="en-US" altLang="zh-CN" sz="1600" b="0" i="0" u="none" strike="noStrike" kern="1200" cap="none" spc="0" normalizeH="0" baseline="0" noProof="0" dirty="0">
              <a:ln>
                <a:noFill/>
              </a:ln>
              <a:solidFill>
                <a:srgbClr val="CBCCC6"/>
              </a:solidFill>
              <a:effectLst/>
              <a:uLnTx/>
              <a:uFillTx/>
              <a:latin typeface="Monaco" pitchFamily="49" charset="0"/>
              <a:ea typeface="宋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smtClean="0">
                <a:ln>
                  <a:noFill/>
                </a:ln>
                <a:solidFill>
                  <a:srgbClr val="80CBC4"/>
                </a:solidFill>
                <a:effectLst/>
                <a:uLnTx/>
                <a:uFillTx/>
                <a:latin typeface="Monaco" pitchFamily="49" charset="0"/>
                <a:ea typeface="宋体" pitchFamily="2" charset="-122"/>
                <a:cs typeface="+mn-cs"/>
              </a:rPr>
              <a:t>})()</a:t>
            </a:r>
            <a:endParaRPr kumimoji="0" lang="en-US" altLang="zh-CN" sz="1600" b="0" i="0" u="none" strike="noStrike" kern="1200" cap="none" spc="0" normalizeH="0" baseline="0" noProof="0" dirty="0">
              <a:ln>
                <a:noFill/>
              </a:ln>
              <a:solidFill>
                <a:srgbClr val="CBCCC6"/>
              </a:solidFill>
              <a:effectLst/>
              <a:uLnTx/>
              <a:uFillTx/>
              <a:latin typeface="Monaco" pitchFamily="49" charset="0"/>
              <a:ea typeface="宋体" pitchFamily="2" charset="-122"/>
              <a:cs typeface="+mn-cs"/>
            </a:endParaRPr>
          </a:p>
        </p:txBody>
      </p:sp>
      <p:pic>
        <p:nvPicPr>
          <p:cNvPr id="6" name="图片 5"/>
          <p:cNvPicPr>
            <a:picLocks noChangeAspect="1"/>
          </p:cNvPicPr>
          <p:nvPr/>
        </p:nvPicPr>
        <p:blipFill>
          <a:blip r:embed="rId2"/>
          <a:stretch>
            <a:fillRect/>
          </a:stretch>
        </p:blipFill>
        <p:spPr>
          <a:xfrm>
            <a:off x="5068084" y="5508407"/>
            <a:ext cx="4189363" cy="1324949"/>
          </a:xfrm>
          <a:prstGeom prst="rect">
            <a:avLst/>
          </a:prstGeom>
        </p:spPr>
      </p:pic>
      <p:sp>
        <p:nvSpPr>
          <p:cNvPr id="10"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函数表达式</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12"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990600" y="1351584"/>
            <a:ext cx="11201400" cy="3967112"/>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sz="2400" b="0" i="0" u="none" strike="noStrike" kern="1200" cap="none" spc="0" normalizeH="0" baseline="0" noProof="0" dirty="0" smtClean="0">
                <a:ln>
                  <a:noFill/>
                </a:ln>
                <a:solidFill>
                  <a:prstClr val="black"/>
                </a:solidFill>
                <a:effectLst/>
                <a:uLnTx/>
                <a:uFillTx/>
                <a:latin typeface="宋体"/>
                <a:ea typeface="+mn-ea"/>
                <a:cs typeface="宋体"/>
              </a:rPr>
              <a:t>4</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、箭头函数</a:t>
            </a:r>
            <a:endPar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箭头函数是更简洁的表达方式，声明函数时用</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=&gt;</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代替</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function</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关键字，格式如下：</a:t>
            </a:r>
            <a:endPar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形参列表</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)=&gt;{</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函数体语句</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endPar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400" b="0" i="0" u="none" strike="noStrike" kern="1200" cap="none" spc="0" normalizeH="0" baseline="0" noProof="0" dirty="0">
                <a:ln>
                  <a:noFill/>
                </a:ln>
                <a:solidFill>
                  <a:prstClr val="black"/>
                </a:solidFill>
                <a:effectLst/>
                <a:uLnTx/>
                <a:uFillTx/>
                <a:latin typeface="宋体"/>
                <a:ea typeface="宋体" pitchFamily="2" charset="-122"/>
                <a:cs typeface="宋体"/>
              </a:rPr>
              <a:t>(</a:t>
            </a:r>
            <a:r>
              <a:rPr kumimoji="0" lang="zh-CN" altLang="en-US" sz="2400" b="0" i="0" u="none" strike="noStrike" kern="1200" cap="none" spc="0" normalizeH="0" baseline="0" noProof="0" dirty="0">
                <a:ln>
                  <a:noFill/>
                </a:ln>
                <a:solidFill>
                  <a:prstClr val="black"/>
                </a:solidFill>
                <a:effectLst/>
                <a:uLnTx/>
                <a:uFillTx/>
                <a:latin typeface="宋体"/>
                <a:ea typeface="宋体" pitchFamily="2" charset="-122"/>
                <a:cs typeface="宋体"/>
              </a:rPr>
              <a:t>形参列表</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)=&gt;{return </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表达式</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endParaRPr kumimoji="0" lang="en-US" altLang="zh-CN" sz="24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400" b="0" i="0" u="none" strike="noStrike" kern="1200" cap="none" spc="0" normalizeH="0" baseline="0" noProof="0" dirty="0">
                <a:ln>
                  <a:noFill/>
                </a:ln>
                <a:solidFill>
                  <a:prstClr val="black"/>
                </a:solidFill>
                <a:effectLst/>
                <a:uLnTx/>
                <a:uFillTx/>
                <a:latin typeface="宋体"/>
                <a:ea typeface="宋体" pitchFamily="2" charset="-122"/>
                <a:cs typeface="宋体"/>
              </a:rPr>
              <a:t>(</a:t>
            </a:r>
            <a:r>
              <a:rPr kumimoji="0" lang="zh-CN" altLang="en-US" sz="2400" b="0" i="0" u="none" strike="noStrike" kern="1200" cap="none" spc="0" normalizeH="0" baseline="0" noProof="0" dirty="0">
                <a:ln>
                  <a:noFill/>
                </a:ln>
                <a:solidFill>
                  <a:prstClr val="black"/>
                </a:solidFill>
                <a:effectLst/>
                <a:uLnTx/>
                <a:uFillTx/>
                <a:latin typeface="宋体"/>
                <a:ea typeface="宋体" pitchFamily="2" charset="-122"/>
                <a:cs typeface="宋体"/>
              </a:rPr>
              <a:t>形参列表</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)=&gt;{</a:t>
            </a: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表达式</a:t>
            </a:r>
            <a:r>
              <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endParaRPr kumimoji="0" lang="en-US" altLang="zh-CN" sz="24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400" b="0" i="0" u="none" strike="noStrike" kern="1200" cap="none" spc="0" normalizeH="0" baseline="0" noProof="0" dirty="0" smtClean="0">
                <a:ln>
                  <a:noFill/>
                </a:ln>
                <a:solidFill>
                  <a:prstClr val="black"/>
                </a:solidFill>
                <a:effectLst/>
                <a:uLnTx/>
                <a:uFillTx/>
                <a:latin typeface="宋体"/>
                <a:ea typeface="宋体" pitchFamily="2" charset="-122"/>
                <a:cs typeface="宋体"/>
              </a:rPr>
              <a:t>例如，求三个数的和，可以用箭头函数表示，代码如下：</a:t>
            </a:r>
            <a:endPar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4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2" name="图片 1"/>
          <p:cNvPicPr>
            <a:picLocks noChangeAspect="1"/>
          </p:cNvPicPr>
          <p:nvPr/>
        </p:nvPicPr>
        <p:blipFill>
          <a:blip r:embed="rId1"/>
          <a:stretch>
            <a:fillRect/>
          </a:stretch>
        </p:blipFill>
        <p:spPr>
          <a:xfrm>
            <a:off x="990600" y="4743112"/>
            <a:ext cx="6128100" cy="1978363"/>
          </a:xfrm>
          <a:prstGeom prst="rect">
            <a:avLst/>
          </a:prstGeom>
        </p:spPr>
      </p:pic>
      <p:sp>
        <p:nvSpPr>
          <p:cNvPr id="8"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函数表达式</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9"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441007" y="1409699"/>
            <a:ext cx="6019800" cy="4654479"/>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允许在一个函数体内嵌套定义另一个函数。在函数嵌套中，按照嵌套关系分为外部函数和内部函数。</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1</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）定义函数嵌套</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定义</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函数嵌套时，内部函数是外部函数私有的，内部函数只能在外部函数中调用。例如，定义外部函数</a:t>
            </a:r>
            <a:r>
              <a:rPr kumimoji="0" lang="en-US" altLang="zh-CN" sz="2000" b="0" i="0" u="none" strike="noStrike" kern="1200" cap="none" spc="0" normalizeH="0" baseline="0" noProof="0" dirty="0" err="1" smtClean="0">
                <a:ln>
                  <a:noFill/>
                </a:ln>
                <a:solidFill>
                  <a:prstClr val="black"/>
                </a:solidFill>
                <a:effectLst/>
                <a:uLnTx/>
                <a:uFillTx/>
                <a:latin typeface="宋体"/>
                <a:ea typeface="宋体" pitchFamily="2" charset="-122"/>
                <a:cs typeface="宋体"/>
              </a:rPr>
              <a:t>isSumLess</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，比较两个数组和的大小，第一个数组和小于第二个数组和返回</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true</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，反之，返回</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false</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。外部函数通过调用内部函数</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sum()</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求得任意数组的和。代码如下：</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4" name="图片 3"/>
          <p:cNvPicPr>
            <a:picLocks noChangeAspect="1"/>
          </p:cNvPicPr>
          <p:nvPr/>
        </p:nvPicPr>
        <p:blipFill>
          <a:blip r:embed="rId1"/>
          <a:stretch>
            <a:fillRect/>
          </a:stretch>
        </p:blipFill>
        <p:spPr>
          <a:xfrm>
            <a:off x="6629399" y="1447799"/>
            <a:ext cx="5427689" cy="5273675"/>
          </a:xfrm>
          <a:prstGeom prst="rect">
            <a:avLst/>
          </a:prstGeom>
        </p:spPr>
      </p:pic>
      <p:sp>
        <p:nvSpPr>
          <p:cNvPr id="8"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函数嵌套</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9"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863600" y="1400090"/>
            <a:ext cx="10363200" cy="948337"/>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2</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）内部函数访问外部函数变量</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在函数嵌套时，内部函数可以直接访问外部函数的变量，反之则不可以。例如：</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5" name="图片 4"/>
          <p:cNvPicPr>
            <a:picLocks noChangeAspect="1"/>
          </p:cNvPicPr>
          <p:nvPr/>
        </p:nvPicPr>
        <p:blipFill>
          <a:blip r:embed="rId1"/>
          <a:stretch>
            <a:fillRect/>
          </a:stretch>
        </p:blipFill>
        <p:spPr>
          <a:xfrm>
            <a:off x="889000" y="2388282"/>
            <a:ext cx="4343400" cy="4469718"/>
          </a:xfrm>
          <a:prstGeom prst="rect">
            <a:avLst/>
          </a:prstGeom>
        </p:spPr>
      </p:pic>
      <p:sp>
        <p:nvSpPr>
          <p:cNvPr id="8"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函数嵌套</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9"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939800" y="1232774"/>
            <a:ext cx="10363200" cy="4177426"/>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1</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、作用域</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变量作用域就是变量可以被引用的有效范围。</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作用域分为全局作用域、局部作用域、块作用域。</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lt"/>
              <a:buAutoNum type="alphaUcPeriod"/>
              <a:tabLst>
                <a:tab pos="299085" algn="l"/>
                <a:tab pos="299720" algn="l"/>
              </a:tabLst>
              <a:defRPr/>
            </a:pPr>
            <a:r>
              <a:rPr kumimoji="0" lang="zh-CN" altLang="en-US" sz="1600" b="0" i="0" u="none" strike="noStrike" kern="1200" cap="none" spc="0" normalizeH="0" baseline="0" noProof="0" dirty="0">
                <a:ln>
                  <a:noFill/>
                </a:ln>
                <a:solidFill>
                  <a:prstClr val="black"/>
                </a:solidFill>
                <a:effectLst/>
                <a:uLnTx/>
                <a:uFillTx/>
                <a:latin typeface="宋体"/>
                <a:ea typeface="宋体" pitchFamily="2" charset="-122"/>
                <a:cs typeface="宋体"/>
              </a:rPr>
              <a:t>全局</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作用域：由整个</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执行环境构成。</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lt"/>
              <a:buAutoNum type="alphaUcPeriod"/>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局部作用域：也称为函数作用域，由函数声明</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构成。</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lt"/>
              <a:buAutoNum type="alphaUcPeriod"/>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块作用域：由</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构成，比如</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if</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语句和</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for</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语句的</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1600" b="0" i="0" u="none" strike="noStrike" kern="1200" cap="none" spc="0" normalizeH="0" baseline="0" noProof="0" dirty="0">
                <a:ln>
                  <a:noFill/>
                </a:ln>
                <a:solidFill>
                  <a:prstClr val="black"/>
                </a:solidFill>
                <a:effectLst/>
                <a:uLnTx/>
                <a:uFillTx/>
                <a:latin typeface="宋体"/>
                <a:ea typeface="宋体" pitchFamily="2" charset="-122"/>
                <a:cs typeface="宋体"/>
              </a:rPr>
              <a:t>也属于块</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作用域。</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2</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、声明提升</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代码在运行时分为语法分析、预编译和解释执行阶段。在预编译阶段，函数声明和变量声明会被提升，并且函数提升优先级高于变量提升，提升后，函数声明会位于变量声明之前。</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1</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）变量声明提升</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a:ln>
                  <a:noFill/>
                </a:ln>
                <a:solidFill>
                  <a:prstClr val="black"/>
                </a:solidFill>
                <a:effectLst/>
                <a:uLnTx/>
                <a:uFillTx/>
                <a:latin typeface="宋体"/>
                <a:ea typeface="宋体" pitchFamily="2" charset="-122"/>
                <a:cs typeface="宋体"/>
              </a:rPr>
              <a:t>在预</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编译阶段，全局作用域中声明的变量会提升至全局最顶层，局部作用域即函数内声明的变量只会提升至该局部作用域最顶层。例如，如下代码在</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if</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语句中定义变量</a:t>
            </a:r>
            <a:r>
              <a:rPr kumimoji="0" lang="en-US" altLang="zh-CN" sz="1600" b="0" i="0" u="none" strike="noStrike" kern="1200" cap="none" spc="0" normalizeH="0" baseline="0" noProof="0" dirty="0" err="1" smtClean="0">
                <a:ln>
                  <a:noFill/>
                </a:ln>
                <a:solidFill>
                  <a:prstClr val="black"/>
                </a:solidFill>
                <a:effectLst/>
                <a:uLnTx/>
                <a:uFillTx/>
                <a:latin typeface="宋体"/>
                <a:ea typeface="宋体" pitchFamily="2" charset="-122"/>
                <a:cs typeface="宋体"/>
              </a:rPr>
              <a:t>msg</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，被提升到</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if</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之前成为全局变量。</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2" name="图片 1"/>
          <p:cNvPicPr>
            <a:picLocks noChangeAspect="1"/>
          </p:cNvPicPr>
          <p:nvPr/>
        </p:nvPicPr>
        <p:blipFill>
          <a:blip r:embed="rId1"/>
          <a:stretch>
            <a:fillRect/>
          </a:stretch>
        </p:blipFill>
        <p:spPr>
          <a:xfrm>
            <a:off x="76200" y="5562600"/>
            <a:ext cx="5854000" cy="1170800"/>
          </a:xfrm>
          <a:prstGeom prst="rect">
            <a:avLst/>
          </a:prstGeom>
        </p:spPr>
      </p:pic>
      <p:pic>
        <p:nvPicPr>
          <p:cNvPr id="4" name="图片 3"/>
          <p:cNvPicPr>
            <a:picLocks noChangeAspect="1"/>
          </p:cNvPicPr>
          <p:nvPr/>
        </p:nvPicPr>
        <p:blipFill>
          <a:blip r:embed="rId2"/>
          <a:stretch>
            <a:fillRect/>
          </a:stretch>
        </p:blipFill>
        <p:spPr>
          <a:xfrm>
            <a:off x="7696200" y="5476875"/>
            <a:ext cx="3305175" cy="1152525"/>
          </a:xfrm>
          <a:prstGeom prst="rect">
            <a:avLst/>
          </a:prstGeom>
        </p:spPr>
      </p:pic>
      <p:sp>
        <p:nvSpPr>
          <p:cNvPr id="6" name="矩形 5"/>
          <p:cNvSpPr/>
          <p:nvPr/>
        </p:nvSpPr>
        <p:spPr>
          <a:xfrm>
            <a:off x="5915860" y="5754469"/>
            <a:ext cx="1800493"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变量提升后，</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mn-cs"/>
              </a:rPr>
              <a:t>等价</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mn-cs"/>
              </a:rPr>
              <a:t>于右侧代码</a:t>
            </a:r>
            <a:endParaRPr kumimoji="0" lang="zh-CN" altLang="en-US" sz="1800" b="0" i="0" u="none" strike="noStrike" kern="1200" cap="none" spc="0" normalizeH="0" baseline="0" noProof="0" dirty="0">
              <a:ln>
                <a:noFill/>
              </a:ln>
              <a:solidFill>
                <a:prstClr val="black"/>
              </a:solidFill>
              <a:effectLst/>
              <a:uLnTx/>
              <a:uFillTx/>
              <a:latin typeface="Calibri"/>
              <a:ea typeface="宋体" pitchFamily="2" charset="-122"/>
              <a:cs typeface="+mn-cs"/>
            </a:endParaRPr>
          </a:p>
        </p:txBody>
      </p:sp>
      <p:sp>
        <p:nvSpPr>
          <p:cNvPr id="10"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作用域和声明提升</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12"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971550" y="964204"/>
            <a:ext cx="10363200" cy="419025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2</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）函数声明提升</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a:ln>
                  <a:noFill/>
                </a:ln>
                <a:solidFill>
                  <a:prstClr val="black"/>
                </a:solidFill>
                <a:effectLst/>
                <a:uLnTx/>
                <a:uFillTx/>
                <a:latin typeface="宋体"/>
                <a:ea typeface="宋体" pitchFamily="2" charset="-122"/>
                <a:cs typeface="宋体"/>
              </a:rPr>
              <a:t>在预</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编译阶段，当前作用域的函数声明提升到整个作用域的最前面。例如，</a:t>
            </a:r>
            <a:r>
              <a:rPr kumimoji="0" lang="en-US" altLang="zh-CN" sz="1600" b="0" i="0" u="none" strike="noStrike" kern="1200" cap="none" spc="0" normalizeH="0" baseline="0" noProof="0" dirty="0" err="1" smtClean="0">
                <a:ln>
                  <a:noFill/>
                </a:ln>
                <a:solidFill>
                  <a:prstClr val="black"/>
                </a:solidFill>
                <a:effectLst/>
                <a:uLnTx/>
                <a:uFillTx/>
                <a:latin typeface="宋体"/>
                <a:ea typeface="宋体" pitchFamily="2" charset="-122"/>
                <a:cs typeface="宋体"/>
              </a:rPr>
              <a:t>showMsg</a:t>
            </a:r>
            <a:r>
              <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函数的调用位于函数声明之前，可以正确输出结果，代码如下：</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本质上函数声明已经提升到函数调用之前，等同于如下代码：</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5" name="图片 4"/>
          <p:cNvPicPr>
            <a:picLocks noChangeAspect="1"/>
          </p:cNvPicPr>
          <p:nvPr/>
        </p:nvPicPr>
        <p:blipFill>
          <a:blip r:embed="rId1"/>
          <a:stretch>
            <a:fillRect/>
          </a:stretch>
        </p:blipFill>
        <p:spPr>
          <a:xfrm>
            <a:off x="971550" y="2441448"/>
            <a:ext cx="3150829" cy="1978152"/>
          </a:xfrm>
          <a:prstGeom prst="rect">
            <a:avLst/>
          </a:prstGeom>
        </p:spPr>
      </p:pic>
      <p:pic>
        <p:nvPicPr>
          <p:cNvPr id="8" name="图片 7"/>
          <p:cNvPicPr>
            <a:picLocks noChangeAspect="1"/>
          </p:cNvPicPr>
          <p:nvPr/>
        </p:nvPicPr>
        <p:blipFill>
          <a:blip r:embed="rId2"/>
          <a:stretch>
            <a:fillRect/>
          </a:stretch>
        </p:blipFill>
        <p:spPr>
          <a:xfrm>
            <a:off x="971549" y="4709596"/>
            <a:ext cx="3174023" cy="2148404"/>
          </a:xfrm>
          <a:prstGeom prst="rect">
            <a:avLst/>
          </a:prstGeom>
        </p:spPr>
      </p:pic>
      <p:sp>
        <p:nvSpPr>
          <p:cNvPr id="9" name="object 7"/>
          <p:cNvSpPr txBox="1"/>
          <p:nvPr/>
        </p:nvSpPr>
        <p:spPr>
          <a:xfrm>
            <a:off x="3597592" y="67687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作用域和声明提升</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10" name="标题 3"/>
          <p:cNvSpPr>
            <a:spLocks noGrp="1"/>
          </p:cNvSpPr>
          <p:nvPr>
            <p:ph type="title"/>
          </p:nvPr>
        </p:nvSpPr>
        <p:spPr>
          <a:xfrm>
            <a:off x="863600" y="300038"/>
            <a:ext cx="10515600" cy="1197385"/>
          </a:xfrm>
        </p:spPr>
        <p:txBody>
          <a:bodyPr/>
          <a:lstStyle/>
          <a:p>
            <a:r>
              <a:rPr lang="zh-CN" altLang="en-US" dirty="0" smtClean="0"/>
              <a:t>函数</a:t>
            </a:r>
            <a:endParaRPr lang="zh-CN"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txBox="1">
            <a:spLocks noGrp="1"/>
          </p:cNvSpPr>
          <p:nvPr>
            <p:ph type="title"/>
          </p:nvPr>
        </p:nvSpPr>
        <p:spPr>
          <a:xfrm>
            <a:off x="838200" y="673852"/>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charset="-122"/>
                <a:ea typeface="微软雅黑" charset="-122"/>
              </a:rPr>
              <a:t>函数</a:t>
            </a:r>
            <a:endParaRPr sz="3200" b="1" spc="-40" dirty="0">
              <a:solidFill>
                <a:srgbClr val="585858"/>
              </a:solidFill>
              <a:latin typeface="微软雅黑" charset="-122"/>
              <a:ea typeface="微软雅黑"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2590800" y="718628"/>
            <a:ext cx="2863215" cy="3917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400" b="1" i="0" u="none" strike="noStrike" kern="1200" cap="none" spc="-40" normalizeH="0" baseline="0" noProof="0" dirty="0" smtClean="0">
                <a:ln>
                  <a:noFill/>
                </a:ln>
                <a:solidFill>
                  <a:srgbClr val="AC2B25"/>
                </a:solidFill>
                <a:effectLst/>
                <a:uLnTx/>
                <a:uFillTx/>
                <a:latin typeface="宋体"/>
                <a:ea typeface="宋体" pitchFamily="2" charset="-122"/>
                <a:cs typeface="宋体"/>
              </a:rPr>
              <a:t>作用域和声明提升</a:t>
            </a:r>
            <a:endParaRPr kumimoji="0" sz="2400" b="1" i="0" u="none" strike="noStrike" kern="1200" cap="none" spc="0" normalizeH="0" baseline="0" noProof="0" dirty="0">
              <a:ln>
                <a:noFill/>
              </a:ln>
              <a:solidFill>
                <a:prstClr val="black"/>
              </a:solidFill>
              <a:effectLst/>
              <a:uLnTx/>
              <a:uFillTx/>
              <a:latin typeface="宋体"/>
              <a:ea typeface="+mn-ea"/>
              <a:cs typeface="宋体"/>
            </a:endParaRPr>
          </a:p>
        </p:txBody>
      </p:sp>
      <p:sp>
        <p:nvSpPr>
          <p:cNvPr id="7" name="object 4"/>
          <p:cNvSpPr txBox="1"/>
          <p:nvPr/>
        </p:nvSpPr>
        <p:spPr>
          <a:xfrm>
            <a:off x="963282" y="1349682"/>
            <a:ext cx="10363200" cy="5554726"/>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3</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定义变量</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和</a:t>
            </a:r>
            <a:r>
              <a:rPr kumimoji="0" lang="en-US" altLang="zh-CN" sz="1800" b="0" i="0" u="none" strike="noStrike" kern="1200" cap="none" spc="0" normalizeH="0" baseline="0" noProof="0" dirty="0" err="1" smtClean="0">
                <a:ln>
                  <a:noFill/>
                </a:ln>
                <a:solidFill>
                  <a:prstClr val="black"/>
                </a:solidFill>
                <a:effectLst/>
                <a:uLnTx/>
                <a:uFillTx/>
                <a:latin typeface="宋体"/>
                <a:ea typeface="宋体" pitchFamily="2" charset="-122"/>
                <a:cs typeface="宋体"/>
              </a:rPr>
              <a:t>var</a:t>
            </a: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定义</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变量在全局作用域和局部作用域中是类似的，但是</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定义变量可以拥有块作用域。例如，以下代码用</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声明</a:t>
            </a:r>
            <a:r>
              <a:rPr kumimoji="0" lang="en-US" altLang="zh-CN" sz="1800" b="0" i="0" u="none" strike="noStrike" kern="1200" cap="none" spc="0" normalizeH="0" baseline="0" noProof="0" dirty="0" err="1" smtClean="0">
                <a:ln>
                  <a:noFill/>
                </a:ln>
                <a:solidFill>
                  <a:prstClr val="black"/>
                </a:solidFill>
                <a:effectLst/>
                <a:uLnTx/>
                <a:uFillTx/>
                <a:latin typeface="宋体"/>
                <a:ea typeface="宋体" pitchFamily="2" charset="-122"/>
                <a:cs typeface="宋体"/>
              </a:rPr>
              <a:t>msg</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变量，在全局作用域中访问时，将提示变量未定义错误：</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对比一下，</a:t>
            </a:r>
            <a:r>
              <a:rPr kumimoji="0" lang="en-US" altLang="zh-CN" sz="1800" b="0" i="0" u="none" strike="noStrike" kern="1200" cap="none" spc="0" normalizeH="0" baseline="0" noProof="0" dirty="0" err="1" smtClean="0">
                <a:ln>
                  <a:noFill/>
                </a:ln>
                <a:solidFill>
                  <a:prstClr val="black"/>
                </a:solidFill>
                <a:effectLst/>
                <a:uLnTx/>
                <a:uFillTx/>
                <a:latin typeface="宋体"/>
                <a:ea typeface="宋体" pitchFamily="2" charset="-122"/>
                <a:cs typeface="宋体"/>
              </a:rPr>
              <a:t>var</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关键字在块中声明的变量将被提升为全局变量，造成全局污染，例如：</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为了</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避免全局污染，在块作用域中，应该是用</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定义变量。</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2" name="图片 1"/>
          <p:cNvPicPr>
            <a:picLocks noChangeAspect="1"/>
          </p:cNvPicPr>
          <p:nvPr/>
        </p:nvPicPr>
        <p:blipFill>
          <a:blip r:embed="rId1"/>
          <a:stretch>
            <a:fillRect/>
          </a:stretch>
        </p:blipFill>
        <p:spPr>
          <a:xfrm>
            <a:off x="949494" y="2798124"/>
            <a:ext cx="3358611" cy="1545276"/>
          </a:xfrm>
          <a:prstGeom prst="rect">
            <a:avLst/>
          </a:prstGeom>
        </p:spPr>
      </p:pic>
      <p:pic>
        <p:nvPicPr>
          <p:cNvPr id="4" name="图片 3"/>
          <p:cNvPicPr>
            <a:picLocks noChangeAspect="1"/>
          </p:cNvPicPr>
          <p:nvPr/>
        </p:nvPicPr>
        <p:blipFill>
          <a:blip r:embed="rId2"/>
          <a:stretch>
            <a:fillRect/>
          </a:stretch>
        </p:blipFill>
        <p:spPr>
          <a:xfrm>
            <a:off x="4572000" y="2774362"/>
            <a:ext cx="4755392" cy="1569038"/>
          </a:xfrm>
          <a:prstGeom prst="rect">
            <a:avLst/>
          </a:prstGeom>
        </p:spPr>
      </p:pic>
      <p:pic>
        <p:nvPicPr>
          <p:cNvPr id="9" name="图片 8"/>
          <p:cNvPicPr>
            <a:picLocks noChangeAspect="1"/>
          </p:cNvPicPr>
          <p:nvPr/>
        </p:nvPicPr>
        <p:blipFill>
          <a:blip r:embed="rId3"/>
          <a:stretch>
            <a:fillRect/>
          </a:stretch>
        </p:blipFill>
        <p:spPr>
          <a:xfrm>
            <a:off x="7467600" y="5428271"/>
            <a:ext cx="3505200" cy="1411184"/>
          </a:xfrm>
          <a:prstGeom prst="rect">
            <a:avLst/>
          </a:prstGeom>
        </p:spPr>
      </p:pic>
      <p:pic>
        <p:nvPicPr>
          <p:cNvPr id="10" name="图片 9"/>
          <p:cNvPicPr>
            <a:picLocks noChangeAspect="1"/>
          </p:cNvPicPr>
          <p:nvPr/>
        </p:nvPicPr>
        <p:blipFill>
          <a:blip r:embed="rId4"/>
          <a:stretch>
            <a:fillRect/>
          </a:stretch>
        </p:blipFill>
        <p:spPr>
          <a:xfrm>
            <a:off x="963282" y="4784020"/>
            <a:ext cx="5770240" cy="169298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txBox="1">
            <a:spLocks noGrp="1"/>
          </p:cNvSpPr>
          <p:nvPr>
            <p:ph type="title"/>
          </p:nvPr>
        </p:nvSpPr>
        <p:spPr>
          <a:xfrm>
            <a:off x="699719" y="633619"/>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charset="-122"/>
                <a:ea typeface="微软雅黑" charset="-122"/>
              </a:rPr>
              <a:t>函数</a:t>
            </a:r>
            <a:endParaRPr sz="3200" b="1" spc="-40" dirty="0">
              <a:solidFill>
                <a:srgbClr val="585858"/>
              </a:solidFill>
              <a:latin typeface="微软雅黑" charset="-122"/>
              <a:ea typeface="微软雅黑"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2514600" y="633619"/>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闭包</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7" name="object 4"/>
          <p:cNvSpPr txBox="1"/>
          <p:nvPr/>
        </p:nvSpPr>
        <p:spPr>
          <a:xfrm>
            <a:off x="813339" y="1637099"/>
            <a:ext cx="10363200" cy="510075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800" b="1" i="0" u="none" strike="noStrike" kern="1200" cap="none" spc="0" normalizeH="0" baseline="0" noProof="0" dirty="0" smtClean="0">
                <a:ln>
                  <a:noFill/>
                </a:ln>
                <a:solidFill>
                  <a:prstClr val="black"/>
                </a:solidFill>
                <a:effectLst/>
                <a:uLnTx/>
                <a:uFillTx/>
                <a:latin typeface="宋体"/>
                <a:ea typeface="宋体" pitchFamily="2" charset="-122"/>
                <a:cs typeface="宋体"/>
              </a:rPr>
              <a:t>1</a:t>
            </a:r>
            <a:r>
              <a:rPr kumimoji="0" lang="zh-CN" altLang="en-US" sz="1800" b="1" i="0" u="none" strike="noStrike" kern="1200" cap="none" spc="0" normalizeH="0" baseline="0" noProof="0" dirty="0" smtClean="0">
                <a:ln>
                  <a:noFill/>
                </a:ln>
                <a:solidFill>
                  <a:prstClr val="black"/>
                </a:solidFill>
                <a:effectLst/>
                <a:uLnTx/>
                <a:uFillTx/>
                <a:latin typeface="宋体"/>
                <a:ea typeface="宋体" pitchFamily="2" charset="-122"/>
                <a:cs typeface="宋体"/>
              </a:rPr>
              <a:t>、概念</a:t>
            </a:r>
            <a:endParaRPr kumimoji="0" lang="en-US" altLang="zh-CN" sz="1800" b="1"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闭包就是能够读取其他函数内部变量的函数。由于在</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语言中，只有函数内部的子函数才能读取局部变量，因此可以把闭包简单理解成 </a:t>
            </a:r>
            <a:r>
              <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a:t>
            </a: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在一个函数内部的函数</a:t>
            </a:r>
            <a:r>
              <a:rPr kumimoji="0" lang="en-US" altLang="zh-CN" sz="1800" b="0" i="0" u="none" strike="noStrike" kern="1200" cap="none" spc="0" normalizeH="0" baseline="0" noProof="0" dirty="0">
                <a:ln>
                  <a:noFill/>
                </a:ln>
                <a:solidFill>
                  <a:prstClr val="black"/>
                </a:solidFill>
                <a:effectLst/>
                <a:uLnTx/>
                <a:uFillTx/>
                <a:latin typeface="宋体"/>
                <a:ea typeface="宋体" pitchFamily="2" charset="-122"/>
                <a:cs typeface="宋体"/>
              </a:rPr>
              <a:t>" </a:t>
            </a: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。所以，在本质上，闭包就是将函数内部和函数外部连接起来的一座桥梁</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800" b="1" i="0" u="none" strike="noStrike" kern="1200" cap="none" spc="0" normalizeH="0" baseline="0" noProof="0" dirty="0" smtClean="0">
                <a:ln>
                  <a:noFill/>
                </a:ln>
                <a:solidFill>
                  <a:prstClr val="black"/>
                </a:solidFill>
                <a:effectLst/>
                <a:uLnTx/>
                <a:uFillTx/>
                <a:latin typeface="宋体"/>
                <a:ea typeface="宋体" pitchFamily="2" charset="-122"/>
                <a:cs typeface="宋体"/>
              </a:rPr>
              <a:t>2</a:t>
            </a:r>
            <a:r>
              <a:rPr kumimoji="0" lang="zh-CN" altLang="en-US" sz="1800" b="1" i="0" u="none" strike="noStrike" kern="1200" cap="none" spc="0" normalizeH="0" baseline="0" noProof="0" dirty="0" smtClean="0">
                <a:ln>
                  <a:noFill/>
                </a:ln>
                <a:solidFill>
                  <a:prstClr val="black"/>
                </a:solidFill>
                <a:effectLst/>
                <a:uLnTx/>
                <a:uFillTx/>
                <a:latin typeface="宋体"/>
                <a:ea typeface="宋体" pitchFamily="2" charset="-122"/>
                <a:cs typeface="宋体"/>
              </a:rPr>
              <a:t>、特性</a:t>
            </a:r>
            <a:endParaRPr kumimoji="0" lang="zh-CN" altLang="en-US" sz="1800" b="1" i="0" u="none" strike="noStrike" kern="1200" cap="none" spc="0" normalizeH="0" baseline="0" noProof="0" dirty="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ea"/>
              <a:buAutoNum type="circleNumDbPlain"/>
              <a:tabLst>
                <a:tab pos="299085" algn="l"/>
                <a:tab pos="299720" algn="l"/>
              </a:tabLst>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内嵌函数：函数嵌套函数，内嵌函数对函数中的局部变量进行访问</a:t>
            </a:r>
            <a:endPar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ea"/>
              <a:buAutoNum type="circleNumDbPlain"/>
              <a:tabLst>
                <a:tab pos="299085" algn="l"/>
                <a:tab pos="299720" algn="l"/>
              </a:tabLst>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局部变量：在函数内定义有共享意义的局部变量</a:t>
            </a:r>
            <a:endPar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ea"/>
              <a:buAutoNum type="circleNumDbPlain"/>
              <a:tabLst>
                <a:tab pos="299085" algn="l"/>
                <a:tab pos="299720" algn="l"/>
              </a:tabLst>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外部使用：函数向外返回此内嵌函数，外部可通过此内嵌函数访问声明在函数中的局部变量，而此变量在外部是通过其他路径无法访问的</a:t>
            </a:r>
            <a:endPar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355600" marR="0" lvl="0" indent="-342900" algn="l" defTabSz="914400" rtl="0" eaLnBrk="1" fontAlgn="auto" latinLnBrk="0" hangingPunct="1">
              <a:lnSpc>
                <a:spcPct val="150000"/>
              </a:lnSpc>
              <a:spcBef>
                <a:spcPts val="95"/>
              </a:spcBef>
              <a:spcAft>
                <a:spcPts val="0"/>
              </a:spcAft>
              <a:buClrTx/>
              <a:buSzPct val="84000"/>
              <a:buFont typeface="+mj-ea"/>
              <a:buAutoNum type="circleNumDbPlain"/>
              <a:tabLst>
                <a:tab pos="299085" algn="l"/>
                <a:tab pos="299720" algn="l"/>
              </a:tabLst>
              <a:defRPr/>
            </a:pPr>
            <a:r>
              <a:rPr kumimoji="0" lang="zh-CN" altLang="en-US" sz="1800" b="0" i="0" u="none" strike="noStrike" kern="1200" cap="none" spc="0" normalizeH="0" baseline="0" noProof="0" dirty="0">
                <a:ln>
                  <a:noFill/>
                </a:ln>
                <a:solidFill>
                  <a:prstClr val="black"/>
                </a:solidFill>
                <a:effectLst/>
                <a:uLnTx/>
                <a:uFillTx/>
                <a:latin typeface="宋体"/>
                <a:ea typeface="宋体" pitchFamily="2" charset="-122"/>
                <a:cs typeface="宋体"/>
              </a:rPr>
              <a:t>参数和变量不会立即被垃圾回收机制</a:t>
            </a:r>
            <a:r>
              <a:rPr kumimoji="0" lang="zh-CN" altLang="en-US" sz="1800" b="0" i="0" u="none" strike="noStrike" kern="1200" cap="none" spc="0" normalizeH="0" baseline="0" noProof="0" dirty="0" smtClean="0">
                <a:ln>
                  <a:noFill/>
                </a:ln>
                <a:solidFill>
                  <a:prstClr val="black"/>
                </a:solidFill>
                <a:effectLst/>
                <a:uLnTx/>
                <a:uFillTx/>
                <a:latin typeface="宋体"/>
                <a:ea typeface="宋体" pitchFamily="2" charset="-122"/>
                <a:cs typeface="宋体"/>
              </a:rPr>
              <a:t>回收</a:t>
            </a: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8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txBox="1">
            <a:spLocks noGrp="1"/>
          </p:cNvSpPr>
          <p:nvPr>
            <p:ph type="title"/>
          </p:nvPr>
        </p:nvSpPr>
        <p:spPr>
          <a:xfrm>
            <a:off x="762000" y="664805"/>
            <a:ext cx="3934562"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5" dirty="0" smtClean="0">
                <a:solidFill>
                  <a:srgbClr val="585858"/>
                </a:solidFill>
                <a:latin typeface="微软雅黑" charset="-122"/>
                <a:ea typeface="微软雅黑" charset="-122"/>
              </a:rPr>
              <a:t>函数</a:t>
            </a:r>
            <a:endParaRPr sz="2800" b="1" spc="-40" dirty="0">
              <a:solidFill>
                <a:srgbClr val="585858"/>
              </a:solidFill>
              <a:latin typeface="微软雅黑" charset="-122"/>
              <a:ea typeface="微软雅黑"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2514600" y="690762"/>
            <a:ext cx="2863215" cy="3917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400" b="1" i="0" u="none" strike="noStrike" kern="1200" cap="none" spc="-40" normalizeH="0" baseline="0" noProof="0" dirty="0" smtClean="0">
                <a:ln>
                  <a:noFill/>
                </a:ln>
                <a:solidFill>
                  <a:srgbClr val="AC2B25"/>
                </a:solidFill>
                <a:effectLst/>
                <a:uLnTx/>
                <a:uFillTx/>
                <a:latin typeface="宋体"/>
                <a:ea typeface="宋体" pitchFamily="2" charset="-122"/>
                <a:cs typeface="宋体"/>
              </a:rPr>
              <a:t>闭包</a:t>
            </a:r>
            <a:endParaRPr kumimoji="0" sz="2400" b="1" i="0" u="none" strike="noStrike" kern="1200" cap="none" spc="0" normalizeH="0" baseline="0" noProof="0" dirty="0">
              <a:ln>
                <a:noFill/>
              </a:ln>
              <a:solidFill>
                <a:prstClr val="black"/>
              </a:solidFill>
              <a:effectLst/>
              <a:uLnTx/>
              <a:uFillTx/>
              <a:latin typeface="宋体"/>
              <a:ea typeface="+mn-ea"/>
              <a:cs typeface="宋体"/>
            </a:endParaRPr>
          </a:p>
        </p:txBody>
      </p:sp>
      <p:sp>
        <p:nvSpPr>
          <p:cNvPr id="7" name="object 4"/>
          <p:cNvSpPr txBox="1"/>
          <p:nvPr/>
        </p:nvSpPr>
        <p:spPr>
          <a:xfrm>
            <a:off x="971550" y="1066800"/>
            <a:ext cx="10363200" cy="3438762"/>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1600" b="1" i="0" u="none" strike="noStrike" kern="1200" cap="none" spc="0" normalizeH="0" baseline="0" noProof="0" dirty="0" smtClean="0">
                <a:ln>
                  <a:noFill/>
                </a:ln>
                <a:solidFill>
                  <a:prstClr val="black"/>
                </a:solidFill>
                <a:effectLst/>
                <a:uLnTx/>
                <a:uFillTx/>
                <a:latin typeface="宋体"/>
                <a:ea typeface="宋体" pitchFamily="2" charset="-122"/>
                <a:cs typeface="宋体"/>
              </a:rPr>
              <a:t>3</a:t>
            </a:r>
            <a:r>
              <a:rPr kumimoji="0" lang="zh-CN" altLang="en-US" sz="1600" b="1" i="0" u="none" strike="noStrike" kern="1200" cap="none" spc="0" normalizeH="0" baseline="0" noProof="0" dirty="0" smtClean="0">
                <a:ln>
                  <a:noFill/>
                </a:ln>
                <a:solidFill>
                  <a:prstClr val="black"/>
                </a:solidFill>
                <a:effectLst/>
                <a:uLnTx/>
                <a:uFillTx/>
                <a:latin typeface="宋体"/>
                <a:ea typeface="宋体" pitchFamily="2" charset="-122"/>
                <a:cs typeface="宋体"/>
              </a:rPr>
              <a:t>、闭包的应用</a:t>
            </a:r>
            <a:endParaRPr kumimoji="0" lang="en-US" altLang="zh-CN" sz="1600" b="1"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闭包常用于生成计数器、缓存等，下面以计数器问题为例阐述闭包的应用。</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例如，我们可以用全局变量完成一个计数器：</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这种方式下，计数器变量</a:t>
            </a:r>
            <a:r>
              <a:rPr kumimoji="0" lang="en-US" altLang="zh-CN" sz="1600" b="0" i="0" u="none" strike="noStrike" kern="1200" cap="none" spc="0" normalizeH="0" baseline="0" noProof="0" dirty="0" err="1" smtClean="0">
                <a:ln>
                  <a:noFill/>
                </a:ln>
                <a:solidFill>
                  <a:prstClr val="black"/>
                </a:solidFill>
                <a:effectLst/>
                <a:uLnTx/>
                <a:uFillTx/>
                <a:latin typeface="宋体"/>
                <a:ea typeface="宋体" pitchFamily="2" charset="-122"/>
                <a:cs typeface="宋体"/>
              </a:rPr>
              <a:t>num</a:t>
            </a:r>
            <a:r>
              <a:rPr kumimoji="0" lang="zh-CN" altLang="en-US" sz="1600" b="0" i="0" u="none" strike="noStrike" kern="1200" cap="none" spc="0" normalizeH="0" baseline="0" noProof="0" dirty="0" smtClean="0">
                <a:ln>
                  <a:noFill/>
                </a:ln>
                <a:solidFill>
                  <a:prstClr val="black"/>
                </a:solidFill>
                <a:effectLst/>
                <a:uLnTx/>
                <a:uFillTx/>
                <a:latin typeface="宋体"/>
                <a:ea typeface="宋体" pitchFamily="2" charset="-122"/>
                <a:cs typeface="宋体"/>
              </a:rPr>
              <a:t>是全局变量，如果改为局部变量，就无法实现计数器效果，代码如下：</a:t>
            </a:r>
            <a:endParaRPr kumimoji="0" lang="en-US" altLang="zh-CN" sz="16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2" name="图片 1"/>
          <p:cNvPicPr>
            <a:picLocks noChangeAspect="1"/>
          </p:cNvPicPr>
          <p:nvPr/>
        </p:nvPicPr>
        <p:blipFill>
          <a:blip r:embed="rId1"/>
          <a:stretch>
            <a:fillRect/>
          </a:stretch>
        </p:blipFill>
        <p:spPr>
          <a:xfrm>
            <a:off x="981520" y="2256506"/>
            <a:ext cx="2209800" cy="1851454"/>
          </a:xfrm>
          <a:prstGeom prst="rect">
            <a:avLst/>
          </a:prstGeom>
        </p:spPr>
      </p:pic>
      <p:pic>
        <p:nvPicPr>
          <p:cNvPr id="4" name="图片 3"/>
          <p:cNvPicPr>
            <a:picLocks noChangeAspect="1"/>
          </p:cNvPicPr>
          <p:nvPr/>
        </p:nvPicPr>
        <p:blipFill>
          <a:blip r:embed="rId2"/>
          <a:stretch>
            <a:fillRect/>
          </a:stretch>
        </p:blipFill>
        <p:spPr>
          <a:xfrm>
            <a:off x="1066800" y="4484543"/>
            <a:ext cx="3200400" cy="22764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txBox="1">
            <a:spLocks noGrp="1"/>
          </p:cNvSpPr>
          <p:nvPr>
            <p:ph type="title"/>
          </p:nvPr>
        </p:nvSpPr>
        <p:spPr>
          <a:xfrm>
            <a:off x="838200" y="633619"/>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charset="-122"/>
                <a:ea typeface="微软雅黑" charset="-122"/>
              </a:rPr>
              <a:t>函数</a:t>
            </a:r>
            <a:endParaRPr sz="3200" b="1" spc="-40" dirty="0">
              <a:solidFill>
                <a:srgbClr val="585858"/>
              </a:solidFill>
              <a:latin typeface="微软雅黑" charset="-122"/>
              <a:ea typeface="微软雅黑"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2590800" y="633619"/>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闭包</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7" name="object 4"/>
          <p:cNvSpPr txBox="1"/>
          <p:nvPr/>
        </p:nvSpPr>
        <p:spPr>
          <a:xfrm>
            <a:off x="938079" y="1219200"/>
            <a:ext cx="10363200" cy="948337"/>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1" i="0" u="none" strike="noStrike" kern="1200" cap="none" spc="0" normalizeH="0" baseline="0" noProof="0" dirty="0" smtClean="0">
                <a:ln>
                  <a:noFill/>
                </a:ln>
                <a:solidFill>
                  <a:prstClr val="black"/>
                </a:solidFill>
                <a:effectLst/>
                <a:uLnTx/>
                <a:uFillTx/>
                <a:latin typeface="宋体"/>
                <a:ea typeface="宋体" pitchFamily="2" charset="-122"/>
                <a:cs typeface="宋体"/>
              </a:rPr>
              <a:t>3</a:t>
            </a:r>
            <a:r>
              <a:rPr kumimoji="0" lang="zh-CN" altLang="en-US" sz="2000" b="1" i="0" u="none" strike="noStrike" kern="1200" cap="none" spc="0" normalizeH="0" baseline="0" noProof="0" dirty="0" smtClean="0">
                <a:ln>
                  <a:noFill/>
                </a:ln>
                <a:solidFill>
                  <a:prstClr val="black"/>
                </a:solidFill>
                <a:effectLst/>
                <a:uLnTx/>
                <a:uFillTx/>
                <a:latin typeface="宋体"/>
                <a:ea typeface="宋体" pitchFamily="2" charset="-122"/>
                <a:cs typeface="宋体"/>
              </a:rPr>
              <a:t>、闭包的应用</a:t>
            </a:r>
            <a:endParaRPr kumimoji="0" lang="en-US" altLang="zh-CN" sz="2000" b="1"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这个时候我们可以采用闭包来完成</a:t>
            </a:r>
            <a:r>
              <a:rPr kumimoji="0" lang="en-US" altLang="zh-CN" sz="2000" b="0" i="0" u="none" strike="noStrike" kern="1200" cap="none" spc="0" normalizeH="0" baseline="0" noProof="0" dirty="0" err="1" smtClean="0">
                <a:ln>
                  <a:noFill/>
                </a:ln>
                <a:solidFill>
                  <a:prstClr val="black"/>
                </a:solidFill>
                <a:effectLst/>
                <a:uLnTx/>
                <a:uFillTx/>
                <a:latin typeface="宋体"/>
                <a:ea typeface="宋体" pitchFamily="2" charset="-122"/>
                <a:cs typeface="宋体"/>
              </a:rPr>
              <a:t>num</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的局部化，解决上边的问题：</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pic>
        <p:nvPicPr>
          <p:cNvPr id="5" name="图片 4"/>
          <p:cNvPicPr>
            <a:picLocks noChangeAspect="1"/>
          </p:cNvPicPr>
          <p:nvPr/>
        </p:nvPicPr>
        <p:blipFill>
          <a:blip r:embed="rId1"/>
          <a:stretch>
            <a:fillRect/>
          </a:stretch>
        </p:blipFill>
        <p:spPr>
          <a:xfrm>
            <a:off x="971550" y="2130158"/>
            <a:ext cx="7077080" cy="472784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txBox="1">
            <a:spLocks noGrp="1"/>
          </p:cNvSpPr>
          <p:nvPr>
            <p:ph type="title"/>
          </p:nvPr>
        </p:nvSpPr>
        <p:spPr>
          <a:xfrm>
            <a:off x="883065" y="626454"/>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charset="-122"/>
                <a:ea typeface="微软雅黑" charset="-122"/>
              </a:rPr>
              <a:t>函数</a:t>
            </a:r>
            <a:endParaRPr sz="3200" b="1" spc="-40" dirty="0">
              <a:solidFill>
                <a:srgbClr val="585858"/>
              </a:solidFill>
              <a:latin typeface="微软雅黑" charset="-122"/>
              <a:ea typeface="微软雅黑"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23" name="object 7"/>
          <p:cNvSpPr txBox="1"/>
          <p:nvPr/>
        </p:nvSpPr>
        <p:spPr>
          <a:xfrm>
            <a:off x="2362200" y="626454"/>
            <a:ext cx="2863215" cy="44371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defRPr/>
            </a:pPr>
            <a:r>
              <a:rPr kumimoji="0" lang="zh-CN" altLang="en-US" sz="2800" b="1" i="0" u="none" strike="noStrike" kern="1200" cap="none" spc="-40" normalizeH="0" baseline="0" noProof="0" dirty="0" smtClean="0">
                <a:ln>
                  <a:noFill/>
                </a:ln>
                <a:solidFill>
                  <a:srgbClr val="AC2B25"/>
                </a:solidFill>
                <a:effectLst/>
                <a:uLnTx/>
                <a:uFillTx/>
                <a:latin typeface="宋体"/>
                <a:ea typeface="宋体" pitchFamily="2" charset="-122"/>
                <a:cs typeface="宋体"/>
              </a:rPr>
              <a:t>闭包</a:t>
            </a:r>
            <a:endParaRPr kumimoji="0" sz="2800" b="1" i="0" u="none" strike="noStrike" kern="1200" cap="none" spc="0" normalizeH="0" baseline="0" noProof="0" dirty="0">
              <a:ln>
                <a:noFill/>
              </a:ln>
              <a:solidFill>
                <a:prstClr val="black"/>
              </a:solidFill>
              <a:effectLst/>
              <a:uLnTx/>
              <a:uFillTx/>
              <a:latin typeface="宋体"/>
              <a:ea typeface="+mn-ea"/>
              <a:cs typeface="宋体"/>
            </a:endParaRPr>
          </a:p>
        </p:txBody>
      </p:sp>
      <p:sp>
        <p:nvSpPr>
          <p:cNvPr id="7" name="object 4"/>
          <p:cNvSpPr txBox="1"/>
          <p:nvPr/>
        </p:nvSpPr>
        <p:spPr>
          <a:xfrm>
            <a:off x="883065" y="1295400"/>
            <a:ext cx="10363200" cy="5667577"/>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1" i="0" u="none" strike="noStrike" kern="1200" cap="none" spc="0" normalizeH="0" baseline="0" noProof="0" dirty="0" smtClean="0">
                <a:ln>
                  <a:noFill/>
                </a:ln>
                <a:solidFill>
                  <a:prstClr val="black"/>
                </a:solidFill>
                <a:effectLst/>
                <a:uLnTx/>
                <a:uFillTx/>
                <a:latin typeface="宋体"/>
                <a:ea typeface="宋体" pitchFamily="2" charset="-122"/>
                <a:cs typeface="宋体"/>
              </a:rPr>
              <a:t>4</a:t>
            </a:r>
            <a:r>
              <a:rPr kumimoji="0" lang="zh-CN" altLang="en-US" sz="2000" b="1" i="0" u="none" strike="noStrike" kern="1200" cap="none" spc="0" normalizeH="0" baseline="0" noProof="0" dirty="0">
                <a:ln>
                  <a:noFill/>
                </a:ln>
                <a:solidFill>
                  <a:prstClr val="black"/>
                </a:solidFill>
                <a:effectLst/>
                <a:uLnTx/>
                <a:uFillTx/>
                <a:latin typeface="宋体"/>
                <a:ea typeface="宋体" pitchFamily="2" charset="-122"/>
                <a:cs typeface="宋体"/>
              </a:rPr>
              <a:t>、使用闭包的注意</a:t>
            </a:r>
            <a:r>
              <a:rPr kumimoji="0" lang="zh-CN" altLang="en-US" sz="2000" b="1" i="0" u="none" strike="noStrike" kern="1200" cap="none" spc="0" normalizeH="0" baseline="0" noProof="0" dirty="0" smtClean="0">
                <a:ln>
                  <a:noFill/>
                </a:ln>
                <a:solidFill>
                  <a:prstClr val="black"/>
                </a:solidFill>
                <a:effectLst/>
                <a:uLnTx/>
                <a:uFillTx/>
                <a:latin typeface="宋体"/>
                <a:ea typeface="宋体" pitchFamily="2" charset="-122"/>
                <a:cs typeface="宋体"/>
              </a:rPr>
              <a:t>点</a:t>
            </a:r>
            <a:endParaRPr kumimoji="0" lang="en-US" altLang="zh-CN" sz="2000" b="1"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由于闭包会使得函数中的变量都被保存在内存中，内存消耗很大，所以不能滥用闭包，否则会造成网页的性能问题，在</a:t>
            </a:r>
            <a:r>
              <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rPr>
              <a:t>IE</a:t>
            </a: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中可能导致内存泄露。解决方法是，在退出函数之前，将不使用的局部变量全部删除</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1" i="0" u="none" strike="noStrike" kern="1200" cap="none" spc="0" normalizeH="0" baseline="0" noProof="0" dirty="0" smtClean="0">
                <a:ln>
                  <a:noFill/>
                </a:ln>
                <a:solidFill>
                  <a:prstClr val="black"/>
                </a:solidFill>
                <a:effectLst/>
                <a:uLnTx/>
                <a:uFillTx/>
                <a:latin typeface="宋体"/>
                <a:ea typeface="宋体" pitchFamily="2" charset="-122"/>
                <a:cs typeface="宋体"/>
              </a:rPr>
              <a:t>5</a:t>
            </a:r>
            <a:r>
              <a:rPr kumimoji="0" lang="zh-CN" altLang="en-US" sz="2000" b="1" i="0" u="none" strike="noStrike" kern="1200" cap="none" spc="0" normalizeH="0" baseline="0" noProof="0" dirty="0" smtClean="0">
                <a:ln>
                  <a:noFill/>
                </a:ln>
                <a:solidFill>
                  <a:prstClr val="black"/>
                </a:solidFill>
                <a:effectLst/>
                <a:uLnTx/>
                <a:uFillTx/>
                <a:latin typeface="宋体"/>
                <a:ea typeface="宋体" pitchFamily="2" charset="-122"/>
                <a:cs typeface="宋体"/>
              </a:rPr>
              <a:t>、闭包</a:t>
            </a:r>
            <a:r>
              <a:rPr kumimoji="0" lang="zh-CN" altLang="en-US" sz="2000" b="1" i="0" u="none" strike="noStrike" kern="1200" cap="none" spc="0" normalizeH="0" baseline="0" noProof="0" dirty="0">
                <a:ln>
                  <a:noFill/>
                </a:ln>
                <a:solidFill>
                  <a:prstClr val="black"/>
                </a:solidFill>
                <a:effectLst/>
                <a:uLnTx/>
                <a:uFillTx/>
                <a:latin typeface="宋体"/>
                <a:ea typeface="宋体" pitchFamily="2" charset="-122"/>
                <a:cs typeface="宋体"/>
              </a:rPr>
              <a:t>的优点</a:t>
            </a:r>
            <a:endParaRPr kumimoji="0" lang="zh-CN" altLang="en-US" sz="2000" b="1"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可读取函数内部的</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变量；</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局部变量可以保存在内存中，实现</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数据共享；</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执行过程中所有变量都匿名在函数</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内部；</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1" i="0" u="none" strike="noStrike" kern="1200" cap="none" spc="0" normalizeH="0" baseline="0" noProof="0" dirty="0" smtClean="0">
                <a:ln>
                  <a:noFill/>
                </a:ln>
                <a:solidFill>
                  <a:prstClr val="black"/>
                </a:solidFill>
                <a:effectLst/>
                <a:uLnTx/>
                <a:uFillTx/>
                <a:latin typeface="宋体"/>
                <a:ea typeface="宋体" pitchFamily="2" charset="-122"/>
                <a:cs typeface="宋体"/>
              </a:rPr>
              <a:t>6</a:t>
            </a:r>
            <a:r>
              <a:rPr kumimoji="0" lang="zh-CN" altLang="en-US" sz="2000" b="1" i="0" u="none" strike="noStrike" kern="1200" cap="none" spc="0" normalizeH="0" baseline="0" noProof="0" dirty="0" smtClean="0">
                <a:ln>
                  <a:noFill/>
                </a:ln>
                <a:solidFill>
                  <a:prstClr val="black"/>
                </a:solidFill>
                <a:effectLst/>
                <a:uLnTx/>
                <a:uFillTx/>
                <a:latin typeface="宋体"/>
                <a:ea typeface="宋体" pitchFamily="2" charset="-122"/>
                <a:cs typeface="宋体"/>
              </a:rPr>
              <a:t>、闭包</a:t>
            </a:r>
            <a:r>
              <a:rPr kumimoji="0" lang="zh-CN" altLang="en-US" sz="2000" b="1" i="0" u="none" strike="noStrike" kern="1200" cap="none" spc="0" normalizeH="0" baseline="0" noProof="0" dirty="0">
                <a:ln>
                  <a:noFill/>
                </a:ln>
                <a:solidFill>
                  <a:prstClr val="black"/>
                </a:solidFill>
                <a:effectLst/>
                <a:uLnTx/>
                <a:uFillTx/>
                <a:latin typeface="宋体"/>
                <a:ea typeface="宋体" pitchFamily="2" charset="-122"/>
                <a:cs typeface="宋体"/>
              </a:rPr>
              <a:t>的缺点</a:t>
            </a:r>
            <a:endParaRPr kumimoji="0" lang="zh-CN" altLang="en-US" sz="2000" b="1"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使函数内部变量存在于内存中，内存消耗</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大；</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滥用闭包可能导致内存</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泄露；</a:t>
            </a:r>
            <a:endPar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a:ln>
                  <a:noFill/>
                </a:ln>
                <a:solidFill>
                  <a:prstClr val="black"/>
                </a:solidFill>
                <a:effectLst/>
                <a:uLnTx/>
                <a:uFillTx/>
                <a:latin typeface="宋体"/>
                <a:ea typeface="宋体" pitchFamily="2" charset="-122"/>
                <a:cs typeface="宋体"/>
              </a:rPr>
              <a:t>闭包可以在父函数外部改变父函数内部的值，慎</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操作；</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txBox="1">
            <a:spLocks noGrp="1"/>
          </p:cNvSpPr>
          <p:nvPr>
            <p:ph type="title"/>
          </p:nvPr>
        </p:nvSpPr>
        <p:spPr>
          <a:xfrm>
            <a:off x="759216" y="655022"/>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charset="-122"/>
                <a:ea typeface="微软雅黑" charset="-122"/>
              </a:rPr>
              <a:t>函数总结</a:t>
            </a:r>
            <a:endParaRPr sz="3200" b="1" spc="-40" dirty="0">
              <a:solidFill>
                <a:srgbClr val="585858"/>
              </a:solidFill>
              <a:latin typeface="微软雅黑" charset="-122"/>
              <a:ea typeface="微软雅黑" charset="-122"/>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F15528-21DE-4FAA-801E-634DDDAF4B2B}" type="slidenum">
              <a:rPr kumimoji="0" lang="en-US" altLang="zh-CN" sz="1200" b="0" i="0" u="none" strike="noStrike" kern="1200" cap="none" spc="0" normalizeH="0" baseline="0" noProof="0" smtClean="0">
                <a:ln>
                  <a:noFill/>
                </a:ln>
                <a:solidFill>
                  <a:prstClr val="black">
                    <a:tint val="75000"/>
                  </a:prstClr>
                </a:solidFill>
                <a:effectLst/>
                <a:uLnTx/>
                <a:uFillTx/>
                <a:latin typeface="Calibri"/>
                <a:ea typeface="宋体"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itchFamily="2" charset="-122"/>
              <a:cs typeface="+mn-cs"/>
            </a:endParaRPr>
          </a:p>
        </p:txBody>
      </p:sp>
      <p:sp>
        <p:nvSpPr>
          <p:cNvPr id="7" name="object 4"/>
          <p:cNvSpPr txBox="1"/>
          <p:nvPr/>
        </p:nvSpPr>
        <p:spPr>
          <a:xfrm>
            <a:off x="759216" y="1676400"/>
            <a:ext cx="10363200" cy="4218463"/>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函数是逻辑独立的代码段，</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支持命名函数、匿名函数。声明函数有函数语句和函数表达式两种形式，函数表达式可以是命名函数、匿名函数、立即执行函数和箭头函数。</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函数可以嵌套定义，内部函数可以访问外部函数的变量，所以内部函数作为外部函数返回值时会将内部函数和这些变量绑定在一起，形成闭包。闭包可用于计数器、缓存等用途。</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endParaRPr kumimoji="0" lang="en-US" altLang="zh-CN" sz="2000" b="0" i="0" u="none" strike="noStrike" kern="1200" cap="none" spc="0" normalizeH="0" baseline="0" noProof="0" dirty="0">
              <a:ln>
                <a:noFill/>
              </a:ln>
              <a:solidFill>
                <a:prstClr val="black"/>
              </a:solidFill>
              <a:effectLst/>
              <a:uLnTx/>
              <a:uFillTx/>
              <a:latin typeface="宋体"/>
              <a:ea typeface="宋体" pitchFamily="2" charset="-122"/>
              <a:cs typeface="宋体"/>
            </a:endParaRPr>
          </a:p>
          <a:p>
            <a:pPr marL="12700" marR="0" lvl="0" indent="0" algn="l" defTabSz="914400" rtl="0" eaLnBrk="1" fontAlgn="auto" latinLnBrk="0" hangingPunct="1">
              <a:lnSpc>
                <a:spcPct val="150000"/>
              </a:lnSpc>
              <a:spcBef>
                <a:spcPts val="95"/>
              </a:spcBef>
              <a:spcAft>
                <a:spcPts val="0"/>
              </a:spcAft>
              <a:buClrTx/>
              <a:buSzPct val="84000"/>
              <a:buFontTx/>
              <a:buNone/>
              <a:tabLst>
                <a:tab pos="299085" algn="l"/>
                <a:tab pos="299720" algn="l"/>
              </a:tabLst>
              <a:defRPr/>
            </a:pP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JavaScript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中有全局作用域、局部作用域、块作用域。在函数内部或者块内部用</a:t>
            </a:r>
            <a:r>
              <a:rPr kumimoji="0" lang="en-US" altLang="zh-CN" sz="2000" b="0" i="0" u="none" strike="noStrike" kern="1200" cap="none" spc="0" normalizeH="0" baseline="0" noProof="0" dirty="0" err="1" smtClean="0">
                <a:ln>
                  <a:noFill/>
                </a:ln>
                <a:solidFill>
                  <a:prstClr val="black"/>
                </a:solidFill>
                <a:effectLst/>
                <a:uLnTx/>
                <a:uFillTx/>
                <a:latin typeface="宋体"/>
                <a:ea typeface="宋体" pitchFamily="2" charset="-122"/>
                <a:cs typeface="宋体"/>
              </a:rPr>
              <a:t>var</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定义的变量会被提升到全局作用域；函数和块内用</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定义变量则不会被提升，应尽量采用</a:t>
            </a:r>
            <a:r>
              <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rPr>
              <a:t>let</a:t>
            </a:r>
            <a:r>
              <a:rPr kumimoji="0" lang="zh-CN" altLang="en-US" sz="2000" b="0" i="0" u="none" strike="noStrike" kern="1200" cap="none" spc="0" normalizeH="0" baseline="0" noProof="0" dirty="0" smtClean="0">
                <a:ln>
                  <a:noFill/>
                </a:ln>
                <a:solidFill>
                  <a:prstClr val="black"/>
                </a:solidFill>
                <a:effectLst/>
                <a:uLnTx/>
                <a:uFillTx/>
                <a:latin typeface="宋体"/>
                <a:ea typeface="宋体" pitchFamily="2" charset="-122"/>
                <a:cs typeface="宋体"/>
              </a:rPr>
              <a:t>定义变量。</a:t>
            </a:r>
            <a:endParaRPr kumimoji="0" lang="en-US" altLang="zh-CN" sz="2000" b="0" i="0" u="none" strike="noStrike" kern="1200" cap="none" spc="0" normalizeH="0" baseline="0" noProof="0" dirty="0" smtClean="0">
              <a:ln>
                <a:noFill/>
              </a:ln>
              <a:solidFill>
                <a:prstClr val="black"/>
              </a:solidFill>
              <a:effectLst/>
              <a:uLnTx/>
              <a:uFillTx/>
              <a:latin typeface="宋体"/>
              <a:ea typeface="宋体" pitchFamily="2" charset="-122"/>
              <a:cs typeface="宋体"/>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5038" y="978051"/>
            <a:ext cx="11097362" cy="5604098"/>
          </a:xfrm>
          <a:prstGeom prst="rect">
            <a:avLst/>
          </a:prstGeom>
        </p:spPr>
        <p:txBody>
          <a:bodyPr vert="horz" wrap="square" lIns="0" tIns="12700" rIns="0" bIns="0" rtlCol="0">
            <a:spAutoFit/>
          </a:bodyPr>
          <a:lstStyle/>
          <a:p>
            <a:pPr marL="12700">
              <a:lnSpc>
                <a:spcPct val="150000"/>
              </a:lnSpc>
              <a:spcBef>
                <a:spcPts val="100"/>
              </a:spcBef>
            </a:pPr>
            <a:r>
              <a:rPr lang="zh-CN" altLang="en-US" sz="2000" dirty="0" smtClean="0">
                <a:latin typeface="宋体"/>
                <a:cs typeface="宋体"/>
              </a:rPr>
              <a:t>面向对象和面向过程是两种不同的程序设计思想。面向过程的程序设计中，数据和对数据的操作分别放在变量和函数中，不能构成一个整体。而面向对象的程序设计中，将数据和数据的操作封装成一个对象，所有事物都可以表示成对象，例如一门课程，一个用户，一次与远程服务器的连接等等都可以看作对象。</a:t>
            </a:r>
            <a:endParaRPr lang="en-US" altLang="zh-CN" sz="2000" dirty="0" smtClean="0">
              <a:latin typeface="宋体"/>
              <a:cs typeface="宋体"/>
            </a:endParaRPr>
          </a:p>
          <a:p>
            <a:pPr marL="12700">
              <a:lnSpc>
                <a:spcPct val="150000"/>
              </a:lnSpc>
              <a:spcBef>
                <a:spcPts val="100"/>
              </a:spcBef>
            </a:pPr>
            <a:endParaRPr lang="en-US" sz="2000" dirty="0">
              <a:latin typeface="宋体"/>
              <a:cs typeface="宋体"/>
            </a:endParaRPr>
          </a:p>
          <a:p>
            <a:pPr marL="12700">
              <a:lnSpc>
                <a:spcPct val="150000"/>
              </a:lnSpc>
              <a:spcBef>
                <a:spcPts val="100"/>
              </a:spcBef>
            </a:pPr>
            <a:r>
              <a:rPr lang="en-US" altLang="zh-CN" sz="2000" dirty="0" smtClean="0">
                <a:latin typeface="宋体"/>
                <a:cs typeface="宋体"/>
              </a:rPr>
              <a:t>JavaScript</a:t>
            </a:r>
            <a:r>
              <a:rPr lang="zh-CN" altLang="en-US" sz="2000" dirty="0" smtClean="0">
                <a:latin typeface="宋体"/>
                <a:cs typeface="宋体"/>
              </a:rPr>
              <a:t>的对象本质上是无序属性的集合，属性名和属性值组成键值对，属性值可以是数据和函数。为了区分，常常把数据属性称为属性，函数属性称为方法。属性和方法统称为成员。对象的静态特征用属性表示，动态特征用方法表示。例如一个学生可以表示成一个对象，学生具有学号、姓名、入学时间、身份（本科生</a:t>
            </a:r>
            <a:r>
              <a:rPr lang="en-US" altLang="zh-CN" sz="2000" dirty="0" smtClean="0">
                <a:latin typeface="宋体"/>
                <a:cs typeface="宋体"/>
              </a:rPr>
              <a:t>/</a:t>
            </a:r>
            <a:r>
              <a:rPr lang="zh-CN" altLang="en-US" sz="2000" dirty="0" smtClean="0">
                <a:latin typeface="宋体"/>
                <a:cs typeface="宋体"/>
              </a:rPr>
              <a:t>研究生）、已修学分等等属性，并且具有选课、上课、考试等方法。</a:t>
            </a:r>
            <a:endParaRPr lang="en-US" altLang="zh-CN" sz="2000" dirty="0" smtClean="0">
              <a:latin typeface="宋体"/>
              <a:cs typeface="宋体"/>
            </a:endParaRPr>
          </a:p>
          <a:p>
            <a:pPr marL="12700">
              <a:lnSpc>
                <a:spcPct val="150000"/>
              </a:lnSpc>
              <a:spcBef>
                <a:spcPts val="100"/>
              </a:spcBef>
            </a:pPr>
            <a:endParaRPr lang="en-US" sz="2000" dirty="0">
              <a:latin typeface="宋体"/>
              <a:cs typeface="宋体"/>
            </a:endParaRPr>
          </a:p>
          <a:p>
            <a:pPr marL="12700">
              <a:lnSpc>
                <a:spcPct val="150000"/>
              </a:lnSpc>
              <a:spcBef>
                <a:spcPts val="100"/>
              </a:spcBef>
            </a:pPr>
            <a:r>
              <a:rPr lang="en-US" altLang="zh-CN" sz="2000" dirty="0" smtClean="0">
                <a:latin typeface="宋体"/>
                <a:cs typeface="宋体"/>
              </a:rPr>
              <a:t>JavaScript</a:t>
            </a:r>
            <a:r>
              <a:rPr lang="zh-CN" altLang="en-US" sz="2000" dirty="0" smtClean="0">
                <a:latin typeface="宋体"/>
                <a:cs typeface="宋体"/>
              </a:rPr>
              <a:t>还提供多个标准内置对象，例如</a:t>
            </a:r>
            <a:r>
              <a:rPr lang="en-US" altLang="zh-CN" sz="2000" dirty="0" smtClean="0">
                <a:latin typeface="宋体"/>
                <a:cs typeface="宋体"/>
              </a:rPr>
              <a:t>Object</a:t>
            </a:r>
            <a:r>
              <a:rPr lang="zh-CN" altLang="en-US" sz="2000" dirty="0" smtClean="0">
                <a:latin typeface="宋体"/>
                <a:cs typeface="宋体"/>
              </a:rPr>
              <a:t>、</a:t>
            </a:r>
            <a:r>
              <a:rPr lang="en-US" altLang="zh-CN" sz="2000" dirty="0" smtClean="0">
                <a:latin typeface="宋体"/>
                <a:cs typeface="宋体"/>
              </a:rPr>
              <a:t>Array</a:t>
            </a:r>
            <a:r>
              <a:rPr lang="zh-CN" altLang="en-US" sz="2000" dirty="0" smtClean="0">
                <a:latin typeface="宋体"/>
                <a:cs typeface="宋体"/>
              </a:rPr>
              <a:t>、</a:t>
            </a:r>
            <a:r>
              <a:rPr lang="en-US" altLang="zh-CN" sz="2000" dirty="0" smtClean="0">
                <a:latin typeface="宋体"/>
                <a:cs typeface="宋体"/>
              </a:rPr>
              <a:t>Date</a:t>
            </a:r>
            <a:r>
              <a:rPr lang="zh-CN" altLang="en-US" sz="2000" dirty="0" smtClean="0">
                <a:latin typeface="宋体"/>
                <a:cs typeface="宋体"/>
              </a:rPr>
              <a:t>、</a:t>
            </a:r>
            <a:r>
              <a:rPr lang="en-US" altLang="zh-CN" sz="2000" dirty="0" smtClean="0">
                <a:latin typeface="宋体"/>
                <a:cs typeface="宋体"/>
              </a:rPr>
              <a:t>Math</a:t>
            </a:r>
            <a:r>
              <a:rPr lang="zh-CN" altLang="en-US" sz="2000" dirty="0" smtClean="0">
                <a:latin typeface="宋体"/>
                <a:cs typeface="宋体"/>
              </a:rPr>
              <a:t>、</a:t>
            </a:r>
            <a:r>
              <a:rPr lang="en-US" altLang="zh-CN" sz="2000" dirty="0" smtClean="0">
                <a:latin typeface="宋体"/>
                <a:cs typeface="宋体"/>
              </a:rPr>
              <a:t>String</a:t>
            </a:r>
            <a:r>
              <a:rPr lang="zh-CN" altLang="en-US" sz="2000" dirty="0" smtClean="0">
                <a:latin typeface="宋体"/>
                <a:cs typeface="宋体"/>
              </a:rPr>
              <a:t>等。此外，根据需要，</a:t>
            </a:r>
            <a:r>
              <a:rPr lang="en-US" altLang="zh-CN" sz="2000" dirty="0" smtClean="0">
                <a:latin typeface="宋体"/>
                <a:cs typeface="宋体"/>
              </a:rPr>
              <a:t>JavaScript</a:t>
            </a:r>
            <a:r>
              <a:rPr lang="zh-CN" altLang="en-US" sz="2000" dirty="0" smtClean="0">
                <a:latin typeface="宋体"/>
                <a:cs typeface="宋体"/>
              </a:rPr>
              <a:t>还可以自定义对象。</a:t>
            </a:r>
            <a:endParaRPr sz="2000" dirty="0">
              <a:latin typeface="宋体"/>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6"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38200" y="271698"/>
            <a:ext cx="10456875" cy="492443"/>
          </a:xfrm>
          <a:prstGeom prst="rect">
            <a:avLst/>
          </a:prstGeom>
        </p:spPr>
        <p:txBody>
          <a:bodyPr/>
          <a:lstStyle/>
          <a:p>
            <a:r>
              <a:rPr lang="zh-CN" altLang="en-US" sz="3200" dirty="0" smtClean="0"/>
              <a:t>对象</a:t>
            </a:r>
            <a:endParaRPr lang="zh-CN" altLang="en-US" sz="3200" dirty="0"/>
          </a:p>
        </p:txBody>
      </p:sp>
      <p:sp>
        <p:nvSpPr>
          <p:cNvPr id="3" name="文本占位符 2"/>
          <p:cNvSpPr>
            <a:spLocks noGrp="1"/>
          </p:cNvSpPr>
          <p:nvPr>
            <p:ph type="body" idx="4294967295"/>
          </p:nvPr>
        </p:nvSpPr>
        <p:spPr>
          <a:xfrm>
            <a:off x="609600" y="1740932"/>
            <a:ext cx="11154816" cy="2683427"/>
          </a:xfrm>
          <a:prstGeom prst="rect">
            <a:avLst/>
          </a:prstGeom>
        </p:spPr>
        <p:txBody>
          <a:bodyPr/>
          <a:lstStyle/>
          <a:p>
            <a:pPr marL="457200" indent="-457200">
              <a:lnSpc>
                <a:spcPct val="150000"/>
              </a:lnSpc>
              <a:buFont typeface="+mj-lt"/>
              <a:buAutoNum type="arabicPeriod"/>
            </a:pPr>
            <a:r>
              <a:rPr lang="zh-CN" altLang="en-US" sz="2400" dirty="0"/>
              <a:t>什么是对象</a:t>
            </a:r>
            <a:endParaRPr lang="zh-CN" altLang="en-US" sz="2400" dirty="0"/>
          </a:p>
          <a:p>
            <a:pPr marL="457200" indent="-457200">
              <a:lnSpc>
                <a:spcPct val="150000"/>
              </a:lnSpc>
              <a:buFont typeface="+mj-lt"/>
              <a:buAutoNum type="arabicPeriod"/>
            </a:pPr>
            <a:r>
              <a:rPr lang="zh-CN" altLang="en-US" sz="2400" dirty="0"/>
              <a:t>对象使用</a:t>
            </a:r>
            <a:endParaRPr lang="zh-CN" altLang="en-US" sz="2400" dirty="0"/>
          </a:p>
          <a:p>
            <a:pPr marL="457200" indent="-457200">
              <a:lnSpc>
                <a:spcPct val="150000"/>
              </a:lnSpc>
              <a:buFont typeface="+mj-lt"/>
              <a:buAutoNum type="arabicPeriod"/>
            </a:pPr>
            <a:r>
              <a:rPr lang="zh-CN" altLang="en-US" sz="2400" dirty="0"/>
              <a:t>操作对象</a:t>
            </a:r>
            <a:endParaRPr lang="zh-CN" altLang="en-US" sz="2400" dirty="0"/>
          </a:p>
          <a:p>
            <a:pPr marL="457200" indent="-457200">
              <a:lnSpc>
                <a:spcPct val="150000"/>
              </a:lnSpc>
              <a:buFont typeface="+mj-lt"/>
              <a:buAutoNum type="arabicPeriod"/>
            </a:pPr>
            <a:r>
              <a:rPr lang="zh-CN" altLang="en-US" sz="2400" dirty="0"/>
              <a:t>遍历对象</a:t>
            </a:r>
            <a:endParaRPr lang="zh-CN" altLang="en-US" sz="2400" dirty="0"/>
          </a:p>
          <a:p>
            <a:pPr marL="457200" indent="-457200">
              <a:lnSpc>
                <a:spcPct val="150000"/>
              </a:lnSpc>
              <a:buFont typeface="+mj-lt"/>
              <a:buAutoNum type="arabicPeriod"/>
            </a:pPr>
            <a:r>
              <a:rPr lang="zh-CN" altLang="en-US" sz="2400" dirty="0"/>
              <a:t>内置</a:t>
            </a:r>
            <a:r>
              <a:rPr lang="zh-CN" altLang="en-US" sz="2400" dirty="0" smtClean="0"/>
              <a:t>对象</a:t>
            </a:r>
            <a:endParaRPr lang="zh-CN" altLang="en-US" sz="2400" dirty="0"/>
          </a:p>
        </p:txBody>
      </p:sp>
      <p:sp>
        <p:nvSpPr>
          <p:cNvPr id="4" name="灯片编号占位符 3"/>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7408" y="1314012"/>
            <a:ext cx="10944962" cy="4514056"/>
          </a:xfrm>
          <a:prstGeom prst="rect">
            <a:avLst/>
          </a:prstGeom>
        </p:spPr>
        <p:txBody>
          <a:bodyPr vert="horz" wrap="square" lIns="0" tIns="12700" rIns="0" bIns="0" rtlCol="0">
            <a:spAutoFit/>
          </a:bodyPr>
          <a:lstStyle/>
          <a:p>
            <a:pPr marL="299085" indent="-286385">
              <a:lnSpc>
                <a:spcPct val="100000"/>
              </a:lnSpc>
              <a:buFont typeface="Wingdings" panose="05000000000000000000"/>
              <a:buChar char=""/>
              <a:tabLst>
                <a:tab pos="299085" algn="l"/>
                <a:tab pos="299720" algn="l"/>
              </a:tabLst>
            </a:pPr>
            <a:r>
              <a:rPr sz="2400" spc="-30" dirty="0" err="1" smtClean="0">
                <a:solidFill>
                  <a:srgbClr val="252525"/>
                </a:solidFill>
                <a:latin typeface="宋体"/>
                <a:cs typeface="宋体"/>
              </a:rPr>
              <a:t>对象</a:t>
            </a:r>
            <a:r>
              <a:rPr sz="2400" spc="-40" dirty="0" err="1">
                <a:solidFill>
                  <a:srgbClr val="252525"/>
                </a:solidFill>
                <a:latin typeface="宋体"/>
                <a:cs typeface="宋体"/>
              </a:rPr>
              <a:t>（object</a:t>
            </a:r>
            <a:r>
              <a:rPr sz="2400" spc="-40" dirty="0" smtClean="0">
                <a:solidFill>
                  <a:srgbClr val="252525"/>
                </a:solidFill>
                <a:latin typeface="宋体"/>
                <a:cs typeface="宋体"/>
              </a:rPr>
              <a:t>）：</a:t>
            </a:r>
            <a:r>
              <a:rPr sz="2400" spc="-40" dirty="0" err="1" smtClean="0">
                <a:solidFill>
                  <a:srgbClr val="252525"/>
                </a:solidFill>
                <a:latin typeface="宋体"/>
                <a:cs typeface="宋体"/>
              </a:rPr>
              <a:t>JavaScript</a:t>
            </a:r>
            <a:r>
              <a:rPr sz="2400" spc="-30" dirty="0" err="1" smtClean="0">
                <a:solidFill>
                  <a:srgbClr val="252525"/>
                </a:solidFill>
                <a:latin typeface="宋体"/>
                <a:cs typeface="宋体"/>
              </a:rPr>
              <a:t>里的一种数</a:t>
            </a:r>
            <a:r>
              <a:rPr sz="2400" spc="-20" dirty="0" err="1" smtClean="0">
                <a:solidFill>
                  <a:srgbClr val="252525"/>
                </a:solidFill>
                <a:latin typeface="宋体"/>
                <a:cs typeface="宋体"/>
              </a:rPr>
              <a:t>据</a:t>
            </a:r>
            <a:r>
              <a:rPr sz="2400" spc="-30" dirty="0" err="1" smtClean="0">
                <a:solidFill>
                  <a:srgbClr val="252525"/>
                </a:solidFill>
                <a:latin typeface="宋体"/>
                <a:cs typeface="宋体"/>
              </a:rPr>
              <a:t>类型</a:t>
            </a:r>
            <a:endParaRPr sz="2400" dirty="0" smtClean="0">
              <a:latin typeface="宋体"/>
              <a:cs typeface="宋体"/>
            </a:endParaRPr>
          </a:p>
          <a:p>
            <a:pPr marL="299085" indent="-286385">
              <a:lnSpc>
                <a:spcPct val="100000"/>
              </a:lnSpc>
              <a:spcBef>
                <a:spcPts val="1345"/>
              </a:spcBef>
              <a:buFont typeface="Wingdings" panose="05000000000000000000"/>
              <a:buChar char=""/>
              <a:tabLst>
                <a:tab pos="299085" algn="l"/>
                <a:tab pos="299720" algn="l"/>
              </a:tabLst>
            </a:pPr>
            <a:r>
              <a:rPr lang="zh-CN" altLang="en-US" sz="2400" spc="-30" dirty="0" smtClean="0">
                <a:solidFill>
                  <a:srgbClr val="252525"/>
                </a:solidFill>
                <a:latin typeface="宋体"/>
                <a:cs typeface="宋体"/>
              </a:rPr>
              <a:t>包含相关数据和方法的集合（通常由一些变量和函数组成，我们称之为对象里面的属性和方法）</a:t>
            </a:r>
            <a:endParaRPr sz="2400" dirty="0" smtClean="0">
              <a:latin typeface="宋体"/>
              <a:cs typeface="宋体"/>
            </a:endParaRPr>
          </a:p>
          <a:p>
            <a:pPr marL="299085" indent="-286385">
              <a:lnSpc>
                <a:spcPct val="100000"/>
              </a:lnSpc>
              <a:spcBef>
                <a:spcPts val="1345"/>
              </a:spcBef>
              <a:buFont typeface="Wingdings" panose="05000000000000000000"/>
              <a:buChar char=""/>
              <a:tabLst>
                <a:tab pos="299085" algn="l"/>
                <a:tab pos="299720" algn="l"/>
              </a:tabLst>
            </a:pPr>
            <a:r>
              <a:rPr sz="2400" spc="-30" dirty="0" err="1" smtClean="0">
                <a:solidFill>
                  <a:srgbClr val="252525"/>
                </a:solidFill>
                <a:latin typeface="宋体"/>
                <a:cs typeface="宋体"/>
              </a:rPr>
              <a:t>用来描述某个事物</a:t>
            </a:r>
            <a:r>
              <a:rPr sz="2400" spc="-30" dirty="0" err="1">
                <a:solidFill>
                  <a:srgbClr val="252525"/>
                </a:solidFill>
                <a:latin typeface="宋体"/>
                <a:cs typeface="宋体"/>
              </a:rPr>
              <a:t>，例如描述一个人</a:t>
            </a:r>
            <a:endParaRPr sz="2400" dirty="0">
              <a:latin typeface="宋体"/>
              <a:cs typeface="宋体"/>
            </a:endParaRPr>
          </a:p>
          <a:p>
            <a:pPr marL="634365" lvl="1" indent="-265430">
              <a:lnSpc>
                <a:spcPct val="100000"/>
              </a:lnSpc>
              <a:spcBef>
                <a:spcPts val="1230"/>
              </a:spcBef>
              <a:buFont typeface="Wingdings" panose="05000000000000000000"/>
              <a:buChar char=""/>
              <a:tabLst>
                <a:tab pos="635000" algn="l"/>
              </a:tabLst>
            </a:pPr>
            <a:r>
              <a:rPr sz="2000" spc="-25" dirty="0" err="1">
                <a:latin typeface="宋体"/>
                <a:cs typeface="宋体"/>
              </a:rPr>
              <a:t>人有姓名、年龄、</a:t>
            </a:r>
            <a:r>
              <a:rPr sz="2000" spc="-40" dirty="0" err="1">
                <a:latin typeface="宋体"/>
                <a:cs typeface="宋体"/>
              </a:rPr>
              <a:t>性</a:t>
            </a:r>
            <a:r>
              <a:rPr sz="2000" spc="-25" dirty="0" err="1">
                <a:latin typeface="宋体"/>
                <a:cs typeface="宋体"/>
              </a:rPr>
              <a:t>别</a:t>
            </a:r>
            <a:r>
              <a:rPr sz="2000" spc="-40" dirty="0" err="1">
                <a:latin typeface="宋体"/>
                <a:cs typeface="宋体"/>
              </a:rPr>
              <a:t>等</a:t>
            </a:r>
            <a:r>
              <a:rPr sz="2000" spc="-25" dirty="0" err="1">
                <a:latin typeface="宋体"/>
                <a:cs typeface="宋体"/>
              </a:rPr>
              <a:t>信息</a:t>
            </a:r>
            <a:r>
              <a:rPr sz="2000" spc="-40" dirty="0" err="1">
                <a:latin typeface="宋体"/>
                <a:cs typeface="宋体"/>
              </a:rPr>
              <a:t>、</a:t>
            </a:r>
            <a:r>
              <a:rPr sz="2000" spc="-25" dirty="0" err="1" smtClean="0">
                <a:latin typeface="宋体"/>
                <a:cs typeface="宋体"/>
              </a:rPr>
              <a:t>还</a:t>
            </a:r>
            <a:r>
              <a:rPr sz="2000" spc="-40" dirty="0" err="1" smtClean="0">
                <a:latin typeface="宋体"/>
                <a:cs typeface="宋体"/>
              </a:rPr>
              <a:t>有</a:t>
            </a:r>
            <a:r>
              <a:rPr sz="2000" spc="-25" dirty="0" err="1" smtClean="0">
                <a:latin typeface="宋体"/>
                <a:cs typeface="宋体"/>
              </a:rPr>
              <a:t>吃饭</a:t>
            </a:r>
            <a:r>
              <a:rPr sz="2000" spc="-40" dirty="0" err="1" smtClean="0">
                <a:latin typeface="宋体"/>
                <a:cs typeface="宋体"/>
              </a:rPr>
              <a:t>睡</a:t>
            </a:r>
            <a:r>
              <a:rPr sz="2000" spc="-25" dirty="0" err="1" smtClean="0">
                <a:latin typeface="宋体"/>
                <a:cs typeface="宋体"/>
              </a:rPr>
              <a:t>觉</a:t>
            </a:r>
            <a:r>
              <a:rPr lang="zh-CN" altLang="en-US" sz="2000" spc="-40" dirty="0" smtClean="0">
                <a:latin typeface="宋体"/>
                <a:cs typeface="宋体"/>
              </a:rPr>
              <a:t>听音乐、看电影、运动等</a:t>
            </a:r>
            <a:r>
              <a:rPr sz="2000" spc="-25" dirty="0" err="1" smtClean="0">
                <a:latin typeface="宋体"/>
                <a:cs typeface="宋体"/>
              </a:rPr>
              <a:t>等功能</a:t>
            </a:r>
            <a:endParaRPr sz="2000" dirty="0">
              <a:latin typeface="宋体"/>
              <a:cs typeface="宋体"/>
            </a:endParaRPr>
          </a:p>
          <a:p>
            <a:pPr marL="634365" lvl="1" indent="-265430">
              <a:lnSpc>
                <a:spcPct val="100000"/>
              </a:lnSpc>
              <a:spcBef>
                <a:spcPts val="1180"/>
              </a:spcBef>
              <a:buFont typeface="Wingdings" panose="05000000000000000000"/>
              <a:buChar char=""/>
              <a:tabLst>
                <a:tab pos="635000" algn="l"/>
              </a:tabLst>
            </a:pPr>
            <a:r>
              <a:rPr sz="2000" spc="-25" dirty="0" err="1">
                <a:latin typeface="宋体"/>
                <a:cs typeface="宋体"/>
              </a:rPr>
              <a:t>如果用多个变量保</a:t>
            </a:r>
            <a:r>
              <a:rPr sz="2000" spc="-35" dirty="0" err="1">
                <a:latin typeface="宋体"/>
                <a:cs typeface="宋体"/>
              </a:rPr>
              <a:t>存</a:t>
            </a:r>
            <a:r>
              <a:rPr sz="2000" spc="-25" dirty="0" err="1">
                <a:latin typeface="宋体"/>
                <a:cs typeface="宋体"/>
              </a:rPr>
              <a:t>则</a:t>
            </a:r>
            <a:r>
              <a:rPr sz="2000" spc="-35" dirty="0" err="1">
                <a:latin typeface="宋体"/>
                <a:cs typeface="宋体"/>
              </a:rPr>
              <a:t>比</a:t>
            </a:r>
            <a:r>
              <a:rPr sz="2000" spc="-25" dirty="0" err="1">
                <a:latin typeface="宋体"/>
                <a:cs typeface="宋体"/>
              </a:rPr>
              <a:t>较散</a:t>
            </a:r>
            <a:r>
              <a:rPr sz="2000" spc="-35" dirty="0" err="1">
                <a:latin typeface="宋体"/>
                <a:cs typeface="宋体"/>
              </a:rPr>
              <a:t>，</a:t>
            </a:r>
            <a:r>
              <a:rPr sz="2000" spc="-25" dirty="0" err="1" smtClean="0">
                <a:latin typeface="宋体"/>
                <a:cs typeface="宋体"/>
              </a:rPr>
              <a:t>用</a:t>
            </a:r>
            <a:r>
              <a:rPr sz="2000" spc="-35" dirty="0" err="1" smtClean="0">
                <a:latin typeface="宋体"/>
                <a:cs typeface="宋体"/>
              </a:rPr>
              <a:t>对</a:t>
            </a:r>
            <a:r>
              <a:rPr sz="2000" spc="-25" dirty="0" err="1" smtClean="0">
                <a:latin typeface="宋体"/>
                <a:cs typeface="宋体"/>
              </a:rPr>
              <a:t>象</a:t>
            </a:r>
            <a:r>
              <a:rPr lang="zh-CN" altLang="en-US" sz="2000" spc="-25" dirty="0" smtClean="0">
                <a:latin typeface="宋体"/>
                <a:cs typeface="宋体"/>
              </a:rPr>
              <a:t>来描述会</a:t>
            </a:r>
            <a:r>
              <a:rPr sz="2000" spc="-25" dirty="0" err="1" smtClean="0">
                <a:latin typeface="宋体"/>
                <a:cs typeface="宋体"/>
              </a:rPr>
              <a:t>比</a:t>
            </a:r>
            <a:r>
              <a:rPr sz="2000" spc="-35" dirty="0" err="1" smtClean="0">
                <a:latin typeface="宋体"/>
                <a:cs typeface="宋体"/>
              </a:rPr>
              <a:t>较</a:t>
            </a:r>
            <a:r>
              <a:rPr sz="2000" spc="-25" dirty="0" err="1" smtClean="0">
                <a:latin typeface="宋体"/>
                <a:cs typeface="宋体"/>
              </a:rPr>
              <a:t>统一</a:t>
            </a:r>
            <a:endParaRPr sz="2000" dirty="0">
              <a:latin typeface="宋体"/>
              <a:cs typeface="宋体"/>
            </a:endParaRPr>
          </a:p>
          <a:p>
            <a:pPr marL="299085" indent="-286385">
              <a:lnSpc>
                <a:spcPct val="100000"/>
              </a:lnSpc>
              <a:spcBef>
                <a:spcPts val="1285"/>
              </a:spcBef>
              <a:buFont typeface="Wingdings" panose="05000000000000000000"/>
              <a:buChar char=""/>
              <a:tabLst>
                <a:tab pos="299085" algn="l"/>
                <a:tab pos="299720" algn="l"/>
              </a:tabLst>
            </a:pPr>
            <a:r>
              <a:rPr sz="2400" spc="-30" dirty="0" err="1">
                <a:solidFill>
                  <a:srgbClr val="252525"/>
                </a:solidFill>
                <a:latin typeface="宋体"/>
                <a:cs typeface="宋体"/>
              </a:rPr>
              <a:t>比如描述</a:t>
            </a:r>
            <a:r>
              <a:rPr sz="2400" spc="-385" dirty="0">
                <a:solidFill>
                  <a:srgbClr val="252525"/>
                </a:solidFill>
                <a:latin typeface="宋体"/>
                <a:cs typeface="宋体"/>
              </a:rPr>
              <a:t> </a:t>
            </a:r>
            <a:r>
              <a:rPr lang="zh-CN" altLang="en-US" sz="2400" spc="-385" dirty="0" smtClean="0">
                <a:solidFill>
                  <a:srgbClr val="252525"/>
                </a:solidFill>
                <a:latin typeface="宋体"/>
                <a:cs typeface="宋体"/>
              </a:rPr>
              <a:t>“</a:t>
            </a:r>
            <a:r>
              <a:rPr lang="zh-CN" altLang="en-US" sz="2400" spc="-30" dirty="0">
                <a:solidFill>
                  <a:srgbClr val="252525"/>
                </a:solidFill>
                <a:latin typeface="宋体"/>
                <a:cs typeface="宋体"/>
              </a:rPr>
              <a:t>老师</a:t>
            </a:r>
            <a:r>
              <a:rPr lang="zh-CN" altLang="en-US" sz="2400" spc="-385" dirty="0" smtClean="0">
                <a:solidFill>
                  <a:srgbClr val="252525"/>
                </a:solidFill>
                <a:latin typeface="宋体"/>
                <a:cs typeface="宋体"/>
              </a:rPr>
              <a:t>”</a:t>
            </a:r>
            <a:r>
              <a:rPr sz="2400" spc="-380" dirty="0" smtClean="0">
                <a:solidFill>
                  <a:srgbClr val="252525"/>
                </a:solidFill>
                <a:latin typeface="宋体"/>
                <a:cs typeface="宋体"/>
              </a:rPr>
              <a:t> </a:t>
            </a:r>
            <a:r>
              <a:rPr sz="2400" spc="-30" dirty="0">
                <a:solidFill>
                  <a:srgbClr val="252525"/>
                </a:solidFill>
                <a:latin typeface="宋体"/>
                <a:cs typeface="宋体"/>
              </a:rPr>
              <a:t>信息：</a:t>
            </a:r>
            <a:endParaRPr sz="2400" dirty="0">
              <a:latin typeface="宋体"/>
              <a:cs typeface="宋体"/>
            </a:endParaRPr>
          </a:p>
          <a:p>
            <a:pPr marL="1002665" lvl="1" indent="-381000">
              <a:lnSpc>
                <a:spcPct val="100000"/>
              </a:lnSpc>
              <a:spcBef>
                <a:spcPts val="1235"/>
              </a:spcBef>
              <a:buFont typeface="Wingdings" panose="05000000000000000000"/>
              <a:buChar char=""/>
              <a:tabLst>
                <a:tab pos="1002665" algn="l"/>
                <a:tab pos="1003300" algn="l"/>
              </a:tabLst>
            </a:pPr>
            <a:r>
              <a:rPr sz="2000" spc="-25" dirty="0">
                <a:latin typeface="宋体"/>
                <a:cs typeface="宋体"/>
              </a:rPr>
              <a:t>静态特</a:t>
            </a:r>
            <a:r>
              <a:rPr sz="2000" spc="-20" dirty="0">
                <a:latin typeface="宋体"/>
                <a:cs typeface="宋体"/>
              </a:rPr>
              <a:t>征</a:t>
            </a:r>
            <a:r>
              <a:rPr sz="2000" spc="-360" dirty="0">
                <a:latin typeface="宋体"/>
                <a:cs typeface="宋体"/>
              </a:rPr>
              <a:t> </a:t>
            </a:r>
            <a:r>
              <a:rPr sz="2000" spc="-200" dirty="0">
                <a:latin typeface="宋体"/>
                <a:cs typeface="宋体"/>
              </a:rPr>
              <a:t>(</a:t>
            </a:r>
            <a:r>
              <a:rPr sz="2000" spc="-25" dirty="0">
                <a:latin typeface="宋体"/>
                <a:cs typeface="宋体"/>
              </a:rPr>
              <a:t>姓名</a:t>
            </a:r>
            <a:r>
              <a:rPr sz="2000" spc="-280" dirty="0">
                <a:latin typeface="宋体"/>
                <a:cs typeface="宋体"/>
              </a:rPr>
              <a:t>,</a:t>
            </a:r>
            <a:r>
              <a:rPr sz="2000" spc="-355" dirty="0">
                <a:latin typeface="宋体"/>
                <a:cs typeface="宋体"/>
              </a:rPr>
              <a:t> </a:t>
            </a:r>
            <a:r>
              <a:rPr sz="2000" spc="-25" dirty="0">
                <a:latin typeface="宋体"/>
                <a:cs typeface="宋体"/>
              </a:rPr>
              <a:t>年龄</a:t>
            </a:r>
            <a:r>
              <a:rPr sz="2000" spc="-280" dirty="0">
                <a:latin typeface="宋体"/>
                <a:cs typeface="宋体"/>
              </a:rPr>
              <a:t>,</a:t>
            </a:r>
            <a:r>
              <a:rPr sz="2000" spc="-345" dirty="0">
                <a:latin typeface="宋体"/>
                <a:cs typeface="宋体"/>
              </a:rPr>
              <a:t> </a:t>
            </a:r>
            <a:r>
              <a:rPr sz="2000" spc="-25" dirty="0">
                <a:latin typeface="宋体"/>
                <a:cs typeface="宋体"/>
              </a:rPr>
              <a:t>身高</a:t>
            </a:r>
            <a:r>
              <a:rPr sz="2000" spc="-280" dirty="0">
                <a:latin typeface="宋体"/>
                <a:cs typeface="宋体"/>
              </a:rPr>
              <a:t>,</a:t>
            </a:r>
            <a:r>
              <a:rPr sz="2000" spc="-350" dirty="0">
                <a:latin typeface="宋体"/>
                <a:cs typeface="宋体"/>
              </a:rPr>
              <a:t> </a:t>
            </a:r>
            <a:r>
              <a:rPr sz="2000" spc="-25" dirty="0">
                <a:latin typeface="宋体"/>
                <a:cs typeface="宋体"/>
              </a:rPr>
              <a:t>性别</a:t>
            </a:r>
            <a:r>
              <a:rPr sz="2000" spc="-280" dirty="0">
                <a:latin typeface="宋体"/>
                <a:cs typeface="宋体"/>
              </a:rPr>
              <a:t>,</a:t>
            </a:r>
            <a:r>
              <a:rPr sz="2000" spc="-360" dirty="0">
                <a:latin typeface="宋体"/>
                <a:cs typeface="宋体"/>
              </a:rPr>
              <a:t> </a:t>
            </a:r>
            <a:r>
              <a:rPr sz="2000" spc="-25" dirty="0">
                <a:latin typeface="宋体"/>
                <a:cs typeface="宋体"/>
              </a:rPr>
              <a:t>爱好</a:t>
            </a:r>
            <a:r>
              <a:rPr sz="2000" spc="-200" dirty="0">
                <a:latin typeface="宋体"/>
                <a:cs typeface="宋体"/>
              </a:rPr>
              <a:t>)</a:t>
            </a:r>
            <a:r>
              <a:rPr sz="2000" spc="-355" dirty="0">
                <a:latin typeface="宋体"/>
                <a:cs typeface="宋体"/>
              </a:rPr>
              <a:t> </a:t>
            </a:r>
            <a:r>
              <a:rPr sz="2000" spc="75" dirty="0">
                <a:latin typeface="宋体"/>
                <a:cs typeface="宋体"/>
              </a:rPr>
              <a:t>=&gt;</a:t>
            </a:r>
            <a:r>
              <a:rPr sz="2000" spc="-335" dirty="0">
                <a:latin typeface="宋体"/>
                <a:cs typeface="宋体"/>
              </a:rPr>
              <a:t> </a:t>
            </a:r>
            <a:r>
              <a:rPr sz="2000" spc="-25" dirty="0">
                <a:latin typeface="宋体"/>
                <a:cs typeface="宋体"/>
              </a:rPr>
              <a:t>可以使用数</a:t>
            </a:r>
            <a:r>
              <a:rPr sz="2000" spc="-20" dirty="0">
                <a:latin typeface="宋体"/>
                <a:cs typeface="宋体"/>
              </a:rPr>
              <a:t>字</a:t>
            </a:r>
            <a:r>
              <a:rPr sz="2000" spc="-280" dirty="0">
                <a:latin typeface="宋体"/>
                <a:cs typeface="宋体"/>
              </a:rPr>
              <a:t>,</a:t>
            </a:r>
            <a:r>
              <a:rPr sz="2000" spc="-375" dirty="0">
                <a:latin typeface="宋体"/>
                <a:cs typeface="宋体"/>
              </a:rPr>
              <a:t> </a:t>
            </a:r>
            <a:r>
              <a:rPr sz="2000" spc="-25" dirty="0">
                <a:latin typeface="宋体"/>
                <a:cs typeface="宋体"/>
              </a:rPr>
              <a:t>字符串</a:t>
            </a:r>
            <a:r>
              <a:rPr sz="2000" spc="-280" dirty="0">
                <a:latin typeface="宋体"/>
                <a:cs typeface="宋体"/>
              </a:rPr>
              <a:t>,</a:t>
            </a:r>
            <a:r>
              <a:rPr sz="2000" spc="-360" dirty="0">
                <a:latin typeface="宋体"/>
                <a:cs typeface="宋体"/>
              </a:rPr>
              <a:t> </a:t>
            </a:r>
            <a:r>
              <a:rPr sz="2000" spc="-25" dirty="0">
                <a:latin typeface="宋体"/>
                <a:cs typeface="宋体"/>
              </a:rPr>
              <a:t>数组</a:t>
            </a:r>
            <a:r>
              <a:rPr sz="2000" spc="-280" dirty="0">
                <a:latin typeface="宋体"/>
                <a:cs typeface="宋体"/>
              </a:rPr>
              <a:t>,</a:t>
            </a:r>
            <a:r>
              <a:rPr sz="2000" spc="-345" dirty="0">
                <a:latin typeface="宋体"/>
                <a:cs typeface="宋体"/>
              </a:rPr>
              <a:t> </a:t>
            </a:r>
            <a:r>
              <a:rPr sz="2000" spc="-25" dirty="0">
                <a:latin typeface="宋体"/>
                <a:cs typeface="宋体"/>
              </a:rPr>
              <a:t>布尔类型等表示</a:t>
            </a:r>
            <a:endParaRPr sz="2000" dirty="0">
              <a:latin typeface="宋体"/>
              <a:cs typeface="宋体"/>
            </a:endParaRPr>
          </a:p>
          <a:p>
            <a:pPr marL="1002665" lvl="1" indent="-381000">
              <a:lnSpc>
                <a:spcPct val="100000"/>
              </a:lnSpc>
              <a:spcBef>
                <a:spcPts val="1175"/>
              </a:spcBef>
              <a:buFont typeface="Wingdings" panose="05000000000000000000"/>
              <a:buChar char=""/>
              <a:tabLst>
                <a:tab pos="1002665" algn="l"/>
                <a:tab pos="1003300" algn="l"/>
              </a:tabLst>
            </a:pPr>
            <a:r>
              <a:rPr sz="2000" spc="-25" dirty="0">
                <a:latin typeface="宋体"/>
                <a:cs typeface="宋体"/>
              </a:rPr>
              <a:t>动态行</a:t>
            </a:r>
            <a:r>
              <a:rPr sz="2000" spc="-20" dirty="0">
                <a:latin typeface="宋体"/>
                <a:cs typeface="宋体"/>
              </a:rPr>
              <a:t>为</a:t>
            </a:r>
            <a:r>
              <a:rPr sz="2000" spc="-360" dirty="0">
                <a:latin typeface="宋体"/>
                <a:cs typeface="宋体"/>
              </a:rPr>
              <a:t> </a:t>
            </a:r>
            <a:r>
              <a:rPr sz="2000" spc="-200" dirty="0">
                <a:latin typeface="宋体"/>
                <a:cs typeface="宋体"/>
              </a:rPr>
              <a:t>(</a:t>
            </a:r>
            <a:r>
              <a:rPr sz="2000" spc="-25" dirty="0">
                <a:latin typeface="宋体"/>
                <a:cs typeface="宋体"/>
              </a:rPr>
              <a:t>点名</a:t>
            </a:r>
            <a:r>
              <a:rPr sz="2000" spc="-280" dirty="0">
                <a:latin typeface="宋体"/>
                <a:cs typeface="宋体"/>
              </a:rPr>
              <a:t>,</a:t>
            </a:r>
            <a:r>
              <a:rPr sz="2000" spc="-355" dirty="0">
                <a:latin typeface="宋体"/>
                <a:cs typeface="宋体"/>
              </a:rPr>
              <a:t> </a:t>
            </a:r>
            <a:r>
              <a:rPr sz="2000" spc="-25" dirty="0" smtClean="0">
                <a:latin typeface="宋体"/>
                <a:cs typeface="宋体"/>
              </a:rPr>
              <a:t>唱</a:t>
            </a:r>
            <a:r>
              <a:rPr lang="zh-CN" altLang="en-US" sz="2000" spc="-25" dirty="0" smtClean="0">
                <a:latin typeface="宋体"/>
                <a:cs typeface="宋体"/>
              </a:rPr>
              <a:t>歌</a:t>
            </a:r>
            <a:r>
              <a:rPr sz="2000" spc="-280" dirty="0" smtClean="0">
                <a:latin typeface="宋体"/>
                <a:cs typeface="宋体"/>
              </a:rPr>
              <a:t>,</a:t>
            </a:r>
            <a:r>
              <a:rPr sz="2000" spc="-345" dirty="0" smtClean="0">
                <a:latin typeface="宋体"/>
                <a:cs typeface="宋体"/>
              </a:rPr>
              <a:t> </a:t>
            </a:r>
            <a:r>
              <a:rPr lang="zh-CN" altLang="en-US" sz="2000" spc="-345" dirty="0" smtClean="0">
                <a:latin typeface="宋体"/>
                <a:cs typeface="宋体"/>
              </a:rPr>
              <a:t>运 动 </a:t>
            </a:r>
            <a:r>
              <a:rPr sz="2000" spc="-5" dirty="0" smtClean="0">
                <a:latin typeface="宋体"/>
                <a:cs typeface="宋体"/>
              </a:rPr>
              <a:t>)</a:t>
            </a:r>
            <a:r>
              <a:rPr sz="2000" spc="-340" dirty="0" smtClean="0">
                <a:latin typeface="宋体"/>
                <a:cs typeface="宋体"/>
              </a:rPr>
              <a:t> </a:t>
            </a:r>
            <a:r>
              <a:rPr sz="2000" spc="75" dirty="0">
                <a:latin typeface="宋体"/>
                <a:cs typeface="宋体"/>
              </a:rPr>
              <a:t>=&gt;</a:t>
            </a:r>
            <a:r>
              <a:rPr sz="2000" spc="-350" dirty="0">
                <a:latin typeface="宋体"/>
                <a:cs typeface="宋体"/>
              </a:rPr>
              <a:t> </a:t>
            </a:r>
            <a:r>
              <a:rPr sz="2000" spc="-25" dirty="0">
                <a:latin typeface="宋体"/>
                <a:cs typeface="宋体"/>
              </a:rPr>
              <a:t>使用函数表示</a:t>
            </a:r>
            <a:endParaRPr sz="2000" dirty="0">
              <a:latin typeface="宋体"/>
              <a:cs typeface="宋体"/>
            </a:endParaRPr>
          </a:p>
        </p:txBody>
      </p:sp>
      <p:sp>
        <p:nvSpPr>
          <p:cNvPr id="4" name="灯片编号占位符 3"/>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6"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什么是对象</a:t>
            </a:r>
            <a:endParaRPr lang="zh-CN" altLang="en-US" sz="3200" kern="0" dirty="0">
              <a:solidFill>
                <a:sysClr val="windowText" lastClr="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89838" y="1176256"/>
            <a:ext cx="5839562" cy="382156"/>
          </a:xfrm>
          <a:prstGeom prst="rect">
            <a:avLst/>
          </a:prstGeom>
        </p:spPr>
        <p:txBody>
          <a:bodyPr vert="horz" wrap="square" lIns="0" tIns="12700" rIns="0" bIns="0" rtlCol="0">
            <a:spAutoFit/>
          </a:bodyPr>
          <a:lstStyle/>
          <a:p>
            <a:pPr marL="12700">
              <a:lnSpc>
                <a:spcPct val="100000"/>
              </a:lnSpc>
              <a:spcBef>
                <a:spcPts val="100"/>
              </a:spcBef>
            </a:pPr>
            <a:r>
              <a:rPr sz="2400" b="1" spc="-30" dirty="0" err="1" smtClean="0">
                <a:solidFill>
                  <a:srgbClr val="252525"/>
                </a:solidFill>
                <a:latin typeface="Microsoft JhengHei"/>
                <a:cs typeface="Microsoft JhengHei"/>
              </a:rPr>
              <a:t>掌握对象语法</a:t>
            </a:r>
            <a:r>
              <a:rPr sz="2400" b="1" spc="-30" dirty="0" err="1">
                <a:solidFill>
                  <a:srgbClr val="252525"/>
                </a:solidFill>
                <a:latin typeface="Microsoft JhengHei"/>
                <a:cs typeface="Microsoft JhengHei"/>
              </a:rPr>
              <a:t>，用它保存多个数据</a:t>
            </a:r>
            <a:endParaRPr sz="2400" dirty="0">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pic>
        <p:nvPicPr>
          <p:cNvPr id="8" name="图片 7"/>
          <p:cNvPicPr>
            <a:picLocks noChangeAspect="1"/>
          </p:cNvPicPr>
          <p:nvPr/>
        </p:nvPicPr>
        <p:blipFill>
          <a:blip r:embed="rId1"/>
          <a:stretch>
            <a:fillRect/>
          </a:stretch>
        </p:blipFill>
        <p:spPr>
          <a:xfrm>
            <a:off x="806217" y="1828800"/>
            <a:ext cx="5578679" cy="1447800"/>
          </a:xfrm>
          <a:prstGeom prst="rect">
            <a:avLst/>
          </a:prstGeom>
        </p:spPr>
      </p:pic>
      <p:pic>
        <p:nvPicPr>
          <p:cNvPr id="10" name="图片 9"/>
          <p:cNvPicPr>
            <a:picLocks noChangeAspect="1"/>
          </p:cNvPicPr>
          <p:nvPr/>
        </p:nvPicPr>
        <p:blipFill>
          <a:blip r:embed="rId2"/>
          <a:stretch>
            <a:fillRect/>
          </a:stretch>
        </p:blipFill>
        <p:spPr>
          <a:xfrm>
            <a:off x="835415" y="3581400"/>
            <a:ext cx="7280936" cy="1752600"/>
          </a:xfrm>
          <a:prstGeom prst="rect">
            <a:avLst/>
          </a:prstGeom>
        </p:spPr>
      </p:pic>
      <p:sp>
        <p:nvSpPr>
          <p:cNvPr id="11"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89838" y="1030985"/>
            <a:ext cx="4085590" cy="299720"/>
          </a:xfrm>
          <a:prstGeom prst="rect">
            <a:avLst/>
          </a:prstGeom>
        </p:spPr>
        <p:txBody>
          <a:bodyPr vert="horz" wrap="square" lIns="0" tIns="12700" rIns="0" bIns="0" rtlCol="0">
            <a:spAutoFit/>
          </a:bodyPr>
          <a:lstStyle/>
          <a:p>
            <a:pPr marL="12700">
              <a:lnSpc>
                <a:spcPct val="100000"/>
              </a:lnSpc>
              <a:spcBef>
                <a:spcPts val="100"/>
              </a:spcBef>
            </a:pPr>
            <a:r>
              <a:rPr sz="1800" b="1" spc="-30" dirty="0" err="1" smtClean="0">
                <a:solidFill>
                  <a:srgbClr val="252525"/>
                </a:solidFill>
                <a:latin typeface="Microsoft JhengHei"/>
                <a:cs typeface="Microsoft JhengHei"/>
              </a:rPr>
              <a:t>掌握对象语法</a:t>
            </a:r>
            <a:r>
              <a:rPr sz="1800" b="1" spc="-30" dirty="0" err="1">
                <a:solidFill>
                  <a:srgbClr val="252525"/>
                </a:solidFill>
                <a:latin typeface="Microsoft JhengHei"/>
                <a:cs typeface="Microsoft JhengHei"/>
              </a:rPr>
              <a:t>，用它保存多个数据</a:t>
            </a:r>
            <a:endParaRPr sz="1800" dirty="0">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pic>
        <p:nvPicPr>
          <p:cNvPr id="4" name="图片 3"/>
          <p:cNvPicPr>
            <a:picLocks noChangeAspect="1"/>
          </p:cNvPicPr>
          <p:nvPr/>
        </p:nvPicPr>
        <p:blipFill>
          <a:blip r:embed="rId1"/>
          <a:stretch>
            <a:fillRect/>
          </a:stretch>
        </p:blipFill>
        <p:spPr>
          <a:xfrm>
            <a:off x="685800" y="1398270"/>
            <a:ext cx="10468007" cy="3810000"/>
          </a:xfrm>
          <a:prstGeom prst="rect">
            <a:avLst/>
          </a:prstGeom>
        </p:spPr>
      </p:pic>
      <p:sp>
        <p:nvSpPr>
          <p:cNvPr id="9" name="object 5"/>
          <p:cNvSpPr txBox="1"/>
          <p:nvPr/>
        </p:nvSpPr>
        <p:spPr>
          <a:xfrm>
            <a:off x="685800" y="5208270"/>
            <a:ext cx="9674861" cy="1268937"/>
          </a:xfrm>
          <a:prstGeom prst="rect">
            <a:avLst/>
          </a:prstGeom>
        </p:spPr>
        <p:txBody>
          <a:bodyPr vert="horz" wrap="square" lIns="0" tIns="12065" rIns="0" bIns="0" rtlCol="0">
            <a:spAutoFit/>
          </a:bodyPr>
          <a:lstStyle/>
          <a:p>
            <a:pPr marL="299085" indent="-286385">
              <a:lnSpc>
                <a:spcPct val="100000"/>
              </a:lnSpc>
              <a:spcBef>
                <a:spcPts val="95"/>
              </a:spcBef>
              <a:buFont typeface="Wingdings" panose="05000000000000000000"/>
              <a:buChar char=""/>
              <a:tabLst>
                <a:tab pos="299720" algn="l"/>
              </a:tabLst>
            </a:pPr>
            <a:r>
              <a:rPr sz="2000" spc="-30" dirty="0" err="1" smtClean="0">
                <a:solidFill>
                  <a:srgbClr val="252525"/>
                </a:solidFill>
                <a:latin typeface="宋体"/>
                <a:cs typeface="宋体"/>
              </a:rPr>
              <a:t>属性都是成对出现的</a:t>
            </a:r>
            <a:r>
              <a:rPr sz="2000" spc="-30" dirty="0" err="1">
                <a:solidFill>
                  <a:srgbClr val="252525"/>
                </a:solidFill>
                <a:latin typeface="宋体"/>
                <a:cs typeface="宋体"/>
              </a:rPr>
              <a:t>，包括属性名和值，它们之间使用英文</a:t>
            </a:r>
            <a:r>
              <a:rPr sz="2000" spc="-335" dirty="0">
                <a:solidFill>
                  <a:srgbClr val="252525"/>
                </a:solidFill>
                <a:latin typeface="宋体"/>
                <a:cs typeface="宋体"/>
              </a:rPr>
              <a:t> </a:t>
            </a:r>
            <a:r>
              <a:rPr sz="2000" spc="-200" dirty="0">
                <a:solidFill>
                  <a:srgbClr val="C00000"/>
                </a:solidFill>
                <a:latin typeface="宋体"/>
                <a:cs typeface="宋体"/>
              </a:rPr>
              <a:t>:</a:t>
            </a:r>
            <a:r>
              <a:rPr sz="2000" spc="-385" dirty="0">
                <a:solidFill>
                  <a:srgbClr val="C00000"/>
                </a:solidFill>
                <a:latin typeface="宋体"/>
                <a:cs typeface="宋体"/>
              </a:rPr>
              <a:t> </a:t>
            </a:r>
            <a:r>
              <a:rPr sz="2000" spc="-30" dirty="0">
                <a:solidFill>
                  <a:srgbClr val="252525"/>
                </a:solidFill>
                <a:latin typeface="宋体"/>
                <a:cs typeface="宋体"/>
              </a:rPr>
              <a:t>分隔</a:t>
            </a:r>
            <a:endParaRPr sz="2000" dirty="0">
              <a:latin typeface="宋体"/>
              <a:cs typeface="宋体"/>
            </a:endParaRPr>
          </a:p>
          <a:p>
            <a:pPr marL="299085" indent="-286385">
              <a:lnSpc>
                <a:spcPct val="100000"/>
              </a:lnSpc>
              <a:spcBef>
                <a:spcPts val="1345"/>
              </a:spcBef>
              <a:buFont typeface="Wingdings" panose="05000000000000000000"/>
              <a:buChar char=""/>
              <a:tabLst>
                <a:tab pos="299720" algn="l"/>
              </a:tabLst>
            </a:pPr>
            <a:r>
              <a:rPr sz="2000" spc="-30" dirty="0">
                <a:solidFill>
                  <a:srgbClr val="252525"/>
                </a:solidFill>
                <a:latin typeface="宋体"/>
                <a:cs typeface="宋体"/>
              </a:rPr>
              <a:t>多个属性之间使用英文</a:t>
            </a:r>
            <a:r>
              <a:rPr sz="2000" spc="-360" dirty="0">
                <a:solidFill>
                  <a:srgbClr val="252525"/>
                </a:solidFill>
                <a:latin typeface="宋体"/>
                <a:cs typeface="宋体"/>
              </a:rPr>
              <a:t> </a:t>
            </a:r>
            <a:r>
              <a:rPr sz="2000" spc="-320" dirty="0">
                <a:solidFill>
                  <a:srgbClr val="C00000"/>
                </a:solidFill>
                <a:latin typeface="宋体"/>
                <a:cs typeface="宋体"/>
              </a:rPr>
              <a:t>,</a:t>
            </a:r>
            <a:r>
              <a:rPr sz="2000" spc="-385" dirty="0">
                <a:solidFill>
                  <a:srgbClr val="C00000"/>
                </a:solidFill>
                <a:latin typeface="宋体"/>
                <a:cs typeface="宋体"/>
              </a:rPr>
              <a:t> </a:t>
            </a:r>
            <a:r>
              <a:rPr sz="2000" spc="-30" dirty="0" err="1" smtClean="0">
                <a:solidFill>
                  <a:srgbClr val="252525"/>
                </a:solidFill>
                <a:latin typeface="宋体"/>
                <a:cs typeface="宋体"/>
              </a:rPr>
              <a:t>分隔</a:t>
            </a:r>
            <a:endParaRPr sz="2000" dirty="0">
              <a:latin typeface="宋体"/>
              <a:cs typeface="宋体"/>
            </a:endParaRPr>
          </a:p>
          <a:p>
            <a:pPr marL="299085" indent="-286385">
              <a:lnSpc>
                <a:spcPct val="100000"/>
              </a:lnSpc>
              <a:spcBef>
                <a:spcPts val="1345"/>
              </a:spcBef>
              <a:buFont typeface="Wingdings" panose="05000000000000000000"/>
              <a:buChar char=""/>
              <a:tabLst>
                <a:tab pos="299720" algn="l"/>
              </a:tabLst>
            </a:pPr>
            <a:r>
              <a:rPr sz="2000" spc="-30" dirty="0">
                <a:solidFill>
                  <a:srgbClr val="252525"/>
                </a:solidFill>
                <a:latin typeface="宋体"/>
                <a:cs typeface="宋体"/>
              </a:rPr>
              <a:t>属性名可以使用</a:t>
            </a:r>
            <a:r>
              <a:rPr sz="2000" spc="-395" dirty="0">
                <a:solidFill>
                  <a:srgbClr val="252525"/>
                </a:solidFill>
                <a:latin typeface="宋体"/>
                <a:cs typeface="宋体"/>
              </a:rPr>
              <a:t> </a:t>
            </a:r>
            <a:r>
              <a:rPr sz="2000" spc="-155" dirty="0">
                <a:solidFill>
                  <a:srgbClr val="252525"/>
                </a:solidFill>
                <a:latin typeface="宋体"/>
                <a:cs typeface="宋体"/>
              </a:rPr>
              <a:t>""</a:t>
            </a:r>
            <a:r>
              <a:rPr sz="2000" spc="-405" dirty="0">
                <a:solidFill>
                  <a:srgbClr val="252525"/>
                </a:solidFill>
                <a:latin typeface="宋体"/>
                <a:cs typeface="宋体"/>
              </a:rPr>
              <a:t> </a:t>
            </a:r>
            <a:r>
              <a:rPr sz="2000" spc="-30" dirty="0">
                <a:solidFill>
                  <a:srgbClr val="252525"/>
                </a:solidFill>
                <a:latin typeface="宋体"/>
                <a:cs typeface="宋体"/>
              </a:rPr>
              <a:t>或</a:t>
            </a:r>
            <a:r>
              <a:rPr sz="2000" spc="-415" dirty="0">
                <a:solidFill>
                  <a:srgbClr val="252525"/>
                </a:solidFill>
                <a:latin typeface="宋体"/>
                <a:cs typeface="宋体"/>
              </a:rPr>
              <a:t> </a:t>
            </a:r>
            <a:r>
              <a:rPr sz="2000" spc="-275" dirty="0">
                <a:solidFill>
                  <a:srgbClr val="252525"/>
                </a:solidFill>
                <a:latin typeface="宋体"/>
                <a:cs typeface="宋体"/>
              </a:rPr>
              <a:t>''，</a:t>
            </a:r>
            <a:r>
              <a:rPr sz="2000" spc="-30" dirty="0">
                <a:solidFill>
                  <a:srgbClr val="C00000"/>
                </a:solidFill>
                <a:latin typeface="宋体"/>
                <a:cs typeface="宋体"/>
              </a:rPr>
              <a:t>一般情况下省略</a:t>
            </a:r>
            <a:r>
              <a:rPr sz="2000" spc="-30" dirty="0">
                <a:solidFill>
                  <a:srgbClr val="252525"/>
                </a:solidFill>
                <a:latin typeface="宋体"/>
                <a:cs typeface="宋体"/>
              </a:rPr>
              <a:t>，除非名称遇到特殊符号如空格、中</a:t>
            </a:r>
            <a:r>
              <a:rPr sz="2000" spc="-20" dirty="0">
                <a:solidFill>
                  <a:srgbClr val="252525"/>
                </a:solidFill>
                <a:latin typeface="宋体"/>
                <a:cs typeface="宋体"/>
              </a:rPr>
              <a:t>横</a:t>
            </a:r>
            <a:r>
              <a:rPr sz="2000" spc="-30" dirty="0">
                <a:solidFill>
                  <a:srgbClr val="252525"/>
                </a:solidFill>
                <a:latin typeface="宋体"/>
                <a:cs typeface="宋体"/>
              </a:rPr>
              <a:t>线等</a:t>
            </a:r>
            <a:endParaRPr sz="2000" dirty="0">
              <a:latin typeface="宋体"/>
              <a:cs typeface="宋体"/>
            </a:endParaRPr>
          </a:p>
        </p:txBody>
      </p:sp>
      <p:sp>
        <p:nvSpPr>
          <p:cNvPr id="11"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89838" y="1066800"/>
            <a:ext cx="4085590" cy="299720"/>
          </a:xfrm>
          <a:prstGeom prst="rect">
            <a:avLst/>
          </a:prstGeom>
        </p:spPr>
        <p:txBody>
          <a:bodyPr vert="horz" wrap="square" lIns="0" tIns="12700" rIns="0" bIns="0" rtlCol="0">
            <a:spAutoFit/>
          </a:bodyPr>
          <a:lstStyle/>
          <a:p>
            <a:pPr marL="12700">
              <a:lnSpc>
                <a:spcPct val="100000"/>
              </a:lnSpc>
              <a:spcBef>
                <a:spcPts val="100"/>
              </a:spcBef>
            </a:pPr>
            <a:r>
              <a:rPr sz="1800" b="1" spc="-30" dirty="0" err="1" smtClean="0">
                <a:solidFill>
                  <a:srgbClr val="252525"/>
                </a:solidFill>
                <a:latin typeface="Microsoft JhengHei"/>
                <a:cs typeface="Microsoft JhengHei"/>
              </a:rPr>
              <a:t>掌握对象语法</a:t>
            </a:r>
            <a:r>
              <a:rPr sz="1800" b="1" spc="-30" dirty="0" err="1">
                <a:solidFill>
                  <a:srgbClr val="252525"/>
                </a:solidFill>
                <a:latin typeface="Microsoft JhengHei"/>
                <a:cs typeface="Microsoft JhengHei"/>
              </a:rPr>
              <a:t>，用它保存多个数据</a:t>
            </a:r>
            <a:endParaRPr sz="1800" dirty="0">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pic>
        <p:nvPicPr>
          <p:cNvPr id="5" name="图片 4"/>
          <p:cNvPicPr>
            <a:picLocks noChangeAspect="1"/>
          </p:cNvPicPr>
          <p:nvPr/>
        </p:nvPicPr>
        <p:blipFill>
          <a:blip r:embed="rId1"/>
          <a:stretch>
            <a:fillRect/>
          </a:stretch>
        </p:blipFill>
        <p:spPr>
          <a:xfrm>
            <a:off x="789838" y="1694046"/>
            <a:ext cx="5763362" cy="4480977"/>
          </a:xfrm>
          <a:prstGeom prst="rect">
            <a:avLst/>
          </a:prstGeom>
        </p:spPr>
      </p:pic>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1019" y="1007238"/>
            <a:ext cx="4085590"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30" dirty="0" smtClean="0">
                <a:solidFill>
                  <a:srgbClr val="C00000"/>
                </a:solidFill>
                <a:latin typeface="Microsoft JhengHei"/>
                <a:cs typeface="Microsoft JhengHei"/>
              </a:rPr>
              <a:t>点表示法</a:t>
            </a:r>
            <a:endParaRPr sz="2800" dirty="0">
              <a:solidFill>
                <a:srgbClr val="C00000"/>
              </a:solidFill>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pic>
        <p:nvPicPr>
          <p:cNvPr id="4" name="图片 3"/>
          <p:cNvPicPr>
            <a:picLocks noChangeAspect="1"/>
          </p:cNvPicPr>
          <p:nvPr/>
        </p:nvPicPr>
        <p:blipFill>
          <a:blip r:embed="rId1"/>
          <a:stretch>
            <a:fillRect/>
          </a:stretch>
        </p:blipFill>
        <p:spPr>
          <a:xfrm>
            <a:off x="838200" y="1666040"/>
            <a:ext cx="4740943" cy="3733800"/>
          </a:xfrm>
          <a:prstGeom prst="rect">
            <a:avLst/>
          </a:prstGeom>
        </p:spPr>
      </p:pic>
      <p:cxnSp>
        <p:nvCxnSpPr>
          <p:cNvPr id="9" name="直接箭头连接符 8"/>
          <p:cNvCxnSpPr/>
          <p:nvPr/>
        </p:nvCxnSpPr>
        <p:spPr>
          <a:xfrm flipH="1">
            <a:off x="3208671" y="1450949"/>
            <a:ext cx="982329" cy="37785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2667000" y="2246874"/>
            <a:ext cx="982329" cy="37785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2858207" y="3657600"/>
            <a:ext cx="982329" cy="37785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
        <p:nvSpPr>
          <p:cNvPr id="2" name="矩形 1"/>
          <p:cNvSpPr/>
          <p:nvPr/>
        </p:nvSpPr>
        <p:spPr>
          <a:xfrm>
            <a:off x="813274" y="1674106"/>
            <a:ext cx="10769126" cy="461665"/>
          </a:xfrm>
          <a:prstGeom prst="rect">
            <a:avLst/>
          </a:prstGeom>
        </p:spPr>
        <p:txBody>
          <a:bodyPr wrap="square">
            <a:spAutoFit/>
          </a:bodyPr>
          <a:lstStyle/>
          <a:p>
            <a:r>
              <a:rPr lang="zh-CN" altLang="en-US" sz="2400" dirty="0" smtClean="0"/>
              <a:t>还可以</a:t>
            </a:r>
            <a:r>
              <a:rPr lang="zh-CN" altLang="en-US" sz="2400" dirty="0"/>
              <a:t>用一个对象来做另一个对象成员的值。例如将 </a:t>
            </a:r>
            <a:r>
              <a:rPr lang="en-US" altLang="zh-CN" sz="2400" dirty="0"/>
              <a:t>name </a:t>
            </a:r>
            <a:r>
              <a:rPr lang="zh-CN" altLang="en-US" sz="2400" dirty="0" smtClean="0"/>
              <a:t>成员改写一下：</a:t>
            </a:r>
            <a:endParaRPr lang="en-US" altLang="zh-CN" sz="2400" dirty="0" smtClean="0"/>
          </a:p>
        </p:txBody>
      </p:sp>
      <p:sp>
        <p:nvSpPr>
          <p:cNvPr id="10" name="矩形 9"/>
          <p:cNvSpPr/>
          <p:nvPr/>
        </p:nvSpPr>
        <p:spPr>
          <a:xfrm>
            <a:off x="814699" y="2174262"/>
            <a:ext cx="3005951" cy="461665"/>
          </a:xfrm>
          <a:prstGeom prst="rect">
            <a:avLst/>
          </a:prstGeom>
        </p:spPr>
        <p:txBody>
          <a:bodyPr wrap="none">
            <a:spAutoFit/>
          </a:bodyPr>
          <a:lstStyle/>
          <a:p>
            <a:r>
              <a:rPr lang="en-US" altLang="zh-CN" sz="2400" dirty="0"/>
              <a:t>name : ['Bob', 'Smith'],</a:t>
            </a:r>
            <a:endParaRPr lang="zh-CN" altLang="en-US" sz="2400" dirty="0"/>
          </a:p>
        </p:txBody>
      </p:sp>
      <p:sp>
        <p:nvSpPr>
          <p:cNvPr id="13" name="矩形 12"/>
          <p:cNvSpPr/>
          <p:nvPr/>
        </p:nvSpPr>
        <p:spPr>
          <a:xfrm>
            <a:off x="851019" y="3239429"/>
            <a:ext cx="6096000" cy="1569660"/>
          </a:xfrm>
          <a:prstGeom prst="rect">
            <a:avLst/>
          </a:prstGeom>
        </p:spPr>
        <p:txBody>
          <a:bodyPr>
            <a:spAutoFit/>
          </a:bodyPr>
          <a:lstStyle/>
          <a:p>
            <a:r>
              <a:rPr lang="en-US" altLang="zh-CN" sz="2400" dirty="0"/>
              <a:t>name : {</a:t>
            </a:r>
            <a:endParaRPr lang="en-US" altLang="zh-CN" sz="2400" dirty="0"/>
          </a:p>
          <a:p>
            <a:r>
              <a:rPr lang="en-US" altLang="zh-CN" sz="2400" dirty="0"/>
              <a:t>  first : 'Bob',</a:t>
            </a:r>
            <a:endParaRPr lang="en-US" altLang="zh-CN" sz="2400" dirty="0"/>
          </a:p>
          <a:p>
            <a:r>
              <a:rPr lang="en-US" altLang="zh-CN" sz="2400" dirty="0"/>
              <a:t>  last : 'Smith'</a:t>
            </a:r>
            <a:endParaRPr lang="en-US" altLang="zh-CN" sz="2400" dirty="0"/>
          </a:p>
          <a:p>
            <a:r>
              <a:rPr lang="en-US" altLang="zh-CN" sz="2400" dirty="0"/>
              <a:t>},</a:t>
            </a:r>
            <a:endParaRPr lang="zh-CN" altLang="en-US" sz="2400" dirty="0"/>
          </a:p>
        </p:txBody>
      </p:sp>
      <p:sp>
        <p:nvSpPr>
          <p:cNvPr id="14" name="下箭头 13"/>
          <p:cNvSpPr/>
          <p:nvPr/>
        </p:nvSpPr>
        <p:spPr>
          <a:xfrm>
            <a:off x="1295400" y="2674418"/>
            <a:ext cx="381000" cy="60350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199075" y="3844530"/>
            <a:ext cx="6096000" cy="830997"/>
          </a:xfrm>
          <a:prstGeom prst="rect">
            <a:avLst/>
          </a:prstGeom>
        </p:spPr>
        <p:txBody>
          <a:bodyPr>
            <a:spAutoFit/>
          </a:bodyPr>
          <a:lstStyle/>
          <a:p>
            <a:r>
              <a:rPr lang="en-US" altLang="zh-CN" sz="2400" dirty="0" err="1"/>
              <a:t>person.name.first</a:t>
            </a:r>
            <a:endParaRPr lang="en-US" altLang="zh-CN" sz="2400" dirty="0"/>
          </a:p>
          <a:p>
            <a:r>
              <a:rPr lang="en-US" altLang="zh-CN" sz="2400" dirty="0" err="1"/>
              <a:t>person.name.last</a:t>
            </a:r>
            <a:endParaRPr lang="zh-CN" altLang="en-US" sz="2400" dirty="0"/>
          </a:p>
        </p:txBody>
      </p:sp>
      <p:sp>
        <p:nvSpPr>
          <p:cNvPr id="16" name="右箭头 15"/>
          <p:cNvSpPr/>
          <p:nvPr/>
        </p:nvSpPr>
        <p:spPr>
          <a:xfrm>
            <a:off x="3820650" y="4024259"/>
            <a:ext cx="751350" cy="4715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186375" y="5227925"/>
            <a:ext cx="3262432" cy="400110"/>
          </a:xfrm>
          <a:prstGeom prst="rect">
            <a:avLst/>
          </a:prstGeom>
        </p:spPr>
        <p:txBody>
          <a:bodyPr wrap="none">
            <a:spAutoFit/>
          </a:bodyPr>
          <a:lstStyle/>
          <a:p>
            <a:r>
              <a:rPr lang="zh-CN" altLang="en-US" sz="2000" dirty="0">
                <a:solidFill>
                  <a:srgbClr val="1B1B1B"/>
                </a:solidFill>
                <a:latin typeface="Inter"/>
              </a:rPr>
              <a:t>链式的再使用一次点表示法</a:t>
            </a:r>
            <a:endParaRPr lang="zh-CN" altLang="en-US" sz="20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1019" y="1007238"/>
            <a:ext cx="4085590"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30" dirty="0" smtClean="0">
                <a:solidFill>
                  <a:srgbClr val="C00000"/>
                </a:solidFill>
                <a:latin typeface="Microsoft JhengHei"/>
                <a:cs typeface="Microsoft JhengHei"/>
              </a:rPr>
              <a:t>中括号表示法</a:t>
            </a:r>
            <a:endParaRPr sz="2800" dirty="0">
              <a:solidFill>
                <a:srgbClr val="C00000"/>
              </a:solidFill>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
        <p:nvSpPr>
          <p:cNvPr id="2" name="矩形 1"/>
          <p:cNvSpPr/>
          <p:nvPr/>
        </p:nvSpPr>
        <p:spPr>
          <a:xfrm>
            <a:off x="813274" y="1674106"/>
            <a:ext cx="9016525" cy="461665"/>
          </a:xfrm>
          <a:prstGeom prst="rect">
            <a:avLst/>
          </a:prstGeom>
        </p:spPr>
        <p:txBody>
          <a:bodyPr wrap="square">
            <a:spAutoFit/>
          </a:bodyPr>
          <a:lstStyle/>
          <a:p>
            <a:r>
              <a:rPr lang="zh-CN" altLang="en-US" sz="2400" dirty="0"/>
              <a:t>另外一种访问属性的方式是</a:t>
            </a:r>
            <a:r>
              <a:rPr lang="zh-CN" altLang="en-US" sz="2400" dirty="0" smtClean="0"/>
              <a:t>使用中括号</a:t>
            </a:r>
            <a:r>
              <a:rPr lang="zh-CN" altLang="en-US" sz="2400" dirty="0"/>
              <a:t>表示法 </a:t>
            </a:r>
            <a:r>
              <a:rPr lang="en-US" altLang="zh-CN" sz="2400" dirty="0"/>
              <a:t>(bracket notation</a:t>
            </a:r>
            <a:r>
              <a:rPr lang="en-US" altLang="zh-CN" sz="2400" dirty="0" smtClean="0"/>
              <a:t>)</a:t>
            </a:r>
            <a:r>
              <a:rPr lang="zh-CN" altLang="en-US" sz="2400" dirty="0" smtClean="0"/>
              <a:t>。</a:t>
            </a:r>
            <a:endParaRPr lang="zh-CN" altLang="en-US" sz="2400" dirty="0"/>
          </a:p>
        </p:txBody>
      </p:sp>
      <p:sp>
        <p:nvSpPr>
          <p:cNvPr id="15" name="矩形 14"/>
          <p:cNvSpPr/>
          <p:nvPr/>
        </p:nvSpPr>
        <p:spPr>
          <a:xfrm>
            <a:off x="851019" y="2214739"/>
            <a:ext cx="6096000" cy="830997"/>
          </a:xfrm>
          <a:prstGeom prst="rect">
            <a:avLst/>
          </a:prstGeom>
        </p:spPr>
        <p:txBody>
          <a:bodyPr>
            <a:spAutoFit/>
          </a:bodyPr>
          <a:lstStyle/>
          <a:p>
            <a:r>
              <a:rPr lang="en-US" altLang="zh-CN" sz="2400" dirty="0" err="1"/>
              <a:t>person.age</a:t>
            </a:r>
            <a:endParaRPr lang="en-US" altLang="zh-CN" sz="2400" dirty="0"/>
          </a:p>
          <a:p>
            <a:r>
              <a:rPr lang="en-US" altLang="zh-CN" sz="2400" dirty="0" err="1"/>
              <a:t>person.name.first</a:t>
            </a:r>
            <a:endParaRPr lang="zh-CN" altLang="en-US" sz="2400" dirty="0"/>
          </a:p>
        </p:txBody>
      </p:sp>
      <p:sp>
        <p:nvSpPr>
          <p:cNvPr id="4" name="矩形 3"/>
          <p:cNvSpPr/>
          <p:nvPr/>
        </p:nvSpPr>
        <p:spPr>
          <a:xfrm>
            <a:off x="813274" y="3962400"/>
            <a:ext cx="6096000" cy="830997"/>
          </a:xfrm>
          <a:prstGeom prst="rect">
            <a:avLst/>
          </a:prstGeom>
        </p:spPr>
        <p:txBody>
          <a:bodyPr>
            <a:spAutoFit/>
          </a:bodyPr>
          <a:lstStyle/>
          <a:p>
            <a:r>
              <a:rPr lang="en-US" altLang="zh-CN" sz="2400" dirty="0"/>
              <a:t>person['age']</a:t>
            </a:r>
            <a:endParaRPr lang="en-US" altLang="zh-CN" sz="2400" dirty="0"/>
          </a:p>
          <a:p>
            <a:r>
              <a:rPr lang="en-US" altLang="zh-CN" sz="2400" dirty="0"/>
              <a:t>person['name']['first']</a:t>
            </a:r>
            <a:endParaRPr lang="en-US" altLang="zh-CN" sz="2400" dirty="0"/>
          </a:p>
        </p:txBody>
      </p:sp>
      <p:sp>
        <p:nvSpPr>
          <p:cNvPr id="5" name="下箭头 4"/>
          <p:cNvSpPr/>
          <p:nvPr/>
        </p:nvSpPr>
        <p:spPr>
          <a:xfrm>
            <a:off x="1447800" y="3276600"/>
            <a:ext cx="381000" cy="56475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4224" y="5034885"/>
            <a:ext cx="10896600" cy="1137106"/>
          </a:xfrm>
          <a:prstGeom prst="rect">
            <a:avLst/>
          </a:prstGeom>
        </p:spPr>
        <p:txBody>
          <a:bodyPr wrap="square">
            <a:spAutoFit/>
          </a:bodyPr>
          <a:lstStyle/>
          <a:p>
            <a:pPr>
              <a:lnSpc>
                <a:spcPct val="150000"/>
              </a:lnSpc>
            </a:pPr>
            <a:r>
              <a:rPr lang="zh-CN" altLang="en-US" sz="2400" dirty="0"/>
              <a:t>对象有时被称之为关联数组 </a:t>
            </a:r>
            <a:r>
              <a:rPr lang="en-US" altLang="zh-CN" sz="2400" dirty="0"/>
              <a:t>(associative array) </a:t>
            </a:r>
            <a:r>
              <a:rPr lang="en-US" altLang="zh-CN" sz="2400" dirty="0" smtClean="0"/>
              <a:t>——</a:t>
            </a:r>
            <a:r>
              <a:rPr lang="zh-CN" altLang="en-US" sz="2400" dirty="0"/>
              <a:t>对象做了字符串到值的映射，而数组做的是数字到值的映射。</a:t>
            </a:r>
            <a:endParaRPr lang="zh-CN" alt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1019" y="1007238"/>
            <a:ext cx="4085590"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30" dirty="0" smtClean="0">
                <a:solidFill>
                  <a:srgbClr val="C00000"/>
                </a:solidFill>
                <a:latin typeface="Microsoft JhengHei"/>
                <a:cs typeface="Microsoft JhengHei"/>
              </a:rPr>
              <a:t>设置对象成员</a:t>
            </a:r>
            <a:endParaRPr sz="2800" dirty="0">
              <a:solidFill>
                <a:srgbClr val="C00000"/>
              </a:solidFill>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
        <p:nvSpPr>
          <p:cNvPr id="2" name="矩形 1"/>
          <p:cNvSpPr/>
          <p:nvPr/>
        </p:nvSpPr>
        <p:spPr>
          <a:xfrm>
            <a:off x="813274" y="1674106"/>
            <a:ext cx="10997726" cy="461665"/>
          </a:xfrm>
          <a:prstGeom prst="rect">
            <a:avLst/>
          </a:prstGeom>
        </p:spPr>
        <p:txBody>
          <a:bodyPr wrap="square">
            <a:spAutoFit/>
          </a:bodyPr>
          <a:lstStyle/>
          <a:p>
            <a:r>
              <a:rPr lang="zh-CN" altLang="en-US" sz="2400" dirty="0" smtClean="0"/>
              <a:t>除了可以访问</a:t>
            </a:r>
            <a:r>
              <a:rPr lang="zh-CN" altLang="en-US" sz="2400" dirty="0"/>
              <a:t>对象的成员</a:t>
            </a:r>
            <a:r>
              <a:rPr lang="zh-CN" altLang="en-US" sz="2400" dirty="0" smtClean="0"/>
              <a:t>，也</a:t>
            </a:r>
            <a:r>
              <a:rPr lang="zh-CN" altLang="en-US" sz="2400" dirty="0"/>
              <a:t>可以设置对象成员的值</a:t>
            </a:r>
            <a:r>
              <a:rPr lang="zh-CN" altLang="en-US" sz="2400" dirty="0" smtClean="0"/>
              <a:t>，声明要</a:t>
            </a:r>
            <a:r>
              <a:rPr lang="zh-CN" altLang="en-US" sz="2400" dirty="0"/>
              <a:t>设置的</a:t>
            </a:r>
            <a:r>
              <a:rPr lang="zh-CN" altLang="en-US" sz="2400" dirty="0" smtClean="0"/>
              <a:t>成员：</a:t>
            </a:r>
            <a:endParaRPr lang="zh-CN" altLang="en-US" sz="2400" dirty="0"/>
          </a:p>
        </p:txBody>
      </p:sp>
      <p:sp>
        <p:nvSpPr>
          <p:cNvPr id="4" name="矩形 3"/>
          <p:cNvSpPr/>
          <p:nvPr/>
        </p:nvSpPr>
        <p:spPr>
          <a:xfrm>
            <a:off x="851019" y="2257166"/>
            <a:ext cx="6096000" cy="830997"/>
          </a:xfrm>
          <a:prstGeom prst="rect">
            <a:avLst/>
          </a:prstGeom>
        </p:spPr>
        <p:txBody>
          <a:bodyPr>
            <a:spAutoFit/>
          </a:bodyPr>
          <a:lstStyle/>
          <a:p>
            <a:r>
              <a:rPr lang="en-US" altLang="zh-CN" sz="2400" dirty="0" err="1"/>
              <a:t>person.age</a:t>
            </a:r>
            <a:r>
              <a:rPr lang="en-US" altLang="zh-CN" sz="2400" dirty="0"/>
              <a:t> = 45</a:t>
            </a:r>
            <a:endParaRPr lang="en-US" altLang="zh-CN" sz="2400" dirty="0"/>
          </a:p>
          <a:p>
            <a:r>
              <a:rPr lang="en-US" altLang="zh-CN" sz="2400" dirty="0"/>
              <a:t>person['name']['last'] = '</a:t>
            </a:r>
            <a:r>
              <a:rPr lang="en-US" altLang="zh-CN" sz="2400" dirty="0" err="1"/>
              <a:t>Cratchit</a:t>
            </a:r>
            <a:r>
              <a:rPr lang="en-US" altLang="zh-CN" sz="2400" dirty="0"/>
              <a:t>'</a:t>
            </a:r>
            <a:endParaRPr lang="en-US" altLang="zh-CN" sz="2400" dirty="0"/>
          </a:p>
        </p:txBody>
      </p:sp>
      <p:sp>
        <p:nvSpPr>
          <p:cNvPr id="9" name="矩形 8"/>
          <p:cNvSpPr/>
          <p:nvPr/>
        </p:nvSpPr>
        <p:spPr>
          <a:xfrm>
            <a:off x="813274" y="3352800"/>
            <a:ext cx="11073926" cy="461665"/>
          </a:xfrm>
          <a:prstGeom prst="rect">
            <a:avLst/>
          </a:prstGeom>
        </p:spPr>
        <p:txBody>
          <a:bodyPr wrap="square">
            <a:spAutoFit/>
          </a:bodyPr>
          <a:lstStyle/>
          <a:p>
            <a:r>
              <a:rPr lang="zh-CN" altLang="en-US" sz="2400" dirty="0"/>
              <a:t>设置成员并不</a:t>
            </a:r>
            <a:r>
              <a:rPr lang="zh-CN" altLang="en-US" sz="2400" dirty="0" smtClean="0"/>
              <a:t>意味着只能</a:t>
            </a:r>
            <a:r>
              <a:rPr lang="zh-CN" altLang="en-US" sz="2400" dirty="0"/>
              <a:t>更新已经存在的属性的值</a:t>
            </a:r>
            <a:r>
              <a:rPr lang="zh-CN" altLang="en-US" sz="2400" dirty="0" smtClean="0"/>
              <a:t>，完全</a:t>
            </a:r>
            <a:r>
              <a:rPr lang="zh-CN" altLang="en-US" sz="2400" dirty="0"/>
              <a:t>可以创建新的</a:t>
            </a:r>
            <a:r>
              <a:rPr lang="zh-CN" altLang="en-US" sz="2400" dirty="0" smtClean="0"/>
              <a:t>成员：</a:t>
            </a:r>
            <a:endParaRPr lang="zh-CN" altLang="en-US" sz="2400" dirty="0"/>
          </a:p>
        </p:txBody>
      </p:sp>
      <p:sp>
        <p:nvSpPr>
          <p:cNvPr id="11" name="矩形 10"/>
          <p:cNvSpPr/>
          <p:nvPr/>
        </p:nvSpPr>
        <p:spPr>
          <a:xfrm>
            <a:off x="851019" y="3954402"/>
            <a:ext cx="10444056" cy="830997"/>
          </a:xfrm>
          <a:prstGeom prst="rect">
            <a:avLst/>
          </a:prstGeom>
        </p:spPr>
        <p:txBody>
          <a:bodyPr wrap="square">
            <a:spAutoFit/>
          </a:bodyPr>
          <a:lstStyle/>
          <a:p>
            <a:r>
              <a:rPr lang="en-US" altLang="zh-CN" sz="2400" dirty="0"/>
              <a:t>person['eyes'] = 'hazel'</a:t>
            </a:r>
            <a:endParaRPr lang="en-US" altLang="zh-CN" sz="2400" dirty="0"/>
          </a:p>
          <a:p>
            <a:r>
              <a:rPr lang="en-US" altLang="zh-CN" sz="2400" dirty="0" err="1"/>
              <a:t>person.farewell</a:t>
            </a:r>
            <a:r>
              <a:rPr lang="en-US" altLang="zh-CN" sz="2400" dirty="0"/>
              <a:t> = function() { alert("Bye everybody!") }</a:t>
            </a:r>
            <a:endParaRPr lang="en-US" altLang="zh-CN" sz="2400" dirty="0"/>
          </a:p>
        </p:txBody>
      </p:sp>
      <p:pic>
        <p:nvPicPr>
          <p:cNvPr id="10" name="图片 9"/>
          <p:cNvPicPr>
            <a:picLocks noChangeAspect="1"/>
          </p:cNvPicPr>
          <p:nvPr/>
        </p:nvPicPr>
        <p:blipFill>
          <a:blip r:embed="rId1"/>
          <a:stretch>
            <a:fillRect/>
          </a:stretch>
        </p:blipFill>
        <p:spPr>
          <a:xfrm>
            <a:off x="6705600" y="2135771"/>
            <a:ext cx="4029075" cy="1238250"/>
          </a:xfrm>
          <a:prstGeom prst="rect">
            <a:avLst/>
          </a:prstGeom>
        </p:spPr>
      </p:pic>
      <p:sp>
        <p:nvSpPr>
          <p:cNvPr id="12" name="右箭头 11"/>
          <p:cNvSpPr/>
          <p:nvPr/>
        </p:nvSpPr>
        <p:spPr>
          <a:xfrm>
            <a:off x="5806347" y="2534883"/>
            <a:ext cx="533400" cy="41549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2"/>
          <a:stretch>
            <a:fillRect/>
          </a:stretch>
        </p:blipFill>
        <p:spPr>
          <a:xfrm>
            <a:off x="3429000" y="5306153"/>
            <a:ext cx="4904681" cy="1279482"/>
          </a:xfrm>
          <a:prstGeom prst="rect">
            <a:avLst/>
          </a:prstGeom>
        </p:spPr>
      </p:pic>
      <p:pic>
        <p:nvPicPr>
          <p:cNvPr id="14" name="图片 13"/>
          <p:cNvPicPr>
            <a:picLocks noChangeAspect="1"/>
          </p:cNvPicPr>
          <p:nvPr/>
        </p:nvPicPr>
        <p:blipFill>
          <a:blip r:embed="rId3"/>
          <a:stretch>
            <a:fillRect/>
          </a:stretch>
        </p:blipFill>
        <p:spPr>
          <a:xfrm>
            <a:off x="6696075" y="5390038"/>
            <a:ext cx="4385034" cy="1134198"/>
          </a:xfrm>
          <a:prstGeom prst="rect">
            <a:avLst/>
          </a:prstGeom>
        </p:spPr>
      </p:pic>
      <p:sp>
        <p:nvSpPr>
          <p:cNvPr id="16" name="下箭头 15"/>
          <p:cNvSpPr/>
          <p:nvPr/>
        </p:nvSpPr>
        <p:spPr>
          <a:xfrm>
            <a:off x="4631808" y="4746110"/>
            <a:ext cx="397391" cy="51169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1019" y="1007238"/>
            <a:ext cx="4085590"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30" dirty="0" smtClean="0">
                <a:solidFill>
                  <a:srgbClr val="C00000"/>
                </a:solidFill>
                <a:latin typeface="Microsoft JhengHei"/>
                <a:cs typeface="Microsoft JhengHei"/>
              </a:rPr>
              <a:t>设置对象成员</a:t>
            </a:r>
            <a:endParaRPr sz="2800" dirty="0">
              <a:solidFill>
                <a:srgbClr val="C00000"/>
              </a:solidFill>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
        <p:nvSpPr>
          <p:cNvPr id="2" name="矩形 1"/>
          <p:cNvSpPr/>
          <p:nvPr/>
        </p:nvSpPr>
        <p:spPr>
          <a:xfrm>
            <a:off x="813274" y="1674106"/>
            <a:ext cx="10997726" cy="830997"/>
          </a:xfrm>
          <a:prstGeom prst="rect">
            <a:avLst/>
          </a:prstGeom>
        </p:spPr>
        <p:txBody>
          <a:bodyPr wrap="square">
            <a:spAutoFit/>
          </a:bodyPr>
          <a:lstStyle/>
          <a:p>
            <a:r>
              <a:rPr lang="zh-CN" altLang="en-US" sz="2400" dirty="0"/>
              <a:t>括号表示</a:t>
            </a:r>
            <a:r>
              <a:rPr lang="zh-CN" altLang="en-US" sz="2400" dirty="0" smtClean="0"/>
              <a:t>法，一</a:t>
            </a:r>
            <a:r>
              <a:rPr lang="zh-CN" altLang="en-US" sz="2400" dirty="0"/>
              <a:t>个有用的地方是它不仅可以动态的去设置对象成员的值，还可以动态的去设置成员的</a:t>
            </a:r>
            <a:r>
              <a:rPr lang="zh-CN" altLang="en-US" sz="2400" dirty="0" smtClean="0"/>
              <a:t>名字：</a:t>
            </a:r>
            <a:endParaRPr lang="zh-CN" altLang="en-US" sz="2400" dirty="0"/>
          </a:p>
        </p:txBody>
      </p:sp>
      <p:sp>
        <p:nvSpPr>
          <p:cNvPr id="4" name="矩形 3"/>
          <p:cNvSpPr/>
          <p:nvPr/>
        </p:nvSpPr>
        <p:spPr>
          <a:xfrm>
            <a:off x="813435" y="2500630"/>
            <a:ext cx="9265285" cy="460375"/>
          </a:xfrm>
          <a:prstGeom prst="rect">
            <a:avLst/>
          </a:prstGeom>
        </p:spPr>
        <p:txBody>
          <a:bodyPr wrap="square">
            <a:spAutoFit/>
          </a:bodyPr>
          <a:lstStyle/>
          <a:p>
            <a:r>
              <a:rPr lang="en-US" altLang="zh-CN" sz="2400" dirty="0"/>
              <a:t>person[</a:t>
            </a:r>
            <a:r>
              <a:rPr lang="en-US" altLang="zh-CN" sz="2400" dirty="0" err="1"/>
              <a:t>myDataName</a:t>
            </a:r>
            <a:r>
              <a:rPr lang="en-US" altLang="zh-CN" sz="2400" dirty="0"/>
              <a:t>] = </a:t>
            </a:r>
            <a:r>
              <a:rPr lang="en-US" altLang="zh-CN" sz="2400" dirty="0" err="1" smtClean="0"/>
              <a:t>myDataValue</a:t>
            </a:r>
            <a:endParaRPr lang="en-US" altLang="zh-CN" sz="2400" dirty="0" err="1" smtClean="0"/>
          </a:p>
        </p:txBody>
      </p:sp>
      <p:sp>
        <p:nvSpPr>
          <p:cNvPr id="9" name="矩形 8"/>
          <p:cNvSpPr/>
          <p:nvPr/>
        </p:nvSpPr>
        <p:spPr>
          <a:xfrm>
            <a:off x="775174" y="3034886"/>
            <a:ext cx="11073926" cy="461665"/>
          </a:xfrm>
          <a:prstGeom prst="rect">
            <a:avLst/>
          </a:prstGeom>
        </p:spPr>
        <p:txBody>
          <a:bodyPr wrap="square">
            <a:spAutoFit/>
          </a:bodyPr>
          <a:lstStyle/>
          <a:p>
            <a:r>
              <a:rPr lang="zh-CN" altLang="en-US" sz="2400" dirty="0" smtClean="0"/>
              <a:t>例如：</a:t>
            </a:r>
            <a:endParaRPr lang="zh-CN" altLang="en-US" sz="2400" dirty="0"/>
          </a:p>
        </p:txBody>
      </p:sp>
      <p:pic>
        <p:nvPicPr>
          <p:cNvPr id="5" name="图片 4"/>
          <p:cNvPicPr>
            <a:picLocks noChangeAspect="1"/>
          </p:cNvPicPr>
          <p:nvPr/>
        </p:nvPicPr>
        <p:blipFill>
          <a:blip r:embed="rId1"/>
          <a:stretch>
            <a:fillRect/>
          </a:stretch>
        </p:blipFill>
        <p:spPr>
          <a:xfrm>
            <a:off x="685800" y="3535385"/>
            <a:ext cx="6795541" cy="2286000"/>
          </a:xfrm>
          <a:prstGeom prst="rect">
            <a:avLst/>
          </a:prstGeom>
        </p:spPr>
      </p:pic>
      <p:pic>
        <p:nvPicPr>
          <p:cNvPr id="8" name="图片 7"/>
          <p:cNvPicPr>
            <a:picLocks noChangeAspect="1"/>
          </p:cNvPicPr>
          <p:nvPr/>
        </p:nvPicPr>
        <p:blipFill>
          <a:blip r:embed="rId2"/>
          <a:stretch>
            <a:fillRect/>
          </a:stretch>
        </p:blipFill>
        <p:spPr>
          <a:xfrm>
            <a:off x="7348596" y="4306905"/>
            <a:ext cx="4707767" cy="847398"/>
          </a:xfrm>
          <a:prstGeom prst="rect">
            <a:avLst/>
          </a:prstGeom>
        </p:spPr>
      </p:pic>
      <p:sp>
        <p:nvSpPr>
          <p:cNvPr id="15" name="右箭头 14"/>
          <p:cNvSpPr/>
          <p:nvPr/>
        </p:nvSpPr>
        <p:spPr>
          <a:xfrm>
            <a:off x="6085687" y="4528812"/>
            <a:ext cx="698263" cy="3810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609600" y="5925823"/>
            <a:ext cx="10058400" cy="830997"/>
          </a:xfrm>
          <a:prstGeom prst="rect">
            <a:avLst/>
          </a:prstGeom>
        </p:spPr>
        <p:txBody>
          <a:bodyPr wrap="square">
            <a:spAutoFit/>
          </a:bodyPr>
          <a:lstStyle/>
          <a:p>
            <a:r>
              <a:rPr lang="zh-CN" altLang="en-US" sz="2400" dirty="0"/>
              <a:t>使用点表示法无法</a:t>
            </a:r>
            <a:r>
              <a:rPr lang="zh-CN" altLang="en-US" sz="2400" dirty="0" smtClean="0"/>
              <a:t>做到上述，</a:t>
            </a:r>
            <a:r>
              <a:rPr lang="zh-CN" altLang="en-US" sz="2400" dirty="0"/>
              <a:t>点表示法只能接受字面量的成员的名字，不接受变量作为名字。</a:t>
            </a:r>
            <a:endParaRPr lang="zh-CN" altLang="en-US" sz="2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1019" y="1007238"/>
            <a:ext cx="4085590"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30" dirty="0" smtClean="0">
                <a:solidFill>
                  <a:srgbClr val="C00000"/>
                </a:solidFill>
                <a:latin typeface="Microsoft JhengHei"/>
                <a:cs typeface="Microsoft JhengHei"/>
              </a:rPr>
              <a:t>“</a:t>
            </a:r>
            <a:r>
              <a:rPr lang="en-US" altLang="zh-CN" sz="2800" b="1" spc="-30" dirty="0" smtClean="0">
                <a:solidFill>
                  <a:srgbClr val="C00000"/>
                </a:solidFill>
                <a:latin typeface="Microsoft JhengHei"/>
                <a:cs typeface="Microsoft JhengHei"/>
              </a:rPr>
              <a:t>this</a:t>
            </a:r>
            <a:r>
              <a:rPr lang="zh-CN" altLang="en-US" sz="2800" b="1" spc="-30" dirty="0" smtClean="0">
                <a:solidFill>
                  <a:srgbClr val="C00000"/>
                </a:solidFill>
                <a:latin typeface="Microsoft JhengHei"/>
                <a:cs typeface="Microsoft JhengHei"/>
              </a:rPr>
              <a:t>”含义</a:t>
            </a:r>
            <a:endParaRPr sz="2800" dirty="0">
              <a:solidFill>
                <a:srgbClr val="C00000"/>
              </a:solidFill>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sp>
        <p:nvSpPr>
          <p:cNvPr id="2" name="矩形 1"/>
          <p:cNvSpPr/>
          <p:nvPr/>
        </p:nvSpPr>
        <p:spPr>
          <a:xfrm>
            <a:off x="813274" y="1674106"/>
            <a:ext cx="10997726" cy="2308324"/>
          </a:xfrm>
          <a:prstGeom prst="rect">
            <a:avLst/>
          </a:prstGeom>
        </p:spPr>
        <p:txBody>
          <a:bodyPr wrap="square">
            <a:spAutoFit/>
          </a:bodyPr>
          <a:lstStyle/>
          <a:p>
            <a:pPr>
              <a:lnSpc>
                <a:spcPct val="150000"/>
              </a:lnSpc>
            </a:pPr>
            <a:r>
              <a:rPr lang="zh-CN" altLang="en-US" sz="2400" dirty="0" smtClean="0"/>
              <a:t>关键字</a:t>
            </a:r>
            <a:r>
              <a:rPr lang="en-US" altLang="zh-CN" sz="2400" dirty="0" smtClean="0"/>
              <a:t>“this”</a:t>
            </a:r>
            <a:r>
              <a:rPr lang="zh-CN" altLang="en-US" sz="2400" dirty="0" smtClean="0"/>
              <a:t>指向</a:t>
            </a:r>
            <a:r>
              <a:rPr lang="zh-CN" altLang="en-US" sz="2400" dirty="0"/>
              <a:t>了当前代码运行时的</a:t>
            </a:r>
            <a:r>
              <a:rPr lang="zh-CN" altLang="en-US" sz="2400" dirty="0" smtClean="0"/>
              <a:t>对象。</a:t>
            </a:r>
            <a:endParaRPr lang="en-US" altLang="zh-CN" sz="2400" dirty="0" smtClean="0"/>
          </a:p>
          <a:p>
            <a:pPr>
              <a:lnSpc>
                <a:spcPct val="150000"/>
              </a:lnSpc>
            </a:pPr>
            <a:r>
              <a:rPr lang="zh-CN" altLang="en-US" sz="2400" dirty="0"/>
              <a:t>保证了当代码的上下文 </a:t>
            </a:r>
            <a:r>
              <a:rPr lang="en-US" altLang="zh-CN" sz="2400" dirty="0"/>
              <a:t>(context) </a:t>
            </a:r>
            <a:r>
              <a:rPr lang="zh-CN" altLang="en-US" sz="2400" dirty="0"/>
              <a:t>改变时变量的值的正确性（比如：不同的 </a:t>
            </a:r>
            <a:r>
              <a:rPr lang="en-US" altLang="zh-CN" sz="2400" dirty="0"/>
              <a:t>person </a:t>
            </a:r>
            <a:r>
              <a:rPr lang="zh-CN" altLang="en-US" sz="2400" dirty="0"/>
              <a:t>对象拥有不同的 </a:t>
            </a:r>
            <a:r>
              <a:rPr lang="en-US" altLang="zh-CN" sz="2400" dirty="0"/>
              <a:t>name </a:t>
            </a:r>
            <a:r>
              <a:rPr lang="zh-CN" altLang="en-US" sz="2400" dirty="0"/>
              <a:t>这个属性，很明显 </a:t>
            </a:r>
            <a:r>
              <a:rPr lang="en-US" altLang="zh-CN" sz="2400" dirty="0"/>
              <a:t>greeting </a:t>
            </a:r>
            <a:r>
              <a:rPr lang="zh-CN" altLang="en-US" sz="2400" dirty="0"/>
              <a:t>这个方法需要使用的</a:t>
            </a:r>
            <a:r>
              <a:rPr lang="zh-CN" altLang="en-US" sz="2400" dirty="0" smtClean="0"/>
              <a:t>是对象自己</a:t>
            </a:r>
            <a:r>
              <a:rPr lang="zh-CN" altLang="en-US" sz="2400" dirty="0"/>
              <a:t>的 </a:t>
            </a:r>
            <a:r>
              <a:rPr lang="en-US" altLang="zh-CN" sz="2400" dirty="0"/>
              <a:t>name</a:t>
            </a:r>
            <a:r>
              <a:rPr lang="zh-CN" altLang="en-US" sz="2400" dirty="0"/>
              <a:t>）。</a:t>
            </a:r>
            <a:endParaRPr lang="zh-CN" altLang="en-US" sz="2400" dirty="0"/>
          </a:p>
        </p:txBody>
      </p:sp>
      <p:pic>
        <p:nvPicPr>
          <p:cNvPr id="8" name="图片 7"/>
          <p:cNvPicPr>
            <a:picLocks noChangeAspect="1"/>
          </p:cNvPicPr>
          <p:nvPr/>
        </p:nvPicPr>
        <p:blipFill>
          <a:blip r:embed="rId1"/>
          <a:stretch>
            <a:fillRect/>
          </a:stretch>
        </p:blipFill>
        <p:spPr>
          <a:xfrm>
            <a:off x="2853134" y="3442814"/>
            <a:ext cx="8441942" cy="3072582"/>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51019" y="1007238"/>
            <a:ext cx="4085590" cy="443711"/>
          </a:xfrm>
          <a:prstGeom prst="rect">
            <a:avLst/>
          </a:prstGeom>
        </p:spPr>
        <p:txBody>
          <a:bodyPr vert="horz" wrap="square" lIns="0" tIns="12700" rIns="0" bIns="0" rtlCol="0">
            <a:spAutoFit/>
          </a:bodyPr>
          <a:lstStyle/>
          <a:p>
            <a:pPr marL="12700">
              <a:lnSpc>
                <a:spcPct val="100000"/>
              </a:lnSpc>
              <a:spcBef>
                <a:spcPts val="100"/>
              </a:spcBef>
            </a:pPr>
            <a:r>
              <a:rPr lang="zh-CN" altLang="en-US" sz="2800" b="1" spc="-30" dirty="0" smtClean="0">
                <a:solidFill>
                  <a:srgbClr val="C00000"/>
                </a:solidFill>
                <a:latin typeface="Microsoft JhengHei"/>
                <a:cs typeface="Microsoft JhengHei"/>
              </a:rPr>
              <a:t>“</a:t>
            </a:r>
            <a:r>
              <a:rPr lang="en-US" altLang="zh-CN" sz="2800" b="1" spc="-30" dirty="0" smtClean="0">
                <a:solidFill>
                  <a:srgbClr val="C00000"/>
                </a:solidFill>
                <a:latin typeface="Microsoft JhengHei"/>
                <a:cs typeface="Microsoft JhengHei"/>
              </a:rPr>
              <a:t>this</a:t>
            </a:r>
            <a:r>
              <a:rPr lang="zh-CN" altLang="en-US" sz="2800" b="1" spc="-30" dirty="0" smtClean="0">
                <a:solidFill>
                  <a:srgbClr val="C00000"/>
                </a:solidFill>
                <a:latin typeface="Microsoft JhengHei"/>
                <a:cs typeface="Microsoft JhengHei"/>
              </a:rPr>
              <a:t>”含义</a:t>
            </a:r>
            <a:endParaRPr sz="2800" dirty="0">
              <a:solidFill>
                <a:srgbClr val="C00000"/>
              </a:solidFill>
              <a:latin typeface="Microsoft JhengHei"/>
              <a:cs typeface="Microsoft JhengHei"/>
            </a:endParaRPr>
          </a:p>
        </p:txBody>
      </p:sp>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对象的使用</a:t>
            </a:r>
            <a:endParaRPr lang="zh-CN" altLang="en-US" sz="3200" kern="0" dirty="0">
              <a:solidFill>
                <a:sysClr val="windowText" lastClr="000000"/>
              </a:solidFill>
            </a:endParaRPr>
          </a:p>
        </p:txBody>
      </p:sp>
      <p:pic>
        <p:nvPicPr>
          <p:cNvPr id="9" name="图片 8"/>
          <p:cNvPicPr>
            <a:picLocks noChangeAspect="1"/>
          </p:cNvPicPr>
          <p:nvPr/>
        </p:nvPicPr>
        <p:blipFill>
          <a:blip r:embed="rId1"/>
          <a:stretch>
            <a:fillRect/>
          </a:stretch>
        </p:blipFill>
        <p:spPr>
          <a:xfrm>
            <a:off x="813274" y="1674106"/>
            <a:ext cx="5181600" cy="5039815"/>
          </a:xfrm>
          <a:prstGeom prst="rect">
            <a:avLst/>
          </a:prstGeom>
        </p:spPr>
      </p:pic>
      <p:sp>
        <p:nvSpPr>
          <p:cNvPr id="4" name="矩形 3"/>
          <p:cNvSpPr/>
          <p:nvPr/>
        </p:nvSpPr>
        <p:spPr>
          <a:xfrm>
            <a:off x="6858000" y="3183404"/>
            <a:ext cx="4953000" cy="1938992"/>
          </a:xfrm>
          <a:prstGeom prst="rect">
            <a:avLst/>
          </a:prstGeom>
        </p:spPr>
        <p:txBody>
          <a:bodyPr wrap="square">
            <a:spAutoFit/>
          </a:bodyPr>
          <a:lstStyle/>
          <a:p>
            <a:r>
              <a:rPr lang="en-US" altLang="zh-CN" sz="2400" dirty="0"/>
              <a:t>person1.greeting() </a:t>
            </a:r>
            <a:r>
              <a:rPr lang="zh-CN" altLang="en-US" sz="2400" dirty="0"/>
              <a:t>会输出：</a:t>
            </a:r>
            <a:r>
              <a:rPr lang="en-US" altLang="zh-CN" sz="2400" dirty="0"/>
              <a:t>"Hi! I'm Chris."</a:t>
            </a:r>
            <a:r>
              <a:rPr lang="zh-CN" altLang="en-US" sz="2400" dirty="0" smtClean="0"/>
              <a:t>；</a:t>
            </a:r>
            <a:endParaRPr lang="en-US" altLang="zh-CN" sz="2400" dirty="0" smtClean="0"/>
          </a:p>
          <a:p>
            <a:endParaRPr lang="en-US" altLang="zh-CN" sz="2400" dirty="0" smtClean="0"/>
          </a:p>
          <a:p>
            <a:r>
              <a:rPr lang="en-US" altLang="zh-CN" sz="2400" dirty="0" smtClean="0"/>
              <a:t>person2.greeting</a:t>
            </a:r>
            <a:r>
              <a:rPr lang="en-US" altLang="zh-CN" sz="2400" dirty="0"/>
              <a:t>() </a:t>
            </a:r>
            <a:r>
              <a:rPr lang="zh-CN" altLang="en-US" sz="2400" dirty="0"/>
              <a:t>会输出：</a:t>
            </a:r>
            <a:r>
              <a:rPr lang="en-US" altLang="zh-CN" sz="2400" dirty="0"/>
              <a:t>"Hi! I'm Brain."</a:t>
            </a:r>
            <a:endParaRPr lang="zh-CN" altLang="en-US" sz="2400" dirty="0"/>
          </a:p>
        </p:txBody>
      </p:sp>
      <p:sp>
        <p:nvSpPr>
          <p:cNvPr id="5" name="右箭头 4"/>
          <p:cNvSpPr/>
          <p:nvPr/>
        </p:nvSpPr>
        <p:spPr>
          <a:xfrm>
            <a:off x="6066637" y="3927313"/>
            <a:ext cx="558326" cy="5334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dirty="0"/>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en-US" altLang="zh-CN" sz="3200" kern="0" dirty="0" smtClean="0">
                <a:solidFill>
                  <a:sysClr val="windowText" lastClr="000000"/>
                </a:solidFill>
              </a:rPr>
              <a:t>JSON--</a:t>
            </a:r>
            <a:r>
              <a:rPr lang="zh-CN" altLang="en-US" dirty="0"/>
              <a:t>一种按照 </a:t>
            </a:r>
            <a:r>
              <a:rPr lang="en-US" altLang="zh-CN" dirty="0"/>
              <a:t>JavaScript </a:t>
            </a:r>
            <a:r>
              <a:rPr lang="zh-CN" altLang="en-US" dirty="0"/>
              <a:t>对象语法的数据格式</a:t>
            </a:r>
            <a:endParaRPr lang="zh-CN" altLang="en-US" sz="3200" kern="0" dirty="0">
              <a:solidFill>
                <a:sysClr val="windowText" lastClr="000000"/>
              </a:solidFill>
            </a:endParaRPr>
          </a:p>
        </p:txBody>
      </p:sp>
      <p:sp>
        <p:nvSpPr>
          <p:cNvPr id="9" name="矩形 8"/>
          <p:cNvSpPr/>
          <p:nvPr/>
        </p:nvSpPr>
        <p:spPr>
          <a:xfrm>
            <a:off x="609600" y="1070243"/>
            <a:ext cx="11125200" cy="3416320"/>
          </a:xfrm>
          <a:prstGeom prst="rect">
            <a:avLst/>
          </a:prstGeom>
        </p:spPr>
        <p:txBody>
          <a:bodyPr wrap="square">
            <a:spAutoFit/>
          </a:bodyPr>
          <a:lstStyle/>
          <a:p>
            <a:pPr>
              <a:lnSpc>
                <a:spcPct val="150000"/>
              </a:lnSpc>
            </a:pPr>
            <a:r>
              <a:rPr lang="en-US" altLang="zh-CN" sz="2400" dirty="0"/>
              <a:t>JavaScript </a:t>
            </a:r>
            <a:r>
              <a:rPr lang="zh-CN" altLang="en-US" sz="2400" dirty="0"/>
              <a:t>对象表示法（</a:t>
            </a:r>
            <a:r>
              <a:rPr lang="en-US" altLang="zh-CN" sz="2400" dirty="0"/>
              <a:t>JSON</a:t>
            </a:r>
            <a:r>
              <a:rPr lang="zh-CN" altLang="en-US" sz="2400" dirty="0"/>
              <a:t>）是用于将结构化数据表示为 </a:t>
            </a:r>
            <a:r>
              <a:rPr lang="en-US" altLang="zh-CN" sz="2400" dirty="0"/>
              <a:t>JavaScript </a:t>
            </a:r>
            <a:r>
              <a:rPr lang="zh-CN" altLang="en-US" sz="2400" dirty="0"/>
              <a:t>对象的标准格式，通常用于在网站上表示和传输数据（例如从服务器向客户端发送一些数据，因此可以将其显示在网页上</a:t>
            </a:r>
            <a:r>
              <a:rPr lang="zh-CN" altLang="en-US" sz="2400" dirty="0" smtClean="0"/>
              <a:t>）</a:t>
            </a:r>
            <a:endParaRPr lang="en-US" altLang="zh-CN" sz="2400" dirty="0" smtClean="0"/>
          </a:p>
          <a:p>
            <a:pPr>
              <a:lnSpc>
                <a:spcPct val="150000"/>
              </a:lnSpc>
            </a:pPr>
            <a:endParaRPr lang="en-US" altLang="zh-CN" sz="2400" dirty="0"/>
          </a:p>
          <a:p>
            <a:pPr>
              <a:lnSpc>
                <a:spcPct val="150000"/>
              </a:lnSpc>
            </a:pPr>
            <a:r>
              <a:rPr lang="en-US" altLang="zh-CN" sz="2400" dirty="0" smtClean="0"/>
              <a:t>JSON</a:t>
            </a:r>
            <a:r>
              <a:rPr lang="zh-CN" altLang="en-US" sz="2400" dirty="0"/>
              <a:t>基于 </a:t>
            </a:r>
            <a:r>
              <a:rPr lang="en-US" altLang="zh-CN" sz="2400" dirty="0"/>
              <a:t>JavaScript </a:t>
            </a:r>
            <a:r>
              <a:rPr lang="zh-CN" altLang="en-US" sz="2400" dirty="0"/>
              <a:t>语法，但它独立于 </a:t>
            </a:r>
            <a:r>
              <a:rPr lang="en-US" altLang="zh-CN" sz="2400" dirty="0"/>
              <a:t>JavaScript</a:t>
            </a:r>
            <a:r>
              <a:rPr lang="zh-CN" altLang="en-US" sz="2400" dirty="0"/>
              <a:t>，这也是为什么许多程序环境能够读取（解读）和生成 </a:t>
            </a:r>
            <a:r>
              <a:rPr lang="en-US" altLang="zh-CN" sz="2400" dirty="0"/>
              <a:t>JSON</a:t>
            </a:r>
            <a:r>
              <a:rPr lang="zh-CN" altLang="en-US" sz="2400" dirty="0"/>
              <a:t>。</a:t>
            </a:r>
            <a:endParaRPr lang="zh-CN" altLang="en-US"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dirty="0"/>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en-US" altLang="zh-CN" sz="3200" kern="0" dirty="0" smtClean="0">
                <a:solidFill>
                  <a:sysClr val="windowText" lastClr="000000"/>
                </a:solidFill>
              </a:rPr>
              <a:t>JSON</a:t>
            </a:r>
            <a:r>
              <a:rPr lang="zh-CN" altLang="en-US" sz="3200" kern="0" dirty="0" smtClean="0">
                <a:solidFill>
                  <a:sysClr val="windowText" lastClr="000000"/>
                </a:solidFill>
              </a:rPr>
              <a:t>结构</a:t>
            </a:r>
            <a:endParaRPr lang="zh-CN" altLang="en-US" sz="3200" kern="0" dirty="0">
              <a:solidFill>
                <a:sysClr val="windowText" lastClr="000000"/>
              </a:solidFill>
            </a:endParaRPr>
          </a:p>
        </p:txBody>
      </p:sp>
      <p:pic>
        <p:nvPicPr>
          <p:cNvPr id="2" name="图片 1"/>
          <p:cNvPicPr>
            <a:picLocks noChangeAspect="1"/>
          </p:cNvPicPr>
          <p:nvPr/>
        </p:nvPicPr>
        <p:blipFill>
          <a:blip r:embed="rId1"/>
          <a:stretch>
            <a:fillRect/>
          </a:stretch>
        </p:blipFill>
        <p:spPr>
          <a:xfrm>
            <a:off x="381000" y="1066799"/>
            <a:ext cx="2667000" cy="5728043"/>
          </a:xfrm>
          <a:prstGeom prst="rect">
            <a:avLst/>
          </a:prstGeom>
        </p:spPr>
      </p:pic>
      <p:sp>
        <p:nvSpPr>
          <p:cNvPr id="8" name="矩形 7"/>
          <p:cNvSpPr/>
          <p:nvPr/>
        </p:nvSpPr>
        <p:spPr>
          <a:xfrm>
            <a:off x="3352800" y="1070243"/>
            <a:ext cx="8382000" cy="2308324"/>
          </a:xfrm>
          <a:prstGeom prst="rect">
            <a:avLst/>
          </a:prstGeom>
        </p:spPr>
        <p:txBody>
          <a:bodyPr wrap="square">
            <a:spAutoFit/>
          </a:bodyPr>
          <a:lstStyle/>
          <a:p>
            <a:pPr>
              <a:lnSpc>
                <a:spcPct val="150000"/>
              </a:lnSpc>
            </a:pPr>
            <a:r>
              <a:rPr lang="zh-CN" altLang="en-US" sz="2400" dirty="0" smtClean="0"/>
              <a:t>如果想访问</a:t>
            </a:r>
            <a:r>
              <a:rPr lang="en-US" altLang="zh-CN" sz="2400" dirty="0" smtClean="0"/>
              <a:t>JSON</a:t>
            </a:r>
            <a:r>
              <a:rPr lang="zh-CN" altLang="en-US" sz="2400" dirty="0" smtClean="0"/>
              <a:t>对象</a:t>
            </a:r>
            <a:r>
              <a:rPr lang="zh-CN" altLang="en-US" sz="2400" dirty="0"/>
              <a:t>中的对象</a:t>
            </a:r>
            <a:r>
              <a:rPr lang="zh-CN" altLang="en-US" sz="2400" dirty="0" smtClean="0"/>
              <a:t>，通过链式</a:t>
            </a:r>
            <a:r>
              <a:rPr lang="zh-CN" altLang="en-US" sz="2400" dirty="0"/>
              <a:t>访问</a:t>
            </a:r>
            <a:r>
              <a:rPr lang="zh-CN" altLang="en-US" sz="2400" dirty="0" smtClean="0"/>
              <a:t>（属性</a:t>
            </a:r>
            <a:r>
              <a:rPr lang="zh-CN" altLang="en-US" sz="2400" dirty="0"/>
              <a:t>名和数组索引</a:t>
            </a:r>
            <a:r>
              <a:rPr lang="zh-CN" altLang="en-US" sz="2400" dirty="0" smtClean="0"/>
              <a:t>）</a:t>
            </a:r>
            <a:endParaRPr lang="en-US" altLang="zh-CN" sz="2400" dirty="0" smtClean="0"/>
          </a:p>
          <a:p>
            <a:pPr>
              <a:lnSpc>
                <a:spcPct val="150000"/>
              </a:lnSpc>
            </a:pPr>
            <a:r>
              <a:rPr lang="zh-CN" altLang="en-US" sz="2400" dirty="0" smtClean="0"/>
              <a:t>比如</a:t>
            </a:r>
            <a:r>
              <a:rPr lang="zh-CN" altLang="en-US" sz="2400" dirty="0"/>
              <a:t>访问 </a:t>
            </a:r>
            <a:r>
              <a:rPr lang="en-US" altLang="zh-CN" sz="2400" dirty="0" err="1"/>
              <a:t>superHeroes</a:t>
            </a:r>
            <a:r>
              <a:rPr lang="en-US" altLang="zh-CN" sz="2400" dirty="0"/>
              <a:t> </a:t>
            </a:r>
            <a:r>
              <a:rPr lang="zh-CN" altLang="en-US" sz="2400" dirty="0"/>
              <a:t>对象中的 </a:t>
            </a:r>
            <a:r>
              <a:rPr lang="en-US" altLang="zh-CN" sz="2400" dirty="0"/>
              <a:t>members </a:t>
            </a:r>
            <a:r>
              <a:rPr lang="zh-CN" altLang="en-US" sz="2400" dirty="0"/>
              <a:t>数组对象的第二个元素的 </a:t>
            </a:r>
            <a:r>
              <a:rPr lang="en-US" altLang="zh-CN" sz="2400" dirty="0"/>
              <a:t>powers </a:t>
            </a:r>
            <a:r>
              <a:rPr lang="zh-CN" altLang="en-US" sz="2400" dirty="0"/>
              <a:t>数组对象的第三个</a:t>
            </a:r>
            <a:r>
              <a:rPr lang="zh-CN" altLang="en-US" sz="2400" dirty="0" smtClean="0"/>
              <a:t>元素：</a:t>
            </a:r>
            <a:endParaRPr lang="zh-CN" altLang="en-US" sz="3200" dirty="0"/>
          </a:p>
        </p:txBody>
      </p:sp>
      <p:pic>
        <p:nvPicPr>
          <p:cNvPr id="3" name="图片 2"/>
          <p:cNvPicPr>
            <a:picLocks noChangeAspect="1"/>
          </p:cNvPicPr>
          <p:nvPr/>
        </p:nvPicPr>
        <p:blipFill>
          <a:blip r:embed="rId2"/>
          <a:stretch>
            <a:fillRect/>
          </a:stretch>
        </p:blipFill>
        <p:spPr>
          <a:xfrm>
            <a:off x="3352800" y="3429000"/>
            <a:ext cx="5271500" cy="591699"/>
          </a:xfrm>
          <a:prstGeom prst="rect">
            <a:avLst/>
          </a:prstGeom>
        </p:spPr>
      </p:pic>
      <p:sp>
        <p:nvSpPr>
          <p:cNvPr id="4" name="矩形 3"/>
          <p:cNvSpPr/>
          <p:nvPr/>
        </p:nvSpPr>
        <p:spPr>
          <a:xfrm>
            <a:off x="9231253" y="3469155"/>
            <a:ext cx="2960747" cy="461665"/>
          </a:xfrm>
          <a:prstGeom prst="rect">
            <a:avLst/>
          </a:prstGeom>
        </p:spPr>
        <p:txBody>
          <a:bodyPr wrap="none">
            <a:spAutoFit/>
          </a:bodyPr>
          <a:lstStyle/>
          <a:p>
            <a:r>
              <a:rPr lang="zh-CN" altLang="en-US" sz="2400" dirty="0"/>
              <a:t>'Superhuman reflexes'</a:t>
            </a:r>
            <a:endParaRPr lang="zh-CN" altLang="en-US" sz="2400" dirty="0"/>
          </a:p>
        </p:txBody>
      </p:sp>
      <p:sp>
        <p:nvSpPr>
          <p:cNvPr id="5" name="右箭头 4"/>
          <p:cNvSpPr/>
          <p:nvPr/>
        </p:nvSpPr>
        <p:spPr>
          <a:xfrm>
            <a:off x="8822420" y="3624083"/>
            <a:ext cx="213360" cy="201531"/>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dirty="0"/>
          </a:p>
        </p:txBody>
      </p:sp>
      <p:sp>
        <p:nvSpPr>
          <p:cNvPr id="7" name="标题 1"/>
          <p:cNvSpPr txBox="1"/>
          <p:nvPr/>
        </p:nvSpPr>
        <p:spPr>
          <a:xfrm>
            <a:off x="838200" y="271698"/>
            <a:ext cx="10456875" cy="492443"/>
          </a:xfrm>
          <a:prstGeom prst="rect">
            <a:avLst/>
          </a:prstGeom>
        </p:spPr>
        <p:txBody>
          <a:bodyPr/>
          <a:lstStyle>
            <a:lvl1pPr>
              <a:defRPr>
                <a:latin typeface="+mj-lt"/>
                <a:ea typeface="+mj-ea"/>
                <a:cs typeface="+mj-cs"/>
              </a:defRPr>
            </a:lvl1pPr>
          </a:lstStyle>
          <a:p>
            <a:r>
              <a:rPr lang="en-US" altLang="zh-CN" sz="3200" kern="0" dirty="0" smtClean="0">
                <a:solidFill>
                  <a:sysClr val="windowText" lastClr="000000"/>
                </a:solidFill>
              </a:rPr>
              <a:t>JSON</a:t>
            </a:r>
            <a:r>
              <a:rPr lang="zh-CN" altLang="en-US" sz="3200" kern="0" dirty="0" smtClean="0">
                <a:solidFill>
                  <a:sysClr val="windowText" lastClr="000000"/>
                </a:solidFill>
              </a:rPr>
              <a:t>对象数组</a:t>
            </a:r>
            <a:endParaRPr lang="zh-CN" altLang="en-US" sz="3200" kern="0" dirty="0">
              <a:solidFill>
                <a:sysClr val="windowText" lastClr="000000"/>
              </a:solidFill>
            </a:endParaRPr>
          </a:p>
        </p:txBody>
      </p:sp>
      <p:pic>
        <p:nvPicPr>
          <p:cNvPr id="2" name="图片 1"/>
          <p:cNvPicPr>
            <a:picLocks noChangeAspect="1"/>
          </p:cNvPicPr>
          <p:nvPr/>
        </p:nvPicPr>
        <p:blipFill>
          <a:blip r:embed="rId1"/>
          <a:stretch>
            <a:fillRect/>
          </a:stretch>
        </p:blipFill>
        <p:spPr>
          <a:xfrm>
            <a:off x="533400" y="1351598"/>
            <a:ext cx="3180584" cy="5033962"/>
          </a:xfrm>
          <a:prstGeom prst="rect">
            <a:avLst/>
          </a:prstGeom>
        </p:spPr>
      </p:pic>
      <p:sp>
        <p:nvSpPr>
          <p:cNvPr id="3" name="矩形 2"/>
          <p:cNvSpPr/>
          <p:nvPr/>
        </p:nvSpPr>
        <p:spPr>
          <a:xfrm>
            <a:off x="4267200" y="1321118"/>
            <a:ext cx="7848600" cy="3508653"/>
          </a:xfrm>
          <a:prstGeom prst="rect">
            <a:avLst/>
          </a:prstGeom>
        </p:spPr>
        <p:txBody>
          <a:bodyPr wrap="square">
            <a:spAutoFit/>
          </a:bodyPr>
          <a:lstStyle/>
          <a:p>
            <a:pPr lvl="0">
              <a:lnSpc>
                <a:spcPct val="150000"/>
              </a:lnSpc>
            </a:pPr>
            <a:r>
              <a:rPr lang="zh-CN" altLang="en-US" sz="2400" dirty="0" smtClean="0">
                <a:solidFill>
                  <a:prstClr val="black"/>
                </a:solidFill>
              </a:rPr>
              <a:t>通过数组索引访问数组元素</a:t>
            </a:r>
            <a:endParaRPr lang="en-US" altLang="zh-CN" sz="2400" dirty="0" smtClean="0">
              <a:solidFill>
                <a:prstClr val="black"/>
              </a:solidFill>
            </a:endParaRPr>
          </a:p>
          <a:p>
            <a:pPr lvl="0">
              <a:lnSpc>
                <a:spcPct val="150000"/>
              </a:lnSpc>
            </a:pPr>
            <a:r>
              <a:rPr lang="zh-CN" altLang="en-US" sz="2400" dirty="0" smtClean="0">
                <a:solidFill>
                  <a:prstClr val="black"/>
                </a:solidFill>
              </a:rPr>
              <a:t>注意：</a:t>
            </a:r>
            <a:endParaRPr lang="en-US" altLang="zh-CN" sz="2400" dirty="0" smtClean="0">
              <a:solidFill>
                <a:prstClr val="black"/>
              </a:solidFill>
            </a:endParaRPr>
          </a:p>
          <a:p>
            <a:pPr marL="457200" lvl="0" indent="-457200">
              <a:lnSpc>
                <a:spcPct val="150000"/>
              </a:lnSpc>
              <a:buFont typeface="+mj-lt"/>
              <a:buAutoNum type="arabicPeriod"/>
            </a:pPr>
            <a:r>
              <a:rPr lang="en-US" altLang="zh-CN" sz="2000" dirty="0">
                <a:solidFill>
                  <a:prstClr val="black"/>
                </a:solidFill>
              </a:rPr>
              <a:t>JSON </a:t>
            </a:r>
            <a:r>
              <a:rPr lang="zh-CN" altLang="en-US" sz="2000" dirty="0">
                <a:solidFill>
                  <a:prstClr val="black"/>
                </a:solidFill>
              </a:rPr>
              <a:t>是一种纯数据格式，它只包含属性，没有方法。</a:t>
            </a:r>
            <a:endParaRPr lang="zh-CN" altLang="en-US" sz="2000" dirty="0">
              <a:solidFill>
                <a:prstClr val="black"/>
              </a:solidFill>
            </a:endParaRPr>
          </a:p>
          <a:p>
            <a:pPr marL="457200" lvl="0" indent="-457200">
              <a:lnSpc>
                <a:spcPct val="150000"/>
              </a:lnSpc>
              <a:buFont typeface="+mj-lt"/>
              <a:buAutoNum type="arabicPeriod"/>
            </a:pPr>
            <a:r>
              <a:rPr lang="en-US" altLang="zh-CN" sz="2000" dirty="0">
                <a:solidFill>
                  <a:prstClr val="black"/>
                </a:solidFill>
              </a:rPr>
              <a:t>JSON </a:t>
            </a:r>
            <a:r>
              <a:rPr lang="zh-CN" altLang="en-US" sz="2000" dirty="0">
                <a:solidFill>
                  <a:prstClr val="black"/>
                </a:solidFill>
              </a:rPr>
              <a:t>要求在字符串和属性名称周围使用双引号。单引号无效。</a:t>
            </a:r>
            <a:endParaRPr lang="zh-CN" altLang="en-US" sz="2000" dirty="0">
              <a:solidFill>
                <a:prstClr val="black"/>
              </a:solidFill>
            </a:endParaRPr>
          </a:p>
          <a:p>
            <a:pPr marL="457200" lvl="0" indent="-457200">
              <a:lnSpc>
                <a:spcPct val="150000"/>
              </a:lnSpc>
              <a:buFont typeface="+mj-lt"/>
              <a:buAutoNum type="arabicPeriod"/>
            </a:pPr>
            <a:r>
              <a:rPr lang="zh-CN" altLang="en-US" sz="2000" dirty="0">
                <a:solidFill>
                  <a:prstClr val="black"/>
                </a:solidFill>
              </a:rPr>
              <a:t>甚至一个错位的逗号或分号就可以导致 </a:t>
            </a:r>
            <a:r>
              <a:rPr lang="en-US" altLang="zh-CN" sz="2000" dirty="0">
                <a:solidFill>
                  <a:prstClr val="black"/>
                </a:solidFill>
              </a:rPr>
              <a:t>JSON </a:t>
            </a:r>
            <a:r>
              <a:rPr lang="zh-CN" altLang="en-US" sz="2000" dirty="0">
                <a:solidFill>
                  <a:prstClr val="black"/>
                </a:solidFill>
              </a:rPr>
              <a:t>文件出错。</a:t>
            </a:r>
            <a:endParaRPr lang="zh-CN" altLang="en-US" sz="2000" dirty="0">
              <a:solidFill>
                <a:prstClr val="black"/>
              </a:solidFill>
            </a:endParaRPr>
          </a:p>
          <a:p>
            <a:pPr marL="457200" lvl="0" indent="-457200">
              <a:lnSpc>
                <a:spcPct val="150000"/>
              </a:lnSpc>
              <a:buFont typeface="+mj-lt"/>
              <a:buAutoNum type="arabicPeriod"/>
            </a:pPr>
            <a:r>
              <a:rPr lang="zh-CN" altLang="en-US" sz="2000" dirty="0">
                <a:solidFill>
                  <a:prstClr val="black"/>
                </a:solidFill>
              </a:rPr>
              <a:t>与 </a:t>
            </a:r>
            <a:r>
              <a:rPr lang="en-US" altLang="zh-CN" sz="2000" dirty="0">
                <a:solidFill>
                  <a:prstClr val="black"/>
                </a:solidFill>
              </a:rPr>
              <a:t>JavaScript </a:t>
            </a:r>
            <a:r>
              <a:rPr lang="zh-CN" altLang="en-US" sz="2000" dirty="0">
                <a:solidFill>
                  <a:prstClr val="black"/>
                </a:solidFill>
              </a:rPr>
              <a:t>代码中对象属性可以不加引号不同，</a:t>
            </a:r>
            <a:r>
              <a:rPr lang="en-US" altLang="zh-CN" sz="2000" dirty="0">
                <a:solidFill>
                  <a:prstClr val="black"/>
                </a:solidFill>
              </a:rPr>
              <a:t>JSON </a:t>
            </a:r>
            <a:r>
              <a:rPr lang="zh-CN" altLang="en-US" sz="2000" dirty="0">
                <a:solidFill>
                  <a:prstClr val="black"/>
                </a:solidFill>
              </a:rPr>
              <a:t>中只有带引号的字符串可以用作属性。</a:t>
            </a:r>
            <a:endParaRPr lang="en-US" altLang="zh-CN" sz="2000" dirty="0">
              <a:solidFill>
                <a:prstClr val="black"/>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7763" y="1197986"/>
            <a:ext cx="9216837" cy="381515"/>
          </a:xfrm>
          <a:prstGeom prst="rect">
            <a:avLst/>
          </a:prstGeom>
        </p:spPr>
        <p:txBody>
          <a:bodyPr vert="horz" wrap="square" lIns="0" tIns="12065" rIns="0" bIns="0" rtlCol="0">
            <a:spAutoFit/>
          </a:bodyPr>
          <a:lstStyle/>
          <a:p>
            <a:pPr marL="12700">
              <a:lnSpc>
                <a:spcPct val="100000"/>
              </a:lnSpc>
              <a:spcBef>
                <a:spcPts val="95"/>
              </a:spcBef>
            </a:pPr>
            <a:r>
              <a:rPr sz="2400" spc="-30" dirty="0">
                <a:solidFill>
                  <a:srgbClr val="252525"/>
                </a:solidFill>
                <a:latin typeface="宋体"/>
                <a:cs typeface="宋体"/>
              </a:rPr>
              <a:t>对象本质是无序的数据集合</a:t>
            </a:r>
            <a:r>
              <a:rPr sz="2400" spc="-320" dirty="0">
                <a:solidFill>
                  <a:srgbClr val="252525"/>
                </a:solidFill>
                <a:latin typeface="宋体"/>
                <a:cs typeface="宋体"/>
              </a:rPr>
              <a:t>,</a:t>
            </a:r>
            <a:r>
              <a:rPr sz="2400" spc="-365" dirty="0">
                <a:solidFill>
                  <a:srgbClr val="252525"/>
                </a:solidFill>
                <a:latin typeface="宋体"/>
                <a:cs typeface="宋体"/>
              </a:rPr>
              <a:t> </a:t>
            </a:r>
            <a:r>
              <a:rPr sz="2400" spc="-30" dirty="0">
                <a:solidFill>
                  <a:srgbClr val="252525"/>
                </a:solidFill>
                <a:latin typeface="宋体"/>
                <a:cs typeface="宋体"/>
              </a:rPr>
              <a:t>操作数据无非就是</a:t>
            </a:r>
            <a:r>
              <a:rPr sz="2400" spc="-380" dirty="0">
                <a:solidFill>
                  <a:srgbClr val="252525"/>
                </a:solidFill>
                <a:latin typeface="宋体"/>
                <a:cs typeface="宋体"/>
              </a:rPr>
              <a:t> </a:t>
            </a:r>
            <a:r>
              <a:rPr sz="2400" spc="-30" dirty="0">
                <a:solidFill>
                  <a:srgbClr val="C00000"/>
                </a:solidFill>
                <a:latin typeface="宋体"/>
                <a:cs typeface="宋体"/>
              </a:rPr>
              <a:t>增</a:t>
            </a:r>
            <a:r>
              <a:rPr sz="2400" spc="-395" dirty="0">
                <a:solidFill>
                  <a:srgbClr val="C00000"/>
                </a:solidFill>
                <a:latin typeface="宋体"/>
                <a:cs typeface="宋体"/>
              </a:rPr>
              <a:t> </a:t>
            </a:r>
            <a:r>
              <a:rPr sz="2400" spc="-30" dirty="0">
                <a:solidFill>
                  <a:srgbClr val="C00000"/>
                </a:solidFill>
                <a:latin typeface="宋体"/>
                <a:cs typeface="宋体"/>
              </a:rPr>
              <a:t>删</a:t>
            </a:r>
            <a:r>
              <a:rPr sz="2400" spc="-390" dirty="0">
                <a:solidFill>
                  <a:srgbClr val="C00000"/>
                </a:solidFill>
                <a:latin typeface="宋体"/>
                <a:cs typeface="宋体"/>
              </a:rPr>
              <a:t> </a:t>
            </a:r>
            <a:r>
              <a:rPr sz="2400" spc="-30" dirty="0">
                <a:solidFill>
                  <a:srgbClr val="C00000"/>
                </a:solidFill>
                <a:latin typeface="宋体"/>
                <a:cs typeface="宋体"/>
              </a:rPr>
              <a:t>改</a:t>
            </a:r>
            <a:r>
              <a:rPr sz="2400" spc="-409" dirty="0">
                <a:solidFill>
                  <a:srgbClr val="C00000"/>
                </a:solidFill>
                <a:latin typeface="宋体"/>
                <a:cs typeface="宋体"/>
              </a:rPr>
              <a:t> </a:t>
            </a:r>
            <a:r>
              <a:rPr sz="2400" spc="-30" dirty="0">
                <a:solidFill>
                  <a:srgbClr val="C00000"/>
                </a:solidFill>
                <a:latin typeface="宋体"/>
                <a:cs typeface="宋体"/>
              </a:rPr>
              <a:t>查</a:t>
            </a:r>
            <a:r>
              <a:rPr sz="2400" spc="-395" dirty="0">
                <a:solidFill>
                  <a:srgbClr val="C00000"/>
                </a:solidFill>
                <a:latin typeface="宋体"/>
                <a:cs typeface="宋体"/>
              </a:rPr>
              <a:t> </a:t>
            </a:r>
            <a:r>
              <a:rPr sz="2400" spc="-30" dirty="0">
                <a:solidFill>
                  <a:srgbClr val="404040"/>
                </a:solidFill>
                <a:latin typeface="宋体"/>
                <a:cs typeface="宋体"/>
              </a:rPr>
              <a:t>语法：</a:t>
            </a:r>
            <a:endParaRPr sz="2400" dirty="0">
              <a:latin typeface="宋体"/>
              <a:cs typeface="宋体"/>
            </a:endParaRPr>
          </a:p>
        </p:txBody>
      </p:sp>
      <p:sp>
        <p:nvSpPr>
          <p:cNvPr id="4" name="object 4"/>
          <p:cNvSpPr/>
          <p:nvPr/>
        </p:nvSpPr>
        <p:spPr>
          <a:xfrm>
            <a:off x="6117335" y="2528316"/>
            <a:ext cx="1144905" cy="1144905"/>
          </a:xfrm>
          <a:custGeom>
            <a:avLst/>
            <a:gdLst/>
            <a:ahLst/>
            <a:cxnLst/>
            <a:rect l="l" t="t" r="r" b="b"/>
            <a:pathLst>
              <a:path w="1144904" h="1144904">
                <a:moveTo>
                  <a:pt x="572262" y="0"/>
                </a:moveTo>
                <a:lnTo>
                  <a:pt x="525320" y="1896"/>
                </a:lnTo>
                <a:lnTo>
                  <a:pt x="479425" y="7488"/>
                </a:lnTo>
                <a:lnTo>
                  <a:pt x="434724" y="16628"/>
                </a:lnTo>
                <a:lnTo>
                  <a:pt x="391363" y="29169"/>
                </a:lnTo>
                <a:lnTo>
                  <a:pt x="349490" y="44963"/>
                </a:lnTo>
                <a:lnTo>
                  <a:pt x="309251" y="63865"/>
                </a:lnTo>
                <a:lnTo>
                  <a:pt x="270795" y="85725"/>
                </a:lnTo>
                <a:lnTo>
                  <a:pt x="234269" y="110398"/>
                </a:lnTo>
                <a:lnTo>
                  <a:pt x="199819" y="137736"/>
                </a:lnTo>
                <a:lnTo>
                  <a:pt x="167592" y="167592"/>
                </a:lnTo>
                <a:lnTo>
                  <a:pt x="137736" y="199819"/>
                </a:lnTo>
                <a:lnTo>
                  <a:pt x="110398" y="234269"/>
                </a:lnTo>
                <a:lnTo>
                  <a:pt x="85725" y="270795"/>
                </a:lnTo>
                <a:lnTo>
                  <a:pt x="63865" y="309251"/>
                </a:lnTo>
                <a:lnTo>
                  <a:pt x="44963" y="349490"/>
                </a:lnTo>
                <a:lnTo>
                  <a:pt x="29169" y="391363"/>
                </a:lnTo>
                <a:lnTo>
                  <a:pt x="16628" y="434724"/>
                </a:lnTo>
                <a:lnTo>
                  <a:pt x="7488" y="479425"/>
                </a:lnTo>
                <a:lnTo>
                  <a:pt x="1896" y="525320"/>
                </a:lnTo>
                <a:lnTo>
                  <a:pt x="0" y="572262"/>
                </a:lnTo>
                <a:lnTo>
                  <a:pt x="1896" y="619203"/>
                </a:lnTo>
                <a:lnTo>
                  <a:pt x="7488" y="665098"/>
                </a:lnTo>
                <a:lnTo>
                  <a:pt x="16628" y="709799"/>
                </a:lnTo>
                <a:lnTo>
                  <a:pt x="29169" y="753160"/>
                </a:lnTo>
                <a:lnTo>
                  <a:pt x="44963" y="795033"/>
                </a:lnTo>
                <a:lnTo>
                  <a:pt x="63865" y="835272"/>
                </a:lnTo>
                <a:lnTo>
                  <a:pt x="85725" y="873728"/>
                </a:lnTo>
                <a:lnTo>
                  <a:pt x="110398" y="910254"/>
                </a:lnTo>
                <a:lnTo>
                  <a:pt x="137736" y="944704"/>
                </a:lnTo>
                <a:lnTo>
                  <a:pt x="167592" y="976931"/>
                </a:lnTo>
                <a:lnTo>
                  <a:pt x="199819" y="1006787"/>
                </a:lnTo>
                <a:lnTo>
                  <a:pt x="234269" y="1034125"/>
                </a:lnTo>
                <a:lnTo>
                  <a:pt x="270795" y="1058798"/>
                </a:lnTo>
                <a:lnTo>
                  <a:pt x="309251" y="1080658"/>
                </a:lnTo>
                <a:lnTo>
                  <a:pt x="349490" y="1099560"/>
                </a:lnTo>
                <a:lnTo>
                  <a:pt x="391363" y="1115354"/>
                </a:lnTo>
                <a:lnTo>
                  <a:pt x="434724" y="1127895"/>
                </a:lnTo>
                <a:lnTo>
                  <a:pt x="479425" y="1137035"/>
                </a:lnTo>
                <a:lnTo>
                  <a:pt x="525320" y="1142627"/>
                </a:lnTo>
                <a:lnTo>
                  <a:pt x="572262" y="1144524"/>
                </a:lnTo>
                <a:lnTo>
                  <a:pt x="619203" y="1142627"/>
                </a:lnTo>
                <a:lnTo>
                  <a:pt x="665098" y="1137035"/>
                </a:lnTo>
                <a:lnTo>
                  <a:pt x="709799" y="1127895"/>
                </a:lnTo>
                <a:lnTo>
                  <a:pt x="753160" y="1115354"/>
                </a:lnTo>
                <a:lnTo>
                  <a:pt x="795033" y="1099560"/>
                </a:lnTo>
                <a:lnTo>
                  <a:pt x="835272" y="1080658"/>
                </a:lnTo>
                <a:lnTo>
                  <a:pt x="873728" y="1058798"/>
                </a:lnTo>
                <a:lnTo>
                  <a:pt x="910254" y="1034125"/>
                </a:lnTo>
                <a:lnTo>
                  <a:pt x="944704" y="1006787"/>
                </a:lnTo>
                <a:lnTo>
                  <a:pt x="976931" y="976931"/>
                </a:lnTo>
                <a:lnTo>
                  <a:pt x="1006787" y="944704"/>
                </a:lnTo>
                <a:lnTo>
                  <a:pt x="1034125" y="910254"/>
                </a:lnTo>
                <a:lnTo>
                  <a:pt x="1058798" y="873728"/>
                </a:lnTo>
                <a:lnTo>
                  <a:pt x="1080658" y="835272"/>
                </a:lnTo>
                <a:lnTo>
                  <a:pt x="1099560" y="795033"/>
                </a:lnTo>
                <a:lnTo>
                  <a:pt x="1115354" y="753160"/>
                </a:lnTo>
                <a:lnTo>
                  <a:pt x="1127895" y="709799"/>
                </a:lnTo>
                <a:lnTo>
                  <a:pt x="1137035" y="665098"/>
                </a:lnTo>
                <a:lnTo>
                  <a:pt x="1142627" y="619203"/>
                </a:lnTo>
                <a:lnTo>
                  <a:pt x="1144523" y="572262"/>
                </a:lnTo>
                <a:lnTo>
                  <a:pt x="1142627" y="525320"/>
                </a:lnTo>
                <a:lnTo>
                  <a:pt x="1137035" y="479425"/>
                </a:lnTo>
                <a:lnTo>
                  <a:pt x="1127895" y="434724"/>
                </a:lnTo>
                <a:lnTo>
                  <a:pt x="1115354" y="391363"/>
                </a:lnTo>
                <a:lnTo>
                  <a:pt x="1099560" y="349490"/>
                </a:lnTo>
                <a:lnTo>
                  <a:pt x="1080658" y="309251"/>
                </a:lnTo>
                <a:lnTo>
                  <a:pt x="1058798" y="270795"/>
                </a:lnTo>
                <a:lnTo>
                  <a:pt x="1034125" y="234269"/>
                </a:lnTo>
                <a:lnTo>
                  <a:pt x="1006787" y="199819"/>
                </a:lnTo>
                <a:lnTo>
                  <a:pt x="976931" y="167592"/>
                </a:lnTo>
                <a:lnTo>
                  <a:pt x="944704" y="137736"/>
                </a:lnTo>
                <a:lnTo>
                  <a:pt x="910254" y="110398"/>
                </a:lnTo>
                <a:lnTo>
                  <a:pt x="873728" y="85725"/>
                </a:lnTo>
                <a:lnTo>
                  <a:pt x="835272" y="63865"/>
                </a:lnTo>
                <a:lnTo>
                  <a:pt x="795033" y="44963"/>
                </a:lnTo>
                <a:lnTo>
                  <a:pt x="753160" y="29169"/>
                </a:lnTo>
                <a:lnTo>
                  <a:pt x="709799" y="16628"/>
                </a:lnTo>
                <a:lnTo>
                  <a:pt x="665098" y="7488"/>
                </a:lnTo>
                <a:lnTo>
                  <a:pt x="619203" y="1896"/>
                </a:lnTo>
                <a:lnTo>
                  <a:pt x="572262" y="0"/>
                </a:lnTo>
                <a:close/>
              </a:path>
            </a:pathLst>
          </a:custGeom>
          <a:solidFill>
            <a:srgbClr val="48504F"/>
          </a:solidFill>
        </p:spPr>
        <p:txBody>
          <a:bodyPr wrap="square" lIns="0" tIns="0" rIns="0" bIns="0" rtlCol="0"/>
          <a:lstStyle/>
          <a:p/>
        </p:txBody>
      </p:sp>
      <p:sp>
        <p:nvSpPr>
          <p:cNvPr id="5" name="object 5"/>
          <p:cNvSpPr txBox="1"/>
          <p:nvPr/>
        </p:nvSpPr>
        <p:spPr>
          <a:xfrm>
            <a:off x="6526148" y="2881325"/>
            <a:ext cx="325755" cy="391795"/>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FDF9BB"/>
                </a:solidFill>
                <a:latin typeface="宋体"/>
                <a:cs typeface="宋体"/>
              </a:rPr>
              <a:t>改</a:t>
            </a:r>
            <a:endParaRPr sz="2400">
              <a:latin typeface="宋体"/>
              <a:cs typeface="宋体"/>
            </a:endParaRPr>
          </a:p>
        </p:txBody>
      </p:sp>
      <p:sp>
        <p:nvSpPr>
          <p:cNvPr id="6" name="object 6"/>
          <p:cNvSpPr/>
          <p:nvPr/>
        </p:nvSpPr>
        <p:spPr>
          <a:xfrm>
            <a:off x="6117335" y="4562855"/>
            <a:ext cx="1144905" cy="1143000"/>
          </a:xfrm>
          <a:custGeom>
            <a:avLst/>
            <a:gdLst/>
            <a:ahLst/>
            <a:cxnLst/>
            <a:rect l="l" t="t" r="r" b="b"/>
            <a:pathLst>
              <a:path w="1144904" h="1143000">
                <a:moveTo>
                  <a:pt x="572262" y="0"/>
                </a:moveTo>
                <a:lnTo>
                  <a:pt x="525320" y="1894"/>
                </a:lnTo>
                <a:lnTo>
                  <a:pt x="479425" y="7480"/>
                </a:lnTo>
                <a:lnTo>
                  <a:pt x="434724" y="16611"/>
                </a:lnTo>
                <a:lnTo>
                  <a:pt x="391363" y="29138"/>
                </a:lnTo>
                <a:lnTo>
                  <a:pt x="349490" y="44916"/>
                </a:lnTo>
                <a:lnTo>
                  <a:pt x="309251" y="63796"/>
                </a:lnTo>
                <a:lnTo>
                  <a:pt x="270795" y="85632"/>
                </a:lnTo>
                <a:lnTo>
                  <a:pt x="234269" y="110276"/>
                </a:lnTo>
                <a:lnTo>
                  <a:pt x="199819" y="137582"/>
                </a:lnTo>
                <a:lnTo>
                  <a:pt x="167592" y="167401"/>
                </a:lnTo>
                <a:lnTo>
                  <a:pt x="137736" y="199588"/>
                </a:lnTo>
                <a:lnTo>
                  <a:pt x="110398" y="233994"/>
                </a:lnTo>
                <a:lnTo>
                  <a:pt x="85725" y="270474"/>
                </a:lnTo>
                <a:lnTo>
                  <a:pt x="63865" y="308878"/>
                </a:lnTo>
                <a:lnTo>
                  <a:pt x="44963" y="349061"/>
                </a:lnTo>
                <a:lnTo>
                  <a:pt x="29169" y="390875"/>
                </a:lnTo>
                <a:lnTo>
                  <a:pt x="16628" y="434173"/>
                </a:lnTo>
                <a:lnTo>
                  <a:pt x="7488" y="478808"/>
                </a:lnTo>
                <a:lnTo>
                  <a:pt x="1896" y="524632"/>
                </a:lnTo>
                <a:lnTo>
                  <a:pt x="0" y="571500"/>
                </a:lnTo>
                <a:lnTo>
                  <a:pt x="1896" y="618367"/>
                </a:lnTo>
                <a:lnTo>
                  <a:pt x="7488" y="664191"/>
                </a:lnTo>
                <a:lnTo>
                  <a:pt x="16628" y="708826"/>
                </a:lnTo>
                <a:lnTo>
                  <a:pt x="29169" y="752124"/>
                </a:lnTo>
                <a:lnTo>
                  <a:pt x="44963" y="793938"/>
                </a:lnTo>
                <a:lnTo>
                  <a:pt x="63865" y="834121"/>
                </a:lnTo>
                <a:lnTo>
                  <a:pt x="85725" y="872525"/>
                </a:lnTo>
                <a:lnTo>
                  <a:pt x="110398" y="909005"/>
                </a:lnTo>
                <a:lnTo>
                  <a:pt x="137736" y="943411"/>
                </a:lnTo>
                <a:lnTo>
                  <a:pt x="167592" y="975598"/>
                </a:lnTo>
                <a:lnTo>
                  <a:pt x="199819" y="1005417"/>
                </a:lnTo>
                <a:lnTo>
                  <a:pt x="234269" y="1032723"/>
                </a:lnTo>
                <a:lnTo>
                  <a:pt x="270795" y="1057367"/>
                </a:lnTo>
                <a:lnTo>
                  <a:pt x="309251" y="1079203"/>
                </a:lnTo>
                <a:lnTo>
                  <a:pt x="349490" y="1098083"/>
                </a:lnTo>
                <a:lnTo>
                  <a:pt x="391363" y="1113861"/>
                </a:lnTo>
                <a:lnTo>
                  <a:pt x="434724" y="1126388"/>
                </a:lnTo>
                <a:lnTo>
                  <a:pt x="479425" y="1135519"/>
                </a:lnTo>
                <a:lnTo>
                  <a:pt x="525320" y="1141105"/>
                </a:lnTo>
                <a:lnTo>
                  <a:pt x="572262" y="1143000"/>
                </a:lnTo>
                <a:lnTo>
                  <a:pt x="619203" y="1141105"/>
                </a:lnTo>
                <a:lnTo>
                  <a:pt x="665098" y="1135519"/>
                </a:lnTo>
                <a:lnTo>
                  <a:pt x="709799" y="1126388"/>
                </a:lnTo>
                <a:lnTo>
                  <a:pt x="753160" y="1113861"/>
                </a:lnTo>
                <a:lnTo>
                  <a:pt x="795033" y="1098083"/>
                </a:lnTo>
                <a:lnTo>
                  <a:pt x="835272" y="1079203"/>
                </a:lnTo>
                <a:lnTo>
                  <a:pt x="873728" y="1057367"/>
                </a:lnTo>
                <a:lnTo>
                  <a:pt x="910254" y="1032723"/>
                </a:lnTo>
                <a:lnTo>
                  <a:pt x="944704" y="1005417"/>
                </a:lnTo>
                <a:lnTo>
                  <a:pt x="976931" y="975598"/>
                </a:lnTo>
                <a:lnTo>
                  <a:pt x="1006787" y="943411"/>
                </a:lnTo>
                <a:lnTo>
                  <a:pt x="1034125" y="909005"/>
                </a:lnTo>
                <a:lnTo>
                  <a:pt x="1058798" y="872525"/>
                </a:lnTo>
                <a:lnTo>
                  <a:pt x="1080658" y="834121"/>
                </a:lnTo>
                <a:lnTo>
                  <a:pt x="1099560" y="793938"/>
                </a:lnTo>
                <a:lnTo>
                  <a:pt x="1115354" y="752124"/>
                </a:lnTo>
                <a:lnTo>
                  <a:pt x="1127895" y="708826"/>
                </a:lnTo>
                <a:lnTo>
                  <a:pt x="1137035" y="664191"/>
                </a:lnTo>
                <a:lnTo>
                  <a:pt x="1142627" y="618367"/>
                </a:lnTo>
                <a:lnTo>
                  <a:pt x="1144523" y="571500"/>
                </a:lnTo>
                <a:lnTo>
                  <a:pt x="1142627" y="524632"/>
                </a:lnTo>
                <a:lnTo>
                  <a:pt x="1137035" y="478808"/>
                </a:lnTo>
                <a:lnTo>
                  <a:pt x="1127895" y="434173"/>
                </a:lnTo>
                <a:lnTo>
                  <a:pt x="1115354" y="390875"/>
                </a:lnTo>
                <a:lnTo>
                  <a:pt x="1099560" y="349061"/>
                </a:lnTo>
                <a:lnTo>
                  <a:pt x="1080658" y="308878"/>
                </a:lnTo>
                <a:lnTo>
                  <a:pt x="1058798" y="270474"/>
                </a:lnTo>
                <a:lnTo>
                  <a:pt x="1034125" y="233994"/>
                </a:lnTo>
                <a:lnTo>
                  <a:pt x="1006787" y="199588"/>
                </a:lnTo>
                <a:lnTo>
                  <a:pt x="976931" y="167401"/>
                </a:lnTo>
                <a:lnTo>
                  <a:pt x="944704" y="137582"/>
                </a:lnTo>
                <a:lnTo>
                  <a:pt x="910254" y="110276"/>
                </a:lnTo>
                <a:lnTo>
                  <a:pt x="873728" y="85632"/>
                </a:lnTo>
                <a:lnTo>
                  <a:pt x="835272" y="63796"/>
                </a:lnTo>
                <a:lnTo>
                  <a:pt x="795033" y="44916"/>
                </a:lnTo>
                <a:lnTo>
                  <a:pt x="753160" y="29138"/>
                </a:lnTo>
                <a:lnTo>
                  <a:pt x="709799" y="16611"/>
                </a:lnTo>
                <a:lnTo>
                  <a:pt x="665098" y="7480"/>
                </a:lnTo>
                <a:lnTo>
                  <a:pt x="619203" y="1894"/>
                </a:lnTo>
                <a:lnTo>
                  <a:pt x="572262" y="0"/>
                </a:lnTo>
                <a:close/>
              </a:path>
            </a:pathLst>
          </a:custGeom>
          <a:solidFill>
            <a:srgbClr val="AC2B25"/>
          </a:solidFill>
        </p:spPr>
        <p:txBody>
          <a:bodyPr wrap="square" lIns="0" tIns="0" rIns="0" bIns="0" rtlCol="0"/>
          <a:lstStyle/>
          <a:p/>
        </p:txBody>
      </p:sp>
      <p:sp>
        <p:nvSpPr>
          <p:cNvPr id="7" name="object 7"/>
          <p:cNvSpPr txBox="1"/>
          <p:nvPr/>
        </p:nvSpPr>
        <p:spPr>
          <a:xfrm>
            <a:off x="6526148" y="4915661"/>
            <a:ext cx="325755" cy="391160"/>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FDF9BB"/>
                </a:solidFill>
                <a:latin typeface="宋体"/>
                <a:cs typeface="宋体"/>
              </a:rPr>
              <a:t>删</a:t>
            </a:r>
            <a:endParaRPr sz="2400">
              <a:latin typeface="宋体"/>
              <a:cs typeface="宋体"/>
            </a:endParaRPr>
          </a:p>
        </p:txBody>
      </p:sp>
      <p:sp>
        <p:nvSpPr>
          <p:cNvPr id="8" name="object 8"/>
          <p:cNvSpPr/>
          <p:nvPr/>
        </p:nvSpPr>
        <p:spPr>
          <a:xfrm>
            <a:off x="4116323" y="2528316"/>
            <a:ext cx="1144905" cy="1144905"/>
          </a:xfrm>
          <a:custGeom>
            <a:avLst/>
            <a:gdLst/>
            <a:ahLst/>
            <a:cxnLst/>
            <a:rect l="l" t="t" r="r" b="b"/>
            <a:pathLst>
              <a:path w="1144904" h="1144904">
                <a:moveTo>
                  <a:pt x="572262" y="0"/>
                </a:moveTo>
                <a:lnTo>
                  <a:pt x="525320" y="1896"/>
                </a:lnTo>
                <a:lnTo>
                  <a:pt x="479425" y="7488"/>
                </a:lnTo>
                <a:lnTo>
                  <a:pt x="434724" y="16628"/>
                </a:lnTo>
                <a:lnTo>
                  <a:pt x="391363" y="29169"/>
                </a:lnTo>
                <a:lnTo>
                  <a:pt x="349490" y="44963"/>
                </a:lnTo>
                <a:lnTo>
                  <a:pt x="309251" y="63865"/>
                </a:lnTo>
                <a:lnTo>
                  <a:pt x="270795" y="85725"/>
                </a:lnTo>
                <a:lnTo>
                  <a:pt x="234269" y="110398"/>
                </a:lnTo>
                <a:lnTo>
                  <a:pt x="199819" y="137736"/>
                </a:lnTo>
                <a:lnTo>
                  <a:pt x="167592" y="167592"/>
                </a:lnTo>
                <a:lnTo>
                  <a:pt x="137736" y="199819"/>
                </a:lnTo>
                <a:lnTo>
                  <a:pt x="110398" y="234269"/>
                </a:lnTo>
                <a:lnTo>
                  <a:pt x="85725" y="270795"/>
                </a:lnTo>
                <a:lnTo>
                  <a:pt x="63865" y="309251"/>
                </a:lnTo>
                <a:lnTo>
                  <a:pt x="44963" y="349490"/>
                </a:lnTo>
                <a:lnTo>
                  <a:pt x="29169" y="391363"/>
                </a:lnTo>
                <a:lnTo>
                  <a:pt x="16628" y="434724"/>
                </a:lnTo>
                <a:lnTo>
                  <a:pt x="7488" y="479425"/>
                </a:lnTo>
                <a:lnTo>
                  <a:pt x="1896" y="525320"/>
                </a:lnTo>
                <a:lnTo>
                  <a:pt x="0" y="572262"/>
                </a:lnTo>
                <a:lnTo>
                  <a:pt x="1896" y="619203"/>
                </a:lnTo>
                <a:lnTo>
                  <a:pt x="7488" y="665098"/>
                </a:lnTo>
                <a:lnTo>
                  <a:pt x="16628" y="709799"/>
                </a:lnTo>
                <a:lnTo>
                  <a:pt x="29169" y="753160"/>
                </a:lnTo>
                <a:lnTo>
                  <a:pt x="44963" y="795033"/>
                </a:lnTo>
                <a:lnTo>
                  <a:pt x="63865" y="835272"/>
                </a:lnTo>
                <a:lnTo>
                  <a:pt x="85725" y="873728"/>
                </a:lnTo>
                <a:lnTo>
                  <a:pt x="110398" y="910254"/>
                </a:lnTo>
                <a:lnTo>
                  <a:pt x="137736" y="944704"/>
                </a:lnTo>
                <a:lnTo>
                  <a:pt x="167592" y="976931"/>
                </a:lnTo>
                <a:lnTo>
                  <a:pt x="199819" y="1006787"/>
                </a:lnTo>
                <a:lnTo>
                  <a:pt x="234269" y="1034125"/>
                </a:lnTo>
                <a:lnTo>
                  <a:pt x="270795" y="1058798"/>
                </a:lnTo>
                <a:lnTo>
                  <a:pt x="309251" y="1080658"/>
                </a:lnTo>
                <a:lnTo>
                  <a:pt x="349490" y="1099560"/>
                </a:lnTo>
                <a:lnTo>
                  <a:pt x="391363" y="1115354"/>
                </a:lnTo>
                <a:lnTo>
                  <a:pt x="434724" y="1127895"/>
                </a:lnTo>
                <a:lnTo>
                  <a:pt x="479425" y="1137035"/>
                </a:lnTo>
                <a:lnTo>
                  <a:pt x="525320" y="1142627"/>
                </a:lnTo>
                <a:lnTo>
                  <a:pt x="572262" y="1144524"/>
                </a:lnTo>
                <a:lnTo>
                  <a:pt x="619203" y="1142627"/>
                </a:lnTo>
                <a:lnTo>
                  <a:pt x="665098" y="1137035"/>
                </a:lnTo>
                <a:lnTo>
                  <a:pt x="709799" y="1127895"/>
                </a:lnTo>
                <a:lnTo>
                  <a:pt x="753160" y="1115354"/>
                </a:lnTo>
                <a:lnTo>
                  <a:pt x="795033" y="1099560"/>
                </a:lnTo>
                <a:lnTo>
                  <a:pt x="835272" y="1080658"/>
                </a:lnTo>
                <a:lnTo>
                  <a:pt x="873728" y="1058798"/>
                </a:lnTo>
                <a:lnTo>
                  <a:pt x="910254" y="1034125"/>
                </a:lnTo>
                <a:lnTo>
                  <a:pt x="944704" y="1006787"/>
                </a:lnTo>
                <a:lnTo>
                  <a:pt x="976931" y="976931"/>
                </a:lnTo>
                <a:lnTo>
                  <a:pt x="1006787" y="944704"/>
                </a:lnTo>
                <a:lnTo>
                  <a:pt x="1034125" y="910254"/>
                </a:lnTo>
                <a:lnTo>
                  <a:pt x="1058798" y="873728"/>
                </a:lnTo>
                <a:lnTo>
                  <a:pt x="1080658" y="835272"/>
                </a:lnTo>
                <a:lnTo>
                  <a:pt x="1099560" y="795033"/>
                </a:lnTo>
                <a:lnTo>
                  <a:pt x="1115354" y="753160"/>
                </a:lnTo>
                <a:lnTo>
                  <a:pt x="1127895" y="709799"/>
                </a:lnTo>
                <a:lnTo>
                  <a:pt x="1137035" y="665098"/>
                </a:lnTo>
                <a:lnTo>
                  <a:pt x="1142627" y="619203"/>
                </a:lnTo>
                <a:lnTo>
                  <a:pt x="1144524" y="572262"/>
                </a:lnTo>
                <a:lnTo>
                  <a:pt x="1142627" y="525320"/>
                </a:lnTo>
                <a:lnTo>
                  <a:pt x="1137035" y="479425"/>
                </a:lnTo>
                <a:lnTo>
                  <a:pt x="1127895" y="434724"/>
                </a:lnTo>
                <a:lnTo>
                  <a:pt x="1115354" y="391363"/>
                </a:lnTo>
                <a:lnTo>
                  <a:pt x="1099560" y="349490"/>
                </a:lnTo>
                <a:lnTo>
                  <a:pt x="1080658" y="309251"/>
                </a:lnTo>
                <a:lnTo>
                  <a:pt x="1058798" y="270795"/>
                </a:lnTo>
                <a:lnTo>
                  <a:pt x="1034125" y="234269"/>
                </a:lnTo>
                <a:lnTo>
                  <a:pt x="1006787" y="199819"/>
                </a:lnTo>
                <a:lnTo>
                  <a:pt x="976931" y="167592"/>
                </a:lnTo>
                <a:lnTo>
                  <a:pt x="944704" y="137736"/>
                </a:lnTo>
                <a:lnTo>
                  <a:pt x="910254" y="110398"/>
                </a:lnTo>
                <a:lnTo>
                  <a:pt x="873728" y="85725"/>
                </a:lnTo>
                <a:lnTo>
                  <a:pt x="835272" y="63865"/>
                </a:lnTo>
                <a:lnTo>
                  <a:pt x="795033" y="44963"/>
                </a:lnTo>
                <a:lnTo>
                  <a:pt x="753160" y="29169"/>
                </a:lnTo>
                <a:lnTo>
                  <a:pt x="709799" y="16628"/>
                </a:lnTo>
                <a:lnTo>
                  <a:pt x="665098" y="7488"/>
                </a:lnTo>
                <a:lnTo>
                  <a:pt x="619203" y="1896"/>
                </a:lnTo>
                <a:lnTo>
                  <a:pt x="572262" y="0"/>
                </a:lnTo>
                <a:close/>
              </a:path>
            </a:pathLst>
          </a:custGeom>
          <a:solidFill>
            <a:srgbClr val="AC2B25"/>
          </a:solidFill>
        </p:spPr>
        <p:txBody>
          <a:bodyPr wrap="square" lIns="0" tIns="0" rIns="0" bIns="0" rtlCol="0"/>
          <a:lstStyle/>
          <a:p/>
        </p:txBody>
      </p:sp>
      <p:sp>
        <p:nvSpPr>
          <p:cNvPr id="9" name="object 9"/>
          <p:cNvSpPr txBox="1"/>
          <p:nvPr/>
        </p:nvSpPr>
        <p:spPr>
          <a:xfrm>
            <a:off x="4525517" y="2881325"/>
            <a:ext cx="325755" cy="391795"/>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FDF9BB"/>
                </a:solidFill>
                <a:latin typeface="宋体"/>
                <a:cs typeface="宋体"/>
              </a:rPr>
              <a:t>查</a:t>
            </a:r>
            <a:endParaRPr sz="2400">
              <a:latin typeface="宋体"/>
              <a:cs typeface="宋体"/>
            </a:endParaRPr>
          </a:p>
        </p:txBody>
      </p:sp>
      <p:sp>
        <p:nvSpPr>
          <p:cNvPr id="10" name="object 10"/>
          <p:cNvSpPr/>
          <p:nvPr/>
        </p:nvSpPr>
        <p:spPr>
          <a:xfrm>
            <a:off x="4116323" y="4562855"/>
            <a:ext cx="1144905" cy="1143000"/>
          </a:xfrm>
          <a:custGeom>
            <a:avLst/>
            <a:gdLst/>
            <a:ahLst/>
            <a:cxnLst/>
            <a:rect l="l" t="t" r="r" b="b"/>
            <a:pathLst>
              <a:path w="1144904" h="1143000">
                <a:moveTo>
                  <a:pt x="572262" y="0"/>
                </a:moveTo>
                <a:lnTo>
                  <a:pt x="525320" y="1894"/>
                </a:lnTo>
                <a:lnTo>
                  <a:pt x="479425" y="7480"/>
                </a:lnTo>
                <a:lnTo>
                  <a:pt x="434724" y="16611"/>
                </a:lnTo>
                <a:lnTo>
                  <a:pt x="391363" y="29138"/>
                </a:lnTo>
                <a:lnTo>
                  <a:pt x="349490" y="44916"/>
                </a:lnTo>
                <a:lnTo>
                  <a:pt x="309251" y="63796"/>
                </a:lnTo>
                <a:lnTo>
                  <a:pt x="270795" y="85632"/>
                </a:lnTo>
                <a:lnTo>
                  <a:pt x="234269" y="110276"/>
                </a:lnTo>
                <a:lnTo>
                  <a:pt x="199819" y="137582"/>
                </a:lnTo>
                <a:lnTo>
                  <a:pt x="167592" y="167401"/>
                </a:lnTo>
                <a:lnTo>
                  <a:pt x="137736" y="199588"/>
                </a:lnTo>
                <a:lnTo>
                  <a:pt x="110398" y="233994"/>
                </a:lnTo>
                <a:lnTo>
                  <a:pt x="85725" y="270474"/>
                </a:lnTo>
                <a:lnTo>
                  <a:pt x="63865" y="308878"/>
                </a:lnTo>
                <a:lnTo>
                  <a:pt x="44963" y="349061"/>
                </a:lnTo>
                <a:lnTo>
                  <a:pt x="29169" y="390875"/>
                </a:lnTo>
                <a:lnTo>
                  <a:pt x="16628" y="434173"/>
                </a:lnTo>
                <a:lnTo>
                  <a:pt x="7488" y="478808"/>
                </a:lnTo>
                <a:lnTo>
                  <a:pt x="1896" y="524632"/>
                </a:lnTo>
                <a:lnTo>
                  <a:pt x="0" y="571500"/>
                </a:lnTo>
                <a:lnTo>
                  <a:pt x="1896" y="618367"/>
                </a:lnTo>
                <a:lnTo>
                  <a:pt x="7488" y="664191"/>
                </a:lnTo>
                <a:lnTo>
                  <a:pt x="16628" y="708826"/>
                </a:lnTo>
                <a:lnTo>
                  <a:pt x="29169" y="752124"/>
                </a:lnTo>
                <a:lnTo>
                  <a:pt x="44963" y="793938"/>
                </a:lnTo>
                <a:lnTo>
                  <a:pt x="63865" y="834121"/>
                </a:lnTo>
                <a:lnTo>
                  <a:pt x="85725" y="872525"/>
                </a:lnTo>
                <a:lnTo>
                  <a:pt x="110398" y="909005"/>
                </a:lnTo>
                <a:lnTo>
                  <a:pt x="137736" y="943411"/>
                </a:lnTo>
                <a:lnTo>
                  <a:pt x="167592" y="975598"/>
                </a:lnTo>
                <a:lnTo>
                  <a:pt x="199819" y="1005417"/>
                </a:lnTo>
                <a:lnTo>
                  <a:pt x="234269" y="1032723"/>
                </a:lnTo>
                <a:lnTo>
                  <a:pt x="270795" y="1057367"/>
                </a:lnTo>
                <a:lnTo>
                  <a:pt x="309251" y="1079203"/>
                </a:lnTo>
                <a:lnTo>
                  <a:pt x="349490" y="1098083"/>
                </a:lnTo>
                <a:lnTo>
                  <a:pt x="391363" y="1113861"/>
                </a:lnTo>
                <a:lnTo>
                  <a:pt x="434724" y="1126388"/>
                </a:lnTo>
                <a:lnTo>
                  <a:pt x="479425" y="1135519"/>
                </a:lnTo>
                <a:lnTo>
                  <a:pt x="525320" y="1141105"/>
                </a:lnTo>
                <a:lnTo>
                  <a:pt x="572262" y="1143000"/>
                </a:lnTo>
                <a:lnTo>
                  <a:pt x="619203" y="1141105"/>
                </a:lnTo>
                <a:lnTo>
                  <a:pt x="665098" y="1135519"/>
                </a:lnTo>
                <a:lnTo>
                  <a:pt x="709799" y="1126388"/>
                </a:lnTo>
                <a:lnTo>
                  <a:pt x="753160" y="1113861"/>
                </a:lnTo>
                <a:lnTo>
                  <a:pt x="795033" y="1098083"/>
                </a:lnTo>
                <a:lnTo>
                  <a:pt x="835272" y="1079203"/>
                </a:lnTo>
                <a:lnTo>
                  <a:pt x="873728" y="1057367"/>
                </a:lnTo>
                <a:lnTo>
                  <a:pt x="910254" y="1032723"/>
                </a:lnTo>
                <a:lnTo>
                  <a:pt x="944704" y="1005417"/>
                </a:lnTo>
                <a:lnTo>
                  <a:pt x="976931" y="975598"/>
                </a:lnTo>
                <a:lnTo>
                  <a:pt x="1006787" y="943411"/>
                </a:lnTo>
                <a:lnTo>
                  <a:pt x="1034125" y="909005"/>
                </a:lnTo>
                <a:lnTo>
                  <a:pt x="1058798" y="872525"/>
                </a:lnTo>
                <a:lnTo>
                  <a:pt x="1080658" y="834121"/>
                </a:lnTo>
                <a:lnTo>
                  <a:pt x="1099560" y="793938"/>
                </a:lnTo>
                <a:lnTo>
                  <a:pt x="1115354" y="752124"/>
                </a:lnTo>
                <a:lnTo>
                  <a:pt x="1127895" y="708826"/>
                </a:lnTo>
                <a:lnTo>
                  <a:pt x="1137035" y="664191"/>
                </a:lnTo>
                <a:lnTo>
                  <a:pt x="1142627" y="618367"/>
                </a:lnTo>
                <a:lnTo>
                  <a:pt x="1144524" y="571500"/>
                </a:lnTo>
                <a:lnTo>
                  <a:pt x="1142627" y="524632"/>
                </a:lnTo>
                <a:lnTo>
                  <a:pt x="1137035" y="478808"/>
                </a:lnTo>
                <a:lnTo>
                  <a:pt x="1127895" y="434173"/>
                </a:lnTo>
                <a:lnTo>
                  <a:pt x="1115354" y="390875"/>
                </a:lnTo>
                <a:lnTo>
                  <a:pt x="1099560" y="349061"/>
                </a:lnTo>
                <a:lnTo>
                  <a:pt x="1080658" y="308878"/>
                </a:lnTo>
                <a:lnTo>
                  <a:pt x="1058798" y="270474"/>
                </a:lnTo>
                <a:lnTo>
                  <a:pt x="1034125" y="233994"/>
                </a:lnTo>
                <a:lnTo>
                  <a:pt x="1006787" y="199588"/>
                </a:lnTo>
                <a:lnTo>
                  <a:pt x="976931" y="167401"/>
                </a:lnTo>
                <a:lnTo>
                  <a:pt x="944704" y="137582"/>
                </a:lnTo>
                <a:lnTo>
                  <a:pt x="910254" y="110276"/>
                </a:lnTo>
                <a:lnTo>
                  <a:pt x="873728" y="85632"/>
                </a:lnTo>
                <a:lnTo>
                  <a:pt x="835272" y="63796"/>
                </a:lnTo>
                <a:lnTo>
                  <a:pt x="795033" y="44916"/>
                </a:lnTo>
                <a:lnTo>
                  <a:pt x="753160" y="29138"/>
                </a:lnTo>
                <a:lnTo>
                  <a:pt x="709799" y="16611"/>
                </a:lnTo>
                <a:lnTo>
                  <a:pt x="665098" y="7480"/>
                </a:lnTo>
                <a:lnTo>
                  <a:pt x="619203" y="1894"/>
                </a:lnTo>
                <a:lnTo>
                  <a:pt x="572262" y="0"/>
                </a:lnTo>
                <a:close/>
              </a:path>
            </a:pathLst>
          </a:custGeom>
          <a:solidFill>
            <a:srgbClr val="48504F"/>
          </a:solidFill>
        </p:spPr>
        <p:txBody>
          <a:bodyPr wrap="square" lIns="0" tIns="0" rIns="0" bIns="0" rtlCol="0"/>
          <a:lstStyle/>
          <a:p/>
        </p:txBody>
      </p:sp>
      <p:sp>
        <p:nvSpPr>
          <p:cNvPr id="11" name="object 11"/>
          <p:cNvSpPr txBox="1"/>
          <p:nvPr/>
        </p:nvSpPr>
        <p:spPr>
          <a:xfrm>
            <a:off x="4525517" y="4915661"/>
            <a:ext cx="325755" cy="391160"/>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FDF9BB"/>
                </a:solidFill>
                <a:latin typeface="宋体"/>
                <a:cs typeface="宋体"/>
              </a:rPr>
              <a:t>增</a:t>
            </a:r>
            <a:endParaRPr sz="2400">
              <a:latin typeface="宋体"/>
              <a:cs typeface="宋体"/>
            </a:endParaRPr>
          </a:p>
        </p:txBody>
      </p:sp>
      <p:sp>
        <p:nvSpPr>
          <p:cNvPr id="12" name="object 12"/>
          <p:cNvSpPr txBox="1"/>
          <p:nvPr/>
        </p:nvSpPr>
        <p:spPr>
          <a:xfrm>
            <a:off x="7593583" y="2577464"/>
            <a:ext cx="2219325" cy="1044517"/>
          </a:xfrm>
          <a:prstGeom prst="rect">
            <a:avLst/>
          </a:prstGeom>
        </p:spPr>
        <p:txBody>
          <a:bodyPr vert="horz" wrap="square" lIns="0" tIns="13335" rIns="0" bIns="0" rtlCol="0">
            <a:spAutoFit/>
          </a:bodyPr>
          <a:lstStyle/>
          <a:p>
            <a:pPr marL="12700">
              <a:lnSpc>
                <a:spcPct val="100000"/>
              </a:lnSpc>
              <a:spcBef>
                <a:spcPts val="105"/>
              </a:spcBef>
            </a:pPr>
            <a:r>
              <a:rPr sz="2000" b="1" spc="-35" dirty="0">
                <a:solidFill>
                  <a:srgbClr val="48504F"/>
                </a:solidFill>
                <a:latin typeface="Microsoft JhengHei"/>
                <a:cs typeface="Microsoft JhengHei"/>
              </a:rPr>
              <a:t>重新赋值</a:t>
            </a:r>
            <a:endParaRPr sz="2000">
              <a:latin typeface="Microsoft JhengHei"/>
              <a:cs typeface="Microsoft JhengHei"/>
            </a:endParaRPr>
          </a:p>
          <a:p>
            <a:pPr marL="12700">
              <a:lnSpc>
                <a:spcPct val="100000"/>
              </a:lnSpc>
              <a:spcBef>
                <a:spcPts val="1230"/>
              </a:spcBef>
            </a:pPr>
            <a:r>
              <a:rPr sz="1600" spc="-30" dirty="0">
                <a:solidFill>
                  <a:srgbClr val="252525"/>
                </a:solidFill>
                <a:latin typeface="宋体"/>
                <a:cs typeface="宋体"/>
              </a:rPr>
              <a:t>对象</a:t>
            </a:r>
            <a:r>
              <a:rPr sz="1600" spc="-325" dirty="0">
                <a:solidFill>
                  <a:srgbClr val="252525"/>
                </a:solidFill>
                <a:latin typeface="宋体"/>
                <a:cs typeface="宋体"/>
              </a:rPr>
              <a:t>.</a:t>
            </a:r>
            <a:r>
              <a:rPr sz="1600" spc="-30" dirty="0">
                <a:solidFill>
                  <a:srgbClr val="252525"/>
                </a:solidFill>
                <a:latin typeface="宋体"/>
                <a:cs typeface="宋体"/>
              </a:rPr>
              <a:t>属性</a:t>
            </a:r>
            <a:r>
              <a:rPr sz="1600" spc="-375" dirty="0">
                <a:solidFill>
                  <a:srgbClr val="252525"/>
                </a:solidFill>
                <a:latin typeface="宋体"/>
                <a:cs typeface="宋体"/>
              </a:rPr>
              <a:t> </a:t>
            </a:r>
            <a:r>
              <a:rPr sz="1600" spc="80" dirty="0">
                <a:solidFill>
                  <a:srgbClr val="252525"/>
                </a:solidFill>
                <a:latin typeface="宋体"/>
                <a:cs typeface="宋体"/>
              </a:rPr>
              <a:t>=</a:t>
            </a:r>
            <a:r>
              <a:rPr sz="1600" spc="25" dirty="0">
                <a:solidFill>
                  <a:srgbClr val="252525"/>
                </a:solidFill>
                <a:latin typeface="宋体"/>
                <a:cs typeface="宋体"/>
              </a:rPr>
              <a:t> </a:t>
            </a:r>
            <a:r>
              <a:rPr sz="1600" spc="-30" dirty="0">
                <a:solidFill>
                  <a:srgbClr val="252525"/>
                </a:solidFill>
                <a:latin typeface="宋体"/>
                <a:cs typeface="宋体"/>
              </a:rPr>
              <a:t>值</a:t>
            </a:r>
            <a:endParaRPr sz="1600">
              <a:latin typeface="宋体"/>
              <a:cs typeface="宋体"/>
            </a:endParaRPr>
          </a:p>
          <a:p>
            <a:pPr marL="12700">
              <a:lnSpc>
                <a:spcPct val="100000"/>
              </a:lnSpc>
              <a:spcBef>
                <a:spcPts val="575"/>
              </a:spcBef>
            </a:pPr>
            <a:r>
              <a:rPr sz="1600" spc="-30" dirty="0">
                <a:solidFill>
                  <a:srgbClr val="252525"/>
                </a:solidFill>
                <a:latin typeface="宋体"/>
                <a:cs typeface="宋体"/>
              </a:rPr>
              <a:t>对象</a:t>
            </a:r>
            <a:r>
              <a:rPr sz="1600" spc="-325" dirty="0">
                <a:solidFill>
                  <a:srgbClr val="252525"/>
                </a:solidFill>
                <a:latin typeface="宋体"/>
                <a:cs typeface="宋体"/>
              </a:rPr>
              <a:t>.</a:t>
            </a:r>
            <a:r>
              <a:rPr sz="1600" spc="-30" dirty="0">
                <a:solidFill>
                  <a:srgbClr val="252525"/>
                </a:solidFill>
                <a:latin typeface="宋体"/>
                <a:cs typeface="宋体"/>
              </a:rPr>
              <a:t>方法</a:t>
            </a:r>
            <a:r>
              <a:rPr sz="1600" spc="-385" dirty="0">
                <a:solidFill>
                  <a:srgbClr val="252525"/>
                </a:solidFill>
                <a:latin typeface="宋体"/>
                <a:cs typeface="宋体"/>
              </a:rPr>
              <a:t> </a:t>
            </a:r>
            <a:r>
              <a:rPr sz="1600" spc="80" dirty="0">
                <a:solidFill>
                  <a:srgbClr val="252525"/>
                </a:solidFill>
                <a:latin typeface="宋体"/>
                <a:cs typeface="宋体"/>
              </a:rPr>
              <a:t>=</a:t>
            </a:r>
            <a:r>
              <a:rPr sz="1600" spc="-405" dirty="0">
                <a:solidFill>
                  <a:srgbClr val="252525"/>
                </a:solidFill>
                <a:latin typeface="宋体"/>
                <a:cs typeface="宋体"/>
              </a:rPr>
              <a:t> </a:t>
            </a:r>
            <a:r>
              <a:rPr sz="1600" spc="-65" dirty="0">
                <a:solidFill>
                  <a:srgbClr val="252525"/>
                </a:solidFill>
                <a:latin typeface="宋体"/>
                <a:cs typeface="宋体"/>
              </a:rPr>
              <a:t>function()</a:t>
            </a:r>
            <a:r>
              <a:rPr sz="1600" spc="-395" dirty="0">
                <a:solidFill>
                  <a:srgbClr val="252525"/>
                </a:solidFill>
                <a:latin typeface="宋体"/>
                <a:cs typeface="宋体"/>
              </a:rPr>
              <a:t> </a:t>
            </a:r>
            <a:r>
              <a:rPr sz="1600" spc="-325" dirty="0">
                <a:solidFill>
                  <a:srgbClr val="252525"/>
                </a:solidFill>
                <a:latin typeface="宋体"/>
                <a:cs typeface="宋体"/>
              </a:rPr>
              <a:t>{}</a:t>
            </a:r>
            <a:endParaRPr sz="1600">
              <a:latin typeface="宋体"/>
              <a:cs typeface="宋体"/>
            </a:endParaRPr>
          </a:p>
        </p:txBody>
      </p:sp>
      <p:sp>
        <p:nvSpPr>
          <p:cNvPr id="13" name="object 13"/>
          <p:cNvSpPr txBox="1"/>
          <p:nvPr/>
        </p:nvSpPr>
        <p:spPr>
          <a:xfrm>
            <a:off x="1364361" y="2577464"/>
            <a:ext cx="2419985" cy="1521570"/>
          </a:xfrm>
          <a:prstGeom prst="rect">
            <a:avLst/>
          </a:prstGeom>
        </p:spPr>
        <p:txBody>
          <a:bodyPr vert="horz" wrap="square" lIns="0" tIns="13335" rIns="0" bIns="0" rtlCol="0">
            <a:spAutoFit/>
          </a:bodyPr>
          <a:lstStyle/>
          <a:p>
            <a:pPr marL="1313815">
              <a:lnSpc>
                <a:spcPct val="100000"/>
              </a:lnSpc>
              <a:spcBef>
                <a:spcPts val="105"/>
              </a:spcBef>
            </a:pPr>
            <a:r>
              <a:rPr sz="2000" b="1" spc="-35" dirty="0">
                <a:solidFill>
                  <a:srgbClr val="AC2B25"/>
                </a:solidFill>
                <a:latin typeface="Microsoft JhengHei"/>
                <a:cs typeface="Microsoft JhengHei"/>
              </a:rPr>
              <a:t>查询对象</a:t>
            </a:r>
            <a:endParaRPr sz="2000" dirty="0">
              <a:latin typeface="Microsoft JhengHei"/>
              <a:cs typeface="Microsoft JhengHei"/>
            </a:endParaRPr>
          </a:p>
          <a:p>
            <a:pPr marL="12700">
              <a:lnSpc>
                <a:spcPct val="100000"/>
              </a:lnSpc>
              <a:spcBef>
                <a:spcPts val="1230"/>
              </a:spcBef>
            </a:pPr>
            <a:r>
              <a:rPr sz="1600" spc="-30" dirty="0" err="1">
                <a:solidFill>
                  <a:srgbClr val="252525"/>
                </a:solidFill>
                <a:latin typeface="宋体"/>
                <a:cs typeface="宋体"/>
              </a:rPr>
              <a:t>对象</a:t>
            </a:r>
            <a:r>
              <a:rPr sz="1600" spc="-325" dirty="0" err="1">
                <a:solidFill>
                  <a:srgbClr val="252525"/>
                </a:solidFill>
                <a:latin typeface="宋体"/>
                <a:cs typeface="宋体"/>
              </a:rPr>
              <a:t>.</a:t>
            </a:r>
            <a:r>
              <a:rPr sz="1600" spc="-30" dirty="0" err="1">
                <a:solidFill>
                  <a:srgbClr val="252525"/>
                </a:solidFill>
                <a:latin typeface="宋体"/>
                <a:cs typeface="宋体"/>
              </a:rPr>
              <a:t>属性</a:t>
            </a:r>
            <a:r>
              <a:rPr sz="1600" spc="-415" dirty="0">
                <a:solidFill>
                  <a:srgbClr val="252525"/>
                </a:solidFill>
                <a:latin typeface="宋体"/>
                <a:cs typeface="宋体"/>
              </a:rPr>
              <a:t> </a:t>
            </a:r>
            <a:endParaRPr lang="en-US" sz="1600" spc="-415" dirty="0" smtClean="0">
              <a:solidFill>
                <a:srgbClr val="252525"/>
              </a:solidFill>
              <a:latin typeface="宋体"/>
              <a:cs typeface="宋体"/>
            </a:endParaRPr>
          </a:p>
          <a:p>
            <a:pPr marL="12700">
              <a:lnSpc>
                <a:spcPct val="100000"/>
              </a:lnSpc>
              <a:spcBef>
                <a:spcPts val="1230"/>
              </a:spcBef>
            </a:pPr>
            <a:r>
              <a:rPr sz="1600" spc="-30" dirty="0" err="1" smtClean="0">
                <a:solidFill>
                  <a:srgbClr val="252525"/>
                </a:solidFill>
                <a:latin typeface="宋体"/>
                <a:cs typeface="宋体"/>
              </a:rPr>
              <a:t>对象</a:t>
            </a:r>
            <a:r>
              <a:rPr lang="en-US" sz="1600" spc="-30" dirty="0" smtClean="0">
                <a:solidFill>
                  <a:srgbClr val="252525"/>
                </a:solidFill>
                <a:latin typeface="宋体"/>
                <a:cs typeface="宋体"/>
              </a:rPr>
              <a:t>[‘</a:t>
            </a:r>
            <a:r>
              <a:rPr lang="zh-CN" altLang="en-US" sz="1600" spc="-30" dirty="0" smtClean="0">
                <a:solidFill>
                  <a:srgbClr val="252525"/>
                </a:solidFill>
                <a:latin typeface="宋体"/>
                <a:cs typeface="宋体"/>
              </a:rPr>
              <a:t>属性</a:t>
            </a:r>
            <a:r>
              <a:rPr lang="en-US" sz="1600" spc="-30" dirty="0" smtClean="0">
                <a:solidFill>
                  <a:srgbClr val="252525"/>
                </a:solidFill>
                <a:latin typeface="宋体"/>
                <a:cs typeface="宋体"/>
              </a:rPr>
              <a:t>’]</a:t>
            </a:r>
            <a:endParaRPr lang="en-US" sz="1600" spc="-755" dirty="0">
              <a:solidFill>
                <a:srgbClr val="252525"/>
              </a:solidFill>
              <a:latin typeface="宋体"/>
              <a:cs typeface="宋体"/>
            </a:endParaRPr>
          </a:p>
          <a:p>
            <a:pPr marL="12700">
              <a:lnSpc>
                <a:spcPct val="100000"/>
              </a:lnSpc>
              <a:spcBef>
                <a:spcPts val="1230"/>
              </a:spcBef>
            </a:pPr>
            <a:r>
              <a:rPr sz="1600" spc="-30" dirty="0" err="1" smtClean="0">
                <a:solidFill>
                  <a:srgbClr val="252525"/>
                </a:solidFill>
                <a:latin typeface="宋体"/>
                <a:cs typeface="宋体"/>
              </a:rPr>
              <a:t>对象</a:t>
            </a:r>
            <a:r>
              <a:rPr sz="1600" spc="-325" dirty="0" err="1">
                <a:solidFill>
                  <a:srgbClr val="252525"/>
                </a:solidFill>
                <a:latin typeface="宋体"/>
                <a:cs typeface="宋体"/>
              </a:rPr>
              <a:t>.</a:t>
            </a:r>
            <a:r>
              <a:rPr sz="1600" spc="-30" dirty="0" err="1">
                <a:solidFill>
                  <a:srgbClr val="252525"/>
                </a:solidFill>
                <a:latin typeface="宋体"/>
                <a:cs typeface="宋体"/>
              </a:rPr>
              <a:t>方法</a:t>
            </a:r>
            <a:r>
              <a:rPr sz="1600" spc="-229" dirty="0">
                <a:solidFill>
                  <a:srgbClr val="252525"/>
                </a:solidFill>
                <a:latin typeface="宋体"/>
                <a:cs typeface="宋体"/>
              </a:rPr>
              <a:t>()</a:t>
            </a:r>
            <a:endParaRPr sz="1600" dirty="0">
              <a:latin typeface="宋体"/>
              <a:cs typeface="宋体"/>
            </a:endParaRPr>
          </a:p>
        </p:txBody>
      </p:sp>
      <p:sp>
        <p:nvSpPr>
          <p:cNvPr id="14" name="object 14"/>
          <p:cNvSpPr txBox="1"/>
          <p:nvPr/>
        </p:nvSpPr>
        <p:spPr>
          <a:xfrm>
            <a:off x="7593583" y="4639183"/>
            <a:ext cx="1944370" cy="733534"/>
          </a:xfrm>
          <a:prstGeom prst="rect">
            <a:avLst/>
          </a:prstGeom>
        </p:spPr>
        <p:txBody>
          <a:bodyPr vert="horz" wrap="square" lIns="0" tIns="12700" rIns="0" bIns="0" rtlCol="0">
            <a:spAutoFit/>
          </a:bodyPr>
          <a:lstStyle/>
          <a:p>
            <a:pPr marL="12700">
              <a:lnSpc>
                <a:spcPct val="100000"/>
              </a:lnSpc>
              <a:spcBef>
                <a:spcPts val="100"/>
              </a:spcBef>
            </a:pPr>
            <a:r>
              <a:rPr sz="2000" b="1" spc="-35" dirty="0">
                <a:solidFill>
                  <a:srgbClr val="AC2B25"/>
                </a:solidFill>
                <a:latin typeface="Microsoft JhengHei"/>
                <a:cs typeface="Microsoft JhengHei"/>
              </a:rPr>
              <a:t>删除对象中属性</a:t>
            </a:r>
            <a:endParaRPr sz="2000">
              <a:latin typeface="Microsoft JhengHei"/>
              <a:cs typeface="Microsoft JhengHei"/>
            </a:endParaRPr>
          </a:p>
          <a:p>
            <a:pPr marL="12700">
              <a:lnSpc>
                <a:spcPct val="100000"/>
              </a:lnSpc>
              <a:spcBef>
                <a:spcPts val="1255"/>
              </a:spcBef>
            </a:pPr>
            <a:r>
              <a:rPr sz="1600" spc="-5" dirty="0">
                <a:solidFill>
                  <a:srgbClr val="252525"/>
                </a:solidFill>
                <a:latin typeface="宋体"/>
                <a:cs typeface="宋体"/>
              </a:rPr>
              <a:t>delete</a:t>
            </a:r>
            <a:r>
              <a:rPr sz="1600" spc="-455" dirty="0">
                <a:solidFill>
                  <a:srgbClr val="252525"/>
                </a:solidFill>
                <a:latin typeface="宋体"/>
                <a:cs typeface="宋体"/>
              </a:rPr>
              <a:t> </a:t>
            </a:r>
            <a:r>
              <a:rPr sz="1600" spc="-30" dirty="0">
                <a:solidFill>
                  <a:srgbClr val="252525"/>
                </a:solidFill>
                <a:latin typeface="宋体"/>
                <a:cs typeface="宋体"/>
              </a:rPr>
              <a:t>对象名</a:t>
            </a:r>
            <a:r>
              <a:rPr sz="1600" spc="-320" dirty="0">
                <a:solidFill>
                  <a:srgbClr val="252525"/>
                </a:solidFill>
                <a:latin typeface="宋体"/>
                <a:cs typeface="宋体"/>
              </a:rPr>
              <a:t>.</a:t>
            </a:r>
            <a:r>
              <a:rPr sz="1600" spc="-30" dirty="0">
                <a:solidFill>
                  <a:srgbClr val="252525"/>
                </a:solidFill>
                <a:latin typeface="宋体"/>
                <a:cs typeface="宋体"/>
              </a:rPr>
              <a:t>属性名</a:t>
            </a:r>
            <a:endParaRPr sz="1600">
              <a:latin typeface="宋体"/>
              <a:cs typeface="宋体"/>
            </a:endParaRPr>
          </a:p>
        </p:txBody>
      </p:sp>
      <p:sp>
        <p:nvSpPr>
          <p:cNvPr id="15" name="object 15"/>
          <p:cNvSpPr txBox="1"/>
          <p:nvPr/>
        </p:nvSpPr>
        <p:spPr>
          <a:xfrm>
            <a:off x="1586230" y="4639183"/>
            <a:ext cx="2106930" cy="733534"/>
          </a:xfrm>
          <a:prstGeom prst="rect">
            <a:avLst/>
          </a:prstGeom>
        </p:spPr>
        <p:txBody>
          <a:bodyPr vert="horz" wrap="square" lIns="0" tIns="12700" rIns="0" bIns="0" rtlCol="0">
            <a:spAutoFit/>
          </a:bodyPr>
          <a:lstStyle/>
          <a:p>
            <a:pPr marL="81915" algn="ctr">
              <a:lnSpc>
                <a:spcPct val="100000"/>
              </a:lnSpc>
              <a:spcBef>
                <a:spcPts val="100"/>
              </a:spcBef>
            </a:pPr>
            <a:r>
              <a:rPr sz="2000" b="1" spc="-35" dirty="0">
                <a:solidFill>
                  <a:srgbClr val="48504F"/>
                </a:solidFill>
                <a:latin typeface="Microsoft JhengHei"/>
                <a:cs typeface="Microsoft JhengHei"/>
              </a:rPr>
              <a:t>对象添加新的数据</a:t>
            </a:r>
            <a:endParaRPr sz="2000">
              <a:latin typeface="Microsoft JhengHei"/>
              <a:cs typeface="Microsoft JhengHei"/>
            </a:endParaRPr>
          </a:p>
          <a:p>
            <a:pPr algn="ctr">
              <a:lnSpc>
                <a:spcPct val="100000"/>
              </a:lnSpc>
              <a:spcBef>
                <a:spcPts val="1255"/>
              </a:spcBef>
            </a:pPr>
            <a:r>
              <a:rPr sz="1600" spc="-30" dirty="0">
                <a:solidFill>
                  <a:srgbClr val="252525"/>
                </a:solidFill>
                <a:latin typeface="宋体"/>
                <a:cs typeface="宋体"/>
              </a:rPr>
              <a:t>对象名</a:t>
            </a:r>
            <a:r>
              <a:rPr sz="1600" spc="-325" dirty="0">
                <a:solidFill>
                  <a:srgbClr val="252525"/>
                </a:solidFill>
                <a:latin typeface="宋体"/>
                <a:cs typeface="宋体"/>
              </a:rPr>
              <a:t>.</a:t>
            </a:r>
            <a:r>
              <a:rPr sz="1600" spc="-30" dirty="0">
                <a:solidFill>
                  <a:srgbClr val="252525"/>
                </a:solidFill>
                <a:latin typeface="宋体"/>
                <a:cs typeface="宋体"/>
              </a:rPr>
              <a:t>新属性名</a:t>
            </a:r>
            <a:r>
              <a:rPr sz="1600" spc="-405" dirty="0">
                <a:solidFill>
                  <a:srgbClr val="252525"/>
                </a:solidFill>
                <a:latin typeface="宋体"/>
                <a:cs typeface="宋体"/>
              </a:rPr>
              <a:t> </a:t>
            </a:r>
            <a:r>
              <a:rPr sz="1600" spc="80" dirty="0">
                <a:solidFill>
                  <a:srgbClr val="252525"/>
                </a:solidFill>
                <a:latin typeface="宋体"/>
                <a:cs typeface="宋体"/>
              </a:rPr>
              <a:t>=</a:t>
            </a:r>
            <a:r>
              <a:rPr sz="1600" spc="-430" dirty="0">
                <a:solidFill>
                  <a:srgbClr val="252525"/>
                </a:solidFill>
                <a:latin typeface="宋体"/>
                <a:cs typeface="宋体"/>
              </a:rPr>
              <a:t> </a:t>
            </a:r>
            <a:r>
              <a:rPr sz="1600" spc="-30" dirty="0">
                <a:solidFill>
                  <a:srgbClr val="252525"/>
                </a:solidFill>
                <a:latin typeface="宋体"/>
                <a:cs typeface="宋体"/>
              </a:rPr>
              <a:t>新值</a:t>
            </a:r>
            <a:endParaRPr sz="1600">
              <a:latin typeface="宋体"/>
              <a:cs typeface="宋体"/>
            </a:endParaRPr>
          </a:p>
        </p:txBody>
      </p:sp>
      <p:sp>
        <p:nvSpPr>
          <p:cNvPr id="16" name="object 16"/>
          <p:cNvSpPr/>
          <p:nvPr/>
        </p:nvSpPr>
        <p:spPr>
          <a:xfrm>
            <a:off x="600455" y="4201667"/>
            <a:ext cx="10083800" cy="0"/>
          </a:xfrm>
          <a:custGeom>
            <a:avLst/>
            <a:gdLst/>
            <a:ahLst/>
            <a:cxnLst/>
            <a:rect l="l" t="t" r="r" b="b"/>
            <a:pathLst>
              <a:path w="10083800">
                <a:moveTo>
                  <a:pt x="0" y="0"/>
                </a:moveTo>
                <a:lnTo>
                  <a:pt x="10083292" y="0"/>
                </a:lnTo>
              </a:path>
            </a:pathLst>
          </a:custGeom>
          <a:ln w="9144">
            <a:solidFill>
              <a:srgbClr val="919191"/>
            </a:solidFill>
            <a:prstDash val="sysDash"/>
          </a:ln>
        </p:spPr>
        <p:txBody>
          <a:bodyPr wrap="square" lIns="0" tIns="0" rIns="0" bIns="0" rtlCol="0"/>
          <a:lstStyle/>
          <a:p/>
        </p:txBody>
      </p:sp>
      <p:sp>
        <p:nvSpPr>
          <p:cNvPr id="17" name="object 17"/>
          <p:cNvSpPr/>
          <p:nvPr/>
        </p:nvSpPr>
        <p:spPr>
          <a:xfrm>
            <a:off x="5713476" y="2500883"/>
            <a:ext cx="0" cy="3446779"/>
          </a:xfrm>
          <a:custGeom>
            <a:avLst/>
            <a:gdLst/>
            <a:ahLst/>
            <a:cxnLst/>
            <a:rect l="l" t="t" r="r" b="b"/>
            <a:pathLst>
              <a:path h="3446779">
                <a:moveTo>
                  <a:pt x="0" y="0"/>
                </a:moveTo>
                <a:lnTo>
                  <a:pt x="0" y="3446589"/>
                </a:lnTo>
              </a:path>
            </a:pathLst>
          </a:custGeom>
          <a:ln w="9144">
            <a:solidFill>
              <a:srgbClr val="919191"/>
            </a:solidFill>
            <a:prstDash val="sysDash"/>
          </a:ln>
        </p:spPr>
        <p:txBody>
          <a:bodyPr wrap="square" lIns="0" tIns="0" rIns="0" bIns="0" rtlCol="0"/>
          <a:lstStyle/>
          <a:p/>
        </p:txBody>
      </p:sp>
      <p:sp>
        <p:nvSpPr>
          <p:cNvPr id="18" name="灯片编号占位符 17"/>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9" name="标题 1"/>
          <p:cNvSpPr txBox="1"/>
          <p:nvPr/>
        </p:nvSpPr>
        <p:spPr>
          <a:xfrm>
            <a:off x="856736" y="304800"/>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操作对象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23088" y="763523"/>
            <a:ext cx="11544935" cy="0"/>
          </a:xfrm>
          <a:custGeom>
            <a:avLst/>
            <a:gdLst/>
            <a:ahLst/>
            <a:cxnLst/>
            <a:rect l="l" t="t" r="r" b="b"/>
            <a:pathLst>
              <a:path w="11544935">
                <a:moveTo>
                  <a:pt x="11544808" y="0"/>
                </a:moveTo>
                <a:lnTo>
                  <a:pt x="0" y="0"/>
                </a:lnTo>
              </a:path>
            </a:pathLst>
          </a:custGeom>
          <a:ln w="9144">
            <a:solidFill>
              <a:srgbClr val="F1F1F1"/>
            </a:solidFill>
          </a:ln>
        </p:spPr>
        <p:txBody>
          <a:bodyPr wrap="square" lIns="0" tIns="0" rIns="0" bIns="0" rtlCol="0"/>
          <a:lstStyle/>
          <a:p/>
        </p:txBody>
      </p:sp>
      <p:sp>
        <p:nvSpPr>
          <p:cNvPr id="3" name="object 3"/>
          <p:cNvSpPr/>
          <p:nvPr/>
        </p:nvSpPr>
        <p:spPr>
          <a:xfrm>
            <a:off x="0" y="420623"/>
            <a:ext cx="143510" cy="220979"/>
          </a:xfrm>
          <a:custGeom>
            <a:avLst/>
            <a:gdLst/>
            <a:ahLst/>
            <a:cxnLst/>
            <a:rect l="l" t="t" r="r" b="b"/>
            <a:pathLst>
              <a:path w="143510" h="220979">
                <a:moveTo>
                  <a:pt x="0" y="220979"/>
                </a:moveTo>
                <a:lnTo>
                  <a:pt x="143256" y="220979"/>
                </a:lnTo>
                <a:lnTo>
                  <a:pt x="143256" y="0"/>
                </a:lnTo>
                <a:lnTo>
                  <a:pt x="0" y="0"/>
                </a:lnTo>
                <a:lnTo>
                  <a:pt x="0" y="220979"/>
                </a:lnTo>
                <a:close/>
              </a:path>
            </a:pathLst>
          </a:custGeom>
          <a:solidFill>
            <a:srgbClr val="F1F1F1"/>
          </a:solidFill>
        </p:spPr>
        <p:txBody>
          <a:bodyPr wrap="square" lIns="0" tIns="0" rIns="0" bIns="0" rtlCol="0"/>
          <a:lstStyle/>
          <a:p/>
        </p:txBody>
      </p:sp>
      <p:sp>
        <p:nvSpPr>
          <p:cNvPr id="4" name="object 4"/>
          <p:cNvSpPr/>
          <p:nvPr/>
        </p:nvSpPr>
        <p:spPr>
          <a:xfrm>
            <a:off x="183642" y="420623"/>
            <a:ext cx="0" cy="220979"/>
          </a:xfrm>
          <a:custGeom>
            <a:avLst/>
            <a:gdLst/>
            <a:ahLst/>
            <a:cxnLst/>
            <a:rect l="l" t="t" r="r" b="b"/>
            <a:pathLst>
              <a:path h="220979">
                <a:moveTo>
                  <a:pt x="0" y="0"/>
                </a:moveTo>
                <a:lnTo>
                  <a:pt x="0" y="220979"/>
                </a:lnTo>
              </a:path>
            </a:pathLst>
          </a:custGeom>
          <a:ln w="80772">
            <a:solidFill>
              <a:srgbClr val="AC2B25"/>
            </a:solidFill>
          </a:ln>
        </p:spPr>
        <p:txBody>
          <a:bodyPr wrap="square" lIns="0" tIns="0" rIns="0" bIns="0" rtlCol="0"/>
          <a:lstStyle/>
          <a:p/>
        </p:txBody>
      </p:sp>
      <p:sp>
        <p:nvSpPr>
          <p:cNvPr id="7" name="object 7"/>
          <p:cNvSpPr txBox="1"/>
          <p:nvPr/>
        </p:nvSpPr>
        <p:spPr>
          <a:xfrm>
            <a:off x="789837" y="1533905"/>
            <a:ext cx="11078185" cy="917559"/>
          </a:xfrm>
          <a:prstGeom prst="rect">
            <a:avLst/>
          </a:prstGeom>
        </p:spPr>
        <p:txBody>
          <a:bodyPr vert="horz" wrap="square" lIns="0" tIns="12065" rIns="0" bIns="0" rtlCol="0">
            <a:spAutoFit/>
          </a:bodyPr>
          <a:lstStyle/>
          <a:p>
            <a:pPr marL="12700">
              <a:lnSpc>
                <a:spcPct val="100000"/>
              </a:lnSpc>
              <a:spcBef>
                <a:spcPts val="95"/>
              </a:spcBef>
            </a:pPr>
            <a:r>
              <a:rPr sz="2400" b="1" spc="-30" dirty="0">
                <a:solidFill>
                  <a:srgbClr val="404040"/>
                </a:solidFill>
                <a:latin typeface="Microsoft JhengHei"/>
                <a:cs typeface="Microsoft JhengHei"/>
              </a:rPr>
              <a:t>增加属性</a:t>
            </a:r>
            <a:endParaRPr sz="2400" dirty="0">
              <a:latin typeface="Microsoft JhengHei"/>
              <a:cs typeface="Microsoft JhengHei"/>
            </a:endParaRPr>
          </a:p>
          <a:p>
            <a:pPr marL="12700">
              <a:lnSpc>
                <a:spcPct val="100000"/>
              </a:lnSpc>
              <a:spcBef>
                <a:spcPts val="1345"/>
              </a:spcBef>
            </a:pPr>
            <a:r>
              <a:rPr sz="2400" spc="-30" dirty="0">
                <a:solidFill>
                  <a:srgbClr val="404040"/>
                </a:solidFill>
                <a:latin typeface="宋体"/>
                <a:cs typeface="宋体"/>
              </a:rPr>
              <a:t>也可以动态为对象添加属性，动态添加与直接</a:t>
            </a:r>
            <a:r>
              <a:rPr sz="2400" spc="-20" dirty="0">
                <a:solidFill>
                  <a:srgbClr val="404040"/>
                </a:solidFill>
                <a:latin typeface="宋体"/>
                <a:cs typeface="宋体"/>
              </a:rPr>
              <a:t>定</a:t>
            </a:r>
            <a:r>
              <a:rPr sz="2400" spc="-30" dirty="0">
                <a:solidFill>
                  <a:srgbClr val="404040"/>
                </a:solidFill>
                <a:latin typeface="宋体"/>
                <a:cs typeface="宋体"/>
              </a:rPr>
              <a:t>义是一</a:t>
            </a:r>
            <a:r>
              <a:rPr sz="2400" spc="-20" dirty="0">
                <a:solidFill>
                  <a:srgbClr val="404040"/>
                </a:solidFill>
                <a:latin typeface="宋体"/>
                <a:cs typeface="宋体"/>
              </a:rPr>
              <a:t>样</a:t>
            </a:r>
            <a:r>
              <a:rPr sz="2400" spc="-30" dirty="0">
                <a:solidFill>
                  <a:srgbClr val="404040"/>
                </a:solidFill>
                <a:latin typeface="宋体"/>
                <a:cs typeface="宋体"/>
              </a:rPr>
              <a:t>的，只</a:t>
            </a:r>
            <a:r>
              <a:rPr sz="2400" spc="-20" dirty="0">
                <a:solidFill>
                  <a:srgbClr val="404040"/>
                </a:solidFill>
                <a:latin typeface="宋体"/>
                <a:cs typeface="宋体"/>
              </a:rPr>
              <a:t>是</a:t>
            </a:r>
            <a:r>
              <a:rPr sz="2400" spc="-30" dirty="0">
                <a:solidFill>
                  <a:srgbClr val="404040"/>
                </a:solidFill>
                <a:latin typeface="宋体"/>
                <a:cs typeface="宋体"/>
              </a:rPr>
              <a:t>语法上</a:t>
            </a:r>
            <a:r>
              <a:rPr sz="2400" spc="-20" dirty="0">
                <a:solidFill>
                  <a:srgbClr val="404040"/>
                </a:solidFill>
                <a:latin typeface="宋体"/>
                <a:cs typeface="宋体"/>
              </a:rPr>
              <a:t>更</a:t>
            </a:r>
            <a:r>
              <a:rPr sz="2400" spc="-30" dirty="0">
                <a:solidFill>
                  <a:srgbClr val="404040"/>
                </a:solidFill>
                <a:latin typeface="宋体"/>
                <a:cs typeface="宋体"/>
              </a:rPr>
              <a:t>灵活。</a:t>
            </a:r>
            <a:endParaRPr sz="2400" dirty="0">
              <a:latin typeface="宋体"/>
              <a:cs typeface="宋体"/>
            </a:endParaRPr>
          </a:p>
        </p:txBody>
      </p:sp>
      <p:sp>
        <p:nvSpPr>
          <p:cNvPr id="11" name="object 11"/>
          <p:cNvSpPr/>
          <p:nvPr/>
        </p:nvSpPr>
        <p:spPr>
          <a:xfrm>
            <a:off x="533400" y="3020949"/>
            <a:ext cx="4666488" cy="2570988"/>
          </a:xfrm>
          <a:prstGeom prst="rect">
            <a:avLst/>
          </a:prstGeom>
          <a:blipFill>
            <a:blip r:embed="rId1" cstate="print"/>
            <a:stretch>
              <a:fillRect/>
            </a:stretch>
          </a:blipFill>
        </p:spPr>
        <p:txBody>
          <a:bodyPr wrap="square" lIns="0" tIns="0" rIns="0" bIns="0" rtlCol="0"/>
          <a:lstStyle/>
          <a:p/>
        </p:txBody>
      </p:sp>
      <p:sp>
        <p:nvSpPr>
          <p:cNvPr id="12" name="object 12"/>
          <p:cNvSpPr/>
          <p:nvPr/>
        </p:nvSpPr>
        <p:spPr>
          <a:xfrm>
            <a:off x="5087111" y="3241548"/>
            <a:ext cx="7052309" cy="2129790"/>
          </a:xfrm>
          <a:prstGeom prst="rect">
            <a:avLst/>
          </a:prstGeom>
          <a:blipFill>
            <a:blip r:embed="rId2" cstate="print"/>
            <a:stretch>
              <a:fillRect/>
            </a:stretch>
          </a:blipFill>
        </p:spPr>
        <p:txBody>
          <a:bodyPr wrap="square" lIns="0" tIns="0" rIns="0" bIns="0" rtlCol="0"/>
          <a:lstStyle/>
          <a:p/>
        </p:txBody>
      </p:sp>
      <p:sp>
        <p:nvSpPr>
          <p:cNvPr id="5" name="灯片编号占位符 4"/>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标题 1"/>
          <p:cNvSpPr txBox="1"/>
          <p:nvPr/>
        </p:nvSpPr>
        <p:spPr>
          <a:xfrm>
            <a:off x="856736" y="304800"/>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操作对象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23088" y="763523"/>
            <a:ext cx="11544935" cy="0"/>
          </a:xfrm>
          <a:custGeom>
            <a:avLst/>
            <a:gdLst/>
            <a:ahLst/>
            <a:cxnLst/>
            <a:rect l="l" t="t" r="r" b="b"/>
            <a:pathLst>
              <a:path w="11544935">
                <a:moveTo>
                  <a:pt x="11544808" y="0"/>
                </a:moveTo>
                <a:lnTo>
                  <a:pt x="0" y="0"/>
                </a:lnTo>
              </a:path>
            </a:pathLst>
          </a:custGeom>
          <a:ln w="9144">
            <a:solidFill>
              <a:srgbClr val="F1F1F1"/>
            </a:solidFill>
          </a:ln>
        </p:spPr>
        <p:txBody>
          <a:bodyPr wrap="square" lIns="0" tIns="0" rIns="0" bIns="0" rtlCol="0"/>
          <a:lstStyle/>
          <a:p/>
        </p:txBody>
      </p:sp>
      <p:sp>
        <p:nvSpPr>
          <p:cNvPr id="3" name="object 3"/>
          <p:cNvSpPr/>
          <p:nvPr/>
        </p:nvSpPr>
        <p:spPr>
          <a:xfrm>
            <a:off x="0" y="420623"/>
            <a:ext cx="143510" cy="220979"/>
          </a:xfrm>
          <a:custGeom>
            <a:avLst/>
            <a:gdLst/>
            <a:ahLst/>
            <a:cxnLst/>
            <a:rect l="l" t="t" r="r" b="b"/>
            <a:pathLst>
              <a:path w="143510" h="220979">
                <a:moveTo>
                  <a:pt x="0" y="220979"/>
                </a:moveTo>
                <a:lnTo>
                  <a:pt x="143256" y="220979"/>
                </a:lnTo>
                <a:lnTo>
                  <a:pt x="143256" y="0"/>
                </a:lnTo>
                <a:lnTo>
                  <a:pt x="0" y="0"/>
                </a:lnTo>
                <a:lnTo>
                  <a:pt x="0" y="220979"/>
                </a:lnTo>
                <a:close/>
              </a:path>
            </a:pathLst>
          </a:custGeom>
          <a:solidFill>
            <a:srgbClr val="F1F1F1"/>
          </a:solidFill>
        </p:spPr>
        <p:txBody>
          <a:bodyPr wrap="square" lIns="0" tIns="0" rIns="0" bIns="0" rtlCol="0"/>
          <a:lstStyle/>
          <a:p/>
        </p:txBody>
      </p:sp>
      <p:sp>
        <p:nvSpPr>
          <p:cNvPr id="4" name="object 4"/>
          <p:cNvSpPr/>
          <p:nvPr/>
        </p:nvSpPr>
        <p:spPr>
          <a:xfrm>
            <a:off x="183642" y="420623"/>
            <a:ext cx="0" cy="220979"/>
          </a:xfrm>
          <a:custGeom>
            <a:avLst/>
            <a:gdLst/>
            <a:ahLst/>
            <a:cxnLst/>
            <a:rect l="l" t="t" r="r" b="b"/>
            <a:pathLst>
              <a:path h="220979">
                <a:moveTo>
                  <a:pt x="0" y="0"/>
                </a:moveTo>
                <a:lnTo>
                  <a:pt x="0" y="220979"/>
                </a:lnTo>
              </a:path>
            </a:pathLst>
          </a:custGeom>
          <a:ln w="80772">
            <a:solidFill>
              <a:srgbClr val="AC2B25"/>
            </a:solidFill>
          </a:ln>
        </p:spPr>
        <p:txBody>
          <a:bodyPr wrap="square" lIns="0" tIns="0" rIns="0" bIns="0" rtlCol="0"/>
          <a:lstStyle/>
          <a:p/>
        </p:txBody>
      </p:sp>
      <p:sp>
        <p:nvSpPr>
          <p:cNvPr id="7" name="object 7"/>
          <p:cNvSpPr txBox="1"/>
          <p:nvPr/>
        </p:nvSpPr>
        <p:spPr>
          <a:xfrm>
            <a:off x="873048" y="1345437"/>
            <a:ext cx="10994975" cy="917559"/>
          </a:xfrm>
          <a:prstGeom prst="rect">
            <a:avLst/>
          </a:prstGeom>
        </p:spPr>
        <p:txBody>
          <a:bodyPr vert="horz" wrap="square" lIns="0" tIns="12065" rIns="0" bIns="0" rtlCol="0">
            <a:spAutoFit/>
          </a:bodyPr>
          <a:lstStyle/>
          <a:p>
            <a:pPr marL="12700">
              <a:lnSpc>
                <a:spcPct val="100000"/>
              </a:lnSpc>
              <a:spcBef>
                <a:spcPts val="95"/>
              </a:spcBef>
            </a:pPr>
            <a:r>
              <a:rPr sz="2400" b="1" spc="-30" dirty="0">
                <a:solidFill>
                  <a:srgbClr val="252525"/>
                </a:solidFill>
                <a:latin typeface="Microsoft JhengHei"/>
                <a:cs typeface="Microsoft JhengHei"/>
              </a:rPr>
              <a:t>新增对象中的方法</a:t>
            </a:r>
            <a:endParaRPr sz="2400" dirty="0">
              <a:latin typeface="Microsoft JhengHei"/>
              <a:cs typeface="Microsoft JhengHei"/>
            </a:endParaRPr>
          </a:p>
          <a:p>
            <a:pPr marL="12700">
              <a:lnSpc>
                <a:spcPct val="100000"/>
              </a:lnSpc>
              <a:spcBef>
                <a:spcPts val="1345"/>
              </a:spcBef>
            </a:pPr>
            <a:r>
              <a:rPr sz="2400" spc="-30" dirty="0">
                <a:solidFill>
                  <a:srgbClr val="252525"/>
                </a:solidFill>
                <a:latin typeface="宋体"/>
                <a:cs typeface="宋体"/>
              </a:rPr>
              <a:t>也可以动态为对象添加方法，动态添加与直接</a:t>
            </a:r>
            <a:r>
              <a:rPr sz="2400" spc="-20" dirty="0">
                <a:solidFill>
                  <a:srgbClr val="252525"/>
                </a:solidFill>
                <a:latin typeface="宋体"/>
                <a:cs typeface="宋体"/>
              </a:rPr>
              <a:t>定</a:t>
            </a:r>
            <a:r>
              <a:rPr sz="2400" spc="-30" dirty="0">
                <a:solidFill>
                  <a:srgbClr val="252525"/>
                </a:solidFill>
                <a:latin typeface="宋体"/>
                <a:cs typeface="宋体"/>
              </a:rPr>
              <a:t>义是一</a:t>
            </a:r>
            <a:r>
              <a:rPr sz="2400" spc="-20" dirty="0">
                <a:solidFill>
                  <a:srgbClr val="252525"/>
                </a:solidFill>
                <a:latin typeface="宋体"/>
                <a:cs typeface="宋体"/>
              </a:rPr>
              <a:t>样</a:t>
            </a:r>
            <a:r>
              <a:rPr sz="2400" spc="-30" dirty="0">
                <a:solidFill>
                  <a:srgbClr val="252525"/>
                </a:solidFill>
                <a:latin typeface="宋体"/>
                <a:cs typeface="宋体"/>
              </a:rPr>
              <a:t>的，只</a:t>
            </a:r>
            <a:r>
              <a:rPr sz="2400" spc="-20" dirty="0">
                <a:solidFill>
                  <a:srgbClr val="252525"/>
                </a:solidFill>
                <a:latin typeface="宋体"/>
                <a:cs typeface="宋体"/>
              </a:rPr>
              <a:t>是</a:t>
            </a:r>
            <a:r>
              <a:rPr sz="2400" spc="-30" dirty="0">
                <a:solidFill>
                  <a:srgbClr val="252525"/>
                </a:solidFill>
                <a:latin typeface="宋体"/>
                <a:cs typeface="宋体"/>
              </a:rPr>
              <a:t>语法上</a:t>
            </a:r>
            <a:r>
              <a:rPr sz="2400" spc="-10" dirty="0">
                <a:solidFill>
                  <a:srgbClr val="252525"/>
                </a:solidFill>
                <a:latin typeface="宋体"/>
                <a:cs typeface="宋体"/>
              </a:rPr>
              <a:t>更</a:t>
            </a:r>
            <a:r>
              <a:rPr sz="2400" spc="-30" dirty="0">
                <a:solidFill>
                  <a:srgbClr val="252525"/>
                </a:solidFill>
                <a:latin typeface="宋体"/>
                <a:cs typeface="宋体"/>
              </a:rPr>
              <a:t>灵活</a:t>
            </a:r>
            <a:endParaRPr sz="2400" dirty="0">
              <a:latin typeface="宋体"/>
              <a:cs typeface="宋体"/>
            </a:endParaRPr>
          </a:p>
        </p:txBody>
      </p:sp>
      <p:sp>
        <p:nvSpPr>
          <p:cNvPr id="8" name="object 8"/>
          <p:cNvSpPr txBox="1"/>
          <p:nvPr/>
        </p:nvSpPr>
        <p:spPr>
          <a:xfrm>
            <a:off x="873047" y="4247769"/>
            <a:ext cx="10994975" cy="381515"/>
          </a:xfrm>
          <a:prstGeom prst="rect">
            <a:avLst/>
          </a:prstGeom>
        </p:spPr>
        <p:txBody>
          <a:bodyPr vert="horz" wrap="square" lIns="0" tIns="12065" rIns="0" bIns="0" rtlCol="0">
            <a:spAutoFit/>
          </a:bodyPr>
          <a:lstStyle/>
          <a:p>
            <a:pPr marL="12700">
              <a:lnSpc>
                <a:spcPct val="100000"/>
              </a:lnSpc>
              <a:spcBef>
                <a:spcPts val="95"/>
              </a:spcBef>
            </a:pPr>
            <a:r>
              <a:rPr sz="2400" spc="-30" dirty="0">
                <a:solidFill>
                  <a:srgbClr val="252525"/>
                </a:solidFill>
                <a:latin typeface="宋体"/>
                <a:cs typeface="宋体"/>
              </a:rPr>
              <a:t>注：无论是属性或是方法，同一个对象中出现</a:t>
            </a:r>
            <a:r>
              <a:rPr sz="2400" spc="-20" dirty="0">
                <a:solidFill>
                  <a:srgbClr val="252525"/>
                </a:solidFill>
                <a:latin typeface="宋体"/>
                <a:cs typeface="宋体"/>
              </a:rPr>
              <a:t>名</a:t>
            </a:r>
            <a:r>
              <a:rPr sz="2400" spc="-30" dirty="0">
                <a:solidFill>
                  <a:srgbClr val="252525"/>
                </a:solidFill>
                <a:latin typeface="宋体"/>
                <a:cs typeface="宋体"/>
              </a:rPr>
              <a:t>称一样</a:t>
            </a:r>
            <a:r>
              <a:rPr sz="2400" spc="-20" dirty="0">
                <a:solidFill>
                  <a:srgbClr val="252525"/>
                </a:solidFill>
                <a:latin typeface="宋体"/>
                <a:cs typeface="宋体"/>
              </a:rPr>
              <a:t>的</a:t>
            </a:r>
            <a:r>
              <a:rPr sz="2400" spc="-30" dirty="0">
                <a:solidFill>
                  <a:srgbClr val="252525"/>
                </a:solidFill>
                <a:latin typeface="宋体"/>
                <a:cs typeface="宋体"/>
              </a:rPr>
              <a:t>，后面</a:t>
            </a:r>
            <a:r>
              <a:rPr sz="2400" spc="-20" dirty="0">
                <a:solidFill>
                  <a:srgbClr val="252525"/>
                </a:solidFill>
                <a:latin typeface="宋体"/>
                <a:cs typeface="宋体"/>
              </a:rPr>
              <a:t>的</a:t>
            </a:r>
            <a:r>
              <a:rPr sz="2400" spc="-30" dirty="0">
                <a:solidFill>
                  <a:srgbClr val="252525"/>
                </a:solidFill>
                <a:latin typeface="宋体"/>
                <a:cs typeface="宋体"/>
              </a:rPr>
              <a:t>会覆盖</a:t>
            </a:r>
            <a:r>
              <a:rPr sz="2400" spc="-20" dirty="0">
                <a:solidFill>
                  <a:srgbClr val="252525"/>
                </a:solidFill>
                <a:latin typeface="宋体"/>
                <a:cs typeface="宋体"/>
              </a:rPr>
              <a:t>前</a:t>
            </a:r>
            <a:r>
              <a:rPr sz="2400" spc="-30" dirty="0">
                <a:solidFill>
                  <a:srgbClr val="252525"/>
                </a:solidFill>
                <a:latin typeface="宋体"/>
                <a:cs typeface="宋体"/>
              </a:rPr>
              <a:t>面的。</a:t>
            </a:r>
            <a:endParaRPr sz="2400" dirty="0">
              <a:latin typeface="宋体"/>
              <a:cs typeface="宋体"/>
            </a:endParaRPr>
          </a:p>
        </p:txBody>
      </p:sp>
      <p:sp>
        <p:nvSpPr>
          <p:cNvPr id="10" name="object 10"/>
          <p:cNvSpPr/>
          <p:nvPr/>
        </p:nvSpPr>
        <p:spPr>
          <a:xfrm>
            <a:off x="871727" y="2548127"/>
            <a:ext cx="5047488" cy="1304544"/>
          </a:xfrm>
          <a:prstGeom prst="rect">
            <a:avLst/>
          </a:prstGeom>
          <a:blipFill>
            <a:blip r:embed="rId1" cstate="print"/>
            <a:stretch>
              <a:fillRect/>
            </a:stretch>
          </a:blipFill>
        </p:spPr>
        <p:txBody>
          <a:bodyPr wrap="square" lIns="0" tIns="0" rIns="0" bIns="0" rtlCol="0"/>
          <a:lstStyle/>
          <a:p/>
        </p:txBody>
      </p:sp>
      <p:sp>
        <p:nvSpPr>
          <p:cNvPr id="5" name="灯片编号占位符 4"/>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1" name="标题 1"/>
          <p:cNvSpPr txBox="1"/>
          <p:nvPr/>
        </p:nvSpPr>
        <p:spPr>
          <a:xfrm>
            <a:off x="856736" y="304800"/>
            <a:ext cx="10456875" cy="492443"/>
          </a:xfrm>
          <a:prstGeom prst="rect">
            <a:avLst/>
          </a:prstGeom>
        </p:spPr>
        <p:txBody>
          <a:bodyPr/>
          <a:lstStyle>
            <a:lvl1pPr>
              <a:defRPr>
                <a:latin typeface="+mj-lt"/>
                <a:ea typeface="+mj-ea"/>
                <a:cs typeface="+mj-cs"/>
              </a:defRPr>
            </a:lvl1pPr>
          </a:lstStyle>
          <a:p>
            <a:r>
              <a:rPr lang="zh-CN" altLang="en-US" sz="3200" kern="0" dirty="0" smtClean="0">
                <a:solidFill>
                  <a:sysClr val="windowText" lastClr="000000"/>
                </a:solidFill>
              </a:rPr>
              <a:t>操作对象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63971" y="1110959"/>
            <a:ext cx="6601562"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b="1" spc="-30" dirty="0" smtClean="0">
                <a:solidFill>
                  <a:srgbClr val="C00000"/>
                </a:solidFill>
                <a:latin typeface="Microsoft JhengHei"/>
                <a:cs typeface="Microsoft JhengHei"/>
              </a:rPr>
              <a:t>遍历对象</a:t>
            </a:r>
            <a:r>
              <a:rPr sz="2400" b="1" spc="-30" dirty="0" err="1" smtClean="0">
                <a:solidFill>
                  <a:srgbClr val="C00000"/>
                </a:solidFill>
                <a:latin typeface="Microsoft JhengHei"/>
                <a:cs typeface="Microsoft JhengHei"/>
              </a:rPr>
              <a:t>元素</a:t>
            </a:r>
            <a:endParaRPr sz="2400" dirty="0">
              <a:solidFill>
                <a:srgbClr val="C00000"/>
              </a:solidFill>
              <a:latin typeface="Microsoft JhengHei"/>
              <a:cs typeface="Microsoft JhengHei"/>
            </a:endParaRPr>
          </a:p>
        </p:txBody>
      </p:sp>
      <p:sp>
        <p:nvSpPr>
          <p:cNvPr id="4" name="object 4"/>
          <p:cNvSpPr txBox="1"/>
          <p:nvPr/>
        </p:nvSpPr>
        <p:spPr>
          <a:xfrm>
            <a:off x="827938" y="1676400"/>
            <a:ext cx="10754462" cy="879087"/>
          </a:xfrm>
          <a:prstGeom prst="rect">
            <a:avLst/>
          </a:prstGeom>
        </p:spPr>
        <p:txBody>
          <a:bodyPr vert="horz" wrap="square" lIns="0" tIns="12065" rIns="0" bIns="0" rtlCol="0">
            <a:spAutoFit/>
          </a:bodyPr>
          <a:lstStyle/>
          <a:p>
            <a:pPr marL="12700">
              <a:lnSpc>
                <a:spcPct val="100000"/>
              </a:lnSpc>
              <a:spcBef>
                <a:spcPts val="1345"/>
              </a:spcBef>
            </a:pPr>
            <a:r>
              <a:rPr sz="2400" spc="-30" dirty="0" err="1" smtClean="0">
                <a:solidFill>
                  <a:srgbClr val="252525"/>
                </a:solidFill>
                <a:latin typeface="宋体"/>
                <a:cs typeface="宋体"/>
              </a:rPr>
              <a:t>对象没有像数组一样的</a:t>
            </a:r>
            <a:r>
              <a:rPr sz="2400" spc="15" dirty="0" err="1">
                <a:solidFill>
                  <a:srgbClr val="252525"/>
                </a:solidFill>
                <a:latin typeface="宋体"/>
                <a:cs typeface="宋体"/>
              </a:rPr>
              <a:t>length</a:t>
            </a:r>
            <a:r>
              <a:rPr sz="2400" spc="-30" dirty="0" err="1">
                <a:solidFill>
                  <a:srgbClr val="252525"/>
                </a:solidFill>
                <a:latin typeface="宋体"/>
                <a:cs typeface="宋体"/>
              </a:rPr>
              <a:t>属性</a:t>
            </a:r>
            <a:r>
              <a:rPr sz="2400" spc="-325" dirty="0" err="1">
                <a:solidFill>
                  <a:srgbClr val="252525"/>
                </a:solidFill>
                <a:latin typeface="宋体"/>
                <a:cs typeface="宋体"/>
              </a:rPr>
              <a:t>,</a:t>
            </a:r>
            <a:r>
              <a:rPr sz="2400" spc="-30" dirty="0" err="1">
                <a:solidFill>
                  <a:srgbClr val="252525"/>
                </a:solidFill>
                <a:latin typeface="宋体"/>
                <a:cs typeface="宋体"/>
              </a:rPr>
              <a:t>所以无法</a:t>
            </a:r>
            <a:r>
              <a:rPr sz="2400" spc="-20" dirty="0" err="1">
                <a:solidFill>
                  <a:srgbClr val="252525"/>
                </a:solidFill>
                <a:latin typeface="宋体"/>
                <a:cs typeface="宋体"/>
              </a:rPr>
              <a:t>确</a:t>
            </a:r>
            <a:r>
              <a:rPr sz="2400" spc="-30" dirty="0" err="1">
                <a:solidFill>
                  <a:srgbClr val="252525"/>
                </a:solidFill>
                <a:latin typeface="宋体"/>
                <a:cs typeface="宋体"/>
              </a:rPr>
              <a:t>定长度</a:t>
            </a:r>
            <a:endParaRPr sz="2400" dirty="0">
              <a:latin typeface="宋体"/>
              <a:cs typeface="宋体"/>
            </a:endParaRPr>
          </a:p>
          <a:p>
            <a:pPr marL="12700">
              <a:lnSpc>
                <a:spcPct val="100000"/>
              </a:lnSpc>
              <a:spcBef>
                <a:spcPts val="960"/>
              </a:spcBef>
            </a:pPr>
            <a:r>
              <a:rPr sz="2400" spc="-35" dirty="0">
                <a:solidFill>
                  <a:srgbClr val="252525"/>
                </a:solidFill>
                <a:latin typeface="宋体"/>
                <a:cs typeface="宋体"/>
              </a:rPr>
              <a:t>对象里面是无序的键值</a:t>
            </a:r>
            <a:r>
              <a:rPr sz="2400" spc="-30" dirty="0">
                <a:solidFill>
                  <a:srgbClr val="252525"/>
                </a:solidFill>
                <a:latin typeface="宋体"/>
                <a:cs typeface="宋体"/>
              </a:rPr>
              <a:t>对</a:t>
            </a:r>
            <a:r>
              <a:rPr sz="2400" spc="-320" dirty="0">
                <a:solidFill>
                  <a:srgbClr val="252525"/>
                </a:solidFill>
                <a:latin typeface="宋体"/>
                <a:cs typeface="宋体"/>
              </a:rPr>
              <a:t>,</a:t>
            </a:r>
            <a:r>
              <a:rPr sz="2400" spc="-360" dirty="0">
                <a:solidFill>
                  <a:srgbClr val="252525"/>
                </a:solidFill>
                <a:latin typeface="宋体"/>
                <a:cs typeface="宋体"/>
              </a:rPr>
              <a:t> </a:t>
            </a:r>
            <a:r>
              <a:rPr sz="2400" spc="-35" dirty="0" err="1" smtClean="0">
                <a:solidFill>
                  <a:srgbClr val="252525"/>
                </a:solidFill>
                <a:latin typeface="宋体"/>
                <a:cs typeface="宋体"/>
              </a:rPr>
              <a:t>没有规</a:t>
            </a:r>
            <a:r>
              <a:rPr sz="2400" spc="-30" dirty="0" err="1" smtClean="0">
                <a:solidFill>
                  <a:srgbClr val="252525"/>
                </a:solidFill>
                <a:latin typeface="宋体"/>
                <a:cs typeface="宋体"/>
              </a:rPr>
              <a:t>律</a:t>
            </a:r>
            <a:r>
              <a:rPr lang="zh-CN" altLang="en-US" sz="2400" spc="-320" dirty="0" smtClean="0">
                <a:solidFill>
                  <a:srgbClr val="252525"/>
                </a:solidFill>
                <a:latin typeface="宋体"/>
                <a:cs typeface="宋体"/>
              </a:rPr>
              <a:t>，</a:t>
            </a:r>
            <a:r>
              <a:rPr sz="2400" spc="-35" dirty="0" err="1" smtClean="0">
                <a:solidFill>
                  <a:srgbClr val="252525"/>
                </a:solidFill>
                <a:latin typeface="宋体"/>
                <a:cs typeface="宋体"/>
              </a:rPr>
              <a:t>不像数组里面有规律的下标</a:t>
            </a:r>
            <a:endParaRPr sz="2400" dirty="0">
              <a:latin typeface="宋体"/>
              <a:cs typeface="宋体"/>
            </a:endParaRPr>
          </a:p>
        </p:txBody>
      </p:sp>
      <p:sp>
        <p:nvSpPr>
          <p:cNvPr id="5" name="灯片编号占位符 4"/>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6" name="矩形 5"/>
          <p:cNvSpPr/>
          <p:nvPr/>
        </p:nvSpPr>
        <p:spPr>
          <a:xfrm>
            <a:off x="827938" y="304800"/>
            <a:ext cx="1826141" cy="584775"/>
          </a:xfrm>
          <a:prstGeom prst="rect">
            <a:avLst/>
          </a:prstGeom>
        </p:spPr>
        <p:txBody>
          <a:bodyPr wrap="none">
            <a:spAutoFit/>
          </a:bodyPr>
          <a:lstStyle/>
          <a:p>
            <a:pPr lvl="0"/>
            <a:r>
              <a:rPr lang="zh-CN" altLang="en-US" sz="3200" kern="0" dirty="0" smtClean="0">
                <a:solidFill>
                  <a:sysClr val="windowText" lastClr="000000"/>
                </a:solidFill>
              </a:rPr>
              <a:t>遍历对象</a:t>
            </a:r>
            <a:endParaRPr lang="zh-CN" altLang="en-US" sz="3200" kern="0" dirty="0">
              <a:solidFill>
                <a:sysClr val="windowText" lastClr="000000"/>
              </a:solidFill>
            </a:endParaRPr>
          </a:p>
        </p:txBody>
      </p:sp>
      <p:sp>
        <p:nvSpPr>
          <p:cNvPr id="7" name="object 6"/>
          <p:cNvSpPr/>
          <p:nvPr/>
        </p:nvSpPr>
        <p:spPr>
          <a:xfrm>
            <a:off x="846988" y="2738772"/>
            <a:ext cx="5923788" cy="3113531"/>
          </a:xfrm>
          <a:prstGeom prst="rect">
            <a:avLst/>
          </a:prstGeom>
          <a:blipFill>
            <a:blip r:embed="rId1" cstate="print"/>
            <a:stretch>
              <a:fillRect/>
            </a:stretch>
          </a:blipFill>
        </p:spPr>
        <p:txBody>
          <a:bodyPr wrap="square" lIns="0" tIns="0" rIns="0" bIns="0" rtlCol="0"/>
          <a:lstStyle/>
          <a:p/>
        </p:txBody>
      </p:sp>
      <p:sp>
        <p:nvSpPr>
          <p:cNvPr id="8" name="object 4"/>
          <p:cNvSpPr txBox="1"/>
          <p:nvPr/>
        </p:nvSpPr>
        <p:spPr>
          <a:xfrm>
            <a:off x="827938" y="6003751"/>
            <a:ext cx="9916262" cy="794448"/>
          </a:xfrm>
          <a:prstGeom prst="rect">
            <a:avLst/>
          </a:prstGeom>
        </p:spPr>
        <p:txBody>
          <a:bodyPr vert="horz" wrap="square" lIns="0" tIns="12065" rIns="0" bIns="0" rtlCol="0">
            <a:spAutoFit/>
          </a:bodyPr>
          <a:lstStyle/>
          <a:p>
            <a:pPr marL="355600" indent="-342900">
              <a:lnSpc>
                <a:spcPct val="100000"/>
              </a:lnSpc>
              <a:spcBef>
                <a:spcPts val="95"/>
              </a:spcBef>
              <a:buFont typeface="Wingdings" panose="05000000000000000000"/>
              <a:buChar char=""/>
              <a:tabLst>
                <a:tab pos="355600" algn="l"/>
                <a:tab pos="356235" algn="l"/>
              </a:tabLst>
            </a:pPr>
            <a:r>
              <a:rPr sz="2000" spc="-30" dirty="0" err="1">
                <a:solidFill>
                  <a:srgbClr val="404040"/>
                </a:solidFill>
                <a:latin typeface="宋体"/>
                <a:cs typeface="宋体"/>
              </a:rPr>
              <a:t>一般不用这种方式遍历数组、</a:t>
            </a:r>
            <a:r>
              <a:rPr sz="2000" spc="-30" dirty="0" err="1" smtClean="0">
                <a:solidFill>
                  <a:srgbClr val="404040"/>
                </a:solidFill>
                <a:latin typeface="宋体"/>
                <a:cs typeface="宋体"/>
              </a:rPr>
              <a:t>主要是用来遍历</a:t>
            </a:r>
            <a:r>
              <a:rPr sz="2000" spc="-20" dirty="0" err="1" smtClean="0">
                <a:solidFill>
                  <a:srgbClr val="404040"/>
                </a:solidFill>
                <a:latin typeface="宋体"/>
                <a:cs typeface="宋体"/>
              </a:rPr>
              <a:t>对</a:t>
            </a:r>
            <a:r>
              <a:rPr sz="2000" spc="-30" dirty="0" err="1" smtClean="0">
                <a:solidFill>
                  <a:srgbClr val="404040"/>
                </a:solidFill>
                <a:latin typeface="宋体"/>
                <a:cs typeface="宋体"/>
              </a:rPr>
              <a:t>象</a:t>
            </a:r>
            <a:r>
              <a:rPr lang="zh-CN" altLang="en-US" sz="2000" spc="-30" dirty="0" smtClean="0">
                <a:solidFill>
                  <a:srgbClr val="404040"/>
                </a:solidFill>
                <a:latin typeface="宋体"/>
                <a:cs typeface="宋体"/>
              </a:rPr>
              <a:t>；</a:t>
            </a:r>
            <a:endParaRPr sz="2000" dirty="0">
              <a:latin typeface="宋体"/>
              <a:cs typeface="宋体"/>
            </a:endParaRPr>
          </a:p>
          <a:p>
            <a:pPr marL="355600" indent="-342900">
              <a:lnSpc>
                <a:spcPct val="100000"/>
              </a:lnSpc>
              <a:spcBef>
                <a:spcPts val="1345"/>
              </a:spcBef>
              <a:buFont typeface="Wingdings" panose="05000000000000000000"/>
              <a:buChar char=""/>
              <a:tabLst>
                <a:tab pos="355600" algn="l"/>
                <a:tab pos="356235" algn="l"/>
              </a:tabLst>
            </a:pPr>
            <a:r>
              <a:rPr sz="2000" spc="-35" dirty="0" err="1">
                <a:solidFill>
                  <a:srgbClr val="404040"/>
                </a:solidFill>
                <a:latin typeface="宋体"/>
                <a:cs typeface="宋体"/>
              </a:rPr>
              <a:t>一定记住</a:t>
            </a:r>
            <a:r>
              <a:rPr sz="2000" spc="-30" dirty="0" err="1" smtClean="0">
                <a:solidFill>
                  <a:srgbClr val="404040"/>
                </a:solidFill>
                <a:latin typeface="宋体"/>
                <a:cs typeface="宋体"/>
              </a:rPr>
              <a:t>：</a:t>
            </a:r>
            <a:r>
              <a:rPr sz="2000" b="1" spc="10" dirty="0" err="1" smtClean="0">
                <a:solidFill>
                  <a:srgbClr val="C00000"/>
                </a:solidFill>
                <a:latin typeface="Microsoft JhengHei"/>
                <a:cs typeface="Microsoft JhengHei"/>
              </a:rPr>
              <a:t>k</a:t>
            </a:r>
            <a:r>
              <a:rPr sz="2000" b="1" spc="5" dirty="0" smtClean="0">
                <a:solidFill>
                  <a:srgbClr val="C00000"/>
                </a:solidFill>
                <a:latin typeface="Microsoft JhengHei"/>
                <a:cs typeface="Microsoft JhengHei"/>
              </a:rPr>
              <a:t> </a:t>
            </a:r>
            <a:r>
              <a:rPr sz="2000" spc="-35" dirty="0" err="1">
                <a:solidFill>
                  <a:srgbClr val="404040"/>
                </a:solidFill>
                <a:latin typeface="宋体"/>
                <a:cs typeface="宋体"/>
              </a:rPr>
              <a:t>是获得对象</a:t>
            </a:r>
            <a:r>
              <a:rPr sz="2000" spc="-30" dirty="0" err="1">
                <a:solidFill>
                  <a:srgbClr val="404040"/>
                </a:solidFill>
                <a:latin typeface="宋体"/>
                <a:cs typeface="宋体"/>
              </a:rPr>
              <a:t>的</a:t>
            </a:r>
            <a:r>
              <a:rPr sz="2000" b="1" spc="-35" dirty="0" err="1">
                <a:solidFill>
                  <a:srgbClr val="C00000"/>
                </a:solidFill>
                <a:latin typeface="Microsoft JhengHei"/>
                <a:cs typeface="Microsoft JhengHei"/>
              </a:rPr>
              <a:t>属性名</a:t>
            </a:r>
            <a:r>
              <a:rPr sz="2000" spc="-30" dirty="0" err="1" smtClean="0">
                <a:solidFill>
                  <a:srgbClr val="404040"/>
                </a:solidFill>
                <a:latin typeface="宋体"/>
                <a:cs typeface="宋体"/>
              </a:rPr>
              <a:t>，</a:t>
            </a:r>
            <a:r>
              <a:rPr sz="2000" b="1" spc="-35" dirty="0" err="1" smtClean="0">
                <a:solidFill>
                  <a:srgbClr val="C00000"/>
                </a:solidFill>
                <a:latin typeface="Microsoft JhengHei"/>
                <a:cs typeface="Microsoft JhengHei"/>
              </a:rPr>
              <a:t>对象名</a:t>
            </a:r>
            <a:r>
              <a:rPr sz="2000" b="1" spc="-20" dirty="0">
                <a:solidFill>
                  <a:srgbClr val="C00000"/>
                </a:solidFill>
                <a:latin typeface="Microsoft JhengHei"/>
                <a:cs typeface="Microsoft JhengHei"/>
              </a:rPr>
              <a:t>[k]</a:t>
            </a:r>
            <a:r>
              <a:rPr sz="2000" b="1" spc="15" dirty="0">
                <a:solidFill>
                  <a:srgbClr val="C00000"/>
                </a:solidFill>
                <a:latin typeface="Microsoft JhengHei"/>
                <a:cs typeface="Microsoft JhengHei"/>
              </a:rPr>
              <a:t> </a:t>
            </a:r>
            <a:r>
              <a:rPr sz="2000" spc="-35" dirty="0" err="1">
                <a:solidFill>
                  <a:srgbClr val="404040"/>
                </a:solidFill>
                <a:latin typeface="宋体"/>
                <a:cs typeface="宋体"/>
              </a:rPr>
              <a:t>是获</a:t>
            </a:r>
            <a:r>
              <a:rPr sz="2000" spc="-30" dirty="0" err="1">
                <a:solidFill>
                  <a:srgbClr val="404040"/>
                </a:solidFill>
                <a:latin typeface="宋体"/>
                <a:cs typeface="宋体"/>
              </a:rPr>
              <a:t>得</a:t>
            </a:r>
            <a:r>
              <a:rPr sz="2000" spc="-385" dirty="0">
                <a:solidFill>
                  <a:srgbClr val="404040"/>
                </a:solidFill>
                <a:latin typeface="宋体"/>
                <a:cs typeface="宋体"/>
              </a:rPr>
              <a:t> </a:t>
            </a:r>
            <a:r>
              <a:rPr sz="2000" b="1" spc="-30" dirty="0" err="1" smtClean="0">
                <a:solidFill>
                  <a:srgbClr val="C00000"/>
                </a:solidFill>
                <a:latin typeface="Microsoft JhengHei"/>
                <a:cs typeface="Microsoft JhengHei"/>
              </a:rPr>
              <a:t>属性值</a:t>
            </a:r>
            <a:r>
              <a:rPr lang="zh-CN" altLang="en-US" sz="2000" b="1" spc="-30" dirty="0" smtClean="0">
                <a:solidFill>
                  <a:srgbClr val="C00000"/>
                </a:solidFill>
                <a:latin typeface="Microsoft JhengHei"/>
                <a:cs typeface="Microsoft JhengHei"/>
              </a:rPr>
              <a:t>；</a:t>
            </a:r>
            <a:endParaRPr sz="2000" dirty="0">
              <a:latin typeface="Microsoft JhengHei"/>
              <a:cs typeface="Microsoft JhengHei"/>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9744" y="1086611"/>
            <a:ext cx="1001394" cy="376555"/>
          </a:xfrm>
          <a:custGeom>
            <a:avLst/>
            <a:gdLst/>
            <a:ahLst/>
            <a:cxnLst/>
            <a:rect l="l" t="t" r="r" b="b"/>
            <a:pathLst>
              <a:path w="1001394" h="376555">
                <a:moveTo>
                  <a:pt x="0" y="376427"/>
                </a:moveTo>
                <a:lnTo>
                  <a:pt x="1001268" y="376427"/>
                </a:lnTo>
                <a:lnTo>
                  <a:pt x="1001268" y="0"/>
                </a:lnTo>
                <a:lnTo>
                  <a:pt x="0" y="0"/>
                </a:lnTo>
                <a:lnTo>
                  <a:pt x="0" y="376427"/>
                </a:lnTo>
                <a:close/>
              </a:path>
            </a:pathLst>
          </a:custGeom>
          <a:ln w="12192">
            <a:solidFill>
              <a:srgbClr val="AC2B25"/>
            </a:solidFill>
          </a:ln>
        </p:spPr>
        <p:txBody>
          <a:bodyPr wrap="square" lIns="0" tIns="0" rIns="0" bIns="0" rtlCol="0"/>
          <a:lstStyle/>
          <a:p/>
        </p:txBody>
      </p:sp>
      <p:sp>
        <p:nvSpPr>
          <p:cNvPr id="3" name="object 3"/>
          <p:cNvSpPr/>
          <p:nvPr/>
        </p:nvSpPr>
        <p:spPr>
          <a:xfrm>
            <a:off x="806195" y="1036319"/>
            <a:ext cx="398145" cy="462280"/>
          </a:xfrm>
          <a:custGeom>
            <a:avLst/>
            <a:gdLst/>
            <a:ahLst/>
            <a:cxnLst/>
            <a:rect l="l" t="t" r="r" b="b"/>
            <a:pathLst>
              <a:path w="398144" h="462280">
                <a:moveTo>
                  <a:pt x="198882" y="0"/>
                </a:moveTo>
                <a:lnTo>
                  <a:pt x="0" y="99440"/>
                </a:lnTo>
                <a:lnTo>
                  <a:pt x="0" y="362330"/>
                </a:lnTo>
                <a:lnTo>
                  <a:pt x="198882" y="461771"/>
                </a:lnTo>
                <a:lnTo>
                  <a:pt x="397764" y="362330"/>
                </a:lnTo>
                <a:lnTo>
                  <a:pt x="397764" y="99440"/>
                </a:lnTo>
                <a:lnTo>
                  <a:pt x="198882" y="0"/>
                </a:lnTo>
                <a:close/>
              </a:path>
            </a:pathLst>
          </a:custGeom>
          <a:solidFill>
            <a:srgbClr val="AC2B25"/>
          </a:solidFill>
        </p:spPr>
        <p:txBody>
          <a:bodyPr wrap="square" lIns="0" tIns="0" rIns="0" bIns="0" rtlCol="0"/>
          <a:lstStyle/>
          <a:p/>
        </p:txBody>
      </p:sp>
      <p:sp>
        <p:nvSpPr>
          <p:cNvPr id="4" name="object 4"/>
          <p:cNvSpPr/>
          <p:nvPr/>
        </p:nvSpPr>
        <p:spPr>
          <a:xfrm>
            <a:off x="899160" y="1159763"/>
            <a:ext cx="202691" cy="201167"/>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338452" y="1090676"/>
            <a:ext cx="525780" cy="330835"/>
          </a:xfrm>
          <a:prstGeom prst="rect">
            <a:avLst/>
          </a:prstGeom>
        </p:spPr>
        <p:txBody>
          <a:bodyPr vert="horz" wrap="square" lIns="0" tIns="13335" rIns="0" bIns="0" rtlCol="0">
            <a:spAutoFit/>
          </a:bodyPr>
          <a:lstStyle/>
          <a:p>
            <a:pPr marL="12700">
              <a:lnSpc>
                <a:spcPct val="100000"/>
              </a:lnSpc>
              <a:spcBef>
                <a:spcPts val="105"/>
              </a:spcBef>
            </a:pPr>
            <a:r>
              <a:rPr sz="2000" spc="-35" dirty="0">
                <a:solidFill>
                  <a:srgbClr val="AC2B25"/>
                </a:solidFill>
                <a:latin typeface="宋体"/>
                <a:cs typeface="宋体"/>
              </a:rPr>
              <a:t>案例</a:t>
            </a:r>
            <a:endParaRPr sz="2000">
              <a:latin typeface="宋体"/>
              <a:cs typeface="宋体"/>
            </a:endParaRPr>
          </a:p>
        </p:txBody>
      </p:sp>
      <p:sp>
        <p:nvSpPr>
          <p:cNvPr id="7" name="object 7"/>
          <p:cNvSpPr txBox="1"/>
          <p:nvPr/>
        </p:nvSpPr>
        <p:spPr>
          <a:xfrm>
            <a:off x="2274570" y="1054684"/>
            <a:ext cx="3619500" cy="974626"/>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AC2B25"/>
                </a:solidFill>
                <a:latin typeface="宋体"/>
                <a:cs typeface="宋体"/>
              </a:rPr>
              <a:t>遍历数组对象</a:t>
            </a:r>
            <a:endParaRPr sz="2400" dirty="0">
              <a:latin typeface="宋体"/>
              <a:cs typeface="宋体"/>
            </a:endParaRPr>
          </a:p>
          <a:p>
            <a:pPr marL="12700">
              <a:lnSpc>
                <a:spcPct val="100000"/>
              </a:lnSpc>
              <a:spcBef>
                <a:spcPts val="2680"/>
              </a:spcBef>
            </a:pPr>
            <a:r>
              <a:rPr sz="1600" spc="-30" dirty="0">
                <a:solidFill>
                  <a:srgbClr val="252525"/>
                </a:solidFill>
                <a:latin typeface="宋体"/>
                <a:cs typeface="宋体"/>
              </a:rPr>
              <a:t>需求：请把下面数据中的对象打印出来：</a:t>
            </a:r>
            <a:endParaRPr sz="1600" dirty="0">
              <a:latin typeface="宋体"/>
              <a:cs typeface="宋体"/>
            </a:endParaRPr>
          </a:p>
        </p:txBody>
      </p:sp>
      <p:sp>
        <p:nvSpPr>
          <p:cNvPr id="8" name="object 8"/>
          <p:cNvSpPr txBox="1"/>
          <p:nvPr/>
        </p:nvSpPr>
        <p:spPr>
          <a:xfrm>
            <a:off x="2379726" y="2590292"/>
            <a:ext cx="5677535" cy="2748829"/>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252525"/>
                </a:solidFill>
                <a:latin typeface="宋体"/>
                <a:cs typeface="宋体"/>
              </a:rPr>
              <a:t>//</a:t>
            </a:r>
            <a:r>
              <a:rPr sz="1600" spc="-395" dirty="0">
                <a:solidFill>
                  <a:srgbClr val="252525"/>
                </a:solidFill>
                <a:latin typeface="宋体"/>
                <a:cs typeface="宋体"/>
              </a:rPr>
              <a:t> </a:t>
            </a:r>
            <a:r>
              <a:rPr sz="1600" spc="-30" dirty="0">
                <a:solidFill>
                  <a:srgbClr val="252525"/>
                </a:solidFill>
                <a:latin typeface="宋体"/>
                <a:cs typeface="宋体"/>
              </a:rPr>
              <a:t>定义一个存储了若干学生信息的数组</a:t>
            </a:r>
            <a:endParaRPr sz="1600" dirty="0">
              <a:latin typeface="宋体"/>
              <a:cs typeface="宋体"/>
            </a:endParaRPr>
          </a:p>
          <a:p>
            <a:pPr marL="116205">
              <a:lnSpc>
                <a:spcPct val="100000"/>
              </a:lnSpc>
              <a:spcBef>
                <a:spcPts val="1345"/>
              </a:spcBef>
            </a:pPr>
            <a:r>
              <a:rPr sz="1600" spc="-165" dirty="0">
                <a:solidFill>
                  <a:srgbClr val="252525"/>
                </a:solidFill>
                <a:latin typeface="宋体"/>
                <a:cs typeface="宋体"/>
              </a:rPr>
              <a:t>let</a:t>
            </a:r>
            <a:r>
              <a:rPr sz="1600" spc="-385" dirty="0">
                <a:solidFill>
                  <a:srgbClr val="252525"/>
                </a:solidFill>
                <a:latin typeface="宋体"/>
                <a:cs typeface="宋体"/>
              </a:rPr>
              <a:t> </a:t>
            </a:r>
            <a:r>
              <a:rPr sz="1600" spc="10" dirty="0">
                <a:solidFill>
                  <a:srgbClr val="252525"/>
                </a:solidFill>
                <a:latin typeface="宋体"/>
                <a:cs typeface="宋体"/>
              </a:rPr>
              <a:t>students</a:t>
            </a:r>
            <a:r>
              <a:rPr sz="1600" spc="-405" dirty="0">
                <a:solidFill>
                  <a:srgbClr val="252525"/>
                </a:solidFill>
                <a:latin typeface="宋体"/>
                <a:cs typeface="宋体"/>
              </a:rPr>
              <a:t> </a:t>
            </a:r>
            <a:r>
              <a:rPr sz="1600" spc="80" dirty="0">
                <a:solidFill>
                  <a:srgbClr val="252525"/>
                </a:solidFill>
                <a:latin typeface="宋体"/>
                <a:cs typeface="宋体"/>
              </a:rPr>
              <a:t>=</a:t>
            </a:r>
            <a:r>
              <a:rPr sz="1600" spc="-375" dirty="0">
                <a:solidFill>
                  <a:srgbClr val="252525"/>
                </a:solidFill>
                <a:latin typeface="宋体"/>
                <a:cs typeface="宋体"/>
              </a:rPr>
              <a:t> </a:t>
            </a:r>
            <a:r>
              <a:rPr sz="1600" spc="-335" dirty="0">
                <a:solidFill>
                  <a:srgbClr val="252525"/>
                </a:solidFill>
                <a:latin typeface="宋体"/>
                <a:cs typeface="宋体"/>
              </a:rPr>
              <a:t>[</a:t>
            </a:r>
            <a:endParaRPr sz="1600" dirty="0">
              <a:latin typeface="宋体"/>
              <a:cs typeface="宋体"/>
            </a:endParaRPr>
          </a:p>
          <a:p>
            <a:pPr marL="220980">
              <a:lnSpc>
                <a:spcPct val="100000"/>
              </a:lnSpc>
              <a:spcBef>
                <a:spcPts val="1345"/>
              </a:spcBef>
            </a:pPr>
            <a:r>
              <a:rPr sz="1600" spc="100" dirty="0">
                <a:solidFill>
                  <a:srgbClr val="252525"/>
                </a:solidFill>
                <a:latin typeface="宋体"/>
                <a:cs typeface="宋体"/>
              </a:rPr>
              <a:t>{name:</a:t>
            </a:r>
            <a:r>
              <a:rPr sz="1600" spc="-380"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小明</a:t>
            </a:r>
            <a:r>
              <a:rPr sz="1600" spc="-360" dirty="0">
                <a:solidFill>
                  <a:srgbClr val="252525"/>
                </a:solidFill>
                <a:latin typeface="宋体"/>
                <a:cs typeface="宋体"/>
              </a:rPr>
              <a:t>',</a:t>
            </a:r>
            <a:r>
              <a:rPr sz="1600" spc="-395" dirty="0">
                <a:solidFill>
                  <a:srgbClr val="252525"/>
                </a:solidFill>
                <a:latin typeface="宋体"/>
                <a:cs typeface="宋体"/>
              </a:rPr>
              <a:t> </a:t>
            </a:r>
            <a:r>
              <a:rPr sz="1600" spc="75" dirty="0">
                <a:solidFill>
                  <a:srgbClr val="252525"/>
                </a:solidFill>
                <a:latin typeface="宋体"/>
                <a:cs typeface="宋体"/>
              </a:rPr>
              <a:t>age:</a:t>
            </a:r>
            <a:r>
              <a:rPr sz="1600" spc="-395" dirty="0">
                <a:solidFill>
                  <a:srgbClr val="252525"/>
                </a:solidFill>
                <a:latin typeface="宋体"/>
                <a:cs typeface="宋体"/>
              </a:rPr>
              <a:t> </a:t>
            </a:r>
            <a:r>
              <a:rPr sz="1600" spc="-35" dirty="0">
                <a:solidFill>
                  <a:srgbClr val="252525"/>
                </a:solidFill>
                <a:latin typeface="宋体"/>
                <a:cs typeface="宋体"/>
              </a:rPr>
              <a:t>18,</a:t>
            </a:r>
            <a:r>
              <a:rPr sz="1600" spc="-360" dirty="0">
                <a:solidFill>
                  <a:srgbClr val="252525"/>
                </a:solidFill>
                <a:latin typeface="宋体"/>
                <a:cs typeface="宋体"/>
              </a:rPr>
              <a:t> </a:t>
            </a:r>
            <a:r>
              <a:rPr sz="1600" spc="65" dirty="0">
                <a:solidFill>
                  <a:srgbClr val="252525"/>
                </a:solidFill>
                <a:latin typeface="宋体"/>
                <a:cs typeface="宋体"/>
              </a:rPr>
              <a:t>gender:</a:t>
            </a:r>
            <a:r>
              <a:rPr sz="1600" spc="-375"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男</a:t>
            </a:r>
            <a:r>
              <a:rPr sz="1600" spc="-360" dirty="0">
                <a:solidFill>
                  <a:srgbClr val="252525"/>
                </a:solidFill>
                <a:latin typeface="宋体"/>
                <a:cs typeface="宋体"/>
              </a:rPr>
              <a:t>',</a:t>
            </a:r>
            <a:r>
              <a:rPr sz="1600" spc="-395" dirty="0">
                <a:solidFill>
                  <a:srgbClr val="252525"/>
                </a:solidFill>
                <a:latin typeface="宋体"/>
                <a:cs typeface="宋体"/>
              </a:rPr>
              <a:t> </a:t>
            </a:r>
            <a:r>
              <a:rPr sz="1600" spc="175" dirty="0">
                <a:solidFill>
                  <a:srgbClr val="252525"/>
                </a:solidFill>
                <a:latin typeface="宋体"/>
                <a:cs typeface="宋体"/>
              </a:rPr>
              <a:t>hometown:</a:t>
            </a:r>
            <a:r>
              <a:rPr sz="1600" spc="-375"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河北省</a:t>
            </a:r>
            <a:r>
              <a:rPr sz="1600" spc="-350" dirty="0">
                <a:solidFill>
                  <a:srgbClr val="252525"/>
                </a:solidFill>
                <a:latin typeface="宋体"/>
                <a:cs typeface="宋体"/>
              </a:rPr>
              <a:t>'},</a:t>
            </a:r>
            <a:endParaRPr sz="1600" dirty="0">
              <a:latin typeface="宋体"/>
              <a:cs typeface="宋体"/>
            </a:endParaRPr>
          </a:p>
          <a:p>
            <a:pPr marL="220980">
              <a:lnSpc>
                <a:spcPct val="100000"/>
              </a:lnSpc>
              <a:spcBef>
                <a:spcPts val="1345"/>
              </a:spcBef>
            </a:pPr>
            <a:r>
              <a:rPr sz="1600" spc="100" dirty="0">
                <a:solidFill>
                  <a:srgbClr val="252525"/>
                </a:solidFill>
                <a:latin typeface="宋体"/>
                <a:cs typeface="宋体"/>
              </a:rPr>
              <a:t>{name:</a:t>
            </a:r>
            <a:r>
              <a:rPr sz="1600" spc="-380"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小红</a:t>
            </a:r>
            <a:r>
              <a:rPr sz="1600" spc="-360" dirty="0">
                <a:solidFill>
                  <a:srgbClr val="252525"/>
                </a:solidFill>
                <a:latin typeface="宋体"/>
                <a:cs typeface="宋体"/>
              </a:rPr>
              <a:t>',</a:t>
            </a:r>
            <a:r>
              <a:rPr sz="1600" spc="-395" dirty="0">
                <a:solidFill>
                  <a:srgbClr val="252525"/>
                </a:solidFill>
                <a:latin typeface="宋体"/>
                <a:cs typeface="宋体"/>
              </a:rPr>
              <a:t> </a:t>
            </a:r>
            <a:r>
              <a:rPr sz="1600" spc="75" dirty="0">
                <a:solidFill>
                  <a:srgbClr val="252525"/>
                </a:solidFill>
                <a:latin typeface="宋体"/>
                <a:cs typeface="宋体"/>
              </a:rPr>
              <a:t>age:</a:t>
            </a:r>
            <a:r>
              <a:rPr sz="1600" spc="-395" dirty="0">
                <a:solidFill>
                  <a:srgbClr val="252525"/>
                </a:solidFill>
                <a:latin typeface="宋体"/>
                <a:cs typeface="宋体"/>
              </a:rPr>
              <a:t> </a:t>
            </a:r>
            <a:r>
              <a:rPr sz="1600" spc="-35" dirty="0">
                <a:solidFill>
                  <a:srgbClr val="252525"/>
                </a:solidFill>
                <a:latin typeface="宋体"/>
                <a:cs typeface="宋体"/>
              </a:rPr>
              <a:t>19,</a:t>
            </a:r>
            <a:r>
              <a:rPr sz="1600" spc="-360" dirty="0">
                <a:solidFill>
                  <a:srgbClr val="252525"/>
                </a:solidFill>
                <a:latin typeface="宋体"/>
                <a:cs typeface="宋体"/>
              </a:rPr>
              <a:t> </a:t>
            </a:r>
            <a:r>
              <a:rPr sz="1600" spc="65" dirty="0">
                <a:solidFill>
                  <a:srgbClr val="252525"/>
                </a:solidFill>
                <a:latin typeface="宋体"/>
                <a:cs typeface="宋体"/>
              </a:rPr>
              <a:t>gender:</a:t>
            </a:r>
            <a:r>
              <a:rPr sz="1600" spc="-375"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女</a:t>
            </a:r>
            <a:r>
              <a:rPr sz="1600" spc="-360" dirty="0">
                <a:solidFill>
                  <a:srgbClr val="252525"/>
                </a:solidFill>
                <a:latin typeface="宋体"/>
                <a:cs typeface="宋体"/>
              </a:rPr>
              <a:t>',</a:t>
            </a:r>
            <a:r>
              <a:rPr sz="1600" spc="-395" dirty="0">
                <a:solidFill>
                  <a:srgbClr val="252525"/>
                </a:solidFill>
                <a:latin typeface="宋体"/>
                <a:cs typeface="宋体"/>
              </a:rPr>
              <a:t> </a:t>
            </a:r>
            <a:r>
              <a:rPr sz="1600" spc="175" dirty="0">
                <a:solidFill>
                  <a:srgbClr val="252525"/>
                </a:solidFill>
                <a:latin typeface="宋体"/>
                <a:cs typeface="宋体"/>
              </a:rPr>
              <a:t>hometown:</a:t>
            </a:r>
            <a:r>
              <a:rPr sz="1600" spc="-375"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河南省</a:t>
            </a:r>
            <a:r>
              <a:rPr sz="1600" spc="-350" dirty="0">
                <a:solidFill>
                  <a:srgbClr val="252525"/>
                </a:solidFill>
                <a:latin typeface="宋体"/>
                <a:cs typeface="宋体"/>
              </a:rPr>
              <a:t>'},</a:t>
            </a:r>
            <a:endParaRPr sz="1600" dirty="0">
              <a:latin typeface="宋体"/>
              <a:cs typeface="宋体"/>
            </a:endParaRPr>
          </a:p>
          <a:p>
            <a:pPr marL="220980">
              <a:lnSpc>
                <a:spcPct val="100000"/>
              </a:lnSpc>
              <a:spcBef>
                <a:spcPts val="1340"/>
              </a:spcBef>
            </a:pPr>
            <a:r>
              <a:rPr sz="1600" spc="100" dirty="0">
                <a:solidFill>
                  <a:srgbClr val="252525"/>
                </a:solidFill>
                <a:latin typeface="宋体"/>
                <a:cs typeface="宋体"/>
              </a:rPr>
              <a:t>{name:</a:t>
            </a:r>
            <a:r>
              <a:rPr sz="1600" spc="-380" dirty="0">
                <a:solidFill>
                  <a:srgbClr val="252525"/>
                </a:solidFill>
                <a:latin typeface="宋体"/>
                <a:cs typeface="宋体"/>
              </a:rPr>
              <a:t> </a:t>
            </a:r>
            <a:r>
              <a:rPr sz="1600" spc="-400" dirty="0">
                <a:solidFill>
                  <a:srgbClr val="252525"/>
                </a:solidFill>
                <a:latin typeface="宋体"/>
                <a:cs typeface="宋体"/>
              </a:rPr>
              <a:t>'</a:t>
            </a:r>
            <a:r>
              <a:rPr sz="1600" spc="-35" dirty="0">
                <a:solidFill>
                  <a:srgbClr val="252525"/>
                </a:solidFill>
                <a:latin typeface="宋体"/>
                <a:cs typeface="宋体"/>
              </a:rPr>
              <a:t>小刚</a:t>
            </a:r>
            <a:r>
              <a:rPr sz="1600" spc="-360" dirty="0">
                <a:solidFill>
                  <a:srgbClr val="252525"/>
                </a:solidFill>
                <a:latin typeface="宋体"/>
                <a:cs typeface="宋体"/>
              </a:rPr>
              <a:t>',</a:t>
            </a:r>
            <a:r>
              <a:rPr sz="1600" spc="-395" dirty="0">
                <a:solidFill>
                  <a:srgbClr val="252525"/>
                </a:solidFill>
                <a:latin typeface="宋体"/>
                <a:cs typeface="宋体"/>
              </a:rPr>
              <a:t> </a:t>
            </a:r>
            <a:r>
              <a:rPr sz="1600" spc="75" dirty="0">
                <a:solidFill>
                  <a:srgbClr val="252525"/>
                </a:solidFill>
                <a:latin typeface="宋体"/>
                <a:cs typeface="宋体"/>
              </a:rPr>
              <a:t>age:</a:t>
            </a:r>
            <a:r>
              <a:rPr sz="1600" spc="-395" dirty="0">
                <a:solidFill>
                  <a:srgbClr val="252525"/>
                </a:solidFill>
                <a:latin typeface="宋体"/>
                <a:cs typeface="宋体"/>
              </a:rPr>
              <a:t> </a:t>
            </a:r>
            <a:r>
              <a:rPr sz="1600" spc="-35" dirty="0">
                <a:solidFill>
                  <a:srgbClr val="252525"/>
                </a:solidFill>
                <a:latin typeface="宋体"/>
                <a:cs typeface="宋体"/>
              </a:rPr>
              <a:t>17,</a:t>
            </a:r>
            <a:r>
              <a:rPr sz="1600" spc="-360" dirty="0">
                <a:solidFill>
                  <a:srgbClr val="252525"/>
                </a:solidFill>
                <a:latin typeface="宋体"/>
                <a:cs typeface="宋体"/>
              </a:rPr>
              <a:t> </a:t>
            </a:r>
            <a:r>
              <a:rPr sz="1600" spc="65" dirty="0">
                <a:solidFill>
                  <a:srgbClr val="252525"/>
                </a:solidFill>
                <a:latin typeface="宋体"/>
                <a:cs typeface="宋体"/>
              </a:rPr>
              <a:t>gender:</a:t>
            </a:r>
            <a:r>
              <a:rPr sz="1600" spc="-375" dirty="0">
                <a:solidFill>
                  <a:srgbClr val="252525"/>
                </a:solidFill>
                <a:latin typeface="宋体"/>
                <a:cs typeface="宋体"/>
              </a:rPr>
              <a:t> </a:t>
            </a:r>
            <a:r>
              <a:rPr sz="1600" spc="-400" dirty="0">
                <a:solidFill>
                  <a:srgbClr val="252525"/>
                </a:solidFill>
                <a:latin typeface="宋体"/>
                <a:cs typeface="宋体"/>
              </a:rPr>
              <a:t>'</a:t>
            </a:r>
            <a:r>
              <a:rPr sz="1600" spc="-35" dirty="0">
                <a:solidFill>
                  <a:srgbClr val="252525"/>
                </a:solidFill>
                <a:latin typeface="宋体"/>
                <a:cs typeface="宋体"/>
              </a:rPr>
              <a:t>男</a:t>
            </a:r>
            <a:r>
              <a:rPr sz="1600" spc="-360" dirty="0">
                <a:solidFill>
                  <a:srgbClr val="252525"/>
                </a:solidFill>
                <a:latin typeface="宋体"/>
                <a:cs typeface="宋体"/>
              </a:rPr>
              <a:t>',</a:t>
            </a:r>
            <a:r>
              <a:rPr sz="1600" spc="-395" dirty="0">
                <a:solidFill>
                  <a:srgbClr val="252525"/>
                </a:solidFill>
                <a:latin typeface="宋体"/>
                <a:cs typeface="宋体"/>
              </a:rPr>
              <a:t> </a:t>
            </a:r>
            <a:r>
              <a:rPr sz="1600" spc="175" dirty="0">
                <a:solidFill>
                  <a:srgbClr val="252525"/>
                </a:solidFill>
                <a:latin typeface="宋体"/>
                <a:cs typeface="宋体"/>
              </a:rPr>
              <a:t>hometown:</a:t>
            </a:r>
            <a:r>
              <a:rPr sz="1600" spc="-375" dirty="0">
                <a:solidFill>
                  <a:srgbClr val="252525"/>
                </a:solidFill>
                <a:latin typeface="宋体"/>
                <a:cs typeface="宋体"/>
              </a:rPr>
              <a:t> </a:t>
            </a:r>
            <a:r>
              <a:rPr sz="1600" spc="-400" dirty="0">
                <a:solidFill>
                  <a:srgbClr val="252525"/>
                </a:solidFill>
                <a:latin typeface="宋体"/>
                <a:cs typeface="宋体"/>
              </a:rPr>
              <a:t>'</a:t>
            </a:r>
            <a:r>
              <a:rPr sz="1600" spc="-35" dirty="0">
                <a:solidFill>
                  <a:srgbClr val="252525"/>
                </a:solidFill>
                <a:latin typeface="宋体"/>
                <a:cs typeface="宋体"/>
              </a:rPr>
              <a:t>山西省</a:t>
            </a:r>
            <a:r>
              <a:rPr sz="1600" spc="-345" dirty="0">
                <a:solidFill>
                  <a:srgbClr val="252525"/>
                </a:solidFill>
                <a:latin typeface="宋体"/>
                <a:cs typeface="宋体"/>
              </a:rPr>
              <a:t>'},</a:t>
            </a:r>
            <a:endParaRPr sz="1600" dirty="0">
              <a:latin typeface="宋体"/>
              <a:cs typeface="宋体"/>
            </a:endParaRPr>
          </a:p>
          <a:p>
            <a:pPr marL="220980">
              <a:lnSpc>
                <a:spcPct val="100000"/>
              </a:lnSpc>
              <a:spcBef>
                <a:spcPts val="1350"/>
              </a:spcBef>
            </a:pPr>
            <a:r>
              <a:rPr sz="1600" spc="100" dirty="0">
                <a:solidFill>
                  <a:srgbClr val="252525"/>
                </a:solidFill>
                <a:latin typeface="宋体"/>
                <a:cs typeface="宋体"/>
              </a:rPr>
              <a:t>{name:</a:t>
            </a:r>
            <a:r>
              <a:rPr sz="1600" spc="-380"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小丽</a:t>
            </a:r>
            <a:r>
              <a:rPr sz="1600" spc="-360" dirty="0">
                <a:solidFill>
                  <a:srgbClr val="252525"/>
                </a:solidFill>
                <a:latin typeface="宋体"/>
                <a:cs typeface="宋体"/>
              </a:rPr>
              <a:t>',</a:t>
            </a:r>
            <a:r>
              <a:rPr sz="1600" spc="-395" dirty="0">
                <a:solidFill>
                  <a:srgbClr val="252525"/>
                </a:solidFill>
                <a:latin typeface="宋体"/>
                <a:cs typeface="宋体"/>
              </a:rPr>
              <a:t> </a:t>
            </a:r>
            <a:r>
              <a:rPr sz="1600" spc="75" dirty="0">
                <a:solidFill>
                  <a:srgbClr val="252525"/>
                </a:solidFill>
                <a:latin typeface="宋体"/>
                <a:cs typeface="宋体"/>
              </a:rPr>
              <a:t>age:</a:t>
            </a:r>
            <a:r>
              <a:rPr sz="1600" spc="-395" dirty="0">
                <a:solidFill>
                  <a:srgbClr val="252525"/>
                </a:solidFill>
                <a:latin typeface="宋体"/>
                <a:cs typeface="宋体"/>
              </a:rPr>
              <a:t> </a:t>
            </a:r>
            <a:r>
              <a:rPr sz="1600" spc="-35" dirty="0">
                <a:solidFill>
                  <a:srgbClr val="252525"/>
                </a:solidFill>
                <a:latin typeface="宋体"/>
                <a:cs typeface="宋体"/>
              </a:rPr>
              <a:t>18,</a:t>
            </a:r>
            <a:r>
              <a:rPr sz="1600" spc="-365" dirty="0">
                <a:solidFill>
                  <a:srgbClr val="252525"/>
                </a:solidFill>
                <a:latin typeface="宋体"/>
                <a:cs typeface="宋体"/>
              </a:rPr>
              <a:t> </a:t>
            </a:r>
            <a:r>
              <a:rPr sz="1600" spc="65" dirty="0">
                <a:solidFill>
                  <a:srgbClr val="252525"/>
                </a:solidFill>
                <a:latin typeface="宋体"/>
                <a:cs typeface="宋体"/>
              </a:rPr>
              <a:t>gender:</a:t>
            </a:r>
            <a:r>
              <a:rPr sz="1600" spc="-375"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女</a:t>
            </a:r>
            <a:r>
              <a:rPr sz="1600" spc="-360" dirty="0">
                <a:solidFill>
                  <a:srgbClr val="252525"/>
                </a:solidFill>
                <a:latin typeface="宋体"/>
                <a:cs typeface="宋体"/>
              </a:rPr>
              <a:t>',</a:t>
            </a:r>
            <a:r>
              <a:rPr sz="1600" spc="-395" dirty="0">
                <a:solidFill>
                  <a:srgbClr val="252525"/>
                </a:solidFill>
                <a:latin typeface="宋体"/>
                <a:cs typeface="宋体"/>
              </a:rPr>
              <a:t> </a:t>
            </a:r>
            <a:r>
              <a:rPr sz="1600" spc="175" dirty="0">
                <a:solidFill>
                  <a:srgbClr val="252525"/>
                </a:solidFill>
                <a:latin typeface="宋体"/>
                <a:cs typeface="宋体"/>
              </a:rPr>
              <a:t>hometown:</a:t>
            </a:r>
            <a:r>
              <a:rPr sz="1600" spc="-380" dirty="0">
                <a:solidFill>
                  <a:srgbClr val="252525"/>
                </a:solidFill>
                <a:latin typeface="宋体"/>
                <a:cs typeface="宋体"/>
              </a:rPr>
              <a:t> </a:t>
            </a:r>
            <a:r>
              <a:rPr sz="1600" spc="-400" dirty="0">
                <a:solidFill>
                  <a:srgbClr val="252525"/>
                </a:solidFill>
                <a:latin typeface="宋体"/>
                <a:cs typeface="宋体"/>
              </a:rPr>
              <a:t>'</a:t>
            </a:r>
            <a:r>
              <a:rPr sz="1600" spc="-30" dirty="0">
                <a:solidFill>
                  <a:srgbClr val="252525"/>
                </a:solidFill>
                <a:latin typeface="宋体"/>
                <a:cs typeface="宋体"/>
              </a:rPr>
              <a:t>山东省</a:t>
            </a:r>
            <a:r>
              <a:rPr sz="1600" spc="-360" dirty="0">
                <a:solidFill>
                  <a:srgbClr val="252525"/>
                </a:solidFill>
                <a:latin typeface="宋体"/>
                <a:cs typeface="宋体"/>
              </a:rPr>
              <a:t>'}</a:t>
            </a:r>
            <a:endParaRPr sz="1600" dirty="0">
              <a:latin typeface="宋体"/>
              <a:cs typeface="宋体"/>
            </a:endParaRPr>
          </a:p>
          <a:p>
            <a:pPr marL="116205">
              <a:lnSpc>
                <a:spcPct val="100000"/>
              </a:lnSpc>
              <a:spcBef>
                <a:spcPts val="1345"/>
              </a:spcBef>
            </a:pPr>
            <a:r>
              <a:rPr sz="1600" spc="-335" dirty="0">
                <a:solidFill>
                  <a:srgbClr val="252525"/>
                </a:solidFill>
                <a:latin typeface="宋体"/>
                <a:cs typeface="宋体"/>
              </a:rPr>
              <a:t>]</a:t>
            </a:r>
            <a:endParaRPr sz="1600" dirty="0">
              <a:latin typeface="宋体"/>
              <a:cs typeface="宋体"/>
            </a:endParaRPr>
          </a:p>
        </p:txBody>
      </p:sp>
      <p:sp>
        <p:nvSpPr>
          <p:cNvPr id="9" name="灯片编号占位符 8"/>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遍历</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9744" y="1086611"/>
            <a:ext cx="1001394" cy="376555"/>
          </a:xfrm>
          <a:custGeom>
            <a:avLst/>
            <a:gdLst/>
            <a:ahLst/>
            <a:cxnLst/>
            <a:rect l="l" t="t" r="r" b="b"/>
            <a:pathLst>
              <a:path w="1001394" h="376555">
                <a:moveTo>
                  <a:pt x="0" y="376427"/>
                </a:moveTo>
                <a:lnTo>
                  <a:pt x="1001268" y="376427"/>
                </a:lnTo>
                <a:lnTo>
                  <a:pt x="1001268" y="0"/>
                </a:lnTo>
                <a:lnTo>
                  <a:pt x="0" y="0"/>
                </a:lnTo>
                <a:lnTo>
                  <a:pt x="0" y="376427"/>
                </a:lnTo>
                <a:close/>
              </a:path>
            </a:pathLst>
          </a:custGeom>
          <a:ln w="12192">
            <a:solidFill>
              <a:srgbClr val="AC2B25"/>
            </a:solidFill>
          </a:ln>
        </p:spPr>
        <p:txBody>
          <a:bodyPr wrap="square" lIns="0" tIns="0" rIns="0" bIns="0" rtlCol="0"/>
          <a:lstStyle/>
          <a:p/>
        </p:txBody>
      </p:sp>
      <p:sp>
        <p:nvSpPr>
          <p:cNvPr id="3" name="object 3"/>
          <p:cNvSpPr/>
          <p:nvPr/>
        </p:nvSpPr>
        <p:spPr>
          <a:xfrm>
            <a:off x="806195" y="1036319"/>
            <a:ext cx="398145" cy="462280"/>
          </a:xfrm>
          <a:custGeom>
            <a:avLst/>
            <a:gdLst/>
            <a:ahLst/>
            <a:cxnLst/>
            <a:rect l="l" t="t" r="r" b="b"/>
            <a:pathLst>
              <a:path w="398144" h="462280">
                <a:moveTo>
                  <a:pt x="198882" y="0"/>
                </a:moveTo>
                <a:lnTo>
                  <a:pt x="0" y="99440"/>
                </a:lnTo>
                <a:lnTo>
                  <a:pt x="0" y="362330"/>
                </a:lnTo>
                <a:lnTo>
                  <a:pt x="198882" y="461771"/>
                </a:lnTo>
                <a:lnTo>
                  <a:pt x="397764" y="362330"/>
                </a:lnTo>
                <a:lnTo>
                  <a:pt x="397764" y="99440"/>
                </a:lnTo>
                <a:lnTo>
                  <a:pt x="198882" y="0"/>
                </a:lnTo>
                <a:close/>
              </a:path>
            </a:pathLst>
          </a:custGeom>
          <a:solidFill>
            <a:srgbClr val="AC2B25"/>
          </a:solidFill>
        </p:spPr>
        <p:txBody>
          <a:bodyPr wrap="square" lIns="0" tIns="0" rIns="0" bIns="0" rtlCol="0"/>
          <a:lstStyle/>
          <a:p/>
        </p:txBody>
      </p:sp>
      <p:sp>
        <p:nvSpPr>
          <p:cNvPr id="4" name="object 4"/>
          <p:cNvSpPr/>
          <p:nvPr/>
        </p:nvSpPr>
        <p:spPr>
          <a:xfrm>
            <a:off x="899160" y="1159763"/>
            <a:ext cx="202691" cy="201167"/>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338452" y="1090676"/>
            <a:ext cx="525780" cy="330835"/>
          </a:xfrm>
          <a:prstGeom prst="rect">
            <a:avLst/>
          </a:prstGeom>
        </p:spPr>
        <p:txBody>
          <a:bodyPr vert="horz" wrap="square" lIns="0" tIns="13335" rIns="0" bIns="0" rtlCol="0">
            <a:spAutoFit/>
          </a:bodyPr>
          <a:lstStyle/>
          <a:p>
            <a:pPr marL="12700">
              <a:lnSpc>
                <a:spcPct val="100000"/>
              </a:lnSpc>
              <a:spcBef>
                <a:spcPts val="105"/>
              </a:spcBef>
            </a:pPr>
            <a:r>
              <a:rPr sz="2000" spc="-35" dirty="0">
                <a:solidFill>
                  <a:srgbClr val="AC2B25"/>
                </a:solidFill>
                <a:latin typeface="宋体"/>
                <a:cs typeface="宋体"/>
              </a:rPr>
              <a:t>案例</a:t>
            </a:r>
            <a:endParaRPr sz="2000">
              <a:latin typeface="宋体"/>
              <a:cs typeface="宋体"/>
            </a:endParaRPr>
          </a:p>
        </p:txBody>
      </p:sp>
      <p:sp>
        <p:nvSpPr>
          <p:cNvPr id="7" name="object 7"/>
          <p:cNvSpPr txBox="1"/>
          <p:nvPr/>
        </p:nvSpPr>
        <p:spPr>
          <a:xfrm>
            <a:off x="2274570" y="1054735"/>
            <a:ext cx="5979160" cy="971550"/>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AC2B25"/>
                </a:solidFill>
                <a:latin typeface="宋体"/>
                <a:cs typeface="宋体"/>
              </a:rPr>
              <a:t>遍历数组对象</a:t>
            </a:r>
            <a:r>
              <a:rPr lang="zh-CN" sz="2400" spc="-40" dirty="0">
                <a:solidFill>
                  <a:srgbClr val="AC2B25"/>
                </a:solidFill>
                <a:latin typeface="宋体"/>
                <a:cs typeface="宋体"/>
              </a:rPr>
              <a:t>（见代码</a:t>
            </a:r>
            <a:r>
              <a:rPr lang="en-US" altLang="zh-CN" sz="2400" spc="-40" dirty="0">
                <a:solidFill>
                  <a:srgbClr val="AC2B25"/>
                </a:solidFill>
                <a:latin typeface="宋体"/>
                <a:cs typeface="宋体"/>
              </a:rPr>
              <a:t> </a:t>
            </a:r>
            <a:r>
              <a:rPr lang="zh-CN" sz="2400" spc="-40" dirty="0">
                <a:solidFill>
                  <a:srgbClr val="AC2B25"/>
                </a:solidFill>
                <a:latin typeface="宋体"/>
                <a:cs typeface="宋体"/>
              </a:rPr>
              <a:t>遍历数组对象</a:t>
            </a:r>
            <a:r>
              <a:rPr lang="en-US" altLang="zh-CN" sz="2400" spc="-40" dirty="0">
                <a:solidFill>
                  <a:srgbClr val="AC2B25"/>
                </a:solidFill>
                <a:latin typeface="宋体"/>
                <a:cs typeface="宋体"/>
              </a:rPr>
              <a:t>.html</a:t>
            </a:r>
            <a:r>
              <a:rPr lang="zh-CN" sz="2400" spc="-40" dirty="0">
                <a:solidFill>
                  <a:srgbClr val="AC2B25"/>
                </a:solidFill>
                <a:latin typeface="宋体"/>
                <a:cs typeface="宋体"/>
              </a:rPr>
              <a:t>）</a:t>
            </a:r>
            <a:endParaRPr sz="2400" dirty="0">
              <a:latin typeface="宋体"/>
              <a:cs typeface="宋体"/>
            </a:endParaRPr>
          </a:p>
          <a:p>
            <a:pPr marL="12700">
              <a:lnSpc>
                <a:spcPct val="100000"/>
              </a:lnSpc>
              <a:spcBef>
                <a:spcPts val="2680"/>
              </a:spcBef>
            </a:pPr>
            <a:r>
              <a:rPr sz="1600" spc="-30" dirty="0">
                <a:solidFill>
                  <a:srgbClr val="252525"/>
                </a:solidFill>
                <a:latin typeface="宋体"/>
                <a:cs typeface="宋体"/>
              </a:rPr>
              <a:t>需求：根据以上数据渲染生成表格</a:t>
            </a:r>
            <a:endParaRPr sz="1600" dirty="0">
              <a:latin typeface="宋体"/>
              <a:cs typeface="宋体"/>
            </a:endParaRPr>
          </a:p>
        </p:txBody>
      </p:sp>
      <p:pic>
        <p:nvPicPr>
          <p:cNvPr id="8" name="图片 7"/>
          <p:cNvPicPr>
            <a:picLocks noChangeAspect="1"/>
          </p:cNvPicPr>
          <p:nvPr/>
        </p:nvPicPr>
        <p:blipFill>
          <a:blip r:embed="rId2"/>
          <a:stretch>
            <a:fillRect/>
          </a:stretch>
        </p:blipFill>
        <p:spPr>
          <a:xfrm>
            <a:off x="1864232" y="2446046"/>
            <a:ext cx="5517262" cy="3117993"/>
          </a:xfrm>
          <a:prstGeom prst="rect">
            <a:avLst/>
          </a:prstGeom>
        </p:spPr>
      </p:pic>
      <p:sp>
        <p:nvSpPr>
          <p:cNvPr id="9" name="灯片编号占位符 8"/>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遍历</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
        <p:nvSpPr>
          <p:cNvPr id="11" name="object 8"/>
          <p:cNvSpPr txBox="1"/>
          <p:nvPr/>
        </p:nvSpPr>
        <p:spPr>
          <a:xfrm>
            <a:off x="7381494" y="1762786"/>
            <a:ext cx="3762375" cy="671338"/>
          </a:xfrm>
          <a:prstGeom prst="rect">
            <a:avLst/>
          </a:prstGeom>
        </p:spPr>
        <p:txBody>
          <a:bodyPr vert="horz" wrap="square" lIns="0" tIns="12065" rIns="0" bIns="0" rtlCol="0">
            <a:spAutoFit/>
          </a:bodyPr>
          <a:lstStyle/>
          <a:p>
            <a:pPr marL="355600" indent="-342900">
              <a:lnSpc>
                <a:spcPct val="100000"/>
              </a:lnSpc>
              <a:spcBef>
                <a:spcPts val="95"/>
              </a:spcBef>
              <a:buAutoNum type="arabicPeriod"/>
              <a:tabLst>
                <a:tab pos="354965" algn="l"/>
                <a:tab pos="355600" algn="l"/>
              </a:tabLst>
            </a:pPr>
            <a:r>
              <a:rPr sz="1600" spc="-30" dirty="0" err="1" smtClean="0">
                <a:solidFill>
                  <a:srgbClr val="252525"/>
                </a:solidFill>
                <a:latin typeface="宋体"/>
                <a:cs typeface="宋体"/>
              </a:rPr>
              <a:t>打印表格头部和尾部</a:t>
            </a:r>
            <a:endParaRPr sz="1600" dirty="0">
              <a:latin typeface="宋体"/>
              <a:cs typeface="宋体"/>
            </a:endParaRPr>
          </a:p>
          <a:p>
            <a:pPr marL="355600" indent="-342900">
              <a:lnSpc>
                <a:spcPct val="100000"/>
              </a:lnSpc>
              <a:spcBef>
                <a:spcPts val="1345"/>
              </a:spcBef>
              <a:buAutoNum type="arabicPeriod"/>
              <a:tabLst>
                <a:tab pos="354965" algn="l"/>
                <a:tab pos="355600" algn="l"/>
              </a:tabLst>
            </a:pPr>
            <a:r>
              <a:rPr sz="1600" spc="-35" dirty="0">
                <a:solidFill>
                  <a:srgbClr val="252525"/>
                </a:solidFill>
                <a:latin typeface="宋体"/>
                <a:cs typeface="宋体"/>
              </a:rPr>
              <a:t>中间的行遍历数组，然后填充对象数据</a:t>
            </a:r>
            <a:endParaRPr sz="1600" dirty="0">
              <a:latin typeface="宋体"/>
              <a:cs typeface="宋体"/>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4400" y="1122136"/>
            <a:ext cx="7592162" cy="382156"/>
          </a:xfrm>
          <a:prstGeom prst="rect">
            <a:avLst/>
          </a:prstGeom>
        </p:spPr>
        <p:txBody>
          <a:bodyPr vert="horz" wrap="square" lIns="0" tIns="12700" rIns="0" bIns="0" rtlCol="0">
            <a:spAutoFit/>
          </a:bodyPr>
          <a:lstStyle/>
          <a:p>
            <a:pPr marL="12700">
              <a:lnSpc>
                <a:spcPct val="100000"/>
              </a:lnSpc>
              <a:spcBef>
                <a:spcPts val="100"/>
              </a:spcBef>
            </a:pPr>
            <a:r>
              <a:rPr sz="2400" b="1" spc="-30" dirty="0" err="1" smtClean="0">
                <a:solidFill>
                  <a:srgbClr val="252525"/>
                </a:solidFill>
                <a:latin typeface="Microsoft JhengHei"/>
                <a:cs typeface="Microsoft JhengHei"/>
              </a:rPr>
              <a:t>掌握内置对象</a:t>
            </a:r>
            <a:r>
              <a:rPr sz="2400" b="1" spc="-30" dirty="0" err="1">
                <a:solidFill>
                  <a:srgbClr val="252525"/>
                </a:solidFill>
                <a:latin typeface="Microsoft JhengHei"/>
                <a:cs typeface="Microsoft JhengHei"/>
              </a:rPr>
              <a:t>，调</a:t>
            </a:r>
            <a:r>
              <a:rPr sz="2400" b="1" spc="-25" dirty="0" err="1">
                <a:solidFill>
                  <a:srgbClr val="252525"/>
                </a:solidFill>
                <a:latin typeface="Microsoft JhengHei"/>
                <a:cs typeface="Microsoft JhengHei"/>
              </a:rPr>
              <a:t>用</a:t>
            </a:r>
            <a:r>
              <a:rPr sz="2400" b="1" dirty="0" err="1" smtClean="0">
                <a:solidFill>
                  <a:srgbClr val="252525"/>
                </a:solidFill>
                <a:latin typeface="Microsoft JhengHei"/>
                <a:cs typeface="Microsoft JhengHei"/>
              </a:rPr>
              <a:t>JavaScript</a:t>
            </a:r>
            <a:r>
              <a:rPr sz="2400" b="1" spc="-30" dirty="0" err="1" smtClean="0">
                <a:solidFill>
                  <a:srgbClr val="252525"/>
                </a:solidFill>
                <a:latin typeface="Microsoft JhengHei"/>
                <a:cs typeface="Microsoft JhengHei"/>
              </a:rPr>
              <a:t>准备</a:t>
            </a:r>
            <a:r>
              <a:rPr sz="2400" b="1" spc="-25" dirty="0" err="1" smtClean="0">
                <a:solidFill>
                  <a:srgbClr val="252525"/>
                </a:solidFill>
                <a:latin typeface="Microsoft JhengHei"/>
                <a:cs typeface="Microsoft JhengHei"/>
              </a:rPr>
              <a:t>好</a:t>
            </a:r>
            <a:r>
              <a:rPr sz="2400" b="1" spc="-30" dirty="0" err="1" smtClean="0">
                <a:solidFill>
                  <a:srgbClr val="252525"/>
                </a:solidFill>
                <a:latin typeface="Microsoft JhengHei"/>
                <a:cs typeface="Microsoft JhengHei"/>
              </a:rPr>
              <a:t>的功能</a:t>
            </a:r>
            <a:endParaRPr sz="2400" dirty="0">
              <a:latin typeface="Microsoft JhengHei"/>
              <a:cs typeface="Microsoft JhengHei"/>
            </a:endParaRPr>
          </a:p>
        </p:txBody>
      </p:sp>
      <p:sp>
        <p:nvSpPr>
          <p:cNvPr id="4" name="灯片编号占位符 3"/>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5" name="矩形 4"/>
          <p:cNvSpPr/>
          <p:nvPr/>
        </p:nvSpPr>
        <p:spPr>
          <a:xfrm>
            <a:off x="827938" y="304800"/>
            <a:ext cx="1826141" cy="584775"/>
          </a:xfrm>
          <a:prstGeom prst="rect">
            <a:avLst/>
          </a:prstGeom>
        </p:spPr>
        <p:txBody>
          <a:bodyPr wrap="none">
            <a:spAutoFit/>
          </a:bodyPr>
          <a:lstStyle/>
          <a:p>
            <a:pPr lvl="0"/>
            <a:r>
              <a:rPr lang="zh-CN" altLang="en-US" sz="3200" kern="0" dirty="0" smtClean="0">
                <a:solidFill>
                  <a:sysClr val="windowText" lastClr="000000"/>
                </a:solidFill>
              </a:rPr>
              <a:t>内置对象</a:t>
            </a:r>
            <a:endParaRPr lang="zh-CN" altLang="en-US" sz="3200" kern="0" dirty="0">
              <a:solidFill>
                <a:sysClr val="windowText" lastClr="000000"/>
              </a:solidFill>
            </a:endParaRPr>
          </a:p>
        </p:txBody>
      </p:sp>
      <p:sp>
        <p:nvSpPr>
          <p:cNvPr id="6" name="矩形 5"/>
          <p:cNvSpPr/>
          <p:nvPr/>
        </p:nvSpPr>
        <p:spPr>
          <a:xfrm>
            <a:off x="837463" y="1736853"/>
            <a:ext cx="10563962" cy="1754326"/>
          </a:xfrm>
          <a:prstGeom prst="rect">
            <a:avLst/>
          </a:prstGeom>
        </p:spPr>
        <p:txBody>
          <a:bodyPr wrap="square">
            <a:spAutoFit/>
          </a:bodyPr>
          <a:lstStyle/>
          <a:p>
            <a:pPr>
              <a:lnSpc>
                <a:spcPct val="150000"/>
              </a:lnSpc>
            </a:pPr>
            <a:r>
              <a:rPr lang="en-US" altLang="zh-CN" sz="2400" dirty="0">
                <a:latin typeface="微软雅黑" charset="-122"/>
                <a:ea typeface="微软雅黑" charset="-122"/>
              </a:rPr>
              <a:t>1</a:t>
            </a:r>
            <a:r>
              <a:rPr lang="zh-CN" altLang="en-US" sz="2400" dirty="0" smtClean="0">
                <a:latin typeface="微软雅黑" charset="-122"/>
                <a:ea typeface="微软雅黑" charset="-122"/>
              </a:rPr>
              <a:t>、内置</a:t>
            </a:r>
            <a:r>
              <a:rPr lang="zh-CN" altLang="en-US" sz="2400" dirty="0">
                <a:latin typeface="微软雅黑" charset="-122"/>
                <a:ea typeface="微软雅黑" charset="-122"/>
              </a:rPr>
              <a:t>对象是什么</a:t>
            </a:r>
            <a:endParaRPr lang="zh-CN" altLang="en-US" sz="2400" dirty="0">
              <a:latin typeface="微软雅黑" charset="-122"/>
              <a:ea typeface="微软雅黑" charset="-122"/>
            </a:endParaRPr>
          </a:p>
          <a:p>
            <a:pPr>
              <a:lnSpc>
                <a:spcPct val="150000"/>
              </a:lnSpc>
            </a:pPr>
            <a:r>
              <a:rPr lang="en-US" altLang="zh-CN" sz="2400" dirty="0">
                <a:latin typeface="微软雅黑" charset="-122"/>
                <a:ea typeface="微软雅黑" charset="-122"/>
              </a:rPr>
              <a:t>JavaScript</a:t>
            </a:r>
            <a:r>
              <a:rPr lang="zh-CN" altLang="en-US" sz="2400" dirty="0">
                <a:latin typeface="微软雅黑" charset="-122"/>
                <a:ea typeface="微软雅黑" charset="-122"/>
              </a:rPr>
              <a:t>内部提供的对象，包含各种属性和方法给开发者调用</a:t>
            </a:r>
            <a:endParaRPr lang="zh-CN" altLang="en-US" sz="2400" dirty="0">
              <a:latin typeface="微软雅黑" charset="-122"/>
              <a:ea typeface="微软雅黑" charset="-122"/>
            </a:endParaRPr>
          </a:p>
          <a:p>
            <a:pPr>
              <a:lnSpc>
                <a:spcPct val="150000"/>
              </a:lnSpc>
            </a:pPr>
            <a:r>
              <a:rPr lang="en-US" altLang="zh-CN" sz="2400" spc="-30" dirty="0" smtClean="0">
                <a:solidFill>
                  <a:srgbClr val="252525"/>
                </a:solidFill>
                <a:latin typeface="微软雅黑" charset="-122"/>
                <a:ea typeface="微软雅黑" charset="-122"/>
                <a:cs typeface="宋体"/>
              </a:rPr>
              <a:t>2</a:t>
            </a:r>
            <a:r>
              <a:rPr lang="zh-CN" altLang="en-US" sz="2400" spc="-30" dirty="0" smtClean="0">
                <a:solidFill>
                  <a:srgbClr val="252525"/>
                </a:solidFill>
                <a:latin typeface="微软雅黑" charset="-122"/>
                <a:ea typeface="微软雅黑" charset="-122"/>
                <a:cs typeface="宋体"/>
              </a:rPr>
              <a:t>、内置</a:t>
            </a:r>
            <a:r>
              <a:rPr lang="zh-CN" altLang="en-US" sz="2400" spc="-30" dirty="0">
                <a:solidFill>
                  <a:srgbClr val="252525"/>
                </a:solidFill>
                <a:latin typeface="微软雅黑" charset="-122"/>
                <a:ea typeface="微软雅黑" charset="-122"/>
                <a:cs typeface="宋体"/>
              </a:rPr>
              <a:t>对象</a:t>
            </a:r>
            <a:r>
              <a:rPr lang="en-US" altLang="zh-CN" sz="2400" spc="150" dirty="0">
                <a:solidFill>
                  <a:srgbClr val="252525"/>
                </a:solidFill>
                <a:latin typeface="微软雅黑" charset="-122"/>
                <a:ea typeface="微软雅黑" charset="-122"/>
                <a:cs typeface="宋体"/>
              </a:rPr>
              <a:t>Math</a:t>
            </a:r>
            <a:r>
              <a:rPr lang="zh-CN" altLang="en-US" sz="2400" spc="150" dirty="0">
                <a:solidFill>
                  <a:srgbClr val="252525"/>
                </a:solidFill>
                <a:latin typeface="微软雅黑" charset="-122"/>
                <a:ea typeface="微软雅黑" charset="-122"/>
                <a:cs typeface="宋体"/>
              </a:rPr>
              <a:t>、</a:t>
            </a:r>
            <a:r>
              <a:rPr lang="en-US" altLang="zh-CN" sz="2400" spc="150" dirty="0">
                <a:solidFill>
                  <a:srgbClr val="252525"/>
                </a:solidFill>
                <a:latin typeface="微软雅黑" charset="-122"/>
                <a:ea typeface="微软雅黑" charset="-122"/>
                <a:cs typeface="宋体"/>
              </a:rPr>
              <a:t>Date</a:t>
            </a:r>
            <a:r>
              <a:rPr lang="zh-CN" altLang="en-US" sz="2400" spc="150" dirty="0">
                <a:solidFill>
                  <a:srgbClr val="252525"/>
                </a:solidFill>
                <a:latin typeface="微软雅黑" charset="-122"/>
                <a:ea typeface="微软雅黑" charset="-122"/>
                <a:cs typeface="宋体"/>
              </a:rPr>
              <a:t>、</a:t>
            </a:r>
            <a:r>
              <a:rPr lang="en-US" altLang="zh-CN" sz="2400" spc="150" dirty="0" smtClean="0">
                <a:solidFill>
                  <a:srgbClr val="252525"/>
                </a:solidFill>
                <a:latin typeface="微软雅黑" charset="-122"/>
                <a:ea typeface="微软雅黑" charset="-122"/>
                <a:cs typeface="宋体"/>
              </a:rPr>
              <a:t>String</a:t>
            </a:r>
            <a:endParaRPr lang="en-US" altLang="zh-CN" sz="2400" dirty="0">
              <a:latin typeface="微软雅黑" charset="-122"/>
              <a:ea typeface="微软雅黑" charset="-122"/>
              <a:cs typeface="宋体"/>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7463" y="1106457"/>
            <a:ext cx="3201137" cy="382156"/>
          </a:xfrm>
          <a:prstGeom prst="rect">
            <a:avLst/>
          </a:prstGeom>
        </p:spPr>
        <p:txBody>
          <a:bodyPr vert="horz" wrap="square" lIns="0" tIns="12700" rIns="0" bIns="0" rtlCol="0">
            <a:spAutoFit/>
          </a:bodyPr>
          <a:lstStyle/>
          <a:p>
            <a:pPr marL="12700">
              <a:lnSpc>
                <a:spcPct val="100000"/>
              </a:lnSpc>
              <a:spcBef>
                <a:spcPts val="100"/>
              </a:spcBef>
            </a:pPr>
            <a:r>
              <a:rPr sz="2400" b="1" spc="30" dirty="0" smtClean="0">
                <a:solidFill>
                  <a:srgbClr val="C00000"/>
                </a:solidFill>
                <a:latin typeface="Microsoft JhengHei"/>
                <a:cs typeface="Microsoft JhengHei"/>
              </a:rPr>
              <a:t>2</a:t>
            </a:r>
            <a:r>
              <a:rPr sz="2400" b="1" spc="-40" dirty="0" smtClean="0">
                <a:solidFill>
                  <a:srgbClr val="C00000"/>
                </a:solidFill>
                <a:latin typeface="Microsoft JhengHei"/>
                <a:cs typeface="Microsoft JhengHei"/>
              </a:rPr>
              <a:t> </a:t>
            </a:r>
            <a:r>
              <a:rPr sz="2400" b="1" spc="-30" dirty="0">
                <a:solidFill>
                  <a:srgbClr val="C00000"/>
                </a:solidFill>
                <a:latin typeface="Microsoft JhengHei"/>
                <a:cs typeface="Microsoft JhengHei"/>
              </a:rPr>
              <a:t>内置对象</a:t>
            </a:r>
            <a:r>
              <a:rPr sz="2400" b="1" spc="-35" dirty="0">
                <a:solidFill>
                  <a:srgbClr val="C00000"/>
                </a:solidFill>
                <a:latin typeface="Microsoft JhengHei"/>
                <a:cs typeface="Microsoft JhengHei"/>
              </a:rPr>
              <a:t>Math</a:t>
            </a:r>
            <a:endParaRPr sz="2400" dirty="0">
              <a:solidFill>
                <a:srgbClr val="C00000"/>
              </a:solidFill>
              <a:latin typeface="Microsoft JhengHei"/>
              <a:cs typeface="Microsoft JhengHei"/>
            </a:endParaRPr>
          </a:p>
        </p:txBody>
      </p:sp>
      <p:sp>
        <p:nvSpPr>
          <p:cNvPr id="4" name="object 4"/>
          <p:cNvSpPr txBox="1"/>
          <p:nvPr/>
        </p:nvSpPr>
        <p:spPr>
          <a:xfrm>
            <a:off x="1066800" y="1447800"/>
            <a:ext cx="10591800" cy="5454698"/>
          </a:xfrm>
          <a:prstGeom prst="rect">
            <a:avLst/>
          </a:prstGeom>
        </p:spPr>
        <p:txBody>
          <a:bodyPr vert="horz" wrap="square" lIns="0" tIns="12065" rIns="0" bIns="0" rtlCol="0">
            <a:spAutoFit/>
          </a:bodyPr>
          <a:lstStyle/>
          <a:p>
            <a:pPr marL="372110" indent="-359410">
              <a:lnSpc>
                <a:spcPct val="100000"/>
              </a:lnSpc>
              <a:spcBef>
                <a:spcPts val="95"/>
              </a:spcBef>
              <a:buClr>
                <a:srgbClr val="404040"/>
              </a:buClr>
              <a:buSzPct val="84000"/>
              <a:buFont typeface="Wingdings" panose="05000000000000000000"/>
              <a:buChar char=""/>
              <a:tabLst>
                <a:tab pos="372110" algn="l"/>
                <a:tab pos="372745" algn="l"/>
              </a:tabLst>
            </a:pPr>
            <a:r>
              <a:rPr sz="2400" spc="150" dirty="0">
                <a:solidFill>
                  <a:srgbClr val="252525"/>
                </a:solidFill>
                <a:latin typeface="宋体"/>
                <a:cs typeface="宋体"/>
              </a:rPr>
              <a:t>Math</a:t>
            </a:r>
            <a:r>
              <a:rPr sz="2400" spc="-30" dirty="0">
                <a:solidFill>
                  <a:srgbClr val="252525"/>
                </a:solidFill>
                <a:latin typeface="宋体"/>
                <a:cs typeface="宋体"/>
              </a:rPr>
              <a:t>对象是</a:t>
            </a:r>
            <a:r>
              <a:rPr sz="2400" spc="-55" dirty="0">
                <a:solidFill>
                  <a:srgbClr val="252525"/>
                </a:solidFill>
                <a:latin typeface="宋体"/>
                <a:cs typeface="宋体"/>
              </a:rPr>
              <a:t>JavaScript</a:t>
            </a:r>
            <a:r>
              <a:rPr sz="2400" spc="-30" dirty="0">
                <a:solidFill>
                  <a:srgbClr val="252525"/>
                </a:solidFill>
                <a:latin typeface="宋体"/>
                <a:cs typeface="宋体"/>
              </a:rPr>
              <a:t>提供的一个“</a:t>
            </a:r>
            <a:r>
              <a:rPr sz="2400" spc="-20" dirty="0">
                <a:solidFill>
                  <a:srgbClr val="252525"/>
                </a:solidFill>
                <a:latin typeface="宋体"/>
                <a:cs typeface="宋体"/>
              </a:rPr>
              <a:t>数</a:t>
            </a:r>
            <a:r>
              <a:rPr sz="2400" spc="-30" dirty="0">
                <a:solidFill>
                  <a:srgbClr val="252525"/>
                </a:solidFill>
                <a:latin typeface="宋体"/>
                <a:cs typeface="宋体"/>
              </a:rPr>
              <a:t>学高手</a:t>
            </a:r>
            <a:r>
              <a:rPr sz="2400" spc="-15" dirty="0">
                <a:solidFill>
                  <a:srgbClr val="252525"/>
                </a:solidFill>
                <a:latin typeface="宋体"/>
                <a:cs typeface="宋体"/>
              </a:rPr>
              <a:t>”</a:t>
            </a:r>
            <a:r>
              <a:rPr sz="2400" spc="-30" dirty="0">
                <a:solidFill>
                  <a:srgbClr val="252525"/>
                </a:solidFill>
                <a:latin typeface="宋体"/>
                <a:cs typeface="宋体"/>
              </a:rPr>
              <a:t>对象</a:t>
            </a:r>
            <a:endParaRPr sz="2400" dirty="0">
              <a:latin typeface="宋体"/>
              <a:cs typeface="宋体"/>
            </a:endParaRPr>
          </a:p>
          <a:p>
            <a:pPr marL="372110" indent="-359410">
              <a:lnSpc>
                <a:spcPct val="100000"/>
              </a:lnSpc>
              <a:spcBef>
                <a:spcPts val="1345"/>
              </a:spcBef>
              <a:buClr>
                <a:srgbClr val="404040"/>
              </a:buClr>
              <a:buSzPct val="84000"/>
              <a:buFont typeface="Wingdings" panose="05000000000000000000"/>
              <a:buChar char=""/>
              <a:tabLst>
                <a:tab pos="372110" algn="l"/>
                <a:tab pos="372745" algn="l"/>
              </a:tabLst>
            </a:pPr>
            <a:r>
              <a:rPr sz="2400" spc="-35" dirty="0">
                <a:solidFill>
                  <a:srgbClr val="252525"/>
                </a:solidFill>
                <a:latin typeface="宋体"/>
                <a:cs typeface="宋体"/>
              </a:rPr>
              <a:t>提供了一系列做数学运算的方法</a:t>
            </a:r>
            <a:endParaRPr sz="2400" dirty="0">
              <a:latin typeface="宋体"/>
              <a:cs typeface="宋体"/>
            </a:endParaRPr>
          </a:p>
          <a:p>
            <a:pPr marL="372110" indent="-359410">
              <a:lnSpc>
                <a:spcPct val="100000"/>
              </a:lnSpc>
              <a:spcBef>
                <a:spcPts val="1345"/>
              </a:spcBef>
              <a:buClr>
                <a:srgbClr val="404040"/>
              </a:buClr>
              <a:buSzPct val="84000"/>
              <a:buFont typeface="Wingdings" panose="05000000000000000000"/>
              <a:buChar char=""/>
              <a:tabLst>
                <a:tab pos="372110" algn="l"/>
                <a:tab pos="372745" algn="l"/>
              </a:tabLst>
            </a:pPr>
            <a:r>
              <a:rPr sz="2400" spc="-30" dirty="0">
                <a:solidFill>
                  <a:srgbClr val="252525"/>
                </a:solidFill>
                <a:latin typeface="宋体"/>
                <a:cs typeface="宋体"/>
              </a:rPr>
              <a:t>方法有：</a:t>
            </a:r>
            <a:endParaRPr sz="2400" dirty="0">
              <a:latin typeface="宋体"/>
              <a:cs typeface="宋体"/>
            </a:endParaRPr>
          </a:p>
          <a:p>
            <a:pPr marL="732155" lvl="1" indent="-358140">
              <a:lnSpc>
                <a:spcPct val="100000"/>
              </a:lnSpc>
              <a:spcBef>
                <a:spcPts val="1230"/>
              </a:spcBef>
              <a:buFont typeface="Wingdings" panose="05000000000000000000"/>
              <a:buChar char=""/>
              <a:tabLst>
                <a:tab pos="732155" algn="l"/>
                <a:tab pos="732790" algn="l"/>
              </a:tabLst>
            </a:pPr>
            <a:r>
              <a:rPr sz="2000" spc="150" dirty="0">
                <a:latin typeface="宋体"/>
                <a:cs typeface="宋体"/>
              </a:rPr>
              <a:t>random：</a:t>
            </a:r>
            <a:r>
              <a:rPr sz="2000" spc="-25" dirty="0">
                <a:latin typeface="宋体"/>
                <a:cs typeface="宋体"/>
              </a:rPr>
              <a:t>生成</a:t>
            </a:r>
            <a:r>
              <a:rPr sz="2000" spc="35" dirty="0">
                <a:latin typeface="宋体"/>
                <a:cs typeface="宋体"/>
              </a:rPr>
              <a:t>0-1</a:t>
            </a:r>
            <a:r>
              <a:rPr sz="2000" spc="-35" dirty="0">
                <a:latin typeface="宋体"/>
                <a:cs typeface="宋体"/>
              </a:rPr>
              <a:t>之</a:t>
            </a:r>
            <a:r>
              <a:rPr sz="2000" spc="-20" dirty="0">
                <a:latin typeface="宋体"/>
                <a:cs typeface="宋体"/>
              </a:rPr>
              <a:t>间的</a:t>
            </a:r>
            <a:r>
              <a:rPr sz="2000" spc="-40" dirty="0">
                <a:latin typeface="宋体"/>
                <a:cs typeface="宋体"/>
              </a:rPr>
              <a:t>随</a:t>
            </a:r>
            <a:r>
              <a:rPr sz="2000" spc="-20" dirty="0">
                <a:latin typeface="宋体"/>
                <a:cs typeface="宋体"/>
              </a:rPr>
              <a:t>机</a:t>
            </a:r>
            <a:r>
              <a:rPr sz="2000" spc="-40" dirty="0">
                <a:latin typeface="宋体"/>
                <a:cs typeface="宋体"/>
              </a:rPr>
              <a:t>数</a:t>
            </a:r>
            <a:r>
              <a:rPr sz="2000" spc="-20" dirty="0">
                <a:latin typeface="宋体"/>
                <a:cs typeface="宋体"/>
              </a:rPr>
              <a:t>（</a:t>
            </a:r>
            <a:r>
              <a:rPr sz="2000" spc="-40" dirty="0">
                <a:latin typeface="宋体"/>
                <a:cs typeface="宋体"/>
              </a:rPr>
              <a:t>包</a:t>
            </a:r>
            <a:r>
              <a:rPr sz="2000" spc="-20" dirty="0">
                <a:latin typeface="宋体"/>
                <a:cs typeface="宋体"/>
              </a:rPr>
              <a:t>含</a:t>
            </a:r>
            <a:r>
              <a:rPr sz="2000" spc="100" dirty="0">
                <a:latin typeface="宋体"/>
                <a:cs typeface="宋体"/>
              </a:rPr>
              <a:t>0</a:t>
            </a:r>
            <a:r>
              <a:rPr sz="2000" spc="-35" dirty="0">
                <a:latin typeface="宋体"/>
                <a:cs typeface="宋体"/>
              </a:rPr>
              <a:t>不</a:t>
            </a:r>
            <a:r>
              <a:rPr sz="2000" spc="-20" dirty="0">
                <a:latin typeface="宋体"/>
                <a:cs typeface="宋体"/>
              </a:rPr>
              <a:t>包</a:t>
            </a:r>
            <a:r>
              <a:rPr sz="2000" spc="-35" dirty="0">
                <a:latin typeface="宋体"/>
                <a:cs typeface="宋体"/>
              </a:rPr>
              <a:t>括</a:t>
            </a:r>
            <a:r>
              <a:rPr sz="2000" spc="40" dirty="0">
                <a:latin typeface="宋体"/>
                <a:cs typeface="宋体"/>
              </a:rPr>
              <a:t>1）</a:t>
            </a:r>
            <a:endParaRPr sz="2000" dirty="0">
              <a:latin typeface="宋体"/>
              <a:cs typeface="宋体"/>
            </a:endParaRPr>
          </a:p>
          <a:p>
            <a:pPr marL="732155" lvl="1" indent="-358140">
              <a:lnSpc>
                <a:spcPct val="100000"/>
              </a:lnSpc>
              <a:spcBef>
                <a:spcPts val="1180"/>
              </a:spcBef>
              <a:buFont typeface="Wingdings" panose="05000000000000000000"/>
              <a:buChar char=""/>
              <a:tabLst>
                <a:tab pos="732155" algn="l"/>
                <a:tab pos="732790" algn="l"/>
              </a:tabLst>
            </a:pPr>
            <a:r>
              <a:rPr sz="2000" spc="-114" dirty="0">
                <a:latin typeface="宋体"/>
                <a:cs typeface="宋体"/>
              </a:rPr>
              <a:t>ceil：</a:t>
            </a:r>
            <a:r>
              <a:rPr sz="2000" spc="-25" dirty="0">
                <a:latin typeface="宋体"/>
                <a:cs typeface="宋体"/>
              </a:rPr>
              <a:t>向上取整</a:t>
            </a:r>
            <a:endParaRPr sz="2000" dirty="0">
              <a:latin typeface="宋体"/>
              <a:cs typeface="宋体"/>
            </a:endParaRPr>
          </a:p>
          <a:p>
            <a:pPr marL="732155" lvl="1" indent="-358140">
              <a:lnSpc>
                <a:spcPct val="100000"/>
              </a:lnSpc>
              <a:spcBef>
                <a:spcPts val="1175"/>
              </a:spcBef>
              <a:buFont typeface="Wingdings" panose="05000000000000000000"/>
              <a:buChar char=""/>
              <a:tabLst>
                <a:tab pos="732155" algn="l"/>
                <a:tab pos="732790" algn="l"/>
              </a:tabLst>
            </a:pPr>
            <a:r>
              <a:rPr sz="2000" spc="-65" dirty="0">
                <a:latin typeface="宋体"/>
                <a:cs typeface="宋体"/>
              </a:rPr>
              <a:t>floor：</a:t>
            </a:r>
            <a:r>
              <a:rPr sz="2000" spc="-25" dirty="0">
                <a:latin typeface="宋体"/>
                <a:cs typeface="宋体"/>
              </a:rPr>
              <a:t>向下取整</a:t>
            </a:r>
            <a:endParaRPr sz="2000" dirty="0">
              <a:latin typeface="宋体"/>
              <a:cs typeface="宋体"/>
            </a:endParaRPr>
          </a:p>
          <a:p>
            <a:pPr marL="732155" lvl="1" indent="-358140">
              <a:lnSpc>
                <a:spcPct val="100000"/>
              </a:lnSpc>
              <a:spcBef>
                <a:spcPts val="1180"/>
              </a:spcBef>
              <a:buFont typeface="Wingdings" panose="05000000000000000000"/>
              <a:buChar char=""/>
              <a:tabLst>
                <a:tab pos="732155" algn="l"/>
                <a:tab pos="732790" algn="l"/>
              </a:tabLst>
            </a:pPr>
            <a:r>
              <a:rPr sz="2000" spc="185" dirty="0">
                <a:latin typeface="宋体"/>
                <a:cs typeface="宋体"/>
              </a:rPr>
              <a:t>max：</a:t>
            </a:r>
            <a:r>
              <a:rPr sz="2000" spc="-25" dirty="0">
                <a:latin typeface="宋体"/>
                <a:cs typeface="宋体"/>
              </a:rPr>
              <a:t>找最大数</a:t>
            </a:r>
            <a:endParaRPr sz="2000" dirty="0">
              <a:latin typeface="宋体"/>
              <a:cs typeface="宋体"/>
            </a:endParaRPr>
          </a:p>
          <a:p>
            <a:pPr marL="732155" lvl="1" indent="-358140">
              <a:lnSpc>
                <a:spcPct val="100000"/>
              </a:lnSpc>
              <a:spcBef>
                <a:spcPts val="1175"/>
              </a:spcBef>
              <a:buFont typeface="Wingdings" panose="05000000000000000000"/>
              <a:buChar char=""/>
              <a:tabLst>
                <a:tab pos="732155" algn="l"/>
                <a:tab pos="732790" algn="l"/>
              </a:tabLst>
            </a:pPr>
            <a:r>
              <a:rPr sz="2000" spc="100" dirty="0">
                <a:latin typeface="宋体"/>
                <a:cs typeface="宋体"/>
              </a:rPr>
              <a:t>min：</a:t>
            </a:r>
            <a:r>
              <a:rPr sz="2000" spc="-25" dirty="0">
                <a:latin typeface="宋体"/>
                <a:cs typeface="宋体"/>
              </a:rPr>
              <a:t>找最小数</a:t>
            </a:r>
            <a:endParaRPr sz="2000" dirty="0">
              <a:latin typeface="宋体"/>
              <a:cs typeface="宋体"/>
            </a:endParaRPr>
          </a:p>
          <a:p>
            <a:pPr marL="732155" lvl="1" indent="-358140">
              <a:lnSpc>
                <a:spcPct val="100000"/>
              </a:lnSpc>
              <a:spcBef>
                <a:spcPts val="1175"/>
              </a:spcBef>
              <a:buFont typeface="Wingdings" panose="05000000000000000000"/>
              <a:buChar char=""/>
              <a:tabLst>
                <a:tab pos="732155" algn="l"/>
                <a:tab pos="732790" algn="l"/>
              </a:tabLst>
            </a:pPr>
            <a:r>
              <a:rPr sz="2000" spc="195" dirty="0">
                <a:latin typeface="宋体"/>
                <a:cs typeface="宋体"/>
              </a:rPr>
              <a:t>pow：</a:t>
            </a:r>
            <a:r>
              <a:rPr sz="2000" spc="-25" dirty="0">
                <a:latin typeface="宋体"/>
                <a:cs typeface="宋体"/>
              </a:rPr>
              <a:t>幂运算</a:t>
            </a:r>
            <a:endParaRPr sz="2000" dirty="0">
              <a:latin typeface="宋体"/>
              <a:cs typeface="宋体"/>
            </a:endParaRPr>
          </a:p>
          <a:p>
            <a:pPr marL="732155" lvl="1" indent="-358140">
              <a:lnSpc>
                <a:spcPct val="100000"/>
              </a:lnSpc>
              <a:spcBef>
                <a:spcPts val="1180"/>
              </a:spcBef>
              <a:buFont typeface="Wingdings" panose="05000000000000000000"/>
              <a:buChar char=""/>
              <a:tabLst>
                <a:tab pos="732155" algn="l"/>
                <a:tab pos="732790" algn="l"/>
              </a:tabLst>
            </a:pPr>
            <a:r>
              <a:rPr sz="2000" spc="70" dirty="0">
                <a:latin typeface="宋体"/>
                <a:cs typeface="宋体"/>
              </a:rPr>
              <a:t>abs：</a:t>
            </a:r>
            <a:r>
              <a:rPr sz="2000" spc="-25" dirty="0">
                <a:latin typeface="宋体"/>
                <a:cs typeface="宋体"/>
              </a:rPr>
              <a:t>绝对值</a:t>
            </a:r>
            <a:endParaRPr sz="2000" dirty="0">
              <a:latin typeface="宋体"/>
              <a:cs typeface="宋体"/>
            </a:endParaRPr>
          </a:p>
          <a:p>
            <a:pPr marL="732155" lvl="1" indent="-358140">
              <a:lnSpc>
                <a:spcPct val="100000"/>
              </a:lnSpc>
              <a:spcBef>
                <a:spcPts val="1175"/>
              </a:spcBef>
              <a:buClr>
                <a:srgbClr val="000000"/>
              </a:buClr>
              <a:buFont typeface="Wingdings" panose="05000000000000000000"/>
              <a:buChar char=""/>
              <a:tabLst>
                <a:tab pos="732155" algn="l"/>
                <a:tab pos="732790" algn="l"/>
              </a:tabLst>
            </a:pPr>
            <a:r>
              <a:rPr sz="2000" u="sng" spc="135" dirty="0" err="1">
                <a:solidFill>
                  <a:srgbClr val="0000FF"/>
                </a:solidFill>
                <a:uFill>
                  <a:solidFill>
                    <a:srgbClr val="0000FF"/>
                  </a:solidFill>
                </a:uFill>
                <a:latin typeface="宋体"/>
                <a:cs typeface="宋体"/>
                <a:hlinkClick r:id="rId1"/>
              </a:rPr>
              <a:t>Math</a:t>
            </a:r>
            <a:r>
              <a:rPr sz="2000" u="sng" spc="-25" dirty="0" err="1" smtClean="0">
                <a:solidFill>
                  <a:srgbClr val="0000FF"/>
                </a:solidFill>
                <a:uFill>
                  <a:solidFill>
                    <a:srgbClr val="0000FF"/>
                  </a:solidFill>
                </a:uFill>
                <a:latin typeface="宋体"/>
                <a:cs typeface="宋体"/>
                <a:hlinkClick r:id="rId1"/>
              </a:rPr>
              <a:t>对象在线文档</a:t>
            </a:r>
            <a:r>
              <a:rPr lang="zh-CN" altLang="en-US" sz="2000" u="sng" spc="-25" dirty="0" smtClean="0">
                <a:solidFill>
                  <a:srgbClr val="0000FF"/>
                </a:solidFill>
                <a:uFill>
                  <a:solidFill>
                    <a:srgbClr val="0000FF"/>
                  </a:solidFill>
                </a:uFill>
                <a:latin typeface="宋体"/>
                <a:cs typeface="宋体"/>
              </a:rPr>
              <a:t>：</a:t>
            </a:r>
            <a:r>
              <a:rPr lang="en-US" altLang="zh-CN" sz="2000" u="sng" spc="-25" dirty="0">
                <a:solidFill>
                  <a:srgbClr val="0000FF"/>
                </a:solidFill>
                <a:uFill>
                  <a:solidFill>
                    <a:srgbClr val="0000FF"/>
                  </a:solidFill>
                </a:uFill>
                <a:latin typeface="宋体"/>
                <a:cs typeface="宋体"/>
              </a:rPr>
              <a:t>https://developer.mozilla.org/zh-CN/docs/Web/JavaScript/Reference/Global_Objects/Math</a:t>
            </a:r>
            <a:endParaRPr sz="2000" dirty="0">
              <a:latin typeface="宋体"/>
              <a:cs typeface="宋体"/>
            </a:endParaRPr>
          </a:p>
        </p:txBody>
      </p:sp>
      <p:sp>
        <p:nvSpPr>
          <p:cNvPr id="5" name="灯片编号占位符 4"/>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6" name="矩形 5"/>
          <p:cNvSpPr/>
          <p:nvPr/>
        </p:nvSpPr>
        <p:spPr>
          <a:xfrm>
            <a:off x="827938" y="304800"/>
            <a:ext cx="1826141" cy="584775"/>
          </a:xfrm>
          <a:prstGeom prst="rect">
            <a:avLst/>
          </a:prstGeom>
        </p:spPr>
        <p:txBody>
          <a:bodyPr wrap="none">
            <a:spAutoFit/>
          </a:bodyPr>
          <a:lstStyle/>
          <a:p>
            <a:pPr lvl="0"/>
            <a:r>
              <a:rPr lang="zh-CN" altLang="en-US" sz="3200" kern="0" dirty="0" smtClean="0">
                <a:solidFill>
                  <a:sysClr val="windowText" lastClr="000000"/>
                </a:solidFill>
              </a:rPr>
              <a:t>内置对象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89838" y="1030985"/>
            <a:ext cx="3782162" cy="1102866"/>
          </a:xfrm>
          <a:prstGeom prst="rect">
            <a:avLst/>
          </a:prstGeom>
        </p:spPr>
        <p:txBody>
          <a:bodyPr vert="horz" wrap="square" lIns="0" tIns="12700" rIns="0" bIns="0" rtlCol="0">
            <a:spAutoFit/>
          </a:bodyPr>
          <a:lstStyle/>
          <a:p>
            <a:pPr marL="12700">
              <a:lnSpc>
                <a:spcPct val="100000"/>
              </a:lnSpc>
              <a:spcBef>
                <a:spcPts val="100"/>
              </a:spcBef>
            </a:pPr>
            <a:r>
              <a:rPr sz="2000" b="1" spc="-30" dirty="0" err="1" smtClean="0">
                <a:solidFill>
                  <a:srgbClr val="252525"/>
                </a:solidFill>
                <a:latin typeface="Microsoft JhengHei"/>
                <a:cs typeface="Microsoft JhengHei"/>
              </a:rPr>
              <a:t>生成任意范围随机数</a:t>
            </a:r>
            <a:endParaRPr sz="2000" dirty="0">
              <a:latin typeface="Microsoft JhengHei"/>
              <a:cs typeface="Microsoft JhengHei"/>
            </a:endParaRPr>
          </a:p>
          <a:p>
            <a:pPr>
              <a:lnSpc>
                <a:spcPct val="100000"/>
              </a:lnSpc>
              <a:spcBef>
                <a:spcPts val="55"/>
              </a:spcBef>
            </a:pPr>
            <a:endParaRPr sz="3200" dirty="0">
              <a:latin typeface="Times New Roman" panose="02020503050405090304"/>
              <a:cs typeface="Times New Roman" panose="02020503050405090304"/>
            </a:endParaRPr>
          </a:p>
          <a:p>
            <a:pPr marL="372110" indent="-359410">
              <a:lnSpc>
                <a:spcPct val="100000"/>
              </a:lnSpc>
              <a:buClr>
                <a:srgbClr val="404040"/>
              </a:buClr>
              <a:buSzPct val="84000"/>
              <a:buFont typeface="Wingdings" panose="05000000000000000000"/>
              <a:buChar char=""/>
              <a:tabLst>
                <a:tab pos="372110" algn="l"/>
                <a:tab pos="372745" algn="l"/>
              </a:tabLst>
            </a:pPr>
            <a:r>
              <a:rPr spc="-30" dirty="0">
                <a:solidFill>
                  <a:srgbClr val="252525"/>
                </a:solidFill>
                <a:latin typeface="宋体"/>
                <a:cs typeface="宋体"/>
              </a:rPr>
              <a:t>如何生成</a:t>
            </a:r>
            <a:r>
              <a:rPr spc="55" dirty="0">
                <a:solidFill>
                  <a:srgbClr val="252525"/>
                </a:solidFill>
                <a:latin typeface="宋体"/>
                <a:cs typeface="宋体"/>
              </a:rPr>
              <a:t>0-10</a:t>
            </a:r>
            <a:r>
              <a:rPr spc="-30" dirty="0">
                <a:solidFill>
                  <a:srgbClr val="252525"/>
                </a:solidFill>
                <a:latin typeface="宋体"/>
                <a:cs typeface="宋体"/>
              </a:rPr>
              <a:t>的随机数呢？</a:t>
            </a:r>
            <a:endParaRPr dirty="0">
              <a:latin typeface="宋体"/>
              <a:cs typeface="宋体"/>
            </a:endParaRPr>
          </a:p>
        </p:txBody>
      </p:sp>
      <p:sp>
        <p:nvSpPr>
          <p:cNvPr id="4" name="object 4"/>
          <p:cNvSpPr txBox="1"/>
          <p:nvPr/>
        </p:nvSpPr>
        <p:spPr>
          <a:xfrm>
            <a:off x="789838" y="2995041"/>
            <a:ext cx="2619375" cy="258404"/>
          </a:xfrm>
          <a:prstGeom prst="rect">
            <a:avLst/>
          </a:prstGeom>
        </p:spPr>
        <p:txBody>
          <a:bodyPr vert="horz" wrap="square" lIns="0" tIns="12065" rIns="0" bIns="0" rtlCol="0">
            <a:spAutoFit/>
          </a:bodyPr>
          <a:lstStyle/>
          <a:p>
            <a:pPr marL="372110" indent="-359410">
              <a:lnSpc>
                <a:spcPct val="100000"/>
              </a:lnSpc>
              <a:spcBef>
                <a:spcPts val="95"/>
              </a:spcBef>
              <a:buClr>
                <a:srgbClr val="404040"/>
              </a:buClr>
              <a:buSzPct val="84000"/>
              <a:buFont typeface="Wingdings" panose="05000000000000000000"/>
              <a:buChar char=""/>
              <a:tabLst>
                <a:tab pos="372110" algn="l"/>
                <a:tab pos="372745" algn="l"/>
              </a:tabLst>
            </a:pPr>
            <a:r>
              <a:rPr sz="1600" spc="-30" dirty="0">
                <a:solidFill>
                  <a:srgbClr val="252525"/>
                </a:solidFill>
                <a:latin typeface="宋体"/>
                <a:cs typeface="宋体"/>
              </a:rPr>
              <a:t>如何生成</a:t>
            </a:r>
            <a:r>
              <a:rPr sz="1600" spc="55" dirty="0">
                <a:solidFill>
                  <a:srgbClr val="252525"/>
                </a:solidFill>
                <a:latin typeface="宋体"/>
                <a:cs typeface="宋体"/>
              </a:rPr>
              <a:t>5-10</a:t>
            </a:r>
            <a:r>
              <a:rPr sz="1600" spc="-30" dirty="0">
                <a:solidFill>
                  <a:srgbClr val="252525"/>
                </a:solidFill>
                <a:latin typeface="宋体"/>
                <a:cs typeface="宋体"/>
              </a:rPr>
              <a:t>的随机数？</a:t>
            </a:r>
            <a:endParaRPr sz="1600">
              <a:latin typeface="宋体"/>
              <a:cs typeface="宋体"/>
            </a:endParaRPr>
          </a:p>
        </p:txBody>
      </p:sp>
      <p:sp>
        <p:nvSpPr>
          <p:cNvPr id="5" name="object 5"/>
          <p:cNvSpPr txBox="1"/>
          <p:nvPr/>
        </p:nvSpPr>
        <p:spPr>
          <a:xfrm>
            <a:off x="789838" y="4120134"/>
            <a:ext cx="2494280" cy="228268"/>
          </a:xfrm>
          <a:prstGeom prst="rect">
            <a:avLst/>
          </a:prstGeom>
        </p:spPr>
        <p:txBody>
          <a:bodyPr vert="horz" wrap="square" lIns="0" tIns="12700" rIns="0" bIns="0" rtlCol="0">
            <a:spAutoFit/>
          </a:bodyPr>
          <a:lstStyle/>
          <a:p>
            <a:pPr marL="372110" indent="-359410">
              <a:lnSpc>
                <a:spcPct val="100000"/>
              </a:lnSpc>
              <a:spcBef>
                <a:spcPts val="100"/>
              </a:spcBef>
              <a:buClr>
                <a:srgbClr val="404040"/>
              </a:buClr>
              <a:buSzPct val="82000"/>
              <a:buFont typeface="Wingdings" panose="05000000000000000000"/>
              <a:buChar char=""/>
              <a:tabLst>
                <a:tab pos="372110" algn="l"/>
                <a:tab pos="372745" algn="l"/>
              </a:tabLst>
            </a:pPr>
            <a:r>
              <a:rPr sz="1400" spc="-25" dirty="0">
                <a:latin typeface="宋体"/>
                <a:cs typeface="宋体"/>
              </a:rPr>
              <a:t>如何生成</a:t>
            </a:r>
            <a:r>
              <a:rPr sz="1400" spc="229" dirty="0">
                <a:latin typeface="宋体"/>
                <a:cs typeface="宋体"/>
              </a:rPr>
              <a:t>N-M</a:t>
            </a:r>
            <a:r>
              <a:rPr sz="1400" spc="-25" dirty="0">
                <a:latin typeface="宋体"/>
                <a:cs typeface="宋体"/>
              </a:rPr>
              <a:t>之间的随机数</a:t>
            </a:r>
            <a:endParaRPr sz="1400">
              <a:latin typeface="宋体"/>
              <a:cs typeface="宋体"/>
            </a:endParaRPr>
          </a:p>
        </p:txBody>
      </p:sp>
      <p:sp>
        <p:nvSpPr>
          <p:cNvPr id="6" name="object 6"/>
          <p:cNvSpPr txBox="1"/>
          <p:nvPr/>
        </p:nvSpPr>
        <p:spPr>
          <a:xfrm>
            <a:off x="1245108" y="2281427"/>
            <a:ext cx="5209540" cy="365485"/>
          </a:xfrm>
          <a:prstGeom prst="rect">
            <a:avLst/>
          </a:prstGeom>
          <a:solidFill>
            <a:srgbClr val="E6EFFF"/>
          </a:solidFill>
        </p:spPr>
        <p:txBody>
          <a:bodyPr vert="horz" wrap="square" lIns="0" tIns="118110" rIns="0" bIns="0" rtlCol="0">
            <a:spAutoFit/>
          </a:bodyPr>
          <a:lstStyle/>
          <a:p>
            <a:pPr marL="90805">
              <a:lnSpc>
                <a:spcPct val="100000"/>
              </a:lnSpc>
              <a:spcBef>
                <a:spcPts val="930"/>
              </a:spcBef>
            </a:pPr>
            <a:r>
              <a:rPr sz="1600" spc="-10" dirty="0">
                <a:solidFill>
                  <a:srgbClr val="257E99"/>
                </a:solidFill>
                <a:latin typeface="Consolas"/>
                <a:cs typeface="Consolas"/>
              </a:rPr>
              <a:t>Math</a:t>
            </a:r>
            <a:r>
              <a:rPr sz="1600" spc="-10" dirty="0">
                <a:latin typeface="Consolas"/>
                <a:cs typeface="Consolas"/>
              </a:rPr>
              <a:t>.</a:t>
            </a:r>
            <a:r>
              <a:rPr sz="1600" spc="-10" dirty="0">
                <a:solidFill>
                  <a:srgbClr val="795E25"/>
                </a:solidFill>
                <a:latin typeface="Consolas"/>
                <a:cs typeface="Consolas"/>
              </a:rPr>
              <a:t>floor</a:t>
            </a:r>
            <a:r>
              <a:rPr sz="1600" spc="-10" dirty="0">
                <a:latin typeface="Consolas"/>
                <a:cs typeface="Consolas"/>
              </a:rPr>
              <a:t>(</a:t>
            </a:r>
            <a:r>
              <a:rPr sz="1600" spc="-10" dirty="0">
                <a:solidFill>
                  <a:srgbClr val="257E99"/>
                </a:solidFill>
                <a:latin typeface="Consolas"/>
                <a:cs typeface="Consolas"/>
              </a:rPr>
              <a:t>Math</a:t>
            </a:r>
            <a:r>
              <a:rPr sz="1600" spc="-10" dirty="0">
                <a:latin typeface="Consolas"/>
                <a:cs typeface="Consolas"/>
              </a:rPr>
              <a:t>.</a:t>
            </a:r>
            <a:r>
              <a:rPr sz="1600" spc="-10" dirty="0">
                <a:solidFill>
                  <a:srgbClr val="795E25"/>
                </a:solidFill>
                <a:latin typeface="Consolas"/>
                <a:cs typeface="Consolas"/>
              </a:rPr>
              <a:t>random</a:t>
            </a:r>
            <a:r>
              <a:rPr sz="1600" spc="-10" dirty="0">
                <a:latin typeface="Consolas"/>
                <a:cs typeface="Consolas"/>
              </a:rPr>
              <a:t>() </a:t>
            </a:r>
            <a:r>
              <a:rPr sz="1600" spc="-5" dirty="0">
                <a:latin typeface="Consolas"/>
                <a:cs typeface="Consolas"/>
              </a:rPr>
              <a:t>* </a:t>
            </a:r>
            <a:r>
              <a:rPr sz="1600" spc="-10" dirty="0">
                <a:latin typeface="Consolas"/>
                <a:cs typeface="Consolas"/>
              </a:rPr>
              <a:t>(</a:t>
            </a:r>
            <a:r>
              <a:rPr sz="1600" spc="-10" dirty="0">
                <a:solidFill>
                  <a:srgbClr val="098557"/>
                </a:solidFill>
                <a:latin typeface="Consolas"/>
                <a:cs typeface="Consolas"/>
              </a:rPr>
              <a:t>10 </a:t>
            </a:r>
            <a:r>
              <a:rPr sz="1600" spc="-5" dirty="0">
                <a:latin typeface="Consolas"/>
                <a:cs typeface="Consolas"/>
              </a:rPr>
              <a:t>+</a:t>
            </a:r>
            <a:r>
              <a:rPr sz="1600" spc="-10" dirty="0">
                <a:latin typeface="Consolas"/>
                <a:cs typeface="Consolas"/>
              </a:rPr>
              <a:t> </a:t>
            </a:r>
            <a:r>
              <a:rPr sz="1600" spc="-10" dirty="0">
                <a:solidFill>
                  <a:srgbClr val="098557"/>
                </a:solidFill>
                <a:latin typeface="Consolas"/>
                <a:cs typeface="Consolas"/>
              </a:rPr>
              <a:t>1</a:t>
            </a:r>
            <a:r>
              <a:rPr sz="1600" spc="-10" dirty="0">
                <a:latin typeface="Consolas"/>
                <a:cs typeface="Consolas"/>
              </a:rPr>
              <a:t>))</a:t>
            </a:r>
            <a:endParaRPr sz="1600" dirty="0">
              <a:latin typeface="Consolas"/>
              <a:cs typeface="Consolas"/>
            </a:endParaRPr>
          </a:p>
        </p:txBody>
      </p:sp>
      <p:sp>
        <p:nvSpPr>
          <p:cNvPr id="7" name="object 7"/>
          <p:cNvSpPr txBox="1"/>
          <p:nvPr/>
        </p:nvSpPr>
        <p:spPr>
          <a:xfrm>
            <a:off x="1245108" y="3518915"/>
            <a:ext cx="5209540" cy="365485"/>
          </a:xfrm>
          <a:prstGeom prst="rect">
            <a:avLst/>
          </a:prstGeom>
          <a:solidFill>
            <a:srgbClr val="E6EFFF"/>
          </a:solidFill>
        </p:spPr>
        <p:txBody>
          <a:bodyPr vert="horz" wrap="square" lIns="0" tIns="118110" rIns="0" bIns="0" rtlCol="0">
            <a:spAutoFit/>
          </a:bodyPr>
          <a:lstStyle/>
          <a:p>
            <a:pPr marL="90805">
              <a:lnSpc>
                <a:spcPct val="100000"/>
              </a:lnSpc>
              <a:spcBef>
                <a:spcPts val="930"/>
              </a:spcBef>
            </a:pPr>
            <a:r>
              <a:rPr sz="1600" spc="-10" dirty="0">
                <a:solidFill>
                  <a:srgbClr val="257E99"/>
                </a:solidFill>
                <a:latin typeface="Consolas"/>
                <a:cs typeface="Consolas"/>
              </a:rPr>
              <a:t>Math</a:t>
            </a:r>
            <a:r>
              <a:rPr sz="1600" spc="-10" dirty="0">
                <a:latin typeface="Consolas"/>
                <a:cs typeface="Consolas"/>
              </a:rPr>
              <a:t>.</a:t>
            </a:r>
            <a:r>
              <a:rPr sz="1600" spc="-10" dirty="0">
                <a:solidFill>
                  <a:srgbClr val="795E25"/>
                </a:solidFill>
                <a:latin typeface="Consolas"/>
                <a:cs typeface="Consolas"/>
              </a:rPr>
              <a:t>floor</a:t>
            </a:r>
            <a:r>
              <a:rPr sz="1600" spc="-10" dirty="0">
                <a:latin typeface="Consolas"/>
                <a:cs typeface="Consolas"/>
              </a:rPr>
              <a:t>(</a:t>
            </a:r>
            <a:r>
              <a:rPr sz="1600" spc="-10" dirty="0">
                <a:solidFill>
                  <a:srgbClr val="257E99"/>
                </a:solidFill>
                <a:latin typeface="Consolas"/>
                <a:cs typeface="Consolas"/>
              </a:rPr>
              <a:t>Math</a:t>
            </a:r>
            <a:r>
              <a:rPr sz="1600" spc="-10" dirty="0">
                <a:latin typeface="Consolas"/>
                <a:cs typeface="Consolas"/>
              </a:rPr>
              <a:t>.</a:t>
            </a:r>
            <a:r>
              <a:rPr sz="1600" spc="-10" dirty="0">
                <a:solidFill>
                  <a:srgbClr val="795E25"/>
                </a:solidFill>
                <a:latin typeface="Consolas"/>
                <a:cs typeface="Consolas"/>
              </a:rPr>
              <a:t>random</a:t>
            </a:r>
            <a:r>
              <a:rPr sz="1600" spc="-10" dirty="0">
                <a:latin typeface="Consolas"/>
                <a:cs typeface="Consolas"/>
              </a:rPr>
              <a:t>() </a:t>
            </a:r>
            <a:r>
              <a:rPr sz="1600" spc="-5" dirty="0">
                <a:latin typeface="Consolas"/>
                <a:cs typeface="Consolas"/>
              </a:rPr>
              <a:t>* </a:t>
            </a:r>
            <a:r>
              <a:rPr sz="1600" spc="-10" dirty="0">
                <a:latin typeface="Consolas"/>
                <a:cs typeface="Consolas"/>
              </a:rPr>
              <a:t>(</a:t>
            </a:r>
            <a:r>
              <a:rPr sz="1600" spc="-10" dirty="0">
                <a:solidFill>
                  <a:srgbClr val="098557"/>
                </a:solidFill>
                <a:latin typeface="Consolas"/>
                <a:cs typeface="Consolas"/>
              </a:rPr>
              <a:t>5 </a:t>
            </a:r>
            <a:r>
              <a:rPr sz="1600" spc="-5" dirty="0">
                <a:latin typeface="Consolas"/>
                <a:cs typeface="Consolas"/>
              </a:rPr>
              <a:t>+ </a:t>
            </a:r>
            <a:r>
              <a:rPr sz="1600" spc="-10" dirty="0">
                <a:solidFill>
                  <a:srgbClr val="098557"/>
                </a:solidFill>
                <a:latin typeface="Consolas"/>
                <a:cs typeface="Consolas"/>
              </a:rPr>
              <a:t>1</a:t>
            </a:r>
            <a:r>
              <a:rPr sz="1600" spc="-10" dirty="0">
                <a:latin typeface="Consolas"/>
                <a:cs typeface="Consolas"/>
              </a:rPr>
              <a:t>)) </a:t>
            </a:r>
            <a:r>
              <a:rPr sz="1600" spc="-5" dirty="0">
                <a:latin typeface="Consolas"/>
                <a:cs typeface="Consolas"/>
              </a:rPr>
              <a:t>+</a:t>
            </a:r>
            <a:r>
              <a:rPr sz="1600" spc="-15" dirty="0">
                <a:latin typeface="Consolas"/>
                <a:cs typeface="Consolas"/>
              </a:rPr>
              <a:t> </a:t>
            </a:r>
            <a:r>
              <a:rPr sz="1600" spc="-5" dirty="0">
                <a:latin typeface="Consolas"/>
                <a:cs typeface="Consolas"/>
              </a:rPr>
              <a:t>5</a:t>
            </a:r>
            <a:endParaRPr sz="1600">
              <a:latin typeface="Consolas"/>
              <a:cs typeface="Consolas"/>
            </a:endParaRPr>
          </a:p>
        </p:txBody>
      </p:sp>
      <p:sp>
        <p:nvSpPr>
          <p:cNvPr id="8" name="object 8"/>
          <p:cNvSpPr txBox="1"/>
          <p:nvPr/>
        </p:nvSpPr>
        <p:spPr>
          <a:xfrm>
            <a:off x="1245108" y="4692396"/>
            <a:ext cx="5209540" cy="365485"/>
          </a:xfrm>
          <a:prstGeom prst="rect">
            <a:avLst/>
          </a:prstGeom>
          <a:solidFill>
            <a:srgbClr val="E6EFFF"/>
          </a:solidFill>
        </p:spPr>
        <p:txBody>
          <a:bodyPr vert="horz" wrap="square" lIns="0" tIns="118110" rIns="0" bIns="0" rtlCol="0">
            <a:spAutoFit/>
          </a:bodyPr>
          <a:lstStyle/>
          <a:p>
            <a:pPr marL="90805">
              <a:lnSpc>
                <a:spcPct val="100000"/>
              </a:lnSpc>
              <a:spcBef>
                <a:spcPts val="930"/>
              </a:spcBef>
            </a:pPr>
            <a:r>
              <a:rPr sz="1600" spc="-10" dirty="0">
                <a:solidFill>
                  <a:srgbClr val="257E99"/>
                </a:solidFill>
                <a:latin typeface="Consolas"/>
                <a:cs typeface="Consolas"/>
              </a:rPr>
              <a:t>Math</a:t>
            </a:r>
            <a:r>
              <a:rPr sz="1600" spc="-10" dirty="0">
                <a:latin typeface="Consolas"/>
                <a:cs typeface="Consolas"/>
              </a:rPr>
              <a:t>.</a:t>
            </a:r>
            <a:r>
              <a:rPr sz="1600" spc="-10" dirty="0">
                <a:solidFill>
                  <a:srgbClr val="795E25"/>
                </a:solidFill>
                <a:latin typeface="Consolas"/>
                <a:cs typeface="Consolas"/>
              </a:rPr>
              <a:t>floor</a:t>
            </a:r>
            <a:r>
              <a:rPr sz="1600" spc="-10" dirty="0">
                <a:latin typeface="Consolas"/>
                <a:cs typeface="Consolas"/>
              </a:rPr>
              <a:t>(</a:t>
            </a:r>
            <a:r>
              <a:rPr sz="1600" spc="-10" dirty="0">
                <a:solidFill>
                  <a:srgbClr val="257E99"/>
                </a:solidFill>
                <a:latin typeface="Consolas"/>
                <a:cs typeface="Consolas"/>
              </a:rPr>
              <a:t>Math</a:t>
            </a:r>
            <a:r>
              <a:rPr sz="1600" spc="-10" dirty="0">
                <a:latin typeface="Consolas"/>
                <a:cs typeface="Consolas"/>
              </a:rPr>
              <a:t>.</a:t>
            </a:r>
            <a:r>
              <a:rPr sz="1600" spc="-10" dirty="0">
                <a:solidFill>
                  <a:srgbClr val="795E25"/>
                </a:solidFill>
                <a:latin typeface="Consolas"/>
                <a:cs typeface="Consolas"/>
              </a:rPr>
              <a:t>random</a:t>
            </a:r>
            <a:r>
              <a:rPr sz="1600" spc="-10" dirty="0">
                <a:latin typeface="Consolas"/>
                <a:cs typeface="Consolas"/>
              </a:rPr>
              <a:t>() </a:t>
            </a:r>
            <a:r>
              <a:rPr sz="1600" spc="-5" dirty="0">
                <a:latin typeface="Consolas"/>
                <a:cs typeface="Consolas"/>
              </a:rPr>
              <a:t>* </a:t>
            </a:r>
            <a:r>
              <a:rPr sz="1600" spc="-10" dirty="0">
                <a:latin typeface="Consolas"/>
                <a:cs typeface="Consolas"/>
              </a:rPr>
              <a:t>(</a:t>
            </a:r>
            <a:r>
              <a:rPr sz="1600" spc="-10" dirty="0">
                <a:solidFill>
                  <a:srgbClr val="098557"/>
                </a:solidFill>
                <a:latin typeface="Consolas"/>
                <a:cs typeface="Consolas"/>
              </a:rPr>
              <a:t>M </a:t>
            </a:r>
            <a:r>
              <a:rPr sz="1600" spc="-5" dirty="0">
                <a:solidFill>
                  <a:srgbClr val="098557"/>
                </a:solidFill>
                <a:latin typeface="Consolas"/>
                <a:cs typeface="Consolas"/>
              </a:rPr>
              <a:t>- N </a:t>
            </a:r>
            <a:r>
              <a:rPr sz="1600" spc="-5" dirty="0">
                <a:latin typeface="Consolas"/>
                <a:cs typeface="Consolas"/>
              </a:rPr>
              <a:t>+ </a:t>
            </a:r>
            <a:r>
              <a:rPr sz="1600" spc="-5" dirty="0">
                <a:solidFill>
                  <a:srgbClr val="098557"/>
                </a:solidFill>
                <a:latin typeface="Consolas"/>
                <a:cs typeface="Consolas"/>
              </a:rPr>
              <a:t>1</a:t>
            </a:r>
            <a:r>
              <a:rPr sz="1600" spc="-5" dirty="0">
                <a:latin typeface="Consolas"/>
                <a:cs typeface="Consolas"/>
              </a:rPr>
              <a:t>)) +</a:t>
            </a:r>
            <a:r>
              <a:rPr sz="1600" spc="-50" dirty="0">
                <a:latin typeface="Consolas"/>
                <a:cs typeface="Consolas"/>
              </a:rPr>
              <a:t> </a:t>
            </a:r>
            <a:r>
              <a:rPr sz="1600" spc="-5" dirty="0">
                <a:latin typeface="Consolas"/>
                <a:cs typeface="Consolas"/>
              </a:rPr>
              <a:t>N</a:t>
            </a:r>
            <a:endParaRPr sz="1600">
              <a:latin typeface="Consolas"/>
              <a:cs typeface="Consolas"/>
            </a:endParaRPr>
          </a:p>
        </p:txBody>
      </p:sp>
      <p:sp>
        <p:nvSpPr>
          <p:cNvPr id="9" name="灯片编号占位符 8"/>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7141" y="1199288"/>
            <a:ext cx="1001394" cy="376555"/>
          </a:xfrm>
          <a:custGeom>
            <a:avLst/>
            <a:gdLst/>
            <a:ahLst/>
            <a:cxnLst/>
            <a:rect l="l" t="t" r="r" b="b"/>
            <a:pathLst>
              <a:path w="1001394" h="376555">
                <a:moveTo>
                  <a:pt x="0" y="376427"/>
                </a:moveTo>
                <a:lnTo>
                  <a:pt x="1001268" y="376427"/>
                </a:lnTo>
                <a:lnTo>
                  <a:pt x="1001268" y="0"/>
                </a:lnTo>
                <a:lnTo>
                  <a:pt x="0" y="0"/>
                </a:lnTo>
                <a:lnTo>
                  <a:pt x="0" y="376427"/>
                </a:lnTo>
                <a:close/>
              </a:path>
            </a:pathLst>
          </a:custGeom>
          <a:ln w="12192">
            <a:solidFill>
              <a:srgbClr val="AC2B25"/>
            </a:solidFill>
          </a:ln>
        </p:spPr>
        <p:txBody>
          <a:bodyPr wrap="square" lIns="0" tIns="0" rIns="0" bIns="0" rtlCol="0"/>
          <a:lstStyle/>
          <a:p/>
        </p:txBody>
      </p:sp>
      <p:sp>
        <p:nvSpPr>
          <p:cNvPr id="3" name="object 3"/>
          <p:cNvSpPr/>
          <p:nvPr/>
        </p:nvSpPr>
        <p:spPr>
          <a:xfrm>
            <a:off x="783592" y="1148996"/>
            <a:ext cx="398145" cy="462280"/>
          </a:xfrm>
          <a:custGeom>
            <a:avLst/>
            <a:gdLst/>
            <a:ahLst/>
            <a:cxnLst/>
            <a:rect l="l" t="t" r="r" b="b"/>
            <a:pathLst>
              <a:path w="398144" h="462280">
                <a:moveTo>
                  <a:pt x="198882" y="0"/>
                </a:moveTo>
                <a:lnTo>
                  <a:pt x="0" y="99440"/>
                </a:lnTo>
                <a:lnTo>
                  <a:pt x="0" y="362330"/>
                </a:lnTo>
                <a:lnTo>
                  <a:pt x="198882" y="461771"/>
                </a:lnTo>
                <a:lnTo>
                  <a:pt x="397764" y="362330"/>
                </a:lnTo>
                <a:lnTo>
                  <a:pt x="397764" y="99440"/>
                </a:lnTo>
                <a:lnTo>
                  <a:pt x="198882" y="0"/>
                </a:lnTo>
                <a:close/>
              </a:path>
            </a:pathLst>
          </a:custGeom>
          <a:solidFill>
            <a:srgbClr val="AC2B25"/>
          </a:solidFill>
        </p:spPr>
        <p:txBody>
          <a:bodyPr wrap="square" lIns="0" tIns="0" rIns="0" bIns="0" rtlCol="0"/>
          <a:lstStyle/>
          <a:p/>
        </p:txBody>
      </p:sp>
      <p:sp>
        <p:nvSpPr>
          <p:cNvPr id="4" name="object 4"/>
          <p:cNvSpPr/>
          <p:nvPr/>
        </p:nvSpPr>
        <p:spPr>
          <a:xfrm>
            <a:off x="876557" y="1272440"/>
            <a:ext cx="202691" cy="201167"/>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315849" y="1203353"/>
            <a:ext cx="525780" cy="330835"/>
          </a:xfrm>
          <a:prstGeom prst="rect">
            <a:avLst/>
          </a:prstGeom>
        </p:spPr>
        <p:txBody>
          <a:bodyPr vert="horz" wrap="square" lIns="0" tIns="13335" rIns="0" bIns="0" rtlCol="0">
            <a:spAutoFit/>
          </a:bodyPr>
          <a:lstStyle/>
          <a:p>
            <a:pPr marL="12700">
              <a:lnSpc>
                <a:spcPct val="100000"/>
              </a:lnSpc>
              <a:spcBef>
                <a:spcPts val="105"/>
              </a:spcBef>
            </a:pPr>
            <a:r>
              <a:rPr sz="2000" spc="-35" dirty="0">
                <a:solidFill>
                  <a:srgbClr val="AC2B25"/>
                </a:solidFill>
                <a:latin typeface="宋体"/>
                <a:cs typeface="宋体"/>
              </a:rPr>
              <a:t>案例</a:t>
            </a:r>
            <a:endParaRPr sz="2000">
              <a:latin typeface="宋体"/>
              <a:cs typeface="宋体"/>
            </a:endParaRPr>
          </a:p>
        </p:txBody>
      </p:sp>
      <p:sp>
        <p:nvSpPr>
          <p:cNvPr id="7" name="object 7"/>
          <p:cNvSpPr txBox="1"/>
          <p:nvPr/>
        </p:nvSpPr>
        <p:spPr>
          <a:xfrm>
            <a:off x="2172084" y="1148996"/>
            <a:ext cx="9460230" cy="751205"/>
          </a:xfrm>
          <a:prstGeom prst="rect">
            <a:avLst/>
          </a:prstGeom>
        </p:spPr>
        <p:txBody>
          <a:bodyPr vert="horz" wrap="square" lIns="0" tIns="12700" rIns="0" bIns="0" rtlCol="0">
            <a:spAutoFit/>
          </a:bodyPr>
          <a:lstStyle/>
          <a:p>
            <a:pPr marL="12700">
              <a:lnSpc>
                <a:spcPct val="100000"/>
              </a:lnSpc>
              <a:spcBef>
                <a:spcPts val="100"/>
              </a:spcBef>
            </a:pPr>
            <a:r>
              <a:rPr lang="zh-CN" altLang="en-US" sz="2400" spc="-40" dirty="0" smtClean="0">
                <a:solidFill>
                  <a:srgbClr val="AC2B25"/>
                </a:solidFill>
                <a:latin typeface="宋体"/>
                <a:cs typeface="宋体"/>
              </a:rPr>
              <a:t>应用随机函数，随机生成</a:t>
            </a:r>
            <a:r>
              <a:rPr lang="en-US" altLang="zh-CN" sz="2400" spc="-40" dirty="0" smtClean="0">
                <a:solidFill>
                  <a:srgbClr val="AC2B25"/>
                </a:solidFill>
                <a:latin typeface="宋体"/>
                <a:cs typeface="宋体"/>
              </a:rPr>
              <a:t>0~100</a:t>
            </a:r>
            <a:r>
              <a:rPr lang="zh-CN" altLang="en-US" sz="2400" spc="-40" dirty="0" smtClean="0">
                <a:solidFill>
                  <a:srgbClr val="AC2B25"/>
                </a:solidFill>
                <a:latin typeface="宋体"/>
                <a:cs typeface="宋体"/>
              </a:rPr>
              <a:t>的整数，显示在表格中，每次刷新页面表格中的数据都不同。</a:t>
            </a:r>
            <a:r>
              <a:rPr lang="en-US" altLang="zh-CN" sz="2400" spc="-40" dirty="0" smtClean="0">
                <a:solidFill>
                  <a:srgbClr val="AC2B25"/>
                </a:solidFill>
                <a:latin typeface="宋体"/>
                <a:cs typeface="宋体"/>
              </a:rPr>
              <a:t>(</a:t>
            </a:r>
            <a:r>
              <a:rPr lang="zh-CN" altLang="en-US" sz="2400" spc="-40" dirty="0" smtClean="0">
                <a:solidFill>
                  <a:srgbClr val="AC2B25"/>
                </a:solidFill>
                <a:latin typeface="宋体"/>
                <a:cs typeface="宋体"/>
              </a:rPr>
              <a:t>见代码</a:t>
            </a:r>
            <a:r>
              <a:rPr lang="en-US" altLang="zh-CN" sz="2400" spc="-40" dirty="0" smtClean="0">
                <a:solidFill>
                  <a:srgbClr val="AC2B25"/>
                </a:solidFill>
                <a:latin typeface="宋体"/>
                <a:cs typeface="宋体"/>
              </a:rPr>
              <a:t> </a:t>
            </a:r>
            <a:r>
              <a:rPr lang="zh-CN" altLang="en-US" sz="2400" spc="-40" dirty="0" smtClean="0">
                <a:solidFill>
                  <a:srgbClr val="AC2B25"/>
                </a:solidFill>
                <a:latin typeface="宋体"/>
                <a:cs typeface="宋体"/>
              </a:rPr>
              <a:t>随机函数生成表格数据.html</a:t>
            </a:r>
            <a:r>
              <a:rPr lang="en-US" altLang="zh-CN" sz="2400" spc="-40" dirty="0" smtClean="0">
                <a:solidFill>
                  <a:srgbClr val="AC2B25"/>
                </a:solidFill>
                <a:latin typeface="宋体"/>
                <a:cs typeface="宋体"/>
              </a:rPr>
              <a:t>)</a:t>
            </a:r>
            <a:endParaRPr lang="en-US" altLang="zh-CN" sz="2400" spc="-40" dirty="0" smtClean="0">
              <a:solidFill>
                <a:srgbClr val="AC2B25"/>
              </a:solidFill>
              <a:latin typeface="宋体"/>
              <a:cs typeface="宋体"/>
            </a:endParaRPr>
          </a:p>
        </p:txBody>
      </p:sp>
      <p:pic>
        <p:nvPicPr>
          <p:cNvPr id="11" name="图片 10"/>
          <p:cNvPicPr>
            <a:picLocks noChangeAspect="1"/>
          </p:cNvPicPr>
          <p:nvPr/>
        </p:nvPicPr>
        <p:blipFill>
          <a:blip r:embed="rId2"/>
          <a:stretch>
            <a:fillRect/>
          </a:stretch>
        </p:blipFill>
        <p:spPr>
          <a:xfrm>
            <a:off x="2238344" y="2196774"/>
            <a:ext cx="1485900" cy="1038225"/>
          </a:xfrm>
          <a:prstGeom prst="rect">
            <a:avLst/>
          </a:prstGeom>
        </p:spPr>
      </p:pic>
      <p:sp>
        <p:nvSpPr>
          <p:cNvPr id="8" name="灯片编号占位符 7"/>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9744" y="1086611"/>
            <a:ext cx="1001394" cy="376555"/>
          </a:xfrm>
          <a:custGeom>
            <a:avLst/>
            <a:gdLst/>
            <a:ahLst/>
            <a:cxnLst/>
            <a:rect l="l" t="t" r="r" b="b"/>
            <a:pathLst>
              <a:path w="1001394" h="376555">
                <a:moveTo>
                  <a:pt x="0" y="376427"/>
                </a:moveTo>
                <a:lnTo>
                  <a:pt x="1001268" y="376427"/>
                </a:lnTo>
                <a:lnTo>
                  <a:pt x="1001268" y="0"/>
                </a:lnTo>
                <a:lnTo>
                  <a:pt x="0" y="0"/>
                </a:lnTo>
                <a:lnTo>
                  <a:pt x="0" y="376427"/>
                </a:lnTo>
                <a:close/>
              </a:path>
            </a:pathLst>
          </a:custGeom>
          <a:ln w="12192">
            <a:solidFill>
              <a:srgbClr val="AC2B25"/>
            </a:solidFill>
          </a:ln>
        </p:spPr>
        <p:txBody>
          <a:bodyPr wrap="square" lIns="0" tIns="0" rIns="0" bIns="0" rtlCol="0"/>
          <a:lstStyle/>
          <a:p/>
        </p:txBody>
      </p:sp>
      <p:sp>
        <p:nvSpPr>
          <p:cNvPr id="3" name="object 3"/>
          <p:cNvSpPr/>
          <p:nvPr/>
        </p:nvSpPr>
        <p:spPr>
          <a:xfrm>
            <a:off x="806195" y="1036319"/>
            <a:ext cx="398145" cy="462280"/>
          </a:xfrm>
          <a:custGeom>
            <a:avLst/>
            <a:gdLst/>
            <a:ahLst/>
            <a:cxnLst/>
            <a:rect l="l" t="t" r="r" b="b"/>
            <a:pathLst>
              <a:path w="398144" h="462280">
                <a:moveTo>
                  <a:pt x="198882" y="0"/>
                </a:moveTo>
                <a:lnTo>
                  <a:pt x="0" y="99440"/>
                </a:lnTo>
                <a:lnTo>
                  <a:pt x="0" y="362330"/>
                </a:lnTo>
                <a:lnTo>
                  <a:pt x="198882" y="461771"/>
                </a:lnTo>
                <a:lnTo>
                  <a:pt x="397764" y="362330"/>
                </a:lnTo>
                <a:lnTo>
                  <a:pt x="397764" y="99440"/>
                </a:lnTo>
                <a:lnTo>
                  <a:pt x="198882" y="0"/>
                </a:lnTo>
                <a:close/>
              </a:path>
            </a:pathLst>
          </a:custGeom>
          <a:solidFill>
            <a:srgbClr val="AC2B25"/>
          </a:solidFill>
        </p:spPr>
        <p:txBody>
          <a:bodyPr wrap="square" lIns="0" tIns="0" rIns="0" bIns="0" rtlCol="0"/>
          <a:lstStyle/>
          <a:p/>
        </p:txBody>
      </p:sp>
      <p:sp>
        <p:nvSpPr>
          <p:cNvPr id="4" name="object 4"/>
          <p:cNvSpPr/>
          <p:nvPr/>
        </p:nvSpPr>
        <p:spPr>
          <a:xfrm>
            <a:off x="899160" y="1159763"/>
            <a:ext cx="202691" cy="201167"/>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338452" y="1090676"/>
            <a:ext cx="525780" cy="330835"/>
          </a:xfrm>
          <a:prstGeom prst="rect">
            <a:avLst/>
          </a:prstGeom>
        </p:spPr>
        <p:txBody>
          <a:bodyPr vert="horz" wrap="square" lIns="0" tIns="13335" rIns="0" bIns="0" rtlCol="0">
            <a:spAutoFit/>
          </a:bodyPr>
          <a:lstStyle/>
          <a:p>
            <a:pPr marL="12700">
              <a:lnSpc>
                <a:spcPct val="100000"/>
              </a:lnSpc>
              <a:spcBef>
                <a:spcPts val="105"/>
              </a:spcBef>
            </a:pPr>
            <a:r>
              <a:rPr sz="2000" spc="-35" dirty="0">
                <a:solidFill>
                  <a:srgbClr val="AC2B25"/>
                </a:solidFill>
                <a:latin typeface="宋体"/>
                <a:cs typeface="宋体"/>
              </a:rPr>
              <a:t>案例</a:t>
            </a:r>
            <a:endParaRPr sz="2000">
              <a:latin typeface="宋体"/>
              <a:cs typeface="宋体"/>
            </a:endParaRPr>
          </a:p>
        </p:txBody>
      </p:sp>
      <p:sp>
        <p:nvSpPr>
          <p:cNvPr id="7" name="object 7"/>
          <p:cNvSpPr txBox="1"/>
          <p:nvPr/>
        </p:nvSpPr>
        <p:spPr>
          <a:xfrm>
            <a:off x="2274570" y="1054684"/>
            <a:ext cx="5943600" cy="1964690"/>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AC2B25"/>
                </a:solidFill>
                <a:latin typeface="宋体"/>
                <a:cs typeface="宋体"/>
              </a:rPr>
              <a:t>猜数字游戏</a:t>
            </a:r>
            <a:r>
              <a:rPr lang="zh-CN" sz="2400" spc="-40" dirty="0">
                <a:solidFill>
                  <a:srgbClr val="AC2B25"/>
                </a:solidFill>
                <a:latin typeface="宋体"/>
                <a:cs typeface="宋体"/>
              </a:rPr>
              <a:t>—见代码</a:t>
            </a:r>
            <a:r>
              <a:rPr lang="en-US" altLang="zh-CN" sz="2400" spc="-40" dirty="0">
                <a:solidFill>
                  <a:srgbClr val="AC2B25"/>
                </a:solidFill>
                <a:latin typeface="宋体"/>
                <a:cs typeface="宋体"/>
              </a:rPr>
              <a:t>guess.html</a:t>
            </a:r>
            <a:endParaRPr sz="2400" dirty="0">
              <a:latin typeface="宋体"/>
              <a:cs typeface="宋体"/>
            </a:endParaRPr>
          </a:p>
          <a:p>
            <a:pPr marL="12700" marR="358140">
              <a:lnSpc>
                <a:spcPct val="170000"/>
              </a:lnSpc>
              <a:spcBef>
                <a:spcPts val="1335"/>
              </a:spcBef>
            </a:pPr>
            <a:r>
              <a:rPr sz="1600" spc="-30" dirty="0" err="1">
                <a:solidFill>
                  <a:srgbClr val="252525"/>
                </a:solidFill>
                <a:latin typeface="宋体"/>
                <a:cs typeface="宋体"/>
              </a:rPr>
              <a:t>需求：程序随机生成</a:t>
            </a:r>
            <a:r>
              <a:rPr sz="1600" spc="-395" dirty="0">
                <a:solidFill>
                  <a:srgbClr val="252525"/>
                </a:solidFill>
                <a:latin typeface="宋体"/>
                <a:cs typeface="宋体"/>
              </a:rPr>
              <a:t> </a:t>
            </a:r>
            <a:r>
              <a:rPr lang="en-US" altLang="zh-CN" dirty="0"/>
              <a:t>1 </a:t>
            </a:r>
            <a:r>
              <a:rPr lang="zh-CN" altLang="en-US" dirty="0"/>
              <a:t>到 </a:t>
            </a:r>
            <a:r>
              <a:rPr lang="en-US" altLang="zh-CN" dirty="0"/>
              <a:t>100 </a:t>
            </a:r>
            <a:r>
              <a:rPr lang="zh-CN" altLang="en-US" dirty="0"/>
              <a:t>之间的</a:t>
            </a:r>
            <a:r>
              <a:rPr lang="zh-CN" altLang="en-US" dirty="0" smtClean="0"/>
              <a:t>随机数，用户在输入框输入猜测的数字，系统会给出大还是小的提示，只能猜测</a:t>
            </a:r>
            <a:r>
              <a:rPr lang="en-US" altLang="zh-CN" dirty="0" smtClean="0"/>
              <a:t>10</a:t>
            </a:r>
            <a:r>
              <a:rPr lang="zh-CN" altLang="en-US" dirty="0" smtClean="0"/>
              <a:t>次，</a:t>
            </a:r>
            <a:r>
              <a:rPr lang="en-US" altLang="zh-CN" dirty="0" smtClean="0"/>
              <a:t>10</a:t>
            </a:r>
            <a:r>
              <a:rPr lang="zh-CN" altLang="en-US" dirty="0" smtClean="0"/>
              <a:t>次还没猜对，游戏就结束。</a:t>
            </a:r>
            <a:endParaRPr sz="1600" dirty="0">
              <a:latin typeface="宋体"/>
              <a:cs typeface="宋体"/>
            </a:endParaRPr>
          </a:p>
        </p:txBody>
      </p:sp>
      <p:sp>
        <p:nvSpPr>
          <p:cNvPr id="8" name="灯片编号占位符 7"/>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9" name="矩形 8"/>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pic>
        <p:nvPicPr>
          <p:cNvPr id="6" name="图片 5"/>
          <p:cNvPicPr>
            <a:picLocks noChangeAspect="1"/>
          </p:cNvPicPr>
          <p:nvPr>
            <p:custDataLst>
              <p:tags r:id="rId2"/>
            </p:custDataLst>
          </p:nvPr>
        </p:nvPicPr>
        <p:blipFill>
          <a:blip r:embed="rId3"/>
          <a:stretch>
            <a:fillRect/>
          </a:stretch>
        </p:blipFill>
        <p:spPr>
          <a:xfrm>
            <a:off x="2148840" y="3429000"/>
            <a:ext cx="8698230" cy="310134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4"/>
          <p:cNvSpPr txBox="1"/>
          <p:nvPr/>
        </p:nvSpPr>
        <p:spPr>
          <a:xfrm>
            <a:off x="916938" y="1922779"/>
            <a:ext cx="10970261" cy="4585230"/>
          </a:xfrm>
          <a:prstGeom prst="rect">
            <a:avLst/>
          </a:prstGeom>
        </p:spPr>
        <p:txBody>
          <a:bodyPr vert="horz" wrap="square" lIns="0" tIns="12065" rIns="0" bIns="0" rtlCol="0">
            <a:spAutoFit/>
          </a:bodyPr>
          <a:lstStyle/>
          <a:p>
            <a:pPr marL="12700">
              <a:lnSpc>
                <a:spcPct val="150000"/>
              </a:lnSpc>
              <a:spcBef>
                <a:spcPts val="95"/>
              </a:spcBef>
              <a:buClr>
                <a:srgbClr val="404040"/>
              </a:buClr>
              <a:buSzPct val="84000"/>
              <a:tabLst>
                <a:tab pos="372110" algn="l"/>
                <a:tab pos="372745" algn="l"/>
              </a:tabLst>
            </a:pPr>
            <a:r>
              <a:rPr lang="en-US" altLang="zh-CN" sz="1600" dirty="0" smtClean="0">
                <a:latin typeface="宋体"/>
                <a:cs typeface="宋体"/>
              </a:rPr>
              <a:t>Date</a:t>
            </a:r>
            <a:r>
              <a:rPr lang="zh-CN" altLang="en-US" sz="1600" dirty="0" smtClean="0">
                <a:latin typeface="宋体"/>
                <a:cs typeface="宋体"/>
              </a:rPr>
              <a:t>对象用于处理日期和时间，是基于</a:t>
            </a:r>
            <a:r>
              <a:rPr lang="en-US" altLang="zh-CN" sz="1600" dirty="0" smtClean="0">
                <a:latin typeface="宋体"/>
                <a:cs typeface="宋体"/>
              </a:rPr>
              <a:t>1970</a:t>
            </a:r>
            <a:r>
              <a:rPr lang="zh-CN" altLang="en-US" sz="1600" dirty="0" smtClean="0">
                <a:latin typeface="宋体"/>
                <a:cs typeface="宋体"/>
              </a:rPr>
              <a:t>年</a:t>
            </a:r>
            <a:r>
              <a:rPr lang="en-US" altLang="zh-CN" sz="1600" dirty="0" smtClean="0">
                <a:latin typeface="宋体"/>
                <a:cs typeface="宋体"/>
              </a:rPr>
              <a:t>1</a:t>
            </a:r>
            <a:r>
              <a:rPr lang="zh-CN" altLang="en-US" sz="1600" dirty="0" smtClean="0">
                <a:latin typeface="宋体"/>
                <a:cs typeface="宋体"/>
              </a:rPr>
              <a:t>月</a:t>
            </a:r>
            <a:r>
              <a:rPr lang="en-US" altLang="zh-CN" sz="1600" dirty="0" smtClean="0">
                <a:latin typeface="宋体"/>
                <a:cs typeface="宋体"/>
              </a:rPr>
              <a:t>1</a:t>
            </a:r>
            <a:r>
              <a:rPr lang="zh-CN" altLang="en-US" sz="1600" dirty="0" smtClean="0">
                <a:latin typeface="宋体"/>
                <a:cs typeface="宋体"/>
              </a:rPr>
              <a:t>日（世界标准时间）起的毫秒数表示时间的。</a:t>
            </a:r>
            <a:endParaRPr lang="en-US" sz="1600" dirty="0">
              <a:latin typeface="宋体"/>
              <a:cs typeface="宋体"/>
            </a:endParaRPr>
          </a:p>
          <a:p>
            <a:pPr marL="12700">
              <a:lnSpc>
                <a:spcPct val="150000"/>
              </a:lnSpc>
              <a:spcBef>
                <a:spcPts val="95"/>
              </a:spcBef>
              <a:buClr>
                <a:srgbClr val="404040"/>
              </a:buClr>
              <a:buSzPct val="84000"/>
              <a:tabLst>
                <a:tab pos="372110" algn="l"/>
                <a:tab pos="372745" algn="l"/>
              </a:tabLst>
            </a:pPr>
            <a:r>
              <a:rPr lang="en-US" sz="1600" dirty="0" smtClean="0">
                <a:latin typeface="宋体"/>
                <a:cs typeface="宋体"/>
              </a:rPr>
              <a:t>1</a:t>
            </a:r>
            <a:r>
              <a:rPr lang="zh-CN" altLang="en-US" sz="1600" dirty="0" smtClean="0">
                <a:latin typeface="宋体"/>
                <a:cs typeface="宋体"/>
              </a:rPr>
              <a:t>、</a:t>
            </a:r>
            <a:r>
              <a:rPr lang="en-US" altLang="zh-CN" sz="1600" dirty="0" smtClean="0">
                <a:latin typeface="宋体"/>
                <a:cs typeface="宋体"/>
              </a:rPr>
              <a:t>Date</a:t>
            </a:r>
            <a:r>
              <a:rPr lang="zh-CN" altLang="en-US" sz="1600" dirty="0" smtClean="0">
                <a:latin typeface="宋体"/>
                <a:cs typeface="宋体"/>
              </a:rPr>
              <a:t>对象的构造函数</a:t>
            </a: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r>
              <a:rPr lang="zh-CN" altLang="en-US" sz="1600" dirty="0" smtClean="0">
                <a:latin typeface="宋体"/>
                <a:cs typeface="宋体"/>
              </a:rPr>
              <a:t>（</a:t>
            </a:r>
            <a:r>
              <a:rPr lang="en-US" altLang="zh-CN" sz="1600" dirty="0" smtClean="0">
                <a:latin typeface="宋体"/>
                <a:cs typeface="宋体"/>
              </a:rPr>
              <a:t>1</a:t>
            </a:r>
            <a:r>
              <a:rPr lang="zh-CN" altLang="en-US" sz="1600" dirty="0" smtClean="0">
                <a:latin typeface="宋体"/>
                <a:cs typeface="宋体"/>
              </a:rPr>
              <a:t>）构造函数</a:t>
            </a:r>
            <a:r>
              <a:rPr lang="en-US" altLang="zh-CN" sz="1600" dirty="0" smtClean="0">
                <a:latin typeface="宋体"/>
                <a:cs typeface="宋体"/>
              </a:rPr>
              <a:t>Date()</a:t>
            </a: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r>
              <a:rPr lang="zh-CN" altLang="en-US" sz="1600" dirty="0">
                <a:latin typeface="宋体"/>
                <a:cs typeface="宋体"/>
              </a:rPr>
              <a:t>可以</a:t>
            </a:r>
            <a:r>
              <a:rPr lang="zh-CN" altLang="en-US" sz="1600" dirty="0" smtClean="0">
                <a:latin typeface="宋体"/>
                <a:cs typeface="宋体"/>
              </a:rPr>
              <a:t>通过下边方法获取当前系统时间，例如：</a:t>
            </a: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endParaRPr lang="en-US" altLang="zh-CN" sz="1600" dirty="0">
              <a:latin typeface="宋体"/>
              <a:cs typeface="宋体"/>
            </a:endParaRPr>
          </a:p>
          <a:p>
            <a:pPr marL="12700">
              <a:lnSpc>
                <a:spcPct val="150000"/>
              </a:lnSpc>
              <a:spcBef>
                <a:spcPts val="95"/>
              </a:spcBef>
              <a:buClr>
                <a:srgbClr val="404040"/>
              </a:buClr>
              <a:buSzPct val="84000"/>
              <a:tabLst>
                <a:tab pos="372110" algn="l"/>
                <a:tab pos="372745" algn="l"/>
              </a:tabLst>
            </a:pP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r>
              <a:rPr lang="zh-CN" altLang="en-US" sz="1600" dirty="0" smtClean="0">
                <a:latin typeface="宋体"/>
                <a:cs typeface="宋体"/>
              </a:rPr>
              <a:t>（</a:t>
            </a:r>
            <a:r>
              <a:rPr lang="en-US" altLang="zh-CN" sz="1600" dirty="0" smtClean="0">
                <a:latin typeface="宋体"/>
                <a:cs typeface="宋体"/>
              </a:rPr>
              <a:t>2</a:t>
            </a:r>
            <a:r>
              <a:rPr lang="zh-CN" altLang="en-US" sz="1600" dirty="0" smtClean="0">
                <a:latin typeface="宋体"/>
                <a:cs typeface="宋体"/>
              </a:rPr>
              <a:t>）构造函数</a:t>
            </a:r>
            <a:r>
              <a:rPr lang="en-US" altLang="zh-CN" sz="1600" dirty="0" smtClean="0">
                <a:latin typeface="宋体"/>
                <a:cs typeface="宋体"/>
              </a:rPr>
              <a:t>Date(</a:t>
            </a:r>
            <a:r>
              <a:rPr lang="zh-CN" altLang="en-US" sz="1600" dirty="0" smtClean="0">
                <a:latin typeface="宋体"/>
                <a:cs typeface="宋体"/>
              </a:rPr>
              <a:t>毫秒</a:t>
            </a:r>
            <a:r>
              <a:rPr lang="en-US" altLang="zh-CN" sz="1600" dirty="0" smtClean="0">
                <a:latin typeface="宋体"/>
                <a:cs typeface="宋体"/>
              </a:rPr>
              <a:t>)</a:t>
            </a: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endParaRPr lang="en-US" altLang="zh-CN" sz="1600" dirty="0">
              <a:latin typeface="宋体"/>
              <a:cs typeface="宋体"/>
            </a:endParaRPr>
          </a:p>
          <a:p>
            <a:pPr marL="12700">
              <a:lnSpc>
                <a:spcPct val="150000"/>
              </a:lnSpc>
              <a:spcBef>
                <a:spcPts val="95"/>
              </a:spcBef>
              <a:buClr>
                <a:srgbClr val="404040"/>
              </a:buClr>
              <a:buSzPct val="84000"/>
              <a:tabLst>
                <a:tab pos="372110" algn="l"/>
                <a:tab pos="372745" algn="l"/>
              </a:tabLst>
            </a:pP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r>
              <a:rPr lang="zh-CN" altLang="en-US" sz="1600" dirty="0" smtClean="0">
                <a:latin typeface="宋体"/>
                <a:cs typeface="宋体"/>
              </a:rPr>
              <a:t>（</a:t>
            </a:r>
            <a:r>
              <a:rPr lang="en-US" altLang="zh-CN" sz="1600" dirty="0" smtClean="0">
                <a:latin typeface="宋体"/>
                <a:cs typeface="宋体"/>
              </a:rPr>
              <a:t>3</a:t>
            </a:r>
            <a:r>
              <a:rPr lang="zh-CN" altLang="en-US" sz="1600" dirty="0" smtClean="0">
                <a:latin typeface="宋体"/>
                <a:cs typeface="宋体"/>
              </a:rPr>
              <a:t>）</a:t>
            </a:r>
            <a:r>
              <a:rPr lang="zh-CN" altLang="en-US" sz="1600" dirty="0">
                <a:latin typeface="宋体"/>
                <a:cs typeface="宋体"/>
              </a:rPr>
              <a:t>构造函数</a:t>
            </a:r>
            <a:r>
              <a:rPr lang="en-US" altLang="zh-CN" sz="1600" dirty="0">
                <a:latin typeface="宋体"/>
                <a:cs typeface="宋体"/>
              </a:rPr>
              <a:t>Date</a:t>
            </a:r>
            <a:r>
              <a:rPr lang="en-US" altLang="zh-CN" sz="1600" dirty="0" smtClean="0">
                <a:latin typeface="宋体"/>
                <a:cs typeface="宋体"/>
              </a:rPr>
              <a:t>(</a:t>
            </a:r>
            <a:r>
              <a:rPr lang="zh-CN" altLang="en-US" sz="1600" dirty="0">
                <a:latin typeface="宋体"/>
                <a:cs typeface="宋体"/>
              </a:rPr>
              <a:t>字符串</a:t>
            </a:r>
            <a:r>
              <a:rPr lang="en-US" altLang="zh-CN" sz="1600" dirty="0" smtClean="0">
                <a:latin typeface="宋体"/>
                <a:cs typeface="宋体"/>
              </a:rPr>
              <a:t>)</a:t>
            </a:r>
            <a:endParaRPr lang="en-US" altLang="zh-CN" sz="1600" dirty="0">
              <a:latin typeface="宋体"/>
              <a:cs typeface="宋体"/>
            </a:endParaRPr>
          </a:p>
          <a:p>
            <a:pPr marL="12700">
              <a:lnSpc>
                <a:spcPct val="150000"/>
              </a:lnSpc>
              <a:spcBef>
                <a:spcPts val="95"/>
              </a:spcBef>
              <a:buClr>
                <a:srgbClr val="404040"/>
              </a:buClr>
              <a:buSzPct val="84000"/>
              <a:tabLst>
                <a:tab pos="372110" algn="l"/>
                <a:tab pos="372745" algn="l"/>
              </a:tabLst>
            </a:pPr>
            <a:endParaRPr lang="en-US" altLang="zh-CN" sz="1600" dirty="0" smtClean="0">
              <a:latin typeface="宋体"/>
              <a:cs typeface="宋体"/>
            </a:endParaRPr>
          </a:p>
          <a:p>
            <a:pPr marL="12700">
              <a:lnSpc>
                <a:spcPct val="150000"/>
              </a:lnSpc>
              <a:spcBef>
                <a:spcPts val="95"/>
              </a:spcBef>
              <a:buClr>
                <a:srgbClr val="404040"/>
              </a:buClr>
              <a:buSzPct val="84000"/>
              <a:tabLst>
                <a:tab pos="372110" algn="l"/>
                <a:tab pos="372745" algn="l"/>
              </a:tabLst>
            </a:pPr>
            <a:endParaRPr lang="en-US" altLang="zh-CN" sz="1600" dirty="0" smtClean="0">
              <a:latin typeface="宋体"/>
              <a:cs typeface="宋体"/>
            </a:endParaRPr>
          </a:p>
        </p:txBody>
      </p:sp>
      <p:sp>
        <p:nvSpPr>
          <p:cNvPr id="9" name="矩形 8"/>
          <p:cNvSpPr/>
          <p:nvPr/>
        </p:nvSpPr>
        <p:spPr>
          <a:xfrm>
            <a:off x="812323" y="1116259"/>
            <a:ext cx="1589794" cy="400110"/>
          </a:xfrm>
          <a:prstGeom prst="rect">
            <a:avLst/>
          </a:prstGeom>
        </p:spPr>
        <p:txBody>
          <a:bodyPr wrap="none">
            <a:spAutoFit/>
          </a:bodyPr>
          <a:lstStyle/>
          <a:p>
            <a:r>
              <a:rPr lang="en-US" altLang="zh-CN" sz="2000" b="1" dirty="0" smtClean="0"/>
              <a:t>4</a:t>
            </a:r>
            <a:r>
              <a:rPr lang="zh-CN" altLang="en-US" sz="2000" b="1" dirty="0" smtClean="0"/>
              <a:t>、</a:t>
            </a:r>
            <a:r>
              <a:rPr lang="en-US" altLang="zh-CN" sz="2000" b="1" dirty="0" smtClean="0"/>
              <a:t>Date</a:t>
            </a:r>
            <a:r>
              <a:rPr lang="zh-CN" altLang="en-US" sz="2000" b="1" dirty="0" smtClean="0"/>
              <a:t>对象</a:t>
            </a:r>
            <a:endParaRPr lang="zh-CN" altLang="en-US" sz="2000" b="1" dirty="0"/>
          </a:p>
        </p:txBody>
      </p:sp>
      <p:pic>
        <p:nvPicPr>
          <p:cNvPr id="10" name="图片 9"/>
          <p:cNvPicPr>
            <a:picLocks noChangeAspect="1"/>
          </p:cNvPicPr>
          <p:nvPr/>
        </p:nvPicPr>
        <p:blipFill>
          <a:blip r:embed="rId1"/>
          <a:stretch>
            <a:fillRect/>
          </a:stretch>
        </p:blipFill>
        <p:spPr>
          <a:xfrm>
            <a:off x="892782" y="3469724"/>
            <a:ext cx="3199867" cy="714864"/>
          </a:xfrm>
          <a:prstGeom prst="rect">
            <a:avLst/>
          </a:prstGeom>
        </p:spPr>
      </p:pic>
      <p:pic>
        <p:nvPicPr>
          <p:cNvPr id="11" name="图片 10"/>
          <p:cNvPicPr>
            <a:picLocks noChangeAspect="1"/>
          </p:cNvPicPr>
          <p:nvPr/>
        </p:nvPicPr>
        <p:blipFill>
          <a:blip r:embed="rId2"/>
          <a:stretch>
            <a:fillRect/>
          </a:stretch>
        </p:blipFill>
        <p:spPr>
          <a:xfrm>
            <a:off x="4441490" y="3574621"/>
            <a:ext cx="7445709" cy="505070"/>
          </a:xfrm>
          <a:prstGeom prst="rect">
            <a:avLst/>
          </a:prstGeom>
        </p:spPr>
      </p:pic>
      <p:pic>
        <p:nvPicPr>
          <p:cNvPr id="12" name="图片 11"/>
          <p:cNvPicPr>
            <a:picLocks noChangeAspect="1"/>
          </p:cNvPicPr>
          <p:nvPr/>
        </p:nvPicPr>
        <p:blipFill>
          <a:blip r:embed="rId3"/>
          <a:stretch>
            <a:fillRect/>
          </a:stretch>
        </p:blipFill>
        <p:spPr>
          <a:xfrm>
            <a:off x="946918" y="4698397"/>
            <a:ext cx="4229245" cy="687398"/>
          </a:xfrm>
          <a:prstGeom prst="rect">
            <a:avLst/>
          </a:prstGeom>
        </p:spPr>
      </p:pic>
      <p:pic>
        <p:nvPicPr>
          <p:cNvPr id="13" name="图片 12"/>
          <p:cNvPicPr>
            <a:picLocks noChangeAspect="1"/>
          </p:cNvPicPr>
          <p:nvPr/>
        </p:nvPicPr>
        <p:blipFill>
          <a:blip r:embed="rId4"/>
          <a:stretch>
            <a:fillRect/>
          </a:stretch>
        </p:blipFill>
        <p:spPr>
          <a:xfrm>
            <a:off x="5562600" y="4887314"/>
            <a:ext cx="6172200" cy="415953"/>
          </a:xfrm>
          <a:prstGeom prst="rect">
            <a:avLst/>
          </a:prstGeom>
        </p:spPr>
      </p:pic>
      <p:pic>
        <p:nvPicPr>
          <p:cNvPr id="14" name="图片 13"/>
          <p:cNvPicPr>
            <a:picLocks noChangeAspect="1"/>
          </p:cNvPicPr>
          <p:nvPr/>
        </p:nvPicPr>
        <p:blipFill>
          <a:blip r:embed="rId5"/>
          <a:stretch>
            <a:fillRect/>
          </a:stretch>
        </p:blipFill>
        <p:spPr>
          <a:xfrm>
            <a:off x="5301561" y="5968845"/>
            <a:ext cx="6204639" cy="360269"/>
          </a:xfrm>
          <a:prstGeom prst="rect">
            <a:avLst/>
          </a:prstGeom>
        </p:spPr>
      </p:pic>
      <p:pic>
        <p:nvPicPr>
          <p:cNvPr id="15" name="图片 14"/>
          <p:cNvPicPr>
            <a:picLocks noChangeAspect="1"/>
          </p:cNvPicPr>
          <p:nvPr/>
        </p:nvPicPr>
        <p:blipFill>
          <a:blip r:embed="rId6"/>
          <a:stretch>
            <a:fillRect/>
          </a:stretch>
        </p:blipFill>
        <p:spPr>
          <a:xfrm>
            <a:off x="958161" y="5968845"/>
            <a:ext cx="4343400" cy="628650"/>
          </a:xfrm>
          <a:prstGeom prst="rect">
            <a:avLst/>
          </a:prstGeom>
        </p:spPr>
      </p:pic>
      <p:sp>
        <p:nvSpPr>
          <p:cNvPr id="2" name="灯片编号占位符 1"/>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6" name="矩形 15"/>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12323" y="1116259"/>
            <a:ext cx="2234201" cy="400110"/>
          </a:xfrm>
          <a:prstGeom prst="rect">
            <a:avLst/>
          </a:prstGeom>
        </p:spPr>
        <p:txBody>
          <a:bodyPr wrap="none">
            <a:spAutoFit/>
          </a:bodyPr>
          <a:lstStyle/>
          <a:p>
            <a:r>
              <a:rPr lang="en-US" altLang="zh-CN" sz="2000" b="1" dirty="0" smtClean="0"/>
              <a:t>Date</a:t>
            </a:r>
            <a:r>
              <a:rPr lang="zh-CN" altLang="en-US" sz="2000" b="1" dirty="0" smtClean="0"/>
              <a:t>对象常用成员</a:t>
            </a:r>
            <a:endParaRPr lang="zh-CN" altLang="en-US" sz="2000" b="1" dirty="0"/>
          </a:p>
        </p:txBody>
      </p:sp>
      <p:sp>
        <p:nvSpPr>
          <p:cNvPr id="16" name="object 4"/>
          <p:cNvSpPr txBox="1"/>
          <p:nvPr/>
        </p:nvSpPr>
        <p:spPr>
          <a:xfrm>
            <a:off x="916939" y="1922779"/>
            <a:ext cx="3807461" cy="3056606"/>
          </a:xfrm>
          <a:prstGeom prst="rect">
            <a:avLst/>
          </a:prstGeom>
        </p:spPr>
        <p:txBody>
          <a:bodyPr vert="horz" wrap="square" lIns="0" tIns="12065" rIns="0" bIns="0" rtlCol="0">
            <a:spAutoFit/>
          </a:bodyPr>
          <a:lstStyle/>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getDate</a:t>
            </a:r>
            <a:r>
              <a:rPr lang="en-US" altLang="zh-CN" sz="1600" dirty="0" smtClean="0">
                <a:cs typeface="宋体"/>
              </a:rPr>
              <a:t>()</a:t>
            </a:r>
            <a:r>
              <a:rPr lang="zh-CN" altLang="en-US" sz="1600" dirty="0" smtClean="0">
                <a:cs typeface="宋体"/>
              </a:rPr>
              <a:t>：获取日期（</a:t>
            </a:r>
            <a:r>
              <a:rPr lang="en-US" altLang="zh-CN" sz="1600" dirty="0" smtClean="0">
                <a:cs typeface="宋体"/>
              </a:rPr>
              <a:t>1-31</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getFullYear</a:t>
            </a:r>
            <a:r>
              <a:rPr lang="en-US" altLang="zh-CN" sz="1600" dirty="0" smtClean="0">
                <a:cs typeface="宋体"/>
              </a:rPr>
              <a:t>()</a:t>
            </a:r>
            <a:r>
              <a:rPr lang="zh-CN" altLang="en-US" sz="1600" dirty="0" smtClean="0">
                <a:cs typeface="宋体"/>
              </a:rPr>
              <a:t>：获取年份（</a:t>
            </a:r>
            <a:r>
              <a:rPr lang="en-US" altLang="zh-CN" sz="1600" dirty="0" err="1" smtClean="0">
                <a:cs typeface="宋体"/>
              </a:rPr>
              <a:t>yyyy</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getMonth</a:t>
            </a:r>
            <a:r>
              <a:rPr lang="en-US" altLang="zh-CN" sz="1600" dirty="0" smtClean="0">
                <a:cs typeface="宋体"/>
              </a:rPr>
              <a:t>()</a:t>
            </a:r>
            <a:r>
              <a:rPr lang="zh-CN" altLang="en-US" sz="1600" dirty="0" smtClean="0">
                <a:cs typeface="宋体"/>
              </a:rPr>
              <a:t>：获取月（</a:t>
            </a:r>
            <a:r>
              <a:rPr lang="en-US" altLang="zh-CN" sz="1600" dirty="0" smtClean="0">
                <a:cs typeface="宋体"/>
              </a:rPr>
              <a:t>0-11</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getDay</a:t>
            </a:r>
            <a:r>
              <a:rPr lang="en-US" altLang="zh-CN" sz="1600" dirty="0" smtClean="0">
                <a:cs typeface="宋体"/>
              </a:rPr>
              <a:t>()</a:t>
            </a:r>
            <a:r>
              <a:rPr lang="zh-CN" altLang="en-US" sz="1600" dirty="0" smtClean="0">
                <a:cs typeface="宋体"/>
              </a:rPr>
              <a:t>：获取星期几（</a:t>
            </a:r>
            <a:r>
              <a:rPr lang="en-US" altLang="zh-CN" sz="1600" dirty="0" smtClean="0">
                <a:cs typeface="宋体"/>
              </a:rPr>
              <a:t>0-6</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getHours</a:t>
            </a:r>
            <a:r>
              <a:rPr lang="en-US" altLang="zh-CN" sz="1600" dirty="0" smtClean="0">
                <a:cs typeface="宋体"/>
              </a:rPr>
              <a:t>()</a:t>
            </a:r>
            <a:r>
              <a:rPr lang="zh-CN" altLang="en-US" sz="1600" dirty="0" smtClean="0">
                <a:cs typeface="宋体"/>
              </a:rPr>
              <a:t>：获取小时（</a:t>
            </a:r>
            <a:r>
              <a:rPr lang="en-US" altLang="zh-CN" sz="1600" dirty="0" smtClean="0">
                <a:cs typeface="宋体"/>
              </a:rPr>
              <a:t>0-23</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getMinutes</a:t>
            </a:r>
            <a:r>
              <a:rPr lang="en-US" altLang="zh-CN" sz="1600" dirty="0" smtClean="0">
                <a:cs typeface="宋体"/>
              </a:rPr>
              <a:t>()</a:t>
            </a:r>
            <a:r>
              <a:rPr lang="zh-CN" altLang="en-US" sz="1600" dirty="0" smtClean="0">
                <a:cs typeface="宋体"/>
              </a:rPr>
              <a:t>：获取分钟（</a:t>
            </a:r>
            <a:r>
              <a:rPr lang="en-US" altLang="zh-CN" sz="1600" dirty="0" smtClean="0">
                <a:cs typeface="宋体"/>
              </a:rPr>
              <a:t>0-59</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getSeconds</a:t>
            </a:r>
            <a:r>
              <a:rPr lang="en-US" altLang="zh-CN" sz="1600" dirty="0" smtClean="0">
                <a:cs typeface="宋体"/>
              </a:rPr>
              <a:t>()</a:t>
            </a:r>
            <a:r>
              <a:rPr lang="zh-CN" altLang="en-US" sz="1600" dirty="0" smtClean="0">
                <a:cs typeface="宋体"/>
              </a:rPr>
              <a:t>：获取秒（</a:t>
            </a:r>
            <a:r>
              <a:rPr lang="en-US" altLang="zh-CN" sz="1600" dirty="0" smtClean="0">
                <a:cs typeface="宋体"/>
              </a:rPr>
              <a:t>0-59</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valueOf</a:t>
            </a:r>
            <a:r>
              <a:rPr lang="en-US" altLang="zh-CN" sz="1600" dirty="0" smtClean="0">
                <a:cs typeface="宋体"/>
              </a:rPr>
              <a:t>()</a:t>
            </a:r>
            <a:r>
              <a:rPr lang="zh-CN" altLang="en-US" sz="1600" dirty="0" smtClean="0">
                <a:cs typeface="宋体"/>
              </a:rPr>
              <a:t>：获取原始毫秒值</a:t>
            </a:r>
            <a:endParaRPr lang="en-US" altLang="zh-CN" sz="1600" dirty="0" smtClean="0">
              <a:cs typeface="宋体"/>
            </a:endParaRPr>
          </a:p>
        </p:txBody>
      </p:sp>
      <p:sp>
        <p:nvSpPr>
          <p:cNvPr id="17" name="object 4"/>
          <p:cNvSpPr txBox="1"/>
          <p:nvPr/>
        </p:nvSpPr>
        <p:spPr>
          <a:xfrm>
            <a:off x="6324600" y="1922779"/>
            <a:ext cx="3807461" cy="3056606"/>
          </a:xfrm>
          <a:prstGeom prst="rect">
            <a:avLst/>
          </a:prstGeom>
        </p:spPr>
        <p:txBody>
          <a:bodyPr vert="horz" wrap="square" lIns="0" tIns="12065" rIns="0" bIns="0" rtlCol="0">
            <a:spAutoFit/>
          </a:bodyPr>
          <a:lstStyle/>
          <a:p>
            <a:pPr marL="12700">
              <a:lnSpc>
                <a:spcPct val="150000"/>
              </a:lnSpc>
              <a:spcBef>
                <a:spcPts val="95"/>
              </a:spcBef>
              <a:buClr>
                <a:srgbClr val="404040"/>
              </a:buClr>
              <a:buSzPct val="84000"/>
              <a:tabLst>
                <a:tab pos="372110" algn="l"/>
                <a:tab pos="372745" algn="l"/>
              </a:tabLst>
            </a:pPr>
            <a:r>
              <a:rPr lang="en-US" altLang="zh-CN" sz="1600" dirty="0" err="1" smtClean="0">
                <a:cs typeface="宋体"/>
              </a:rPr>
              <a:t>setDate</a:t>
            </a:r>
            <a:r>
              <a:rPr lang="en-US" altLang="zh-CN" sz="1600" dirty="0" smtClean="0">
                <a:cs typeface="宋体"/>
              </a:rPr>
              <a:t>()</a:t>
            </a:r>
            <a:r>
              <a:rPr lang="zh-CN" altLang="en-US" sz="1600" dirty="0" smtClean="0">
                <a:cs typeface="宋体"/>
              </a:rPr>
              <a:t>：设置日期</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setFullYear</a:t>
            </a:r>
            <a:r>
              <a:rPr lang="en-US" altLang="zh-CN" sz="1600" dirty="0" smtClean="0">
                <a:cs typeface="宋体"/>
              </a:rPr>
              <a:t>()</a:t>
            </a:r>
            <a:r>
              <a:rPr lang="zh-CN" altLang="en-US" sz="1600" dirty="0" smtClean="0">
                <a:cs typeface="宋体"/>
              </a:rPr>
              <a:t>：设置年份（四位数字）</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setMonth</a:t>
            </a:r>
            <a:r>
              <a:rPr lang="en-US" altLang="zh-CN" sz="1600" dirty="0" smtClean="0">
                <a:cs typeface="宋体"/>
              </a:rPr>
              <a:t>()</a:t>
            </a:r>
            <a:r>
              <a:rPr lang="zh-CN" altLang="en-US" sz="1600" dirty="0" smtClean="0">
                <a:cs typeface="宋体"/>
              </a:rPr>
              <a:t>：设置月（</a:t>
            </a:r>
            <a:r>
              <a:rPr lang="en-US" altLang="zh-CN" sz="1600" dirty="0" smtClean="0">
                <a:cs typeface="宋体"/>
              </a:rPr>
              <a:t>0-11</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setHours</a:t>
            </a:r>
            <a:r>
              <a:rPr lang="en-US" altLang="zh-CN" sz="1600" dirty="0" smtClean="0">
                <a:cs typeface="宋体"/>
              </a:rPr>
              <a:t>()</a:t>
            </a:r>
            <a:r>
              <a:rPr lang="zh-CN" altLang="en-US" sz="1600" dirty="0" smtClean="0">
                <a:cs typeface="宋体"/>
              </a:rPr>
              <a:t>：设置小时（</a:t>
            </a:r>
            <a:r>
              <a:rPr lang="en-US" altLang="zh-CN" sz="1600" dirty="0" smtClean="0">
                <a:cs typeface="宋体"/>
              </a:rPr>
              <a:t>0-23</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setMinutes</a:t>
            </a:r>
            <a:r>
              <a:rPr lang="en-US" altLang="zh-CN" sz="1600" dirty="0" smtClean="0">
                <a:cs typeface="宋体"/>
              </a:rPr>
              <a:t>()</a:t>
            </a:r>
            <a:r>
              <a:rPr lang="zh-CN" altLang="en-US" sz="1600" dirty="0">
                <a:cs typeface="宋体"/>
              </a:rPr>
              <a:t>：设置</a:t>
            </a:r>
            <a:r>
              <a:rPr lang="zh-CN" altLang="en-US" sz="1600" dirty="0" smtClean="0">
                <a:cs typeface="宋体"/>
              </a:rPr>
              <a:t>分（</a:t>
            </a:r>
            <a:r>
              <a:rPr lang="en-US" altLang="zh-CN" sz="1600" dirty="0" smtClean="0">
                <a:cs typeface="宋体"/>
              </a:rPr>
              <a:t>0-59</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setSeconds</a:t>
            </a:r>
            <a:r>
              <a:rPr lang="en-US" altLang="zh-CN" sz="1600" dirty="0" smtClean="0">
                <a:cs typeface="宋体"/>
              </a:rPr>
              <a:t>()</a:t>
            </a:r>
            <a:r>
              <a:rPr lang="zh-CN" altLang="en-US" sz="1600" dirty="0" smtClean="0">
                <a:cs typeface="宋体"/>
              </a:rPr>
              <a:t>：</a:t>
            </a:r>
            <a:r>
              <a:rPr lang="zh-CN" altLang="en-US" sz="1600" dirty="0">
                <a:cs typeface="宋体"/>
              </a:rPr>
              <a:t>设置</a:t>
            </a:r>
            <a:r>
              <a:rPr lang="zh-CN" altLang="en-US" sz="1600" dirty="0" smtClean="0">
                <a:cs typeface="宋体"/>
              </a:rPr>
              <a:t>秒（</a:t>
            </a:r>
            <a:r>
              <a:rPr lang="en-US" altLang="zh-CN" sz="1600" dirty="0" smtClean="0">
                <a:cs typeface="宋体"/>
              </a:rPr>
              <a:t>0-59</a:t>
            </a:r>
            <a:r>
              <a:rPr lang="zh-CN" altLang="en-US" sz="1600" dirty="0" smtClean="0">
                <a:cs typeface="宋体"/>
              </a:rPr>
              <a:t>）</a:t>
            </a:r>
            <a:endParaRPr lang="en-US" altLang="zh-CN" sz="1600" dirty="0" smtClean="0">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toString</a:t>
            </a:r>
            <a:r>
              <a:rPr lang="en-US" altLang="zh-CN" sz="1600" dirty="0" smtClean="0">
                <a:cs typeface="宋体"/>
              </a:rPr>
              <a:t>()</a:t>
            </a:r>
            <a:r>
              <a:rPr lang="zh-CN" altLang="en-US" sz="1600" dirty="0" smtClean="0">
                <a:cs typeface="宋体"/>
              </a:rPr>
              <a:t>：</a:t>
            </a:r>
            <a:r>
              <a:rPr lang="en-US" altLang="zh-CN" sz="1600" dirty="0" smtClean="0">
                <a:cs typeface="宋体"/>
              </a:rPr>
              <a:t>Date</a:t>
            </a:r>
            <a:r>
              <a:rPr lang="zh-CN" altLang="en-US" sz="1600" dirty="0" smtClean="0">
                <a:cs typeface="宋体"/>
              </a:rPr>
              <a:t>对象转换为字符串</a:t>
            </a:r>
            <a:endParaRPr lang="en-US" altLang="zh-CN" sz="1600" dirty="0" smtClean="0">
              <a:cs typeface="宋体"/>
            </a:endParaRPr>
          </a:p>
        </p:txBody>
      </p:sp>
      <p:sp>
        <p:nvSpPr>
          <p:cNvPr id="18" name="矩形 17"/>
          <p:cNvSpPr/>
          <p:nvPr/>
        </p:nvSpPr>
        <p:spPr>
          <a:xfrm>
            <a:off x="789838" y="5385795"/>
            <a:ext cx="4572085" cy="400110"/>
          </a:xfrm>
          <a:prstGeom prst="rect">
            <a:avLst/>
          </a:prstGeom>
        </p:spPr>
        <p:txBody>
          <a:bodyPr wrap="none">
            <a:spAutoFit/>
          </a:bodyPr>
          <a:lstStyle/>
          <a:p>
            <a:r>
              <a:rPr lang="zh-CN" altLang="en-US" sz="2000" b="1" dirty="0" smtClean="0"/>
              <a:t>例如，输出当年系统时间的英文月份：</a:t>
            </a:r>
            <a:endParaRPr lang="zh-CN" altLang="en-US" sz="2000" b="1" dirty="0"/>
          </a:p>
        </p:txBody>
      </p:sp>
      <p:pic>
        <p:nvPicPr>
          <p:cNvPr id="2" name="图片 1"/>
          <p:cNvPicPr>
            <a:picLocks noChangeAspect="1"/>
          </p:cNvPicPr>
          <p:nvPr/>
        </p:nvPicPr>
        <p:blipFill>
          <a:blip r:embed="rId1"/>
          <a:stretch>
            <a:fillRect/>
          </a:stretch>
        </p:blipFill>
        <p:spPr>
          <a:xfrm>
            <a:off x="5327093" y="5257800"/>
            <a:ext cx="6662737" cy="1246733"/>
          </a:xfrm>
          <a:prstGeom prst="rect">
            <a:avLst/>
          </a:prstGeom>
        </p:spPr>
      </p:pic>
      <p:sp>
        <p:nvSpPr>
          <p:cNvPr id="3" name="灯片编号占位符 2"/>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12323" y="1116259"/>
            <a:ext cx="1965325" cy="398780"/>
          </a:xfrm>
          <a:prstGeom prst="rect">
            <a:avLst/>
          </a:prstGeom>
        </p:spPr>
        <p:txBody>
          <a:bodyPr wrap="none">
            <a:spAutoFit/>
          </a:bodyPr>
          <a:lstStyle/>
          <a:p>
            <a:r>
              <a:rPr lang="zh-CN" altLang="en-US" sz="2000" b="1" dirty="0" smtClean="0"/>
              <a:t>格式化日期</a:t>
            </a:r>
            <a:r>
              <a:rPr lang="zh-CN" altLang="en-US" sz="2000" b="1" dirty="0" smtClean="0"/>
              <a:t>函数</a:t>
            </a:r>
            <a:endParaRPr lang="zh-CN" altLang="en-US" sz="2000" b="1" dirty="0" smtClean="0"/>
          </a:p>
        </p:txBody>
      </p:sp>
      <p:sp>
        <p:nvSpPr>
          <p:cNvPr id="3" name="灯片编号占位符 2"/>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pic>
        <p:nvPicPr>
          <p:cNvPr id="4" name="图片 3"/>
          <p:cNvPicPr>
            <a:picLocks noChangeAspect="1"/>
          </p:cNvPicPr>
          <p:nvPr>
            <p:custDataLst>
              <p:tags r:id="rId1"/>
            </p:custDataLst>
          </p:nvPr>
        </p:nvPicPr>
        <p:blipFill>
          <a:blip r:embed="rId2"/>
          <a:stretch>
            <a:fillRect/>
          </a:stretch>
        </p:blipFill>
        <p:spPr>
          <a:xfrm>
            <a:off x="609600" y="1814195"/>
            <a:ext cx="7769860" cy="4688205"/>
          </a:xfrm>
          <a:prstGeom prst="rect">
            <a:avLst/>
          </a:prstGeom>
        </p:spPr>
      </p:pic>
      <p:sp>
        <p:nvSpPr>
          <p:cNvPr id="5" name="文本框 4"/>
          <p:cNvSpPr txBox="1"/>
          <p:nvPr/>
        </p:nvSpPr>
        <p:spPr>
          <a:xfrm>
            <a:off x="8458200" y="2962910"/>
            <a:ext cx="2919095" cy="3415030"/>
          </a:xfrm>
          <a:prstGeom prst="rect">
            <a:avLst/>
          </a:prstGeom>
          <a:noFill/>
        </p:spPr>
        <p:txBody>
          <a:bodyPr wrap="square" rtlCol="0" anchor="t">
            <a:spAutoFit/>
          </a:bodyPr>
          <a:p>
            <a:pPr>
              <a:lnSpc>
                <a:spcPct val="150000"/>
              </a:lnSpc>
            </a:pPr>
            <a:r>
              <a:rPr lang="zh-CN" altLang="en-US"/>
              <a:t>padStart 是 JavaScript 中字符串对象的一个方法，用于在当前字符串的开头填充指定的字符，直到达到指定的长度。如果当前字符串的长度已经大于或等于指定的长度，则返回原字符串。</a:t>
            </a:r>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4"/>
          <p:cNvSpPr txBox="1"/>
          <p:nvPr/>
        </p:nvSpPr>
        <p:spPr>
          <a:xfrm>
            <a:off x="895761" y="1752600"/>
            <a:ext cx="11143839" cy="4585230"/>
          </a:xfrm>
          <a:prstGeom prst="rect">
            <a:avLst/>
          </a:prstGeom>
        </p:spPr>
        <p:txBody>
          <a:bodyPr vert="horz" wrap="square" lIns="0" tIns="12065" rIns="0" bIns="0" rtlCol="0">
            <a:spAutoFit/>
          </a:bodyPr>
          <a:lstStyle/>
          <a:p>
            <a:pPr marL="12700">
              <a:lnSpc>
                <a:spcPct val="150000"/>
              </a:lnSpc>
              <a:spcBef>
                <a:spcPts val="95"/>
              </a:spcBef>
              <a:buClr>
                <a:srgbClr val="404040"/>
              </a:buClr>
              <a:buSzPct val="84000"/>
              <a:tabLst>
                <a:tab pos="372110" algn="l"/>
                <a:tab pos="372745" algn="l"/>
              </a:tabLst>
            </a:pPr>
            <a:r>
              <a:rPr lang="en-US" altLang="zh-CN" sz="1600" dirty="0" smtClean="0">
                <a:latin typeface="+mj-lt"/>
                <a:cs typeface="宋体"/>
              </a:rPr>
              <a:t>String</a:t>
            </a:r>
            <a:r>
              <a:rPr lang="zh-CN" altLang="en-US" sz="1600" dirty="0" smtClean="0">
                <a:latin typeface="+mj-lt"/>
                <a:cs typeface="宋体"/>
              </a:rPr>
              <a:t>对象用于保存和处理字符串，可以通过</a:t>
            </a:r>
            <a:r>
              <a:rPr lang="en-US" altLang="zh-CN" sz="1600" dirty="0" smtClean="0">
                <a:latin typeface="+mj-lt"/>
                <a:cs typeface="宋体"/>
              </a:rPr>
              <a:t>new String</a:t>
            </a:r>
            <a:r>
              <a:rPr lang="zh-CN" altLang="en-US" sz="1600" dirty="0" smtClean="0">
                <a:latin typeface="+mj-lt"/>
                <a:cs typeface="宋体"/>
              </a:rPr>
              <a:t>创建字符串对象。</a:t>
            </a:r>
            <a:endParaRPr lang="en-US" sz="1600" dirty="0">
              <a:latin typeface="+mj-lt"/>
              <a:cs typeface="宋体"/>
            </a:endParaRPr>
          </a:p>
          <a:p>
            <a:pPr marL="12700">
              <a:lnSpc>
                <a:spcPct val="150000"/>
              </a:lnSpc>
              <a:spcBef>
                <a:spcPts val="95"/>
              </a:spcBef>
              <a:buClr>
                <a:srgbClr val="404040"/>
              </a:buClr>
              <a:buSzPct val="84000"/>
              <a:tabLst>
                <a:tab pos="372110" algn="l"/>
                <a:tab pos="372745" algn="l"/>
              </a:tabLst>
            </a:pPr>
            <a:endParaRPr lang="en-US" altLang="zh-CN" sz="1600" dirty="0" smtClean="0">
              <a:latin typeface="+mj-lt"/>
              <a:cs typeface="宋体"/>
            </a:endParaRPr>
          </a:p>
          <a:p>
            <a:pPr marL="12700">
              <a:lnSpc>
                <a:spcPct val="150000"/>
              </a:lnSpc>
              <a:spcBef>
                <a:spcPts val="95"/>
              </a:spcBef>
              <a:buClr>
                <a:srgbClr val="404040"/>
              </a:buClr>
              <a:buSzPct val="84000"/>
              <a:tabLst>
                <a:tab pos="372110" algn="l"/>
                <a:tab pos="372745" algn="l"/>
              </a:tabLst>
            </a:pPr>
            <a:endParaRPr lang="en-US" altLang="zh-CN" sz="1600" dirty="0" smtClean="0">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b="1" dirty="0" smtClean="0">
                <a:solidFill>
                  <a:srgbClr val="C00000"/>
                </a:solidFill>
                <a:latin typeface="+mj-lt"/>
                <a:cs typeface="宋体"/>
              </a:rPr>
              <a:t>String</a:t>
            </a:r>
            <a:r>
              <a:rPr lang="zh-CN" altLang="en-US" sz="1600" b="1" dirty="0" smtClean="0">
                <a:solidFill>
                  <a:srgbClr val="C00000"/>
                </a:solidFill>
                <a:latin typeface="+mj-lt"/>
                <a:cs typeface="宋体"/>
              </a:rPr>
              <a:t>对象常用成员：</a:t>
            </a:r>
            <a:endParaRPr lang="en-US" altLang="zh-CN" sz="1600" b="1" dirty="0" smtClean="0">
              <a:solidFill>
                <a:srgbClr val="C0000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a:latin typeface="+mj-lt"/>
                <a:cs typeface="宋体"/>
              </a:rPr>
              <a:t>l</a:t>
            </a:r>
            <a:r>
              <a:rPr lang="en-US" altLang="zh-CN" sz="1600" dirty="0" smtClean="0">
                <a:latin typeface="+mj-lt"/>
                <a:cs typeface="宋体"/>
              </a:rPr>
              <a:t>ength</a:t>
            </a:r>
            <a:r>
              <a:rPr lang="zh-CN" altLang="en-US" sz="1600" dirty="0" smtClean="0">
                <a:latin typeface="+mj-lt"/>
                <a:cs typeface="宋体"/>
              </a:rPr>
              <a:t>：</a:t>
            </a:r>
            <a:r>
              <a:rPr lang="en-US" altLang="zh-CN" sz="1600" dirty="0" smtClean="0">
                <a:latin typeface="+mj-lt"/>
                <a:cs typeface="宋体"/>
              </a:rPr>
              <a:t> </a:t>
            </a:r>
            <a:r>
              <a:rPr lang="zh-CN" altLang="en-US" sz="1600" dirty="0" smtClean="0">
                <a:latin typeface="+mj-lt"/>
                <a:cs typeface="宋体"/>
              </a:rPr>
              <a:t>字符串长度；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str.length</a:t>
            </a:r>
            <a:r>
              <a:rPr lang="en-US" altLang="zh-CN" sz="1600" b="1" dirty="0" smtClean="0">
                <a:solidFill>
                  <a:srgbClr val="00B050"/>
                </a:solidFill>
                <a:latin typeface="+mj-lt"/>
                <a:cs typeface="宋体"/>
              </a:rPr>
              <a:t>-&gt; 10</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latin typeface="+mj-lt"/>
                <a:cs typeface="宋体"/>
              </a:rPr>
              <a:t>indexOf</a:t>
            </a:r>
            <a:r>
              <a:rPr lang="en-US" altLang="zh-CN" sz="1600" dirty="0" smtClean="0">
                <a:latin typeface="+mj-lt"/>
                <a:cs typeface="宋体"/>
              </a:rPr>
              <a:t>()</a:t>
            </a:r>
            <a:r>
              <a:rPr lang="zh-CN" altLang="en-US" sz="1600" dirty="0" smtClean="0">
                <a:latin typeface="+mj-lt"/>
                <a:cs typeface="宋体"/>
              </a:rPr>
              <a:t>：检索元素首次出现的位置，检索不到返回</a:t>
            </a:r>
            <a:r>
              <a:rPr lang="en-US" altLang="zh-CN" sz="1600" dirty="0" smtClean="0">
                <a:latin typeface="+mj-lt"/>
                <a:cs typeface="宋体"/>
              </a:rPr>
              <a:t>-1</a:t>
            </a:r>
            <a:r>
              <a:rPr lang="zh-CN" altLang="en-US" sz="1600" dirty="0" smtClean="0">
                <a:latin typeface="+mj-lt"/>
                <a:cs typeface="宋体"/>
              </a:rPr>
              <a:t>；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str.indexOf</a:t>
            </a:r>
            <a:r>
              <a:rPr lang="en-US" altLang="zh-CN" sz="1600" b="1" dirty="0" smtClean="0">
                <a:solidFill>
                  <a:srgbClr val="00B050"/>
                </a:solidFill>
                <a:latin typeface="+mj-lt"/>
                <a:cs typeface="宋体"/>
              </a:rPr>
              <a:t>(‘</a:t>
            </a:r>
            <a:r>
              <a:rPr lang="zh-CN" altLang="en-US" sz="1600" b="1" dirty="0">
                <a:solidFill>
                  <a:srgbClr val="00B050"/>
                </a:solidFill>
                <a:latin typeface="+mj-lt"/>
                <a:cs typeface="宋体"/>
              </a:rPr>
              <a:t>对象</a:t>
            </a:r>
            <a:r>
              <a:rPr lang="en-US" altLang="zh-CN" sz="1600" b="1" dirty="0" smtClean="0">
                <a:solidFill>
                  <a:srgbClr val="00B050"/>
                </a:solidFill>
                <a:latin typeface="+mj-lt"/>
                <a:cs typeface="宋体"/>
              </a:rPr>
              <a:t>’)-&gt; 2</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latin typeface="+mj-lt"/>
                <a:cs typeface="宋体"/>
              </a:rPr>
              <a:t>lastIndexOf</a:t>
            </a:r>
            <a:r>
              <a:rPr lang="en-US" altLang="zh-CN" sz="1600" dirty="0" smtClean="0">
                <a:latin typeface="+mj-lt"/>
                <a:cs typeface="宋体"/>
              </a:rPr>
              <a:t>():</a:t>
            </a:r>
            <a:r>
              <a:rPr lang="zh-CN" altLang="en-US" sz="1600" dirty="0" smtClean="0">
                <a:latin typeface="+mj-lt"/>
                <a:cs typeface="宋体"/>
              </a:rPr>
              <a:t>反向检索元素最后一次出现的位置；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str.lastIndexOf</a:t>
            </a:r>
            <a:r>
              <a:rPr lang="en-US" altLang="zh-CN" sz="1600" b="1" dirty="0" smtClean="0">
                <a:solidFill>
                  <a:srgbClr val="00B050"/>
                </a:solidFill>
                <a:latin typeface="+mj-lt"/>
                <a:cs typeface="宋体"/>
              </a:rPr>
              <a:t>(</a:t>
            </a:r>
            <a:r>
              <a:rPr lang="en-US" altLang="zh-CN" sz="1600" b="1" dirty="0">
                <a:solidFill>
                  <a:srgbClr val="00B050"/>
                </a:solidFill>
                <a:cs typeface="宋体"/>
              </a:rPr>
              <a:t>‘</a:t>
            </a:r>
            <a:r>
              <a:rPr lang="zh-CN" altLang="en-US" sz="1600" b="1" dirty="0">
                <a:solidFill>
                  <a:srgbClr val="00B050"/>
                </a:solidFill>
                <a:cs typeface="宋体"/>
              </a:rPr>
              <a:t>对象</a:t>
            </a:r>
            <a:r>
              <a:rPr lang="en-US" altLang="zh-CN" sz="1600" b="1" dirty="0" smtClean="0">
                <a:solidFill>
                  <a:srgbClr val="00B050"/>
                </a:solidFill>
                <a:cs typeface="宋体"/>
              </a:rPr>
              <a:t>’</a:t>
            </a:r>
            <a:r>
              <a:rPr lang="en-US" altLang="zh-CN" sz="1600" b="1" dirty="0" smtClean="0">
                <a:solidFill>
                  <a:srgbClr val="00B050"/>
                </a:solidFill>
                <a:latin typeface="+mj-lt"/>
                <a:cs typeface="宋体"/>
              </a:rPr>
              <a:t>)-&gt; 2</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latin typeface="+mj-lt"/>
                <a:cs typeface="宋体"/>
              </a:rPr>
              <a:t>charAt</a:t>
            </a:r>
            <a:r>
              <a:rPr lang="en-US" altLang="zh-CN" sz="1600" dirty="0" smtClean="0">
                <a:latin typeface="+mj-lt"/>
                <a:cs typeface="宋体"/>
              </a:rPr>
              <a:t>()</a:t>
            </a:r>
            <a:r>
              <a:rPr lang="zh-CN" altLang="en-US" sz="1600" dirty="0" smtClean="0">
                <a:latin typeface="+mj-lt"/>
                <a:cs typeface="宋体"/>
              </a:rPr>
              <a:t>：返回在指定位置的字符；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str.charAt</a:t>
            </a:r>
            <a:r>
              <a:rPr lang="en-US" altLang="zh-CN" sz="1600" b="1" dirty="0" smtClean="0">
                <a:solidFill>
                  <a:srgbClr val="00B050"/>
                </a:solidFill>
                <a:latin typeface="+mj-lt"/>
                <a:cs typeface="宋体"/>
              </a:rPr>
              <a:t>(2)-&gt; ”</a:t>
            </a:r>
            <a:r>
              <a:rPr lang="zh-CN" altLang="en-US" sz="1600" b="1" dirty="0" smtClean="0">
                <a:solidFill>
                  <a:srgbClr val="00B050"/>
                </a:solidFill>
                <a:latin typeface="+mj-lt"/>
                <a:cs typeface="宋体"/>
              </a:rPr>
              <a:t>对</a:t>
            </a:r>
            <a:r>
              <a:rPr lang="en-US" altLang="zh-CN" sz="1600" b="1" dirty="0" smtClean="0">
                <a:solidFill>
                  <a:srgbClr val="00B050"/>
                </a:solidFill>
                <a:latin typeface="+mj-lt"/>
                <a:cs typeface="宋体"/>
              </a:rPr>
              <a:t>”</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a:latin typeface="+mj-lt"/>
                <a:cs typeface="宋体"/>
              </a:rPr>
              <a:t>s</a:t>
            </a:r>
            <a:r>
              <a:rPr lang="en-US" altLang="zh-CN" sz="1600" dirty="0" err="1" smtClean="0">
                <a:latin typeface="+mj-lt"/>
                <a:cs typeface="宋体"/>
              </a:rPr>
              <a:t>ubstr</a:t>
            </a:r>
            <a:r>
              <a:rPr lang="en-US" altLang="zh-CN" sz="1600" dirty="0" smtClean="0">
                <a:latin typeface="+mj-lt"/>
                <a:cs typeface="宋体"/>
              </a:rPr>
              <a:t>()</a:t>
            </a:r>
            <a:r>
              <a:rPr lang="zh-CN" altLang="en-US" sz="1600" dirty="0" smtClean="0">
                <a:latin typeface="+mj-lt"/>
                <a:cs typeface="宋体"/>
              </a:rPr>
              <a:t>：提取子串，需给定起始位置、长度；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str.substr</a:t>
            </a:r>
            <a:r>
              <a:rPr lang="en-US" altLang="zh-CN" sz="1600" b="1" dirty="0" smtClean="0">
                <a:solidFill>
                  <a:srgbClr val="00B050"/>
                </a:solidFill>
                <a:latin typeface="+mj-lt"/>
                <a:cs typeface="宋体"/>
              </a:rPr>
              <a:t>(2,2)-&gt; ”</a:t>
            </a:r>
            <a:r>
              <a:rPr lang="zh-CN" altLang="en-US" sz="1600" b="1" dirty="0" smtClean="0">
                <a:solidFill>
                  <a:srgbClr val="00B050"/>
                </a:solidFill>
                <a:latin typeface="+mj-lt"/>
                <a:cs typeface="宋体"/>
              </a:rPr>
              <a:t>对象</a:t>
            </a:r>
            <a:r>
              <a:rPr lang="en-US" altLang="zh-CN" sz="1600" b="1" dirty="0" smtClean="0">
                <a:solidFill>
                  <a:srgbClr val="00B050"/>
                </a:solidFill>
                <a:latin typeface="+mj-lt"/>
                <a:cs typeface="宋体"/>
              </a:rPr>
              <a:t>”</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a:latin typeface="+mj-lt"/>
                <a:cs typeface="宋体"/>
              </a:rPr>
              <a:t>s</a:t>
            </a:r>
            <a:r>
              <a:rPr lang="en-US" altLang="zh-CN" sz="1600" dirty="0" smtClean="0">
                <a:latin typeface="+mj-lt"/>
                <a:cs typeface="宋体"/>
              </a:rPr>
              <a:t>ubstring()</a:t>
            </a:r>
            <a:r>
              <a:rPr lang="zh-CN" altLang="en-US" sz="1600" dirty="0" smtClean="0">
                <a:latin typeface="+mj-lt"/>
                <a:cs typeface="宋体"/>
              </a:rPr>
              <a:t>：提取子串，需给定起始位置、终止位置，自动比较位置值的大小，截取子串。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str.substring</a:t>
            </a:r>
            <a:r>
              <a:rPr lang="en-US" altLang="zh-CN" sz="1600" b="1" dirty="0" smtClean="0">
                <a:solidFill>
                  <a:srgbClr val="00B050"/>
                </a:solidFill>
                <a:latin typeface="+mj-lt"/>
                <a:cs typeface="宋体"/>
              </a:rPr>
              <a:t>(0,5)-&gt;”</a:t>
            </a:r>
            <a:r>
              <a:rPr lang="zh-CN" altLang="en-US" sz="1600" b="1" dirty="0" smtClean="0">
                <a:solidFill>
                  <a:srgbClr val="00B050"/>
                </a:solidFill>
                <a:latin typeface="+mj-lt"/>
                <a:cs typeface="宋体"/>
              </a:rPr>
              <a:t>内置对象</a:t>
            </a:r>
            <a:r>
              <a:rPr lang="en-US" altLang="zh-CN" sz="1600" b="1" dirty="0" smtClean="0">
                <a:solidFill>
                  <a:srgbClr val="00B050"/>
                </a:solidFill>
                <a:latin typeface="+mj-lt"/>
                <a:cs typeface="宋体"/>
              </a:rPr>
              <a:t>S”</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a:latin typeface="+mj-lt"/>
                <a:cs typeface="宋体"/>
              </a:rPr>
              <a:t>s</a:t>
            </a:r>
            <a:r>
              <a:rPr lang="en-US" altLang="zh-CN" sz="1600" dirty="0" smtClean="0">
                <a:latin typeface="+mj-lt"/>
                <a:cs typeface="宋体"/>
              </a:rPr>
              <a:t>lice()</a:t>
            </a:r>
            <a:r>
              <a:rPr lang="zh-CN" altLang="en-US" sz="1600" dirty="0" smtClean="0">
                <a:latin typeface="+mj-lt"/>
                <a:cs typeface="宋体"/>
              </a:rPr>
              <a:t>：</a:t>
            </a:r>
            <a:r>
              <a:rPr lang="zh-CN" altLang="en-US" sz="1600" dirty="0">
                <a:latin typeface="+mj-lt"/>
                <a:cs typeface="宋体"/>
              </a:rPr>
              <a:t>提取子串，需给定起始位置、终止位置</a:t>
            </a:r>
            <a:r>
              <a:rPr lang="zh-CN" altLang="en-US" sz="1600" dirty="0" smtClean="0">
                <a:latin typeface="+mj-lt"/>
                <a:cs typeface="宋体"/>
              </a:rPr>
              <a:t>，接受负数索引表示。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str.slice</a:t>
            </a:r>
            <a:r>
              <a:rPr lang="en-US" altLang="zh-CN" sz="1600" b="1" dirty="0" smtClean="0">
                <a:solidFill>
                  <a:srgbClr val="00B050"/>
                </a:solidFill>
                <a:latin typeface="+mj-lt"/>
                <a:cs typeface="宋体"/>
              </a:rPr>
              <a:t>(-4,-2)-&gt;”</a:t>
            </a:r>
            <a:r>
              <a:rPr lang="en-US" altLang="zh-CN" sz="1600" b="1" dirty="0" err="1" smtClean="0">
                <a:solidFill>
                  <a:srgbClr val="00B050"/>
                </a:solidFill>
                <a:latin typeface="+mj-lt"/>
                <a:cs typeface="宋体"/>
              </a:rPr>
              <a:t>ri</a:t>
            </a:r>
            <a:r>
              <a:rPr lang="en-US" altLang="zh-CN" sz="1600" b="1" dirty="0" smtClean="0">
                <a:solidFill>
                  <a:srgbClr val="00B050"/>
                </a:solidFill>
                <a:latin typeface="+mj-lt"/>
                <a:cs typeface="宋体"/>
              </a:rPr>
              <a:t>”</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a:latin typeface="+mj-lt"/>
                <a:cs typeface="宋体"/>
              </a:rPr>
              <a:t>r</a:t>
            </a:r>
            <a:r>
              <a:rPr lang="en-US" altLang="zh-CN" sz="1600" dirty="0" smtClean="0">
                <a:latin typeface="+mj-lt"/>
                <a:cs typeface="宋体"/>
              </a:rPr>
              <a:t>eplace()</a:t>
            </a:r>
            <a:r>
              <a:rPr lang="zh-CN" altLang="en-US" sz="1600" dirty="0" smtClean="0">
                <a:latin typeface="+mj-lt"/>
                <a:cs typeface="宋体"/>
              </a:rPr>
              <a:t>：替换子串。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str.replace</a:t>
            </a:r>
            <a:r>
              <a:rPr lang="en-US" altLang="zh-CN" sz="1600" b="1" dirty="0" smtClean="0">
                <a:solidFill>
                  <a:srgbClr val="00B050"/>
                </a:solidFill>
                <a:latin typeface="+mj-lt"/>
                <a:cs typeface="宋体"/>
              </a:rPr>
              <a:t>(“</a:t>
            </a:r>
            <a:r>
              <a:rPr lang="zh-CN" altLang="en-US" sz="1600" b="1" dirty="0" smtClean="0">
                <a:solidFill>
                  <a:srgbClr val="00B050"/>
                </a:solidFill>
                <a:latin typeface="+mj-lt"/>
                <a:cs typeface="宋体"/>
              </a:rPr>
              <a:t>内置</a:t>
            </a:r>
            <a:r>
              <a:rPr lang="en-US" altLang="zh-CN" sz="1600" b="1" dirty="0" smtClean="0">
                <a:solidFill>
                  <a:srgbClr val="00B050"/>
                </a:solidFill>
                <a:latin typeface="+mj-lt"/>
                <a:cs typeface="宋体"/>
              </a:rPr>
              <a:t>”,”JS”)-&gt;”JS</a:t>
            </a:r>
            <a:r>
              <a:rPr lang="zh-CN" altLang="en-US" sz="1600" b="1" dirty="0" smtClean="0">
                <a:solidFill>
                  <a:srgbClr val="00B050"/>
                </a:solidFill>
                <a:latin typeface="+mj-lt"/>
                <a:cs typeface="宋体"/>
              </a:rPr>
              <a:t>对象</a:t>
            </a:r>
            <a:r>
              <a:rPr lang="en-US" altLang="zh-CN" sz="1600" b="1" dirty="0" smtClean="0">
                <a:solidFill>
                  <a:srgbClr val="00B050"/>
                </a:solidFill>
                <a:latin typeface="+mj-lt"/>
                <a:cs typeface="宋体"/>
              </a:rPr>
              <a:t>String”</a:t>
            </a:r>
            <a:endParaRPr lang="en-US" altLang="zh-CN" sz="1600" b="1" dirty="0" smtClean="0">
              <a:solidFill>
                <a:srgbClr val="00B050"/>
              </a:solidFill>
              <a:latin typeface="+mj-lt"/>
              <a:cs typeface="宋体"/>
            </a:endParaRPr>
          </a:p>
        </p:txBody>
      </p:sp>
      <p:sp>
        <p:nvSpPr>
          <p:cNvPr id="9" name="矩形 8"/>
          <p:cNvSpPr/>
          <p:nvPr/>
        </p:nvSpPr>
        <p:spPr>
          <a:xfrm>
            <a:off x="812323" y="1116259"/>
            <a:ext cx="1712328" cy="400110"/>
          </a:xfrm>
          <a:prstGeom prst="rect">
            <a:avLst/>
          </a:prstGeom>
        </p:spPr>
        <p:txBody>
          <a:bodyPr wrap="none">
            <a:spAutoFit/>
          </a:bodyPr>
          <a:lstStyle/>
          <a:p>
            <a:r>
              <a:rPr lang="en-US" altLang="zh-CN" sz="2000" b="1" dirty="0" smtClean="0"/>
              <a:t>5</a:t>
            </a:r>
            <a:r>
              <a:rPr lang="zh-CN" altLang="en-US" sz="2000" b="1" dirty="0" smtClean="0"/>
              <a:t>、</a:t>
            </a:r>
            <a:r>
              <a:rPr lang="en-US" altLang="zh-CN" sz="2000" b="1" dirty="0" smtClean="0"/>
              <a:t>String</a:t>
            </a:r>
            <a:r>
              <a:rPr lang="zh-CN" altLang="en-US" sz="2000" b="1" dirty="0" smtClean="0"/>
              <a:t>对象</a:t>
            </a:r>
            <a:endParaRPr lang="zh-CN" altLang="en-US" sz="2000" b="1" dirty="0"/>
          </a:p>
        </p:txBody>
      </p:sp>
      <p:sp>
        <p:nvSpPr>
          <p:cNvPr id="2" name="矩形 1"/>
          <p:cNvSpPr/>
          <p:nvPr/>
        </p:nvSpPr>
        <p:spPr>
          <a:xfrm>
            <a:off x="895761" y="2297668"/>
            <a:ext cx="5243743" cy="369332"/>
          </a:xfrm>
          <a:prstGeom prst="rect">
            <a:avLst/>
          </a:prstGeom>
          <a:solidFill>
            <a:schemeClr val="tx1"/>
          </a:solidFill>
        </p:spPr>
        <p:txBody>
          <a:bodyPr wrap="none">
            <a:spAutoFit/>
          </a:bodyPr>
          <a:lstStyle/>
          <a:p>
            <a:r>
              <a:rPr lang="en-US" altLang="zh-CN" dirty="0">
                <a:solidFill>
                  <a:srgbClr val="C792EA"/>
                </a:solidFill>
                <a:latin typeface="Monaco" pitchFamily="49" charset="0"/>
              </a:rPr>
              <a:t>let</a:t>
            </a:r>
            <a:r>
              <a:rPr lang="en-US" altLang="zh-CN" dirty="0">
                <a:solidFill>
                  <a:srgbClr val="80CBC4"/>
                </a:solidFill>
                <a:latin typeface="Monaco" pitchFamily="49" charset="0"/>
              </a:rPr>
              <a:t> </a:t>
            </a:r>
            <a:r>
              <a:rPr lang="en-US" altLang="zh-CN" dirty="0" err="1">
                <a:solidFill>
                  <a:srgbClr val="FF5370"/>
                </a:solidFill>
                <a:latin typeface="Monaco" pitchFamily="49" charset="0"/>
              </a:rPr>
              <a:t>str</a:t>
            </a:r>
            <a:r>
              <a:rPr lang="en-US" altLang="zh-CN" dirty="0">
                <a:solidFill>
                  <a:srgbClr val="1290BF"/>
                </a:solidFill>
                <a:latin typeface="Monaco" pitchFamily="49" charset="0"/>
              </a:rPr>
              <a:t> </a:t>
            </a:r>
            <a:r>
              <a:rPr lang="en-US" altLang="zh-CN" dirty="0">
                <a:solidFill>
                  <a:srgbClr val="80CBC4"/>
                </a:solidFill>
                <a:latin typeface="Monaco" pitchFamily="49" charset="0"/>
              </a:rPr>
              <a:t>= new </a:t>
            </a:r>
            <a:r>
              <a:rPr lang="en-US" altLang="zh-CN" dirty="0">
                <a:solidFill>
                  <a:srgbClr val="89DDFF"/>
                </a:solidFill>
                <a:latin typeface="Monaco" pitchFamily="49" charset="0"/>
              </a:rPr>
              <a:t>String</a:t>
            </a:r>
            <a:r>
              <a:rPr lang="en-US" altLang="zh-CN" dirty="0">
                <a:solidFill>
                  <a:srgbClr val="80CBC4"/>
                </a:solidFill>
                <a:latin typeface="Monaco" pitchFamily="49" charset="0"/>
              </a:rPr>
              <a:t>(</a:t>
            </a:r>
            <a:r>
              <a:rPr lang="en-US" altLang="zh-CN" dirty="0">
                <a:solidFill>
                  <a:srgbClr val="D9F5DD"/>
                </a:solidFill>
                <a:latin typeface="Monaco" pitchFamily="49" charset="0"/>
              </a:rPr>
              <a:t>'</a:t>
            </a:r>
            <a:r>
              <a:rPr lang="zh-CN" altLang="en-US" dirty="0">
                <a:solidFill>
                  <a:srgbClr val="C3E88D"/>
                </a:solidFill>
                <a:latin typeface="Monaco" pitchFamily="49" charset="0"/>
              </a:rPr>
              <a:t>内置对象</a:t>
            </a:r>
            <a:r>
              <a:rPr lang="en-US" altLang="zh-CN" dirty="0">
                <a:solidFill>
                  <a:srgbClr val="C3E88D"/>
                </a:solidFill>
                <a:latin typeface="Monaco" pitchFamily="49" charset="0"/>
              </a:rPr>
              <a:t>String</a:t>
            </a:r>
            <a:r>
              <a:rPr lang="en-US" altLang="zh-CN" dirty="0">
                <a:solidFill>
                  <a:srgbClr val="D9F5DD"/>
                </a:solidFill>
                <a:latin typeface="Monaco" pitchFamily="49" charset="0"/>
              </a:rPr>
              <a:t>'</a:t>
            </a:r>
            <a:r>
              <a:rPr lang="en-US" altLang="zh-CN" dirty="0">
                <a:solidFill>
                  <a:srgbClr val="80CBC4"/>
                </a:solidFill>
                <a:latin typeface="Monaco" pitchFamily="49" charset="0"/>
              </a:rPr>
              <a:t>)</a:t>
            </a:r>
            <a:endParaRPr lang="en-US" altLang="zh-CN" b="0" dirty="0">
              <a:solidFill>
                <a:srgbClr val="CBCCC6"/>
              </a:solidFill>
              <a:effectLst/>
              <a:latin typeface="Monaco" pitchFamily="49" charset="0"/>
            </a:endParaRPr>
          </a:p>
        </p:txBody>
      </p:sp>
      <p:sp>
        <p:nvSpPr>
          <p:cNvPr id="3" name="灯片编号占位符 2"/>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矩形 6"/>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4"/>
          <p:cNvSpPr txBox="1"/>
          <p:nvPr/>
        </p:nvSpPr>
        <p:spPr>
          <a:xfrm>
            <a:off x="895761" y="1752600"/>
            <a:ext cx="11143839" cy="2674450"/>
          </a:xfrm>
          <a:prstGeom prst="rect">
            <a:avLst/>
          </a:prstGeom>
        </p:spPr>
        <p:txBody>
          <a:bodyPr vert="horz" wrap="square" lIns="0" tIns="12065" rIns="0" bIns="0" rtlCol="0">
            <a:spAutoFit/>
          </a:bodyPr>
          <a:lstStyle/>
          <a:p>
            <a:pPr marL="12700">
              <a:lnSpc>
                <a:spcPct val="150000"/>
              </a:lnSpc>
              <a:spcBef>
                <a:spcPts val="95"/>
              </a:spcBef>
              <a:buClr>
                <a:srgbClr val="404040"/>
              </a:buClr>
              <a:buSzPct val="84000"/>
              <a:tabLst>
                <a:tab pos="372110" algn="l"/>
                <a:tab pos="372745" algn="l"/>
              </a:tabLst>
            </a:pPr>
            <a:r>
              <a:rPr lang="en-US" altLang="zh-CN" sz="1600" b="1" dirty="0" smtClean="0">
                <a:solidFill>
                  <a:srgbClr val="C00000"/>
                </a:solidFill>
                <a:latin typeface="+mj-lt"/>
                <a:cs typeface="宋体"/>
              </a:rPr>
              <a:t>String</a:t>
            </a:r>
            <a:r>
              <a:rPr lang="zh-CN" altLang="en-US" sz="1600" b="1" dirty="0" smtClean="0">
                <a:solidFill>
                  <a:srgbClr val="C00000"/>
                </a:solidFill>
                <a:latin typeface="+mj-lt"/>
                <a:cs typeface="宋体"/>
              </a:rPr>
              <a:t>对象常用成员：</a:t>
            </a:r>
            <a:endParaRPr lang="en-US" altLang="zh-CN" sz="1600" b="1" dirty="0" smtClean="0">
              <a:solidFill>
                <a:srgbClr val="C0000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a:latin typeface="+mj-lt"/>
                <a:cs typeface="宋体"/>
              </a:rPr>
              <a:t>c</a:t>
            </a:r>
            <a:r>
              <a:rPr lang="en-US" altLang="zh-CN" sz="1600" dirty="0" err="1" smtClean="0">
                <a:latin typeface="+mj-lt"/>
                <a:cs typeface="宋体"/>
              </a:rPr>
              <a:t>oncat</a:t>
            </a:r>
            <a:r>
              <a:rPr lang="en-US" altLang="zh-CN" sz="1600" dirty="0" smtClean="0">
                <a:latin typeface="+mj-lt"/>
                <a:cs typeface="宋体"/>
              </a:rPr>
              <a:t>()</a:t>
            </a:r>
            <a:r>
              <a:rPr lang="zh-CN" altLang="en-US" sz="1600" dirty="0" smtClean="0">
                <a:latin typeface="+mj-lt"/>
                <a:cs typeface="宋体"/>
              </a:rPr>
              <a:t>：</a:t>
            </a:r>
            <a:r>
              <a:rPr lang="en-US" altLang="zh-CN" sz="1600" dirty="0" smtClean="0">
                <a:latin typeface="+mj-lt"/>
                <a:cs typeface="宋体"/>
              </a:rPr>
              <a:t> </a:t>
            </a:r>
            <a:r>
              <a:rPr lang="zh-CN" altLang="en-US" sz="1600" dirty="0" smtClean="0">
                <a:latin typeface="+mj-lt"/>
                <a:cs typeface="宋体"/>
              </a:rPr>
              <a:t>连接字符串；  </a:t>
            </a:r>
            <a:r>
              <a:rPr lang="en-US" altLang="zh-CN" sz="1600" b="1" dirty="0" smtClean="0">
                <a:solidFill>
                  <a:srgbClr val="00B050"/>
                </a:solidFill>
                <a:latin typeface="+mj-lt"/>
                <a:cs typeface="宋体"/>
              </a:rPr>
              <a:t>//</a:t>
            </a:r>
            <a:r>
              <a:rPr lang="en-US" altLang="zh-CN" sz="1600" b="1" dirty="0" err="1" smtClean="0">
                <a:solidFill>
                  <a:srgbClr val="00B050"/>
                </a:solidFill>
                <a:latin typeface="+mj-lt"/>
                <a:cs typeface="宋体"/>
              </a:rPr>
              <a:t>str.concat</a:t>
            </a:r>
            <a:r>
              <a:rPr lang="en-US" altLang="zh-CN" sz="1600" b="1" dirty="0" smtClean="0">
                <a:solidFill>
                  <a:srgbClr val="00B050"/>
                </a:solidFill>
                <a:latin typeface="+mj-lt"/>
                <a:cs typeface="宋体"/>
              </a:rPr>
              <a:t>(“123”)-&gt;</a:t>
            </a:r>
            <a:r>
              <a:rPr lang="en-US" altLang="zh-CN" sz="1600" b="1" dirty="0" smtClean="0">
                <a:solidFill>
                  <a:srgbClr val="00B050"/>
                </a:solidFill>
                <a:cs typeface="宋体"/>
              </a:rPr>
              <a:t>”</a:t>
            </a:r>
            <a:r>
              <a:rPr lang="zh-CN" altLang="en-US" sz="1600" b="1" dirty="0">
                <a:solidFill>
                  <a:srgbClr val="00B050"/>
                </a:solidFill>
                <a:cs typeface="宋体"/>
              </a:rPr>
              <a:t>内置</a:t>
            </a:r>
            <a:r>
              <a:rPr lang="zh-CN" altLang="en-US" sz="1600" b="1" dirty="0" smtClean="0">
                <a:solidFill>
                  <a:srgbClr val="00B050"/>
                </a:solidFill>
                <a:cs typeface="宋体"/>
              </a:rPr>
              <a:t>对象</a:t>
            </a:r>
            <a:r>
              <a:rPr lang="en-US" altLang="zh-CN" sz="1600" b="1" dirty="0" smtClean="0">
                <a:solidFill>
                  <a:srgbClr val="00B050"/>
                </a:solidFill>
                <a:cs typeface="宋体"/>
              </a:rPr>
              <a:t>String123”</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a:latin typeface="+mj-lt"/>
                <a:cs typeface="宋体"/>
              </a:rPr>
              <a:t>split</a:t>
            </a:r>
            <a:r>
              <a:rPr lang="en-US" altLang="zh-CN" sz="1600" dirty="0" smtClean="0">
                <a:latin typeface="+mj-lt"/>
                <a:cs typeface="宋体"/>
              </a:rPr>
              <a:t>()</a:t>
            </a:r>
            <a:r>
              <a:rPr lang="zh-CN" altLang="en-US" sz="1600" dirty="0" smtClean="0">
                <a:latin typeface="+mj-lt"/>
                <a:cs typeface="宋体"/>
              </a:rPr>
              <a:t>：将字符串分割为字符串数组；  </a:t>
            </a:r>
            <a:r>
              <a:rPr lang="en-US" altLang="zh-CN" sz="1600" b="1" dirty="0" smtClean="0">
                <a:solidFill>
                  <a:srgbClr val="00B050"/>
                </a:solidFill>
                <a:latin typeface="+mj-lt"/>
                <a:cs typeface="宋体"/>
              </a:rPr>
              <a:t>//let </a:t>
            </a:r>
            <a:r>
              <a:rPr lang="en-US" altLang="zh-CN" sz="1600" b="1" dirty="0" err="1" smtClean="0">
                <a:solidFill>
                  <a:srgbClr val="00B050"/>
                </a:solidFill>
                <a:latin typeface="+mj-lt"/>
                <a:cs typeface="宋体"/>
              </a:rPr>
              <a:t>str</a:t>
            </a:r>
            <a:r>
              <a:rPr lang="en-US" altLang="zh-CN" sz="1600" b="1" dirty="0" smtClean="0">
                <a:solidFill>
                  <a:srgbClr val="00B050"/>
                </a:solidFill>
                <a:latin typeface="+mj-lt"/>
                <a:cs typeface="宋体"/>
              </a:rPr>
              <a:t>=“web, JS, CSS”; </a:t>
            </a:r>
            <a:r>
              <a:rPr lang="en-US" altLang="zh-CN" sz="1600" b="1" dirty="0" err="1" smtClean="0">
                <a:solidFill>
                  <a:srgbClr val="00B050"/>
                </a:solidFill>
                <a:latin typeface="+mj-lt"/>
                <a:cs typeface="宋体"/>
              </a:rPr>
              <a:t>str.split</a:t>
            </a:r>
            <a:r>
              <a:rPr lang="en-US" altLang="zh-CN" sz="1600" b="1" dirty="0" smtClean="0">
                <a:solidFill>
                  <a:srgbClr val="00B050"/>
                </a:solidFill>
                <a:latin typeface="+mj-lt"/>
                <a:cs typeface="宋体"/>
              </a:rPr>
              <a:t>(‘,’) -&gt;[‘web’, ‘JS’, ‘CSS’]</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latin typeface="+mj-lt"/>
                <a:cs typeface="宋体"/>
              </a:rPr>
              <a:t>toLowerCase</a:t>
            </a:r>
            <a:r>
              <a:rPr lang="en-US" altLang="zh-CN" sz="1600" dirty="0" smtClean="0">
                <a:latin typeface="+mj-lt"/>
                <a:cs typeface="宋体"/>
              </a:rPr>
              <a:t>():</a:t>
            </a:r>
            <a:r>
              <a:rPr lang="zh-CN" altLang="en-US" sz="1600" dirty="0" smtClean="0">
                <a:latin typeface="+mj-lt"/>
                <a:cs typeface="宋体"/>
              </a:rPr>
              <a:t>将字符串转换为小写；  </a:t>
            </a:r>
            <a:endParaRPr lang="en-US" altLang="zh-CN" sz="1600" dirty="0" smtClean="0">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cs typeface="宋体"/>
              </a:rPr>
              <a:t>toUpperCase</a:t>
            </a:r>
            <a:r>
              <a:rPr lang="en-US" altLang="zh-CN" sz="1600" dirty="0">
                <a:cs typeface="宋体"/>
              </a:rPr>
              <a:t>():</a:t>
            </a:r>
            <a:r>
              <a:rPr lang="zh-CN" altLang="en-US" sz="1600" dirty="0">
                <a:cs typeface="宋体"/>
              </a:rPr>
              <a:t>将字符串转换</a:t>
            </a:r>
            <a:r>
              <a:rPr lang="zh-CN" altLang="en-US" sz="1600" dirty="0" smtClean="0">
                <a:cs typeface="宋体"/>
              </a:rPr>
              <a:t>为大写；</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smtClean="0">
                <a:latin typeface="+mj-lt"/>
                <a:cs typeface="宋体"/>
              </a:rPr>
              <a:t>toString</a:t>
            </a:r>
            <a:r>
              <a:rPr lang="en-US" altLang="zh-CN" sz="1600" dirty="0" smtClean="0">
                <a:latin typeface="+mj-lt"/>
                <a:cs typeface="宋体"/>
              </a:rPr>
              <a:t>()</a:t>
            </a:r>
            <a:r>
              <a:rPr lang="zh-CN" altLang="en-US" sz="1600" dirty="0" smtClean="0">
                <a:latin typeface="+mj-lt"/>
                <a:cs typeface="宋体"/>
              </a:rPr>
              <a:t>：返回字符串，</a:t>
            </a:r>
            <a:r>
              <a:rPr lang="en-US" altLang="zh-CN" sz="1600" dirty="0" smtClean="0">
                <a:latin typeface="+mj-lt"/>
                <a:cs typeface="宋体"/>
              </a:rPr>
              <a:t>Array</a:t>
            </a:r>
            <a:r>
              <a:rPr lang="zh-CN" altLang="en-US" sz="1600" dirty="0" smtClean="0">
                <a:latin typeface="+mj-lt"/>
                <a:cs typeface="宋体"/>
              </a:rPr>
              <a:t>、</a:t>
            </a:r>
            <a:r>
              <a:rPr lang="en-US" altLang="zh-CN" sz="1600" dirty="0" smtClean="0">
                <a:latin typeface="+mj-lt"/>
                <a:cs typeface="宋体"/>
              </a:rPr>
              <a:t>Number</a:t>
            </a:r>
            <a:r>
              <a:rPr lang="zh-CN" altLang="en-US" sz="1600" dirty="0" smtClean="0">
                <a:latin typeface="+mj-lt"/>
                <a:cs typeface="宋体"/>
              </a:rPr>
              <a:t>等都可以调用这个，将其转换为字符串；</a:t>
            </a:r>
            <a:endParaRPr lang="en-US" altLang="zh-CN" sz="1600" b="1" dirty="0" smtClean="0">
              <a:solidFill>
                <a:srgbClr val="00B050"/>
              </a:solidFill>
              <a:latin typeface="+mj-lt"/>
              <a:cs typeface="宋体"/>
            </a:endParaRPr>
          </a:p>
          <a:p>
            <a:pPr marL="12700">
              <a:lnSpc>
                <a:spcPct val="150000"/>
              </a:lnSpc>
              <a:spcBef>
                <a:spcPts val="95"/>
              </a:spcBef>
              <a:buClr>
                <a:srgbClr val="404040"/>
              </a:buClr>
              <a:buSzPct val="84000"/>
              <a:tabLst>
                <a:tab pos="372110" algn="l"/>
                <a:tab pos="372745" algn="l"/>
              </a:tabLst>
            </a:pPr>
            <a:r>
              <a:rPr lang="en-US" altLang="zh-CN" sz="1600" dirty="0" err="1">
                <a:latin typeface="+mj-lt"/>
                <a:cs typeface="宋体"/>
              </a:rPr>
              <a:t>valueOf</a:t>
            </a:r>
            <a:r>
              <a:rPr lang="en-US" altLang="zh-CN" sz="1600" dirty="0" smtClean="0">
                <a:latin typeface="+mj-lt"/>
                <a:cs typeface="宋体"/>
              </a:rPr>
              <a:t>(): </a:t>
            </a:r>
            <a:r>
              <a:rPr lang="zh-CN" altLang="en-US" sz="1600" dirty="0" smtClean="0">
                <a:latin typeface="+mj-lt"/>
                <a:cs typeface="宋体"/>
              </a:rPr>
              <a:t>返回某个字符串对象的原始值。</a:t>
            </a:r>
            <a:endParaRPr lang="en-US" altLang="zh-CN" sz="1600" dirty="0">
              <a:latin typeface="+mj-lt"/>
              <a:cs typeface="宋体"/>
            </a:endParaRPr>
          </a:p>
        </p:txBody>
      </p:sp>
      <p:sp>
        <p:nvSpPr>
          <p:cNvPr id="9" name="矩形 8"/>
          <p:cNvSpPr/>
          <p:nvPr/>
        </p:nvSpPr>
        <p:spPr>
          <a:xfrm>
            <a:off x="812323" y="1116259"/>
            <a:ext cx="1712328" cy="400110"/>
          </a:xfrm>
          <a:prstGeom prst="rect">
            <a:avLst/>
          </a:prstGeom>
        </p:spPr>
        <p:txBody>
          <a:bodyPr wrap="none">
            <a:spAutoFit/>
          </a:bodyPr>
          <a:lstStyle/>
          <a:p>
            <a:r>
              <a:rPr lang="en-US" altLang="zh-CN" sz="2000" b="1" dirty="0" smtClean="0"/>
              <a:t>5</a:t>
            </a:r>
            <a:r>
              <a:rPr lang="zh-CN" altLang="en-US" sz="2000" b="1" dirty="0" smtClean="0"/>
              <a:t>、</a:t>
            </a:r>
            <a:r>
              <a:rPr lang="en-US" altLang="zh-CN" sz="2000" b="1" dirty="0" smtClean="0"/>
              <a:t>String</a:t>
            </a:r>
            <a:r>
              <a:rPr lang="zh-CN" altLang="en-US" sz="2000" b="1" dirty="0" smtClean="0"/>
              <a:t>对象</a:t>
            </a:r>
            <a:endParaRPr lang="zh-CN" altLang="en-US" sz="2000" b="1" dirty="0"/>
          </a:p>
        </p:txBody>
      </p:sp>
      <p:sp>
        <p:nvSpPr>
          <p:cNvPr id="2" name="灯片编号占位符 1"/>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7" name="矩形 6"/>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7141" y="1199288"/>
            <a:ext cx="1001394" cy="376555"/>
          </a:xfrm>
          <a:custGeom>
            <a:avLst/>
            <a:gdLst/>
            <a:ahLst/>
            <a:cxnLst/>
            <a:rect l="l" t="t" r="r" b="b"/>
            <a:pathLst>
              <a:path w="1001394" h="376555">
                <a:moveTo>
                  <a:pt x="0" y="376427"/>
                </a:moveTo>
                <a:lnTo>
                  <a:pt x="1001268" y="376427"/>
                </a:lnTo>
                <a:lnTo>
                  <a:pt x="1001268" y="0"/>
                </a:lnTo>
                <a:lnTo>
                  <a:pt x="0" y="0"/>
                </a:lnTo>
                <a:lnTo>
                  <a:pt x="0" y="376427"/>
                </a:lnTo>
                <a:close/>
              </a:path>
            </a:pathLst>
          </a:custGeom>
          <a:ln w="12192">
            <a:solidFill>
              <a:srgbClr val="AC2B25"/>
            </a:solidFill>
          </a:ln>
        </p:spPr>
        <p:txBody>
          <a:bodyPr wrap="square" lIns="0" tIns="0" rIns="0" bIns="0" rtlCol="0"/>
          <a:lstStyle/>
          <a:p/>
        </p:txBody>
      </p:sp>
      <p:sp>
        <p:nvSpPr>
          <p:cNvPr id="3" name="object 3"/>
          <p:cNvSpPr/>
          <p:nvPr/>
        </p:nvSpPr>
        <p:spPr>
          <a:xfrm>
            <a:off x="783592" y="1148996"/>
            <a:ext cx="398145" cy="462280"/>
          </a:xfrm>
          <a:custGeom>
            <a:avLst/>
            <a:gdLst/>
            <a:ahLst/>
            <a:cxnLst/>
            <a:rect l="l" t="t" r="r" b="b"/>
            <a:pathLst>
              <a:path w="398144" h="462280">
                <a:moveTo>
                  <a:pt x="198882" y="0"/>
                </a:moveTo>
                <a:lnTo>
                  <a:pt x="0" y="99440"/>
                </a:lnTo>
                <a:lnTo>
                  <a:pt x="0" y="362330"/>
                </a:lnTo>
                <a:lnTo>
                  <a:pt x="198882" y="461771"/>
                </a:lnTo>
                <a:lnTo>
                  <a:pt x="397764" y="362330"/>
                </a:lnTo>
                <a:lnTo>
                  <a:pt x="397764" y="99440"/>
                </a:lnTo>
                <a:lnTo>
                  <a:pt x="198882" y="0"/>
                </a:lnTo>
                <a:close/>
              </a:path>
            </a:pathLst>
          </a:custGeom>
          <a:solidFill>
            <a:srgbClr val="AC2B25"/>
          </a:solidFill>
        </p:spPr>
        <p:txBody>
          <a:bodyPr wrap="square" lIns="0" tIns="0" rIns="0" bIns="0" rtlCol="0"/>
          <a:lstStyle/>
          <a:p/>
        </p:txBody>
      </p:sp>
      <p:sp>
        <p:nvSpPr>
          <p:cNvPr id="4" name="object 4"/>
          <p:cNvSpPr/>
          <p:nvPr/>
        </p:nvSpPr>
        <p:spPr>
          <a:xfrm>
            <a:off x="876557" y="1272440"/>
            <a:ext cx="202691" cy="201167"/>
          </a:xfrm>
          <a:prstGeom prst="rect">
            <a:avLst/>
          </a:prstGeom>
          <a:blipFill>
            <a:blip r:embed="rId1" cstate="print"/>
            <a:stretch>
              <a:fillRect/>
            </a:stretch>
          </a:blipFill>
        </p:spPr>
        <p:txBody>
          <a:bodyPr wrap="square" lIns="0" tIns="0" rIns="0" bIns="0" rtlCol="0"/>
          <a:lstStyle/>
          <a:p/>
        </p:txBody>
      </p:sp>
      <p:sp>
        <p:nvSpPr>
          <p:cNvPr id="5" name="object 5"/>
          <p:cNvSpPr txBox="1"/>
          <p:nvPr/>
        </p:nvSpPr>
        <p:spPr>
          <a:xfrm>
            <a:off x="1315849" y="1203353"/>
            <a:ext cx="525780" cy="330835"/>
          </a:xfrm>
          <a:prstGeom prst="rect">
            <a:avLst/>
          </a:prstGeom>
        </p:spPr>
        <p:txBody>
          <a:bodyPr vert="horz" wrap="square" lIns="0" tIns="13335" rIns="0" bIns="0" rtlCol="0">
            <a:spAutoFit/>
          </a:bodyPr>
          <a:lstStyle/>
          <a:p>
            <a:pPr marL="12700">
              <a:lnSpc>
                <a:spcPct val="100000"/>
              </a:lnSpc>
              <a:spcBef>
                <a:spcPts val="105"/>
              </a:spcBef>
            </a:pPr>
            <a:r>
              <a:rPr sz="2000" spc="-35" dirty="0">
                <a:solidFill>
                  <a:srgbClr val="AC2B25"/>
                </a:solidFill>
                <a:latin typeface="宋体"/>
                <a:cs typeface="宋体"/>
              </a:rPr>
              <a:t>案例</a:t>
            </a:r>
            <a:endParaRPr sz="2000">
              <a:latin typeface="宋体"/>
              <a:cs typeface="宋体"/>
            </a:endParaRPr>
          </a:p>
        </p:txBody>
      </p:sp>
      <p:sp>
        <p:nvSpPr>
          <p:cNvPr id="7" name="object 7"/>
          <p:cNvSpPr txBox="1"/>
          <p:nvPr/>
        </p:nvSpPr>
        <p:spPr>
          <a:xfrm>
            <a:off x="2274570" y="1054684"/>
            <a:ext cx="9460230" cy="1120820"/>
          </a:xfrm>
          <a:prstGeom prst="rect">
            <a:avLst/>
          </a:prstGeom>
        </p:spPr>
        <p:txBody>
          <a:bodyPr vert="horz" wrap="square" lIns="0" tIns="12700" rIns="0" bIns="0" rtlCol="0">
            <a:spAutoFit/>
          </a:bodyPr>
          <a:lstStyle/>
          <a:p>
            <a:pPr marL="12700">
              <a:lnSpc>
                <a:spcPct val="100000"/>
              </a:lnSpc>
              <a:spcBef>
                <a:spcPts val="100"/>
              </a:spcBef>
            </a:pPr>
            <a:r>
              <a:rPr lang="zh-CN" altLang="en-US" sz="2400" spc="-40" dirty="0" smtClean="0">
                <a:solidFill>
                  <a:srgbClr val="AC2B25"/>
                </a:solidFill>
                <a:latin typeface="宋体"/>
                <a:cs typeface="宋体"/>
              </a:rPr>
              <a:t>应用</a:t>
            </a:r>
            <a:r>
              <a:rPr lang="en-US" altLang="zh-CN" sz="2400" spc="-40" dirty="0" smtClean="0">
                <a:solidFill>
                  <a:srgbClr val="AC2B25"/>
                </a:solidFill>
                <a:latin typeface="宋体"/>
                <a:cs typeface="宋体"/>
              </a:rPr>
              <a:t>String</a:t>
            </a:r>
            <a:r>
              <a:rPr lang="zh-CN" altLang="en-US" sz="2400" spc="-40" dirty="0" smtClean="0">
                <a:solidFill>
                  <a:srgbClr val="AC2B25"/>
                </a:solidFill>
                <a:latin typeface="宋体"/>
                <a:cs typeface="宋体"/>
              </a:rPr>
              <a:t>对象的方法，对字符串中的字符进行计数，并输出计数最大的字符及其出现次数。例如，对于字符串‘</a:t>
            </a:r>
            <a:r>
              <a:rPr lang="en-US" altLang="zh-CN" sz="2400" spc="-40" dirty="0" smtClean="0">
                <a:solidFill>
                  <a:srgbClr val="AC2B25"/>
                </a:solidFill>
                <a:latin typeface="宋体"/>
                <a:cs typeface="宋体"/>
              </a:rPr>
              <a:t>Hello JS.</a:t>
            </a:r>
            <a:r>
              <a:rPr lang="zh-CN" altLang="en-US" sz="2400" spc="-40" dirty="0" smtClean="0">
                <a:solidFill>
                  <a:srgbClr val="AC2B25"/>
                </a:solidFill>
                <a:latin typeface="宋体"/>
                <a:cs typeface="宋体"/>
              </a:rPr>
              <a:t>’，输出结果为</a:t>
            </a:r>
            <a:r>
              <a:rPr lang="en-US" altLang="zh-CN" sz="2400" spc="-40" dirty="0" smtClean="0">
                <a:solidFill>
                  <a:srgbClr val="AC2B25"/>
                </a:solidFill>
                <a:latin typeface="宋体"/>
                <a:cs typeface="宋体"/>
              </a:rPr>
              <a:t>2</a:t>
            </a:r>
            <a:r>
              <a:rPr lang="zh-CN" altLang="en-US" sz="2400" spc="-40" dirty="0" smtClean="0">
                <a:solidFill>
                  <a:srgbClr val="AC2B25"/>
                </a:solidFill>
                <a:latin typeface="宋体"/>
                <a:cs typeface="宋体"/>
              </a:rPr>
              <a:t>和</a:t>
            </a:r>
            <a:r>
              <a:rPr lang="en-US" altLang="zh-CN" sz="2400" i="1" spc="-40" dirty="0" smtClean="0">
                <a:solidFill>
                  <a:srgbClr val="AC2B25"/>
                </a:solidFill>
                <a:latin typeface="宋体"/>
                <a:cs typeface="宋体"/>
              </a:rPr>
              <a:t>l</a:t>
            </a:r>
            <a:r>
              <a:rPr lang="zh-CN" altLang="en-US" sz="2400" spc="-40" dirty="0" smtClean="0">
                <a:solidFill>
                  <a:srgbClr val="AC2B25"/>
                </a:solidFill>
                <a:latin typeface="宋体"/>
                <a:cs typeface="宋体"/>
              </a:rPr>
              <a:t>（字母</a:t>
            </a:r>
            <a:r>
              <a:rPr lang="en-US" altLang="zh-CN" sz="2400" i="1" spc="-40" dirty="0" smtClean="0">
                <a:solidFill>
                  <a:srgbClr val="AC2B25"/>
                </a:solidFill>
                <a:latin typeface="宋体"/>
                <a:cs typeface="宋体"/>
              </a:rPr>
              <a:t>l</a:t>
            </a:r>
            <a:r>
              <a:rPr lang="zh-CN" altLang="en-US" sz="2400" spc="-40" dirty="0" smtClean="0">
                <a:solidFill>
                  <a:srgbClr val="AC2B25"/>
                </a:solidFill>
                <a:latin typeface="宋体"/>
                <a:cs typeface="宋体"/>
              </a:rPr>
              <a:t>）。</a:t>
            </a:r>
            <a:endParaRPr sz="2400" dirty="0">
              <a:latin typeface="宋体"/>
              <a:cs typeface="宋体"/>
            </a:endParaRPr>
          </a:p>
        </p:txBody>
      </p:sp>
      <p:pic>
        <p:nvPicPr>
          <p:cNvPr id="8" name="图片 7"/>
          <p:cNvPicPr>
            <a:picLocks noChangeAspect="1"/>
          </p:cNvPicPr>
          <p:nvPr/>
        </p:nvPicPr>
        <p:blipFill>
          <a:blip r:embed="rId2"/>
          <a:stretch>
            <a:fillRect/>
          </a:stretch>
        </p:blipFill>
        <p:spPr>
          <a:xfrm>
            <a:off x="5029200" y="1828800"/>
            <a:ext cx="2945765" cy="4990465"/>
          </a:xfrm>
          <a:prstGeom prst="rect">
            <a:avLst/>
          </a:prstGeom>
        </p:spPr>
      </p:pic>
      <p:sp>
        <p:nvSpPr>
          <p:cNvPr id="9" name="灯片编号占位符 8"/>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
        <p:nvSpPr>
          <p:cNvPr id="10" name="矩形 9"/>
          <p:cNvSpPr/>
          <p:nvPr/>
        </p:nvSpPr>
        <p:spPr>
          <a:xfrm>
            <a:off x="827938" y="304800"/>
            <a:ext cx="1826141" cy="584775"/>
          </a:xfrm>
          <a:prstGeom prst="rect">
            <a:avLst/>
          </a:prstGeom>
        </p:spPr>
        <p:txBody>
          <a:bodyPr wrap="none">
            <a:spAutoFit/>
          </a:bodyPr>
          <a:lstStyle/>
          <a:p>
            <a:pPr lvl="0"/>
            <a:r>
              <a:rPr lang="zh-CN" altLang="en-US" sz="3200" kern="0" dirty="0">
                <a:solidFill>
                  <a:sysClr val="windowText" lastClr="000000"/>
                </a:solidFill>
              </a:rPr>
              <a:t>内置</a:t>
            </a:r>
            <a:r>
              <a:rPr lang="zh-CN" altLang="en-US" sz="3200" kern="0" dirty="0" smtClean="0">
                <a:solidFill>
                  <a:sysClr val="windowText" lastClr="000000"/>
                </a:solidFill>
              </a:rPr>
              <a:t>对象</a:t>
            </a:r>
            <a:endParaRPr lang="zh-CN" altLang="en-US" sz="3200" kern="0" dirty="0">
              <a:solidFill>
                <a:sysClr val="windowText" lastClr="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914400" y="381000"/>
            <a:ext cx="1981200"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40" dirty="0" smtClean="0">
                <a:solidFill>
                  <a:srgbClr val="585858"/>
                </a:solidFill>
                <a:latin typeface="Microsoft JhengHei"/>
                <a:cs typeface="Microsoft JhengHei"/>
              </a:rPr>
              <a:t>总结</a:t>
            </a:r>
            <a:endParaRPr sz="3200" dirty="0">
              <a:latin typeface="Microsoft JhengHei"/>
              <a:cs typeface="Microsoft JhengHei"/>
            </a:endParaRPr>
          </a:p>
        </p:txBody>
      </p:sp>
      <p:sp>
        <p:nvSpPr>
          <p:cNvPr id="2" name="矩形 1"/>
          <p:cNvSpPr/>
          <p:nvPr/>
        </p:nvSpPr>
        <p:spPr>
          <a:xfrm>
            <a:off x="789838" y="1371600"/>
            <a:ext cx="11021162" cy="4247317"/>
          </a:xfrm>
          <a:prstGeom prst="rect">
            <a:avLst/>
          </a:prstGeom>
        </p:spPr>
        <p:txBody>
          <a:bodyPr wrap="square">
            <a:spAutoFit/>
          </a:bodyPr>
          <a:lstStyle/>
          <a:p>
            <a:pPr>
              <a:lnSpc>
                <a:spcPct val="150000"/>
              </a:lnSpc>
            </a:pPr>
            <a:r>
              <a:rPr lang="zh-CN" altLang="en-US" sz="2000" spc="-35" dirty="0" smtClean="0">
                <a:solidFill>
                  <a:srgbClr val="252525"/>
                </a:solidFill>
                <a:latin typeface="宋体"/>
                <a:cs typeface="宋体"/>
              </a:rPr>
              <a:t>对象包含属性和方法，分别表示事物的静态特征和动态特征。</a:t>
            </a:r>
            <a:r>
              <a:rPr lang="en-US" altLang="zh-CN" sz="2000" spc="-35" dirty="0" smtClean="0">
                <a:solidFill>
                  <a:srgbClr val="252525"/>
                </a:solidFill>
                <a:latin typeface="宋体"/>
                <a:cs typeface="宋体"/>
              </a:rPr>
              <a:t>JavaScript</a:t>
            </a:r>
            <a:r>
              <a:rPr lang="zh-CN" altLang="en-US" sz="2000" spc="-35" dirty="0" smtClean="0">
                <a:solidFill>
                  <a:srgbClr val="252525"/>
                </a:solidFill>
                <a:latin typeface="宋体"/>
                <a:cs typeface="宋体"/>
              </a:rPr>
              <a:t>支持自定义对象和使用系统预先定义好的标准内置对象。</a:t>
            </a:r>
            <a:endParaRPr lang="en-US" altLang="zh-CN" sz="2000" spc="-35" dirty="0" smtClean="0">
              <a:solidFill>
                <a:srgbClr val="252525"/>
              </a:solidFill>
              <a:latin typeface="宋体"/>
              <a:cs typeface="宋体"/>
            </a:endParaRPr>
          </a:p>
          <a:p>
            <a:pPr>
              <a:lnSpc>
                <a:spcPct val="150000"/>
              </a:lnSpc>
            </a:pPr>
            <a:endParaRPr lang="en-US" altLang="zh-CN" sz="2000" spc="-35" dirty="0">
              <a:solidFill>
                <a:srgbClr val="252525"/>
              </a:solidFill>
              <a:latin typeface="宋体"/>
            </a:endParaRPr>
          </a:p>
          <a:p>
            <a:pPr>
              <a:lnSpc>
                <a:spcPct val="150000"/>
              </a:lnSpc>
            </a:pPr>
            <a:r>
              <a:rPr lang="zh-CN" altLang="en-US" sz="2000" spc="-35" dirty="0" smtClean="0">
                <a:solidFill>
                  <a:srgbClr val="252525"/>
                </a:solidFill>
                <a:latin typeface="宋体"/>
              </a:rPr>
              <a:t>创建对象可以通过字面量、</a:t>
            </a:r>
            <a:r>
              <a:rPr lang="en-US" altLang="zh-CN" sz="2000" spc="-35" dirty="0" smtClean="0">
                <a:solidFill>
                  <a:srgbClr val="252525"/>
                </a:solidFill>
                <a:latin typeface="宋体"/>
              </a:rPr>
              <a:t>new Object()</a:t>
            </a:r>
            <a:r>
              <a:rPr lang="zh-CN" altLang="en-US" sz="2000" spc="-35" dirty="0" smtClean="0">
                <a:solidFill>
                  <a:srgbClr val="252525"/>
                </a:solidFill>
                <a:latin typeface="宋体"/>
              </a:rPr>
              <a:t>、构造函数或者原型的方式。简单对象应用可用字面量和</a:t>
            </a:r>
            <a:r>
              <a:rPr lang="en-US" altLang="zh-CN" sz="2000" spc="-35" dirty="0">
                <a:solidFill>
                  <a:srgbClr val="252525"/>
                </a:solidFill>
                <a:latin typeface="宋体"/>
              </a:rPr>
              <a:t>new Object</a:t>
            </a:r>
            <a:r>
              <a:rPr lang="en-US" altLang="zh-CN" sz="2000" spc="-35" dirty="0" smtClean="0">
                <a:solidFill>
                  <a:srgbClr val="252525"/>
                </a:solidFill>
                <a:latin typeface="宋体"/>
              </a:rPr>
              <a:t>()</a:t>
            </a:r>
            <a:r>
              <a:rPr lang="zh-CN" altLang="en-US" sz="2000" spc="-35" dirty="0" smtClean="0">
                <a:solidFill>
                  <a:srgbClr val="252525"/>
                </a:solidFill>
                <a:latin typeface="宋体"/>
              </a:rPr>
              <a:t>创建，但是创建多个对象时使用构造函数代码更加简洁，通过构造函数或原型创建对象将进一步降低内存消费。对象的属性和方法可以通过“</a:t>
            </a:r>
            <a:r>
              <a:rPr lang="en-US" altLang="zh-CN" sz="2000" spc="-35" dirty="0" smtClean="0">
                <a:solidFill>
                  <a:srgbClr val="252525"/>
                </a:solidFill>
                <a:latin typeface="宋体"/>
              </a:rPr>
              <a:t>.</a:t>
            </a:r>
            <a:r>
              <a:rPr lang="zh-CN" altLang="en-US" sz="2000" spc="-35" dirty="0" smtClean="0">
                <a:solidFill>
                  <a:srgbClr val="252525"/>
                </a:solidFill>
                <a:latin typeface="宋体"/>
              </a:rPr>
              <a:t>”进行引用并支持动态添加或删除。</a:t>
            </a:r>
            <a:endParaRPr lang="en-US" altLang="zh-CN" sz="2000" spc="-35" dirty="0" smtClean="0">
              <a:solidFill>
                <a:srgbClr val="252525"/>
              </a:solidFill>
              <a:latin typeface="宋体"/>
            </a:endParaRPr>
          </a:p>
          <a:p>
            <a:pPr>
              <a:lnSpc>
                <a:spcPct val="150000"/>
              </a:lnSpc>
            </a:pPr>
            <a:endParaRPr lang="en-US" altLang="zh-CN" sz="2000" spc="-35" dirty="0">
              <a:solidFill>
                <a:srgbClr val="252525"/>
              </a:solidFill>
              <a:latin typeface="宋体"/>
            </a:endParaRPr>
          </a:p>
          <a:p>
            <a:pPr>
              <a:lnSpc>
                <a:spcPct val="150000"/>
              </a:lnSpc>
            </a:pPr>
            <a:r>
              <a:rPr lang="zh-CN" altLang="en-US" sz="2000" spc="-35" dirty="0" smtClean="0">
                <a:solidFill>
                  <a:srgbClr val="252525"/>
                </a:solidFill>
                <a:latin typeface="宋体"/>
              </a:rPr>
              <a:t>除自定义对象外，</a:t>
            </a:r>
            <a:r>
              <a:rPr lang="en-US" altLang="zh-CN" sz="2000" spc="-35" dirty="0" smtClean="0">
                <a:solidFill>
                  <a:srgbClr val="252525"/>
                </a:solidFill>
                <a:latin typeface="宋体"/>
              </a:rPr>
              <a:t>JavaScript</a:t>
            </a:r>
            <a:r>
              <a:rPr lang="zh-CN" altLang="en-US" sz="2000" spc="-35" dirty="0" smtClean="0">
                <a:solidFill>
                  <a:srgbClr val="252525"/>
                </a:solidFill>
                <a:latin typeface="宋体"/>
              </a:rPr>
              <a:t>还提供</a:t>
            </a:r>
            <a:r>
              <a:rPr lang="en-US" altLang="zh-CN" sz="2000" spc="-35" dirty="0" smtClean="0">
                <a:solidFill>
                  <a:srgbClr val="252525"/>
                </a:solidFill>
                <a:latin typeface="宋体"/>
              </a:rPr>
              <a:t>Math</a:t>
            </a:r>
            <a:r>
              <a:rPr lang="zh-CN" altLang="en-US" sz="2000" spc="-35" dirty="0" smtClean="0">
                <a:solidFill>
                  <a:srgbClr val="252525"/>
                </a:solidFill>
                <a:latin typeface="宋体"/>
              </a:rPr>
              <a:t>对象用于数学运算，</a:t>
            </a:r>
            <a:r>
              <a:rPr lang="en-US" altLang="zh-CN" sz="2000" spc="-35" dirty="0" smtClean="0">
                <a:solidFill>
                  <a:srgbClr val="252525"/>
                </a:solidFill>
                <a:latin typeface="宋体"/>
              </a:rPr>
              <a:t>Date</a:t>
            </a:r>
            <a:r>
              <a:rPr lang="zh-CN" altLang="en-US" sz="2000" spc="-35" dirty="0" smtClean="0">
                <a:solidFill>
                  <a:srgbClr val="252525"/>
                </a:solidFill>
                <a:latin typeface="宋体"/>
              </a:rPr>
              <a:t>对象用于处理日期和时间，</a:t>
            </a:r>
            <a:r>
              <a:rPr lang="en-US" altLang="zh-CN" sz="2000" spc="-35" dirty="0" smtClean="0">
                <a:solidFill>
                  <a:srgbClr val="252525"/>
                </a:solidFill>
                <a:latin typeface="宋体"/>
              </a:rPr>
              <a:t>String</a:t>
            </a:r>
            <a:r>
              <a:rPr lang="zh-CN" altLang="en-US" sz="2000" spc="-35" dirty="0" smtClean="0">
                <a:solidFill>
                  <a:srgbClr val="252525"/>
                </a:solidFill>
                <a:latin typeface="宋体"/>
              </a:rPr>
              <a:t>对象用于处理字符串。</a:t>
            </a:r>
            <a:endParaRPr lang="zh-CN" altLang="en-US" sz="2000" dirty="0"/>
          </a:p>
        </p:txBody>
      </p:sp>
      <p:sp>
        <p:nvSpPr>
          <p:cNvPr id="3" name="灯片编号占位符 2"/>
          <p:cNvSpPr>
            <a:spLocks noGrp="1"/>
          </p:cNvSpPr>
          <p:nvPr>
            <p:ph type="sldNum" sz="quarter" idx="7"/>
          </p:nvPr>
        </p:nvSpPr>
        <p:spPr>
          <a:xfrm>
            <a:off x="8778240" y="6377940"/>
            <a:ext cx="2804160" cy="276999"/>
          </a:xfrm>
        </p:spPr>
        <p:txBody>
          <a:bodyPr/>
          <a:lstStyle/>
          <a:p>
            <a:fld id="{B6F15528-21DE-4FAA-801E-634DDDAF4B2B}" type="slidenum">
              <a:rPr lang="en-US" altLang="zh-CN" smtClean="0"/>
            </a:fld>
            <a:endParaRPr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6E747A"/>
      </a:dk2>
      <a:lt2>
        <a:srgbClr val="E7E6E6"/>
      </a:lt2>
      <a:accent1>
        <a:srgbClr val="5B9BD5"/>
      </a:accent1>
      <a:accent2>
        <a:srgbClr val="ED7D31"/>
      </a:accent2>
      <a:accent3>
        <a:srgbClr val="A5A5A5"/>
      </a:accent3>
      <a:accent4>
        <a:srgbClr val="FFC000"/>
      </a:accent4>
      <a:accent5>
        <a:srgbClr val="4472C4"/>
      </a:accent5>
      <a:accent6>
        <a:srgbClr val="70AD47"/>
      </a:accent6>
      <a:hlink>
        <a:srgbClr val="085296"/>
      </a:hlink>
      <a:folHlink>
        <a:srgbClr val="993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丝状</Template>
  <TotalTime>0</TotalTime>
  <Words>8710</Words>
  <Application>WPS 表格</Application>
  <PresentationFormat>宽屏</PresentationFormat>
  <Paragraphs>719</Paragraphs>
  <Slides>58</Slides>
  <Notes>1</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58</vt:i4>
      </vt:variant>
    </vt:vector>
  </HeadingPairs>
  <TitlesOfParts>
    <vt:vector size="83" baseType="lpstr">
      <vt:lpstr>Arial</vt:lpstr>
      <vt:lpstr>宋体</vt:lpstr>
      <vt:lpstr>Wingdings</vt:lpstr>
      <vt:lpstr>Microsoft JhengHei</vt:lpstr>
      <vt:lpstr>汉仪中简黑简</vt:lpstr>
      <vt:lpstr>Calibri</vt:lpstr>
      <vt:lpstr>宋体</vt:lpstr>
      <vt:lpstr>汉仪书宋二KW</vt:lpstr>
      <vt:lpstr>微软雅黑</vt:lpstr>
      <vt:lpstr>Helvetica Neue</vt:lpstr>
      <vt:lpstr>微软雅黑</vt:lpstr>
      <vt:lpstr>汉仪旗黑</vt:lpstr>
      <vt:lpstr>宋体</vt:lpstr>
      <vt:lpstr>Arial Unicode MS</vt:lpstr>
      <vt:lpstr>等线</vt:lpstr>
      <vt:lpstr>汉仪中等线KW</vt:lpstr>
      <vt:lpstr>Monaco</vt:lpstr>
      <vt:lpstr>Wingdings</vt:lpstr>
      <vt:lpstr>Inter</vt:lpstr>
      <vt:lpstr>Thonburi</vt:lpstr>
      <vt:lpstr>Times New Roman</vt:lpstr>
      <vt:lpstr>Consolas</vt:lpstr>
      <vt:lpstr>Calibri</vt:lpstr>
      <vt:lpstr>Office Theme</vt:lpstr>
      <vt:lpstr>Blank</vt:lpstr>
      <vt:lpstr>PowerPoint 演示文稿</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vt:lpstr>
      <vt:lpstr>函数总结</vt:lpstr>
      <vt:lpstr>PowerPoint 演示文稿</vt:lpstr>
      <vt:lpstr>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朱静雯</cp:lastModifiedBy>
  <cp:revision>105</cp:revision>
  <dcterms:created xsi:type="dcterms:W3CDTF">2024-11-11T07:41:46Z</dcterms:created>
  <dcterms:modified xsi:type="dcterms:W3CDTF">2024-11-11T07:41:46Z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2021-07-22T16:00:00Z</vt:filetime>
  </property>
  <property fmtid="{D5CDD505-2E9C-101B-9397-08002B2CF9AE}" pid="3" name="Creator">
    <vt:lpwstr>Microsoft® PowerPoint® 2016</vt:lpwstr>
  </property>
  <property fmtid="{D5CDD505-2E9C-101B-9397-08002B2CF9AE}" pid="4" name="LastSaved">
    <vt:filetime>2022-09-11T16:00:00Z</vt:filetime>
  </property>
  <property fmtid="{D5CDD505-2E9C-101B-9397-08002B2CF9AE}" pid="5" name="ICV">
    <vt:lpwstr>6B1136028C68624A0199216793C6A673_42</vt:lpwstr>
  </property>
  <property fmtid="{D5CDD505-2E9C-101B-9397-08002B2CF9AE}" pid="6" name="KSOProductBuildVer">
    <vt:lpwstr>2052-6.8.2.8850</vt:lpwstr>
  </property>
</Properties>
</file>