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5" r:id="rId1"/>
  </p:sldMasterIdLst>
  <p:notesMasterIdLst>
    <p:notesMasterId r:id="rId48"/>
  </p:notesMasterIdLst>
  <p:sldIdLst>
    <p:sldId id="427" r:id="rId2"/>
    <p:sldId id="428" r:id="rId3"/>
    <p:sldId id="429" r:id="rId4"/>
    <p:sldId id="430" r:id="rId5"/>
    <p:sldId id="431" r:id="rId6"/>
    <p:sldId id="432" r:id="rId7"/>
    <p:sldId id="433" r:id="rId8"/>
    <p:sldId id="434" r:id="rId9"/>
    <p:sldId id="435" r:id="rId10"/>
    <p:sldId id="436" r:id="rId11"/>
    <p:sldId id="437" r:id="rId12"/>
    <p:sldId id="438" r:id="rId13"/>
    <p:sldId id="439" r:id="rId14"/>
    <p:sldId id="440" r:id="rId15"/>
    <p:sldId id="494" r:id="rId16"/>
    <p:sldId id="441" r:id="rId17"/>
    <p:sldId id="443" r:id="rId18"/>
    <p:sldId id="445" r:id="rId19"/>
    <p:sldId id="448" r:id="rId20"/>
    <p:sldId id="450" r:id="rId21"/>
    <p:sldId id="454" r:id="rId22"/>
    <p:sldId id="455" r:id="rId23"/>
    <p:sldId id="457" r:id="rId24"/>
    <p:sldId id="459" r:id="rId25"/>
    <p:sldId id="461" r:id="rId26"/>
    <p:sldId id="462" r:id="rId27"/>
    <p:sldId id="465" r:id="rId28"/>
    <p:sldId id="467" r:id="rId29"/>
    <p:sldId id="468" r:id="rId30"/>
    <p:sldId id="480" r:id="rId31"/>
    <p:sldId id="470" r:id="rId32"/>
    <p:sldId id="493" r:id="rId33"/>
    <p:sldId id="472" r:id="rId34"/>
    <p:sldId id="474" r:id="rId35"/>
    <p:sldId id="477" r:id="rId36"/>
    <p:sldId id="478" r:id="rId37"/>
    <p:sldId id="481" r:id="rId38"/>
    <p:sldId id="482" r:id="rId39"/>
    <p:sldId id="483" r:id="rId40"/>
    <p:sldId id="484" r:id="rId41"/>
    <p:sldId id="485" r:id="rId42"/>
    <p:sldId id="487" r:id="rId43"/>
    <p:sldId id="489" r:id="rId44"/>
    <p:sldId id="490" r:id="rId45"/>
    <p:sldId id="491" r:id="rId46"/>
    <p:sldId id="492"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子果" initials="子果"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2F73"/>
    <a:srgbClr val="286F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94" autoAdjust="0"/>
    <p:restoredTop sz="96420" autoAdjust="0"/>
  </p:normalViewPr>
  <p:slideViewPr>
    <p:cSldViewPr snapToGrid="0">
      <p:cViewPr>
        <p:scale>
          <a:sx n="75" d="100"/>
          <a:sy n="75" d="100"/>
        </p:scale>
        <p:origin x="1536" y="90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BA5A4-48EA-4DF8-A5E4-571711B0CC9F}" type="datetimeFigureOut">
              <a:rPr lang="zh-CN" altLang="en-US" smtClean="0"/>
              <a:t>2024/3/19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302493-CBBD-4A3D-81C1-7AA6506AC4E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a:t>
            </a:fld>
            <a:endParaRPr lang="zh-CN" altLang="en-US"/>
          </a:p>
        </p:txBody>
      </p:sp>
    </p:spTree>
    <p:extLst>
      <p:ext uri="{BB962C8B-B14F-4D97-AF65-F5344CB8AC3E}">
        <p14:creationId xmlns:p14="http://schemas.microsoft.com/office/powerpoint/2010/main" val="720186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a:t>
            </a:fld>
            <a:endParaRPr lang="zh-CN" altLang="en-US"/>
          </a:p>
        </p:txBody>
      </p:sp>
    </p:spTree>
    <p:extLst>
      <p:ext uri="{BB962C8B-B14F-4D97-AF65-F5344CB8AC3E}">
        <p14:creationId xmlns:p14="http://schemas.microsoft.com/office/powerpoint/2010/main" val="4191705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a:t>
            </a:fld>
            <a:endParaRPr lang="zh-CN" altLang="en-US"/>
          </a:p>
        </p:txBody>
      </p:sp>
    </p:spTree>
    <p:extLst>
      <p:ext uri="{BB962C8B-B14F-4D97-AF65-F5344CB8AC3E}">
        <p14:creationId xmlns:p14="http://schemas.microsoft.com/office/powerpoint/2010/main" val="3427624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5</a:t>
            </a:fld>
            <a:endParaRPr lang="zh-CN" altLang="en-US"/>
          </a:p>
        </p:txBody>
      </p:sp>
    </p:spTree>
    <p:extLst>
      <p:ext uri="{BB962C8B-B14F-4D97-AF65-F5344CB8AC3E}">
        <p14:creationId xmlns:p14="http://schemas.microsoft.com/office/powerpoint/2010/main" val="1081651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实践中，使用最小值和最大值对响应式设计有很多的用处，所以你会很少见到</a:t>
            </a:r>
            <a:r>
              <a:rPr lang="en-US" altLang="zh-CN" dirty="0" smtClean="0"/>
              <a:t>width</a:t>
            </a:r>
            <a:r>
              <a:rPr lang="zh-CN" altLang="en-US" dirty="0" smtClean="0"/>
              <a:t>或</a:t>
            </a:r>
            <a:r>
              <a:rPr lang="en-US" altLang="zh-CN" dirty="0" smtClean="0"/>
              <a:t>height </a:t>
            </a:r>
            <a:r>
              <a:rPr lang="zh-CN" altLang="en-US" dirty="0" smtClean="0"/>
              <a:t>单独使用的情况。</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6</a:t>
            </a:fld>
            <a:endParaRPr lang="zh-CN" altLang="en-US"/>
          </a:p>
        </p:txBody>
      </p:sp>
    </p:spTree>
    <p:extLst>
      <p:ext uri="{BB962C8B-B14F-4D97-AF65-F5344CB8AC3E}">
        <p14:creationId xmlns:p14="http://schemas.microsoft.com/office/powerpoint/2010/main" val="3240363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7</a:t>
            </a:fld>
            <a:endParaRPr lang="zh-CN" altLang="en-US"/>
          </a:p>
        </p:txBody>
      </p:sp>
    </p:spTree>
    <p:extLst>
      <p:ext uri="{BB962C8B-B14F-4D97-AF65-F5344CB8AC3E}">
        <p14:creationId xmlns:p14="http://schemas.microsoft.com/office/powerpoint/2010/main" val="3479224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这个元标签告诉移动端浏览器，应该将视口宽度设定为设备的宽度。</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8</a:t>
            </a:fld>
            <a:endParaRPr lang="zh-CN" altLang="en-US"/>
          </a:p>
        </p:txBody>
      </p:sp>
    </p:spTree>
    <p:extLst>
      <p:ext uri="{BB962C8B-B14F-4D97-AF65-F5344CB8AC3E}">
        <p14:creationId xmlns:p14="http://schemas.microsoft.com/office/powerpoint/2010/main" val="994626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orientation: portrait/landscape </a:t>
            </a:r>
            <a:r>
              <a:rPr lang="zh-CN" altLang="en-US" sz="1200" b="0" i="0" kern="1200" dirty="0" smtClean="0">
                <a:solidFill>
                  <a:schemeClr val="tx1"/>
                </a:solidFill>
                <a:effectLst/>
                <a:latin typeface="+mn-lt"/>
                <a:ea typeface="+mn-ea"/>
                <a:cs typeface="+mn-cs"/>
              </a:rPr>
              <a:t>竖屏或横屏</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9</a:t>
            </a:fld>
            <a:endParaRPr lang="zh-CN" altLang="en-US"/>
          </a:p>
        </p:txBody>
      </p:sp>
    </p:spTree>
    <p:extLst>
      <p:ext uri="{BB962C8B-B14F-4D97-AF65-F5344CB8AC3E}">
        <p14:creationId xmlns:p14="http://schemas.microsoft.com/office/powerpoint/2010/main" val="2890666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10</a:t>
            </a:fld>
            <a:endParaRPr lang="zh-CN" altLang="en-US"/>
          </a:p>
        </p:txBody>
      </p:sp>
    </p:spTree>
    <p:extLst>
      <p:ext uri="{BB962C8B-B14F-4D97-AF65-F5344CB8AC3E}">
        <p14:creationId xmlns:p14="http://schemas.microsoft.com/office/powerpoint/2010/main" val="200830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11</a:t>
            </a:fld>
            <a:endParaRPr lang="zh-CN" altLang="en-US"/>
          </a:p>
        </p:txBody>
      </p:sp>
    </p:spTree>
    <p:extLst>
      <p:ext uri="{BB962C8B-B14F-4D97-AF65-F5344CB8AC3E}">
        <p14:creationId xmlns:p14="http://schemas.microsoft.com/office/powerpoint/2010/main" val="1624689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12</a:t>
            </a:fld>
            <a:endParaRPr lang="zh-CN" altLang="en-US"/>
          </a:p>
        </p:txBody>
      </p:sp>
    </p:spTree>
    <p:extLst>
      <p:ext uri="{BB962C8B-B14F-4D97-AF65-F5344CB8AC3E}">
        <p14:creationId xmlns:p14="http://schemas.microsoft.com/office/powerpoint/2010/main" val="584977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13</a:t>
            </a:fld>
            <a:endParaRPr lang="zh-CN" altLang="en-US"/>
          </a:p>
        </p:txBody>
      </p:sp>
    </p:spTree>
    <p:extLst>
      <p:ext uri="{BB962C8B-B14F-4D97-AF65-F5344CB8AC3E}">
        <p14:creationId xmlns:p14="http://schemas.microsoft.com/office/powerpoint/2010/main" val="2829181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14</a:t>
            </a:fld>
            <a:endParaRPr lang="zh-CN" altLang="en-US"/>
          </a:p>
        </p:txBody>
      </p:sp>
    </p:spTree>
    <p:extLst>
      <p:ext uri="{BB962C8B-B14F-4D97-AF65-F5344CB8AC3E}">
        <p14:creationId xmlns:p14="http://schemas.microsoft.com/office/powerpoint/2010/main" val="67285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15</a:t>
            </a:fld>
            <a:endParaRPr lang="zh-CN" altLang="en-US"/>
          </a:p>
        </p:txBody>
      </p:sp>
    </p:spTree>
    <p:extLst>
      <p:ext uri="{BB962C8B-B14F-4D97-AF65-F5344CB8AC3E}">
        <p14:creationId xmlns:p14="http://schemas.microsoft.com/office/powerpoint/2010/main" val="2787922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latin typeface="+mn-ea"/>
              </a:rPr>
              <a:t>CSS3</a:t>
            </a:r>
            <a:r>
              <a:rPr lang="zh-CN" altLang="en-US" dirty="0" smtClean="0">
                <a:latin typeface="+mn-ea"/>
              </a:rPr>
              <a:t>能力强大也最好用，官方标准仍在制定中。现代工程化的前端对</a:t>
            </a:r>
            <a:r>
              <a:rPr lang="en-US" altLang="zh-CN" dirty="0" smtClean="0">
                <a:latin typeface="+mn-ea"/>
              </a:rPr>
              <a:t>CSS3</a:t>
            </a:r>
            <a:r>
              <a:rPr lang="zh-CN" altLang="en-US" dirty="0" smtClean="0">
                <a:latin typeface="+mn-ea"/>
              </a:rPr>
              <a:t>提供的新特性几乎做到了全面支持，所以不用考虑兼容性问题，项目开发中可以大胆使用。</a:t>
            </a:r>
            <a:endParaRPr lang="en-US" altLang="zh-CN" dirty="0" smtClean="0">
              <a:latin typeface="+mn-ea"/>
            </a:endParaRPr>
          </a:p>
        </p:txBody>
      </p:sp>
      <p:sp>
        <p:nvSpPr>
          <p:cNvPr id="4" name="灯片编号占位符 3"/>
          <p:cNvSpPr>
            <a:spLocks noGrp="1"/>
          </p:cNvSpPr>
          <p:nvPr>
            <p:ph type="sldNum" sz="quarter" idx="10"/>
          </p:nvPr>
        </p:nvSpPr>
        <p:spPr/>
        <p:txBody>
          <a:bodyPr/>
          <a:lstStyle/>
          <a:p>
            <a:fld id="{6D768B51-DBCB-470B-925C-4E02FE6F7DA1}" type="slidenum">
              <a:rPr lang="zh-CN" altLang="en-US" smtClean="0"/>
              <a:t>16</a:t>
            </a:fld>
            <a:endParaRPr lang="zh-CN" altLang="en-US"/>
          </a:p>
        </p:txBody>
      </p:sp>
    </p:spTree>
    <p:extLst>
      <p:ext uri="{BB962C8B-B14F-4D97-AF65-F5344CB8AC3E}">
        <p14:creationId xmlns:p14="http://schemas.microsoft.com/office/powerpoint/2010/main" val="3900537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17</a:t>
            </a:fld>
            <a:endParaRPr lang="zh-CN" altLang="en-US"/>
          </a:p>
        </p:txBody>
      </p:sp>
    </p:spTree>
    <p:extLst>
      <p:ext uri="{BB962C8B-B14F-4D97-AF65-F5344CB8AC3E}">
        <p14:creationId xmlns:p14="http://schemas.microsoft.com/office/powerpoint/2010/main" val="2219130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18</a:t>
            </a:fld>
            <a:endParaRPr lang="zh-CN" altLang="en-US"/>
          </a:p>
        </p:txBody>
      </p:sp>
    </p:spTree>
    <p:extLst>
      <p:ext uri="{BB962C8B-B14F-4D97-AF65-F5344CB8AC3E}">
        <p14:creationId xmlns:p14="http://schemas.microsoft.com/office/powerpoint/2010/main" val="1526678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19</a:t>
            </a:fld>
            <a:endParaRPr lang="zh-CN" altLang="en-US"/>
          </a:p>
        </p:txBody>
      </p:sp>
    </p:spTree>
    <p:extLst>
      <p:ext uri="{BB962C8B-B14F-4D97-AF65-F5344CB8AC3E}">
        <p14:creationId xmlns:p14="http://schemas.microsoft.com/office/powerpoint/2010/main" val="3518488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宽度</a:t>
            </a:r>
            <a:endParaRPr lang="en-US" altLang="zh-CN" dirty="0" smtClean="0"/>
          </a:p>
          <a:p>
            <a:r>
              <a:rPr lang="zh-CN" altLang="en-US" dirty="0" smtClean="0"/>
              <a:t>高度 </a:t>
            </a:r>
            <a:r>
              <a:rPr lang="en-US" altLang="zh-CN" dirty="0" smtClean="0"/>
              <a:t>overflow</a:t>
            </a:r>
            <a:r>
              <a:rPr lang="zh-CN" altLang="en-US" dirty="0" smtClean="0"/>
              <a:t>：</a:t>
            </a:r>
            <a:r>
              <a:rPr lang="en-US" altLang="zh-CN" dirty="0" smtClean="0"/>
              <a:t>auto</a:t>
            </a:r>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20</a:t>
            </a:fld>
            <a:endParaRPr lang="zh-CN" altLang="en-US"/>
          </a:p>
        </p:txBody>
      </p:sp>
    </p:spTree>
    <p:extLst>
      <p:ext uri="{BB962C8B-B14F-4D97-AF65-F5344CB8AC3E}">
        <p14:creationId xmlns:p14="http://schemas.microsoft.com/office/powerpoint/2010/main" val="270400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21</a:t>
            </a:fld>
            <a:endParaRPr lang="zh-CN" altLang="en-US"/>
          </a:p>
        </p:txBody>
      </p:sp>
    </p:spTree>
    <p:extLst>
      <p:ext uri="{BB962C8B-B14F-4D97-AF65-F5344CB8AC3E}">
        <p14:creationId xmlns:p14="http://schemas.microsoft.com/office/powerpoint/2010/main" val="1153251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22</a:t>
            </a:fld>
            <a:endParaRPr lang="zh-CN" altLang="en-US"/>
          </a:p>
        </p:txBody>
      </p:sp>
    </p:spTree>
    <p:extLst>
      <p:ext uri="{BB962C8B-B14F-4D97-AF65-F5344CB8AC3E}">
        <p14:creationId xmlns:p14="http://schemas.microsoft.com/office/powerpoint/2010/main" val="2907612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23</a:t>
            </a:fld>
            <a:endParaRPr lang="zh-CN" altLang="en-US"/>
          </a:p>
        </p:txBody>
      </p:sp>
    </p:spTree>
    <p:extLst>
      <p:ext uri="{BB962C8B-B14F-4D97-AF65-F5344CB8AC3E}">
        <p14:creationId xmlns:p14="http://schemas.microsoft.com/office/powerpoint/2010/main" val="308274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24</a:t>
            </a:fld>
            <a:endParaRPr lang="zh-CN" altLang="en-US"/>
          </a:p>
        </p:txBody>
      </p:sp>
    </p:spTree>
    <p:extLst>
      <p:ext uri="{BB962C8B-B14F-4D97-AF65-F5344CB8AC3E}">
        <p14:creationId xmlns:p14="http://schemas.microsoft.com/office/powerpoint/2010/main" val="585991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25</a:t>
            </a:fld>
            <a:endParaRPr lang="zh-CN" altLang="en-US"/>
          </a:p>
        </p:txBody>
      </p:sp>
    </p:spTree>
    <p:extLst>
      <p:ext uri="{BB962C8B-B14F-4D97-AF65-F5344CB8AC3E}">
        <p14:creationId xmlns:p14="http://schemas.microsoft.com/office/powerpoint/2010/main" val="4300842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26</a:t>
            </a:fld>
            <a:endParaRPr lang="zh-CN" altLang="en-US"/>
          </a:p>
        </p:txBody>
      </p:sp>
    </p:spTree>
    <p:extLst>
      <p:ext uri="{BB962C8B-B14F-4D97-AF65-F5344CB8AC3E}">
        <p14:creationId xmlns:p14="http://schemas.microsoft.com/office/powerpoint/2010/main" val="39309914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27</a:t>
            </a:fld>
            <a:endParaRPr lang="zh-CN" altLang="en-US"/>
          </a:p>
        </p:txBody>
      </p:sp>
    </p:spTree>
    <p:extLst>
      <p:ext uri="{BB962C8B-B14F-4D97-AF65-F5344CB8AC3E}">
        <p14:creationId xmlns:p14="http://schemas.microsoft.com/office/powerpoint/2010/main" val="3480017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28</a:t>
            </a:fld>
            <a:endParaRPr lang="zh-CN" altLang="en-US"/>
          </a:p>
        </p:txBody>
      </p:sp>
    </p:spTree>
    <p:extLst>
      <p:ext uri="{BB962C8B-B14F-4D97-AF65-F5344CB8AC3E}">
        <p14:creationId xmlns:p14="http://schemas.microsoft.com/office/powerpoint/2010/main" val="30695175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29</a:t>
            </a:fld>
            <a:endParaRPr lang="zh-CN" altLang="en-US"/>
          </a:p>
        </p:txBody>
      </p:sp>
    </p:spTree>
    <p:extLst>
      <p:ext uri="{BB962C8B-B14F-4D97-AF65-F5344CB8AC3E}">
        <p14:creationId xmlns:p14="http://schemas.microsoft.com/office/powerpoint/2010/main" val="2502658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30</a:t>
            </a:fld>
            <a:endParaRPr lang="zh-CN" altLang="en-US"/>
          </a:p>
        </p:txBody>
      </p:sp>
    </p:spTree>
    <p:extLst>
      <p:ext uri="{BB962C8B-B14F-4D97-AF65-F5344CB8AC3E}">
        <p14:creationId xmlns:p14="http://schemas.microsoft.com/office/powerpoint/2010/main" val="1171472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31</a:t>
            </a:fld>
            <a:endParaRPr lang="zh-CN" altLang="en-US"/>
          </a:p>
        </p:txBody>
      </p:sp>
    </p:spTree>
    <p:extLst>
      <p:ext uri="{BB962C8B-B14F-4D97-AF65-F5344CB8AC3E}">
        <p14:creationId xmlns:p14="http://schemas.microsoft.com/office/powerpoint/2010/main" val="38896477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32</a:t>
            </a:fld>
            <a:endParaRPr lang="zh-CN" altLang="en-US"/>
          </a:p>
        </p:txBody>
      </p:sp>
    </p:spTree>
    <p:extLst>
      <p:ext uri="{BB962C8B-B14F-4D97-AF65-F5344CB8AC3E}">
        <p14:creationId xmlns:p14="http://schemas.microsoft.com/office/powerpoint/2010/main" val="2868705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33</a:t>
            </a:fld>
            <a:endParaRPr lang="zh-CN" altLang="en-US"/>
          </a:p>
        </p:txBody>
      </p:sp>
    </p:spTree>
    <p:extLst>
      <p:ext uri="{BB962C8B-B14F-4D97-AF65-F5344CB8AC3E}">
        <p14:creationId xmlns:p14="http://schemas.microsoft.com/office/powerpoint/2010/main" val="1846438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34</a:t>
            </a:fld>
            <a:endParaRPr lang="zh-CN" altLang="en-US"/>
          </a:p>
        </p:txBody>
      </p:sp>
    </p:spTree>
    <p:extLst>
      <p:ext uri="{BB962C8B-B14F-4D97-AF65-F5344CB8AC3E}">
        <p14:creationId xmlns:p14="http://schemas.microsoft.com/office/powerpoint/2010/main" val="27978414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35</a:t>
            </a:fld>
            <a:endParaRPr lang="zh-CN" altLang="en-US"/>
          </a:p>
        </p:txBody>
      </p:sp>
    </p:spTree>
    <p:extLst>
      <p:ext uri="{BB962C8B-B14F-4D97-AF65-F5344CB8AC3E}">
        <p14:creationId xmlns:p14="http://schemas.microsoft.com/office/powerpoint/2010/main" val="42156512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36</a:t>
            </a:fld>
            <a:endParaRPr lang="zh-CN" altLang="en-US"/>
          </a:p>
        </p:txBody>
      </p:sp>
    </p:spTree>
    <p:extLst>
      <p:ext uri="{BB962C8B-B14F-4D97-AF65-F5344CB8AC3E}">
        <p14:creationId xmlns:p14="http://schemas.microsoft.com/office/powerpoint/2010/main" val="13565431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37</a:t>
            </a:fld>
            <a:endParaRPr lang="zh-CN" altLang="en-US"/>
          </a:p>
        </p:txBody>
      </p:sp>
    </p:spTree>
    <p:extLst>
      <p:ext uri="{BB962C8B-B14F-4D97-AF65-F5344CB8AC3E}">
        <p14:creationId xmlns:p14="http://schemas.microsoft.com/office/powerpoint/2010/main" val="37073909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38</a:t>
            </a:fld>
            <a:endParaRPr lang="zh-CN" altLang="en-US"/>
          </a:p>
        </p:txBody>
      </p:sp>
    </p:spTree>
    <p:extLst>
      <p:ext uri="{BB962C8B-B14F-4D97-AF65-F5344CB8AC3E}">
        <p14:creationId xmlns:p14="http://schemas.microsoft.com/office/powerpoint/2010/main" val="423782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39</a:t>
            </a:fld>
            <a:endParaRPr lang="zh-CN" altLang="en-US"/>
          </a:p>
        </p:txBody>
      </p:sp>
    </p:spTree>
    <p:extLst>
      <p:ext uri="{BB962C8B-B14F-4D97-AF65-F5344CB8AC3E}">
        <p14:creationId xmlns:p14="http://schemas.microsoft.com/office/powerpoint/2010/main" val="29956057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40</a:t>
            </a:fld>
            <a:endParaRPr lang="zh-CN" altLang="en-US"/>
          </a:p>
        </p:txBody>
      </p:sp>
    </p:spTree>
    <p:extLst>
      <p:ext uri="{BB962C8B-B14F-4D97-AF65-F5344CB8AC3E}">
        <p14:creationId xmlns:p14="http://schemas.microsoft.com/office/powerpoint/2010/main" val="42879944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41</a:t>
            </a:fld>
            <a:endParaRPr lang="zh-CN" altLang="en-US"/>
          </a:p>
        </p:txBody>
      </p:sp>
    </p:spTree>
    <p:extLst>
      <p:ext uri="{BB962C8B-B14F-4D97-AF65-F5344CB8AC3E}">
        <p14:creationId xmlns:p14="http://schemas.microsoft.com/office/powerpoint/2010/main" val="6318630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42</a:t>
            </a:fld>
            <a:endParaRPr lang="zh-CN" altLang="en-US"/>
          </a:p>
        </p:txBody>
      </p:sp>
    </p:spTree>
    <p:extLst>
      <p:ext uri="{BB962C8B-B14F-4D97-AF65-F5344CB8AC3E}">
        <p14:creationId xmlns:p14="http://schemas.microsoft.com/office/powerpoint/2010/main" val="24743082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43</a:t>
            </a:fld>
            <a:endParaRPr lang="zh-CN" altLang="en-US"/>
          </a:p>
        </p:txBody>
      </p:sp>
    </p:spTree>
    <p:extLst>
      <p:ext uri="{BB962C8B-B14F-4D97-AF65-F5344CB8AC3E}">
        <p14:creationId xmlns:p14="http://schemas.microsoft.com/office/powerpoint/2010/main" val="31871593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44</a:t>
            </a:fld>
            <a:endParaRPr lang="zh-CN" altLang="en-US"/>
          </a:p>
        </p:txBody>
      </p:sp>
    </p:spTree>
    <p:extLst>
      <p:ext uri="{BB962C8B-B14F-4D97-AF65-F5344CB8AC3E}">
        <p14:creationId xmlns:p14="http://schemas.microsoft.com/office/powerpoint/2010/main" val="103420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45</a:t>
            </a:fld>
            <a:endParaRPr lang="zh-CN" altLang="en-US"/>
          </a:p>
        </p:txBody>
      </p:sp>
    </p:spTree>
    <p:extLst>
      <p:ext uri="{BB962C8B-B14F-4D97-AF65-F5344CB8AC3E}">
        <p14:creationId xmlns:p14="http://schemas.microsoft.com/office/powerpoint/2010/main" val="30042746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768B51-DBCB-470B-925C-4E02FE6F7DA1}" type="slidenum">
              <a:rPr lang="zh-CN" altLang="en-US" smtClean="0"/>
              <a:t>46</a:t>
            </a:fld>
            <a:endParaRPr lang="zh-CN" altLang="en-US"/>
          </a:p>
        </p:txBody>
      </p:sp>
    </p:spTree>
    <p:extLst>
      <p:ext uri="{BB962C8B-B14F-4D97-AF65-F5344CB8AC3E}">
        <p14:creationId xmlns:p14="http://schemas.microsoft.com/office/powerpoint/2010/main" val="313932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F8C67E96-A9DF-45CB-92A7-103C15373C55}" type="datetime1">
              <a:rPr lang="zh-CN" altLang="en-US" smtClean="0"/>
              <a:t>2024/3/19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64297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6FE5C85E-75EC-4599-990B-D95D618BF852}" type="datetime1">
              <a:rPr lang="zh-CN" altLang="en-US" smtClean="0"/>
              <a:t>2024/3/19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463623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9455524F-3CA5-4A39-BBE7-C6B8F9A5D79C}" type="datetime1">
              <a:rPr lang="zh-CN" altLang="en-US" smtClean="0"/>
              <a:t>2024/3/19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584396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A60999DF-6A70-4777-B639-889AF788F125}" type="datetime1">
              <a:rPr lang="zh-CN" altLang="en-US" smtClean="0"/>
              <a:t>2024/3/19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158557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3B82048-7B1A-428D-9A57-5986A5A07253}" type="datetime1">
              <a:rPr lang="zh-CN" altLang="en-US" smtClean="0"/>
              <a:t>2024/3/19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361080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4F8901E-D02C-4329-99E4-4964776D5772}" type="datetime1">
              <a:rPr lang="zh-CN" altLang="en-US" smtClean="0"/>
              <a:t>2024/3/19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142128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F537BF-1ADC-4CCE-9275-4A5D02A4551B}" type="datetime1">
              <a:rPr lang="zh-CN" altLang="en-US" smtClean="0"/>
              <a:t>2024/3/19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964444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C4CB462-32C4-4C07-A5F0-726CE79FB4AA}" type="datetime1">
              <a:rPr lang="zh-CN" altLang="en-US" smtClean="0"/>
              <a:t>2024/3/19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1539488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81A18FAD-791A-4DE7-99D3-C7D3E58C6EEA}" type="datetime1">
              <a:rPr lang="zh-CN" altLang="en-US" smtClean="0"/>
              <a:t>2024/3/19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283281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6C14055-C4B2-4D9D-A697-691753F3EA96}" type="datetime1">
              <a:rPr lang="zh-CN" altLang="en-US" smtClean="0"/>
              <a:t>2024/3/19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694672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4C3C481-74C9-4550-8352-37B186282D9E}" type="datetime1">
              <a:rPr lang="zh-CN" altLang="en-US" smtClean="0"/>
              <a:t>2024/3/19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878677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22C3BF-67FD-4EDB-A8C4-335EEC1D0A5C}" type="datetime1">
              <a:rPr lang="zh-CN" altLang="en-US" smtClean="0"/>
              <a:t>2024/3/19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9CCAFD-B661-4BC2-8A4E-75D38A9BCC10}" type="slidenum">
              <a:rPr lang="zh-CN" altLang="en-US" smtClean="0"/>
              <a:t>‹#›</a:t>
            </a:fld>
            <a:endParaRPr lang="zh-CN" altLang="en-US"/>
          </a:p>
        </p:txBody>
      </p:sp>
    </p:spTree>
    <p:extLst>
      <p:ext uri="{BB962C8B-B14F-4D97-AF65-F5344CB8AC3E}">
        <p14:creationId xmlns:p14="http://schemas.microsoft.com/office/powerpoint/2010/main" val="373589204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emf"/><Relationship Id="rId7" Type="http://schemas.openxmlformats.org/officeDocument/2006/relationships/image" Target="../media/image51.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p:cNvSpPr txBox="1"/>
          <p:nvPr/>
        </p:nvSpPr>
        <p:spPr>
          <a:xfrm>
            <a:off x="1911230" y="2517282"/>
            <a:ext cx="9214475" cy="1069845"/>
          </a:xfrm>
          <a:prstGeom prst="rect">
            <a:avLst/>
          </a:prstGeom>
          <a:noFill/>
          <a:ln>
            <a:noFill/>
          </a:ln>
        </p:spPr>
        <p:txBody>
          <a:bodyPr wrap="square" rtlCol="0">
            <a:spAutoFit/>
          </a:bodyPr>
          <a:lstStyle/>
          <a:p>
            <a:pPr algn="ctr">
              <a:lnSpc>
                <a:spcPct val="150000"/>
              </a:lnSpc>
            </a:pPr>
            <a:r>
              <a:rPr lang="zh-CN" altLang="en-US" sz="4800" b="1" spc="600" dirty="0" smtClean="0">
                <a:latin typeface="微软雅黑" panose="020B0503020204020204" pitchFamily="34" charset="-122"/>
                <a:ea typeface="微软雅黑" panose="020B0503020204020204" pitchFamily="34" charset="-122"/>
                <a:cs typeface="方正颜宋简体_大" panose="02000000000000000000" charset="-122"/>
              </a:rPr>
              <a:t>第</a:t>
            </a:r>
            <a:r>
              <a:rPr lang="en-US" altLang="zh-CN" sz="4800" b="1" spc="600" dirty="0" smtClean="0">
                <a:latin typeface="微软雅黑" panose="020B0503020204020204" pitchFamily="34" charset="-122"/>
                <a:ea typeface="微软雅黑" panose="020B0503020204020204" pitchFamily="34" charset="-122"/>
                <a:cs typeface="方正颜宋简体_大" panose="02000000000000000000" charset="-122"/>
              </a:rPr>
              <a:t>5</a:t>
            </a:r>
            <a:r>
              <a:rPr lang="zh-CN" altLang="en-US" sz="4800" b="1" spc="600" dirty="0" smtClean="0">
                <a:latin typeface="微软雅黑" panose="020B0503020204020204" pitchFamily="34" charset="-122"/>
                <a:ea typeface="微软雅黑" panose="020B0503020204020204" pitchFamily="34" charset="-122"/>
                <a:cs typeface="方正颜宋简体_大" panose="02000000000000000000" charset="-122"/>
              </a:rPr>
              <a:t>章 响应式布局和</a:t>
            </a:r>
            <a:r>
              <a:rPr lang="en-US" altLang="zh-CN" sz="4800" b="1" spc="600" dirty="0" smtClean="0">
                <a:latin typeface="微软雅黑" panose="020B0503020204020204" pitchFamily="34" charset="-122"/>
                <a:ea typeface="微软雅黑" panose="020B0503020204020204" pitchFamily="34" charset="-122"/>
                <a:cs typeface="方正颜宋简体_大" panose="02000000000000000000" charset="-122"/>
              </a:rPr>
              <a:t>CSS3</a:t>
            </a:r>
            <a:endParaRPr lang="zh-CN" altLang="en-US" sz="4800" b="1" spc="600" dirty="0">
              <a:latin typeface="微软雅黑" panose="020B0503020204020204" pitchFamily="34" charset="-122"/>
              <a:ea typeface="微软雅黑" panose="020B0503020204020204" pitchFamily="34" charset="-122"/>
              <a:cs typeface="方正颜宋简体_大" panose="02000000000000000000"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概述</a:t>
            </a:r>
            <a:endParaRPr lang="zh-CN" altLang="en-US" dirty="0">
              <a:solidFill>
                <a:schemeClr val="tx1"/>
              </a:solidFill>
              <a:latin typeface="+mn-ea"/>
              <a:ea typeface="+mn-ea"/>
            </a:endParaRPr>
          </a:p>
        </p:txBody>
      </p:sp>
      <p:sp>
        <p:nvSpPr>
          <p:cNvPr id="14" name="矩形 13"/>
          <p:cNvSpPr/>
          <p:nvPr/>
        </p:nvSpPr>
        <p:spPr>
          <a:xfrm>
            <a:off x="795867" y="1535248"/>
            <a:ext cx="10466493" cy="1754326"/>
          </a:xfrm>
          <a:prstGeom prst="rect">
            <a:avLst/>
          </a:prstGeom>
        </p:spPr>
        <p:txBody>
          <a:bodyPr wrap="square">
            <a:spAutoFit/>
          </a:bodyPr>
          <a:lstStyle/>
          <a:p>
            <a:pPr>
              <a:lnSpc>
                <a:spcPct val="150000"/>
              </a:lnSpc>
            </a:pPr>
            <a:r>
              <a:rPr lang="zh-CN" altLang="en-US" dirty="0" smtClean="0">
                <a:latin typeface="+mn-ea"/>
              </a:rPr>
              <a:t>在网页设计的早期，页面是针对固定宽度屏幕尺寸构建的。随着终端设备的多样化发展，不同尺寸的屏幕越来越多，响应式布局的概念出现了。响应式布局是指网页布局不是固定的，而是根据不同终端设备或者不同浏览器窗口大小而呈现出不同的布局。响应式布局不仅可应用于整个页面，也可以应用于页面的一部分。</a:t>
            </a:r>
            <a:endParaRPr lang="zh-CN" altLang="en-US" dirty="0">
              <a:latin typeface="+mn-ea"/>
            </a:endParaRPr>
          </a:p>
        </p:txBody>
      </p:sp>
      <p:sp>
        <p:nvSpPr>
          <p:cNvPr id="3" name="矩形 2"/>
          <p:cNvSpPr/>
          <p:nvPr/>
        </p:nvSpPr>
        <p:spPr>
          <a:xfrm>
            <a:off x="876300" y="3802826"/>
            <a:ext cx="10042668" cy="2169825"/>
          </a:xfrm>
          <a:prstGeom prst="rect">
            <a:avLst/>
          </a:prstGeom>
        </p:spPr>
        <p:txBody>
          <a:bodyPr wrap="square">
            <a:spAutoFit/>
          </a:bodyPr>
          <a:lstStyle/>
          <a:p>
            <a:pPr>
              <a:lnSpc>
                <a:spcPct val="150000"/>
              </a:lnSpc>
            </a:pPr>
            <a:r>
              <a:rPr lang="zh-CN" altLang="en-US" dirty="0">
                <a:latin typeface="+mn-ea"/>
              </a:rPr>
              <a:t>传统的开发方式是</a:t>
            </a:r>
            <a:r>
              <a:rPr lang="en-US" altLang="zh-CN" dirty="0">
                <a:latin typeface="+mn-ea"/>
              </a:rPr>
              <a:t>PC</a:t>
            </a:r>
            <a:r>
              <a:rPr lang="zh-CN" altLang="en-US" dirty="0">
                <a:latin typeface="+mn-ea"/>
              </a:rPr>
              <a:t>端开发一套页面，手机端再开发一套页面。但是这样做非常麻烦，随着不同的终端越来越多，你需要开发多个不同版本的页面。采用响应式设计时，网站仅有一个版本，能浏览全部的内容，且网站会自己重新排列以完美地适配任何尺寸的屏幕，并具有全尺寸文本，这样无需进行缩放</a:t>
            </a:r>
            <a:r>
              <a:rPr lang="zh-CN" altLang="en-US" dirty="0" smtClean="0">
                <a:latin typeface="+mn-ea"/>
              </a:rPr>
              <a:t>操作。</a:t>
            </a:r>
            <a:r>
              <a:rPr lang="en-US" altLang="zh-CN" dirty="0" err="1">
                <a:latin typeface="+mn-ea"/>
              </a:rPr>
              <a:t>EthanMarcotte</a:t>
            </a:r>
            <a:r>
              <a:rPr lang="zh-CN" altLang="en-US" dirty="0">
                <a:latin typeface="+mn-ea"/>
              </a:rPr>
              <a:t>在</a:t>
            </a:r>
            <a:r>
              <a:rPr lang="en-US" altLang="zh-CN" dirty="0">
                <a:latin typeface="+mn-ea"/>
              </a:rPr>
              <a:t>2010</a:t>
            </a:r>
            <a:r>
              <a:rPr lang="zh-CN" altLang="en-US" dirty="0">
                <a:latin typeface="+mn-ea"/>
              </a:rPr>
              <a:t>年</a:t>
            </a:r>
            <a:r>
              <a:rPr lang="en-US" altLang="zh-CN" dirty="0">
                <a:latin typeface="+mn-ea"/>
              </a:rPr>
              <a:t>5</a:t>
            </a:r>
            <a:r>
              <a:rPr lang="zh-CN" altLang="en-US" dirty="0">
                <a:latin typeface="+mn-ea"/>
              </a:rPr>
              <a:t>月份提出了响应式布局的概念，简而言之，就是一个网站能够兼容多</a:t>
            </a:r>
            <a:r>
              <a:rPr lang="zh-CN" altLang="en-US" dirty="0" smtClean="0">
                <a:latin typeface="+mn-ea"/>
              </a:rPr>
              <a:t>个不同的终端设备。</a:t>
            </a:r>
            <a:endParaRPr lang="en-US" altLang="zh-CN" dirty="0" smtClean="0">
              <a:latin typeface="+mn-ea"/>
            </a:endParaRPr>
          </a:p>
        </p:txBody>
      </p:sp>
      <p:sp>
        <p:nvSpPr>
          <p:cNvPr id="2" name="矩形 1"/>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3986720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响应式开发的原理</a:t>
            </a:r>
            <a:endParaRPr lang="zh-CN" altLang="en-US" dirty="0">
              <a:solidFill>
                <a:schemeClr val="tx1"/>
              </a:solidFill>
              <a:latin typeface="+mn-ea"/>
              <a:ea typeface="+mn-ea"/>
            </a:endParaRPr>
          </a:p>
        </p:txBody>
      </p:sp>
      <p:sp>
        <p:nvSpPr>
          <p:cNvPr id="14" name="矩形 13"/>
          <p:cNvSpPr/>
          <p:nvPr/>
        </p:nvSpPr>
        <p:spPr>
          <a:xfrm>
            <a:off x="795867" y="1535248"/>
            <a:ext cx="10466493" cy="4247317"/>
          </a:xfrm>
          <a:prstGeom prst="rect">
            <a:avLst/>
          </a:prstGeom>
        </p:spPr>
        <p:txBody>
          <a:bodyPr wrap="square">
            <a:spAutoFit/>
          </a:bodyPr>
          <a:lstStyle/>
          <a:p>
            <a:pPr>
              <a:lnSpc>
                <a:spcPct val="150000"/>
              </a:lnSpc>
            </a:pPr>
            <a:r>
              <a:rPr lang="zh-CN" altLang="en-US" dirty="0">
                <a:latin typeface="+mn-ea"/>
              </a:rPr>
              <a:t>使用</a:t>
            </a:r>
            <a:r>
              <a:rPr lang="en-US" altLang="zh-CN" dirty="0">
                <a:latin typeface="+mn-ea"/>
              </a:rPr>
              <a:t>CSS3</a:t>
            </a:r>
            <a:r>
              <a:rPr lang="zh-CN" altLang="en-US" dirty="0">
                <a:latin typeface="+mn-ea"/>
              </a:rPr>
              <a:t>中的</a:t>
            </a:r>
            <a:r>
              <a:rPr lang="en-US" altLang="zh-CN" b="1" dirty="0">
                <a:solidFill>
                  <a:srgbClr val="C00000"/>
                </a:solidFill>
                <a:latin typeface="+mn-ea"/>
              </a:rPr>
              <a:t>Media Query</a:t>
            </a:r>
            <a:r>
              <a:rPr lang="zh-CN" altLang="en-US" b="1" dirty="0">
                <a:solidFill>
                  <a:srgbClr val="C00000"/>
                </a:solidFill>
                <a:latin typeface="+mn-ea"/>
              </a:rPr>
              <a:t>（媒体查询）</a:t>
            </a:r>
            <a:r>
              <a:rPr lang="zh-CN" altLang="en-US" dirty="0">
                <a:latin typeface="+mn-ea"/>
              </a:rPr>
              <a:t>针对不同宽度的设备设置不同的布局和样式，从而适配不同的设备</a:t>
            </a:r>
            <a:r>
              <a:rPr lang="zh-CN" altLang="en-US" dirty="0" smtClean="0">
                <a:latin typeface="+mn-ea"/>
              </a:rPr>
              <a:t>。</a:t>
            </a:r>
            <a:endParaRPr lang="en-US" altLang="zh-CN" dirty="0" smtClean="0">
              <a:latin typeface="+mn-ea"/>
            </a:endParaRPr>
          </a:p>
          <a:p>
            <a:pPr>
              <a:lnSpc>
                <a:spcPct val="150000"/>
              </a:lnSpc>
            </a:pPr>
            <a:r>
              <a:rPr lang="zh-CN" altLang="en-US" dirty="0">
                <a:solidFill>
                  <a:srgbClr val="C00000"/>
                </a:solidFill>
                <a:latin typeface="+mn-ea"/>
              </a:rPr>
              <a:t>媒体</a:t>
            </a:r>
            <a:r>
              <a:rPr lang="zh-CN" altLang="en-US" dirty="0" smtClean="0">
                <a:solidFill>
                  <a:srgbClr val="C00000"/>
                </a:solidFill>
                <a:latin typeface="+mn-ea"/>
              </a:rPr>
              <a:t>查询</a:t>
            </a:r>
            <a:r>
              <a:rPr lang="zh-CN" altLang="en-US" dirty="0" smtClean="0">
                <a:latin typeface="+mn-ea"/>
              </a:rPr>
              <a:t>的语法格式如下：</a:t>
            </a:r>
            <a:endParaRPr lang="en-US" altLang="zh-CN" dirty="0" smtClean="0">
              <a:latin typeface="+mn-ea"/>
            </a:endParaRPr>
          </a:p>
          <a:p>
            <a:pPr>
              <a:lnSpc>
                <a:spcPct val="150000"/>
              </a:lnSpc>
            </a:pPr>
            <a:r>
              <a:rPr lang="en-US" altLang="zh-CN" dirty="0">
                <a:latin typeface="+mn-ea"/>
              </a:rPr>
              <a:t>@media </a:t>
            </a:r>
            <a:r>
              <a:rPr lang="en-US" altLang="zh-CN" dirty="0">
                <a:solidFill>
                  <a:srgbClr val="C00000"/>
                </a:solidFill>
                <a:latin typeface="+mn-ea"/>
              </a:rPr>
              <a:t>media-type</a:t>
            </a:r>
            <a:r>
              <a:rPr lang="en-US" altLang="zh-CN" dirty="0">
                <a:latin typeface="+mn-ea"/>
              </a:rPr>
              <a:t> and (</a:t>
            </a:r>
            <a:r>
              <a:rPr lang="en-US" altLang="zh-CN" dirty="0">
                <a:solidFill>
                  <a:srgbClr val="C00000"/>
                </a:solidFill>
                <a:latin typeface="+mn-ea"/>
              </a:rPr>
              <a:t>media-feature-rule</a:t>
            </a:r>
            <a:r>
              <a:rPr lang="en-US" altLang="zh-CN" dirty="0">
                <a:latin typeface="+mn-ea"/>
              </a:rPr>
              <a:t>) {</a:t>
            </a:r>
          </a:p>
          <a:p>
            <a:pPr>
              <a:lnSpc>
                <a:spcPct val="150000"/>
              </a:lnSpc>
            </a:pPr>
            <a:r>
              <a:rPr lang="en-US" altLang="zh-CN" dirty="0">
                <a:latin typeface="+mn-ea"/>
              </a:rPr>
              <a:t>  /* CSS rules go here */</a:t>
            </a:r>
          </a:p>
          <a:p>
            <a:pPr>
              <a:lnSpc>
                <a:spcPct val="150000"/>
              </a:lnSpc>
            </a:pPr>
            <a:r>
              <a:rPr lang="en-US" altLang="zh-CN" dirty="0">
                <a:latin typeface="+mn-ea"/>
              </a:rPr>
              <a:t>}</a:t>
            </a:r>
          </a:p>
          <a:p>
            <a:pPr marL="342900" indent="-342900">
              <a:lnSpc>
                <a:spcPct val="150000"/>
              </a:lnSpc>
              <a:buFont typeface="+mj-ea"/>
              <a:buAutoNum type="circleNumDbPlain"/>
            </a:pPr>
            <a:r>
              <a:rPr lang="zh-CN" altLang="en-US" dirty="0" smtClean="0">
                <a:latin typeface="+mn-ea"/>
              </a:rPr>
              <a:t>媒体类型：告诉浏览器页面显示在什么类型的设备上，常见的设备包括屏幕（</a:t>
            </a:r>
            <a:r>
              <a:rPr lang="en-US" altLang="zh-CN" dirty="0" smtClean="0">
                <a:latin typeface="+mn-ea"/>
              </a:rPr>
              <a:t>screen</a:t>
            </a:r>
            <a:r>
              <a:rPr lang="zh-CN" altLang="en-US" dirty="0" smtClean="0">
                <a:latin typeface="+mn-ea"/>
              </a:rPr>
              <a:t>）、打印机（</a:t>
            </a:r>
            <a:r>
              <a:rPr lang="en-US" altLang="zh-CN" dirty="0" smtClean="0">
                <a:latin typeface="+mn-ea"/>
              </a:rPr>
              <a:t>print</a:t>
            </a:r>
            <a:r>
              <a:rPr lang="zh-CN" altLang="en-US" dirty="0" smtClean="0">
                <a:latin typeface="+mn-ea"/>
              </a:rPr>
              <a:t>）等。</a:t>
            </a:r>
            <a:endParaRPr lang="en-US" altLang="zh-CN" dirty="0" smtClean="0">
              <a:latin typeface="+mn-ea"/>
            </a:endParaRPr>
          </a:p>
          <a:p>
            <a:pPr marL="342900" indent="-342900">
              <a:lnSpc>
                <a:spcPct val="150000"/>
              </a:lnSpc>
              <a:buFont typeface="+mj-ea"/>
              <a:buAutoNum type="circleNumDbPlain"/>
            </a:pPr>
            <a:r>
              <a:rPr lang="zh-CN" altLang="en-US" dirty="0">
                <a:latin typeface="+mn-ea"/>
              </a:rPr>
              <a:t>媒体</a:t>
            </a:r>
            <a:r>
              <a:rPr lang="zh-CN" altLang="en-US" dirty="0" smtClean="0">
                <a:latin typeface="+mn-ea"/>
              </a:rPr>
              <a:t>特征规则：设备宽高、方向（横屏或竖屏）、分辨率等特征。</a:t>
            </a:r>
            <a:endParaRPr lang="en-US" altLang="zh-CN" dirty="0" smtClean="0">
              <a:latin typeface="+mn-ea"/>
            </a:endParaRPr>
          </a:p>
          <a:p>
            <a:pPr marL="342900" indent="-342900">
              <a:lnSpc>
                <a:spcPct val="150000"/>
              </a:lnSpc>
              <a:buFont typeface="+mj-ea"/>
              <a:buAutoNum type="circleNumDbPlain"/>
            </a:pPr>
            <a:r>
              <a:rPr lang="en-US" altLang="zh-CN" dirty="0" smtClean="0">
                <a:latin typeface="+mn-ea"/>
              </a:rPr>
              <a:t>CSS</a:t>
            </a:r>
            <a:r>
              <a:rPr lang="zh-CN" altLang="en-US" dirty="0" smtClean="0">
                <a:latin typeface="+mn-ea"/>
              </a:rPr>
              <a:t>规则：会在媒体特征通过且媒体类型正确的时候应用。</a:t>
            </a:r>
            <a:endParaRPr lang="zh-CN" altLang="en-US" dirty="0">
              <a:latin typeface="+mn-ea"/>
            </a:endParaRPr>
          </a:p>
        </p:txBody>
      </p:sp>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570069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33189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mn-ea"/>
                <a:cs typeface="+mj-cs"/>
              </a:defRPr>
            </a:lvl1pPr>
          </a:lstStyle>
          <a:p>
            <a:r>
              <a:rPr lang="zh-CN" altLang="en-US" dirty="0"/>
              <a:t>媒体类型</a:t>
            </a:r>
          </a:p>
        </p:txBody>
      </p:sp>
      <p:sp>
        <p:nvSpPr>
          <p:cNvPr id="14" name="矩形 13"/>
          <p:cNvSpPr/>
          <p:nvPr/>
        </p:nvSpPr>
        <p:spPr>
          <a:xfrm>
            <a:off x="795865" y="1141032"/>
            <a:ext cx="10466493" cy="3000821"/>
          </a:xfrm>
          <a:prstGeom prst="rect">
            <a:avLst/>
          </a:prstGeom>
        </p:spPr>
        <p:txBody>
          <a:bodyPr wrap="square">
            <a:spAutoFit/>
          </a:bodyPr>
          <a:lstStyle/>
          <a:p>
            <a:pPr>
              <a:lnSpc>
                <a:spcPct val="150000"/>
              </a:lnSpc>
            </a:pPr>
            <a:r>
              <a:rPr lang="zh-CN" altLang="en-US" dirty="0" smtClean="0">
                <a:latin typeface="+mn-ea"/>
              </a:rPr>
              <a:t>媒体类型是指设备类型，常用的有如下几种：</a:t>
            </a:r>
            <a:endParaRPr lang="en-US" altLang="zh-CN" dirty="0" smtClean="0">
              <a:latin typeface="+mn-ea"/>
            </a:endParaRPr>
          </a:p>
          <a:p>
            <a:pPr marL="342900" indent="-342900">
              <a:lnSpc>
                <a:spcPct val="150000"/>
              </a:lnSpc>
              <a:buFont typeface="+mj-ea"/>
              <a:buAutoNum type="circleNumDbPlain"/>
            </a:pPr>
            <a:r>
              <a:rPr lang="en-US" altLang="zh-CN" dirty="0" smtClean="0">
                <a:solidFill>
                  <a:srgbClr val="C00000"/>
                </a:solidFill>
                <a:latin typeface="+mn-ea"/>
              </a:rPr>
              <a:t>all</a:t>
            </a:r>
            <a:r>
              <a:rPr lang="zh-CN" altLang="en-US" dirty="0" smtClean="0">
                <a:solidFill>
                  <a:srgbClr val="C00000"/>
                </a:solidFill>
                <a:latin typeface="+mn-ea"/>
              </a:rPr>
              <a:t>：所有类型设备；</a:t>
            </a:r>
            <a:endParaRPr lang="en-US" altLang="zh-CN" dirty="0" smtClean="0">
              <a:solidFill>
                <a:srgbClr val="C00000"/>
              </a:solidFill>
              <a:latin typeface="+mn-ea"/>
            </a:endParaRPr>
          </a:p>
          <a:p>
            <a:pPr marL="342900" indent="-342900">
              <a:lnSpc>
                <a:spcPct val="150000"/>
              </a:lnSpc>
              <a:buFont typeface="+mj-ea"/>
              <a:buAutoNum type="circleNumDbPlain"/>
            </a:pPr>
            <a:r>
              <a:rPr lang="en-US" altLang="zh-CN" dirty="0" smtClean="0">
                <a:solidFill>
                  <a:srgbClr val="C00000"/>
                </a:solidFill>
                <a:latin typeface="+mn-ea"/>
              </a:rPr>
              <a:t>screen</a:t>
            </a:r>
            <a:r>
              <a:rPr lang="zh-CN" altLang="en-US" dirty="0" smtClean="0">
                <a:solidFill>
                  <a:srgbClr val="C00000"/>
                </a:solidFill>
                <a:latin typeface="+mn-ea"/>
              </a:rPr>
              <a:t>：计算机、平板电脑、智能手机等；</a:t>
            </a:r>
            <a:endParaRPr lang="en-US" altLang="zh-CN" dirty="0" smtClean="0">
              <a:solidFill>
                <a:srgbClr val="C00000"/>
              </a:solidFill>
              <a:latin typeface="+mn-ea"/>
            </a:endParaRPr>
          </a:p>
          <a:p>
            <a:pPr marL="342900" indent="-342900">
              <a:lnSpc>
                <a:spcPct val="150000"/>
              </a:lnSpc>
              <a:buFont typeface="+mj-ea"/>
              <a:buAutoNum type="circleNumDbPlain"/>
            </a:pPr>
            <a:r>
              <a:rPr lang="en-US" altLang="zh-CN" dirty="0" smtClean="0">
                <a:solidFill>
                  <a:srgbClr val="C00000"/>
                </a:solidFill>
                <a:latin typeface="+mn-ea"/>
              </a:rPr>
              <a:t>print</a:t>
            </a:r>
            <a:r>
              <a:rPr lang="zh-CN" altLang="en-US" dirty="0" smtClean="0">
                <a:solidFill>
                  <a:srgbClr val="C00000"/>
                </a:solidFill>
                <a:latin typeface="+mn-ea"/>
              </a:rPr>
              <a:t>：打印机和打印预览；</a:t>
            </a:r>
            <a:endParaRPr lang="en-US" altLang="zh-CN" dirty="0" smtClean="0">
              <a:solidFill>
                <a:srgbClr val="C00000"/>
              </a:solidFill>
              <a:latin typeface="+mn-ea"/>
            </a:endParaRPr>
          </a:p>
          <a:p>
            <a:pPr marL="342900" indent="-342900">
              <a:lnSpc>
                <a:spcPct val="150000"/>
              </a:lnSpc>
              <a:buFont typeface="+mj-ea"/>
              <a:buAutoNum type="circleNumDbPlain"/>
            </a:pPr>
            <a:r>
              <a:rPr lang="en-US" altLang="zh-CN" dirty="0">
                <a:solidFill>
                  <a:srgbClr val="C00000"/>
                </a:solidFill>
                <a:latin typeface="+mn-ea"/>
              </a:rPr>
              <a:t>s</a:t>
            </a:r>
            <a:r>
              <a:rPr lang="en-US" altLang="zh-CN" dirty="0" smtClean="0">
                <a:solidFill>
                  <a:srgbClr val="C00000"/>
                </a:solidFill>
                <a:latin typeface="+mn-ea"/>
              </a:rPr>
              <a:t>peech</a:t>
            </a:r>
            <a:r>
              <a:rPr lang="zh-CN" altLang="en-US" dirty="0">
                <a:solidFill>
                  <a:srgbClr val="C00000"/>
                </a:solidFill>
                <a:latin typeface="+mn-ea"/>
              </a:rPr>
              <a:t>：语音或音频合成</a:t>
            </a:r>
            <a:r>
              <a:rPr lang="zh-CN" altLang="en-US" dirty="0" smtClean="0">
                <a:solidFill>
                  <a:srgbClr val="C00000"/>
                </a:solidFill>
                <a:latin typeface="+mn-ea"/>
              </a:rPr>
              <a:t>器；</a:t>
            </a:r>
            <a:endParaRPr lang="en-US" altLang="zh-CN" dirty="0" smtClean="0">
              <a:solidFill>
                <a:srgbClr val="C00000"/>
              </a:solidFill>
              <a:latin typeface="+mn-ea"/>
            </a:endParaRPr>
          </a:p>
          <a:p>
            <a:pPr>
              <a:lnSpc>
                <a:spcPct val="150000"/>
              </a:lnSpc>
            </a:pPr>
            <a:r>
              <a:rPr lang="zh-CN" altLang="en-US" dirty="0" smtClean="0">
                <a:latin typeface="+mn-ea"/>
              </a:rPr>
              <a:t>例如，可分别设置屏幕设备和打印机的显示样式，屏幕设备上</a:t>
            </a:r>
            <a:r>
              <a:rPr lang="en-US" altLang="zh-CN" dirty="0" smtClean="0">
                <a:latin typeface="+mn-ea"/>
              </a:rPr>
              <a:t>h1</a:t>
            </a:r>
            <a:r>
              <a:rPr lang="zh-CN" altLang="en-US" dirty="0" smtClean="0">
                <a:latin typeface="+mn-ea"/>
              </a:rPr>
              <a:t>标题显示蓝色，所有设备包括屏幕设备或者打印机上段落文字加粗显示，代码如下：</a:t>
            </a:r>
            <a:endParaRPr lang="en-US" altLang="zh-CN" dirty="0" smtClean="0">
              <a:latin typeface="+mn-ea"/>
            </a:endParaRPr>
          </a:p>
        </p:txBody>
      </p:sp>
      <p:sp>
        <p:nvSpPr>
          <p:cNvPr id="2" name="矩形 1"/>
          <p:cNvSpPr/>
          <p:nvPr/>
        </p:nvSpPr>
        <p:spPr>
          <a:xfrm>
            <a:off x="795865" y="5349372"/>
            <a:ext cx="3425261" cy="1354217"/>
          </a:xfrm>
          <a:prstGeom prst="rect">
            <a:avLst/>
          </a:prstGeom>
          <a:solidFill>
            <a:schemeClr val="accent4">
              <a:lumMod val="20000"/>
              <a:lumOff val="80000"/>
            </a:schemeClr>
          </a:solidFill>
          <a:ln>
            <a:solidFill>
              <a:schemeClr val="bg2"/>
            </a:solidFill>
          </a:ln>
        </p:spPr>
        <p:txBody>
          <a:bodyPr wrap="square">
            <a:spAutoFit/>
          </a:bodyPr>
          <a:lstStyle/>
          <a:p>
            <a:r>
              <a:rPr lang="en-US" altLang="zh-CN" sz="1600" dirty="0"/>
              <a:t>@media all{</a:t>
            </a:r>
          </a:p>
          <a:p>
            <a:r>
              <a:rPr lang="en-US" altLang="zh-CN" sz="1600" dirty="0"/>
              <a:t>        p{</a:t>
            </a:r>
          </a:p>
          <a:p>
            <a:r>
              <a:rPr lang="en-US" altLang="zh-CN" sz="1600" dirty="0"/>
              <a:t>          font-weight: bold;</a:t>
            </a:r>
          </a:p>
          <a:p>
            <a:r>
              <a:rPr lang="en-US" altLang="zh-CN" sz="1600" dirty="0"/>
              <a:t>        }</a:t>
            </a:r>
          </a:p>
          <a:p>
            <a:r>
              <a:rPr lang="en-US" altLang="zh-CN" sz="1600" dirty="0" smtClean="0"/>
              <a:t>}</a:t>
            </a:r>
            <a:endParaRPr lang="en-US" altLang="zh-CN" sz="1600" dirty="0"/>
          </a:p>
        </p:txBody>
      </p:sp>
      <p:sp>
        <p:nvSpPr>
          <p:cNvPr id="3" name="矩形 2"/>
          <p:cNvSpPr/>
          <p:nvPr/>
        </p:nvSpPr>
        <p:spPr>
          <a:xfrm>
            <a:off x="4595592" y="5349371"/>
            <a:ext cx="3305616" cy="1354217"/>
          </a:xfrm>
          <a:prstGeom prst="rect">
            <a:avLst/>
          </a:prstGeom>
          <a:solidFill>
            <a:schemeClr val="accent4">
              <a:lumMod val="20000"/>
              <a:lumOff val="80000"/>
            </a:schemeClr>
          </a:solidFill>
          <a:ln>
            <a:solidFill>
              <a:schemeClr val="bg2"/>
            </a:solidFill>
          </a:ln>
        </p:spPr>
        <p:txBody>
          <a:bodyPr wrap="square">
            <a:spAutoFit/>
          </a:bodyPr>
          <a:lstStyle/>
          <a:p>
            <a:r>
              <a:rPr lang="en-US" altLang="zh-CN" sz="1600" dirty="0"/>
              <a:t>@media screen{</a:t>
            </a:r>
          </a:p>
          <a:p>
            <a:r>
              <a:rPr lang="en-US" altLang="zh-CN" sz="1600" dirty="0"/>
              <a:t>        h1{</a:t>
            </a:r>
          </a:p>
          <a:p>
            <a:r>
              <a:rPr lang="en-US" altLang="zh-CN" sz="1600" dirty="0"/>
              <a:t>          </a:t>
            </a:r>
            <a:r>
              <a:rPr lang="en-US" altLang="zh-CN" sz="1600" dirty="0" err="1"/>
              <a:t>color:blue</a:t>
            </a:r>
            <a:r>
              <a:rPr lang="en-US" altLang="zh-CN" sz="1600" dirty="0"/>
              <a:t>;</a:t>
            </a:r>
          </a:p>
          <a:p>
            <a:r>
              <a:rPr lang="en-US" altLang="zh-CN" sz="1600" dirty="0"/>
              <a:t>        }</a:t>
            </a:r>
          </a:p>
          <a:p>
            <a:r>
              <a:rPr lang="en-US" altLang="zh-CN" sz="1600" dirty="0" smtClean="0"/>
              <a:t>}</a:t>
            </a:r>
            <a:endParaRPr lang="en-US" altLang="zh-CN" sz="1600" dirty="0"/>
          </a:p>
        </p:txBody>
      </p:sp>
      <p:sp>
        <p:nvSpPr>
          <p:cNvPr id="6" name="矩形 5"/>
          <p:cNvSpPr/>
          <p:nvPr/>
        </p:nvSpPr>
        <p:spPr>
          <a:xfrm>
            <a:off x="795866" y="4141853"/>
            <a:ext cx="11213253" cy="1107996"/>
          </a:xfrm>
          <a:prstGeom prst="rect">
            <a:avLst/>
          </a:prstGeom>
          <a:solidFill>
            <a:schemeClr val="accent4">
              <a:lumMod val="20000"/>
              <a:lumOff val="80000"/>
            </a:schemeClr>
          </a:solidFill>
          <a:ln>
            <a:solidFill>
              <a:schemeClr val="bg2"/>
            </a:solidFill>
          </a:ln>
        </p:spPr>
        <p:txBody>
          <a:bodyPr wrap="square">
            <a:spAutoFit/>
          </a:bodyPr>
          <a:lstStyle/>
          <a:p>
            <a:r>
              <a:rPr lang="en-US" altLang="zh-CN" sz="1600" dirty="0"/>
              <a:t>&lt;h1&gt;</a:t>
            </a:r>
            <a:r>
              <a:rPr lang="zh-CN" altLang="en-US" sz="1600" dirty="0"/>
              <a:t>响应式开发</a:t>
            </a:r>
            <a:r>
              <a:rPr lang="en-US" altLang="zh-CN" sz="1600" dirty="0"/>
              <a:t>&lt;/h1&gt;</a:t>
            </a:r>
            <a:endParaRPr lang="zh-CN" altLang="en-US" sz="1600" dirty="0"/>
          </a:p>
          <a:p>
            <a:r>
              <a:rPr lang="en-US" altLang="zh-CN" sz="1600" dirty="0"/>
              <a:t>&lt;p</a:t>
            </a:r>
            <a:r>
              <a:rPr lang="en-US" altLang="zh-CN" sz="1600" dirty="0" smtClean="0"/>
              <a:t>&gt;</a:t>
            </a:r>
            <a:r>
              <a:rPr lang="zh-CN" altLang="en-US" sz="1600" dirty="0" smtClean="0"/>
              <a:t>响应</a:t>
            </a:r>
            <a:r>
              <a:rPr lang="zh-CN" altLang="en-US" sz="1600" dirty="0"/>
              <a:t>式开发的原理是使用</a:t>
            </a:r>
            <a:r>
              <a:rPr lang="en-US" altLang="zh-CN" sz="1600" dirty="0"/>
              <a:t>CSS3</a:t>
            </a:r>
            <a:r>
              <a:rPr lang="zh-CN" altLang="en-US" sz="1600" dirty="0"/>
              <a:t>中的</a:t>
            </a:r>
            <a:r>
              <a:rPr lang="en-US" altLang="zh-CN" sz="1600" dirty="0"/>
              <a:t>Media Query</a:t>
            </a:r>
            <a:r>
              <a:rPr lang="zh-CN" altLang="en-US" sz="1600" dirty="0"/>
              <a:t>（媒体查询）针对不同宽度的设备设置不同的布局和样式，从而适配不同的设备</a:t>
            </a:r>
            <a:r>
              <a:rPr lang="zh-CN" altLang="en-US" sz="1600" dirty="0" smtClean="0"/>
              <a:t>。</a:t>
            </a:r>
            <a:endParaRPr lang="en-US" altLang="zh-CN" sz="1600" dirty="0" smtClean="0"/>
          </a:p>
          <a:p>
            <a:r>
              <a:rPr lang="en-US" altLang="zh-CN" sz="1600" dirty="0" smtClean="0"/>
              <a:t>&lt;/</a:t>
            </a:r>
            <a:r>
              <a:rPr lang="en-US" altLang="zh-CN" sz="1600" dirty="0"/>
              <a:t>p&gt;</a:t>
            </a:r>
            <a:endParaRPr lang="zh-CN" altLang="en-US" sz="1600" dirty="0"/>
          </a:p>
        </p:txBody>
      </p:sp>
      <p:sp>
        <p:nvSpPr>
          <p:cNvPr id="8" name="矩形 7"/>
          <p:cNvSpPr/>
          <p:nvPr/>
        </p:nvSpPr>
        <p:spPr>
          <a:xfrm>
            <a:off x="0" y="702992"/>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3922272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mn-ea"/>
                <a:cs typeface="+mj-cs"/>
              </a:defRPr>
            </a:lvl1pPr>
          </a:lstStyle>
          <a:p>
            <a:r>
              <a:rPr lang="zh-CN" altLang="en-US" dirty="0"/>
              <a:t>媒体</a:t>
            </a:r>
            <a:r>
              <a:rPr lang="zh-CN" altLang="en-US" dirty="0" smtClean="0"/>
              <a:t>特征规则</a:t>
            </a:r>
            <a:endParaRPr lang="zh-CN" altLang="en-US" dirty="0"/>
          </a:p>
        </p:txBody>
      </p:sp>
      <p:sp>
        <p:nvSpPr>
          <p:cNvPr id="14" name="矩形 13"/>
          <p:cNvSpPr/>
          <p:nvPr/>
        </p:nvSpPr>
        <p:spPr>
          <a:xfrm>
            <a:off x="795867" y="1535248"/>
            <a:ext cx="10466493" cy="1754326"/>
          </a:xfrm>
          <a:prstGeom prst="rect">
            <a:avLst/>
          </a:prstGeom>
        </p:spPr>
        <p:txBody>
          <a:bodyPr wrap="square">
            <a:spAutoFit/>
          </a:bodyPr>
          <a:lstStyle/>
          <a:p>
            <a:pPr>
              <a:lnSpc>
                <a:spcPct val="150000"/>
              </a:lnSpc>
            </a:pPr>
            <a:r>
              <a:rPr lang="zh-CN" altLang="en-US" dirty="0" smtClean="0">
                <a:latin typeface="+mn-ea"/>
              </a:rPr>
              <a:t>媒体特征规则就是设备宽高、横屏或竖屏、屏幕分辨率等相关特征。媒体特征涉及的一个重要概念是视口，视口是与设备相关的一个矩形区域，可以采用相对单位描述其尺寸，并规定其最大或最小宽度。</a:t>
            </a:r>
            <a:endParaRPr lang="en-US" altLang="zh-CN" dirty="0" smtClean="0">
              <a:latin typeface="+mn-ea"/>
            </a:endParaRPr>
          </a:p>
          <a:p>
            <a:pPr>
              <a:lnSpc>
                <a:spcPct val="150000"/>
              </a:lnSpc>
            </a:pPr>
            <a:r>
              <a:rPr lang="en-US" altLang="zh-CN" dirty="0" smtClean="0">
                <a:solidFill>
                  <a:srgbClr val="C00000"/>
                </a:solidFill>
                <a:latin typeface="+mn-ea"/>
              </a:rPr>
              <a:t>1</a:t>
            </a:r>
            <a:r>
              <a:rPr lang="zh-CN" altLang="en-US" dirty="0" smtClean="0">
                <a:solidFill>
                  <a:srgbClr val="C00000"/>
                </a:solidFill>
                <a:latin typeface="+mn-ea"/>
              </a:rPr>
              <a:t>、视口</a:t>
            </a:r>
            <a:endParaRPr lang="en-US" altLang="zh-CN" dirty="0" smtClean="0">
              <a:solidFill>
                <a:srgbClr val="C00000"/>
              </a:solidFill>
              <a:latin typeface="+mn-ea"/>
            </a:endParaRPr>
          </a:p>
          <a:p>
            <a:pPr>
              <a:lnSpc>
                <a:spcPct val="150000"/>
              </a:lnSpc>
            </a:pPr>
            <a:r>
              <a:rPr lang="zh-CN" altLang="en-US" dirty="0" smtClean="0">
                <a:latin typeface="+mn-ea"/>
              </a:rPr>
              <a:t>视口分为两类：一类是设备视口，一类是布局视口。</a:t>
            </a:r>
            <a:endParaRPr lang="zh-CN" altLang="en-US" dirty="0"/>
          </a:p>
        </p:txBody>
      </p:sp>
      <p:pic>
        <p:nvPicPr>
          <p:cNvPr id="7" name="图片 6"/>
          <p:cNvPicPr>
            <a:picLocks noChangeAspect="1"/>
          </p:cNvPicPr>
          <p:nvPr/>
        </p:nvPicPr>
        <p:blipFill>
          <a:blip r:embed="rId3"/>
          <a:stretch>
            <a:fillRect/>
          </a:stretch>
        </p:blipFill>
        <p:spPr>
          <a:xfrm>
            <a:off x="5382895" y="3350437"/>
            <a:ext cx="3984887" cy="3049528"/>
          </a:xfrm>
          <a:prstGeom prst="rect">
            <a:avLst/>
          </a:prstGeom>
        </p:spPr>
      </p:pic>
      <p:pic>
        <p:nvPicPr>
          <p:cNvPr id="8" name="图片 7"/>
          <p:cNvPicPr>
            <a:picLocks noChangeAspect="1"/>
          </p:cNvPicPr>
          <p:nvPr/>
        </p:nvPicPr>
        <p:blipFill>
          <a:blip r:embed="rId4"/>
          <a:stretch>
            <a:fillRect/>
          </a:stretch>
        </p:blipFill>
        <p:spPr>
          <a:xfrm>
            <a:off x="795867" y="3429000"/>
            <a:ext cx="3950598" cy="2994604"/>
          </a:xfrm>
          <a:prstGeom prst="rect">
            <a:avLst/>
          </a:prstGeom>
        </p:spPr>
      </p:pic>
      <p:cxnSp>
        <p:nvCxnSpPr>
          <p:cNvPr id="12" name="直接箭头连接符 11"/>
          <p:cNvCxnSpPr/>
          <p:nvPr/>
        </p:nvCxnSpPr>
        <p:spPr>
          <a:xfrm>
            <a:off x="1014060" y="4362574"/>
            <a:ext cx="1302420" cy="0"/>
          </a:xfrm>
          <a:prstGeom prst="straightConnector1">
            <a:avLst/>
          </a:prstGeom>
          <a:ln w="571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944880" y="4448960"/>
            <a:ext cx="1371600" cy="523220"/>
          </a:xfrm>
          <a:prstGeom prst="rect">
            <a:avLst/>
          </a:prstGeom>
          <a:solidFill>
            <a:schemeClr val="bg1"/>
          </a:solidFill>
        </p:spPr>
        <p:txBody>
          <a:bodyPr wrap="square" rtlCol="0">
            <a:spAutoFit/>
          </a:bodyPr>
          <a:lstStyle/>
          <a:p>
            <a:r>
              <a:rPr lang="zh-CN" altLang="en-US" sz="1400" dirty="0" smtClean="0"/>
              <a:t>设备视口</a:t>
            </a:r>
            <a:endParaRPr lang="en-US" altLang="zh-CN" sz="1400" dirty="0" smtClean="0"/>
          </a:p>
          <a:p>
            <a:r>
              <a:rPr lang="en-US" altLang="zh-CN" sz="1400" dirty="0" smtClean="0"/>
              <a:t>device-width</a:t>
            </a:r>
            <a:endParaRPr lang="zh-CN" altLang="en-US" sz="1400" dirty="0"/>
          </a:p>
        </p:txBody>
      </p:sp>
      <p:sp>
        <p:nvSpPr>
          <p:cNvPr id="21" name="文本框 20"/>
          <p:cNvSpPr txBox="1"/>
          <p:nvPr/>
        </p:nvSpPr>
        <p:spPr>
          <a:xfrm>
            <a:off x="670705" y="6467914"/>
            <a:ext cx="3992306" cy="307777"/>
          </a:xfrm>
          <a:prstGeom prst="rect">
            <a:avLst/>
          </a:prstGeom>
          <a:solidFill>
            <a:schemeClr val="bg1"/>
          </a:solidFill>
        </p:spPr>
        <p:txBody>
          <a:bodyPr wrap="square" rtlCol="0">
            <a:spAutoFit/>
          </a:bodyPr>
          <a:lstStyle/>
          <a:p>
            <a:pPr algn="ctr"/>
            <a:r>
              <a:rPr lang="zh-CN" altLang="en-US" sz="1400" dirty="0" smtClean="0"/>
              <a:t>设备本身的宽度</a:t>
            </a:r>
            <a:endParaRPr lang="zh-CN" altLang="en-US" sz="1400" dirty="0"/>
          </a:p>
        </p:txBody>
      </p:sp>
      <p:sp>
        <p:nvSpPr>
          <p:cNvPr id="22" name="文本框 21"/>
          <p:cNvSpPr txBox="1"/>
          <p:nvPr/>
        </p:nvSpPr>
        <p:spPr>
          <a:xfrm>
            <a:off x="5577985" y="6481960"/>
            <a:ext cx="3992306" cy="307777"/>
          </a:xfrm>
          <a:prstGeom prst="rect">
            <a:avLst/>
          </a:prstGeom>
          <a:solidFill>
            <a:schemeClr val="bg1"/>
          </a:solidFill>
        </p:spPr>
        <p:txBody>
          <a:bodyPr wrap="square" rtlCol="0">
            <a:spAutoFit/>
          </a:bodyPr>
          <a:lstStyle/>
          <a:p>
            <a:pPr algn="ctr"/>
            <a:r>
              <a:rPr lang="zh-CN" altLang="en-US" sz="1400" dirty="0" smtClean="0"/>
              <a:t>页面的宽度</a:t>
            </a:r>
            <a:endParaRPr lang="zh-CN" altLang="en-US" sz="1400" dirty="0"/>
          </a:p>
        </p:txBody>
      </p:sp>
      <p:sp>
        <p:nvSpPr>
          <p:cNvPr id="11" name="矩形 10"/>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589231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mn-ea"/>
                <a:cs typeface="+mj-cs"/>
              </a:defRPr>
            </a:lvl1pPr>
          </a:lstStyle>
          <a:p>
            <a:r>
              <a:rPr lang="zh-CN" altLang="en-US" dirty="0"/>
              <a:t>媒体</a:t>
            </a:r>
            <a:r>
              <a:rPr lang="zh-CN" altLang="en-US" dirty="0" smtClean="0"/>
              <a:t>特征规则</a:t>
            </a:r>
            <a:endParaRPr lang="zh-CN" altLang="en-US" dirty="0"/>
          </a:p>
        </p:txBody>
      </p:sp>
      <p:sp>
        <p:nvSpPr>
          <p:cNvPr id="14" name="矩形 13"/>
          <p:cNvSpPr/>
          <p:nvPr/>
        </p:nvSpPr>
        <p:spPr>
          <a:xfrm>
            <a:off x="795867" y="1535248"/>
            <a:ext cx="10466493" cy="2249334"/>
          </a:xfrm>
          <a:prstGeom prst="rect">
            <a:avLst/>
          </a:prstGeom>
        </p:spPr>
        <p:txBody>
          <a:bodyPr wrap="square">
            <a:spAutoFit/>
          </a:bodyPr>
          <a:lstStyle/>
          <a:p>
            <a:pPr>
              <a:lnSpc>
                <a:spcPct val="150000"/>
              </a:lnSpc>
            </a:pPr>
            <a:r>
              <a:rPr lang="zh-CN" altLang="en-US" sz="2400" dirty="0" smtClean="0">
                <a:latin typeface="+mn-ea"/>
              </a:rPr>
              <a:t>一般最常探测的媒体特征是视口</a:t>
            </a:r>
            <a:r>
              <a:rPr lang="zh-CN" altLang="en-US" sz="2400" dirty="0">
                <a:latin typeface="+mn-ea"/>
              </a:rPr>
              <a:t>宽度，</a:t>
            </a:r>
            <a:r>
              <a:rPr lang="zh-CN" altLang="en-US" sz="2400" dirty="0" smtClean="0">
                <a:latin typeface="+mn-ea"/>
              </a:rPr>
              <a:t>而且可以</a:t>
            </a:r>
            <a:r>
              <a:rPr lang="zh-CN" altLang="en-US" sz="2400" dirty="0">
                <a:latin typeface="+mn-ea"/>
              </a:rPr>
              <a:t>使用</a:t>
            </a:r>
            <a:r>
              <a:rPr lang="en-US" altLang="zh-CN" sz="2400" dirty="0">
                <a:latin typeface="+mn-ea"/>
              </a:rPr>
              <a:t>min-width</a:t>
            </a:r>
            <a:r>
              <a:rPr lang="zh-CN" altLang="en-US" sz="2400" dirty="0">
                <a:latin typeface="+mn-ea"/>
              </a:rPr>
              <a:t>、</a:t>
            </a:r>
            <a:r>
              <a:rPr lang="en-US" altLang="zh-CN" sz="2400" dirty="0">
                <a:latin typeface="+mn-ea"/>
              </a:rPr>
              <a:t>max-width</a:t>
            </a:r>
            <a:r>
              <a:rPr lang="zh-CN" altLang="en-US" sz="2400" dirty="0">
                <a:latin typeface="+mn-ea"/>
              </a:rPr>
              <a:t>和</a:t>
            </a:r>
            <a:r>
              <a:rPr lang="en-US" altLang="zh-CN" sz="2400" dirty="0">
                <a:latin typeface="+mn-ea"/>
              </a:rPr>
              <a:t>width</a:t>
            </a:r>
            <a:r>
              <a:rPr lang="zh-CN" altLang="en-US" sz="2400" dirty="0">
                <a:latin typeface="+mn-ea"/>
              </a:rPr>
              <a:t>媒体特征，在视口宽度大于或者小于某个大小</a:t>
            </a:r>
            <a:r>
              <a:rPr lang="en-US" altLang="zh-CN" sz="2400" dirty="0">
                <a:latin typeface="+mn-ea"/>
              </a:rPr>
              <a:t>——</a:t>
            </a:r>
            <a:r>
              <a:rPr lang="zh-CN" altLang="en-US" sz="2400" dirty="0">
                <a:latin typeface="+mn-ea"/>
              </a:rPr>
              <a:t>或者是恰好处于某个大小</a:t>
            </a:r>
            <a:r>
              <a:rPr lang="en-US" altLang="zh-CN" sz="2400" dirty="0">
                <a:latin typeface="+mn-ea"/>
              </a:rPr>
              <a:t>——</a:t>
            </a:r>
            <a:r>
              <a:rPr lang="zh-CN" altLang="en-US" sz="2400" dirty="0">
                <a:latin typeface="+mn-ea"/>
              </a:rPr>
              <a:t>的时候，应用 </a:t>
            </a:r>
            <a:r>
              <a:rPr lang="en-US" altLang="zh-CN" sz="2400" dirty="0" smtClean="0">
                <a:latin typeface="+mn-ea"/>
              </a:rPr>
              <a:t>CSS</a:t>
            </a:r>
            <a:r>
              <a:rPr lang="zh-CN" altLang="en-US" sz="2400" dirty="0">
                <a:latin typeface="+mn-ea"/>
              </a:rPr>
              <a:t>样式规则。想在视口正好是 </a:t>
            </a:r>
            <a:r>
              <a:rPr lang="en-US" altLang="zh-CN" sz="2400" dirty="0" smtClean="0">
                <a:latin typeface="+mn-ea"/>
              </a:rPr>
              <a:t>600px</a:t>
            </a:r>
            <a:r>
              <a:rPr lang="zh-CN" altLang="en-US" sz="2400" dirty="0" smtClean="0">
                <a:latin typeface="+mn-ea"/>
              </a:rPr>
              <a:t>的</a:t>
            </a:r>
            <a:r>
              <a:rPr lang="zh-CN" altLang="en-US" sz="2400" dirty="0">
                <a:latin typeface="+mn-ea"/>
              </a:rPr>
              <a:t>时候，让 </a:t>
            </a:r>
            <a:r>
              <a:rPr lang="en-US" altLang="zh-CN" sz="2400" dirty="0">
                <a:latin typeface="+mn-ea"/>
              </a:rPr>
              <a:t>body </a:t>
            </a:r>
            <a:r>
              <a:rPr lang="zh-CN" altLang="en-US" sz="2400" dirty="0">
                <a:latin typeface="+mn-ea"/>
              </a:rPr>
              <a:t>的文本变为</a:t>
            </a:r>
            <a:r>
              <a:rPr lang="zh-CN" altLang="en-US" sz="2400" dirty="0" smtClean="0">
                <a:latin typeface="+mn-ea"/>
              </a:rPr>
              <a:t>红色。</a:t>
            </a:r>
            <a:endParaRPr lang="zh-CN" altLang="en-US" sz="2400" dirty="0"/>
          </a:p>
        </p:txBody>
      </p:sp>
      <p:pic>
        <p:nvPicPr>
          <p:cNvPr id="3" name="图片 2"/>
          <p:cNvPicPr>
            <a:picLocks noChangeAspect="1"/>
          </p:cNvPicPr>
          <p:nvPr/>
        </p:nvPicPr>
        <p:blipFill>
          <a:blip r:embed="rId3"/>
          <a:stretch>
            <a:fillRect/>
          </a:stretch>
        </p:blipFill>
        <p:spPr>
          <a:xfrm>
            <a:off x="795867" y="3922412"/>
            <a:ext cx="5985934" cy="2691518"/>
          </a:xfrm>
          <a:prstGeom prst="rect">
            <a:avLst/>
          </a:prstGeom>
        </p:spPr>
      </p:pic>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5349185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媒体特征规则</a:t>
            </a:r>
            <a:endParaRPr lang="zh-CN" altLang="en-US" dirty="0">
              <a:solidFill>
                <a:schemeClr val="tx1"/>
              </a:solidFill>
              <a:latin typeface="+mn-ea"/>
              <a:ea typeface="+mn-ea"/>
            </a:endParaRPr>
          </a:p>
        </p:txBody>
      </p:sp>
      <p:sp>
        <p:nvSpPr>
          <p:cNvPr id="14" name="矩形 13"/>
          <p:cNvSpPr/>
          <p:nvPr/>
        </p:nvSpPr>
        <p:spPr>
          <a:xfrm>
            <a:off x="795867" y="1357448"/>
            <a:ext cx="10466493" cy="4801314"/>
          </a:xfrm>
          <a:prstGeom prst="rect">
            <a:avLst/>
          </a:prstGeom>
        </p:spPr>
        <p:txBody>
          <a:bodyPr wrap="square">
            <a:spAutoFit/>
          </a:bodyPr>
          <a:lstStyle/>
          <a:p>
            <a:pPr>
              <a:lnSpc>
                <a:spcPct val="150000"/>
              </a:lnSpc>
            </a:pPr>
            <a:r>
              <a:rPr lang="en-US" altLang="zh-CN" sz="2400" b="1" dirty="0" smtClean="0">
                <a:solidFill>
                  <a:srgbClr val="C00000"/>
                </a:solidFill>
                <a:latin typeface="+mn-ea"/>
              </a:rPr>
              <a:t>max-width</a:t>
            </a:r>
            <a:r>
              <a:rPr lang="zh-CN" altLang="en-US" sz="2400" b="1" dirty="0" smtClean="0">
                <a:solidFill>
                  <a:srgbClr val="C00000"/>
                </a:solidFill>
                <a:latin typeface="+mn-ea"/>
              </a:rPr>
              <a:t>和</a:t>
            </a:r>
            <a:r>
              <a:rPr lang="en-US" altLang="zh-CN" sz="2400" b="1" dirty="0" smtClean="0">
                <a:solidFill>
                  <a:srgbClr val="C00000"/>
                </a:solidFill>
                <a:latin typeface="+mn-ea"/>
              </a:rPr>
              <a:t>min-width</a:t>
            </a:r>
            <a:r>
              <a:rPr lang="zh-CN" altLang="en-US" sz="2400" b="1" dirty="0" smtClean="0">
                <a:solidFill>
                  <a:srgbClr val="C00000"/>
                </a:solidFill>
                <a:latin typeface="+mn-ea"/>
              </a:rPr>
              <a:t>属性</a:t>
            </a:r>
            <a:endParaRPr lang="en-US" altLang="zh-CN" sz="2400" b="1" dirty="0" smtClean="0">
              <a:solidFill>
                <a:srgbClr val="C00000"/>
              </a:solidFill>
              <a:latin typeface="+mn-ea"/>
            </a:endParaRPr>
          </a:p>
          <a:p>
            <a:pPr marL="342900" indent="-342900">
              <a:lnSpc>
                <a:spcPct val="150000"/>
              </a:lnSpc>
              <a:buFont typeface="+mj-ea"/>
              <a:buAutoNum type="circleNumDbPlain"/>
            </a:pPr>
            <a:r>
              <a:rPr lang="en-US" altLang="zh-CN" sz="2000" dirty="0" smtClean="0"/>
              <a:t>max-width</a:t>
            </a:r>
            <a:r>
              <a:rPr lang="zh-CN" altLang="en-US" sz="2000" dirty="0" smtClean="0"/>
              <a:t>：是指视口的最大宽度，当视口宽度小于或等于指定的宽度时，样式生效。当</a:t>
            </a:r>
            <a:r>
              <a:rPr lang="en-US" altLang="zh-CN" sz="2000" dirty="0" smtClean="0"/>
              <a:t>PC</a:t>
            </a:r>
            <a:r>
              <a:rPr lang="zh-CN" altLang="en-US" sz="2000" dirty="0" smtClean="0"/>
              <a:t>端优先（指开发时优先考虑</a:t>
            </a:r>
            <a:r>
              <a:rPr lang="en-US" altLang="zh-CN" sz="2000" dirty="0" smtClean="0"/>
              <a:t>PC</a:t>
            </a:r>
            <a:r>
              <a:rPr lang="zh-CN" altLang="en-US" sz="2000" dirty="0" smtClean="0"/>
              <a:t>用户体验）、适配移动端时使用</a:t>
            </a:r>
            <a:r>
              <a:rPr lang="en-US" altLang="zh-CN" sz="2000" dirty="0" smtClean="0"/>
              <a:t>max-width</a:t>
            </a:r>
            <a:r>
              <a:rPr lang="zh-CN" altLang="en-US" sz="2000" dirty="0" smtClean="0"/>
              <a:t>。</a:t>
            </a:r>
            <a:endParaRPr lang="en-US" altLang="zh-CN" sz="2000" dirty="0"/>
          </a:p>
          <a:p>
            <a:pPr marL="342900" indent="-342900">
              <a:lnSpc>
                <a:spcPct val="150000"/>
              </a:lnSpc>
              <a:buFont typeface="+mj-ea"/>
              <a:buAutoNum type="circleNumDbPlain"/>
            </a:pPr>
            <a:endParaRPr lang="en-US" altLang="zh-CN" sz="2000" dirty="0" smtClean="0"/>
          </a:p>
          <a:p>
            <a:pPr marL="342900" indent="-342900">
              <a:lnSpc>
                <a:spcPct val="150000"/>
              </a:lnSpc>
              <a:buFont typeface="+mj-ea"/>
              <a:buAutoNum type="circleNumDbPlain"/>
            </a:pPr>
            <a:endParaRPr lang="en-US" altLang="zh-CN" sz="2000" dirty="0"/>
          </a:p>
          <a:p>
            <a:pPr marL="342900" indent="-342900">
              <a:lnSpc>
                <a:spcPct val="150000"/>
              </a:lnSpc>
              <a:buFont typeface="+mj-ea"/>
              <a:buAutoNum type="circleNumDbPlain"/>
            </a:pPr>
            <a:endParaRPr lang="en-US" altLang="zh-CN" sz="2000" dirty="0" smtClean="0"/>
          </a:p>
          <a:p>
            <a:pPr marL="342900" indent="-342900">
              <a:lnSpc>
                <a:spcPct val="150000"/>
              </a:lnSpc>
              <a:buFont typeface="+mj-ea"/>
              <a:buAutoNum type="circleNumDbPlain"/>
            </a:pPr>
            <a:endParaRPr lang="en-US" altLang="zh-CN" sz="2000" dirty="0"/>
          </a:p>
          <a:p>
            <a:pPr marL="342900" indent="-342900">
              <a:lnSpc>
                <a:spcPct val="150000"/>
              </a:lnSpc>
              <a:buFont typeface="+mj-ea"/>
              <a:buAutoNum type="circleNumDbPlain"/>
            </a:pPr>
            <a:endParaRPr lang="en-US" altLang="zh-CN" sz="2000" dirty="0" smtClean="0"/>
          </a:p>
          <a:p>
            <a:pPr marL="342900" indent="-342900">
              <a:lnSpc>
                <a:spcPct val="150000"/>
              </a:lnSpc>
              <a:buFont typeface="+mj-ea"/>
              <a:buAutoNum type="circleNumDbPlain" startAt="2"/>
            </a:pPr>
            <a:r>
              <a:rPr lang="en-US" altLang="zh-CN" sz="2000" dirty="0" smtClean="0"/>
              <a:t>min-width</a:t>
            </a:r>
            <a:r>
              <a:rPr lang="zh-CN" altLang="en-US" sz="2000" dirty="0"/>
              <a:t>：是指视口的</a:t>
            </a:r>
            <a:r>
              <a:rPr lang="zh-CN" altLang="en-US" sz="2000" dirty="0" smtClean="0"/>
              <a:t>最</a:t>
            </a:r>
            <a:r>
              <a:rPr lang="zh-CN" altLang="en-US" sz="2000" dirty="0"/>
              <a:t>小</a:t>
            </a:r>
            <a:r>
              <a:rPr lang="zh-CN" altLang="en-US" sz="2000" dirty="0" smtClean="0"/>
              <a:t>宽度</a:t>
            </a:r>
            <a:r>
              <a:rPr lang="zh-CN" altLang="en-US" sz="2000" dirty="0"/>
              <a:t>，当视口</a:t>
            </a:r>
            <a:r>
              <a:rPr lang="zh-CN" altLang="en-US" sz="2000" dirty="0" smtClean="0"/>
              <a:t>宽度大于</a:t>
            </a:r>
            <a:r>
              <a:rPr lang="zh-CN" altLang="en-US" sz="2000" dirty="0"/>
              <a:t>或等于指定的宽度时，样式生效。</a:t>
            </a:r>
            <a:r>
              <a:rPr lang="zh-CN" altLang="en-US" sz="2000" dirty="0" smtClean="0"/>
              <a:t>当移动端优先、适配</a:t>
            </a:r>
            <a:r>
              <a:rPr lang="en-US" altLang="zh-CN" sz="2000" dirty="0" smtClean="0"/>
              <a:t>PC</a:t>
            </a:r>
            <a:r>
              <a:rPr lang="zh-CN" altLang="en-US" sz="2000" dirty="0" smtClean="0"/>
              <a:t>端</a:t>
            </a:r>
            <a:r>
              <a:rPr lang="zh-CN" altLang="en-US" sz="2000" dirty="0"/>
              <a:t>时使用</a:t>
            </a:r>
            <a:r>
              <a:rPr lang="en-US" altLang="zh-CN" sz="2000" dirty="0" smtClean="0"/>
              <a:t>min-width</a:t>
            </a:r>
            <a:r>
              <a:rPr lang="zh-CN" altLang="en-US" sz="2000" dirty="0"/>
              <a:t>。</a:t>
            </a:r>
          </a:p>
        </p:txBody>
      </p:sp>
      <p:pic>
        <p:nvPicPr>
          <p:cNvPr id="10" name="图片 9"/>
          <p:cNvPicPr>
            <a:picLocks noChangeAspect="1"/>
          </p:cNvPicPr>
          <p:nvPr/>
        </p:nvPicPr>
        <p:blipFill>
          <a:blip r:embed="rId3"/>
          <a:stretch>
            <a:fillRect/>
          </a:stretch>
        </p:blipFill>
        <p:spPr>
          <a:xfrm>
            <a:off x="1168399" y="2914656"/>
            <a:ext cx="4983019" cy="2142698"/>
          </a:xfrm>
          <a:prstGeom prst="rect">
            <a:avLst/>
          </a:prstGeom>
        </p:spPr>
      </p:pic>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7091735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384682"/>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媒体特征规则</a:t>
            </a:r>
            <a:endParaRPr lang="zh-CN" altLang="en-US" dirty="0">
              <a:solidFill>
                <a:schemeClr val="tx1"/>
              </a:solidFill>
              <a:latin typeface="+mn-ea"/>
              <a:ea typeface="+mn-ea"/>
            </a:endParaRPr>
          </a:p>
        </p:txBody>
      </p:sp>
      <p:sp>
        <p:nvSpPr>
          <p:cNvPr id="14" name="矩形 13"/>
          <p:cNvSpPr/>
          <p:nvPr/>
        </p:nvSpPr>
        <p:spPr>
          <a:xfrm>
            <a:off x="795867" y="1321410"/>
            <a:ext cx="10466493" cy="3323987"/>
          </a:xfrm>
          <a:prstGeom prst="rect">
            <a:avLst/>
          </a:prstGeom>
        </p:spPr>
        <p:txBody>
          <a:bodyPr wrap="square">
            <a:spAutoFit/>
          </a:bodyPr>
          <a:lstStyle/>
          <a:p>
            <a:pPr>
              <a:lnSpc>
                <a:spcPct val="150000"/>
              </a:lnSpc>
            </a:pPr>
            <a:r>
              <a:rPr lang="zh-CN" altLang="en-US" sz="2000" dirty="0" smtClean="0">
                <a:latin typeface="+mn-ea"/>
              </a:rPr>
              <a:t>可以应用</a:t>
            </a:r>
            <a:r>
              <a:rPr lang="en-US" altLang="zh-CN" sz="2000" dirty="0" smtClean="0">
                <a:latin typeface="+mn-ea"/>
              </a:rPr>
              <a:t>meta</a:t>
            </a:r>
            <a:r>
              <a:rPr lang="zh-CN" altLang="en-US" sz="2000" dirty="0" smtClean="0">
                <a:latin typeface="+mn-ea"/>
              </a:rPr>
              <a:t>元素对响应式布局视口做出规定，例如：</a:t>
            </a:r>
            <a:endParaRPr lang="en-US" altLang="zh-CN" sz="2000" dirty="0" smtClean="0">
              <a:latin typeface="+mn-ea"/>
            </a:endParaRPr>
          </a:p>
          <a:p>
            <a:pPr>
              <a:lnSpc>
                <a:spcPct val="150000"/>
              </a:lnSpc>
            </a:pPr>
            <a:r>
              <a:rPr lang="en-US" altLang="zh-CN" sz="2000" u="sng" dirty="0"/>
              <a:t>&lt;meta name="viewport" content="width=device-width, initial-scale=1.0" </a:t>
            </a:r>
            <a:r>
              <a:rPr lang="en-US" altLang="zh-CN" sz="2000" u="sng" dirty="0" smtClean="0"/>
              <a:t>/&gt;</a:t>
            </a:r>
          </a:p>
          <a:p>
            <a:pPr marL="342900" indent="-342900">
              <a:lnSpc>
                <a:spcPct val="150000"/>
              </a:lnSpc>
              <a:buFont typeface="+mj-ea"/>
              <a:buAutoNum type="circleNumDbPlain"/>
            </a:pPr>
            <a:r>
              <a:rPr lang="en-US" altLang="zh-CN" sz="2000" dirty="0" smtClean="0"/>
              <a:t>width=device-width</a:t>
            </a:r>
            <a:r>
              <a:rPr lang="zh-CN" altLang="en-US" sz="2000" dirty="0" smtClean="0"/>
              <a:t>表示布局视口宽度要与设备视口宽度缩放到一致</a:t>
            </a:r>
            <a:endParaRPr lang="en-US" altLang="zh-CN" sz="2000" dirty="0" smtClean="0"/>
          </a:p>
          <a:p>
            <a:pPr marL="342900" indent="-342900">
              <a:lnSpc>
                <a:spcPct val="150000"/>
              </a:lnSpc>
              <a:buFont typeface="+mj-ea"/>
              <a:buAutoNum type="circleNumDbPlain"/>
            </a:pPr>
            <a:r>
              <a:rPr lang="en-US" altLang="zh-CN" sz="2000" dirty="0" smtClean="0"/>
              <a:t>initial-scale=1.0</a:t>
            </a:r>
            <a:r>
              <a:rPr lang="zh-CN" altLang="en-US" sz="2000" dirty="0" smtClean="0"/>
              <a:t>表示页面最初加载时的缩放比例，即</a:t>
            </a:r>
            <a:r>
              <a:rPr lang="en-US" altLang="zh-CN" sz="2000" dirty="0" smtClean="0"/>
              <a:t>device-width/width=1.0</a:t>
            </a:r>
          </a:p>
          <a:p>
            <a:pPr marL="342900" indent="-342900">
              <a:lnSpc>
                <a:spcPct val="150000"/>
              </a:lnSpc>
              <a:buFont typeface="+mj-ea"/>
              <a:buAutoNum type="circleNumDbPlain"/>
            </a:pPr>
            <a:r>
              <a:rPr lang="en-US" altLang="zh-CN" sz="2000" dirty="0" smtClean="0"/>
              <a:t>initial-scale</a:t>
            </a:r>
            <a:r>
              <a:rPr lang="zh-CN" altLang="en-US" sz="2000" dirty="0" smtClean="0"/>
              <a:t>和</a:t>
            </a:r>
            <a:r>
              <a:rPr lang="en-US" altLang="zh-CN" sz="2000" dirty="0" smtClean="0"/>
              <a:t>width</a:t>
            </a:r>
            <a:r>
              <a:rPr lang="zh-CN" altLang="en-US" sz="2000" dirty="0" smtClean="0"/>
              <a:t>可以只设置其中一个，另一个会被推算出来；如果</a:t>
            </a:r>
            <a:r>
              <a:rPr lang="en-US" altLang="zh-CN" sz="2000" dirty="0" smtClean="0"/>
              <a:t>initial-scale</a:t>
            </a:r>
            <a:r>
              <a:rPr lang="zh-CN" altLang="en-US" sz="2000" dirty="0" smtClean="0"/>
              <a:t>和</a:t>
            </a:r>
            <a:r>
              <a:rPr lang="en-US" altLang="zh-CN" sz="2000" dirty="0" smtClean="0"/>
              <a:t>width</a:t>
            </a:r>
            <a:r>
              <a:rPr lang="zh-CN" altLang="en-US" sz="2000" dirty="0" smtClean="0"/>
              <a:t>同时设置，会取计算后大的那一个，保证页面宽度刚好容纳进设备视口。</a:t>
            </a:r>
            <a:endParaRPr lang="en-US" altLang="zh-CN" sz="2000" dirty="0" smtClean="0"/>
          </a:p>
          <a:p>
            <a:pPr>
              <a:lnSpc>
                <a:spcPct val="150000"/>
              </a:lnSpc>
            </a:pPr>
            <a:r>
              <a:rPr lang="zh-CN" altLang="en-US" sz="2000" dirty="0" smtClean="0">
                <a:solidFill>
                  <a:srgbClr val="C00000"/>
                </a:solidFill>
              </a:rPr>
              <a:t>设备视口的宽度分类：（手机</a:t>
            </a:r>
            <a:r>
              <a:rPr lang="en-US" altLang="zh-CN" sz="2000" dirty="0" smtClean="0">
                <a:solidFill>
                  <a:srgbClr val="C00000"/>
                </a:solidFill>
              </a:rPr>
              <a:t>-&gt;</a:t>
            </a:r>
            <a:r>
              <a:rPr lang="zh-CN" altLang="en-US" sz="2000" dirty="0" smtClean="0">
                <a:solidFill>
                  <a:srgbClr val="C00000"/>
                </a:solidFill>
              </a:rPr>
              <a:t>平板</a:t>
            </a:r>
            <a:r>
              <a:rPr lang="en-US" altLang="zh-CN" sz="2000" dirty="0" smtClean="0">
                <a:solidFill>
                  <a:srgbClr val="C00000"/>
                </a:solidFill>
              </a:rPr>
              <a:t>-&gt;</a:t>
            </a:r>
            <a:r>
              <a:rPr lang="zh-CN" altLang="en-US" sz="2000" dirty="0" smtClean="0">
                <a:solidFill>
                  <a:srgbClr val="C00000"/>
                </a:solidFill>
              </a:rPr>
              <a:t>桌面显示器</a:t>
            </a:r>
            <a:r>
              <a:rPr lang="en-US" altLang="zh-CN" sz="2000" dirty="0" smtClean="0">
                <a:solidFill>
                  <a:srgbClr val="C00000"/>
                </a:solidFill>
              </a:rPr>
              <a:t>-&gt;</a:t>
            </a:r>
            <a:r>
              <a:rPr lang="zh-CN" altLang="en-US" sz="2000" dirty="0" smtClean="0">
                <a:solidFill>
                  <a:srgbClr val="C00000"/>
                </a:solidFill>
              </a:rPr>
              <a:t>大桌面显示器）</a:t>
            </a:r>
            <a:endParaRPr lang="zh-CN" altLang="en-US" sz="2000" dirty="0"/>
          </a:p>
        </p:txBody>
      </p:sp>
      <p:graphicFrame>
        <p:nvGraphicFramePr>
          <p:cNvPr id="12" name="object 12"/>
          <p:cNvGraphicFramePr>
            <a:graphicFrameLocks noGrp="1"/>
          </p:cNvGraphicFramePr>
          <p:nvPr>
            <p:extLst/>
          </p:nvPr>
        </p:nvGraphicFramePr>
        <p:xfrm>
          <a:off x="897466" y="4645397"/>
          <a:ext cx="6633633" cy="2132438"/>
        </p:xfrm>
        <a:graphic>
          <a:graphicData uri="http://schemas.openxmlformats.org/drawingml/2006/table">
            <a:tbl>
              <a:tblPr firstRow="1" bandRow="1">
                <a:tableStyleId>{284E427A-3D55-4303-BF80-6455036E1DE7}</a:tableStyleId>
              </a:tblPr>
              <a:tblGrid>
                <a:gridCol w="3365692">
                  <a:extLst>
                    <a:ext uri="{9D8B030D-6E8A-4147-A177-3AD203B41FA5}">
                      <a16:colId xmlns:a16="http://schemas.microsoft.com/office/drawing/2014/main" val="20000"/>
                    </a:ext>
                  </a:extLst>
                </a:gridCol>
                <a:gridCol w="3267941">
                  <a:extLst>
                    <a:ext uri="{9D8B030D-6E8A-4147-A177-3AD203B41FA5}">
                      <a16:colId xmlns:a16="http://schemas.microsoft.com/office/drawing/2014/main" val="20001"/>
                    </a:ext>
                  </a:extLst>
                </a:gridCol>
              </a:tblGrid>
              <a:tr h="491187">
                <a:tc>
                  <a:txBody>
                    <a:bodyPr/>
                    <a:lstStyle/>
                    <a:p>
                      <a:pPr marL="1010919">
                        <a:lnSpc>
                          <a:spcPct val="100000"/>
                        </a:lnSpc>
                        <a:spcBef>
                          <a:spcPts val="1460"/>
                        </a:spcBef>
                      </a:pPr>
                      <a:r>
                        <a:rPr sz="1800" dirty="0"/>
                        <a:t>设备屏幕</a:t>
                      </a:r>
                      <a:endParaRPr sz="1800" dirty="0">
                        <a:latin typeface="微软雅黑"/>
                        <a:cs typeface="微软雅黑"/>
                      </a:endParaRPr>
                    </a:p>
                  </a:txBody>
                  <a:tcPr marL="0" marR="0" marT="185420" marB="0"/>
                </a:tc>
                <a:tc>
                  <a:txBody>
                    <a:bodyPr/>
                    <a:lstStyle/>
                    <a:p>
                      <a:pPr marL="635" algn="ctr">
                        <a:lnSpc>
                          <a:spcPct val="100000"/>
                        </a:lnSpc>
                        <a:spcBef>
                          <a:spcPts val="1125"/>
                        </a:spcBef>
                      </a:pPr>
                      <a:r>
                        <a:rPr sz="1800" baseline="-9722" dirty="0" err="1" smtClean="0"/>
                        <a:t>尺寸</a:t>
                      </a:r>
                      <a:r>
                        <a:rPr lang="en-US" sz="1800" baseline="-9722" dirty="0" smtClean="0"/>
                        <a:t>/</a:t>
                      </a:r>
                      <a:r>
                        <a:rPr sz="1800" dirty="0" err="1" smtClean="0"/>
                        <a:t>px</a:t>
                      </a:r>
                      <a:endParaRPr sz="1800" dirty="0">
                        <a:latin typeface="Times New Roman"/>
                        <a:cs typeface="Times New Roman"/>
                      </a:endParaRPr>
                    </a:p>
                  </a:txBody>
                  <a:tcPr marL="0" marR="0" marT="142875" marB="0"/>
                </a:tc>
                <a:extLst>
                  <a:ext uri="{0D108BD9-81ED-4DB2-BD59-A6C34878D82A}">
                    <a16:rowId xmlns:a16="http://schemas.microsoft.com/office/drawing/2014/main" val="10000"/>
                  </a:ext>
                </a:extLst>
              </a:tr>
              <a:tr h="382420">
                <a:tc>
                  <a:txBody>
                    <a:bodyPr/>
                    <a:lstStyle/>
                    <a:p>
                      <a:pPr marL="287020">
                        <a:lnSpc>
                          <a:spcPct val="100000"/>
                        </a:lnSpc>
                        <a:spcBef>
                          <a:spcPts val="785"/>
                        </a:spcBef>
                      </a:pPr>
                      <a:r>
                        <a:rPr sz="1600" baseline="-9722" dirty="0"/>
                        <a:t>超小屏</a:t>
                      </a:r>
                      <a:r>
                        <a:rPr sz="1600" dirty="0"/>
                        <a:t>extra</a:t>
                      </a:r>
                      <a:r>
                        <a:rPr sz="1600" spc="-45" dirty="0"/>
                        <a:t> </a:t>
                      </a:r>
                      <a:r>
                        <a:rPr sz="1600" dirty="0"/>
                        <a:t>small</a:t>
                      </a:r>
                      <a:endParaRPr sz="1600" dirty="0">
                        <a:latin typeface="Times New Roman"/>
                        <a:cs typeface="Times New Roman"/>
                      </a:endParaRPr>
                    </a:p>
                  </a:txBody>
                  <a:tcPr marL="0" marR="0" marT="99695" marB="0"/>
                </a:tc>
                <a:tc>
                  <a:txBody>
                    <a:bodyPr/>
                    <a:lstStyle/>
                    <a:p>
                      <a:pPr algn="ctr">
                        <a:lnSpc>
                          <a:spcPct val="100000"/>
                        </a:lnSpc>
                        <a:spcBef>
                          <a:spcPts val="785"/>
                        </a:spcBef>
                      </a:pPr>
                      <a:r>
                        <a:rPr sz="1600" dirty="0"/>
                        <a:t>&lt;768</a:t>
                      </a:r>
                      <a:endParaRPr sz="1600" dirty="0">
                        <a:latin typeface="Times New Roman"/>
                        <a:cs typeface="Times New Roman"/>
                      </a:endParaRPr>
                    </a:p>
                  </a:txBody>
                  <a:tcPr marL="0" marR="0" marT="99695" marB="0"/>
                </a:tc>
                <a:extLst>
                  <a:ext uri="{0D108BD9-81ED-4DB2-BD59-A6C34878D82A}">
                    <a16:rowId xmlns:a16="http://schemas.microsoft.com/office/drawing/2014/main" val="10001"/>
                  </a:ext>
                </a:extLst>
              </a:tr>
              <a:tr h="382420">
                <a:tc>
                  <a:txBody>
                    <a:bodyPr/>
                    <a:lstStyle/>
                    <a:p>
                      <a:pPr marL="287020">
                        <a:lnSpc>
                          <a:spcPct val="100000"/>
                        </a:lnSpc>
                        <a:spcBef>
                          <a:spcPts val="785"/>
                        </a:spcBef>
                      </a:pPr>
                      <a:r>
                        <a:rPr sz="1600" baseline="-9722" dirty="0"/>
                        <a:t>小屏</a:t>
                      </a:r>
                      <a:r>
                        <a:rPr sz="1600" dirty="0"/>
                        <a:t>small</a:t>
                      </a:r>
                      <a:endParaRPr sz="1600">
                        <a:latin typeface="Times New Roman"/>
                        <a:cs typeface="Times New Roman"/>
                      </a:endParaRPr>
                    </a:p>
                  </a:txBody>
                  <a:tcPr marL="0" marR="0" marT="99695" marB="0"/>
                </a:tc>
                <a:tc>
                  <a:txBody>
                    <a:bodyPr/>
                    <a:lstStyle/>
                    <a:p>
                      <a:pPr algn="ctr">
                        <a:lnSpc>
                          <a:spcPct val="100000"/>
                        </a:lnSpc>
                        <a:spcBef>
                          <a:spcPts val="785"/>
                        </a:spcBef>
                      </a:pPr>
                      <a:r>
                        <a:rPr lang="en-US" sz="2400" spc="7" baseline="-6944" dirty="0" smtClean="0"/>
                        <a:t>&gt;=</a:t>
                      </a:r>
                      <a:r>
                        <a:rPr sz="1600" spc="5" dirty="0" smtClean="0"/>
                        <a:t>768</a:t>
                      </a:r>
                      <a:endParaRPr sz="1600" dirty="0">
                        <a:latin typeface="Times New Roman"/>
                        <a:cs typeface="Times New Roman"/>
                      </a:endParaRPr>
                    </a:p>
                  </a:txBody>
                  <a:tcPr marL="0" marR="0" marT="99695" marB="0"/>
                </a:tc>
                <a:extLst>
                  <a:ext uri="{0D108BD9-81ED-4DB2-BD59-A6C34878D82A}">
                    <a16:rowId xmlns:a16="http://schemas.microsoft.com/office/drawing/2014/main" val="10002"/>
                  </a:ext>
                </a:extLst>
              </a:tr>
              <a:tr h="493991">
                <a:tc>
                  <a:txBody>
                    <a:bodyPr/>
                    <a:lstStyle/>
                    <a:p>
                      <a:pPr marL="287020">
                        <a:lnSpc>
                          <a:spcPct val="100000"/>
                        </a:lnSpc>
                        <a:spcBef>
                          <a:spcPts val="1425"/>
                        </a:spcBef>
                      </a:pPr>
                      <a:r>
                        <a:rPr sz="1600" baseline="-9722" dirty="0"/>
                        <a:t>中等</a:t>
                      </a:r>
                      <a:r>
                        <a:rPr sz="1600" dirty="0"/>
                        <a:t>medium</a:t>
                      </a:r>
                      <a:endParaRPr sz="1600">
                        <a:latin typeface="Times New Roman"/>
                        <a:cs typeface="Times New Roman"/>
                      </a:endParaRPr>
                    </a:p>
                  </a:txBody>
                  <a:tcPr marL="0" marR="0" marT="180975" marB="0"/>
                </a:tc>
                <a:tc>
                  <a:txBody>
                    <a:bodyPr/>
                    <a:lstStyle/>
                    <a:p>
                      <a:pPr algn="ctr">
                        <a:lnSpc>
                          <a:spcPct val="100000"/>
                        </a:lnSpc>
                        <a:spcBef>
                          <a:spcPts val="1425"/>
                        </a:spcBef>
                      </a:pPr>
                      <a:r>
                        <a:rPr lang="en-US" sz="2400" spc="7" baseline="-6944" dirty="0" smtClean="0"/>
                        <a:t>&gt;=</a:t>
                      </a:r>
                      <a:r>
                        <a:rPr sz="1600" spc="5" dirty="0" smtClean="0"/>
                        <a:t>992</a:t>
                      </a:r>
                      <a:endParaRPr sz="1600" dirty="0">
                        <a:latin typeface="Times New Roman"/>
                        <a:cs typeface="Times New Roman"/>
                      </a:endParaRPr>
                    </a:p>
                  </a:txBody>
                  <a:tcPr marL="0" marR="0" marT="180975" marB="0"/>
                </a:tc>
                <a:extLst>
                  <a:ext uri="{0D108BD9-81ED-4DB2-BD59-A6C34878D82A}">
                    <a16:rowId xmlns:a16="http://schemas.microsoft.com/office/drawing/2014/main" val="10003"/>
                  </a:ext>
                </a:extLst>
              </a:tr>
              <a:tr h="382420">
                <a:tc>
                  <a:txBody>
                    <a:bodyPr/>
                    <a:lstStyle/>
                    <a:p>
                      <a:pPr marL="287020">
                        <a:lnSpc>
                          <a:spcPct val="100000"/>
                        </a:lnSpc>
                        <a:spcBef>
                          <a:spcPts val="785"/>
                        </a:spcBef>
                      </a:pPr>
                      <a:r>
                        <a:rPr sz="1600" baseline="-9722" dirty="0"/>
                        <a:t>大屏</a:t>
                      </a:r>
                      <a:r>
                        <a:rPr sz="1600" dirty="0"/>
                        <a:t>large</a:t>
                      </a:r>
                      <a:endParaRPr sz="1600" dirty="0">
                        <a:latin typeface="Times New Roman"/>
                        <a:cs typeface="Times New Roman"/>
                      </a:endParaRPr>
                    </a:p>
                  </a:txBody>
                  <a:tcPr marL="0" marR="0" marT="99695" marB="0"/>
                </a:tc>
                <a:tc>
                  <a:txBody>
                    <a:bodyPr/>
                    <a:lstStyle/>
                    <a:p>
                      <a:pPr algn="ctr">
                        <a:lnSpc>
                          <a:spcPct val="100000"/>
                        </a:lnSpc>
                        <a:spcBef>
                          <a:spcPts val="785"/>
                        </a:spcBef>
                      </a:pPr>
                      <a:r>
                        <a:rPr lang="en-US" sz="2400" baseline="-6944" dirty="0" smtClean="0"/>
                        <a:t>&gt;=</a:t>
                      </a:r>
                      <a:r>
                        <a:rPr sz="1600" dirty="0" smtClean="0"/>
                        <a:t>1200</a:t>
                      </a:r>
                      <a:endParaRPr sz="1600" dirty="0">
                        <a:latin typeface="Times New Roman"/>
                        <a:cs typeface="Times New Roman"/>
                      </a:endParaRPr>
                    </a:p>
                  </a:txBody>
                  <a:tcPr marL="0" marR="0" marT="99695" marB="0"/>
                </a:tc>
                <a:extLst>
                  <a:ext uri="{0D108BD9-81ED-4DB2-BD59-A6C34878D82A}">
                    <a16:rowId xmlns:a16="http://schemas.microsoft.com/office/drawing/2014/main" val="10004"/>
                  </a:ext>
                </a:extLst>
              </a:tr>
            </a:tbl>
          </a:graphicData>
        </a:graphic>
      </p:graphicFrame>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268203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399511"/>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复杂媒体查询</a:t>
            </a:r>
            <a:endParaRPr lang="zh-CN" altLang="en-US" dirty="0">
              <a:solidFill>
                <a:schemeClr val="tx1"/>
              </a:solidFill>
              <a:latin typeface="+mn-ea"/>
              <a:ea typeface="+mn-ea"/>
            </a:endParaRPr>
          </a:p>
        </p:txBody>
      </p:sp>
      <p:sp>
        <p:nvSpPr>
          <p:cNvPr id="14" name="矩形 13"/>
          <p:cNvSpPr/>
          <p:nvPr/>
        </p:nvSpPr>
        <p:spPr>
          <a:xfrm>
            <a:off x="795867" y="1535248"/>
            <a:ext cx="10466493" cy="4524315"/>
          </a:xfrm>
          <a:prstGeom prst="rect">
            <a:avLst/>
          </a:prstGeom>
        </p:spPr>
        <p:txBody>
          <a:bodyPr wrap="square">
            <a:spAutoFit/>
          </a:bodyPr>
          <a:lstStyle/>
          <a:p>
            <a:pPr>
              <a:lnSpc>
                <a:spcPct val="150000"/>
              </a:lnSpc>
            </a:pPr>
            <a:r>
              <a:rPr lang="zh-CN" altLang="en-US" dirty="0" smtClean="0"/>
              <a:t>可以应用</a:t>
            </a:r>
            <a:r>
              <a:rPr lang="en-US" altLang="zh-CN" dirty="0" smtClean="0"/>
              <a:t>and</a:t>
            </a:r>
            <a:r>
              <a:rPr lang="zh-CN" altLang="en-US" dirty="0" smtClean="0"/>
              <a:t>、</a:t>
            </a:r>
            <a:r>
              <a:rPr lang="en-US" altLang="zh-CN" dirty="0" smtClean="0"/>
              <a:t>not</a:t>
            </a:r>
            <a:r>
              <a:rPr lang="zh-CN" altLang="en-US" dirty="0" smtClean="0"/>
              <a:t>等逻辑运算符或者逗号连接多个条件从而创建复杂查询。</a:t>
            </a:r>
            <a:endParaRPr lang="en-US" altLang="zh-CN" dirty="0" smtClean="0"/>
          </a:p>
          <a:p>
            <a:pPr>
              <a:lnSpc>
                <a:spcPct val="150000"/>
              </a:lnSpc>
            </a:pPr>
            <a:r>
              <a:rPr lang="en-US" altLang="zh-CN" sz="2400" dirty="0" smtClean="0">
                <a:solidFill>
                  <a:srgbClr val="C00000"/>
                </a:solidFill>
              </a:rPr>
              <a:t>1</a:t>
            </a:r>
            <a:r>
              <a:rPr lang="zh-CN" altLang="en-US" sz="2400" dirty="0" smtClean="0">
                <a:solidFill>
                  <a:srgbClr val="C00000"/>
                </a:solidFill>
              </a:rPr>
              <a:t>、</a:t>
            </a:r>
            <a:r>
              <a:rPr lang="en-US" altLang="zh-CN" sz="2400" dirty="0" smtClean="0">
                <a:solidFill>
                  <a:srgbClr val="C00000"/>
                </a:solidFill>
              </a:rPr>
              <a:t>and</a:t>
            </a:r>
            <a:r>
              <a:rPr lang="zh-CN" altLang="en-US" sz="2400" dirty="0" smtClean="0">
                <a:solidFill>
                  <a:srgbClr val="C00000"/>
                </a:solidFill>
              </a:rPr>
              <a:t>运算符</a:t>
            </a:r>
            <a:endParaRPr lang="en-US" altLang="zh-CN" sz="2400" dirty="0" smtClean="0">
              <a:solidFill>
                <a:srgbClr val="C00000"/>
              </a:solidFill>
            </a:endParaRPr>
          </a:p>
          <a:p>
            <a:pPr>
              <a:lnSpc>
                <a:spcPct val="150000"/>
              </a:lnSpc>
            </a:pPr>
            <a:r>
              <a:rPr lang="zh-CN" altLang="en-US" dirty="0"/>
              <a:t>可以</a:t>
            </a:r>
            <a:r>
              <a:rPr lang="zh-CN" altLang="en-US" dirty="0" smtClean="0"/>
              <a:t>使用</a:t>
            </a:r>
            <a:r>
              <a:rPr lang="en-US" altLang="zh-CN" dirty="0" smtClean="0"/>
              <a:t>and</a:t>
            </a:r>
            <a:r>
              <a:rPr lang="zh-CN" altLang="en-US" dirty="0" smtClean="0"/>
              <a:t>连接多个媒体特征，表示同时满足若干条件时样式生效。</a:t>
            </a:r>
            <a:endParaRPr lang="en-US" altLang="zh-CN" dirty="0" smtClean="0"/>
          </a:p>
          <a:p>
            <a:pPr>
              <a:lnSpc>
                <a:spcPct val="150000"/>
              </a:lnSpc>
            </a:pPr>
            <a:endParaRPr lang="en-US" altLang="zh-CN" dirty="0" smtClean="0"/>
          </a:p>
          <a:p>
            <a:pPr>
              <a:lnSpc>
                <a:spcPct val="150000"/>
              </a:lnSpc>
            </a:pPr>
            <a:endParaRPr lang="en-US" altLang="zh-CN" dirty="0">
              <a:solidFill>
                <a:srgbClr val="C00000"/>
              </a:solidFill>
            </a:endParaRPr>
          </a:p>
          <a:p>
            <a:pPr>
              <a:lnSpc>
                <a:spcPct val="150000"/>
              </a:lnSpc>
            </a:pPr>
            <a:endParaRPr lang="en-US" altLang="zh-CN" dirty="0" smtClean="0">
              <a:solidFill>
                <a:srgbClr val="C00000"/>
              </a:solidFill>
            </a:endParaRPr>
          </a:p>
          <a:p>
            <a:pPr>
              <a:lnSpc>
                <a:spcPct val="150000"/>
              </a:lnSpc>
            </a:pPr>
            <a:endParaRPr lang="en-US" altLang="zh-CN" dirty="0">
              <a:solidFill>
                <a:srgbClr val="C00000"/>
              </a:solidFill>
            </a:endParaRPr>
          </a:p>
          <a:p>
            <a:pPr>
              <a:lnSpc>
                <a:spcPct val="150000"/>
              </a:lnSpc>
            </a:pPr>
            <a:endParaRPr lang="en-US" altLang="zh-CN" dirty="0" smtClean="0">
              <a:solidFill>
                <a:srgbClr val="C00000"/>
              </a:solidFill>
            </a:endParaRPr>
          </a:p>
          <a:p>
            <a:pPr>
              <a:lnSpc>
                <a:spcPct val="150000"/>
              </a:lnSpc>
            </a:pPr>
            <a:r>
              <a:rPr lang="en-US" altLang="zh-CN" sz="2400" dirty="0" smtClean="0">
                <a:solidFill>
                  <a:srgbClr val="C00000"/>
                </a:solidFill>
              </a:rPr>
              <a:t>2</a:t>
            </a:r>
            <a:r>
              <a:rPr lang="zh-CN" altLang="en-US" sz="2400" dirty="0" smtClean="0">
                <a:solidFill>
                  <a:srgbClr val="C00000"/>
                </a:solidFill>
              </a:rPr>
              <a:t>、</a:t>
            </a:r>
            <a:r>
              <a:rPr lang="en-US" altLang="zh-CN" sz="2400" dirty="0" smtClean="0">
                <a:solidFill>
                  <a:srgbClr val="C00000"/>
                </a:solidFill>
              </a:rPr>
              <a:t>not</a:t>
            </a:r>
            <a:r>
              <a:rPr lang="zh-CN" altLang="en-US" sz="2400" dirty="0" smtClean="0">
                <a:solidFill>
                  <a:srgbClr val="C00000"/>
                </a:solidFill>
              </a:rPr>
              <a:t>运算符</a:t>
            </a:r>
            <a:endParaRPr lang="en-US" altLang="zh-CN" sz="2400" dirty="0" smtClean="0">
              <a:solidFill>
                <a:srgbClr val="C00000"/>
              </a:solidFill>
            </a:endParaRPr>
          </a:p>
          <a:p>
            <a:pPr>
              <a:lnSpc>
                <a:spcPct val="150000"/>
              </a:lnSpc>
            </a:pPr>
            <a:r>
              <a:rPr lang="en-US" altLang="zh-CN" dirty="0" smtClean="0"/>
              <a:t>not</a:t>
            </a:r>
            <a:r>
              <a:rPr lang="zh-CN" altLang="en-US" dirty="0" smtClean="0"/>
              <a:t>让</a:t>
            </a:r>
            <a:r>
              <a:rPr lang="zh-CN" altLang="en-US" dirty="0"/>
              <a:t>整个媒体查询</a:t>
            </a:r>
            <a:r>
              <a:rPr lang="zh-CN" altLang="en-US" dirty="0" smtClean="0"/>
              <a:t>失效</a:t>
            </a:r>
            <a:r>
              <a:rPr lang="zh-CN" altLang="en-US" dirty="0"/>
              <a:t>，</a:t>
            </a:r>
            <a:r>
              <a:rPr lang="zh-CN" altLang="en-US" dirty="0" smtClean="0"/>
              <a:t>直接</a:t>
            </a:r>
            <a:r>
              <a:rPr lang="zh-CN" altLang="en-US" dirty="0"/>
              <a:t>反转了整个媒体查询的含义</a:t>
            </a:r>
            <a:r>
              <a:rPr lang="zh-CN" altLang="en-US" dirty="0" smtClean="0"/>
              <a:t>。</a:t>
            </a:r>
            <a:endParaRPr lang="en-US" altLang="zh-CN" dirty="0" smtClean="0"/>
          </a:p>
        </p:txBody>
      </p:sp>
      <p:pic>
        <p:nvPicPr>
          <p:cNvPr id="2" name="图片 1"/>
          <p:cNvPicPr>
            <a:picLocks noChangeAspect="1"/>
          </p:cNvPicPr>
          <p:nvPr/>
        </p:nvPicPr>
        <p:blipFill>
          <a:blip r:embed="rId3"/>
          <a:stretch>
            <a:fillRect/>
          </a:stretch>
        </p:blipFill>
        <p:spPr>
          <a:xfrm>
            <a:off x="884002" y="3076587"/>
            <a:ext cx="7440270" cy="1944616"/>
          </a:xfrm>
          <a:prstGeom prst="rect">
            <a:avLst/>
          </a:prstGeom>
        </p:spPr>
      </p:pic>
      <p:pic>
        <p:nvPicPr>
          <p:cNvPr id="3" name="图片 2"/>
          <p:cNvPicPr>
            <a:picLocks noChangeAspect="1"/>
          </p:cNvPicPr>
          <p:nvPr/>
        </p:nvPicPr>
        <p:blipFill>
          <a:blip r:embed="rId4"/>
          <a:stretch>
            <a:fillRect/>
          </a:stretch>
        </p:blipFill>
        <p:spPr>
          <a:xfrm>
            <a:off x="6920268" y="5130800"/>
            <a:ext cx="4430227" cy="1590675"/>
          </a:xfrm>
          <a:prstGeom prst="rect">
            <a:avLst/>
          </a:prstGeom>
        </p:spPr>
      </p:pic>
      <p:sp>
        <p:nvSpPr>
          <p:cNvPr id="7" name="矩形 6"/>
          <p:cNvSpPr/>
          <p:nvPr/>
        </p:nvSpPr>
        <p:spPr>
          <a:xfrm>
            <a:off x="0" y="770609"/>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7035992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复杂媒体查询</a:t>
            </a:r>
            <a:endParaRPr lang="zh-CN" altLang="en-US" dirty="0">
              <a:solidFill>
                <a:schemeClr val="tx1"/>
              </a:solidFill>
              <a:latin typeface="+mn-ea"/>
              <a:ea typeface="+mn-ea"/>
            </a:endParaRPr>
          </a:p>
        </p:txBody>
      </p:sp>
      <p:sp>
        <p:nvSpPr>
          <p:cNvPr id="14" name="矩形 13"/>
          <p:cNvSpPr/>
          <p:nvPr/>
        </p:nvSpPr>
        <p:spPr>
          <a:xfrm>
            <a:off x="795867" y="1535248"/>
            <a:ext cx="10466493" cy="1107996"/>
          </a:xfrm>
          <a:prstGeom prst="rect">
            <a:avLst/>
          </a:prstGeom>
        </p:spPr>
        <p:txBody>
          <a:bodyPr wrap="square">
            <a:spAutoFit/>
          </a:bodyPr>
          <a:lstStyle/>
          <a:p>
            <a:pPr>
              <a:lnSpc>
                <a:spcPct val="150000"/>
              </a:lnSpc>
            </a:pPr>
            <a:r>
              <a:rPr lang="en-US" altLang="zh-CN" sz="2400" dirty="0" smtClean="0">
                <a:solidFill>
                  <a:srgbClr val="C00000"/>
                </a:solidFill>
              </a:rPr>
              <a:t>3</a:t>
            </a:r>
            <a:r>
              <a:rPr lang="zh-CN" altLang="en-US" sz="2400" dirty="0" smtClean="0">
                <a:solidFill>
                  <a:srgbClr val="C00000"/>
                </a:solidFill>
              </a:rPr>
              <a:t>、逗号</a:t>
            </a:r>
            <a:endParaRPr lang="en-US" altLang="zh-CN" sz="2400" dirty="0" smtClean="0">
              <a:solidFill>
                <a:srgbClr val="C00000"/>
              </a:solidFill>
            </a:endParaRPr>
          </a:p>
          <a:p>
            <a:pPr>
              <a:lnSpc>
                <a:spcPct val="150000"/>
              </a:lnSpc>
            </a:pPr>
            <a:r>
              <a:rPr lang="zh-CN" altLang="en-US" sz="2000" dirty="0" smtClean="0"/>
              <a:t>逗号分隔多个媒体查询条件时，相当于</a:t>
            </a:r>
            <a:r>
              <a:rPr lang="en-US" altLang="zh-CN" sz="2000" dirty="0" smtClean="0"/>
              <a:t>or</a:t>
            </a:r>
            <a:r>
              <a:rPr lang="zh-CN" altLang="en-US" sz="2000" dirty="0" smtClean="0"/>
              <a:t>，表示满足其中任意一个条件都会应用对应的样式。</a:t>
            </a:r>
            <a:endParaRPr lang="zh-CN" altLang="en-US" sz="2000" dirty="0"/>
          </a:p>
        </p:txBody>
      </p:sp>
      <p:pic>
        <p:nvPicPr>
          <p:cNvPr id="2" name="图片 1"/>
          <p:cNvPicPr>
            <a:picLocks noChangeAspect="1"/>
          </p:cNvPicPr>
          <p:nvPr/>
        </p:nvPicPr>
        <p:blipFill>
          <a:blip r:embed="rId3"/>
          <a:stretch>
            <a:fillRect/>
          </a:stretch>
        </p:blipFill>
        <p:spPr>
          <a:xfrm>
            <a:off x="938212" y="2668659"/>
            <a:ext cx="9167813" cy="2185075"/>
          </a:xfrm>
          <a:prstGeom prst="rect">
            <a:avLst/>
          </a:prstGeom>
        </p:spPr>
      </p:pic>
      <p:sp>
        <p:nvSpPr>
          <p:cNvPr id="3" name="矩形 2"/>
          <p:cNvSpPr/>
          <p:nvPr/>
        </p:nvSpPr>
        <p:spPr>
          <a:xfrm>
            <a:off x="795866" y="5115610"/>
            <a:ext cx="10176933" cy="400110"/>
          </a:xfrm>
          <a:prstGeom prst="rect">
            <a:avLst/>
          </a:prstGeom>
        </p:spPr>
        <p:txBody>
          <a:bodyPr wrap="square">
            <a:spAutoFit/>
          </a:bodyPr>
          <a:lstStyle/>
          <a:p>
            <a:r>
              <a:rPr lang="zh-CN" altLang="en-US" sz="2000" dirty="0"/>
              <a:t>文本会在视口至少为 </a:t>
            </a:r>
            <a:r>
              <a:rPr lang="en-US" altLang="zh-CN" sz="2000" dirty="0"/>
              <a:t>400 </a:t>
            </a:r>
            <a:r>
              <a:rPr lang="zh-CN" altLang="en-US" sz="2000" dirty="0"/>
              <a:t>像素宽的时候或者设备处于横放状态的时候变为</a:t>
            </a:r>
            <a:r>
              <a:rPr lang="zh-CN" altLang="en-US" sz="2000" dirty="0" smtClean="0"/>
              <a:t>蓝色。</a:t>
            </a:r>
            <a:endParaRPr lang="zh-CN" altLang="en-US" sz="2000" dirty="0"/>
          </a:p>
        </p:txBody>
      </p:sp>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04317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en-US" altLang="zh-CN" dirty="0" smtClean="0">
                <a:solidFill>
                  <a:schemeClr val="tx1"/>
                </a:solidFill>
                <a:latin typeface="+mn-ea"/>
                <a:ea typeface="+mn-ea"/>
              </a:rPr>
              <a:t>link</a:t>
            </a:r>
            <a:r>
              <a:rPr lang="zh-CN" altLang="en-US" dirty="0" smtClean="0">
                <a:solidFill>
                  <a:schemeClr val="tx1"/>
                </a:solidFill>
                <a:latin typeface="+mn-ea"/>
                <a:ea typeface="+mn-ea"/>
              </a:rPr>
              <a:t>方式添加媒体查询方式</a:t>
            </a:r>
            <a:endParaRPr lang="zh-CN" altLang="en-US" dirty="0">
              <a:solidFill>
                <a:schemeClr val="tx1"/>
              </a:solidFill>
              <a:latin typeface="+mn-ea"/>
              <a:ea typeface="+mn-ea"/>
            </a:endParaRPr>
          </a:p>
        </p:txBody>
      </p:sp>
      <p:sp>
        <p:nvSpPr>
          <p:cNvPr id="14" name="矩形 13"/>
          <p:cNvSpPr/>
          <p:nvPr/>
        </p:nvSpPr>
        <p:spPr>
          <a:xfrm>
            <a:off x="795867" y="1535248"/>
            <a:ext cx="10466493" cy="1754326"/>
          </a:xfrm>
          <a:prstGeom prst="rect">
            <a:avLst/>
          </a:prstGeom>
        </p:spPr>
        <p:txBody>
          <a:bodyPr wrap="square">
            <a:spAutoFit/>
          </a:bodyPr>
          <a:lstStyle/>
          <a:p>
            <a:pPr>
              <a:lnSpc>
                <a:spcPct val="150000"/>
              </a:lnSpc>
            </a:pPr>
            <a:r>
              <a:rPr lang="zh-CN" altLang="en-US" sz="2400" dirty="0" smtClean="0"/>
              <a:t>可以使用</a:t>
            </a:r>
            <a:r>
              <a:rPr lang="en-US" altLang="zh-CN" sz="2400" dirty="0" smtClean="0"/>
              <a:t>link</a:t>
            </a:r>
            <a:r>
              <a:rPr lang="zh-CN" altLang="en-US" sz="2400" dirty="0" smtClean="0"/>
              <a:t>标签的</a:t>
            </a:r>
            <a:r>
              <a:rPr lang="en-US" altLang="zh-CN" sz="2400" dirty="0" smtClean="0"/>
              <a:t>media</a:t>
            </a:r>
            <a:r>
              <a:rPr lang="zh-CN" altLang="en-US" sz="2400" dirty="0" smtClean="0"/>
              <a:t>属性完成特定样式的呈现，例如下面代码可以在宽度小于或等于</a:t>
            </a:r>
            <a:r>
              <a:rPr lang="en-US" altLang="zh-CN" sz="2400" dirty="0" smtClean="0"/>
              <a:t>800px</a:t>
            </a:r>
            <a:r>
              <a:rPr lang="zh-CN" altLang="en-US" sz="2400" dirty="0" smtClean="0"/>
              <a:t>时应用</a:t>
            </a:r>
            <a:r>
              <a:rPr lang="en-US" altLang="zh-CN" sz="2400" dirty="0" smtClean="0"/>
              <a:t>middle.css</a:t>
            </a:r>
            <a:r>
              <a:rPr lang="zh-CN" altLang="en-US" sz="2400" dirty="0" smtClean="0"/>
              <a:t>样式。</a:t>
            </a:r>
            <a:endParaRPr lang="en-US" altLang="zh-CN" sz="2400" dirty="0" smtClean="0"/>
          </a:p>
          <a:p>
            <a:pPr>
              <a:lnSpc>
                <a:spcPct val="150000"/>
              </a:lnSpc>
            </a:pPr>
            <a:r>
              <a:rPr lang="en-US" altLang="zh-CN" sz="2400" dirty="0" smtClean="0"/>
              <a:t>&lt;link </a:t>
            </a:r>
            <a:r>
              <a:rPr lang="en-US" altLang="zh-CN" sz="2400" dirty="0" err="1" smtClean="0"/>
              <a:t>rel</a:t>
            </a:r>
            <a:r>
              <a:rPr lang="en-US" altLang="zh-CN" sz="2400" dirty="0" smtClean="0"/>
              <a:t>=“stylesheet” </a:t>
            </a:r>
            <a:r>
              <a:rPr lang="en-US" altLang="zh-CN" sz="2400" dirty="0" smtClean="0">
                <a:solidFill>
                  <a:srgbClr val="FF0000"/>
                </a:solidFill>
              </a:rPr>
              <a:t>media=“max-width:800px” </a:t>
            </a:r>
            <a:r>
              <a:rPr lang="en-US" altLang="zh-CN" sz="2400" dirty="0" err="1" smtClean="0"/>
              <a:t>href</a:t>
            </a:r>
            <a:r>
              <a:rPr lang="en-US" altLang="zh-CN" sz="2400" dirty="0" smtClean="0"/>
              <a:t>=“middle.css” /&gt;</a:t>
            </a:r>
            <a:endParaRPr lang="zh-CN" altLang="en-US" sz="2400" dirty="0"/>
          </a:p>
        </p:txBody>
      </p:sp>
      <p:sp>
        <p:nvSpPr>
          <p:cNvPr id="5" name="矩形 4"/>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317581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案例</a:t>
            </a:r>
            <a:endParaRPr lang="zh-CN" altLang="en-US" dirty="0">
              <a:solidFill>
                <a:schemeClr val="tx1"/>
              </a:solidFill>
              <a:latin typeface="+mn-ea"/>
              <a:ea typeface="+mn-ea"/>
            </a:endParaRPr>
          </a:p>
        </p:txBody>
      </p:sp>
      <p:sp>
        <p:nvSpPr>
          <p:cNvPr id="14" name="矩形 13"/>
          <p:cNvSpPr/>
          <p:nvPr/>
        </p:nvSpPr>
        <p:spPr>
          <a:xfrm>
            <a:off x="795867" y="1356356"/>
            <a:ext cx="11015133" cy="1143839"/>
          </a:xfrm>
          <a:prstGeom prst="rect">
            <a:avLst/>
          </a:prstGeom>
        </p:spPr>
        <p:txBody>
          <a:bodyPr wrap="square">
            <a:spAutoFit/>
          </a:bodyPr>
          <a:lstStyle/>
          <a:p>
            <a:pPr>
              <a:lnSpc>
                <a:spcPct val="150000"/>
              </a:lnSpc>
            </a:pPr>
            <a:r>
              <a:rPr lang="en-US" altLang="zh-CN" sz="2400" dirty="0" smtClean="0"/>
              <a:t>1</a:t>
            </a:r>
            <a:r>
              <a:rPr lang="zh-CN" altLang="en-US" sz="2400" dirty="0" smtClean="0"/>
              <a:t>、应用媒体查询和网格布局，完成响应式布局，当宽度大于</a:t>
            </a:r>
            <a:r>
              <a:rPr lang="en-US" altLang="zh-CN" sz="2400" dirty="0" smtClean="0"/>
              <a:t>600px</a:t>
            </a:r>
            <a:r>
              <a:rPr lang="zh-CN" altLang="en-US" sz="2400" dirty="0" smtClean="0"/>
              <a:t>时，呈现如左图所示的布局，当宽度小于或等于</a:t>
            </a:r>
            <a:r>
              <a:rPr lang="en-US" altLang="zh-CN" sz="2400" dirty="0" smtClean="0"/>
              <a:t>600px</a:t>
            </a:r>
            <a:r>
              <a:rPr lang="zh-CN" altLang="en-US" sz="2400" dirty="0" smtClean="0"/>
              <a:t>时，呈现如右图所示的布局。</a:t>
            </a:r>
            <a:endParaRPr lang="zh-CN" altLang="en-US" sz="2400" dirty="0"/>
          </a:p>
        </p:txBody>
      </p:sp>
      <p:pic>
        <p:nvPicPr>
          <p:cNvPr id="2" name="图片 1"/>
          <p:cNvPicPr>
            <a:picLocks noChangeAspect="1"/>
          </p:cNvPicPr>
          <p:nvPr/>
        </p:nvPicPr>
        <p:blipFill>
          <a:blip r:embed="rId3"/>
          <a:stretch>
            <a:fillRect/>
          </a:stretch>
        </p:blipFill>
        <p:spPr>
          <a:xfrm>
            <a:off x="899760" y="2613802"/>
            <a:ext cx="5862717" cy="3685430"/>
          </a:xfrm>
          <a:prstGeom prst="rect">
            <a:avLst/>
          </a:prstGeom>
        </p:spPr>
      </p:pic>
      <p:pic>
        <p:nvPicPr>
          <p:cNvPr id="3" name="图片 2"/>
          <p:cNvPicPr>
            <a:picLocks noChangeAspect="1"/>
          </p:cNvPicPr>
          <p:nvPr/>
        </p:nvPicPr>
        <p:blipFill>
          <a:blip r:embed="rId4"/>
          <a:stretch>
            <a:fillRect/>
          </a:stretch>
        </p:blipFill>
        <p:spPr>
          <a:xfrm>
            <a:off x="7691812" y="2556685"/>
            <a:ext cx="3075671" cy="4301315"/>
          </a:xfrm>
          <a:prstGeom prst="rect">
            <a:avLst/>
          </a:prstGeom>
        </p:spPr>
      </p:pic>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1002780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a:solidFill>
                  <a:schemeClr val="tx1"/>
                </a:solidFill>
                <a:latin typeface="+mn-ea"/>
                <a:ea typeface="+mn-ea"/>
              </a:rPr>
              <a:t>综合案例</a:t>
            </a:r>
          </a:p>
        </p:txBody>
      </p:sp>
      <p:sp>
        <p:nvSpPr>
          <p:cNvPr id="14" name="矩形 13"/>
          <p:cNvSpPr/>
          <p:nvPr/>
        </p:nvSpPr>
        <p:spPr>
          <a:xfrm>
            <a:off x="795867" y="1535248"/>
            <a:ext cx="10466493" cy="587340"/>
          </a:xfrm>
          <a:prstGeom prst="rect">
            <a:avLst/>
          </a:prstGeom>
        </p:spPr>
        <p:txBody>
          <a:bodyPr wrap="square">
            <a:spAutoFit/>
          </a:bodyPr>
          <a:lstStyle/>
          <a:p>
            <a:pPr>
              <a:lnSpc>
                <a:spcPct val="150000"/>
              </a:lnSpc>
            </a:pPr>
            <a:r>
              <a:rPr lang="en-US" altLang="zh-CN" sz="2400" dirty="0" smtClean="0">
                <a:solidFill>
                  <a:srgbClr val="C00000"/>
                </a:solidFill>
              </a:rPr>
              <a:t>html</a:t>
            </a:r>
            <a:r>
              <a:rPr lang="zh-CN" altLang="en-US" sz="2400" dirty="0" smtClean="0">
                <a:solidFill>
                  <a:srgbClr val="C00000"/>
                </a:solidFill>
              </a:rPr>
              <a:t>代码</a:t>
            </a:r>
            <a:endParaRPr lang="zh-CN" altLang="en-US" sz="2400" dirty="0">
              <a:solidFill>
                <a:srgbClr val="C00000"/>
              </a:solidFill>
            </a:endParaRPr>
          </a:p>
        </p:txBody>
      </p:sp>
      <p:sp>
        <p:nvSpPr>
          <p:cNvPr id="5" name="矩形 4"/>
          <p:cNvSpPr/>
          <p:nvPr/>
        </p:nvSpPr>
        <p:spPr>
          <a:xfrm>
            <a:off x="795867" y="2136338"/>
            <a:ext cx="9052983" cy="3416320"/>
          </a:xfrm>
          <a:prstGeom prst="rect">
            <a:avLst/>
          </a:prstGeom>
        </p:spPr>
        <p:txBody>
          <a:bodyPr wrap="square">
            <a:spAutoFit/>
          </a:bodyPr>
          <a:lstStyle/>
          <a:p>
            <a:r>
              <a:rPr lang="en-US" altLang="zh-CN" sz="2400" dirty="0"/>
              <a:t>&lt;div class="container"&gt;</a:t>
            </a:r>
          </a:p>
          <a:p>
            <a:r>
              <a:rPr lang="en-US" altLang="zh-CN" sz="2400" dirty="0"/>
              <a:t>      &lt;header&gt;</a:t>
            </a:r>
          </a:p>
          <a:p>
            <a:r>
              <a:rPr lang="en-US" altLang="zh-CN" sz="2400" dirty="0"/>
              <a:t>        &lt;</a:t>
            </a:r>
            <a:r>
              <a:rPr lang="en-US" altLang="zh-CN" sz="2400" dirty="0" err="1"/>
              <a:t>nav</a:t>
            </a:r>
            <a:r>
              <a:rPr lang="en-US" altLang="zh-CN" sz="2400" dirty="0"/>
              <a:t>&gt;</a:t>
            </a:r>
            <a:r>
              <a:rPr lang="zh-CN" altLang="en-US" sz="2400" dirty="0"/>
              <a:t>导航项目 </a:t>
            </a:r>
            <a:r>
              <a:rPr lang="en-US" altLang="zh-CN" sz="2400" dirty="0"/>
              <a:t>| </a:t>
            </a:r>
            <a:r>
              <a:rPr lang="zh-CN" altLang="en-US" sz="2400" dirty="0"/>
              <a:t>导航项目 </a:t>
            </a:r>
            <a:r>
              <a:rPr lang="en-US" altLang="zh-CN" sz="2400" dirty="0"/>
              <a:t>| </a:t>
            </a:r>
            <a:r>
              <a:rPr lang="zh-CN" altLang="en-US" sz="2400" dirty="0"/>
              <a:t>导航项目</a:t>
            </a:r>
            <a:r>
              <a:rPr lang="en-US" altLang="zh-CN" sz="2400" dirty="0"/>
              <a:t>&lt;/</a:t>
            </a:r>
            <a:r>
              <a:rPr lang="en-US" altLang="zh-CN" sz="2400" dirty="0" err="1"/>
              <a:t>nav</a:t>
            </a:r>
            <a:r>
              <a:rPr lang="en-US" altLang="zh-CN" sz="2400" dirty="0"/>
              <a:t>&gt;</a:t>
            </a:r>
          </a:p>
          <a:p>
            <a:r>
              <a:rPr lang="en-US" altLang="zh-CN" sz="2400" dirty="0"/>
              <a:t>        &lt;button&gt;</a:t>
            </a:r>
            <a:r>
              <a:rPr lang="zh-CN" altLang="en-US" sz="2400" dirty="0"/>
              <a:t>确定</a:t>
            </a:r>
            <a:r>
              <a:rPr lang="en-US" altLang="zh-CN" sz="2400" dirty="0"/>
              <a:t>&lt;/button&gt;</a:t>
            </a:r>
          </a:p>
          <a:p>
            <a:r>
              <a:rPr lang="en-US" altLang="zh-CN" sz="2400" dirty="0"/>
              <a:t>      &lt;/header&gt;</a:t>
            </a:r>
          </a:p>
          <a:p>
            <a:r>
              <a:rPr lang="en-US" altLang="zh-CN" sz="2400" dirty="0"/>
              <a:t>      &lt;main&gt;</a:t>
            </a:r>
            <a:r>
              <a:rPr lang="zh-CN" altLang="en-US" sz="2400" dirty="0"/>
              <a:t>主要内容区域</a:t>
            </a:r>
            <a:r>
              <a:rPr lang="en-US" altLang="zh-CN" sz="2400" dirty="0"/>
              <a:t>&lt;/main&gt;</a:t>
            </a:r>
          </a:p>
          <a:p>
            <a:r>
              <a:rPr lang="en-US" altLang="zh-CN" sz="2400" dirty="0"/>
              <a:t>      &lt;aside&gt;</a:t>
            </a:r>
            <a:r>
              <a:rPr lang="zh-CN" altLang="en-US" sz="2400" dirty="0"/>
              <a:t>边栏</a:t>
            </a:r>
            <a:r>
              <a:rPr lang="en-US" altLang="zh-CN" sz="2400" dirty="0"/>
              <a:t>&lt;/aside&gt;</a:t>
            </a:r>
          </a:p>
          <a:p>
            <a:r>
              <a:rPr lang="en-US" altLang="zh-CN" sz="2400" dirty="0"/>
              <a:t>      &lt;footer&gt;</a:t>
            </a:r>
            <a:r>
              <a:rPr lang="zh-CN" altLang="en-US" sz="2400" dirty="0"/>
              <a:t>页脚</a:t>
            </a:r>
            <a:r>
              <a:rPr lang="en-US" altLang="zh-CN" sz="2400" dirty="0"/>
              <a:t>&lt;/footer&gt;</a:t>
            </a:r>
          </a:p>
          <a:p>
            <a:r>
              <a:rPr lang="en-US" altLang="zh-CN" sz="2400" smtClean="0"/>
              <a:t>&lt;/</a:t>
            </a:r>
            <a:r>
              <a:rPr lang="en-US" altLang="zh-CN" sz="2400" dirty="0"/>
              <a:t>div&gt;</a:t>
            </a:r>
            <a:endParaRPr lang="zh-CN" altLang="en-US" sz="2400" dirty="0"/>
          </a:p>
        </p:txBody>
      </p:sp>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5070918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a:solidFill>
                  <a:schemeClr val="tx1"/>
                </a:solidFill>
                <a:latin typeface="+mn-ea"/>
                <a:ea typeface="+mn-ea"/>
              </a:rPr>
              <a:t>综合案例</a:t>
            </a:r>
          </a:p>
        </p:txBody>
      </p:sp>
      <p:sp>
        <p:nvSpPr>
          <p:cNvPr id="14" name="矩形 13"/>
          <p:cNvSpPr/>
          <p:nvPr/>
        </p:nvSpPr>
        <p:spPr>
          <a:xfrm>
            <a:off x="699404" y="1242897"/>
            <a:ext cx="10466493" cy="587340"/>
          </a:xfrm>
          <a:prstGeom prst="rect">
            <a:avLst/>
          </a:prstGeom>
        </p:spPr>
        <p:txBody>
          <a:bodyPr wrap="square">
            <a:spAutoFit/>
          </a:bodyPr>
          <a:lstStyle/>
          <a:p>
            <a:pPr>
              <a:lnSpc>
                <a:spcPct val="150000"/>
              </a:lnSpc>
            </a:pPr>
            <a:r>
              <a:rPr lang="en-US" altLang="zh-CN" sz="2400" dirty="0" smtClean="0">
                <a:solidFill>
                  <a:srgbClr val="C00000"/>
                </a:solidFill>
              </a:rPr>
              <a:t>style.css</a:t>
            </a:r>
            <a:r>
              <a:rPr lang="zh-CN" altLang="en-US" sz="2400" dirty="0" smtClean="0">
                <a:solidFill>
                  <a:srgbClr val="C00000"/>
                </a:solidFill>
              </a:rPr>
              <a:t>代码</a:t>
            </a:r>
            <a:endParaRPr lang="zh-CN" altLang="en-US" sz="2400" dirty="0">
              <a:solidFill>
                <a:srgbClr val="C00000"/>
              </a:solidFill>
            </a:endParaRPr>
          </a:p>
        </p:txBody>
      </p:sp>
      <p:sp>
        <p:nvSpPr>
          <p:cNvPr id="5" name="矩形 4"/>
          <p:cNvSpPr/>
          <p:nvPr/>
        </p:nvSpPr>
        <p:spPr>
          <a:xfrm>
            <a:off x="784918" y="1830237"/>
            <a:ext cx="5147733" cy="5016758"/>
          </a:xfrm>
          <a:prstGeom prst="rect">
            <a:avLst/>
          </a:prstGeom>
        </p:spPr>
        <p:txBody>
          <a:bodyPr wrap="square">
            <a:spAutoFit/>
          </a:bodyPr>
          <a:lstStyle/>
          <a:p>
            <a:r>
              <a:rPr lang="en-US" altLang="zh-CN" sz="1600" dirty="0"/>
              <a:t>*{</a:t>
            </a:r>
          </a:p>
          <a:p>
            <a:r>
              <a:rPr lang="en-US" altLang="zh-CN" sz="1600" dirty="0"/>
              <a:t>  margin: 0;</a:t>
            </a:r>
          </a:p>
          <a:p>
            <a:r>
              <a:rPr lang="en-US" altLang="zh-CN" sz="1600" dirty="0"/>
              <a:t>  padding: 0;</a:t>
            </a:r>
          </a:p>
          <a:p>
            <a:r>
              <a:rPr lang="en-US" altLang="zh-CN" sz="1600" dirty="0"/>
              <a:t>  box-sizing: border-box;</a:t>
            </a:r>
          </a:p>
          <a:p>
            <a:r>
              <a:rPr lang="en-US" altLang="zh-CN" sz="1600" dirty="0"/>
              <a:t>}</a:t>
            </a:r>
          </a:p>
          <a:p>
            <a:r>
              <a:rPr lang="en-US" altLang="zh-CN" sz="1600" dirty="0"/>
              <a:t>.container{</a:t>
            </a:r>
          </a:p>
          <a:p>
            <a:r>
              <a:rPr lang="en-US" altLang="zh-CN" sz="1600" dirty="0"/>
              <a:t>  max-width:900px;</a:t>
            </a:r>
          </a:p>
          <a:p>
            <a:r>
              <a:rPr lang="en-US" altLang="zh-CN" sz="1600" dirty="0"/>
              <a:t>  margin: 10px auto;</a:t>
            </a:r>
          </a:p>
          <a:p>
            <a:r>
              <a:rPr lang="en-US" altLang="zh-CN" sz="1600" dirty="0"/>
              <a:t>  display: grid;</a:t>
            </a:r>
          </a:p>
          <a:p>
            <a:r>
              <a:rPr lang="en-US" altLang="zh-CN" sz="1600" dirty="0"/>
              <a:t>  /* </a:t>
            </a:r>
            <a:r>
              <a:rPr lang="zh-CN" altLang="en-US" sz="1600" dirty="0"/>
              <a:t>总体布局分为</a:t>
            </a:r>
            <a:r>
              <a:rPr lang="en-US" altLang="zh-CN" sz="1600" dirty="0"/>
              <a:t>3</a:t>
            </a:r>
            <a:r>
              <a:rPr lang="zh-CN" altLang="en-US" sz="1600" dirty="0"/>
              <a:t>行</a:t>
            </a:r>
            <a:r>
              <a:rPr lang="en-US" altLang="zh-CN" sz="1600" dirty="0"/>
              <a:t>2</a:t>
            </a:r>
            <a:r>
              <a:rPr lang="zh-CN" altLang="en-US" sz="1600" dirty="0"/>
              <a:t>列 *</a:t>
            </a:r>
            <a:r>
              <a:rPr lang="en-US" altLang="zh-CN" sz="1600" dirty="0"/>
              <a:t>/</a:t>
            </a:r>
          </a:p>
          <a:p>
            <a:r>
              <a:rPr lang="en-US" altLang="zh-CN" sz="1600" dirty="0"/>
              <a:t>  /* 2</a:t>
            </a:r>
            <a:r>
              <a:rPr lang="zh-CN" altLang="en-US" sz="1600" dirty="0"/>
              <a:t>列，宽度</a:t>
            </a:r>
            <a:r>
              <a:rPr lang="en-US" altLang="zh-CN" sz="1600" dirty="0"/>
              <a:t>3:1 */</a:t>
            </a:r>
          </a:p>
          <a:p>
            <a:r>
              <a:rPr lang="en-US" altLang="zh-CN" sz="1600" dirty="0"/>
              <a:t>  grid-template-columns: 3fr 1fr;</a:t>
            </a:r>
          </a:p>
          <a:p>
            <a:r>
              <a:rPr lang="en-US" altLang="zh-CN" sz="1600" dirty="0"/>
              <a:t>  /* </a:t>
            </a:r>
            <a:r>
              <a:rPr lang="zh-CN" altLang="en-US" sz="1600" dirty="0"/>
              <a:t>网格区域命名 *</a:t>
            </a:r>
            <a:r>
              <a:rPr lang="en-US" altLang="zh-CN" sz="1600" dirty="0"/>
              <a:t>/</a:t>
            </a:r>
          </a:p>
          <a:p>
            <a:r>
              <a:rPr lang="en-US" altLang="zh-CN" sz="1600" dirty="0"/>
              <a:t>  grid-template-areas:</a:t>
            </a:r>
          </a:p>
          <a:p>
            <a:r>
              <a:rPr lang="en-US" altLang="zh-CN" sz="1600" dirty="0"/>
              <a:t>  "header </a:t>
            </a:r>
            <a:r>
              <a:rPr lang="en-US" altLang="zh-CN" sz="1600" dirty="0" err="1"/>
              <a:t>header</a:t>
            </a:r>
            <a:r>
              <a:rPr lang="en-US" altLang="zh-CN" sz="1600" dirty="0"/>
              <a:t>"</a:t>
            </a:r>
          </a:p>
          <a:p>
            <a:r>
              <a:rPr lang="en-US" altLang="zh-CN" sz="1600" dirty="0"/>
              <a:t>  "main aside"</a:t>
            </a:r>
          </a:p>
          <a:p>
            <a:r>
              <a:rPr lang="en-US" altLang="zh-CN" sz="1600" dirty="0"/>
              <a:t>  "footer </a:t>
            </a:r>
            <a:r>
              <a:rPr lang="en-US" altLang="zh-CN" sz="1600" dirty="0" err="1"/>
              <a:t>footer</a:t>
            </a:r>
            <a:r>
              <a:rPr lang="en-US" altLang="zh-CN" sz="1600" dirty="0"/>
              <a:t>";</a:t>
            </a:r>
          </a:p>
          <a:p>
            <a:r>
              <a:rPr lang="en-US" altLang="zh-CN" sz="1600" dirty="0"/>
              <a:t>  /* </a:t>
            </a:r>
            <a:r>
              <a:rPr lang="zh-CN" altLang="en-US" sz="1600" dirty="0"/>
              <a:t>网格间隙</a:t>
            </a:r>
            <a:r>
              <a:rPr lang="en-US" altLang="zh-CN" sz="1600" dirty="0"/>
              <a:t>10px */</a:t>
            </a:r>
          </a:p>
          <a:p>
            <a:r>
              <a:rPr lang="en-US" altLang="zh-CN" sz="1600" dirty="0"/>
              <a:t>  grid-gap:10px;</a:t>
            </a:r>
          </a:p>
          <a:p>
            <a:r>
              <a:rPr lang="en-US" altLang="zh-CN" sz="1600" dirty="0"/>
              <a:t>}</a:t>
            </a:r>
            <a:endParaRPr lang="zh-CN" altLang="en-US" sz="1600" dirty="0"/>
          </a:p>
        </p:txBody>
      </p:sp>
      <p:sp>
        <p:nvSpPr>
          <p:cNvPr id="2" name="矩形 1"/>
          <p:cNvSpPr/>
          <p:nvPr/>
        </p:nvSpPr>
        <p:spPr>
          <a:xfrm>
            <a:off x="3938881" y="86916"/>
            <a:ext cx="2545327" cy="6771084"/>
          </a:xfrm>
          <a:prstGeom prst="rect">
            <a:avLst/>
          </a:prstGeom>
        </p:spPr>
        <p:txBody>
          <a:bodyPr wrap="square">
            <a:spAutoFit/>
          </a:bodyPr>
          <a:lstStyle/>
          <a:p>
            <a:r>
              <a:rPr lang="en-US" altLang="zh-CN" sz="1400" dirty="0"/>
              <a:t>header{</a:t>
            </a:r>
          </a:p>
          <a:p>
            <a:r>
              <a:rPr lang="en-US" altLang="zh-CN" sz="1400" dirty="0"/>
              <a:t>  grid-area: header;</a:t>
            </a:r>
          </a:p>
          <a:p>
            <a:r>
              <a:rPr lang="en-US" altLang="zh-CN" sz="1400" dirty="0"/>
              <a:t>  display: grid;</a:t>
            </a:r>
          </a:p>
          <a:p>
            <a:r>
              <a:rPr lang="en-US" altLang="zh-CN" sz="1400" dirty="0"/>
              <a:t>  grid-template-columns: 1fr </a:t>
            </a:r>
            <a:r>
              <a:rPr lang="en-US" altLang="zh-CN" sz="1400" dirty="0" err="1"/>
              <a:t>1fr</a:t>
            </a:r>
            <a:r>
              <a:rPr lang="en-US" altLang="zh-CN" sz="1400" dirty="0"/>
              <a:t>;</a:t>
            </a:r>
          </a:p>
          <a:p>
            <a:r>
              <a:rPr lang="en-US" altLang="zh-CN" sz="1400" dirty="0"/>
              <a:t>  background-color: #ccc;</a:t>
            </a:r>
          </a:p>
          <a:p>
            <a:r>
              <a:rPr lang="en-US" altLang="zh-CN" sz="1400" dirty="0"/>
              <a:t>  padding: 20px 0;</a:t>
            </a:r>
          </a:p>
          <a:p>
            <a:r>
              <a:rPr lang="en-US" altLang="zh-CN" sz="1400" dirty="0"/>
              <a:t>}</a:t>
            </a:r>
          </a:p>
          <a:p>
            <a:r>
              <a:rPr lang="en-US" altLang="zh-CN" sz="1400" dirty="0"/>
              <a:t>header </a:t>
            </a:r>
            <a:r>
              <a:rPr lang="en-US" altLang="zh-CN" sz="1400" dirty="0" err="1"/>
              <a:t>nav</a:t>
            </a:r>
            <a:r>
              <a:rPr lang="en-US" altLang="zh-CN" sz="1400" dirty="0"/>
              <a:t>{</a:t>
            </a:r>
          </a:p>
          <a:p>
            <a:r>
              <a:rPr lang="en-US" altLang="zh-CN" sz="1400" dirty="0"/>
              <a:t>  justify-self: start;</a:t>
            </a:r>
          </a:p>
          <a:p>
            <a:r>
              <a:rPr lang="en-US" altLang="zh-CN" sz="1400" dirty="0"/>
              <a:t>  border: 1px solid blue;</a:t>
            </a:r>
          </a:p>
          <a:p>
            <a:r>
              <a:rPr lang="en-US" altLang="zh-CN" sz="1400" dirty="0"/>
              <a:t>  padding: 10px;</a:t>
            </a:r>
          </a:p>
          <a:p>
            <a:r>
              <a:rPr lang="en-US" altLang="zh-CN" sz="1400" dirty="0"/>
              <a:t>}</a:t>
            </a:r>
          </a:p>
          <a:p>
            <a:r>
              <a:rPr lang="en-US" altLang="zh-CN" sz="1400" dirty="0"/>
              <a:t>header button{</a:t>
            </a:r>
          </a:p>
          <a:p>
            <a:r>
              <a:rPr lang="en-US" altLang="zh-CN" sz="1400" dirty="0"/>
              <a:t>  justify-self: end;</a:t>
            </a:r>
          </a:p>
          <a:p>
            <a:r>
              <a:rPr lang="en-US" altLang="zh-CN" sz="1400" dirty="0"/>
              <a:t>}</a:t>
            </a:r>
          </a:p>
          <a:p>
            <a:r>
              <a:rPr lang="en-US" altLang="zh-CN" sz="1400" dirty="0"/>
              <a:t>/* </a:t>
            </a:r>
            <a:r>
              <a:rPr lang="zh-CN" altLang="en-US" sz="1400" dirty="0"/>
              <a:t>主要内容区域 *</a:t>
            </a:r>
            <a:r>
              <a:rPr lang="en-US" altLang="zh-CN" sz="1400" dirty="0"/>
              <a:t>/</a:t>
            </a:r>
          </a:p>
          <a:p>
            <a:r>
              <a:rPr lang="en-US" altLang="zh-CN" sz="1400" dirty="0"/>
              <a:t>main{</a:t>
            </a:r>
          </a:p>
          <a:p>
            <a:r>
              <a:rPr lang="en-US" altLang="zh-CN" sz="1400" dirty="0"/>
              <a:t>  grid-area: main;</a:t>
            </a:r>
          </a:p>
          <a:p>
            <a:r>
              <a:rPr lang="en-US" altLang="zh-CN" sz="1400" dirty="0"/>
              <a:t>  height: 400px;</a:t>
            </a:r>
          </a:p>
          <a:p>
            <a:r>
              <a:rPr lang="en-US" altLang="zh-CN" sz="1400" dirty="0"/>
              <a:t>  border: 1px solid blue;</a:t>
            </a:r>
          </a:p>
          <a:p>
            <a:r>
              <a:rPr lang="en-US" altLang="zh-CN" sz="1400" dirty="0"/>
              <a:t>}</a:t>
            </a:r>
          </a:p>
          <a:p>
            <a:r>
              <a:rPr lang="en-US" altLang="zh-CN" sz="1400" dirty="0"/>
              <a:t>aside{</a:t>
            </a:r>
          </a:p>
          <a:p>
            <a:r>
              <a:rPr lang="en-US" altLang="zh-CN" sz="1400" dirty="0"/>
              <a:t>  </a:t>
            </a:r>
            <a:r>
              <a:rPr lang="en-US" altLang="zh-CN" sz="1400" dirty="0" err="1"/>
              <a:t>grid-area:aside</a:t>
            </a:r>
            <a:r>
              <a:rPr lang="en-US" altLang="zh-CN" sz="1400" dirty="0"/>
              <a:t>;</a:t>
            </a:r>
          </a:p>
          <a:p>
            <a:r>
              <a:rPr lang="en-US" altLang="zh-CN" sz="1400" dirty="0"/>
              <a:t>  border: 1px solid blue;</a:t>
            </a:r>
          </a:p>
          <a:p>
            <a:r>
              <a:rPr lang="en-US" altLang="zh-CN" sz="1400" dirty="0"/>
              <a:t>}</a:t>
            </a:r>
          </a:p>
          <a:p>
            <a:r>
              <a:rPr lang="en-US" altLang="zh-CN" sz="1400" dirty="0"/>
              <a:t>footer{</a:t>
            </a:r>
          </a:p>
          <a:p>
            <a:r>
              <a:rPr lang="en-US" altLang="zh-CN" sz="1400" dirty="0"/>
              <a:t>  grid-area: footer;</a:t>
            </a:r>
          </a:p>
          <a:p>
            <a:r>
              <a:rPr lang="en-US" altLang="zh-CN" sz="1400" dirty="0"/>
              <a:t>  border: 1px solid blue;</a:t>
            </a:r>
          </a:p>
          <a:p>
            <a:r>
              <a:rPr lang="en-US" altLang="zh-CN" sz="1400" dirty="0"/>
              <a:t>  </a:t>
            </a:r>
            <a:r>
              <a:rPr lang="en-US" altLang="zh-CN" sz="1400" dirty="0" err="1"/>
              <a:t>text-align:center</a:t>
            </a:r>
            <a:r>
              <a:rPr lang="en-US" altLang="zh-CN" sz="1400" dirty="0"/>
              <a:t>;</a:t>
            </a:r>
          </a:p>
          <a:p>
            <a:r>
              <a:rPr lang="en-US" altLang="zh-CN" sz="1400" dirty="0"/>
              <a:t>  padding: 20px 0;</a:t>
            </a:r>
          </a:p>
          <a:p>
            <a:r>
              <a:rPr lang="en-US" altLang="zh-CN" sz="1400" dirty="0"/>
              <a:t>}</a:t>
            </a:r>
            <a:endParaRPr lang="zh-CN" altLang="en-US" sz="1400" dirty="0"/>
          </a:p>
        </p:txBody>
      </p:sp>
      <p:sp>
        <p:nvSpPr>
          <p:cNvPr id="3" name="矩形 2"/>
          <p:cNvSpPr/>
          <p:nvPr/>
        </p:nvSpPr>
        <p:spPr>
          <a:xfrm>
            <a:off x="7584019" y="2461013"/>
            <a:ext cx="4321110" cy="3046988"/>
          </a:xfrm>
          <a:prstGeom prst="rect">
            <a:avLst/>
          </a:prstGeom>
        </p:spPr>
        <p:txBody>
          <a:bodyPr wrap="square">
            <a:spAutoFit/>
          </a:bodyPr>
          <a:lstStyle/>
          <a:p>
            <a:r>
              <a:rPr lang="en-US" altLang="zh-CN" sz="1600" dirty="0"/>
              <a:t>/* </a:t>
            </a:r>
            <a:r>
              <a:rPr lang="zh-CN" altLang="en-US" sz="1600" dirty="0"/>
              <a:t>媒体查询实现响应式布局 *</a:t>
            </a:r>
            <a:r>
              <a:rPr lang="en-US" altLang="zh-CN" sz="1600" dirty="0"/>
              <a:t>/</a:t>
            </a:r>
          </a:p>
          <a:p>
            <a:r>
              <a:rPr lang="en-US" altLang="zh-CN" sz="1600" dirty="0"/>
              <a:t>/* </a:t>
            </a:r>
            <a:r>
              <a:rPr lang="zh-CN" altLang="en-US" sz="1600" dirty="0"/>
              <a:t>宽度小于或等于</a:t>
            </a:r>
            <a:r>
              <a:rPr lang="en-US" altLang="zh-CN" sz="1600" dirty="0"/>
              <a:t>600px</a:t>
            </a:r>
            <a:r>
              <a:rPr lang="zh-CN" altLang="en-US" sz="1600" dirty="0"/>
              <a:t>，变为单列布局 *</a:t>
            </a:r>
            <a:r>
              <a:rPr lang="en-US" altLang="zh-CN" sz="1600" dirty="0"/>
              <a:t>/</a:t>
            </a:r>
          </a:p>
          <a:p>
            <a:r>
              <a:rPr lang="en-US" altLang="zh-CN" sz="1600" dirty="0"/>
              <a:t>@media(max-width:600px){</a:t>
            </a:r>
          </a:p>
          <a:p>
            <a:r>
              <a:rPr lang="en-US" altLang="zh-CN" sz="1600" dirty="0"/>
              <a:t>  .container{</a:t>
            </a:r>
          </a:p>
          <a:p>
            <a:r>
              <a:rPr lang="en-US" altLang="zh-CN" sz="1600" dirty="0"/>
              <a:t>    grid-template-columns: 1fr;</a:t>
            </a:r>
          </a:p>
          <a:p>
            <a:r>
              <a:rPr lang="en-US" altLang="zh-CN" sz="1600" dirty="0"/>
              <a:t>    grid-template-areas: </a:t>
            </a:r>
          </a:p>
          <a:p>
            <a:r>
              <a:rPr lang="en-US" altLang="zh-CN" sz="1600" dirty="0"/>
              <a:t>    "header"</a:t>
            </a:r>
          </a:p>
          <a:p>
            <a:r>
              <a:rPr lang="en-US" altLang="zh-CN" sz="1600" dirty="0"/>
              <a:t>    "main"</a:t>
            </a:r>
          </a:p>
          <a:p>
            <a:r>
              <a:rPr lang="en-US" altLang="zh-CN" sz="1600" dirty="0"/>
              <a:t>    "aside"</a:t>
            </a:r>
          </a:p>
          <a:p>
            <a:r>
              <a:rPr lang="en-US" altLang="zh-CN" sz="1600" dirty="0"/>
              <a:t>    "footer";</a:t>
            </a:r>
          </a:p>
          <a:p>
            <a:r>
              <a:rPr lang="en-US" altLang="zh-CN" sz="1600" dirty="0"/>
              <a:t>  }</a:t>
            </a:r>
          </a:p>
          <a:p>
            <a:r>
              <a:rPr lang="en-US" altLang="zh-CN" sz="1600" dirty="0"/>
              <a:t>}</a:t>
            </a:r>
            <a:endParaRPr lang="zh-CN" altLang="en-US" sz="1600" dirty="0"/>
          </a:p>
        </p:txBody>
      </p:sp>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3146098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solidFill>
                  <a:schemeClr val="accent1">
                    <a:lumMod val="75000"/>
                  </a:schemeClr>
                </a:solidFill>
                <a:latin typeface="+mj-lt"/>
                <a:ea typeface="+mj-ea"/>
                <a:cs typeface="+mj-cs"/>
              </a:defRPr>
            </a:lvl1pPr>
          </a:lstStyle>
          <a:p>
            <a:r>
              <a:rPr lang="zh-CN" altLang="en-US" dirty="0" smtClean="0">
                <a:solidFill>
                  <a:schemeClr val="tx1"/>
                </a:solidFill>
                <a:latin typeface="+mn-ea"/>
                <a:ea typeface="+mn-ea"/>
              </a:rPr>
              <a:t>课程思政</a:t>
            </a:r>
            <a:endParaRPr lang="zh-CN" altLang="en-US" dirty="0">
              <a:solidFill>
                <a:schemeClr val="tx1"/>
              </a:solidFill>
              <a:latin typeface="+mn-ea"/>
              <a:ea typeface="+mn-ea"/>
            </a:endParaRPr>
          </a:p>
        </p:txBody>
      </p:sp>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
        <p:nvSpPr>
          <p:cNvPr id="6" name="矩形 5"/>
          <p:cNvSpPr/>
          <p:nvPr/>
        </p:nvSpPr>
        <p:spPr>
          <a:xfrm>
            <a:off x="698500" y="1609871"/>
            <a:ext cx="10706100" cy="4708981"/>
          </a:xfrm>
          <a:prstGeom prst="rect">
            <a:avLst/>
          </a:prstGeom>
        </p:spPr>
        <p:txBody>
          <a:bodyPr wrap="square">
            <a:spAutoFit/>
          </a:bodyPr>
          <a:lstStyle/>
          <a:p>
            <a:pPr>
              <a:lnSpc>
                <a:spcPct val="150000"/>
              </a:lnSpc>
            </a:pPr>
            <a:r>
              <a:rPr lang="zh-CN" altLang="en-US" sz="2000" b="1" dirty="0" smtClean="0"/>
              <a:t>适应变化</a:t>
            </a:r>
            <a:r>
              <a:rPr lang="zh-CN" altLang="en-US" sz="2000" dirty="0" smtClean="0"/>
              <a:t>：响应</a:t>
            </a:r>
            <a:r>
              <a:rPr lang="zh-CN" altLang="en-US" sz="2000" dirty="0"/>
              <a:t>式布局强调以用户为中心的设计理念，能够适应不同的设备和屏幕尺寸，这种变化适应</a:t>
            </a:r>
            <a:r>
              <a:rPr lang="zh-CN" altLang="en-US" sz="2000" dirty="0" smtClean="0"/>
              <a:t>能力与适应</a:t>
            </a:r>
            <a:r>
              <a:rPr lang="zh-CN" altLang="en-US" sz="2000" dirty="0"/>
              <a:t>社会发展和变化的能力相对应。面对在快速变化的技术</a:t>
            </a:r>
            <a:r>
              <a:rPr lang="zh-CN" altLang="en-US" sz="2000" dirty="0" smtClean="0"/>
              <a:t>环境，大家需要</a:t>
            </a:r>
            <a:r>
              <a:rPr lang="zh-CN" altLang="en-US" sz="2000" dirty="0"/>
              <a:t>学会如何适应新设备</a:t>
            </a:r>
            <a:r>
              <a:rPr lang="zh-CN" altLang="en-US" sz="2000"/>
              <a:t>和</a:t>
            </a:r>
            <a:r>
              <a:rPr lang="zh-CN" altLang="en-US" sz="2000" smtClean="0"/>
              <a:t>新技术。</a:t>
            </a:r>
            <a:endParaRPr lang="en-US" altLang="zh-CN" sz="2000" smtClean="0"/>
          </a:p>
          <a:p>
            <a:pPr>
              <a:lnSpc>
                <a:spcPct val="150000"/>
              </a:lnSpc>
            </a:pPr>
            <a:endParaRPr lang="en-US" altLang="zh-CN" sz="2000" dirty="0"/>
          </a:p>
          <a:p>
            <a:pPr>
              <a:lnSpc>
                <a:spcPct val="150000"/>
              </a:lnSpc>
            </a:pPr>
            <a:r>
              <a:rPr lang="zh-CN" altLang="en-US" sz="2000" b="1" dirty="0" smtClean="0"/>
              <a:t>创新</a:t>
            </a:r>
            <a:r>
              <a:rPr lang="zh-CN" altLang="en-US" sz="2000" b="1" dirty="0"/>
              <a:t>和适应性</a:t>
            </a:r>
            <a:r>
              <a:rPr lang="zh-CN" altLang="en-US" sz="2000" dirty="0"/>
              <a:t>：在快速变化的技术环境中</a:t>
            </a:r>
            <a:r>
              <a:rPr lang="zh-CN" altLang="en-US" sz="2000" dirty="0" smtClean="0"/>
              <a:t>，</a:t>
            </a:r>
            <a:r>
              <a:rPr lang="zh-CN" altLang="en-US" sz="2000" dirty="0"/>
              <a:t>大家</a:t>
            </a:r>
            <a:r>
              <a:rPr lang="zh-CN" altLang="en-US" sz="2000" dirty="0" smtClean="0"/>
              <a:t>需要</a:t>
            </a:r>
            <a:r>
              <a:rPr lang="zh-CN" altLang="en-US" sz="2000" dirty="0"/>
              <a:t>学会如何适应新设备和新技术，以及如何创造性地解决问题，以提供更好的用户体验</a:t>
            </a:r>
            <a:r>
              <a:rPr lang="zh-CN" altLang="en-US" sz="2000" dirty="0" smtClean="0"/>
              <a:t>。</a:t>
            </a:r>
            <a:endParaRPr lang="en-US" altLang="zh-CN" sz="2000" dirty="0" smtClean="0"/>
          </a:p>
          <a:p>
            <a:pPr>
              <a:lnSpc>
                <a:spcPct val="150000"/>
              </a:lnSpc>
            </a:pPr>
            <a:endParaRPr lang="en-US" altLang="zh-CN" sz="2000" dirty="0"/>
          </a:p>
          <a:p>
            <a:pPr>
              <a:lnSpc>
                <a:spcPct val="150000"/>
              </a:lnSpc>
            </a:pPr>
            <a:r>
              <a:rPr lang="zh-CN" altLang="en-US" sz="2000" b="1" dirty="0"/>
              <a:t>终身学习能力</a:t>
            </a:r>
            <a:r>
              <a:rPr lang="zh-CN" altLang="en-US" sz="2000" dirty="0"/>
              <a:t>：响应式布局的这种变化适应能力</a:t>
            </a:r>
            <a:r>
              <a:rPr lang="zh-CN" altLang="en-US" sz="2000" dirty="0" smtClean="0"/>
              <a:t>引申思考，将来</a:t>
            </a:r>
            <a:r>
              <a:rPr lang="zh-CN" altLang="en-US" sz="2000" dirty="0"/>
              <a:t>步入</a:t>
            </a:r>
            <a:r>
              <a:rPr lang="zh-CN" altLang="en-US" sz="2000" dirty="0" smtClean="0"/>
              <a:t>社会同样</a:t>
            </a:r>
            <a:r>
              <a:rPr lang="zh-CN" altLang="en-US" sz="2000" dirty="0"/>
              <a:t>需要具备适应社会发展和变化的能力，随着技术的不断进步，保持终身学习的习惯，使自身技能和知识不断更新</a:t>
            </a:r>
          </a:p>
        </p:txBody>
      </p:sp>
    </p:spTree>
    <p:extLst>
      <p:ext uri="{BB962C8B-B14F-4D97-AF65-F5344CB8AC3E}">
        <p14:creationId xmlns:p14="http://schemas.microsoft.com/office/powerpoint/2010/main" val="9584199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16</a:t>
            </a:fld>
            <a:endParaRPr lang="zh-CN" altLang="en-US"/>
          </a:p>
        </p:txBody>
      </p:sp>
      <p:sp>
        <p:nvSpPr>
          <p:cNvPr id="14" name="矩形 13"/>
          <p:cNvSpPr/>
          <p:nvPr/>
        </p:nvSpPr>
        <p:spPr>
          <a:xfrm>
            <a:off x="955356" y="2651667"/>
            <a:ext cx="10466493" cy="1085810"/>
          </a:xfrm>
          <a:prstGeom prst="rect">
            <a:avLst/>
          </a:prstGeom>
        </p:spPr>
        <p:txBody>
          <a:bodyPr wrap="square">
            <a:spAutoFit/>
          </a:bodyPr>
          <a:lstStyle/>
          <a:p>
            <a:pPr algn="ctr">
              <a:lnSpc>
                <a:spcPct val="150000"/>
              </a:lnSpc>
            </a:pPr>
            <a:r>
              <a:rPr lang="en-US" altLang="zh-CN" sz="4800" dirty="0" smtClean="0"/>
              <a:t>CSS3</a:t>
            </a:r>
          </a:p>
        </p:txBody>
      </p:sp>
      <p:sp>
        <p:nvSpPr>
          <p:cNvPr id="5" name="矩形 4"/>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334398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1</a:t>
            </a:r>
            <a:r>
              <a:rPr lang="zh-CN" altLang="en-US" dirty="0" smtClean="0"/>
              <a:t>、圆角</a:t>
            </a:r>
            <a:r>
              <a:rPr lang="zh-CN" altLang="en-US" dirty="0"/>
              <a:t>边框与阴影</a:t>
            </a:r>
          </a:p>
        </p:txBody>
      </p:sp>
      <p:sp>
        <p:nvSpPr>
          <p:cNvPr id="18" name="文本框 17"/>
          <p:cNvSpPr txBox="1"/>
          <p:nvPr/>
        </p:nvSpPr>
        <p:spPr>
          <a:xfrm>
            <a:off x="795866" y="1518868"/>
            <a:ext cx="8424333" cy="400110"/>
          </a:xfrm>
          <a:prstGeom prst="rect">
            <a:avLst/>
          </a:prstGeom>
          <a:noFill/>
        </p:spPr>
        <p:txBody>
          <a:bodyPr wrap="square" rtlCol="0">
            <a:spAutoFit/>
          </a:bodyPr>
          <a:lstStyle/>
          <a:p>
            <a:r>
              <a:rPr lang="zh-CN" altLang="en-US" sz="2000" b="1" dirty="0" smtClean="0"/>
              <a:t>圆角边框</a:t>
            </a:r>
            <a:r>
              <a:rPr lang="en-US" altLang="zh-CN" sz="2000" b="1" dirty="0" smtClean="0"/>
              <a:t>border-radius</a:t>
            </a:r>
            <a:r>
              <a:rPr lang="zh-CN" altLang="en-US" sz="2000" b="1" dirty="0" smtClean="0"/>
              <a:t>：</a:t>
            </a:r>
            <a:r>
              <a:rPr lang="zh-CN" altLang="en-US" sz="1600" b="1" dirty="0" smtClean="0"/>
              <a:t>用于添加元素的圆角边框</a:t>
            </a:r>
            <a:endParaRPr lang="en-US" altLang="zh-CN" sz="1600" b="1" dirty="0"/>
          </a:p>
        </p:txBody>
      </p:sp>
      <p:sp>
        <p:nvSpPr>
          <p:cNvPr id="12" name="文本框 11"/>
          <p:cNvSpPr txBox="1"/>
          <p:nvPr/>
        </p:nvSpPr>
        <p:spPr>
          <a:xfrm>
            <a:off x="795867" y="2134857"/>
            <a:ext cx="5166783" cy="2031325"/>
          </a:xfrm>
          <a:prstGeom prst="rect">
            <a:avLst/>
          </a:prstGeom>
          <a:noFill/>
        </p:spPr>
        <p:txBody>
          <a:bodyPr wrap="square" rtlCol="0">
            <a:spAutoFit/>
          </a:bodyPr>
          <a:lstStyle/>
          <a:p>
            <a:r>
              <a:rPr lang="en-US" altLang="zh-CN" dirty="0" smtClean="0"/>
              <a:t>border-top-left-radius        </a:t>
            </a:r>
            <a:r>
              <a:rPr lang="zh-CN" altLang="en-US" dirty="0" smtClean="0"/>
              <a:t>左上角的形状</a:t>
            </a:r>
            <a:endParaRPr lang="en-US" altLang="zh-CN" dirty="0" smtClean="0"/>
          </a:p>
          <a:p>
            <a:endParaRPr lang="en-US" altLang="zh-CN" dirty="0"/>
          </a:p>
          <a:p>
            <a:r>
              <a:rPr lang="en-US" altLang="zh-CN" dirty="0" smtClean="0"/>
              <a:t>border-top-right-radius        </a:t>
            </a:r>
            <a:r>
              <a:rPr lang="zh-CN" altLang="en-US" dirty="0"/>
              <a:t>右</a:t>
            </a:r>
            <a:r>
              <a:rPr lang="zh-CN" altLang="en-US" dirty="0" smtClean="0"/>
              <a:t>上角</a:t>
            </a:r>
            <a:r>
              <a:rPr lang="zh-CN" altLang="en-US" dirty="0"/>
              <a:t>的形状</a:t>
            </a:r>
            <a:endParaRPr lang="en-US" altLang="zh-CN" dirty="0"/>
          </a:p>
          <a:p>
            <a:endParaRPr lang="en-US" altLang="zh-CN" dirty="0" smtClean="0"/>
          </a:p>
          <a:p>
            <a:r>
              <a:rPr lang="en-US" altLang="zh-CN" dirty="0" smtClean="0"/>
              <a:t>border-bottom-left-radius        </a:t>
            </a:r>
            <a:r>
              <a:rPr lang="zh-CN" altLang="en-US" dirty="0" smtClean="0"/>
              <a:t>左下角</a:t>
            </a:r>
            <a:r>
              <a:rPr lang="zh-CN" altLang="en-US" dirty="0"/>
              <a:t>的形状</a:t>
            </a:r>
            <a:endParaRPr lang="en-US" altLang="zh-CN" dirty="0"/>
          </a:p>
          <a:p>
            <a:endParaRPr lang="en-US" altLang="zh-CN" dirty="0" smtClean="0"/>
          </a:p>
          <a:p>
            <a:r>
              <a:rPr lang="en-US" altLang="zh-CN" dirty="0" smtClean="0"/>
              <a:t>border-bottom-right-radius        </a:t>
            </a:r>
            <a:r>
              <a:rPr lang="zh-CN" altLang="en-US" dirty="0" smtClean="0"/>
              <a:t>右下角</a:t>
            </a:r>
            <a:r>
              <a:rPr lang="zh-CN" altLang="en-US" dirty="0"/>
              <a:t>的</a:t>
            </a:r>
            <a:r>
              <a:rPr lang="zh-CN" altLang="en-US" dirty="0" smtClean="0"/>
              <a:t>形状</a:t>
            </a:r>
            <a:endParaRPr lang="en-US" altLang="zh-CN" dirty="0"/>
          </a:p>
        </p:txBody>
      </p:sp>
      <p:pic>
        <p:nvPicPr>
          <p:cNvPr id="2" name="图片 1"/>
          <p:cNvPicPr>
            <a:picLocks noChangeAspect="1"/>
          </p:cNvPicPr>
          <p:nvPr/>
        </p:nvPicPr>
        <p:blipFill>
          <a:blip r:embed="rId3"/>
          <a:stretch>
            <a:fillRect/>
          </a:stretch>
        </p:blipFill>
        <p:spPr>
          <a:xfrm>
            <a:off x="856104" y="4483213"/>
            <a:ext cx="2419350" cy="1419225"/>
          </a:xfrm>
          <a:prstGeom prst="rect">
            <a:avLst/>
          </a:prstGeom>
        </p:spPr>
      </p:pic>
      <p:sp>
        <p:nvSpPr>
          <p:cNvPr id="5" name="矩形 4"/>
          <p:cNvSpPr/>
          <p:nvPr/>
        </p:nvSpPr>
        <p:spPr>
          <a:xfrm>
            <a:off x="5823021" y="2033791"/>
            <a:ext cx="4524375" cy="1846659"/>
          </a:xfrm>
          <a:prstGeom prst="rect">
            <a:avLst/>
          </a:prstGeom>
        </p:spPr>
        <p:txBody>
          <a:bodyPr wrap="square">
            <a:spAutoFit/>
          </a:bodyPr>
          <a:lstStyle/>
          <a:p>
            <a:r>
              <a:rPr lang="en-US" altLang="zh-CN" sz="1600" dirty="0">
                <a:latin typeface="+mn-ea"/>
              </a:rPr>
              <a:t>div {</a:t>
            </a:r>
          </a:p>
          <a:p>
            <a:pPr lvl="1"/>
            <a:r>
              <a:rPr lang="en-US" altLang="zh-CN" sz="1600" dirty="0">
                <a:latin typeface="+mn-ea"/>
              </a:rPr>
              <a:t>height: 100px;</a:t>
            </a:r>
          </a:p>
          <a:p>
            <a:pPr lvl="1"/>
            <a:r>
              <a:rPr lang="en-US" altLang="zh-CN" sz="1600" dirty="0">
                <a:latin typeface="+mn-ea"/>
              </a:rPr>
              <a:t>width: 150px;</a:t>
            </a:r>
          </a:p>
          <a:p>
            <a:pPr lvl="1"/>
            <a:r>
              <a:rPr lang="en-US" altLang="zh-CN" sz="1600" dirty="0">
                <a:latin typeface="+mn-ea"/>
              </a:rPr>
              <a:t>border: 1px solid blue;</a:t>
            </a:r>
          </a:p>
          <a:p>
            <a:pPr lvl="1"/>
            <a:r>
              <a:rPr lang="en-US" altLang="zh-CN" sz="1600" dirty="0" smtClean="0">
                <a:latin typeface="+mn-ea"/>
              </a:rPr>
              <a:t>border-top-left-radius </a:t>
            </a:r>
            <a:r>
              <a:rPr lang="en-US" altLang="zh-CN" sz="1600" dirty="0">
                <a:latin typeface="+mn-ea"/>
              </a:rPr>
              <a:t>: </a:t>
            </a:r>
            <a:r>
              <a:rPr lang="en-US" altLang="zh-CN" sz="1600" dirty="0" smtClean="0">
                <a:latin typeface="+mn-ea"/>
              </a:rPr>
              <a:t>40px 20px</a:t>
            </a:r>
            <a:r>
              <a:rPr lang="zh-CN" altLang="en-US" sz="1600" dirty="0" smtClean="0">
                <a:latin typeface="+mn-ea"/>
              </a:rPr>
              <a:t>；</a:t>
            </a:r>
            <a:endParaRPr lang="en-US" altLang="zh-CN" sz="1600" dirty="0">
              <a:latin typeface="+mn-ea"/>
            </a:endParaRPr>
          </a:p>
          <a:p>
            <a:pPr lvl="1"/>
            <a:r>
              <a:rPr lang="en-US" altLang="zh-CN" sz="1600" dirty="0" smtClean="0">
                <a:latin typeface="+mn-ea"/>
              </a:rPr>
              <a:t>border-bottom-right-radius: 20px</a:t>
            </a:r>
            <a:r>
              <a:rPr lang="zh-CN" altLang="en-US" sz="1600" dirty="0" smtClean="0">
                <a:latin typeface="+mn-ea"/>
              </a:rPr>
              <a:t>；</a:t>
            </a:r>
            <a:endParaRPr lang="en-US" altLang="zh-CN" sz="1600" dirty="0">
              <a:latin typeface="+mn-ea"/>
            </a:endParaRPr>
          </a:p>
          <a:p>
            <a:r>
              <a:rPr lang="en-US" altLang="zh-CN" sz="1600" dirty="0">
                <a:latin typeface="+mn-ea"/>
              </a:rPr>
              <a:t>}</a:t>
            </a:r>
            <a:endParaRPr lang="zh-CN" altLang="en-US" sz="1600" dirty="0">
              <a:latin typeface="+mn-ea"/>
            </a:endParaRPr>
          </a:p>
        </p:txBody>
      </p:sp>
      <p:pic>
        <p:nvPicPr>
          <p:cNvPr id="7" name="图片 6"/>
          <p:cNvPicPr>
            <a:picLocks noChangeAspect="1"/>
          </p:cNvPicPr>
          <p:nvPr/>
        </p:nvPicPr>
        <p:blipFill>
          <a:blip r:embed="rId4"/>
          <a:stretch>
            <a:fillRect/>
          </a:stretch>
        </p:blipFill>
        <p:spPr>
          <a:xfrm>
            <a:off x="5823021" y="4008524"/>
            <a:ext cx="2459570" cy="1707681"/>
          </a:xfrm>
          <a:prstGeom prst="rect">
            <a:avLst/>
          </a:prstGeom>
        </p:spPr>
      </p:pic>
      <p:sp>
        <p:nvSpPr>
          <p:cNvPr id="9" name="矩形 8"/>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760312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1</a:t>
            </a:r>
            <a:r>
              <a:rPr lang="zh-CN" altLang="en-US" dirty="0" smtClean="0"/>
              <a:t>、圆角</a:t>
            </a:r>
            <a:r>
              <a:rPr lang="zh-CN" altLang="en-US" dirty="0"/>
              <a:t>边框与阴影</a:t>
            </a:r>
          </a:p>
        </p:txBody>
      </p:sp>
      <p:sp>
        <p:nvSpPr>
          <p:cNvPr id="18" name="文本框 17"/>
          <p:cNvSpPr txBox="1"/>
          <p:nvPr/>
        </p:nvSpPr>
        <p:spPr>
          <a:xfrm>
            <a:off x="795867" y="1518868"/>
            <a:ext cx="2872140" cy="400110"/>
          </a:xfrm>
          <a:prstGeom prst="rect">
            <a:avLst/>
          </a:prstGeom>
          <a:noFill/>
        </p:spPr>
        <p:txBody>
          <a:bodyPr wrap="square" rtlCol="0">
            <a:spAutoFit/>
          </a:bodyPr>
          <a:lstStyle/>
          <a:p>
            <a:r>
              <a:rPr lang="zh-CN" altLang="en-US" sz="2000" b="1" dirty="0" smtClean="0"/>
              <a:t>阴影</a:t>
            </a:r>
            <a:r>
              <a:rPr lang="en-US" altLang="zh-CN" sz="2000" b="1" dirty="0" smtClean="0"/>
              <a:t>box-shadow</a:t>
            </a:r>
            <a:endParaRPr lang="en-US" altLang="zh-CN" sz="2000" b="1" dirty="0"/>
          </a:p>
        </p:txBody>
      </p:sp>
      <p:sp>
        <p:nvSpPr>
          <p:cNvPr id="5" name="矩形 4"/>
          <p:cNvSpPr/>
          <p:nvPr/>
        </p:nvSpPr>
        <p:spPr>
          <a:xfrm>
            <a:off x="826401" y="2088403"/>
            <a:ext cx="8561439" cy="1754326"/>
          </a:xfrm>
          <a:prstGeom prst="rect">
            <a:avLst/>
          </a:prstGeom>
        </p:spPr>
        <p:txBody>
          <a:bodyPr wrap="square">
            <a:spAutoFit/>
          </a:bodyPr>
          <a:lstStyle/>
          <a:p>
            <a:pPr>
              <a:lnSpc>
                <a:spcPct val="150000"/>
              </a:lnSpc>
            </a:pPr>
            <a:r>
              <a:rPr lang="zh-CN" altLang="en-US" b="1" dirty="0" smtClean="0">
                <a:latin typeface="+mn-ea"/>
              </a:rPr>
              <a:t>取值：</a:t>
            </a:r>
            <a:r>
              <a:rPr lang="en-US" altLang="zh-CN" b="1" dirty="0" err="1" smtClean="0">
                <a:latin typeface="+mn-ea"/>
              </a:rPr>
              <a:t>inset|outset</a:t>
            </a:r>
            <a:r>
              <a:rPr lang="en-US" altLang="zh-CN" b="1" dirty="0" smtClean="0">
                <a:latin typeface="+mn-ea"/>
              </a:rPr>
              <a:t>   </a:t>
            </a:r>
            <a:r>
              <a:rPr lang="zh-CN" altLang="en-US" b="1" dirty="0" smtClean="0">
                <a:latin typeface="+mn-ea"/>
              </a:rPr>
              <a:t>水平偏移   </a:t>
            </a:r>
            <a:r>
              <a:rPr lang="zh-CN" altLang="en-US" b="1" dirty="0">
                <a:latin typeface="+mn-ea"/>
              </a:rPr>
              <a:t>垂直偏移 </a:t>
            </a:r>
            <a:r>
              <a:rPr lang="zh-CN" altLang="en-US" b="1" dirty="0" smtClean="0">
                <a:latin typeface="+mn-ea"/>
              </a:rPr>
              <a:t>  模糊</a:t>
            </a:r>
            <a:r>
              <a:rPr lang="zh-CN" altLang="en-US" b="1" dirty="0">
                <a:latin typeface="+mn-ea"/>
              </a:rPr>
              <a:t>距离 </a:t>
            </a:r>
            <a:r>
              <a:rPr lang="zh-CN" altLang="en-US" b="1" dirty="0" smtClean="0">
                <a:latin typeface="+mn-ea"/>
              </a:rPr>
              <a:t>  颜色</a:t>
            </a:r>
            <a:endParaRPr lang="zh-CN" altLang="en-US" b="1" dirty="0">
              <a:latin typeface="+mn-ea"/>
            </a:endParaRPr>
          </a:p>
          <a:p>
            <a:pPr marL="285750" indent="-285750">
              <a:lnSpc>
                <a:spcPct val="150000"/>
              </a:lnSpc>
              <a:buFont typeface="Arial" panose="020B0604020202020204" pitchFamily="34" charset="0"/>
              <a:buChar char="•"/>
            </a:pPr>
            <a:r>
              <a:rPr lang="en-US" altLang="zh-CN" dirty="0" smtClean="0">
                <a:latin typeface="+mn-ea"/>
              </a:rPr>
              <a:t>inset</a:t>
            </a:r>
            <a:r>
              <a:rPr lang="zh-CN" altLang="en-US" dirty="0" smtClean="0">
                <a:latin typeface="+mn-ea"/>
              </a:rPr>
              <a:t>可选</a:t>
            </a:r>
            <a:r>
              <a:rPr lang="zh-CN" altLang="en-US" dirty="0">
                <a:latin typeface="+mn-ea"/>
              </a:rPr>
              <a:t>，内部</a:t>
            </a:r>
            <a:r>
              <a:rPr lang="zh-CN" altLang="en-US" dirty="0" smtClean="0">
                <a:latin typeface="+mn-ea"/>
              </a:rPr>
              <a:t>阴影，</a:t>
            </a:r>
            <a:r>
              <a:rPr lang="en-US" altLang="zh-CN" dirty="0" smtClean="0">
                <a:latin typeface="+mn-ea"/>
              </a:rPr>
              <a:t>outset</a:t>
            </a:r>
            <a:r>
              <a:rPr lang="zh-CN" altLang="en-US" dirty="0" smtClean="0">
                <a:latin typeface="+mn-ea"/>
              </a:rPr>
              <a:t>默认</a:t>
            </a:r>
            <a:r>
              <a:rPr lang="zh-CN" altLang="en-US" dirty="0">
                <a:latin typeface="+mn-ea"/>
              </a:rPr>
              <a:t>值，外部</a:t>
            </a:r>
            <a:r>
              <a:rPr lang="zh-CN" altLang="en-US" dirty="0" smtClean="0">
                <a:latin typeface="+mn-ea"/>
              </a:rPr>
              <a:t>阴影</a:t>
            </a:r>
            <a:endParaRPr lang="en-US" altLang="zh-CN" dirty="0" smtClean="0">
              <a:latin typeface="+mn-ea"/>
            </a:endParaRPr>
          </a:p>
          <a:p>
            <a:pPr marL="285750" indent="-285750">
              <a:lnSpc>
                <a:spcPct val="150000"/>
              </a:lnSpc>
              <a:buFont typeface="Arial" panose="020B0604020202020204" pitchFamily="34" charset="0"/>
              <a:buChar char="•"/>
            </a:pPr>
            <a:r>
              <a:rPr lang="zh-CN" altLang="en-US" dirty="0" smtClean="0">
                <a:latin typeface="+mn-ea"/>
              </a:rPr>
              <a:t>模糊半径决定了阴影沿偏移边界每侧的模糊范围，值越大，模糊的范围越大</a:t>
            </a:r>
            <a:endParaRPr lang="en-US" altLang="zh-CN" dirty="0" smtClean="0">
              <a:latin typeface="+mn-ea"/>
            </a:endParaRPr>
          </a:p>
          <a:p>
            <a:pPr marL="285750" indent="-285750">
              <a:lnSpc>
                <a:spcPct val="150000"/>
              </a:lnSpc>
              <a:buFont typeface="Arial" panose="020B0604020202020204" pitchFamily="34" charset="0"/>
              <a:buChar char="•"/>
            </a:pPr>
            <a:r>
              <a:rPr lang="en-US" altLang="zh-CN" dirty="0" smtClean="0">
                <a:latin typeface="+mn-ea"/>
              </a:rPr>
              <a:t>box-shadow</a:t>
            </a:r>
            <a:r>
              <a:rPr lang="zh-CN" altLang="en-US" dirty="0" smtClean="0">
                <a:latin typeface="+mn-ea"/>
              </a:rPr>
              <a:t>取值可以为多个，即添加多重效果，用逗号隔开即可。</a:t>
            </a:r>
            <a:endParaRPr lang="zh-CN" altLang="en-US" dirty="0">
              <a:latin typeface="+mn-ea"/>
            </a:endParaRPr>
          </a:p>
        </p:txBody>
      </p:sp>
      <p:sp>
        <p:nvSpPr>
          <p:cNvPr id="2" name="矩形 1"/>
          <p:cNvSpPr/>
          <p:nvPr/>
        </p:nvSpPr>
        <p:spPr>
          <a:xfrm>
            <a:off x="916553" y="4012154"/>
            <a:ext cx="2161928" cy="841961"/>
          </a:xfrm>
          <a:prstGeom prst="rect">
            <a:avLst/>
          </a:prstGeom>
          <a:solidFill>
            <a:schemeClr val="accent6">
              <a:lumMod val="20000"/>
              <a:lumOff val="8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916553" y="5132119"/>
            <a:ext cx="2161928" cy="913082"/>
          </a:xfrm>
          <a:prstGeom prst="rect">
            <a:avLst/>
          </a:prstGeom>
          <a:solidFill>
            <a:schemeClr val="accent6">
              <a:lumMod val="20000"/>
              <a:lumOff val="80000"/>
            </a:schemeClr>
          </a:solidFill>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 name="图片 7"/>
          <p:cNvPicPr>
            <a:picLocks noChangeAspect="1"/>
          </p:cNvPicPr>
          <p:nvPr/>
        </p:nvPicPr>
        <p:blipFill>
          <a:blip r:embed="rId3"/>
          <a:stretch>
            <a:fillRect/>
          </a:stretch>
        </p:blipFill>
        <p:spPr>
          <a:xfrm>
            <a:off x="3423920" y="3842729"/>
            <a:ext cx="2681342" cy="1498116"/>
          </a:xfrm>
          <a:prstGeom prst="rect">
            <a:avLst/>
          </a:prstGeom>
        </p:spPr>
      </p:pic>
      <p:pic>
        <p:nvPicPr>
          <p:cNvPr id="9" name="图片 8"/>
          <p:cNvPicPr>
            <a:picLocks noChangeAspect="1"/>
          </p:cNvPicPr>
          <p:nvPr/>
        </p:nvPicPr>
        <p:blipFill>
          <a:blip r:embed="rId4"/>
          <a:stretch>
            <a:fillRect/>
          </a:stretch>
        </p:blipFill>
        <p:spPr>
          <a:xfrm>
            <a:off x="3352800" y="5340845"/>
            <a:ext cx="3606800" cy="1422866"/>
          </a:xfrm>
          <a:prstGeom prst="rect">
            <a:avLst/>
          </a:prstGeom>
        </p:spPr>
      </p:pic>
      <p:sp>
        <p:nvSpPr>
          <p:cNvPr id="10" name="矩形 9"/>
          <p:cNvSpPr/>
          <p:nvPr/>
        </p:nvSpPr>
        <p:spPr>
          <a:xfrm>
            <a:off x="7233919" y="4140426"/>
            <a:ext cx="4214792" cy="2308324"/>
          </a:xfrm>
          <a:prstGeom prst="rect">
            <a:avLst/>
          </a:prstGeom>
        </p:spPr>
        <p:txBody>
          <a:bodyPr wrap="square">
            <a:spAutoFit/>
          </a:bodyPr>
          <a:lstStyle/>
          <a:p>
            <a:r>
              <a:rPr lang="en-US" altLang="zh-CN" dirty="0">
                <a:latin typeface="Arial" panose="020B0604020202020204" pitchFamily="34" charset="0"/>
                <a:cs typeface="Arial" panose="020B0604020202020204" pitchFamily="34" charset="0"/>
              </a:rPr>
              <a:t>&lt;div&gt; &lt;/div</a:t>
            </a:r>
            <a:r>
              <a:rPr lang="en-US" altLang="zh-CN" dirty="0" smtClean="0">
                <a:latin typeface="Arial" panose="020B0604020202020204" pitchFamily="34" charset="0"/>
                <a:cs typeface="Arial" panose="020B0604020202020204" pitchFamily="34" charset="0"/>
              </a:rPr>
              <a:t>&gt;</a:t>
            </a:r>
          </a:p>
          <a:p>
            <a:r>
              <a:rPr lang="en-US" altLang="zh-CN" dirty="0">
                <a:latin typeface="Arial" panose="020B0604020202020204" pitchFamily="34" charset="0"/>
                <a:cs typeface="Arial" panose="020B0604020202020204" pitchFamily="34" charset="0"/>
              </a:rPr>
              <a:t>div</a:t>
            </a:r>
          </a:p>
          <a:p>
            <a:r>
              <a:rPr lang="en-US" altLang="zh-CN" dirty="0">
                <a:latin typeface="Arial" panose="020B0604020202020204" pitchFamily="34" charset="0"/>
                <a:cs typeface="Arial" panose="020B0604020202020204" pitchFamily="34" charset="0"/>
              </a:rPr>
              <a:t>{</a:t>
            </a:r>
          </a:p>
          <a:p>
            <a:pPr lvl="1"/>
            <a:r>
              <a:rPr lang="en-US" altLang="zh-CN" dirty="0">
                <a:latin typeface="Arial" panose="020B0604020202020204" pitchFamily="34" charset="0"/>
                <a:cs typeface="Arial" panose="020B0604020202020204" pitchFamily="34" charset="0"/>
              </a:rPr>
              <a:t>width:300px;</a:t>
            </a:r>
          </a:p>
          <a:p>
            <a:pPr lvl="1"/>
            <a:r>
              <a:rPr lang="en-US" altLang="zh-CN" dirty="0">
                <a:latin typeface="Arial" panose="020B0604020202020204" pitchFamily="34" charset="0"/>
                <a:cs typeface="Arial" panose="020B0604020202020204" pitchFamily="34" charset="0"/>
              </a:rPr>
              <a:t>height:100px;</a:t>
            </a:r>
          </a:p>
          <a:p>
            <a:pPr lvl="1"/>
            <a:r>
              <a:rPr lang="en-US" altLang="zh-CN" dirty="0" smtClean="0">
                <a:latin typeface="Arial" panose="020B0604020202020204" pitchFamily="34" charset="0"/>
                <a:cs typeface="Arial" panose="020B0604020202020204" pitchFamily="34" charset="0"/>
              </a:rPr>
              <a:t>background-color</a:t>
            </a:r>
            <a:r>
              <a:rPr lang="en-US" altLang="zh-CN" dirty="0">
                <a:latin typeface="Arial" panose="020B0604020202020204" pitchFamily="34" charset="0"/>
                <a:cs typeface="Arial" panose="020B0604020202020204" pitchFamily="34" charset="0"/>
              </a:rPr>
              <a:t>:#f90;</a:t>
            </a:r>
          </a:p>
          <a:p>
            <a:pPr lvl="1"/>
            <a:r>
              <a:rPr lang="en-US" altLang="zh-CN" dirty="0" smtClean="0">
                <a:latin typeface="Arial" panose="020B0604020202020204" pitchFamily="34" charset="0"/>
                <a:cs typeface="Arial" panose="020B0604020202020204" pitchFamily="34" charset="0"/>
              </a:rPr>
              <a:t>box-shadow</a:t>
            </a:r>
            <a:r>
              <a:rPr lang="en-US" altLang="zh-CN" dirty="0">
                <a:latin typeface="Arial" panose="020B0604020202020204" pitchFamily="34" charset="0"/>
                <a:cs typeface="Arial" panose="020B0604020202020204" pitchFamily="34" charset="0"/>
              </a:rPr>
              <a:t>: 10px </a:t>
            </a:r>
            <a:r>
              <a:rPr lang="en-US" altLang="zh-CN" dirty="0" err="1">
                <a:latin typeface="Arial" panose="020B0604020202020204" pitchFamily="34" charset="0"/>
                <a:cs typeface="Arial" panose="020B0604020202020204" pitchFamily="34" charset="0"/>
              </a:rPr>
              <a:t>10px</a:t>
            </a:r>
            <a:r>
              <a:rPr lang="en-US" altLang="zh-CN" dirty="0">
                <a:latin typeface="Arial" panose="020B0604020202020204" pitchFamily="34" charset="0"/>
                <a:cs typeface="Arial" panose="020B0604020202020204" pitchFamily="34" charset="0"/>
              </a:rPr>
              <a:t> 5px #888;</a:t>
            </a:r>
          </a:p>
          <a:p>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11" name="矩形 10"/>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40094374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19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2</a:t>
            </a:r>
            <a:r>
              <a:rPr lang="zh-CN" altLang="en-US" dirty="0" smtClean="0"/>
              <a:t>、文本</a:t>
            </a:r>
            <a:r>
              <a:rPr lang="zh-CN" altLang="en-US" dirty="0"/>
              <a:t>与文字</a:t>
            </a:r>
          </a:p>
        </p:txBody>
      </p:sp>
      <p:sp>
        <p:nvSpPr>
          <p:cNvPr id="18" name="文本框 17"/>
          <p:cNvSpPr txBox="1"/>
          <p:nvPr/>
        </p:nvSpPr>
        <p:spPr>
          <a:xfrm>
            <a:off x="862541" y="1652910"/>
            <a:ext cx="8957733" cy="1015663"/>
          </a:xfrm>
          <a:prstGeom prst="rect">
            <a:avLst/>
          </a:prstGeom>
          <a:noFill/>
        </p:spPr>
        <p:txBody>
          <a:bodyPr wrap="square" rtlCol="0">
            <a:spAutoFit/>
          </a:bodyPr>
          <a:lstStyle/>
          <a:p>
            <a:r>
              <a:rPr lang="en-US" altLang="zh-CN" sz="2000" b="1" dirty="0" smtClean="0"/>
              <a:t>text-shadow</a:t>
            </a:r>
            <a:r>
              <a:rPr lang="zh-CN" altLang="en-US" sz="2000" b="1" dirty="0" smtClean="0"/>
              <a:t>属性：</a:t>
            </a:r>
            <a:r>
              <a:rPr lang="zh-CN" altLang="en-US" sz="1600" dirty="0" smtClean="0"/>
              <a:t>用于添加文本阴影</a:t>
            </a:r>
            <a:endParaRPr lang="en-US" altLang="zh-CN" sz="1600" dirty="0" smtClean="0"/>
          </a:p>
          <a:p>
            <a:endParaRPr lang="en-US" altLang="zh-CN" sz="2000" b="1" dirty="0"/>
          </a:p>
          <a:p>
            <a:r>
              <a:rPr lang="en-US" altLang="zh-CN" sz="2000" b="1" dirty="0" smtClean="0"/>
              <a:t>text-shadow</a:t>
            </a:r>
            <a:r>
              <a:rPr lang="zh-CN" altLang="en-US" sz="2000" b="1" dirty="0" smtClean="0"/>
              <a:t>：</a:t>
            </a:r>
            <a:r>
              <a:rPr lang="zh-CN" altLang="en-US" dirty="0"/>
              <a:t>水平</a:t>
            </a:r>
            <a:r>
              <a:rPr lang="zh-CN" altLang="en-US" dirty="0" smtClean="0"/>
              <a:t>偏移 垂直</a:t>
            </a:r>
            <a:r>
              <a:rPr lang="zh-CN" altLang="en-US" dirty="0"/>
              <a:t>偏移 阴影大小 颜色</a:t>
            </a:r>
            <a:endParaRPr lang="en-US" altLang="zh-CN" dirty="0" smtClean="0"/>
          </a:p>
        </p:txBody>
      </p:sp>
      <p:sp>
        <p:nvSpPr>
          <p:cNvPr id="2" name="矩形 1"/>
          <p:cNvSpPr/>
          <p:nvPr/>
        </p:nvSpPr>
        <p:spPr>
          <a:xfrm>
            <a:off x="862541" y="2877533"/>
            <a:ext cx="6096000" cy="1477328"/>
          </a:xfrm>
          <a:prstGeom prst="rect">
            <a:avLst/>
          </a:prstGeom>
        </p:spPr>
        <p:txBody>
          <a:bodyPr>
            <a:spAutoFit/>
          </a:bodyPr>
          <a:lstStyle/>
          <a:p>
            <a:r>
              <a:rPr lang="en-US" altLang="zh-CN" dirty="0" smtClean="0">
                <a:latin typeface="Arial" panose="020B0604020202020204" pitchFamily="34" charset="0"/>
                <a:cs typeface="Arial" panose="020B0604020202020204" pitchFamily="34" charset="0"/>
              </a:rPr>
              <a:t>h1 </a:t>
            </a:r>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  </a:t>
            </a:r>
            <a:r>
              <a:rPr lang="en-US" altLang="zh-CN" dirty="0" smtClean="0">
                <a:latin typeface="Arial" panose="020B0604020202020204" pitchFamily="34" charset="0"/>
                <a:cs typeface="Arial" panose="020B0604020202020204" pitchFamily="34" charset="0"/>
              </a:rPr>
              <a:t>text-shadow</a:t>
            </a:r>
            <a:r>
              <a:rPr lang="en-US" altLang="zh-CN" dirty="0">
                <a:latin typeface="Arial" panose="020B0604020202020204" pitchFamily="34" charset="0"/>
                <a:cs typeface="Arial" panose="020B0604020202020204" pitchFamily="34" charset="0"/>
              </a:rPr>
              <a:t>: 2px </a:t>
            </a:r>
            <a:r>
              <a:rPr lang="en-US" altLang="zh-CN" dirty="0" err="1">
                <a:latin typeface="Arial" panose="020B0604020202020204" pitchFamily="34" charset="0"/>
                <a:cs typeface="Arial" panose="020B0604020202020204" pitchFamily="34" charset="0"/>
              </a:rPr>
              <a:t>2px</a:t>
            </a:r>
            <a:r>
              <a:rPr lang="en-US" altLang="zh-CN" dirty="0">
                <a:latin typeface="Arial" panose="020B0604020202020204" pitchFamily="34" charset="0"/>
                <a:cs typeface="Arial" panose="020B0604020202020204" pitchFamily="34" charset="0"/>
              </a:rPr>
              <a:t> red;</a:t>
            </a:r>
          </a:p>
          <a:p>
            <a:r>
              <a:rPr lang="en-US" altLang="zh-CN" dirty="0" smtClean="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r>
              <a:rPr lang="en-US" altLang="zh-CN" dirty="0" smtClean="0">
                <a:latin typeface="Arial" panose="020B0604020202020204" pitchFamily="34" charset="0"/>
                <a:cs typeface="Arial" panose="020B0604020202020204" pitchFamily="34" charset="0"/>
              </a:rPr>
              <a:t>&lt;</a:t>
            </a:r>
            <a:r>
              <a:rPr lang="en-US" altLang="zh-CN" dirty="0">
                <a:latin typeface="Arial" panose="020B0604020202020204" pitchFamily="34" charset="0"/>
                <a:cs typeface="Arial" panose="020B0604020202020204" pitchFamily="34" charset="0"/>
              </a:rPr>
              <a:t>h1&gt;text-shadow&lt;/h1</a:t>
            </a:r>
            <a:r>
              <a:rPr lang="en-US" altLang="zh-CN" dirty="0" smtClean="0">
                <a:latin typeface="Arial" panose="020B0604020202020204" pitchFamily="34" charset="0"/>
                <a:cs typeface="Arial" panose="020B0604020202020204" pitchFamily="34" charset="0"/>
              </a:rPr>
              <a:t>&gt;</a:t>
            </a:r>
            <a:endParaRPr lang="en-US" altLang="zh-CN" dirty="0">
              <a:latin typeface="Arial" panose="020B0604020202020204" pitchFamily="34" charset="0"/>
              <a:cs typeface="Arial" panose="020B0604020202020204" pitchFamily="34" charset="0"/>
            </a:endParaRPr>
          </a:p>
        </p:txBody>
      </p:sp>
      <p:pic>
        <p:nvPicPr>
          <p:cNvPr id="3" name="图片 2"/>
          <p:cNvPicPr>
            <a:picLocks noChangeAspect="1"/>
          </p:cNvPicPr>
          <p:nvPr/>
        </p:nvPicPr>
        <p:blipFill>
          <a:blip r:embed="rId3"/>
          <a:stretch>
            <a:fillRect/>
          </a:stretch>
        </p:blipFill>
        <p:spPr>
          <a:xfrm>
            <a:off x="4995862" y="3098750"/>
            <a:ext cx="2410303" cy="635050"/>
          </a:xfrm>
          <a:prstGeom prst="rect">
            <a:avLst/>
          </a:prstGeom>
        </p:spPr>
      </p:pic>
      <p:pic>
        <p:nvPicPr>
          <p:cNvPr id="5" name="图片 4"/>
          <p:cNvPicPr>
            <a:picLocks noChangeAspect="1"/>
          </p:cNvPicPr>
          <p:nvPr/>
        </p:nvPicPr>
        <p:blipFill>
          <a:blip r:embed="rId4"/>
          <a:stretch>
            <a:fillRect/>
          </a:stretch>
        </p:blipFill>
        <p:spPr>
          <a:xfrm>
            <a:off x="6415087" y="5001462"/>
            <a:ext cx="2590721" cy="804017"/>
          </a:xfrm>
          <a:prstGeom prst="rect">
            <a:avLst/>
          </a:prstGeom>
        </p:spPr>
      </p:pic>
      <p:sp>
        <p:nvSpPr>
          <p:cNvPr id="6" name="矩形 5"/>
          <p:cNvSpPr/>
          <p:nvPr/>
        </p:nvSpPr>
        <p:spPr>
          <a:xfrm>
            <a:off x="862541" y="4607390"/>
            <a:ext cx="6096000" cy="1754326"/>
          </a:xfrm>
          <a:prstGeom prst="rect">
            <a:avLst/>
          </a:prstGeom>
        </p:spPr>
        <p:txBody>
          <a:bodyPr>
            <a:spAutoFit/>
          </a:bodyPr>
          <a:lstStyle/>
          <a:p>
            <a:r>
              <a:rPr lang="en-US" altLang="zh-CN" dirty="0">
                <a:latin typeface="Arial" panose="020B0604020202020204" pitchFamily="34" charset="0"/>
                <a:cs typeface="Arial" panose="020B0604020202020204" pitchFamily="34" charset="0"/>
              </a:rPr>
              <a:t>h1 {</a:t>
            </a:r>
          </a:p>
          <a:p>
            <a:r>
              <a:rPr lang="en-US" altLang="zh-CN" dirty="0">
                <a:latin typeface="Arial" panose="020B0604020202020204" pitchFamily="34" charset="0"/>
                <a:cs typeface="Arial" panose="020B0604020202020204" pitchFamily="34" charset="0"/>
              </a:rPr>
              <a:t> </a:t>
            </a:r>
            <a:r>
              <a:rPr lang="en-US" altLang="zh-CN" dirty="0" smtClean="0">
                <a:latin typeface="Arial" panose="020B0604020202020204" pitchFamily="34" charset="0"/>
                <a:cs typeface="Arial" panose="020B0604020202020204" pitchFamily="34" charset="0"/>
              </a:rPr>
              <a:t> text-shadow</a:t>
            </a:r>
            <a:r>
              <a:rPr lang="en-US" altLang="zh-CN" dirty="0">
                <a:latin typeface="Arial" panose="020B0604020202020204" pitchFamily="34" charset="0"/>
                <a:cs typeface="Arial" panose="020B0604020202020204" pitchFamily="34" charset="0"/>
              </a:rPr>
              <a:t>: </a:t>
            </a:r>
            <a:r>
              <a:rPr lang="en-US" altLang="zh-CN" u="sng" dirty="0">
                <a:latin typeface="Arial" panose="020B0604020202020204" pitchFamily="34" charset="0"/>
                <a:cs typeface="Arial" panose="020B0604020202020204" pitchFamily="34" charset="0"/>
              </a:rPr>
              <a:t>2px </a:t>
            </a:r>
            <a:r>
              <a:rPr lang="en-US" altLang="zh-CN" u="sng" dirty="0" err="1">
                <a:latin typeface="Arial" panose="020B0604020202020204" pitchFamily="34" charset="0"/>
                <a:cs typeface="Arial" panose="020B0604020202020204" pitchFamily="34" charset="0"/>
              </a:rPr>
              <a:t>2px</a:t>
            </a:r>
            <a:r>
              <a:rPr lang="en-US" altLang="zh-CN" u="sng" dirty="0">
                <a:latin typeface="Arial" panose="020B0604020202020204" pitchFamily="34" charset="0"/>
                <a:cs typeface="Arial" panose="020B0604020202020204" pitchFamily="34" charset="0"/>
              </a:rPr>
              <a:t> 8px </a:t>
            </a:r>
            <a:r>
              <a:rPr lang="en-US" altLang="zh-CN" u="sng" dirty="0" err="1">
                <a:latin typeface="Arial" panose="020B0604020202020204" pitchFamily="34" charset="0"/>
                <a:cs typeface="Arial" panose="020B0604020202020204" pitchFamily="34" charset="0"/>
              </a:rPr>
              <a:t>blueviolet</a:t>
            </a:r>
            <a:r>
              <a:rPr lang="en-US" altLang="zh-CN" dirty="0">
                <a:latin typeface="Arial" panose="020B0604020202020204" pitchFamily="34" charset="0"/>
                <a:cs typeface="Arial" panose="020B0604020202020204" pitchFamily="34" charset="0"/>
              </a:rPr>
              <a:t>;</a:t>
            </a:r>
          </a:p>
          <a:p>
            <a:r>
              <a:rPr lang="en-US" altLang="zh-CN" dirty="0" smtClean="0">
                <a:latin typeface="Arial" panose="020B0604020202020204" pitchFamily="34" charset="0"/>
                <a:cs typeface="Arial" panose="020B0604020202020204" pitchFamily="34" charset="0"/>
              </a:rPr>
              <a:t>}</a:t>
            </a:r>
          </a:p>
          <a:p>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&lt;h1&gt;text-shadow&lt;/h1&gt;</a:t>
            </a:r>
          </a:p>
          <a:p>
            <a:endParaRPr lang="zh-CN" altLang="en-US" dirty="0">
              <a:latin typeface="Arial" panose="020B0604020202020204" pitchFamily="34" charset="0"/>
              <a:cs typeface="Arial" panose="020B0604020202020204" pitchFamily="34" charset="0"/>
            </a:endParaRPr>
          </a:p>
        </p:txBody>
      </p:sp>
      <p:sp>
        <p:nvSpPr>
          <p:cNvPr id="9" name="矩形 8"/>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7030293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2</a:t>
            </a:r>
            <a:r>
              <a:rPr lang="zh-CN" altLang="en-US" dirty="0" smtClean="0"/>
              <a:t>、文本</a:t>
            </a:r>
            <a:r>
              <a:rPr lang="zh-CN" altLang="en-US" dirty="0"/>
              <a:t>与文字</a:t>
            </a:r>
          </a:p>
        </p:txBody>
      </p:sp>
      <p:sp>
        <p:nvSpPr>
          <p:cNvPr id="18" name="文本框 17"/>
          <p:cNvSpPr txBox="1"/>
          <p:nvPr/>
        </p:nvSpPr>
        <p:spPr>
          <a:xfrm>
            <a:off x="862541" y="1555018"/>
            <a:ext cx="8957733" cy="1200329"/>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word-wrap</a:t>
            </a:r>
            <a:r>
              <a:rPr lang="zh-CN" altLang="en-US" b="1" dirty="0" smtClean="0">
                <a:latin typeface="Arial" panose="020B0604020202020204" pitchFamily="34" charset="0"/>
                <a:cs typeface="Arial" panose="020B0604020202020204" pitchFamily="34" charset="0"/>
              </a:rPr>
              <a:t>属性：</a:t>
            </a:r>
            <a:r>
              <a:rPr lang="zh-CN" altLang="en-US" b="1" dirty="0" smtClean="0">
                <a:solidFill>
                  <a:schemeClr val="tx1">
                    <a:lumMod val="75000"/>
                    <a:lumOff val="25000"/>
                  </a:schemeClr>
                </a:solidFill>
                <a:latin typeface="Arial" panose="020B0604020202020204" pitchFamily="34" charset="0"/>
                <a:cs typeface="Arial" panose="020B0604020202020204" pitchFamily="34" charset="0"/>
              </a:rPr>
              <a:t>允许长单词、</a:t>
            </a:r>
            <a:r>
              <a:rPr lang="en-US" altLang="zh-CN" b="1" dirty="0" smtClean="0">
                <a:solidFill>
                  <a:schemeClr val="tx1">
                    <a:lumMod val="75000"/>
                    <a:lumOff val="25000"/>
                  </a:schemeClr>
                </a:solidFill>
                <a:latin typeface="Arial" panose="020B0604020202020204" pitchFamily="34" charset="0"/>
                <a:cs typeface="Arial" panose="020B0604020202020204" pitchFamily="34" charset="0"/>
              </a:rPr>
              <a:t>URL</a:t>
            </a:r>
            <a:r>
              <a:rPr lang="zh-CN" altLang="en-US" b="1" dirty="0" smtClean="0">
                <a:solidFill>
                  <a:schemeClr val="tx1">
                    <a:lumMod val="75000"/>
                    <a:lumOff val="25000"/>
                  </a:schemeClr>
                </a:solidFill>
                <a:latin typeface="Arial" panose="020B0604020202020204" pitchFamily="34" charset="0"/>
                <a:cs typeface="Arial" panose="020B0604020202020204" pitchFamily="34" charset="0"/>
              </a:rPr>
              <a:t>强制进行换行</a:t>
            </a:r>
            <a:endParaRPr lang="en-US" altLang="zh-CN" b="1" dirty="0" smtClean="0">
              <a:solidFill>
                <a:schemeClr val="tx1">
                  <a:lumMod val="75000"/>
                  <a:lumOff val="25000"/>
                </a:schemeClr>
              </a:solidFill>
              <a:latin typeface="Arial" panose="020B0604020202020204" pitchFamily="34" charset="0"/>
              <a:cs typeface="Arial" panose="020B0604020202020204" pitchFamily="34" charset="0"/>
            </a:endParaRPr>
          </a:p>
          <a:p>
            <a:endParaRPr lang="en-US" altLang="zh-CN" b="1" dirty="0">
              <a:solidFill>
                <a:schemeClr val="tx1">
                  <a:lumMod val="75000"/>
                  <a:lumOff val="25000"/>
                </a:schemeClr>
              </a:solidFill>
              <a:latin typeface="Arial" panose="020B0604020202020204" pitchFamily="34" charset="0"/>
              <a:cs typeface="Arial" panose="020B0604020202020204" pitchFamily="34" charset="0"/>
            </a:endParaRPr>
          </a:p>
          <a:p>
            <a:r>
              <a:rPr lang="zh-CN" altLang="en-US" b="1" dirty="0" smtClean="0">
                <a:solidFill>
                  <a:schemeClr val="tx1">
                    <a:lumMod val="75000"/>
                    <a:lumOff val="25000"/>
                  </a:schemeClr>
                </a:solidFill>
                <a:latin typeface="Arial" panose="020B0604020202020204" pitchFamily="34" charset="0"/>
                <a:cs typeface="Arial" panose="020B0604020202020204" pitchFamily="34" charset="0"/>
              </a:rPr>
              <a:t>取值：  </a:t>
            </a:r>
            <a:r>
              <a:rPr lang="en-US" altLang="zh-CN" b="1" dirty="0" smtClean="0">
                <a:solidFill>
                  <a:schemeClr val="tx1">
                    <a:lumMod val="75000"/>
                    <a:lumOff val="25000"/>
                  </a:schemeClr>
                </a:solidFill>
                <a:latin typeface="Arial" panose="020B0604020202020204" pitchFamily="34" charset="0"/>
                <a:cs typeface="Arial" panose="020B0604020202020204" pitchFamily="34" charset="0"/>
              </a:rPr>
              <a:t>normal  </a:t>
            </a:r>
            <a:r>
              <a:rPr lang="zh-CN" altLang="en-US" b="1" dirty="0" smtClean="0">
                <a:solidFill>
                  <a:schemeClr val="tx1">
                    <a:lumMod val="75000"/>
                    <a:lumOff val="25000"/>
                  </a:schemeClr>
                </a:solidFill>
                <a:latin typeface="Arial" panose="020B0604020202020204" pitchFamily="34" charset="0"/>
                <a:cs typeface="Arial" panose="020B0604020202020204" pitchFamily="34" charset="0"/>
              </a:rPr>
              <a:t>（</a:t>
            </a:r>
            <a:r>
              <a:rPr lang="zh-CN" altLang="en-US" b="1" dirty="0">
                <a:solidFill>
                  <a:schemeClr val="tx1">
                    <a:lumMod val="75000"/>
                    <a:lumOff val="25000"/>
                  </a:schemeClr>
                </a:solidFill>
                <a:latin typeface="Arial" panose="020B0604020202020204" pitchFamily="34" charset="0"/>
                <a:cs typeface="Arial" panose="020B0604020202020204" pitchFamily="34" charset="0"/>
              </a:rPr>
              <a:t>默认</a:t>
            </a:r>
            <a:r>
              <a:rPr lang="zh-CN" altLang="en-US" b="1" dirty="0" smtClean="0">
                <a:solidFill>
                  <a:schemeClr val="tx1">
                    <a:lumMod val="75000"/>
                    <a:lumOff val="25000"/>
                  </a:schemeClr>
                </a:solidFill>
                <a:latin typeface="Arial" panose="020B0604020202020204" pitchFamily="34" charset="0"/>
                <a:cs typeface="Arial" panose="020B0604020202020204" pitchFamily="34" charset="0"/>
              </a:rPr>
              <a:t>值）</a:t>
            </a:r>
            <a:endParaRPr lang="en-US" altLang="zh-CN" b="1" dirty="0">
              <a:solidFill>
                <a:schemeClr val="tx1">
                  <a:lumMod val="75000"/>
                  <a:lumOff val="25000"/>
                </a:schemeClr>
              </a:solidFill>
              <a:latin typeface="Arial" panose="020B0604020202020204" pitchFamily="34" charset="0"/>
              <a:cs typeface="Arial" panose="020B0604020202020204" pitchFamily="34" charset="0"/>
            </a:endParaRPr>
          </a:p>
          <a:p>
            <a:r>
              <a:rPr lang="en-US" altLang="zh-CN" b="1" dirty="0" smtClean="0">
                <a:solidFill>
                  <a:schemeClr val="tx1">
                    <a:lumMod val="75000"/>
                    <a:lumOff val="25000"/>
                  </a:schemeClr>
                </a:solidFill>
                <a:latin typeface="Arial" panose="020B0604020202020204" pitchFamily="34" charset="0"/>
                <a:cs typeface="Arial" panose="020B0604020202020204" pitchFamily="34" charset="0"/>
              </a:rPr>
              <a:t>	      break-word</a:t>
            </a:r>
          </a:p>
        </p:txBody>
      </p:sp>
      <p:sp>
        <p:nvSpPr>
          <p:cNvPr id="3" name="矩形 2"/>
          <p:cNvSpPr/>
          <p:nvPr/>
        </p:nvSpPr>
        <p:spPr>
          <a:xfrm>
            <a:off x="862541" y="2940030"/>
            <a:ext cx="6138333" cy="3416320"/>
          </a:xfrm>
          <a:prstGeom prst="rect">
            <a:avLst/>
          </a:prstGeom>
        </p:spPr>
        <p:txBody>
          <a:bodyPr wrap="square">
            <a:spAutoFit/>
          </a:bodyPr>
          <a:lstStyle/>
          <a:p>
            <a:r>
              <a:rPr lang="en-US" altLang="zh-CN" dirty="0" err="1">
                <a:latin typeface="Arial" panose="020B0604020202020204" pitchFamily="34" charset="0"/>
                <a:cs typeface="Arial" panose="020B0604020202020204" pitchFamily="34" charset="0"/>
              </a:rPr>
              <a:t>p.test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a:t>
            </a:r>
          </a:p>
          <a:p>
            <a:pPr lvl="1"/>
            <a:r>
              <a:rPr lang="en-US" altLang="zh-CN" dirty="0">
                <a:latin typeface="Arial" panose="020B0604020202020204" pitchFamily="34" charset="0"/>
                <a:cs typeface="Arial" panose="020B0604020202020204" pitchFamily="34" charset="0"/>
              </a:rPr>
              <a:t>width:11em; </a:t>
            </a:r>
          </a:p>
          <a:p>
            <a:pPr lvl="1"/>
            <a:r>
              <a:rPr lang="en-US" altLang="zh-CN" dirty="0">
                <a:latin typeface="Arial" panose="020B0604020202020204" pitchFamily="34" charset="0"/>
                <a:cs typeface="Arial" panose="020B0604020202020204" pitchFamily="34" charset="0"/>
              </a:rPr>
              <a:t>border:1px solid #000000;</a:t>
            </a:r>
          </a:p>
          <a:p>
            <a:pPr lvl="1"/>
            <a:r>
              <a:rPr lang="en-US" altLang="zh-CN" dirty="0" err="1">
                <a:latin typeface="Arial" panose="020B0604020202020204" pitchFamily="34" charset="0"/>
                <a:cs typeface="Arial" panose="020B0604020202020204" pitchFamily="34" charset="0"/>
              </a:rPr>
              <a:t>word-wrap:break-word</a:t>
            </a:r>
            <a:r>
              <a:rPr lang="en-US" altLang="zh-CN" dirty="0">
                <a:latin typeface="Arial" panose="020B0604020202020204" pitchFamily="34" charset="0"/>
                <a:cs typeface="Arial" panose="020B0604020202020204" pitchFamily="34" charset="0"/>
              </a:rPr>
              <a:t>;</a:t>
            </a:r>
          </a:p>
          <a:p>
            <a:r>
              <a:rPr lang="en-US" altLang="zh-CN" dirty="0">
                <a:latin typeface="Arial" panose="020B0604020202020204" pitchFamily="34" charset="0"/>
                <a:cs typeface="Arial" panose="020B0604020202020204" pitchFamily="34" charset="0"/>
              </a:rPr>
              <a:t>}</a:t>
            </a:r>
            <a:endParaRPr lang="en-US" altLang="zh-CN" dirty="0" smtClean="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US" altLang="zh-CN" dirty="0" smtClean="0">
                <a:latin typeface="Arial" panose="020B0604020202020204" pitchFamily="34" charset="0"/>
                <a:cs typeface="Arial" panose="020B0604020202020204" pitchFamily="34" charset="0"/>
              </a:rPr>
              <a:t>&lt;</a:t>
            </a:r>
            <a:r>
              <a:rPr lang="en-US" altLang="zh-CN" dirty="0">
                <a:latin typeface="Arial" panose="020B0604020202020204" pitchFamily="34" charset="0"/>
                <a:cs typeface="Arial" panose="020B0604020202020204" pitchFamily="34" charset="0"/>
              </a:rPr>
              <a:t>p class="test</a:t>
            </a:r>
            <a:r>
              <a:rPr lang="en-US" altLang="zh-CN" dirty="0" smtClean="0">
                <a:latin typeface="Arial" panose="020B0604020202020204" pitchFamily="34" charset="0"/>
                <a:cs typeface="Arial" panose="020B0604020202020204" pitchFamily="34" charset="0"/>
              </a:rPr>
              <a:t>"&gt;</a:t>
            </a:r>
          </a:p>
          <a:p>
            <a:pPr lvl="1"/>
            <a:r>
              <a:rPr lang="en-US" altLang="zh-CN" dirty="0" smtClean="0">
                <a:latin typeface="Arial" panose="020B0604020202020204" pitchFamily="34" charset="0"/>
                <a:cs typeface="Arial" panose="020B0604020202020204" pitchFamily="34" charset="0"/>
              </a:rPr>
              <a:t>This </a:t>
            </a:r>
            <a:r>
              <a:rPr lang="en-US" altLang="zh-CN" dirty="0">
                <a:latin typeface="Arial" panose="020B0604020202020204" pitchFamily="34" charset="0"/>
                <a:cs typeface="Arial" panose="020B0604020202020204" pitchFamily="34" charset="0"/>
              </a:rPr>
              <a:t>paragraph contains a very long word: </a:t>
            </a:r>
            <a:r>
              <a:rPr lang="en-US" altLang="zh-CN" dirty="0" err="1">
                <a:latin typeface="Arial" panose="020B0604020202020204" pitchFamily="34" charset="0"/>
                <a:cs typeface="Arial" panose="020B0604020202020204" pitchFamily="34" charset="0"/>
              </a:rPr>
              <a:t>thisisaveryveryveryveryveryverylongword</a:t>
            </a:r>
            <a:r>
              <a:rPr lang="en-US" altLang="zh-CN" dirty="0">
                <a:latin typeface="Arial" panose="020B0604020202020204" pitchFamily="34" charset="0"/>
                <a:cs typeface="Arial" panose="020B0604020202020204" pitchFamily="34" charset="0"/>
              </a:rPr>
              <a:t>. The long word will break and wrap to the next line</a:t>
            </a:r>
            <a:r>
              <a:rPr lang="en-US" altLang="zh-CN" dirty="0" smtClean="0">
                <a:latin typeface="Arial" panose="020B0604020202020204" pitchFamily="34" charset="0"/>
                <a:cs typeface="Arial" panose="020B0604020202020204" pitchFamily="34" charset="0"/>
              </a:rPr>
              <a:t>.</a:t>
            </a:r>
          </a:p>
          <a:p>
            <a:r>
              <a:rPr lang="en-US" altLang="zh-CN" dirty="0" smtClean="0">
                <a:latin typeface="Arial" panose="020B0604020202020204" pitchFamily="34" charset="0"/>
                <a:cs typeface="Arial" panose="020B0604020202020204" pitchFamily="34" charset="0"/>
              </a:rPr>
              <a:t>&lt;/</a:t>
            </a:r>
            <a:r>
              <a:rPr lang="en-US" altLang="zh-CN" dirty="0">
                <a:latin typeface="Arial" panose="020B0604020202020204" pitchFamily="34" charset="0"/>
                <a:cs typeface="Arial" panose="020B0604020202020204" pitchFamily="34" charset="0"/>
              </a:rPr>
              <a:t>p</a:t>
            </a:r>
            <a:r>
              <a:rPr lang="en-US" altLang="zh-CN" dirty="0" smtClean="0">
                <a:latin typeface="Arial" panose="020B0604020202020204" pitchFamily="34" charset="0"/>
                <a:cs typeface="Arial" panose="020B0604020202020204" pitchFamily="34" charset="0"/>
              </a:rPr>
              <a:t>&gt;</a:t>
            </a:r>
          </a:p>
        </p:txBody>
      </p:sp>
      <p:pic>
        <p:nvPicPr>
          <p:cNvPr id="5" name="图片 4"/>
          <p:cNvPicPr>
            <a:picLocks noChangeAspect="1"/>
          </p:cNvPicPr>
          <p:nvPr/>
        </p:nvPicPr>
        <p:blipFill>
          <a:blip r:embed="rId3"/>
          <a:stretch>
            <a:fillRect/>
          </a:stretch>
        </p:blipFill>
        <p:spPr>
          <a:xfrm>
            <a:off x="6580366" y="3433415"/>
            <a:ext cx="1644703" cy="1644703"/>
          </a:xfrm>
          <a:prstGeom prst="rect">
            <a:avLst/>
          </a:prstGeom>
        </p:spPr>
      </p:pic>
      <p:pic>
        <p:nvPicPr>
          <p:cNvPr id="10" name="图片 9"/>
          <p:cNvPicPr>
            <a:picLocks noChangeAspect="1"/>
          </p:cNvPicPr>
          <p:nvPr/>
        </p:nvPicPr>
        <p:blipFill>
          <a:blip r:embed="rId4"/>
          <a:stretch>
            <a:fillRect/>
          </a:stretch>
        </p:blipFill>
        <p:spPr>
          <a:xfrm>
            <a:off x="8608749" y="3433415"/>
            <a:ext cx="3154394" cy="1644703"/>
          </a:xfrm>
          <a:prstGeom prst="rect">
            <a:avLst/>
          </a:prstGeom>
        </p:spPr>
      </p:pic>
      <p:sp>
        <p:nvSpPr>
          <p:cNvPr id="12" name="矩形 11"/>
          <p:cNvSpPr/>
          <p:nvPr/>
        </p:nvSpPr>
        <p:spPr>
          <a:xfrm>
            <a:off x="9820274" y="5275667"/>
            <a:ext cx="870751" cy="369332"/>
          </a:xfrm>
          <a:prstGeom prst="rect">
            <a:avLst/>
          </a:prstGeom>
        </p:spPr>
        <p:txBody>
          <a:bodyPr wrap="none">
            <a:spAutoFit/>
          </a:bodyPr>
          <a:lstStyle/>
          <a:p>
            <a:r>
              <a:rPr lang="en-US" altLang="zh-CN" b="1" dirty="0">
                <a:solidFill>
                  <a:schemeClr val="accent2"/>
                </a:solidFill>
              </a:rPr>
              <a:t>normal</a:t>
            </a:r>
          </a:p>
        </p:txBody>
      </p:sp>
      <p:sp>
        <p:nvSpPr>
          <p:cNvPr id="14" name="矩形 13"/>
          <p:cNvSpPr/>
          <p:nvPr/>
        </p:nvSpPr>
        <p:spPr>
          <a:xfrm>
            <a:off x="6756194" y="5289154"/>
            <a:ext cx="1293046" cy="369332"/>
          </a:xfrm>
          <a:prstGeom prst="rect">
            <a:avLst/>
          </a:prstGeom>
        </p:spPr>
        <p:txBody>
          <a:bodyPr wrap="none">
            <a:spAutoFit/>
          </a:bodyPr>
          <a:lstStyle/>
          <a:p>
            <a:r>
              <a:rPr lang="en-US" altLang="zh-CN" b="1" dirty="0">
                <a:solidFill>
                  <a:schemeClr val="accent2"/>
                </a:solidFill>
              </a:rPr>
              <a:t>break-word</a:t>
            </a:r>
          </a:p>
        </p:txBody>
      </p:sp>
      <p:sp>
        <p:nvSpPr>
          <p:cNvPr id="11" name="矩形 10"/>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41426749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sp>
        <p:nvSpPr>
          <p:cNvPr id="5" name="矩形 4"/>
          <p:cNvSpPr/>
          <p:nvPr/>
        </p:nvSpPr>
        <p:spPr>
          <a:xfrm>
            <a:off x="749735" y="1695687"/>
            <a:ext cx="10997329" cy="3970318"/>
          </a:xfrm>
          <a:prstGeom prst="rect">
            <a:avLst/>
          </a:prstGeom>
        </p:spPr>
        <p:txBody>
          <a:bodyPr wrap="square">
            <a:spAutoFit/>
          </a:bodyPr>
          <a:lstStyle/>
          <a:p>
            <a:pPr>
              <a:lnSpc>
                <a:spcPct val="150000"/>
              </a:lnSpc>
            </a:pPr>
            <a:r>
              <a:rPr lang="zh-CN" altLang="en-US" sz="2400" dirty="0">
                <a:latin typeface="Arial" panose="020B0604020202020204" pitchFamily="34" charset="0"/>
                <a:cs typeface="Arial" panose="020B0604020202020204" pitchFamily="34" charset="0"/>
              </a:rPr>
              <a:t>变换（</a:t>
            </a:r>
            <a:r>
              <a:rPr lang="en-US" altLang="zh-CN" sz="2400" dirty="0">
                <a:latin typeface="Arial" panose="020B0604020202020204" pitchFamily="34" charset="0"/>
                <a:cs typeface="Arial" panose="020B0604020202020204" pitchFamily="34" charset="0"/>
              </a:rPr>
              <a:t>transform</a:t>
            </a:r>
            <a:r>
              <a:rPr lang="zh-CN" altLang="en-US" sz="2400" dirty="0">
                <a:latin typeface="Arial" panose="020B0604020202020204" pitchFamily="34" charset="0"/>
                <a:cs typeface="Arial" panose="020B0604020202020204" pitchFamily="34" charset="0"/>
              </a:rPr>
              <a:t>）是</a:t>
            </a:r>
            <a:r>
              <a:rPr lang="en-US" altLang="zh-CN" sz="2400" dirty="0">
                <a:latin typeface="Arial" panose="020B0604020202020204" pitchFamily="34" charset="0"/>
                <a:cs typeface="Arial" panose="020B0604020202020204" pitchFamily="34" charset="0"/>
              </a:rPr>
              <a:t>CSS3</a:t>
            </a:r>
            <a:r>
              <a:rPr lang="zh-CN" altLang="en-US" sz="2400" dirty="0">
                <a:latin typeface="Arial" panose="020B0604020202020204" pitchFamily="34" charset="0"/>
                <a:cs typeface="Arial" panose="020B0604020202020204" pitchFamily="34" charset="0"/>
              </a:rPr>
              <a:t>中具有颠覆性的特征</a:t>
            </a:r>
            <a:r>
              <a:rPr lang="zh-CN" altLang="en-US" sz="2400" dirty="0" smtClean="0">
                <a:latin typeface="Arial" panose="020B0604020202020204" pitchFamily="34" charset="0"/>
                <a:cs typeface="Arial" panose="020B0604020202020204" pitchFamily="34" charset="0"/>
              </a:rPr>
              <a:t>之一，可以</a:t>
            </a:r>
            <a:r>
              <a:rPr lang="zh-CN" altLang="en-US" sz="2400" dirty="0">
                <a:latin typeface="Arial" panose="020B0604020202020204" pitchFamily="34" charset="0"/>
                <a:cs typeface="Arial" panose="020B0604020202020204" pitchFamily="34" charset="0"/>
              </a:rPr>
              <a:t>实现元素的位移、旋转、缩放等</a:t>
            </a:r>
            <a:r>
              <a:rPr lang="zh-CN" altLang="en-US" sz="2400" dirty="0" smtClean="0">
                <a:latin typeface="Arial" panose="020B0604020202020204" pitchFamily="34" charset="0"/>
                <a:cs typeface="Arial" panose="020B0604020202020204" pitchFamily="34" charset="0"/>
              </a:rPr>
              <a:t>效果。</a:t>
            </a:r>
            <a:endParaRPr lang="en-US" altLang="zh-CN" sz="2400" dirty="0" smtClean="0">
              <a:latin typeface="Arial" panose="020B0604020202020204" pitchFamily="34" charset="0"/>
              <a:cs typeface="Arial" panose="020B0604020202020204" pitchFamily="34" charset="0"/>
            </a:endParaRPr>
          </a:p>
          <a:p>
            <a:pPr>
              <a:lnSpc>
                <a:spcPct val="150000"/>
              </a:lnSpc>
            </a:pPr>
            <a:r>
              <a:rPr lang="zh-CN" altLang="en-US" sz="2400" dirty="0">
                <a:latin typeface="Arial" panose="020B0604020202020204" pitchFamily="34" charset="0"/>
                <a:cs typeface="Arial" panose="020B0604020202020204" pitchFamily="34" charset="0"/>
              </a:rPr>
              <a:t>变换（</a:t>
            </a:r>
            <a:r>
              <a:rPr lang="en-US" altLang="zh-CN" sz="2400" dirty="0">
                <a:latin typeface="Arial" panose="020B0604020202020204" pitchFamily="34" charset="0"/>
                <a:cs typeface="Arial" panose="020B0604020202020204" pitchFamily="34" charset="0"/>
              </a:rPr>
              <a:t>transform</a:t>
            </a:r>
            <a:r>
              <a:rPr lang="zh-CN" altLang="en-US" sz="2400" dirty="0" smtClean="0">
                <a:latin typeface="Arial" panose="020B0604020202020204" pitchFamily="34" charset="0"/>
                <a:cs typeface="Arial" panose="020B0604020202020204" pitchFamily="34" charset="0"/>
              </a:rPr>
              <a:t>）可以</a:t>
            </a:r>
            <a:r>
              <a:rPr lang="zh-CN" altLang="en-US" sz="2400" dirty="0">
                <a:latin typeface="Arial" panose="020B0604020202020204" pitchFamily="34" charset="0"/>
                <a:cs typeface="Arial" panose="020B0604020202020204" pitchFamily="34" charset="0"/>
              </a:rPr>
              <a:t>简单理解为</a:t>
            </a:r>
            <a:r>
              <a:rPr lang="zh-CN" altLang="en-US" sz="2400" dirty="0" smtClean="0">
                <a:latin typeface="Arial" panose="020B0604020202020204" pitchFamily="34" charset="0"/>
                <a:cs typeface="Arial" panose="020B0604020202020204" pitchFamily="34" charset="0"/>
              </a:rPr>
              <a:t>变形。</a:t>
            </a:r>
            <a:endParaRPr lang="zh-CN" altLang="en-US" sz="2400" dirty="0">
              <a:latin typeface="Arial" panose="020B0604020202020204" pitchFamily="34" charset="0"/>
              <a:cs typeface="Arial" panose="020B0604020202020204" pitchFamily="34" charset="0"/>
            </a:endParaRPr>
          </a:p>
          <a:p>
            <a:pPr marL="457200" indent="-457200">
              <a:lnSpc>
                <a:spcPct val="150000"/>
              </a:lnSpc>
              <a:buFont typeface="Arial" panose="020B0604020202020204" pitchFamily="34" charset="0"/>
              <a:buChar char="•"/>
            </a:pPr>
            <a:r>
              <a:rPr lang="zh-CN" altLang="en-US" sz="2400" dirty="0" smtClean="0">
                <a:latin typeface="Arial" panose="020B0604020202020204" pitchFamily="34" charset="0"/>
                <a:cs typeface="Arial" panose="020B0604020202020204" pitchFamily="34" charset="0"/>
              </a:rPr>
              <a:t>移动</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translate</a:t>
            </a:r>
          </a:p>
          <a:p>
            <a:pPr marL="457200" indent="-457200">
              <a:lnSpc>
                <a:spcPct val="150000"/>
              </a:lnSpc>
              <a:buFont typeface="Arial" panose="020B0604020202020204" pitchFamily="34" charset="0"/>
              <a:buChar char="•"/>
            </a:pPr>
            <a:r>
              <a:rPr lang="zh-CN" altLang="en-US" sz="2400" dirty="0" smtClean="0">
                <a:latin typeface="Arial" panose="020B0604020202020204" pitchFamily="34" charset="0"/>
                <a:cs typeface="Arial" panose="020B0604020202020204" pitchFamily="34" charset="0"/>
              </a:rPr>
              <a:t>旋转</a:t>
            </a:r>
            <a:r>
              <a:rPr lang="zh-CN" altLang="en-US" sz="2400" dirty="0">
                <a:latin typeface="Arial" panose="020B0604020202020204" pitchFamily="34" charset="0"/>
                <a:cs typeface="Arial" panose="020B0604020202020204" pitchFamily="34" charset="0"/>
              </a:rPr>
              <a:t>：</a:t>
            </a:r>
            <a:r>
              <a:rPr lang="en-US" altLang="zh-CN" sz="2400" dirty="0">
                <a:latin typeface="Arial" panose="020B0604020202020204" pitchFamily="34" charset="0"/>
                <a:cs typeface="Arial" panose="020B0604020202020204" pitchFamily="34" charset="0"/>
              </a:rPr>
              <a:t>rotate</a:t>
            </a:r>
          </a:p>
          <a:p>
            <a:pPr marL="457200" indent="-457200">
              <a:lnSpc>
                <a:spcPct val="150000"/>
              </a:lnSpc>
              <a:buFont typeface="Arial" panose="020B0604020202020204" pitchFamily="34" charset="0"/>
              <a:buChar char="•"/>
            </a:pPr>
            <a:r>
              <a:rPr lang="zh-CN" altLang="en-US" sz="2400" dirty="0" smtClean="0">
                <a:latin typeface="Arial" panose="020B0604020202020204" pitchFamily="34" charset="0"/>
                <a:cs typeface="Arial" panose="020B0604020202020204" pitchFamily="34" charset="0"/>
              </a:rPr>
              <a:t>缩放</a:t>
            </a:r>
            <a:r>
              <a:rPr lang="zh-CN" altLang="en-US" sz="2400" dirty="0">
                <a:latin typeface="Arial" panose="020B0604020202020204" pitchFamily="34" charset="0"/>
                <a:cs typeface="Arial" panose="020B0604020202020204" pitchFamily="34" charset="0"/>
              </a:rPr>
              <a:t>：</a:t>
            </a:r>
            <a:r>
              <a:rPr lang="en-US" altLang="zh-CN" sz="2400" dirty="0" smtClean="0">
                <a:latin typeface="Arial" panose="020B0604020202020204" pitchFamily="34" charset="0"/>
                <a:cs typeface="Arial" panose="020B0604020202020204" pitchFamily="34" charset="0"/>
              </a:rPr>
              <a:t>scale</a:t>
            </a:r>
          </a:p>
          <a:p>
            <a:pPr marL="457200" indent="-457200">
              <a:lnSpc>
                <a:spcPct val="150000"/>
              </a:lnSpc>
              <a:buFont typeface="Arial" panose="020B0604020202020204" pitchFamily="34" charset="0"/>
              <a:buChar char="•"/>
            </a:pPr>
            <a:r>
              <a:rPr lang="zh-CN" altLang="en-US" sz="2400" dirty="0" smtClean="0">
                <a:latin typeface="Arial" panose="020B0604020202020204" pitchFamily="34" charset="0"/>
                <a:cs typeface="Arial" panose="020B0604020202020204" pitchFamily="34" charset="0"/>
              </a:rPr>
              <a:t>倾斜：</a:t>
            </a:r>
            <a:r>
              <a:rPr lang="en-US" altLang="zh-CN" sz="2400" dirty="0" smtClean="0">
                <a:latin typeface="Arial" panose="020B0604020202020204" pitchFamily="34" charset="0"/>
                <a:cs typeface="Arial" panose="020B0604020202020204" pitchFamily="34" charset="0"/>
              </a:rPr>
              <a:t>skew</a:t>
            </a:r>
            <a:endParaRPr lang="en-US" altLang="zh-CN" sz="2400" dirty="0">
              <a:latin typeface="Arial" panose="020B0604020202020204" pitchFamily="34" charset="0"/>
              <a:cs typeface="Arial" panose="020B0604020202020204" pitchFamily="34" charset="0"/>
            </a:endParaRPr>
          </a:p>
        </p:txBody>
      </p:sp>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9301251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sp>
        <p:nvSpPr>
          <p:cNvPr id="5" name="矩形 4"/>
          <p:cNvSpPr/>
          <p:nvPr/>
        </p:nvSpPr>
        <p:spPr>
          <a:xfrm>
            <a:off x="795867" y="1422536"/>
            <a:ext cx="9848850" cy="463653"/>
          </a:xfrm>
          <a:prstGeom prst="rect">
            <a:avLst/>
          </a:prstGeom>
        </p:spPr>
        <p:txBody>
          <a:bodyPr wrap="square">
            <a:spAutoFit/>
          </a:bodyPr>
          <a:lstStyle/>
          <a:p>
            <a:pPr>
              <a:lnSpc>
                <a:spcPct val="150000"/>
              </a:lnSpc>
            </a:pPr>
            <a:r>
              <a:rPr lang="en-US" altLang="zh-CN" dirty="0" smtClean="0">
                <a:latin typeface="Arial" panose="020B0604020202020204" pitchFamily="34" charset="0"/>
                <a:cs typeface="Arial" panose="020B0604020202020204" pitchFamily="34" charset="0"/>
              </a:rPr>
              <a:t>transform</a:t>
            </a:r>
            <a:r>
              <a:rPr lang="zh-CN" altLang="en-US" dirty="0" smtClean="0">
                <a:latin typeface="Arial" panose="020B0604020202020204" pitchFamily="34" charset="0"/>
                <a:cs typeface="Arial" panose="020B0604020202020204" pitchFamily="34" charset="0"/>
              </a:rPr>
              <a:t>属性的常用方法</a:t>
            </a:r>
            <a:endParaRPr lang="zh-CN" altLang="en-US" dirty="0">
              <a:latin typeface="Arial" panose="020B0604020202020204" pitchFamily="34" charset="0"/>
              <a:cs typeface="Arial" panose="020B0604020202020204" pitchFamily="34" charset="0"/>
            </a:endParaRPr>
          </a:p>
        </p:txBody>
      </p:sp>
      <p:graphicFrame>
        <p:nvGraphicFramePr>
          <p:cNvPr id="3" name="表格 2"/>
          <p:cNvGraphicFramePr>
            <a:graphicFrameLocks noGrp="1"/>
          </p:cNvGraphicFramePr>
          <p:nvPr>
            <p:extLst>
              <p:ext uri="{D42A27DB-BD31-4B8C-83A1-F6EECF244321}">
                <p14:modId xmlns:p14="http://schemas.microsoft.com/office/powerpoint/2010/main" val="3264090686"/>
              </p:ext>
            </p:extLst>
          </p:nvPr>
        </p:nvGraphicFramePr>
        <p:xfrm>
          <a:off x="873017" y="2016885"/>
          <a:ext cx="10045951" cy="4079240"/>
        </p:xfrm>
        <a:graphic>
          <a:graphicData uri="http://schemas.openxmlformats.org/drawingml/2006/table">
            <a:tbl>
              <a:tblPr firstRow="1" bandRow="1">
                <a:tableStyleId>{5C22544A-7EE6-4342-B048-85BDC9FD1C3A}</a:tableStyleId>
              </a:tblPr>
              <a:tblGrid>
                <a:gridCol w="2784583">
                  <a:extLst>
                    <a:ext uri="{9D8B030D-6E8A-4147-A177-3AD203B41FA5}">
                      <a16:colId xmlns:a16="http://schemas.microsoft.com/office/drawing/2014/main" val="119729180"/>
                    </a:ext>
                  </a:extLst>
                </a:gridCol>
                <a:gridCol w="7261368">
                  <a:extLst>
                    <a:ext uri="{9D8B030D-6E8A-4147-A177-3AD203B41FA5}">
                      <a16:colId xmlns:a16="http://schemas.microsoft.com/office/drawing/2014/main" val="134691052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panose="020B0604020202020204" pitchFamily="34" charset="0"/>
                          <a:cs typeface="Arial" panose="020B0604020202020204" pitchFamily="34" charset="0"/>
                        </a:rPr>
                        <a:t>transform</a:t>
                      </a:r>
                      <a:r>
                        <a:rPr lang="zh-CN" altLang="en-US" sz="1800" dirty="0" smtClean="0">
                          <a:latin typeface="Arial" panose="020B0604020202020204" pitchFamily="34" charset="0"/>
                          <a:cs typeface="Arial" panose="020B0604020202020204" pitchFamily="34" charset="0"/>
                        </a:rPr>
                        <a:t>属性常用方法</a:t>
                      </a:r>
                    </a:p>
                  </a:txBody>
                  <a:tcPr/>
                </a:tc>
                <a:tc>
                  <a:txBody>
                    <a:bodyPr/>
                    <a:lstStyle/>
                    <a:p>
                      <a:r>
                        <a:rPr lang="zh-CN" altLang="en-US" sz="1800" dirty="0" smtClean="0">
                          <a:latin typeface="Arial" panose="020B0604020202020204" pitchFamily="34" charset="0"/>
                          <a:cs typeface="Arial" panose="020B0604020202020204" pitchFamily="34" charset="0"/>
                        </a:rPr>
                        <a:t>说明</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980080042"/>
                  </a:ext>
                </a:extLst>
              </a:tr>
              <a:tr h="370840">
                <a:tc>
                  <a:txBody>
                    <a:bodyPr/>
                    <a:lstStyle/>
                    <a:p>
                      <a:r>
                        <a:rPr lang="en-US" altLang="zh-CN" sz="1800" dirty="0" smtClean="0">
                          <a:latin typeface="Arial" panose="020B0604020202020204" pitchFamily="34" charset="0"/>
                          <a:cs typeface="Arial" panose="020B0604020202020204" pitchFamily="34" charset="0"/>
                        </a:rPr>
                        <a:t>translate(</a:t>
                      </a:r>
                      <a:r>
                        <a:rPr lang="en-US" altLang="zh-CN" sz="1800" dirty="0" err="1" smtClean="0">
                          <a:latin typeface="Arial" panose="020B0604020202020204" pitchFamily="34" charset="0"/>
                          <a:cs typeface="Arial" panose="020B0604020202020204" pitchFamily="34" charset="0"/>
                        </a:rPr>
                        <a:t>x,y</a:t>
                      </a:r>
                      <a:r>
                        <a:rPr lang="en-US" altLang="zh-CN" sz="1800" dirty="0" smtClean="0">
                          <a:latin typeface="Arial" panose="020B0604020202020204" pitchFamily="34" charset="0"/>
                          <a:cs typeface="Arial" panose="020B0604020202020204" pitchFamily="34" charset="0"/>
                        </a:rPr>
                        <a:t>)</a:t>
                      </a:r>
                      <a:endParaRPr lang="zh-CN" altLang="en-US" sz="1800" dirty="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移动：沿</a:t>
                      </a:r>
                      <a:r>
                        <a:rPr lang="en-US" altLang="zh-CN" sz="1800" dirty="0" smtClean="0">
                          <a:latin typeface="Arial" panose="020B0604020202020204" pitchFamily="34" charset="0"/>
                          <a:cs typeface="Arial" panose="020B0604020202020204" pitchFamily="34" charset="0"/>
                        </a:rPr>
                        <a:t>X</a:t>
                      </a:r>
                      <a:r>
                        <a:rPr lang="zh-CN" altLang="en-US" sz="1800" dirty="0" smtClean="0">
                          <a:latin typeface="Arial" panose="020B0604020202020204" pitchFamily="34" charset="0"/>
                          <a:cs typeface="Arial" panose="020B0604020202020204" pitchFamily="34" charset="0"/>
                        </a:rPr>
                        <a:t>和</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744183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translateX</a:t>
                      </a:r>
                      <a:r>
                        <a:rPr lang="en-US" altLang="zh-CN" sz="1800" dirty="0" smtClean="0">
                          <a:latin typeface="Arial" panose="020B0604020202020204" pitchFamily="34" charset="0"/>
                          <a:cs typeface="Arial" panose="020B0604020202020204" pitchFamily="34" charset="0"/>
                        </a:rPr>
                        <a:t>(n)</a:t>
                      </a:r>
                      <a:endParaRPr lang="zh-CN" altLang="en-US" sz="18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Arial" panose="020B0604020202020204" pitchFamily="34" charset="0"/>
                          <a:cs typeface="Arial" panose="020B0604020202020204" pitchFamily="34" charset="0"/>
                        </a:rPr>
                        <a:t>移动：沿</a:t>
                      </a:r>
                      <a:r>
                        <a:rPr lang="en-US" altLang="zh-CN" sz="1800" dirty="0" smtClean="0">
                          <a:latin typeface="Arial" panose="020B0604020202020204" pitchFamily="34" charset="0"/>
                          <a:cs typeface="Arial" panose="020B0604020202020204" pitchFamily="34" charset="0"/>
                        </a:rPr>
                        <a:t>X</a:t>
                      </a:r>
                      <a:r>
                        <a:rPr lang="zh-CN" altLang="en-US" sz="1800" dirty="0" smtClean="0">
                          <a:latin typeface="Arial" panose="020B0604020202020204" pitchFamily="34" charset="0"/>
                          <a:cs typeface="Arial" panose="020B0604020202020204" pitchFamily="34" charset="0"/>
                        </a:rPr>
                        <a:t>轴</a:t>
                      </a:r>
                    </a:p>
                  </a:txBody>
                  <a:tcPr/>
                </a:tc>
                <a:extLst>
                  <a:ext uri="{0D108BD9-81ED-4DB2-BD59-A6C34878D82A}">
                    <a16:rowId xmlns:a16="http://schemas.microsoft.com/office/drawing/2014/main" val="23823115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translateY</a:t>
                      </a:r>
                      <a:r>
                        <a:rPr lang="en-US" altLang="zh-CN" sz="1800" dirty="0" smtClean="0">
                          <a:latin typeface="Arial" panose="020B0604020202020204" pitchFamily="34" charset="0"/>
                          <a:cs typeface="Arial" panose="020B0604020202020204" pitchFamily="34" charset="0"/>
                        </a:rPr>
                        <a:t>(n)</a:t>
                      </a:r>
                      <a:endParaRPr lang="zh-CN" altLang="en-US" sz="18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latin typeface="Arial" panose="020B0604020202020204" pitchFamily="34" charset="0"/>
                          <a:cs typeface="Arial" panose="020B0604020202020204" pitchFamily="34" charset="0"/>
                        </a:rPr>
                        <a:t>移动：沿</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a:t>
                      </a:r>
                    </a:p>
                  </a:txBody>
                  <a:tcPr/>
                </a:tc>
                <a:extLst>
                  <a:ext uri="{0D108BD9-81ED-4DB2-BD59-A6C34878D82A}">
                    <a16:rowId xmlns:a16="http://schemas.microsoft.com/office/drawing/2014/main" val="3332239316"/>
                  </a:ext>
                </a:extLst>
              </a:tr>
              <a:tr h="370840">
                <a:tc>
                  <a:txBody>
                    <a:bodyPr/>
                    <a:lstStyle/>
                    <a:p>
                      <a:r>
                        <a:rPr lang="en-US" altLang="zh-CN" sz="1800" dirty="0" smtClean="0">
                          <a:latin typeface="Arial" panose="020B0604020202020204" pitchFamily="34" charset="0"/>
                          <a:cs typeface="Arial" panose="020B0604020202020204" pitchFamily="34" charset="0"/>
                        </a:rPr>
                        <a:t>rotate(angle)</a:t>
                      </a:r>
                      <a:endParaRPr lang="zh-CN" altLang="en-US" sz="1800" dirty="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旋转：单位是</a:t>
                      </a:r>
                      <a:r>
                        <a:rPr lang="en-US" altLang="zh-CN" sz="1800" dirty="0" err="1" smtClean="0">
                          <a:latin typeface="Arial" panose="020B0604020202020204" pitchFamily="34" charset="0"/>
                          <a:cs typeface="Arial" panose="020B0604020202020204" pitchFamily="34" charset="0"/>
                        </a:rPr>
                        <a:t>deg</a:t>
                      </a:r>
                      <a:r>
                        <a:rPr lang="zh-CN" altLang="en-US" sz="1800" dirty="0" smtClean="0">
                          <a:latin typeface="Arial" panose="020B0604020202020204" pitchFamily="34" charset="0"/>
                          <a:cs typeface="Arial" panose="020B0604020202020204" pitchFamily="34" charset="0"/>
                        </a:rPr>
                        <a:t>（角度），正数为顺时针，负数为逆时针</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46294159"/>
                  </a:ext>
                </a:extLst>
              </a:tr>
              <a:tr h="370840">
                <a:tc>
                  <a:txBody>
                    <a:bodyPr/>
                    <a:lstStyle/>
                    <a:p>
                      <a:r>
                        <a:rPr lang="en-US" altLang="zh-CN" sz="1800" dirty="0" smtClean="0">
                          <a:latin typeface="Arial" panose="020B0604020202020204" pitchFamily="34" charset="0"/>
                          <a:cs typeface="Arial" panose="020B0604020202020204" pitchFamily="34" charset="0"/>
                        </a:rPr>
                        <a:t>scale(</a:t>
                      </a:r>
                      <a:r>
                        <a:rPr lang="en-US" altLang="zh-CN" sz="1800" dirty="0" err="1" smtClean="0">
                          <a:latin typeface="Arial" panose="020B0604020202020204" pitchFamily="34" charset="0"/>
                          <a:cs typeface="Arial" panose="020B0604020202020204" pitchFamily="34" charset="0"/>
                        </a:rPr>
                        <a:t>x,y</a:t>
                      </a:r>
                      <a:r>
                        <a:rPr lang="en-US" altLang="zh-CN" sz="1800" dirty="0" smtClean="0">
                          <a:latin typeface="Arial" panose="020B0604020202020204" pitchFamily="34" charset="0"/>
                          <a:cs typeface="Arial" panose="020B0604020202020204" pitchFamily="34" charset="0"/>
                        </a:rPr>
                        <a:t>)</a:t>
                      </a:r>
                      <a:endParaRPr lang="zh-CN" altLang="en-US" sz="1800" dirty="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缩放：改变元素的宽度和高度，</a:t>
                      </a:r>
                      <a:r>
                        <a:rPr lang="en-US" altLang="zh-CN" sz="1800" dirty="0" smtClean="0">
                          <a:latin typeface="Arial" panose="020B0604020202020204" pitchFamily="34" charset="0"/>
                          <a:cs typeface="Arial" panose="020B0604020202020204" pitchFamily="34" charset="0"/>
                        </a:rPr>
                        <a:t>&lt;1</a:t>
                      </a:r>
                      <a:r>
                        <a:rPr lang="zh-CN" altLang="en-US" sz="1800" dirty="0" smtClean="0">
                          <a:latin typeface="Arial" panose="020B0604020202020204" pitchFamily="34" charset="0"/>
                          <a:cs typeface="Arial" panose="020B0604020202020204" pitchFamily="34" charset="0"/>
                        </a:rPr>
                        <a:t>为缩小，</a:t>
                      </a:r>
                      <a:r>
                        <a:rPr lang="en-US" altLang="zh-CN" sz="1800" dirty="0" smtClean="0">
                          <a:latin typeface="Arial" panose="020B0604020202020204" pitchFamily="34" charset="0"/>
                          <a:cs typeface="Arial" panose="020B0604020202020204" pitchFamily="34" charset="0"/>
                        </a:rPr>
                        <a:t>&gt;1</a:t>
                      </a:r>
                      <a:r>
                        <a:rPr lang="zh-CN" altLang="en-US" sz="1800" dirty="0" smtClean="0">
                          <a:latin typeface="Arial" panose="020B0604020202020204" pitchFamily="34" charset="0"/>
                          <a:cs typeface="Arial" panose="020B0604020202020204" pitchFamily="34" charset="0"/>
                        </a:rPr>
                        <a:t>为放大</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3630163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scaleX</a:t>
                      </a:r>
                      <a:r>
                        <a:rPr lang="en-US" altLang="zh-CN" sz="1800" dirty="0" smtClean="0">
                          <a:latin typeface="Arial" panose="020B0604020202020204" pitchFamily="34" charset="0"/>
                          <a:cs typeface="Arial" panose="020B0604020202020204" pitchFamily="34" charset="0"/>
                        </a:rPr>
                        <a:t>(n)</a:t>
                      </a:r>
                      <a:endParaRPr lang="zh-CN" altLang="en-US" sz="1800" dirty="0" smtClean="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缩放：改变元素的宽度</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229275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scaleY</a:t>
                      </a:r>
                      <a:r>
                        <a:rPr lang="en-US" altLang="zh-CN" sz="1800" dirty="0" smtClean="0">
                          <a:latin typeface="Arial" panose="020B0604020202020204" pitchFamily="34" charset="0"/>
                          <a:cs typeface="Arial" panose="020B0604020202020204" pitchFamily="34" charset="0"/>
                        </a:rPr>
                        <a:t>(n)</a:t>
                      </a:r>
                      <a:endParaRPr lang="zh-CN" altLang="en-US" sz="1800" dirty="0" smtClean="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缩放：改变元素的高度</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2864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latin typeface="Arial" panose="020B0604020202020204" pitchFamily="34" charset="0"/>
                          <a:cs typeface="Arial" panose="020B0604020202020204" pitchFamily="34" charset="0"/>
                        </a:rPr>
                        <a:t>skew(x-</a:t>
                      </a:r>
                      <a:r>
                        <a:rPr lang="en-US" altLang="zh-CN" sz="1800" dirty="0" err="1" smtClean="0">
                          <a:latin typeface="Arial" panose="020B0604020202020204" pitchFamily="34" charset="0"/>
                          <a:cs typeface="Arial" panose="020B0604020202020204" pitchFamily="34" charset="0"/>
                        </a:rPr>
                        <a:t>angle,y</a:t>
                      </a:r>
                      <a:r>
                        <a:rPr lang="en-US" altLang="zh-CN" sz="1800" dirty="0" smtClean="0">
                          <a:latin typeface="Arial" panose="020B0604020202020204" pitchFamily="34" charset="0"/>
                          <a:cs typeface="Arial" panose="020B0604020202020204" pitchFamily="34" charset="0"/>
                        </a:rPr>
                        <a:t>-angle)</a:t>
                      </a:r>
                      <a:endParaRPr lang="zh-CN" altLang="en-US" sz="1800" dirty="0" smtClean="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倾斜：沿</a:t>
                      </a:r>
                      <a:r>
                        <a:rPr lang="en-US" altLang="zh-CN" sz="1800" dirty="0" smtClean="0">
                          <a:latin typeface="Arial" panose="020B0604020202020204" pitchFamily="34" charset="0"/>
                          <a:cs typeface="Arial" panose="020B0604020202020204" pitchFamily="34" charset="0"/>
                        </a:rPr>
                        <a:t>X</a:t>
                      </a:r>
                      <a:r>
                        <a:rPr lang="zh-CN" altLang="en-US" sz="1800" dirty="0" smtClean="0">
                          <a:latin typeface="Arial" panose="020B0604020202020204" pitchFamily="34" charset="0"/>
                          <a:cs typeface="Arial" panose="020B0604020202020204" pitchFamily="34" charset="0"/>
                        </a:rPr>
                        <a:t>轴和</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轴，单位是</a:t>
                      </a:r>
                      <a:r>
                        <a:rPr lang="en-US" altLang="zh-CN" sz="1800" dirty="0" err="1" smtClean="0">
                          <a:latin typeface="Arial" panose="020B0604020202020204" pitchFamily="34" charset="0"/>
                          <a:cs typeface="Arial" panose="020B0604020202020204" pitchFamily="34" charset="0"/>
                        </a:rPr>
                        <a:t>deg</a:t>
                      </a:r>
                      <a:r>
                        <a:rPr lang="zh-CN" altLang="en-US" sz="1800" dirty="0" smtClean="0">
                          <a:latin typeface="Arial" panose="020B0604020202020204" pitchFamily="34" charset="0"/>
                          <a:cs typeface="Arial" panose="020B0604020202020204" pitchFamily="34" charset="0"/>
                        </a:rPr>
                        <a:t>（角度），一个值表示</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轴不倾斜</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861973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skewX</a:t>
                      </a:r>
                      <a:r>
                        <a:rPr lang="en-US" altLang="zh-CN" sz="1800" dirty="0" smtClean="0">
                          <a:latin typeface="Arial" panose="020B0604020202020204" pitchFamily="34" charset="0"/>
                          <a:cs typeface="Arial" panose="020B0604020202020204" pitchFamily="34" charset="0"/>
                        </a:rPr>
                        <a:t>(angle)</a:t>
                      </a:r>
                      <a:endParaRPr lang="zh-CN" altLang="en-US" sz="1800" dirty="0" smtClean="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倾斜：沿</a:t>
                      </a:r>
                      <a:r>
                        <a:rPr lang="en-US" altLang="zh-CN" sz="1800" dirty="0" smtClean="0">
                          <a:latin typeface="Arial" panose="020B0604020202020204" pitchFamily="34" charset="0"/>
                          <a:cs typeface="Arial" panose="020B0604020202020204" pitchFamily="34" charset="0"/>
                        </a:rPr>
                        <a:t>X</a:t>
                      </a:r>
                      <a:r>
                        <a:rPr lang="zh-CN" altLang="en-US" sz="1800" dirty="0" smtClean="0">
                          <a:latin typeface="Arial" panose="020B0604020202020204" pitchFamily="34" charset="0"/>
                          <a:cs typeface="Arial" panose="020B0604020202020204" pitchFamily="34" charset="0"/>
                        </a:rPr>
                        <a:t>轴倾斜，与</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轴夹角为</a:t>
                      </a:r>
                      <a:r>
                        <a:rPr lang="en-US" altLang="zh-CN" sz="1800" dirty="0" smtClean="0">
                          <a:latin typeface="Arial" panose="020B0604020202020204" pitchFamily="34" charset="0"/>
                          <a:cs typeface="Arial" panose="020B0604020202020204" pitchFamily="34" charset="0"/>
                        </a:rPr>
                        <a:t>angle</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436308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err="1" smtClean="0">
                          <a:latin typeface="Arial" panose="020B0604020202020204" pitchFamily="34" charset="0"/>
                          <a:cs typeface="Arial" panose="020B0604020202020204" pitchFamily="34" charset="0"/>
                        </a:rPr>
                        <a:t>skewY</a:t>
                      </a:r>
                      <a:r>
                        <a:rPr lang="en-US" altLang="zh-CN" sz="1800" dirty="0" smtClean="0">
                          <a:latin typeface="Arial" panose="020B0604020202020204" pitchFamily="34" charset="0"/>
                          <a:cs typeface="Arial" panose="020B0604020202020204" pitchFamily="34" charset="0"/>
                        </a:rPr>
                        <a:t>(angle)</a:t>
                      </a:r>
                      <a:endParaRPr lang="zh-CN" altLang="en-US" sz="1800" dirty="0" smtClean="0">
                        <a:latin typeface="Arial" panose="020B0604020202020204" pitchFamily="34" charset="0"/>
                        <a:cs typeface="Arial" panose="020B0604020202020204" pitchFamily="34" charset="0"/>
                      </a:endParaRPr>
                    </a:p>
                  </a:txBody>
                  <a:tcPr/>
                </a:tc>
                <a:tc>
                  <a:txBody>
                    <a:bodyPr/>
                    <a:lstStyle/>
                    <a:p>
                      <a:r>
                        <a:rPr lang="zh-CN" altLang="en-US" sz="1800" dirty="0" smtClean="0">
                          <a:latin typeface="Arial" panose="020B0604020202020204" pitchFamily="34" charset="0"/>
                          <a:cs typeface="Arial" panose="020B0604020202020204" pitchFamily="34" charset="0"/>
                        </a:rPr>
                        <a:t>倾斜：沿</a:t>
                      </a:r>
                      <a:r>
                        <a:rPr lang="en-US" altLang="zh-CN" sz="1800" dirty="0" smtClean="0">
                          <a:latin typeface="Arial" panose="020B0604020202020204" pitchFamily="34" charset="0"/>
                          <a:cs typeface="Arial" panose="020B0604020202020204" pitchFamily="34" charset="0"/>
                        </a:rPr>
                        <a:t>Y</a:t>
                      </a:r>
                      <a:r>
                        <a:rPr lang="zh-CN" altLang="en-US" sz="1800" dirty="0" smtClean="0">
                          <a:latin typeface="Arial" panose="020B0604020202020204" pitchFamily="34" charset="0"/>
                          <a:cs typeface="Arial" panose="020B0604020202020204" pitchFamily="34" charset="0"/>
                        </a:rPr>
                        <a:t>轴倾斜，与</a:t>
                      </a:r>
                      <a:r>
                        <a:rPr lang="en-US" altLang="zh-CN" sz="1800" dirty="0" smtClean="0">
                          <a:latin typeface="Arial" panose="020B0604020202020204" pitchFamily="34" charset="0"/>
                          <a:cs typeface="Arial" panose="020B0604020202020204" pitchFamily="34" charset="0"/>
                        </a:rPr>
                        <a:t>X</a:t>
                      </a:r>
                      <a:r>
                        <a:rPr lang="zh-CN" altLang="en-US" sz="1800" dirty="0" smtClean="0">
                          <a:latin typeface="Arial" panose="020B0604020202020204" pitchFamily="34" charset="0"/>
                          <a:cs typeface="Arial" panose="020B0604020202020204" pitchFamily="34" charset="0"/>
                        </a:rPr>
                        <a:t>轴夹角为</a:t>
                      </a:r>
                      <a:r>
                        <a:rPr lang="en-US" altLang="zh-CN" sz="1800" dirty="0" smtClean="0">
                          <a:latin typeface="Arial" panose="020B0604020202020204" pitchFamily="34" charset="0"/>
                          <a:cs typeface="Arial" panose="020B0604020202020204" pitchFamily="34" charset="0"/>
                        </a:rPr>
                        <a:t>angle</a:t>
                      </a:r>
                      <a:endParaRPr lang="zh-CN" alt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44206694"/>
                  </a:ext>
                </a:extLst>
              </a:tr>
            </a:tbl>
          </a:graphicData>
        </a:graphic>
      </p:graphicFrame>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4228597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pic>
        <p:nvPicPr>
          <p:cNvPr id="3" name="图片 2"/>
          <p:cNvPicPr>
            <a:picLocks noChangeAspect="1"/>
          </p:cNvPicPr>
          <p:nvPr/>
        </p:nvPicPr>
        <p:blipFill>
          <a:blip r:embed="rId3"/>
          <a:stretch>
            <a:fillRect/>
          </a:stretch>
        </p:blipFill>
        <p:spPr>
          <a:xfrm>
            <a:off x="9921695" y="1588775"/>
            <a:ext cx="1664091" cy="1410071"/>
          </a:xfrm>
          <a:prstGeom prst="rect">
            <a:avLst/>
          </a:prstGeom>
        </p:spPr>
      </p:pic>
      <p:pic>
        <p:nvPicPr>
          <p:cNvPr id="6" name="图片 5"/>
          <p:cNvPicPr>
            <a:picLocks noChangeAspect="1"/>
          </p:cNvPicPr>
          <p:nvPr/>
        </p:nvPicPr>
        <p:blipFill>
          <a:blip r:embed="rId4"/>
          <a:stretch>
            <a:fillRect/>
          </a:stretch>
        </p:blipFill>
        <p:spPr>
          <a:xfrm>
            <a:off x="932993" y="1922600"/>
            <a:ext cx="6270447" cy="1039104"/>
          </a:xfrm>
          <a:prstGeom prst="rect">
            <a:avLst/>
          </a:prstGeom>
        </p:spPr>
      </p:pic>
      <p:sp>
        <p:nvSpPr>
          <p:cNvPr id="2" name="矩形 1"/>
          <p:cNvSpPr/>
          <p:nvPr/>
        </p:nvSpPr>
        <p:spPr>
          <a:xfrm>
            <a:off x="795867" y="1355955"/>
            <a:ext cx="1005403" cy="465640"/>
          </a:xfrm>
          <a:prstGeom prst="rect">
            <a:avLst/>
          </a:prstGeom>
        </p:spPr>
        <p:txBody>
          <a:bodyPr wrap="none">
            <a:spAutoFit/>
          </a:bodyPr>
          <a:lstStyle/>
          <a:p>
            <a:pPr>
              <a:lnSpc>
                <a:spcPct val="150000"/>
              </a:lnSpc>
            </a:pPr>
            <a:r>
              <a:rPr lang="en-US" altLang="zh-CN" b="1" dirty="0" smtClean="0">
                <a:solidFill>
                  <a:schemeClr val="accent1">
                    <a:lumMod val="75000"/>
                  </a:schemeClr>
                </a:solidFill>
                <a:latin typeface="+mn-ea"/>
              </a:rPr>
              <a:t>1</a:t>
            </a:r>
            <a:r>
              <a:rPr lang="zh-CN" altLang="en-US" b="1" dirty="0" smtClean="0">
                <a:solidFill>
                  <a:schemeClr val="accent1">
                    <a:lumMod val="75000"/>
                  </a:schemeClr>
                </a:solidFill>
                <a:latin typeface="+mn-ea"/>
              </a:rPr>
              <a:t>、移动</a:t>
            </a:r>
            <a:endParaRPr lang="en-US" altLang="zh-CN" b="1" dirty="0">
              <a:solidFill>
                <a:schemeClr val="accent1">
                  <a:lumMod val="75000"/>
                </a:schemeClr>
              </a:solidFill>
              <a:latin typeface="+mn-ea"/>
            </a:endParaRPr>
          </a:p>
        </p:txBody>
      </p:sp>
      <p:sp>
        <p:nvSpPr>
          <p:cNvPr id="8" name="矩形 7"/>
          <p:cNvSpPr/>
          <p:nvPr/>
        </p:nvSpPr>
        <p:spPr>
          <a:xfrm>
            <a:off x="795867" y="3020518"/>
            <a:ext cx="3571812" cy="923330"/>
          </a:xfrm>
          <a:prstGeom prst="rect">
            <a:avLst/>
          </a:prstGeom>
        </p:spPr>
        <p:txBody>
          <a:bodyPr wrap="none">
            <a:spAutoFit/>
          </a:bodyPr>
          <a:lstStyle/>
          <a:p>
            <a:pPr>
              <a:lnSpc>
                <a:spcPct val="150000"/>
              </a:lnSpc>
            </a:pPr>
            <a:r>
              <a:rPr lang="en-US" altLang="zh-CN" b="1" dirty="0" smtClean="0">
                <a:solidFill>
                  <a:schemeClr val="accent1">
                    <a:lumMod val="75000"/>
                  </a:schemeClr>
                </a:solidFill>
                <a:latin typeface="+mn-ea"/>
              </a:rPr>
              <a:t>2</a:t>
            </a:r>
            <a:r>
              <a:rPr lang="zh-CN" altLang="en-US" b="1" dirty="0" smtClean="0">
                <a:solidFill>
                  <a:schemeClr val="accent1">
                    <a:lumMod val="75000"/>
                  </a:schemeClr>
                </a:solidFill>
                <a:latin typeface="+mn-ea"/>
              </a:rPr>
              <a:t>、旋转：</a:t>
            </a:r>
            <a:r>
              <a:rPr lang="en-US" altLang="zh-CN" b="1" dirty="0" err="1" smtClean="0">
                <a:solidFill>
                  <a:schemeClr val="accent1">
                    <a:lumMod val="75000"/>
                  </a:schemeClr>
                </a:solidFill>
                <a:latin typeface="+mn-ea"/>
              </a:rPr>
              <a:t>transform:rotate</a:t>
            </a:r>
            <a:r>
              <a:rPr lang="en-US" altLang="zh-CN" b="1" dirty="0">
                <a:solidFill>
                  <a:schemeClr val="accent1">
                    <a:lumMod val="75000"/>
                  </a:schemeClr>
                </a:solidFill>
                <a:latin typeface="+mn-ea"/>
              </a:rPr>
              <a:t>(</a:t>
            </a:r>
            <a:r>
              <a:rPr lang="zh-CN" altLang="en-US" b="1" dirty="0">
                <a:solidFill>
                  <a:schemeClr val="accent1">
                    <a:lumMod val="75000"/>
                  </a:schemeClr>
                </a:solidFill>
                <a:latin typeface="+mn-ea"/>
              </a:rPr>
              <a:t>度数</a:t>
            </a:r>
            <a:r>
              <a:rPr lang="en-US" altLang="zh-CN" b="1" dirty="0" smtClean="0">
                <a:solidFill>
                  <a:schemeClr val="accent1">
                    <a:lumMod val="75000"/>
                  </a:schemeClr>
                </a:solidFill>
                <a:latin typeface="+mn-ea"/>
              </a:rPr>
              <a:t>)</a:t>
            </a:r>
          </a:p>
          <a:p>
            <a:pPr>
              <a:lnSpc>
                <a:spcPct val="150000"/>
              </a:lnSpc>
            </a:pPr>
            <a:r>
              <a:rPr lang="en-US" altLang="zh-CN" dirty="0"/>
              <a:t>transform</a:t>
            </a:r>
            <a:r>
              <a:rPr lang="en-US" altLang="zh-CN" dirty="0" smtClean="0"/>
              <a:t>: rotate(45deg</a:t>
            </a:r>
            <a:r>
              <a:rPr lang="en-US" altLang="zh-CN" dirty="0"/>
              <a:t>)</a:t>
            </a:r>
            <a:endParaRPr lang="en-US" altLang="zh-CN" b="1" dirty="0">
              <a:solidFill>
                <a:schemeClr val="accent1">
                  <a:lumMod val="75000"/>
                </a:schemeClr>
              </a:solidFill>
              <a:latin typeface="+mn-ea"/>
            </a:endParaRPr>
          </a:p>
        </p:txBody>
      </p:sp>
      <p:pic>
        <p:nvPicPr>
          <p:cNvPr id="9" name="图片 8"/>
          <p:cNvPicPr>
            <a:picLocks noChangeAspect="1"/>
          </p:cNvPicPr>
          <p:nvPr/>
        </p:nvPicPr>
        <p:blipFill>
          <a:blip r:embed="rId5"/>
          <a:stretch>
            <a:fillRect/>
          </a:stretch>
        </p:blipFill>
        <p:spPr>
          <a:xfrm>
            <a:off x="9921695" y="3277775"/>
            <a:ext cx="1391515" cy="1330350"/>
          </a:xfrm>
          <a:prstGeom prst="rect">
            <a:avLst/>
          </a:prstGeom>
        </p:spPr>
      </p:pic>
      <p:sp>
        <p:nvSpPr>
          <p:cNvPr id="7" name="矩形 6"/>
          <p:cNvSpPr/>
          <p:nvPr/>
        </p:nvSpPr>
        <p:spPr>
          <a:xfrm>
            <a:off x="4521452" y="3214524"/>
            <a:ext cx="5171188" cy="646331"/>
          </a:xfrm>
          <a:prstGeom prst="rect">
            <a:avLst/>
          </a:prstGeom>
        </p:spPr>
        <p:txBody>
          <a:bodyPr wrap="square">
            <a:spAutoFit/>
          </a:bodyPr>
          <a:lstStyle/>
          <a:p>
            <a:r>
              <a:rPr lang="zh-CN" altLang="en-US" dirty="0"/>
              <a:t>角度为正时，顺时针，负时，为逆时针</a:t>
            </a:r>
          </a:p>
          <a:p>
            <a:r>
              <a:rPr lang="zh-CN" altLang="en-US" dirty="0" smtClean="0"/>
              <a:t>默认</a:t>
            </a:r>
            <a:r>
              <a:rPr lang="zh-CN" altLang="en-US" dirty="0"/>
              <a:t>旋转的中心点是元素的中心点</a:t>
            </a:r>
          </a:p>
        </p:txBody>
      </p:sp>
      <p:sp>
        <p:nvSpPr>
          <p:cNvPr id="11" name="矩形 10"/>
          <p:cNvSpPr/>
          <p:nvPr/>
        </p:nvSpPr>
        <p:spPr>
          <a:xfrm>
            <a:off x="795866" y="4139106"/>
            <a:ext cx="8724053" cy="2585323"/>
          </a:xfrm>
          <a:prstGeom prst="rect">
            <a:avLst/>
          </a:prstGeom>
        </p:spPr>
        <p:txBody>
          <a:bodyPr wrap="square">
            <a:spAutoFit/>
          </a:bodyPr>
          <a:lstStyle/>
          <a:p>
            <a:pPr>
              <a:lnSpc>
                <a:spcPct val="150000"/>
              </a:lnSpc>
            </a:pPr>
            <a:r>
              <a:rPr lang="en-US" altLang="zh-CN" b="1" dirty="0" smtClean="0"/>
              <a:t>3</a:t>
            </a:r>
            <a:r>
              <a:rPr lang="zh-CN" altLang="en-US" b="1" dirty="0" smtClean="0"/>
              <a:t>、变换中心点，</a:t>
            </a:r>
            <a:r>
              <a:rPr lang="en-US" altLang="zh-CN" b="1" dirty="0" smtClean="0"/>
              <a:t>transform-origin</a:t>
            </a:r>
            <a:r>
              <a:rPr lang="zh-CN" altLang="en-US" b="1" dirty="0" smtClean="0"/>
              <a:t>：</a:t>
            </a:r>
            <a:r>
              <a:rPr lang="en-US" altLang="zh-CN" b="1" dirty="0" smtClean="0"/>
              <a:t>x y;</a:t>
            </a:r>
          </a:p>
          <a:p>
            <a:pPr marL="285750" indent="-285750">
              <a:lnSpc>
                <a:spcPct val="150000"/>
              </a:lnSpc>
              <a:buFont typeface="Arial" panose="020B0604020202020204" pitchFamily="34" charset="0"/>
              <a:buChar char="•"/>
            </a:pPr>
            <a:r>
              <a:rPr lang="en-US" altLang="zh-CN" dirty="0"/>
              <a:t>x y </a:t>
            </a:r>
            <a:r>
              <a:rPr lang="zh-CN" altLang="en-US" dirty="0"/>
              <a:t>默认转换的中心点是元素的中心点 </a:t>
            </a:r>
            <a:r>
              <a:rPr lang="en-US" altLang="zh-CN" dirty="0"/>
              <a:t>(50% 50</a:t>
            </a:r>
            <a:r>
              <a:rPr lang="en-US" altLang="zh-CN" dirty="0" smtClean="0"/>
              <a:t>%)</a:t>
            </a:r>
            <a:r>
              <a:rPr lang="zh-CN" altLang="en-US" dirty="0" smtClean="0"/>
              <a:t>，相当于</a:t>
            </a:r>
            <a:r>
              <a:rPr lang="zh-CN" altLang="en-US" dirty="0"/>
              <a:t>（</a:t>
            </a:r>
            <a:r>
              <a:rPr lang="en-US" altLang="zh-CN" dirty="0"/>
              <a:t>center </a:t>
            </a:r>
            <a:r>
              <a:rPr lang="en-US" altLang="zh-CN" dirty="0" err="1"/>
              <a:t>center</a:t>
            </a:r>
            <a:r>
              <a:rPr lang="zh-CN" altLang="en-US" dirty="0"/>
              <a:t>）</a:t>
            </a:r>
          </a:p>
          <a:p>
            <a:pPr marL="285750" indent="-285750">
              <a:lnSpc>
                <a:spcPct val="150000"/>
              </a:lnSpc>
              <a:buFont typeface="Arial" panose="020B0604020202020204" pitchFamily="34" charset="0"/>
              <a:buChar char="•"/>
            </a:pPr>
            <a:r>
              <a:rPr lang="zh-CN" altLang="en-US" dirty="0"/>
              <a:t>可以设置</a:t>
            </a:r>
            <a:r>
              <a:rPr lang="en-US" altLang="zh-CN" dirty="0"/>
              <a:t>9</a:t>
            </a:r>
            <a:r>
              <a:rPr lang="zh-CN" altLang="en-US" dirty="0"/>
              <a:t>个位置值：水平方向：</a:t>
            </a:r>
            <a:r>
              <a:rPr lang="en-US" altLang="zh-CN" dirty="0"/>
              <a:t>left center right</a:t>
            </a:r>
          </a:p>
          <a:p>
            <a:pPr>
              <a:lnSpc>
                <a:spcPct val="150000"/>
              </a:lnSpc>
            </a:pPr>
            <a:r>
              <a:rPr lang="en-US" altLang="zh-CN" dirty="0"/>
              <a:t>				 </a:t>
            </a:r>
            <a:r>
              <a:rPr lang="en-US" altLang="zh-CN" dirty="0" smtClean="0"/>
              <a:t>                                  0    </a:t>
            </a:r>
            <a:r>
              <a:rPr lang="en-US" altLang="zh-CN" dirty="0"/>
              <a:t>50%    100%</a:t>
            </a:r>
          </a:p>
          <a:p>
            <a:pPr>
              <a:lnSpc>
                <a:spcPct val="150000"/>
              </a:lnSpc>
            </a:pPr>
            <a:r>
              <a:rPr lang="en-US" altLang="zh-CN" dirty="0"/>
              <a:t>		     </a:t>
            </a:r>
            <a:r>
              <a:rPr lang="en-US" altLang="zh-CN" dirty="0" smtClean="0"/>
              <a:t>                       </a:t>
            </a:r>
            <a:r>
              <a:rPr lang="zh-CN" altLang="en-US" dirty="0" smtClean="0"/>
              <a:t>垂直</a:t>
            </a:r>
            <a:r>
              <a:rPr lang="zh-CN" altLang="en-US" dirty="0"/>
              <a:t>方向：</a:t>
            </a:r>
            <a:r>
              <a:rPr lang="en-US" altLang="zh-CN" dirty="0"/>
              <a:t>top center bottom</a:t>
            </a:r>
          </a:p>
          <a:p>
            <a:pPr>
              <a:lnSpc>
                <a:spcPct val="150000"/>
              </a:lnSpc>
            </a:pPr>
            <a:endParaRPr lang="en-US" altLang="zh-CN" b="1" dirty="0" smtClean="0"/>
          </a:p>
        </p:txBody>
      </p:sp>
      <p:sp>
        <p:nvSpPr>
          <p:cNvPr id="12" name="矩形 11"/>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6249905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sp>
        <p:nvSpPr>
          <p:cNvPr id="5" name="矩形 4"/>
          <p:cNvSpPr/>
          <p:nvPr/>
        </p:nvSpPr>
        <p:spPr>
          <a:xfrm>
            <a:off x="932993" y="1500576"/>
            <a:ext cx="9848850" cy="465640"/>
          </a:xfrm>
          <a:prstGeom prst="rect">
            <a:avLst/>
          </a:prstGeom>
        </p:spPr>
        <p:txBody>
          <a:bodyPr wrap="square">
            <a:spAutoFit/>
          </a:bodyPr>
          <a:lstStyle/>
          <a:p>
            <a:pPr>
              <a:lnSpc>
                <a:spcPct val="150000"/>
              </a:lnSpc>
            </a:pPr>
            <a:r>
              <a:rPr lang="zh-CN" altLang="en-US" b="1" dirty="0" smtClean="0"/>
              <a:t>案例：三角形</a:t>
            </a:r>
            <a:endParaRPr lang="en-US" altLang="zh-CN" sz="1100" dirty="0">
              <a:latin typeface="+mn-ea"/>
            </a:endParaRPr>
          </a:p>
        </p:txBody>
      </p:sp>
      <p:pic>
        <p:nvPicPr>
          <p:cNvPr id="2" name="图片 1"/>
          <p:cNvPicPr>
            <a:picLocks noChangeAspect="1"/>
          </p:cNvPicPr>
          <p:nvPr/>
        </p:nvPicPr>
        <p:blipFill>
          <a:blip r:embed="rId3"/>
          <a:stretch>
            <a:fillRect/>
          </a:stretch>
        </p:blipFill>
        <p:spPr>
          <a:xfrm>
            <a:off x="8452078" y="1728885"/>
            <a:ext cx="3449709" cy="559044"/>
          </a:xfrm>
          <a:prstGeom prst="rect">
            <a:avLst/>
          </a:prstGeom>
        </p:spPr>
      </p:pic>
      <p:sp>
        <p:nvSpPr>
          <p:cNvPr id="6" name="矩形 5"/>
          <p:cNvSpPr/>
          <p:nvPr/>
        </p:nvSpPr>
        <p:spPr>
          <a:xfrm>
            <a:off x="2955207" y="284573"/>
            <a:ext cx="5591072" cy="6525376"/>
          </a:xfrm>
          <a:prstGeom prst="rect">
            <a:avLst/>
          </a:prstGeom>
        </p:spPr>
        <p:txBody>
          <a:bodyPr wrap="square">
            <a:spAutoFit/>
          </a:bodyPr>
          <a:lstStyle/>
          <a:p>
            <a:pPr>
              <a:lnSpc>
                <a:spcPct val="125000"/>
              </a:lnSpc>
            </a:pPr>
            <a:r>
              <a:rPr lang="en-US" altLang="zh-CN" sz="1600" dirty="0" smtClean="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outer {</a:t>
            </a:r>
          </a:p>
          <a:p>
            <a:pPr>
              <a:lnSpc>
                <a:spcPct val="125000"/>
              </a:lnSpc>
            </a:pPr>
            <a:r>
              <a:rPr lang="en-US" altLang="zh-CN" sz="1600" dirty="0">
                <a:latin typeface="Arial" panose="020B0604020202020204" pitchFamily="34" charset="0"/>
                <a:cs typeface="Arial" panose="020B0604020202020204" pitchFamily="34" charset="0"/>
              </a:rPr>
              <a:t>        position: relative;</a:t>
            </a:r>
          </a:p>
          <a:p>
            <a:pPr>
              <a:lnSpc>
                <a:spcPct val="125000"/>
              </a:lnSpc>
            </a:pPr>
            <a:r>
              <a:rPr lang="en-US" altLang="zh-CN" sz="1600" dirty="0">
                <a:latin typeface="Arial" panose="020B0604020202020204" pitchFamily="34" charset="0"/>
                <a:cs typeface="Arial" panose="020B0604020202020204" pitchFamily="34" charset="0"/>
              </a:rPr>
              <a:t>        width: 200px;</a:t>
            </a:r>
          </a:p>
          <a:p>
            <a:pPr>
              <a:lnSpc>
                <a:spcPct val="125000"/>
              </a:lnSpc>
            </a:pPr>
            <a:r>
              <a:rPr lang="en-US" altLang="zh-CN" sz="1600" dirty="0">
                <a:latin typeface="Arial" panose="020B0604020202020204" pitchFamily="34" charset="0"/>
                <a:cs typeface="Arial" panose="020B0604020202020204" pitchFamily="34" charset="0"/>
              </a:rPr>
              <a:t>        height: 30px;</a:t>
            </a:r>
          </a:p>
          <a:p>
            <a:pPr>
              <a:lnSpc>
                <a:spcPct val="125000"/>
              </a:lnSpc>
            </a:pPr>
            <a:r>
              <a:rPr lang="en-US" altLang="zh-CN" sz="1600" dirty="0">
                <a:latin typeface="Arial" panose="020B0604020202020204" pitchFamily="34" charset="0"/>
                <a:cs typeface="Arial" panose="020B0604020202020204" pitchFamily="34" charset="0"/>
              </a:rPr>
              <a:t>        border: 1px solid #000;</a:t>
            </a:r>
          </a:p>
          <a:p>
            <a:pPr>
              <a:lnSpc>
                <a:spcPct val="125000"/>
              </a:lnSpc>
            </a:pPr>
            <a:r>
              <a:rPr lang="en-US" altLang="zh-CN" sz="1600" dirty="0">
                <a:latin typeface="Arial" panose="020B0604020202020204" pitchFamily="34" charset="0"/>
                <a:cs typeface="Arial" panose="020B0604020202020204" pitchFamily="34" charset="0"/>
              </a:rPr>
              <a:t>      }</a:t>
            </a:r>
          </a:p>
          <a:p>
            <a:pPr>
              <a:lnSpc>
                <a:spcPct val="125000"/>
              </a:lnSpc>
            </a:pPr>
            <a:r>
              <a:rPr lang="en-US" altLang="zh-CN" sz="1600" dirty="0" smtClean="0">
                <a:latin typeface="Arial" panose="020B0604020202020204" pitchFamily="34" charset="0"/>
                <a:cs typeface="Arial" panose="020B0604020202020204" pitchFamily="34" charset="0"/>
              </a:rPr>
              <a:t>.</a:t>
            </a:r>
            <a:r>
              <a:rPr lang="en-US" altLang="zh-CN" sz="1600" dirty="0">
                <a:latin typeface="Arial" panose="020B0604020202020204" pitchFamily="34" charset="0"/>
                <a:cs typeface="Arial" panose="020B0604020202020204" pitchFamily="34" charset="0"/>
              </a:rPr>
              <a:t>outer::after {</a:t>
            </a:r>
          </a:p>
          <a:p>
            <a:pPr>
              <a:lnSpc>
                <a:spcPct val="125000"/>
              </a:lnSpc>
            </a:pPr>
            <a:r>
              <a:rPr lang="en-US" altLang="zh-CN" sz="1600" dirty="0">
                <a:latin typeface="Arial" panose="020B0604020202020204" pitchFamily="34" charset="0"/>
                <a:cs typeface="Arial" panose="020B0604020202020204" pitchFamily="34" charset="0"/>
              </a:rPr>
              <a:t>        content: '';</a:t>
            </a:r>
          </a:p>
          <a:p>
            <a:pPr>
              <a:lnSpc>
                <a:spcPct val="125000"/>
              </a:lnSpc>
            </a:pPr>
            <a:r>
              <a:rPr lang="en-US" altLang="zh-CN" sz="1600" dirty="0">
                <a:latin typeface="Arial" panose="020B0604020202020204" pitchFamily="34" charset="0"/>
                <a:cs typeface="Arial" panose="020B0604020202020204" pitchFamily="34" charset="0"/>
              </a:rPr>
              <a:t>        position: absolute;</a:t>
            </a:r>
          </a:p>
          <a:p>
            <a:pPr>
              <a:lnSpc>
                <a:spcPct val="125000"/>
              </a:lnSpc>
            </a:pPr>
            <a:r>
              <a:rPr lang="en-US" altLang="zh-CN" sz="1600" dirty="0">
                <a:latin typeface="Arial" panose="020B0604020202020204" pitchFamily="34" charset="0"/>
                <a:cs typeface="Arial" panose="020B0604020202020204" pitchFamily="34" charset="0"/>
              </a:rPr>
              <a:t>        top: 10px;</a:t>
            </a:r>
          </a:p>
          <a:p>
            <a:pPr>
              <a:lnSpc>
                <a:spcPct val="125000"/>
              </a:lnSpc>
            </a:pPr>
            <a:r>
              <a:rPr lang="en-US" altLang="zh-CN" sz="1600" dirty="0">
                <a:latin typeface="Arial" panose="020B0604020202020204" pitchFamily="34" charset="0"/>
                <a:cs typeface="Arial" panose="020B0604020202020204" pitchFamily="34" charset="0"/>
              </a:rPr>
              <a:t>        right: 15px;</a:t>
            </a:r>
          </a:p>
          <a:p>
            <a:pPr>
              <a:lnSpc>
                <a:spcPct val="125000"/>
              </a:lnSpc>
            </a:pPr>
            <a:r>
              <a:rPr lang="en-US" altLang="zh-CN" sz="1600" dirty="0">
                <a:latin typeface="Arial" panose="020B0604020202020204" pitchFamily="34" charset="0"/>
                <a:cs typeface="Arial" panose="020B0604020202020204" pitchFamily="34" charset="0"/>
              </a:rPr>
              <a:t>        width: 8px;</a:t>
            </a:r>
          </a:p>
          <a:p>
            <a:pPr>
              <a:lnSpc>
                <a:spcPct val="125000"/>
              </a:lnSpc>
            </a:pPr>
            <a:r>
              <a:rPr lang="en-US" altLang="zh-CN" sz="1600" dirty="0">
                <a:latin typeface="Arial" panose="020B0604020202020204" pitchFamily="34" charset="0"/>
                <a:cs typeface="Arial" panose="020B0604020202020204" pitchFamily="34" charset="0"/>
              </a:rPr>
              <a:t>        height: 8px;</a:t>
            </a:r>
          </a:p>
          <a:p>
            <a:pPr>
              <a:lnSpc>
                <a:spcPct val="125000"/>
              </a:lnSpc>
            </a:pPr>
            <a:r>
              <a:rPr lang="en-US" altLang="zh-CN" sz="1600" dirty="0">
                <a:latin typeface="Arial" panose="020B0604020202020204" pitchFamily="34" charset="0"/>
                <a:cs typeface="Arial" panose="020B0604020202020204" pitchFamily="34" charset="0"/>
              </a:rPr>
              <a:t>        border-right: 1px solid #000;</a:t>
            </a:r>
          </a:p>
          <a:p>
            <a:pPr>
              <a:lnSpc>
                <a:spcPct val="125000"/>
              </a:lnSpc>
            </a:pPr>
            <a:r>
              <a:rPr lang="en-US" altLang="zh-CN" sz="1600" dirty="0">
                <a:latin typeface="Arial" panose="020B0604020202020204" pitchFamily="34" charset="0"/>
                <a:cs typeface="Arial" panose="020B0604020202020204" pitchFamily="34" charset="0"/>
              </a:rPr>
              <a:t>        border-bottom: 1px solid #000;</a:t>
            </a:r>
          </a:p>
          <a:p>
            <a:pPr>
              <a:lnSpc>
                <a:spcPct val="125000"/>
              </a:lnSpc>
            </a:pPr>
            <a:r>
              <a:rPr lang="en-US" altLang="zh-CN" sz="1600" dirty="0">
                <a:latin typeface="Arial" panose="020B0604020202020204" pitchFamily="34" charset="0"/>
                <a:cs typeface="Arial" panose="020B0604020202020204" pitchFamily="34" charset="0"/>
              </a:rPr>
              <a:t>        transform: rotate(45deg);</a:t>
            </a:r>
          </a:p>
          <a:p>
            <a:pPr>
              <a:lnSpc>
                <a:spcPct val="125000"/>
              </a:lnSpc>
            </a:pPr>
            <a:r>
              <a:rPr lang="en-US" altLang="zh-CN" sz="1600" dirty="0">
                <a:latin typeface="Arial" panose="020B0604020202020204" pitchFamily="34" charset="0"/>
                <a:cs typeface="Arial" panose="020B0604020202020204" pitchFamily="34" charset="0"/>
              </a:rPr>
              <a:t>        transition: all 0.5s;</a:t>
            </a:r>
          </a:p>
          <a:p>
            <a:pPr>
              <a:lnSpc>
                <a:spcPct val="125000"/>
              </a:lnSpc>
            </a:pPr>
            <a:r>
              <a:rPr lang="en-US" altLang="zh-CN" sz="1600" dirty="0">
                <a:latin typeface="Arial" panose="020B0604020202020204" pitchFamily="34" charset="0"/>
                <a:cs typeface="Arial" panose="020B0604020202020204" pitchFamily="34" charset="0"/>
              </a:rPr>
              <a:t>      }</a:t>
            </a:r>
          </a:p>
          <a:p>
            <a:pPr>
              <a:lnSpc>
                <a:spcPct val="125000"/>
              </a:lnSpc>
            </a:pPr>
            <a:r>
              <a:rPr lang="en-US" altLang="zh-CN" sz="1600" dirty="0" smtClean="0">
                <a:latin typeface="Arial" panose="020B0604020202020204" pitchFamily="34" charset="0"/>
                <a:cs typeface="Arial" panose="020B0604020202020204" pitchFamily="34" charset="0"/>
              </a:rPr>
              <a:t>.</a:t>
            </a:r>
            <a:r>
              <a:rPr lang="en-US" altLang="zh-CN" sz="1600" dirty="0" err="1">
                <a:latin typeface="Arial" panose="020B0604020202020204" pitchFamily="34" charset="0"/>
                <a:cs typeface="Arial" panose="020B0604020202020204" pitchFamily="34" charset="0"/>
              </a:rPr>
              <a:t>outer:hover</a:t>
            </a:r>
            <a:r>
              <a:rPr lang="en-US" altLang="zh-CN" sz="1600" dirty="0">
                <a:latin typeface="Arial" panose="020B0604020202020204" pitchFamily="34" charset="0"/>
                <a:cs typeface="Arial" panose="020B0604020202020204" pitchFamily="34" charset="0"/>
              </a:rPr>
              <a:t>::after {</a:t>
            </a:r>
          </a:p>
          <a:p>
            <a:pPr>
              <a:lnSpc>
                <a:spcPct val="125000"/>
              </a:lnSpc>
            </a:pPr>
            <a:r>
              <a:rPr lang="en-US" altLang="zh-CN" sz="1600" dirty="0">
                <a:latin typeface="Arial" panose="020B0604020202020204" pitchFamily="34" charset="0"/>
                <a:cs typeface="Arial" panose="020B0604020202020204" pitchFamily="34" charset="0"/>
              </a:rPr>
              <a:t>        transform: rotate(225deg);</a:t>
            </a:r>
          </a:p>
          <a:p>
            <a:pPr>
              <a:lnSpc>
                <a:spcPct val="125000"/>
              </a:lnSpc>
            </a:pPr>
            <a:r>
              <a:rPr lang="en-US" altLang="zh-CN" sz="1600" dirty="0">
                <a:latin typeface="Arial" panose="020B0604020202020204" pitchFamily="34" charset="0"/>
                <a:cs typeface="Arial" panose="020B0604020202020204" pitchFamily="34" charset="0"/>
              </a:rPr>
              <a:t>      }</a:t>
            </a:r>
            <a:endParaRPr lang="zh-CN" altLang="en-US" sz="1600" dirty="0">
              <a:latin typeface="Arial" panose="020B0604020202020204" pitchFamily="34" charset="0"/>
              <a:cs typeface="Arial" panose="020B0604020202020204" pitchFamily="34" charset="0"/>
            </a:endParaRPr>
          </a:p>
        </p:txBody>
      </p:sp>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40888631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sp>
        <p:nvSpPr>
          <p:cNvPr id="2" name="矩形 1"/>
          <p:cNvSpPr/>
          <p:nvPr/>
        </p:nvSpPr>
        <p:spPr>
          <a:xfrm>
            <a:off x="795867" y="1355955"/>
            <a:ext cx="6925733" cy="463653"/>
          </a:xfrm>
          <a:prstGeom prst="rect">
            <a:avLst/>
          </a:prstGeom>
        </p:spPr>
        <p:txBody>
          <a:bodyPr wrap="square">
            <a:spAutoFit/>
          </a:bodyPr>
          <a:lstStyle/>
          <a:p>
            <a:pPr>
              <a:lnSpc>
                <a:spcPct val="150000"/>
              </a:lnSpc>
            </a:pPr>
            <a:r>
              <a:rPr lang="en-US" altLang="zh-CN" b="1" dirty="0">
                <a:solidFill>
                  <a:srgbClr val="00B050"/>
                </a:solidFill>
                <a:latin typeface="Arial" panose="020B0604020202020204" pitchFamily="34" charset="0"/>
                <a:cs typeface="Arial" panose="020B0604020202020204" pitchFamily="34" charset="0"/>
              </a:rPr>
              <a:t>4</a:t>
            </a:r>
            <a:r>
              <a:rPr lang="zh-CN" altLang="en-US" b="1" dirty="0">
                <a:solidFill>
                  <a:srgbClr val="00B050"/>
                </a:solidFill>
                <a:latin typeface="Arial" panose="020B0604020202020204" pitchFamily="34" charset="0"/>
                <a:cs typeface="Arial" panose="020B0604020202020204" pitchFamily="34" charset="0"/>
              </a:rPr>
              <a:t>、缩放</a:t>
            </a:r>
            <a:r>
              <a:rPr lang="en-US" altLang="zh-CN" b="1" dirty="0" smtClean="0">
                <a:solidFill>
                  <a:srgbClr val="00B050"/>
                </a:solidFill>
                <a:latin typeface="Arial" panose="020B0604020202020204" pitchFamily="34" charset="0"/>
                <a:cs typeface="Arial" panose="020B0604020202020204" pitchFamily="34" charset="0"/>
              </a:rPr>
              <a:t>scale</a:t>
            </a:r>
            <a:r>
              <a:rPr lang="zh-CN" altLang="en-US" b="1" dirty="0" smtClean="0">
                <a:solidFill>
                  <a:srgbClr val="00B050"/>
                </a:solidFill>
                <a:latin typeface="Arial" panose="020B0604020202020204" pitchFamily="34" charset="0"/>
                <a:cs typeface="Arial" panose="020B0604020202020204" pitchFamily="34" charset="0"/>
              </a:rPr>
              <a:t>，</a:t>
            </a:r>
            <a:r>
              <a:rPr lang="en-US" altLang="zh-CN" dirty="0">
                <a:latin typeface="Arial" panose="020B0604020202020204" pitchFamily="34" charset="0"/>
                <a:cs typeface="Arial" panose="020B0604020202020204" pitchFamily="34" charset="0"/>
              </a:rPr>
              <a:t>transform: scale(</a:t>
            </a:r>
            <a:r>
              <a:rPr lang="en-US" altLang="zh-CN" dirty="0" err="1">
                <a:latin typeface="Arial" panose="020B0604020202020204" pitchFamily="34" charset="0"/>
                <a:cs typeface="Arial" panose="020B0604020202020204" pitchFamily="34" charset="0"/>
              </a:rPr>
              <a:t>x,y</a:t>
            </a:r>
            <a:r>
              <a:rPr lang="en-US" altLang="zh-CN" dirty="0" smtClean="0">
                <a:latin typeface="Arial" panose="020B0604020202020204" pitchFamily="34" charset="0"/>
                <a:cs typeface="Arial" panose="020B0604020202020204" pitchFamily="34" charset="0"/>
              </a:rPr>
              <a:t>);</a:t>
            </a:r>
            <a:endParaRPr lang="en-US" altLang="zh-CN" sz="1200" dirty="0">
              <a:latin typeface="Arial" panose="020B0604020202020204" pitchFamily="34" charset="0"/>
              <a:cs typeface="Arial" panose="020B0604020202020204" pitchFamily="34" charset="0"/>
            </a:endParaRPr>
          </a:p>
        </p:txBody>
      </p:sp>
      <p:sp>
        <p:nvSpPr>
          <p:cNvPr id="3" name="矩形 2"/>
          <p:cNvSpPr/>
          <p:nvPr/>
        </p:nvSpPr>
        <p:spPr>
          <a:xfrm>
            <a:off x="1107440" y="1791972"/>
            <a:ext cx="9265920" cy="1200329"/>
          </a:xfrm>
          <a:prstGeom prst="rect">
            <a:avLst/>
          </a:prstGeom>
        </p:spPr>
        <p:txBody>
          <a:bodyPr wrap="square">
            <a:spAutoFit/>
          </a:bodyPr>
          <a:lstStyle/>
          <a:p>
            <a:pPr marL="285750" indent="-285750">
              <a:buFont typeface="Arial" panose="020B0604020202020204" pitchFamily="34" charset="0"/>
              <a:buChar char="•"/>
            </a:pPr>
            <a:r>
              <a:rPr lang="en-US" altLang="zh-CN" dirty="0" err="1"/>
              <a:t>transform:scale</a:t>
            </a:r>
            <a:r>
              <a:rPr lang="en-US" altLang="zh-CN" dirty="0"/>
              <a:t>(1,1) </a:t>
            </a:r>
            <a:r>
              <a:rPr lang="zh-CN" altLang="en-US" dirty="0"/>
              <a:t>：宽和高都放大一倍，相对于没有放大</a:t>
            </a:r>
          </a:p>
          <a:p>
            <a:pPr marL="285750" indent="-285750">
              <a:buFont typeface="Arial" panose="020B0604020202020204" pitchFamily="34" charset="0"/>
              <a:buChar char="•"/>
            </a:pPr>
            <a:r>
              <a:rPr lang="en-US" altLang="zh-CN" dirty="0" err="1" smtClean="0"/>
              <a:t>transform:scale</a:t>
            </a:r>
            <a:r>
              <a:rPr lang="en-US" altLang="zh-CN" dirty="0" smtClean="0"/>
              <a:t>(2,2</a:t>
            </a:r>
            <a:r>
              <a:rPr lang="en-US" altLang="zh-CN" dirty="0"/>
              <a:t>) </a:t>
            </a:r>
            <a:r>
              <a:rPr lang="zh-CN" altLang="en-US" dirty="0"/>
              <a:t>：宽和高都放大了</a:t>
            </a:r>
            <a:r>
              <a:rPr lang="en-US" altLang="zh-CN" dirty="0"/>
              <a:t>2</a:t>
            </a:r>
            <a:r>
              <a:rPr lang="zh-CN" altLang="en-US" dirty="0"/>
              <a:t>倍</a:t>
            </a:r>
          </a:p>
          <a:p>
            <a:pPr marL="285750" indent="-285750">
              <a:buFont typeface="Arial" panose="020B0604020202020204" pitchFamily="34" charset="0"/>
              <a:buChar char="•"/>
            </a:pPr>
            <a:r>
              <a:rPr lang="en-US" altLang="zh-CN" dirty="0" err="1" smtClean="0"/>
              <a:t>transform:scale</a:t>
            </a:r>
            <a:r>
              <a:rPr lang="en-US" altLang="zh-CN" dirty="0" smtClean="0"/>
              <a:t>(2</a:t>
            </a:r>
            <a:r>
              <a:rPr lang="en-US" altLang="zh-CN" dirty="0"/>
              <a:t>) </a:t>
            </a:r>
            <a:r>
              <a:rPr lang="zh-CN" altLang="en-US" dirty="0"/>
              <a:t>：只写一个参数，第二个参数则和第一个参数一样，相当于 </a:t>
            </a:r>
            <a:r>
              <a:rPr lang="en-US" altLang="zh-CN" dirty="0"/>
              <a:t>scale(2,2)</a:t>
            </a:r>
          </a:p>
          <a:p>
            <a:pPr marL="285750" indent="-285750">
              <a:buFont typeface="Arial" panose="020B0604020202020204" pitchFamily="34" charset="0"/>
              <a:buChar char="•"/>
            </a:pPr>
            <a:r>
              <a:rPr lang="en-US" altLang="zh-CN" dirty="0" err="1" smtClean="0"/>
              <a:t>transform:scale</a:t>
            </a:r>
            <a:r>
              <a:rPr lang="en-US" altLang="zh-CN" dirty="0" smtClean="0"/>
              <a:t>(0.5,0.5</a:t>
            </a:r>
            <a:r>
              <a:rPr lang="en-US" altLang="zh-CN" dirty="0"/>
              <a:t>)</a:t>
            </a:r>
            <a:r>
              <a:rPr lang="zh-CN" altLang="en-US" dirty="0"/>
              <a:t>：缩小</a:t>
            </a:r>
          </a:p>
        </p:txBody>
      </p:sp>
      <p:sp>
        <p:nvSpPr>
          <p:cNvPr id="6" name="矩形 5"/>
          <p:cNvSpPr/>
          <p:nvPr/>
        </p:nvSpPr>
        <p:spPr>
          <a:xfrm>
            <a:off x="851010" y="3037980"/>
            <a:ext cx="10918374" cy="1754326"/>
          </a:xfrm>
          <a:prstGeom prst="rect">
            <a:avLst/>
          </a:prstGeom>
        </p:spPr>
        <p:txBody>
          <a:bodyPr wrap="none">
            <a:spAutoFit/>
          </a:bodyPr>
          <a:lstStyle/>
          <a:p>
            <a:pPr>
              <a:lnSpc>
                <a:spcPct val="150000"/>
              </a:lnSpc>
            </a:pPr>
            <a:r>
              <a:rPr lang="en-US" altLang="zh-CN" b="1" dirty="0" smtClean="0">
                <a:solidFill>
                  <a:srgbClr val="00B050"/>
                </a:solidFill>
                <a:latin typeface="Arial" panose="020B0604020202020204" pitchFamily="34" charset="0"/>
                <a:cs typeface="Arial" panose="020B0604020202020204" pitchFamily="34" charset="0"/>
              </a:rPr>
              <a:t>5</a:t>
            </a:r>
            <a:r>
              <a:rPr lang="zh-CN" altLang="en-US" b="1" dirty="0" smtClean="0">
                <a:solidFill>
                  <a:srgbClr val="00B050"/>
                </a:solidFill>
                <a:latin typeface="Arial" panose="020B0604020202020204" pitchFamily="34" charset="0"/>
                <a:cs typeface="Arial" panose="020B0604020202020204" pitchFamily="34" charset="0"/>
              </a:rPr>
              <a:t>、</a:t>
            </a:r>
            <a:r>
              <a:rPr lang="en-US" altLang="zh-CN" b="1" dirty="0" smtClean="0">
                <a:solidFill>
                  <a:srgbClr val="00B050"/>
                </a:solidFill>
                <a:latin typeface="Arial" panose="020B0604020202020204" pitchFamily="34" charset="0"/>
                <a:cs typeface="Arial" panose="020B0604020202020204" pitchFamily="34" charset="0"/>
              </a:rPr>
              <a:t>2D </a:t>
            </a:r>
            <a:r>
              <a:rPr lang="zh-CN" altLang="en-US" b="1" dirty="0" smtClean="0">
                <a:solidFill>
                  <a:srgbClr val="00B050"/>
                </a:solidFill>
                <a:latin typeface="Arial" panose="020B0604020202020204" pitchFamily="34" charset="0"/>
                <a:cs typeface="Arial" panose="020B0604020202020204" pitchFamily="34" charset="0"/>
              </a:rPr>
              <a:t>变换复合写法</a:t>
            </a:r>
            <a:endParaRPr lang="en-US" altLang="zh-CN" b="1" dirty="0" smtClean="0">
              <a:solidFill>
                <a:srgbClr val="00B050"/>
              </a:solidFill>
              <a:latin typeface="Arial" panose="020B0604020202020204" pitchFamily="34" charset="0"/>
              <a:cs typeface="Arial" panose="020B0604020202020204" pitchFamily="34" charset="0"/>
            </a:endParaRPr>
          </a:p>
          <a:p>
            <a:pPr marL="342900" indent="-342900">
              <a:lnSpc>
                <a:spcPct val="150000"/>
              </a:lnSpc>
              <a:buFont typeface="+mj-lt"/>
              <a:buAutoNum type="arabicPeriod"/>
            </a:pPr>
            <a:r>
              <a:rPr lang="zh-CN" altLang="en-US" dirty="0">
                <a:latin typeface="Arial" panose="020B0604020202020204" pitchFamily="34" charset="0"/>
                <a:cs typeface="Arial" panose="020B0604020202020204" pitchFamily="34" charset="0"/>
              </a:rPr>
              <a:t>同时使用多个转换，其格式</a:t>
            </a:r>
            <a:r>
              <a:rPr lang="zh-CN" altLang="en-US" dirty="0" smtClean="0">
                <a:latin typeface="Arial" panose="020B0604020202020204" pitchFamily="34" charset="0"/>
                <a:cs typeface="Arial" panose="020B0604020202020204" pitchFamily="34" charset="0"/>
              </a:rPr>
              <a:t>为</a:t>
            </a:r>
            <a:r>
              <a:rPr lang="en-US" altLang="zh-CN" dirty="0" smtClean="0">
                <a:latin typeface="Arial" panose="020B0604020202020204" pitchFamily="34" charset="0"/>
                <a:cs typeface="Arial" panose="020B0604020202020204" pitchFamily="34" charset="0"/>
              </a:rPr>
              <a:t>transform</a:t>
            </a:r>
            <a:r>
              <a:rPr lang="en-US" altLang="zh-CN" dirty="0">
                <a:latin typeface="Arial" panose="020B0604020202020204" pitchFamily="34" charset="0"/>
                <a:cs typeface="Arial" panose="020B0604020202020204" pitchFamily="34" charset="0"/>
              </a:rPr>
              <a:t>: translate() rotate() scale() ...</a:t>
            </a:r>
            <a:r>
              <a:rPr lang="zh-CN" altLang="en-US" dirty="0">
                <a:latin typeface="Arial" panose="020B0604020202020204" pitchFamily="34" charset="0"/>
                <a:cs typeface="Arial" panose="020B0604020202020204" pitchFamily="34" charset="0"/>
              </a:rPr>
              <a:t>等。</a:t>
            </a:r>
          </a:p>
          <a:p>
            <a:pPr marL="342900" indent="-342900">
              <a:lnSpc>
                <a:spcPct val="150000"/>
              </a:lnSpc>
              <a:buFont typeface="+mj-lt"/>
              <a:buAutoNum type="arabicPeriod"/>
            </a:pPr>
            <a:r>
              <a:rPr lang="zh-CN" altLang="en-US" dirty="0" smtClean="0">
                <a:latin typeface="Arial" panose="020B0604020202020204" pitchFamily="34" charset="0"/>
                <a:cs typeface="Arial" panose="020B0604020202020204" pitchFamily="34" charset="0"/>
              </a:rPr>
              <a:t>其</a:t>
            </a:r>
            <a:r>
              <a:rPr lang="zh-CN" altLang="en-US" dirty="0">
                <a:latin typeface="Arial" panose="020B0604020202020204" pitchFamily="34" charset="0"/>
                <a:cs typeface="Arial" panose="020B0604020202020204" pitchFamily="34" charset="0"/>
              </a:rPr>
              <a:t>顺序会影响转换的效果。（先旋转会改变坐标轴方向）</a:t>
            </a:r>
          </a:p>
          <a:p>
            <a:pPr marL="342900" indent="-342900">
              <a:lnSpc>
                <a:spcPct val="150000"/>
              </a:lnSpc>
              <a:buFont typeface="+mj-lt"/>
              <a:buAutoNum type="arabicPeriod"/>
            </a:pPr>
            <a:r>
              <a:rPr lang="zh-CN" altLang="en-US" dirty="0" smtClean="0">
                <a:latin typeface="Arial" panose="020B0604020202020204" pitchFamily="34" charset="0"/>
                <a:cs typeface="Arial" panose="020B0604020202020204" pitchFamily="34" charset="0"/>
              </a:rPr>
              <a:t>当</a:t>
            </a:r>
            <a:r>
              <a:rPr lang="zh-CN" altLang="en-US" dirty="0">
                <a:latin typeface="Arial" panose="020B0604020202020204" pitchFamily="34" charset="0"/>
                <a:cs typeface="Arial" panose="020B0604020202020204" pitchFamily="34" charset="0"/>
              </a:rPr>
              <a:t>我们同时有位移和其他属性的时候，记得要将位移放到最前，顺序不能随意更改否则效果无法展示</a:t>
            </a:r>
            <a:r>
              <a:rPr lang="zh-CN" altLang="en-US" dirty="0" smtClean="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7962356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3</a:t>
            </a:r>
            <a:r>
              <a:rPr lang="zh-CN" altLang="en-US" dirty="0" smtClean="0"/>
              <a:t>、</a:t>
            </a:r>
            <a:r>
              <a:rPr lang="en-US" altLang="zh-CN" dirty="0" smtClean="0"/>
              <a:t>2D</a:t>
            </a:r>
            <a:r>
              <a:rPr lang="zh-CN" altLang="en-US" dirty="0"/>
              <a:t>变换</a:t>
            </a:r>
          </a:p>
        </p:txBody>
      </p:sp>
      <p:sp>
        <p:nvSpPr>
          <p:cNvPr id="3" name="矩形 2"/>
          <p:cNvSpPr/>
          <p:nvPr/>
        </p:nvSpPr>
        <p:spPr>
          <a:xfrm>
            <a:off x="795867" y="1609871"/>
            <a:ext cx="2427588" cy="369332"/>
          </a:xfrm>
          <a:prstGeom prst="rect">
            <a:avLst/>
          </a:prstGeom>
        </p:spPr>
        <p:txBody>
          <a:bodyPr wrap="none">
            <a:spAutoFit/>
          </a:bodyPr>
          <a:lstStyle/>
          <a:p>
            <a:r>
              <a:rPr lang="en-US" altLang="zh-CN" dirty="0"/>
              <a:t>&lt;div class="box"&gt;&lt;/div&gt;</a:t>
            </a:r>
            <a:endParaRPr lang="zh-CN" altLang="en-US" dirty="0"/>
          </a:p>
        </p:txBody>
      </p:sp>
      <p:pic>
        <p:nvPicPr>
          <p:cNvPr id="7" name="图片 6"/>
          <p:cNvPicPr>
            <a:picLocks noChangeAspect="1"/>
          </p:cNvPicPr>
          <p:nvPr/>
        </p:nvPicPr>
        <p:blipFill>
          <a:blip r:embed="rId3"/>
          <a:stretch>
            <a:fillRect/>
          </a:stretch>
        </p:blipFill>
        <p:spPr>
          <a:xfrm>
            <a:off x="896938" y="2125558"/>
            <a:ext cx="10095392" cy="3976662"/>
          </a:xfrm>
          <a:prstGeom prst="rect">
            <a:avLst/>
          </a:prstGeom>
        </p:spPr>
      </p:pic>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7644450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 </a:t>
            </a:r>
            <a:r>
              <a:rPr lang="zh-CN" altLang="en-US" dirty="0"/>
              <a:t>变换</a:t>
            </a:r>
          </a:p>
        </p:txBody>
      </p:sp>
      <p:sp>
        <p:nvSpPr>
          <p:cNvPr id="5" name="矩形 4"/>
          <p:cNvSpPr/>
          <p:nvPr/>
        </p:nvSpPr>
        <p:spPr>
          <a:xfrm>
            <a:off x="795866" y="2997055"/>
            <a:ext cx="9848850" cy="2862322"/>
          </a:xfrm>
          <a:prstGeom prst="rect">
            <a:avLst/>
          </a:prstGeom>
        </p:spPr>
        <p:txBody>
          <a:bodyPr wrap="square">
            <a:spAutoFit/>
          </a:bodyPr>
          <a:lstStyle/>
          <a:p>
            <a:pPr>
              <a:lnSpc>
                <a:spcPct val="150000"/>
              </a:lnSpc>
            </a:pPr>
            <a:r>
              <a:rPr lang="en-US" altLang="zh-CN" sz="2000" b="1" dirty="0" smtClean="0">
                <a:solidFill>
                  <a:srgbClr val="FF0000"/>
                </a:solidFill>
                <a:latin typeface="Arial" panose="020B0604020202020204" pitchFamily="34" charset="0"/>
                <a:cs typeface="Arial" panose="020B0604020202020204" pitchFamily="34" charset="0"/>
              </a:rPr>
              <a:t>3D   </a:t>
            </a:r>
            <a:r>
              <a:rPr lang="en-US" altLang="zh-CN" sz="2000" b="1" dirty="0" smtClean="0">
                <a:latin typeface="Arial" panose="020B0604020202020204" pitchFamily="34" charset="0"/>
                <a:cs typeface="Arial" panose="020B0604020202020204" pitchFamily="34" charset="0"/>
              </a:rPr>
              <a:t>-&gt;   </a:t>
            </a:r>
            <a:r>
              <a:rPr lang="en-US" altLang="zh-CN" sz="2000" b="1" u="sng" dirty="0" smtClean="0">
                <a:latin typeface="Arial" panose="020B0604020202020204" pitchFamily="34" charset="0"/>
                <a:cs typeface="Arial" panose="020B0604020202020204" pitchFamily="34" charset="0"/>
              </a:rPr>
              <a:t>transform-style</a:t>
            </a:r>
            <a:r>
              <a:rPr lang="en-US" altLang="zh-CN" sz="2000" b="1" u="sng" dirty="0">
                <a:latin typeface="Arial" panose="020B0604020202020204" pitchFamily="34" charset="0"/>
                <a:cs typeface="Arial" panose="020B0604020202020204" pitchFamily="34" charset="0"/>
              </a:rPr>
              <a:t>: preserve-3d</a:t>
            </a:r>
            <a:r>
              <a:rPr lang="en-US" altLang="zh-CN" sz="2000" b="1" u="sng" dirty="0" smtClean="0">
                <a:latin typeface="Arial" panose="020B0604020202020204" pitchFamily="34" charset="0"/>
                <a:cs typeface="Arial" panose="020B0604020202020204" pitchFamily="34" charset="0"/>
              </a:rPr>
              <a:t>;</a:t>
            </a:r>
          </a:p>
          <a:p>
            <a:pPr>
              <a:lnSpc>
                <a:spcPct val="150000"/>
              </a:lnSpc>
            </a:pPr>
            <a:r>
              <a:rPr lang="zh-CN" altLang="en-US" sz="2000" b="1" dirty="0">
                <a:solidFill>
                  <a:srgbClr val="FF0000"/>
                </a:solidFill>
                <a:latin typeface="Arial" panose="020B0604020202020204" pitchFamily="34" charset="0"/>
                <a:cs typeface="Arial" panose="020B0604020202020204" pitchFamily="34" charset="0"/>
              </a:rPr>
              <a:t>旋转</a:t>
            </a:r>
            <a:r>
              <a:rPr lang="zh-CN" altLang="en-US" sz="2000" b="1" dirty="0">
                <a:latin typeface="Arial" panose="020B0604020202020204" pitchFamily="34" charset="0"/>
                <a:cs typeface="Arial" panose="020B0604020202020204" pitchFamily="34" charset="0"/>
              </a:rPr>
              <a:t>：</a:t>
            </a:r>
            <a:r>
              <a:rPr lang="en-US" altLang="zh-CN" sz="2000" b="1" dirty="0">
                <a:latin typeface="Arial" panose="020B0604020202020204" pitchFamily="34" charset="0"/>
                <a:cs typeface="Arial" panose="020B0604020202020204" pitchFamily="34" charset="0"/>
              </a:rPr>
              <a:t>transform</a:t>
            </a:r>
            <a:r>
              <a:rPr lang="zh-CN" altLang="en-US" sz="2000" b="1" dirty="0">
                <a:latin typeface="Arial" panose="020B0604020202020204" pitchFamily="34" charset="0"/>
                <a:cs typeface="Arial" panose="020B0604020202020204" pitchFamily="34" charset="0"/>
              </a:rPr>
              <a:t>属性</a:t>
            </a:r>
            <a:endParaRPr lang="en-US" altLang="zh-CN" sz="2000" b="1"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transform: </a:t>
            </a:r>
            <a:r>
              <a:rPr lang="en-US" altLang="zh-CN" sz="2000" dirty="0" err="1">
                <a:latin typeface="Arial" panose="020B0604020202020204" pitchFamily="34" charset="0"/>
                <a:cs typeface="Arial" panose="020B0604020202020204" pitchFamily="34" charset="0"/>
              </a:rPr>
              <a:t>rotateX</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deg</a:t>
            </a:r>
            <a:r>
              <a:rPr lang="en-US" altLang="zh-CN" sz="2000" dirty="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transform: </a:t>
            </a:r>
            <a:r>
              <a:rPr lang="en-US" altLang="zh-CN" sz="2000" dirty="0" err="1">
                <a:latin typeface="Arial" panose="020B0604020202020204" pitchFamily="34" charset="0"/>
                <a:cs typeface="Arial" panose="020B0604020202020204" pitchFamily="34" charset="0"/>
              </a:rPr>
              <a:t>rotateY</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deg</a:t>
            </a:r>
            <a:r>
              <a:rPr lang="en-US" altLang="zh-CN" sz="2000" dirty="0">
                <a:latin typeface="Arial" panose="020B0604020202020204" pitchFamily="34" charset="0"/>
                <a:cs typeface="Arial" panose="020B0604020202020204" pitchFamily="34" charset="0"/>
              </a:rPr>
              <a:t>);</a:t>
            </a:r>
          </a:p>
          <a:p>
            <a:pPr marL="342900" indent="-342900">
              <a:lnSpc>
                <a:spcPct val="150000"/>
              </a:lnSpc>
              <a:buFont typeface="Arial" panose="020B0604020202020204" pitchFamily="34" charset="0"/>
              <a:buChar char="•"/>
            </a:pPr>
            <a:r>
              <a:rPr lang="en-US" altLang="zh-CN" sz="2000" dirty="0">
                <a:latin typeface="Arial" panose="020B0604020202020204" pitchFamily="34" charset="0"/>
                <a:cs typeface="Arial" panose="020B0604020202020204" pitchFamily="34" charset="0"/>
              </a:rPr>
              <a:t>transform: </a:t>
            </a:r>
            <a:r>
              <a:rPr lang="en-US" altLang="zh-CN" sz="2000" dirty="0" err="1">
                <a:latin typeface="Arial" panose="020B0604020202020204" pitchFamily="34" charset="0"/>
                <a:cs typeface="Arial" panose="020B0604020202020204" pitchFamily="34" charset="0"/>
              </a:rPr>
              <a:t>rotateZ</a:t>
            </a:r>
            <a:r>
              <a:rPr lang="en-US" altLang="zh-CN" sz="2000" dirty="0">
                <a:latin typeface="Arial" panose="020B0604020202020204" pitchFamily="34" charset="0"/>
                <a:cs typeface="Arial" panose="020B0604020202020204" pitchFamily="34" charset="0"/>
              </a:rPr>
              <a:t>(</a:t>
            </a:r>
            <a:r>
              <a:rPr lang="en-US" altLang="zh-CN" sz="2000" dirty="0" err="1">
                <a:latin typeface="Arial" panose="020B0604020202020204" pitchFamily="34" charset="0"/>
                <a:cs typeface="Arial" panose="020B0604020202020204" pitchFamily="34" charset="0"/>
              </a:rPr>
              <a:t>deg</a:t>
            </a:r>
            <a:r>
              <a:rPr lang="en-US" altLang="zh-CN" sz="2000" dirty="0">
                <a:latin typeface="Arial" panose="020B0604020202020204" pitchFamily="34" charset="0"/>
                <a:cs typeface="Arial" panose="020B0604020202020204" pitchFamily="34" charset="0"/>
              </a:rPr>
              <a:t>);</a:t>
            </a:r>
          </a:p>
          <a:p>
            <a:pPr>
              <a:lnSpc>
                <a:spcPct val="150000"/>
              </a:lnSpc>
            </a:pPr>
            <a:r>
              <a:rPr lang="zh-CN" altLang="en-US" sz="2000" b="1" dirty="0">
                <a:solidFill>
                  <a:srgbClr val="FF0000"/>
                </a:solidFill>
                <a:latin typeface="Arial" panose="020B0604020202020204" pitchFamily="34" charset="0"/>
                <a:cs typeface="Arial" panose="020B0604020202020204" pitchFamily="34" charset="0"/>
              </a:rPr>
              <a:t>透视</a:t>
            </a:r>
            <a:r>
              <a:rPr lang="zh-CN" altLang="en-US" sz="2000" b="1" dirty="0">
                <a:latin typeface="Arial" panose="020B0604020202020204" pitchFamily="34" charset="0"/>
                <a:cs typeface="Arial" panose="020B0604020202020204" pitchFamily="34" charset="0"/>
              </a:rPr>
              <a:t>：</a:t>
            </a:r>
            <a:r>
              <a:rPr lang="en-US" altLang="zh-CN" sz="2000" b="1" dirty="0">
                <a:latin typeface="Arial" panose="020B0604020202020204" pitchFamily="34" charset="0"/>
                <a:cs typeface="Arial" panose="020B0604020202020204" pitchFamily="34" charset="0"/>
              </a:rPr>
              <a:t>perspective</a:t>
            </a:r>
            <a:r>
              <a:rPr lang="zh-CN" altLang="en-US" sz="2000" b="1" dirty="0">
                <a:latin typeface="Arial" panose="020B0604020202020204" pitchFamily="34" charset="0"/>
                <a:cs typeface="Arial" panose="020B0604020202020204" pitchFamily="34" charset="0"/>
              </a:rPr>
              <a:t>属性</a:t>
            </a:r>
            <a:endParaRPr lang="en-US" altLang="zh-CN" sz="2000" b="1" dirty="0">
              <a:latin typeface="Arial" panose="020B0604020202020204" pitchFamily="34" charset="0"/>
              <a:cs typeface="Arial" panose="020B0604020202020204" pitchFamily="34" charset="0"/>
            </a:endParaRPr>
          </a:p>
        </p:txBody>
      </p:sp>
      <p:sp>
        <p:nvSpPr>
          <p:cNvPr id="3" name="矩形 2"/>
          <p:cNvSpPr/>
          <p:nvPr/>
        </p:nvSpPr>
        <p:spPr>
          <a:xfrm>
            <a:off x="795866" y="1575061"/>
            <a:ext cx="11050693" cy="1143839"/>
          </a:xfrm>
          <a:prstGeom prst="rect">
            <a:avLst/>
          </a:prstGeom>
        </p:spPr>
        <p:txBody>
          <a:bodyPr wrap="square">
            <a:spAutoFit/>
          </a:bodyPr>
          <a:lstStyle/>
          <a:p>
            <a:pPr>
              <a:lnSpc>
                <a:spcPct val="150000"/>
              </a:lnSpc>
            </a:pPr>
            <a:r>
              <a:rPr lang="en-US" altLang="zh-CN" sz="2400" dirty="0" smtClean="0"/>
              <a:t>2D</a:t>
            </a:r>
            <a:r>
              <a:rPr lang="zh-CN" altLang="en-US" sz="2400" dirty="0" smtClean="0"/>
              <a:t>变换能够改变元素在</a:t>
            </a:r>
            <a:r>
              <a:rPr lang="en-US" altLang="zh-CN" sz="2400" dirty="0" smtClean="0"/>
              <a:t>X</a:t>
            </a:r>
            <a:r>
              <a:rPr lang="zh-CN" altLang="en-US" sz="2400" dirty="0" smtClean="0"/>
              <a:t>轴和</a:t>
            </a:r>
            <a:r>
              <a:rPr lang="en-US" altLang="zh-CN" sz="2400" dirty="0" smtClean="0"/>
              <a:t>Y</a:t>
            </a:r>
            <a:r>
              <a:rPr lang="zh-CN" altLang="en-US" sz="2400" dirty="0" smtClean="0"/>
              <a:t>轴方向上的特性，</a:t>
            </a:r>
            <a:r>
              <a:rPr lang="en-US" altLang="zh-CN" sz="2400" dirty="0" smtClean="0"/>
              <a:t>3D</a:t>
            </a:r>
            <a:r>
              <a:rPr lang="zh-CN" altLang="en-US" sz="2400" dirty="0" smtClean="0"/>
              <a:t>变换能改变元素在</a:t>
            </a:r>
            <a:r>
              <a:rPr lang="en-US" altLang="zh-CN" sz="2400" dirty="0" smtClean="0"/>
              <a:t>Z</a:t>
            </a:r>
            <a:r>
              <a:rPr lang="zh-CN" altLang="en-US" sz="2400" dirty="0" smtClean="0"/>
              <a:t>轴方向上的特性，并可以通过视角设置透视关系，使元素具有透视效果。</a:t>
            </a:r>
            <a:endParaRPr lang="zh-CN" altLang="en-US" sz="2400" dirty="0"/>
          </a:p>
        </p:txBody>
      </p:sp>
      <p:pic>
        <p:nvPicPr>
          <p:cNvPr id="1026" name="Picture 2" descr="https://cdn.nlark.com/yuque/0/2023/png/36028566/1684992974338-fd9a1b3c-0ade-4df3-9c71-1363995323a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75" y="2997055"/>
            <a:ext cx="2914650" cy="28289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9691040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 </a:t>
            </a:r>
            <a:r>
              <a:rPr lang="zh-CN" altLang="en-US" dirty="0"/>
              <a:t>变换</a:t>
            </a:r>
          </a:p>
        </p:txBody>
      </p:sp>
      <p:sp>
        <p:nvSpPr>
          <p:cNvPr id="5" name="矩形 4"/>
          <p:cNvSpPr/>
          <p:nvPr/>
        </p:nvSpPr>
        <p:spPr>
          <a:xfrm>
            <a:off x="795867" y="1518067"/>
            <a:ext cx="9848850" cy="507127"/>
          </a:xfrm>
          <a:prstGeom prst="rect">
            <a:avLst/>
          </a:prstGeom>
        </p:spPr>
        <p:txBody>
          <a:bodyPr wrap="square">
            <a:spAutoFit/>
          </a:bodyPr>
          <a:lstStyle/>
          <a:p>
            <a:pPr>
              <a:lnSpc>
                <a:spcPct val="150000"/>
              </a:lnSpc>
            </a:pPr>
            <a:r>
              <a:rPr lang="en-US" altLang="zh-CN" sz="2000" b="1" dirty="0" smtClean="0">
                <a:latin typeface="+mn-ea"/>
              </a:rPr>
              <a:t>3D</a:t>
            </a:r>
            <a:r>
              <a:rPr lang="zh-CN" altLang="en-US" sz="2000" b="1" dirty="0" smtClean="0">
                <a:latin typeface="+mn-ea"/>
              </a:rPr>
              <a:t>变换常用属性</a:t>
            </a:r>
            <a:endParaRPr lang="en-US" altLang="zh-CN" sz="1400" dirty="0" smtClean="0">
              <a:latin typeface="+mn-ea"/>
            </a:endParaRPr>
          </a:p>
        </p:txBody>
      </p:sp>
      <p:graphicFrame>
        <p:nvGraphicFramePr>
          <p:cNvPr id="6" name="表格 5"/>
          <p:cNvGraphicFramePr>
            <a:graphicFrameLocks noGrp="1"/>
          </p:cNvGraphicFramePr>
          <p:nvPr>
            <p:extLst>
              <p:ext uri="{D42A27DB-BD31-4B8C-83A1-F6EECF244321}">
                <p14:modId xmlns:p14="http://schemas.microsoft.com/office/powerpoint/2010/main" val="3169740585"/>
              </p:ext>
            </p:extLst>
          </p:nvPr>
        </p:nvGraphicFramePr>
        <p:xfrm>
          <a:off x="795868" y="2166690"/>
          <a:ext cx="10905066" cy="3840410"/>
        </p:xfrm>
        <a:graphic>
          <a:graphicData uri="http://schemas.openxmlformats.org/drawingml/2006/table">
            <a:tbl>
              <a:tblPr firstRow="1" bandRow="1">
                <a:tableStyleId>{5C22544A-7EE6-4342-B048-85BDC9FD1C3A}</a:tableStyleId>
              </a:tblPr>
              <a:tblGrid>
                <a:gridCol w="2328955">
                  <a:extLst>
                    <a:ext uri="{9D8B030D-6E8A-4147-A177-3AD203B41FA5}">
                      <a16:colId xmlns:a16="http://schemas.microsoft.com/office/drawing/2014/main" val="3509558647"/>
                    </a:ext>
                  </a:extLst>
                </a:gridCol>
                <a:gridCol w="8576111">
                  <a:extLst>
                    <a:ext uri="{9D8B030D-6E8A-4147-A177-3AD203B41FA5}">
                      <a16:colId xmlns:a16="http://schemas.microsoft.com/office/drawing/2014/main" val="2069861997"/>
                    </a:ext>
                  </a:extLst>
                </a:gridCol>
              </a:tblGrid>
              <a:tr h="418880">
                <a:tc>
                  <a:txBody>
                    <a:bodyPr/>
                    <a:lstStyle/>
                    <a:p>
                      <a:r>
                        <a:rPr lang="zh-CN" altLang="en-US" sz="2000" dirty="0" smtClean="0">
                          <a:latin typeface="Arial" panose="020B0604020202020204" pitchFamily="34" charset="0"/>
                          <a:cs typeface="Arial" panose="020B0604020202020204" pitchFamily="34" charset="0"/>
                        </a:rPr>
                        <a:t>属性</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说明</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4157752"/>
                  </a:ext>
                </a:extLst>
              </a:tr>
              <a:tr h="418880">
                <a:tc>
                  <a:txBody>
                    <a:bodyPr/>
                    <a:lstStyle/>
                    <a:p>
                      <a:r>
                        <a:rPr lang="en-US" altLang="zh-CN" sz="2000" dirty="0" smtClean="0">
                          <a:latin typeface="Arial" panose="020B0604020202020204" pitchFamily="34" charset="0"/>
                          <a:cs typeface="Arial" panose="020B0604020202020204" pitchFamily="34" charset="0"/>
                        </a:rPr>
                        <a:t>transform</a:t>
                      </a:r>
                      <a:endParaRPr lang="zh-CN" altLang="en-US" sz="2000" dirty="0">
                        <a:latin typeface="Arial" panose="020B0604020202020204" pitchFamily="34" charset="0"/>
                        <a:cs typeface="Arial" panose="020B0604020202020204" pitchFamily="34" charset="0"/>
                      </a:endParaRPr>
                    </a:p>
                  </a:txBody>
                  <a:tcPr/>
                </a:tc>
                <a:tc>
                  <a:txBody>
                    <a:bodyPr/>
                    <a:lstStyle/>
                    <a:p>
                      <a:r>
                        <a:rPr lang="en-US" altLang="zh-CN" sz="2000" dirty="0" smtClean="0">
                          <a:latin typeface="Arial" panose="020B0604020202020204" pitchFamily="34" charset="0"/>
                          <a:cs typeface="Arial" panose="020B0604020202020204" pitchFamily="34" charset="0"/>
                        </a:rPr>
                        <a:t>2D</a:t>
                      </a:r>
                      <a:r>
                        <a:rPr lang="zh-CN" altLang="en-US" sz="2000" dirty="0" smtClean="0">
                          <a:latin typeface="Arial" panose="020B0604020202020204" pitchFamily="34" charset="0"/>
                          <a:cs typeface="Arial" panose="020B0604020202020204" pitchFamily="34" charset="0"/>
                        </a:rPr>
                        <a:t>或</a:t>
                      </a:r>
                      <a:r>
                        <a:rPr lang="en-US" altLang="zh-CN" sz="2000" dirty="0" smtClean="0">
                          <a:latin typeface="Arial" panose="020B0604020202020204" pitchFamily="34" charset="0"/>
                          <a:cs typeface="Arial" panose="020B0604020202020204" pitchFamily="34" charset="0"/>
                        </a:rPr>
                        <a:t>3D</a:t>
                      </a:r>
                      <a:r>
                        <a:rPr lang="zh-CN" altLang="en-US" sz="2000" dirty="0" smtClean="0">
                          <a:latin typeface="Arial" panose="020B0604020202020204" pitchFamily="34" charset="0"/>
                          <a:cs typeface="Arial" panose="020B0604020202020204" pitchFamily="34" charset="0"/>
                        </a:rPr>
                        <a:t>变换，取值为变换方法</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05801028"/>
                  </a:ext>
                </a:extLst>
              </a:tr>
              <a:tr h="741095">
                <a:tc>
                  <a:txBody>
                    <a:bodyPr/>
                    <a:lstStyle/>
                    <a:p>
                      <a:r>
                        <a:rPr lang="en-US" altLang="zh-CN" sz="2000" dirty="0" smtClean="0">
                          <a:latin typeface="Arial" panose="020B0604020202020204" pitchFamily="34" charset="0"/>
                          <a:cs typeface="Arial" panose="020B0604020202020204" pitchFamily="34" charset="0"/>
                        </a:rPr>
                        <a:t>transform-origin</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变换的起始点，默认为元素中心点，</a:t>
                      </a:r>
                      <a:r>
                        <a:rPr lang="en-US" altLang="zh-CN" sz="2000" dirty="0" smtClean="0">
                          <a:latin typeface="Arial" panose="020B0604020202020204" pitchFamily="34" charset="0"/>
                          <a:cs typeface="Arial" panose="020B0604020202020204" pitchFamily="34" charset="0"/>
                        </a:rPr>
                        <a:t>transform-origin</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anose="020B0604020202020204" pitchFamily="34" charset="0"/>
                          <a:cs typeface="Arial" panose="020B0604020202020204" pitchFamily="34" charset="0"/>
                        </a:rPr>
                        <a:t>x</a:t>
                      </a:r>
                      <a:r>
                        <a:rPr lang="zh-CN" altLang="en-US" sz="2000" dirty="0" smtClean="0">
                          <a:latin typeface="Arial" panose="020B0604020202020204" pitchFamily="34" charset="0"/>
                          <a:cs typeface="Arial" panose="020B0604020202020204" pitchFamily="34" charset="0"/>
                        </a:rPr>
                        <a:t>和</a:t>
                      </a:r>
                      <a:r>
                        <a:rPr lang="en-US" altLang="zh-CN" sz="2000" dirty="0" smtClean="0">
                          <a:latin typeface="Arial" panose="020B0604020202020204" pitchFamily="34" charset="0"/>
                          <a:cs typeface="Arial" panose="020B0604020202020204" pitchFamily="34" charset="0"/>
                        </a:rPr>
                        <a:t>y</a:t>
                      </a:r>
                      <a:r>
                        <a:rPr lang="zh-CN" altLang="en-US" sz="2000" dirty="0" smtClean="0">
                          <a:latin typeface="Arial" panose="020B0604020202020204" pitchFamily="34" charset="0"/>
                          <a:cs typeface="Arial" panose="020B0604020202020204" pitchFamily="34" charset="0"/>
                        </a:rPr>
                        <a:t>可以取值</a:t>
                      </a:r>
                      <a:r>
                        <a:rPr lang="en-US" altLang="zh-CN" sz="2000" dirty="0" err="1" smtClean="0">
                          <a:latin typeface="Arial" panose="020B0604020202020204" pitchFamily="34" charset="0"/>
                          <a:cs typeface="Arial" panose="020B0604020202020204" pitchFamily="34" charset="0"/>
                        </a:rPr>
                        <a:t>px</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a:t>
                      </a:r>
                      <a:r>
                        <a:rPr lang="zh-CN" altLang="en-US" sz="2000" dirty="0" smtClean="0">
                          <a:latin typeface="Arial" panose="020B0604020202020204" pitchFamily="34" charset="0"/>
                          <a:cs typeface="Arial" panose="020B0604020202020204" pitchFamily="34" charset="0"/>
                        </a:rPr>
                        <a:t>，方位名词（</a:t>
                      </a:r>
                      <a:r>
                        <a:rPr lang="en-US" altLang="zh-CN" sz="2000" dirty="0" smtClean="0">
                          <a:latin typeface="Arial" panose="020B0604020202020204" pitchFamily="34" charset="0"/>
                          <a:cs typeface="Arial" panose="020B0604020202020204" pitchFamily="34" charset="0"/>
                        </a:rPr>
                        <a:t>left</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right</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top</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bottom</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center</a:t>
                      </a:r>
                      <a:r>
                        <a:rPr lang="zh-CN" altLang="en-US" sz="2000" dirty="0" smtClean="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938989777"/>
                  </a:ext>
                </a:extLst>
              </a:tr>
              <a:tr h="418880">
                <a:tc>
                  <a:txBody>
                    <a:bodyPr/>
                    <a:lstStyle/>
                    <a:p>
                      <a:r>
                        <a:rPr lang="en-US" altLang="zh-CN" sz="2000" dirty="0" smtClean="0">
                          <a:latin typeface="Arial" panose="020B0604020202020204" pitchFamily="34" charset="0"/>
                          <a:cs typeface="Arial" panose="020B0604020202020204" pitchFamily="34" charset="0"/>
                        </a:rPr>
                        <a:t>transform-style</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取值为</a:t>
                      </a:r>
                      <a:r>
                        <a:rPr lang="en-US" altLang="zh-CN" sz="2000" dirty="0" smtClean="0">
                          <a:latin typeface="Arial" panose="020B0604020202020204" pitchFamily="34" charset="0"/>
                          <a:cs typeface="Arial" panose="020B0604020202020204" pitchFamily="34" charset="0"/>
                        </a:rPr>
                        <a:t>preserve-3d</a:t>
                      </a:r>
                      <a:r>
                        <a:rPr lang="zh-CN" altLang="en-US" sz="2000" dirty="0" smtClean="0">
                          <a:latin typeface="Arial" panose="020B0604020202020204" pitchFamily="34" charset="0"/>
                          <a:cs typeface="Arial" panose="020B0604020202020204" pitchFamily="34" charset="0"/>
                        </a:rPr>
                        <a:t>时，则可以产生</a:t>
                      </a:r>
                      <a:r>
                        <a:rPr lang="en-US" altLang="zh-CN" sz="2000" dirty="0" smtClean="0">
                          <a:latin typeface="Arial" panose="020B0604020202020204" pitchFamily="34" charset="0"/>
                          <a:cs typeface="Arial" panose="020B0604020202020204" pitchFamily="34" charset="0"/>
                        </a:rPr>
                        <a:t>3D</a:t>
                      </a:r>
                      <a:r>
                        <a:rPr lang="zh-CN" altLang="en-US" sz="2000" dirty="0" smtClean="0">
                          <a:latin typeface="Arial" panose="020B0604020202020204" pitchFamily="34" charset="0"/>
                          <a:cs typeface="Arial" panose="020B0604020202020204" pitchFamily="34" charset="0"/>
                        </a:rPr>
                        <a:t>变换效果</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37527367"/>
                  </a:ext>
                </a:extLst>
              </a:tr>
              <a:tr h="741095">
                <a:tc>
                  <a:txBody>
                    <a:bodyPr/>
                    <a:lstStyle/>
                    <a:p>
                      <a:r>
                        <a:rPr lang="en-US" altLang="zh-CN" sz="2000" dirty="0" smtClean="0">
                          <a:latin typeface="Arial" panose="020B0604020202020204" pitchFamily="34" charset="0"/>
                          <a:cs typeface="Arial" panose="020B0604020202020204" pitchFamily="34" charset="0"/>
                        </a:rPr>
                        <a:t>perspective</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眼睛和舞台间的距离，像素为单位</a:t>
                      </a:r>
                      <a:endParaRPr lang="en-US" altLang="zh-CN" sz="2000" dirty="0" smtClean="0">
                        <a:latin typeface="Arial" panose="020B0604020202020204" pitchFamily="34" charset="0"/>
                        <a:cs typeface="Arial" panose="020B0604020202020204" pitchFamily="34" charset="0"/>
                      </a:endParaRPr>
                    </a:p>
                    <a:p>
                      <a:r>
                        <a:rPr lang="zh-CN" altLang="en-US" sz="2000" dirty="0" smtClean="0">
                          <a:latin typeface="Arial" panose="020B0604020202020204" pitchFamily="34" charset="0"/>
                          <a:cs typeface="Arial" panose="020B0604020202020204" pitchFamily="34" charset="0"/>
                        </a:rPr>
                        <a:t>值越小，透视效果越明显</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48018628"/>
                  </a:ext>
                </a:extLst>
              </a:tr>
              <a:tr h="418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smtClean="0">
                          <a:latin typeface="Arial" panose="020B0604020202020204" pitchFamily="34" charset="0"/>
                          <a:cs typeface="Arial" panose="020B0604020202020204" pitchFamily="34" charset="0"/>
                        </a:rPr>
                        <a:t>perspective-origin</a:t>
                      </a:r>
                      <a:endParaRPr lang="zh-CN" altLang="en-US" sz="2000" dirty="0" smtClean="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视线关注的原点，默认为元素中心点</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81115354"/>
                  </a:ext>
                </a:extLst>
              </a:tr>
              <a:tr h="682700">
                <a:tc>
                  <a:txBody>
                    <a:bodyPr/>
                    <a:lstStyle/>
                    <a:p>
                      <a:r>
                        <a:rPr lang="en-US" altLang="zh-CN" sz="2000" dirty="0" err="1" smtClean="0">
                          <a:latin typeface="Arial" panose="020B0604020202020204" pitchFamily="34" charset="0"/>
                          <a:cs typeface="Arial" panose="020B0604020202020204" pitchFamily="34" charset="0"/>
                        </a:rPr>
                        <a:t>backface</a:t>
                      </a:r>
                      <a:r>
                        <a:rPr lang="en-US" altLang="zh-CN" sz="2000" dirty="0" smtClean="0">
                          <a:latin typeface="Arial" panose="020B0604020202020204" pitchFamily="34" charset="0"/>
                          <a:cs typeface="Arial" panose="020B0604020202020204" pitchFamily="34" charset="0"/>
                        </a:rPr>
                        <a:t>-visibility</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元素背对屏幕时是否可见，取值为</a:t>
                      </a:r>
                      <a:r>
                        <a:rPr lang="en-US" altLang="zh-CN" sz="2000" dirty="0" smtClean="0">
                          <a:latin typeface="Arial" panose="020B0604020202020204" pitchFamily="34" charset="0"/>
                          <a:cs typeface="Arial" panose="020B0604020202020204" pitchFamily="34" charset="0"/>
                        </a:rPr>
                        <a:t>hidden</a:t>
                      </a:r>
                      <a:r>
                        <a:rPr lang="zh-CN" altLang="en-US" sz="2000" dirty="0" smtClean="0">
                          <a:latin typeface="Arial" panose="020B0604020202020204" pitchFamily="34" charset="0"/>
                          <a:cs typeface="Arial" panose="020B0604020202020204" pitchFamily="34" charset="0"/>
                        </a:rPr>
                        <a:t>表示隐藏</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23454237"/>
                  </a:ext>
                </a:extLst>
              </a:tr>
            </a:tbl>
          </a:graphicData>
        </a:graphic>
      </p:graphicFrame>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873707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29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 </a:t>
            </a:r>
            <a:r>
              <a:rPr lang="zh-CN" altLang="en-US" dirty="0"/>
              <a:t>变换</a:t>
            </a:r>
          </a:p>
        </p:txBody>
      </p:sp>
      <p:sp>
        <p:nvSpPr>
          <p:cNvPr id="5" name="矩形 4"/>
          <p:cNvSpPr/>
          <p:nvPr/>
        </p:nvSpPr>
        <p:spPr>
          <a:xfrm>
            <a:off x="932993" y="1625097"/>
            <a:ext cx="9848850" cy="465640"/>
          </a:xfrm>
          <a:prstGeom prst="rect">
            <a:avLst/>
          </a:prstGeom>
        </p:spPr>
        <p:txBody>
          <a:bodyPr wrap="square">
            <a:spAutoFit/>
          </a:bodyPr>
          <a:lstStyle/>
          <a:p>
            <a:pPr>
              <a:lnSpc>
                <a:spcPct val="150000"/>
              </a:lnSpc>
            </a:pPr>
            <a:r>
              <a:rPr lang="zh-CN" altLang="en-US" b="1" dirty="0" smtClean="0">
                <a:latin typeface="+mn-ea"/>
              </a:rPr>
              <a:t>其中</a:t>
            </a:r>
            <a:r>
              <a:rPr lang="en-US" altLang="zh-CN" b="1" dirty="0" smtClean="0">
                <a:latin typeface="+mn-ea"/>
              </a:rPr>
              <a:t>transform</a:t>
            </a:r>
            <a:r>
              <a:rPr lang="zh-CN" altLang="en-US" b="1" dirty="0" smtClean="0">
                <a:latin typeface="+mn-ea"/>
              </a:rPr>
              <a:t>属性常用方法</a:t>
            </a:r>
            <a:endParaRPr lang="en-US" altLang="zh-CN" sz="1200" dirty="0" smtClean="0">
              <a:latin typeface="+mn-ea"/>
            </a:endParaRPr>
          </a:p>
        </p:txBody>
      </p:sp>
      <p:graphicFrame>
        <p:nvGraphicFramePr>
          <p:cNvPr id="6" name="表格 5"/>
          <p:cNvGraphicFramePr>
            <a:graphicFrameLocks noGrp="1"/>
          </p:cNvGraphicFramePr>
          <p:nvPr>
            <p:extLst>
              <p:ext uri="{D42A27DB-BD31-4B8C-83A1-F6EECF244321}">
                <p14:modId xmlns:p14="http://schemas.microsoft.com/office/powerpoint/2010/main" val="811077057"/>
              </p:ext>
            </p:extLst>
          </p:nvPr>
        </p:nvGraphicFramePr>
        <p:xfrm>
          <a:off x="1014061" y="2305050"/>
          <a:ext cx="8139463" cy="1981200"/>
        </p:xfrm>
        <a:graphic>
          <a:graphicData uri="http://schemas.openxmlformats.org/drawingml/2006/table">
            <a:tbl>
              <a:tblPr firstRow="1" bandRow="1">
                <a:tableStyleId>{5C22544A-7EE6-4342-B048-85BDC9FD1C3A}</a:tableStyleId>
              </a:tblPr>
              <a:tblGrid>
                <a:gridCol w="2786974">
                  <a:extLst>
                    <a:ext uri="{9D8B030D-6E8A-4147-A177-3AD203B41FA5}">
                      <a16:colId xmlns:a16="http://schemas.microsoft.com/office/drawing/2014/main" val="3509558647"/>
                    </a:ext>
                  </a:extLst>
                </a:gridCol>
                <a:gridCol w="2488918">
                  <a:extLst>
                    <a:ext uri="{9D8B030D-6E8A-4147-A177-3AD203B41FA5}">
                      <a16:colId xmlns:a16="http://schemas.microsoft.com/office/drawing/2014/main" val="2069861997"/>
                    </a:ext>
                  </a:extLst>
                </a:gridCol>
                <a:gridCol w="2863571">
                  <a:extLst>
                    <a:ext uri="{9D8B030D-6E8A-4147-A177-3AD203B41FA5}">
                      <a16:colId xmlns:a16="http://schemas.microsoft.com/office/drawing/2014/main" val="140115016"/>
                    </a:ext>
                  </a:extLst>
                </a:gridCol>
              </a:tblGrid>
              <a:tr h="296063">
                <a:tc>
                  <a:txBody>
                    <a:bodyPr/>
                    <a:lstStyle/>
                    <a:p>
                      <a:r>
                        <a:rPr lang="zh-CN" altLang="en-US" sz="2000" dirty="0" smtClean="0">
                          <a:latin typeface="Arial" panose="020B0604020202020204" pitchFamily="34" charset="0"/>
                          <a:cs typeface="Arial" panose="020B0604020202020204" pitchFamily="34" charset="0"/>
                        </a:rPr>
                        <a:t>旋转</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移动</a:t>
                      </a:r>
                      <a:endParaRPr lang="zh-CN" altLang="en-US" sz="2000" dirty="0">
                        <a:latin typeface="Arial" panose="020B0604020202020204" pitchFamily="34" charset="0"/>
                        <a:cs typeface="Arial" panose="020B0604020202020204" pitchFamily="34" charset="0"/>
                      </a:endParaRPr>
                    </a:p>
                  </a:txBody>
                  <a:tcPr/>
                </a:tc>
                <a:tc>
                  <a:txBody>
                    <a:bodyPr/>
                    <a:lstStyle/>
                    <a:p>
                      <a:r>
                        <a:rPr lang="zh-CN" altLang="en-US" sz="2000" dirty="0" smtClean="0">
                          <a:latin typeface="Arial" panose="020B0604020202020204" pitchFamily="34" charset="0"/>
                          <a:cs typeface="Arial" panose="020B0604020202020204" pitchFamily="34" charset="0"/>
                        </a:rPr>
                        <a:t>缩放</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4157752"/>
                  </a:ext>
                </a:extLst>
              </a:tr>
              <a:tr h="370840">
                <a:tc>
                  <a:txBody>
                    <a:bodyPr/>
                    <a:lstStyle/>
                    <a:p>
                      <a:r>
                        <a:rPr lang="en-US" altLang="zh-CN" sz="2000" dirty="0" smtClean="0">
                          <a:latin typeface="Arial" panose="020B0604020202020204" pitchFamily="34" charset="0"/>
                          <a:cs typeface="Arial" panose="020B0604020202020204" pitchFamily="34" charset="0"/>
                        </a:rPr>
                        <a:t>rotate3d(</a:t>
                      </a:r>
                      <a:r>
                        <a:rPr lang="en-US" altLang="zh-CN" sz="2000" dirty="0" err="1" smtClean="0">
                          <a:latin typeface="Arial" panose="020B0604020202020204" pitchFamily="34" charset="0"/>
                          <a:cs typeface="Arial" panose="020B0604020202020204" pitchFamily="34" charset="0"/>
                        </a:rPr>
                        <a:t>x,y,z,angle</a:t>
                      </a:r>
                      <a:r>
                        <a:rPr lang="en-US" altLang="zh-CN" sz="2000" dirty="0" smtClean="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a:txBody>
                  <a:tcPr/>
                </a:tc>
                <a:tc>
                  <a:txBody>
                    <a:bodyPr/>
                    <a:lstStyle/>
                    <a:p>
                      <a:r>
                        <a:rPr lang="en-US" altLang="zh-CN" sz="2000" dirty="0" smtClean="0">
                          <a:latin typeface="Arial" panose="020B0604020202020204" pitchFamily="34" charset="0"/>
                          <a:cs typeface="Arial" panose="020B0604020202020204" pitchFamily="34" charset="0"/>
                        </a:rPr>
                        <a:t>translate3d(</a:t>
                      </a:r>
                      <a:r>
                        <a:rPr lang="en-US" altLang="zh-CN" sz="2000" dirty="0" err="1" smtClean="0">
                          <a:latin typeface="Arial" panose="020B0604020202020204" pitchFamily="34" charset="0"/>
                          <a:cs typeface="Arial" panose="020B0604020202020204" pitchFamily="34" charset="0"/>
                        </a:rPr>
                        <a:t>x,y,z</a:t>
                      </a:r>
                      <a:r>
                        <a:rPr lang="en-US" altLang="zh-CN" sz="2000" dirty="0" smtClean="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a:txBody>
                  <a:tcPr/>
                </a:tc>
                <a:tc>
                  <a:txBody>
                    <a:bodyPr/>
                    <a:lstStyle/>
                    <a:p>
                      <a:r>
                        <a:rPr lang="en-US" altLang="zh-CN" sz="2000" dirty="0" smtClean="0">
                          <a:latin typeface="Arial" panose="020B0604020202020204" pitchFamily="34" charset="0"/>
                          <a:cs typeface="Arial" panose="020B0604020202020204" pitchFamily="34" charset="0"/>
                        </a:rPr>
                        <a:t>scale3d(</a:t>
                      </a:r>
                      <a:r>
                        <a:rPr lang="en-US" altLang="zh-CN" sz="2000" dirty="0" err="1" smtClean="0">
                          <a:latin typeface="Arial" panose="020B0604020202020204" pitchFamily="34" charset="0"/>
                          <a:cs typeface="Arial" panose="020B0604020202020204" pitchFamily="34" charset="0"/>
                        </a:rPr>
                        <a:t>x,y,z</a:t>
                      </a:r>
                      <a:r>
                        <a:rPr lang="en-US" altLang="zh-CN" sz="2000" dirty="0" smtClean="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705801028"/>
                  </a:ext>
                </a:extLst>
              </a:tr>
              <a:tr h="370840">
                <a:tc>
                  <a:txBody>
                    <a:bodyPr/>
                    <a:lstStyle/>
                    <a:p>
                      <a:r>
                        <a:rPr lang="en-US" altLang="zh-CN" sz="2000" dirty="0" err="1" smtClean="0">
                          <a:latin typeface="Arial" panose="020B0604020202020204" pitchFamily="34" charset="0"/>
                          <a:cs typeface="Arial" panose="020B0604020202020204" pitchFamily="34" charset="0"/>
                        </a:rPr>
                        <a:t>rotateX</a:t>
                      </a:r>
                      <a:r>
                        <a:rPr lang="en-US" altLang="zh-CN" sz="2000" dirty="0" smtClean="0">
                          <a:latin typeface="Arial" panose="020B0604020202020204" pitchFamily="34" charset="0"/>
                          <a:cs typeface="Arial" panose="020B0604020202020204" pitchFamily="34" charset="0"/>
                        </a:rPr>
                        <a:t>(angle)</a:t>
                      </a:r>
                      <a:endParaRPr lang="zh-CN" altLang="en-US" sz="2000" dirty="0">
                        <a:latin typeface="Arial" panose="020B0604020202020204" pitchFamily="34" charset="0"/>
                        <a:cs typeface="Arial" panose="020B0604020202020204" pitchFamily="34" charset="0"/>
                      </a:endParaRPr>
                    </a:p>
                  </a:txBody>
                  <a:tcPr/>
                </a:tc>
                <a:tc>
                  <a:txBody>
                    <a:bodyPr/>
                    <a:lstStyle/>
                    <a:p>
                      <a:r>
                        <a:rPr lang="en-US" altLang="zh-CN" sz="2000" dirty="0" err="1" smtClean="0">
                          <a:latin typeface="Arial" panose="020B0604020202020204" pitchFamily="34" charset="0"/>
                          <a:cs typeface="Arial" panose="020B0604020202020204" pitchFamily="34" charset="0"/>
                        </a:rPr>
                        <a:t>translateX</a:t>
                      </a:r>
                      <a:r>
                        <a:rPr lang="en-US" altLang="zh-CN" sz="2000" dirty="0" smtClean="0">
                          <a:latin typeface="Arial" panose="020B0604020202020204" pitchFamily="34" charset="0"/>
                          <a:cs typeface="Arial" panose="020B0604020202020204" pitchFamily="34" charset="0"/>
                        </a:rPr>
                        <a:t>(x)</a:t>
                      </a:r>
                      <a:endParaRPr lang="zh-CN" altLang="en-US" sz="2000" dirty="0" smtClean="0">
                        <a:latin typeface="Arial" panose="020B0604020202020204" pitchFamily="34" charset="0"/>
                        <a:cs typeface="Arial" panose="020B0604020202020204" pitchFamily="34" charset="0"/>
                      </a:endParaRPr>
                    </a:p>
                  </a:txBody>
                  <a:tcPr/>
                </a:tc>
                <a:tc>
                  <a:txBody>
                    <a:bodyPr/>
                    <a:lstStyle/>
                    <a:p>
                      <a:r>
                        <a:rPr lang="en-US" altLang="zh-CN" sz="2000" dirty="0" err="1" smtClean="0">
                          <a:latin typeface="Arial" panose="020B0604020202020204" pitchFamily="34" charset="0"/>
                          <a:cs typeface="Arial" panose="020B0604020202020204" pitchFamily="34" charset="0"/>
                        </a:rPr>
                        <a:t>scaleX</a:t>
                      </a:r>
                      <a:r>
                        <a:rPr lang="en-US" altLang="zh-CN" sz="2000" dirty="0" smtClean="0">
                          <a:latin typeface="Arial" panose="020B0604020202020204" pitchFamily="34" charset="0"/>
                          <a:cs typeface="Arial" panose="020B0604020202020204" pitchFamily="34" charset="0"/>
                        </a:rPr>
                        <a:t>(x)</a:t>
                      </a:r>
                      <a:endParaRPr lang="zh-CN" altLang="en-US" sz="2000" dirty="0" smtClean="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3898977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rotateY</a:t>
                      </a:r>
                      <a:r>
                        <a:rPr lang="en-US" altLang="zh-CN" sz="2000" dirty="0" smtClean="0">
                          <a:latin typeface="Arial" panose="020B0604020202020204" pitchFamily="34" charset="0"/>
                          <a:cs typeface="Arial" panose="020B0604020202020204" pitchFamily="34" charset="0"/>
                        </a:rPr>
                        <a:t>(angle)</a:t>
                      </a:r>
                      <a:endParaRPr lang="zh-CN" alt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translateY</a:t>
                      </a:r>
                      <a:r>
                        <a:rPr lang="en-US" altLang="zh-CN" sz="2000" dirty="0" smtClean="0">
                          <a:latin typeface="Arial" panose="020B0604020202020204" pitchFamily="34" charset="0"/>
                          <a:cs typeface="Arial" panose="020B0604020202020204" pitchFamily="34" charset="0"/>
                        </a:rPr>
                        <a:t>(y)</a:t>
                      </a:r>
                      <a:endParaRPr lang="zh-CN" alt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scaleY</a:t>
                      </a:r>
                      <a:r>
                        <a:rPr lang="en-US" altLang="zh-CN" sz="2000" dirty="0" smtClean="0">
                          <a:latin typeface="Arial" panose="020B0604020202020204" pitchFamily="34" charset="0"/>
                          <a:cs typeface="Arial" panose="020B0604020202020204" pitchFamily="34" charset="0"/>
                        </a:rPr>
                        <a:t>(y)</a:t>
                      </a:r>
                      <a:endParaRPr lang="zh-CN" altLang="en-US" sz="2000" dirty="0" smtClean="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375273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rotateZ</a:t>
                      </a:r>
                      <a:r>
                        <a:rPr lang="en-US" altLang="zh-CN" sz="2000" dirty="0" smtClean="0">
                          <a:latin typeface="Arial" panose="020B0604020202020204" pitchFamily="34" charset="0"/>
                          <a:cs typeface="Arial" panose="020B0604020202020204" pitchFamily="34" charset="0"/>
                        </a:rPr>
                        <a:t>(angle)</a:t>
                      </a:r>
                      <a:endParaRPr lang="zh-CN" alt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translateZ</a:t>
                      </a:r>
                      <a:r>
                        <a:rPr lang="en-US" altLang="zh-CN" sz="2000" dirty="0" smtClean="0">
                          <a:latin typeface="Arial" panose="020B0604020202020204" pitchFamily="34" charset="0"/>
                          <a:cs typeface="Arial" panose="020B0604020202020204" pitchFamily="34" charset="0"/>
                        </a:rPr>
                        <a:t>(z)</a:t>
                      </a:r>
                      <a:endParaRPr lang="zh-CN" alt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err="1" smtClean="0">
                          <a:latin typeface="Arial" panose="020B0604020202020204" pitchFamily="34" charset="0"/>
                          <a:cs typeface="Arial" panose="020B0604020202020204" pitchFamily="34" charset="0"/>
                        </a:rPr>
                        <a:t>scaleZ</a:t>
                      </a:r>
                      <a:r>
                        <a:rPr lang="en-US" altLang="zh-CN" sz="2000" dirty="0" smtClean="0">
                          <a:latin typeface="Arial" panose="020B0604020202020204" pitchFamily="34" charset="0"/>
                          <a:cs typeface="Arial" panose="020B0604020202020204" pitchFamily="34" charset="0"/>
                        </a:rPr>
                        <a:t>(z)</a:t>
                      </a:r>
                      <a:endParaRPr lang="zh-CN" altLang="en-US" sz="2000" dirty="0" smtClean="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48018628"/>
                  </a:ext>
                </a:extLst>
              </a:tr>
            </a:tbl>
          </a:graphicData>
        </a:graphic>
      </p:graphicFrame>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648177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 </a:t>
            </a:r>
            <a:r>
              <a:rPr lang="zh-CN" altLang="en-US" dirty="0"/>
              <a:t>变换</a:t>
            </a:r>
          </a:p>
        </p:txBody>
      </p:sp>
      <p:sp>
        <p:nvSpPr>
          <p:cNvPr id="5" name="矩形 4"/>
          <p:cNvSpPr/>
          <p:nvPr/>
        </p:nvSpPr>
        <p:spPr>
          <a:xfrm>
            <a:off x="932993" y="1625097"/>
            <a:ext cx="9848850" cy="587405"/>
          </a:xfrm>
          <a:prstGeom prst="rect">
            <a:avLst/>
          </a:prstGeom>
        </p:spPr>
        <p:txBody>
          <a:bodyPr wrap="square">
            <a:spAutoFit/>
          </a:bodyPr>
          <a:lstStyle/>
          <a:p>
            <a:pPr>
              <a:lnSpc>
                <a:spcPct val="150000"/>
              </a:lnSpc>
            </a:pP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1</a:t>
            </a: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3D</a:t>
            </a:r>
            <a:r>
              <a:rPr lang="zh-CN" altLang="en-US" sz="2400" b="1" dirty="0">
                <a:latin typeface="Arial" panose="020B0604020202020204" pitchFamily="34" charset="0"/>
                <a:cs typeface="Arial" panose="020B0604020202020204" pitchFamily="34" charset="0"/>
              </a:rPr>
              <a:t>呈现 </a:t>
            </a:r>
            <a:r>
              <a:rPr lang="en-US" altLang="zh-CN" sz="2400" b="1" dirty="0" smtClean="0">
                <a:latin typeface="Arial" panose="020B0604020202020204" pitchFamily="34" charset="0"/>
                <a:cs typeface="Arial" panose="020B0604020202020204" pitchFamily="34" charset="0"/>
              </a:rPr>
              <a:t>transform-style</a:t>
            </a:r>
            <a:endParaRPr lang="en-US" altLang="zh-CN" sz="1600" dirty="0" smtClean="0">
              <a:latin typeface="Arial" panose="020B0604020202020204" pitchFamily="34" charset="0"/>
              <a:cs typeface="Arial" panose="020B0604020202020204" pitchFamily="34" charset="0"/>
            </a:endParaRPr>
          </a:p>
        </p:txBody>
      </p:sp>
      <p:sp>
        <p:nvSpPr>
          <p:cNvPr id="3" name="矩形 2"/>
          <p:cNvSpPr/>
          <p:nvPr/>
        </p:nvSpPr>
        <p:spPr>
          <a:xfrm>
            <a:off x="951795" y="2207341"/>
            <a:ext cx="10981233" cy="3323987"/>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000" dirty="0" smtClean="0">
                <a:latin typeface="Arial" panose="020B0604020202020204" pitchFamily="34" charset="0"/>
                <a:cs typeface="Arial" panose="020B0604020202020204" pitchFamily="34" charset="0"/>
              </a:rPr>
              <a:t>控制</a:t>
            </a:r>
            <a:r>
              <a:rPr lang="zh-CN" altLang="en-US" sz="2000" dirty="0">
                <a:latin typeface="Arial" panose="020B0604020202020204" pitchFamily="34" charset="0"/>
                <a:cs typeface="Arial" panose="020B0604020202020204" pitchFamily="34" charset="0"/>
              </a:rPr>
              <a:t>子元素是否开启三维立体</a:t>
            </a:r>
            <a:r>
              <a:rPr lang="zh-CN" altLang="en-US" sz="2000" dirty="0" smtClean="0">
                <a:latin typeface="Arial" panose="020B0604020202020204" pitchFamily="34" charset="0"/>
                <a:cs typeface="Arial" panose="020B0604020202020204" pitchFamily="34" charset="0"/>
              </a:rPr>
              <a:t>环境。</a:t>
            </a:r>
            <a:endParaRPr lang="zh-CN" alt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smtClean="0">
                <a:latin typeface="Arial" panose="020B0604020202020204" pitchFamily="34" charset="0"/>
                <a:cs typeface="Arial" panose="020B0604020202020204" pitchFamily="34" charset="0"/>
              </a:rPr>
              <a:t>transform-style</a:t>
            </a:r>
            <a:r>
              <a:rPr lang="en-US" altLang="zh-CN" sz="2000" dirty="0">
                <a:latin typeface="Arial" panose="020B0604020202020204" pitchFamily="34" charset="0"/>
                <a:cs typeface="Arial" panose="020B0604020202020204" pitchFamily="34" charset="0"/>
              </a:rPr>
              <a:t>: </a:t>
            </a:r>
            <a:r>
              <a:rPr lang="en-US" altLang="zh-CN" sz="2000" dirty="0" smtClean="0">
                <a:latin typeface="Arial" panose="020B0604020202020204" pitchFamily="34" charset="0"/>
                <a:cs typeface="Arial" panose="020B0604020202020204" pitchFamily="34" charset="0"/>
              </a:rPr>
              <a:t>flat; </a:t>
            </a:r>
            <a:r>
              <a:rPr lang="zh-CN" altLang="en-US" sz="2000" dirty="0">
                <a:latin typeface="Arial" panose="020B0604020202020204" pitchFamily="34" charset="0"/>
                <a:cs typeface="Arial" panose="020B0604020202020204" pitchFamily="34" charset="0"/>
              </a:rPr>
              <a:t>子元素不开启</a:t>
            </a:r>
            <a:r>
              <a:rPr lang="en-US" altLang="zh-CN" sz="2000" dirty="0">
                <a:latin typeface="Arial" panose="020B0604020202020204" pitchFamily="34" charset="0"/>
                <a:cs typeface="Arial" panose="020B0604020202020204" pitchFamily="34" charset="0"/>
              </a:rPr>
              <a:t>3d</a:t>
            </a:r>
            <a:r>
              <a:rPr lang="zh-CN" altLang="en-US" sz="2000" dirty="0">
                <a:latin typeface="Arial" panose="020B0604020202020204" pitchFamily="34" charset="0"/>
                <a:cs typeface="Arial" panose="020B0604020202020204" pitchFamily="34" charset="0"/>
              </a:rPr>
              <a:t>立体</a:t>
            </a:r>
            <a:r>
              <a:rPr lang="zh-CN" altLang="en-US" sz="2000" dirty="0" smtClean="0">
                <a:latin typeface="Arial" panose="020B0604020202020204" pitchFamily="34" charset="0"/>
                <a:cs typeface="Arial" panose="020B0604020202020204" pitchFamily="34" charset="0"/>
              </a:rPr>
              <a:t>空间</a:t>
            </a:r>
            <a:r>
              <a:rPr lang="zh-CN" altLang="en-US" sz="2000" dirty="0">
                <a:latin typeface="Arial" panose="020B0604020202020204" pitchFamily="34" charset="0"/>
                <a:cs typeface="Arial" panose="020B0604020202020204" pitchFamily="34" charset="0"/>
              </a:rPr>
              <a:t>，</a:t>
            </a:r>
            <a:r>
              <a:rPr lang="zh-CN" altLang="en-US" sz="2000" dirty="0" smtClean="0">
                <a:latin typeface="Arial" panose="020B0604020202020204" pitchFamily="34" charset="0"/>
                <a:cs typeface="Arial" panose="020B0604020202020204" pitchFamily="34" charset="0"/>
              </a:rPr>
              <a:t>默认的取值。</a:t>
            </a:r>
            <a:endParaRPr lang="zh-CN" altLang="en-US"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smtClean="0">
                <a:latin typeface="Arial" panose="020B0604020202020204" pitchFamily="34" charset="0"/>
                <a:cs typeface="Arial" panose="020B0604020202020204" pitchFamily="34" charset="0"/>
              </a:rPr>
              <a:t>transform-style</a:t>
            </a:r>
            <a:r>
              <a:rPr lang="en-US" altLang="zh-CN" sz="2000" dirty="0">
                <a:latin typeface="Arial" panose="020B0604020202020204" pitchFamily="34" charset="0"/>
                <a:cs typeface="Arial" panose="020B0604020202020204" pitchFamily="34" charset="0"/>
              </a:rPr>
              <a:t>: preserve-3d; </a:t>
            </a:r>
            <a:r>
              <a:rPr lang="zh-CN" altLang="en-US" sz="2000" dirty="0">
                <a:latin typeface="Arial" panose="020B0604020202020204" pitchFamily="34" charset="0"/>
                <a:cs typeface="Arial" panose="020B0604020202020204" pitchFamily="34" charset="0"/>
              </a:rPr>
              <a:t>子元素开启立体</a:t>
            </a:r>
            <a:r>
              <a:rPr lang="zh-CN" altLang="en-US" sz="2000" dirty="0" smtClean="0">
                <a:latin typeface="Arial" panose="020B0604020202020204" pitchFamily="34" charset="0"/>
                <a:cs typeface="Arial" panose="020B0604020202020204" pitchFamily="34" charset="0"/>
              </a:rPr>
              <a:t>空间。</a:t>
            </a:r>
            <a:endParaRPr lang="zh-CN" altLang="en-US" sz="2000" dirty="0">
              <a:latin typeface="Arial" panose="020B0604020202020204" pitchFamily="34" charset="0"/>
              <a:cs typeface="Arial" panose="020B0604020202020204" pitchFamily="34" charset="0"/>
            </a:endParaRPr>
          </a:p>
          <a:p>
            <a:pPr>
              <a:lnSpc>
                <a:spcPct val="200000"/>
              </a:lnSpc>
            </a:pPr>
            <a:r>
              <a:rPr lang="en-US" altLang="zh-CN" sz="2000" dirty="0" smtClean="0">
                <a:latin typeface="Arial" panose="020B0604020202020204" pitchFamily="34" charset="0"/>
                <a:cs typeface="Arial" panose="020B0604020202020204" pitchFamily="34" charset="0"/>
              </a:rPr>
              <a:t>transform-style</a:t>
            </a:r>
            <a:r>
              <a:rPr lang="en-US" altLang="zh-CN" sz="2000" dirty="0">
                <a:latin typeface="Arial" panose="020B0604020202020204" pitchFamily="34" charset="0"/>
                <a:cs typeface="Arial" panose="020B0604020202020204" pitchFamily="34" charset="0"/>
              </a:rPr>
              <a:t>: preserve-3d</a:t>
            </a:r>
            <a:r>
              <a:rPr lang="en-US" altLang="zh-CN" sz="2000" dirty="0" smtClean="0">
                <a:latin typeface="Arial" panose="020B0604020202020204" pitchFamily="34" charset="0"/>
                <a:cs typeface="Arial" panose="020B0604020202020204" pitchFamily="34" charset="0"/>
              </a:rPr>
              <a:t>; </a:t>
            </a:r>
          </a:p>
          <a:p>
            <a:pPr>
              <a:lnSpc>
                <a:spcPct val="200000"/>
              </a:lnSpc>
            </a:pPr>
            <a:r>
              <a:rPr lang="zh-CN" altLang="en-US" sz="2000" dirty="0" smtClean="0">
                <a:solidFill>
                  <a:srgbClr val="C00000"/>
                </a:solidFill>
                <a:latin typeface="Arial" panose="020B0604020202020204" pitchFamily="34" charset="0"/>
                <a:cs typeface="Arial" panose="020B0604020202020204" pitchFamily="34" charset="0"/>
              </a:rPr>
              <a:t>这段代码</a:t>
            </a:r>
            <a:r>
              <a:rPr lang="zh-CN" altLang="en-US" sz="2000" dirty="0">
                <a:solidFill>
                  <a:srgbClr val="C00000"/>
                </a:solidFill>
                <a:latin typeface="Arial" panose="020B0604020202020204" pitchFamily="34" charset="0"/>
                <a:cs typeface="Arial" panose="020B0604020202020204" pitchFamily="34" charset="0"/>
              </a:rPr>
              <a:t>写给父</a:t>
            </a:r>
            <a:r>
              <a:rPr lang="zh-CN" altLang="en-US" sz="2000" dirty="0" smtClean="0">
                <a:solidFill>
                  <a:srgbClr val="C00000"/>
                </a:solidFill>
                <a:latin typeface="Arial" panose="020B0604020202020204" pitchFamily="34" charset="0"/>
                <a:cs typeface="Arial" panose="020B0604020202020204" pitchFamily="34" charset="0"/>
              </a:rPr>
              <a:t>级容器，但是它影响</a:t>
            </a:r>
            <a:r>
              <a:rPr lang="zh-CN" altLang="en-US" sz="2000" dirty="0">
                <a:solidFill>
                  <a:srgbClr val="C00000"/>
                </a:solidFill>
                <a:latin typeface="Arial" panose="020B0604020202020204" pitchFamily="34" charset="0"/>
                <a:cs typeface="Arial" panose="020B0604020202020204" pitchFamily="34" charset="0"/>
              </a:rPr>
              <a:t>的是子</a:t>
            </a:r>
            <a:r>
              <a:rPr lang="zh-CN" altLang="en-US" sz="2000" dirty="0" smtClean="0">
                <a:solidFill>
                  <a:srgbClr val="C00000"/>
                </a:solidFill>
                <a:latin typeface="Arial" panose="020B0604020202020204" pitchFamily="34" charset="0"/>
                <a:cs typeface="Arial" panose="020B0604020202020204" pitchFamily="34" charset="0"/>
              </a:rPr>
              <a:t>盒子</a:t>
            </a:r>
            <a:r>
              <a:rPr lang="zh-CN" altLang="en-US" sz="2000" dirty="0" smtClean="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a:p>
            <a:pPr>
              <a:lnSpc>
                <a:spcPct val="200000"/>
              </a:lnSpc>
            </a:pPr>
            <a:r>
              <a:rPr lang="zh-CN" altLang="en-US" sz="2000" dirty="0" smtClean="0">
                <a:latin typeface="Arial" panose="020B0604020202020204" pitchFamily="34" charset="0"/>
                <a:cs typeface="Arial" panose="020B0604020202020204" pitchFamily="34" charset="0"/>
              </a:rPr>
              <a:t>这个</a:t>
            </a:r>
            <a:r>
              <a:rPr lang="zh-CN" altLang="en-US" sz="2000" dirty="0">
                <a:latin typeface="Arial" panose="020B0604020202020204" pitchFamily="34" charset="0"/>
                <a:cs typeface="Arial" panose="020B0604020202020204" pitchFamily="34" charset="0"/>
              </a:rPr>
              <a:t>属性很</a:t>
            </a:r>
            <a:r>
              <a:rPr lang="zh-CN" altLang="en-US" sz="2000" dirty="0" smtClean="0">
                <a:latin typeface="Arial" panose="020B0604020202020204" pitchFamily="34" charset="0"/>
                <a:cs typeface="Arial" panose="020B0604020202020204" pitchFamily="34" charset="0"/>
              </a:rPr>
              <a:t>重要。</a:t>
            </a:r>
            <a:endParaRPr lang="zh-CN" altLang="en-US" sz="2000" dirty="0">
              <a:latin typeface="Arial" panose="020B0604020202020204" pitchFamily="34" charset="0"/>
              <a:cs typeface="Arial" panose="020B0604020202020204" pitchFamily="34" charset="0"/>
            </a:endParaRPr>
          </a:p>
        </p:txBody>
      </p:sp>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7433873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a:t>
            </a:r>
            <a:r>
              <a:rPr lang="zh-CN" altLang="en-US" dirty="0"/>
              <a:t>变换</a:t>
            </a:r>
          </a:p>
        </p:txBody>
      </p:sp>
      <p:sp>
        <p:nvSpPr>
          <p:cNvPr id="5" name="矩形 4"/>
          <p:cNvSpPr/>
          <p:nvPr/>
        </p:nvSpPr>
        <p:spPr>
          <a:xfrm>
            <a:off x="795867" y="1371444"/>
            <a:ext cx="9848850" cy="587405"/>
          </a:xfrm>
          <a:prstGeom prst="rect">
            <a:avLst/>
          </a:prstGeom>
        </p:spPr>
        <p:txBody>
          <a:bodyPr wrap="square">
            <a:spAutoFit/>
          </a:bodyPr>
          <a:lstStyle/>
          <a:p>
            <a:pPr>
              <a:lnSpc>
                <a:spcPct val="150000"/>
              </a:lnSpc>
            </a:pP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2</a:t>
            </a:r>
            <a:r>
              <a:rPr lang="zh-CN" altLang="en-US" sz="2400" b="1" dirty="0" smtClean="0">
                <a:latin typeface="Arial" panose="020B0604020202020204" pitchFamily="34" charset="0"/>
                <a:cs typeface="Arial" panose="020B0604020202020204" pitchFamily="34" charset="0"/>
              </a:rPr>
              <a:t>）透视 </a:t>
            </a:r>
            <a:r>
              <a:rPr lang="en-US" altLang="zh-CN" sz="2400" b="1" dirty="0">
                <a:latin typeface="Arial" panose="020B0604020202020204" pitchFamily="34" charset="0"/>
                <a:cs typeface="Arial" panose="020B0604020202020204" pitchFamily="34" charset="0"/>
              </a:rPr>
              <a:t>perspective</a:t>
            </a:r>
            <a:endParaRPr lang="en-US" altLang="zh-CN" sz="1600" dirty="0" smtClean="0">
              <a:latin typeface="Arial" panose="020B0604020202020204" pitchFamily="34" charset="0"/>
              <a:cs typeface="Arial" panose="020B0604020202020204" pitchFamily="34" charset="0"/>
            </a:endParaRPr>
          </a:p>
        </p:txBody>
      </p:sp>
      <p:sp>
        <p:nvSpPr>
          <p:cNvPr id="3" name="矩形 2"/>
          <p:cNvSpPr/>
          <p:nvPr/>
        </p:nvSpPr>
        <p:spPr>
          <a:xfrm>
            <a:off x="1251800" y="1901039"/>
            <a:ext cx="10738883" cy="2723823"/>
          </a:xfrm>
          <a:prstGeom prst="rect">
            <a:avLst/>
          </a:prstGeom>
        </p:spPr>
        <p:txBody>
          <a:bodyPr wrap="square">
            <a:spAutoFit/>
          </a:bodyPr>
          <a:lstStyle/>
          <a:p>
            <a:pPr>
              <a:lnSpc>
                <a:spcPct val="150000"/>
              </a:lnSpc>
            </a:pPr>
            <a:r>
              <a:rPr lang="zh-CN" altLang="en-US" sz="1900" dirty="0" smtClean="0"/>
              <a:t>电脑显示屏是个</a:t>
            </a:r>
            <a:r>
              <a:rPr lang="en-US" altLang="zh-CN" sz="1900" dirty="0" smtClean="0"/>
              <a:t>2D</a:t>
            </a:r>
            <a:r>
              <a:rPr lang="zh-CN" altLang="en-US" sz="1900" dirty="0" smtClean="0"/>
              <a:t>的平面，在</a:t>
            </a:r>
            <a:r>
              <a:rPr lang="en-US" altLang="zh-CN" sz="1900" dirty="0"/>
              <a:t>2D</a:t>
            </a:r>
            <a:r>
              <a:rPr lang="zh-CN" altLang="en-US" sz="1900" dirty="0" smtClean="0"/>
              <a:t>平面要产生</a:t>
            </a:r>
            <a:r>
              <a:rPr lang="zh-CN" altLang="en-US" sz="1900" dirty="0"/>
              <a:t>近大远</a:t>
            </a:r>
            <a:r>
              <a:rPr lang="zh-CN" altLang="en-US" sz="1900" dirty="0" smtClean="0"/>
              <a:t>小的立体视觉，</a:t>
            </a:r>
            <a:r>
              <a:rPr lang="zh-CN" altLang="en-US" sz="1900" dirty="0"/>
              <a:t>但是效果只是二维</a:t>
            </a:r>
            <a:r>
              <a:rPr lang="zh-CN" altLang="en-US" sz="1900" dirty="0" smtClean="0"/>
              <a:t>的。</a:t>
            </a:r>
            <a:endParaRPr lang="zh-CN" altLang="en-US" sz="1900" dirty="0"/>
          </a:p>
          <a:p>
            <a:pPr marL="285750" indent="-285750">
              <a:lnSpc>
                <a:spcPct val="150000"/>
              </a:lnSpc>
              <a:buFont typeface="Arial" panose="020B0604020202020204" pitchFamily="34" charset="0"/>
              <a:buChar char="•"/>
            </a:pPr>
            <a:r>
              <a:rPr lang="zh-CN" altLang="en-US" sz="1900" dirty="0" smtClean="0"/>
              <a:t>如果</a:t>
            </a:r>
            <a:r>
              <a:rPr lang="zh-CN" altLang="en-US" sz="1900" dirty="0"/>
              <a:t>想要在</a:t>
            </a:r>
            <a:r>
              <a:rPr lang="zh-CN" altLang="en-US" sz="1900" dirty="0" smtClean="0"/>
              <a:t>网页上产生</a:t>
            </a:r>
            <a:r>
              <a:rPr lang="en-US" altLang="zh-CN" sz="1900" dirty="0"/>
              <a:t>3D</a:t>
            </a:r>
            <a:r>
              <a:rPr lang="zh-CN" altLang="en-US" sz="1900" dirty="0"/>
              <a:t>效果</a:t>
            </a:r>
            <a:r>
              <a:rPr lang="zh-CN" altLang="en-US" sz="1900" dirty="0" smtClean="0"/>
              <a:t>需要加透视（透视原理：近大远小）</a:t>
            </a:r>
            <a:r>
              <a:rPr lang="zh-CN" altLang="en-US" sz="1900" dirty="0"/>
              <a:t>。</a:t>
            </a:r>
          </a:p>
          <a:p>
            <a:pPr marL="285750" indent="-285750">
              <a:lnSpc>
                <a:spcPct val="150000"/>
              </a:lnSpc>
              <a:buFont typeface="Arial" panose="020B0604020202020204" pitchFamily="34" charset="0"/>
              <a:buChar char="•"/>
            </a:pPr>
            <a:r>
              <a:rPr lang="zh-CN" altLang="en-US" sz="1900" dirty="0" smtClean="0"/>
              <a:t>透视</a:t>
            </a:r>
            <a:r>
              <a:rPr lang="zh-CN" altLang="en-US" sz="1900" dirty="0"/>
              <a:t>我们也称为视距：视距就是人的眼睛到屏幕的</a:t>
            </a:r>
            <a:r>
              <a:rPr lang="zh-CN" altLang="en-US" sz="1900" dirty="0" smtClean="0"/>
              <a:t>距离；</a:t>
            </a:r>
            <a:endParaRPr lang="zh-CN" altLang="en-US" sz="1900" dirty="0"/>
          </a:p>
          <a:p>
            <a:pPr marL="285750" indent="-285750">
              <a:lnSpc>
                <a:spcPct val="150000"/>
              </a:lnSpc>
              <a:buFont typeface="Arial" panose="020B0604020202020204" pitchFamily="34" charset="0"/>
              <a:buChar char="•"/>
            </a:pPr>
            <a:r>
              <a:rPr lang="zh-CN" altLang="en-US" sz="1900" dirty="0" smtClean="0"/>
              <a:t>距离</a:t>
            </a:r>
            <a:r>
              <a:rPr lang="zh-CN" altLang="en-US" sz="1900" dirty="0"/>
              <a:t>视觉点越近的在电脑平面成像越大，越远成像越</a:t>
            </a:r>
            <a:r>
              <a:rPr lang="zh-CN" altLang="en-US" sz="1900" dirty="0" smtClean="0"/>
              <a:t>小；</a:t>
            </a:r>
            <a:endParaRPr lang="zh-CN" altLang="en-US" sz="1900" dirty="0"/>
          </a:p>
          <a:p>
            <a:pPr marL="285750" indent="-285750">
              <a:lnSpc>
                <a:spcPct val="150000"/>
              </a:lnSpc>
              <a:buFont typeface="Arial" panose="020B0604020202020204" pitchFamily="34" charset="0"/>
              <a:buChar char="•"/>
            </a:pPr>
            <a:r>
              <a:rPr lang="zh-CN" altLang="en-US" sz="1900" dirty="0" smtClean="0"/>
              <a:t>透视</a:t>
            </a:r>
            <a:r>
              <a:rPr lang="zh-CN" altLang="en-US" sz="1900" dirty="0"/>
              <a:t>的单位是</a:t>
            </a:r>
            <a:r>
              <a:rPr lang="zh-CN" altLang="en-US" sz="1900" dirty="0" smtClean="0"/>
              <a:t>像素；</a:t>
            </a:r>
            <a:endParaRPr lang="zh-CN" altLang="en-US" sz="1900" dirty="0"/>
          </a:p>
          <a:p>
            <a:pPr>
              <a:lnSpc>
                <a:spcPct val="150000"/>
              </a:lnSpc>
            </a:pPr>
            <a:r>
              <a:rPr lang="zh-CN" altLang="en-US" sz="1900" b="1" dirty="0" smtClean="0">
                <a:solidFill>
                  <a:srgbClr val="C00000"/>
                </a:solidFill>
              </a:rPr>
              <a:t>透视属性需要写</a:t>
            </a:r>
            <a:r>
              <a:rPr lang="zh-CN" altLang="en-US" sz="1900" b="1" dirty="0">
                <a:solidFill>
                  <a:srgbClr val="C00000"/>
                </a:solidFill>
              </a:rPr>
              <a:t>在被观察元素的父</a:t>
            </a:r>
            <a:r>
              <a:rPr lang="zh-CN" altLang="en-US" sz="1900" b="1" dirty="0" smtClean="0">
                <a:solidFill>
                  <a:srgbClr val="C00000"/>
                </a:solidFill>
              </a:rPr>
              <a:t>盒子上</a:t>
            </a:r>
            <a:endParaRPr lang="zh-CN" altLang="en-US" sz="1900" b="1" dirty="0">
              <a:solidFill>
                <a:srgbClr val="C00000"/>
              </a:solidFill>
            </a:endParaRPr>
          </a:p>
        </p:txBody>
      </p:sp>
      <p:sp>
        <p:nvSpPr>
          <p:cNvPr id="2" name="矩形 1"/>
          <p:cNvSpPr/>
          <p:nvPr/>
        </p:nvSpPr>
        <p:spPr>
          <a:xfrm>
            <a:off x="1251800" y="4594925"/>
            <a:ext cx="8468811" cy="1711944"/>
          </a:xfrm>
          <a:prstGeom prst="rect">
            <a:avLst/>
          </a:prstGeom>
        </p:spPr>
        <p:txBody>
          <a:bodyPr wrap="square">
            <a:spAutoFit/>
          </a:bodyPr>
          <a:lstStyle/>
          <a:p>
            <a:pPr>
              <a:lnSpc>
                <a:spcPct val="150000"/>
              </a:lnSpc>
            </a:pPr>
            <a:r>
              <a:rPr lang="zh-CN" altLang="en-US" dirty="0"/>
              <a:t>有了透视（</a:t>
            </a:r>
            <a:r>
              <a:rPr lang="en-US" altLang="zh-CN" dirty="0"/>
              <a:t>perspective</a:t>
            </a:r>
            <a:r>
              <a:rPr lang="zh-CN" altLang="en-US" dirty="0"/>
              <a:t>属性），就能看到</a:t>
            </a:r>
            <a:r>
              <a:rPr lang="en-US" altLang="zh-CN" dirty="0" err="1"/>
              <a:t>translateZ</a:t>
            </a:r>
            <a:r>
              <a:rPr lang="en-US" altLang="zh-CN" dirty="0"/>
              <a:t> </a:t>
            </a:r>
            <a:r>
              <a:rPr lang="zh-CN" altLang="en-US" dirty="0"/>
              <a:t>引起的变化了</a:t>
            </a:r>
          </a:p>
          <a:p>
            <a:pPr marL="342900" indent="-342900">
              <a:lnSpc>
                <a:spcPct val="150000"/>
              </a:lnSpc>
              <a:buFont typeface="+mj-lt"/>
              <a:buAutoNum type="arabicPeriod"/>
            </a:pPr>
            <a:r>
              <a:rPr lang="en-US" altLang="zh-CN" dirty="0" err="1" smtClean="0"/>
              <a:t>translateZ</a:t>
            </a:r>
            <a:r>
              <a:rPr lang="zh-CN" altLang="en-US" dirty="0"/>
              <a:t>：近大远小</a:t>
            </a:r>
          </a:p>
          <a:p>
            <a:pPr marL="342900" indent="-342900">
              <a:lnSpc>
                <a:spcPct val="150000"/>
              </a:lnSpc>
              <a:buFont typeface="+mj-lt"/>
              <a:buAutoNum type="arabicPeriod"/>
            </a:pPr>
            <a:r>
              <a:rPr lang="en-US" altLang="zh-CN" dirty="0" err="1" smtClean="0"/>
              <a:t>translateZ</a:t>
            </a:r>
            <a:r>
              <a:rPr lang="zh-CN" altLang="en-US" dirty="0"/>
              <a:t>：往外是正值</a:t>
            </a:r>
          </a:p>
          <a:p>
            <a:pPr marL="342900" indent="-342900">
              <a:lnSpc>
                <a:spcPct val="150000"/>
              </a:lnSpc>
              <a:buFont typeface="+mj-lt"/>
              <a:buAutoNum type="arabicPeriod"/>
            </a:pPr>
            <a:r>
              <a:rPr lang="en-US" altLang="zh-CN" dirty="0" err="1" smtClean="0"/>
              <a:t>translateZ</a:t>
            </a:r>
            <a:r>
              <a:rPr lang="zh-CN" altLang="en-US" dirty="0"/>
              <a:t>：往里是负值</a:t>
            </a:r>
          </a:p>
        </p:txBody>
      </p:sp>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4910353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a:t>
            </a:r>
            <a:r>
              <a:rPr lang="zh-CN" altLang="en-US" dirty="0"/>
              <a:t>变换</a:t>
            </a:r>
          </a:p>
        </p:txBody>
      </p:sp>
      <p:sp>
        <p:nvSpPr>
          <p:cNvPr id="5" name="矩形 4"/>
          <p:cNvSpPr/>
          <p:nvPr/>
        </p:nvSpPr>
        <p:spPr>
          <a:xfrm>
            <a:off x="795867" y="1371444"/>
            <a:ext cx="9848850" cy="587405"/>
          </a:xfrm>
          <a:prstGeom prst="rect">
            <a:avLst/>
          </a:prstGeom>
        </p:spPr>
        <p:txBody>
          <a:bodyPr wrap="square">
            <a:spAutoFit/>
          </a:bodyPr>
          <a:lstStyle/>
          <a:p>
            <a:pPr>
              <a:lnSpc>
                <a:spcPct val="150000"/>
              </a:lnSpc>
            </a:pP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3</a:t>
            </a: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3D</a:t>
            </a:r>
            <a:r>
              <a:rPr lang="zh-CN" altLang="en-US" sz="2400" b="1" dirty="0" smtClean="0">
                <a:latin typeface="Arial" panose="020B0604020202020204" pitchFamily="34" charset="0"/>
                <a:cs typeface="Arial" panose="020B0604020202020204" pitchFamily="34" charset="0"/>
              </a:rPr>
              <a:t>移动</a:t>
            </a:r>
            <a:endParaRPr lang="en-US" altLang="zh-CN" sz="1600" dirty="0" smtClean="0">
              <a:latin typeface="Arial" panose="020B0604020202020204" pitchFamily="34" charset="0"/>
              <a:cs typeface="Arial" panose="020B0604020202020204" pitchFamily="34" charset="0"/>
            </a:endParaRPr>
          </a:p>
        </p:txBody>
      </p:sp>
      <p:sp>
        <p:nvSpPr>
          <p:cNvPr id="8" name="矩形 7"/>
          <p:cNvSpPr/>
          <p:nvPr/>
        </p:nvSpPr>
        <p:spPr>
          <a:xfrm>
            <a:off x="1301414" y="4259760"/>
            <a:ext cx="9183280" cy="369332"/>
          </a:xfrm>
          <a:prstGeom prst="rect">
            <a:avLst/>
          </a:prstGeom>
        </p:spPr>
        <p:txBody>
          <a:bodyPr wrap="square">
            <a:spAutoFit/>
          </a:bodyPr>
          <a:lstStyle/>
          <a:p>
            <a:r>
              <a:rPr lang="zh-CN" altLang="en-US" dirty="0"/>
              <a:t>因为</a:t>
            </a:r>
            <a:r>
              <a:rPr lang="en-US" altLang="zh-CN" dirty="0"/>
              <a:t>z</a:t>
            </a:r>
            <a:r>
              <a:rPr lang="zh-CN" altLang="en-US" dirty="0"/>
              <a:t>轴是垂直屏幕，由里指向外面，所以默认是看不到元素在</a:t>
            </a:r>
            <a:r>
              <a:rPr lang="en-US" altLang="zh-CN" dirty="0"/>
              <a:t>z</a:t>
            </a:r>
            <a:r>
              <a:rPr lang="zh-CN" altLang="en-US" dirty="0"/>
              <a:t>轴的方向上移动</a:t>
            </a:r>
          </a:p>
        </p:txBody>
      </p:sp>
      <p:sp>
        <p:nvSpPr>
          <p:cNvPr id="7" name="矩形 6"/>
          <p:cNvSpPr/>
          <p:nvPr/>
        </p:nvSpPr>
        <p:spPr>
          <a:xfrm>
            <a:off x="1301414" y="2255994"/>
            <a:ext cx="1965795" cy="1938992"/>
          </a:xfrm>
          <a:prstGeom prst="rect">
            <a:avLst/>
          </a:prstGeom>
        </p:spPr>
        <p:txBody>
          <a:bodyPr wrap="none">
            <a:spAutoFit/>
          </a:bodyPr>
          <a:lstStyle/>
          <a:p>
            <a:pPr>
              <a:lnSpc>
                <a:spcPct val="150000"/>
              </a:lnSpc>
            </a:pPr>
            <a:r>
              <a:rPr lang="en-US" altLang="zh-CN" sz="2000" dirty="0" err="1"/>
              <a:t>translateX</a:t>
            </a:r>
            <a:r>
              <a:rPr lang="en-US" altLang="zh-CN" sz="2000" dirty="0"/>
              <a:t>(x</a:t>
            </a:r>
            <a:r>
              <a:rPr lang="en-US" altLang="zh-CN" sz="2000" dirty="0" smtClean="0"/>
              <a:t>)</a:t>
            </a:r>
          </a:p>
          <a:p>
            <a:pPr>
              <a:lnSpc>
                <a:spcPct val="150000"/>
              </a:lnSpc>
            </a:pPr>
            <a:r>
              <a:rPr lang="en-US" altLang="zh-CN" sz="2000" dirty="0" err="1"/>
              <a:t>translateY</a:t>
            </a:r>
            <a:r>
              <a:rPr lang="en-US" altLang="zh-CN" sz="2000" dirty="0"/>
              <a:t>(y)</a:t>
            </a:r>
          </a:p>
          <a:p>
            <a:pPr>
              <a:lnSpc>
                <a:spcPct val="150000"/>
              </a:lnSpc>
            </a:pPr>
            <a:r>
              <a:rPr lang="en-US" altLang="zh-CN" sz="2000" dirty="0" err="1"/>
              <a:t>translateZ</a:t>
            </a:r>
            <a:r>
              <a:rPr lang="en-US" altLang="zh-CN" sz="2000" dirty="0"/>
              <a:t>(z)</a:t>
            </a:r>
          </a:p>
          <a:p>
            <a:pPr>
              <a:lnSpc>
                <a:spcPct val="150000"/>
              </a:lnSpc>
            </a:pPr>
            <a:r>
              <a:rPr lang="en-US" altLang="zh-CN" sz="2000" dirty="0"/>
              <a:t>translate3d(</a:t>
            </a:r>
            <a:r>
              <a:rPr lang="en-US" altLang="zh-CN" sz="2000" dirty="0" err="1"/>
              <a:t>x,y,z</a:t>
            </a:r>
            <a:r>
              <a:rPr lang="en-US" altLang="zh-CN" sz="2000" dirty="0" smtClean="0"/>
              <a:t>)</a:t>
            </a:r>
            <a:endParaRPr lang="en-US" altLang="zh-CN" sz="2000" dirty="0"/>
          </a:p>
        </p:txBody>
      </p:sp>
      <p:sp>
        <p:nvSpPr>
          <p:cNvPr id="9" name="矩形 8"/>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1733974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4</a:t>
            </a:r>
            <a:r>
              <a:rPr lang="zh-CN" altLang="en-US" dirty="0" smtClean="0"/>
              <a:t>、</a:t>
            </a:r>
            <a:r>
              <a:rPr lang="en-US" altLang="zh-CN" dirty="0" smtClean="0"/>
              <a:t>3D </a:t>
            </a:r>
            <a:r>
              <a:rPr lang="zh-CN" altLang="en-US" dirty="0" smtClean="0"/>
              <a:t>变换</a:t>
            </a:r>
            <a:endParaRPr lang="zh-CN" altLang="en-US" dirty="0"/>
          </a:p>
        </p:txBody>
      </p:sp>
      <p:sp>
        <p:nvSpPr>
          <p:cNvPr id="5" name="矩形 4"/>
          <p:cNvSpPr/>
          <p:nvPr/>
        </p:nvSpPr>
        <p:spPr>
          <a:xfrm>
            <a:off x="932993" y="1486152"/>
            <a:ext cx="9848850" cy="587405"/>
          </a:xfrm>
          <a:prstGeom prst="rect">
            <a:avLst/>
          </a:prstGeom>
        </p:spPr>
        <p:txBody>
          <a:bodyPr wrap="square">
            <a:spAutoFit/>
          </a:bodyPr>
          <a:lstStyle/>
          <a:p>
            <a:pPr>
              <a:lnSpc>
                <a:spcPct val="150000"/>
              </a:lnSpc>
            </a:pP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4</a:t>
            </a: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3D</a:t>
            </a:r>
            <a:r>
              <a:rPr lang="zh-CN" altLang="en-US" sz="2400" b="1" dirty="0" smtClean="0">
                <a:latin typeface="Arial" panose="020B0604020202020204" pitchFamily="34" charset="0"/>
                <a:cs typeface="Arial" panose="020B0604020202020204" pitchFamily="34" charset="0"/>
              </a:rPr>
              <a:t>旋转</a:t>
            </a:r>
            <a:endParaRPr lang="en-US" altLang="zh-CN" sz="1600" dirty="0" smtClean="0">
              <a:latin typeface="Arial" panose="020B0604020202020204" pitchFamily="34" charset="0"/>
              <a:cs typeface="Arial" panose="020B0604020202020204" pitchFamily="34" charset="0"/>
            </a:endParaRPr>
          </a:p>
        </p:txBody>
      </p:sp>
      <p:sp>
        <p:nvSpPr>
          <p:cNvPr id="3" name="矩形 2"/>
          <p:cNvSpPr/>
          <p:nvPr/>
        </p:nvSpPr>
        <p:spPr>
          <a:xfrm>
            <a:off x="932993" y="2008763"/>
            <a:ext cx="11177940" cy="1853456"/>
          </a:xfrm>
          <a:prstGeom prst="rect">
            <a:avLst/>
          </a:prstGeom>
        </p:spPr>
        <p:txBody>
          <a:bodyPr wrap="square">
            <a:spAutoFit/>
          </a:bodyPr>
          <a:lstStyle/>
          <a:p>
            <a:pPr>
              <a:lnSpc>
                <a:spcPct val="200000"/>
              </a:lnSpc>
            </a:pPr>
            <a:r>
              <a:rPr lang="zh-CN" altLang="en-US" sz="2000" dirty="0"/>
              <a:t>对于元素旋转的方向的</a:t>
            </a:r>
            <a:r>
              <a:rPr lang="zh-CN" altLang="en-US" sz="2000" dirty="0" smtClean="0"/>
              <a:t>判断，需要</a:t>
            </a:r>
            <a:r>
              <a:rPr lang="zh-CN" altLang="en-US" sz="2000" dirty="0"/>
              <a:t>先学习一个左手准则</a:t>
            </a:r>
            <a:r>
              <a:rPr lang="zh-CN" altLang="en-US" sz="2000" dirty="0" smtClean="0"/>
              <a:t>。</a:t>
            </a:r>
            <a:endParaRPr lang="en-US" altLang="zh-CN" sz="2000" dirty="0" smtClean="0"/>
          </a:p>
          <a:p>
            <a:pPr marL="457200" indent="-457200">
              <a:lnSpc>
                <a:spcPct val="200000"/>
              </a:lnSpc>
              <a:buFont typeface="+mj-lt"/>
              <a:buAutoNum type="arabicPeriod"/>
            </a:pPr>
            <a:r>
              <a:rPr lang="zh-CN" altLang="en-US" sz="2000" dirty="0" smtClean="0"/>
              <a:t>左手的大拇指</a:t>
            </a:r>
            <a:r>
              <a:rPr lang="zh-CN" altLang="en-US" sz="2000" dirty="0"/>
              <a:t>指向 </a:t>
            </a:r>
            <a:r>
              <a:rPr lang="en-US" altLang="zh-CN" sz="2000" dirty="0"/>
              <a:t>x</a:t>
            </a:r>
            <a:r>
              <a:rPr lang="zh-CN" altLang="en-US" sz="2000" dirty="0" smtClean="0"/>
              <a:t>轴或</a:t>
            </a:r>
            <a:r>
              <a:rPr lang="en-US" altLang="zh-CN" sz="2000" dirty="0" smtClean="0"/>
              <a:t>y</a:t>
            </a:r>
            <a:r>
              <a:rPr lang="zh-CN" altLang="en-US" sz="2000" dirty="0" smtClean="0"/>
              <a:t>轴的</a:t>
            </a:r>
            <a:r>
              <a:rPr lang="zh-CN" altLang="en-US" sz="2000" dirty="0"/>
              <a:t>正方向</a:t>
            </a:r>
          </a:p>
          <a:p>
            <a:pPr marL="457200" indent="-457200">
              <a:lnSpc>
                <a:spcPct val="200000"/>
              </a:lnSpc>
              <a:buFont typeface="+mj-lt"/>
              <a:buAutoNum type="arabicPeriod"/>
            </a:pPr>
            <a:r>
              <a:rPr lang="zh-CN" altLang="en-US" sz="2000" dirty="0" smtClean="0"/>
              <a:t>其余</a:t>
            </a:r>
            <a:r>
              <a:rPr lang="zh-CN" altLang="en-US" sz="2000" dirty="0"/>
              <a:t>手指的弯曲方向就是该元素沿着</a:t>
            </a:r>
            <a:r>
              <a:rPr lang="en-US" altLang="zh-CN" sz="2000" dirty="0"/>
              <a:t>x</a:t>
            </a:r>
            <a:r>
              <a:rPr lang="zh-CN" altLang="en-US" sz="2000" dirty="0" smtClean="0"/>
              <a:t>轴或</a:t>
            </a:r>
            <a:r>
              <a:rPr lang="en-US" altLang="zh-CN" sz="2000" dirty="0" smtClean="0"/>
              <a:t>y</a:t>
            </a:r>
            <a:r>
              <a:rPr lang="zh-CN" altLang="en-US" sz="2000" dirty="0" smtClean="0"/>
              <a:t>轴旋转的</a:t>
            </a:r>
            <a:r>
              <a:rPr lang="zh-CN" altLang="en-US" sz="2000" dirty="0"/>
              <a:t>方向</a:t>
            </a:r>
          </a:p>
        </p:txBody>
      </p:sp>
      <p:pic>
        <p:nvPicPr>
          <p:cNvPr id="6" name="图片 5"/>
          <p:cNvPicPr>
            <a:picLocks noChangeAspect="1"/>
          </p:cNvPicPr>
          <p:nvPr/>
        </p:nvPicPr>
        <p:blipFill>
          <a:blip r:embed="rId3"/>
          <a:stretch>
            <a:fillRect/>
          </a:stretch>
        </p:blipFill>
        <p:spPr>
          <a:xfrm>
            <a:off x="1247280" y="4050774"/>
            <a:ext cx="4273844" cy="2520564"/>
          </a:xfrm>
          <a:prstGeom prst="rect">
            <a:avLst/>
          </a:prstGeom>
        </p:spPr>
      </p:pic>
      <p:pic>
        <p:nvPicPr>
          <p:cNvPr id="7" name="图片 6"/>
          <p:cNvPicPr>
            <a:picLocks noChangeAspect="1"/>
          </p:cNvPicPr>
          <p:nvPr/>
        </p:nvPicPr>
        <p:blipFill>
          <a:blip r:embed="rId4"/>
          <a:stretch>
            <a:fillRect/>
          </a:stretch>
        </p:blipFill>
        <p:spPr>
          <a:xfrm>
            <a:off x="6928862" y="3925008"/>
            <a:ext cx="2828597" cy="2932992"/>
          </a:xfrm>
          <a:prstGeom prst="rect">
            <a:avLst/>
          </a:prstGeom>
        </p:spPr>
      </p:pic>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369756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4</a:t>
            </a:r>
            <a:r>
              <a:rPr lang="zh-CN" altLang="en-US" dirty="0" smtClean="0"/>
              <a:t>、</a:t>
            </a:r>
            <a:r>
              <a:rPr lang="en-US" altLang="zh-CN" dirty="0" smtClean="0"/>
              <a:t>3D</a:t>
            </a:r>
            <a:r>
              <a:rPr lang="zh-CN" altLang="en-US" dirty="0"/>
              <a:t>变换</a:t>
            </a:r>
          </a:p>
        </p:txBody>
      </p:sp>
      <p:sp>
        <p:nvSpPr>
          <p:cNvPr id="5" name="矩形 4"/>
          <p:cNvSpPr/>
          <p:nvPr/>
        </p:nvSpPr>
        <p:spPr>
          <a:xfrm>
            <a:off x="843276" y="1482778"/>
            <a:ext cx="9848850" cy="587405"/>
          </a:xfrm>
          <a:prstGeom prst="rect">
            <a:avLst/>
          </a:prstGeom>
        </p:spPr>
        <p:txBody>
          <a:bodyPr wrap="square">
            <a:spAutoFit/>
          </a:bodyPr>
          <a:lstStyle/>
          <a:p>
            <a:pPr>
              <a:lnSpc>
                <a:spcPct val="150000"/>
              </a:lnSpc>
            </a:pP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4</a:t>
            </a:r>
            <a:r>
              <a:rPr lang="zh-CN" altLang="en-US" sz="2400" b="1" dirty="0" smtClean="0">
                <a:latin typeface="Arial" panose="020B0604020202020204" pitchFamily="34" charset="0"/>
                <a:cs typeface="Arial" panose="020B0604020202020204" pitchFamily="34" charset="0"/>
              </a:rPr>
              <a:t>）</a:t>
            </a:r>
            <a:r>
              <a:rPr lang="en-US" altLang="zh-CN" sz="2400" b="1" dirty="0" smtClean="0">
                <a:latin typeface="Arial" panose="020B0604020202020204" pitchFamily="34" charset="0"/>
                <a:cs typeface="Arial" panose="020B0604020202020204" pitchFamily="34" charset="0"/>
              </a:rPr>
              <a:t>3D</a:t>
            </a:r>
            <a:r>
              <a:rPr lang="zh-CN" altLang="en-US" sz="2400" b="1" dirty="0" smtClean="0">
                <a:latin typeface="Arial" panose="020B0604020202020204" pitchFamily="34" charset="0"/>
                <a:cs typeface="Arial" panose="020B0604020202020204" pitchFamily="34" charset="0"/>
              </a:rPr>
              <a:t>旋转</a:t>
            </a:r>
            <a:endParaRPr lang="en-US" altLang="zh-CN" sz="1600" dirty="0" smtClean="0">
              <a:latin typeface="Arial" panose="020B0604020202020204" pitchFamily="34" charset="0"/>
              <a:cs typeface="Arial" panose="020B0604020202020204" pitchFamily="34" charset="0"/>
            </a:endParaRPr>
          </a:p>
        </p:txBody>
      </p:sp>
      <p:sp>
        <p:nvSpPr>
          <p:cNvPr id="3" name="矩形 2"/>
          <p:cNvSpPr/>
          <p:nvPr/>
        </p:nvSpPr>
        <p:spPr>
          <a:xfrm>
            <a:off x="843276" y="1988149"/>
            <a:ext cx="11177940" cy="1938992"/>
          </a:xfrm>
          <a:prstGeom prst="rect">
            <a:avLst/>
          </a:prstGeom>
        </p:spPr>
        <p:txBody>
          <a:bodyPr wrap="square">
            <a:spAutoFit/>
          </a:bodyPr>
          <a:lstStyle/>
          <a:p>
            <a:pPr>
              <a:lnSpc>
                <a:spcPct val="150000"/>
              </a:lnSpc>
            </a:pPr>
            <a:r>
              <a:rPr lang="en-US" altLang="zh-CN" sz="2000" dirty="0">
                <a:latin typeface="Arial" panose="020B0604020202020204" pitchFamily="34" charset="0"/>
                <a:cs typeface="Arial" panose="020B0604020202020204" pitchFamily="34" charset="0"/>
              </a:rPr>
              <a:t>3D</a:t>
            </a:r>
            <a:r>
              <a:rPr lang="zh-CN" altLang="en-US" sz="2000" dirty="0">
                <a:latin typeface="Arial" panose="020B0604020202020204" pitchFamily="34" charset="0"/>
                <a:cs typeface="Arial" panose="020B0604020202020204" pitchFamily="34" charset="0"/>
              </a:rPr>
              <a:t>旋转指可以让元素在三维平面内</a:t>
            </a:r>
            <a:r>
              <a:rPr lang="zh-CN" altLang="en-US" sz="2000" dirty="0" smtClean="0">
                <a:latin typeface="Arial" panose="020B0604020202020204" pitchFamily="34" charset="0"/>
                <a:cs typeface="Arial" panose="020B0604020202020204" pitchFamily="34" charset="0"/>
              </a:rPr>
              <a:t>沿着</a:t>
            </a:r>
            <a:r>
              <a:rPr lang="en-US" altLang="zh-CN" sz="2000" dirty="0" smtClean="0">
                <a:latin typeface="Arial" panose="020B0604020202020204" pitchFamily="34" charset="0"/>
                <a:cs typeface="Arial" panose="020B0604020202020204" pitchFamily="34" charset="0"/>
              </a:rPr>
              <a:t>x</a:t>
            </a:r>
            <a:r>
              <a:rPr lang="zh-CN" altLang="en-US" sz="2000" dirty="0">
                <a:latin typeface="Arial" panose="020B0604020202020204" pitchFamily="34" charset="0"/>
                <a:cs typeface="Arial" panose="020B0604020202020204" pitchFamily="34" charset="0"/>
              </a:rPr>
              <a:t>轴，</a:t>
            </a:r>
            <a:r>
              <a:rPr lang="en-US" altLang="zh-CN" sz="2000" dirty="0">
                <a:latin typeface="Arial" panose="020B0604020202020204" pitchFamily="34" charset="0"/>
                <a:cs typeface="Arial" panose="020B0604020202020204" pitchFamily="34" charset="0"/>
              </a:rPr>
              <a:t>y</a:t>
            </a:r>
            <a:r>
              <a:rPr lang="zh-CN" altLang="en-US" sz="2000" dirty="0">
                <a:latin typeface="Arial" panose="020B0604020202020204" pitchFamily="34" charset="0"/>
                <a:cs typeface="Arial" panose="020B0604020202020204" pitchFamily="34" charset="0"/>
              </a:rPr>
              <a:t>轴，</a:t>
            </a:r>
            <a:r>
              <a:rPr lang="en-US" altLang="zh-CN" sz="2000" dirty="0">
                <a:latin typeface="Arial" panose="020B0604020202020204" pitchFamily="34" charset="0"/>
                <a:cs typeface="Arial" panose="020B0604020202020204" pitchFamily="34" charset="0"/>
              </a:rPr>
              <a:t>z</a:t>
            </a:r>
            <a:r>
              <a:rPr lang="zh-CN" altLang="en-US" sz="2000" dirty="0">
                <a:latin typeface="Arial" panose="020B0604020202020204" pitchFamily="34" charset="0"/>
                <a:cs typeface="Arial" panose="020B0604020202020204" pitchFamily="34" charset="0"/>
              </a:rPr>
              <a:t>轴或者自定义轴进行旋转</a:t>
            </a:r>
            <a:r>
              <a:rPr lang="zh-CN" altLang="en-US" sz="2000" dirty="0" smtClean="0">
                <a:latin typeface="Arial" panose="020B0604020202020204" pitchFamily="34" charset="0"/>
                <a:cs typeface="Arial" panose="020B0604020202020204" pitchFamily="34" charset="0"/>
              </a:rPr>
              <a:t>。</a:t>
            </a:r>
            <a:endParaRPr lang="en-US" altLang="zh-CN" sz="2000" dirty="0" smtClean="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err="1" smtClean="0">
                <a:latin typeface="Arial" panose="020B0604020202020204" pitchFamily="34" charset="0"/>
                <a:cs typeface="Arial" panose="020B0604020202020204" pitchFamily="34" charset="0"/>
              </a:rPr>
              <a:t>transform:rotateX</a:t>
            </a:r>
            <a:r>
              <a:rPr lang="en-US" altLang="zh-CN" sz="2000" dirty="0" smtClean="0">
                <a:latin typeface="Arial" panose="020B0604020202020204" pitchFamily="34" charset="0"/>
                <a:cs typeface="Arial" panose="020B0604020202020204" pitchFamily="34" charset="0"/>
              </a:rPr>
              <a:t>(45deg</a:t>
            </a:r>
            <a:r>
              <a:rPr lang="en-US" altLang="zh-CN" sz="2000" dirty="0">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：沿着</a:t>
            </a:r>
            <a:r>
              <a:rPr lang="en-US" altLang="zh-CN" sz="2000" dirty="0">
                <a:latin typeface="Arial" panose="020B0604020202020204" pitchFamily="34" charset="0"/>
                <a:cs typeface="Arial" panose="020B0604020202020204" pitchFamily="34" charset="0"/>
              </a:rPr>
              <a:t>x</a:t>
            </a:r>
            <a:r>
              <a:rPr lang="zh-CN" altLang="en-US" sz="2000" dirty="0">
                <a:latin typeface="Arial" panose="020B0604020202020204" pitchFamily="34" charset="0"/>
                <a:cs typeface="Arial" panose="020B0604020202020204" pitchFamily="34" charset="0"/>
              </a:rPr>
              <a:t>轴正方向旋转 </a:t>
            </a:r>
            <a:r>
              <a:rPr lang="en-US" altLang="zh-CN" sz="2000" dirty="0">
                <a:latin typeface="Arial" panose="020B0604020202020204" pitchFamily="34" charset="0"/>
                <a:cs typeface="Arial" panose="020B0604020202020204" pitchFamily="34" charset="0"/>
              </a:rPr>
              <a:t>45</a:t>
            </a:r>
            <a:r>
              <a:rPr lang="zh-CN" altLang="en-US" sz="2000" dirty="0">
                <a:latin typeface="Arial" panose="020B0604020202020204" pitchFamily="34" charset="0"/>
                <a:cs typeface="Arial" panose="020B0604020202020204" pitchFamily="34" charset="0"/>
              </a:rPr>
              <a:t>度</a:t>
            </a:r>
          </a:p>
          <a:p>
            <a:pPr marL="342900" indent="-342900">
              <a:lnSpc>
                <a:spcPct val="150000"/>
              </a:lnSpc>
              <a:buFont typeface="Arial" panose="020B0604020202020204" pitchFamily="34" charset="0"/>
              <a:buChar char="•"/>
            </a:pPr>
            <a:r>
              <a:rPr lang="en-US" altLang="zh-CN" sz="2000" dirty="0" err="1" smtClean="0">
                <a:latin typeface="Arial" panose="020B0604020202020204" pitchFamily="34" charset="0"/>
                <a:cs typeface="Arial" panose="020B0604020202020204" pitchFamily="34" charset="0"/>
              </a:rPr>
              <a:t>transform:rotateY</a:t>
            </a:r>
            <a:r>
              <a:rPr lang="en-US" altLang="zh-CN" sz="2000" dirty="0" smtClean="0">
                <a:latin typeface="Arial" panose="020B0604020202020204" pitchFamily="34" charset="0"/>
                <a:cs typeface="Arial" panose="020B0604020202020204" pitchFamily="34" charset="0"/>
              </a:rPr>
              <a:t>(45deg</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：沿着</a:t>
            </a:r>
            <a:r>
              <a:rPr lang="en-US" altLang="zh-CN" sz="2000" dirty="0">
                <a:latin typeface="Arial" panose="020B0604020202020204" pitchFamily="34" charset="0"/>
                <a:cs typeface="Arial" panose="020B0604020202020204" pitchFamily="34" charset="0"/>
              </a:rPr>
              <a:t>y</a:t>
            </a:r>
            <a:r>
              <a:rPr lang="zh-CN" altLang="en-US" sz="2000" dirty="0">
                <a:latin typeface="Arial" panose="020B0604020202020204" pitchFamily="34" charset="0"/>
                <a:cs typeface="Arial" panose="020B0604020202020204" pitchFamily="34" charset="0"/>
              </a:rPr>
              <a:t>轴正方向旋转 </a:t>
            </a:r>
            <a:r>
              <a:rPr lang="en-US" altLang="zh-CN" sz="2000" dirty="0" smtClean="0">
                <a:latin typeface="Arial" panose="020B0604020202020204" pitchFamily="34" charset="0"/>
                <a:cs typeface="Arial" panose="020B0604020202020204" pitchFamily="34" charset="0"/>
              </a:rPr>
              <a:t>45</a:t>
            </a:r>
            <a:r>
              <a:rPr lang="zh-CN" altLang="en-US" sz="2000" dirty="0">
                <a:latin typeface="Arial" panose="020B0604020202020204" pitchFamily="34" charset="0"/>
                <a:cs typeface="Arial" panose="020B0604020202020204" pitchFamily="34" charset="0"/>
              </a:rPr>
              <a:t>度</a:t>
            </a:r>
            <a:endParaRPr lang="en-US" altLang="zh-CN" sz="20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US" altLang="zh-CN" sz="2000" dirty="0" err="1" smtClean="0">
                <a:latin typeface="Arial" panose="020B0604020202020204" pitchFamily="34" charset="0"/>
                <a:cs typeface="Arial" panose="020B0604020202020204" pitchFamily="34" charset="0"/>
              </a:rPr>
              <a:t>transform:rotateZ</a:t>
            </a:r>
            <a:r>
              <a:rPr lang="en-US" altLang="zh-CN" sz="2000" dirty="0" smtClean="0">
                <a:latin typeface="Arial" panose="020B0604020202020204" pitchFamily="34" charset="0"/>
                <a:cs typeface="Arial" panose="020B0604020202020204" pitchFamily="34" charset="0"/>
              </a:rPr>
              <a:t>(45deg</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：沿着</a:t>
            </a:r>
            <a:r>
              <a:rPr lang="en-US" altLang="zh-CN" sz="2000" dirty="0">
                <a:latin typeface="Arial" panose="020B0604020202020204" pitchFamily="34" charset="0"/>
                <a:cs typeface="Arial" panose="020B0604020202020204" pitchFamily="34" charset="0"/>
              </a:rPr>
              <a:t>Z</a:t>
            </a:r>
            <a:r>
              <a:rPr lang="zh-CN" altLang="en-US" sz="2000" dirty="0">
                <a:latin typeface="Arial" panose="020B0604020202020204" pitchFamily="34" charset="0"/>
                <a:cs typeface="Arial" panose="020B0604020202020204" pitchFamily="34" charset="0"/>
              </a:rPr>
              <a:t>轴正方向旋转 </a:t>
            </a:r>
            <a:r>
              <a:rPr lang="en-US" altLang="zh-CN" sz="2000" dirty="0" smtClean="0">
                <a:latin typeface="Arial" panose="020B0604020202020204" pitchFamily="34" charset="0"/>
                <a:cs typeface="Arial" panose="020B0604020202020204" pitchFamily="34" charset="0"/>
              </a:rPr>
              <a:t>45</a:t>
            </a:r>
            <a:r>
              <a:rPr lang="zh-CN" altLang="en-US" sz="2000" dirty="0" smtClean="0">
                <a:latin typeface="Arial" panose="020B0604020202020204" pitchFamily="34" charset="0"/>
                <a:cs typeface="Arial" panose="020B0604020202020204" pitchFamily="34" charset="0"/>
              </a:rPr>
              <a:t>度</a:t>
            </a:r>
            <a:endParaRPr lang="en-US" altLang="zh-CN" sz="2000" dirty="0">
              <a:latin typeface="Arial" panose="020B0604020202020204" pitchFamily="34" charset="0"/>
              <a:cs typeface="Arial" panose="020B0604020202020204" pitchFamily="34" charset="0"/>
            </a:endParaRPr>
          </a:p>
        </p:txBody>
      </p:sp>
      <p:pic>
        <p:nvPicPr>
          <p:cNvPr id="2" name="图片 1"/>
          <p:cNvPicPr>
            <a:picLocks noChangeAspect="1"/>
          </p:cNvPicPr>
          <p:nvPr/>
        </p:nvPicPr>
        <p:blipFill>
          <a:blip r:embed="rId3"/>
          <a:stretch>
            <a:fillRect/>
          </a:stretch>
        </p:blipFill>
        <p:spPr>
          <a:xfrm>
            <a:off x="1534867" y="3927141"/>
            <a:ext cx="3939957" cy="2828558"/>
          </a:xfrm>
          <a:prstGeom prst="rect">
            <a:avLst/>
          </a:prstGeom>
        </p:spPr>
      </p:pic>
      <p:sp>
        <p:nvSpPr>
          <p:cNvPr id="6" name="矩形 5"/>
          <p:cNvSpPr/>
          <p:nvPr/>
        </p:nvSpPr>
        <p:spPr>
          <a:xfrm>
            <a:off x="421401" y="4693148"/>
            <a:ext cx="1210588" cy="506934"/>
          </a:xfrm>
          <a:prstGeom prst="rect">
            <a:avLst/>
          </a:prstGeom>
        </p:spPr>
        <p:txBody>
          <a:bodyPr wrap="none">
            <a:spAutoFit/>
          </a:bodyPr>
          <a:lstStyle/>
          <a:p>
            <a:pPr>
              <a:lnSpc>
                <a:spcPct val="150000"/>
              </a:lnSpc>
            </a:pPr>
            <a:r>
              <a:rPr lang="zh-CN" altLang="en-US" sz="2000" b="1" dirty="0" smtClean="0">
                <a:solidFill>
                  <a:srgbClr val="FF0000"/>
                </a:solidFill>
              </a:rPr>
              <a:t>没加透视</a:t>
            </a:r>
            <a:endParaRPr lang="en-US" altLang="zh-CN" sz="1400" dirty="0">
              <a:solidFill>
                <a:srgbClr val="FF0000"/>
              </a:solidFill>
            </a:endParaRPr>
          </a:p>
        </p:txBody>
      </p:sp>
      <p:pic>
        <p:nvPicPr>
          <p:cNvPr id="11" name="图片 10"/>
          <p:cNvPicPr>
            <a:picLocks noChangeAspect="1"/>
          </p:cNvPicPr>
          <p:nvPr/>
        </p:nvPicPr>
        <p:blipFill>
          <a:blip r:embed="rId4"/>
          <a:stretch>
            <a:fillRect/>
          </a:stretch>
        </p:blipFill>
        <p:spPr>
          <a:xfrm>
            <a:off x="6577929" y="3917450"/>
            <a:ext cx="4649514" cy="2723802"/>
          </a:xfrm>
          <a:prstGeom prst="rect">
            <a:avLst/>
          </a:prstGeom>
        </p:spPr>
      </p:pic>
      <p:sp>
        <p:nvSpPr>
          <p:cNvPr id="10" name="矩形 9"/>
          <p:cNvSpPr/>
          <p:nvPr/>
        </p:nvSpPr>
        <p:spPr>
          <a:xfrm>
            <a:off x="5653166" y="4693148"/>
            <a:ext cx="954107" cy="506934"/>
          </a:xfrm>
          <a:prstGeom prst="rect">
            <a:avLst/>
          </a:prstGeom>
        </p:spPr>
        <p:txBody>
          <a:bodyPr wrap="none">
            <a:spAutoFit/>
          </a:bodyPr>
          <a:lstStyle/>
          <a:p>
            <a:pPr>
              <a:lnSpc>
                <a:spcPct val="150000"/>
              </a:lnSpc>
            </a:pPr>
            <a:r>
              <a:rPr lang="zh-CN" altLang="en-US" sz="2000" b="1" dirty="0">
                <a:solidFill>
                  <a:srgbClr val="FF0000"/>
                </a:solidFill>
              </a:rPr>
              <a:t>加透视</a:t>
            </a:r>
            <a:endParaRPr lang="en-US" altLang="zh-CN" sz="1400" dirty="0">
              <a:solidFill>
                <a:srgbClr val="FF0000"/>
              </a:solidFill>
            </a:endParaRPr>
          </a:p>
        </p:txBody>
      </p:sp>
      <p:sp>
        <p:nvSpPr>
          <p:cNvPr id="12" name="矩形 11"/>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083039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pic>
        <p:nvPicPr>
          <p:cNvPr id="3" name="图片 2"/>
          <p:cNvPicPr>
            <a:picLocks noChangeAspect="1"/>
          </p:cNvPicPr>
          <p:nvPr/>
        </p:nvPicPr>
        <p:blipFill>
          <a:blip r:embed="rId3"/>
          <a:stretch>
            <a:fillRect/>
          </a:stretch>
        </p:blipFill>
        <p:spPr>
          <a:xfrm>
            <a:off x="670705" y="1609871"/>
            <a:ext cx="5658625" cy="1817398"/>
          </a:xfrm>
          <a:prstGeom prst="rect">
            <a:avLst/>
          </a:prstGeom>
        </p:spPr>
      </p:pic>
      <p:pic>
        <p:nvPicPr>
          <p:cNvPr id="5" name="图片 4"/>
          <p:cNvPicPr>
            <a:picLocks noChangeAspect="1"/>
          </p:cNvPicPr>
          <p:nvPr/>
        </p:nvPicPr>
        <p:blipFill>
          <a:blip r:embed="rId4"/>
          <a:stretch>
            <a:fillRect/>
          </a:stretch>
        </p:blipFill>
        <p:spPr>
          <a:xfrm>
            <a:off x="6329330" y="1622210"/>
            <a:ext cx="5461577" cy="2293862"/>
          </a:xfrm>
          <a:prstGeom prst="rect">
            <a:avLst/>
          </a:prstGeom>
        </p:spPr>
      </p:pic>
      <p:pic>
        <p:nvPicPr>
          <p:cNvPr id="6" name="图片 5"/>
          <p:cNvPicPr>
            <a:picLocks noChangeAspect="1"/>
          </p:cNvPicPr>
          <p:nvPr/>
        </p:nvPicPr>
        <p:blipFill>
          <a:blip r:embed="rId5"/>
          <a:stretch>
            <a:fillRect/>
          </a:stretch>
        </p:blipFill>
        <p:spPr>
          <a:xfrm>
            <a:off x="3103418" y="3968350"/>
            <a:ext cx="6135398" cy="2570562"/>
          </a:xfrm>
          <a:prstGeom prst="rect">
            <a:avLst/>
          </a:prstGeom>
        </p:spPr>
      </p:pic>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073417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49568" y="398765"/>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pic>
        <p:nvPicPr>
          <p:cNvPr id="2" name="图片 1"/>
          <p:cNvPicPr>
            <a:picLocks noChangeAspect="1"/>
          </p:cNvPicPr>
          <p:nvPr/>
        </p:nvPicPr>
        <p:blipFill>
          <a:blip r:embed="rId3"/>
          <a:stretch>
            <a:fillRect/>
          </a:stretch>
        </p:blipFill>
        <p:spPr>
          <a:xfrm>
            <a:off x="137638" y="1779109"/>
            <a:ext cx="4152900" cy="2933700"/>
          </a:xfrm>
          <a:prstGeom prst="rect">
            <a:avLst/>
          </a:prstGeom>
        </p:spPr>
      </p:pic>
      <p:pic>
        <p:nvPicPr>
          <p:cNvPr id="7" name="图片 6"/>
          <p:cNvPicPr>
            <a:picLocks noChangeAspect="1"/>
          </p:cNvPicPr>
          <p:nvPr/>
        </p:nvPicPr>
        <p:blipFill>
          <a:blip r:embed="rId4"/>
          <a:stretch>
            <a:fillRect/>
          </a:stretch>
        </p:blipFill>
        <p:spPr>
          <a:xfrm>
            <a:off x="4404662" y="1788404"/>
            <a:ext cx="4033838" cy="2933700"/>
          </a:xfrm>
          <a:prstGeom prst="rect">
            <a:avLst/>
          </a:prstGeom>
        </p:spPr>
      </p:pic>
      <p:pic>
        <p:nvPicPr>
          <p:cNvPr id="8" name="图片 7"/>
          <p:cNvPicPr>
            <a:picLocks noChangeAspect="1"/>
          </p:cNvPicPr>
          <p:nvPr/>
        </p:nvPicPr>
        <p:blipFill>
          <a:blip r:embed="rId5"/>
          <a:stretch>
            <a:fillRect/>
          </a:stretch>
        </p:blipFill>
        <p:spPr>
          <a:xfrm>
            <a:off x="8501496" y="1779109"/>
            <a:ext cx="3588034" cy="2952290"/>
          </a:xfrm>
          <a:prstGeom prst="rect">
            <a:avLst/>
          </a:prstGeom>
        </p:spPr>
      </p:pic>
      <p:sp>
        <p:nvSpPr>
          <p:cNvPr id="9" name="矩形 8"/>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579702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37</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6998" y="384553"/>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a:t>3D</a:t>
            </a:r>
            <a:r>
              <a:rPr lang="zh-CN" altLang="en-US" dirty="0"/>
              <a:t>变换</a:t>
            </a:r>
          </a:p>
        </p:txBody>
      </p:sp>
      <p:sp>
        <p:nvSpPr>
          <p:cNvPr id="7" name="文本框 6"/>
          <p:cNvSpPr txBox="1"/>
          <p:nvPr/>
        </p:nvSpPr>
        <p:spPr>
          <a:xfrm>
            <a:off x="796998" y="1263977"/>
            <a:ext cx="6482691" cy="338554"/>
          </a:xfrm>
          <a:prstGeom prst="rect">
            <a:avLst/>
          </a:prstGeom>
          <a:noFill/>
        </p:spPr>
        <p:txBody>
          <a:bodyPr wrap="square" rtlCol="0">
            <a:spAutoFit/>
          </a:bodyPr>
          <a:lstStyle/>
          <a:p>
            <a:r>
              <a:rPr lang="zh-CN" altLang="en-US" sz="1600" dirty="0" smtClean="0"/>
              <a:t>应用</a:t>
            </a:r>
            <a:r>
              <a:rPr lang="en-US" altLang="zh-CN" sz="1600" dirty="0" smtClean="0"/>
              <a:t>3D</a:t>
            </a:r>
            <a:r>
              <a:rPr lang="zh-CN" altLang="en-US" sz="1600" dirty="0" smtClean="0"/>
              <a:t>变换，当鼠标指针悬停时，完成沿</a:t>
            </a:r>
            <a:r>
              <a:rPr lang="en-US" altLang="zh-CN" sz="1600" dirty="0" smtClean="0"/>
              <a:t>Y</a:t>
            </a:r>
            <a:r>
              <a:rPr lang="zh-CN" altLang="en-US" sz="1600" dirty="0" smtClean="0"/>
              <a:t>轴旋转的效果。</a:t>
            </a:r>
            <a:endParaRPr lang="zh-CN" altLang="en-US" sz="1600" dirty="0"/>
          </a:p>
        </p:txBody>
      </p:sp>
      <p:pic>
        <p:nvPicPr>
          <p:cNvPr id="10" name="图片 9"/>
          <p:cNvPicPr>
            <a:picLocks noChangeAspect="1"/>
          </p:cNvPicPr>
          <p:nvPr/>
        </p:nvPicPr>
        <p:blipFill>
          <a:blip r:embed="rId3"/>
          <a:stretch>
            <a:fillRect/>
          </a:stretch>
        </p:blipFill>
        <p:spPr>
          <a:xfrm>
            <a:off x="9750771" y="913839"/>
            <a:ext cx="2336394" cy="2408405"/>
          </a:xfrm>
          <a:prstGeom prst="rect">
            <a:avLst/>
          </a:prstGeom>
        </p:spPr>
      </p:pic>
      <p:pic>
        <p:nvPicPr>
          <p:cNvPr id="12" name="图片 11"/>
          <p:cNvPicPr>
            <a:picLocks noChangeAspect="1"/>
          </p:cNvPicPr>
          <p:nvPr/>
        </p:nvPicPr>
        <p:blipFill>
          <a:blip r:embed="rId4"/>
          <a:stretch>
            <a:fillRect/>
          </a:stretch>
        </p:blipFill>
        <p:spPr>
          <a:xfrm>
            <a:off x="7333089" y="1079397"/>
            <a:ext cx="2162175" cy="2122429"/>
          </a:xfrm>
          <a:prstGeom prst="rect">
            <a:avLst/>
          </a:prstGeom>
        </p:spPr>
      </p:pic>
      <p:pic>
        <p:nvPicPr>
          <p:cNvPr id="2" name="图片 1"/>
          <p:cNvPicPr>
            <a:picLocks noChangeAspect="1"/>
          </p:cNvPicPr>
          <p:nvPr/>
        </p:nvPicPr>
        <p:blipFill>
          <a:blip r:embed="rId5"/>
          <a:stretch>
            <a:fillRect/>
          </a:stretch>
        </p:blipFill>
        <p:spPr>
          <a:xfrm>
            <a:off x="885825" y="1602531"/>
            <a:ext cx="4838700" cy="5194486"/>
          </a:xfrm>
          <a:prstGeom prst="rect">
            <a:avLst/>
          </a:prstGeom>
        </p:spPr>
      </p:pic>
      <p:pic>
        <p:nvPicPr>
          <p:cNvPr id="3" name="图片 2"/>
          <p:cNvPicPr>
            <a:picLocks noChangeAspect="1"/>
          </p:cNvPicPr>
          <p:nvPr/>
        </p:nvPicPr>
        <p:blipFill>
          <a:blip r:embed="rId6"/>
          <a:stretch>
            <a:fillRect/>
          </a:stretch>
        </p:blipFill>
        <p:spPr>
          <a:xfrm>
            <a:off x="7333089" y="4017088"/>
            <a:ext cx="4514850" cy="762000"/>
          </a:xfrm>
          <a:prstGeom prst="rect">
            <a:avLst/>
          </a:prstGeom>
        </p:spPr>
      </p:pic>
      <p:sp>
        <p:nvSpPr>
          <p:cNvPr id="9" name="矩形 8"/>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5106739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38</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5</a:t>
            </a:r>
            <a:r>
              <a:rPr lang="zh-CN" altLang="en-US" dirty="0" smtClean="0"/>
              <a:t>、过渡</a:t>
            </a:r>
            <a:endParaRPr lang="zh-CN" altLang="en-US" dirty="0"/>
          </a:p>
        </p:txBody>
      </p:sp>
      <p:sp>
        <p:nvSpPr>
          <p:cNvPr id="7" name="矩形 6"/>
          <p:cNvSpPr/>
          <p:nvPr/>
        </p:nvSpPr>
        <p:spPr>
          <a:xfrm>
            <a:off x="795867" y="1609871"/>
            <a:ext cx="11000127" cy="400110"/>
          </a:xfrm>
          <a:prstGeom prst="rect">
            <a:avLst/>
          </a:prstGeom>
        </p:spPr>
        <p:txBody>
          <a:bodyPr wrap="none">
            <a:spAutoFit/>
          </a:bodyPr>
          <a:lstStyle/>
          <a:p>
            <a:r>
              <a:rPr lang="en-US" altLang="zh-CN" sz="2000" dirty="0" smtClean="0">
                <a:latin typeface="宋体" panose="02010600030101010101" pitchFamily="2" charset="-122"/>
                <a:ea typeface="宋体" panose="02010600030101010101" pitchFamily="2" charset="-122"/>
              </a:rPr>
              <a:t>CSS3</a:t>
            </a:r>
            <a:r>
              <a:rPr lang="zh-CN" altLang="en-US" sz="2000" dirty="0" smtClean="0">
                <a:latin typeface="宋体" panose="02010600030101010101" pitchFamily="2" charset="-122"/>
                <a:ea typeface="宋体" panose="02010600030101010101" pitchFamily="2" charset="-122"/>
              </a:rPr>
              <a:t>过渡可以使元素在规定时间内，从一种样式逐渐改变为另一种样式。常见的过渡属性如下：</a:t>
            </a:r>
            <a:endParaRPr lang="zh-CN" altLang="en-US" sz="2000" dirty="0">
              <a:latin typeface="宋体" panose="02010600030101010101" pitchFamily="2" charset="-122"/>
              <a:ea typeface="宋体"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463138879"/>
              </p:ext>
            </p:extLst>
          </p:nvPr>
        </p:nvGraphicFramePr>
        <p:xfrm>
          <a:off x="921584" y="2284559"/>
          <a:ext cx="9268458" cy="2433320"/>
        </p:xfrm>
        <a:graphic>
          <a:graphicData uri="http://schemas.openxmlformats.org/drawingml/2006/table">
            <a:tbl>
              <a:tblPr firstRow="1" bandRow="1">
                <a:tableStyleId>{5C22544A-7EE6-4342-B048-85BDC9FD1C3A}</a:tableStyleId>
              </a:tblPr>
              <a:tblGrid>
                <a:gridCol w="3496980">
                  <a:extLst>
                    <a:ext uri="{9D8B030D-6E8A-4147-A177-3AD203B41FA5}">
                      <a16:colId xmlns:a16="http://schemas.microsoft.com/office/drawing/2014/main" val="1489289904"/>
                    </a:ext>
                  </a:extLst>
                </a:gridCol>
                <a:gridCol w="5771478">
                  <a:extLst>
                    <a:ext uri="{9D8B030D-6E8A-4147-A177-3AD203B41FA5}">
                      <a16:colId xmlns:a16="http://schemas.microsoft.com/office/drawing/2014/main" val="3260494651"/>
                    </a:ext>
                  </a:extLst>
                </a:gridCol>
              </a:tblGrid>
              <a:tr h="370840">
                <a:tc>
                  <a:txBody>
                    <a:bodyPr/>
                    <a:lstStyle/>
                    <a:p>
                      <a:r>
                        <a:rPr lang="zh-CN" altLang="en-US" sz="1600" dirty="0" smtClean="0">
                          <a:latin typeface="Arial" panose="020B0604020202020204" pitchFamily="34" charset="0"/>
                          <a:cs typeface="Arial" panose="020B0604020202020204" pitchFamily="34" charset="0"/>
                        </a:rPr>
                        <a:t>属性</a:t>
                      </a:r>
                      <a:endParaRPr lang="zh-CN" altLang="en-US" sz="1600" dirty="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说明</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02268856"/>
                  </a:ext>
                </a:extLst>
              </a:tr>
              <a:tr h="370840">
                <a:tc>
                  <a:txBody>
                    <a:bodyPr/>
                    <a:lstStyle/>
                    <a:p>
                      <a:r>
                        <a:rPr lang="en-US" altLang="zh-CN" sz="1600" dirty="0" smtClean="0">
                          <a:latin typeface="Arial" panose="020B0604020202020204" pitchFamily="34" charset="0"/>
                          <a:cs typeface="Arial" panose="020B0604020202020204" pitchFamily="34" charset="0"/>
                        </a:rPr>
                        <a:t>transition</a:t>
                      </a:r>
                      <a:endParaRPr lang="zh-CN" altLang="en-US" sz="1600" dirty="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简写属性</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39896866"/>
                  </a:ext>
                </a:extLst>
              </a:tr>
              <a:tr h="370840">
                <a:tc>
                  <a:txBody>
                    <a:bodyPr/>
                    <a:lstStyle/>
                    <a:p>
                      <a:r>
                        <a:rPr lang="en-US" altLang="zh-CN" sz="1600" dirty="0" smtClean="0">
                          <a:latin typeface="Arial" panose="020B0604020202020204" pitchFamily="34" charset="0"/>
                          <a:cs typeface="Arial" panose="020B0604020202020204" pitchFamily="34" charset="0"/>
                        </a:rPr>
                        <a:t>transition-property</a:t>
                      </a:r>
                      <a:endParaRPr lang="zh-CN" altLang="en-US" sz="1600" dirty="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哪些</a:t>
                      </a:r>
                      <a:r>
                        <a:rPr lang="en-US" altLang="zh-CN" sz="1600" dirty="0" smtClean="0">
                          <a:latin typeface="Arial" panose="020B0604020202020204" pitchFamily="34" charset="0"/>
                          <a:cs typeface="Arial" panose="020B0604020202020204" pitchFamily="34" charset="0"/>
                        </a:rPr>
                        <a:t>CSS</a:t>
                      </a:r>
                      <a:r>
                        <a:rPr lang="zh-CN" altLang="en-US" sz="1600" dirty="0" smtClean="0">
                          <a:latin typeface="Arial" panose="020B0604020202020204" pitchFamily="34" charset="0"/>
                          <a:cs typeface="Arial" panose="020B0604020202020204" pitchFamily="34" charset="0"/>
                        </a:rPr>
                        <a:t>属性产生变化，多个属性用逗号隔开，所有属性用</a:t>
                      </a:r>
                      <a:r>
                        <a:rPr lang="en-US" altLang="zh-CN" sz="1600" dirty="0" smtClean="0">
                          <a:latin typeface="Arial" panose="020B0604020202020204" pitchFamily="34" charset="0"/>
                          <a:cs typeface="Arial" panose="020B0604020202020204" pitchFamily="34" charset="0"/>
                        </a:rPr>
                        <a:t>all</a:t>
                      </a:r>
                      <a:r>
                        <a:rPr lang="zh-CN" altLang="en-US" sz="1600" dirty="0" smtClean="0">
                          <a:latin typeface="Arial" panose="020B0604020202020204" pitchFamily="34" charset="0"/>
                          <a:cs typeface="Arial" panose="020B0604020202020204" pitchFamily="34" charset="0"/>
                        </a:rPr>
                        <a:t>表示</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9192579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Arial" panose="020B0604020202020204" pitchFamily="34" charset="0"/>
                          <a:cs typeface="Arial" panose="020B0604020202020204" pitchFamily="34" charset="0"/>
                        </a:rPr>
                        <a:t>transition-duration</a:t>
                      </a:r>
                      <a:endParaRPr lang="zh-CN" altLang="en-US" sz="1600" dirty="0" smtClean="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时长</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920998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Arial" panose="020B0604020202020204" pitchFamily="34" charset="0"/>
                          <a:cs typeface="Arial" panose="020B0604020202020204" pitchFamily="34" charset="0"/>
                        </a:rPr>
                        <a:t>transition-delay</a:t>
                      </a:r>
                      <a:endParaRPr lang="zh-CN" altLang="en-US" sz="1600" dirty="0" smtClean="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过渡效果何时开始</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304424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Arial" panose="020B0604020202020204" pitchFamily="34" charset="0"/>
                          <a:cs typeface="Arial" panose="020B0604020202020204" pitchFamily="34" charset="0"/>
                        </a:rPr>
                        <a:t>transition-timing-function</a:t>
                      </a:r>
                      <a:endParaRPr lang="zh-CN" altLang="en-US" sz="1600" dirty="0" smtClean="0">
                        <a:latin typeface="Arial" panose="020B0604020202020204" pitchFamily="34" charset="0"/>
                        <a:cs typeface="Arial" panose="020B0604020202020204" pitchFamily="34" charset="0"/>
                      </a:endParaRPr>
                    </a:p>
                  </a:txBody>
                  <a:tcPr/>
                </a:tc>
                <a:tc>
                  <a:txBody>
                    <a:bodyPr/>
                    <a:lstStyle/>
                    <a:p>
                      <a:r>
                        <a:rPr lang="zh-CN" altLang="en-US" sz="1600" dirty="0" smtClean="0">
                          <a:latin typeface="Arial" panose="020B0604020202020204" pitchFamily="34" charset="0"/>
                          <a:cs typeface="Arial" panose="020B0604020202020204" pitchFamily="34" charset="0"/>
                        </a:rPr>
                        <a:t>过渡效果的时间曲线</a:t>
                      </a:r>
                      <a:endParaRPr lang="zh-CN" altLang="en-US"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33427370"/>
                  </a:ext>
                </a:extLst>
              </a:tr>
            </a:tbl>
          </a:graphicData>
        </a:graphic>
      </p:graphicFrame>
      <p:sp>
        <p:nvSpPr>
          <p:cNvPr id="5" name="矩形 4"/>
          <p:cNvSpPr/>
          <p:nvPr/>
        </p:nvSpPr>
        <p:spPr>
          <a:xfrm>
            <a:off x="921584" y="4969252"/>
            <a:ext cx="9360934" cy="1569660"/>
          </a:xfrm>
          <a:prstGeom prst="rect">
            <a:avLst/>
          </a:prstGeom>
        </p:spPr>
        <p:txBody>
          <a:bodyPr wrap="square">
            <a:spAutoFit/>
          </a:bodyPr>
          <a:lstStyle/>
          <a:p>
            <a:r>
              <a:rPr lang="en-US" altLang="zh-CN" sz="1600" dirty="0">
                <a:latin typeface="Arial" panose="020B0604020202020204" pitchFamily="34" charset="0"/>
                <a:cs typeface="Arial" panose="020B0604020202020204" pitchFamily="34" charset="0"/>
              </a:rPr>
              <a:t>transition-timing-function</a:t>
            </a:r>
            <a:r>
              <a:rPr lang="zh-CN" altLang="en-US" sz="1600" dirty="0">
                <a:latin typeface="Arial" panose="020B0604020202020204" pitchFamily="34" charset="0"/>
                <a:cs typeface="Arial" panose="020B0604020202020204" pitchFamily="34" charset="0"/>
              </a:rPr>
              <a:t>属性</a:t>
            </a:r>
            <a:r>
              <a:rPr lang="zh-CN" altLang="en-US" sz="1600" dirty="0" smtClean="0">
                <a:latin typeface="Arial" panose="020B0604020202020204" pitchFamily="34" charset="0"/>
                <a:cs typeface="Arial" panose="020B0604020202020204" pitchFamily="34" charset="0"/>
              </a:rPr>
              <a:t>值：</a:t>
            </a:r>
            <a:endParaRPr lang="en-US" altLang="zh-C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dirty="0">
                <a:latin typeface="Arial" panose="020B0604020202020204" pitchFamily="34" charset="0"/>
                <a:cs typeface="Arial" panose="020B0604020202020204" pitchFamily="34" charset="0"/>
              </a:rPr>
              <a:t>linear</a:t>
            </a:r>
            <a:r>
              <a:rPr lang="zh-CN" altLang="en-US" sz="1600" dirty="0" smtClean="0">
                <a:latin typeface="Arial" panose="020B0604020202020204" pitchFamily="34" charset="0"/>
                <a:cs typeface="Arial" panose="020B0604020202020204" pitchFamily="34" charset="0"/>
              </a:rPr>
              <a:t>：匀速</a:t>
            </a:r>
            <a:endParaRPr lang="en-US" altLang="zh-C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dirty="0" smtClean="0">
                <a:latin typeface="Arial" panose="020B0604020202020204" pitchFamily="34" charset="0"/>
                <a:cs typeface="Arial" panose="020B0604020202020204" pitchFamily="34" charset="0"/>
              </a:rPr>
              <a:t>ease</a:t>
            </a:r>
            <a:r>
              <a:rPr lang="zh-CN" altLang="en-US" sz="1600" dirty="0" smtClean="0">
                <a:latin typeface="Arial" panose="020B0604020202020204" pitchFamily="34" charset="0"/>
                <a:cs typeface="Arial" panose="020B0604020202020204" pitchFamily="34" charset="0"/>
              </a:rPr>
              <a:t>：慢</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快</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慢</a:t>
            </a:r>
            <a:endParaRPr lang="en-US" altLang="zh-C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dirty="0" smtClean="0">
                <a:latin typeface="Arial" panose="020B0604020202020204" pitchFamily="34" charset="0"/>
                <a:cs typeface="Arial" panose="020B0604020202020204" pitchFamily="34" charset="0"/>
              </a:rPr>
              <a:t>ease-in</a:t>
            </a:r>
            <a:r>
              <a:rPr lang="zh-CN" altLang="en-US" sz="1600" dirty="0" smtClean="0">
                <a:latin typeface="Arial" panose="020B0604020202020204" pitchFamily="34" charset="0"/>
                <a:cs typeface="Arial" panose="020B0604020202020204" pitchFamily="34" charset="0"/>
              </a:rPr>
              <a:t>：慢</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快</a:t>
            </a:r>
            <a:endParaRPr lang="en-US" altLang="zh-C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dirty="0" smtClean="0">
                <a:latin typeface="Arial" panose="020B0604020202020204" pitchFamily="34" charset="0"/>
                <a:cs typeface="Arial" panose="020B0604020202020204" pitchFamily="34" charset="0"/>
              </a:rPr>
              <a:t>ease-out</a:t>
            </a:r>
            <a:r>
              <a:rPr lang="zh-CN" altLang="en-US" sz="1600" dirty="0" smtClean="0">
                <a:latin typeface="Arial" panose="020B0604020202020204" pitchFamily="34" charset="0"/>
                <a:cs typeface="Arial" panose="020B0604020202020204" pitchFamily="34" charset="0"/>
              </a:rPr>
              <a:t>：快</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慢</a:t>
            </a:r>
            <a:endParaRPr lang="en-US" altLang="zh-C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altLang="zh-CN" sz="1600" dirty="0" smtClean="0">
                <a:latin typeface="Arial" panose="020B0604020202020204" pitchFamily="34" charset="0"/>
                <a:cs typeface="Arial" panose="020B0604020202020204" pitchFamily="34" charset="0"/>
              </a:rPr>
              <a:t>ease-in-out</a:t>
            </a:r>
            <a:r>
              <a:rPr lang="zh-CN" altLang="en-US" sz="1600" dirty="0" smtClean="0">
                <a:latin typeface="Arial" panose="020B0604020202020204" pitchFamily="34" charset="0"/>
                <a:cs typeface="Arial" panose="020B0604020202020204" pitchFamily="34" charset="0"/>
              </a:rPr>
              <a:t>：慢</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快</a:t>
            </a:r>
            <a:r>
              <a:rPr lang="en-US" altLang="zh-CN" sz="1600" dirty="0" smtClean="0">
                <a:latin typeface="Arial" panose="020B0604020202020204" pitchFamily="34" charset="0"/>
                <a:cs typeface="Arial" panose="020B0604020202020204" pitchFamily="34" charset="0"/>
              </a:rPr>
              <a:t>-</a:t>
            </a:r>
            <a:r>
              <a:rPr lang="zh-CN" altLang="en-US" sz="1600" dirty="0" smtClean="0">
                <a:latin typeface="Arial" panose="020B0604020202020204" pitchFamily="34" charset="0"/>
                <a:cs typeface="Arial" panose="020B0604020202020204" pitchFamily="34" charset="0"/>
              </a:rPr>
              <a:t>慢</a:t>
            </a:r>
            <a:endParaRPr lang="zh-CN" altLang="en-US" sz="1600" dirty="0">
              <a:latin typeface="Arial" panose="020B0604020202020204" pitchFamily="34" charset="0"/>
              <a:cs typeface="Arial" panose="020B0604020202020204" pitchFamily="34" charset="0"/>
            </a:endParaRPr>
          </a:p>
        </p:txBody>
      </p:sp>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345499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39</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5</a:t>
            </a:r>
            <a:r>
              <a:rPr lang="zh-CN" altLang="en-US" dirty="0" smtClean="0"/>
              <a:t>、过渡</a:t>
            </a:r>
            <a:endParaRPr lang="zh-CN" altLang="en-US" dirty="0"/>
          </a:p>
        </p:txBody>
      </p:sp>
      <p:sp>
        <p:nvSpPr>
          <p:cNvPr id="7" name="矩形 6"/>
          <p:cNvSpPr/>
          <p:nvPr/>
        </p:nvSpPr>
        <p:spPr>
          <a:xfrm>
            <a:off x="795867" y="1515886"/>
            <a:ext cx="9296135" cy="400110"/>
          </a:xfrm>
          <a:prstGeom prst="rect">
            <a:avLst/>
          </a:prstGeom>
        </p:spPr>
        <p:txBody>
          <a:bodyPr wrap="none">
            <a:spAutoFit/>
          </a:bodyPr>
          <a:lstStyle/>
          <a:p>
            <a:r>
              <a:rPr lang="zh-CN" altLang="en-US" sz="2000" dirty="0" smtClean="0">
                <a:latin typeface="宋体" panose="02010600030101010101" pitchFamily="2" charset="-122"/>
                <a:ea typeface="宋体" panose="02010600030101010101" pitchFamily="2" charset="-122"/>
              </a:rPr>
              <a:t>例</a:t>
            </a:r>
            <a:r>
              <a:rPr lang="en-US" altLang="zh-CN" sz="2000" dirty="0" smtClean="0">
                <a:latin typeface="宋体" panose="02010600030101010101" pitchFamily="2" charset="-122"/>
                <a:ea typeface="宋体" panose="02010600030101010101" pitchFamily="2" charset="-122"/>
              </a:rPr>
              <a:t>1</a:t>
            </a:r>
            <a:r>
              <a:rPr lang="zh-CN" altLang="en-US" sz="2000" dirty="0" smtClean="0">
                <a:latin typeface="宋体" panose="02010600030101010101" pitchFamily="2" charset="-122"/>
                <a:ea typeface="宋体" panose="02010600030101010101" pitchFamily="2" charset="-122"/>
              </a:rPr>
              <a:t>：应用过渡效果，当鼠标指针悬停时，完成开关圆钮滑动和背景色变换效果：</a:t>
            </a:r>
            <a:endParaRPr lang="zh-CN" altLang="en-US" sz="2000" dirty="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091052" y="2113261"/>
            <a:ext cx="742950" cy="409575"/>
          </a:xfrm>
          <a:prstGeom prst="rect">
            <a:avLst/>
          </a:prstGeom>
        </p:spPr>
      </p:pic>
      <p:pic>
        <p:nvPicPr>
          <p:cNvPr id="6" name="图片 5"/>
          <p:cNvPicPr>
            <a:picLocks noChangeAspect="1"/>
          </p:cNvPicPr>
          <p:nvPr/>
        </p:nvPicPr>
        <p:blipFill>
          <a:blip r:embed="rId4"/>
          <a:stretch>
            <a:fillRect/>
          </a:stretch>
        </p:blipFill>
        <p:spPr>
          <a:xfrm>
            <a:off x="2392177" y="2084005"/>
            <a:ext cx="799259" cy="498361"/>
          </a:xfrm>
          <a:prstGeom prst="rect">
            <a:avLst/>
          </a:prstGeom>
        </p:spPr>
      </p:pic>
      <p:sp>
        <p:nvSpPr>
          <p:cNvPr id="8" name="右箭头 7"/>
          <p:cNvSpPr/>
          <p:nvPr/>
        </p:nvSpPr>
        <p:spPr>
          <a:xfrm>
            <a:off x="1913285" y="2161215"/>
            <a:ext cx="478892" cy="343939"/>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5"/>
          <a:stretch>
            <a:fillRect/>
          </a:stretch>
        </p:blipFill>
        <p:spPr>
          <a:xfrm>
            <a:off x="3646654" y="2031233"/>
            <a:ext cx="2562225" cy="714375"/>
          </a:xfrm>
          <a:prstGeom prst="rect">
            <a:avLst/>
          </a:prstGeom>
        </p:spPr>
      </p:pic>
      <p:pic>
        <p:nvPicPr>
          <p:cNvPr id="5" name="图片 4"/>
          <p:cNvPicPr>
            <a:picLocks noChangeAspect="1"/>
          </p:cNvPicPr>
          <p:nvPr/>
        </p:nvPicPr>
        <p:blipFill>
          <a:blip r:embed="rId6"/>
          <a:stretch>
            <a:fillRect/>
          </a:stretch>
        </p:blipFill>
        <p:spPr>
          <a:xfrm>
            <a:off x="119623" y="2927620"/>
            <a:ext cx="6143625" cy="3238500"/>
          </a:xfrm>
          <a:prstGeom prst="rect">
            <a:avLst/>
          </a:prstGeom>
        </p:spPr>
      </p:pic>
      <p:pic>
        <p:nvPicPr>
          <p:cNvPr id="9" name="图片 8"/>
          <p:cNvPicPr>
            <a:picLocks noChangeAspect="1"/>
          </p:cNvPicPr>
          <p:nvPr/>
        </p:nvPicPr>
        <p:blipFill>
          <a:blip r:embed="rId7"/>
          <a:stretch>
            <a:fillRect/>
          </a:stretch>
        </p:blipFill>
        <p:spPr>
          <a:xfrm>
            <a:off x="6205538" y="2960433"/>
            <a:ext cx="5986462" cy="3761042"/>
          </a:xfrm>
          <a:prstGeom prst="rect">
            <a:avLst/>
          </a:prstGeom>
        </p:spPr>
      </p:pic>
      <p:sp>
        <p:nvSpPr>
          <p:cNvPr id="11" name="矩形 10"/>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7092536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40</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5</a:t>
            </a:r>
            <a:r>
              <a:rPr lang="zh-CN" altLang="en-US" dirty="0" smtClean="0"/>
              <a:t>、过渡</a:t>
            </a:r>
            <a:endParaRPr lang="zh-CN" altLang="en-US" dirty="0"/>
          </a:p>
        </p:txBody>
      </p:sp>
      <p:sp>
        <p:nvSpPr>
          <p:cNvPr id="7" name="矩形 6"/>
          <p:cNvSpPr/>
          <p:nvPr/>
        </p:nvSpPr>
        <p:spPr>
          <a:xfrm>
            <a:off x="795867" y="1609871"/>
            <a:ext cx="8964313" cy="461665"/>
          </a:xfrm>
          <a:prstGeom prst="rect">
            <a:avLst/>
          </a:prstGeom>
        </p:spPr>
        <p:txBody>
          <a:bodyPr wrap="none">
            <a:spAutoFit/>
          </a:bodyPr>
          <a:lstStyle/>
          <a:p>
            <a:r>
              <a:rPr lang="zh-CN" altLang="en-US" sz="2400" dirty="0" smtClean="0">
                <a:latin typeface="宋体" panose="02010600030101010101" pitchFamily="2" charset="-122"/>
                <a:ea typeface="宋体" panose="02010600030101010101" pitchFamily="2" charset="-122"/>
              </a:rPr>
              <a:t>例</a:t>
            </a: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：应用过渡效果，当鼠标指针悬停时，文字部分与父元素重合</a:t>
            </a:r>
            <a:endParaRPr lang="zh-CN" altLang="en-US" sz="2400" dirty="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3"/>
          <a:stretch>
            <a:fillRect/>
          </a:stretch>
        </p:blipFill>
        <p:spPr>
          <a:xfrm>
            <a:off x="795867" y="2400292"/>
            <a:ext cx="4692183" cy="1760405"/>
          </a:xfrm>
          <a:prstGeom prst="rect">
            <a:avLst/>
          </a:prstGeom>
        </p:spPr>
      </p:pic>
      <p:pic>
        <p:nvPicPr>
          <p:cNvPr id="2" name="图片 1"/>
          <p:cNvPicPr>
            <a:picLocks noChangeAspect="1"/>
          </p:cNvPicPr>
          <p:nvPr/>
        </p:nvPicPr>
        <p:blipFill>
          <a:blip r:embed="rId4"/>
          <a:stretch>
            <a:fillRect/>
          </a:stretch>
        </p:blipFill>
        <p:spPr>
          <a:xfrm>
            <a:off x="6150753" y="2342081"/>
            <a:ext cx="4768215" cy="1820716"/>
          </a:xfrm>
          <a:prstGeom prst="rect">
            <a:avLst/>
          </a:prstGeom>
        </p:spPr>
      </p:pic>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6811629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41</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6</a:t>
            </a:r>
            <a:r>
              <a:rPr lang="zh-CN" altLang="en-US" dirty="0" smtClean="0"/>
              <a:t>、动画</a:t>
            </a:r>
            <a:endParaRPr lang="zh-CN" altLang="en-US" dirty="0"/>
          </a:p>
        </p:txBody>
      </p:sp>
      <p:sp>
        <p:nvSpPr>
          <p:cNvPr id="5" name="矩形 4"/>
          <p:cNvSpPr/>
          <p:nvPr/>
        </p:nvSpPr>
        <p:spPr>
          <a:xfrm>
            <a:off x="932993" y="1437240"/>
            <a:ext cx="9848850" cy="1889941"/>
          </a:xfrm>
          <a:prstGeom prst="rect">
            <a:avLst/>
          </a:prstGeom>
        </p:spPr>
        <p:txBody>
          <a:bodyPr wrap="square">
            <a:spAutoFit/>
          </a:bodyPr>
          <a:lstStyle/>
          <a:p>
            <a:pPr>
              <a:lnSpc>
                <a:spcPct val="150000"/>
              </a:lnSpc>
            </a:pPr>
            <a:r>
              <a:rPr lang="zh-CN" altLang="en-US" sz="2000" b="1" dirty="0">
                <a:solidFill>
                  <a:srgbClr val="FF0000"/>
                </a:solidFill>
                <a:latin typeface="Arial" panose="020B0604020202020204" pitchFamily="34" charset="0"/>
                <a:cs typeface="Arial" panose="020B0604020202020204" pitchFamily="34" charset="0"/>
              </a:rPr>
              <a:t>动画（</a:t>
            </a:r>
            <a:r>
              <a:rPr lang="en-US" altLang="zh-CN" sz="2000" b="1" dirty="0">
                <a:solidFill>
                  <a:srgbClr val="FF0000"/>
                </a:solidFill>
                <a:latin typeface="Arial" panose="020B0604020202020204" pitchFamily="34" charset="0"/>
                <a:cs typeface="Arial" panose="020B0604020202020204" pitchFamily="34" charset="0"/>
              </a:rPr>
              <a:t>animation</a:t>
            </a:r>
            <a:r>
              <a:rPr lang="zh-CN" altLang="en-US" sz="2000" b="1" dirty="0">
                <a:solidFill>
                  <a:srgbClr val="FF0000"/>
                </a:solidFill>
                <a:latin typeface="Arial" panose="020B0604020202020204" pitchFamily="34" charset="0"/>
                <a:cs typeface="Arial" panose="020B0604020202020204" pitchFamily="34" charset="0"/>
              </a:rPr>
              <a:t>）</a:t>
            </a:r>
            <a:r>
              <a:rPr lang="zh-CN" altLang="en-US" sz="2000" dirty="0">
                <a:latin typeface="Arial" panose="020B0604020202020204" pitchFamily="34" charset="0"/>
                <a:cs typeface="Arial" panose="020B0604020202020204" pitchFamily="34" charset="0"/>
              </a:rPr>
              <a:t>是</a:t>
            </a:r>
            <a:r>
              <a:rPr lang="en-US" altLang="zh-CN" sz="2000" dirty="0">
                <a:latin typeface="Arial" panose="020B0604020202020204" pitchFamily="34" charset="0"/>
                <a:cs typeface="Arial" panose="020B0604020202020204" pitchFamily="34" charset="0"/>
              </a:rPr>
              <a:t>CSS3</a:t>
            </a:r>
            <a:r>
              <a:rPr lang="zh-CN" altLang="en-US" sz="2000" dirty="0">
                <a:latin typeface="Arial" panose="020B0604020202020204" pitchFamily="34" charset="0"/>
                <a:cs typeface="Arial" panose="020B0604020202020204" pitchFamily="34" charset="0"/>
              </a:rPr>
              <a:t>中具有颠覆性的特征之一</a:t>
            </a:r>
            <a:r>
              <a:rPr lang="zh-CN" altLang="en-US" sz="2000" dirty="0" smtClean="0">
                <a:latin typeface="Arial" panose="020B0604020202020204" pitchFamily="34" charset="0"/>
                <a:cs typeface="Arial" panose="020B0604020202020204" pitchFamily="34" charset="0"/>
              </a:rPr>
              <a:t>，是由静态图片连续播放而成的，静态图片称为关键帧（</a:t>
            </a:r>
            <a:r>
              <a:rPr lang="en-US" altLang="zh-CN" sz="2000" dirty="0" smtClean="0">
                <a:latin typeface="Arial" panose="020B0604020202020204" pitchFamily="34" charset="0"/>
                <a:cs typeface="Arial" panose="020B0604020202020204" pitchFamily="34" charset="0"/>
              </a:rPr>
              <a:t>Key Frame</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CSS3</a:t>
            </a:r>
            <a:r>
              <a:rPr lang="zh-CN" altLang="en-US" sz="2000" dirty="0" smtClean="0">
                <a:latin typeface="Arial" panose="020B0604020202020204" pitchFamily="34" charset="0"/>
                <a:cs typeface="Arial" panose="020B0604020202020204" pitchFamily="34" charset="0"/>
              </a:rPr>
              <a:t>支持动画创建，可以代替动画图片、</a:t>
            </a:r>
            <a:r>
              <a:rPr lang="en-US" altLang="zh-CN" sz="2000" dirty="0" smtClean="0">
                <a:latin typeface="Arial" panose="020B0604020202020204" pitchFamily="34" charset="0"/>
                <a:cs typeface="Arial" panose="020B0604020202020204" pitchFamily="34" charset="0"/>
              </a:rPr>
              <a:t>Flash</a:t>
            </a:r>
            <a:r>
              <a:rPr lang="zh-CN" altLang="en-US" sz="2000" dirty="0" smtClean="0">
                <a:latin typeface="Arial" panose="020B0604020202020204" pitchFamily="34" charset="0"/>
                <a:cs typeface="Arial" panose="020B0604020202020204" pitchFamily="34" charset="0"/>
              </a:rPr>
              <a:t>以及部分</a:t>
            </a:r>
            <a:r>
              <a:rPr lang="en-US" altLang="zh-CN" sz="2000" dirty="0" smtClean="0">
                <a:latin typeface="Arial" panose="020B0604020202020204" pitchFamily="34" charset="0"/>
                <a:cs typeface="Arial" panose="020B0604020202020204" pitchFamily="34" charset="0"/>
              </a:rPr>
              <a:t>JavaScript</a:t>
            </a:r>
            <a:r>
              <a:rPr lang="zh-CN" altLang="en-US" sz="2000" dirty="0" smtClean="0">
                <a:latin typeface="Arial" panose="020B0604020202020204" pitchFamily="34" charset="0"/>
                <a:cs typeface="Arial" panose="020B0604020202020204" pitchFamily="34" charset="0"/>
              </a:rPr>
              <a:t>动态效果。相比较</a:t>
            </a:r>
            <a:r>
              <a:rPr lang="zh-CN" altLang="en-US" sz="2000" dirty="0">
                <a:latin typeface="Arial" panose="020B0604020202020204" pitchFamily="34" charset="0"/>
                <a:cs typeface="Arial" panose="020B0604020202020204" pitchFamily="34" charset="0"/>
              </a:rPr>
              <a:t>过渡，动画可以实现更多变化，更多控制，连续自动播放等效果。</a:t>
            </a:r>
            <a:endParaRPr lang="en-US" altLang="zh-CN" sz="1400" dirty="0" smtClean="0">
              <a:latin typeface="Arial" panose="020B0604020202020204" pitchFamily="34" charset="0"/>
              <a:cs typeface="Arial" panose="020B0604020202020204" pitchFamily="34" charset="0"/>
            </a:endParaRPr>
          </a:p>
        </p:txBody>
      </p:sp>
      <p:sp>
        <p:nvSpPr>
          <p:cNvPr id="6" name="矩形 5"/>
          <p:cNvSpPr/>
          <p:nvPr/>
        </p:nvSpPr>
        <p:spPr>
          <a:xfrm>
            <a:off x="932993" y="3583000"/>
            <a:ext cx="5562741" cy="400110"/>
          </a:xfrm>
          <a:prstGeom prst="rect">
            <a:avLst/>
          </a:prstGeom>
        </p:spPr>
        <p:txBody>
          <a:bodyPr wrap="none">
            <a:spAutoFit/>
          </a:bodyPr>
          <a:lstStyle/>
          <a:p>
            <a:pPr marL="342900" indent="-342900">
              <a:buFont typeface="+mj-ea"/>
              <a:buAutoNum type="circleNumDbPlain"/>
            </a:pPr>
            <a:r>
              <a:rPr lang="zh-CN" altLang="en-US" sz="2000" dirty="0" smtClean="0"/>
              <a:t>用</a:t>
            </a:r>
            <a:r>
              <a:rPr lang="en-US" altLang="zh-CN" sz="2000" dirty="0" err="1"/>
              <a:t>keyframes</a:t>
            </a:r>
            <a:r>
              <a:rPr lang="en-US" altLang="zh-CN" sz="2000" dirty="0"/>
              <a:t> </a:t>
            </a:r>
            <a:r>
              <a:rPr lang="zh-CN" altLang="en-US" sz="2000" dirty="0"/>
              <a:t>定义动画（类似定义类选择器）</a:t>
            </a:r>
          </a:p>
        </p:txBody>
      </p:sp>
      <p:pic>
        <p:nvPicPr>
          <p:cNvPr id="7" name="图片 6"/>
          <p:cNvPicPr>
            <a:picLocks noChangeAspect="1"/>
          </p:cNvPicPr>
          <p:nvPr/>
        </p:nvPicPr>
        <p:blipFill>
          <a:blip r:embed="rId3"/>
          <a:stretch>
            <a:fillRect/>
          </a:stretch>
        </p:blipFill>
        <p:spPr>
          <a:xfrm>
            <a:off x="1415667" y="4200025"/>
            <a:ext cx="2546973" cy="2338887"/>
          </a:xfrm>
          <a:prstGeom prst="rect">
            <a:avLst/>
          </a:prstGeom>
        </p:spPr>
      </p:pic>
      <p:sp>
        <p:nvSpPr>
          <p:cNvPr id="8" name="矩形 7"/>
          <p:cNvSpPr/>
          <p:nvPr/>
        </p:nvSpPr>
        <p:spPr>
          <a:xfrm>
            <a:off x="7140095" y="3556728"/>
            <a:ext cx="3827947" cy="465448"/>
          </a:xfrm>
          <a:prstGeom prst="rect">
            <a:avLst/>
          </a:prstGeom>
        </p:spPr>
        <p:txBody>
          <a:bodyPr wrap="square">
            <a:spAutoFit/>
          </a:bodyPr>
          <a:lstStyle/>
          <a:p>
            <a:pPr marL="342900" indent="-342900">
              <a:lnSpc>
                <a:spcPct val="150000"/>
              </a:lnSpc>
              <a:buFont typeface="+mj-ea"/>
              <a:buAutoNum type="circleNumDbPlain" startAt="2"/>
            </a:pPr>
            <a:r>
              <a:rPr lang="zh-CN" altLang="en-US" dirty="0" smtClean="0"/>
              <a:t>元素</a:t>
            </a:r>
            <a:r>
              <a:rPr lang="zh-CN" altLang="en-US" dirty="0"/>
              <a:t>使用动画</a:t>
            </a:r>
            <a:endParaRPr lang="en-US" altLang="zh-CN" sz="1200" dirty="0" smtClean="0"/>
          </a:p>
        </p:txBody>
      </p:sp>
      <p:pic>
        <p:nvPicPr>
          <p:cNvPr id="9" name="图片 8"/>
          <p:cNvPicPr>
            <a:picLocks noChangeAspect="1"/>
          </p:cNvPicPr>
          <p:nvPr/>
        </p:nvPicPr>
        <p:blipFill>
          <a:blip r:embed="rId4"/>
          <a:stretch>
            <a:fillRect/>
          </a:stretch>
        </p:blipFill>
        <p:spPr>
          <a:xfrm>
            <a:off x="7241660" y="4223730"/>
            <a:ext cx="3127345" cy="2408335"/>
          </a:xfrm>
          <a:prstGeom prst="rect">
            <a:avLst/>
          </a:prstGeom>
        </p:spPr>
      </p:pic>
      <p:sp>
        <p:nvSpPr>
          <p:cNvPr id="10" name="矩形 9"/>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20801417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42</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6</a:t>
            </a:r>
            <a:r>
              <a:rPr lang="zh-CN" altLang="en-US" dirty="0" smtClean="0"/>
              <a:t>、动画</a:t>
            </a:r>
            <a:endParaRPr lang="zh-CN" altLang="en-US" dirty="0"/>
          </a:p>
        </p:txBody>
      </p:sp>
      <p:sp>
        <p:nvSpPr>
          <p:cNvPr id="2" name="矩形 1"/>
          <p:cNvSpPr/>
          <p:nvPr/>
        </p:nvSpPr>
        <p:spPr>
          <a:xfrm>
            <a:off x="795866" y="1397787"/>
            <a:ext cx="11396133" cy="2169825"/>
          </a:xfrm>
          <a:prstGeom prst="rect">
            <a:avLst/>
          </a:prstGeom>
        </p:spPr>
        <p:txBody>
          <a:bodyPr wrap="square">
            <a:spAutoFit/>
          </a:bodyPr>
          <a:lstStyle/>
          <a:p>
            <a:pPr>
              <a:lnSpc>
                <a:spcPct val="150000"/>
              </a:lnSpc>
            </a:pPr>
            <a:r>
              <a:rPr lang="zh-CN" altLang="en-US" b="1" dirty="0"/>
              <a:t>动画序列</a:t>
            </a:r>
          </a:p>
          <a:p>
            <a:pPr>
              <a:lnSpc>
                <a:spcPct val="150000"/>
              </a:lnSpc>
            </a:pPr>
            <a:r>
              <a:rPr lang="zh-CN" altLang="en-US" dirty="0"/>
              <a:t> </a:t>
            </a:r>
            <a:r>
              <a:rPr lang="en-US" altLang="zh-CN" dirty="0"/>
              <a:t>0% </a:t>
            </a:r>
            <a:r>
              <a:rPr lang="zh-CN" altLang="en-US" dirty="0"/>
              <a:t>是动画的</a:t>
            </a:r>
            <a:r>
              <a:rPr lang="zh-CN" altLang="en-US" b="1" dirty="0">
                <a:solidFill>
                  <a:schemeClr val="accent2"/>
                </a:solidFill>
              </a:rPr>
              <a:t>开始</a:t>
            </a:r>
            <a:r>
              <a:rPr lang="zh-CN" altLang="en-US" dirty="0"/>
              <a:t>，</a:t>
            </a:r>
            <a:r>
              <a:rPr lang="en-US" altLang="zh-CN" dirty="0"/>
              <a:t>100% </a:t>
            </a:r>
            <a:r>
              <a:rPr lang="zh-CN" altLang="en-US" dirty="0"/>
              <a:t>是动画的</a:t>
            </a:r>
            <a:r>
              <a:rPr lang="zh-CN" altLang="en-US" b="1" dirty="0">
                <a:solidFill>
                  <a:schemeClr val="accent2"/>
                </a:solidFill>
              </a:rPr>
              <a:t>完成</a:t>
            </a:r>
            <a:r>
              <a:rPr lang="zh-CN" altLang="en-US" dirty="0"/>
              <a:t>。这样的规则就是动画序列。</a:t>
            </a:r>
          </a:p>
          <a:p>
            <a:pPr>
              <a:lnSpc>
                <a:spcPct val="150000"/>
              </a:lnSpc>
            </a:pPr>
            <a:r>
              <a:rPr lang="zh-CN" altLang="en-US" dirty="0"/>
              <a:t> 在 </a:t>
            </a:r>
            <a:r>
              <a:rPr lang="en-US" altLang="zh-CN" b="1" dirty="0">
                <a:solidFill>
                  <a:schemeClr val="accent2"/>
                </a:solidFill>
              </a:rPr>
              <a:t>@</a:t>
            </a:r>
            <a:r>
              <a:rPr lang="en-US" altLang="zh-CN" b="1" dirty="0" err="1">
                <a:solidFill>
                  <a:schemeClr val="accent2"/>
                </a:solidFill>
              </a:rPr>
              <a:t>keyframes</a:t>
            </a:r>
            <a:r>
              <a:rPr lang="en-US" altLang="zh-CN" b="1" dirty="0">
                <a:solidFill>
                  <a:schemeClr val="accent2"/>
                </a:solidFill>
              </a:rPr>
              <a:t> </a:t>
            </a:r>
            <a:r>
              <a:rPr lang="zh-CN" altLang="en-US" dirty="0"/>
              <a:t>中规定某项 </a:t>
            </a:r>
            <a:r>
              <a:rPr lang="en-US" altLang="zh-CN" dirty="0"/>
              <a:t>CSS </a:t>
            </a:r>
            <a:r>
              <a:rPr lang="zh-CN" altLang="en-US" dirty="0"/>
              <a:t>样式，就能创建由当前样式逐渐改为新样式的动画效果。</a:t>
            </a:r>
          </a:p>
          <a:p>
            <a:pPr>
              <a:lnSpc>
                <a:spcPct val="150000"/>
              </a:lnSpc>
            </a:pPr>
            <a:r>
              <a:rPr lang="zh-CN" altLang="en-US" dirty="0"/>
              <a:t> 动画是使元素从一种样式逐渐变化为另一种样式的效果。您可以改变任意多的样式任意多的</a:t>
            </a:r>
            <a:r>
              <a:rPr lang="zh-CN" altLang="en-US" b="1" dirty="0">
                <a:solidFill>
                  <a:schemeClr val="accent2"/>
                </a:solidFill>
              </a:rPr>
              <a:t>次数</a:t>
            </a:r>
            <a:r>
              <a:rPr lang="zh-CN" altLang="en-US" dirty="0"/>
              <a:t>。</a:t>
            </a:r>
          </a:p>
          <a:p>
            <a:pPr>
              <a:lnSpc>
                <a:spcPct val="150000"/>
              </a:lnSpc>
            </a:pPr>
            <a:r>
              <a:rPr lang="zh-CN" altLang="en-US" dirty="0"/>
              <a:t> 请用百分比来规定变化发生的时间，或用关键词 </a:t>
            </a:r>
            <a:r>
              <a:rPr lang="en-US" altLang="zh-CN" dirty="0"/>
              <a:t>"</a:t>
            </a:r>
            <a:r>
              <a:rPr lang="en-US" altLang="zh-CN" b="1" dirty="0">
                <a:solidFill>
                  <a:schemeClr val="accent2"/>
                </a:solidFill>
              </a:rPr>
              <a:t>from</a:t>
            </a:r>
            <a:r>
              <a:rPr lang="en-US" altLang="zh-CN" dirty="0"/>
              <a:t>" </a:t>
            </a:r>
            <a:r>
              <a:rPr lang="zh-CN" altLang="en-US" dirty="0"/>
              <a:t>和 </a:t>
            </a:r>
            <a:r>
              <a:rPr lang="en-US" altLang="zh-CN" dirty="0"/>
              <a:t>"</a:t>
            </a:r>
            <a:r>
              <a:rPr lang="en-US" altLang="zh-CN" b="1" dirty="0">
                <a:solidFill>
                  <a:schemeClr val="accent2"/>
                </a:solidFill>
              </a:rPr>
              <a:t>to</a:t>
            </a:r>
            <a:r>
              <a:rPr lang="en-US" altLang="zh-CN" dirty="0"/>
              <a:t>"</a:t>
            </a:r>
            <a:r>
              <a:rPr lang="zh-CN" altLang="en-US" dirty="0"/>
              <a:t>，等同于 </a:t>
            </a:r>
            <a:r>
              <a:rPr lang="en-US" altLang="zh-CN" b="1" dirty="0">
                <a:solidFill>
                  <a:schemeClr val="accent2"/>
                </a:solidFill>
              </a:rPr>
              <a:t>0%</a:t>
            </a:r>
            <a:r>
              <a:rPr lang="en-US" altLang="zh-CN" dirty="0"/>
              <a:t> </a:t>
            </a:r>
            <a:r>
              <a:rPr lang="zh-CN" altLang="en-US" dirty="0"/>
              <a:t>和 </a:t>
            </a:r>
            <a:r>
              <a:rPr lang="en-US" altLang="zh-CN" b="1" dirty="0">
                <a:solidFill>
                  <a:schemeClr val="accent2"/>
                </a:solidFill>
              </a:rPr>
              <a:t>100%</a:t>
            </a:r>
            <a:r>
              <a:rPr lang="zh-CN" altLang="en-US" dirty="0"/>
              <a:t>。</a:t>
            </a:r>
          </a:p>
        </p:txBody>
      </p:sp>
      <p:pic>
        <p:nvPicPr>
          <p:cNvPr id="8" name="图片 7"/>
          <p:cNvPicPr>
            <a:picLocks noChangeAspect="1"/>
          </p:cNvPicPr>
          <p:nvPr/>
        </p:nvPicPr>
        <p:blipFill>
          <a:blip r:embed="rId3"/>
          <a:stretch>
            <a:fillRect/>
          </a:stretch>
        </p:blipFill>
        <p:spPr>
          <a:xfrm>
            <a:off x="3526824" y="3870419"/>
            <a:ext cx="4970558" cy="2851056"/>
          </a:xfrm>
          <a:prstGeom prst="rect">
            <a:avLst/>
          </a:prstGeom>
        </p:spPr>
      </p:pic>
      <p:pic>
        <p:nvPicPr>
          <p:cNvPr id="10" name="图片 9"/>
          <p:cNvPicPr>
            <a:picLocks noChangeAspect="1"/>
          </p:cNvPicPr>
          <p:nvPr/>
        </p:nvPicPr>
        <p:blipFill>
          <a:blip r:embed="rId4"/>
          <a:stretch>
            <a:fillRect/>
          </a:stretch>
        </p:blipFill>
        <p:spPr>
          <a:xfrm>
            <a:off x="1026511" y="3682681"/>
            <a:ext cx="1743075" cy="485775"/>
          </a:xfrm>
          <a:prstGeom prst="rect">
            <a:avLst/>
          </a:prstGeom>
        </p:spPr>
      </p:pic>
      <p:pic>
        <p:nvPicPr>
          <p:cNvPr id="12" name="图片 11"/>
          <p:cNvPicPr>
            <a:picLocks noChangeAspect="1"/>
          </p:cNvPicPr>
          <p:nvPr/>
        </p:nvPicPr>
        <p:blipFill>
          <a:blip r:embed="rId5"/>
          <a:stretch>
            <a:fillRect/>
          </a:stretch>
        </p:blipFill>
        <p:spPr>
          <a:xfrm>
            <a:off x="1026511" y="4636308"/>
            <a:ext cx="1905000" cy="409575"/>
          </a:xfrm>
          <a:prstGeom prst="rect">
            <a:avLst/>
          </a:prstGeom>
        </p:spPr>
      </p:pic>
      <p:pic>
        <p:nvPicPr>
          <p:cNvPr id="14" name="图片 13"/>
          <p:cNvPicPr>
            <a:picLocks noChangeAspect="1"/>
          </p:cNvPicPr>
          <p:nvPr/>
        </p:nvPicPr>
        <p:blipFill>
          <a:blip r:embed="rId6"/>
          <a:stretch>
            <a:fillRect/>
          </a:stretch>
        </p:blipFill>
        <p:spPr>
          <a:xfrm>
            <a:off x="1026511" y="5646941"/>
            <a:ext cx="1924050" cy="552450"/>
          </a:xfrm>
          <a:prstGeom prst="rect">
            <a:avLst/>
          </a:prstGeom>
        </p:spPr>
      </p:pic>
      <p:pic>
        <p:nvPicPr>
          <p:cNvPr id="16" name="图片 15"/>
          <p:cNvPicPr>
            <a:picLocks noChangeAspect="1"/>
          </p:cNvPicPr>
          <p:nvPr/>
        </p:nvPicPr>
        <p:blipFill>
          <a:blip r:embed="rId7"/>
          <a:stretch>
            <a:fillRect/>
          </a:stretch>
        </p:blipFill>
        <p:spPr>
          <a:xfrm>
            <a:off x="9634008" y="3596430"/>
            <a:ext cx="1828800" cy="561975"/>
          </a:xfrm>
          <a:prstGeom prst="rect">
            <a:avLst/>
          </a:prstGeom>
        </p:spPr>
      </p:pic>
      <p:pic>
        <p:nvPicPr>
          <p:cNvPr id="18" name="图片 17"/>
          <p:cNvPicPr>
            <a:picLocks noChangeAspect="1"/>
          </p:cNvPicPr>
          <p:nvPr/>
        </p:nvPicPr>
        <p:blipFill>
          <a:blip r:embed="rId8"/>
          <a:stretch>
            <a:fillRect/>
          </a:stretch>
        </p:blipFill>
        <p:spPr>
          <a:xfrm>
            <a:off x="9634008" y="5219411"/>
            <a:ext cx="1914525" cy="552450"/>
          </a:xfrm>
          <a:prstGeom prst="rect">
            <a:avLst/>
          </a:prstGeom>
        </p:spPr>
      </p:pic>
      <p:cxnSp>
        <p:nvCxnSpPr>
          <p:cNvPr id="20" name="直接箭头连接符 19"/>
          <p:cNvCxnSpPr>
            <a:stCxn id="16" idx="1"/>
          </p:cNvCxnSpPr>
          <p:nvPr/>
        </p:nvCxnSpPr>
        <p:spPr>
          <a:xfrm flipH="1">
            <a:off x="8108433" y="3877418"/>
            <a:ext cx="1525575" cy="80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8108432" y="5522456"/>
            <a:ext cx="1525575" cy="80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0" idx="3"/>
          </p:cNvCxnSpPr>
          <p:nvPr/>
        </p:nvCxnSpPr>
        <p:spPr>
          <a:xfrm>
            <a:off x="2769586" y="3925569"/>
            <a:ext cx="938213" cy="622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2" idx="3"/>
          </p:cNvCxnSpPr>
          <p:nvPr/>
        </p:nvCxnSpPr>
        <p:spPr>
          <a:xfrm flipV="1">
            <a:off x="2931511" y="4636308"/>
            <a:ext cx="747713" cy="2047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4" idx="3"/>
          </p:cNvCxnSpPr>
          <p:nvPr/>
        </p:nvCxnSpPr>
        <p:spPr>
          <a:xfrm>
            <a:off x="2950561" y="5923166"/>
            <a:ext cx="919163" cy="276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9671522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43</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6</a:t>
            </a:r>
            <a:r>
              <a:rPr lang="zh-CN" altLang="en-US" dirty="0" smtClean="0"/>
              <a:t>、动画</a:t>
            </a:r>
            <a:endParaRPr lang="zh-CN" altLang="en-US" dirty="0"/>
          </a:p>
        </p:txBody>
      </p:sp>
      <p:sp>
        <p:nvSpPr>
          <p:cNvPr id="5" name="矩形 4"/>
          <p:cNvSpPr/>
          <p:nvPr/>
        </p:nvSpPr>
        <p:spPr>
          <a:xfrm>
            <a:off x="795867" y="1332225"/>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、动画常用属性</a:t>
            </a:r>
            <a:endParaRPr lang="en-US" altLang="zh-CN" sz="1600" dirty="0" smtClean="0">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937403" y="1978556"/>
            <a:ext cx="7758232" cy="4742919"/>
          </a:xfrm>
          <a:prstGeom prst="rect">
            <a:avLst/>
          </a:prstGeom>
        </p:spPr>
      </p:pic>
      <p:sp>
        <p:nvSpPr>
          <p:cNvPr id="6" name="矩形 5"/>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15962839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44</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6</a:t>
            </a:r>
            <a:r>
              <a:rPr lang="zh-CN" altLang="en-US" dirty="0" smtClean="0"/>
              <a:t>、动画</a:t>
            </a:r>
            <a:endParaRPr lang="zh-CN" altLang="en-US" dirty="0"/>
          </a:p>
        </p:txBody>
      </p:sp>
      <p:sp>
        <p:nvSpPr>
          <p:cNvPr id="5" name="矩形 4"/>
          <p:cNvSpPr/>
          <p:nvPr/>
        </p:nvSpPr>
        <p:spPr>
          <a:xfrm>
            <a:off x="795866" y="1314854"/>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3</a:t>
            </a:r>
            <a:r>
              <a:rPr lang="zh-CN" altLang="en-US" sz="2400" b="1" dirty="0" smtClean="0">
                <a:latin typeface="宋体" panose="02010600030101010101" pitchFamily="2" charset="-122"/>
                <a:ea typeface="宋体" panose="02010600030101010101" pitchFamily="2" charset="-122"/>
              </a:rPr>
              <a:t>、动画简写属性</a:t>
            </a:r>
            <a:endParaRPr lang="en-US" altLang="zh-CN" sz="1600" dirty="0" smtClean="0">
              <a:latin typeface="宋体" panose="02010600030101010101" pitchFamily="2" charset="-122"/>
              <a:ea typeface="宋体" panose="02010600030101010101" pitchFamily="2" charset="-122"/>
            </a:endParaRPr>
          </a:p>
        </p:txBody>
      </p:sp>
      <p:sp>
        <p:nvSpPr>
          <p:cNvPr id="3" name="矩形 2"/>
          <p:cNvSpPr/>
          <p:nvPr/>
        </p:nvSpPr>
        <p:spPr>
          <a:xfrm>
            <a:off x="476250" y="2034865"/>
            <a:ext cx="11544300" cy="400110"/>
          </a:xfrm>
          <a:prstGeom prst="rect">
            <a:avLst/>
          </a:prstGeom>
        </p:spPr>
        <p:txBody>
          <a:bodyPr wrap="square">
            <a:spAutoFit/>
          </a:bodyPr>
          <a:lstStyle/>
          <a:p>
            <a:r>
              <a:rPr lang="en-US" altLang="zh-CN" sz="2000" dirty="0">
                <a:latin typeface="Arial" panose="020B0604020202020204" pitchFamily="34" charset="0"/>
                <a:cs typeface="Arial" panose="020B0604020202020204" pitchFamily="34" charset="0"/>
              </a:rPr>
              <a:t>animation</a:t>
            </a:r>
            <a:r>
              <a:rPr lang="zh-CN" altLang="en-US" sz="2000" dirty="0">
                <a:latin typeface="Arial" panose="020B0604020202020204" pitchFamily="34" charset="0"/>
                <a:cs typeface="Arial" panose="020B0604020202020204" pitchFamily="34" charset="0"/>
              </a:rPr>
              <a:t>：动画名称 持续时间 运动曲线 何时开始 播放次数 是否反方向 动画起始或者结束的状态</a:t>
            </a:r>
            <a:r>
              <a:rPr lang="en-US" altLang="zh-CN" sz="2000" dirty="0">
                <a:latin typeface="Arial" panose="020B0604020202020204" pitchFamily="34" charset="0"/>
                <a:cs typeface="Arial" panose="020B0604020202020204" pitchFamily="34" charset="0"/>
              </a:rPr>
              <a:t>;</a:t>
            </a:r>
            <a:endParaRPr lang="zh-CN" altLang="en-US" sz="20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3"/>
          <a:stretch>
            <a:fillRect/>
          </a:stretch>
        </p:blipFill>
        <p:spPr>
          <a:xfrm>
            <a:off x="520121" y="2756321"/>
            <a:ext cx="8007598" cy="574708"/>
          </a:xfrm>
          <a:prstGeom prst="rect">
            <a:avLst/>
          </a:prstGeom>
        </p:spPr>
      </p:pic>
      <p:sp>
        <p:nvSpPr>
          <p:cNvPr id="7" name="矩形 6"/>
          <p:cNvSpPr/>
          <p:nvPr/>
        </p:nvSpPr>
        <p:spPr>
          <a:xfrm>
            <a:off x="652991" y="3385382"/>
            <a:ext cx="10123101" cy="2554545"/>
          </a:xfrm>
          <a:prstGeom prst="rect">
            <a:avLst/>
          </a:prstGeom>
        </p:spPr>
        <p:txBody>
          <a:bodyPr wrap="square">
            <a:spAutoFit/>
          </a:bodyPr>
          <a:lstStyle/>
          <a:p>
            <a:pPr marL="342900" indent="-342900">
              <a:lnSpc>
                <a:spcPct val="200000"/>
              </a:lnSpc>
              <a:buFont typeface="Wingdings" panose="05000000000000000000" pitchFamily="2" charset="2"/>
              <a:buChar char="l"/>
            </a:pPr>
            <a:r>
              <a:rPr lang="zh-CN" altLang="en-US" sz="2000" dirty="0" smtClean="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简写属性里面不包含 </a:t>
            </a:r>
            <a:r>
              <a:rPr lang="en-US" altLang="zh-CN" sz="2000" dirty="0">
                <a:latin typeface="Arial" panose="020B0604020202020204" pitchFamily="34" charset="0"/>
                <a:cs typeface="Arial" panose="020B0604020202020204" pitchFamily="34" charset="0"/>
              </a:rPr>
              <a:t>animation-play-state</a:t>
            </a:r>
          </a:p>
          <a:p>
            <a:pPr marL="342900" indent="-342900">
              <a:lnSpc>
                <a:spcPct val="200000"/>
              </a:lnSpc>
              <a:buFont typeface="Wingdings" panose="05000000000000000000" pitchFamily="2" charset="2"/>
              <a:buChar char="l"/>
            </a:pPr>
            <a:r>
              <a:rPr lang="en-US" altLang="zh-CN" sz="2000" dirty="0" smtClean="0">
                <a:latin typeface="Arial" panose="020B0604020202020204" pitchFamily="34" charset="0"/>
                <a:cs typeface="Arial" panose="020B0604020202020204" pitchFamily="34" charset="0"/>
              </a:rPr>
              <a:t> </a:t>
            </a:r>
            <a:r>
              <a:rPr lang="zh-CN" altLang="en-US" sz="2000" dirty="0" smtClean="0">
                <a:latin typeface="Arial" panose="020B0604020202020204" pitchFamily="34" charset="0"/>
                <a:cs typeface="Arial" panose="020B0604020202020204" pitchFamily="34" charset="0"/>
              </a:rPr>
              <a:t>暂停</a:t>
            </a:r>
            <a:r>
              <a:rPr lang="zh-CN" altLang="en-US" sz="2000" dirty="0">
                <a:latin typeface="Arial" panose="020B0604020202020204" pitchFamily="34" charset="0"/>
                <a:cs typeface="Arial" panose="020B0604020202020204" pitchFamily="34" charset="0"/>
              </a:rPr>
              <a:t>动画：</a:t>
            </a:r>
            <a:r>
              <a:rPr lang="en-US" altLang="zh-CN" sz="2000" dirty="0">
                <a:latin typeface="Arial" panose="020B0604020202020204" pitchFamily="34" charset="0"/>
                <a:cs typeface="Arial" panose="020B0604020202020204" pitchFamily="34" charset="0"/>
              </a:rPr>
              <a:t>animation-play-state: </a:t>
            </a:r>
            <a:r>
              <a:rPr lang="en-US" altLang="zh-CN" sz="2000" dirty="0" err="1">
                <a:latin typeface="Arial" panose="020B0604020202020204" pitchFamily="34" charset="0"/>
                <a:cs typeface="Arial" panose="020B0604020202020204" pitchFamily="34" charset="0"/>
              </a:rPr>
              <a:t>puased</a:t>
            </a:r>
            <a:r>
              <a:rPr lang="en-US" altLang="zh-CN" sz="2000" dirty="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经常和鼠标经过等其他配合使用</a:t>
            </a:r>
          </a:p>
          <a:p>
            <a:pPr marL="342900" indent="-342900">
              <a:lnSpc>
                <a:spcPct val="200000"/>
              </a:lnSpc>
              <a:buFont typeface="Wingdings" panose="05000000000000000000" pitchFamily="2" charset="2"/>
              <a:buChar char="l"/>
            </a:pPr>
            <a:r>
              <a:rPr lang="zh-CN" altLang="en-US" sz="2000" dirty="0" smtClean="0">
                <a:latin typeface="Arial" panose="020B0604020202020204" pitchFamily="34" charset="0"/>
                <a:cs typeface="Arial" panose="020B0604020202020204" pitchFamily="34" charset="0"/>
              </a:rPr>
              <a:t> </a:t>
            </a:r>
            <a:r>
              <a:rPr lang="zh-CN" altLang="en-US" sz="2000" dirty="0">
                <a:latin typeface="Arial" panose="020B0604020202020204" pitchFamily="34" charset="0"/>
                <a:cs typeface="Arial" panose="020B0604020202020204" pitchFamily="34" charset="0"/>
              </a:rPr>
              <a:t>想要动画走回来 ，而不是直接跳回来：</a:t>
            </a:r>
            <a:r>
              <a:rPr lang="en-US" altLang="zh-CN" sz="2000" dirty="0">
                <a:latin typeface="Arial" panose="020B0604020202020204" pitchFamily="34" charset="0"/>
                <a:cs typeface="Arial" panose="020B0604020202020204" pitchFamily="34" charset="0"/>
              </a:rPr>
              <a:t>animation-direction </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alternate</a:t>
            </a:r>
            <a:endParaRPr lang="en-US" altLang="zh-CN" sz="2000" dirty="0">
              <a:latin typeface="Arial" panose="020B0604020202020204" pitchFamily="34" charset="0"/>
              <a:cs typeface="Arial" panose="020B0604020202020204" pitchFamily="34" charset="0"/>
            </a:endParaRPr>
          </a:p>
          <a:p>
            <a:pPr marL="342900" indent="-342900">
              <a:lnSpc>
                <a:spcPct val="200000"/>
              </a:lnSpc>
              <a:buFont typeface="Wingdings" panose="05000000000000000000" pitchFamily="2" charset="2"/>
              <a:buChar char="l"/>
            </a:pPr>
            <a:r>
              <a:rPr lang="en-US" altLang="zh-CN" sz="2000" dirty="0" smtClean="0">
                <a:latin typeface="Arial" panose="020B0604020202020204" pitchFamily="34" charset="0"/>
                <a:cs typeface="Arial" panose="020B0604020202020204" pitchFamily="34" charset="0"/>
              </a:rPr>
              <a:t> </a:t>
            </a:r>
            <a:r>
              <a:rPr lang="zh-CN" altLang="en-US" sz="2000" dirty="0" smtClean="0">
                <a:latin typeface="Arial" panose="020B0604020202020204" pitchFamily="34" charset="0"/>
                <a:cs typeface="Arial" panose="020B0604020202020204" pitchFamily="34" charset="0"/>
              </a:rPr>
              <a:t>想要动画</a:t>
            </a:r>
            <a:r>
              <a:rPr lang="zh-CN" altLang="en-US" sz="2000" dirty="0">
                <a:latin typeface="Arial" panose="020B0604020202020204" pitchFamily="34" charset="0"/>
                <a:cs typeface="Arial" panose="020B0604020202020204" pitchFamily="34" charset="0"/>
              </a:rPr>
              <a:t>结束后，停在结束位置： </a:t>
            </a:r>
            <a:r>
              <a:rPr lang="en-US" altLang="zh-CN" sz="2000" dirty="0">
                <a:latin typeface="Arial" panose="020B0604020202020204" pitchFamily="34" charset="0"/>
                <a:cs typeface="Arial" panose="020B0604020202020204" pitchFamily="34" charset="0"/>
              </a:rPr>
              <a:t>animation-fill-mode </a:t>
            </a:r>
            <a:r>
              <a:rPr lang="zh-CN" altLang="en-US" sz="2000" dirty="0" smtClean="0">
                <a:latin typeface="Arial" panose="020B0604020202020204" pitchFamily="34" charset="0"/>
                <a:cs typeface="Arial" panose="020B0604020202020204" pitchFamily="34" charset="0"/>
              </a:rPr>
              <a:t>：</a:t>
            </a:r>
            <a:r>
              <a:rPr lang="en-US" altLang="zh-CN" sz="2000" dirty="0" smtClean="0">
                <a:latin typeface="Arial" panose="020B0604020202020204" pitchFamily="34" charset="0"/>
                <a:cs typeface="Arial" panose="020B0604020202020204" pitchFamily="34" charset="0"/>
              </a:rPr>
              <a:t>forwards</a:t>
            </a:r>
            <a:endParaRPr lang="zh-CN" altLang="en-US" sz="2000" dirty="0">
              <a:latin typeface="Arial" panose="020B0604020202020204" pitchFamily="34" charset="0"/>
              <a:cs typeface="Arial" panose="020B0604020202020204" pitchFamily="34" charset="0"/>
            </a:endParaRPr>
          </a:p>
        </p:txBody>
      </p:sp>
      <p:sp>
        <p:nvSpPr>
          <p:cNvPr id="8" name="矩形 7"/>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3153127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45</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en-US" altLang="zh-CN" dirty="0" smtClean="0"/>
              <a:t>6</a:t>
            </a:r>
            <a:r>
              <a:rPr lang="zh-CN" altLang="en-US" dirty="0" smtClean="0"/>
              <a:t>、动画</a:t>
            </a:r>
            <a:endParaRPr lang="zh-CN" altLang="en-US" dirty="0"/>
          </a:p>
        </p:txBody>
      </p:sp>
      <p:sp>
        <p:nvSpPr>
          <p:cNvPr id="5" name="矩形 4"/>
          <p:cNvSpPr/>
          <p:nvPr/>
        </p:nvSpPr>
        <p:spPr>
          <a:xfrm>
            <a:off x="795867" y="1314854"/>
            <a:ext cx="9848850" cy="559769"/>
          </a:xfrm>
          <a:prstGeom prst="rect">
            <a:avLst/>
          </a:prstGeom>
        </p:spPr>
        <p:txBody>
          <a:bodyPr wrap="square">
            <a:spAutoFit/>
          </a:bodyPr>
          <a:lstStyle/>
          <a:p>
            <a:pPr>
              <a:lnSpc>
                <a:spcPct val="150000"/>
              </a:lnSpc>
            </a:pPr>
            <a:r>
              <a:rPr lang="en-US" altLang="zh-CN" sz="2400" b="1" dirty="0" smtClean="0">
                <a:latin typeface="宋体" panose="02010600030101010101" pitchFamily="2" charset="-122"/>
                <a:ea typeface="宋体" panose="02010600030101010101" pitchFamily="2" charset="-122"/>
              </a:rPr>
              <a:t>4</a:t>
            </a:r>
            <a:r>
              <a:rPr lang="zh-CN" altLang="en-US" sz="2400" b="1" dirty="0" smtClean="0">
                <a:latin typeface="宋体" panose="02010600030101010101" pitchFamily="2" charset="-122"/>
                <a:ea typeface="宋体" panose="02010600030101010101" pitchFamily="2" charset="-122"/>
              </a:rPr>
              <a:t>、速度</a:t>
            </a:r>
            <a:r>
              <a:rPr lang="zh-CN" altLang="en-US" sz="2400" b="1" dirty="0">
                <a:latin typeface="宋体" panose="02010600030101010101" pitchFamily="2" charset="-122"/>
                <a:ea typeface="宋体" panose="02010600030101010101" pitchFamily="2" charset="-122"/>
              </a:rPr>
              <a:t>曲线细节</a:t>
            </a:r>
            <a:endParaRPr lang="en-US" altLang="zh-CN" sz="1600" dirty="0" smtClean="0">
              <a:latin typeface="宋体" panose="02010600030101010101" pitchFamily="2" charset="-122"/>
              <a:ea typeface="宋体" panose="02010600030101010101" pitchFamily="2" charset="-122"/>
            </a:endParaRPr>
          </a:p>
        </p:txBody>
      </p:sp>
      <p:sp>
        <p:nvSpPr>
          <p:cNvPr id="3" name="矩形 2"/>
          <p:cNvSpPr/>
          <p:nvPr/>
        </p:nvSpPr>
        <p:spPr>
          <a:xfrm>
            <a:off x="795867" y="2110743"/>
            <a:ext cx="9625633" cy="400110"/>
          </a:xfrm>
          <a:prstGeom prst="rect">
            <a:avLst/>
          </a:prstGeom>
        </p:spPr>
        <p:txBody>
          <a:bodyPr wrap="square">
            <a:spAutoFit/>
          </a:bodyPr>
          <a:lstStyle/>
          <a:p>
            <a:r>
              <a:rPr lang="en-US" altLang="zh-CN" sz="2000" dirty="0">
                <a:latin typeface="Arial" panose="020B0604020202020204" pitchFamily="34" charset="0"/>
                <a:cs typeface="Arial" panose="020B0604020202020204" pitchFamily="34" charset="0"/>
              </a:rPr>
              <a:t>animation-timing-function</a:t>
            </a:r>
            <a:r>
              <a:rPr lang="zh-CN" altLang="en-US" sz="2000" dirty="0">
                <a:latin typeface="Arial" panose="020B0604020202020204" pitchFamily="34" charset="0"/>
                <a:cs typeface="Arial" panose="020B0604020202020204" pitchFamily="34" charset="0"/>
              </a:rPr>
              <a:t>：规定动画的速度曲线，默认是“</a:t>
            </a:r>
            <a:r>
              <a:rPr lang="en-US" altLang="zh-CN" sz="2000" dirty="0">
                <a:latin typeface="Arial" panose="020B0604020202020204" pitchFamily="34" charset="0"/>
                <a:cs typeface="Arial" panose="020B0604020202020204" pitchFamily="34" charset="0"/>
              </a:rPr>
              <a:t>ease”</a:t>
            </a:r>
            <a:endParaRPr lang="zh-CN" altLang="en-US" sz="2000" dirty="0">
              <a:latin typeface="Arial" panose="020B0604020202020204" pitchFamily="34" charset="0"/>
              <a:cs typeface="Arial" panose="020B0604020202020204" pitchFamily="34" charset="0"/>
            </a:endParaRPr>
          </a:p>
        </p:txBody>
      </p:sp>
      <p:pic>
        <p:nvPicPr>
          <p:cNvPr id="6" name="图片 5"/>
          <p:cNvPicPr>
            <a:picLocks noChangeAspect="1"/>
          </p:cNvPicPr>
          <p:nvPr/>
        </p:nvPicPr>
        <p:blipFill>
          <a:blip r:embed="rId3"/>
          <a:stretch>
            <a:fillRect/>
          </a:stretch>
        </p:blipFill>
        <p:spPr>
          <a:xfrm>
            <a:off x="903535" y="2660411"/>
            <a:ext cx="10202909" cy="3845164"/>
          </a:xfrm>
          <a:prstGeom prst="rect">
            <a:avLst/>
          </a:prstGeom>
        </p:spPr>
      </p:pic>
      <p:sp>
        <p:nvSpPr>
          <p:cNvPr id="7" name="矩形 6"/>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4589524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CBB0F51-F1BD-4F26-BCE3-E7BFA32BFBF3}"/>
              </a:ext>
            </a:extLst>
          </p:cNvPr>
          <p:cNvSpPr>
            <a:spLocks noGrp="1"/>
          </p:cNvSpPr>
          <p:nvPr>
            <p:ph type="sldNum" sz="quarter" idx="12"/>
          </p:nvPr>
        </p:nvSpPr>
        <p:spPr>
          <a:xfrm>
            <a:off x="8805333" y="6356350"/>
            <a:ext cx="2743200" cy="365125"/>
          </a:xfrm>
        </p:spPr>
        <p:txBody>
          <a:bodyPr>
            <a:normAutofit/>
          </a:bodyPr>
          <a:lstStyle/>
          <a:p>
            <a:pPr>
              <a:spcAft>
                <a:spcPts val="600"/>
              </a:spcAft>
            </a:pPr>
            <a:fld id="{565CE74E-AB26-4998-AD42-012C4C1AD076}" type="slidenum">
              <a:rPr lang="zh-CN" altLang="en-US" smtClean="0"/>
              <a:pPr>
                <a:spcAft>
                  <a:spcPts val="600"/>
                </a:spcAft>
              </a:pPr>
              <a:t>46</a:t>
            </a:fld>
            <a:endParaRPr lang="zh-CN" altLang="en-US"/>
          </a:p>
        </p:txBody>
      </p:sp>
      <p:sp>
        <p:nvSpPr>
          <p:cNvPr id="33" name="标题 1">
            <a:extLst>
              <a:ext uri="{FF2B5EF4-FFF2-40B4-BE49-F238E27FC236}">
                <a16:creationId xmlns:a16="http://schemas.microsoft.com/office/drawing/2014/main" id="{5D97DC52-8301-4996-A1C9-CBB892A724A3}"/>
              </a:ext>
            </a:extLst>
          </p:cNvPr>
          <p:cNvSpPr txBox="1">
            <a:spLocks/>
          </p:cNvSpPr>
          <p:nvPr/>
        </p:nvSpPr>
        <p:spPr>
          <a:xfrm>
            <a:off x="795867" y="474134"/>
            <a:ext cx="10905066" cy="1135737"/>
          </a:xfrm>
          <a:prstGeom prst="rect">
            <a:avLst/>
          </a:prstGeom>
        </p:spPr>
        <p:txBody>
          <a:bodyPr vert="horz" lIns="91440" tIns="45720" rIns="91440" bIns="45720" rtlCol="0" anchor="ctr">
            <a:normAutofit/>
          </a:bodyPr>
          <a:lstStyle>
            <a:defPPr>
              <a:defRPr lang="zh-CN"/>
            </a:defPPr>
            <a:lvl1pPr>
              <a:lnSpc>
                <a:spcPct val="90000"/>
              </a:lnSpc>
              <a:spcBef>
                <a:spcPct val="0"/>
              </a:spcBef>
              <a:buNone/>
              <a:defRPr sz="3600" b="1">
                <a:latin typeface="宋体" panose="02010600030101010101" pitchFamily="2" charset="-122"/>
                <a:ea typeface="宋体" panose="02010600030101010101" pitchFamily="2" charset="-122"/>
                <a:cs typeface="+mj-cs"/>
              </a:defRPr>
            </a:lvl1pPr>
          </a:lstStyle>
          <a:p>
            <a:r>
              <a:rPr lang="zh-CN" altLang="en-US" dirty="0"/>
              <a:t>总结</a:t>
            </a:r>
          </a:p>
        </p:txBody>
      </p:sp>
      <p:sp>
        <p:nvSpPr>
          <p:cNvPr id="3" name="矩形 2"/>
          <p:cNvSpPr/>
          <p:nvPr/>
        </p:nvSpPr>
        <p:spPr>
          <a:xfrm>
            <a:off x="795866" y="1609871"/>
            <a:ext cx="10905067" cy="5078313"/>
          </a:xfrm>
          <a:prstGeom prst="rect">
            <a:avLst/>
          </a:prstGeom>
        </p:spPr>
        <p:txBody>
          <a:bodyPr wrap="square">
            <a:spAutoFit/>
          </a:bodyPr>
          <a:lstStyle/>
          <a:p>
            <a:pPr algn="just">
              <a:lnSpc>
                <a:spcPct val="150000"/>
              </a:lnSpc>
            </a:pPr>
            <a:r>
              <a:rPr lang="zh-CN" altLang="en-US" sz="2400" dirty="0" smtClean="0">
                <a:latin typeface="+mn-ea"/>
                <a:cs typeface="Arial" panose="020B0604020202020204" pitchFamily="34" charset="0"/>
              </a:rPr>
              <a:t>利用</a:t>
            </a:r>
            <a:r>
              <a:rPr lang="en-US" altLang="zh-CN" sz="2400" dirty="0" smtClean="0">
                <a:latin typeface="+mn-ea"/>
                <a:cs typeface="Arial" panose="020B0604020202020204" pitchFamily="34" charset="0"/>
              </a:rPr>
              <a:t>CSS3</a:t>
            </a:r>
            <a:r>
              <a:rPr lang="zh-CN" altLang="en-US" sz="2400" dirty="0" smtClean="0">
                <a:latin typeface="+mn-ea"/>
                <a:cs typeface="Arial" panose="020B0604020202020204" pitchFamily="34" charset="0"/>
              </a:rPr>
              <a:t>可以实现很多图像处理软件、</a:t>
            </a:r>
            <a:r>
              <a:rPr lang="en-US" altLang="zh-CN" sz="2400" dirty="0" smtClean="0">
                <a:latin typeface="+mn-ea"/>
                <a:cs typeface="Arial" panose="020B0604020202020204" pitchFamily="34" charset="0"/>
              </a:rPr>
              <a:t>Flash</a:t>
            </a:r>
            <a:r>
              <a:rPr lang="zh-CN" altLang="en-US" sz="2400" dirty="0" smtClean="0">
                <a:latin typeface="+mn-ea"/>
                <a:cs typeface="Arial" panose="020B0604020202020204" pitchFamily="34" charset="0"/>
              </a:rPr>
              <a:t>和</a:t>
            </a:r>
            <a:r>
              <a:rPr lang="en-US" altLang="zh-CN" sz="2400" dirty="0" smtClean="0">
                <a:latin typeface="+mn-ea"/>
                <a:cs typeface="Arial" panose="020B0604020202020204" pitchFamily="34" charset="0"/>
              </a:rPr>
              <a:t>JavaScript</a:t>
            </a:r>
            <a:r>
              <a:rPr lang="zh-CN" altLang="en-US" sz="2400" dirty="0" smtClean="0">
                <a:latin typeface="+mn-ea"/>
                <a:cs typeface="Arial" panose="020B0604020202020204" pitchFamily="34" charset="0"/>
              </a:rPr>
              <a:t>才能完成的效果。</a:t>
            </a:r>
            <a:endParaRPr lang="en-US" altLang="zh-CN" sz="2400" dirty="0" smtClean="0">
              <a:latin typeface="+mn-ea"/>
              <a:cs typeface="Arial" panose="020B0604020202020204" pitchFamily="34" charset="0"/>
            </a:endParaRPr>
          </a:p>
          <a:p>
            <a:pPr algn="just">
              <a:lnSpc>
                <a:spcPct val="150000"/>
              </a:lnSpc>
            </a:pPr>
            <a:endParaRPr lang="en-US" altLang="zh-CN" sz="2400" dirty="0" smtClean="0">
              <a:latin typeface="+mn-ea"/>
              <a:cs typeface="Arial" panose="020B0604020202020204" pitchFamily="34" charset="0"/>
            </a:endParaRPr>
          </a:p>
          <a:p>
            <a:pPr algn="just">
              <a:lnSpc>
                <a:spcPct val="150000"/>
              </a:lnSpc>
            </a:pPr>
            <a:r>
              <a:rPr lang="zh-CN" altLang="en-US" sz="2400" dirty="0" smtClean="0">
                <a:latin typeface="+mn-ea"/>
                <a:cs typeface="Arial" panose="020B0604020202020204" pitchFamily="34" charset="0"/>
              </a:rPr>
              <a:t>可以通过</a:t>
            </a:r>
            <a:r>
              <a:rPr lang="en-US" altLang="zh-CN" sz="2400" dirty="0" smtClean="0">
                <a:latin typeface="+mn-ea"/>
                <a:cs typeface="Arial" panose="020B0604020202020204" pitchFamily="34" charset="0"/>
              </a:rPr>
              <a:t>border-radius</a:t>
            </a:r>
            <a:r>
              <a:rPr lang="zh-CN" altLang="en-US" sz="2400" dirty="0" smtClean="0">
                <a:latin typeface="+mn-ea"/>
                <a:cs typeface="Arial" panose="020B0604020202020204" pitchFamily="34" charset="0"/>
              </a:rPr>
              <a:t>设置圆角边框；</a:t>
            </a:r>
            <a:r>
              <a:rPr lang="en-US" altLang="zh-CN" sz="2400" dirty="0" smtClean="0">
                <a:latin typeface="+mn-ea"/>
                <a:cs typeface="Arial" panose="020B0604020202020204" pitchFamily="34" charset="0"/>
              </a:rPr>
              <a:t>box-shadow</a:t>
            </a:r>
            <a:r>
              <a:rPr lang="zh-CN" altLang="en-US" sz="2400" dirty="0" smtClean="0">
                <a:latin typeface="+mn-ea"/>
                <a:cs typeface="Arial" panose="020B0604020202020204" pitchFamily="34" charset="0"/>
              </a:rPr>
              <a:t>设置阴影效果；</a:t>
            </a:r>
            <a:r>
              <a:rPr lang="en-US" altLang="zh-CN" sz="2400" dirty="0" smtClean="0">
                <a:latin typeface="+mn-ea"/>
                <a:cs typeface="Arial" panose="020B0604020202020204" pitchFamily="34" charset="0"/>
              </a:rPr>
              <a:t>text-shadow</a:t>
            </a:r>
            <a:r>
              <a:rPr lang="zh-CN" altLang="en-US" sz="2400" dirty="0" smtClean="0">
                <a:latin typeface="+mn-ea"/>
                <a:cs typeface="Arial" panose="020B0604020202020204" pitchFamily="34" charset="0"/>
              </a:rPr>
              <a:t>设置文字阴影效果。</a:t>
            </a:r>
            <a:r>
              <a:rPr lang="en-US" altLang="zh-CN" sz="2400" dirty="0" smtClean="0">
                <a:latin typeface="+mn-ea"/>
                <a:cs typeface="Arial" panose="020B0604020202020204" pitchFamily="34" charset="0"/>
              </a:rPr>
              <a:t>@font-face</a:t>
            </a:r>
            <a:r>
              <a:rPr lang="zh-CN" altLang="en-US" sz="2400" dirty="0" smtClean="0">
                <a:latin typeface="+mn-ea"/>
                <a:cs typeface="Arial" panose="020B0604020202020204" pitchFamily="34" charset="0"/>
              </a:rPr>
              <a:t>规则（前边章节网络字体部分已提及）可以实现</a:t>
            </a:r>
            <a:r>
              <a:rPr lang="en-US" altLang="zh-CN" sz="2400" dirty="0" smtClean="0">
                <a:latin typeface="+mn-ea"/>
                <a:cs typeface="Arial" panose="020B0604020202020204" pitchFamily="34" charset="0"/>
              </a:rPr>
              <a:t>Web</a:t>
            </a:r>
            <a:r>
              <a:rPr lang="zh-CN" altLang="en-US" sz="2400" dirty="0" smtClean="0">
                <a:latin typeface="+mn-ea"/>
                <a:cs typeface="Arial" panose="020B0604020202020204" pitchFamily="34" charset="0"/>
              </a:rPr>
              <a:t>字体的添加，使客户端可以不必预先安装而是从服务器端下载对应的字体文件，完成字体显示。</a:t>
            </a:r>
            <a:endParaRPr lang="en-US" altLang="zh-CN" sz="2400" dirty="0" smtClean="0">
              <a:latin typeface="+mn-ea"/>
              <a:cs typeface="Arial" panose="020B0604020202020204" pitchFamily="34" charset="0"/>
            </a:endParaRPr>
          </a:p>
          <a:p>
            <a:pPr algn="just">
              <a:lnSpc>
                <a:spcPct val="150000"/>
              </a:lnSpc>
            </a:pPr>
            <a:endParaRPr lang="en-US" altLang="zh-CN" sz="2400" dirty="0" smtClean="0">
              <a:latin typeface="+mn-ea"/>
              <a:cs typeface="Arial" panose="020B0604020202020204" pitchFamily="34" charset="0"/>
            </a:endParaRPr>
          </a:p>
          <a:p>
            <a:pPr algn="just">
              <a:lnSpc>
                <a:spcPct val="150000"/>
              </a:lnSpc>
            </a:pPr>
            <a:r>
              <a:rPr lang="en-US" altLang="zh-CN" sz="2400" dirty="0" smtClean="0">
                <a:latin typeface="+mn-ea"/>
                <a:cs typeface="Arial" panose="020B0604020202020204" pitchFamily="34" charset="0"/>
              </a:rPr>
              <a:t>CSS3</a:t>
            </a:r>
            <a:r>
              <a:rPr lang="zh-CN" altLang="en-US" sz="2400" dirty="0" smtClean="0">
                <a:latin typeface="+mn-ea"/>
                <a:cs typeface="Arial" panose="020B0604020202020204" pitchFamily="34" charset="0"/>
              </a:rPr>
              <a:t>支持</a:t>
            </a:r>
            <a:r>
              <a:rPr lang="en-US" altLang="zh-CN" sz="2400" dirty="0" smtClean="0">
                <a:latin typeface="+mn-ea"/>
                <a:cs typeface="Arial" panose="020B0604020202020204" pitchFamily="34" charset="0"/>
              </a:rPr>
              <a:t>2D</a:t>
            </a:r>
            <a:r>
              <a:rPr lang="zh-CN" altLang="en-US" sz="2400" dirty="0" smtClean="0">
                <a:latin typeface="+mn-ea"/>
                <a:cs typeface="Arial" panose="020B0604020202020204" pitchFamily="34" charset="0"/>
              </a:rPr>
              <a:t>和</a:t>
            </a:r>
            <a:r>
              <a:rPr lang="en-US" altLang="zh-CN" sz="2400" dirty="0" smtClean="0">
                <a:latin typeface="+mn-ea"/>
                <a:cs typeface="Arial" panose="020B0604020202020204" pitchFamily="34" charset="0"/>
              </a:rPr>
              <a:t>3D</a:t>
            </a:r>
            <a:r>
              <a:rPr lang="zh-CN" altLang="en-US" sz="2400" dirty="0" smtClean="0">
                <a:latin typeface="+mn-ea"/>
                <a:cs typeface="Arial" panose="020B0604020202020204" pitchFamily="34" charset="0"/>
              </a:rPr>
              <a:t>变换，可完成缩放、移动、旋转、倾斜、透视等效果。还可以应用过渡和动画，使元素在两个或多个状态间切换。</a:t>
            </a:r>
            <a:endParaRPr lang="zh-CN" altLang="en-US" sz="2400" dirty="0">
              <a:latin typeface="+mn-ea"/>
              <a:cs typeface="Arial" panose="020B0604020202020204" pitchFamily="34" charset="0"/>
            </a:endParaRPr>
          </a:p>
        </p:txBody>
      </p:sp>
      <p:sp>
        <p:nvSpPr>
          <p:cNvPr id="5" name="矩形 4"/>
          <p:cNvSpPr/>
          <p:nvPr/>
        </p:nvSpPr>
        <p:spPr>
          <a:xfrm>
            <a:off x="1" y="821803"/>
            <a:ext cx="474562" cy="393539"/>
          </a:xfrm>
          <a:prstGeom prst="rect">
            <a:avLst/>
          </a:prstGeom>
          <a:solidFill>
            <a:srgbClr val="8E2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8E2F73"/>
              </a:solidFill>
            </a:endParaRPr>
          </a:p>
        </p:txBody>
      </p:sp>
    </p:spTree>
    <p:extLst>
      <p:ext uri="{BB962C8B-B14F-4D97-AF65-F5344CB8AC3E}">
        <p14:creationId xmlns:p14="http://schemas.microsoft.com/office/powerpoint/2010/main" val="35324526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4603</TotalTime>
  <Words>3791</Words>
  <Application>Microsoft Office PowerPoint</Application>
  <PresentationFormat>宽屏</PresentationFormat>
  <Paragraphs>545</Paragraphs>
  <Slides>46</Slides>
  <Notes>46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等线</vt:lpstr>
      <vt:lpstr>等线 Light</vt:lpstr>
      <vt:lpstr>方正颜宋简体_大</vt:lpstr>
      <vt:lpstr>宋体</vt:lpstr>
      <vt:lpstr>微软雅黑</vt:lpstr>
      <vt:lpstr>Arial</vt:lpstr>
      <vt:lpstr>Calibri</vt:lpstr>
      <vt:lpstr>Calibri Light</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樊 浩然</dc:creator>
  <cp:lastModifiedBy>zhu jw</cp:lastModifiedBy>
  <cp:revision>196</cp:revision>
  <dcterms:created xsi:type="dcterms:W3CDTF">2023-09-04T07:36:08Z</dcterms:created>
  <dcterms:modified xsi:type="dcterms:W3CDTF">2024-03-19T05:21:27Z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