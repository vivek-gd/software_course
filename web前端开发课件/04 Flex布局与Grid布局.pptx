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5" r:id="rId1"/>
    <p:sldMasterId id="2147483688" r:id="rId2"/>
  </p:sldMasterIdLst>
  <p:notesMasterIdLst>
    <p:notesMasterId r:id="rId32"/>
  </p:notesMasterIdLst>
  <p:sldIdLst>
    <p:sldId id="427" r:id="rId3"/>
    <p:sldId id="513" r:id="rId4"/>
    <p:sldId id="515" r:id="rId5"/>
    <p:sldId id="516" r:id="rId6"/>
    <p:sldId id="517" r:id="rId7"/>
    <p:sldId id="518" r:id="rId8"/>
    <p:sldId id="519" r:id="rId9"/>
    <p:sldId id="520" r:id="rId10"/>
    <p:sldId id="522" r:id="rId11"/>
    <p:sldId id="521" r:id="rId12"/>
    <p:sldId id="523" r:id="rId13"/>
    <p:sldId id="524" r:id="rId14"/>
    <p:sldId id="525" r:id="rId15"/>
    <p:sldId id="526" r:id="rId16"/>
    <p:sldId id="542" r:id="rId17"/>
    <p:sldId id="543" r:id="rId18"/>
    <p:sldId id="530" r:id="rId19"/>
    <p:sldId id="531" r:id="rId20"/>
    <p:sldId id="532" r:id="rId21"/>
    <p:sldId id="533" r:id="rId22"/>
    <p:sldId id="534" r:id="rId23"/>
    <p:sldId id="535" r:id="rId24"/>
    <p:sldId id="536" r:id="rId25"/>
    <p:sldId id="537" r:id="rId26"/>
    <p:sldId id="538" r:id="rId27"/>
    <p:sldId id="544" r:id="rId28"/>
    <p:sldId id="539" r:id="rId29"/>
    <p:sldId id="540" r:id="rId30"/>
    <p:sldId id="54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子果" initials="子果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2F73"/>
    <a:srgbClr val="286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14" autoAdjust="0"/>
    <p:restoredTop sz="96420" autoAdjust="0"/>
  </p:normalViewPr>
  <p:slideViewPr>
    <p:cSldViewPr snapToGrid="0">
      <p:cViewPr>
        <p:scale>
          <a:sx n="75" d="100"/>
          <a:sy n="75" d="100"/>
        </p:scale>
        <p:origin x="1242" y="80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BA5A4-48EA-4DF8-A5E4-571711B0CC9F}" type="datetimeFigureOut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02493-CBBD-4A3D-81C1-7AA6506AC4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019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弹性盒子布局可以很方便的实现对一个容器中的子元素进行排列、对齐和剩余空间分配。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3893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07AB252-FA62-427F-899E-EC8E042215C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768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365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7E96-A9DF-45CB-92A7-103C15373C55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97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C85E-75EC-4599-990B-D95D618BF852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62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524F-3CA5-4A39-BBE7-C6B8F9A5D79C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39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99DF-6A70-4777-B639-889AF788F125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7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2048-7B1A-428D-9A57-5986A5A07253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08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901E-D02C-4329-99E4-4964776D5772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128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37BF-1ADC-4CCE-9275-4A5D02A4551B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44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B462-32C4-4C07-A5F0-726CE79FB4AA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48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18FAD-791A-4DE7-99D3-C7D3E58C6EEA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281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4055-C4B2-4D9D-A697-691753F3EA96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67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C481-74C9-4550-8352-37B186282D9E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677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8511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DCD0E-B68B-476B-B723-76AC632B92A2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281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D1EBF-980C-4434-99CC-E45FDC1B5C4E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3012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5E9FE-E8CE-4AC4-9F7E-51C4912CFDAA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922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DA7E-EBE4-4E71-892C-C50D863413B9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199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44ADC-5E0A-4F68-9851-020C01985215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2987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AD2DC-AFE1-4620-A442-833402031CF2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9252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ADD66E-6980-4332-AFD1-3DC21291C676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79367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B637A-DC36-4D3E-B6A2-A5007F61AA38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143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CD801-BE4E-4758-A7E5-B59773EE7645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388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C6139-78C2-4613-999E-EA44F8AB57D1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1894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DA270-5993-4ECD-B7E0-2B159072353E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06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2C3BF-67FD-4EDB-A8C4-335EEC1D0A5C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CCAFD-B661-4BC2-8A4E-75D38A9BCC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892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A98A8-07FD-4711-BB7E-62B9048E7D59}" type="datetime1">
              <a:rPr lang="zh-CN" altLang="en-US" smtClean="0"/>
              <a:t>2024/3/11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6B3F0-8F3D-443D-88D2-8F9C0D3368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5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 txBox="1"/>
          <p:nvPr/>
        </p:nvSpPr>
        <p:spPr>
          <a:xfrm>
            <a:off x="1932495" y="2517282"/>
            <a:ext cx="921447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第</a:t>
            </a:r>
            <a:r>
              <a:rPr lang="en-US" altLang="zh-CN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4</a:t>
            </a: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章 </a:t>
            </a:r>
            <a:r>
              <a:rPr lang="en-US" altLang="zh-CN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Flex</a:t>
            </a: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、</a:t>
            </a:r>
            <a:r>
              <a:rPr lang="en-US" altLang="zh-CN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Grid</a:t>
            </a: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布局</a:t>
            </a:r>
            <a:endParaRPr lang="zh-CN" altLang="en-US" sz="4800" b="1" spc="600" dirty="0">
              <a:latin typeface="微软雅黑" panose="020B0503020204020204" pitchFamily="34" charset="-122"/>
              <a:ea typeface="微软雅黑" panose="020B0503020204020204" pitchFamily="34" charset="-122"/>
              <a:cs typeface="方正颜宋简体_大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99562" y="987020"/>
            <a:ext cx="10619993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CSS3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带来一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个新的布局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方案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-Flex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布局。因为要考虑兼容性，所以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Flex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布局早期主要用在移动端，后来随着工程化工具的支持，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PC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端也开始普及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Flex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布局。</a:t>
            </a:r>
            <a:endParaRPr lang="en-US" altLang="zh-CN" sz="2400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Flex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布局使用起来非常顺手。例如，之前要实现一个简单的居中布局，还要考虑子元素是块级元素还是行内元素。采用</a:t>
            </a:r>
            <a:r>
              <a:rPr lang="en-US" altLang="zh-CN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Flex</a:t>
            </a:r>
            <a:r>
              <a:rPr lang="zh-CN" altLang="en-US" sz="2400" dirty="0" smtClean="0">
                <a:latin typeface="等线" panose="02010600030101010101" pitchFamily="2" charset="-122"/>
                <a:ea typeface="等线" panose="02010600030101010101" pitchFamily="2" charset="-122"/>
              </a:rPr>
              <a:t>布局只需要设置父元素即可，可以无视子元素类型。</a:t>
            </a:r>
            <a:endParaRPr lang="en-US" altLang="zh-CN" sz="2400" dirty="0" smtClean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 smtClean="0">
              <a:latin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等线" panose="02010600030101010101" pitchFamily="2" charset="-122"/>
              </a:rPr>
              <a:t>1</a:t>
            </a:r>
            <a:r>
              <a:rPr lang="zh-CN" altLang="en-US" b="1" dirty="0" smtClean="0">
                <a:latin typeface="等线" panose="02010600030101010101" pitchFamily="2" charset="-122"/>
              </a:rPr>
              <a:t>、</a:t>
            </a:r>
            <a:r>
              <a:rPr lang="en-US" altLang="zh-CN" b="1" dirty="0" smtClean="0">
                <a:latin typeface="等线" panose="02010600030101010101" pitchFamily="2" charset="-122"/>
              </a:rPr>
              <a:t>CSS</a:t>
            </a:r>
            <a:r>
              <a:rPr lang="zh-CN" altLang="en-US" b="1" dirty="0" smtClean="0">
                <a:latin typeface="等线" panose="02010600030101010101" pitchFamily="2" charset="-122"/>
              </a:rPr>
              <a:t>弹性盒子技巧</a:t>
            </a:r>
            <a:r>
              <a:rPr lang="en-US" altLang="zh-CN" b="1" dirty="0" smtClean="0">
                <a:latin typeface="等线" panose="02010600030101010101" pitchFamily="2" charset="-122"/>
              </a:rPr>
              <a:t>——</a:t>
            </a:r>
            <a:r>
              <a:rPr lang="en-US" altLang="zh-CN" b="1" u="sng" dirty="0" smtClean="0">
                <a:latin typeface="等线" panose="02010600030101010101" pitchFamily="2" charset="-122"/>
              </a:rPr>
              <a:t>https</a:t>
            </a:r>
            <a:r>
              <a:rPr lang="en-US" altLang="zh-CN" b="1" u="sng" dirty="0">
                <a:latin typeface="等线" panose="02010600030101010101" pitchFamily="2" charset="-122"/>
              </a:rPr>
              <a:t>://css-tricks.com/snippets/css/a-guide-to-flexbox</a:t>
            </a:r>
            <a:r>
              <a:rPr lang="en-US" altLang="zh-CN" b="1" u="sng" dirty="0" smtClean="0">
                <a:latin typeface="等线" panose="02010600030101010101" pitchFamily="2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等线" panose="02010600030101010101" pitchFamily="2" charset="-122"/>
              </a:rPr>
              <a:t>以</a:t>
            </a:r>
            <a:r>
              <a:rPr lang="zh-CN" altLang="en-US" b="1" dirty="0">
                <a:latin typeface="等线" panose="02010600030101010101" pitchFamily="2" charset="-122"/>
              </a:rPr>
              <a:t>视觉吸引人的方式解释弹性盒子所有内容的</a:t>
            </a:r>
            <a:r>
              <a:rPr lang="zh-CN" altLang="en-US" b="1" dirty="0" smtClean="0">
                <a:latin typeface="等线" panose="02010600030101010101" pitchFamily="2" charset="-122"/>
              </a:rPr>
              <a:t>文章</a:t>
            </a:r>
            <a:endParaRPr lang="en-US" altLang="zh-CN" b="1" dirty="0" smtClean="0">
              <a:latin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b="1" dirty="0" smtClean="0">
                <a:latin typeface="等线" panose="02010600030101010101" pitchFamily="2" charset="-122"/>
                <a:ea typeface="等线" panose="02010600030101010101" pitchFamily="2" charset="-122"/>
              </a:rPr>
              <a:t>、弹性盒子青蛙游戏</a:t>
            </a:r>
            <a:r>
              <a:rPr lang="en-US" altLang="zh-CN" b="1" dirty="0">
                <a:latin typeface="等线" panose="02010600030101010101" pitchFamily="2" charset="-122"/>
              </a:rPr>
              <a:t>——</a:t>
            </a:r>
            <a:r>
              <a:rPr lang="en-US" altLang="zh-CN" b="1" u="sng" dirty="0">
                <a:latin typeface="等线" panose="02010600030101010101" pitchFamily="2" charset="-122"/>
              </a:rPr>
              <a:t>https://flexboxfroggy.com</a:t>
            </a:r>
            <a:r>
              <a:rPr lang="en-US" altLang="zh-CN" b="1" u="sng" dirty="0" smtClean="0">
                <a:latin typeface="等线" panose="02010600030101010101" pitchFamily="2" charset="-122"/>
              </a:rPr>
              <a:t>/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学习和更好地了解弹性盒子基础知识的教育游戏</a:t>
            </a:r>
            <a:endParaRPr lang="zh-CN" altLang="en-US" b="1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847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31537" y="1101615"/>
            <a:ext cx="44935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弹性盒子布局可以解决如下问题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26047" y="2637647"/>
            <a:ext cx="1517650" cy="2107844"/>
            <a:chOff x="1428750" y="2862985"/>
            <a:chExt cx="1517650" cy="2107844"/>
          </a:xfrm>
        </p:grpSpPr>
        <p:sp>
          <p:nvSpPr>
            <p:cNvPr id="10" name="矩形 9"/>
            <p:cNvSpPr/>
            <p:nvPr/>
          </p:nvSpPr>
          <p:spPr>
            <a:xfrm>
              <a:off x="1428750" y="2862985"/>
              <a:ext cx="1517650" cy="151216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933575" y="3368242"/>
              <a:ext cx="508000" cy="501650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633577" y="4601497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垂直居中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888528" y="3008325"/>
            <a:ext cx="4411642" cy="1242707"/>
            <a:chOff x="3640158" y="2841016"/>
            <a:chExt cx="4411642" cy="1242707"/>
          </a:xfrm>
        </p:grpSpPr>
        <p:sp>
          <p:nvSpPr>
            <p:cNvPr id="14" name="矩形 13"/>
            <p:cNvSpPr/>
            <p:nvPr/>
          </p:nvSpPr>
          <p:spPr>
            <a:xfrm>
              <a:off x="3640158" y="2841016"/>
              <a:ext cx="4411642" cy="77805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3989408" y="2979216"/>
              <a:ext cx="508000" cy="501650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4827608" y="2992414"/>
              <a:ext cx="508000" cy="501650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5635666" y="2992414"/>
              <a:ext cx="508000" cy="501650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6427808" y="3006549"/>
              <a:ext cx="508000" cy="501650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235866" y="3006549"/>
              <a:ext cx="508000" cy="501650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5234027" y="3714391"/>
              <a:ext cx="18004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间隙的平均分配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645002" y="2760401"/>
            <a:ext cx="4411642" cy="1859963"/>
            <a:chOff x="3640158" y="4228154"/>
            <a:chExt cx="4411642" cy="1859963"/>
          </a:xfrm>
        </p:grpSpPr>
        <p:sp>
          <p:nvSpPr>
            <p:cNvPr id="26" name="矩形 25"/>
            <p:cNvSpPr/>
            <p:nvPr/>
          </p:nvSpPr>
          <p:spPr>
            <a:xfrm>
              <a:off x="3640158" y="4228154"/>
              <a:ext cx="4411642" cy="13217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689410" y="437515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XXXXXX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726026" y="4408284"/>
              <a:ext cx="3243223" cy="303063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689410" y="4937695"/>
              <a:ext cx="5309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XXX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321314" y="4970829"/>
              <a:ext cx="3647935" cy="303063"/>
            </a:xfrm>
            <a:prstGeom prst="rect">
              <a:avLst/>
            </a:prstGeom>
            <a:solidFill>
              <a:srgbClr val="9ED9E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5195753" y="5718785"/>
              <a:ext cx="20313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</a:rPr>
                <a:t>自动</a:t>
              </a:r>
              <a:r>
                <a:rPr lang="zh-CN" altLang="en-US" dirty="0" smtClean="0">
                  <a:latin typeface="宋体" panose="02010600030101010101" pitchFamily="2" charset="-122"/>
                  <a:ea typeface="宋体" panose="02010600030101010101" pitchFamily="2" charset="-122"/>
                </a:rPr>
                <a:t>占据剩余空间</a:t>
              </a:r>
              <a:endParaRPr lang="zh-CN" altLang="en-US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2600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888" y="2414173"/>
            <a:ext cx="5008147" cy="2572606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795867" y="1037913"/>
            <a:ext cx="10397913" cy="114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采用 </a:t>
            </a:r>
            <a:r>
              <a:rPr lang="en-US" altLang="zh-CN" sz="2400" dirty="0">
                <a:latin typeface="+mn-ea"/>
              </a:rPr>
              <a:t>Flex </a:t>
            </a:r>
            <a:r>
              <a:rPr lang="zh-CN" altLang="en-US" sz="2400" dirty="0">
                <a:latin typeface="+mn-ea"/>
              </a:rPr>
              <a:t>布局的元素，称为 </a:t>
            </a:r>
            <a:r>
              <a:rPr lang="en-US" altLang="zh-CN" sz="2400" dirty="0">
                <a:latin typeface="+mn-ea"/>
              </a:rPr>
              <a:t>Flex </a:t>
            </a:r>
            <a:r>
              <a:rPr lang="zh-CN" altLang="en-US" sz="2400" dirty="0">
                <a:latin typeface="+mn-ea"/>
              </a:rPr>
              <a:t>容器（</a:t>
            </a:r>
            <a:r>
              <a:rPr lang="en-US" altLang="zh-CN" sz="2400" dirty="0">
                <a:latin typeface="+mn-ea"/>
              </a:rPr>
              <a:t>flex container</a:t>
            </a:r>
            <a:r>
              <a:rPr lang="zh-CN" altLang="en-US" sz="2400" dirty="0">
                <a:latin typeface="+mn-ea"/>
              </a:rPr>
              <a:t>），</a:t>
            </a:r>
            <a:r>
              <a:rPr lang="zh-CN" altLang="en-US" sz="2400" dirty="0" smtClean="0">
                <a:latin typeface="+mn-ea"/>
              </a:rPr>
              <a:t>简称</a:t>
            </a:r>
            <a:r>
              <a:rPr lang="en-US" altLang="zh-CN" sz="2400" dirty="0" smtClean="0">
                <a:latin typeface="+mn-ea"/>
              </a:rPr>
              <a:t>“</a:t>
            </a:r>
            <a:r>
              <a:rPr lang="zh-CN" altLang="en-US" sz="2400" dirty="0" smtClean="0">
                <a:latin typeface="+mn-ea"/>
              </a:rPr>
              <a:t>容器</a:t>
            </a:r>
            <a:r>
              <a:rPr lang="en-US" altLang="zh-CN" sz="2400" dirty="0" smtClean="0">
                <a:latin typeface="+mn-ea"/>
              </a:rPr>
              <a:t>”</a:t>
            </a:r>
            <a:r>
              <a:rPr lang="zh-CN" altLang="en-US" sz="2400" dirty="0" smtClean="0">
                <a:latin typeface="+mn-ea"/>
              </a:rPr>
              <a:t>。</a:t>
            </a:r>
            <a:r>
              <a:rPr lang="zh-CN" altLang="en-US" sz="2400" dirty="0">
                <a:latin typeface="+mn-ea"/>
              </a:rPr>
              <a:t>它的所有子元素自动成为容器</a:t>
            </a:r>
            <a:r>
              <a:rPr lang="zh-CN" altLang="en-US" sz="2400" dirty="0" smtClean="0">
                <a:latin typeface="+mn-ea"/>
              </a:rPr>
              <a:t>成员</a:t>
            </a:r>
            <a:r>
              <a:rPr lang="zh-CN" altLang="en-US" sz="2400" dirty="0">
                <a:latin typeface="+mn-ea"/>
              </a:rPr>
              <a:t>，称为 </a:t>
            </a:r>
            <a:r>
              <a:rPr lang="en-US" altLang="zh-CN" sz="2400" dirty="0">
                <a:latin typeface="+mn-ea"/>
              </a:rPr>
              <a:t>Flex </a:t>
            </a:r>
            <a:r>
              <a:rPr lang="zh-CN" altLang="en-US" sz="2400" dirty="0" smtClean="0">
                <a:latin typeface="+mn-ea"/>
              </a:rPr>
              <a:t>元素（</a:t>
            </a:r>
            <a:r>
              <a:rPr lang="en-US" altLang="zh-CN" sz="2400" dirty="0">
                <a:latin typeface="+mn-ea"/>
              </a:rPr>
              <a:t>flex item</a:t>
            </a:r>
            <a:r>
              <a:rPr lang="zh-CN" altLang="en-US" sz="2400" dirty="0">
                <a:latin typeface="+mn-ea"/>
              </a:rPr>
              <a:t>），</a:t>
            </a:r>
            <a:r>
              <a:rPr lang="zh-CN" altLang="en-US" sz="2400" dirty="0" smtClean="0">
                <a:latin typeface="+mn-ea"/>
              </a:rPr>
              <a:t>简称</a:t>
            </a:r>
            <a:r>
              <a:rPr lang="en-US" altLang="zh-CN" sz="2400" dirty="0" smtClean="0">
                <a:latin typeface="+mn-ea"/>
              </a:rPr>
              <a:t>“</a:t>
            </a:r>
            <a:r>
              <a:rPr lang="zh-CN" altLang="en-US" sz="2400" dirty="0" smtClean="0">
                <a:latin typeface="+mn-ea"/>
              </a:rPr>
              <a:t>元素</a:t>
            </a:r>
            <a:r>
              <a:rPr lang="en-US" altLang="zh-CN" sz="2400" dirty="0" smtClean="0">
                <a:latin typeface="+mn-ea"/>
              </a:rPr>
              <a:t>"</a:t>
            </a:r>
            <a:r>
              <a:rPr lang="zh-CN" altLang="en-US" sz="2400" dirty="0">
                <a:latin typeface="+mn-ea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795867" y="5219008"/>
            <a:ext cx="109050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Flex</a:t>
            </a:r>
            <a:r>
              <a:rPr lang="zh-CN" altLang="en-US" sz="2400" dirty="0"/>
              <a:t>布局原理</a:t>
            </a:r>
            <a:r>
              <a:rPr lang="zh-CN" altLang="en-US" sz="2400" dirty="0" smtClean="0"/>
              <a:t>：就是</a:t>
            </a:r>
            <a:r>
              <a:rPr lang="zh-CN" altLang="en-US" sz="2400" dirty="0"/>
              <a:t>通过给父盒子添加</a:t>
            </a:r>
            <a:r>
              <a:rPr lang="en-US" altLang="zh-CN" sz="2400" dirty="0"/>
              <a:t>flex</a:t>
            </a:r>
            <a:r>
              <a:rPr lang="zh-CN" altLang="en-US" sz="2400" dirty="0"/>
              <a:t>属性，来控制子</a:t>
            </a:r>
            <a:r>
              <a:rPr lang="zh-CN" altLang="en-US" sz="2400" dirty="0" smtClean="0"/>
              <a:t>盒子</a:t>
            </a:r>
            <a:r>
              <a:rPr lang="zh-CN" altLang="en-US" sz="2400" dirty="0"/>
              <a:t>的位置和排列方式</a:t>
            </a:r>
          </a:p>
        </p:txBody>
      </p:sp>
      <p:sp>
        <p:nvSpPr>
          <p:cNvPr id="5" name="矩形 4"/>
          <p:cNvSpPr/>
          <p:nvPr/>
        </p:nvSpPr>
        <p:spPr>
          <a:xfrm>
            <a:off x="795867" y="5912902"/>
            <a:ext cx="93048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弹性元素也可以作为新的弹性容器，嵌套一些新的其他的弹性元素。</a:t>
            </a:r>
          </a:p>
        </p:txBody>
      </p:sp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5619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161" y="1881737"/>
            <a:ext cx="5008147" cy="257260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52" y="913451"/>
            <a:ext cx="3576165" cy="327501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5308" y="3605825"/>
            <a:ext cx="3055033" cy="291018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02852" y="4581664"/>
            <a:ext cx="6852213" cy="216982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 smtClean="0">
                <a:latin typeface="+mn-ea"/>
              </a:rPr>
              <a:t> </a:t>
            </a:r>
            <a:r>
              <a:rPr lang="en-US" altLang="zh-CN" dirty="0">
                <a:latin typeface="+mn-ea"/>
              </a:rPr>
              <a:t>flex-direction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 smtClean="0">
                <a:latin typeface="+mn-ea"/>
              </a:rPr>
              <a:t>设置</a:t>
            </a:r>
            <a:r>
              <a:rPr lang="zh-CN" altLang="en-US" dirty="0">
                <a:latin typeface="+mn-ea"/>
              </a:rPr>
              <a:t>按</a:t>
            </a:r>
            <a:r>
              <a:rPr lang="zh-CN" altLang="en-US" dirty="0" smtClean="0">
                <a:latin typeface="+mn-ea"/>
              </a:rPr>
              <a:t>行还是按列进行布局</a:t>
            </a:r>
            <a:endParaRPr lang="zh-CN" alt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 </a:t>
            </a:r>
            <a:r>
              <a:rPr lang="en-US" altLang="zh-CN" dirty="0">
                <a:latin typeface="+mn-ea"/>
              </a:rPr>
              <a:t>flex-wrap</a:t>
            </a:r>
            <a:r>
              <a:rPr lang="zh-CN" altLang="en-US" dirty="0">
                <a:latin typeface="+mn-ea"/>
              </a:rPr>
              <a:t>：设置子元素是否</a:t>
            </a:r>
            <a:r>
              <a:rPr lang="zh-CN" altLang="en-US" dirty="0" smtClean="0">
                <a:latin typeface="+mn-ea"/>
              </a:rPr>
              <a:t>换行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 </a:t>
            </a:r>
            <a:r>
              <a:rPr lang="en-US" altLang="zh-CN" dirty="0" smtClean="0">
                <a:latin typeface="+mn-ea"/>
              </a:rPr>
              <a:t>justify-content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 smtClean="0">
                <a:latin typeface="+mn-ea"/>
              </a:rPr>
              <a:t>设置弹性元素在主轴</a:t>
            </a:r>
            <a:r>
              <a:rPr lang="zh-CN" altLang="en-US" dirty="0">
                <a:latin typeface="+mn-ea"/>
              </a:rPr>
              <a:t>上</a:t>
            </a:r>
            <a:r>
              <a:rPr lang="zh-CN" altLang="en-US" dirty="0" smtClean="0">
                <a:latin typeface="+mn-ea"/>
              </a:rPr>
              <a:t>的对齐方式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 </a:t>
            </a:r>
            <a:r>
              <a:rPr lang="en-US" altLang="zh-CN" dirty="0">
                <a:latin typeface="+mn-ea"/>
              </a:rPr>
              <a:t>align-items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 smtClean="0">
                <a:latin typeface="+mn-ea"/>
              </a:rPr>
              <a:t>设置弹性元素在</a:t>
            </a:r>
            <a:r>
              <a:rPr lang="zh-CN" altLang="en-US" dirty="0">
                <a:latin typeface="+mn-ea"/>
              </a:rPr>
              <a:t>侧</a:t>
            </a:r>
            <a:r>
              <a:rPr lang="zh-CN" altLang="en-US" dirty="0" smtClean="0">
                <a:latin typeface="+mn-ea"/>
              </a:rPr>
              <a:t>轴</a:t>
            </a:r>
            <a:r>
              <a:rPr lang="zh-CN" altLang="en-US" dirty="0">
                <a:latin typeface="+mn-ea"/>
              </a:rPr>
              <a:t>上</a:t>
            </a:r>
            <a:r>
              <a:rPr lang="zh-CN" altLang="en-US" dirty="0" smtClean="0">
                <a:latin typeface="+mn-ea"/>
              </a:rPr>
              <a:t>的对齐方式</a:t>
            </a:r>
            <a:r>
              <a:rPr lang="zh-CN" altLang="en-US" dirty="0">
                <a:latin typeface="+mn-ea"/>
              </a:rPr>
              <a:t>（单行）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 </a:t>
            </a:r>
            <a:r>
              <a:rPr lang="en-US" altLang="zh-CN" dirty="0" smtClean="0">
                <a:latin typeface="+mn-ea"/>
              </a:rPr>
              <a:t>align-content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dirty="0" smtClean="0">
                <a:latin typeface="+mn-ea"/>
              </a:rPr>
              <a:t>设置</a:t>
            </a:r>
            <a:r>
              <a:rPr lang="zh-CN" altLang="en-US" dirty="0">
                <a:latin typeface="+mn-ea"/>
              </a:rPr>
              <a:t>弹性元素</a:t>
            </a:r>
            <a:r>
              <a:rPr lang="zh-CN" altLang="en-US" dirty="0" smtClean="0">
                <a:latin typeface="+mn-ea"/>
              </a:rPr>
              <a:t>在侧轴</a:t>
            </a:r>
            <a:r>
              <a:rPr lang="zh-CN" altLang="en-US" dirty="0">
                <a:latin typeface="+mn-ea"/>
              </a:rPr>
              <a:t>上的对齐</a:t>
            </a:r>
            <a:r>
              <a:rPr lang="zh-CN" altLang="en-US" dirty="0" smtClean="0">
                <a:latin typeface="+mn-ea"/>
              </a:rPr>
              <a:t>方式</a:t>
            </a:r>
            <a:r>
              <a:rPr lang="zh-CN" altLang="en-US" dirty="0">
                <a:latin typeface="+mn-ea"/>
              </a:rPr>
              <a:t>（多行</a:t>
            </a:r>
            <a:r>
              <a:rPr lang="zh-CN" altLang="en-US" dirty="0" smtClean="0">
                <a:latin typeface="+mn-ea"/>
              </a:rPr>
              <a:t>）</a:t>
            </a:r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607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5867" y="987020"/>
            <a:ext cx="1039791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flex-direction</a:t>
            </a:r>
            <a:r>
              <a:rPr lang="zh-CN" altLang="en-US" sz="2400" dirty="0">
                <a:latin typeface="+mn-ea"/>
              </a:rPr>
              <a:t>设置主轴的</a:t>
            </a:r>
            <a:r>
              <a:rPr lang="zh-CN" altLang="en-US" sz="2400" dirty="0" smtClean="0">
                <a:latin typeface="+mn-ea"/>
              </a:rPr>
              <a:t>方向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在 </a:t>
            </a:r>
            <a:r>
              <a:rPr lang="en-US" altLang="zh-CN" sz="2400" dirty="0">
                <a:latin typeface="+mn-ea"/>
              </a:rPr>
              <a:t>flex </a:t>
            </a:r>
            <a:r>
              <a:rPr lang="zh-CN" altLang="en-US" sz="2400" dirty="0">
                <a:latin typeface="+mn-ea"/>
              </a:rPr>
              <a:t>布局中，是分为主轴和侧轴两个方向，同样的叫法</a:t>
            </a:r>
            <a:r>
              <a:rPr lang="zh-CN" altLang="en-US" sz="2400" dirty="0" smtClean="0">
                <a:latin typeface="+mn-ea"/>
              </a:rPr>
              <a:t>有：行</a:t>
            </a:r>
            <a:r>
              <a:rPr lang="zh-CN" altLang="en-US" sz="2400" dirty="0">
                <a:latin typeface="+mn-ea"/>
              </a:rPr>
              <a:t>和列、</a:t>
            </a:r>
            <a:r>
              <a:rPr lang="en-US" altLang="zh-CN" sz="2400" dirty="0">
                <a:latin typeface="+mn-ea"/>
              </a:rPr>
              <a:t>x </a:t>
            </a:r>
            <a:r>
              <a:rPr lang="zh-CN" altLang="en-US" sz="2400" dirty="0">
                <a:latin typeface="+mn-ea"/>
              </a:rPr>
              <a:t>轴和</a:t>
            </a:r>
            <a:r>
              <a:rPr lang="en-US" altLang="zh-CN" sz="2400" dirty="0" smtClean="0">
                <a:latin typeface="+mn-ea"/>
              </a:rPr>
              <a:t>y</a:t>
            </a:r>
            <a:r>
              <a:rPr lang="zh-CN" altLang="en-US" sz="2400" dirty="0" smtClean="0">
                <a:latin typeface="+mn-ea"/>
              </a:rPr>
              <a:t>轴。</a:t>
            </a:r>
            <a:endParaRPr lang="en-US" altLang="zh-CN" sz="2400" dirty="0" smtClean="0"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+mn-ea"/>
              </a:rPr>
              <a:t>默认主轴方向就是 </a:t>
            </a:r>
            <a:r>
              <a:rPr lang="en-US" altLang="zh-CN" sz="2400" dirty="0">
                <a:latin typeface="+mn-ea"/>
              </a:rPr>
              <a:t>x </a:t>
            </a:r>
            <a:r>
              <a:rPr lang="zh-CN" altLang="en-US" sz="2400" dirty="0">
                <a:latin typeface="+mn-ea"/>
              </a:rPr>
              <a:t>轴方向，水平向右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latin typeface="+mn-ea"/>
              </a:rPr>
              <a:t>默认</a:t>
            </a:r>
            <a:r>
              <a:rPr lang="zh-CN" altLang="en-US" sz="2400" dirty="0">
                <a:latin typeface="+mn-ea"/>
              </a:rPr>
              <a:t>侧轴方向就是 </a:t>
            </a:r>
            <a:r>
              <a:rPr lang="en-US" altLang="zh-CN" sz="2400" dirty="0">
                <a:latin typeface="+mn-ea"/>
              </a:rPr>
              <a:t>y </a:t>
            </a:r>
            <a:r>
              <a:rPr lang="zh-CN" altLang="en-US" sz="2400" dirty="0">
                <a:latin typeface="+mn-ea"/>
              </a:rPr>
              <a:t>轴方向，水平</a:t>
            </a:r>
            <a:r>
              <a:rPr lang="zh-CN" altLang="en-US" sz="2400" dirty="0" smtClean="0">
                <a:latin typeface="+mn-ea"/>
              </a:rPr>
              <a:t>向下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</a:rPr>
              <a:t>flex-direction</a:t>
            </a:r>
            <a:r>
              <a:rPr lang="zh-CN" altLang="en-US" sz="2400" dirty="0" smtClean="0">
                <a:latin typeface="+mn-ea"/>
              </a:rPr>
              <a:t>属性的可选值有以下</a:t>
            </a:r>
            <a:r>
              <a:rPr lang="en-US" altLang="zh-CN" sz="2400" dirty="0" smtClean="0">
                <a:latin typeface="+mn-ea"/>
              </a:rPr>
              <a:t>4</a:t>
            </a:r>
            <a:r>
              <a:rPr lang="zh-CN" altLang="en-US" sz="2400" dirty="0" smtClean="0">
                <a:latin typeface="+mn-ea"/>
              </a:rPr>
              <a:t>个：</a:t>
            </a:r>
            <a:endParaRPr lang="en-US" altLang="zh-CN" sz="2400" dirty="0" smtClean="0"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78" y="4508284"/>
            <a:ext cx="5091545" cy="177612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</p:spTree>
    <p:extLst>
      <p:ext uri="{BB962C8B-B14F-4D97-AF65-F5344CB8AC3E}">
        <p14:creationId xmlns:p14="http://schemas.microsoft.com/office/powerpoint/2010/main" val="219257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en-US" altLang="zh-CN" sz="3600" b="1" kern="0" spc="300" dirty="0"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97" y="1398113"/>
            <a:ext cx="4473503" cy="10609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97" y="3931112"/>
            <a:ext cx="4361372" cy="94387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703" y="977867"/>
            <a:ext cx="964256" cy="45376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5737" y="778075"/>
            <a:ext cx="1123589" cy="485061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105025" y="2657475"/>
            <a:ext cx="167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row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033673" y="4916074"/>
            <a:ext cx="1676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row-reverse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6740640" y="5628691"/>
            <a:ext cx="94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column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8845658" y="5628691"/>
            <a:ext cx="1736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column-reverse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489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en-US" altLang="zh-CN" sz="3600" b="1" kern="0" spc="300" dirty="0"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9016" y="987020"/>
            <a:ext cx="103979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justify-content </a:t>
            </a:r>
            <a:r>
              <a:rPr lang="zh-CN" altLang="en-US" sz="2400" dirty="0">
                <a:latin typeface="+mn-ea"/>
              </a:rPr>
              <a:t>用于设置弹性</a:t>
            </a:r>
            <a:r>
              <a:rPr lang="zh-CN" altLang="en-US" sz="2400" dirty="0" smtClean="0">
                <a:latin typeface="+mn-ea"/>
              </a:rPr>
              <a:t>元素在主轴</a:t>
            </a:r>
            <a:r>
              <a:rPr lang="zh-CN" altLang="en-US" sz="2400" dirty="0">
                <a:latin typeface="+mn-ea"/>
              </a:rPr>
              <a:t>上</a:t>
            </a:r>
            <a:r>
              <a:rPr lang="zh-CN" altLang="en-US" sz="2400" dirty="0" smtClean="0">
                <a:latin typeface="+mn-ea"/>
              </a:rPr>
              <a:t>的对齐方式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注意：使用</a:t>
            </a:r>
            <a:r>
              <a:rPr lang="zh-CN" altLang="en-US" sz="2400" dirty="0">
                <a:latin typeface="+mn-ea"/>
              </a:rPr>
              <a:t>这个属性之前一定要确定好主轴是</a:t>
            </a:r>
            <a:r>
              <a:rPr lang="zh-CN" altLang="en-US" sz="2400" dirty="0" smtClean="0">
                <a:latin typeface="+mn-ea"/>
              </a:rPr>
              <a:t>哪个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+mn-ea"/>
              </a:rPr>
              <a:t>该属性的可选值如下：</a:t>
            </a:r>
            <a:endParaRPr lang="en-US" altLang="zh-CN" sz="24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400" dirty="0" smtClean="0">
              <a:latin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99" y="2859090"/>
            <a:ext cx="8651117" cy="3577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</p:spTree>
    <p:extLst>
      <p:ext uri="{BB962C8B-B14F-4D97-AF65-F5344CB8AC3E}">
        <p14:creationId xmlns:p14="http://schemas.microsoft.com/office/powerpoint/2010/main" val="275310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en-US" altLang="zh-CN" sz="3600" b="1" kern="0" spc="300" dirty="0"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5821" y="2744851"/>
            <a:ext cx="5661901" cy="254837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28" y="987020"/>
            <a:ext cx="5437866" cy="3825220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6269504" y="5609657"/>
            <a:ext cx="5882957" cy="9685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space-between</a:t>
            </a:r>
            <a:r>
              <a:rPr lang="zh-CN" altLang="en-US" sz="2000" dirty="0" smtClean="0"/>
              <a:t>表示子元素两端对齐，中间平均分配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space-around</a:t>
            </a:r>
            <a:r>
              <a:rPr lang="zh-CN" altLang="en-US" sz="2000" dirty="0" smtClean="0"/>
              <a:t>表示在子元素的两侧平均分配</a:t>
            </a:r>
            <a:endParaRPr lang="zh-CN" altLang="en-US" sz="2000" dirty="0"/>
          </a:p>
        </p:txBody>
      </p:sp>
      <p:sp>
        <p:nvSpPr>
          <p:cNvPr id="10" name="矩形 9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</p:spTree>
    <p:extLst>
      <p:ext uri="{BB962C8B-B14F-4D97-AF65-F5344CB8AC3E}">
        <p14:creationId xmlns:p14="http://schemas.microsoft.com/office/powerpoint/2010/main" val="2834551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en-US" altLang="zh-CN" sz="3600" b="1" kern="0" spc="300" dirty="0"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9016" y="987020"/>
            <a:ext cx="10397913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除了主轴方向的元素对齐，还可以用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align-items</a:t>
            </a:r>
            <a:r>
              <a:rPr lang="zh-CN" altLang="en-US" sz="2000" dirty="0" smtClean="0">
                <a:latin typeface="+mn-ea"/>
              </a:rPr>
              <a:t>属性设置交叉轴方向的元素对齐。</a:t>
            </a:r>
            <a:r>
              <a:rPr lang="en-US" altLang="zh-CN" sz="2000" dirty="0">
                <a:latin typeface="+mn-ea"/>
              </a:rPr>
              <a:t> </a:t>
            </a:r>
            <a:r>
              <a:rPr lang="en-US" altLang="zh-CN" sz="2000" dirty="0" smtClean="0">
                <a:latin typeface="+mn-ea"/>
              </a:rPr>
              <a:t>align-items</a:t>
            </a:r>
            <a:r>
              <a:rPr lang="zh-CN" altLang="en-US" sz="2000" dirty="0" smtClean="0">
                <a:latin typeface="+mn-ea"/>
              </a:rPr>
              <a:t>属性的可选值如下：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+mn-ea"/>
              </a:rPr>
              <a:t>f</a:t>
            </a:r>
            <a:r>
              <a:rPr lang="en-US" altLang="zh-CN" sz="2000" dirty="0" smtClean="0">
                <a:latin typeface="+mn-ea"/>
              </a:rPr>
              <a:t>lex-start</a:t>
            </a:r>
            <a:r>
              <a:rPr lang="zh-CN" altLang="en-US" sz="2000" dirty="0" smtClean="0">
                <a:latin typeface="+mn-ea"/>
              </a:rPr>
              <a:t>：从上到下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+mn-ea"/>
              </a:rPr>
              <a:t>f</a:t>
            </a:r>
            <a:r>
              <a:rPr lang="en-US" altLang="zh-CN" sz="2000" dirty="0" smtClean="0">
                <a:latin typeface="+mn-ea"/>
              </a:rPr>
              <a:t>lex-end</a:t>
            </a:r>
            <a:r>
              <a:rPr lang="zh-CN" altLang="en-US" sz="2000" dirty="0" smtClean="0">
                <a:latin typeface="+mn-ea"/>
              </a:rPr>
              <a:t>：从下到上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+mn-ea"/>
              </a:rPr>
              <a:t>c</a:t>
            </a:r>
            <a:r>
              <a:rPr lang="en-US" altLang="zh-CN" sz="2000" dirty="0" smtClean="0">
                <a:latin typeface="+mn-ea"/>
              </a:rPr>
              <a:t>enter</a:t>
            </a:r>
            <a:r>
              <a:rPr lang="zh-CN" altLang="en-US" sz="2000" dirty="0" smtClean="0">
                <a:latin typeface="+mn-ea"/>
              </a:rPr>
              <a:t>：居中对齐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+mn-ea"/>
              </a:rPr>
              <a:t>b</a:t>
            </a:r>
            <a:r>
              <a:rPr lang="en-US" altLang="zh-CN" sz="2000" dirty="0" smtClean="0">
                <a:latin typeface="+mn-ea"/>
              </a:rPr>
              <a:t>aseline</a:t>
            </a:r>
            <a:r>
              <a:rPr lang="zh-CN" altLang="en-US" sz="2000" dirty="0" smtClean="0">
                <a:latin typeface="+mn-ea"/>
              </a:rPr>
              <a:t>：基线对齐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>
                <a:latin typeface="+mn-ea"/>
              </a:rPr>
              <a:t>s</a:t>
            </a:r>
            <a:r>
              <a:rPr lang="en-US" altLang="zh-CN" sz="2000" dirty="0" smtClean="0">
                <a:latin typeface="+mn-ea"/>
              </a:rPr>
              <a:t>tretch</a:t>
            </a:r>
            <a:r>
              <a:rPr lang="zh-CN" altLang="en-US" sz="2000" dirty="0" smtClean="0">
                <a:latin typeface="+mn-ea"/>
              </a:rPr>
              <a:t>：填满整个高度（默认）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</a:rPr>
              <a:t>baseline</a:t>
            </a:r>
            <a:r>
              <a:rPr lang="zh-CN" altLang="en-US" sz="2000" dirty="0" smtClean="0">
                <a:latin typeface="+mn-ea"/>
              </a:rPr>
              <a:t>是指按照文字的基线对齐，因为一个容器内不同文字的大小可能不同，高度也就会不同，采用基线对齐就可以按照文字的最低处对齐，这样有利于文字排版。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latin typeface="+mn-ea"/>
              </a:rPr>
              <a:t>stretch</a:t>
            </a:r>
            <a:r>
              <a:rPr lang="zh-CN" altLang="en-US" sz="2000" dirty="0" smtClean="0">
                <a:latin typeface="+mn-ea"/>
              </a:rPr>
              <a:t>表示填满整个父元素的高度。</a:t>
            </a:r>
            <a:endParaRPr lang="en-US" altLang="zh-CN" sz="2000" dirty="0" smtClean="0">
              <a:latin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</p:spTree>
    <p:extLst>
      <p:ext uri="{BB962C8B-B14F-4D97-AF65-F5344CB8AC3E}">
        <p14:creationId xmlns:p14="http://schemas.microsoft.com/office/powerpoint/2010/main" val="665574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en-US" altLang="zh-CN" sz="3600" b="1" kern="0" spc="300" dirty="0"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6334" y="822745"/>
            <a:ext cx="1039791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当元素在一个方向放不下时，应该如何展示？是否需要换行？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容器</a:t>
            </a:r>
            <a:r>
              <a:rPr lang="zh-CN" altLang="en-US" sz="2000" dirty="0" smtClean="0">
                <a:latin typeface="+mn-ea"/>
              </a:rPr>
              <a:t>元素可以使用</a:t>
            </a:r>
            <a:r>
              <a:rPr lang="en-US" altLang="zh-CN" sz="2000" dirty="0" smtClean="0">
                <a:latin typeface="+mn-ea"/>
              </a:rPr>
              <a:t>flex-wrap</a:t>
            </a:r>
            <a:r>
              <a:rPr lang="zh-CN" altLang="en-US" sz="2000" dirty="0" smtClean="0">
                <a:latin typeface="+mn-ea"/>
              </a:rPr>
              <a:t>属性设置，该属性可选值如下：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err="1" smtClean="0">
                <a:latin typeface="+mn-ea"/>
              </a:rPr>
              <a:t>nowrap</a:t>
            </a:r>
            <a:r>
              <a:rPr lang="zh-CN" altLang="en-US" sz="2000" dirty="0" smtClean="0">
                <a:latin typeface="+mn-ea"/>
              </a:rPr>
              <a:t>：不换行（默认）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+mn-ea"/>
              </a:rPr>
              <a:t>wrap</a:t>
            </a:r>
            <a:r>
              <a:rPr lang="zh-CN" altLang="en-US" sz="2000" dirty="0" smtClean="0">
                <a:latin typeface="+mn-ea"/>
              </a:rPr>
              <a:t>：换行，第一行在上</a:t>
            </a:r>
            <a:endParaRPr lang="en-US" altLang="zh-CN" sz="2000" dirty="0" smtClean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2000" dirty="0" smtClean="0">
                <a:latin typeface="+mn-ea"/>
              </a:rPr>
              <a:t>wrap-reverse</a:t>
            </a:r>
            <a:r>
              <a:rPr lang="zh-CN" altLang="en-US" sz="2000" dirty="0" smtClean="0">
                <a:latin typeface="+mn-ea"/>
              </a:rPr>
              <a:t>：换行，第一行在下</a:t>
            </a: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当</a:t>
            </a:r>
            <a:r>
              <a:rPr lang="zh-CN" altLang="en-US" sz="2000" dirty="0">
                <a:latin typeface="+mn-ea"/>
              </a:rPr>
              <a:t>一</a:t>
            </a:r>
            <a:r>
              <a:rPr lang="zh-CN" altLang="en-US" sz="2000" dirty="0" smtClean="0">
                <a:latin typeface="+mn-ea"/>
              </a:rPr>
              <a:t>个轴的元素放不下时，默认不换行，</a:t>
            </a:r>
            <a:r>
              <a:rPr lang="en-US" altLang="zh-CN" sz="2000" dirty="0" smtClean="0">
                <a:latin typeface="+mn-ea"/>
              </a:rPr>
              <a:t>Flex</a:t>
            </a:r>
            <a:r>
              <a:rPr lang="zh-CN" altLang="en-US" sz="2000" dirty="0" smtClean="0">
                <a:latin typeface="+mn-ea"/>
              </a:rPr>
              <a:t>容器会将元素的宽度等比例压缩，使其排列到一行。在一般情况下，如果需要换行，将</a:t>
            </a:r>
            <a:r>
              <a:rPr lang="en-US" altLang="zh-CN" sz="2000" dirty="0" smtClean="0">
                <a:latin typeface="+mn-ea"/>
              </a:rPr>
              <a:t>flex-wrap</a:t>
            </a:r>
            <a:r>
              <a:rPr lang="zh-CN" altLang="en-US" sz="2000" dirty="0" smtClean="0">
                <a:latin typeface="+mn-ea"/>
              </a:rPr>
              <a:t>属性设置为</a:t>
            </a:r>
            <a:r>
              <a:rPr lang="en-US" altLang="zh-CN" sz="2000" dirty="0" smtClean="0">
                <a:latin typeface="+mn-ea"/>
              </a:rPr>
              <a:t>wrap</a:t>
            </a:r>
            <a:r>
              <a:rPr lang="zh-CN" altLang="en-US" sz="2000" dirty="0" smtClean="0">
                <a:latin typeface="+mn-ea"/>
              </a:rPr>
              <a:t>即可，超出元素会自动换到下一行。</a:t>
            </a:r>
            <a:endParaRPr lang="en-US" altLang="zh-CN" sz="2000" dirty="0" smtClean="0">
              <a:latin typeface="+mn-ea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943" y="4636530"/>
            <a:ext cx="4766042" cy="2041063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</p:spTree>
    <p:extLst>
      <p:ext uri="{BB962C8B-B14F-4D97-AF65-F5344CB8AC3E}">
        <p14:creationId xmlns:p14="http://schemas.microsoft.com/office/powerpoint/2010/main" val="1739704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en-US" altLang="zh-CN" sz="3600" b="1" kern="0" spc="300" dirty="0"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19016" y="987020"/>
            <a:ext cx="10397913" cy="9687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</a:rPr>
              <a:t>align-content </a:t>
            </a:r>
            <a:r>
              <a:rPr lang="zh-CN" altLang="en-US" sz="2000" dirty="0">
                <a:latin typeface="+mn-ea"/>
              </a:rPr>
              <a:t>设置多行元素在容器中的整体对齐方式</a:t>
            </a: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只有一行或者一列，这个属性不起作用</a:t>
            </a:r>
            <a:endParaRPr lang="en-US" altLang="zh-CN" sz="2000" dirty="0" smtClean="0">
              <a:latin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17" y="2200263"/>
            <a:ext cx="8105865" cy="435100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</p:spTree>
    <p:extLst>
      <p:ext uri="{BB962C8B-B14F-4D97-AF65-F5344CB8AC3E}">
        <p14:creationId xmlns:p14="http://schemas.microsoft.com/office/powerpoint/2010/main" val="3414041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lang="en-US" altLang="zh-CN" sz="3600" b="1" kern="0" spc="300" dirty="0"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5866" y="1107130"/>
            <a:ext cx="10397913" cy="673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b="1" dirty="0">
                <a:latin typeface="+mn-ea"/>
              </a:rPr>
              <a:t>align-content </a:t>
            </a:r>
            <a:r>
              <a:rPr lang="zh-CN" altLang="en-US" sz="2800" b="1" dirty="0">
                <a:latin typeface="+mn-ea"/>
              </a:rPr>
              <a:t>和 </a:t>
            </a:r>
            <a:r>
              <a:rPr lang="en-US" altLang="zh-CN" sz="2800" b="1" dirty="0">
                <a:latin typeface="+mn-ea"/>
              </a:rPr>
              <a:t>align-items </a:t>
            </a:r>
            <a:r>
              <a:rPr lang="zh-CN" altLang="en-US" sz="2800" b="1" dirty="0" smtClean="0">
                <a:latin typeface="+mn-ea"/>
              </a:rPr>
              <a:t>区别</a:t>
            </a:r>
            <a:r>
              <a:rPr lang="en-US" altLang="zh-CN" sz="2800" b="1" dirty="0" smtClean="0">
                <a:latin typeface="+mn-ea"/>
              </a:rPr>
              <a:t> </a:t>
            </a:r>
            <a:endParaRPr lang="en-US" altLang="zh-CN" sz="2800" b="1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5866" y="2005190"/>
            <a:ext cx="104969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align-items </a:t>
            </a:r>
            <a:r>
              <a:rPr lang="zh-CN" altLang="en-US" sz="2000" dirty="0"/>
              <a:t>适用于单行情况下， 只有上对齐、下对齐、居中和 拉伸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align-content </a:t>
            </a:r>
            <a:r>
              <a:rPr lang="zh-CN" altLang="en-US" sz="2000" dirty="0"/>
              <a:t>适应于换行（多行）的情况下（单行情况下无效）， 可以设置 上对齐、 下对齐、居中、拉伸以及平均分配剩余空间等属性值。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 smtClean="0"/>
              <a:t>单行</a:t>
            </a:r>
            <a:r>
              <a:rPr lang="zh-CN" altLang="en-US" sz="2000" dirty="0" smtClean="0"/>
              <a:t>用</a:t>
            </a:r>
            <a:r>
              <a:rPr lang="zh-CN" altLang="en-US" sz="2000" dirty="0" smtClean="0"/>
              <a:t> </a:t>
            </a:r>
            <a:r>
              <a:rPr lang="en-US" altLang="zh-CN" sz="2000" dirty="0"/>
              <a:t>align-items</a:t>
            </a:r>
            <a:r>
              <a:rPr lang="zh-CN" altLang="en-US" sz="2000" dirty="0"/>
              <a:t>，多</a:t>
            </a:r>
            <a:r>
              <a:rPr lang="zh-CN" altLang="en-US" sz="2000" dirty="0" smtClean="0"/>
              <a:t>行用 </a:t>
            </a:r>
            <a:r>
              <a:rPr lang="en-US" altLang="zh-CN" sz="2000" dirty="0" smtClean="0"/>
              <a:t>align-content</a:t>
            </a:r>
            <a:endParaRPr lang="en-US" altLang="zh-CN" sz="2000" dirty="0"/>
          </a:p>
        </p:txBody>
      </p:sp>
      <p:sp>
        <p:nvSpPr>
          <p:cNvPr id="9" name="矩形 8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弹性容器样式</a:t>
            </a:r>
          </a:p>
        </p:txBody>
      </p:sp>
    </p:spTree>
    <p:extLst>
      <p:ext uri="{BB962C8B-B14F-4D97-AF65-F5344CB8AC3E}">
        <p14:creationId xmlns:p14="http://schemas.microsoft.com/office/powerpoint/2010/main" val="1959547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963101" y="1563073"/>
            <a:ext cx="10556453" cy="36471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smtClean="0">
                <a:solidFill>
                  <a:srgbClr val="C00000"/>
                </a:solidFill>
                <a:latin typeface="+mn-ea"/>
              </a:rPr>
              <a:t>flex-grow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       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用于设置弹性元素被拉大的比例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smtClean="0">
                <a:solidFill>
                  <a:srgbClr val="C00000"/>
                </a:solidFill>
                <a:latin typeface="+mn-ea"/>
              </a:rPr>
              <a:t>flex-shrink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      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用于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设置弹性元素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被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压缩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的比例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smtClean="0">
                <a:solidFill>
                  <a:srgbClr val="C00000"/>
                </a:solidFill>
                <a:latin typeface="+mn-ea"/>
              </a:rPr>
              <a:t>flex-basis 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      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用于设置元素在主轴上的初始尺寸，即元素放入容器前的默认大小，可能被压缩，放入容器后，根据元素是否需要拉伸或压缩计算实际长度，其优先级高于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width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属性。</a:t>
            </a:r>
            <a:endParaRPr lang="zh-CN" altLang="en-US" sz="2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smtClean="0">
                <a:solidFill>
                  <a:srgbClr val="C00000"/>
                </a:solidFill>
                <a:latin typeface="+mn-ea"/>
              </a:rPr>
              <a:t>align-self 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       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控制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子项自己在侧轴的排列方式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200" dirty="0" smtClean="0">
                <a:solidFill>
                  <a:srgbClr val="C00000"/>
                </a:solidFill>
                <a:latin typeface="+mn-ea"/>
              </a:rPr>
              <a:t>order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               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定义</a:t>
            </a: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子项的排列顺序（前后顺序）</a:t>
            </a:r>
            <a:endParaRPr lang="en-US" altLang="zh-CN" sz="22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弹性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9553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334" y="204691"/>
            <a:ext cx="10515600" cy="866775"/>
          </a:xfrm>
        </p:spPr>
        <p:txBody>
          <a:bodyPr>
            <a:normAutofit/>
          </a:bodyPr>
          <a:lstStyle/>
          <a:p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Flex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布局</a:t>
            </a:r>
            <a:endParaRPr lang="zh-CN" altLang="en-US" sz="3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36762"/>
              </p:ext>
            </p:extLst>
          </p:nvPr>
        </p:nvGraphicFramePr>
        <p:xfrm>
          <a:off x="957348" y="1554666"/>
          <a:ext cx="10114507" cy="2245083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598319">
                  <a:extLst>
                    <a:ext uri="{9D8B030D-6E8A-4147-A177-3AD203B41FA5}">
                      <a16:colId xmlns:a16="http://schemas.microsoft.com/office/drawing/2014/main" val="2860919791"/>
                    </a:ext>
                  </a:extLst>
                </a:gridCol>
                <a:gridCol w="3766767">
                  <a:extLst>
                    <a:ext uri="{9D8B030D-6E8A-4147-A177-3AD203B41FA5}">
                      <a16:colId xmlns:a16="http://schemas.microsoft.com/office/drawing/2014/main" val="1023598177"/>
                    </a:ext>
                  </a:extLst>
                </a:gridCol>
                <a:gridCol w="4749421">
                  <a:extLst>
                    <a:ext uri="{9D8B030D-6E8A-4147-A177-3AD203B41FA5}">
                      <a16:colId xmlns:a16="http://schemas.microsoft.com/office/drawing/2014/main" val="765170801"/>
                    </a:ext>
                  </a:extLst>
                </a:gridCol>
              </a:tblGrid>
              <a:tr h="79498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flex-grow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在主轴方向有剩余空间时，空间分配给元素的比例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968732"/>
                  </a:ext>
                </a:extLst>
              </a:tr>
              <a:tr h="66410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flex-shrink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数值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在主轴方向空间不足时，元素应收缩的尺寸比例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44442085"/>
                  </a:ext>
                </a:extLst>
              </a:tr>
              <a:tr h="749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flex-basis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em</a:t>
                      </a:r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/rem/</a:t>
                      </a:r>
                      <a:r>
                        <a:rPr lang="en-US" altLang="zh-CN" sz="2000" b="0" dirty="0" err="1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px</a:t>
                      </a:r>
                      <a:endParaRPr lang="en-US" altLang="zh-CN" sz="2000" b="0" dirty="0" smtClean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CN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n%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 smtClean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元素的基准主尺寸</a:t>
                      </a:r>
                      <a:endParaRPr lang="zh-CN" altLang="en-US" sz="2000" b="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22178279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3366642"/>
              </p:ext>
            </p:extLst>
          </p:nvPr>
        </p:nvGraphicFramePr>
        <p:xfrm>
          <a:off x="957348" y="4210841"/>
          <a:ext cx="10114506" cy="90131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20887">
                  <a:extLst>
                    <a:ext uri="{9D8B030D-6E8A-4147-A177-3AD203B41FA5}">
                      <a16:colId xmlns:a16="http://schemas.microsoft.com/office/drawing/2014/main" val="364463414"/>
                    </a:ext>
                  </a:extLst>
                </a:gridCol>
                <a:gridCol w="4922117">
                  <a:extLst>
                    <a:ext uri="{9D8B030D-6E8A-4147-A177-3AD203B41FA5}">
                      <a16:colId xmlns:a16="http://schemas.microsoft.com/office/drawing/2014/main" val="125250116"/>
                    </a:ext>
                  </a:extLst>
                </a:gridCol>
                <a:gridCol w="3371502">
                  <a:extLst>
                    <a:ext uri="{9D8B030D-6E8A-4147-A177-3AD203B41FA5}">
                      <a16:colId xmlns:a16="http://schemas.microsoft.com/office/drawing/2014/main" val="837120917"/>
                    </a:ext>
                  </a:extLst>
                </a:gridCol>
              </a:tblGrid>
              <a:tr h="90131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flex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 smtClean="0"/>
                        <a:t>flex-grow flex-shrink flex-basis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 smtClean="0"/>
                        <a:t>前三个属性的简记法</a:t>
                      </a:r>
                      <a:endParaRPr lang="zh-CN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186450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875950" y="5521146"/>
            <a:ext cx="102773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flex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默认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值分别为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  1  auto;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（即不放大，会缩小）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：当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flex-wrap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wrap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wrap-reverse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flex-shrink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不会生效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6B3F0-8F3D-443D-88D2-8F9C0D3368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弹性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0" name="矩形 9"/>
          <p:cNvSpPr/>
          <p:nvPr/>
        </p:nvSpPr>
        <p:spPr>
          <a:xfrm>
            <a:off x="0" y="256136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7207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34862"/>
            <a:ext cx="3314700" cy="40195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885113" y="1834862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当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.container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width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为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500px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时：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由于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500 &gt; (100+100+100)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，各元素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grow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grow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的单位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(500-(100+100+100))/(1+2+1)=50(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.a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分配到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50*1+100=150(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.b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分配到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50*2+100=200(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.c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分配到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50*1+100=150(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885113" y="4190135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当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.container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width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为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200px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时：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由于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200 &lt; (100+100+100)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，各元素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shrink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shrink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的单位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((100+100+100)-200)/(1+1+2) = 25(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.a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分配到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100-25*1=75(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.b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分配到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100-25*1=75(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.c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分配到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100-25*2=50(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px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Times New Roman" panose="02020603050405020304" pitchFamily="18" charset="0"/>
              </a:rPr>
              <a:t>)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6B3F0-8F3D-443D-88D2-8F9C0D3368D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弹性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116334" y="204691"/>
            <a:ext cx="10515600" cy="866775"/>
          </a:xfrm>
        </p:spPr>
        <p:txBody>
          <a:bodyPr>
            <a:normAutofit/>
          </a:bodyPr>
          <a:lstStyle/>
          <a:p>
            <a:r>
              <a:rPr lang="en-US" altLang="zh-CN" sz="3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Flex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布局</a:t>
            </a:r>
            <a:endParaRPr lang="zh-CN" altLang="en-US" sz="3600" b="1" dirty="0">
              <a:solidFill>
                <a:schemeClr val="bg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262440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13942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8343" y="965924"/>
            <a:ext cx="110159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order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属性</a:t>
            </a:r>
            <a:endParaRPr lang="en-US" altLang="zh-CN" sz="2000" b="1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+mn-ea"/>
              </a:rPr>
              <a:t>能够改变子元素在容器内的</a:t>
            </a:r>
            <a:r>
              <a:rPr lang="zh-CN" altLang="en-US" sz="2000" dirty="0">
                <a:latin typeface="+mn-ea"/>
              </a:rPr>
              <a:t>位置。不会影响到源顺序（即 </a:t>
            </a:r>
            <a:r>
              <a:rPr lang="en-US" altLang="zh-CN" sz="2000" dirty="0" smtClean="0">
                <a:latin typeface="+mn-ea"/>
              </a:rPr>
              <a:t>DOM </a:t>
            </a:r>
            <a:r>
              <a:rPr lang="zh-CN" altLang="en-US" sz="2000" dirty="0">
                <a:latin typeface="+mn-ea"/>
              </a:rPr>
              <a:t>树里元素的顺序</a:t>
            </a:r>
            <a:r>
              <a:rPr lang="zh-CN" altLang="en-US" sz="2000" dirty="0" smtClean="0">
                <a:latin typeface="+mn-ea"/>
              </a:rPr>
              <a:t>），</a:t>
            </a:r>
            <a:r>
              <a:rPr lang="zh-CN" altLang="en-US" sz="2000" dirty="0">
                <a:latin typeface="+mn-ea"/>
              </a:rPr>
              <a:t>所有子元素默认</a:t>
            </a:r>
            <a:r>
              <a:rPr lang="en-US" altLang="zh-CN" sz="2000" dirty="0">
                <a:latin typeface="+mn-ea"/>
              </a:rPr>
              <a:t>order</a:t>
            </a:r>
            <a:r>
              <a:rPr lang="zh-CN" altLang="en-US" sz="2000" dirty="0">
                <a:latin typeface="+mn-ea"/>
              </a:rPr>
              <a:t>值为</a:t>
            </a:r>
            <a:r>
              <a:rPr lang="en-US" altLang="zh-CN" sz="2000" dirty="0" smtClean="0">
                <a:latin typeface="+mn-ea"/>
              </a:rPr>
              <a:t>0</a:t>
            </a:r>
            <a:r>
              <a:rPr lang="zh-CN" altLang="en-US" sz="2000" dirty="0" smtClean="0">
                <a:latin typeface="+mn-ea"/>
              </a:rPr>
              <a:t>，数值</a:t>
            </a:r>
            <a:r>
              <a:rPr lang="zh-CN" altLang="en-US" sz="2000" dirty="0">
                <a:latin typeface="+mn-ea"/>
              </a:rPr>
              <a:t>越小排名越靠</a:t>
            </a:r>
            <a:r>
              <a:rPr lang="zh-CN" altLang="en-US" sz="2000" dirty="0" smtClean="0">
                <a:latin typeface="+mn-ea"/>
              </a:rPr>
              <a:t>前</a:t>
            </a:r>
            <a:r>
              <a:rPr lang="zh-CN" altLang="en-US" sz="2000" dirty="0">
                <a:latin typeface="+mn-ea"/>
              </a:rPr>
              <a:t>。</a:t>
            </a:r>
            <a:r>
              <a:rPr lang="zh-CN" altLang="en-US" sz="2000" dirty="0" smtClean="0">
                <a:latin typeface="+mn-ea"/>
              </a:rPr>
              <a:t>相同 </a:t>
            </a:r>
            <a:r>
              <a:rPr lang="en-US" altLang="zh-CN" sz="2000" dirty="0">
                <a:latin typeface="+mn-ea"/>
              </a:rPr>
              <a:t>order </a:t>
            </a:r>
            <a:r>
              <a:rPr lang="zh-CN" altLang="en-US" sz="2000" dirty="0">
                <a:latin typeface="+mn-ea"/>
              </a:rPr>
              <a:t>值的 </a:t>
            </a:r>
            <a:r>
              <a:rPr lang="zh-CN" altLang="en-US" sz="2000" dirty="0" smtClean="0">
                <a:latin typeface="+mn-ea"/>
              </a:rPr>
              <a:t>子元素按</a:t>
            </a:r>
            <a:r>
              <a:rPr lang="zh-CN" altLang="en-US" sz="2000" dirty="0">
                <a:latin typeface="+mn-ea"/>
              </a:rPr>
              <a:t>源顺序显示。也可以给 </a:t>
            </a:r>
            <a:r>
              <a:rPr lang="en-US" altLang="zh-CN" sz="2000" dirty="0">
                <a:latin typeface="+mn-ea"/>
              </a:rPr>
              <a:t>order </a:t>
            </a:r>
            <a:r>
              <a:rPr lang="zh-CN" altLang="en-US" sz="2000" dirty="0">
                <a:latin typeface="+mn-ea"/>
              </a:rPr>
              <a:t>设置负值使它们比值为 </a:t>
            </a:r>
            <a:r>
              <a:rPr lang="en-US" altLang="zh-CN" sz="2000" dirty="0">
                <a:latin typeface="+mn-ea"/>
              </a:rPr>
              <a:t>0 </a:t>
            </a:r>
            <a:r>
              <a:rPr lang="zh-CN" altLang="en-US" sz="2000" dirty="0">
                <a:latin typeface="+mn-ea"/>
              </a:rPr>
              <a:t>的元素排得更</a:t>
            </a:r>
            <a:r>
              <a:rPr lang="zh-CN" altLang="en-US" sz="2000" dirty="0" smtClean="0">
                <a:latin typeface="+mn-ea"/>
              </a:rPr>
              <a:t>前面。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23" y="3180688"/>
            <a:ext cx="9437781" cy="262956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弹性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515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Flex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5867" y="987020"/>
            <a:ext cx="11138467" cy="189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6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、</a:t>
            </a:r>
            <a:r>
              <a:rPr lang="en-US" altLang="zh-CN" sz="2000" b="1" dirty="0" smtClean="0">
                <a:solidFill>
                  <a:srgbClr val="FF0000"/>
                </a:solidFill>
                <a:latin typeface="+mn-ea"/>
              </a:rPr>
              <a:t>align-self</a:t>
            </a:r>
            <a:r>
              <a:rPr lang="zh-CN" altLang="en-US" sz="2000" b="1" dirty="0" smtClean="0">
                <a:solidFill>
                  <a:srgbClr val="FF0000"/>
                </a:solidFill>
                <a:latin typeface="+mn-ea"/>
              </a:rPr>
              <a:t>属性         </a:t>
            </a:r>
            <a:r>
              <a:rPr lang="zh-CN" altLang="en-US" sz="2000" b="1" dirty="0" smtClean="0">
                <a:latin typeface="MicrosoftYaHei-Bold"/>
              </a:rPr>
              <a:t>控制</a:t>
            </a:r>
            <a:r>
              <a:rPr lang="zh-CN" altLang="en-US" sz="2000" b="1" dirty="0">
                <a:latin typeface="MicrosoftYaHei-Bold"/>
              </a:rPr>
              <a:t>子项自己在侧轴上</a:t>
            </a:r>
            <a:r>
              <a:rPr lang="zh-CN" altLang="en-US" sz="2000" b="1" dirty="0" smtClean="0">
                <a:latin typeface="MicrosoftYaHei-Bold"/>
              </a:rPr>
              <a:t>的对齐方式</a:t>
            </a:r>
            <a:endParaRPr lang="en-US" altLang="zh-CN" sz="2000" dirty="0" smtClean="0">
              <a:solidFill>
                <a:srgbClr val="FF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align-self </a:t>
            </a:r>
            <a:r>
              <a:rPr lang="zh-CN" altLang="en-US" sz="2000" dirty="0"/>
              <a:t>属性允许单个项目有与其他项目不一样的对齐方式，可覆盖 </a:t>
            </a:r>
            <a:r>
              <a:rPr lang="en-US" altLang="zh-CN" sz="2000" dirty="0"/>
              <a:t>align-items </a:t>
            </a:r>
            <a:r>
              <a:rPr lang="zh-CN" altLang="en-US" sz="2000" dirty="0" smtClean="0"/>
              <a:t>属性，</a:t>
            </a:r>
            <a:r>
              <a:rPr lang="en-US" altLang="zh-CN" sz="2000" dirty="0"/>
              <a:t> align-items </a:t>
            </a:r>
            <a:r>
              <a:rPr lang="zh-CN" altLang="en-US" sz="2000" dirty="0" smtClean="0"/>
              <a:t>设置的是全部属性，</a:t>
            </a:r>
            <a:r>
              <a:rPr lang="en-US" altLang="zh-CN" sz="2000" dirty="0" smtClean="0"/>
              <a:t>align-self</a:t>
            </a:r>
            <a:r>
              <a:rPr lang="zh-CN" altLang="en-US" sz="2000" dirty="0" smtClean="0"/>
              <a:t>可以设置在单个子元素上。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align-self</a:t>
            </a:r>
            <a:r>
              <a:rPr lang="zh-CN" altLang="en-US" sz="2000" dirty="0" smtClean="0"/>
              <a:t>默认</a:t>
            </a:r>
            <a:r>
              <a:rPr lang="zh-CN" altLang="en-US" sz="2000" dirty="0"/>
              <a:t>值为 </a:t>
            </a:r>
            <a:r>
              <a:rPr lang="en-US" altLang="zh-CN" sz="2000" dirty="0"/>
              <a:t>auto</a:t>
            </a:r>
            <a:r>
              <a:rPr lang="zh-CN" altLang="en-US" sz="2000" dirty="0"/>
              <a:t>，表示继承父元素的 </a:t>
            </a:r>
            <a:r>
              <a:rPr lang="en-US" altLang="zh-CN" sz="2000" dirty="0"/>
              <a:t>align-items </a:t>
            </a:r>
            <a:r>
              <a:rPr lang="zh-CN" altLang="en-US" sz="2000" dirty="0"/>
              <a:t>属性，如果没有父元素，则等同于 </a:t>
            </a:r>
            <a:r>
              <a:rPr lang="en-US" altLang="zh-CN" sz="2000" dirty="0"/>
              <a:t>stretch</a:t>
            </a:r>
            <a:r>
              <a:rPr lang="zh-CN" altLang="en-US" sz="2000" dirty="0"/>
              <a:t>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5867" y="3491970"/>
            <a:ext cx="6096000" cy="5069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可覆盖 </a:t>
            </a:r>
            <a:r>
              <a:rPr lang="en-US" altLang="zh-CN" sz="2000" dirty="0"/>
              <a:t>align-items </a:t>
            </a:r>
            <a:r>
              <a:rPr lang="zh-CN" altLang="en-US" sz="2000" dirty="0"/>
              <a:t>属性</a:t>
            </a:r>
          </a:p>
        </p:txBody>
      </p:sp>
      <p:sp>
        <p:nvSpPr>
          <p:cNvPr id="12" name="矩形 11"/>
          <p:cNvSpPr/>
          <p:nvPr/>
        </p:nvSpPr>
        <p:spPr>
          <a:xfrm>
            <a:off x="795867" y="2983892"/>
            <a:ext cx="1007323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align-self</a:t>
            </a:r>
            <a:r>
              <a:rPr lang="en-US" altLang="zh-CN" sz="2000" b="1" dirty="0"/>
              <a:t>: auto | </a:t>
            </a:r>
            <a:r>
              <a:rPr lang="en-US" altLang="zh-CN" sz="2000" b="1" dirty="0" smtClean="0"/>
              <a:t>flex-start </a:t>
            </a:r>
            <a:r>
              <a:rPr lang="en-US" altLang="zh-CN" sz="2000" b="1" dirty="0"/>
              <a:t>| </a:t>
            </a:r>
            <a:r>
              <a:rPr lang="en-US" altLang="zh-CN" sz="2000" b="1" dirty="0" smtClean="0"/>
              <a:t>flex-end </a:t>
            </a:r>
            <a:r>
              <a:rPr lang="en-US" altLang="zh-CN" sz="2000" b="1" dirty="0"/>
              <a:t>| center | baseline | stretch</a:t>
            </a:r>
            <a:endParaRPr lang="zh-CN" altLang="en-US" sz="2000" b="1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67" y="4085838"/>
            <a:ext cx="6326293" cy="890595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146748" y="3897648"/>
            <a:ext cx="3372807" cy="230832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{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display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dirty="0">
                <a:solidFill>
                  <a:srgbClr val="F776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flex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align-items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dirty="0">
                <a:solidFill>
                  <a:srgbClr val="F776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center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justify-content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dirty="0">
                <a:solidFill>
                  <a:srgbClr val="F776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space-around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}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 err="1" smtClean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 err="1" smtClean="0">
                <a:solidFill>
                  <a:srgbClr val="FFCB6B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:first-child</a:t>
            </a:r>
            <a:r>
              <a:rPr lang="en-US" altLang="zh-CN" dirty="0" smtClean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{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align-self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zh-CN" dirty="0">
                <a:solidFill>
                  <a:srgbClr val="F776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flex-end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}</a:t>
            </a:r>
            <a:endParaRPr lang="en-US" altLang="zh-CN" b="0" dirty="0">
              <a:solidFill>
                <a:srgbClr val="CBCCC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5867" y="4826675"/>
            <a:ext cx="3200402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Smile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Laugh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Wink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Shrug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Blush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button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en-US" altLang="zh-CN" dirty="0">
              <a:solidFill>
                <a:srgbClr val="CBCCC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&lt;/</a:t>
            </a:r>
            <a:r>
              <a:rPr lang="en-US" altLang="zh-CN" dirty="0">
                <a:solidFill>
                  <a:srgbClr val="FF537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</a:t>
            </a:r>
            <a:r>
              <a:rPr lang="en-US" altLang="zh-CN" dirty="0">
                <a:solidFill>
                  <a:srgbClr val="80CBC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&gt;</a:t>
            </a:r>
            <a:endParaRPr lang="en-US" altLang="zh-CN" b="0" dirty="0">
              <a:solidFill>
                <a:srgbClr val="CBCCC6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弹性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6635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5867" y="987020"/>
            <a:ext cx="11138467" cy="143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/>
              <a:t>Grid</a:t>
            </a:r>
            <a:r>
              <a:rPr lang="zh-CN" altLang="en-US" sz="2000" dirty="0"/>
              <a:t>（网格布局）是一种用于二维布局的</a:t>
            </a:r>
            <a:r>
              <a:rPr lang="en-US" altLang="zh-CN" sz="2000" dirty="0"/>
              <a:t>CSS</a:t>
            </a:r>
            <a:r>
              <a:rPr lang="zh-CN" altLang="en-US" sz="2000" dirty="0"/>
              <a:t>技术</a:t>
            </a:r>
            <a:r>
              <a:rPr lang="zh-CN" altLang="en-US" sz="2000" dirty="0" smtClean="0"/>
              <a:t>，可以</a:t>
            </a:r>
            <a:r>
              <a:rPr lang="zh-CN" altLang="en-US" sz="2000" dirty="0"/>
              <a:t>非常灵活和强大方式来排列、对齐和分配容器内元素的空间。</a:t>
            </a:r>
            <a:r>
              <a:rPr lang="en-US" altLang="zh-CN" sz="2000" dirty="0"/>
              <a:t>Grid</a:t>
            </a:r>
            <a:r>
              <a:rPr lang="zh-CN" altLang="en-US" sz="2000" dirty="0"/>
              <a:t>布局是</a:t>
            </a:r>
            <a:r>
              <a:rPr lang="en-US" altLang="zh-CN" sz="2000" dirty="0"/>
              <a:t>CSS</a:t>
            </a:r>
            <a:r>
              <a:rPr lang="zh-CN" altLang="en-US" sz="2000" dirty="0"/>
              <a:t>布局模型的一种，旨在提供一种更加直观和有效的布局方法，可以代替传统的</a:t>
            </a:r>
            <a:r>
              <a:rPr lang="en-US" altLang="zh-CN" sz="2000" dirty="0"/>
              <a:t>Flexbox</a:t>
            </a:r>
            <a:r>
              <a:rPr lang="zh-CN" altLang="en-US" sz="2000" dirty="0"/>
              <a:t>布局模型。</a:t>
            </a:r>
            <a:endParaRPr lang="en-US" altLang="zh-CN" sz="20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5867" y="2417283"/>
            <a:ext cx="425588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网格容器（</a:t>
            </a:r>
            <a:r>
              <a:rPr lang="en-US" altLang="zh-CN" dirty="0" smtClean="0"/>
              <a:t>grid container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d</a:t>
            </a:r>
            <a:r>
              <a:rPr lang="en-US" altLang="zh-CN" dirty="0" smtClean="0"/>
              <a:t>isplay: grid;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grid-template-columns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grid-template-rows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grid-template-areas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grid-gap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justify-items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align-items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accent1"/>
                </a:solidFill>
              </a:rPr>
              <a:t>just</a:t>
            </a:r>
            <a:r>
              <a:rPr lang="en-US" altLang="zh-CN" dirty="0">
                <a:solidFill>
                  <a:schemeClr val="accent1"/>
                </a:solidFill>
              </a:rPr>
              <a:t>if</a:t>
            </a:r>
            <a:r>
              <a:rPr lang="en-US" altLang="zh-CN" dirty="0" smtClean="0">
                <a:solidFill>
                  <a:schemeClr val="accent1"/>
                </a:solidFill>
              </a:rPr>
              <a:t>y-content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chemeClr val="accent1"/>
                </a:solidFill>
              </a:rPr>
              <a:t>align-content</a:t>
            </a:r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58374" y="2417283"/>
            <a:ext cx="35353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网格元素（</a:t>
            </a:r>
            <a:r>
              <a:rPr lang="en-US" altLang="zh-CN" dirty="0" smtClean="0"/>
              <a:t>grid item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grid-item-*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grid-row-*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grid-area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justify-self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</a:rPr>
              <a:t>align-self</a:t>
            </a:r>
          </a:p>
        </p:txBody>
      </p:sp>
      <p:sp>
        <p:nvSpPr>
          <p:cNvPr id="12" name="矩形 11"/>
          <p:cNvSpPr/>
          <p:nvPr/>
        </p:nvSpPr>
        <p:spPr>
          <a:xfrm>
            <a:off x="3081466" y="5180460"/>
            <a:ext cx="1963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简写为</a:t>
            </a:r>
            <a:r>
              <a:rPr lang="en-US" altLang="zh-CN" dirty="0" smtClean="0"/>
              <a:t>place-items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3056972" y="6039775"/>
            <a:ext cx="2170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简写为</a:t>
            </a:r>
            <a:r>
              <a:rPr lang="en-US" altLang="zh-CN" dirty="0" smtClean="0"/>
              <a:t>place-content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205148" y="4359940"/>
            <a:ext cx="1774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/>
              <a:t>简写为</a:t>
            </a:r>
            <a:r>
              <a:rPr lang="en-US" altLang="zh-CN" dirty="0" smtClean="0"/>
              <a:t>place-self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8313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27286" y="1123722"/>
            <a:ext cx="11381316" cy="2723823"/>
            <a:chOff x="813858" y="3519682"/>
            <a:chExt cx="11381316" cy="2723823"/>
          </a:xfrm>
        </p:grpSpPr>
        <p:sp>
          <p:nvSpPr>
            <p:cNvPr id="16" name="矩形 15"/>
            <p:cNvSpPr/>
            <p:nvPr/>
          </p:nvSpPr>
          <p:spPr>
            <a:xfrm>
              <a:off x="813858" y="3519682"/>
              <a:ext cx="10905066" cy="272382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400" b="1" dirty="0" smtClean="0">
                  <a:latin typeface="+mn-ea"/>
                </a:rPr>
                <a:t>grid-template-columns</a:t>
              </a:r>
              <a:r>
                <a:rPr lang="en-US" altLang="zh-CN" sz="2400" dirty="0" smtClean="0">
                  <a:latin typeface="+mn-ea"/>
                </a:rPr>
                <a:t> </a:t>
              </a:r>
              <a:r>
                <a:rPr lang="zh-CN" altLang="en-US" sz="2400" dirty="0">
                  <a:latin typeface="+mn-ea"/>
                </a:rPr>
                <a:t>和 </a:t>
              </a:r>
              <a:r>
                <a:rPr lang="en-US" altLang="zh-CN" sz="2400" b="1" dirty="0" smtClean="0">
                  <a:latin typeface="+mn-ea"/>
                </a:rPr>
                <a:t>grid-template-rows</a:t>
              </a:r>
              <a:r>
                <a:rPr lang="zh-CN" altLang="en-US" sz="2400" dirty="0" smtClean="0">
                  <a:latin typeface="+mn-ea"/>
                </a:rPr>
                <a:t>划分</a:t>
              </a:r>
              <a:r>
                <a:rPr lang="zh-CN" altLang="en-US" sz="2400" dirty="0">
                  <a:latin typeface="+mn-ea"/>
                </a:rPr>
                <a:t>网格的行和列</a:t>
              </a:r>
              <a:r>
                <a:rPr lang="zh-CN" altLang="en-US" sz="2400" dirty="0" smtClean="0">
                  <a:latin typeface="+mn-ea"/>
                </a:rPr>
                <a:t>，</a:t>
              </a:r>
              <a:endParaRPr lang="en-US" altLang="zh-CN" sz="2400" dirty="0" smtClean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 smtClean="0">
                  <a:solidFill>
                    <a:srgbClr val="FF0000"/>
                  </a:solidFill>
                  <a:latin typeface="+mn-ea"/>
                </a:rPr>
                <a:t>取值：</a:t>
              </a:r>
              <a:r>
                <a:rPr lang="en-US" altLang="zh-CN" dirty="0" err="1" smtClean="0">
                  <a:solidFill>
                    <a:srgbClr val="FF0000"/>
                  </a:solidFill>
                  <a:latin typeface="+mn-ea"/>
                </a:rPr>
                <a:t>px</a:t>
              </a:r>
              <a:r>
                <a:rPr lang="en-US" altLang="zh-CN" dirty="0" smtClean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lang="zh-CN" altLang="en-US" dirty="0" smtClean="0">
                  <a:solidFill>
                    <a:srgbClr val="FF0000"/>
                  </a:solidFill>
                  <a:latin typeface="+mn-ea"/>
                </a:rPr>
                <a:t>、</a:t>
              </a:r>
              <a:r>
                <a:rPr lang="en-US" altLang="zh-CN" dirty="0" smtClean="0">
                  <a:solidFill>
                    <a:srgbClr val="FF0000"/>
                  </a:solidFill>
                  <a:latin typeface="+mn-ea"/>
                </a:rPr>
                <a:t>%</a:t>
              </a:r>
              <a:r>
                <a:rPr lang="zh-CN" altLang="en-US" dirty="0" smtClean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lang="zh-CN" altLang="en-US" dirty="0">
                  <a:solidFill>
                    <a:srgbClr val="FF0000"/>
                  </a:solidFill>
                  <a:latin typeface="+mn-ea"/>
                </a:rPr>
                <a:t>、 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</a:rPr>
                <a:t>auto </a:t>
              </a:r>
              <a:r>
                <a:rPr lang="zh-CN" altLang="en-US" dirty="0">
                  <a:solidFill>
                    <a:srgbClr val="FF0000"/>
                  </a:solidFill>
                  <a:latin typeface="+mn-ea"/>
                </a:rPr>
                <a:t>、 </a:t>
              </a:r>
              <a:r>
                <a:rPr lang="en-US" altLang="zh-CN" dirty="0" err="1">
                  <a:solidFill>
                    <a:srgbClr val="FF0000"/>
                  </a:solidFill>
                  <a:latin typeface="+mn-ea"/>
                </a:rPr>
                <a:t>fr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</a:rPr>
                <a:t> </a:t>
              </a:r>
              <a:r>
                <a:rPr lang="zh-CN" altLang="en-US" dirty="0">
                  <a:solidFill>
                    <a:srgbClr val="FF0000"/>
                  </a:solidFill>
                  <a:latin typeface="+mn-ea"/>
                </a:rPr>
                <a:t>、 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</a:rPr>
                <a:t>repeat() </a:t>
              </a:r>
              <a:r>
                <a:rPr lang="zh-CN" altLang="en-US" dirty="0">
                  <a:solidFill>
                    <a:srgbClr val="FF0000"/>
                  </a:solidFill>
                  <a:latin typeface="+mn-ea"/>
                </a:rPr>
                <a:t>函数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 smtClean="0">
                  <a:latin typeface="+mn-ea"/>
                </a:rPr>
                <a:t>grid-template-columns</a:t>
              </a:r>
              <a:r>
                <a:rPr lang="en-US" altLang="zh-CN" dirty="0">
                  <a:latin typeface="+mn-ea"/>
                </a:rPr>
                <a:t>: 1fr </a:t>
              </a:r>
              <a:r>
                <a:rPr lang="en-US" altLang="zh-CN" dirty="0" err="1" smtClean="0">
                  <a:latin typeface="+mn-ea"/>
                </a:rPr>
                <a:t>1fr</a:t>
              </a:r>
              <a:r>
                <a:rPr lang="en-US" altLang="zh-CN" dirty="0" smtClean="0">
                  <a:latin typeface="+mn-ea"/>
                </a:rPr>
                <a:t>;</a:t>
              </a:r>
              <a:endParaRPr lang="en-US" altLang="zh-CN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+mn-ea"/>
                </a:rPr>
                <a:t>grid-template-columns </a:t>
              </a:r>
              <a:r>
                <a:rPr lang="en-US" altLang="zh-CN" dirty="0" smtClean="0">
                  <a:latin typeface="+mn-ea"/>
                </a:rPr>
                <a:t>: </a:t>
              </a:r>
              <a:r>
                <a:rPr lang="en-US" altLang="zh-CN" dirty="0">
                  <a:latin typeface="+mn-ea"/>
                </a:rPr>
                <a:t>1fr 2fr;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+mn-ea"/>
                </a:rPr>
                <a:t>grid-template-columns </a:t>
              </a:r>
              <a:r>
                <a:rPr lang="en-US" altLang="zh-CN" dirty="0" smtClean="0">
                  <a:latin typeface="+mn-ea"/>
                </a:rPr>
                <a:t>: </a:t>
              </a:r>
              <a:r>
                <a:rPr lang="en-US" altLang="zh-CN" dirty="0">
                  <a:latin typeface="+mn-ea"/>
                </a:rPr>
                <a:t>100px 1fr 2fr;</a:t>
              </a: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latin typeface="+mn-ea"/>
                </a:rPr>
                <a:t>grid-template-columns </a:t>
              </a:r>
              <a:r>
                <a:rPr lang="en-US" altLang="zh-CN" dirty="0" smtClean="0">
                  <a:latin typeface="+mn-ea"/>
                </a:rPr>
                <a:t>: </a:t>
              </a:r>
              <a:r>
                <a:rPr lang="en-US" altLang="zh-CN" dirty="0">
                  <a:solidFill>
                    <a:srgbClr val="FF0000"/>
                  </a:solidFill>
                  <a:latin typeface="+mn-ea"/>
                </a:rPr>
                <a:t>repeat</a:t>
              </a:r>
              <a:r>
                <a:rPr lang="en-US" altLang="zh-CN" dirty="0">
                  <a:latin typeface="+mn-ea"/>
                </a:rPr>
                <a:t> (3</a:t>
              </a:r>
              <a:r>
                <a:rPr lang="en-US" altLang="zh-CN" dirty="0" smtClean="0">
                  <a:latin typeface="+mn-ea"/>
                </a:rPr>
                <a:t>, 1fr</a:t>
              </a:r>
              <a:r>
                <a:rPr lang="en-US" altLang="zh-CN" dirty="0">
                  <a:latin typeface="+mn-ea"/>
                </a:rPr>
                <a:t>);</a:t>
              </a:r>
              <a:endParaRPr lang="zh-CN" altLang="en-US" dirty="0">
                <a:latin typeface="+mn-ea"/>
              </a:endParaRPr>
            </a:p>
          </p:txBody>
        </p:sp>
        <p:cxnSp>
          <p:nvCxnSpPr>
            <p:cNvPr id="17" name="直接箭头连接符 16"/>
            <p:cNvCxnSpPr/>
            <p:nvPr/>
          </p:nvCxnSpPr>
          <p:spPr>
            <a:xfrm>
              <a:off x="4742574" y="4713334"/>
              <a:ext cx="987926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/>
            <p:nvPr/>
          </p:nvCxnSpPr>
          <p:spPr>
            <a:xfrm>
              <a:off x="4729755" y="5171743"/>
              <a:ext cx="1013563" cy="854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 flipV="1">
              <a:off x="5238176" y="5570993"/>
              <a:ext cx="491066" cy="4225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/>
            <p:nvPr/>
          </p:nvCxnSpPr>
          <p:spPr>
            <a:xfrm>
              <a:off x="5221084" y="6051381"/>
              <a:ext cx="491066" cy="854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5829300" y="4601497"/>
              <a:ext cx="723900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6562725" y="4605705"/>
              <a:ext cx="723900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829300" y="5021483"/>
              <a:ext cx="723900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553199" y="5021483"/>
              <a:ext cx="1457325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829299" y="5412187"/>
              <a:ext cx="1062568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100px</a:t>
              </a:r>
              <a:endParaRPr lang="zh-CN" altLang="en-US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6891867" y="5412187"/>
              <a:ext cx="547158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7439025" y="5412186"/>
              <a:ext cx="952500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5838825" y="5905266"/>
              <a:ext cx="855132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6693958" y="5901161"/>
              <a:ext cx="820207" cy="3236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7504641" y="5905266"/>
              <a:ext cx="886884" cy="31761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7915275" y="4566417"/>
              <a:ext cx="364715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 smtClean="0"/>
                <a:t>表示分为两列，每列占比是相等的</a:t>
              </a:r>
              <a:endParaRPr lang="zh-CN" altLang="en-US" dirty="0"/>
            </a:p>
          </p:txBody>
        </p:sp>
        <p:sp>
          <p:nvSpPr>
            <p:cNvPr id="32" name="矩形 31"/>
            <p:cNvSpPr/>
            <p:nvPr/>
          </p:nvSpPr>
          <p:spPr>
            <a:xfrm>
              <a:off x="8402148" y="5412186"/>
              <a:ext cx="379302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err="1"/>
                <a:t>fr</a:t>
              </a:r>
              <a:r>
                <a:rPr lang="zh-CN" altLang="en-US" dirty="0"/>
                <a:t>可以与一般的长度单位混合使用。</a:t>
              </a:r>
            </a:p>
          </p:txBody>
        </p:sp>
      </p:grpSp>
      <p:sp>
        <p:nvSpPr>
          <p:cNvPr id="33" name="矩形 32"/>
          <p:cNvSpPr/>
          <p:nvPr/>
        </p:nvSpPr>
        <p:spPr>
          <a:xfrm>
            <a:off x="627286" y="4036718"/>
            <a:ext cx="1066461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C00000"/>
                </a:solidFill>
                <a:latin typeface="+mn-ea"/>
              </a:rPr>
              <a:t>grid-template-columns: repeat(3, 1fr</a:t>
            </a:r>
            <a:r>
              <a:rPr lang="en-US" altLang="zh-CN" dirty="0" smtClean="0">
                <a:solidFill>
                  <a:srgbClr val="C00000"/>
                </a:solidFill>
                <a:latin typeface="+mn-ea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第一</a:t>
            </a:r>
            <a:r>
              <a:rPr lang="zh-CN" altLang="en-US" dirty="0">
                <a:latin typeface="+mn-ea"/>
              </a:rPr>
              <a:t>个传入 </a:t>
            </a:r>
            <a:r>
              <a:rPr lang="en-US" altLang="zh-CN" dirty="0">
                <a:latin typeface="+mn-ea"/>
              </a:rPr>
              <a:t>repeat </a:t>
            </a:r>
            <a:r>
              <a:rPr lang="zh-CN" altLang="en-US" dirty="0">
                <a:latin typeface="+mn-ea"/>
              </a:rPr>
              <a:t>函数的</a:t>
            </a:r>
            <a:r>
              <a:rPr lang="zh-CN" altLang="en-US" dirty="0" smtClean="0">
                <a:latin typeface="+mn-ea"/>
              </a:rPr>
              <a:t>值</a:t>
            </a:r>
            <a:r>
              <a:rPr lang="en-US" altLang="zh-CN" dirty="0" smtClean="0">
                <a:latin typeface="+mn-ea"/>
              </a:rPr>
              <a:t>3</a:t>
            </a:r>
            <a:r>
              <a:rPr lang="zh-CN" altLang="en-US" dirty="0" smtClean="0">
                <a:latin typeface="+mn-ea"/>
              </a:rPr>
              <a:t>，表明</a:t>
            </a:r>
            <a:r>
              <a:rPr lang="zh-CN" altLang="en-US" dirty="0">
                <a:latin typeface="+mn-ea"/>
              </a:rPr>
              <a:t>了后续列宽的配置要重复多少次，第二个</a:t>
            </a:r>
            <a:r>
              <a:rPr lang="zh-CN" altLang="en-US" dirty="0" smtClean="0">
                <a:latin typeface="+mn-ea"/>
              </a:rPr>
              <a:t>值</a:t>
            </a:r>
            <a:r>
              <a:rPr lang="en-US" altLang="zh-CN" dirty="0" smtClean="0">
                <a:latin typeface="+mn-ea"/>
              </a:rPr>
              <a:t>1fr</a:t>
            </a:r>
            <a:r>
              <a:rPr lang="zh-CN" altLang="en-US" dirty="0" smtClean="0">
                <a:latin typeface="+mn-ea"/>
              </a:rPr>
              <a:t>表示</a:t>
            </a:r>
            <a:r>
              <a:rPr lang="zh-CN" altLang="en-US" dirty="0">
                <a:latin typeface="+mn-ea"/>
              </a:rPr>
              <a:t>需要重复</a:t>
            </a:r>
            <a:r>
              <a:rPr lang="zh-CN" altLang="en-US" dirty="0" smtClean="0">
                <a:latin typeface="+mn-ea"/>
              </a:rPr>
              <a:t>的配置</a:t>
            </a:r>
            <a:r>
              <a:rPr lang="zh-CN" altLang="en-US" dirty="0">
                <a:latin typeface="+mn-ea"/>
              </a:rPr>
              <a:t>，这个配置可以具有多个长度设定</a:t>
            </a:r>
            <a:r>
              <a:rPr lang="zh-CN" altLang="en-US" dirty="0" smtClean="0">
                <a:latin typeface="+mn-ea"/>
              </a:rPr>
              <a:t>。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例如</a:t>
            </a:r>
            <a:r>
              <a:rPr lang="en-US" altLang="zh-CN" dirty="0">
                <a:latin typeface="+mn-ea"/>
              </a:rPr>
              <a:t>repeat(2, 2fr 1fr)</a:t>
            </a:r>
            <a:r>
              <a:rPr lang="zh-CN" altLang="en-US" dirty="0" smtClean="0">
                <a:latin typeface="+mn-ea"/>
              </a:rPr>
              <a:t>，相当于</a:t>
            </a:r>
            <a:r>
              <a:rPr lang="zh-CN" altLang="en-US" dirty="0">
                <a:latin typeface="+mn-ea"/>
              </a:rPr>
              <a:t>填入了 </a:t>
            </a:r>
            <a:r>
              <a:rPr lang="en-US" altLang="zh-CN" dirty="0">
                <a:latin typeface="+mn-ea"/>
              </a:rPr>
              <a:t>2fr 1fr 2fr 1fr</a:t>
            </a:r>
            <a:r>
              <a:rPr lang="zh-CN" altLang="en-US" dirty="0">
                <a:latin typeface="+mn-ea"/>
              </a:rPr>
              <a:t>。</a:t>
            </a:r>
          </a:p>
        </p:txBody>
      </p:sp>
      <p:sp>
        <p:nvSpPr>
          <p:cNvPr id="34" name="矩形 33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网格容器样式</a:t>
            </a:r>
          </a:p>
        </p:txBody>
      </p:sp>
    </p:spTree>
    <p:extLst>
      <p:ext uri="{BB962C8B-B14F-4D97-AF65-F5344CB8AC3E}">
        <p14:creationId xmlns:p14="http://schemas.microsoft.com/office/powerpoint/2010/main" val="1636815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27286" y="1123722"/>
            <a:ext cx="10905066" cy="5900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+mn-ea"/>
              </a:rPr>
              <a:t>使用 </a:t>
            </a:r>
            <a:r>
              <a:rPr lang="en-US" altLang="zh-CN" sz="2400" b="1" dirty="0">
                <a:latin typeface="+mn-ea"/>
              </a:rPr>
              <a:t>grid-template-areas </a:t>
            </a:r>
            <a:r>
              <a:rPr lang="zh-CN" altLang="en-US" sz="2400" b="1" dirty="0">
                <a:latin typeface="+mn-ea"/>
              </a:rPr>
              <a:t>属性放置</a:t>
            </a:r>
            <a:r>
              <a:rPr lang="zh-CN" altLang="en-US" sz="2400" b="1" dirty="0" smtClean="0">
                <a:latin typeface="+mn-ea"/>
              </a:rPr>
              <a:t>元素</a:t>
            </a:r>
            <a:endParaRPr lang="en-US" altLang="zh-CN" sz="2400" b="1" dirty="0" smtClean="0">
              <a:latin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27286" y="1782945"/>
            <a:ext cx="112426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+mn-ea"/>
              </a:rPr>
              <a:t>grid-area </a:t>
            </a:r>
            <a:r>
              <a:rPr lang="zh-CN" altLang="en-US" dirty="0">
                <a:latin typeface="+mn-ea"/>
              </a:rPr>
              <a:t>属性可以对网格元素进行命名</a:t>
            </a:r>
            <a:r>
              <a:rPr lang="zh-CN" altLang="en-US" dirty="0" smtClean="0">
                <a:latin typeface="+mn-ea"/>
              </a:rPr>
              <a:t>。命名</a:t>
            </a:r>
            <a:r>
              <a:rPr lang="zh-CN" altLang="en-US" dirty="0">
                <a:latin typeface="+mn-ea"/>
              </a:rPr>
              <a:t>的网格元素可以在属性中使用这些名字作为一个区域。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627286" y="2162272"/>
            <a:ext cx="8666155" cy="300082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grid-template-areas属性的使用规则如下：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需要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填满网格的每个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格子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；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1B1B1B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对于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某个横跨多个格子的元素，重复写上那个元素grid-area属性定义的区域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名字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；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1B1B1B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所有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名字只能出现在一个连续的区域，不能在不同的位置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出现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；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1B1B1B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一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个连续的区域必须是一个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矩形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；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1B1B1B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 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使用</a:t>
            </a:r>
            <a:r>
              <a:rPr lang="zh-CN" altLang="en-US" dirty="0" smtClean="0">
                <a:solidFill>
                  <a:srgbClr val="1B1B1B"/>
                </a:solidFill>
                <a:latin typeface="+mn-ea"/>
              </a:rPr>
              <a:t>”</a:t>
            </a:r>
            <a:r>
              <a:rPr lang="en-US" altLang="zh-CN" dirty="0" smtClean="0">
                <a:solidFill>
                  <a:srgbClr val="1B1B1B"/>
                </a:solidFill>
                <a:latin typeface="+mn-ea"/>
              </a:rPr>
              <a:t>.</a:t>
            </a:r>
            <a:r>
              <a:rPr lang="zh-CN" altLang="en-US" dirty="0" smtClean="0">
                <a:solidFill>
                  <a:srgbClr val="1B1B1B"/>
                </a:solidFill>
                <a:latin typeface="+mn-ea"/>
              </a:rPr>
              <a:t>“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符号，让一个格子</a:t>
            </a:r>
            <a:r>
              <a:rPr kumimoji="0" lang="zh-CN" altLang="zh-CN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留空</a:t>
            </a:r>
            <a:r>
              <a:rPr kumimoji="0" lang="zh-CN" altLang="en-US" b="0" i="0" u="none" strike="noStrike" cap="none" normalizeH="0" baseline="0" dirty="0" smtClean="0">
                <a:ln>
                  <a:noFill/>
                </a:ln>
                <a:solidFill>
                  <a:srgbClr val="1B1B1B"/>
                </a:solidFill>
                <a:effectLst/>
                <a:latin typeface="+mn-ea"/>
              </a:rPr>
              <a:t>；</a:t>
            </a: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rgbClr val="1B1B1B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058" y="4109287"/>
            <a:ext cx="3476625" cy="25812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636" y="4712969"/>
            <a:ext cx="2266557" cy="197759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46" y="4712969"/>
            <a:ext cx="2111214" cy="1977593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网格容器样式</a:t>
            </a:r>
          </a:p>
        </p:txBody>
      </p:sp>
    </p:spTree>
    <p:extLst>
      <p:ext uri="{BB962C8B-B14F-4D97-AF65-F5344CB8AC3E}">
        <p14:creationId xmlns:p14="http://schemas.microsoft.com/office/powerpoint/2010/main" val="499283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75" y="987020"/>
            <a:ext cx="10557723" cy="573333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网格容器样式</a:t>
            </a:r>
          </a:p>
        </p:txBody>
      </p:sp>
    </p:spTree>
    <p:extLst>
      <p:ext uri="{BB962C8B-B14F-4D97-AF65-F5344CB8AC3E}">
        <p14:creationId xmlns:p14="http://schemas.microsoft.com/office/powerpoint/2010/main" val="4205653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2746" y="1084463"/>
            <a:ext cx="936622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</a:rPr>
              <a:t>justify-items </a:t>
            </a:r>
            <a:r>
              <a:rPr lang="zh-CN" altLang="en-US" sz="2000" dirty="0">
                <a:solidFill>
                  <a:srgbClr val="C00000"/>
                </a:solidFill>
              </a:rPr>
              <a:t>、 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align-items</a:t>
            </a:r>
            <a:r>
              <a:rPr lang="en-US" altLang="zh-CN" sz="2000" dirty="0" smtClean="0">
                <a:solidFill>
                  <a:srgbClr val="C00000"/>
                </a:solidFill>
              </a:rPr>
              <a:t> </a:t>
            </a:r>
            <a:r>
              <a:rPr lang="zh-CN" altLang="en-US" sz="2000" dirty="0">
                <a:solidFill>
                  <a:srgbClr val="C00000"/>
                </a:solidFill>
              </a:rPr>
              <a:t>、 </a:t>
            </a:r>
            <a:r>
              <a:rPr lang="en-US" altLang="zh-CN" sz="2000" b="1" dirty="0" smtClean="0">
                <a:solidFill>
                  <a:srgbClr val="C00000"/>
                </a:solidFill>
              </a:rPr>
              <a:t>place-items</a:t>
            </a:r>
            <a:r>
              <a:rPr lang="en-US" altLang="zh-CN" sz="2000" dirty="0" smtClean="0">
                <a:solidFill>
                  <a:srgbClr val="C00000"/>
                </a:solidFill>
              </a:rPr>
              <a:t> </a:t>
            </a:r>
            <a:r>
              <a:rPr lang="zh-CN" altLang="en-US" sz="2000" dirty="0"/>
              <a:t>属性</a:t>
            </a:r>
          </a:p>
        </p:txBody>
      </p:sp>
      <p:sp>
        <p:nvSpPr>
          <p:cNvPr id="9" name="矩形 8"/>
          <p:cNvSpPr/>
          <p:nvPr/>
        </p:nvSpPr>
        <p:spPr>
          <a:xfrm>
            <a:off x="682746" y="1504779"/>
            <a:ext cx="107116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/>
              <a:t>用于设置网格元素在网格中的位置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justify-items</a:t>
            </a:r>
            <a:r>
              <a:rPr lang="en-US" altLang="zh-CN" sz="2000" dirty="0"/>
              <a:t>: </a:t>
            </a:r>
            <a:r>
              <a:rPr lang="zh-CN" altLang="en-US" sz="2000" dirty="0"/>
              <a:t>单元格内容的水平位置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	justify-items </a:t>
            </a:r>
            <a:r>
              <a:rPr lang="en-US" altLang="zh-CN" sz="2000" dirty="0"/>
              <a:t>: start | end | center | </a:t>
            </a:r>
            <a:r>
              <a:rPr lang="zh-CN" altLang="en-US" sz="2000" dirty="0"/>
              <a:t>默认 </a:t>
            </a:r>
            <a:r>
              <a:rPr lang="en-US" altLang="zh-CN" sz="2000" dirty="0"/>
              <a:t>stretch;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2)  align-items</a:t>
            </a:r>
            <a:r>
              <a:rPr lang="en-US" altLang="zh-CN" sz="2000" dirty="0"/>
              <a:t>: </a:t>
            </a:r>
            <a:r>
              <a:rPr lang="zh-CN" altLang="en-US" sz="2000" dirty="0"/>
              <a:t>单元格内容的垂直位置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	align-items </a:t>
            </a:r>
            <a:r>
              <a:rPr lang="en-US" altLang="zh-CN" sz="2000" dirty="0"/>
              <a:t>: start | end | center | </a:t>
            </a:r>
            <a:r>
              <a:rPr lang="zh-CN" altLang="en-US" sz="2000" dirty="0"/>
              <a:t>默认 </a:t>
            </a:r>
            <a:r>
              <a:rPr lang="en-US" altLang="zh-CN" sz="2000" dirty="0"/>
              <a:t>stretch</a:t>
            </a:r>
            <a:r>
              <a:rPr lang="en-US" altLang="zh-CN" sz="2000" dirty="0" smtClean="0"/>
              <a:t>;</a:t>
            </a: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12" y="3781977"/>
            <a:ext cx="7391059" cy="315194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046932" y="2682473"/>
            <a:ext cx="5280356" cy="5069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u="sng" dirty="0">
                <a:solidFill>
                  <a:srgbClr val="C00000"/>
                </a:solidFill>
              </a:rPr>
              <a:t>place-items: </a:t>
            </a:r>
            <a:r>
              <a:rPr lang="en-US" altLang="zh-CN" sz="2000" u="sng" dirty="0"/>
              <a:t>align-items </a:t>
            </a:r>
            <a:r>
              <a:rPr lang="zh-CN" altLang="en-US" sz="2000" u="sng" dirty="0"/>
              <a:t>属性   </a:t>
            </a:r>
            <a:r>
              <a:rPr lang="en-US" altLang="zh-CN" sz="2000" u="sng" dirty="0"/>
              <a:t>justify-items </a:t>
            </a:r>
            <a:r>
              <a:rPr lang="zh-CN" altLang="en-US" sz="2000" u="sng" dirty="0"/>
              <a:t>属性</a:t>
            </a:r>
          </a:p>
        </p:txBody>
      </p:sp>
      <p:sp>
        <p:nvSpPr>
          <p:cNvPr id="11" name="矩形 10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网格容器样式</a:t>
            </a:r>
          </a:p>
        </p:txBody>
      </p:sp>
    </p:spTree>
    <p:extLst>
      <p:ext uri="{BB962C8B-B14F-4D97-AF65-F5344CB8AC3E}">
        <p14:creationId xmlns:p14="http://schemas.microsoft.com/office/powerpoint/2010/main" val="1752518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5867" y="882076"/>
            <a:ext cx="96911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>
                <a:solidFill>
                  <a:srgbClr val="C00000"/>
                </a:solidFill>
                <a:latin typeface="+mn-ea"/>
              </a:rPr>
              <a:t>justify-content 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、 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</a:rPr>
              <a:t>align-content</a:t>
            </a:r>
            <a:r>
              <a:rPr lang="en-US" altLang="zh-CN" sz="2000" dirty="0" smtClean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000" dirty="0">
                <a:solidFill>
                  <a:srgbClr val="C00000"/>
                </a:solidFill>
                <a:latin typeface="+mn-ea"/>
              </a:rPr>
              <a:t>、 </a:t>
            </a:r>
            <a:r>
              <a:rPr lang="en-US" altLang="zh-CN" sz="2000" b="1" dirty="0" smtClean="0">
                <a:solidFill>
                  <a:srgbClr val="C00000"/>
                </a:solidFill>
                <a:latin typeface="+mn-ea"/>
              </a:rPr>
              <a:t>place-content</a:t>
            </a:r>
            <a:r>
              <a:rPr lang="en-US" altLang="zh-CN" sz="2000" dirty="0" smtClean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sz="2000" dirty="0">
                <a:latin typeface="+mn-ea"/>
              </a:rPr>
              <a:t>属性</a:t>
            </a:r>
          </a:p>
        </p:txBody>
      </p:sp>
      <p:sp>
        <p:nvSpPr>
          <p:cNvPr id="11" name="矩形 10"/>
          <p:cNvSpPr/>
          <p:nvPr/>
        </p:nvSpPr>
        <p:spPr>
          <a:xfrm>
            <a:off x="580644" y="1635068"/>
            <a:ext cx="11688074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（</a:t>
            </a:r>
            <a:r>
              <a:rPr lang="en-US" altLang="zh-CN" dirty="0" smtClean="0">
                <a:latin typeface="+mn-ea"/>
              </a:rPr>
              <a:t>1</a:t>
            </a:r>
            <a:r>
              <a:rPr lang="zh-CN" altLang="en-US" dirty="0" smtClean="0">
                <a:latin typeface="+mn-ea"/>
              </a:rPr>
              <a:t>）</a:t>
            </a:r>
            <a:r>
              <a:rPr lang="en-US" altLang="zh-CN" dirty="0" smtClean="0">
                <a:latin typeface="+mn-ea"/>
              </a:rPr>
              <a:t>justify-content: </a:t>
            </a:r>
            <a:r>
              <a:rPr lang="zh-CN" altLang="en-US" dirty="0">
                <a:latin typeface="+mn-ea"/>
              </a:rPr>
              <a:t>定义整个内容区域在容器里面的</a:t>
            </a:r>
            <a:r>
              <a:rPr lang="zh-CN" altLang="en-US" dirty="0" smtClean="0">
                <a:latin typeface="+mn-ea"/>
              </a:rPr>
              <a:t>水平位置</a:t>
            </a:r>
            <a:r>
              <a:rPr lang="zh-CN" altLang="en-US" dirty="0">
                <a:latin typeface="+mn-ea"/>
              </a:rPr>
              <a:t>（</a:t>
            </a:r>
            <a:r>
              <a:rPr lang="zh-CN" altLang="en-US" dirty="0" smtClean="0">
                <a:latin typeface="+mn-ea"/>
              </a:rPr>
              <a:t>左中右）。 </a:t>
            </a:r>
            <a:r>
              <a:rPr lang="en-US" altLang="zh-CN" dirty="0" smtClean="0">
                <a:latin typeface="+mn-ea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    justify-content </a:t>
            </a:r>
            <a:r>
              <a:rPr lang="en-US" altLang="zh-CN" dirty="0">
                <a:latin typeface="+mn-ea"/>
              </a:rPr>
              <a:t>: </a:t>
            </a:r>
            <a:r>
              <a:rPr lang="en-US" altLang="zh-CN" u="sng" dirty="0">
                <a:latin typeface="+mn-ea"/>
              </a:rPr>
              <a:t>start | end | center | </a:t>
            </a:r>
            <a:r>
              <a:rPr lang="en-US" altLang="zh-CN" u="sng" dirty="0" smtClean="0">
                <a:latin typeface="+mn-ea"/>
              </a:rPr>
              <a:t>stretch | space-around | space-between | space-evenly;</a:t>
            </a:r>
            <a:endParaRPr lang="en-US" altLang="zh-CN" u="sng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latin typeface="+mn-ea"/>
              </a:rPr>
              <a:t>（</a:t>
            </a:r>
            <a:r>
              <a:rPr lang="en-US" altLang="zh-CN" dirty="0" smtClean="0">
                <a:latin typeface="+mn-ea"/>
              </a:rPr>
              <a:t>2)  </a:t>
            </a:r>
            <a:r>
              <a:rPr lang="en-US" altLang="zh-CN" dirty="0">
                <a:latin typeface="+mn-ea"/>
              </a:rPr>
              <a:t>align-content</a:t>
            </a:r>
            <a:r>
              <a:rPr lang="en-US" altLang="zh-CN" dirty="0" smtClean="0">
                <a:latin typeface="+mn-ea"/>
              </a:rPr>
              <a:t>: </a:t>
            </a:r>
            <a:r>
              <a:rPr lang="zh-CN" altLang="en-US" dirty="0" smtClean="0">
                <a:latin typeface="+mn-ea"/>
              </a:rPr>
              <a:t>定义整个</a:t>
            </a:r>
            <a:r>
              <a:rPr lang="zh-CN" altLang="en-US" dirty="0">
                <a:latin typeface="+mn-ea"/>
              </a:rPr>
              <a:t>内容</a:t>
            </a:r>
            <a:r>
              <a:rPr lang="zh-CN" altLang="en-US" dirty="0" smtClean="0">
                <a:latin typeface="+mn-ea"/>
              </a:rPr>
              <a:t>区域</a:t>
            </a:r>
            <a:r>
              <a:rPr lang="zh-CN" altLang="en-US" dirty="0">
                <a:latin typeface="+mn-ea"/>
              </a:rPr>
              <a:t>在容器里面的</a:t>
            </a:r>
            <a:r>
              <a:rPr lang="zh-CN" altLang="en-US" dirty="0" smtClean="0">
                <a:latin typeface="+mn-ea"/>
              </a:rPr>
              <a:t>垂直</a:t>
            </a:r>
            <a:r>
              <a:rPr lang="zh-CN" altLang="en-US" dirty="0">
                <a:latin typeface="+mn-ea"/>
              </a:rPr>
              <a:t>位置（上中下）</a:t>
            </a:r>
            <a:endParaRPr lang="en-US" altLang="zh-CN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+mn-ea"/>
              </a:rPr>
              <a:t> </a:t>
            </a:r>
            <a:r>
              <a:rPr lang="en-US" altLang="zh-CN" dirty="0" smtClean="0">
                <a:latin typeface="+mn-ea"/>
              </a:rPr>
              <a:t>    align-content </a:t>
            </a:r>
            <a:r>
              <a:rPr lang="en-US" altLang="zh-CN" dirty="0">
                <a:latin typeface="+mn-ea"/>
              </a:rPr>
              <a:t>: </a:t>
            </a:r>
            <a:r>
              <a:rPr lang="en-US" altLang="zh-CN" u="sng" dirty="0">
                <a:latin typeface="+mn-ea"/>
              </a:rPr>
              <a:t>start | end | center | stretch </a:t>
            </a:r>
            <a:r>
              <a:rPr lang="en-US" altLang="zh-CN" u="sng" dirty="0" smtClean="0">
                <a:latin typeface="+mn-ea"/>
              </a:rPr>
              <a:t>| space-around </a:t>
            </a:r>
            <a:r>
              <a:rPr lang="en-US" altLang="zh-CN" u="sng" dirty="0">
                <a:latin typeface="+mn-ea"/>
              </a:rPr>
              <a:t>| space-between | space-evenly;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>
                <a:solidFill>
                  <a:srgbClr val="FF0000"/>
                </a:solidFill>
                <a:latin typeface="+mn-ea"/>
              </a:rPr>
              <a:t>     place-content:  </a:t>
            </a:r>
            <a:r>
              <a:rPr lang="en-US" altLang="zh-CN" dirty="0" smtClean="0">
                <a:solidFill>
                  <a:srgbClr val="FF0000"/>
                </a:solidFill>
                <a:latin typeface="+mn-ea"/>
              </a:rPr>
              <a:t>align-content</a:t>
            </a:r>
            <a:r>
              <a:rPr lang="zh-CN" altLang="en-US" dirty="0" smtClean="0">
                <a:solidFill>
                  <a:srgbClr val="FF0000"/>
                </a:solidFill>
                <a:latin typeface="+mn-ea"/>
              </a:rPr>
              <a:t>属性 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justify-content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属性 </a:t>
            </a:r>
            <a:r>
              <a:rPr lang="en-US" altLang="zh-CN" dirty="0" smtClean="0">
                <a:latin typeface="+mn-ea"/>
              </a:rPr>
              <a:t>;</a:t>
            </a:r>
            <a:endParaRPr lang="zh-CN" altLang="en-US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95867" y="1328352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000" dirty="0" smtClean="0">
                <a:latin typeface="+mn-ea"/>
              </a:rPr>
              <a:t>用于</a:t>
            </a:r>
            <a:r>
              <a:rPr lang="zh-CN" altLang="en-US" sz="2000" dirty="0">
                <a:latin typeface="+mn-ea"/>
              </a:rPr>
              <a:t>设置整个</a:t>
            </a:r>
            <a:r>
              <a:rPr lang="zh-CN" altLang="en-US" sz="2000" dirty="0" smtClean="0">
                <a:latin typeface="+mn-ea"/>
              </a:rPr>
              <a:t>内容区域</a:t>
            </a:r>
            <a:r>
              <a:rPr lang="zh-CN" altLang="en-US" sz="2000" dirty="0">
                <a:latin typeface="+mn-ea"/>
              </a:rPr>
              <a:t>在容器里面的位置。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70538"/>
            <a:ext cx="6828347" cy="298231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193" y="4463221"/>
            <a:ext cx="5723525" cy="203896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网格容器样式</a:t>
            </a:r>
          </a:p>
        </p:txBody>
      </p:sp>
    </p:spTree>
    <p:extLst>
      <p:ext uri="{BB962C8B-B14F-4D97-AF65-F5344CB8AC3E}">
        <p14:creationId xmlns:p14="http://schemas.microsoft.com/office/powerpoint/2010/main" val="1202685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2746" y="1084463"/>
            <a:ext cx="9366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基于线的元素放置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682746" y="1504779"/>
            <a:ext cx="1071165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把网格元素按照网格线进行放置，每条网格线从</a:t>
            </a:r>
            <a:r>
              <a:rPr lang="en-US" altLang="zh-CN" sz="2000" dirty="0"/>
              <a:t>1</a:t>
            </a:r>
            <a:r>
              <a:rPr lang="zh-CN" altLang="en-US" sz="2000" dirty="0"/>
              <a:t>开始自动编号，元素的位置按照指定的网格线定义。通过以下属性来指定</a:t>
            </a:r>
            <a:r>
              <a:rPr lang="zh-CN" altLang="en-US" sz="2000" dirty="0" smtClean="0"/>
              <a:t>从哪条</a:t>
            </a:r>
            <a:r>
              <a:rPr lang="zh-CN" altLang="en-US" sz="2000" dirty="0"/>
              <a:t>线开始到哪条线结束：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grid-column-start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grid-column-end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grid-row-start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grid-row-end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也</a:t>
            </a:r>
            <a:r>
              <a:rPr lang="zh-CN" altLang="en-US" sz="2000" dirty="0" smtClean="0"/>
              <a:t>可以用缩写：</a:t>
            </a:r>
            <a:r>
              <a:rPr lang="en-US" altLang="zh-CN" sz="2000" dirty="0" smtClean="0"/>
              <a:t>grid-column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grid-row</a:t>
            </a:r>
            <a:r>
              <a:rPr lang="zh-CN" altLang="en-US" sz="2000" dirty="0"/>
              <a:t>（开始与结束的线的序号要使用</a:t>
            </a:r>
            <a:r>
              <a:rPr lang="en-US" altLang="zh-CN" sz="2000" dirty="0"/>
              <a:t>/</a:t>
            </a:r>
            <a:r>
              <a:rPr lang="zh-CN" altLang="en-US" sz="2000" dirty="0"/>
              <a:t>符号分开）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46" y="3539140"/>
            <a:ext cx="3448050" cy="14001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564" y="3543908"/>
            <a:ext cx="2343150" cy="290512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481" y="3539139"/>
            <a:ext cx="2448609" cy="288810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网格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6049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75" y="987020"/>
            <a:ext cx="10557723" cy="5733333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网格元素样式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3433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82746" y="1084463"/>
            <a:ext cx="9366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基于线的元素放置</a:t>
            </a:r>
            <a:endParaRPr lang="zh-CN" altLang="en-US" sz="2400" dirty="0"/>
          </a:p>
        </p:txBody>
      </p:sp>
      <p:sp>
        <p:nvSpPr>
          <p:cNvPr id="9" name="矩形 8"/>
          <p:cNvSpPr/>
          <p:nvPr/>
        </p:nvSpPr>
        <p:spPr>
          <a:xfrm>
            <a:off x="682746" y="1504779"/>
            <a:ext cx="10711650" cy="143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还可以使用 </a:t>
            </a:r>
            <a:r>
              <a:rPr lang="en-US" altLang="zh-CN" sz="2000" dirty="0"/>
              <a:t>grid-area </a:t>
            </a:r>
            <a:r>
              <a:rPr lang="zh-CN" altLang="en-US" sz="2000" dirty="0"/>
              <a:t>一次性指定所有的行</a:t>
            </a:r>
            <a:r>
              <a:rPr lang="en-US" altLang="zh-CN" sz="2000" dirty="0"/>
              <a:t>/</a:t>
            </a:r>
            <a:r>
              <a:rPr lang="zh-CN" altLang="en-US" sz="2000" dirty="0"/>
              <a:t>列序号： </a:t>
            </a:r>
            <a:r>
              <a:rPr lang="en-US" altLang="zh-CN" sz="2000" dirty="0"/>
              <a:t>/ </a:t>
            </a:r>
            <a:r>
              <a:rPr lang="en-US" altLang="zh-CN" sz="2000" dirty="0" smtClean="0"/>
              <a:t> /  </a:t>
            </a:r>
            <a:r>
              <a:rPr lang="en-US" altLang="zh-CN" sz="2000" dirty="0"/>
              <a:t>/ </a:t>
            </a:r>
            <a:r>
              <a:rPr lang="zh-CN" altLang="en-US" sz="2000" dirty="0"/>
              <a:t>，也就是先指定开始坐标的行</a:t>
            </a:r>
            <a:r>
              <a:rPr lang="en-US" altLang="zh-CN" sz="2000" dirty="0"/>
              <a:t>/</a:t>
            </a:r>
            <a:r>
              <a:rPr lang="zh-CN" altLang="en-US" sz="2000" dirty="0"/>
              <a:t>列序号，再指定结束坐标的行</a:t>
            </a:r>
            <a:r>
              <a:rPr lang="en-US" altLang="zh-CN" sz="2000" dirty="0"/>
              <a:t>/</a:t>
            </a:r>
            <a:r>
              <a:rPr lang="zh-CN" altLang="en-US" sz="2000" dirty="0"/>
              <a:t>列序号。</a:t>
            </a:r>
          </a:p>
          <a:p>
            <a:pPr>
              <a:lnSpc>
                <a:spcPct val="150000"/>
              </a:lnSpc>
            </a:pPr>
            <a:r>
              <a:rPr lang="zh-CN" altLang="en-US" sz="2000" dirty="0"/>
              <a:t>例如：</a:t>
            </a:r>
            <a:r>
              <a:rPr lang="en-US" altLang="zh-CN" sz="2000" dirty="0"/>
              <a:t>2/2/3/3</a:t>
            </a:r>
            <a:r>
              <a:rPr lang="zh-CN" altLang="en-US" sz="2000" dirty="0"/>
              <a:t>：行起始位置</a:t>
            </a:r>
            <a:r>
              <a:rPr lang="en-US" altLang="zh-CN" sz="2000" dirty="0"/>
              <a:t>/</a:t>
            </a:r>
            <a:r>
              <a:rPr lang="zh-CN" altLang="en-US" sz="2000" dirty="0"/>
              <a:t>列起始位置</a:t>
            </a:r>
            <a:r>
              <a:rPr lang="en-US" altLang="zh-CN" sz="2000" dirty="0"/>
              <a:t>/</a:t>
            </a:r>
            <a:r>
              <a:rPr lang="zh-CN" altLang="en-US" sz="2000" dirty="0"/>
              <a:t>行结束位置</a:t>
            </a:r>
            <a:r>
              <a:rPr lang="en-US" altLang="zh-CN" sz="2000" dirty="0"/>
              <a:t>/</a:t>
            </a:r>
            <a:r>
              <a:rPr lang="zh-CN" altLang="en-US" sz="2000" dirty="0"/>
              <a:t>列结束位置</a:t>
            </a:r>
          </a:p>
        </p:txBody>
      </p:sp>
      <p:sp>
        <p:nvSpPr>
          <p:cNvPr id="11" name="矩形 10"/>
          <p:cNvSpPr/>
          <p:nvPr/>
        </p:nvSpPr>
        <p:spPr>
          <a:xfrm>
            <a:off x="807442" y="3060509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/* 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使用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grid-area</a:t>
            </a:r>
            <a:r>
              <a:rPr lang="zh-CN" altLang="en-US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一次性指定所有行列序号 *</a:t>
            </a:r>
            <a:r>
              <a:rPr lang="en-US" altLang="zh-CN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endParaRPr lang="zh-CN" altLang="en-US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zh-CN" altLang="en-US" dirty="0">
                <a:solidFill>
                  <a:srgbClr val="CDD3DE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  </a:t>
            </a:r>
            <a:r>
              <a:rPr lang="zh-CN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header{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  grid-area: 1/1/2/3;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}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article{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  grid-area:2/2/3/3;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}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aside{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  grid-area: 2/1/3/2;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}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footer{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  grid-area: 3/1/4/3;</a:t>
            </a:r>
          </a:p>
          <a:p>
            <a:r>
              <a:rPr lang="en-US" altLang="zh-CN" dirty="0">
                <a:latin typeface="Calibri" panose="020F0502020204030204" pitchFamily="34" charset="0"/>
                <a:cs typeface="Calibri" panose="020F0502020204030204" pitchFamily="34" charset="0"/>
              </a:rPr>
              <a:t>    }</a:t>
            </a:r>
            <a:endParaRPr lang="en-US" altLang="zh-CN" b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网格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8675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网格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65201" y="934547"/>
            <a:ext cx="75091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 smtClean="0"/>
              <a:t>justify-self </a:t>
            </a:r>
            <a:r>
              <a:rPr lang="zh-CN" altLang="en-US" sz="2000" dirty="0"/>
              <a:t>、 </a:t>
            </a:r>
            <a:r>
              <a:rPr lang="en-US" altLang="zh-CN" sz="2000" b="1" dirty="0" smtClean="0"/>
              <a:t>align-self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、 </a:t>
            </a:r>
            <a:r>
              <a:rPr lang="en-US" altLang="zh-CN" sz="2000" b="1" dirty="0" smtClean="0"/>
              <a:t>place-self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属性</a:t>
            </a:r>
          </a:p>
        </p:txBody>
      </p:sp>
      <p:sp>
        <p:nvSpPr>
          <p:cNvPr id="13" name="矩形 12"/>
          <p:cNvSpPr/>
          <p:nvPr/>
        </p:nvSpPr>
        <p:spPr>
          <a:xfrm>
            <a:off x="974548" y="1399080"/>
            <a:ext cx="1109317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/>
              <a:t>单个网格元素的对齐方式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1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justify-self</a:t>
            </a:r>
            <a:r>
              <a:rPr lang="zh-CN" altLang="en-US" sz="2000" dirty="0" smtClean="0"/>
              <a:t>属性：单元格内容的水平位置，用法同</a:t>
            </a:r>
            <a:r>
              <a:rPr lang="en-US" altLang="zh-CN" sz="2000" dirty="0" smtClean="0"/>
              <a:t>justify-items</a:t>
            </a:r>
            <a:r>
              <a:rPr lang="zh-CN" altLang="en-US" sz="2000" dirty="0" smtClean="0"/>
              <a:t>属性。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justify-self</a:t>
            </a:r>
            <a:r>
              <a:rPr lang="zh-CN" altLang="en-US" sz="2000" dirty="0" smtClean="0"/>
              <a:t>：</a:t>
            </a:r>
            <a:r>
              <a:rPr lang="en-US" altLang="zh-CN" sz="2000" dirty="0"/>
              <a:t> start | end | center | </a:t>
            </a:r>
            <a:r>
              <a:rPr lang="en-US" altLang="zh-CN" sz="2000" dirty="0" smtClean="0"/>
              <a:t>stretch</a:t>
            </a:r>
            <a:r>
              <a:rPr lang="zh-CN" altLang="en-US" sz="2000" dirty="0" smtClean="0"/>
              <a:t>（水平拉伸）</a:t>
            </a:r>
            <a:r>
              <a:rPr lang="en-US" altLang="zh-CN" sz="2000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2000" dirty="0" smtClean="0"/>
              <a:t>（</a:t>
            </a:r>
            <a:r>
              <a:rPr lang="en-US" altLang="zh-CN" sz="2000" dirty="0" smtClean="0"/>
              <a:t>2</a:t>
            </a:r>
            <a:r>
              <a:rPr lang="zh-CN" altLang="en-US" sz="2000" dirty="0" smtClean="0"/>
              <a:t>）</a:t>
            </a:r>
            <a:r>
              <a:rPr lang="en-US" altLang="zh-CN" sz="2000" dirty="0" smtClean="0"/>
              <a:t>align-self</a:t>
            </a:r>
            <a:r>
              <a:rPr lang="zh-CN" altLang="en-US" sz="2000" dirty="0" smtClean="0"/>
              <a:t>属性：单元格内容的垂直位置，用法同</a:t>
            </a:r>
            <a:r>
              <a:rPr lang="en-US" altLang="zh-CN" sz="2000" dirty="0" smtClean="0"/>
              <a:t>align-items</a:t>
            </a:r>
            <a:r>
              <a:rPr lang="zh-CN" altLang="en-US" sz="2000" dirty="0" smtClean="0"/>
              <a:t>属性。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align-self:</a:t>
            </a:r>
            <a:r>
              <a:rPr lang="en-US" altLang="zh-CN" sz="2000" dirty="0"/>
              <a:t> start | end | center | </a:t>
            </a:r>
            <a:r>
              <a:rPr lang="en-US" altLang="zh-CN" sz="2000" dirty="0" smtClean="0"/>
              <a:t>stretch</a:t>
            </a:r>
            <a:r>
              <a:rPr lang="zh-CN" altLang="en-US" sz="2000" dirty="0" smtClean="0"/>
              <a:t>（垂直拉伸）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b="1" u="sng" dirty="0" smtClean="0"/>
              <a:t>place-self: align-self</a:t>
            </a:r>
            <a:r>
              <a:rPr lang="zh-CN" altLang="en-US" sz="2000" b="1" u="sng" dirty="0" smtClean="0"/>
              <a:t>属性  </a:t>
            </a:r>
            <a:r>
              <a:rPr lang="en-US" altLang="zh-CN" sz="2000" b="1" u="sng" dirty="0" smtClean="0"/>
              <a:t>justify-self</a:t>
            </a:r>
            <a:r>
              <a:rPr lang="zh-CN" altLang="en-US" sz="2000" b="1" u="sng" dirty="0" smtClean="0"/>
              <a:t>属性；</a:t>
            </a:r>
            <a:r>
              <a:rPr lang="en-US" altLang="zh-CN" sz="2000" b="1" u="sng" dirty="0" smtClean="0"/>
              <a:t> </a:t>
            </a:r>
            <a:endParaRPr lang="zh-CN" altLang="en-US" sz="2000" b="1" u="sng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745" y="4828142"/>
            <a:ext cx="5826241" cy="2029858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7096887" y="3718679"/>
            <a:ext cx="30309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   </a:t>
            </a:r>
            <a:r>
              <a:rPr lang="en-US" altLang="zh-CN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span:nth-child</a:t>
            </a:r>
            <a:r>
              <a:rPr lang="en-US" altLang="zh-CN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(2</a:t>
            </a: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 {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  </a:t>
            </a:r>
            <a:r>
              <a:rPr lang="en-US" altLang="zh-CN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justify-self</a:t>
            </a: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start;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b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</a:t>
            </a:r>
            <a:r>
              <a:rPr lang="en-US" altLang="zh-CN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span:nth-child</a:t>
            </a: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(3) {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  </a:t>
            </a:r>
            <a:r>
              <a:rPr lang="en-US" altLang="zh-CN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justify-self</a:t>
            </a: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center;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}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/>
            </a:r>
            <a:b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</a:t>
            </a:r>
            <a:r>
              <a:rPr lang="en-US" altLang="zh-CN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span:nth-child</a:t>
            </a: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(4) {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  </a:t>
            </a:r>
            <a:r>
              <a:rPr lang="en-US" altLang="zh-CN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justify-self</a:t>
            </a:r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end;</a:t>
            </a:r>
          </a:p>
          <a:p>
            <a:r>
              <a:rPr lang="en-US" altLang="zh-CN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    </a:t>
            </a:r>
            <a:r>
              <a:rPr lang="en-US" altLang="zh-CN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}</a:t>
            </a:r>
            <a:endParaRPr lang="en-US" altLang="zh-CN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261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6334" y="235745"/>
            <a:ext cx="104032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Grid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布局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498062" y="638079"/>
            <a:ext cx="1569660" cy="369332"/>
          </a:xfrm>
          <a:prstGeom prst="rect">
            <a:avLst/>
          </a:prstGeom>
          <a:solidFill>
            <a:srgbClr val="8E2F73"/>
          </a:solidFill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网格</a:t>
            </a:r>
            <a:r>
              <a:rPr lang="zh-CN" altLang="en-US" b="1" dirty="0">
                <a:solidFill>
                  <a:schemeClr val="bg1"/>
                </a:solidFill>
              </a:rPr>
              <a:t>元素</a:t>
            </a:r>
            <a:r>
              <a:rPr lang="zh-CN" altLang="en-US" b="1" dirty="0" smtClean="0">
                <a:solidFill>
                  <a:schemeClr val="bg1"/>
                </a:solidFill>
              </a:rPr>
              <a:t>样式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40759" y="4014642"/>
            <a:ext cx="522343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+mn-ea"/>
              </a:rPr>
              <a:t>&lt;div class=“</a:t>
            </a:r>
            <a:r>
              <a:rPr lang="en-US" altLang="zh-CN" b="1" dirty="0" smtClean="0">
                <a:solidFill>
                  <a:schemeClr val="accent6"/>
                </a:solidFill>
                <a:latin typeface="+mn-ea"/>
              </a:rPr>
              <a:t>grid-container</a:t>
            </a:r>
            <a:r>
              <a:rPr lang="en-US" altLang="zh-CN" b="1" dirty="0" smtClean="0">
                <a:latin typeface="+mn-ea"/>
              </a:rPr>
              <a:t>”&gt;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 smtClean="0">
                <a:latin typeface="+mn-ea"/>
              </a:rPr>
              <a:t>&lt;div class=“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</a:rPr>
              <a:t>grid-item</a:t>
            </a:r>
            <a:r>
              <a:rPr lang="en-US" altLang="zh-CN" b="1" dirty="0" smtClean="0">
                <a:latin typeface="+mn-ea"/>
              </a:rPr>
              <a:t>”&gt;1&lt;/div&gt;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 smtClean="0">
                <a:latin typeface="+mn-ea"/>
              </a:rPr>
              <a:t>……</a:t>
            </a:r>
          </a:p>
          <a:p>
            <a:pPr lvl="1">
              <a:lnSpc>
                <a:spcPct val="150000"/>
              </a:lnSpc>
            </a:pPr>
            <a:r>
              <a:rPr lang="en-US" altLang="zh-CN" b="1" dirty="0">
                <a:latin typeface="+mn-ea"/>
              </a:rPr>
              <a:t>&lt;div class=“</a:t>
            </a: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grid-item</a:t>
            </a:r>
            <a:r>
              <a:rPr lang="en-US" altLang="zh-CN" b="1" dirty="0">
                <a:latin typeface="+mn-ea"/>
              </a:rPr>
              <a:t>”&gt;</a:t>
            </a:r>
            <a:r>
              <a:rPr lang="en-US" altLang="zh-CN" b="1" dirty="0" smtClean="0">
                <a:latin typeface="+mn-ea"/>
              </a:rPr>
              <a:t>11&lt;/</a:t>
            </a:r>
            <a:r>
              <a:rPr lang="en-US" altLang="zh-CN" b="1" dirty="0">
                <a:latin typeface="+mn-ea"/>
              </a:rPr>
              <a:t>div&gt;</a:t>
            </a: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+mn-ea"/>
              </a:rPr>
              <a:t>&lt;/div&gt;</a:t>
            </a:r>
            <a:endParaRPr lang="en-US" altLang="zh-CN" b="1" dirty="0"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91515" y="386365"/>
            <a:ext cx="5142499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 smtClean="0">
                <a:latin typeface="+mn-ea"/>
              </a:rPr>
              <a:t>.grid-container</a:t>
            </a:r>
            <a:r>
              <a:rPr lang="en-US" altLang="zh-CN" sz="1600" dirty="0" smtClean="0">
                <a:latin typeface="+mn-ea"/>
              </a:rPr>
              <a:t>{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display:grid</a:t>
            </a:r>
            <a:r>
              <a:rPr lang="en-US" altLang="zh-CN" sz="1600" dirty="0" smtClean="0">
                <a:latin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justify-content:center</a:t>
            </a:r>
            <a:r>
              <a:rPr lang="en-US" altLang="zh-CN" sz="1600" dirty="0" smtClean="0">
                <a:latin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align-content:center</a:t>
            </a:r>
            <a:r>
              <a:rPr lang="en-US" altLang="zh-CN" sz="1600" dirty="0" smtClean="0">
                <a:latin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grid-template-columns:repeat</a:t>
            </a:r>
            <a:r>
              <a:rPr lang="en-US" altLang="zh-CN" sz="1600" dirty="0" smtClean="0">
                <a:latin typeface="+mn-ea"/>
              </a:rPr>
              <a:t>(6,140px);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err="1" smtClean="0">
                <a:latin typeface="+mn-ea"/>
              </a:rPr>
              <a:t>grid-template-rows:repeat</a:t>
            </a:r>
            <a:r>
              <a:rPr lang="en-US" altLang="zh-CN" sz="1600" dirty="0" smtClean="0">
                <a:latin typeface="+mn-ea"/>
              </a:rPr>
              <a:t>(3,140px</a:t>
            </a:r>
            <a:r>
              <a:rPr lang="en-US" altLang="zh-CN" sz="1600" dirty="0">
                <a:latin typeface="+mn-ea"/>
              </a:rPr>
              <a:t>);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gap:20px;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 smtClean="0">
                <a:latin typeface="+mn-ea"/>
              </a:rPr>
              <a:t>.</a:t>
            </a:r>
            <a:r>
              <a:rPr lang="en-US" altLang="zh-CN" sz="1600" b="1" dirty="0" err="1" smtClean="0">
                <a:latin typeface="+mn-ea"/>
              </a:rPr>
              <a:t>grid-item:nth-child</a:t>
            </a:r>
            <a:r>
              <a:rPr lang="en-US" altLang="zh-CN" sz="1600" b="1" dirty="0" smtClean="0">
                <a:latin typeface="+mn-ea"/>
              </a:rPr>
              <a:t>(1)</a:t>
            </a:r>
            <a:r>
              <a:rPr lang="en-US" altLang="zh-CN" sz="1600" dirty="0" smtClean="0">
                <a:latin typeface="+mn-ea"/>
              </a:rPr>
              <a:t>{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grid-column: </a:t>
            </a:r>
            <a:r>
              <a:rPr lang="en-US" altLang="zh-CN" sz="1600" dirty="0" smtClean="0">
                <a:solidFill>
                  <a:schemeClr val="accent1"/>
                </a:solidFill>
                <a:latin typeface="+mn-ea"/>
              </a:rPr>
              <a:t>1 / span 2</a:t>
            </a:r>
            <a:r>
              <a:rPr lang="en-US" altLang="zh-CN" sz="1600" dirty="0" smtClean="0">
                <a:latin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grid-row: </a:t>
            </a:r>
            <a:r>
              <a:rPr lang="en-US" altLang="zh-CN" sz="1600" dirty="0" smtClean="0">
                <a:solidFill>
                  <a:schemeClr val="accent1"/>
                </a:solidFill>
                <a:latin typeface="+mn-ea"/>
              </a:rPr>
              <a:t>1 / 2</a:t>
            </a:r>
            <a:r>
              <a:rPr lang="en-US" altLang="zh-CN" sz="1600" dirty="0" smtClean="0">
                <a:latin typeface="+mn-ea"/>
              </a:rPr>
              <a:t>;</a:t>
            </a:r>
            <a:endParaRPr lang="en-US" altLang="zh-CN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>
                <a:latin typeface="+mn-ea"/>
              </a:rPr>
              <a:t>.</a:t>
            </a:r>
            <a:r>
              <a:rPr lang="en-US" altLang="zh-CN" sz="1600" b="1" dirty="0" err="1" smtClean="0">
                <a:latin typeface="+mn-ea"/>
              </a:rPr>
              <a:t>grid-item:nth-child</a:t>
            </a:r>
            <a:r>
              <a:rPr lang="en-US" altLang="zh-CN" sz="1600" b="1" dirty="0" smtClean="0">
                <a:latin typeface="+mn-ea"/>
              </a:rPr>
              <a:t>(2)</a:t>
            </a:r>
            <a:r>
              <a:rPr lang="en-US" altLang="zh-CN" sz="1600" dirty="0" smtClean="0">
                <a:latin typeface="+mn-ea"/>
              </a:rPr>
              <a:t>{</a:t>
            </a:r>
            <a:endParaRPr lang="en-US" altLang="zh-CN" sz="16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grid-column: 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</a:rPr>
              <a:t>3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/ span 2</a:t>
            </a:r>
            <a:r>
              <a:rPr lang="en-US" altLang="zh-CN" sz="1600" dirty="0">
                <a:latin typeface="+mn-ea"/>
              </a:rPr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>
                <a:latin typeface="+mn-ea"/>
              </a:rPr>
              <a:t>grid-row: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1 / </a:t>
            </a:r>
            <a:r>
              <a:rPr lang="en-US" altLang="zh-CN" sz="1600" dirty="0" smtClean="0">
                <a:solidFill>
                  <a:srgbClr val="FF0000"/>
                </a:solidFill>
                <a:latin typeface="+mn-ea"/>
              </a:rPr>
              <a:t>span 2</a:t>
            </a:r>
            <a:r>
              <a:rPr lang="en-US" altLang="zh-CN" sz="1600" dirty="0">
                <a:latin typeface="+mn-ea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+mn-ea"/>
              </a:rPr>
              <a:t>}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3004967" y="6353962"/>
            <a:ext cx="8929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grid-row: </a:t>
            </a:r>
            <a:r>
              <a:rPr lang="en-US" altLang="zh-CN" b="1" dirty="0">
                <a:solidFill>
                  <a:srgbClr val="FF0000"/>
                </a:solidFill>
              </a:rPr>
              <a:t>1 / span 2</a:t>
            </a:r>
            <a:r>
              <a:rPr lang="en-US" altLang="zh-CN" b="1" dirty="0" smtClean="0"/>
              <a:t>;</a:t>
            </a:r>
            <a:r>
              <a:rPr lang="zh-CN" altLang="en-US" b="1" dirty="0" smtClean="0"/>
              <a:t>意思是网格元素从第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条水平线开始，到跨越</a:t>
            </a:r>
            <a:r>
              <a:rPr lang="en-US" altLang="zh-CN" b="1" dirty="0" smtClean="0"/>
              <a:t>2</a:t>
            </a:r>
            <a:r>
              <a:rPr lang="zh-CN" altLang="en-US" b="1" dirty="0" smtClean="0"/>
              <a:t>个网格线的位置结束</a:t>
            </a:r>
            <a:endParaRPr lang="en-US" altLang="zh-CN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91" y="1487713"/>
            <a:ext cx="6090547" cy="25269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24569" y="1026465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案例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02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4024</TotalTime>
  <Words>2444</Words>
  <Application>Microsoft Office PowerPoint</Application>
  <PresentationFormat>宽屏</PresentationFormat>
  <Paragraphs>313</Paragraphs>
  <Slides>29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3" baseType="lpstr">
      <vt:lpstr>MicrosoftYaHei-Bold</vt:lpstr>
      <vt:lpstr>等线</vt:lpstr>
      <vt:lpstr>等线 Light</vt:lpstr>
      <vt:lpstr>方正颜宋简体_大</vt:lpstr>
      <vt:lpstr>思源黑体 CN Light</vt:lpstr>
      <vt:lpstr>宋体</vt:lpstr>
      <vt:lpstr>微软雅黑</vt:lpstr>
      <vt:lpstr>Arial</vt:lpstr>
      <vt:lpstr>Calibri</vt:lpstr>
      <vt:lpstr>Calibri Light</vt:lpstr>
      <vt:lpstr>Cambria</vt:lpstr>
      <vt:lpstr>Times New Roman</vt:lpstr>
      <vt:lpstr>Office Theme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Flex布局</vt:lpstr>
      <vt:lpstr>Flex布局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浩然</dc:creator>
  <cp:lastModifiedBy>zhu jw</cp:lastModifiedBy>
  <cp:revision>191</cp:revision>
  <dcterms:created xsi:type="dcterms:W3CDTF">2023-09-04T07:36:08Z</dcterms:created>
  <dcterms:modified xsi:type="dcterms:W3CDTF">2024-03-11T02:15:13Z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/>
  </property>
</Properties>
</file>