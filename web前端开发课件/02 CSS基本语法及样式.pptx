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7" r:id="rId3"/>
    <p:sldId id="418" r:id="rId5"/>
    <p:sldId id="446" r:id="rId6"/>
    <p:sldId id="447" r:id="rId7"/>
    <p:sldId id="448" r:id="rId8"/>
    <p:sldId id="450" r:id="rId9"/>
    <p:sldId id="452" r:id="rId10"/>
    <p:sldId id="453" r:id="rId11"/>
    <p:sldId id="454" r:id="rId12"/>
    <p:sldId id="455" r:id="rId13"/>
    <p:sldId id="456" r:id="rId14"/>
    <p:sldId id="457" r:id="rId15"/>
    <p:sldId id="458" r:id="rId16"/>
    <p:sldId id="460" r:id="rId17"/>
    <p:sldId id="461" r:id="rId18"/>
    <p:sldId id="462" r:id="rId19"/>
    <p:sldId id="463" r:id="rId20"/>
    <p:sldId id="464" r:id="rId21"/>
    <p:sldId id="465" r:id="rId22"/>
    <p:sldId id="466" r:id="rId23"/>
    <p:sldId id="467" r:id="rId24"/>
    <p:sldId id="468" r:id="rId25"/>
    <p:sldId id="469" r:id="rId26"/>
    <p:sldId id="470" r:id="rId27"/>
    <p:sldId id="471" r:id="rId28"/>
    <p:sldId id="504" r:id="rId29"/>
    <p:sldId id="472" r:id="rId30"/>
    <p:sldId id="473" r:id="rId31"/>
    <p:sldId id="474" r:id="rId32"/>
    <p:sldId id="475" r:id="rId33"/>
    <p:sldId id="476" r:id="rId34"/>
    <p:sldId id="477" r:id="rId35"/>
    <p:sldId id="478" r:id="rId36"/>
    <p:sldId id="487" r:id="rId37"/>
    <p:sldId id="480" r:id="rId38"/>
    <p:sldId id="479" r:id="rId39"/>
    <p:sldId id="481" r:id="rId40"/>
    <p:sldId id="496" r:id="rId41"/>
    <p:sldId id="497" r:id="rId42"/>
    <p:sldId id="498" r:id="rId43"/>
    <p:sldId id="499" r:id="rId44"/>
    <p:sldId id="500" r:id="rId45"/>
    <p:sldId id="501" r:id="rId46"/>
    <p:sldId id="502" r:id="rId47"/>
    <p:sldId id="503" r:id="rId48"/>
    <p:sldId id="482" r:id="rId49"/>
    <p:sldId id="483" r:id="rId50"/>
    <p:sldId id="484" r:id="rId51"/>
    <p:sldId id="485" r:id="rId52"/>
    <p:sldId id="486" r:id="rId5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子果" initials="子果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2F73"/>
    <a:srgbClr val="286F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22" autoAdjust="0"/>
    <p:restoredTop sz="93204" autoAdjust="0"/>
  </p:normalViewPr>
  <p:slideViewPr>
    <p:cSldViewPr snapToGrid="0">
      <p:cViewPr>
        <p:scale>
          <a:sx n="75" d="100"/>
          <a:sy n="75" d="100"/>
        </p:scale>
        <p:origin x="595" y="149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commentAuthors" Target="commentAuthors.xml"/><Relationship Id="rId56" Type="http://schemas.openxmlformats.org/officeDocument/2006/relationships/tableStyles" Target="tableStyles.xml"/><Relationship Id="rId55" Type="http://schemas.openxmlformats.org/officeDocument/2006/relationships/viewProps" Target="viewProps.xml"/><Relationship Id="rId54" Type="http://schemas.openxmlformats.org/officeDocument/2006/relationships/presProps" Target="presProps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EBA5A4-48EA-4DF8-A5E4-571711B0CC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不过多类选择器在开发中并不常见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优先级决定在发生冲突的时候应该使用哪条规则。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A06451-2D89-4B72-A62A-BD2AF0D3916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68B51-DBCB-470B-925C-4E02FE6F7D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302493-CBBD-4A3D-81C1-7AA6506AC4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67E96-A9DF-45CB-92A7-103C15373C5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5C85E-75EC-4599-990B-D95D618BF85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5524F-3CA5-4A39-BBE7-C6B8F9A5D79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999DF-6A70-4777-B639-889AF788F125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82048-7B1A-428D-9A57-5986A5A07253}" type="datetime1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8901E-D02C-4329-99E4-4964776D5772}" type="datetime1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37BF-1ADC-4CCE-9275-4A5D02A4551B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B462-32C4-4C07-A5F0-726CE79FB4A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18FAD-791A-4DE7-99D3-C7D3E58C6EEA}" type="datetime1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14055-C4B2-4D9D-A697-691753F3EA96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3C481-74C9-4550-8352-37B186282D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2C3BF-67FD-4EDB-A8C4-335EEC1D0A5C}" type="datetime1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CCAFD-B661-4BC2-8A4E-75D38A9BCC1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emf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image" Target="../media/image3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image" Target="../media/image35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 txBox="1"/>
          <p:nvPr/>
        </p:nvSpPr>
        <p:spPr>
          <a:xfrm>
            <a:off x="2343539" y="2517282"/>
            <a:ext cx="8803431" cy="230832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第</a:t>
            </a:r>
            <a:r>
              <a:rPr lang="en-US" altLang="zh-CN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2</a:t>
            </a:r>
            <a:r>
              <a:rPr lang="zh-CN" altLang="en-US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章 </a:t>
            </a:r>
            <a:r>
              <a:rPr lang="en-US" altLang="zh-CN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CSS</a:t>
            </a:r>
            <a:r>
              <a:rPr lang="zh-CN" altLang="en-US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基本语法</a:t>
            </a:r>
            <a:endParaRPr lang="en-US" altLang="zh-CN" sz="4800" b="1" spc="600" dirty="0" smtClean="0">
              <a:latin typeface="微软雅黑" panose="020B0503020204020204" pitchFamily="34" charset="-122"/>
              <a:ea typeface="微软雅黑" panose="020B0503020204020204" pitchFamily="34" charset="-122"/>
              <a:cs typeface="方正颜宋简体_大" panose="02000000000000000000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800" b="1" spc="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方正颜宋简体_大" panose="02000000000000000000" charset="-122"/>
              </a:rPr>
              <a:t>及样式</a:t>
            </a:r>
            <a:endParaRPr lang="zh-CN" altLang="en-US" sz="4800" b="1" spc="600" dirty="0">
              <a:latin typeface="微软雅黑" panose="020B0503020204020204" pitchFamily="34" charset="-122"/>
              <a:ea typeface="微软雅黑" panose="020B0503020204020204" pitchFamily="34" charset="-122"/>
              <a:cs typeface="方正颜宋简体_大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61288" y="958778"/>
            <a:ext cx="103786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ea"/>
              </a:rPr>
              <a:t>CSS——</a:t>
            </a:r>
            <a:r>
              <a:rPr lang="zh-CN" altLang="en-US" sz="2000" b="1" dirty="0">
                <a:latin typeface="+mn-ea"/>
              </a:rPr>
              <a:t>层叠样式表（</a:t>
            </a:r>
            <a:r>
              <a:rPr lang="en-US" altLang="zh-CN" sz="2000" b="1" dirty="0">
                <a:latin typeface="+mn-ea"/>
              </a:rPr>
              <a:t>Cascading Style Sheets</a:t>
            </a:r>
            <a:r>
              <a:rPr lang="zh-CN" altLang="en-US" sz="2000" b="1" dirty="0">
                <a:latin typeface="+mn-ea"/>
              </a:rPr>
              <a:t>），用于定义网页的样式</a:t>
            </a:r>
            <a:endParaRPr lang="zh-CN" altLang="en-US" sz="20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+mn-ea"/>
              </a:rPr>
              <a:t>多重样式有不同的优先级，样式之间可以相互覆盖、层叠，共同决定页面最终样式</a:t>
            </a:r>
            <a:endParaRPr lang="zh-CN" altLang="en-US" sz="2000" b="1" dirty="0">
              <a:latin typeface="+mn-ea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tretch>
            <a:fillRect/>
          </a:stretch>
        </p:blipFill>
        <p:spPr>
          <a:xfrm>
            <a:off x="1302516" y="2292920"/>
            <a:ext cx="2097405" cy="268668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230862" y="5344956"/>
            <a:ext cx="6761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/>
              <a:t>不同的</a:t>
            </a:r>
            <a:r>
              <a:rPr lang="en-US" altLang="zh-CN" sz="2000" dirty="0"/>
              <a:t>CSS</a:t>
            </a:r>
            <a:r>
              <a:rPr lang="zh-CN" altLang="en-US" sz="2000" dirty="0"/>
              <a:t>样式可以使内容完全相同的页面呈现不同的效果</a:t>
            </a:r>
            <a:endParaRPr lang="zh-CN" altLang="en-US" sz="20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4074" y="2245620"/>
            <a:ext cx="2083036" cy="2733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4" name="矩形 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845127" y="1325562"/>
            <a:ext cx="10515600" cy="48545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90204" pitchFamily="34" charset="0"/>
              <a:buNone/>
            </a:pPr>
            <a:r>
              <a:rPr lang="en-US" altLang="zh-CN" sz="2400" b="1" dirty="0" smtClean="0"/>
              <a:t>CSS</a:t>
            </a:r>
            <a:r>
              <a:rPr lang="zh-CN" altLang="en-US" sz="2400" b="1" dirty="0" smtClean="0"/>
              <a:t>语法格式</a:t>
            </a:r>
            <a:endParaRPr lang="en-US" altLang="zh-CN" sz="2400" b="1" dirty="0" smtClean="0"/>
          </a:p>
          <a:p>
            <a:pPr marL="0" indent="0">
              <a:buFont typeface="Arial" panose="020B0604020202090204" pitchFamily="34" charset="0"/>
              <a:buNone/>
            </a:pPr>
            <a:endParaRPr lang="en-US" altLang="zh-CN" sz="2400" dirty="0" smtClean="0"/>
          </a:p>
          <a:p>
            <a:pPr marL="0" indent="0">
              <a:buFont typeface="Arial" panose="020B0604020202090204" pitchFamily="34" charset="0"/>
              <a:buNone/>
            </a:pPr>
            <a:r>
              <a:rPr lang="zh-CN" altLang="en-US" sz="2400" dirty="0" smtClean="0"/>
              <a:t>选择器</a:t>
            </a:r>
            <a:r>
              <a:rPr lang="en-US" altLang="zh-CN" sz="2400" dirty="0" smtClean="0"/>
              <a:t>{</a:t>
            </a:r>
            <a:endParaRPr lang="en-US" altLang="zh-CN" sz="2400" dirty="0" smtClean="0"/>
          </a:p>
          <a:p>
            <a:pPr marL="0" indent="0">
              <a:buFont typeface="Arial" panose="020B0604020202090204" pitchFamily="34" charset="0"/>
              <a:buNone/>
            </a:pPr>
            <a:r>
              <a:rPr lang="en-US" altLang="zh-CN" sz="2400" dirty="0" smtClean="0"/>
              <a:t>   </a:t>
            </a:r>
            <a:r>
              <a:rPr lang="zh-CN" altLang="en-US" sz="2400" dirty="0" smtClean="0"/>
              <a:t>属性名 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属性值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 marL="0" indent="0">
              <a:buFont typeface="Arial" panose="020B0604020202090204" pitchFamily="34" charset="0"/>
              <a:buNone/>
            </a:pPr>
            <a:r>
              <a:rPr lang="en-US" altLang="zh-CN" sz="2400" dirty="0" smtClean="0"/>
              <a:t>   </a:t>
            </a:r>
            <a:r>
              <a:rPr lang="zh-CN" altLang="en-US" sz="2400" dirty="0" smtClean="0"/>
              <a:t>属性名 </a:t>
            </a:r>
            <a:r>
              <a:rPr lang="en-US" altLang="zh-CN" sz="2400" dirty="0" smtClean="0"/>
              <a:t>: </a:t>
            </a:r>
            <a:r>
              <a:rPr lang="zh-CN" altLang="en-US" sz="2400" dirty="0" smtClean="0"/>
              <a:t>属性值</a:t>
            </a:r>
            <a:r>
              <a:rPr lang="en-US" altLang="zh-CN" sz="2400" dirty="0" smtClean="0"/>
              <a:t>;</a:t>
            </a:r>
            <a:endParaRPr lang="en-US" altLang="zh-CN" sz="2400" dirty="0" smtClean="0"/>
          </a:p>
          <a:p>
            <a:pPr marL="0" indent="0">
              <a:buFont typeface="Arial" panose="020B0604020202090204" pitchFamily="34" charset="0"/>
              <a:buNone/>
            </a:pPr>
            <a:r>
              <a:rPr lang="en-US" altLang="zh-CN" sz="2400" dirty="0" smtClean="0"/>
              <a:t>   ……</a:t>
            </a:r>
            <a:endParaRPr lang="en-US" altLang="zh-CN" sz="2400" dirty="0" smtClean="0"/>
          </a:p>
          <a:p>
            <a:pPr marL="0" indent="0">
              <a:buFont typeface="Arial" panose="020B0604020202090204" pitchFamily="34" charset="0"/>
              <a:buNone/>
            </a:pPr>
            <a:r>
              <a:rPr lang="en-US" altLang="zh-CN" sz="2400" dirty="0" smtClean="0"/>
              <a:t>}</a:t>
            </a:r>
            <a:endParaRPr lang="en-US" altLang="zh-CN" sz="2400" dirty="0" smtClean="0"/>
          </a:p>
          <a:p>
            <a:pPr marL="0" indent="0">
              <a:buFont typeface="Arial" panose="020B0604020202090204" pitchFamily="34" charset="0"/>
              <a:buNone/>
            </a:pPr>
            <a:endParaRPr lang="en-US" altLang="zh-CN" sz="2400" dirty="0" smtClean="0"/>
          </a:p>
          <a:p>
            <a:pPr marL="0" indent="0">
              <a:buFont typeface="Arial" panose="020B0604020202090204" pitchFamily="34" charset="0"/>
              <a:buNone/>
            </a:pPr>
            <a:r>
              <a:rPr lang="zh-CN" altLang="en-US" sz="2400" dirty="0" smtClean="0"/>
              <a:t>不区分大小写</a:t>
            </a:r>
            <a:endParaRPr lang="zh-CN" altLang="en-US" sz="2400" dirty="0" smtClean="0"/>
          </a:p>
          <a:p>
            <a:pPr marL="0" indent="0">
              <a:buFont typeface="Arial" panose="020B0604020202090204" pitchFamily="34" charset="0"/>
              <a:buNone/>
            </a:pPr>
            <a:endParaRPr lang="zh-CN" altLang="en-US" sz="24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6335" y="1325562"/>
            <a:ext cx="7496175" cy="42767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37737" y="1033331"/>
            <a:ext cx="10515600" cy="4854575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 smtClean="0"/>
              <a:t>例：应用</a:t>
            </a:r>
            <a:r>
              <a:rPr lang="en-US" altLang="zh-CN" sz="2400" dirty="0"/>
              <a:t>CSS</a:t>
            </a:r>
            <a:r>
              <a:rPr lang="zh-CN" altLang="en-US" sz="2400" dirty="0"/>
              <a:t>样式，将网页段落文本设置为统一的</a:t>
            </a:r>
            <a:r>
              <a:rPr lang="en-US" altLang="zh-CN" sz="2400" dirty="0"/>
              <a:t>12</a:t>
            </a:r>
            <a:r>
              <a:rPr lang="zh-CN" altLang="en-US" sz="2400" dirty="0"/>
              <a:t>像素、蓝色、粗体，结果如</a:t>
            </a:r>
            <a:r>
              <a:rPr lang="zh-CN" altLang="en-US" sz="2400" dirty="0" smtClean="0"/>
              <a:t>图所</a:t>
            </a:r>
            <a:r>
              <a:rPr lang="zh-CN" altLang="en-US" sz="2400" dirty="0"/>
              <a:t>示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5537" y="1885361"/>
            <a:ext cx="6057143" cy="134285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75445" y="1923333"/>
            <a:ext cx="1130683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&lt;!doctype html&gt;</a:t>
            </a:r>
            <a:endParaRPr lang="en-US" altLang="zh-CN" sz="1600" dirty="0"/>
          </a:p>
          <a:p>
            <a:r>
              <a:rPr lang="en-US" altLang="zh-CN" sz="1600" dirty="0"/>
              <a:t>&lt;html lang="</a:t>
            </a:r>
            <a:r>
              <a:rPr lang="en-US" altLang="zh-CN" sz="1600" dirty="0" err="1"/>
              <a:t>en</a:t>
            </a:r>
            <a:r>
              <a:rPr lang="en-US" altLang="zh-CN" sz="1600" dirty="0"/>
              <a:t>"&gt;</a:t>
            </a:r>
            <a:endParaRPr lang="en-US" altLang="zh-CN" sz="1600" dirty="0"/>
          </a:p>
          <a:p>
            <a:r>
              <a:rPr lang="en-US" altLang="zh-CN" sz="1600" dirty="0"/>
              <a:t>&lt;head&gt;</a:t>
            </a:r>
            <a:endParaRPr lang="en-US" altLang="zh-CN" sz="1600" dirty="0"/>
          </a:p>
          <a:p>
            <a:r>
              <a:rPr lang="en-US" altLang="zh-CN" sz="1600" dirty="0"/>
              <a:t>	&lt;meta charset="UTF-8"&gt;</a:t>
            </a:r>
            <a:endParaRPr lang="en-US" altLang="zh-CN" sz="1600" dirty="0"/>
          </a:p>
          <a:p>
            <a:r>
              <a:rPr lang="en-US" altLang="zh-CN" sz="1600" dirty="0"/>
              <a:t>	&lt;title&gt;CSS</a:t>
            </a:r>
            <a:r>
              <a:rPr lang="zh-CN" altLang="en-US" sz="1600" dirty="0"/>
              <a:t>语法</a:t>
            </a:r>
            <a:r>
              <a:rPr lang="en-US" altLang="zh-CN" sz="1600" dirty="0"/>
              <a:t>&lt;/title&gt;</a:t>
            </a:r>
            <a:endParaRPr lang="en-US" altLang="zh-CN" sz="1600" dirty="0"/>
          </a:p>
          <a:p>
            <a:r>
              <a:rPr lang="en-US" altLang="zh-CN" sz="1600" dirty="0"/>
              <a:t>	&lt;style&gt;</a:t>
            </a:r>
            <a:endParaRPr lang="en-US" altLang="zh-CN" sz="1600" dirty="0"/>
          </a:p>
          <a:p>
            <a:r>
              <a:rPr lang="en-US" altLang="zh-CN" sz="1600" dirty="0"/>
              <a:t>	p{</a:t>
            </a:r>
            <a:endParaRPr lang="en-US" altLang="zh-CN" sz="1600" dirty="0"/>
          </a:p>
          <a:p>
            <a:r>
              <a:rPr lang="en-US" altLang="zh-CN" sz="1600" dirty="0"/>
              <a:t>	   font-size:12px;    /*</a:t>
            </a:r>
            <a:r>
              <a:rPr lang="zh-CN" altLang="en-US" sz="1600" dirty="0"/>
              <a:t>字号*</a:t>
            </a:r>
            <a:r>
              <a:rPr lang="en-US" altLang="zh-CN" sz="1600" dirty="0"/>
              <a:t>/</a:t>
            </a:r>
            <a:endParaRPr lang="en-US" altLang="zh-CN" sz="1600" dirty="0"/>
          </a:p>
          <a:p>
            <a:r>
              <a:rPr lang="en-US" altLang="zh-CN" sz="1600" dirty="0"/>
              <a:t>	   </a:t>
            </a:r>
            <a:r>
              <a:rPr lang="en-US" altLang="zh-CN" sz="1600" dirty="0" err="1"/>
              <a:t>color:blue</a:t>
            </a:r>
            <a:r>
              <a:rPr lang="en-US" altLang="zh-CN" sz="1600" dirty="0"/>
              <a:t>;        /*</a:t>
            </a:r>
            <a:r>
              <a:rPr lang="zh-CN" altLang="en-US" sz="1600" dirty="0"/>
              <a:t>文字颜色*</a:t>
            </a:r>
            <a:r>
              <a:rPr lang="en-US" altLang="zh-CN" sz="1600" dirty="0"/>
              <a:t>/</a:t>
            </a:r>
            <a:endParaRPr lang="en-US" altLang="zh-CN" sz="1600" dirty="0"/>
          </a:p>
          <a:p>
            <a:r>
              <a:rPr lang="en-US" altLang="zh-CN" sz="1600" dirty="0"/>
              <a:t>	   </a:t>
            </a:r>
            <a:r>
              <a:rPr lang="en-US" altLang="zh-CN" sz="1600" dirty="0" err="1"/>
              <a:t>font-weight:bold</a:t>
            </a:r>
            <a:r>
              <a:rPr lang="en-US" altLang="zh-CN" sz="1600" dirty="0"/>
              <a:t>;  /*</a:t>
            </a:r>
            <a:r>
              <a:rPr lang="zh-CN" altLang="en-US" sz="1600" dirty="0"/>
              <a:t>加粗*</a:t>
            </a:r>
            <a:r>
              <a:rPr lang="en-US" altLang="zh-CN" sz="1600" dirty="0"/>
              <a:t>/</a:t>
            </a:r>
            <a:endParaRPr lang="en-US" altLang="zh-CN" sz="1600" dirty="0"/>
          </a:p>
          <a:p>
            <a:r>
              <a:rPr lang="en-US" altLang="zh-CN" sz="1600" dirty="0"/>
              <a:t>	}</a:t>
            </a:r>
            <a:endParaRPr lang="en-US" altLang="zh-CN" sz="1600" dirty="0"/>
          </a:p>
          <a:p>
            <a:r>
              <a:rPr lang="en-US" altLang="zh-CN" sz="1600" dirty="0"/>
              <a:t>	&lt;/style&gt;</a:t>
            </a:r>
            <a:endParaRPr lang="en-US" altLang="zh-CN" sz="1600" dirty="0"/>
          </a:p>
          <a:p>
            <a:r>
              <a:rPr lang="en-US" altLang="zh-CN" sz="1600" dirty="0"/>
              <a:t>&lt;/head&gt;</a:t>
            </a:r>
            <a:endParaRPr lang="en-US" altLang="zh-CN" sz="1600" dirty="0"/>
          </a:p>
          <a:p>
            <a:r>
              <a:rPr lang="en-US" altLang="zh-CN" sz="1600" dirty="0"/>
              <a:t>&lt;body&gt;</a:t>
            </a:r>
            <a:endParaRPr lang="en-US" altLang="zh-CN" sz="1600" dirty="0"/>
          </a:p>
          <a:p>
            <a:r>
              <a:rPr lang="en-US" altLang="zh-CN" sz="1600" dirty="0"/>
              <a:t>	&lt;p&gt;</a:t>
            </a:r>
            <a:r>
              <a:rPr lang="zh-CN" altLang="en-US" sz="1600" dirty="0"/>
              <a:t>天使投资指早期投资，尤其指个人早期投资。</a:t>
            </a:r>
            <a:r>
              <a:rPr lang="en-US" altLang="zh-CN" sz="1600" dirty="0"/>
              <a:t>&lt;/p&gt;</a:t>
            </a:r>
            <a:endParaRPr lang="en-US" altLang="zh-CN" sz="1600" dirty="0"/>
          </a:p>
          <a:p>
            <a:r>
              <a:rPr lang="en-US" altLang="zh-CN" sz="1600" dirty="0"/>
              <a:t>	&lt;p&gt;VC</a:t>
            </a:r>
            <a:r>
              <a:rPr lang="zh-CN" altLang="en-US" sz="1600" dirty="0"/>
              <a:t>，</a:t>
            </a:r>
            <a:r>
              <a:rPr lang="en-US" altLang="zh-CN" sz="1600" dirty="0"/>
              <a:t>Venture Capital</a:t>
            </a:r>
            <a:r>
              <a:rPr lang="zh-CN" altLang="en-US" sz="1600" dirty="0"/>
              <a:t>，所谓风险投资、创业投资，是相对靠前的非公开市场股权投资。</a:t>
            </a:r>
            <a:r>
              <a:rPr lang="en-US" altLang="zh-CN" sz="1600" dirty="0"/>
              <a:t>&lt;/p&gt;</a:t>
            </a:r>
            <a:endParaRPr lang="en-US" altLang="zh-CN" sz="1600" dirty="0"/>
          </a:p>
          <a:p>
            <a:r>
              <a:rPr lang="en-US" altLang="zh-CN" sz="1600" dirty="0"/>
              <a:t>	&lt;p&gt;PE, Private Equity,</a:t>
            </a:r>
            <a:r>
              <a:rPr lang="zh-CN" altLang="en-US" sz="1600" dirty="0"/>
              <a:t>所谓私募资本、非公开市场资本，既是私募股权投资的统称，又特指相对 </a:t>
            </a:r>
            <a:endParaRPr lang="en-US" altLang="zh-CN" sz="1600" dirty="0"/>
          </a:p>
          <a:p>
            <a:r>
              <a:rPr lang="en-US" altLang="zh-CN" sz="1600" dirty="0"/>
              <a:t>                           </a:t>
            </a:r>
            <a:r>
              <a:rPr lang="zh-CN" altLang="en-US" sz="1600" dirty="0"/>
              <a:t>靠后的股权投资。</a:t>
            </a:r>
            <a:r>
              <a:rPr lang="en-US" altLang="zh-CN" sz="1600" dirty="0"/>
              <a:t>&lt;/p&gt;</a:t>
            </a:r>
            <a:endParaRPr lang="en-US" altLang="zh-CN" sz="1600" dirty="0"/>
          </a:p>
          <a:p>
            <a:r>
              <a:rPr lang="en-US" altLang="zh-CN" sz="1600" dirty="0"/>
              <a:t>&lt;/body&gt;</a:t>
            </a:r>
            <a:endParaRPr lang="en-US" altLang="zh-CN" sz="1600" dirty="0"/>
          </a:p>
          <a:p>
            <a:r>
              <a:rPr lang="en-US" altLang="zh-CN" sz="1600" dirty="0"/>
              <a:t>&lt;/html&gt;</a:t>
            </a:r>
            <a:endParaRPr lang="en-US" altLang="zh-CN" sz="1600" dirty="0"/>
          </a:p>
        </p:txBody>
      </p:sp>
      <p:sp>
        <p:nvSpPr>
          <p:cNvPr id="4" name="下箭头 3"/>
          <p:cNvSpPr/>
          <p:nvPr/>
        </p:nvSpPr>
        <p:spPr>
          <a:xfrm rot="4347505">
            <a:off x="4802978" y="3405301"/>
            <a:ext cx="248494" cy="918550"/>
          </a:xfrm>
          <a:prstGeom prst="down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845127" y="1325562"/>
            <a:ext cx="10515600" cy="4854575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/>
              <a:t>涉及的</a:t>
            </a:r>
            <a:r>
              <a:rPr lang="en-US" altLang="zh-CN" sz="2400" dirty="0"/>
              <a:t>CSS</a:t>
            </a:r>
            <a:r>
              <a:rPr lang="zh-CN" altLang="en-US" sz="2400" dirty="0"/>
              <a:t>样式如</a:t>
            </a:r>
            <a:r>
              <a:rPr lang="zh-CN" altLang="en-US" sz="2400" dirty="0" smtClean="0"/>
              <a:t>图所</a:t>
            </a:r>
            <a:r>
              <a:rPr lang="zh-CN" altLang="en-US" sz="2400" dirty="0"/>
              <a:t>示。其中：</a:t>
            </a: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）选择器名称为</a:t>
            </a:r>
            <a:r>
              <a:rPr lang="en-US" altLang="zh-CN" sz="2400" dirty="0" smtClean="0"/>
              <a:t>p</a:t>
            </a:r>
            <a:r>
              <a:rPr lang="zh-CN" altLang="en-US" sz="2400" dirty="0" smtClean="0"/>
              <a:t>，则</a:t>
            </a:r>
            <a:r>
              <a:rPr lang="zh-CN" altLang="en-US" sz="2400" dirty="0"/>
              <a:t>所有</a:t>
            </a:r>
            <a:r>
              <a:rPr lang="en-US" altLang="zh-CN" sz="2400" dirty="0"/>
              <a:t>p</a:t>
            </a:r>
            <a:r>
              <a:rPr lang="zh-CN" altLang="en-US" sz="2400" dirty="0"/>
              <a:t>元素内容都被选择出来，文字被设置为相同的样式。</a:t>
            </a: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）属性值不用加双引号，但如果值为若干单词，则要给属性值加双引号，例如，</a:t>
            </a: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/>
              <a:t> </a:t>
            </a:r>
            <a:r>
              <a:rPr lang="en-US" altLang="zh-CN" sz="2400" dirty="0"/>
              <a:t>font-family: "sans serif";</a:t>
            </a:r>
            <a:endParaRPr lang="en-US" altLang="zh-CN" sz="24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3542" y="3865641"/>
            <a:ext cx="5467185" cy="277065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686101" y="979875"/>
            <a:ext cx="11121586" cy="5738977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/>
              <a:t>CSS</a:t>
            </a:r>
            <a:r>
              <a:rPr lang="zh-CN" altLang="en-US" sz="2000" dirty="0"/>
              <a:t>样式添加方式分为</a:t>
            </a:r>
            <a:r>
              <a:rPr lang="zh-CN" altLang="en-US" sz="2000" b="1" dirty="0"/>
              <a:t>行内样式、内嵌样式、外部样式</a:t>
            </a:r>
            <a:r>
              <a:rPr lang="zh-CN" altLang="en-US" sz="2000" dirty="0"/>
              <a:t>表样式。不同添加方式的位置不同，作用范围不同，优先级</a:t>
            </a:r>
            <a:r>
              <a:rPr lang="zh-CN" altLang="en-US" sz="2000" dirty="0" smtClean="0"/>
              <a:t>也不同。</a:t>
            </a:r>
            <a:endParaRPr lang="en-US" altLang="zh-CN" sz="2000" dirty="0" smtClean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/>
              <a:t>1</a:t>
            </a:r>
            <a:r>
              <a:rPr lang="zh-CN" altLang="en-US" sz="2000" dirty="0"/>
              <a:t>、行内样式</a:t>
            </a:r>
            <a:endParaRPr lang="zh-CN" alt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u="sng" dirty="0"/>
              <a:t>&lt;</a:t>
            </a:r>
            <a:r>
              <a:rPr lang="zh-CN" altLang="en-US" sz="2000" u="sng" dirty="0"/>
              <a:t>标签 </a:t>
            </a:r>
            <a:r>
              <a:rPr lang="en-US" altLang="zh-CN" sz="2000" u="sng" dirty="0"/>
              <a:t>style = "</a:t>
            </a:r>
            <a:r>
              <a:rPr lang="zh-CN" altLang="en-US" sz="2000" u="sng" dirty="0"/>
              <a:t>属性名 </a:t>
            </a:r>
            <a:r>
              <a:rPr lang="en-US" altLang="zh-CN" sz="2000" u="sng" dirty="0"/>
              <a:t>: </a:t>
            </a:r>
            <a:r>
              <a:rPr lang="zh-CN" altLang="en-US" sz="2000" u="sng" dirty="0"/>
              <a:t>属性值 </a:t>
            </a:r>
            <a:r>
              <a:rPr lang="en-US" altLang="zh-CN" sz="2000" u="sng" dirty="0"/>
              <a:t>; </a:t>
            </a:r>
            <a:r>
              <a:rPr lang="zh-CN" altLang="en-US" sz="2000" u="sng" dirty="0"/>
              <a:t>属性名 </a:t>
            </a:r>
            <a:r>
              <a:rPr lang="en-US" altLang="zh-CN" sz="2000" u="sng" dirty="0"/>
              <a:t>: </a:t>
            </a:r>
            <a:r>
              <a:rPr lang="zh-CN" altLang="en-US" sz="2000" u="sng" dirty="0"/>
              <a:t>属性值 </a:t>
            </a:r>
            <a:r>
              <a:rPr lang="en-US" altLang="zh-CN" sz="2000" u="sng" dirty="0" smtClean="0"/>
              <a:t>;……"&gt;</a:t>
            </a:r>
            <a:endParaRPr lang="en-US" altLang="zh-CN" sz="2000" u="sng" dirty="0" smtClean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、内嵌</a:t>
            </a:r>
            <a:r>
              <a:rPr lang="zh-CN" altLang="en-US" sz="2000" dirty="0" smtClean="0"/>
              <a:t>样式</a:t>
            </a:r>
            <a:endParaRPr lang="en-US" altLang="zh-CN" sz="2000" dirty="0" smtClean="0"/>
          </a:p>
          <a:p>
            <a:pPr marL="0" indent="0">
              <a:lnSpc>
                <a:spcPct val="130000"/>
              </a:lnSpc>
              <a:buNone/>
            </a:pPr>
            <a:endParaRPr lang="en-US" altLang="zh-CN" sz="2000" dirty="0" smtClean="0"/>
          </a:p>
          <a:p>
            <a:pPr marL="0" indent="0">
              <a:lnSpc>
                <a:spcPct val="130000"/>
              </a:lnSpc>
              <a:buNone/>
            </a:pPr>
            <a:endParaRPr lang="en-US" altLang="zh-CN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000" dirty="0" smtClean="0"/>
              <a:t>3</a:t>
            </a:r>
            <a:r>
              <a:rPr lang="zh-CN" altLang="en-US" sz="2000" dirty="0"/>
              <a:t>、单独</a:t>
            </a:r>
            <a:r>
              <a:rPr lang="zh-CN" altLang="en-US" sz="2000" dirty="0" smtClean="0"/>
              <a:t>文件</a:t>
            </a:r>
            <a:endParaRPr lang="en-US" altLang="zh-CN" sz="2000" dirty="0" smtClean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000" dirty="0"/>
              <a:t>如果多个页面需要统一设置公共的样式，则应将样式定义在单独的样式表文件里，并在相关的网页中引用这个文件。</a:t>
            </a:r>
            <a:endParaRPr lang="zh-CN" altLang="en-US" sz="2000" dirty="0"/>
          </a:p>
          <a:p>
            <a:pPr marL="0" indent="0">
              <a:lnSpc>
                <a:spcPct val="130000"/>
              </a:lnSpc>
              <a:buNone/>
            </a:pPr>
            <a:endParaRPr lang="zh-CN" altLang="en-US" sz="2000" dirty="0"/>
          </a:p>
          <a:p>
            <a:pPr marL="0" indent="0">
              <a:lnSpc>
                <a:spcPct val="130000"/>
              </a:lnSpc>
              <a:buNone/>
            </a:pPr>
            <a:endParaRPr lang="zh-CN" altLang="en-US" sz="2000" dirty="0" smtClean="0"/>
          </a:p>
          <a:p>
            <a:pPr marL="0" indent="0">
              <a:lnSpc>
                <a:spcPct val="130000"/>
              </a:lnSpc>
              <a:buNone/>
            </a:pPr>
            <a:endParaRPr lang="zh-CN" altLang="en-US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1889" y="1510352"/>
            <a:ext cx="4556712" cy="111315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889" y="2668829"/>
            <a:ext cx="3372376" cy="2246244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870" y="5477427"/>
            <a:ext cx="6021553" cy="1307848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、元素</a:t>
            </a:r>
            <a:r>
              <a:rPr lang="zh-CN" altLang="en-US" sz="2400" dirty="0"/>
              <a:t>选择器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元素选择器也称为标签选择器，选择器名称就是标签名称。元素选择器将对特定标签的元素进行样式设置。例如，如下代码设置</a:t>
            </a:r>
            <a:r>
              <a:rPr lang="en-US" altLang="zh-CN" sz="2400" dirty="0"/>
              <a:t>p</a:t>
            </a:r>
            <a:r>
              <a:rPr lang="zh-CN" altLang="en-US" sz="2400" dirty="0"/>
              <a:t>元素与</a:t>
            </a:r>
            <a:r>
              <a:rPr lang="en-US" altLang="zh-CN" sz="2400" dirty="0"/>
              <a:t>h1</a:t>
            </a:r>
            <a:r>
              <a:rPr lang="zh-CN" altLang="en-US" sz="2400" dirty="0"/>
              <a:t>元素样式。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845127" y="2794976"/>
            <a:ext cx="45463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p{  </a:t>
            </a:r>
            <a:endParaRPr lang="zh-CN" altLang="zh-CN" sz="2400" dirty="0"/>
          </a:p>
          <a:p>
            <a:r>
              <a:rPr lang="en-US" altLang="zh-CN" sz="2400" dirty="0"/>
              <a:t>      font-family:</a:t>
            </a:r>
            <a:r>
              <a:rPr lang="zh-CN" altLang="zh-CN" sz="2400" dirty="0"/>
              <a:t>黑体</a:t>
            </a:r>
            <a:r>
              <a:rPr lang="en-US" altLang="zh-CN" sz="2400" dirty="0"/>
              <a:t>;</a:t>
            </a:r>
            <a:endParaRPr lang="zh-CN" altLang="zh-CN" sz="2400" dirty="0"/>
          </a:p>
          <a:p>
            <a:r>
              <a:rPr lang="en-US" altLang="zh-CN" sz="2400" dirty="0"/>
              <a:t>      font-size:16px;</a:t>
            </a:r>
            <a:endParaRPr lang="zh-CN" altLang="zh-CN" sz="2400" dirty="0"/>
          </a:p>
          <a:p>
            <a:r>
              <a:rPr lang="en-US" altLang="zh-CN" sz="2400" dirty="0"/>
              <a:t>      color: red;</a:t>
            </a:r>
            <a:endParaRPr lang="zh-CN" altLang="zh-CN" sz="2400" dirty="0"/>
          </a:p>
          <a:p>
            <a:r>
              <a:rPr lang="en-US" altLang="zh-CN" sz="2400" dirty="0"/>
              <a:t>    }    </a:t>
            </a:r>
            <a:endParaRPr lang="zh-CN" altLang="zh-CN" sz="2400" dirty="0"/>
          </a:p>
          <a:p>
            <a:r>
              <a:rPr lang="en-US" altLang="zh-CN" sz="2400" dirty="0"/>
              <a:t>    h1{ </a:t>
            </a:r>
            <a:endParaRPr lang="zh-CN" altLang="zh-CN" sz="2400" dirty="0"/>
          </a:p>
          <a:p>
            <a:r>
              <a:rPr lang="en-US" altLang="zh-CN" sz="2400" dirty="0"/>
              <a:t>      font-family: </a:t>
            </a:r>
            <a:r>
              <a:rPr lang="zh-CN" altLang="zh-CN" sz="2400" dirty="0"/>
              <a:t>黑体</a:t>
            </a:r>
            <a:r>
              <a:rPr lang="en-US" altLang="zh-CN" sz="2400" dirty="0"/>
              <a:t>;</a:t>
            </a:r>
            <a:endParaRPr lang="zh-CN" altLang="zh-CN" sz="2400" dirty="0"/>
          </a:p>
          <a:p>
            <a:r>
              <a:rPr lang="en-US" altLang="zh-CN" sz="2400" dirty="0"/>
              <a:t>      font-size:20px;</a:t>
            </a:r>
            <a:endParaRPr lang="zh-CN" altLang="zh-CN" sz="2400" dirty="0"/>
          </a:p>
          <a:p>
            <a:r>
              <a:rPr lang="en-US" altLang="zh-CN" sz="2400" dirty="0"/>
              <a:t>    }</a:t>
            </a:r>
            <a:endParaRPr lang="zh-CN" altLang="zh-CN" sz="2400" dirty="0"/>
          </a:p>
          <a:p>
            <a:endParaRPr lang="zh-CN" altLang="en-US" sz="2400" dirty="0"/>
          </a:p>
        </p:txBody>
      </p:sp>
      <p:sp>
        <p:nvSpPr>
          <p:cNvPr id="6" name="矩形 5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/>
              <a:t>、类选择器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）基本</a:t>
            </a:r>
            <a:r>
              <a:rPr lang="zh-CN" altLang="en-US" sz="2400" dirty="0"/>
              <a:t>使用方法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类选择器名称以</a:t>
            </a:r>
            <a:r>
              <a:rPr lang="zh-CN" altLang="en-US" sz="2400" dirty="0">
                <a:solidFill>
                  <a:srgbClr val="FF0000"/>
                </a:solidFill>
              </a:rPr>
              <a:t>圆点</a:t>
            </a:r>
            <a:r>
              <a:rPr lang="en-US" altLang="zh-CN" sz="2400" dirty="0">
                <a:solidFill>
                  <a:srgbClr val="FF0000"/>
                </a:solidFill>
              </a:rPr>
              <a:t>.</a:t>
            </a:r>
            <a:r>
              <a:rPr lang="zh-CN" altLang="en-US" sz="2400" dirty="0"/>
              <a:t>开头，在元素中用</a:t>
            </a:r>
            <a:r>
              <a:rPr lang="en-US" altLang="zh-CN" sz="2400" dirty="0"/>
              <a:t>class</a:t>
            </a:r>
            <a:r>
              <a:rPr lang="zh-CN" altLang="en-US" sz="2400" dirty="0"/>
              <a:t>属性引用。类选择器将筛选出应用了这一类别的元素。类选择器名称可能被</a:t>
            </a:r>
            <a:r>
              <a:rPr lang="en-US" altLang="zh-CN" sz="2400" dirty="0"/>
              <a:t>JavaScript</a:t>
            </a:r>
            <a:r>
              <a:rPr lang="zh-CN" altLang="en-US" sz="2400" dirty="0"/>
              <a:t>引用，大小写敏感</a:t>
            </a:r>
            <a:r>
              <a:rPr lang="zh-CN" altLang="en-US" sz="2400" dirty="0" smtClean="0"/>
              <a:t>。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例如，</a:t>
            </a:r>
            <a:r>
              <a:rPr lang="en-US" altLang="zh-CN" sz="2400" dirty="0"/>
              <a:t>CSS</a:t>
            </a:r>
            <a:r>
              <a:rPr lang="zh-CN" altLang="en-US" sz="2400" dirty="0"/>
              <a:t>样式定义类选择器</a:t>
            </a:r>
            <a:r>
              <a:rPr lang="en-US" altLang="zh-CN" sz="2400" dirty="0"/>
              <a:t>big</a:t>
            </a:r>
            <a:r>
              <a:rPr lang="zh-CN" altLang="en-US" sz="2400" dirty="0"/>
              <a:t>，</a:t>
            </a:r>
            <a:r>
              <a:rPr lang="en-US" altLang="zh-CN" sz="2400" dirty="0"/>
              <a:t>CSS</a:t>
            </a:r>
            <a:r>
              <a:rPr lang="zh-CN" altLang="en-US" sz="2400" dirty="0"/>
              <a:t>代码如下。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.big{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        font-size:20px;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}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则</a:t>
            </a:r>
            <a:r>
              <a:rPr lang="en-US" altLang="zh-CN" sz="2400" dirty="0"/>
              <a:t>HTML</a:t>
            </a:r>
            <a:r>
              <a:rPr lang="zh-CN" altLang="en-US" sz="2400" dirty="0"/>
              <a:t>元素引用该样式，其中两个段落将文字设置为</a:t>
            </a:r>
            <a:r>
              <a:rPr lang="en-US" altLang="zh-CN" sz="2400" dirty="0"/>
              <a:t>20px</a:t>
            </a:r>
            <a:r>
              <a:rPr lang="zh-CN" altLang="en-US" sz="2400" dirty="0"/>
              <a:t>，代码如下。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&lt;p class="big"&gt;HTML&lt;/p&gt;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&lt;p&gt;</a:t>
            </a:r>
            <a:r>
              <a:rPr lang="zh-CN" altLang="en-US" sz="2400" dirty="0"/>
              <a:t>超文本标记语言</a:t>
            </a:r>
            <a:r>
              <a:rPr lang="en-US" altLang="zh-CN" sz="2400" dirty="0"/>
              <a:t>&lt;/p&gt;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&lt;p class="big"&gt;CSS&lt;/p&gt;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&lt;p&gt;</a:t>
            </a:r>
            <a:r>
              <a:rPr lang="zh-CN" altLang="en-US" sz="2400" dirty="0"/>
              <a:t>层叠样式表</a:t>
            </a:r>
            <a:r>
              <a:rPr lang="en-US" altLang="zh-CN" sz="2400" dirty="0"/>
              <a:t>&lt;/p</a:t>
            </a:r>
            <a:r>
              <a:rPr lang="en-US" altLang="zh-CN" sz="2400" dirty="0" smtClean="0"/>
              <a:t>&gt;</a:t>
            </a: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3108" y="2716502"/>
            <a:ext cx="2321690" cy="20929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590" y="5076825"/>
            <a:ext cx="1990725" cy="1781175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0" name="矩形 9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/>
              <a:t>、类</a:t>
            </a:r>
            <a:r>
              <a:rPr lang="zh-CN" altLang="en-US" sz="2400" dirty="0" smtClean="0"/>
              <a:t>选择器</a:t>
            </a:r>
            <a:endParaRPr lang="en-US" altLang="zh-CN" sz="2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）类</a:t>
            </a:r>
            <a:r>
              <a:rPr lang="zh-CN" altLang="en-US" sz="2400" dirty="0"/>
              <a:t>选择器与元素选择器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 </a:t>
            </a:r>
            <a:r>
              <a:rPr lang="zh-CN" altLang="en-US" sz="2400" dirty="0" smtClean="0"/>
              <a:t>类</a:t>
            </a:r>
            <a:r>
              <a:rPr lang="zh-CN" altLang="en-US" sz="2400" dirty="0"/>
              <a:t>选择器与元素选择器可以配合使用，表示引用了该类的元素所定义的样式。例如，设置段落文本为</a:t>
            </a:r>
            <a:r>
              <a:rPr lang="en-US" altLang="zh-CN" sz="2400" dirty="0"/>
              <a:t>20px</a:t>
            </a:r>
            <a:r>
              <a:rPr lang="zh-CN" altLang="en-US" sz="2400" dirty="0"/>
              <a:t>，</a:t>
            </a:r>
            <a:r>
              <a:rPr lang="en-US" altLang="zh-CN" sz="2400" dirty="0"/>
              <a:t>CSS</a:t>
            </a:r>
            <a:r>
              <a:rPr lang="zh-CN" altLang="en-US" sz="2400" dirty="0"/>
              <a:t>代码</a:t>
            </a:r>
            <a:r>
              <a:rPr lang="zh-CN" altLang="en-US" sz="2400" dirty="0" smtClean="0"/>
              <a:t>如下：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err="1"/>
              <a:t>p.big</a:t>
            </a:r>
            <a:r>
              <a:rPr lang="en-US" altLang="zh-CN" sz="2400" dirty="0"/>
              <a:t> {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    font-size: 20px;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}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则引用该样式的</a:t>
            </a:r>
            <a:r>
              <a:rPr lang="en-US" altLang="zh-CN" sz="2400" dirty="0"/>
              <a:t>p</a:t>
            </a:r>
            <a:r>
              <a:rPr lang="zh-CN" altLang="en-US" sz="2400" dirty="0"/>
              <a:t>元素字号设置为</a:t>
            </a:r>
            <a:r>
              <a:rPr lang="en-US" altLang="zh-CN" sz="2400" dirty="0"/>
              <a:t>20</a:t>
            </a:r>
            <a:r>
              <a:rPr lang="zh-CN" altLang="en-US" sz="2400" dirty="0"/>
              <a:t>像素，</a:t>
            </a:r>
            <a:r>
              <a:rPr lang="en-US" altLang="zh-CN" sz="2400" dirty="0"/>
              <a:t>div</a:t>
            </a:r>
            <a:r>
              <a:rPr lang="zh-CN" altLang="en-US" sz="2400" dirty="0"/>
              <a:t>元素中文字未设置该样式，</a:t>
            </a:r>
            <a:r>
              <a:rPr lang="en-US" altLang="zh-CN" sz="2400" dirty="0"/>
              <a:t>HTML</a:t>
            </a:r>
            <a:r>
              <a:rPr lang="zh-CN" altLang="en-US" sz="2400" dirty="0"/>
              <a:t>代码如下。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&lt;p class="big"&gt;HTML&lt;/p&gt;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&lt;div class="big"&gt;</a:t>
            </a:r>
            <a:r>
              <a:rPr lang="zh-CN" altLang="en-US" sz="2400" dirty="0"/>
              <a:t>超文本标记语言</a:t>
            </a:r>
            <a:r>
              <a:rPr lang="en-US" altLang="zh-CN" sz="2400" dirty="0"/>
              <a:t>&lt;/div&gt;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 smtClean="0"/>
          </a:p>
        </p:txBody>
      </p:sp>
      <p:cxnSp>
        <p:nvCxnSpPr>
          <p:cNvPr id="6" name="直接连接符 5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2</a:t>
            </a:r>
            <a:r>
              <a:rPr lang="zh-CN" altLang="en-US" sz="2400" dirty="0"/>
              <a:t>、类</a:t>
            </a:r>
            <a:r>
              <a:rPr lang="zh-CN" altLang="en-US" sz="2400" dirty="0" smtClean="0"/>
              <a:t>选择器</a:t>
            </a:r>
            <a:endParaRPr lang="en-US" altLang="zh-CN" sz="2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3</a:t>
            </a:r>
            <a:r>
              <a:rPr lang="zh-CN" altLang="en-US" sz="2400" dirty="0"/>
              <a:t>）多类选择器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选择器可以是多个类选择器，引用时也可以空格将</a:t>
            </a:r>
            <a:r>
              <a:rPr lang="en-US" altLang="zh-CN" sz="2400" dirty="0"/>
              <a:t>class</a:t>
            </a:r>
            <a:r>
              <a:rPr lang="zh-CN" altLang="en-US" sz="2400" dirty="0"/>
              <a:t>属性取值隔开。例如定义样式</a:t>
            </a:r>
            <a:r>
              <a:rPr lang="en-US" altLang="zh-CN" sz="2400" dirty="0"/>
              <a:t>.</a:t>
            </a:r>
            <a:r>
              <a:rPr lang="en-US" altLang="zh-CN" sz="2400" dirty="0" err="1"/>
              <a:t>big.red</a:t>
            </a:r>
            <a:r>
              <a:rPr lang="zh-CN" altLang="en-US" sz="2400" dirty="0"/>
              <a:t>表示同时引用这两种样式的元素背景会呈现灰色，</a:t>
            </a:r>
            <a:r>
              <a:rPr lang="en-US" altLang="zh-CN" sz="2400" dirty="0"/>
              <a:t>CSS</a:t>
            </a:r>
            <a:r>
              <a:rPr lang="zh-CN" altLang="en-US" sz="2400" dirty="0"/>
              <a:t>代码如下。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 smtClean="0"/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 smtClean="0"/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 smtClean="0"/>
              <a:t>将</a:t>
            </a:r>
            <a:r>
              <a:rPr lang="zh-CN" altLang="en-US" sz="2400" dirty="0"/>
              <a:t>段落文字设置为</a:t>
            </a:r>
            <a:r>
              <a:rPr lang="en-US" altLang="zh-CN" sz="2400" dirty="0"/>
              <a:t>20</a:t>
            </a:r>
            <a:r>
              <a:rPr lang="zh-CN" altLang="en-US" sz="2400" dirty="0"/>
              <a:t>像素、红色、背景灰色则可以添加如下</a:t>
            </a:r>
            <a:r>
              <a:rPr lang="en-US" altLang="zh-CN" sz="2400" dirty="0"/>
              <a:t>HTML</a:t>
            </a:r>
            <a:r>
              <a:rPr lang="zh-CN" altLang="en-US" sz="2400" dirty="0"/>
              <a:t>代码实现。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&lt;p class="big red"&gt;HTML&lt;/p&gt;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0202" y="3257504"/>
            <a:ext cx="2479249" cy="2378467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3</a:t>
            </a:r>
            <a:r>
              <a:rPr lang="zh-CN" altLang="en-US" sz="2400" dirty="0" smtClean="0"/>
              <a:t>、</a:t>
            </a:r>
            <a:r>
              <a:rPr lang="en-US" altLang="zh-CN" sz="2400" dirty="0"/>
              <a:t>ID</a:t>
            </a:r>
            <a:r>
              <a:rPr lang="zh-CN" altLang="en-US" sz="2400" dirty="0"/>
              <a:t>选择器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ID</a:t>
            </a:r>
            <a:r>
              <a:rPr lang="zh-CN" altLang="en-US" sz="2400" dirty="0"/>
              <a:t>选择器名称以</a:t>
            </a:r>
            <a:r>
              <a:rPr lang="en-US" altLang="zh-CN" sz="2400" dirty="0"/>
              <a:t>#</a:t>
            </a:r>
            <a:r>
              <a:rPr lang="zh-CN" altLang="en-US" sz="2400" dirty="0"/>
              <a:t>开头，在元素中用</a:t>
            </a:r>
            <a:r>
              <a:rPr lang="en-US" altLang="zh-CN" sz="2400" dirty="0"/>
              <a:t>id</a:t>
            </a:r>
            <a:r>
              <a:rPr lang="zh-CN" altLang="en-US" sz="2400" dirty="0"/>
              <a:t>属性引用。</a:t>
            </a:r>
            <a:r>
              <a:rPr lang="en-US" altLang="zh-CN" sz="2400" dirty="0"/>
              <a:t>ID</a:t>
            </a:r>
            <a:r>
              <a:rPr lang="zh-CN" altLang="en-US" sz="2400" dirty="0"/>
              <a:t>选择器名称可能被</a:t>
            </a:r>
            <a:r>
              <a:rPr lang="en-US" altLang="zh-CN" sz="2400" dirty="0"/>
              <a:t>JavaScript</a:t>
            </a:r>
            <a:r>
              <a:rPr lang="zh-CN" altLang="en-US" sz="2400" dirty="0"/>
              <a:t>引用，大小写敏感</a:t>
            </a:r>
            <a:r>
              <a:rPr lang="zh-CN" altLang="en-US" sz="2400" dirty="0" smtClean="0"/>
              <a:t>。例如</a:t>
            </a:r>
            <a:r>
              <a:rPr lang="zh-CN" altLang="en-US" sz="2400" dirty="0"/>
              <a:t>，</a:t>
            </a:r>
            <a:r>
              <a:rPr lang="en-US" altLang="zh-CN" sz="2400" dirty="0"/>
              <a:t>CSS</a:t>
            </a:r>
            <a:r>
              <a:rPr lang="zh-CN" altLang="en-US" sz="2400" dirty="0"/>
              <a:t>样式定义</a:t>
            </a:r>
            <a:r>
              <a:rPr lang="en-US" altLang="zh-CN" sz="2400" dirty="0"/>
              <a:t>ID</a:t>
            </a:r>
            <a:r>
              <a:rPr lang="zh-CN" altLang="en-US" sz="2400" dirty="0"/>
              <a:t>选择器</a:t>
            </a:r>
            <a:r>
              <a:rPr lang="en-US" altLang="zh-CN" sz="2400" dirty="0"/>
              <a:t>center</a:t>
            </a:r>
            <a:r>
              <a:rPr lang="zh-CN" altLang="en-US" sz="2400" dirty="0"/>
              <a:t>，使</a:t>
            </a:r>
            <a:r>
              <a:rPr lang="en-US" altLang="zh-CN" sz="2400" dirty="0"/>
              <a:t>div</a:t>
            </a:r>
            <a:r>
              <a:rPr lang="zh-CN" altLang="en-US" sz="2400" dirty="0"/>
              <a:t>区域内容居中显示，</a:t>
            </a:r>
            <a:r>
              <a:rPr lang="en-US" altLang="zh-CN" sz="2400" dirty="0"/>
              <a:t>CSS</a:t>
            </a:r>
            <a:r>
              <a:rPr lang="zh-CN" altLang="en-US" sz="2400" dirty="0"/>
              <a:t>代码</a:t>
            </a:r>
            <a:r>
              <a:rPr lang="zh-CN" altLang="en-US" sz="2400" dirty="0" smtClean="0"/>
              <a:t>如下：</a:t>
            </a:r>
            <a:endParaRPr lang="zh-CN" altLang="en-US" sz="24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#center{</a:t>
            </a:r>
            <a:endParaRPr lang="en-US" altLang="zh-CN" sz="20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        text-align: center;</a:t>
            </a:r>
            <a:endParaRPr lang="en-US" altLang="zh-CN" sz="20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}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则</a:t>
            </a:r>
            <a:r>
              <a:rPr lang="en-US" altLang="zh-CN" sz="2400" dirty="0"/>
              <a:t>HTML</a:t>
            </a:r>
            <a:r>
              <a:rPr lang="zh-CN" altLang="en-US" sz="2400" dirty="0"/>
              <a:t>元素引用该样式，将</a:t>
            </a:r>
            <a:r>
              <a:rPr lang="en-US" altLang="zh-CN" sz="2400" dirty="0"/>
              <a:t>div</a:t>
            </a:r>
            <a:r>
              <a:rPr lang="zh-CN" altLang="en-US" sz="2400" dirty="0"/>
              <a:t>内所有段落居中显示，代码</a:t>
            </a:r>
            <a:r>
              <a:rPr lang="zh-CN" altLang="en-US" sz="2400" dirty="0" smtClean="0"/>
              <a:t>如下：</a:t>
            </a:r>
            <a:endParaRPr lang="zh-CN" altLang="en-US" sz="24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&lt;div id="center"&gt; </a:t>
            </a:r>
            <a:endParaRPr lang="en-US" altLang="zh-CN" sz="20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  &lt;p“&gt;</a:t>
            </a:r>
            <a:r>
              <a:rPr lang="zh-CN" altLang="en-US" sz="2000" dirty="0"/>
              <a:t>前端技术构成</a:t>
            </a:r>
            <a:r>
              <a:rPr lang="en-US" altLang="zh-CN" sz="2000" dirty="0"/>
              <a:t>&lt;/p&gt; &lt;p”&gt;</a:t>
            </a:r>
            <a:r>
              <a:rPr lang="zh-CN" altLang="en-US" sz="2000" dirty="0"/>
              <a:t>前端开发工具</a:t>
            </a:r>
            <a:r>
              <a:rPr lang="en-US" altLang="zh-CN" sz="2000" dirty="0"/>
              <a:t>&lt;/p&gt; </a:t>
            </a:r>
            <a:endParaRPr lang="en-US" altLang="zh-CN" sz="2000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en-US" altLang="zh-CN" sz="2000" dirty="0"/>
              <a:t>&lt;/div&gt;  </a:t>
            </a:r>
            <a:endParaRPr lang="en-US" altLang="zh-CN" sz="20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注意， 类选择器可以多次使用，</a:t>
            </a:r>
            <a:r>
              <a:rPr lang="en-US" altLang="zh-CN" sz="2400" dirty="0"/>
              <a:t>ID</a:t>
            </a:r>
            <a:r>
              <a:rPr lang="zh-CN" altLang="en-US" sz="2400" dirty="0"/>
              <a:t>选择器在当前页面具有唯一性。尽管</a:t>
            </a:r>
            <a:r>
              <a:rPr lang="en-US" altLang="zh-CN" sz="2400" dirty="0"/>
              <a:t>ID</a:t>
            </a:r>
            <a:r>
              <a:rPr lang="zh-CN" altLang="en-US" sz="2400" dirty="0"/>
              <a:t>选择器定义的样式被多次</a:t>
            </a:r>
            <a:r>
              <a:rPr lang="zh-CN" altLang="en-US" sz="2400" dirty="0" smtClean="0"/>
              <a:t>使用，浏览器</a:t>
            </a:r>
            <a:r>
              <a:rPr lang="zh-CN" altLang="en-US" sz="2400" dirty="0"/>
              <a:t>也可以正确解析，但结合</a:t>
            </a:r>
            <a:r>
              <a:rPr lang="en-US" altLang="zh-CN" sz="2400" dirty="0"/>
              <a:t>JavaScript</a:t>
            </a:r>
            <a:r>
              <a:rPr lang="zh-CN" altLang="en-US" sz="2400" dirty="0"/>
              <a:t>定位某个元素时，会有歧义。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 smtClean="0"/>
          </a:p>
        </p:txBody>
      </p:sp>
      <p:cxnSp>
        <p:nvCxnSpPr>
          <p:cNvPr id="6" name="直接连接符 5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【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】</a:t>
            </a:r>
            <a:r>
              <a:rPr lang="zh-CN" altLang="en-US" sz="2400" dirty="0"/>
              <a:t>应用元素选择器、类选择器、</a:t>
            </a:r>
            <a:r>
              <a:rPr lang="en-US" altLang="zh-CN" sz="2400" dirty="0"/>
              <a:t>ID</a:t>
            </a:r>
            <a:r>
              <a:rPr lang="zh-CN" altLang="en-US" sz="2400" dirty="0"/>
              <a:t>选择器完成如</a:t>
            </a:r>
            <a:r>
              <a:rPr lang="zh-CN" altLang="en-US" sz="2400" dirty="0" smtClean="0"/>
              <a:t>图所</a:t>
            </a:r>
            <a:r>
              <a:rPr lang="zh-CN" altLang="en-US" sz="2400" dirty="0"/>
              <a:t>示的页面效果。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4950" y="1949827"/>
            <a:ext cx="4042619" cy="3386648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958778"/>
            <a:ext cx="11146245" cy="589922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4</a:t>
            </a:r>
            <a:r>
              <a:rPr lang="zh-CN" altLang="en-US" sz="2400" dirty="0"/>
              <a:t>、选择器分组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可以用逗号隔开选择器名称，进行选择器分组，这些选择器就可以具有相同的样式。例如下面的代码可以使</a:t>
            </a:r>
            <a:r>
              <a:rPr lang="en-US" altLang="zh-CN" sz="2400" dirty="0"/>
              <a:t>h1</a:t>
            </a:r>
            <a:r>
              <a:rPr lang="zh-CN" altLang="en-US" sz="2400" dirty="0"/>
              <a:t>与</a:t>
            </a:r>
            <a:r>
              <a:rPr lang="en-US" altLang="zh-CN" sz="2400" dirty="0"/>
              <a:t>p</a:t>
            </a:r>
            <a:r>
              <a:rPr lang="zh-CN" altLang="en-US" sz="2400" dirty="0"/>
              <a:t>元素的文本都蓝色显示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 smtClean="0"/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5</a:t>
            </a:r>
            <a:r>
              <a:rPr lang="zh-CN" altLang="en-US" sz="2400" dirty="0"/>
              <a:t>、后代选择器 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后代选择器用空格隔开选择器的名称，表示“</a:t>
            </a:r>
            <a:r>
              <a:rPr lang="en-US" altLang="zh-CN" sz="2400" dirty="0"/>
              <a:t>……</a:t>
            </a:r>
            <a:r>
              <a:rPr lang="zh-CN" altLang="en-US" sz="2400" dirty="0"/>
              <a:t>内的</a:t>
            </a:r>
            <a:r>
              <a:rPr lang="en-US" altLang="zh-CN" sz="2400" dirty="0"/>
              <a:t>……”</a:t>
            </a:r>
            <a:r>
              <a:rPr lang="zh-CN" altLang="en-US" sz="2400" dirty="0"/>
              <a:t>被设置为特定样式。例如可以设置</a:t>
            </a:r>
            <a:r>
              <a:rPr lang="en-US" altLang="zh-CN" sz="2400" dirty="0"/>
              <a:t>p</a:t>
            </a:r>
            <a:r>
              <a:rPr lang="zh-CN" altLang="en-US" sz="2400" dirty="0"/>
              <a:t>元素内的</a:t>
            </a:r>
            <a:r>
              <a:rPr lang="en-US" altLang="zh-CN" sz="2400" dirty="0"/>
              <a:t>strong</a:t>
            </a:r>
            <a:r>
              <a:rPr lang="zh-CN" altLang="en-US" sz="2400" dirty="0"/>
              <a:t>元素文字为蓝色，</a:t>
            </a:r>
            <a:r>
              <a:rPr lang="en-US" altLang="zh-CN" sz="2400" dirty="0"/>
              <a:t>CSS</a:t>
            </a:r>
            <a:r>
              <a:rPr lang="zh-CN" altLang="en-US" sz="2400" dirty="0"/>
              <a:t>代码如下：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p strong {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    color: blue;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}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514404" y="2338729"/>
            <a:ext cx="47340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	h1,p {</a:t>
            </a:r>
            <a:endParaRPr lang="zh-CN" altLang="zh-CN" sz="2400" dirty="0"/>
          </a:p>
          <a:p>
            <a:r>
              <a:rPr lang="en-US" altLang="zh-CN" sz="2400" dirty="0"/>
              <a:t>		color: blue;</a:t>
            </a:r>
            <a:endParaRPr lang="zh-CN" altLang="zh-CN" sz="2400" dirty="0"/>
          </a:p>
          <a:p>
            <a:r>
              <a:rPr lang="en-US" altLang="zh-CN" sz="2400" dirty="0"/>
              <a:t>	}</a:t>
            </a:r>
            <a:endParaRPr lang="zh-CN" altLang="zh-CN" sz="2400" dirty="0"/>
          </a:p>
          <a:p>
            <a:endParaRPr lang="zh-CN" altLang="en-US" sz="2400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080465"/>
            <a:ext cx="11230609" cy="55324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6</a:t>
            </a:r>
            <a:r>
              <a:rPr lang="zh-CN" altLang="en-US" sz="2400" dirty="0"/>
              <a:t>、子元素选择器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子元素选择器用</a:t>
            </a:r>
            <a:r>
              <a:rPr lang="en-US" altLang="zh-CN" sz="2400" dirty="0"/>
              <a:t>&gt;</a:t>
            </a:r>
            <a:r>
              <a:rPr lang="zh-CN" altLang="en-US" sz="2400" dirty="0"/>
              <a:t>连接两个元素，表示其直接子元素的样式设定</a:t>
            </a:r>
            <a:r>
              <a:rPr lang="zh-CN" altLang="en-US" sz="2400" dirty="0" smtClean="0"/>
              <a:t>。格式如下：</a:t>
            </a:r>
            <a:endParaRPr lang="en-US" altLang="zh-CN" sz="2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 smtClean="0"/>
              <a:t>元素</a:t>
            </a:r>
            <a:r>
              <a:rPr lang="en-US" altLang="zh-CN" sz="2400" dirty="0"/>
              <a:t>1 &gt; </a:t>
            </a:r>
            <a:r>
              <a:rPr lang="zh-CN" altLang="en-US" sz="2400" dirty="0"/>
              <a:t>元素</a:t>
            </a:r>
            <a:r>
              <a:rPr lang="en-US" altLang="zh-CN" sz="2400" dirty="0"/>
              <a:t>2 { </a:t>
            </a:r>
            <a:r>
              <a:rPr lang="zh-CN" altLang="en-US" sz="2400" dirty="0"/>
              <a:t>样式声明 </a:t>
            </a:r>
            <a:r>
              <a:rPr lang="en-US" altLang="zh-CN" sz="2400" dirty="0" smtClean="0"/>
              <a:t>}</a:t>
            </a:r>
            <a:endParaRPr lang="en-US" altLang="zh-CN" sz="2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例如：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	div </a:t>
            </a:r>
            <a:r>
              <a:rPr lang="en-US" altLang="zh-CN" sz="2400" dirty="0"/>
              <a:t>&gt; p { </a:t>
            </a:r>
            <a:r>
              <a:rPr lang="zh-CN" altLang="en-US" sz="2400" dirty="0"/>
              <a:t>样式声明 </a:t>
            </a:r>
            <a:r>
              <a:rPr lang="en-US" altLang="zh-CN" sz="2400" dirty="0"/>
              <a:t>}	/*</a:t>
            </a:r>
            <a:r>
              <a:rPr lang="zh-CN" altLang="en-US" sz="2400" dirty="0"/>
              <a:t>选择 </a:t>
            </a:r>
            <a:r>
              <a:rPr lang="en-US" altLang="zh-CN" sz="2400" dirty="0"/>
              <a:t>div </a:t>
            </a:r>
            <a:r>
              <a:rPr lang="zh-CN" altLang="en-US" sz="2400" dirty="0"/>
              <a:t>里面所有最近一级 </a:t>
            </a:r>
            <a:r>
              <a:rPr lang="en-US" altLang="zh-CN" sz="2400" dirty="0"/>
              <a:t>p </a:t>
            </a:r>
            <a:r>
              <a:rPr lang="zh-CN" altLang="en-US" sz="2400" dirty="0"/>
              <a:t>标签元素	*</a:t>
            </a:r>
            <a:r>
              <a:rPr lang="en-US" altLang="zh-CN" sz="2400" dirty="0"/>
              <a:t>/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【</a:t>
            </a:r>
            <a:r>
              <a:rPr lang="zh-CN" altLang="en-US" sz="2400" dirty="0" smtClean="0"/>
              <a:t>例</a:t>
            </a:r>
            <a:r>
              <a:rPr lang="en-US" altLang="zh-CN" sz="2400" dirty="0" smtClean="0"/>
              <a:t>】</a:t>
            </a:r>
            <a:r>
              <a:rPr lang="zh-CN" altLang="en-US" sz="2400" dirty="0" smtClean="0"/>
              <a:t>将</a:t>
            </a:r>
            <a:r>
              <a:rPr lang="zh-CN" altLang="en-US" sz="2400" dirty="0"/>
              <a:t>下面的</a:t>
            </a:r>
            <a:r>
              <a:rPr lang="zh-CN" altLang="en-US" sz="2400" dirty="0">
                <a:solidFill>
                  <a:srgbClr val="FF0000"/>
                </a:solidFill>
              </a:rPr>
              <a:t>水果</a:t>
            </a:r>
            <a:r>
              <a:rPr lang="zh-CN" altLang="en-US" sz="2400" dirty="0"/>
              <a:t>文字修改为红色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endParaRPr lang="zh-CN" alt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157" y="4468306"/>
            <a:ext cx="4196945" cy="224452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649040" y="4657096"/>
            <a:ext cx="2843752" cy="1672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5095"/>
            <a:r>
              <a:rPr lang="en-US" altLang="zh-CN" sz="2400" spc="-7" dirty="0">
                <a:cs typeface="Courier New" panose="02070409020205090404"/>
              </a:rPr>
              <a:t>.hot&gt;a</a:t>
            </a:r>
            <a:r>
              <a:rPr lang="en-US" altLang="zh-CN" sz="2400" spc="-13" dirty="0">
                <a:cs typeface="Courier New" panose="02070409020205090404"/>
              </a:rPr>
              <a:t> </a:t>
            </a:r>
            <a:endParaRPr lang="en-US" altLang="zh-CN" sz="2400" spc="-13" dirty="0" smtClean="0">
              <a:cs typeface="Courier New" panose="02070409020205090404"/>
            </a:endParaRPr>
          </a:p>
          <a:p>
            <a:pPr marL="125095"/>
            <a:r>
              <a:rPr lang="en-US" altLang="zh-CN" sz="2400" dirty="0" smtClean="0">
                <a:cs typeface="Courier New" panose="02070409020205090404"/>
              </a:rPr>
              <a:t>{</a:t>
            </a:r>
            <a:endParaRPr lang="en-US" altLang="zh-CN" sz="2400" dirty="0" smtClean="0">
              <a:cs typeface="Courier New" panose="02070409020205090404"/>
            </a:endParaRPr>
          </a:p>
          <a:p>
            <a:pPr marL="125095"/>
            <a:r>
              <a:rPr lang="en-US" altLang="zh-CN" sz="2400" spc="-7" dirty="0">
                <a:cs typeface="Courier New" panose="02070409020205090404"/>
              </a:rPr>
              <a:t> </a:t>
            </a:r>
            <a:r>
              <a:rPr lang="en-US" altLang="zh-CN" sz="2400" spc="-7" dirty="0" smtClean="0">
                <a:cs typeface="Courier New" panose="02070409020205090404"/>
              </a:rPr>
              <a:t>  color</a:t>
            </a:r>
            <a:r>
              <a:rPr lang="en-US" altLang="zh-CN" sz="2400" spc="-7" dirty="0">
                <a:cs typeface="Courier New" panose="02070409020205090404"/>
              </a:rPr>
              <a:t>:</a:t>
            </a:r>
            <a:r>
              <a:rPr lang="en-US" altLang="zh-CN" sz="2400" spc="-47" dirty="0">
                <a:cs typeface="Courier New" panose="02070409020205090404"/>
              </a:rPr>
              <a:t> </a:t>
            </a:r>
            <a:r>
              <a:rPr lang="en-US" altLang="zh-CN" sz="2400" spc="-7" dirty="0">
                <a:cs typeface="Courier New" panose="02070409020205090404"/>
              </a:rPr>
              <a:t>red;</a:t>
            </a:r>
            <a:endParaRPr lang="en-US" altLang="zh-CN" sz="2400" dirty="0">
              <a:cs typeface="Courier New" panose="02070409020205090404"/>
            </a:endParaRPr>
          </a:p>
          <a:p>
            <a:pPr marL="125095">
              <a:spcBef>
                <a:spcPts val="845"/>
              </a:spcBef>
            </a:pPr>
            <a:r>
              <a:rPr lang="en-US" altLang="zh-CN" sz="2400" dirty="0">
                <a:cs typeface="Courier New" panose="02070409020205090404"/>
              </a:rPr>
              <a:t>}</a:t>
            </a:r>
            <a:endParaRPr lang="en-US" altLang="zh-CN" sz="2400" dirty="0">
              <a:cs typeface="Courier New" panose="02070409020205090404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7</a:t>
            </a:r>
            <a:r>
              <a:rPr lang="zh-CN" altLang="en-US" sz="2400" dirty="0"/>
              <a:t>、相邻兄弟选择器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相邻兄弟选择器用</a:t>
            </a:r>
            <a:r>
              <a:rPr lang="en-US" altLang="zh-CN" sz="2400" dirty="0"/>
              <a:t>+</a:t>
            </a:r>
            <a:r>
              <a:rPr lang="zh-CN" altLang="en-US" sz="2400" dirty="0"/>
              <a:t>号连接两个兄弟元素，表示为某元素其后紧邻的兄弟元素设置样式。例如可以</a:t>
            </a:r>
            <a:r>
              <a:rPr lang="zh-CN" altLang="en-US" sz="2400" dirty="0" smtClean="0"/>
              <a:t>用下边右侧</a:t>
            </a:r>
            <a:r>
              <a:rPr lang="en-US" altLang="zh-CN" sz="2400" dirty="0" smtClean="0"/>
              <a:t>CSS</a:t>
            </a:r>
            <a:r>
              <a:rPr lang="zh-CN" altLang="en-US" sz="2400" dirty="0"/>
              <a:t>代码设置</a:t>
            </a:r>
            <a:r>
              <a:rPr lang="en-US" altLang="zh-CN" sz="2400" dirty="0"/>
              <a:t>h2</a:t>
            </a:r>
            <a:r>
              <a:rPr lang="zh-CN" altLang="en-US" sz="2400" dirty="0"/>
              <a:t>标题后的第一个段落文字为粗体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750737" y="2968747"/>
            <a:ext cx="606243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 algn="just">
              <a:lnSpc>
                <a:spcPct val="150000"/>
              </a:lnSpc>
            </a:pPr>
            <a:r>
              <a:rPr lang="zh-CN" altLang="zh-CN" sz="2400" dirty="0"/>
              <a:t>其</a:t>
            </a:r>
            <a:r>
              <a:rPr lang="en-US" altLang="zh-CN" sz="2400" dirty="0"/>
              <a:t>HTML</a:t>
            </a:r>
            <a:r>
              <a:rPr lang="zh-CN" altLang="zh-CN" sz="2400" dirty="0"/>
              <a:t>代码</a:t>
            </a:r>
            <a:r>
              <a:rPr lang="zh-CN" altLang="zh-CN" sz="2400" dirty="0" smtClean="0"/>
              <a:t>如下</a:t>
            </a:r>
            <a:r>
              <a:rPr lang="zh-CN" altLang="en-US" sz="2400" dirty="0" smtClean="0"/>
              <a:t>：</a:t>
            </a:r>
            <a:endParaRPr lang="zh-CN" altLang="zh-CN" sz="2400" dirty="0"/>
          </a:p>
          <a:p>
            <a:pPr indent="228600" algn="just">
              <a:lnSpc>
                <a:spcPct val="150000"/>
              </a:lnSpc>
            </a:pPr>
            <a:r>
              <a:rPr lang="en-US" altLang="zh-CN" sz="2000" kern="100" dirty="0">
                <a:cs typeface="Times New Roman" panose="02020503050405090304" pitchFamily="18" charset="0"/>
              </a:rPr>
              <a:t>&lt;h2&gt;HTML&lt;/h2&gt;</a:t>
            </a:r>
            <a:endParaRPr lang="zh-CN" altLang="zh-CN" sz="2000" kern="100" dirty="0">
              <a:cs typeface="Times New Roman" panose="02020503050405090304" pitchFamily="18" charset="0"/>
            </a:endParaRPr>
          </a:p>
          <a:p>
            <a:pPr indent="228600" algn="just">
              <a:lnSpc>
                <a:spcPct val="150000"/>
              </a:lnSpc>
            </a:pPr>
            <a:r>
              <a:rPr lang="en-US" altLang="zh-CN" sz="2000" kern="100" dirty="0">
                <a:cs typeface="Times New Roman" panose="02020503050405090304" pitchFamily="18" charset="0"/>
              </a:rPr>
              <a:t>&lt;p&gt;</a:t>
            </a:r>
            <a:r>
              <a:rPr lang="zh-CN" altLang="zh-CN" sz="2000" kern="100" dirty="0">
                <a:cs typeface="Times New Roman" panose="02020503050405090304" pitchFamily="18" charset="0"/>
              </a:rPr>
              <a:t>超文本标记语言</a:t>
            </a:r>
            <a:r>
              <a:rPr lang="en-US" altLang="zh-CN" sz="2000" kern="100" dirty="0">
                <a:cs typeface="Times New Roman" panose="02020503050405090304" pitchFamily="18" charset="0"/>
              </a:rPr>
              <a:t>&lt;/p&gt;</a:t>
            </a:r>
            <a:endParaRPr lang="zh-CN" altLang="zh-CN" sz="2000" kern="100" dirty="0">
              <a:cs typeface="Times New Roman" panose="02020503050405090304" pitchFamily="18" charset="0"/>
            </a:endParaRPr>
          </a:p>
          <a:p>
            <a:pPr indent="228600" algn="just">
              <a:lnSpc>
                <a:spcPct val="150000"/>
              </a:lnSpc>
            </a:pPr>
            <a:r>
              <a:rPr lang="en-US" altLang="zh-CN" sz="2000" kern="100" dirty="0">
                <a:cs typeface="Times New Roman" panose="02020503050405090304" pitchFamily="18" charset="0"/>
              </a:rPr>
              <a:t>&lt;p&gt;</a:t>
            </a:r>
            <a:r>
              <a:rPr lang="zh-CN" altLang="zh-CN" sz="2000" kern="100" dirty="0">
                <a:cs typeface="Times New Roman" panose="02020503050405090304" pitchFamily="18" charset="0"/>
              </a:rPr>
              <a:t>用于构建网页结构，添加页面内容。</a:t>
            </a:r>
            <a:r>
              <a:rPr lang="en-US" altLang="zh-CN" sz="2000" kern="100" dirty="0">
                <a:cs typeface="Times New Roman" panose="02020503050405090304" pitchFamily="18" charset="0"/>
              </a:rPr>
              <a:t>&lt;/p&gt;</a:t>
            </a:r>
            <a:endParaRPr lang="zh-CN" altLang="zh-CN" sz="2000" kern="100" dirty="0">
              <a:cs typeface="Times New Roman" panose="02020503050405090304" pitchFamily="18" charset="0"/>
            </a:endParaRPr>
          </a:p>
          <a:p>
            <a:pPr indent="228600" algn="just">
              <a:lnSpc>
                <a:spcPct val="150000"/>
              </a:lnSpc>
            </a:pPr>
            <a:r>
              <a:rPr lang="en-US" altLang="zh-CN" sz="2000" kern="100" dirty="0">
                <a:cs typeface="Times New Roman" panose="02020503050405090304" pitchFamily="18" charset="0"/>
              </a:rPr>
              <a:t>&lt;h2&gt;CSS&lt;/h2&gt;</a:t>
            </a:r>
            <a:endParaRPr lang="zh-CN" altLang="zh-CN" sz="2000" kern="100" dirty="0">
              <a:cs typeface="Times New Roman" panose="02020503050405090304" pitchFamily="18" charset="0"/>
            </a:endParaRPr>
          </a:p>
          <a:p>
            <a:pPr indent="228600" algn="just">
              <a:lnSpc>
                <a:spcPct val="150000"/>
              </a:lnSpc>
            </a:pPr>
            <a:r>
              <a:rPr lang="en-US" altLang="zh-CN" sz="2000" kern="100" dirty="0">
                <a:cs typeface="Times New Roman" panose="02020503050405090304" pitchFamily="18" charset="0"/>
              </a:rPr>
              <a:t>&lt;p&gt;</a:t>
            </a:r>
            <a:r>
              <a:rPr lang="zh-CN" altLang="zh-CN" sz="2000" kern="100" dirty="0">
                <a:cs typeface="Times New Roman" panose="02020503050405090304" pitchFamily="18" charset="0"/>
              </a:rPr>
              <a:t>层叠样式表</a:t>
            </a:r>
            <a:r>
              <a:rPr lang="en-US" altLang="zh-CN" sz="2000" kern="100" dirty="0">
                <a:cs typeface="Times New Roman" panose="02020503050405090304" pitchFamily="18" charset="0"/>
              </a:rPr>
              <a:t>&lt;/p&gt;</a:t>
            </a:r>
            <a:endParaRPr lang="zh-CN" altLang="zh-CN" sz="2000" kern="100" dirty="0">
              <a:cs typeface="Times New Roman" panose="0202050305040509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/>
              <a:t>    &lt;p&gt;</a:t>
            </a:r>
            <a:r>
              <a:rPr lang="zh-CN" altLang="zh-CN" sz="2000" dirty="0">
                <a:cs typeface="Times New Roman" panose="02020503050405090304" pitchFamily="18" charset="0"/>
              </a:rPr>
              <a:t>用于构建网页样式，美化页面。</a:t>
            </a:r>
            <a:r>
              <a:rPr lang="en-US" altLang="zh-CN" sz="2000" dirty="0"/>
              <a:t>&lt;/p&gt;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2657" y="3696156"/>
            <a:ext cx="3086100" cy="1847850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0" name="矩形 9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6" y="1003950"/>
            <a:ext cx="11230609" cy="55324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8</a:t>
            </a:r>
            <a:r>
              <a:rPr lang="zh-CN" altLang="en-US" sz="2400" dirty="0"/>
              <a:t>、属性选择器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属性选择器用于筛选出属性符合条件的元素，</a:t>
            </a:r>
            <a:r>
              <a:rPr lang="zh-CN" altLang="en-US" sz="2400" dirty="0" smtClean="0"/>
              <a:t>如下表所</a:t>
            </a:r>
            <a:r>
              <a:rPr lang="zh-CN" altLang="en-US" sz="2400" dirty="0"/>
              <a:t>示。</a:t>
            </a: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168" y="2225934"/>
            <a:ext cx="7885918" cy="3313964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78381" y="5776772"/>
            <a:ext cx="93267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例如可以筛选出属性</a:t>
            </a:r>
            <a:r>
              <a:rPr lang="en-US" altLang="zh-CN" dirty="0" err="1"/>
              <a:t>src</a:t>
            </a:r>
            <a:r>
              <a:rPr lang="zh-CN" altLang="en-US" dirty="0"/>
              <a:t>取值包含“</a:t>
            </a:r>
            <a:r>
              <a:rPr lang="en-US" altLang="zh-CN" dirty="0" err="1"/>
              <a:t>bg</a:t>
            </a:r>
            <a:r>
              <a:rPr lang="en-US" altLang="zh-CN" dirty="0"/>
              <a:t>”</a:t>
            </a:r>
            <a:r>
              <a:rPr lang="zh-CN" altLang="en-US" dirty="0"/>
              <a:t>的</a:t>
            </a:r>
            <a:r>
              <a:rPr lang="en-US" altLang="zh-CN" dirty="0" err="1"/>
              <a:t>img</a:t>
            </a:r>
            <a:r>
              <a:rPr lang="zh-CN" altLang="en-US" dirty="0"/>
              <a:t>元素，设置宽、高和边框，代码如下：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312224" y="5303024"/>
            <a:ext cx="276351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 smtClean="0">
                <a:latin typeface="Calibri" charset="0"/>
                <a:cs typeface="Calibri" charset="0"/>
              </a:rPr>
              <a:t>img</a:t>
            </a:r>
            <a:r>
              <a:rPr lang="en-US" altLang="zh-CN" dirty="0" smtClean="0">
                <a:latin typeface="Calibri" charset="0"/>
                <a:cs typeface="Calibri" charset="0"/>
              </a:rPr>
              <a:t>[</a:t>
            </a:r>
            <a:r>
              <a:rPr lang="en-US" altLang="zh-CN" dirty="0" err="1" smtClean="0">
                <a:latin typeface="Calibri" charset="0"/>
                <a:cs typeface="Calibri" charset="0"/>
              </a:rPr>
              <a:t>src</a:t>
            </a:r>
            <a:r>
              <a:rPr lang="en-US" altLang="zh-CN" dirty="0">
                <a:latin typeface="Calibri" charset="0"/>
                <a:cs typeface="Calibri" charset="0"/>
              </a:rPr>
              <a:t>*=“</a:t>
            </a:r>
            <a:r>
              <a:rPr lang="en-US" altLang="zh-CN" dirty="0" err="1">
                <a:latin typeface="Calibri" charset="0"/>
                <a:cs typeface="Calibri" charset="0"/>
              </a:rPr>
              <a:t>bg</a:t>
            </a:r>
            <a:r>
              <a:rPr lang="en-US" altLang="zh-CN" dirty="0">
                <a:latin typeface="Calibri" charset="0"/>
                <a:cs typeface="Calibri" charset="0"/>
              </a:rPr>
              <a:t>”]{</a:t>
            </a:r>
            <a:endParaRPr lang="en-US" altLang="zh-CN" dirty="0">
              <a:latin typeface="Calibri" charset="0"/>
              <a:cs typeface="Calibri" charset="0"/>
            </a:endParaRPr>
          </a:p>
          <a:p>
            <a:r>
              <a:rPr lang="en-US" altLang="zh-CN" dirty="0">
                <a:latin typeface="Calibri" charset="0"/>
                <a:cs typeface="Calibri" charset="0"/>
              </a:rPr>
              <a:t>    width:180px;</a:t>
            </a:r>
            <a:endParaRPr lang="en-US" altLang="zh-CN" dirty="0">
              <a:latin typeface="Calibri" charset="0"/>
              <a:cs typeface="Calibri" charset="0"/>
            </a:endParaRPr>
          </a:p>
          <a:p>
            <a:r>
              <a:rPr lang="en-US" altLang="zh-CN" dirty="0">
                <a:latin typeface="Calibri" charset="0"/>
                <a:cs typeface="Calibri" charset="0"/>
              </a:rPr>
              <a:t>    height:90px;</a:t>
            </a:r>
            <a:endParaRPr lang="en-US" altLang="zh-CN" dirty="0">
              <a:latin typeface="Calibri" charset="0"/>
              <a:cs typeface="Calibri" charset="0"/>
            </a:endParaRPr>
          </a:p>
          <a:p>
            <a:r>
              <a:rPr lang="en-US" altLang="zh-CN" dirty="0">
                <a:latin typeface="Calibri" charset="0"/>
                <a:cs typeface="Calibri" charset="0"/>
              </a:rPr>
              <a:t>    border:1px solid #e4e4e4;</a:t>
            </a:r>
            <a:endParaRPr lang="en-US" altLang="zh-CN" dirty="0">
              <a:latin typeface="Calibri" charset="0"/>
              <a:cs typeface="Calibri" charset="0"/>
            </a:endParaRPr>
          </a:p>
          <a:p>
            <a:r>
              <a:rPr lang="en-US" altLang="zh-CN" dirty="0">
                <a:latin typeface="Calibri" charset="0"/>
                <a:cs typeface="Calibri" charset="0"/>
              </a:rPr>
              <a:t>}</a:t>
            </a:r>
            <a:endParaRPr lang="en-US" altLang="zh-CN" dirty="0">
              <a:latin typeface="Calibri" charset="0"/>
              <a:cs typeface="Calibri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9</a:t>
            </a:r>
            <a:r>
              <a:rPr lang="zh-CN" altLang="en-US" sz="2400" dirty="0"/>
              <a:t>、全局选择器 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全局选择器名称为*，作用于所有元素，所以要尽量避免使用。例如，用全局选择器设置文字样式，</a:t>
            </a:r>
            <a:r>
              <a:rPr lang="en-US" altLang="zh-CN" sz="2400" dirty="0"/>
              <a:t>CSS</a:t>
            </a:r>
            <a:r>
              <a:rPr lang="zh-CN" altLang="en-US" sz="2400" dirty="0"/>
              <a:t>代码如下。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085036" y="2970155"/>
            <a:ext cx="83748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* {</a:t>
            </a:r>
            <a:endParaRPr lang="zh-CN" altLang="zh-CN" sz="2400" dirty="0"/>
          </a:p>
          <a:p>
            <a:r>
              <a:rPr lang="en-US" altLang="zh-CN" sz="2400" dirty="0"/>
              <a:t>	</a:t>
            </a:r>
            <a:r>
              <a:rPr lang="en-US" altLang="zh-CN" sz="2400" dirty="0" err="1" smtClean="0"/>
              <a:t>text-align:center</a:t>
            </a:r>
            <a:r>
              <a:rPr lang="en-US" altLang="zh-CN" sz="2400" dirty="0"/>
              <a:t>;</a:t>
            </a:r>
            <a:endParaRPr lang="zh-CN" altLang="zh-CN" sz="2400" dirty="0"/>
          </a:p>
          <a:p>
            <a:r>
              <a:rPr lang="en-US" altLang="zh-CN" sz="2400" dirty="0" smtClean="0"/>
              <a:t>   }</a:t>
            </a:r>
            <a:endParaRPr lang="zh-CN" altLang="zh-CN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929523" y="4385148"/>
            <a:ext cx="83748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/>
              <a:t>HTML</a:t>
            </a:r>
            <a:r>
              <a:rPr lang="zh-CN" altLang="en-US" sz="2400" dirty="0" smtClean="0"/>
              <a:t>代码如下：</a:t>
            </a:r>
            <a:endParaRPr lang="en-US" altLang="zh-CN" sz="2400" dirty="0" smtClean="0"/>
          </a:p>
          <a:p>
            <a:r>
              <a:rPr lang="en-US" altLang="zh-CN" sz="2400" dirty="0" smtClean="0"/>
              <a:t>&lt;</a:t>
            </a:r>
            <a:r>
              <a:rPr lang="en-US" altLang="zh-CN" sz="2400" dirty="0"/>
              <a:t>body&gt;</a:t>
            </a:r>
            <a:endParaRPr lang="zh-CN" altLang="zh-CN" sz="2400" dirty="0"/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&lt;</a:t>
            </a:r>
            <a:r>
              <a:rPr lang="en-US" altLang="zh-CN" sz="2400" dirty="0"/>
              <a:t>h1&gt;</a:t>
            </a:r>
            <a:r>
              <a:rPr lang="zh-CN" altLang="zh-CN" sz="2400" dirty="0"/>
              <a:t>前端技术构成</a:t>
            </a:r>
            <a:r>
              <a:rPr lang="en-US" altLang="zh-CN" sz="2400" dirty="0"/>
              <a:t>&lt;/h1&gt; </a:t>
            </a:r>
            <a:endParaRPr lang="zh-CN" altLang="zh-CN" sz="2400" dirty="0"/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&lt;</a:t>
            </a:r>
            <a:r>
              <a:rPr lang="en-US" altLang="zh-CN" sz="2400" dirty="0"/>
              <a:t>p&gt;HTML&lt;/p&gt; </a:t>
            </a:r>
            <a:endParaRPr lang="zh-CN" altLang="zh-CN" sz="2400" dirty="0"/>
          </a:p>
          <a:p>
            <a:r>
              <a:rPr lang="en-US" altLang="zh-CN" sz="2400" dirty="0"/>
              <a:t>	</a:t>
            </a:r>
            <a:r>
              <a:rPr lang="en-US" altLang="zh-CN" sz="2400" dirty="0" smtClean="0"/>
              <a:t>&lt;</a:t>
            </a:r>
            <a:r>
              <a:rPr lang="en-US" altLang="zh-CN" sz="2400" dirty="0"/>
              <a:t>p&gt;CSS&lt;/p&gt; 	</a:t>
            </a:r>
            <a:endParaRPr lang="zh-CN" altLang="zh-CN" sz="2400" dirty="0"/>
          </a:p>
          <a:p>
            <a:r>
              <a:rPr lang="en-US" altLang="zh-CN" sz="2400" dirty="0"/>
              <a:t>&lt;/body&gt;</a:t>
            </a:r>
            <a:endParaRPr lang="zh-CN" altLang="zh-CN" sz="2400" dirty="0"/>
          </a:p>
        </p:txBody>
      </p:sp>
      <p:sp>
        <p:nvSpPr>
          <p:cNvPr id="4" name="矩形 3"/>
          <p:cNvSpPr/>
          <p:nvPr/>
        </p:nvSpPr>
        <p:spPr>
          <a:xfrm>
            <a:off x="7577602" y="5354644"/>
            <a:ext cx="44935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则所有标题与段落均居中显示。</a:t>
            </a:r>
            <a:endParaRPr lang="zh-CN" altLang="zh-CN" sz="2400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10</a:t>
            </a:r>
            <a:r>
              <a:rPr lang="zh-CN" altLang="en-US" sz="2400" dirty="0" smtClean="0"/>
              <a:t>、伪类选择</a:t>
            </a:r>
            <a:r>
              <a:rPr lang="zh-CN" altLang="en-US" sz="2400" dirty="0"/>
              <a:t>器 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伪类用于选择处于特定状态的元素，效果等同于向文档某个部分应用了一个类一样。</a:t>
            </a:r>
            <a:endParaRPr lang="zh-CN" altLang="en-US" sz="24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375" y="2314445"/>
            <a:ext cx="3092075" cy="448699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670" y="2314445"/>
            <a:ext cx="3436370" cy="394495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313168" y="4452411"/>
            <a:ext cx="3791551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:nth-child(-</a:t>
            </a:r>
            <a:r>
              <a:rPr lang="en-US" altLang="zh-CN" dirty="0" err="1"/>
              <a:t>n+b</a:t>
            </a:r>
            <a:r>
              <a:rPr lang="en-US" altLang="zh-CN" dirty="0"/>
              <a:t>)</a:t>
            </a:r>
            <a:r>
              <a:rPr lang="zh-CN" altLang="en-US" dirty="0"/>
              <a:t>选择前</a:t>
            </a:r>
            <a:r>
              <a:rPr lang="en-US" altLang="zh-CN" dirty="0"/>
              <a:t>b+1</a:t>
            </a:r>
            <a:r>
              <a:rPr lang="zh-CN" altLang="en-US" dirty="0"/>
              <a:t>个</a:t>
            </a:r>
            <a:r>
              <a:rPr lang="zh-CN" altLang="en-US" dirty="0" smtClean="0"/>
              <a:t>元素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en-US" altLang="zh-CN" dirty="0"/>
              <a:t>:</a:t>
            </a:r>
            <a:r>
              <a:rPr lang="en-US" altLang="zh-CN" dirty="0" smtClean="0"/>
              <a:t>nth-last-child</a:t>
            </a:r>
            <a:r>
              <a:rPr lang="en-US" altLang="zh-CN" dirty="0"/>
              <a:t>(-</a:t>
            </a:r>
            <a:r>
              <a:rPr lang="en-US" altLang="zh-CN" dirty="0" err="1"/>
              <a:t>n+b</a:t>
            </a:r>
            <a:r>
              <a:rPr lang="en-US" altLang="zh-CN" dirty="0"/>
              <a:t>)</a:t>
            </a:r>
            <a:r>
              <a:rPr lang="zh-CN" altLang="en-US" dirty="0" smtClean="0"/>
              <a:t>选择后</a:t>
            </a:r>
            <a:r>
              <a:rPr lang="en-US" altLang="zh-CN" dirty="0" smtClean="0"/>
              <a:t>b+1</a:t>
            </a:r>
            <a:r>
              <a:rPr lang="zh-CN" altLang="en-US" dirty="0"/>
              <a:t>个元素</a:t>
            </a:r>
            <a:endParaRPr lang="en-US" altLang="zh-CN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3" name="矩形 12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11</a:t>
            </a:r>
            <a:r>
              <a:rPr lang="zh-CN" altLang="en-US" sz="2400" dirty="0"/>
              <a:t>、伪</a:t>
            </a:r>
            <a:r>
              <a:rPr lang="zh-CN" altLang="en-US" sz="2400" dirty="0" smtClean="0"/>
              <a:t>元素选择器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/>
              <a:t>伪元素创建了不存在 </a:t>
            </a:r>
            <a:r>
              <a:rPr lang="en-US" altLang="zh-CN" sz="2400" dirty="0"/>
              <a:t>DOM </a:t>
            </a:r>
            <a:r>
              <a:rPr lang="zh-CN" altLang="en-US" sz="2400" dirty="0"/>
              <a:t>树中的元素，并为其添加样式。伪元素的前缀旧标准是一</a:t>
            </a:r>
            <a:r>
              <a:rPr lang="zh-CN" altLang="en-US" sz="2400" dirty="0" smtClean="0"/>
              <a:t>个冒号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新标准</a:t>
            </a:r>
            <a:r>
              <a:rPr lang="zh-CN" altLang="en-US" sz="2400" dirty="0"/>
              <a:t>中为了和伪类区分开，前缀是两个冒号</a:t>
            </a:r>
            <a:r>
              <a:rPr lang="en-US" altLang="zh-CN" sz="2400" dirty="0"/>
              <a:t>::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::</a:t>
            </a:r>
            <a:r>
              <a:rPr lang="en-US" altLang="zh-CN" sz="2400" dirty="0"/>
              <a:t>before</a:t>
            </a:r>
            <a:r>
              <a:rPr lang="zh-CN" altLang="en-US" sz="2400" dirty="0"/>
              <a:t>和</a:t>
            </a:r>
            <a:r>
              <a:rPr lang="en-US" altLang="zh-CN" sz="2400" dirty="0"/>
              <a:t>::after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::before</a:t>
            </a:r>
            <a:r>
              <a:rPr lang="zh-CN" altLang="en-US" sz="2400" dirty="0"/>
              <a:t>和</a:t>
            </a:r>
            <a:r>
              <a:rPr lang="en-US" altLang="zh-CN" sz="2400" dirty="0"/>
              <a:t>::after</a:t>
            </a:r>
            <a:r>
              <a:rPr lang="zh-CN" altLang="en-US" sz="2400" dirty="0"/>
              <a:t>会在真正页面元素之前和之后插入一个额外的元素。</a:t>
            </a:r>
            <a:r>
              <a:rPr lang="en-US" altLang="zh-CN" sz="2400" dirty="0"/>
              <a:t>::before</a:t>
            </a:r>
            <a:r>
              <a:rPr lang="zh-CN" altLang="en-US" sz="2400" dirty="0"/>
              <a:t>和</a:t>
            </a:r>
            <a:r>
              <a:rPr lang="en-US" altLang="zh-CN" sz="2400" dirty="0"/>
              <a:t>::after</a:t>
            </a:r>
            <a:r>
              <a:rPr lang="zh-CN" altLang="en-US" sz="2400" dirty="0"/>
              <a:t>通过 </a:t>
            </a:r>
            <a:r>
              <a:rPr lang="en-US" altLang="zh-CN" sz="2400" dirty="0"/>
              <a:t>content </a:t>
            </a:r>
            <a:r>
              <a:rPr lang="zh-CN" altLang="en-US" sz="2400" dirty="0"/>
              <a:t>属性为一个元素添加修饰性的内容，此元素默认为行内元素，元素</a:t>
            </a:r>
            <a:r>
              <a:rPr lang="en-US" altLang="zh-CN" sz="2400" dirty="0"/>
              <a:t>::</a:t>
            </a:r>
            <a:r>
              <a:rPr lang="en-US" altLang="zh-CN" sz="2400" dirty="0" err="1"/>
              <a:t>before|after</a:t>
            </a:r>
            <a:r>
              <a:rPr lang="en-US" altLang="zh-CN" sz="2400" dirty="0"/>
              <a:t> {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    content: "</a:t>
            </a:r>
            <a:r>
              <a:rPr lang="zh-CN" altLang="en-US" sz="2400" dirty="0"/>
              <a:t>待插入内容</a:t>
            </a:r>
            <a:r>
              <a:rPr lang="en-US" altLang="zh-CN" sz="2400" dirty="0"/>
              <a:t>";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/>
              <a:t>    </a:t>
            </a:r>
            <a:r>
              <a:rPr lang="zh-CN" altLang="en-US" sz="2400" dirty="0"/>
              <a:t>其余样式设定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 smtClean="0"/>
              <a:t>例如应用</a:t>
            </a:r>
            <a:r>
              <a:rPr lang="en-US" altLang="zh-CN" sz="2400" dirty="0"/>
              <a:t>::before</a:t>
            </a:r>
            <a:r>
              <a:rPr lang="zh-CN" altLang="en-US" sz="2400" dirty="0"/>
              <a:t>向列表项开头处添加图标，应用</a:t>
            </a:r>
            <a:r>
              <a:rPr lang="en-US" altLang="zh-CN" sz="2400" dirty="0"/>
              <a:t>::after</a:t>
            </a:r>
            <a:r>
              <a:rPr lang="zh-CN" altLang="en-US" sz="2400" dirty="0"/>
              <a:t>向第一项结尾处添加文字表示热度。</a:t>
            </a:r>
            <a:endParaRPr lang="zh-CN" altLang="en-US" sz="24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127" y="2249921"/>
            <a:ext cx="3549302" cy="223723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116334" y="4429535"/>
            <a:ext cx="3425215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&lt;div class="item"&gt;</a:t>
            </a:r>
            <a:endParaRPr lang="en-US" altLang="zh-CN" sz="2000" dirty="0"/>
          </a:p>
          <a:p>
            <a:r>
              <a:rPr lang="en-US" altLang="zh-CN" sz="2000" dirty="0"/>
              <a:t>      &lt;</a:t>
            </a:r>
            <a:r>
              <a:rPr lang="en-US" altLang="zh-CN" sz="2000" dirty="0" err="1"/>
              <a:t>ul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r>
              <a:rPr lang="en-US" altLang="zh-CN" sz="2000" dirty="0"/>
              <a:t>        &lt;li&gt;</a:t>
            </a:r>
            <a:r>
              <a:rPr lang="zh-CN" altLang="en-US" sz="2000" dirty="0"/>
              <a:t>正确答案</a:t>
            </a:r>
            <a:r>
              <a:rPr lang="en-US" altLang="zh-CN" sz="2000" dirty="0"/>
              <a:t>&lt;/li&gt;</a:t>
            </a:r>
            <a:endParaRPr lang="en-US" altLang="zh-CN" sz="2000" dirty="0"/>
          </a:p>
          <a:p>
            <a:r>
              <a:rPr lang="en-US" altLang="zh-CN" sz="2000" dirty="0"/>
              <a:t>        &lt;li&gt;</a:t>
            </a:r>
            <a:r>
              <a:rPr lang="zh-CN" altLang="en-US" sz="2000" dirty="0"/>
              <a:t>错误答案</a:t>
            </a:r>
            <a:r>
              <a:rPr lang="en-US" altLang="zh-CN" sz="2000" dirty="0"/>
              <a:t>&lt;/li&gt;</a:t>
            </a:r>
            <a:endParaRPr lang="en-US" altLang="zh-CN" sz="2000" dirty="0"/>
          </a:p>
          <a:p>
            <a:r>
              <a:rPr lang="en-US" altLang="zh-CN" sz="2000" dirty="0"/>
              <a:t>        &lt;li&gt;</a:t>
            </a:r>
            <a:r>
              <a:rPr lang="zh-CN" altLang="en-US" sz="2000" dirty="0"/>
              <a:t>热度词</a:t>
            </a:r>
            <a:r>
              <a:rPr lang="en-US" altLang="zh-CN" sz="2000" dirty="0"/>
              <a:t>&lt;/li&gt;</a:t>
            </a:r>
            <a:endParaRPr lang="en-US" altLang="zh-CN" sz="2000" dirty="0"/>
          </a:p>
          <a:p>
            <a:r>
              <a:rPr lang="en-US" altLang="zh-CN" sz="2000" dirty="0"/>
              <a:t>      &lt;/</a:t>
            </a:r>
            <a:r>
              <a:rPr lang="en-US" altLang="zh-CN" sz="2000" dirty="0" err="1"/>
              <a:t>ul</a:t>
            </a:r>
            <a:r>
              <a:rPr lang="en-US" altLang="zh-CN" sz="2000" dirty="0"/>
              <a:t>&gt;</a:t>
            </a:r>
            <a:endParaRPr lang="en-US" altLang="zh-CN" sz="2000" dirty="0"/>
          </a:p>
          <a:p>
            <a:r>
              <a:rPr lang="en-US" altLang="zh-CN" sz="2000" dirty="0" smtClean="0"/>
              <a:t>&lt;/</a:t>
            </a:r>
            <a:r>
              <a:rPr lang="en-US" altLang="zh-CN" sz="2000" dirty="0"/>
              <a:t>div&gt;</a:t>
            </a:r>
            <a:endParaRPr lang="en-US" altLang="zh-CN" sz="2000" dirty="0"/>
          </a:p>
        </p:txBody>
      </p:sp>
      <p:sp>
        <p:nvSpPr>
          <p:cNvPr id="6" name="矩形 5"/>
          <p:cNvSpPr/>
          <p:nvPr/>
        </p:nvSpPr>
        <p:spPr>
          <a:xfrm>
            <a:off x="5602664" y="2249921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/>
              <a:t>.item </a:t>
            </a:r>
            <a:r>
              <a:rPr lang="en-US" altLang="zh-CN" sz="2400" dirty="0" err="1"/>
              <a:t>ul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li:first-child</a:t>
            </a:r>
            <a:r>
              <a:rPr lang="en-US" altLang="zh-CN" sz="2400" dirty="0"/>
              <a:t>::before {</a:t>
            </a:r>
            <a:endParaRPr lang="en-US" altLang="zh-CN" sz="2400" dirty="0"/>
          </a:p>
          <a:p>
            <a:r>
              <a:rPr lang="en-US" altLang="zh-CN" sz="2400" dirty="0"/>
              <a:t>        content: </a:t>
            </a:r>
            <a:r>
              <a:rPr lang="en-US" altLang="zh-CN" sz="2400" dirty="0" err="1"/>
              <a:t>url</a:t>
            </a:r>
            <a:r>
              <a:rPr lang="en-US" altLang="zh-CN" sz="2400" dirty="0"/>
              <a:t>(images/success.png);</a:t>
            </a:r>
            <a:endParaRPr lang="en-US" altLang="zh-CN" sz="2400" dirty="0"/>
          </a:p>
          <a:p>
            <a:r>
              <a:rPr lang="en-US" altLang="zh-CN" sz="2400" dirty="0" smtClean="0"/>
              <a:t>}</a:t>
            </a:r>
            <a:endParaRPr lang="en-US" altLang="zh-CN" sz="2400" dirty="0"/>
          </a:p>
          <a:p>
            <a:r>
              <a:rPr lang="en-US" altLang="zh-CN" sz="2400" dirty="0" smtClean="0"/>
              <a:t>.</a:t>
            </a:r>
            <a:r>
              <a:rPr lang="en-US" altLang="zh-CN" sz="2400" dirty="0"/>
              <a:t>item </a:t>
            </a:r>
            <a:r>
              <a:rPr lang="en-US" altLang="zh-CN" sz="2400" dirty="0" err="1"/>
              <a:t>ul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li:nth-child</a:t>
            </a:r>
            <a:r>
              <a:rPr lang="en-US" altLang="zh-CN" sz="2400" dirty="0"/>
              <a:t>(2)::before {</a:t>
            </a:r>
            <a:endParaRPr lang="en-US" altLang="zh-CN" sz="2400" dirty="0"/>
          </a:p>
          <a:p>
            <a:r>
              <a:rPr lang="en-US" altLang="zh-CN" sz="2400" dirty="0"/>
              <a:t>        content: </a:t>
            </a:r>
            <a:r>
              <a:rPr lang="en-US" altLang="zh-CN" sz="2400" dirty="0" err="1"/>
              <a:t>url</a:t>
            </a:r>
            <a:r>
              <a:rPr lang="en-US" altLang="zh-CN" sz="2400" dirty="0"/>
              <a:t>(images/error.png);</a:t>
            </a:r>
            <a:endParaRPr lang="en-US" altLang="zh-CN" sz="2400" dirty="0"/>
          </a:p>
          <a:p>
            <a:r>
              <a:rPr lang="en-US" altLang="zh-CN" sz="2400" dirty="0" smtClean="0"/>
              <a:t>}</a:t>
            </a:r>
            <a:endParaRPr lang="en-US" altLang="zh-CN" sz="2400" dirty="0"/>
          </a:p>
          <a:p>
            <a:r>
              <a:rPr lang="en-US" altLang="zh-CN" sz="2400" dirty="0" smtClean="0"/>
              <a:t>.</a:t>
            </a:r>
            <a:r>
              <a:rPr lang="en-US" altLang="zh-CN" sz="2400" dirty="0"/>
              <a:t>item </a:t>
            </a:r>
            <a:r>
              <a:rPr lang="en-US" altLang="zh-CN" sz="2400" dirty="0" err="1"/>
              <a:t>ul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li:last-child</a:t>
            </a:r>
            <a:r>
              <a:rPr lang="en-US" altLang="zh-CN" sz="2400" dirty="0"/>
              <a:t>::after {</a:t>
            </a:r>
            <a:endParaRPr lang="en-US" altLang="zh-CN" sz="2400" dirty="0"/>
          </a:p>
          <a:p>
            <a:r>
              <a:rPr lang="en-US" altLang="zh-CN" sz="2400" dirty="0"/>
              <a:t>        content: 'hot!';</a:t>
            </a:r>
            <a:endParaRPr lang="en-US" altLang="zh-CN" sz="2400" dirty="0"/>
          </a:p>
          <a:p>
            <a:r>
              <a:rPr lang="en-US" altLang="zh-CN" sz="2400" dirty="0"/>
              <a:t>        color: red;</a:t>
            </a:r>
            <a:endParaRPr lang="en-US" altLang="zh-CN" sz="2400" dirty="0"/>
          </a:p>
          <a:p>
            <a:r>
              <a:rPr lang="en-US" altLang="zh-CN" sz="2400" dirty="0"/>
              <a:t>        font-size: 10px;</a:t>
            </a:r>
            <a:endParaRPr lang="en-US" altLang="zh-CN" sz="2400" dirty="0"/>
          </a:p>
          <a:p>
            <a:r>
              <a:rPr lang="en-US" altLang="zh-CN" sz="2400" dirty="0"/>
              <a:t>        margin-left: 10px;</a:t>
            </a:r>
            <a:endParaRPr lang="en-US" altLang="zh-CN" sz="2400" dirty="0"/>
          </a:p>
          <a:p>
            <a:r>
              <a:rPr lang="en-US" altLang="zh-CN" sz="2400" dirty="0" smtClean="0"/>
              <a:t>}</a:t>
            </a:r>
            <a:endParaRPr lang="en-US" altLang="zh-CN" sz="2400" dirty="0"/>
          </a:p>
        </p:txBody>
      </p:sp>
      <p:cxnSp>
        <p:nvCxnSpPr>
          <p:cNvPr id="9" name="直接连接符 8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1" name="矩形 10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）</a:t>
            </a:r>
            <a:r>
              <a:rPr lang="en-US" altLang="zh-CN" sz="2400" dirty="0"/>
              <a:t>::first-letter</a:t>
            </a:r>
            <a:r>
              <a:rPr lang="zh-CN" altLang="en-US" sz="2400" dirty="0"/>
              <a:t>和</a:t>
            </a:r>
            <a:r>
              <a:rPr lang="en-US" altLang="zh-CN" sz="2400" dirty="0"/>
              <a:t>::first-line</a:t>
            </a:r>
            <a:endParaRPr lang="en-US" altLang="zh-CN" sz="2400" dirty="0"/>
          </a:p>
          <a:p>
            <a:pPr marL="0" indent="0">
              <a:lnSpc>
                <a:spcPct val="120000"/>
              </a:lnSpc>
              <a:buNone/>
            </a:pPr>
            <a:endParaRPr lang="en-US" altLang="zh-CN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2007313"/>
            <a:ext cx="8972714" cy="2191808"/>
          </a:xfrm>
          <a:prstGeom prst="rect">
            <a:avLst/>
          </a:prstGeom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1116334" y="4199121"/>
            <a:ext cx="832592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p::first-letter {</a:t>
            </a:r>
            <a:endParaRPr lang="en-US" altLang="zh-CN" sz="2000" dirty="0"/>
          </a:p>
          <a:p>
            <a:r>
              <a:rPr lang="en-US" altLang="zh-CN" sz="2000" dirty="0"/>
              <a:t>        font-size: 2em;</a:t>
            </a:r>
            <a:endParaRPr lang="en-US" altLang="zh-CN" sz="2000" dirty="0"/>
          </a:p>
          <a:p>
            <a:r>
              <a:rPr lang="en-US" altLang="zh-CN" sz="2000" dirty="0"/>
              <a:t>        color: red;</a:t>
            </a:r>
            <a:endParaRPr lang="en-US" altLang="zh-CN" sz="2000" dirty="0"/>
          </a:p>
          <a:p>
            <a:r>
              <a:rPr lang="en-US" altLang="zh-CN" sz="2000" dirty="0" smtClean="0"/>
              <a:t>}</a:t>
            </a:r>
            <a:endParaRPr lang="en-US" altLang="zh-CN" sz="2000" dirty="0"/>
          </a:p>
          <a:p>
            <a:r>
              <a:rPr lang="en-US" altLang="zh-CN" sz="2000" dirty="0"/>
              <a:t>p::first-line {</a:t>
            </a:r>
            <a:endParaRPr lang="en-US" altLang="zh-CN" sz="2000" dirty="0"/>
          </a:p>
          <a:p>
            <a:r>
              <a:rPr lang="en-US" altLang="zh-CN" sz="2000" dirty="0"/>
              <a:t>        font-weight: 700;</a:t>
            </a:r>
            <a:endParaRPr lang="en-US" altLang="zh-CN" sz="2000" dirty="0"/>
          </a:p>
          <a:p>
            <a:r>
              <a:rPr lang="en-US" altLang="zh-CN" sz="2000" dirty="0" smtClean="0"/>
              <a:t>}</a:t>
            </a:r>
            <a:endParaRPr lang="en-US" altLang="zh-CN" sz="2000" dirty="0"/>
          </a:p>
        </p:txBody>
      </p:sp>
      <p:cxnSp>
        <p:nvCxnSpPr>
          <p:cNvPr id="8" name="直接连接符 7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10" name="矩形 9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选择器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2400" dirty="0"/>
              <a:t>CSS</a:t>
            </a:r>
            <a:r>
              <a:rPr lang="zh-CN" altLang="en-US" sz="2400" dirty="0"/>
              <a:t>样式可以由父元素传递给子元素，而且多个样式可能叠加作用于一个元素，将所有继承和叠加关系进行计算并得到最终样式就是层叠的过程。层叠过程需要同时考虑继承</a:t>
            </a:r>
            <a:r>
              <a:rPr lang="zh-CN" altLang="en-US" sz="2400" dirty="0" smtClean="0"/>
              <a:t>关系</a:t>
            </a:r>
            <a:r>
              <a:rPr lang="zh-CN" altLang="en-US" sz="2400" dirty="0"/>
              <a:t>和样式优先级（</a:t>
            </a:r>
            <a:r>
              <a:rPr lang="en-US" altLang="zh-CN" sz="2400" dirty="0"/>
              <a:t>specificity</a:t>
            </a:r>
            <a:r>
              <a:rPr lang="zh-CN" altLang="en-US" sz="2400" dirty="0"/>
              <a:t>）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b="1" dirty="0" smtClean="0"/>
              <a:t>1</a:t>
            </a:r>
            <a:r>
              <a:rPr lang="zh-CN" altLang="en-US" sz="2400" b="1" dirty="0"/>
              <a:t>、继承</a:t>
            </a:r>
            <a:endParaRPr lang="zh-CN" altLang="en-US" sz="2400" b="1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/>
              <a:t>有些样式父元素的样式默认由后代元素继承。例如，</a:t>
            </a:r>
            <a:r>
              <a:rPr lang="en-US" altLang="zh-CN" sz="2400" dirty="0"/>
              <a:t>div</a:t>
            </a:r>
            <a:r>
              <a:rPr lang="zh-CN" altLang="en-US" sz="2400" dirty="0"/>
              <a:t>设置为</a:t>
            </a:r>
            <a:r>
              <a:rPr lang="en-US" altLang="zh-CN" sz="2400" dirty="0"/>
              <a:t>center</a:t>
            </a:r>
            <a:r>
              <a:rPr lang="zh-CN" altLang="en-US" sz="2400" dirty="0"/>
              <a:t>样式，则其三个子元素</a:t>
            </a:r>
            <a:r>
              <a:rPr lang="en-US" altLang="zh-CN" sz="2400" dirty="0"/>
              <a:t>p</a:t>
            </a:r>
            <a:r>
              <a:rPr lang="zh-CN" altLang="en-US" sz="2400" dirty="0"/>
              <a:t>都继承</a:t>
            </a:r>
            <a:r>
              <a:rPr lang="en-US" altLang="zh-CN" sz="2400" dirty="0"/>
              <a:t>div</a:t>
            </a:r>
            <a:r>
              <a:rPr lang="zh-CN" altLang="en-US" sz="2400" dirty="0"/>
              <a:t>的样式，也被设置为</a:t>
            </a:r>
            <a:r>
              <a:rPr lang="en-US" altLang="zh-CN" sz="2400" dirty="0"/>
              <a:t>center</a:t>
            </a:r>
            <a:r>
              <a:rPr lang="zh-CN" altLang="en-US" sz="2400" dirty="0"/>
              <a:t>样式，居中对齐，代码</a:t>
            </a:r>
            <a:r>
              <a:rPr lang="zh-CN" altLang="en-US" sz="2400" dirty="0" smtClean="0"/>
              <a:t>如下：</a:t>
            </a:r>
            <a:endParaRPr lang="en-US" altLang="zh-CN" sz="2400" dirty="0" smtClean="0"/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sz="2200" dirty="0" smtClean="0"/>
              <a:t>&lt;</a:t>
            </a:r>
            <a:r>
              <a:rPr lang="en-US" altLang="zh-CN" sz="2200" dirty="0"/>
              <a:t>div id="center"&gt; </a:t>
            </a:r>
            <a:endParaRPr lang="en-US" altLang="zh-CN" sz="2200" dirty="0"/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sz="2200" dirty="0"/>
              <a:t>  &lt;!--p</a:t>
            </a:r>
            <a:r>
              <a:rPr lang="zh-CN" altLang="en-US" sz="2200" dirty="0"/>
              <a:t>为</a:t>
            </a:r>
            <a:r>
              <a:rPr lang="en-US" altLang="zh-CN" sz="2200" dirty="0"/>
              <a:t>div</a:t>
            </a:r>
            <a:r>
              <a:rPr lang="zh-CN" altLang="en-US" sz="2200" dirty="0"/>
              <a:t>的子元素，默认从</a:t>
            </a:r>
            <a:r>
              <a:rPr lang="en-US" altLang="zh-CN" sz="2200" dirty="0"/>
              <a:t>div</a:t>
            </a:r>
            <a:r>
              <a:rPr lang="zh-CN" altLang="en-US" sz="2200" dirty="0"/>
              <a:t>继承样式</a:t>
            </a:r>
            <a:r>
              <a:rPr lang="en-US" altLang="zh-CN" sz="2200" dirty="0"/>
              <a:t>center --&gt;</a:t>
            </a:r>
            <a:endParaRPr lang="en-US" altLang="zh-CN" sz="2200" dirty="0"/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sz="2200" dirty="0"/>
              <a:t>  &lt;p&gt;</a:t>
            </a:r>
            <a:r>
              <a:rPr lang="zh-CN" altLang="en-US" sz="2200" dirty="0"/>
              <a:t>前端技术构成</a:t>
            </a:r>
            <a:r>
              <a:rPr lang="en-US" altLang="zh-CN" sz="2200" dirty="0"/>
              <a:t>&lt;/p&gt; </a:t>
            </a:r>
            <a:endParaRPr lang="en-US" altLang="zh-CN" sz="2200" dirty="0"/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sz="2200" dirty="0"/>
              <a:t>  &lt;p&gt;HTML&lt;/p&gt;</a:t>
            </a:r>
            <a:endParaRPr lang="en-US" altLang="zh-CN" sz="2200" dirty="0"/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sz="2200" dirty="0"/>
              <a:t>  &lt;p&gt;</a:t>
            </a:r>
            <a:r>
              <a:rPr lang="zh-CN" altLang="en-US" sz="2200" dirty="0"/>
              <a:t>超文本标记语言</a:t>
            </a:r>
            <a:r>
              <a:rPr lang="en-US" altLang="zh-CN" sz="2200" dirty="0"/>
              <a:t>&lt;/p&gt; </a:t>
            </a:r>
            <a:endParaRPr lang="en-US" altLang="zh-CN" sz="2200" dirty="0"/>
          </a:p>
          <a:p>
            <a:pPr marL="457200" lvl="1" indent="0">
              <a:lnSpc>
                <a:spcPct val="130000"/>
              </a:lnSpc>
              <a:buNone/>
            </a:pPr>
            <a:r>
              <a:rPr lang="en-US" altLang="zh-CN" sz="2200" dirty="0" smtClean="0"/>
              <a:t>&lt;/</a:t>
            </a:r>
            <a:r>
              <a:rPr lang="en-US" altLang="zh-CN" sz="2200" dirty="0"/>
              <a:t>div&gt; </a:t>
            </a:r>
            <a:endParaRPr lang="en-US" altLang="zh-CN" sz="2200" dirty="0" smtClean="0"/>
          </a:p>
        </p:txBody>
      </p:sp>
      <p:sp>
        <p:nvSpPr>
          <p:cNvPr id="5" name="矩形 4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层叠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7" name="矩形 6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 smtClean="0"/>
              <a:t>、继承</a:t>
            </a:r>
            <a:endParaRPr lang="en-US" altLang="zh-CN" sz="2400" dirty="0" smtClean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. </a:t>
            </a:r>
            <a:r>
              <a:rPr lang="zh-CN" altLang="en-US" sz="2400" dirty="0"/>
              <a:t>继承属性</a:t>
            </a: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/>
              <a:t>可以被后代元素继承的属性主要包括。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文字</a:t>
            </a:r>
            <a:r>
              <a:rPr lang="zh-CN" altLang="en-US" sz="2400" dirty="0"/>
              <a:t>属性：</a:t>
            </a:r>
            <a:r>
              <a:rPr lang="en-US" altLang="zh-CN" sz="2400" dirty="0"/>
              <a:t>font</a:t>
            </a:r>
            <a:r>
              <a:rPr lang="zh-CN" altLang="en-US" sz="2400" dirty="0"/>
              <a:t>、</a:t>
            </a:r>
            <a:r>
              <a:rPr lang="en-US" altLang="zh-CN" sz="2400" dirty="0"/>
              <a:t>font-family</a:t>
            </a:r>
            <a:r>
              <a:rPr lang="zh-CN" altLang="en-US" sz="2400" dirty="0"/>
              <a:t>、</a:t>
            </a:r>
            <a:r>
              <a:rPr lang="en-US" altLang="zh-CN" sz="2400" dirty="0"/>
              <a:t>font-size</a:t>
            </a:r>
            <a:r>
              <a:rPr lang="zh-CN" altLang="en-US" sz="2400" dirty="0"/>
              <a:t>、</a:t>
            </a:r>
            <a:r>
              <a:rPr lang="en-US" altLang="zh-CN" sz="2400" dirty="0"/>
              <a:t>font-style</a:t>
            </a:r>
            <a:r>
              <a:rPr lang="zh-CN" altLang="en-US" sz="2400" dirty="0"/>
              <a:t>、</a:t>
            </a:r>
            <a:r>
              <a:rPr lang="en-US" altLang="zh-CN" sz="2400" dirty="0"/>
              <a:t>font-weight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文本</a:t>
            </a:r>
            <a:r>
              <a:rPr lang="zh-CN" altLang="en-US" sz="2400" dirty="0"/>
              <a:t>属性：</a:t>
            </a:r>
            <a:r>
              <a:rPr lang="en-US" altLang="zh-CN" sz="2400" dirty="0"/>
              <a:t>color</a:t>
            </a:r>
            <a:r>
              <a:rPr lang="zh-CN" altLang="en-US" sz="2400" dirty="0"/>
              <a:t>、</a:t>
            </a:r>
            <a:r>
              <a:rPr lang="en-US" altLang="zh-CN" sz="2400" dirty="0"/>
              <a:t>letter-spacing</a:t>
            </a:r>
            <a:r>
              <a:rPr lang="zh-CN" altLang="en-US" sz="2400" dirty="0"/>
              <a:t>、</a:t>
            </a:r>
            <a:r>
              <a:rPr lang="en-US" altLang="zh-CN" sz="2400" dirty="0"/>
              <a:t>line-height</a:t>
            </a:r>
            <a:r>
              <a:rPr lang="zh-CN" altLang="en-US" sz="2400" dirty="0"/>
              <a:t>、</a:t>
            </a:r>
            <a:r>
              <a:rPr lang="en-US" altLang="zh-CN" sz="2400" dirty="0"/>
              <a:t>text-decoration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列表</a:t>
            </a:r>
            <a:r>
              <a:rPr lang="zh-CN" altLang="en-US" sz="2400" dirty="0"/>
              <a:t>属性：</a:t>
            </a:r>
            <a:r>
              <a:rPr lang="en-US" altLang="zh-CN" sz="2400" dirty="0"/>
              <a:t>list-style</a:t>
            </a:r>
            <a:r>
              <a:rPr lang="zh-CN" altLang="en-US" sz="2400" dirty="0"/>
              <a:t>、</a:t>
            </a:r>
            <a:r>
              <a:rPr lang="en-US" altLang="zh-CN" sz="2400" dirty="0"/>
              <a:t>list-style-type</a:t>
            </a:r>
            <a:r>
              <a:rPr lang="zh-CN" altLang="en-US" sz="2400" dirty="0"/>
              <a:t>、</a:t>
            </a:r>
            <a:r>
              <a:rPr lang="en-US" altLang="zh-CN" sz="2400" dirty="0"/>
              <a:t>list-style-position</a:t>
            </a:r>
            <a:r>
              <a:rPr lang="zh-CN" altLang="en-US" sz="2400" dirty="0"/>
              <a:t>、</a:t>
            </a:r>
            <a:r>
              <a:rPr lang="en-US" altLang="zh-CN" sz="2400" dirty="0"/>
              <a:t>list-style-image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2</a:t>
            </a:r>
            <a:r>
              <a:rPr lang="zh-CN" altLang="en-US" sz="2400" dirty="0" smtClean="0"/>
              <a:t>）</a:t>
            </a:r>
            <a:r>
              <a:rPr lang="en-US" altLang="zh-CN" sz="2400" dirty="0" smtClean="0"/>
              <a:t>. </a:t>
            </a:r>
            <a:r>
              <a:rPr lang="zh-CN" altLang="en-US" sz="2400" dirty="0"/>
              <a:t>非继承属性</a:t>
            </a: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/>
              <a:t>与盒子模型相关的属性不会被继承，主要包括</a:t>
            </a:r>
            <a:r>
              <a:rPr lang="en-US" altLang="zh-CN" sz="2400" dirty="0"/>
              <a:t>margin</a:t>
            </a:r>
            <a:r>
              <a:rPr lang="zh-CN" altLang="en-US" sz="2400" dirty="0"/>
              <a:t>、</a:t>
            </a:r>
            <a:r>
              <a:rPr lang="en-US" altLang="zh-CN" sz="2400" dirty="0"/>
              <a:t>padding</a:t>
            </a:r>
            <a:r>
              <a:rPr lang="zh-CN" altLang="en-US" sz="2400" dirty="0"/>
              <a:t>、</a:t>
            </a:r>
            <a:r>
              <a:rPr lang="en-US" altLang="zh-CN" sz="2400" dirty="0"/>
              <a:t>border</a:t>
            </a:r>
            <a:r>
              <a:rPr lang="zh-CN" altLang="en-US" sz="2400" dirty="0"/>
              <a:t>、</a:t>
            </a:r>
            <a:r>
              <a:rPr lang="en-US" altLang="zh-CN" sz="2400" dirty="0"/>
              <a:t>display</a:t>
            </a:r>
            <a:r>
              <a:rPr lang="zh-CN" altLang="en-US" sz="2400" dirty="0"/>
              <a:t>、</a:t>
            </a:r>
            <a:r>
              <a:rPr lang="en-US" altLang="zh-CN" sz="2400" dirty="0"/>
              <a:t>background</a:t>
            </a:r>
            <a:r>
              <a:rPr lang="zh-CN" altLang="en-US" sz="2400" dirty="0"/>
              <a:t>、</a:t>
            </a:r>
            <a:r>
              <a:rPr lang="en-US" altLang="zh-CN" sz="2400" dirty="0"/>
              <a:t>width</a:t>
            </a:r>
            <a:r>
              <a:rPr lang="zh-CN" altLang="en-US" sz="2400" dirty="0"/>
              <a:t>、</a:t>
            </a:r>
            <a:r>
              <a:rPr lang="en-US" altLang="zh-CN" sz="2400" dirty="0"/>
              <a:t>height</a:t>
            </a:r>
            <a:r>
              <a:rPr lang="zh-CN" altLang="en-US" sz="2400" dirty="0"/>
              <a:t>、</a:t>
            </a:r>
            <a:r>
              <a:rPr lang="en-US" altLang="zh-CN" sz="2400" dirty="0"/>
              <a:t>float</a:t>
            </a:r>
            <a:r>
              <a:rPr lang="zh-CN" altLang="en-US" sz="2400" dirty="0"/>
              <a:t>、</a:t>
            </a:r>
            <a:r>
              <a:rPr lang="en-US" altLang="zh-CN" sz="2400" dirty="0"/>
              <a:t>clear</a:t>
            </a:r>
            <a:r>
              <a:rPr lang="zh-CN" altLang="en-US" sz="2400" dirty="0"/>
              <a:t>、</a:t>
            </a:r>
            <a:r>
              <a:rPr lang="en-US" altLang="zh-CN" sz="2400" dirty="0"/>
              <a:t>position</a:t>
            </a:r>
            <a:r>
              <a:rPr lang="zh-CN" altLang="en-US" sz="2400" dirty="0"/>
              <a:t>、</a:t>
            </a:r>
            <a:r>
              <a:rPr lang="en-US" altLang="zh-CN" sz="2400" dirty="0"/>
              <a:t>left</a:t>
            </a:r>
            <a:r>
              <a:rPr lang="zh-CN" altLang="en-US" sz="2400" dirty="0"/>
              <a:t>、</a:t>
            </a:r>
            <a:r>
              <a:rPr lang="en-US" altLang="zh-CN" sz="2400" dirty="0"/>
              <a:t>right</a:t>
            </a:r>
            <a:r>
              <a:rPr lang="zh-CN" altLang="en-US" sz="2400" dirty="0"/>
              <a:t>、</a:t>
            </a:r>
            <a:r>
              <a:rPr lang="en-US" altLang="zh-CN" sz="2400" dirty="0"/>
              <a:t>top</a:t>
            </a:r>
            <a:r>
              <a:rPr lang="zh-CN" altLang="en-US" sz="2400" dirty="0"/>
              <a:t>、</a:t>
            </a:r>
            <a:r>
              <a:rPr lang="en-US" altLang="zh-CN" sz="2400" dirty="0"/>
              <a:t>bottom</a:t>
            </a:r>
            <a:r>
              <a:rPr lang="zh-CN" altLang="en-US" sz="2400" dirty="0"/>
              <a:t>、</a:t>
            </a:r>
            <a:r>
              <a:rPr lang="en-US" altLang="zh-CN" sz="2400" dirty="0"/>
              <a:t>z-index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endParaRPr lang="en-US" altLang="zh-CN" sz="2400" dirty="0" smtClean="0"/>
          </a:p>
        </p:txBody>
      </p:sp>
      <p:cxnSp>
        <p:nvCxnSpPr>
          <p:cNvPr id="6" name="直接连接符 5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8" name="矩形 7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层叠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2400" b="1" dirty="0" smtClean="0"/>
              <a:t>2</a:t>
            </a:r>
            <a:r>
              <a:rPr lang="zh-CN" altLang="en-US" sz="2400" b="1" dirty="0"/>
              <a:t>、样式优先级</a:t>
            </a:r>
            <a:endParaRPr lang="zh-CN" altLang="en-US" sz="2400" b="1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/>
              <a:t>样式的优先级由样式添加顺序、添加方式、选择器类型决定。</a:t>
            </a: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 smtClean="0">
                <a:solidFill>
                  <a:srgbClr val="FF0000"/>
                </a:solidFill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</a:rPr>
              <a:t>1</a:t>
            </a:r>
            <a:r>
              <a:rPr lang="zh-CN" altLang="en-US" sz="2400" dirty="0" smtClean="0">
                <a:solidFill>
                  <a:srgbClr val="FF0000"/>
                </a:solidFill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</a:rPr>
              <a:t>. </a:t>
            </a:r>
            <a:r>
              <a:rPr lang="zh-CN" altLang="en-US" sz="2400" dirty="0">
                <a:solidFill>
                  <a:srgbClr val="FF0000"/>
                </a:solidFill>
              </a:rPr>
              <a:t>添加顺序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/>
              <a:t>有冲突时，先添加的样式会被后添加的样式覆盖掉。例如在如下代码中，</a:t>
            </a:r>
            <a:r>
              <a:rPr lang="en-US" altLang="zh-CN" sz="2400" dirty="0"/>
              <a:t>p</a:t>
            </a:r>
            <a:r>
              <a:rPr lang="zh-CN" altLang="en-US" sz="2400" dirty="0"/>
              <a:t>元素文字颜色会被设置为</a:t>
            </a:r>
            <a:r>
              <a:rPr lang="en-US" altLang="zh-CN" sz="2400" dirty="0"/>
              <a:t>blue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0" indent="0">
              <a:lnSpc>
                <a:spcPct val="130000"/>
              </a:lnSpc>
              <a:buNone/>
            </a:pP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 smtClean="0">
                <a:solidFill>
                  <a:srgbClr val="FF0000"/>
                </a:solidFill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</a:rPr>
              <a:t>2</a:t>
            </a:r>
            <a:r>
              <a:rPr lang="zh-CN" altLang="en-US" sz="2400" dirty="0" smtClean="0">
                <a:solidFill>
                  <a:srgbClr val="FF0000"/>
                </a:solidFill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</a:rPr>
              <a:t>. </a:t>
            </a:r>
            <a:r>
              <a:rPr lang="zh-CN" altLang="en-US" sz="2400" dirty="0">
                <a:solidFill>
                  <a:srgbClr val="FF0000"/>
                </a:solidFill>
              </a:rPr>
              <a:t>添加方式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/>
              <a:t>如果没有定义</a:t>
            </a:r>
            <a:r>
              <a:rPr lang="en-US" altLang="zh-CN" sz="2400" dirty="0"/>
              <a:t>CSS</a:t>
            </a:r>
            <a:r>
              <a:rPr lang="zh-CN" altLang="en-US" sz="2400" dirty="0"/>
              <a:t>样式，浏览器有默认样式。多重样式作用于同一元素可以层叠，可以覆盖。样式添加方式不同，优先级不同，样式的优先级按照“就近原则”。优先级如下。</a:t>
            </a:r>
            <a:endParaRPr lang="zh-CN" altLang="en-US" sz="2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行内样式 </a:t>
            </a:r>
            <a:r>
              <a:rPr lang="en-US" altLang="zh-CN" sz="2400" dirty="0">
                <a:solidFill>
                  <a:srgbClr val="FF0000"/>
                </a:solidFill>
              </a:rPr>
              <a:t>&gt; </a:t>
            </a:r>
            <a:r>
              <a:rPr lang="zh-CN" altLang="en-US" sz="2400" dirty="0">
                <a:solidFill>
                  <a:srgbClr val="FF0000"/>
                </a:solidFill>
              </a:rPr>
              <a:t>内嵌样式 </a:t>
            </a:r>
            <a:r>
              <a:rPr lang="en-US" altLang="zh-CN" sz="2400" dirty="0">
                <a:solidFill>
                  <a:srgbClr val="FF0000"/>
                </a:solidFill>
              </a:rPr>
              <a:t>&gt; </a:t>
            </a:r>
            <a:r>
              <a:rPr lang="zh-CN" altLang="en-US" sz="2400" dirty="0">
                <a:solidFill>
                  <a:srgbClr val="FF0000"/>
                </a:solidFill>
              </a:rPr>
              <a:t>样式表样式 </a:t>
            </a:r>
            <a:r>
              <a:rPr lang="en-US" altLang="zh-CN" sz="2400" dirty="0">
                <a:solidFill>
                  <a:srgbClr val="FF0000"/>
                </a:solidFill>
              </a:rPr>
              <a:t>&gt; </a:t>
            </a:r>
            <a:r>
              <a:rPr lang="zh-CN" altLang="en-US" sz="2400" dirty="0">
                <a:solidFill>
                  <a:srgbClr val="FF0000"/>
                </a:solidFill>
              </a:rPr>
              <a:t>默认样式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endParaRPr lang="en-US" altLang="zh-CN" sz="2400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1555" y="3396055"/>
            <a:ext cx="1586985" cy="1562444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层叠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45127" y="1184160"/>
            <a:ext cx="11230609" cy="5532438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altLang="zh-CN" sz="2400" b="1" dirty="0" smtClean="0"/>
              <a:t>2</a:t>
            </a:r>
            <a:r>
              <a:rPr lang="zh-CN" altLang="en-US" sz="2400" b="1" dirty="0"/>
              <a:t>、样式优先级</a:t>
            </a:r>
            <a:endParaRPr lang="zh-CN" altLang="en-US" sz="2400" b="1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 smtClean="0">
                <a:solidFill>
                  <a:srgbClr val="FF0000"/>
                </a:solidFill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</a:rPr>
              <a:t>3</a:t>
            </a:r>
            <a:r>
              <a:rPr lang="zh-CN" altLang="en-US" sz="2400" dirty="0" smtClean="0">
                <a:solidFill>
                  <a:srgbClr val="FF0000"/>
                </a:solidFill>
              </a:rPr>
              <a:t>）</a:t>
            </a:r>
            <a:r>
              <a:rPr lang="en-US" altLang="zh-CN" sz="2400" dirty="0" smtClean="0">
                <a:solidFill>
                  <a:srgbClr val="FF0000"/>
                </a:solidFill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</a:rPr>
              <a:t>选择</a:t>
            </a:r>
            <a:r>
              <a:rPr lang="zh-CN" altLang="en-US" sz="2400" dirty="0">
                <a:solidFill>
                  <a:srgbClr val="FF0000"/>
                </a:solidFill>
              </a:rPr>
              <a:t>器类型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/>
              <a:t>对于行内样式的设置，优先级顺序</a:t>
            </a:r>
            <a:r>
              <a:rPr lang="zh-CN" altLang="en-US" sz="2400" dirty="0" smtClean="0"/>
              <a:t>如下：</a:t>
            </a:r>
            <a:endParaRPr lang="zh-CN" altLang="en-US" sz="2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altLang="zh-CN" sz="2400" dirty="0"/>
              <a:t>style</a:t>
            </a:r>
            <a:r>
              <a:rPr lang="zh-CN" altLang="en-US" sz="2400" dirty="0"/>
              <a:t>属性</a:t>
            </a:r>
            <a:r>
              <a:rPr lang="en-US" altLang="zh-CN" sz="2400" dirty="0"/>
              <a:t>&gt;ID</a:t>
            </a:r>
            <a:r>
              <a:rPr lang="zh-CN" altLang="en-US" sz="2400" dirty="0"/>
              <a:t>选择器</a:t>
            </a:r>
            <a:r>
              <a:rPr lang="en-US" altLang="zh-CN" sz="2400" dirty="0"/>
              <a:t>&gt;</a:t>
            </a:r>
            <a:r>
              <a:rPr lang="zh-CN" altLang="en-US" sz="2400" dirty="0"/>
              <a:t>类选择器</a:t>
            </a: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zh-CN" altLang="en-US" sz="2400" dirty="0"/>
              <a:t>例如有如下代码，则</a:t>
            </a:r>
            <a:r>
              <a:rPr lang="en-US" altLang="zh-CN" sz="2400" dirty="0"/>
              <a:t>p</a:t>
            </a:r>
            <a:r>
              <a:rPr lang="zh-CN" altLang="en-US" sz="2400" dirty="0"/>
              <a:t>元素</a:t>
            </a:r>
            <a:r>
              <a:rPr lang="en-US" altLang="zh-CN" sz="2400" dirty="0"/>
              <a:t>font-size</a:t>
            </a:r>
            <a:r>
              <a:rPr lang="zh-CN" altLang="en-US" sz="2400" dirty="0"/>
              <a:t>为</a:t>
            </a:r>
            <a:r>
              <a:rPr lang="en-US" altLang="zh-CN" sz="2400" dirty="0"/>
              <a:t>20px</a:t>
            </a:r>
            <a:r>
              <a:rPr lang="zh-CN" altLang="en-US" sz="2400" dirty="0"/>
              <a:t>，</a:t>
            </a:r>
            <a:r>
              <a:rPr lang="en-US" altLang="zh-CN" sz="2400" dirty="0"/>
              <a:t>color</a:t>
            </a:r>
            <a:r>
              <a:rPr lang="zh-CN" altLang="en-US" sz="2400" dirty="0"/>
              <a:t>为</a:t>
            </a:r>
            <a:r>
              <a:rPr lang="en-US" altLang="zh-CN" sz="2400" dirty="0"/>
              <a:t>purple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endParaRPr lang="en-US" altLang="zh-CN" sz="2400" dirty="0" smtClean="0"/>
          </a:p>
          <a:p>
            <a:pPr marL="0" indent="0">
              <a:lnSpc>
                <a:spcPct val="130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30000"/>
              </a:lnSpc>
              <a:buNone/>
            </a:pPr>
            <a:endParaRPr lang="en-US" altLang="zh-CN" sz="2400" dirty="0" smtClean="0"/>
          </a:p>
          <a:p>
            <a:pPr marL="0" indent="0">
              <a:lnSpc>
                <a:spcPct val="130000"/>
              </a:lnSpc>
              <a:buNone/>
            </a:pPr>
            <a:r>
              <a:rPr lang="en-US" altLang="zh-CN" sz="2400" dirty="0" smtClean="0"/>
              <a:t>&lt;</a:t>
            </a:r>
            <a:r>
              <a:rPr lang="en-US" altLang="zh-CN" sz="2400" dirty="0"/>
              <a:t>p class="red" id="blue" style="</a:t>
            </a:r>
            <a:r>
              <a:rPr lang="en-US" altLang="zh-CN" sz="2400" dirty="0" err="1"/>
              <a:t>color:purple</a:t>
            </a:r>
            <a:r>
              <a:rPr lang="en-US" altLang="zh-CN" sz="2400" dirty="0"/>
              <a:t>"&gt;</a:t>
            </a:r>
            <a:r>
              <a:rPr lang="zh-CN" altLang="en-US" sz="2400" dirty="0"/>
              <a:t>前端开发</a:t>
            </a:r>
            <a:r>
              <a:rPr lang="en-US" altLang="zh-CN" sz="2400" dirty="0"/>
              <a:t>&lt;/p&gt;</a:t>
            </a:r>
            <a:endParaRPr lang="en-US" altLang="zh-CN" sz="2400" dirty="0"/>
          </a:p>
          <a:p>
            <a:pPr marL="0" indent="0">
              <a:lnSpc>
                <a:spcPct val="130000"/>
              </a:lnSpc>
              <a:buNone/>
            </a:pPr>
            <a:endParaRPr lang="zh-CN" altLang="en-US" sz="2400" dirty="0"/>
          </a:p>
          <a:p>
            <a:pPr marL="0" indent="0">
              <a:lnSpc>
                <a:spcPct val="130000"/>
              </a:lnSpc>
              <a:buNone/>
            </a:pPr>
            <a:endParaRPr lang="en-US" altLang="zh-CN" sz="2400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813" y="4114318"/>
            <a:ext cx="1815297" cy="1963760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/>
            </a:pPr>
            <a:r>
              <a:rPr lang="en-US" altLang="zh-CN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层叠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805333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33" name="标题 1"/>
          <p:cNvSpPr txBox="1"/>
          <p:nvPr/>
        </p:nvSpPr>
        <p:spPr>
          <a:xfrm>
            <a:off x="1161627" y="131869"/>
            <a:ext cx="10905066" cy="1135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zh-CN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0">
                <a:latin typeface="+mn-ea"/>
                <a:cs typeface="Calibri" charset="0"/>
              </a:defRPr>
            </a:lvl1pPr>
          </a:lstStyle>
          <a:p>
            <a:r>
              <a:rPr lang="en-US" altLang="zh-CN" dirty="0"/>
              <a:t>CSS</a:t>
            </a:r>
            <a:r>
              <a:rPr lang="zh-CN" altLang="en-US" dirty="0" smtClean="0"/>
              <a:t>层叠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014060" y="1508760"/>
            <a:ext cx="100684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&lt;p id=“blue” class=“red” style=“</a:t>
            </a:r>
            <a:r>
              <a:rPr lang="en-US" altLang="zh-CN" sz="20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color:lightgreen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”&gt;Paragraph&lt;/p&gt;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#blue{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</a:t>
            </a:r>
            <a:r>
              <a:rPr lang="en-US" altLang="zh-CN" sz="20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color:blue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;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font-size:16px;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}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.red{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</a:t>
            </a:r>
            <a:r>
              <a:rPr lang="en-US" altLang="zh-CN" sz="20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color:red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;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font-size:18px;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}</a:t>
            </a:r>
            <a:endParaRPr lang="en-US" altLang="zh-CN" sz="20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970285" y="5942633"/>
            <a:ext cx="42082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Paragraph</a:t>
            </a:r>
            <a:r>
              <a:rPr lang="zh-CN" altLang="en-US" dirty="0" smtClean="0">
                <a:solidFill>
                  <a:srgbClr val="FF0000"/>
                </a:solidFill>
              </a:rPr>
              <a:t>文本的字号多少，颜色多少？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303289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36662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en-US" altLang="zh-CN" sz="3600" b="1" kern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sz="3600" b="1" kern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样式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838200" y="1246414"/>
            <a:ext cx="10515600" cy="493054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用于样式文本的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CSS 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属性通常可以分为两</a:t>
            </a:r>
            <a:r>
              <a:rPr lang="zh-CN" altLang="en-US" dirty="0" smtClean="0">
                <a:latin typeface="Arial" panose="020B0604020202090204" pitchFamily="34" charset="0"/>
                <a:cs typeface="Arial" panose="020B0604020202090204" pitchFamily="34" charset="0"/>
              </a:rPr>
              <a:t>类：</a:t>
            </a:r>
            <a:endParaRPr lang="en-US" altLang="zh-CN" dirty="0" smtClean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字体样式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: 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作用于字体的属性，会直接应用到文本中，比如使用哪种字体，字体的大小是怎样的，字体是粗体还是</a:t>
            </a:r>
            <a:r>
              <a:rPr lang="zh-CN" altLang="en-US" dirty="0" smtClean="0">
                <a:latin typeface="Arial" panose="020B0604020202090204" pitchFamily="34" charset="0"/>
                <a:cs typeface="Arial" panose="020B0604020202090204" pitchFamily="34" charset="0"/>
              </a:rPr>
              <a:t>斜体等等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。</a:t>
            </a:r>
            <a:endParaRPr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>
                <a:latin typeface="Arial" panose="020B0604020202090204" pitchFamily="34" charset="0"/>
                <a:cs typeface="Arial" panose="020B0604020202090204" pitchFamily="34" charset="0"/>
              </a:rPr>
              <a:t>文本布局风格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: 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作用于文本的间距以及其他布局功能的属性，</a:t>
            </a:r>
            <a:r>
              <a:rPr lang="zh-CN" altLang="en-US" dirty="0" smtClean="0">
                <a:latin typeface="Arial" panose="020B0604020202090204" pitchFamily="34" charset="0"/>
                <a:cs typeface="Arial" panose="020B0604020202090204" pitchFamily="34" charset="0"/>
              </a:rPr>
              <a:t>比如，允许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操纵</a:t>
            </a:r>
            <a:r>
              <a:rPr lang="zh-CN" altLang="en-US" dirty="0" smtClean="0">
                <a:latin typeface="Arial" panose="020B0604020202090204" pitchFamily="34" charset="0"/>
                <a:cs typeface="Arial" panose="020B0604020202090204" pitchFamily="34" charset="0"/>
              </a:rPr>
              <a:t>行、字母、单词之间</a:t>
            </a:r>
            <a:r>
              <a:rPr lang="zh-CN" altLang="en-US" dirty="0">
                <a:latin typeface="Arial" panose="020B0604020202090204" pitchFamily="34" charset="0"/>
                <a:cs typeface="Arial" panose="020B0604020202090204" pitchFamily="34" charset="0"/>
              </a:rPr>
              <a:t>的空间，以及在内容框中，文本如何对齐。</a:t>
            </a:r>
            <a:endParaRPr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CN" altLang="en-US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文本与文字样式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8510" y="1027249"/>
            <a:ext cx="346856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p</a:t>
            </a:r>
            <a:r>
              <a:rPr lang="en-US" altLang="zh-CN" sz="2000" dirty="0" smtClean="0">
                <a:latin typeface="Arial" panose="020B0604020202090204" pitchFamily="34" charset="0"/>
                <a:cs typeface="Arial" panose="020B0604020202090204" pitchFamily="34" charset="0"/>
              </a:rPr>
              <a:t> {</a:t>
            </a:r>
            <a:endParaRPr lang="en-US" altLang="zh-CN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f</a:t>
            </a:r>
            <a:r>
              <a:rPr lang="en-US" altLang="zh-CN" sz="2000" dirty="0" smtClean="0">
                <a:latin typeface="Arial" panose="020B0604020202090204" pitchFamily="34" charset="0"/>
                <a:cs typeface="Arial" panose="020B0604020202090204" pitchFamily="34" charset="0"/>
              </a:rPr>
              <a:t>ont-size</a:t>
            </a: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: 12px ;</a:t>
            </a:r>
            <a:endParaRPr lang="en-US" altLang="zh-CN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 smtClean="0">
                <a:latin typeface="Arial" panose="020B0604020202090204" pitchFamily="34" charset="0"/>
                <a:cs typeface="Arial" panose="020B0604020202090204" pitchFamily="34" charset="0"/>
              </a:rPr>
              <a:t>color: blue </a:t>
            </a: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endParaRPr lang="en-US" altLang="zh-CN" sz="20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 smtClean="0">
                <a:latin typeface="Arial" panose="020B0604020202090204" pitchFamily="34" charset="0"/>
                <a:cs typeface="Arial" panose="020B0604020202090204" pitchFamily="34" charset="0"/>
              </a:rPr>
              <a:t>font-weight: bold ;</a:t>
            </a:r>
            <a:endParaRPr lang="en-US" altLang="zh-CN" sz="2000" dirty="0" smtClean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r>
              <a:rPr lang="en-US" altLang="zh-CN" sz="2000" dirty="0" smtClean="0">
                <a:latin typeface="Arial" panose="020B0604020202090204" pitchFamily="34" charset="0"/>
                <a:cs typeface="Arial" panose="020B0604020202090204" pitchFamily="34" charset="0"/>
              </a:rPr>
              <a:t>}</a:t>
            </a:r>
            <a:endParaRPr lang="zh-CN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6240612" y="1027249"/>
          <a:ext cx="4886134" cy="55291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202"/>
                <a:gridCol w="3794932"/>
              </a:tblGrid>
              <a:tr h="407173"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单位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描述</a:t>
                      </a:r>
                      <a:endParaRPr lang="zh-CN" altLang="en-US" sz="2000" dirty="0"/>
                    </a:p>
                  </a:txBody>
                  <a:tcPr/>
                </a:tc>
              </a:tr>
              <a:tr h="519476">
                <a:tc>
                  <a:txBody>
                    <a:bodyPr/>
                    <a:lstStyle/>
                    <a:p>
                      <a:r>
                        <a:rPr lang="en-US" altLang="zh-CN" sz="2000" dirty="0" err="1" smtClean="0"/>
                        <a:t>px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像素，屏幕上的一个点，相对于屏幕分辨率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519476">
                <a:tc>
                  <a:txBody>
                    <a:bodyPr/>
                    <a:lstStyle/>
                    <a:p>
                      <a:r>
                        <a:rPr lang="en-US" altLang="zh-CN" sz="2000" dirty="0" err="1" smtClean="0"/>
                        <a:t>pt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磅，点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940979">
                <a:tc>
                  <a:txBody>
                    <a:bodyPr/>
                    <a:lstStyle/>
                    <a:p>
                      <a:r>
                        <a:rPr lang="en-US" altLang="zh-CN" sz="2000" dirty="0" err="1" smtClean="0"/>
                        <a:t>em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1em-----1</a:t>
                      </a:r>
                      <a:r>
                        <a:rPr lang="zh-CN" altLang="en-US" sz="1800" dirty="0" smtClean="0"/>
                        <a:t>个字符，相对于当前字符大小，当前字符大小默认会从父元素继承</a:t>
                      </a:r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2em-----2</a:t>
                      </a:r>
                      <a:r>
                        <a:rPr lang="zh-CN" altLang="en-US" sz="1800" dirty="0" smtClean="0"/>
                        <a:t>个字符</a:t>
                      </a:r>
                      <a:endParaRPr lang="en-US" altLang="zh-CN" sz="1800" dirty="0" smtClean="0"/>
                    </a:p>
                    <a:p>
                      <a:r>
                        <a:rPr lang="zh-CN" altLang="en-US" sz="1800" dirty="0" smtClean="0"/>
                        <a:t>自动适应用户所使用的字体</a:t>
                      </a:r>
                      <a:endParaRPr lang="zh-CN" altLang="en-US" sz="1800" dirty="0"/>
                    </a:p>
                  </a:txBody>
                  <a:tcPr anchor="ctr"/>
                </a:tc>
              </a:tr>
              <a:tr h="940979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rem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1rem</a:t>
                      </a:r>
                      <a:r>
                        <a:rPr lang="zh-CN" altLang="en-US" sz="1800" dirty="0" smtClean="0"/>
                        <a:t>：</a:t>
                      </a:r>
                      <a:r>
                        <a:rPr lang="en-US" altLang="zh-CN" sz="1800" dirty="0" smtClean="0"/>
                        <a:t>1</a:t>
                      </a:r>
                      <a:r>
                        <a:rPr lang="zh-CN" altLang="en-US" sz="1800" dirty="0" smtClean="0"/>
                        <a:t>个字符，相对于</a:t>
                      </a:r>
                      <a:r>
                        <a:rPr lang="en-US" altLang="zh-CN" sz="1800" dirty="0" smtClean="0"/>
                        <a:t>html</a:t>
                      </a:r>
                      <a:r>
                        <a:rPr lang="zh-CN" altLang="en-US" sz="1800" dirty="0" smtClean="0"/>
                        <a:t>元素的字符大小，例如：</a:t>
                      </a:r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html{</a:t>
                      </a:r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    font-size:16px;</a:t>
                      </a:r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}</a:t>
                      </a:r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h1{font-size:2rem;}</a:t>
                      </a:r>
                      <a:r>
                        <a:rPr lang="zh-CN" altLang="en-US" sz="1800" dirty="0" smtClean="0"/>
                        <a:t>，则</a:t>
                      </a:r>
                      <a:r>
                        <a:rPr lang="en-US" altLang="zh-CN" sz="1800" dirty="0" smtClean="0"/>
                        <a:t>h1</a:t>
                      </a:r>
                      <a:r>
                        <a:rPr lang="zh-CN" altLang="en-US" sz="1800" dirty="0" smtClean="0"/>
                        <a:t>为</a:t>
                      </a:r>
                      <a:r>
                        <a:rPr lang="en-US" altLang="zh-CN" sz="1800" dirty="0" smtClean="0"/>
                        <a:t>32px</a:t>
                      </a:r>
                      <a:r>
                        <a:rPr lang="zh-CN" altLang="en-US" sz="1800" dirty="0" smtClean="0"/>
                        <a:t>；</a:t>
                      </a:r>
                      <a:endParaRPr lang="zh-CN" altLang="en-US" sz="1800" dirty="0"/>
                    </a:p>
                  </a:txBody>
                  <a:tcPr anchor="ctr"/>
                </a:tc>
              </a:tr>
              <a:tr h="625727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%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百分比，总是相对于其他值大小进行设置的</a:t>
                      </a:r>
                      <a:endParaRPr lang="zh-CN" altLang="en-US" sz="20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729597" y="3526972"/>
            <a:ext cx="38097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err="1"/>
              <a:t>em</a:t>
            </a:r>
            <a:r>
              <a:rPr lang="zh-CN" altLang="en-US" dirty="0"/>
              <a:t>是相对长度单位。相对于当前对象内文本的字体尺寸。如当前对行内文本的字体尺寸未被人为设置，则相对于浏览器的默认字体尺寸。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文本与文字样式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95867" y="1354122"/>
          <a:ext cx="8714731" cy="5223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3904"/>
                <a:gridCol w="5560827"/>
              </a:tblGrid>
              <a:tr h="291013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颜色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描述</a:t>
                      </a:r>
                      <a:endParaRPr lang="zh-CN" altLang="en-US" sz="1800" dirty="0"/>
                    </a:p>
                  </a:txBody>
                  <a:tcPr/>
                </a:tc>
              </a:tr>
              <a:tr h="387723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red blue green black……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颜色名</a:t>
                      </a:r>
                      <a:r>
                        <a:rPr lang="en-US" altLang="zh-CN" sz="1800" dirty="0" smtClean="0"/>
                        <a:t>https://www.w3school.com.cn/cssref/css_colors.asp</a:t>
                      </a:r>
                      <a:endParaRPr lang="zh-CN" altLang="en-US" sz="1800" dirty="0"/>
                    </a:p>
                  </a:txBody>
                  <a:tcPr/>
                </a:tc>
              </a:tr>
              <a:tr h="925951"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rgb</a:t>
                      </a:r>
                      <a:r>
                        <a:rPr lang="en-US" altLang="zh-CN" sz="1800" dirty="0" smtClean="0"/>
                        <a:t>(</a:t>
                      </a:r>
                      <a:r>
                        <a:rPr lang="en-US" altLang="zh-CN" sz="1800" dirty="0" err="1" smtClean="0"/>
                        <a:t>x,x,x</a:t>
                      </a:r>
                      <a:r>
                        <a:rPr lang="en-US" altLang="zh-CN" sz="1800" dirty="0" smtClean="0"/>
                        <a:t>)</a:t>
                      </a:r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/*</a:t>
                      </a:r>
                      <a:r>
                        <a:rPr lang="en-US" altLang="zh-CN" sz="1800" dirty="0" err="1" smtClean="0"/>
                        <a:t>rgb</a:t>
                      </a:r>
                      <a:r>
                        <a:rPr lang="en-US" altLang="zh-CN" sz="1800" dirty="0" smtClean="0"/>
                        <a:t>(</a:t>
                      </a:r>
                      <a:r>
                        <a:rPr lang="en-US" altLang="zh-CN" sz="1800" i="1" dirty="0" smtClean="0">
                          <a:effectLst/>
                        </a:rPr>
                        <a:t>red</a:t>
                      </a:r>
                      <a:r>
                        <a:rPr lang="en-US" altLang="zh-CN" sz="1800" dirty="0" smtClean="0"/>
                        <a:t>, </a:t>
                      </a:r>
                      <a:r>
                        <a:rPr lang="en-US" altLang="zh-CN" sz="1800" i="1" dirty="0" smtClean="0">
                          <a:effectLst/>
                        </a:rPr>
                        <a:t>green</a:t>
                      </a:r>
                      <a:r>
                        <a:rPr lang="en-US" altLang="zh-CN" sz="1800" dirty="0" smtClean="0"/>
                        <a:t>, </a:t>
                      </a:r>
                      <a:r>
                        <a:rPr lang="en-US" altLang="zh-CN" sz="1800" i="1" dirty="0" smtClean="0">
                          <a:effectLst/>
                        </a:rPr>
                        <a:t>blue</a:t>
                      </a:r>
                      <a:r>
                        <a:rPr lang="en-US" altLang="zh-CN" sz="1800" dirty="0" smtClean="0"/>
                        <a:t>)*/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 </a:t>
                      </a:r>
                      <a:r>
                        <a:rPr lang="zh-CN" alt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值</a:t>
                      </a:r>
                      <a:endParaRPr lang="zh-CN" altLang="en-US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每个颜色分量取值</a:t>
                      </a:r>
                      <a:r>
                        <a:rPr lang="en-US" altLang="zh-C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0~255</a:t>
                      </a:r>
                      <a:endParaRPr lang="en-US" altLang="zh-CN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红色：</a:t>
                      </a:r>
                      <a:r>
                        <a:rPr lang="en-US" altLang="zh-CN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r>
                        <a:rPr lang="en-US" altLang="zh-C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(255,0,0)</a:t>
                      </a:r>
                      <a:endParaRPr lang="en-US" altLang="zh-CN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灰色：</a:t>
                      </a:r>
                      <a:r>
                        <a:rPr lang="en-US" altLang="zh-CN" sz="1800" b="0" i="0" u="none" strike="noStrike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r>
                        <a:rPr lang="en-US" altLang="zh-CN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(66,66,66)	</a:t>
                      </a:r>
                      <a:endParaRPr lang="en-US" altLang="zh-CN" sz="18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714305">
                <a:tc>
                  <a:txBody>
                    <a:bodyPr/>
                    <a:lstStyle/>
                    <a:p>
                      <a:r>
                        <a:rPr lang="en-US" altLang="zh-CN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r>
                        <a:rPr lang="en-US" altLang="zh-C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CN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x%,x%,x</a:t>
                      </a:r>
                      <a:r>
                        <a:rPr lang="en-US" altLang="zh-C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%)</a:t>
                      </a:r>
                      <a:endParaRPr lang="zh-CN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RGB</a:t>
                      </a:r>
                      <a:r>
                        <a:rPr lang="zh-CN" altLang="en-US" sz="1800" dirty="0" smtClean="0"/>
                        <a:t>百分比值 </a:t>
                      </a:r>
                      <a:r>
                        <a:rPr lang="en-US" altLang="zh-CN" sz="1800" dirty="0" smtClean="0"/>
                        <a:t>0% ~100%</a:t>
                      </a:r>
                      <a:endParaRPr lang="en-US" altLang="zh-CN" sz="1800" dirty="0" smtClean="0"/>
                    </a:p>
                    <a:p>
                      <a:r>
                        <a:rPr lang="zh-CN" altLang="en-US" sz="1800" dirty="0" smtClean="0"/>
                        <a:t>蓝色：</a:t>
                      </a:r>
                      <a:endParaRPr lang="zh-CN" altLang="en-US" sz="1800" dirty="0" smtClean="0"/>
                    </a:p>
                    <a:p>
                      <a:r>
                        <a:rPr lang="en-US" altLang="zh-CN" sz="1800" dirty="0" err="1" smtClean="0"/>
                        <a:t>rgb</a:t>
                      </a:r>
                      <a:r>
                        <a:rPr lang="en-US" altLang="zh-CN" sz="1800" dirty="0" smtClean="0"/>
                        <a:t> (0%,0%,100%)</a:t>
                      </a:r>
                      <a:r>
                        <a:rPr lang="zh-CN" altLang="en-US" sz="1800" dirty="0" smtClean="0"/>
                        <a:t>等价于</a:t>
                      </a:r>
                      <a:r>
                        <a:rPr lang="en-US" altLang="zh-CN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  <a:r>
                        <a:rPr lang="en-US" altLang="zh-C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(0,0,255)</a:t>
                      </a:r>
                      <a:endParaRPr lang="zh-CN" altLang="en-US" sz="1800" dirty="0"/>
                    </a:p>
                  </a:txBody>
                  <a:tcPr/>
                </a:tc>
              </a:tr>
              <a:tr h="925951"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rgba</a:t>
                      </a:r>
                      <a:r>
                        <a:rPr lang="en-US" altLang="zh-CN" sz="1800" dirty="0" smtClean="0"/>
                        <a:t>(</a:t>
                      </a:r>
                      <a:r>
                        <a:rPr lang="en-US" altLang="zh-CN" sz="1800" dirty="0" err="1" smtClean="0"/>
                        <a:t>x,x,x,x</a:t>
                      </a:r>
                      <a:r>
                        <a:rPr lang="en-US" altLang="zh-CN" sz="1800" dirty="0" smtClean="0"/>
                        <a:t>)</a:t>
                      </a:r>
                      <a:endParaRPr lang="en-US" altLang="zh-CN" sz="1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RGB</a:t>
                      </a:r>
                      <a:r>
                        <a:rPr lang="zh-CN" altLang="en-US" sz="1800" dirty="0" smtClean="0"/>
                        <a:t>值，透明度</a:t>
                      </a:r>
                      <a:endParaRPr lang="zh-CN" altLang="en-US" sz="1800" dirty="0" smtClean="0"/>
                    </a:p>
                    <a:p>
                      <a:r>
                        <a:rPr lang="en-US" altLang="zh-CN" sz="1800" dirty="0" smtClean="0"/>
                        <a:t>a</a:t>
                      </a:r>
                      <a:r>
                        <a:rPr lang="zh-CN" altLang="en-US" sz="1800" dirty="0" smtClean="0"/>
                        <a:t>值： </a:t>
                      </a:r>
                      <a:r>
                        <a:rPr lang="en-US" altLang="zh-CN" sz="1800" dirty="0" smtClean="0"/>
                        <a:t>0.0 </a:t>
                      </a:r>
                      <a:r>
                        <a:rPr lang="zh-CN" altLang="en-US" sz="1800" dirty="0" smtClean="0"/>
                        <a:t>（完全透明）与 </a:t>
                      </a:r>
                      <a:r>
                        <a:rPr lang="en-US" altLang="zh-CN" sz="1800" dirty="0" smtClean="0"/>
                        <a:t>1.0 </a:t>
                      </a:r>
                      <a:r>
                        <a:rPr lang="zh-CN" altLang="en-US" sz="1800" dirty="0" smtClean="0"/>
                        <a:t>（完全不透明</a:t>
                      </a:r>
                      <a:r>
                        <a:rPr lang="en-US" altLang="zh-CN" sz="1800" dirty="0" smtClean="0"/>
                        <a:t>)</a:t>
                      </a:r>
                      <a:endParaRPr lang="zh-CN" altLang="en-US" sz="1800" dirty="0" smtClean="0"/>
                    </a:p>
                    <a:p>
                      <a:r>
                        <a:rPr lang="zh-CN" altLang="en-US" sz="1800" dirty="0" smtClean="0"/>
                        <a:t>红色半透明：</a:t>
                      </a:r>
                      <a:endParaRPr lang="zh-CN" altLang="en-US" sz="1800" dirty="0" smtClean="0"/>
                    </a:p>
                    <a:p>
                      <a:r>
                        <a:rPr lang="en-US" altLang="zh-CN" sz="1800" dirty="0" err="1" smtClean="0"/>
                        <a:t>rgba</a:t>
                      </a:r>
                      <a:r>
                        <a:rPr lang="en-US" altLang="zh-CN" sz="1800" dirty="0" smtClean="0"/>
                        <a:t> (255,0,0,0.5)</a:t>
                      </a:r>
                      <a:endParaRPr lang="zh-CN" altLang="en-US" sz="1800" dirty="0"/>
                    </a:p>
                  </a:txBody>
                  <a:tcPr/>
                </a:tc>
              </a:tr>
              <a:tr h="925951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#</a:t>
                      </a:r>
                      <a:r>
                        <a:rPr lang="en-US" altLang="zh-CN" sz="1800" dirty="0" err="1" smtClean="0"/>
                        <a:t>rrggbb</a:t>
                      </a:r>
                      <a:endParaRPr lang="en-US" altLang="zh-CN" sz="18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十六进制数</a:t>
                      </a:r>
                      <a:endParaRPr lang="zh-CN" altLang="en-US" sz="1800" dirty="0" smtClean="0"/>
                    </a:p>
                    <a:p>
                      <a:r>
                        <a:rPr lang="zh-CN" altLang="en-US" sz="1800" dirty="0" smtClean="0"/>
                        <a:t>红色：</a:t>
                      </a:r>
                      <a:r>
                        <a:rPr lang="en-US" altLang="zh-CN" sz="1800" dirty="0" smtClean="0"/>
                        <a:t>#ff0000</a:t>
                      </a:r>
                      <a:endParaRPr lang="en-US" altLang="zh-CN" sz="1800" dirty="0" smtClean="0"/>
                    </a:p>
                    <a:p>
                      <a:r>
                        <a:rPr lang="zh-CN" altLang="en-US" sz="1800" dirty="0" smtClean="0"/>
                        <a:t>红色：</a:t>
                      </a:r>
                      <a:r>
                        <a:rPr lang="en-US" altLang="zh-CN" sz="1800" dirty="0" smtClean="0"/>
                        <a:t>#f00 </a:t>
                      </a:r>
                      <a:r>
                        <a:rPr lang="zh-CN" altLang="en-US" sz="1800" dirty="0" smtClean="0"/>
                        <a:t>去掉重复位</a:t>
                      </a:r>
                      <a:endParaRPr lang="zh-CN" altLang="en-US" sz="18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8432" y="2727243"/>
            <a:ext cx="3474918" cy="29150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文本与文字样式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60988" y="1219797"/>
          <a:ext cx="10906469" cy="5239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2981"/>
                <a:gridCol w="3465038"/>
                <a:gridCol w="4248450"/>
              </a:tblGrid>
              <a:tr h="417778"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颜色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描述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取值</a:t>
                      </a:r>
                      <a:endParaRPr lang="zh-CN" altLang="en-US" sz="2000" dirty="0"/>
                    </a:p>
                  </a:txBody>
                  <a:tcPr/>
                </a:tc>
              </a:tr>
              <a:tr h="297751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color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文本颜色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red</a:t>
                      </a:r>
                      <a:r>
                        <a:rPr lang="zh-CN" altLang="en-US" sz="2000" dirty="0" smtClean="0"/>
                        <a:t>、</a:t>
                      </a:r>
                      <a:r>
                        <a:rPr lang="en-US" altLang="zh-CN" sz="2000" dirty="0" smtClean="0"/>
                        <a:t>#f00</a:t>
                      </a:r>
                      <a:r>
                        <a:rPr lang="zh-CN" altLang="en-US" sz="2000" dirty="0" smtClean="0"/>
                        <a:t>、</a:t>
                      </a:r>
                      <a:r>
                        <a:rPr lang="en-US" altLang="zh-CN" sz="2000" dirty="0" err="1" smtClean="0"/>
                        <a:t>rgb</a:t>
                      </a:r>
                      <a:r>
                        <a:rPr lang="en-US" altLang="zh-CN" sz="2000" dirty="0" smtClean="0"/>
                        <a:t>(255,0,0)</a:t>
                      </a:r>
                      <a:endParaRPr lang="zh-CN" altLang="en-US" sz="2000" dirty="0"/>
                    </a:p>
                  </a:txBody>
                  <a:tcPr/>
                </a:tc>
              </a:tr>
              <a:tr h="631876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letter-spacing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字符间距</a:t>
                      </a:r>
                      <a:r>
                        <a:rPr lang="en-US" altLang="zh-CN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en-US" altLang="zh-CN" sz="20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2px -3px</a:t>
                      </a:r>
                      <a:endParaRPr lang="en-US" altLang="zh-CN" sz="2000" b="0" i="0" u="none" strike="noStrike" kern="1200" baseline="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487448">
                <a:tc>
                  <a:txBody>
                    <a:bodyPr/>
                    <a:lstStyle/>
                    <a:p>
                      <a:r>
                        <a:rPr lang="en-US" altLang="zh-CN" sz="20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line-height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行高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14px 1.5em 120%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570766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text-align</a:t>
                      </a:r>
                      <a:endParaRPr lang="en-US" altLang="zh-CN" sz="2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对齐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center left right justify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481853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text-decoration</a:t>
                      </a:r>
                      <a:endParaRPr lang="en-US" altLang="zh-CN" sz="2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装饰线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none</a:t>
                      </a:r>
                      <a:r>
                        <a:rPr lang="zh-CN" altLang="en-US" sz="2000" dirty="0" smtClean="0"/>
                        <a:t>、</a:t>
                      </a:r>
                      <a:r>
                        <a:rPr lang="en-US" altLang="zh-CN" sz="2000" dirty="0" err="1" smtClean="0"/>
                        <a:t>overline</a:t>
                      </a:r>
                      <a:r>
                        <a:rPr lang="zh-CN" altLang="en-US" sz="2000" dirty="0" smtClean="0"/>
                        <a:t>、</a:t>
                      </a:r>
                      <a:r>
                        <a:rPr lang="en-US" altLang="zh-CN" sz="2000" dirty="0" smtClean="0"/>
                        <a:t>underline</a:t>
                      </a:r>
                      <a:r>
                        <a:rPr lang="zh-CN" altLang="en-US" sz="2000" dirty="0" smtClean="0"/>
                        <a:t>、</a:t>
                      </a:r>
                      <a:r>
                        <a:rPr lang="en-US" altLang="zh-CN" sz="2000" dirty="0" smtClean="0"/>
                        <a:t>line-through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631876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text-indent</a:t>
                      </a:r>
                      <a:endParaRPr lang="en-US" altLang="zh-CN" sz="2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首行缩进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2em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631876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text-transform</a:t>
                      </a:r>
                      <a:endParaRPr lang="zh-CN" altLang="en-US" sz="2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设置要转换的字体</a:t>
                      </a:r>
                      <a:endParaRPr lang="zh-CN" altLang="en-US" sz="2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none</a:t>
                      </a:r>
                      <a:r>
                        <a:rPr lang="zh-CN" altLang="en-US" sz="2000" dirty="0" smtClean="0"/>
                        <a:t>、</a:t>
                      </a:r>
                      <a:r>
                        <a:rPr lang="en-US" altLang="zh-CN" sz="2000" dirty="0" smtClean="0"/>
                        <a:t>uppercase</a:t>
                      </a:r>
                      <a:r>
                        <a:rPr lang="zh-CN" altLang="en-US" sz="2000" dirty="0" smtClean="0"/>
                        <a:t>、</a:t>
                      </a:r>
                      <a:r>
                        <a:rPr lang="en-US" altLang="zh-CN" sz="2000" dirty="0" smtClean="0"/>
                        <a:t>lowercase</a:t>
                      </a:r>
                      <a:r>
                        <a:rPr lang="zh-CN" altLang="en-US" sz="2000" dirty="0" smtClean="0"/>
                        <a:t>、</a:t>
                      </a:r>
                      <a:r>
                        <a:rPr lang="en-US" altLang="zh-CN" sz="2000" dirty="0" smtClean="0"/>
                        <a:t>capitalize</a:t>
                      </a:r>
                      <a:endParaRPr lang="zh-CN" altLang="en-US" sz="2000" dirty="0"/>
                    </a:p>
                  </a:txBody>
                  <a:tcPr anchor="ctr"/>
                </a:tc>
              </a:tr>
              <a:tr h="631876"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text-overflow</a:t>
                      </a:r>
                      <a:endParaRPr lang="en-US" altLang="zh-CN" sz="20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2000" dirty="0" smtClean="0"/>
                        <a:t>如何提示用户存在隐藏的溢出内容</a:t>
                      </a:r>
                      <a:endParaRPr lang="zh-CN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2000" dirty="0" smtClean="0"/>
                        <a:t>clip</a:t>
                      </a:r>
                      <a:r>
                        <a:rPr lang="zh-CN" altLang="en-US" sz="2000" dirty="0" smtClean="0"/>
                        <a:t>、</a:t>
                      </a:r>
                      <a:r>
                        <a:rPr lang="en-US" altLang="zh-CN" sz="2000" dirty="0" smtClean="0"/>
                        <a:t>ellipsis</a:t>
                      </a:r>
                      <a:r>
                        <a:rPr lang="zh-CN" altLang="en-US" sz="2000" dirty="0" smtClean="0"/>
                        <a:t>、</a:t>
                      </a:r>
                      <a:r>
                        <a:rPr lang="en-US" altLang="zh-CN" sz="2000" i="1" dirty="0" smtClean="0"/>
                        <a:t>string</a:t>
                      </a:r>
                      <a:r>
                        <a:rPr lang="zh-CN" altLang="en-US" sz="2000" dirty="0" smtClean="0"/>
                        <a:t>（自定义字符串）</a:t>
                      </a:r>
                      <a:endParaRPr lang="zh-CN" altLang="en-US" sz="2000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字体样式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95867" y="4504171"/>
            <a:ext cx="11226415" cy="2149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1145" lvl="0" indent="-247015">
              <a:buFont typeface="Wingdings" panose="05000000000000000000"/>
              <a:buChar char=""/>
              <a:tabLst>
                <a:tab pos="271780" algn="l"/>
              </a:tabLst>
            </a:pP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各种字体之间必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须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使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用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英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文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状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态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下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逗</a:t>
            </a:r>
            <a:r>
              <a:rPr lang="zh-CN" altLang="en-US" spc="-6" dirty="0">
                <a:solidFill>
                  <a:srgbClr val="252525"/>
                </a:solidFill>
                <a:latin typeface="微软雅黑"/>
                <a:cs typeface="微软雅黑"/>
              </a:rPr>
              <a:t>号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隔开</a:t>
            </a:r>
            <a:endParaRPr lang="zh-CN" altLang="en-US" dirty="0">
              <a:solidFill>
                <a:prstClr val="black"/>
              </a:solidFill>
              <a:latin typeface="微软雅黑"/>
              <a:cs typeface="微软雅黑"/>
            </a:endParaRPr>
          </a:p>
          <a:p>
            <a:pPr lvl="0">
              <a:spcBef>
                <a:spcPts val="55"/>
              </a:spcBef>
              <a:buClr>
                <a:srgbClr val="252525"/>
              </a:buClr>
              <a:buFont typeface="Wingdings" panose="05000000000000000000"/>
              <a:buChar char=""/>
            </a:pPr>
            <a:endParaRPr lang="zh-CN" altLang="en-US" sz="2000" dirty="0">
              <a:solidFill>
                <a:prstClr val="black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24790" lvl="0" indent="-201295">
              <a:buFont typeface="Wingdings" panose="05000000000000000000"/>
              <a:buChar char=""/>
              <a:tabLst>
                <a:tab pos="225425" algn="l"/>
              </a:tabLst>
            </a:pP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一般情况下</a:t>
            </a:r>
            <a:r>
              <a:rPr lang="en-US" altLang="zh-CN" spc="-6" dirty="0">
                <a:solidFill>
                  <a:srgbClr val="252525"/>
                </a:solidFill>
                <a:latin typeface="微软雅黑"/>
                <a:cs typeface="微软雅黑"/>
              </a:rPr>
              <a:t>,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如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果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有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空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格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隔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开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多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个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单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词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组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成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字</a:t>
            </a:r>
            <a:r>
              <a:rPr lang="zh-CN" altLang="en-US" dirty="0">
                <a:solidFill>
                  <a:srgbClr val="252525"/>
                </a:solidFill>
                <a:latin typeface="微软雅黑"/>
                <a:cs typeface="微软雅黑"/>
              </a:rPr>
              <a:t>体</a:t>
            </a:r>
            <a:r>
              <a:rPr lang="en-US" altLang="zh-CN" spc="-6" dirty="0">
                <a:solidFill>
                  <a:srgbClr val="252525"/>
                </a:solidFill>
                <a:latin typeface="微软雅黑"/>
                <a:cs typeface="微软雅黑"/>
              </a:rPr>
              <a:t>,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加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引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号</a:t>
            </a:r>
            <a:r>
              <a:rPr lang="en-US" altLang="zh-CN" dirty="0">
                <a:solidFill>
                  <a:srgbClr val="252525"/>
                </a:solidFill>
                <a:latin typeface="微软雅黑"/>
                <a:cs typeface="微软雅黑"/>
              </a:rPr>
              <a:t>.</a:t>
            </a:r>
            <a:endParaRPr lang="zh-CN" altLang="en-US" dirty="0">
              <a:solidFill>
                <a:prstClr val="black"/>
              </a:solidFill>
              <a:latin typeface="微软雅黑"/>
              <a:cs typeface="微软雅黑"/>
            </a:endParaRPr>
          </a:p>
          <a:p>
            <a:pPr lvl="0">
              <a:spcBef>
                <a:spcPts val="60"/>
              </a:spcBef>
              <a:buClr>
                <a:srgbClr val="252525"/>
              </a:buClr>
              <a:buFont typeface="Wingdings" panose="05000000000000000000"/>
              <a:buChar char=""/>
            </a:pPr>
            <a:endParaRPr lang="zh-CN" altLang="en-US" sz="2000" dirty="0">
              <a:solidFill>
                <a:prstClr val="black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71145" lvl="0" indent="-247015">
              <a:buFont typeface="Wingdings" panose="05000000000000000000"/>
              <a:buChar char=""/>
              <a:tabLst>
                <a:tab pos="271780" algn="l"/>
              </a:tabLst>
            </a:pPr>
            <a:r>
              <a:rPr lang="zh-CN" altLang="en-US" dirty="0">
                <a:solidFill>
                  <a:srgbClr val="252525"/>
                </a:solidFill>
                <a:latin typeface="微软雅黑"/>
                <a:cs typeface="微软雅黑"/>
              </a:rPr>
              <a:t>尽量使用系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统</a:t>
            </a:r>
            <a:r>
              <a:rPr lang="zh-CN" altLang="en-US" dirty="0">
                <a:solidFill>
                  <a:srgbClr val="252525"/>
                </a:solidFill>
                <a:latin typeface="微软雅黑"/>
                <a:cs typeface="微软雅黑"/>
              </a:rPr>
              <a:t>默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认</a:t>
            </a:r>
            <a:r>
              <a:rPr lang="zh-CN" altLang="en-US" dirty="0">
                <a:solidFill>
                  <a:srgbClr val="252525"/>
                </a:solidFill>
                <a:latin typeface="微软雅黑"/>
                <a:cs typeface="微软雅黑"/>
              </a:rPr>
              <a:t>自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带</a:t>
            </a:r>
            <a:r>
              <a:rPr lang="zh-CN" altLang="en-US" dirty="0">
                <a:solidFill>
                  <a:srgbClr val="252525"/>
                </a:solidFill>
                <a:latin typeface="微软雅黑"/>
                <a:cs typeface="微软雅黑"/>
              </a:rPr>
              <a:t>字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体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，</a:t>
            </a:r>
            <a:r>
              <a:rPr lang="zh-CN" altLang="en-US" spc="-18" dirty="0">
                <a:solidFill>
                  <a:srgbClr val="252525"/>
                </a:solidFill>
                <a:latin typeface="微软雅黑"/>
                <a:cs typeface="微软雅黑"/>
              </a:rPr>
              <a:t>保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证</a:t>
            </a:r>
            <a:r>
              <a:rPr lang="zh-CN" altLang="en-US" spc="-18" dirty="0">
                <a:solidFill>
                  <a:srgbClr val="252525"/>
                </a:solidFill>
                <a:latin typeface="微软雅黑"/>
                <a:cs typeface="微软雅黑"/>
              </a:rPr>
              <a:t>在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任</a:t>
            </a:r>
            <a:r>
              <a:rPr lang="zh-CN" altLang="en-US" spc="-18" dirty="0">
                <a:solidFill>
                  <a:srgbClr val="252525"/>
                </a:solidFill>
                <a:latin typeface="微软雅黑"/>
                <a:cs typeface="微软雅黑"/>
              </a:rPr>
              <a:t>何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用</a:t>
            </a:r>
            <a:r>
              <a:rPr lang="zh-CN" altLang="en-US" spc="-18" dirty="0">
                <a:solidFill>
                  <a:srgbClr val="252525"/>
                </a:solidFill>
                <a:latin typeface="微软雅黑"/>
                <a:cs typeface="微软雅黑"/>
              </a:rPr>
              <a:t>户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的</a:t>
            </a:r>
            <a:r>
              <a:rPr lang="zh-CN" altLang="en-US" spc="-18" dirty="0">
                <a:solidFill>
                  <a:srgbClr val="252525"/>
                </a:solidFill>
                <a:latin typeface="微软雅黑"/>
                <a:cs typeface="微软雅黑"/>
              </a:rPr>
              <a:t>浏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览</a:t>
            </a:r>
            <a:r>
              <a:rPr lang="zh-CN" altLang="en-US" spc="-18" dirty="0">
                <a:solidFill>
                  <a:srgbClr val="252525"/>
                </a:solidFill>
                <a:latin typeface="微软雅黑"/>
                <a:cs typeface="微软雅黑"/>
              </a:rPr>
              <a:t>器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中</a:t>
            </a:r>
            <a:r>
              <a:rPr lang="zh-CN" altLang="en-US" spc="-18" dirty="0">
                <a:solidFill>
                  <a:srgbClr val="252525"/>
                </a:solidFill>
                <a:latin typeface="微软雅黑"/>
                <a:cs typeface="微软雅黑"/>
              </a:rPr>
              <a:t>都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能</a:t>
            </a:r>
            <a:r>
              <a:rPr lang="zh-CN" altLang="en-US" spc="-18" dirty="0">
                <a:solidFill>
                  <a:srgbClr val="252525"/>
                </a:solidFill>
                <a:latin typeface="微软雅黑"/>
                <a:cs typeface="微软雅黑"/>
              </a:rPr>
              <a:t>正</a:t>
            </a: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确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显示</a:t>
            </a:r>
            <a:endParaRPr lang="zh-CN" altLang="en-US" dirty="0">
              <a:solidFill>
                <a:prstClr val="black"/>
              </a:solidFill>
              <a:latin typeface="微软雅黑"/>
              <a:cs typeface="微软雅黑"/>
            </a:endParaRPr>
          </a:p>
          <a:p>
            <a:pPr lvl="0">
              <a:spcBef>
                <a:spcPts val="5"/>
              </a:spcBef>
              <a:buClr>
                <a:srgbClr val="252525"/>
              </a:buClr>
              <a:buFont typeface="Wingdings" panose="05000000000000000000"/>
              <a:buChar char=""/>
            </a:pPr>
            <a:endParaRPr lang="zh-CN" altLang="en-US" sz="2000" dirty="0">
              <a:solidFill>
                <a:prstClr val="black"/>
              </a:solidFill>
              <a:latin typeface="Times New Roman" panose="02020503050405090304"/>
              <a:cs typeface="Times New Roman" panose="02020503050405090304"/>
            </a:endParaRPr>
          </a:p>
          <a:p>
            <a:pPr marL="271145" lvl="0" indent="-247015">
              <a:buFont typeface="Wingdings" panose="05000000000000000000"/>
              <a:buChar char=""/>
              <a:tabLst>
                <a:tab pos="271780" algn="l"/>
              </a:tabLst>
            </a:pPr>
            <a:r>
              <a:rPr lang="zh-CN" altLang="en-US" spc="6" dirty="0">
                <a:solidFill>
                  <a:srgbClr val="252525"/>
                </a:solidFill>
                <a:latin typeface="微软雅黑"/>
                <a:cs typeface="微软雅黑"/>
              </a:rPr>
              <a:t>最常见的几个字</a:t>
            </a:r>
            <a:r>
              <a:rPr lang="zh-CN" altLang="en-US" spc="-12" dirty="0">
                <a:solidFill>
                  <a:srgbClr val="252525"/>
                </a:solidFill>
                <a:latin typeface="微软雅黑"/>
                <a:cs typeface="微软雅黑"/>
              </a:rPr>
              <a:t>体</a:t>
            </a:r>
            <a:r>
              <a:rPr lang="zh-CN" altLang="en-US" spc="-6" dirty="0">
                <a:solidFill>
                  <a:srgbClr val="252525"/>
                </a:solidFill>
                <a:latin typeface="微软雅黑"/>
                <a:cs typeface="微软雅黑"/>
              </a:rPr>
              <a:t>：</a:t>
            </a:r>
            <a:r>
              <a:rPr lang="en-US" altLang="zh-CN" spc="-6" dirty="0">
                <a:solidFill>
                  <a:srgbClr val="252525"/>
                </a:solidFill>
                <a:latin typeface="微软雅黑"/>
                <a:cs typeface="微软雅黑"/>
              </a:rPr>
              <a:t>body</a:t>
            </a:r>
            <a:r>
              <a:rPr lang="zh-CN" altLang="en-US" spc="-53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pc="-6" dirty="0" smtClean="0">
                <a:solidFill>
                  <a:srgbClr val="252525"/>
                </a:solidFill>
                <a:latin typeface="微软雅黑"/>
                <a:cs typeface="微软雅黑"/>
              </a:rPr>
              <a:t>{font-family:</a:t>
            </a:r>
            <a:r>
              <a:rPr lang="zh-CN" altLang="en-US" spc="-35" dirty="0" smtClean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pc="-6" dirty="0" smtClean="0">
                <a:solidFill>
                  <a:srgbClr val="252525"/>
                </a:solidFill>
                <a:latin typeface="微软雅黑"/>
                <a:cs typeface="微软雅黑"/>
              </a:rPr>
              <a:t>'Microsoft</a:t>
            </a:r>
            <a:r>
              <a:rPr lang="zh-CN" altLang="en-US" spc="-41" dirty="0" smtClean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pc="-6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YaHei</a:t>
            </a:r>
            <a:r>
              <a:rPr lang="en-US" altLang="zh-CN" spc="-6" dirty="0" smtClean="0">
                <a:solidFill>
                  <a:srgbClr val="252525"/>
                </a:solidFill>
                <a:latin typeface="微软雅黑"/>
                <a:cs typeface="微软雅黑"/>
              </a:rPr>
              <a:t>', </a:t>
            </a:r>
            <a:r>
              <a:rPr lang="en-US" altLang="zh-CN" spc="-6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tahoma</a:t>
            </a:r>
            <a:r>
              <a:rPr lang="en-US" altLang="zh-CN" spc="-6" dirty="0" smtClean="0">
                <a:solidFill>
                  <a:srgbClr val="252525"/>
                </a:solidFill>
                <a:latin typeface="微软雅黑"/>
                <a:cs typeface="微软雅黑"/>
              </a:rPr>
              <a:t>, </a:t>
            </a:r>
            <a:r>
              <a:rPr lang="en-US" altLang="zh-CN" spc="-6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arial</a:t>
            </a:r>
            <a:r>
              <a:rPr lang="en-US" altLang="zh-CN" spc="-6" dirty="0" smtClean="0">
                <a:solidFill>
                  <a:srgbClr val="252525"/>
                </a:solidFill>
                <a:latin typeface="微软雅黑"/>
                <a:cs typeface="微软雅黑"/>
              </a:rPr>
              <a:t>, '</a:t>
            </a:r>
            <a:r>
              <a:rPr lang="en-US" altLang="zh-CN" spc="-6" dirty="0" err="1" smtClean="0">
                <a:solidFill>
                  <a:srgbClr val="252525"/>
                </a:solidFill>
                <a:latin typeface="微软雅黑"/>
                <a:cs typeface="微软雅黑"/>
              </a:rPr>
              <a:t>Hiragino</a:t>
            </a:r>
            <a:r>
              <a:rPr lang="zh-CN" altLang="en-US" spc="-41" dirty="0" smtClean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dirty="0" smtClean="0">
                <a:solidFill>
                  <a:srgbClr val="252525"/>
                </a:solidFill>
                <a:latin typeface="微软雅黑"/>
                <a:cs typeface="微软雅黑"/>
              </a:rPr>
              <a:t>Sans</a:t>
            </a:r>
            <a:r>
              <a:rPr lang="zh-CN" altLang="en-US" spc="-29" dirty="0" smtClean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dirty="0" smtClean="0">
                <a:solidFill>
                  <a:srgbClr val="252525"/>
                </a:solidFill>
                <a:latin typeface="微软雅黑"/>
                <a:cs typeface="微软雅黑"/>
              </a:rPr>
              <a:t>GB';</a:t>
            </a:r>
            <a:r>
              <a:rPr lang="zh-CN" altLang="en-US" spc="12" dirty="0" smtClean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dirty="0" smtClean="0">
                <a:solidFill>
                  <a:srgbClr val="252525"/>
                </a:solidFill>
                <a:latin typeface="微软雅黑"/>
                <a:cs typeface="微软雅黑"/>
              </a:rPr>
              <a:t>}</a:t>
            </a:r>
            <a:endParaRPr lang="zh-CN" altLang="en-US" dirty="0">
              <a:solidFill>
                <a:prstClr val="black"/>
              </a:solidFill>
              <a:latin typeface="微软雅黑"/>
              <a:cs typeface="微软雅黑"/>
            </a:endParaRPr>
          </a:p>
        </p:txBody>
      </p:sp>
      <p:sp>
        <p:nvSpPr>
          <p:cNvPr id="8" name="object 3"/>
          <p:cNvSpPr/>
          <p:nvPr/>
        </p:nvSpPr>
        <p:spPr>
          <a:xfrm>
            <a:off x="904009" y="1468469"/>
            <a:ext cx="8862160" cy="2745312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105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036" y="183274"/>
            <a:ext cx="2684131" cy="25057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字体样式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2"/>
          <p:cNvSpPr>
            <a:spLocks noGrp="1"/>
          </p:cNvSpPr>
          <p:nvPr>
            <p:ph idx="1"/>
          </p:nvPr>
        </p:nvSpPr>
        <p:spPr>
          <a:xfrm>
            <a:off x="925286" y="1030967"/>
            <a:ext cx="10515600" cy="547868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600" b="1" dirty="0" smtClean="0"/>
              <a:t>字体栈</a:t>
            </a:r>
            <a:endParaRPr lang="en-US" altLang="zh-CN" sz="2600" b="1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 smtClean="0"/>
              <a:t>由于无法保证网页</a:t>
            </a:r>
            <a:r>
              <a:rPr lang="zh-CN" altLang="en-US" sz="2400" dirty="0"/>
              <a:t>上</a:t>
            </a:r>
            <a:r>
              <a:rPr lang="zh-CN" altLang="en-US" sz="2400" dirty="0" smtClean="0"/>
              <a:t>使用字体</a:t>
            </a:r>
            <a:r>
              <a:rPr lang="zh-CN" altLang="en-US" sz="2400" dirty="0"/>
              <a:t>的可用性 </a:t>
            </a:r>
            <a:r>
              <a:rPr lang="en-US" altLang="zh-CN" sz="2400" dirty="0" smtClean="0"/>
              <a:t>(</a:t>
            </a:r>
            <a:r>
              <a:rPr lang="zh-CN" altLang="en-US" sz="2400" dirty="0"/>
              <a:t>甚至一个网络字体可能由于某些原因而出错</a:t>
            </a:r>
            <a:r>
              <a:rPr lang="en-US" altLang="zh-CN" sz="2400" dirty="0"/>
              <a:t>), </a:t>
            </a:r>
            <a:r>
              <a:rPr lang="zh-CN" altLang="en-US" sz="2400" dirty="0" smtClean="0"/>
              <a:t>所以可以</a:t>
            </a:r>
            <a:r>
              <a:rPr lang="zh-CN" altLang="en-US" sz="2400" dirty="0"/>
              <a:t>提供一个字体栈 </a:t>
            </a:r>
            <a:r>
              <a:rPr lang="en-US" altLang="zh-CN" sz="2400" dirty="0"/>
              <a:t>(font stack)</a:t>
            </a:r>
            <a:r>
              <a:rPr lang="zh-CN" altLang="en-US" sz="2400" dirty="0" smtClean="0"/>
              <a:t>，使浏览器有</a:t>
            </a:r>
            <a:r>
              <a:rPr lang="zh-CN" altLang="en-US" sz="2400" dirty="0"/>
              <a:t>多种字体</a:t>
            </a:r>
            <a:r>
              <a:rPr lang="zh-CN" altLang="en-US" sz="2400" dirty="0" smtClean="0"/>
              <a:t>可选。</a:t>
            </a:r>
            <a:r>
              <a:rPr lang="zh-CN" altLang="en-US" sz="2400" dirty="0"/>
              <a:t>只需包含一个 </a:t>
            </a:r>
            <a:r>
              <a:rPr lang="en-US" altLang="zh-CN" sz="2400" dirty="0"/>
              <a:t>font-family </a:t>
            </a:r>
            <a:r>
              <a:rPr lang="zh-CN" altLang="en-US" sz="2400" dirty="0"/>
              <a:t>属性，其值由几个用逗号分离的字体名称</a:t>
            </a:r>
            <a:r>
              <a:rPr lang="zh-CN" altLang="en-US" sz="2400" dirty="0" smtClean="0"/>
              <a:t>组成。</a:t>
            </a:r>
            <a:endParaRPr lang="en-US" altLang="zh-CN" sz="24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 smtClean="0"/>
              <a:t>p{</a:t>
            </a:r>
            <a:endParaRPr lang="en-US" altLang="zh-CN" sz="2400" dirty="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 smtClean="0"/>
              <a:t> </a:t>
            </a:r>
            <a:r>
              <a:rPr lang="en-US" altLang="zh-CN" sz="2400" spc="-6" dirty="0">
                <a:solidFill>
                  <a:srgbClr val="252525"/>
                </a:solidFill>
                <a:latin typeface="微软雅黑"/>
                <a:cs typeface="微软雅黑"/>
              </a:rPr>
              <a:t>font-family:</a:t>
            </a:r>
            <a:r>
              <a:rPr lang="zh-CN" altLang="en-US" sz="2400" spc="-35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z="2400" spc="-6" dirty="0">
                <a:solidFill>
                  <a:srgbClr val="252525"/>
                </a:solidFill>
                <a:latin typeface="微软雅黑"/>
                <a:cs typeface="微软雅黑"/>
              </a:rPr>
              <a:t>'Microsoft</a:t>
            </a:r>
            <a:r>
              <a:rPr lang="zh-CN" altLang="en-US" sz="2400" spc="-41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z="2400" spc="-6" dirty="0" err="1">
                <a:solidFill>
                  <a:srgbClr val="252525"/>
                </a:solidFill>
                <a:latin typeface="微软雅黑"/>
                <a:cs typeface="微软雅黑"/>
              </a:rPr>
              <a:t>YaHei</a:t>
            </a:r>
            <a:r>
              <a:rPr lang="en-US" altLang="zh-CN" sz="2400" spc="-6" dirty="0">
                <a:solidFill>
                  <a:srgbClr val="252525"/>
                </a:solidFill>
                <a:latin typeface="微软雅黑"/>
                <a:cs typeface="微软雅黑"/>
              </a:rPr>
              <a:t>', </a:t>
            </a:r>
            <a:r>
              <a:rPr lang="en-US" altLang="zh-CN" sz="2400" spc="-6" dirty="0" err="1">
                <a:solidFill>
                  <a:srgbClr val="252525"/>
                </a:solidFill>
                <a:latin typeface="微软雅黑"/>
                <a:cs typeface="微软雅黑"/>
              </a:rPr>
              <a:t>tahoma</a:t>
            </a:r>
            <a:r>
              <a:rPr lang="en-US" altLang="zh-CN" sz="2400" spc="-6" dirty="0">
                <a:solidFill>
                  <a:srgbClr val="252525"/>
                </a:solidFill>
                <a:latin typeface="微软雅黑"/>
                <a:cs typeface="微软雅黑"/>
              </a:rPr>
              <a:t>, </a:t>
            </a:r>
            <a:r>
              <a:rPr lang="en-US" altLang="zh-CN" sz="2400" spc="-6" dirty="0" err="1">
                <a:solidFill>
                  <a:srgbClr val="252525"/>
                </a:solidFill>
                <a:latin typeface="微软雅黑"/>
                <a:cs typeface="微软雅黑"/>
              </a:rPr>
              <a:t>arial</a:t>
            </a:r>
            <a:r>
              <a:rPr lang="en-US" altLang="zh-CN" sz="2400" spc="-6" dirty="0">
                <a:solidFill>
                  <a:srgbClr val="252525"/>
                </a:solidFill>
                <a:latin typeface="微软雅黑"/>
                <a:cs typeface="微软雅黑"/>
              </a:rPr>
              <a:t>, '</a:t>
            </a:r>
            <a:r>
              <a:rPr lang="en-US" altLang="zh-CN" sz="2400" spc="-6" dirty="0" err="1">
                <a:solidFill>
                  <a:srgbClr val="252525"/>
                </a:solidFill>
                <a:latin typeface="微软雅黑"/>
                <a:cs typeface="微软雅黑"/>
              </a:rPr>
              <a:t>Hiragino</a:t>
            </a:r>
            <a:r>
              <a:rPr lang="zh-CN" altLang="en-US" sz="2400" spc="-41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/>
                <a:cs typeface="微软雅黑"/>
              </a:rPr>
              <a:t>Sans</a:t>
            </a:r>
            <a:r>
              <a:rPr lang="zh-CN" altLang="en-US" sz="2400" spc="-29" dirty="0">
                <a:solidFill>
                  <a:srgbClr val="252525"/>
                </a:solidFill>
                <a:latin typeface="微软雅黑"/>
                <a:cs typeface="微软雅黑"/>
              </a:rPr>
              <a:t> </a:t>
            </a:r>
            <a:r>
              <a:rPr lang="en-US" altLang="zh-CN" sz="2400" dirty="0">
                <a:solidFill>
                  <a:srgbClr val="252525"/>
                </a:solidFill>
                <a:latin typeface="微软雅黑"/>
                <a:cs typeface="微软雅黑"/>
              </a:rPr>
              <a:t>GB';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 smtClean="0"/>
              <a:t>}</a:t>
            </a:r>
            <a:endParaRPr lang="zh-CN" altLang="en-US" sz="2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b="1" dirty="0"/>
              <a:t>字体复合属性</a:t>
            </a:r>
            <a:endParaRPr lang="zh-CN" altLang="en-US" sz="2400" b="1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/>
              <a:t>font-style </a:t>
            </a:r>
            <a:r>
              <a:rPr lang="en-US" altLang="zh-CN" sz="2400" dirty="0" smtClean="0"/>
              <a:t>  font-weight   font-size/line-height   font-family</a:t>
            </a:r>
            <a:endParaRPr lang="en-US" altLang="zh-CN" sz="2400" dirty="0"/>
          </a:p>
          <a:p>
            <a:pPr>
              <a:lnSpc>
                <a:spcPct val="100000"/>
              </a:lnSpc>
            </a:pPr>
            <a:r>
              <a:rPr lang="zh-CN" altLang="en-US" sz="2400" dirty="0"/>
              <a:t>使用 </a:t>
            </a:r>
            <a:r>
              <a:rPr lang="en-US" altLang="zh-CN" sz="2400" dirty="0"/>
              <a:t>font </a:t>
            </a:r>
            <a:r>
              <a:rPr lang="zh-CN" altLang="en-US" sz="2400" dirty="0"/>
              <a:t>属性时，必须按上面语法格式中的顺序书写，不能更换顺序，并且各个属性间以空格隔开</a:t>
            </a:r>
            <a:endParaRPr lang="zh-CN" altLang="en-US" sz="2400" dirty="0"/>
          </a:p>
          <a:p>
            <a:pPr>
              <a:lnSpc>
                <a:spcPct val="100000"/>
              </a:lnSpc>
            </a:pPr>
            <a:r>
              <a:rPr lang="zh-CN" altLang="en-US" sz="2400" dirty="0"/>
              <a:t>不需要设置的属性可以省略（取默认值），但必须保留 </a:t>
            </a:r>
            <a:r>
              <a:rPr lang="en-US" altLang="zh-CN" sz="2400" dirty="0"/>
              <a:t>font-size </a:t>
            </a:r>
            <a:r>
              <a:rPr lang="zh-CN" altLang="en-US" sz="2400" dirty="0"/>
              <a:t>和 </a:t>
            </a:r>
            <a:r>
              <a:rPr lang="en-US" altLang="zh-CN" sz="2400" dirty="0"/>
              <a:t>font-family </a:t>
            </a:r>
            <a:r>
              <a:rPr lang="zh-CN" altLang="en-US" sz="2400" dirty="0"/>
              <a:t>属性，否则 </a:t>
            </a:r>
            <a:r>
              <a:rPr lang="en-US" altLang="zh-CN" sz="2400" dirty="0"/>
              <a:t>font </a:t>
            </a:r>
            <a:r>
              <a:rPr lang="zh-CN" altLang="en-US" sz="2400" dirty="0"/>
              <a:t>属性将不起作用</a:t>
            </a:r>
            <a:endParaRPr lang="zh-CN" altLang="en-US" sz="2400" dirty="0"/>
          </a:p>
          <a:p>
            <a:pPr marL="0" indent="0">
              <a:lnSpc>
                <a:spcPct val="100000"/>
              </a:lnSpc>
              <a:buNone/>
            </a:pP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9971" y="5838572"/>
            <a:ext cx="2811297" cy="10194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背景样式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bject 4"/>
          <p:cNvSpPr txBox="1"/>
          <p:nvPr/>
        </p:nvSpPr>
        <p:spPr>
          <a:xfrm>
            <a:off x="638199" y="1462274"/>
            <a:ext cx="10378144" cy="551753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2065"/>
              </a:spcBef>
            </a:pPr>
            <a:r>
              <a:rPr lang="en-US" altLang="zh-CN" sz="2000" b="1" spc="10" dirty="0" smtClean="0">
                <a:solidFill>
                  <a:srgbClr val="8958A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background</a:t>
            </a:r>
            <a:endParaRPr lang="en-US" altLang="zh-CN" sz="2000" b="1" spc="10" dirty="0" smtClean="0">
              <a:solidFill>
                <a:srgbClr val="8958A7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77825">
              <a:spcBef>
                <a:spcPts val="2065"/>
              </a:spcBef>
            </a:pPr>
            <a:r>
              <a:rPr lang="en-US" altLang="zh-CN" sz="2000" b="1" spc="10" dirty="0" smtClean="0">
                <a:solidFill>
                  <a:srgbClr val="8958A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background-color  </a:t>
            </a:r>
            <a:r>
              <a:rPr lang="zh-CN" altLang="en-US" sz="2000" b="1" spc="10" dirty="0" smtClean="0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背景颜色</a:t>
            </a:r>
            <a:endParaRPr lang="en-US" altLang="zh-CN" sz="2000" b="1" spc="10" dirty="0" smtClean="0">
              <a:solidFill>
                <a:schemeClr val="accent2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77825">
              <a:lnSpc>
                <a:spcPct val="100000"/>
              </a:lnSpc>
              <a:spcBef>
                <a:spcPts val="2065"/>
              </a:spcBef>
            </a:pPr>
            <a:r>
              <a:rPr lang="en-US" altLang="zh-CN" sz="2000" b="1" spc="10" dirty="0" smtClean="0">
                <a:solidFill>
                  <a:srgbClr val="8958A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background</a:t>
            </a:r>
            <a:r>
              <a:rPr lang="en-US" sz="2000" b="1" spc="10" dirty="0" smtClean="0">
                <a:solidFill>
                  <a:srgbClr val="8958A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-image  </a:t>
            </a:r>
            <a:r>
              <a:rPr lang="zh-CN" altLang="en-US" sz="2000" b="1" spc="10" dirty="0" smtClean="0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背景图片</a:t>
            </a:r>
            <a:endParaRPr lang="en-US" sz="2000" b="1" spc="10" dirty="0" smtClean="0">
              <a:solidFill>
                <a:schemeClr val="accent2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77825">
              <a:lnSpc>
                <a:spcPct val="100000"/>
              </a:lnSpc>
              <a:spcBef>
                <a:spcPts val="2065"/>
              </a:spcBef>
            </a:pPr>
            <a:r>
              <a:rPr lang="en-US" altLang="zh-CN" sz="2000" b="1" spc="10" dirty="0" smtClean="0">
                <a:solidFill>
                  <a:srgbClr val="8958A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background</a:t>
            </a:r>
            <a:r>
              <a:rPr lang="en-US" sz="2000" b="1" spc="10" dirty="0" smtClean="0">
                <a:solidFill>
                  <a:srgbClr val="8958A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-repeat  </a:t>
            </a:r>
            <a:r>
              <a:rPr lang="zh-CN" altLang="en-US" sz="2000" b="1" spc="10" dirty="0" smtClean="0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背景图片是否重复</a:t>
            </a:r>
            <a:endParaRPr lang="en-US" altLang="zh-CN" sz="2000" b="1" spc="10" dirty="0" smtClean="0">
              <a:solidFill>
                <a:schemeClr val="accent2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77825">
              <a:lnSpc>
                <a:spcPct val="100000"/>
              </a:lnSpc>
              <a:spcBef>
                <a:spcPts val="2065"/>
              </a:spcBef>
            </a:pPr>
            <a:r>
              <a:rPr lang="en-US" altLang="zh-CN" sz="2000" b="1" spc="10" dirty="0" smtClean="0">
                <a:solidFill>
                  <a:srgbClr val="8958A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background-position  </a:t>
            </a:r>
            <a:r>
              <a:rPr lang="zh-CN" altLang="en-US" sz="2000" b="1" spc="10" dirty="0" smtClean="0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背景图片位置</a:t>
            </a:r>
            <a:endParaRPr lang="en-US" altLang="zh-CN" sz="2000" b="1" spc="10" dirty="0" smtClean="0">
              <a:solidFill>
                <a:schemeClr val="accent2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77825">
              <a:lnSpc>
                <a:spcPct val="100000"/>
              </a:lnSpc>
              <a:spcBef>
                <a:spcPts val="2065"/>
              </a:spcBef>
            </a:pPr>
            <a:endParaRPr lang="en-US" sz="2000" b="1" spc="10" dirty="0">
              <a:solidFill>
                <a:schemeClr val="accent2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77825">
              <a:lnSpc>
                <a:spcPct val="100000"/>
              </a:lnSpc>
              <a:spcBef>
                <a:spcPts val="2065"/>
              </a:spcBef>
            </a:pPr>
            <a:r>
              <a:rPr lang="en-US" sz="2000" b="1" spc="10" dirty="0">
                <a:solidFill>
                  <a:srgbClr val="8958A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background-attachment</a:t>
            </a:r>
            <a:r>
              <a:rPr lang="en-US" sz="2000" b="1" spc="10" dirty="0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sz="2000" b="1" spc="10" dirty="0" smtClean="0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 </a:t>
            </a:r>
            <a:r>
              <a:rPr lang="zh-CN" altLang="en-US" sz="2000" b="1" spc="10" dirty="0" smtClean="0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背景图片是否附着</a:t>
            </a:r>
            <a:endParaRPr lang="en-US" altLang="zh-CN" sz="2000" b="1" spc="10" dirty="0" smtClean="0">
              <a:solidFill>
                <a:schemeClr val="accent2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77825">
              <a:lnSpc>
                <a:spcPct val="100000"/>
              </a:lnSpc>
              <a:spcBef>
                <a:spcPts val="2065"/>
              </a:spcBef>
            </a:pPr>
            <a:endParaRPr lang="en-US" sz="2000" b="1" spc="10" dirty="0">
              <a:solidFill>
                <a:schemeClr val="accent2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77825">
              <a:lnSpc>
                <a:spcPct val="100000"/>
              </a:lnSpc>
              <a:spcBef>
                <a:spcPts val="2065"/>
              </a:spcBef>
            </a:pPr>
            <a:r>
              <a:rPr lang="zh-CN" altLang="en-US" sz="2000" b="1" spc="10" dirty="0" smtClean="0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背景色半透明：</a:t>
            </a:r>
            <a:r>
              <a:rPr lang="en-US" altLang="zh-CN" sz="2000" b="1" spc="10" dirty="0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CSS3 </a:t>
            </a:r>
            <a:r>
              <a:rPr lang="zh-CN" altLang="en-US" sz="2000" b="1" spc="10" dirty="0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提供了背景颜色半透明的</a:t>
            </a:r>
            <a:r>
              <a:rPr lang="zh-CN" altLang="en-US" sz="2000" b="1" spc="10" dirty="0" smtClean="0">
                <a:solidFill>
                  <a:schemeClr val="accent2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效果，</a:t>
            </a:r>
            <a:r>
              <a:rPr lang="en-US" altLang="zh-CN" sz="2000" b="1" spc="10" dirty="0">
                <a:solidFill>
                  <a:srgbClr val="8958A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background: </a:t>
            </a:r>
            <a:r>
              <a:rPr lang="en-US" altLang="zh-CN" sz="2000" b="1" spc="10" dirty="0" err="1">
                <a:solidFill>
                  <a:srgbClr val="8958A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rgba</a:t>
            </a:r>
            <a:r>
              <a:rPr lang="en-US" altLang="zh-CN" sz="2000" b="1" spc="10" dirty="0">
                <a:solidFill>
                  <a:srgbClr val="8958A7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(0, 0, 0, 0.3);</a:t>
            </a:r>
            <a:endParaRPr lang="en-US" altLang="zh-CN" sz="2000" b="1" spc="10" dirty="0">
              <a:solidFill>
                <a:srgbClr val="8958A7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377825">
              <a:lnSpc>
                <a:spcPct val="100000"/>
              </a:lnSpc>
              <a:spcBef>
                <a:spcPts val="2065"/>
              </a:spcBef>
            </a:pPr>
            <a:endParaRPr lang="en-US" sz="2000" b="1" spc="10" dirty="0" smtClean="0">
              <a:solidFill>
                <a:schemeClr val="accent2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06184" y="3171075"/>
            <a:ext cx="64280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7965">
              <a:spcBef>
                <a:spcPts val="140"/>
              </a:spcBef>
            </a:pPr>
            <a:r>
              <a:rPr lang="en-US" altLang="zh-CN" spc="-13" dirty="0">
                <a:latin typeface="Arial" panose="020B0604020202090204" pitchFamily="34" charset="0"/>
                <a:cs typeface="Arial" panose="020B0604020202090204" pitchFamily="34" charset="0"/>
              </a:rPr>
              <a:t>background-repeat: </a:t>
            </a:r>
            <a:r>
              <a:rPr lang="en-US" altLang="zh-CN" spc="-7" dirty="0">
                <a:latin typeface="Arial" panose="020B0604020202090204" pitchFamily="34" charset="0"/>
                <a:cs typeface="Arial" panose="020B0604020202090204" pitchFamily="34" charset="0"/>
              </a:rPr>
              <a:t>repeat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| </a:t>
            </a:r>
            <a:r>
              <a:rPr lang="en-US" altLang="zh-CN" spc="-13" dirty="0">
                <a:latin typeface="Arial" panose="020B0604020202090204" pitchFamily="34" charset="0"/>
                <a:cs typeface="Arial" panose="020B0604020202090204" pitchFamily="34" charset="0"/>
              </a:rPr>
              <a:t>no-repeat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| </a:t>
            </a:r>
            <a:r>
              <a:rPr lang="en-US" altLang="zh-CN" spc="-7" dirty="0">
                <a:latin typeface="Arial" panose="020B0604020202090204" pitchFamily="34" charset="0"/>
                <a:cs typeface="Arial" panose="020B0604020202090204" pitchFamily="34" charset="0"/>
              </a:rPr>
              <a:t>repeat-x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|</a:t>
            </a:r>
            <a:r>
              <a:rPr lang="en-US" altLang="zh-CN" spc="-113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pc="-7" dirty="0">
                <a:latin typeface="Arial" panose="020B0604020202090204" pitchFamily="34" charset="0"/>
                <a:cs typeface="Arial" panose="020B0604020202090204" pitchFamily="34" charset="0"/>
              </a:rPr>
              <a:t>repeat-y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06184" y="2576926"/>
            <a:ext cx="3893438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7965">
              <a:lnSpc>
                <a:spcPct val="150000"/>
              </a:lnSpc>
            </a:pPr>
            <a:r>
              <a:rPr lang="en-US" altLang="zh-CN" spc="-13" dirty="0">
                <a:latin typeface="Arial" panose="020B0604020202090204" pitchFamily="34" charset="0"/>
                <a:cs typeface="Arial" panose="020B0604020202090204" pitchFamily="34" charset="0"/>
              </a:rPr>
              <a:t>background-image </a:t>
            </a:r>
            <a:r>
              <a:rPr lang="en-US" altLang="zh-CN" spc="7" dirty="0">
                <a:latin typeface="Arial" panose="020B0604020202090204" pitchFamily="34" charset="0"/>
                <a:cs typeface="Arial" panose="020B0604020202090204" pitchFamily="34" charset="0"/>
              </a:rPr>
              <a:t>: </a:t>
            </a:r>
            <a:r>
              <a:rPr lang="en-US" altLang="zh-CN" spc="-13" dirty="0">
                <a:latin typeface="Arial" panose="020B0604020202090204" pitchFamily="34" charset="0"/>
                <a:cs typeface="Arial" panose="020B0604020202090204" pitchFamily="34" charset="0"/>
              </a:rPr>
              <a:t>none </a:t>
            </a:r>
            <a:r>
              <a:rPr lang="en-US" altLang="zh-CN" spc="7" dirty="0">
                <a:latin typeface="Arial" panose="020B0604020202090204" pitchFamily="34" charset="0"/>
                <a:cs typeface="Arial" panose="020B0604020202090204" pitchFamily="34" charset="0"/>
              </a:rPr>
              <a:t>| </a:t>
            </a:r>
            <a:r>
              <a:rPr lang="en-US" altLang="zh-CN" spc="-7" dirty="0" err="1">
                <a:latin typeface="Arial" panose="020B0604020202090204" pitchFamily="34" charset="0"/>
                <a:cs typeface="Arial" panose="020B0604020202090204" pitchFamily="34" charset="0"/>
              </a:rPr>
              <a:t>url</a:t>
            </a:r>
            <a:r>
              <a:rPr lang="en-US" altLang="zh-CN" spc="-93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pc="-13" dirty="0">
                <a:latin typeface="Arial" panose="020B0604020202090204" pitchFamily="34" charset="0"/>
                <a:cs typeface="Arial" panose="020B0604020202090204" pitchFamily="34" charset="0"/>
              </a:rPr>
              <a:t>(</a:t>
            </a:r>
            <a:r>
              <a:rPr lang="en-US" altLang="zh-CN" spc="-13" dirty="0" err="1">
                <a:latin typeface="Arial" panose="020B0604020202090204" pitchFamily="34" charset="0"/>
                <a:cs typeface="Arial" panose="020B0604020202090204" pitchFamily="34" charset="0"/>
              </a:rPr>
              <a:t>url</a:t>
            </a:r>
            <a:r>
              <a:rPr lang="en-US" altLang="zh-CN" spc="-13" dirty="0">
                <a:latin typeface="Arial" panose="020B0604020202090204" pitchFamily="34" charset="0"/>
                <a:cs typeface="Arial" panose="020B0604020202090204" pitchFamily="34" charset="0"/>
              </a:rPr>
              <a:t>)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509706" y="1977424"/>
            <a:ext cx="2959913" cy="4636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1920">
              <a:lnSpc>
                <a:spcPct val="150000"/>
              </a:lnSpc>
              <a:spcBef>
                <a:spcPts val="1865"/>
              </a:spcBef>
            </a:pPr>
            <a:r>
              <a:rPr lang="en-US" altLang="zh-CN" spc="-7" dirty="0">
                <a:latin typeface="Arial" panose="020B0604020202090204" pitchFamily="34" charset="0"/>
                <a:cs typeface="Arial" panose="020B0604020202090204" pitchFamily="34" charset="0"/>
              </a:rPr>
              <a:t>background-color: </a:t>
            </a:r>
            <a:r>
              <a:rPr lang="zh-CN" altLang="en-US" spc="7" dirty="0">
                <a:latin typeface="Arial" panose="020B0604020202090204" pitchFamily="34" charset="0"/>
                <a:cs typeface="Arial" panose="020B0604020202090204" pitchFamily="34" charset="0"/>
              </a:rPr>
              <a:t>颜色</a:t>
            </a:r>
            <a:r>
              <a:rPr lang="zh-CN" altLang="en-US" spc="-7" dirty="0">
                <a:latin typeface="Arial" panose="020B0604020202090204" pitchFamily="34" charset="0"/>
                <a:cs typeface="Arial" panose="020B0604020202090204" pitchFamily="34" charset="0"/>
              </a:rPr>
              <a:t>值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06184" y="3643625"/>
            <a:ext cx="672594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7965">
              <a:lnSpc>
                <a:spcPct val="150000"/>
              </a:lnSpc>
              <a:tabLst>
                <a:tab pos="2769235" algn="l"/>
              </a:tabLst>
            </a:pPr>
            <a:r>
              <a:rPr lang="en-US" altLang="zh-CN" spc="-13" dirty="0">
                <a:latin typeface="Arial" panose="020B0604020202090204" pitchFamily="34" charset="0"/>
                <a:cs typeface="Arial" panose="020B0604020202090204" pitchFamily="34" charset="0"/>
              </a:rPr>
              <a:t>background-position:</a:t>
            </a:r>
            <a:r>
              <a:rPr lang="en-US" altLang="zh-CN" spc="-7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pc="7" dirty="0">
                <a:latin typeface="Arial" panose="020B0604020202090204" pitchFamily="34" charset="0"/>
                <a:cs typeface="Arial" panose="020B0604020202090204" pitchFamily="34" charset="0"/>
              </a:rPr>
              <a:t>x	</a:t>
            </a:r>
            <a:r>
              <a:rPr lang="en-US" altLang="zh-CN" spc="-7" dirty="0">
                <a:latin typeface="Arial" panose="020B0604020202090204" pitchFamily="34" charset="0"/>
                <a:cs typeface="Arial" panose="020B0604020202090204" pitchFamily="34" charset="0"/>
              </a:rPr>
              <a:t>y</a:t>
            </a:r>
            <a:r>
              <a:rPr lang="en-US" altLang="zh-CN" spc="-7" dirty="0" smtClean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endParaRPr lang="en-US" altLang="zh-CN" spc="-7" dirty="0" smtClean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marL="227965">
              <a:lnSpc>
                <a:spcPct val="150000"/>
              </a:lnSpc>
              <a:tabLst>
                <a:tab pos="2769235" algn="l"/>
              </a:tabLst>
            </a:pPr>
            <a:r>
              <a:rPr lang="zh-CN" altLang="en-US" spc="-7" dirty="0" smtClean="0">
                <a:latin typeface="Arial" panose="020B0604020202090204" pitchFamily="34" charset="0"/>
                <a:cs typeface="Arial" panose="020B0604020202090204" pitchFamily="34" charset="0"/>
              </a:rPr>
              <a:t>或者还可以是方位名词，比如</a:t>
            </a:r>
            <a:r>
              <a:rPr lang="en-US" altLang="zh-CN" spc="-7" dirty="0" smtClean="0">
                <a:latin typeface="Arial" panose="020B0604020202090204" pitchFamily="34" charset="0"/>
                <a:cs typeface="Arial" panose="020B0604020202090204" pitchFamily="34" charset="0"/>
              </a:rPr>
              <a:t>top</a:t>
            </a:r>
            <a:r>
              <a:rPr lang="zh-CN" altLang="en-US" spc="-7" dirty="0" smtClean="0">
                <a:latin typeface="Arial" panose="020B0604020202090204" pitchFamily="34" charset="0"/>
                <a:cs typeface="Arial" panose="020B0604020202090204" pitchFamily="34" charset="0"/>
              </a:rPr>
              <a:t>、</a:t>
            </a:r>
            <a:r>
              <a:rPr lang="en-US" altLang="zh-CN" spc="-7" dirty="0" smtClean="0">
                <a:latin typeface="Arial" panose="020B0604020202090204" pitchFamily="34" charset="0"/>
                <a:cs typeface="Arial" panose="020B0604020202090204" pitchFamily="34" charset="0"/>
              </a:rPr>
              <a:t>bottom</a:t>
            </a:r>
            <a:r>
              <a:rPr lang="zh-CN" altLang="en-US" spc="-7" dirty="0" smtClean="0">
                <a:latin typeface="Arial" panose="020B0604020202090204" pitchFamily="34" charset="0"/>
                <a:cs typeface="Arial" panose="020B0604020202090204" pitchFamily="34" charset="0"/>
              </a:rPr>
              <a:t>、</a:t>
            </a:r>
            <a:r>
              <a:rPr lang="en-US" altLang="zh-CN" spc="-7" dirty="0" smtClean="0">
                <a:latin typeface="Arial" panose="020B0604020202090204" pitchFamily="34" charset="0"/>
                <a:cs typeface="Arial" panose="020B0604020202090204" pitchFamily="34" charset="0"/>
              </a:rPr>
              <a:t>center</a:t>
            </a:r>
            <a:r>
              <a:rPr lang="zh-CN" altLang="en-US" spc="-7" dirty="0" smtClean="0">
                <a:latin typeface="Arial" panose="020B0604020202090204" pitchFamily="34" charset="0"/>
                <a:cs typeface="Arial" panose="020B0604020202090204" pitchFamily="34" charset="0"/>
              </a:rPr>
              <a:t>、</a:t>
            </a:r>
            <a:r>
              <a:rPr lang="en-US" altLang="zh-CN" spc="-7" dirty="0" smtClean="0">
                <a:latin typeface="Arial" panose="020B0604020202090204" pitchFamily="34" charset="0"/>
                <a:cs typeface="Arial" panose="020B0604020202090204" pitchFamily="34" charset="0"/>
              </a:rPr>
              <a:t>left</a:t>
            </a:r>
            <a:r>
              <a:rPr lang="zh-CN" altLang="en-US" spc="-7" dirty="0" smtClean="0">
                <a:latin typeface="Arial" panose="020B0604020202090204" pitchFamily="34" charset="0"/>
                <a:cs typeface="Arial" panose="020B0604020202090204" pitchFamily="34" charset="0"/>
              </a:rPr>
              <a:t>、</a:t>
            </a:r>
            <a:r>
              <a:rPr lang="en-US" altLang="zh-CN" spc="-7" dirty="0" smtClean="0">
                <a:latin typeface="Arial" panose="020B0604020202090204" pitchFamily="34" charset="0"/>
                <a:cs typeface="Arial" panose="020B0604020202090204" pitchFamily="34" charset="0"/>
              </a:rPr>
              <a:t>right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406184" y="5289558"/>
            <a:ext cx="4187621" cy="4565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7965">
              <a:lnSpc>
                <a:spcPct val="150000"/>
              </a:lnSpc>
            </a:pPr>
            <a:r>
              <a:rPr lang="en-US" altLang="zh-CN" spc="-13" dirty="0">
                <a:latin typeface="Arial" panose="020B0604020202090204" pitchFamily="34" charset="0"/>
                <a:cs typeface="Arial" panose="020B0604020202090204" pitchFamily="34" charset="0"/>
              </a:rPr>
              <a:t>background-attachment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: </a:t>
            </a:r>
            <a:r>
              <a:rPr lang="en-US" altLang="zh-CN" spc="-7" dirty="0">
                <a:latin typeface="Arial" panose="020B0604020202090204" pitchFamily="34" charset="0"/>
                <a:cs typeface="Arial" panose="020B0604020202090204" pitchFamily="34" charset="0"/>
              </a:rPr>
              <a:t>scroll </a:t>
            </a:r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|</a:t>
            </a:r>
            <a:r>
              <a:rPr lang="en-US" altLang="zh-CN" spc="-73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pc="-7" dirty="0">
                <a:latin typeface="Arial" panose="020B0604020202090204" pitchFamily="34" charset="0"/>
                <a:cs typeface="Arial" panose="020B0604020202090204" pitchFamily="34" charset="0"/>
              </a:rPr>
              <a:t>fixed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754085" y="1356522"/>
            <a:ext cx="9154886" cy="4641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">
              <a:lnSpc>
                <a:spcPct val="150000"/>
              </a:lnSpc>
            </a:pPr>
            <a:r>
              <a:rPr lang="zh-CN" altLang="en-US" dirty="0" smtClean="0">
                <a:solidFill>
                  <a:srgbClr val="C00000"/>
                </a:solidFill>
                <a:latin typeface="微软雅黑"/>
                <a:cs typeface="微软雅黑"/>
              </a:rPr>
              <a:t>复合写法</a:t>
            </a:r>
            <a:r>
              <a:rPr lang="en-US" altLang="zh-CN" dirty="0" smtClean="0">
                <a:solidFill>
                  <a:srgbClr val="C00000"/>
                </a:solidFill>
                <a:latin typeface="微软雅黑"/>
                <a:cs typeface="微软雅黑"/>
              </a:rPr>
              <a:t>—background</a:t>
            </a:r>
            <a:r>
              <a:rPr lang="en-US" altLang="zh-CN" dirty="0">
                <a:solidFill>
                  <a:srgbClr val="C00000"/>
                </a:solidFill>
                <a:latin typeface="微软雅黑"/>
                <a:cs typeface="微软雅黑"/>
              </a:rPr>
              <a:t>:</a:t>
            </a:r>
            <a:r>
              <a:rPr lang="zh-CN" altLang="en-US" spc="-40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lang="zh-CN" altLang="en-US" spc="7" dirty="0">
                <a:solidFill>
                  <a:srgbClr val="C00000"/>
                </a:solidFill>
                <a:latin typeface="微软雅黑"/>
                <a:cs typeface="微软雅黑"/>
              </a:rPr>
              <a:t>背景颜色</a:t>
            </a:r>
            <a:r>
              <a:rPr lang="zh-CN" altLang="en-US" spc="-33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lang="zh-CN" altLang="en-US" spc="7" dirty="0">
                <a:solidFill>
                  <a:srgbClr val="C00000"/>
                </a:solidFill>
                <a:latin typeface="微软雅黑"/>
                <a:cs typeface="微软雅黑"/>
              </a:rPr>
              <a:t>背景图片地址</a:t>
            </a:r>
            <a:r>
              <a:rPr lang="zh-CN" altLang="en-US" spc="-47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lang="zh-CN" altLang="en-US" spc="7" dirty="0">
                <a:solidFill>
                  <a:srgbClr val="C00000"/>
                </a:solidFill>
                <a:latin typeface="微软雅黑"/>
                <a:cs typeface="微软雅黑"/>
              </a:rPr>
              <a:t>背景平铺</a:t>
            </a:r>
            <a:r>
              <a:rPr lang="zh-CN" altLang="en-US" spc="-33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lang="zh-CN" altLang="en-US" spc="7" dirty="0">
                <a:solidFill>
                  <a:srgbClr val="C00000"/>
                </a:solidFill>
                <a:latin typeface="微软雅黑"/>
                <a:cs typeface="微软雅黑"/>
              </a:rPr>
              <a:t>背景图像滚动</a:t>
            </a:r>
            <a:r>
              <a:rPr lang="zh-CN" altLang="en-US" spc="-47" dirty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lang="zh-CN" altLang="en-US" spc="7" dirty="0">
                <a:solidFill>
                  <a:srgbClr val="C00000"/>
                </a:solidFill>
                <a:latin typeface="微软雅黑"/>
                <a:cs typeface="微软雅黑"/>
              </a:rPr>
              <a:t>背景图片位置</a:t>
            </a:r>
            <a:r>
              <a:rPr lang="en-US" altLang="zh-CN" dirty="0">
                <a:solidFill>
                  <a:srgbClr val="C00000"/>
                </a:solidFill>
                <a:latin typeface="微软雅黑"/>
                <a:cs typeface="微软雅黑"/>
              </a:rPr>
              <a:t>;</a:t>
            </a:r>
            <a:endParaRPr lang="en-US" altLang="zh-CN" dirty="0">
              <a:solidFill>
                <a:srgbClr val="C00000"/>
              </a:solidFill>
              <a:latin typeface="微软雅黑"/>
              <a:cs typeface="微软雅黑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超链接</a:t>
            </a: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样式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object 4"/>
          <p:cNvSpPr txBox="1"/>
          <p:nvPr/>
        </p:nvSpPr>
        <p:spPr>
          <a:xfrm>
            <a:off x="748197" y="1128491"/>
            <a:ext cx="4790549" cy="20550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2065"/>
              </a:spcBef>
            </a:pPr>
            <a:r>
              <a:rPr lang="en-US" altLang="zh-CN" sz="2000" b="1" spc="10" dirty="0" smtClean="0">
                <a:solidFill>
                  <a:srgbClr val="8958A7"/>
                </a:solidFill>
                <a:latin typeface="Fira Code Light"/>
                <a:cs typeface="Fira Code Light"/>
              </a:rPr>
              <a:t>a:link </a:t>
            </a:r>
            <a:r>
              <a:rPr lang="zh-CN" altLang="en-US" sz="2000" b="1" spc="10" dirty="0" smtClean="0">
                <a:solidFill>
                  <a:schemeClr val="accent2"/>
                </a:solidFill>
                <a:latin typeface="Fira Code Light"/>
                <a:cs typeface="Fira Code Light"/>
              </a:rPr>
              <a:t>超链接普通样式</a:t>
            </a:r>
            <a:endParaRPr lang="en-US" altLang="zh-CN" sz="2000" b="1" spc="10" dirty="0" smtClean="0">
              <a:solidFill>
                <a:schemeClr val="accent2"/>
              </a:solidFill>
              <a:latin typeface="Fira Code Light"/>
              <a:cs typeface="Fira Code Light"/>
            </a:endParaRPr>
          </a:p>
          <a:p>
            <a:pPr marL="377825">
              <a:lnSpc>
                <a:spcPct val="100000"/>
              </a:lnSpc>
              <a:spcBef>
                <a:spcPts val="2065"/>
              </a:spcBef>
            </a:pPr>
            <a:r>
              <a:rPr lang="en-US" altLang="zh-CN" sz="2000" b="1" spc="10" dirty="0" smtClean="0">
                <a:solidFill>
                  <a:srgbClr val="8958A7"/>
                </a:solidFill>
                <a:latin typeface="Fira Code Light"/>
                <a:cs typeface="Fira Code Light"/>
              </a:rPr>
              <a:t>a:visited </a:t>
            </a:r>
            <a:r>
              <a:rPr lang="zh-CN" altLang="en-US" sz="2000" b="1" spc="10" dirty="0" smtClean="0">
                <a:solidFill>
                  <a:schemeClr val="accent2"/>
                </a:solidFill>
                <a:latin typeface="Fira Code Light"/>
                <a:cs typeface="Fira Code Light"/>
              </a:rPr>
              <a:t>被访问过的样式</a:t>
            </a:r>
            <a:endParaRPr lang="en-US" altLang="zh-CN" sz="2000" b="1" spc="10" dirty="0" smtClean="0">
              <a:solidFill>
                <a:schemeClr val="accent2"/>
              </a:solidFill>
              <a:latin typeface="Fira Code Light"/>
              <a:cs typeface="Fira Code Light"/>
            </a:endParaRPr>
          </a:p>
          <a:p>
            <a:pPr marL="377825">
              <a:lnSpc>
                <a:spcPct val="100000"/>
              </a:lnSpc>
              <a:spcBef>
                <a:spcPts val="2065"/>
              </a:spcBef>
            </a:pPr>
            <a:r>
              <a:rPr lang="en-US" altLang="zh-CN" sz="2000" b="1" spc="10" dirty="0" smtClean="0">
                <a:solidFill>
                  <a:srgbClr val="8958A7"/>
                </a:solidFill>
                <a:latin typeface="Fira Code Light"/>
                <a:cs typeface="Fira Code Light"/>
              </a:rPr>
              <a:t>a:hover </a:t>
            </a:r>
            <a:r>
              <a:rPr lang="zh-CN" altLang="en-US" sz="2000" b="1" spc="10" dirty="0" smtClean="0">
                <a:solidFill>
                  <a:schemeClr val="accent2"/>
                </a:solidFill>
                <a:latin typeface="Fira Code Light"/>
                <a:cs typeface="Fira Code Light"/>
              </a:rPr>
              <a:t>鼠标悬停的样式</a:t>
            </a:r>
            <a:endParaRPr lang="en-US" sz="2000" b="1" spc="10" dirty="0" smtClean="0">
              <a:solidFill>
                <a:schemeClr val="accent2"/>
              </a:solidFill>
              <a:latin typeface="Fira Code Light"/>
              <a:cs typeface="Fira Code Light"/>
            </a:endParaRPr>
          </a:p>
          <a:p>
            <a:pPr marL="377825">
              <a:lnSpc>
                <a:spcPct val="100000"/>
              </a:lnSpc>
              <a:spcBef>
                <a:spcPts val="2065"/>
              </a:spcBef>
            </a:pPr>
            <a:r>
              <a:rPr lang="en-US" altLang="zh-CN" sz="2000" b="1" spc="10" dirty="0" smtClean="0">
                <a:solidFill>
                  <a:srgbClr val="8958A7"/>
                </a:solidFill>
                <a:latin typeface="Fira Code Light"/>
                <a:cs typeface="Fira Code Light"/>
              </a:rPr>
              <a:t>a:active </a:t>
            </a:r>
            <a:r>
              <a:rPr lang="zh-CN" altLang="en-US" sz="2000" b="1" spc="10" dirty="0" smtClean="0">
                <a:solidFill>
                  <a:schemeClr val="accent2"/>
                </a:solidFill>
                <a:latin typeface="Fira Code Light"/>
                <a:cs typeface="Fira Code Light"/>
              </a:rPr>
              <a:t>点击过的样式</a:t>
            </a:r>
            <a:endParaRPr lang="en-US" sz="2000" b="1" spc="10" dirty="0" smtClean="0">
              <a:solidFill>
                <a:schemeClr val="accent2"/>
              </a:solidFill>
              <a:latin typeface="Fira Code Light"/>
              <a:cs typeface="Fira Code Ligh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07003" y="3377483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必须按照以下次序来书写：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a:hover--</a:t>
            </a:r>
            <a:r>
              <a:rPr lang="zh-CN" altLang="en-US" sz="2000" dirty="0"/>
              <a:t>必须位于</a:t>
            </a:r>
            <a:r>
              <a:rPr lang="en-US" altLang="zh-CN" sz="2000" dirty="0"/>
              <a:t>a:link</a:t>
            </a:r>
            <a:r>
              <a:rPr lang="zh-CN" altLang="en-US" sz="2000" dirty="0"/>
              <a:t>和</a:t>
            </a:r>
            <a:r>
              <a:rPr lang="en-US" altLang="zh-CN" sz="2000" dirty="0"/>
              <a:t>a:visited</a:t>
            </a:r>
            <a:r>
              <a:rPr lang="zh-CN" altLang="en-US" sz="2000" dirty="0"/>
              <a:t>之后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a:active--</a:t>
            </a:r>
            <a:r>
              <a:rPr lang="zh-CN" altLang="en-US" sz="2000" dirty="0"/>
              <a:t>必须位于</a:t>
            </a:r>
            <a:r>
              <a:rPr lang="en-US" altLang="zh-CN" sz="2000" dirty="0"/>
              <a:t>a:hover</a:t>
            </a:r>
            <a:r>
              <a:rPr lang="zh-CN" altLang="en-US" sz="2000" dirty="0"/>
              <a:t>之后</a:t>
            </a:r>
            <a:endParaRPr lang="zh-CN" altLang="en-US" sz="20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书写顺序：</a:t>
            </a:r>
            <a:r>
              <a:rPr lang="en-US" altLang="zh-CN" sz="2000" dirty="0"/>
              <a:t>LVHA</a:t>
            </a:r>
            <a:endParaRPr lang="en-US" altLang="zh-CN" sz="2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8746" y="1282810"/>
            <a:ext cx="3589898" cy="364269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列表与表格样式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02415" y="1490946"/>
          <a:ext cx="11299299" cy="3298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369"/>
                <a:gridCol w="4118805"/>
                <a:gridCol w="5137125"/>
              </a:tblGrid>
              <a:tr h="290995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属性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描述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属性值</a:t>
                      </a:r>
                      <a:endParaRPr lang="zh-CN" altLang="en-US" sz="1800" dirty="0"/>
                    </a:p>
                  </a:txBody>
                  <a:tcPr/>
                </a:tc>
              </a:tr>
              <a:tr h="290995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list-style-image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为列表项标志设置图像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 smtClean="0"/>
                        <a:t>list-style-image:url</a:t>
                      </a:r>
                      <a:r>
                        <a:rPr lang="en-US" altLang="zh-CN" sz="1800" dirty="0" smtClean="0"/>
                        <a:t>(“images/dot.gif”)</a:t>
                      </a:r>
                      <a:endParaRPr lang="zh-CN" altLang="en-US" sz="1800" dirty="0"/>
                    </a:p>
                  </a:txBody>
                  <a:tcPr/>
                </a:tc>
              </a:tr>
              <a:tr h="514837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list-style-position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列表项标号位置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inside</a:t>
                      </a:r>
                      <a:r>
                        <a:rPr lang="en-US" altLang="zh-CN" sz="1800" baseline="0" dirty="0" smtClean="0"/>
                        <a:t>   </a:t>
                      </a:r>
                      <a:r>
                        <a:rPr lang="zh-CN" altLang="en-US" sz="1800" baseline="0" dirty="0" smtClean="0"/>
                        <a:t>标号位于列表区域内</a:t>
                      </a:r>
                      <a:endParaRPr lang="en-US" altLang="zh-CN" sz="1800" baseline="0" dirty="0" smtClean="0"/>
                    </a:p>
                    <a:p>
                      <a:r>
                        <a:rPr lang="en-US" altLang="zh-CN" sz="1800" baseline="0" dirty="0" smtClean="0"/>
                        <a:t>outside  </a:t>
                      </a:r>
                      <a:r>
                        <a:rPr lang="zh-CN" altLang="en-US" sz="1800" baseline="0" dirty="0" smtClean="0"/>
                        <a:t>标号位于列表区域外</a:t>
                      </a:r>
                      <a:endParaRPr lang="zh-CN" altLang="en-US" sz="1800" dirty="0"/>
                    </a:p>
                  </a:txBody>
                  <a:tcPr/>
                </a:tc>
              </a:tr>
              <a:tr h="992448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list-style-type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列表项标号类型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无序列表：</a:t>
                      </a:r>
                      <a:r>
                        <a:rPr lang="en-US" altLang="zh-CN" sz="1800" dirty="0" smtClean="0"/>
                        <a:t>disc(</a:t>
                      </a:r>
                      <a:r>
                        <a:rPr lang="zh-CN" altLang="en-US" sz="1800" dirty="0" smtClean="0"/>
                        <a:t>实心圆</a:t>
                      </a:r>
                      <a:r>
                        <a:rPr lang="en-US" altLang="zh-CN" sz="1800" dirty="0" smtClean="0"/>
                        <a:t>)</a:t>
                      </a:r>
                      <a:r>
                        <a:rPr lang="zh-CN" altLang="en-US" sz="1800" dirty="0" smtClean="0"/>
                        <a:t>、</a:t>
                      </a:r>
                      <a:r>
                        <a:rPr lang="en-US" altLang="zh-CN" sz="1800" dirty="0" smtClean="0"/>
                        <a:t>circle</a:t>
                      </a:r>
                      <a:r>
                        <a:rPr lang="zh-CN" altLang="en-US" sz="1800" dirty="0" smtClean="0"/>
                        <a:t>（空心圆）、</a:t>
                      </a:r>
                      <a:r>
                        <a:rPr lang="en-US" altLang="zh-CN" sz="1800" dirty="0" smtClean="0"/>
                        <a:t>square</a:t>
                      </a:r>
                      <a:r>
                        <a:rPr lang="zh-CN" altLang="en-US" sz="1800" dirty="0" smtClean="0"/>
                        <a:t>（实心方块）</a:t>
                      </a:r>
                      <a:endParaRPr lang="en-US" altLang="zh-CN" sz="1800" dirty="0" smtClean="0"/>
                    </a:p>
                    <a:p>
                      <a:r>
                        <a:rPr lang="zh-CN" altLang="en-US" sz="1800" dirty="0" smtClean="0"/>
                        <a:t>有序列表：</a:t>
                      </a:r>
                      <a:r>
                        <a:rPr lang="en-US" altLang="zh-CN" sz="1800" dirty="0" smtClean="0"/>
                        <a:t>decimal</a:t>
                      </a:r>
                      <a:r>
                        <a:rPr lang="zh-CN" altLang="en-US" sz="1800" dirty="0" smtClean="0"/>
                        <a:t>（数字）、</a:t>
                      </a:r>
                      <a:r>
                        <a:rPr lang="en-US" altLang="zh-CN" sz="1800" dirty="0" smtClean="0"/>
                        <a:t>lower-alpha(</a:t>
                      </a:r>
                      <a:r>
                        <a:rPr lang="zh-CN" altLang="en-US" sz="1800" dirty="0" smtClean="0"/>
                        <a:t>小写字母</a:t>
                      </a:r>
                      <a:r>
                        <a:rPr lang="en-US" altLang="zh-CN" sz="1800" dirty="0" smtClean="0"/>
                        <a:t>)</a:t>
                      </a:r>
                      <a:endParaRPr lang="zh-CN" altLang="en-US" sz="1800" dirty="0"/>
                    </a:p>
                  </a:txBody>
                  <a:tcPr/>
                </a:tc>
              </a:tr>
              <a:tr h="738679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list-style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所有用于列表的属性，设置于一个声明中，统一简写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取值：标号类型 标号图像 标号位置 ，</a:t>
                      </a:r>
                      <a:endParaRPr lang="en-US" altLang="zh-CN" sz="1800" dirty="0" smtClean="0"/>
                    </a:p>
                    <a:p>
                      <a:r>
                        <a:rPr lang="zh-CN" altLang="en-US" sz="1800" dirty="0" smtClean="0"/>
                        <a:t>例如：</a:t>
                      </a:r>
                      <a:r>
                        <a:rPr lang="en-US" altLang="zh-CN" sz="1800" dirty="0" err="1" smtClean="0"/>
                        <a:t>list-style:square</a:t>
                      </a:r>
                      <a:r>
                        <a:rPr lang="en-US" altLang="zh-CN" sz="1800" dirty="0" smtClean="0"/>
                        <a:t> </a:t>
                      </a:r>
                      <a:r>
                        <a:rPr lang="en-US" altLang="zh-CN" sz="1800" dirty="0" err="1" smtClean="0"/>
                        <a:t>url</a:t>
                      </a:r>
                      <a:r>
                        <a:rPr lang="en-US" altLang="zh-CN" sz="1800" dirty="0" smtClean="0"/>
                        <a:t>(“images/dot.gif”) inside;</a:t>
                      </a:r>
                      <a:endParaRPr lang="zh-CN" alt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587041" y="913451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列表</a:t>
            </a:r>
            <a:endParaRPr lang="zh-CN" altLang="en-US" sz="2800" dirty="0"/>
          </a:p>
        </p:txBody>
      </p:sp>
      <p:grpSp>
        <p:nvGrpSpPr>
          <p:cNvPr id="4" name="组合 3"/>
          <p:cNvGrpSpPr/>
          <p:nvPr/>
        </p:nvGrpSpPr>
        <p:grpSpPr>
          <a:xfrm>
            <a:off x="405046" y="4685017"/>
            <a:ext cx="4664665" cy="2074598"/>
            <a:chOff x="393472" y="4904936"/>
            <a:chExt cx="4447124" cy="1953064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93472" y="5123948"/>
              <a:ext cx="2150225" cy="1734052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8575" y="4904936"/>
              <a:ext cx="2022021" cy="1849876"/>
            </a:xfrm>
            <a:prstGeom prst="rect">
              <a:avLst/>
            </a:prstGeom>
          </p:spPr>
        </p:pic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46" y="4998959"/>
            <a:ext cx="6142417" cy="1216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列表与表格样式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80644" y="1066990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表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格</a:t>
            </a:r>
            <a:endParaRPr lang="zh-CN" altLang="en-US" sz="2800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704801" y="1664726"/>
          <a:ext cx="10812285" cy="4286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1279"/>
                <a:gridCol w="1716170"/>
                <a:gridCol w="6754836"/>
              </a:tblGrid>
              <a:tr h="362357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属性名称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描述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属性值</a:t>
                      </a:r>
                      <a:endParaRPr lang="zh-CN" altLang="en-US" sz="1800" dirty="0"/>
                    </a:p>
                  </a:txBody>
                  <a:tcPr/>
                </a:tc>
              </a:tr>
              <a:tr h="942129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border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边框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取值：宽度 线条类型 颜色，例如，设置边框为</a:t>
                      </a:r>
                      <a:r>
                        <a:rPr lang="en-US" altLang="zh-CN" sz="1800" dirty="0" smtClean="0"/>
                        <a:t>1px </a:t>
                      </a:r>
                      <a:r>
                        <a:rPr lang="zh-CN" altLang="en-US" sz="1800" dirty="0" smtClean="0"/>
                        <a:t>蓝色实线：</a:t>
                      </a:r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border:1px</a:t>
                      </a:r>
                      <a:r>
                        <a:rPr lang="en-US" altLang="zh-CN" sz="1800" baseline="0" dirty="0" smtClean="0"/>
                        <a:t> solid blue;</a:t>
                      </a:r>
                      <a:endParaRPr lang="zh-CN" altLang="en-US" sz="1800" dirty="0"/>
                    </a:p>
                  </a:txBody>
                  <a:tcPr/>
                </a:tc>
              </a:tr>
              <a:tr h="362357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width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宽度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500px 100%</a:t>
                      </a:r>
                      <a:endParaRPr lang="zh-CN" altLang="en-US" sz="1800" dirty="0"/>
                    </a:p>
                  </a:txBody>
                  <a:tcPr/>
                </a:tc>
              </a:tr>
              <a:tr h="362357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height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高度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500px 100%</a:t>
                      </a:r>
                      <a:endParaRPr lang="zh-CN" altLang="en-US" sz="1800" dirty="0"/>
                    </a:p>
                  </a:txBody>
                  <a:tcPr/>
                </a:tc>
              </a:tr>
              <a:tr h="652243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border-collapse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合并边框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separate  </a:t>
                      </a:r>
                      <a:r>
                        <a:rPr lang="zh-CN" altLang="en-US" sz="1800" dirty="0" smtClean="0"/>
                        <a:t>表格边框与单元格边框分开</a:t>
                      </a:r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collapse  </a:t>
                      </a:r>
                      <a:r>
                        <a:rPr lang="zh-CN" altLang="en-US" sz="1800" dirty="0" smtClean="0"/>
                        <a:t>合并为单一边框</a:t>
                      </a:r>
                      <a:endParaRPr lang="zh-CN" altLang="en-US" sz="1800" dirty="0"/>
                    </a:p>
                  </a:txBody>
                  <a:tcPr/>
                </a:tc>
              </a:tr>
              <a:tr h="652243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caption-side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标题位置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top  </a:t>
                      </a:r>
                      <a:r>
                        <a:rPr lang="zh-CN" altLang="en-US" sz="1800" dirty="0" smtClean="0"/>
                        <a:t>标题位于表格上方</a:t>
                      </a:r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bottom </a:t>
                      </a:r>
                      <a:r>
                        <a:rPr lang="zh-CN" altLang="en-US" sz="1800" dirty="0" smtClean="0"/>
                        <a:t>标题位于表格下方</a:t>
                      </a:r>
                      <a:endParaRPr lang="zh-CN" altLang="en-US" sz="1800" dirty="0"/>
                    </a:p>
                  </a:txBody>
                  <a:tcPr/>
                </a:tc>
              </a:tr>
              <a:tr h="942129"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vertical-align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文本在单元格内部垂直对齐方式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top </a:t>
                      </a:r>
                      <a:r>
                        <a:rPr lang="zh-CN" altLang="en-US" sz="1800" dirty="0" smtClean="0"/>
                        <a:t>居上</a:t>
                      </a:r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center </a:t>
                      </a:r>
                      <a:r>
                        <a:rPr lang="zh-CN" altLang="en-US" sz="1800" dirty="0" smtClean="0"/>
                        <a:t>居中</a:t>
                      </a:r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bottom </a:t>
                      </a:r>
                      <a:r>
                        <a:rPr lang="zh-CN" altLang="en-US" sz="1800" dirty="0" smtClean="0"/>
                        <a:t>居下</a:t>
                      </a:r>
                      <a:endParaRPr lang="zh-CN" altLang="en-US" sz="1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列表与表格样式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80644" y="1066990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表</a:t>
            </a:r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格</a:t>
            </a:r>
            <a:endParaRPr lang="zh-CN" altLang="en-US" sz="2800" b="1" dirty="0"/>
          </a:p>
        </p:txBody>
      </p:sp>
      <p:sp>
        <p:nvSpPr>
          <p:cNvPr id="8" name="矩形 7"/>
          <p:cNvSpPr/>
          <p:nvPr/>
        </p:nvSpPr>
        <p:spPr>
          <a:xfrm>
            <a:off x="883919" y="1641417"/>
            <a:ext cx="106646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table-layout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属性：定义了用于布局</a:t>
            </a:r>
            <a:r>
              <a:rPr lang="zh-CN" alt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表格的算法。</a:t>
            </a:r>
            <a:endParaRPr lang="zh-CN" altLang="en-US" sz="2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83919" y="2215844"/>
            <a:ext cx="776562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1F4E79"/>
                </a:solidFill>
                <a:latin typeface="+mn-ea"/>
              </a:rPr>
              <a:t>table-layout: auto;</a:t>
            </a:r>
            <a:endParaRPr lang="en-US" altLang="zh-CN" sz="2400" dirty="0">
              <a:solidFill>
                <a:srgbClr val="1F4E79"/>
              </a:solidFill>
              <a:latin typeface="+mn-ea"/>
            </a:endParaRPr>
          </a:p>
          <a:p>
            <a:r>
              <a:rPr lang="en-US" altLang="zh-CN" sz="2400" dirty="0">
                <a:solidFill>
                  <a:srgbClr val="1F4E79"/>
                </a:solidFill>
                <a:latin typeface="+mn-ea"/>
              </a:rPr>
              <a:t>table-layout: fixed;</a:t>
            </a:r>
            <a:endParaRPr lang="zh-CN" altLang="en-US" sz="2400" dirty="0">
              <a:latin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83919" y="2937929"/>
            <a:ext cx="1007730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/>
              <a:t>auto</a:t>
            </a:r>
            <a:r>
              <a:rPr lang="zh-CN" altLang="en-US" sz="2400" dirty="0" smtClean="0"/>
              <a:t>：大多数</a:t>
            </a:r>
            <a:r>
              <a:rPr lang="zh-CN" altLang="en-US" sz="2400" dirty="0"/>
              <a:t>浏览器采用自动表格布局算法对表格布局。表格及单元格的宽度取决于其包含的内容。如果</a:t>
            </a:r>
            <a:r>
              <a:rPr lang="zh-CN" altLang="en-US" sz="2400" dirty="0" smtClean="0"/>
              <a:t>表格布局</a:t>
            </a:r>
            <a:r>
              <a:rPr lang="zh-CN" altLang="en-US" sz="2400" dirty="0"/>
              <a:t>是 </a:t>
            </a:r>
            <a:r>
              <a:rPr lang="en-US" altLang="zh-CN" sz="2400" dirty="0"/>
              <a:t>auto</a:t>
            </a:r>
            <a:r>
              <a:rPr lang="zh-CN" altLang="en-US" sz="2400" dirty="0"/>
              <a:t>，即使指定了表格的 </a:t>
            </a:r>
            <a:r>
              <a:rPr lang="en-US" altLang="zh-CN" sz="2400" dirty="0"/>
              <a:t>width</a:t>
            </a:r>
            <a:r>
              <a:rPr lang="zh-CN" altLang="en-US" sz="2400" dirty="0"/>
              <a:t>，表格仍然会自适应内容自动撑开。</a:t>
            </a:r>
            <a:endParaRPr lang="en-US" altLang="zh-CN" sz="2400" dirty="0" smtClean="0"/>
          </a:p>
          <a:p>
            <a:pPr>
              <a:lnSpc>
                <a:spcPct val="150000"/>
              </a:lnSpc>
            </a:pPr>
            <a:r>
              <a:rPr lang="en-US" altLang="zh-CN" sz="2400" dirty="0" smtClean="0"/>
              <a:t>fixed: </a:t>
            </a:r>
            <a:r>
              <a:rPr lang="zh-CN" altLang="en-US" sz="2400" dirty="0"/>
              <a:t>指定表格布局采用固定布局方式，结合</a:t>
            </a:r>
            <a:r>
              <a:rPr lang="en-US" altLang="zh-CN" sz="2400" dirty="0"/>
              <a:t>width</a:t>
            </a:r>
            <a:r>
              <a:rPr lang="zh-CN" altLang="en-US" sz="2400" dirty="0"/>
              <a:t>属性来限制表格的</a:t>
            </a:r>
            <a:r>
              <a:rPr lang="zh-CN" altLang="en-US" sz="2400" dirty="0" smtClean="0"/>
              <a:t>宽。单元格内容使用</a:t>
            </a:r>
            <a:r>
              <a:rPr lang="en-US" altLang="zh-CN" sz="2400" dirty="0" smtClean="0"/>
              <a:t>text-overflow </a:t>
            </a:r>
            <a:r>
              <a:rPr lang="zh-CN" altLang="en-US" sz="2400" dirty="0"/>
              <a:t>属性</a:t>
            </a:r>
            <a:r>
              <a:rPr lang="zh-CN" altLang="en-US" sz="2400" dirty="0" smtClean="0"/>
              <a:t>用于内容过</a:t>
            </a:r>
            <a:r>
              <a:rPr lang="zh-CN" altLang="en-US" sz="2400" dirty="0"/>
              <a:t>长</a:t>
            </a:r>
            <a:r>
              <a:rPr lang="zh-CN" altLang="en-US" sz="2400" dirty="0" smtClean="0"/>
              <a:t>时以省略号显示。</a:t>
            </a:r>
            <a:endParaRPr lang="zh-CN" altLang="en-US" sz="24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9006" y="2081323"/>
            <a:ext cx="3726379" cy="11000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网站结构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一个网站包含许多文件：文本内容、代码、样式表、媒体内容，等等。</a:t>
            </a:r>
            <a:r>
              <a:rPr lang="zh-CN" altLang="en-US" dirty="0" smtClean="0"/>
              <a:t>当建立</a:t>
            </a:r>
            <a:r>
              <a:rPr lang="zh-CN" altLang="en-US" dirty="0"/>
              <a:t>一个网站时</a:t>
            </a:r>
            <a:r>
              <a:rPr lang="zh-CN" altLang="en-US" dirty="0" smtClean="0"/>
              <a:t>，我们需要</a:t>
            </a:r>
            <a:r>
              <a:rPr lang="zh-CN" altLang="en-US" dirty="0"/>
              <a:t>在计算机上将这些文件以合理的结构组织起来，确保文件之间交互畅通，并</a:t>
            </a:r>
            <a:r>
              <a:rPr lang="zh-CN" altLang="en-US" dirty="0" smtClean="0"/>
              <a:t>在最终</a:t>
            </a:r>
            <a:r>
              <a:rPr lang="zh-CN" altLang="en-US" dirty="0"/>
              <a:t>将它们上传到服务器之前</a:t>
            </a:r>
            <a:r>
              <a:rPr lang="zh-CN" altLang="en-US" dirty="0" smtClean="0"/>
              <a:t>使所有</a:t>
            </a:r>
            <a:r>
              <a:rPr lang="zh-CN" altLang="en-US" dirty="0"/>
              <a:t>内容看起来正确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dirty="0" smtClean="0"/>
              <a:t>web-projects</a:t>
            </a:r>
            <a:r>
              <a:rPr lang="zh-CN" altLang="en-US" dirty="0"/>
              <a:t>：</a:t>
            </a:r>
            <a:r>
              <a:rPr lang="zh-CN" altLang="en-US" dirty="0" smtClean="0"/>
              <a:t>存储网站项目。</a:t>
            </a:r>
            <a:endParaRPr lang="en-US" altLang="zh-CN" dirty="0" smtClean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 smtClean="0"/>
              <a:t>在</a:t>
            </a:r>
            <a:r>
              <a:rPr lang="en-US" altLang="zh-CN" dirty="0"/>
              <a:t>web-projects </a:t>
            </a:r>
            <a:r>
              <a:rPr lang="zh-CN" altLang="en-US" dirty="0" smtClean="0"/>
              <a:t>文件夹下新建一个名字类似为</a:t>
            </a:r>
            <a:r>
              <a:rPr lang="en-US" altLang="zh-CN" dirty="0" smtClean="0"/>
              <a:t>test-site</a:t>
            </a:r>
            <a:r>
              <a:rPr lang="zh-CN" altLang="en-US" dirty="0" smtClean="0"/>
              <a:t>的文件夹存放网站具体内容。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文件命名注意事项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要求统一用小写字母命名文件和文件夹，不允许有空格，文件名或者文件夹名中可以使用连字符。例如</a:t>
            </a:r>
            <a:r>
              <a:rPr lang="en-US" altLang="zh-CN" dirty="0" smtClean="0"/>
              <a:t>test-file.html</a:t>
            </a:r>
            <a:r>
              <a:rPr lang="zh-CN" altLang="en-US" dirty="0" smtClean="0"/>
              <a:t>。使用连字符而不要用下划线。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因为：</a:t>
            </a:r>
            <a:endParaRPr lang="en-US" altLang="zh-CN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许多计算机，特别是网络服务器，是区分大小写</a:t>
            </a:r>
            <a:r>
              <a:rPr lang="zh-CN" altLang="en-US" dirty="0" smtClean="0"/>
              <a:t>的。</a:t>
            </a:r>
            <a:endParaRPr lang="en-US" altLang="zh-CN" dirty="0" smtClean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浏览器、网络服务器和编程语言对空格的处理并不一致。一些系统可能将其视为两个文件名。一些服务器会用“</a:t>
            </a:r>
            <a:r>
              <a:rPr lang="en-US" altLang="zh-CN" dirty="0"/>
              <a:t>%20”</a:t>
            </a:r>
            <a:r>
              <a:rPr lang="zh-CN" altLang="en-US" dirty="0"/>
              <a:t>（</a:t>
            </a:r>
            <a:r>
              <a:rPr lang="en-US" altLang="zh-CN" dirty="0"/>
              <a:t>URL </a:t>
            </a:r>
            <a:r>
              <a:rPr lang="zh-CN" altLang="en-US" dirty="0"/>
              <a:t>中空格的字符代码）替换文件名中的区域，导致所有链接被破坏。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网站结构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网站文件夹</a:t>
            </a:r>
            <a:r>
              <a:rPr lang="en-US" altLang="zh-CN" dirty="0" smtClean="0"/>
              <a:t>test-site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smtClean="0"/>
              <a:t>-index.html</a:t>
            </a:r>
            <a:r>
              <a:rPr lang="zh-CN" altLang="en-US" dirty="0"/>
              <a:t>：</a:t>
            </a:r>
            <a:r>
              <a:rPr lang="zh-CN" altLang="en-US" sz="2000" dirty="0"/>
              <a:t>包含主页内容</a:t>
            </a:r>
            <a:r>
              <a:rPr lang="zh-CN" altLang="en-US" sz="2000" dirty="0" smtClean="0"/>
              <a:t>，是第一次访问网站</a:t>
            </a:r>
            <a:r>
              <a:rPr lang="zh-CN" altLang="en-US" sz="2000" dirty="0"/>
              <a:t>时看到的文字和图片</a:t>
            </a:r>
            <a:endParaRPr lang="en-US" altLang="zh-CN" sz="2000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smtClean="0"/>
              <a:t>-images</a:t>
            </a:r>
            <a:r>
              <a:rPr lang="zh-CN" altLang="en-US" dirty="0"/>
              <a:t>：存放网站上使用的所有图片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smtClean="0"/>
              <a:t>-styles</a:t>
            </a:r>
            <a:r>
              <a:rPr lang="zh-CN" altLang="en-US" dirty="0"/>
              <a:t>：存放用于设置内容样式的 </a:t>
            </a:r>
            <a:r>
              <a:rPr lang="en-US" altLang="zh-CN" dirty="0"/>
              <a:t>CSS </a:t>
            </a:r>
            <a:r>
              <a:rPr lang="zh-CN" altLang="en-US" dirty="0" smtClean="0"/>
              <a:t>代码文件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/>
              <a:t>	</a:t>
            </a:r>
            <a:r>
              <a:rPr lang="en-US" altLang="zh-CN" dirty="0" smtClean="0"/>
              <a:t>-scripts</a:t>
            </a:r>
            <a:r>
              <a:rPr lang="zh-CN" altLang="en-US" dirty="0"/>
              <a:t>：存放用于向网站添加交互功能的</a:t>
            </a:r>
            <a:r>
              <a:rPr lang="en-US" altLang="zh-CN" dirty="0" smtClean="0"/>
              <a:t>JavaScript</a:t>
            </a:r>
            <a:r>
              <a:rPr lang="zh-CN" altLang="en-US" dirty="0"/>
              <a:t>代码</a:t>
            </a:r>
            <a:r>
              <a:rPr lang="zh-CN" altLang="en-US" dirty="0" smtClean="0"/>
              <a:t>文件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8890" y="114300"/>
            <a:ext cx="2982595" cy="2696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25245" y="281940"/>
            <a:ext cx="10515600" cy="1325563"/>
          </a:xfrm>
        </p:spPr>
        <p:txBody>
          <a:bodyPr/>
          <a:lstStyle/>
          <a:p>
            <a:r>
              <a:rPr lang="zh-CN" altLang="en-US" dirty="0" smtClean="0">
                <a:sym typeface="+mn-ea"/>
              </a:rPr>
              <a:t>网络字体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825625"/>
            <a:ext cx="10898171" cy="489585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在网页中不仅可以使用本地已安装的字体，为了使网页美观，还可以向网页中添加</a:t>
            </a:r>
            <a:r>
              <a:rPr lang="en-US" altLang="zh-CN" dirty="0" smtClean="0"/>
              <a:t>web</a:t>
            </a:r>
            <a:r>
              <a:rPr lang="zh-CN" altLang="en-US" dirty="0" smtClean="0"/>
              <a:t>字体。</a:t>
            </a:r>
            <a:endParaRPr lang="en-US" altLang="zh-CN" dirty="0" smtClean="0"/>
          </a:p>
          <a:p>
            <a:r>
              <a:rPr lang="en-US" altLang="zh-CN" dirty="0"/>
              <a:t>Google Fonts </a:t>
            </a:r>
            <a:r>
              <a:rPr lang="zh-CN" altLang="en-US" dirty="0" smtClean="0"/>
              <a:t>使用方式，两步：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sz="2200" dirty="0" smtClean="0"/>
          </a:p>
          <a:p>
            <a:r>
              <a:rPr lang="en-US" altLang="zh-CN" sz="2200" dirty="0" smtClean="0"/>
              <a:t>1</a:t>
            </a:r>
            <a:r>
              <a:rPr lang="zh-CN" altLang="en-US" sz="2200" dirty="0" smtClean="0"/>
              <a:t>、</a:t>
            </a:r>
            <a:r>
              <a:rPr lang="zh-CN" altLang="en-US" dirty="0"/>
              <a:t>添加样式表链接以请求所需的网页</a:t>
            </a:r>
            <a:r>
              <a:rPr lang="zh-CN" altLang="en-US" dirty="0" smtClean="0"/>
              <a:t>字体：</a:t>
            </a:r>
            <a:endParaRPr lang="en-US" altLang="zh-CN" dirty="0" smtClean="0"/>
          </a:p>
          <a:p>
            <a:r>
              <a:rPr lang="en-US" altLang="zh-CN" sz="2200" dirty="0" smtClean="0"/>
              <a:t>&lt;link </a:t>
            </a:r>
            <a:r>
              <a:rPr lang="en-US" altLang="zh-CN" sz="2200" dirty="0" err="1"/>
              <a:t>rel</a:t>
            </a:r>
            <a:r>
              <a:rPr lang="en-US" altLang="zh-CN" sz="2200" dirty="0"/>
              <a:t>="stylesheet" </a:t>
            </a:r>
            <a:r>
              <a:rPr lang="en-US" altLang="zh-CN" sz="2200" dirty="0" err="1"/>
              <a:t>href</a:t>
            </a:r>
            <a:r>
              <a:rPr lang="en-US" altLang="zh-CN" sz="2200" dirty="0"/>
              <a:t>="https://fonts.googleapis.com/</a:t>
            </a:r>
            <a:r>
              <a:rPr lang="en-US" altLang="zh-CN" sz="2200" dirty="0" err="1"/>
              <a:t>css?family</a:t>
            </a:r>
            <a:r>
              <a:rPr lang="en-US" altLang="zh-CN" sz="2200" dirty="0"/>
              <a:t>=</a:t>
            </a:r>
            <a:r>
              <a:rPr lang="en-US" altLang="zh-CN" sz="2200" dirty="0" err="1"/>
              <a:t>Labrada</a:t>
            </a:r>
            <a:r>
              <a:rPr lang="en-US" altLang="zh-CN" sz="2200" dirty="0"/>
              <a:t>"&gt;</a:t>
            </a:r>
            <a:endParaRPr lang="en-US" altLang="zh-CN" sz="2200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467" y="3195636"/>
            <a:ext cx="7791450" cy="2295525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506489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09700" y="183515"/>
            <a:ext cx="10515600" cy="1325563"/>
          </a:xfrm>
        </p:spPr>
        <p:txBody>
          <a:bodyPr/>
          <a:lstStyle/>
          <a:p>
            <a:r>
              <a:rPr lang="zh-CN" altLang="en-US" dirty="0" smtClean="0">
                <a:sym typeface="+mn-ea"/>
              </a:rPr>
              <a:t>网络字体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</a:t>
            </a:r>
            <a:r>
              <a:rPr lang="zh-CN" altLang="en-US" dirty="0"/>
              <a:t>、在样式表中使用请求的 </a:t>
            </a:r>
            <a:r>
              <a:rPr lang="en-US" altLang="zh-CN" dirty="0"/>
              <a:t>Web </a:t>
            </a:r>
            <a:r>
              <a:rPr lang="zh-CN" altLang="en-US" dirty="0"/>
              <a:t>字体设置元素的</a:t>
            </a:r>
            <a:r>
              <a:rPr lang="zh-CN" altLang="en-US" dirty="0" smtClean="0"/>
              <a:t>样式。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注意：始终</a:t>
            </a:r>
            <a:r>
              <a:rPr lang="zh-CN" altLang="en-US" dirty="0"/>
              <a:t>至少列出一个后备网络安全字体</a:t>
            </a:r>
            <a:r>
              <a:rPr lang="zh-CN" altLang="en-US" dirty="0" smtClean="0"/>
              <a:t>，避免</a:t>
            </a:r>
            <a:r>
              <a:rPr lang="zh-CN" altLang="en-US" dirty="0"/>
              <a:t>意外</a:t>
            </a:r>
            <a:r>
              <a:rPr lang="zh-CN" altLang="en-US" dirty="0" smtClean="0"/>
              <a:t>行为。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650" y="2523438"/>
            <a:ext cx="6546573" cy="2644556"/>
          </a:xfrm>
          <a:prstGeom prst="rect">
            <a:avLst/>
          </a:prstGeom>
        </p:spPr>
      </p:pic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40044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56995" y="252095"/>
            <a:ext cx="10515600" cy="1325563"/>
          </a:xfrm>
        </p:spPr>
        <p:txBody>
          <a:bodyPr/>
          <a:lstStyle/>
          <a:p>
            <a:r>
              <a:rPr lang="zh-CN" altLang="en-US" dirty="0" smtClean="0">
                <a:sym typeface="+mn-ea"/>
              </a:rPr>
              <a:t>网络字体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 smtClean="0"/>
              <a:t>如果要请求</a:t>
            </a:r>
            <a:r>
              <a:rPr lang="zh-CN" altLang="en-US" dirty="0"/>
              <a:t>多个字体系列</a:t>
            </a:r>
            <a:r>
              <a:rPr lang="zh-CN" altLang="en-US" dirty="0" smtClean="0"/>
              <a:t>，可以使用</a:t>
            </a:r>
            <a:r>
              <a:rPr lang="zh-CN" altLang="en-US" dirty="0"/>
              <a:t>竖线字符 </a:t>
            </a:r>
            <a:r>
              <a:rPr lang="en-US" altLang="zh-CN" dirty="0"/>
              <a:t>(|) </a:t>
            </a:r>
            <a:r>
              <a:rPr lang="zh-CN" altLang="en-US" dirty="0"/>
              <a:t>分隔</a:t>
            </a:r>
            <a:r>
              <a:rPr lang="zh-CN" altLang="en-US" dirty="0" smtClean="0"/>
              <a:t>名称，如果字体名称含有空格，将空格替换为加号</a:t>
            </a:r>
            <a:r>
              <a:rPr lang="en-US" altLang="zh-CN" dirty="0" smtClean="0"/>
              <a:t>+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 smtClean="0"/>
              <a:t>不要添加过多字体，一般网页无需太多字体，而且过多网络字体也会使页面加载速度变慢。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67105" y="3552170"/>
            <a:ext cx="10257148" cy="82994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600" dirty="0">
                <a:solidFill>
                  <a:srgbClr val="FF5370"/>
                </a:solidFill>
                <a:latin typeface="Monaco" pitchFamily="49" charset="0"/>
              </a:rPr>
              <a:t>link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 err="1">
                <a:solidFill>
                  <a:srgbClr val="FFCB6B"/>
                </a:solidFill>
                <a:latin typeface="Monaco" pitchFamily="49" charset="0"/>
              </a:rPr>
              <a:t>rel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stylesheet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600" dirty="0" err="1">
                <a:solidFill>
                  <a:srgbClr val="FFCB6B"/>
                </a:solidFill>
                <a:latin typeface="Monaco" pitchFamily="49" charset="0"/>
              </a:rPr>
              <a:t>href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https://fonts.googleapis.com/</a:t>
            </a:r>
            <a:r>
              <a:rPr lang="en-US" altLang="zh-CN" sz="1600" dirty="0" err="1">
                <a:solidFill>
                  <a:srgbClr val="C3E88D"/>
                </a:solidFill>
                <a:latin typeface="Monaco" pitchFamily="49" charset="0"/>
              </a:rPr>
              <a:t>css?family</a:t>
            </a:r>
            <a:r>
              <a:rPr lang="en-US" altLang="zh-CN" sz="1600" dirty="0">
                <a:solidFill>
                  <a:srgbClr val="C3E88D"/>
                </a:solidFill>
                <a:latin typeface="Monaco" pitchFamily="49" charset="0"/>
              </a:rPr>
              <a:t>=</a:t>
            </a:r>
            <a:r>
              <a:rPr lang="en-US" altLang="zh-CN" sz="1600" dirty="0" err="1">
                <a:solidFill>
                  <a:srgbClr val="C3E88D"/>
                </a:solidFill>
                <a:latin typeface="Monaco" pitchFamily="49" charset="0"/>
              </a:rPr>
              <a:t>Labrada|Inconsolata|Droid+Sans</a:t>
            </a:r>
            <a:r>
              <a:rPr lang="en-US" altLang="zh-CN" sz="16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6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600" b="0" dirty="0">
              <a:solidFill>
                <a:srgbClr val="CBCCC6"/>
              </a:solidFill>
              <a:effectLst/>
              <a:latin typeface="Monaco" pitchFamily="49" charset="0"/>
            </a:endParaRPr>
          </a:p>
        </p:txBody>
      </p: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483629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3810" y="183515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网络</a:t>
            </a:r>
            <a:r>
              <a:rPr lang="zh-CN" altLang="en-US" dirty="0" smtClean="0"/>
              <a:t>字体</a:t>
            </a:r>
            <a:endParaRPr lang="zh-CN" altLang="en-US" dirty="0" smtClean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默认地，</a:t>
            </a:r>
            <a:r>
              <a:rPr lang="en-US" altLang="zh-CN" dirty="0"/>
              <a:t>Google Fonts API </a:t>
            </a:r>
            <a:r>
              <a:rPr lang="zh-CN" altLang="en-US" dirty="0" smtClean="0"/>
              <a:t>提供的是字体的常规</a:t>
            </a:r>
            <a:r>
              <a:rPr lang="zh-CN" altLang="en-US" dirty="0"/>
              <a:t>版本</a:t>
            </a:r>
            <a:r>
              <a:rPr lang="zh-CN" altLang="en-US" dirty="0" smtClean="0"/>
              <a:t>。需要其他</a:t>
            </a:r>
            <a:r>
              <a:rPr lang="zh-CN" altLang="en-US" dirty="0"/>
              <a:t>样式或粗细</a:t>
            </a:r>
            <a:r>
              <a:rPr lang="zh-CN" altLang="en-US" dirty="0" smtClean="0"/>
              <a:t>，需要在</a:t>
            </a:r>
            <a:r>
              <a:rPr lang="zh-CN" altLang="en-US" dirty="0"/>
              <a:t>字体名称后面附加一个冒号 </a:t>
            </a:r>
            <a:r>
              <a:rPr lang="en-US" altLang="zh-CN" dirty="0"/>
              <a:t>(:)</a:t>
            </a:r>
            <a:r>
              <a:rPr lang="zh-CN" altLang="en-US" dirty="0"/>
              <a:t>，后跟一个样式或粗细的列表，以英文逗号分隔 </a:t>
            </a:r>
            <a:r>
              <a:rPr lang="en-US" altLang="zh-CN" dirty="0" smtClean="0"/>
              <a:t>(,)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22" y="4384675"/>
            <a:ext cx="5753100" cy="19716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45822" y="3466624"/>
            <a:ext cx="10300355" cy="106045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sz="1400" dirty="0">
                <a:solidFill>
                  <a:srgbClr val="FF5370"/>
                </a:solidFill>
                <a:latin typeface="Monaco" pitchFamily="49" charset="0"/>
              </a:rPr>
              <a:t>link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 err="1">
                <a:solidFill>
                  <a:srgbClr val="FFCB6B"/>
                </a:solidFill>
                <a:latin typeface="Monaco" pitchFamily="49" charset="0"/>
              </a:rPr>
              <a:t>rel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stylesheet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sz="1400" dirty="0" err="1">
                <a:solidFill>
                  <a:srgbClr val="FFCB6B"/>
                </a:solidFill>
                <a:latin typeface="Monaco" pitchFamily="49" charset="0"/>
              </a:rPr>
              <a:t>href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https://fonts.googleapis.com/</a:t>
            </a:r>
            <a:r>
              <a:rPr lang="en-US" altLang="zh-CN" sz="1400" dirty="0" err="1">
                <a:solidFill>
                  <a:srgbClr val="C3E88D"/>
                </a:solidFill>
                <a:latin typeface="Monaco" pitchFamily="49" charset="0"/>
              </a:rPr>
              <a:t>css?family</a:t>
            </a:r>
            <a:r>
              <a:rPr lang="en-US" altLang="zh-CN" sz="1400" dirty="0">
                <a:solidFill>
                  <a:srgbClr val="C3E88D"/>
                </a:solidFill>
                <a:latin typeface="Monaco" pitchFamily="49" charset="0"/>
              </a:rPr>
              <a:t>=Labrada:italic,bold|Inconsolata|Droid+Sans:700</a:t>
            </a:r>
            <a:r>
              <a:rPr lang="en-US" altLang="zh-CN" sz="1400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sz="1400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sz="1400" dirty="0">
              <a:solidFill>
                <a:srgbClr val="CBCCC6"/>
              </a:solidFill>
              <a:latin typeface="Monaco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CDD3DE"/>
                </a:solidFill>
                <a:latin typeface="Monaco" pitchFamily="49" charset="0"/>
              </a:rPr>
              <a:t>  </a:t>
            </a:r>
            <a:endParaRPr lang="en-US" altLang="zh-CN" sz="1400" b="0" dirty="0">
              <a:solidFill>
                <a:srgbClr val="CBCCC6"/>
              </a:solidFill>
              <a:effectLst/>
              <a:latin typeface="Monaco" pitchFamily="49" charset="0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47029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优化字体请求</a:t>
            </a:r>
            <a:endParaRPr lang="en-US" altLang="zh-CN" dirty="0" smtClean="0"/>
          </a:p>
          <a:p>
            <a:r>
              <a:rPr lang="zh-CN" altLang="en-US" dirty="0" smtClean="0"/>
              <a:t>假如仅是网页的标题文本需要使用网络字体，那么可以将标题文本设定为</a:t>
            </a:r>
            <a:r>
              <a:rPr lang="en-US" altLang="zh-CN" dirty="0" smtClean="0"/>
              <a:t>text</a:t>
            </a:r>
            <a:r>
              <a:rPr lang="zh-CN" altLang="en-US" dirty="0" smtClean="0"/>
              <a:t>参数的值，即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sz="1600" dirty="0" smtClean="0"/>
              <a:t>更多具体内容，请参考：</a:t>
            </a:r>
            <a:r>
              <a:rPr lang="en-US" altLang="zh-CN" sz="1600" dirty="0"/>
              <a:t>https://developers.google.com/fonts/docs/getting_started</a:t>
            </a:r>
            <a:endParaRPr lang="en-US" altLang="zh-CN" sz="16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33254" y="3539629"/>
            <a:ext cx="10326416" cy="9220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80CBC4"/>
                </a:solidFill>
                <a:latin typeface="Monaco" pitchFamily="49" charset="0"/>
              </a:rPr>
              <a:t>&lt;</a:t>
            </a:r>
            <a:r>
              <a:rPr lang="en-US" altLang="zh-CN" dirty="0">
                <a:solidFill>
                  <a:srgbClr val="FF5370"/>
                </a:solidFill>
                <a:latin typeface="Monaco" pitchFamily="49" charset="0"/>
              </a:rPr>
              <a:t>link</a:t>
            </a:r>
            <a:r>
              <a:rPr lang="en-US" altLang="zh-CN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dirty="0" err="1">
                <a:solidFill>
                  <a:srgbClr val="FFCB6B"/>
                </a:solidFill>
                <a:latin typeface="Monaco" pitchFamily="49" charset="0"/>
              </a:rPr>
              <a:t>rel</a:t>
            </a:r>
            <a:r>
              <a:rPr lang="en-US" altLang="zh-CN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dirty="0">
                <a:solidFill>
                  <a:srgbClr val="C3E88D"/>
                </a:solidFill>
                <a:latin typeface="Monaco" pitchFamily="49" charset="0"/>
              </a:rPr>
              <a:t>stylesheet</a:t>
            </a:r>
            <a:r>
              <a:rPr lang="en-US" altLang="zh-CN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dirty="0">
                <a:solidFill>
                  <a:srgbClr val="80CBC4"/>
                </a:solidFill>
                <a:latin typeface="Monaco" pitchFamily="49" charset="0"/>
              </a:rPr>
              <a:t> </a:t>
            </a:r>
            <a:r>
              <a:rPr lang="en-US" altLang="zh-CN" dirty="0" err="1">
                <a:solidFill>
                  <a:srgbClr val="FFCB6B"/>
                </a:solidFill>
                <a:latin typeface="Monaco" pitchFamily="49" charset="0"/>
              </a:rPr>
              <a:t>href</a:t>
            </a:r>
            <a:r>
              <a:rPr lang="en-US" altLang="zh-CN" dirty="0">
                <a:solidFill>
                  <a:srgbClr val="80CBC4"/>
                </a:solidFill>
                <a:latin typeface="Monaco" pitchFamily="49" charset="0"/>
              </a:rPr>
              <a:t>=</a:t>
            </a:r>
            <a:r>
              <a:rPr lang="en-US" altLang="zh-CN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dirty="0">
                <a:solidFill>
                  <a:srgbClr val="C3E88D"/>
                </a:solidFill>
                <a:latin typeface="Monaco" pitchFamily="49" charset="0"/>
              </a:rPr>
              <a:t>https://fonts.googleapis.com/</a:t>
            </a:r>
            <a:r>
              <a:rPr lang="en-US" altLang="zh-CN" dirty="0" err="1">
                <a:solidFill>
                  <a:srgbClr val="C3E88D"/>
                </a:solidFill>
                <a:latin typeface="Monaco" pitchFamily="49" charset="0"/>
              </a:rPr>
              <a:t>css?family</a:t>
            </a:r>
            <a:r>
              <a:rPr lang="en-US" altLang="zh-CN" dirty="0">
                <a:solidFill>
                  <a:srgbClr val="C3E88D"/>
                </a:solidFill>
                <a:latin typeface="Monaco" pitchFamily="49" charset="0"/>
              </a:rPr>
              <a:t>=</a:t>
            </a:r>
            <a:r>
              <a:rPr lang="en-US" altLang="zh-CN" dirty="0" err="1">
                <a:solidFill>
                  <a:srgbClr val="C3E88D"/>
                </a:solidFill>
                <a:latin typeface="Monaco" pitchFamily="49" charset="0"/>
              </a:rPr>
              <a:t>Labrada&amp;text</a:t>
            </a:r>
            <a:r>
              <a:rPr lang="en-US" altLang="zh-CN" dirty="0">
                <a:solidFill>
                  <a:srgbClr val="C3E88D"/>
                </a:solidFill>
                <a:latin typeface="Monaco" pitchFamily="49" charset="0"/>
              </a:rPr>
              <a:t>=Hello</a:t>
            </a:r>
            <a:r>
              <a:rPr lang="en-US" altLang="zh-CN" dirty="0">
                <a:solidFill>
                  <a:srgbClr val="D9F5DD"/>
                </a:solidFill>
                <a:latin typeface="Monaco" pitchFamily="49" charset="0"/>
              </a:rPr>
              <a:t>"</a:t>
            </a:r>
            <a:r>
              <a:rPr lang="en-US" altLang="zh-CN" dirty="0">
                <a:solidFill>
                  <a:srgbClr val="80CBC4"/>
                </a:solidFill>
                <a:latin typeface="Monaco" pitchFamily="49" charset="0"/>
              </a:rPr>
              <a:t>&gt;</a:t>
            </a:r>
            <a:endParaRPr lang="en-US" altLang="zh-CN" b="0" dirty="0">
              <a:solidFill>
                <a:srgbClr val="CBCCC6"/>
              </a:solidFill>
              <a:effectLst/>
              <a:latin typeface="Monaco" pitchFamily="49" charset="0"/>
            </a:endParaRPr>
          </a:p>
        </p:txBody>
      </p:sp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1348740" y="307975"/>
            <a:ext cx="7261860" cy="833755"/>
          </a:xfrm>
          <a:prstGeom prst="rect">
            <a:avLst/>
          </a:prstGeom>
        </p:spPr>
        <p:txBody>
          <a:bodyPr wrap="square">
            <a:noAutofit/>
          </a:bodyPr>
          <a:p>
            <a:pPr lvl="0" defTabSz="914400">
              <a:defRPr/>
            </a:pP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网络字体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网络字体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0856" y="979875"/>
            <a:ext cx="990055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在网页中不仅可以使用本地已安装的字体，为了使网页美观，还可以向网页中添加</a:t>
            </a:r>
            <a:r>
              <a:rPr lang="en-US" altLang="zh-CN" dirty="0"/>
              <a:t>web</a:t>
            </a:r>
            <a:r>
              <a:rPr lang="zh-CN" altLang="en-US" dirty="0"/>
              <a:t>字体。</a:t>
            </a:r>
            <a:endParaRPr lang="en-US" altLang="zh-CN" dirty="0"/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en-US" altLang="zh-CN" dirty="0" smtClean="0"/>
              <a:t>Google </a:t>
            </a:r>
            <a:r>
              <a:rPr lang="en-US" altLang="zh-CN" dirty="0"/>
              <a:t>Fonts </a:t>
            </a:r>
            <a:r>
              <a:rPr lang="zh-CN" altLang="en-US" dirty="0"/>
              <a:t>使用</a:t>
            </a:r>
            <a:r>
              <a:rPr lang="zh-CN" altLang="en-US" dirty="0" smtClean="0"/>
              <a:t>方式</a:t>
            </a:r>
            <a:endParaRPr lang="en-US" altLang="zh-CN" dirty="0" smtClean="0"/>
          </a:p>
          <a:p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4061" y="1643629"/>
            <a:ext cx="4752856" cy="140029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70856" y="3050726"/>
            <a:ext cx="6096000" cy="403124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20000"/>
              </a:lnSpc>
              <a:spcBef>
                <a:spcPts val="1000"/>
              </a:spcBef>
            </a:pPr>
            <a:r>
              <a:rPr lang="en-US" altLang="zh-CN" dirty="0"/>
              <a:t>2</a:t>
            </a:r>
            <a:r>
              <a:rPr lang="zh-CN" altLang="en-US" dirty="0"/>
              <a:t>、在样式表中使用请求的 </a:t>
            </a:r>
            <a:r>
              <a:rPr lang="en-US" altLang="zh-CN" dirty="0"/>
              <a:t>Web </a:t>
            </a:r>
            <a:r>
              <a:rPr lang="zh-CN" altLang="en-US" dirty="0"/>
              <a:t>字体设置元素的样式。</a:t>
            </a:r>
            <a:endParaRPr lang="en-US" altLang="zh-CN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062" y="3543504"/>
            <a:ext cx="2854282" cy="115301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376057" y="3868275"/>
            <a:ext cx="63953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注意：始终至少列出一个后备网络安全字体，避免意外行为。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961" y="5598493"/>
            <a:ext cx="8219826" cy="453963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1161287" y="4892025"/>
            <a:ext cx="932165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如果要请求多个字体系列，可以使用竖线字符 </a:t>
            </a:r>
            <a:r>
              <a:rPr lang="en-US" altLang="zh-CN" dirty="0"/>
              <a:t>(|) </a:t>
            </a:r>
            <a:r>
              <a:rPr lang="zh-CN" altLang="en-US" dirty="0"/>
              <a:t>分隔名称，如果字体名称含有空格，将空格替换为加号</a:t>
            </a:r>
            <a:r>
              <a:rPr lang="en-US" altLang="zh-CN" dirty="0"/>
              <a:t>+</a:t>
            </a:r>
            <a:r>
              <a:rPr lang="zh-CN" altLang="en-US" dirty="0"/>
              <a:t>。</a:t>
            </a:r>
            <a:endParaRPr lang="en-US" altLang="zh-CN" dirty="0"/>
          </a:p>
        </p:txBody>
      </p:sp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网络字体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0856" y="979875"/>
            <a:ext cx="99005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@font-face</a:t>
            </a:r>
            <a:r>
              <a:rPr lang="zh-CN" altLang="en-US" sz="2000" b="1" dirty="0" smtClean="0"/>
              <a:t>规则</a:t>
            </a:r>
            <a:endParaRPr lang="zh-CN" altLang="en-US" sz="2000" dirty="0"/>
          </a:p>
        </p:txBody>
      </p:sp>
      <p:sp>
        <p:nvSpPr>
          <p:cNvPr id="2" name="矩形 1"/>
          <p:cNvSpPr/>
          <p:nvPr/>
        </p:nvSpPr>
        <p:spPr>
          <a:xfrm>
            <a:off x="870855" y="1303040"/>
            <a:ext cx="1095647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CSS3</a:t>
            </a:r>
            <a:r>
              <a:rPr lang="zh-CN" altLang="en-US" dirty="0"/>
              <a:t>之前 ，客户端能否正确显示</a:t>
            </a:r>
            <a:r>
              <a:rPr lang="en-US" altLang="zh-CN" dirty="0"/>
              <a:t>font-family</a:t>
            </a:r>
            <a:r>
              <a:rPr lang="zh-CN" altLang="en-US" dirty="0"/>
              <a:t>规定的字体，是由该字体是否预装在客户端决定的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CSS3</a:t>
            </a:r>
            <a:r>
              <a:rPr lang="zh-CN" altLang="en-US" dirty="0"/>
              <a:t>，有了</a:t>
            </a:r>
            <a:r>
              <a:rPr lang="en-US" altLang="zh-CN" dirty="0"/>
              <a:t>@font-face</a:t>
            </a:r>
            <a:r>
              <a:rPr lang="zh-CN" altLang="en-US" dirty="0"/>
              <a:t>规则，可以将字体放在服务器端，渲染页面时客户端请求从服务器端下载该字体文件进行使用</a:t>
            </a:r>
            <a:r>
              <a:rPr lang="zh-CN" altLang="en-US" dirty="0" smtClean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利用</a:t>
            </a:r>
            <a:r>
              <a:rPr lang="en-US" altLang="zh-CN" dirty="0"/>
              <a:t>@font-face </a:t>
            </a:r>
            <a:r>
              <a:rPr lang="zh-CN" altLang="en-US" dirty="0"/>
              <a:t>规则，定义 </a:t>
            </a:r>
            <a:r>
              <a:rPr lang="en-US" altLang="zh-CN" dirty="0"/>
              <a:t>web </a:t>
            </a:r>
            <a:r>
              <a:rPr lang="zh-CN" altLang="en-US" dirty="0"/>
              <a:t>字体，并引用。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需要字体的四种文件格式，确保能在主流浏览器中都能正常显示该字体。</a:t>
            </a:r>
            <a:endParaRPr lang="zh-CN" altLang="en-US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519" y="3527262"/>
            <a:ext cx="3697599" cy="1776889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4755909" y="3841356"/>
            <a:ext cx="40109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latin typeface="+mn-ea"/>
              </a:rPr>
              <a:t>不同浏览器支持不同字体文件格式，在应用</a:t>
            </a:r>
            <a:r>
              <a:rPr lang="en-US" altLang="zh-CN" dirty="0" smtClean="0">
                <a:latin typeface="+mn-ea"/>
              </a:rPr>
              <a:t>web</a:t>
            </a:r>
            <a:r>
              <a:rPr lang="zh-CN" altLang="en-US" dirty="0" smtClean="0">
                <a:latin typeface="+mn-ea"/>
              </a:rPr>
              <a:t>字体前，需要生成同一种字体的不同格式文件。</a:t>
            </a:r>
            <a:endParaRPr lang="zh-CN" altLang="en-US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519" y="5358548"/>
            <a:ext cx="5077233" cy="14395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网络字体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0856" y="979875"/>
            <a:ext cx="990055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/>
              <a:t>@font-face</a:t>
            </a:r>
            <a:r>
              <a:rPr lang="zh-CN" altLang="en-US" sz="2000" b="1" dirty="0" smtClean="0"/>
              <a:t>规则</a:t>
            </a:r>
            <a:endParaRPr lang="zh-CN" altLang="en-US" sz="2000" b="1" dirty="0"/>
          </a:p>
        </p:txBody>
      </p:sp>
      <p:sp>
        <p:nvSpPr>
          <p:cNvPr id="11" name="矩形 10"/>
          <p:cNvSpPr/>
          <p:nvPr/>
        </p:nvSpPr>
        <p:spPr>
          <a:xfrm>
            <a:off x="913037" y="4141445"/>
            <a:ext cx="776797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latin typeface="Arial" panose="020B0604020202090204" pitchFamily="34" charset="0"/>
                <a:cs typeface="Arial" panose="020B0604020202090204" pitchFamily="34" charset="0"/>
              </a:rPr>
              <a:t>2</a:t>
            </a:r>
            <a:r>
              <a:rPr lang="zh-CN" altLang="en-US" sz="2000" dirty="0" smtClean="0">
                <a:latin typeface="Arial" panose="020B0604020202090204" pitchFamily="34" charset="0"/>
                <a:cs typeface="Arial" panose="020B0604020202090204" pitchFamily="34" charset="0"/>
              </a:rPr>
              <a:t>、上</a:t>
            </a:r>
            <a:r>
              <a:rPr lang="zh-CN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传完成之后，有三种可以选择下载，选择第三种，</a:t>
            </a: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expert…</a:t>
            </a:r>
            <a:r>
              <a:rPr lang="zh-CN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，并且把其它的文件格式都打上对勾，记得选择第三种</a:t>
            </a:r>
            <a:r>
              <a:rPr lang="zh-CN" altLang="en-US" sz="2000" dirty="0" smtClean="0">
                <a:latin typeface="Arial" panose="020B0604020202090204" pitchFamily="34" charset="0"/>
                <a:cs typeface="Arial" panose="020B0604020202090204" pitchFamily="34" charset="0"/>
              </a:rPr>
              <a:t>下载</a:t>
            </a:r>
            <a:r>
              <a:rPr lang="zh-CN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。</a:t>
            </a:r>
            <a:endParaRPr lang="en-US" altLang="zh-CN" sz="20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13038" y="1641056"/>
            <a:ext cx="75026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latin typeface="Arial" panose="020B0604020202090204" pitchFamily="34" charset="0"/>
                <a:cs typeface="Arial" panose="020B0604020202090204" pitchFamily="34" charset="0"/>
              </a:rPr>
              <a:t>怎么生成：</a:t>
            </a: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 https://www.fontsquirrel.com/tools/webfont-generator</a:t>
            </a:r>
            <a:endParaRPr lang="zh-CN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13038" y="2016063"/>
            <a:ext cx="109394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Arial" panose="020B0604020202090204" pitchFamily="34" charset="0"/>
                <a:cs typeface="Arial" panose="020B0604020202090204" pitchFamily="34" charset="0"/>
              </a:rPr>
              <a:t>1</a:t>
            </a:r>
            <a:r>
              <a:rPr lang="zh-CN" altLang="en-US" sz="2400" dirty="0" smtClean="0">
                <a:latin typeface="Arial" panose="020B0604020202090204" pitchFamily="34" charset="0"/>
                <a:cs typeface="Arial" panose="020B0604020202090204" pitchFamily="34" charset="0"/>
              </a:rPr>
              <a:t>、这个</a:t>
            </a:r>
            <a:r>
              <a:rPr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网站获取其它格式的文件，先上传一种字体文件，单击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upload fonts</a:t>
            </a:r>
            <a:r>
              <a:rPr lang="zh-CN" altLang="en-US" sz="2400" dirty="0">
                <a:latin typeface="Arial" panose="020B0604020202090204" pitchFamily="34" charset="0"/>
                <a:cs typeface="Arial" panose="020B0604020202090204" pitchFamily="34" charset="0"/>
              </a:rPr>
              <a:t>上传。</a:t>
            </a:r>
            <a:endParaRPr lang="zh-CN" altLang="en-US" sz="24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7573" y="2901121"/>
            <a:ext cx="3674427" cy="270916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59" y="2456404"/>
            <a:ext cx="5398316" cy="1614959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913038" y="5016995"/>
            <a:ext cx="65891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latin typeface="Arial" panose="020B0604020202090204" pitchFamily="34" charset="0"/>
                <a:cs typeface="Arial" panose="020B0604020202090204" pitchFamily="34" charset="0"/>
              </a:rPr>
              <a:t>3</a:t>
            </a:r>
            <a:r>
              <a:rPr lang="zh-CN" altLang="en-US" sz="2000" dirty="0" smtClean="0">
                <a:latin typeface="Arial" panose="020B0604020202090204" pitchFamily="34" charset="0"/>
                <a:cs typeface="Arial" panose="020B0604020202090204" pitchFamily="34" charset="0"/>
              </a:rPr>
              <a:t>、选中</a:t>
            </a: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Yes…</a:t>
            </a:r>
            <a:r>
              <a:rPr lang="zh-CN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，点击</a:t>
            </a:r>
            <a:r>
              <a:rPr lang="en-US" altLang="zh-CN" sz="2000" dirty="0">
                <a:latin typeface="Arial" panose="020B0604020202090204" pitchFamily="34" charset="0"/>
                <a:cs typeface="Arial" panose="020B0604020202090204" pitchFamily="34" charset="0"/>
              </a:rPr>
              <a:t>download your kit</a:t>
            </a:r>
            <a:r>
              <a:rPr lang="zh-CN" altLang="en-US" sz="2000" dirty="0">
                <a:latin typeface="Arial" panose="020B0604020202090204" pitchFamily="34" charset="0"/>
                <a:cs typeface="Arial" panose="020B0604020202090204" pitchFamily="34" charset="0"/>
              </a:rPr>
              <a:t>，就可以下载了。</a:t>
            </a:r>
            <a:endParaRPr lang="zh-CN" altLang="en-US" sz="20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059" y="5610287"/>
            <a:ext cx="8697766" cy="1240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582221" y="221794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网络字体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70856" y="979875"/>
            <a:ext cx="990055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@font-face</a:t>
            </a:r>
            <a:r>
              <a:rPr lang="zh-CN" altLang="en-US" b="1" dirty="0"/>
              <a:t>规则</a:t>
            </a:r>
            <a:endParaRPr lang="zh-CN" altLang="en-US" b="1" dirty="0"/>
          </a:p>
          <a:p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603" y="1455440"/>
            <a:ext cx="7530419" cy="51735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116334" y="913451"/>
            <a:ext cx="2854727" cy="0"/>
          </a:xfrm>
          <a:prstGeom prst="line">
            <a:avLst/>
          </a:prstGeom>
          <a:noFill/>
          <a:ln w="6350" cap="flat" cmpd="sng" algn="ctr">
            <a:solidFill>
              <a:sysClr val="window" lastClr="FFFFFF">
                <a:lumMod val="75000"/>
                <a:alpha val="50000"/>
              </a:sysClr>
            </a:solidFill>
            <a:prstDash val="solid"/>
            <a:miter lim="800000"/>
          </a:ln>
          <a:effectLst/>
        </p:spPr>
      </p:cxnSp>
      <p:sp>
        <p:nvSpPr>
          <p:cNvPr id="9" name="矩形 8"/>
          <p:cNvSpPr/>
          <p:nvPr/>
        </p:nvSpPr>
        <p:spPr>
          <a:xfrm>
            <a:off x="1161288" y="244457"/>
            <a:ext cx="6516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defTabSz="914400">
              <a:defRPr/>
            </a:pPr>
            <a:r>
              <a:rPr lang="zh-CN" altLang="en-US" sz="3600" b="1" kern="0" spc="300" noProof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r>
              <a:rPr lang="en-US" altLang="zh-CN" sz="3600" b="1" kern="0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0" lang="en-US" altLang="zh-CN" sz="3600" b="1" i="0" u="none" strike="noStrike" kern="0" cap="none" spc="300" normalizeH="0" baseline="0" noProof="0" dirty="0">
              <a:ln>
                <a:noFill/>
              </a:ln>
              <a:effectLst/>
              <a:uLnTx/>
              <a:uFillTx/>
              <a:latin typeface="思源黑体 CN Light" panose="020B0500000000000000" pitchFamily="34" charset="-122"/>
              <a:ea typeface="思源黑体 CN Light" panose="020B05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83274"/>
            <a:ext cx="1161288" cy="7512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312" y="979874"/>
            <a:ext cx="8415897" cy="5758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10296</Words>
  <Application>WPS 演示</Application>
  <PresentationFormat>宽屏</PresentationFormat>
  <Paragraphs>875</Paragraphs>
  <Slides>50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76" baseType="lpstr">
      <vt:lpstr>Arial</vt:lpstr>
      <vt:lpstr>宋体</vt:lpstr>
      <vt:lpstr>Wingdings</vt:lpstr>
      <vt:lpstr>微软雅黑</vt:lpstr>
      <vt:lpstr>汉仪旗黑</vt:lpstr>
      <vt:lpstr>方正颜宋简体_大</vt:lpstr>
      <vt:lpstr>思源黑体 CN Light</vt:lpstr>
      <vt:lpstr>宋体</vt:lpstr>
      <vt:lpstr>Arial Unicode MS</vt:lpstr>
      <vt:lpstr>等线 Light</vt:lpstr>
      <vt:lpstr>汉仪中等线KW</vt:lpstr>
      <vt:lpstr>Calibri Light</vt:lpstr>
      <vt:lpstr>Helvetica Neue</vt:lpstr>
      <vt:lpstr>等线</vt:lpstr>
      <vt:lpstr>Calibri</vt:lpstr>
      <vt:lpstr>Courier New</vt:lpstr>
      <vt:lpstr>Times New Roman</vt:lpstr>
      <vt:lpstr>Wingdings</vt:lpstr>
      <vt:lpstr>微软雅黑</vt:lpstr>
      <vt:lpstr>Times New Roman</vt:lpstr>
      <vt:lpstr>Fira Code Light</vt:lpstr>
      <vt:lpstr>汉仪中黑KW</vt:lpstr>
      <vt:lpstr>Thonburi</vt:lpstr>
      <vt:lpstr>Monaco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网站结构</vt:lpstr>
      <vt:lpstr>文件命名注意事项</vt:lpstr>
      <vt:lpstr>网站结构</vt:lpstr>
      <vt:lpstr>web font</vt:lpstr>
      <vt:lpstr>web font</vt:lpstr>
      <vt:lpstr>web font</vt:lpstr>
      <vt:lpstr>web font</vt:lpstr>
      <vt:lpstr>web font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浩然</dc:creator>
  <cp:lastModifiedBy>朱静雯</cp:lastModifiedBy>
  <cp:revision>130</cp:revision>
  <dcterms:created xsi:type="dcterms:W3CDTF">2024-09-11T04:39:11Z</dcterms:created>
  <dcterms:modified xsi:type="dcterms:W3CDTF">2024-09-11T04:39:11Z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2052-6.8.2.8850</vt:lpwstr>
  </property>
  <property fmtid="{D5CDD505-2E9C-101B-9397-08002B2CF9AE}" pid="3" name="ICV">
    <vt:lpwstr/>
  </property>
</Properties>
</file>