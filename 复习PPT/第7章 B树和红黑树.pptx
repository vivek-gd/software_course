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9"/>
  </p:notesMasterIdLst>
  <p:handoutMasterIdLst>
    <p:handoutMasterId r:id="rId89"/>
  </p:handoutMasterIdLst>
  <p:sldIdLst>
    <p:sldId id="1103" r:id="rId4"/>
    <p:sldId id="1422" r:id="rId5"/>
    <p:sldId id="1423" r:id="rId6"/>
    <p:sldId id="1425" r:id="rId7"/>
    <p:sldId id="1557" r:id="rId8"/>
    <p:sldId id="1558" r:id="rId10"/>
    <p:sldId id="1559" r:id="rId11"/>
    <p:sldId id="1560" r:id="rId12"/>
    <p:sldId id="1561" r:id="rId13"/>
    <p:sldId id="1562" r:id="rId14"/>
    <p:sldId id="1564" r:id="rId15"/>
    <p:sldId id="1427" r:id="rId16"/>
    <p:sldId id="1428" r:id="rId17"/>
    <p:sldId id="1429" r:id="rId18"/>
    <p:sldId id="1430" r:id="rId19"/>
    <p:sldId id="1431" r:id="rId20"/>
    <p:sldId id="1432" r:id="rId21"/>
    <p:sldId id="1433" r:id="rId22"/>
    <p:sldId id="1434" r:id="rId23"/>
    <p:sldId id="1435" r:id="rId24"/>
    <p:sldId id="1436" r:id="rId25"/>
    <p:sldId id="1437" r:id="rId26"/>
    <p:sldId id="1438" r:id="rId27"/>
    <p:sldId id="1440" r:id="rId28"/>
    <p:sldId id="1441" r:id="rId29"/>
    <p:sldId id="1442" r:id="rId30"/>
    <p:sldId id="1443" r:id="rId31"/>
    <p:sldId id="1444" r:id="rId32"/>
    <p:sldId id="1445" r:id="rId33"/>
    <p:sldId id="1446" r:id="rId34"/>
    <p:sldId id="1636" r:id="rId35"/>
    <p:sldId id="1447" r:id="rId36"/>
    <p:sldId id="1448" r:id="rId37"/>
    <p:sldId id="1449" r:id="rId38"/>
    <p:sldId id="1450" r:id="rId39"/>
    <p:sldId id="1451" r:id="rId40"/>
    <p:sldId id="1452" r:id="rId41"/>
    <p:sldId id="1453" r:id="rId42"/>
    <p:sldId id="1454" r:id="rId43"/>
    <p:sldId id="1455" r:id="rId44"/>
    <p:sldId id="1456" r:id="rId45"/>
    <p:sldId id="1457" r:id="rId46"/>
    <p:sldId id="1458" r:id="rId47"/>
    <p:sldId id="1459" r:id="rId48"/>
    <p:sldId id="1460" r:id="rId49"/>
    <p:sldId id="1637" r:id="rId50"/>
    <p:sldId id="1461" r:id="rId51"/>
    <p:sldId id="1635" r:id="rId52"/>
    <p:sldId id="1468" r:id="rId53"/>
    <p:sldId id="1469" r:id="rId54"/>
    <p:sldId id="1470" r:id="rId55"/>
    <p:sldId id="1471" r:id="rId56"/>
    <p:sldId id="1472" r:id="rId57"/>
    <p:sldId id="1473" r:id="rId58"/>
    <p:sldId id="1474" r:id="rId59"/>
    <p:sldId id="1475" r:id="rId60"/>
    <p:sldId id="1476" r:id="rId61"/>
    <p:sldId id="1477" r:id="rId62"/>
    <p:sldId id="1285" r:id="rId63"/>
    <p:sldId id="1262" r:id="rId64"/>
    <p:sldId id="1263" r:id="rId65"/>
    <p:sldId id="1264" r:id="rId66"/>
    <p:sldId id="1270" r:id="rId67"/>
    <p:sldId id="1271" r:id="rId68"/>
    <p:sldId id="1272" r:id="rId69"/>
    <p:sldId id="1273" r:id="rId70"/>
    <p:sldId id="1275" r:id="rId71"/>
    <p:sldId id="1479" r:id="rId72"/>
    <p:sldId id="1480" r:id="rId73"/>
    <p:sldId id="1481" r:id="rId74"/>
    <p:sldId id="1482" r:id="rId75"/>
    <p:sldId id="1504" r:id="rId76"/>
    <p:sldId id="1506" r:id="rId77"/>
    <p:sldId id="1277" r:id="rId78"/>
    <p:sldId id="1278" r:id="rId79"/>
    <p:sldId id="1279" r:id="rId80"/>
    <p:sldId id="1281" r:id="rId81"/>
    <p:sldId id="1282" r:id="rId82"/>
    <p:sldId id="1507" r:id="rId83"/>
    <p:sldId id="1508" r:id="rId84"/>
    <p:sldId id="1509" r:id="rId85"/>
    <p:sldId id="1467" r:id="rId86"/>
    <p:sldId id="1689" r:id="rId87"/>
    <p:sldId id="645" r:id="rId88"/>
  </p:sldIdLst>
  <p:sldSz cx="9144000" cy="6858000" type="screen4x3"/>
  <p:notesSz cx="7099300" cy="10234295"/>
  <p:custDataLst>
    <p:tags r:id="rId93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3" Type="http://schemas.openxmlformats.org/officeDocument/2006/relationships/tags" Target="tags/tag273.xml"/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89" Type="http://schemas.openxmlformats.org/officeDocument/2006/relationships/handoutMaster" Target="handoutMasters/handoutMaster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3975" y="9331325"/>
            <a:ext cx="2952750" cy="492125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3975" y="9331325"/>
            <a:ext cx="2952750" cy="492125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3975" y="9331325"/>
            <a:ext cx="2952750" cy="492125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3975" y="9331325"/>
            <a:ext cx="2952750" cy="492125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3975" y="9331325"/>
            <a:ext cx="2952750" cy="492125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3975" y="9331325"/>
            <a:ext cx="2952750" cy="492125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50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3975" y="9331325"/>
            <a:ext cx="2952750" cy="492125"/>
          </a:xfrm>
          <a:prstGeom prst="rect">
            <a:avLst/>
          </a:prstGeom>
          <a:noFill/>
          <a:ln w="12700">
            <a:noFill/>
          </a:ln>
        </p:spPr>
        <p:txBody>
          <a:bodyPr anchor="b" anchorCtr="0"/>
          <a:p>
            <a:pPr lvl="0" algn="r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b="0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删除操作是指，根据key删除记录，如果B树中的记录中不存对应key的记录，则删除失败。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）如果当前需要删除的key位于非叶子结点上，则用后继key（这里的后继key均指后继记录的意思）覆盖要删除的key，然后在后继key所在的子支中删除该后继key。此时后继key一定位于叶子结点上，这个过程和二叉搜索树删除结点的方式类似。删除这个记录后执行第2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2）该结点key个数大于等于Math.ceil(m/2)-1，结束删除操作，否则执行第3步。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3）如果兄弟结点key个数大于Math.ceil(m/2)-1，则父结点中的key下移到该结点，兄弟结点中的一个key上移，删除操作结束。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否则，将父结点中的key下移与当前结点及它的兄弟结点中的key合并，形成一个新的结点。原父结点中的key的两个孩子指针就变成了一个孩子指针，指向这个新结点。然后当前结点的指针指向父结点，重复上第2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有些结点它可能即有左兄弟，又有右兄弟，那么我们任意选择一个兄弟结点进行操作即可。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hyperlink" Target="demo/xlab/" TargetMode="External"/><Relationship Id="rId1" Type="http://schemas.openxmlformats.org/officeDocument/2006/relationships/hyperlink" Target="demo/ram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hyperlink" Target="http://en.wikipedia.org/wiki/Edward_M._McCreight" TargetMode="External"/><Relationship Id="rId1" Type="http://schemas.openxmlformats.org/officeDocument/2006/relationships/hyperlink" Target="http://en.wikipedia.org/wiki/Rudolf_Bayer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7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8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9.xml"/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1.xml"/><Relationship Id="rId2" Type="http://schemas.openxmlformats.org/officeDocument/2006/relationships/image" Target="../media/image8.png"/><Relationship Id="rId1" Type="http://schemas.openxmlformats.org/officeDocument/2006/relationships/tags" Target="../tags/tag6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7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4" Type="http://schemas.openxmlformats.org/officeDocument/2006/relationships/slideLayout" Target="../slideLayouts/slideLayout7.xml"/><Relationship Id="rId73" Type="http://schemas.openxmlformats.org/officeDocument/2006/relationships/tags" Target="../tags/tag143.xml"/><Relationship Id="rId72" Type="http://schemas.openxmlformats.org/officeDocument/2006/relationships/image" Target="../media/image12.png"/><Relationship Id="rId71" Type="http://schemas.openxmlformats.org/officeDocument/2006/relationships/tags" Target="../tags/tag142.xml"/><Relationship Id="rId70" Type="http://schemas.openxmlformats.org/officeDocument/2006/relationships/tags" Target="../tags/tag141.xml"/><Relationship Id="rId7" Type="http://schemas.openxmlformats.org/officeDocument/2006/relationships/tags" Target="../tags/tag78.xml"/><Relationship Id="rId69" Type="http://schemas.openxmlformats.org/officeDocument/2006/relationships/tags" Target="../tags/tag140.xml"/><Relationship Id="rId68" Type="http://schemas.openxmlformats.org/officeDocument/2006/relationships/tags" Target="../tags/tag139.xml"/><Relationship Id="rId67" Type="http://schemas.openxmlformats.org/officeDocument/2006/relationships/tags" Target="../tags/tag138.xml"/><Relationship Id="rId66" Type="http://schemas.openxmlformats.org/officeDocument/2006/relationships/tags" Target="../tags/tag137.xml"/><Relationship Id="rId65" Type="http://schemas.openxmlformats.org/officeDocument/2006/relationships/tags" Target="../tags/tag136.xml"/><Relationship Id="rId64" Type="http://schemas.openxmlformats.org/officeDocument/2006/relationships/tags" Target="../tags/tag135.xml"/><Relationship Id="rId63" Type="http://schemas.openxmlformats.org/officeDocument/2006/relationships/tags" Target="../tags/tag134.xml"/><Relationship Id="rId62" Type="http://schemas.openxmlformats.org/officeDocument/2006/relationships/tags" Target="../tags/tag133.xml"/><Relationship Id="rId61" Type="http://schemas.openxmlformats.org/officeDocument/2006/relationships/tags" Target="../tags/tag132.xml"/><Relationship Id="rId60" Type="http://schemas.openxmlformats.org/officeDocument/2006/relationships/tags" Target="../tags/tag131.xml"/><Relationship Id="rId6" Type="http://schemas.openxmlformats.org/officeDocument/2006/relationships/tags" Target="../tags/tag77.xml"/><Relationship Id="rId59" Type="http://schemas.openxmlformats.org/officeDocument/2006/relationships/tags" Target="../tags/tag130.xml"/><Relationship Id="rId58" Type="http://schemas.openxmlformats.org/officeDocument/2006/relationships/tags" Target="../tags/tag129.xml"/><Relationship Id="rId57" Type="http://schemas.openxmlformats.org/officeDocument/2006/relationships/tags" Target="../tags/tag128.xml"/><Relationship Id="rId56" Type="http://schemas.openxmlformats.org/officeDocument/2006/relationships/tags" Target="../tags/tag127.xml"/><Relationship Id="rId55" Type="http://schemas.openxmlformats.org/officeDocument/2006/relationships/tags" Target="../tags/tag126.xml"/><Relationship Id="rId54" Type="http://schemas.openxmlformats.org/officeDocument/2006/relationships/tags" Target="../tags/tag125.xml"/><Relationship Id="rId53" Type="http://schemas.openxmlformats.org/officeDocument/2006/relationships/tags" Target="../tags/tag124.xml"/><Relationship Id="rId52" Type="http://schemas.openxmlformats.org/officeDocument/2006/relationships/tags" Target="../tags/tag123.xml"/><Relationship Id="rId51" Type="http://schemas.openxmlformats.org/officeDocument/2006/relationships/tags" Target="../tags/tag122.xml"/><Relationship Id="rId50" Type="http://schemas.openxmlformats.org/officeDocument/2006/relationships/tags" Target="../tags/tag121.xml"/><Relationship Id="rId5" Type="http://schemas.openxmlformats.org/officeDocument/2006/relationships/tags" Target="../tags/tag76.xml"/><Relationship Id="rId49" Type="http://schemas.openxmlformats.org/officeDocument/2006/relationships/tags" Target="../tags/tag120.xml"/><Relationship Id="rId48" Type="http://schemas.openxmlformats.org/officeDocument/2006/relationships/tags" Target="../tags/tag119.xml"/><Relationship Id="rId47" Type="http://schemas.openxmlformats.org/officeDocument/2006/relationships/tags" Target="../tags/tag118.xml"/><Relationship Id="rId46" Type="http://schemas.openxmlformats.org/officeDocument/2006/relationships/tags" Target="../tags/tag117.xml"/><Relationship Id="rId45" Type="http://schemas.openxmlformats.org/officeDocument/2006/relationships/tags" Target="../tags/tag116.xml"/><Relationship Id="rId44" Type="http://schemas.openxmlformats.org/officeDocument/2006/relationships/tags" Target="../tags/tag115.xml"/><Relationship Id="rId43" Type="http://schemas.openxmlformats.org/officeDocument/2006/relationships/tags" Target="../tags/tag114.xml"/><Relationship Id="rId42" Type="http://schemas.openxmlformats.org/officeDocument/2006/relationships/tags" Target="../tags/tag113.xml"/><Relationship Id="rId41" Type="http://schemas.openxmlformats.org/officeDocument/2006/relationships/tags" Target="../tags/tag112.xml"/><Relationship Id="rId40" Type="http://schemas.openxmlformats.org/officeDocument/2006/relationships/tags" Target="../tags/tag111.xml"/><Relationship Id="rId4" Type="http://schemas.openxmlformats.org/officeDocument/2006/relationships/tags" Target="../tags/tag75.xml"/><Relationship Id="rId39" Type="http://schemas.openxmlformats.org/officeDocument/2006/relationships/tags" Target="../tags/tag110.xml"/><Relationship Id="rId38" Type="http://schemas.openxmlformats.org/officeDocument/2006/relationships/tags" Target="../tags/tag109.xml"/><Relationship Id="rId37" Type="http://schemas.openxmlformats.org/officeDocument/2006/relationships/tags" Target="../tags/tag108.xml"/><Relationship Id="rId36" Type="http://schemas.openxmlformats.org/officeDocument/2006/relationships/tags" Target="../tags/tag107.xml"/><Relationship Id="rId35" Type="http://schemas.openxmlformats.org/officeDocument/2006/relationships/tags" Target="../tags/tag106.xml"/><Relationship Id="rId34" Type="http://schemas.openxmlformats.org/officeDocument/2006/relationships/tags" Target="../tags/tag105.xml"/><Relationship Id="rId33" Type="http://schemas.openxmlformats.org/officeDocument/2006/relationships/tags" Target="../tags/tag104.xml"/><Relationship Id="rId32" Type="http://schemas.openxmlformats.org/officeDocument/2006/relationships/tags" Target="../tags/tag103.xml"/><Relationship Id="rId31" Type="http://schemas.openxmlformats.org/officeDocument/2006/relationships/tags" Target="../tags/tag102.xml"/><Relationship Id="rId30" Type="http://schemas.openxmlformats.org/officeDocument/2006/relationships/tags" Target="../tags/tag101.xml"/><Relationship Id="rId3" Type="http://schemas.openxmlformats.org/officeDocument/2006/relationships/tags" Target="../tags/tag74.xml"/><Relationship Id="rId29" Type="http://schemas.openxmlformats.org/officeDocument/2006/relationships/tags" Target="../tags/tag100.xml"/><Relationship Id="rId28" Type="http://schemas.openxmlformats.org/officeDocument/2006/relationships/tags" Target="../tags/tag99.xml"/><Relationship Id="rId27" Type="http://schemas.openxmlformats.org/officeDocument/2006/relationships/tags" Target="../tags/tag98.xml"/><Relationship Id="rId26" Type="http://schemas.openxmlformats.org/officeDocument/2006/relationships/tags" Target="../tags/tag97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5.xml"/><Relationship Id="rId2" Type="http://schemas.openxmlformats.org/officeDocument/2006/relationships/image" Target="../media/image13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7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0.xml"/><Relationship Id="rId1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1.xml"/><Relationship Id="rId1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2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3.xml"/><Relationship Id="rId1" Type="http://schemas.openxmlformats.org/officeDocument/2006/relationships/image" Target="../media/image1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5.xml"/><Relationship Id="rId1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6.xml"/><Relationship Id="rId1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7.xml"/><Relationship Id="rId1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1" Type="http://schemas.openxmlformats.org/officeDocument/2006/relationships/vmlDrawing" Target="../drawings/vmlDrawing5.vml"/><Relationship Id="rId80" Type="http://schemas.openxmlformats.org/officeDocument/2006/relationships/slideLayout" Target="../slideLayouts/slideLayout7.xml"/><Relationship Id="rId8" Type="http://schemas.openxmlformats.org/officeDocument/2006/relationships/tags" Target="../tags/tag165.xml"/><Relationship Id="rId79" Type="http://schemas.openxmlformats.org/officeDocument/2006/relationships/tags" Target="../tags/tag233.xml"/><Relationship Id="rId78" Type="http://schemas.openxmlformats.org/officeDocument/2006/relationships/image" Target="../media/image12.png"/><Relationship Id="rId77" Type="http://schemas.openxmlformats.org/officeDocument/2006/relationships/tags" Target="../tags/tag232.xml"/><Relationship Id="rId76" Type="http://schemas.openxmlformats.org/officeDocument/2006/relationships/tags" Target="../tags/tag231.xml"/><Relationship Id="rId75" Type="http://schemas.openxmlformats.org/officeDocument/2006/relationships/tags" Target="../tags/tag230.xml"/><Relationship Id="rId74" Type="http://schemas.openxmlformats.org/officeDocument/2006/relationships/tags" Target="../tags/tag229.xml"/><Relationship Id="rId73" Type="http://schemas.openxmlformats.org/officeDocument/2006/relationships/tags" Target="../tags/tag228.xml"/><Relationship Id="rId72" Type="http://schemas.openxmlformats.org/officeDocument/2006/relationships/tags" Target="../tags/tag227.xml"/><Relationship Id="rId71" Type="http://schemas.openxmlformats.org/officeDocument/2006/relationships/image" Target="../media/image6.wmf"/><Relationship Id="rId70" Type="http://schemas.openxmlformats.org/officeDocument/2006/relationships/oleObject" Target="../embeddings/oleObject5.bin"/><Relationship Id="rId7" Type="http://schemas.openxmlformats.org/officeDocument/2006/relationships/tags" Target="../tags/tag164.xml"/><Relationship Id="rId69" Type="http://schemas.openxmlformats.org/officeDocument/2006/relationships/tags" Target="../tags/tag226.xml"/><Relationship Id="rId68" Type="http://schemas.openxmlformats.org/officeDocument/2006/relationships/tags" Target="../tags/tag225.xml"/><Relationship Id="rId67" Type="http://schemas.openxmlformats.org/officeDocument/2006/relationships/tags" Target="../tags/tag224.xml"/><Relationship Id="rId66" Type="http://schemas.openxmlformats.org/officeDocument/2006/relationships/tags" Target="../tags/tag223.xml"/><Relationship Id="rId65" Type="http://schemas.openxmlformats.org/officeDocument/2006/relationships/tags" Target="../tags/tag222.xml"/><Relationship Id="rId64" Type="http://schemas.openxmlformats.org/officeDocument/2006/relationships/tags" Target="../tags/tag221.xml"/><Relationship Id="rId63" Type="http://schemas.openxmlformats.org/officeDocument/2006/relationships/tags" Target="../tags/tag220.xml"/><Relationship Id="rId62" Type="http://schemas.openxmlformats.org/officeDocument/2006/relationships/tags" Target="../tags/tag219.xml"/><Relationship Id="rId61" Type="http://schemas.openxmlformats.org/officeDocument/2006/relationships/tags" Target="../tags/tag218.xml"/><Relationship Id="rId60" Type="http://schemas.openxmlformats.org/officeDocument/2006/relationships/tags" Target="../tags/tag217.xml"/><Relationship Id="rId6" Type="http://schemas.openxmlformats.org/officeDocument/2006/relationships/tags" Target="../tags/tag163.xml"/><Relationship Id="rId59" Type="http://schemas.openxmlformats.org/officeDocument/2006/relationships/tags" Target="../tags/tag216.xml"/><Relationship Id="rId58" Type="http://schemas.openxmlformats.org/officeDocument/2006/relationships/tags" Target="../tags/tag215.xml"/><Relationship Id="rId57" Type="http://schemas.openxmlformats.org/officeDocument/2006/relationships/tags" Target="../tags/tag214.xml"/><Relationship Id="rId56" Type="http://schemas.openxmlformats.org/officeDocument/2006/relationships/tags" Target="../tags/tag213.xml"/><Relationship Id="rId55" Type="http://schemas.openxmlformats.org/officeDocument/2006/relationships/tags" Target="../tags/tag212.xml"/><Relationship Id="rId54" Type="http://schemas.openxmlformats.org/officeDocument/2006/relationships/tags" Target="../tags/tag211.xml"/><Relationship Id="rId53" Type="http://schemas.openxmlformats.org/officeDocument/2006/relationships/tags" Target="../tags/tag210.xml"/><Relationship Id="rId52" Type="http://schemas.openxmlformats.org/officeDocument/2006/relationships/tags" Target="../tags/tag209.xml"/><Relationship Id="rId51" Type="http://schemas.openxmlformats.org/officeDocument/2006/relationships/tags" Target="../tags/tag208.xml"/><Relationship Id="rId50" Type="http://schemas.openxmlformats.org/officeDocument/2006/relationships/tags" Target="../tags/tag207.xml"/><Relationship Id="rId5" Type="http://schemas.openxmlformats.org/officeDocument/2006/relationships/tags" Target="../tags/tag162.xml"/><Relationship Id="rId49" Type="http://schemas.openxmlformats.org/officeDocument/2006/relationships/tags" Target="../tags/tag206.xml"/><Relationship Id="rId48" Type="http://schemas.openxmlformats.org/officeDocument/2006/relationships/tags" Target="../tags/tag205.xml"/><Relationship Id="rId47" Type="http://schemas.openxmlformats.org/officeDocument/2006/relationships/tags" Target="../tags/tag204.xml"/><Relationship Id="rId46" Type="http://schemas.openxmlformats.org/officeDocument/2006/relationships/tags" Target="../tags/tag203.xml"/><Relationship Id="rId45" Type="http://schemas.openxmlformats.org/officeDocument/2006/relationships/tags" Target="../tags/tag202.xml"/><Relationship Id="rId44" Type="http://schemas.openxmlformats.org/officeDocument/2006/relationships/tags" Target="../tags/tag201.xml"/><Relationship Id="rId43" Type="http://schemas.openxmlformats.org/officeDocument/2006/relationships/tags" Target="../tags/tag200.xml"/><Relationship Id="rId42" Type="http://schemas.openxmlformats.org/officeDocument/2006/relationships/tags" Target="../tags/tag199.xml"/><Relationship Id="rId41" Type="http://schemas.openxmlformats.org/officeDocument/2006/relationships/tags" Target="../tags/tag198.xml"/><Relationship Id="rId40" Type="http://schemas.openxmlformats.org/officeDocument/2006/relationships/tags" Target="../tags/tag197.xml"/><Relationship Id="rId4" Type="http://schemas.openxmlformats.org/officeDocument/2006/relationships/tags" Target="../tags/tag161.xml"/><Relationship Id="rId39" Type="http://schemas.openxmlformats.org/officeDocument/2006/relationships/tags" Target="../tags/tag196.xml"/><Relationship Id="rId38" Type="http://schemas.openxmlformats.org/officeDocument/2006/relationships/tags" Target="../tags/tag195.xml"/><Relationship Id="rId37" Type="http://schemas.openxmlformats.org/officeDocument/2006/relationships/tags" Target="../tags/tag194.xml"/><Relationship Id="rId36" Type="http://schemas.openxmlformats.org/officeDocument/2006/relationships/tags" Target="../tags/tag193.xml"/><Relationship Id="rId35" Type="http://schemas.openxmlformats.org/officeDocument/2006/relationships/tags" Target="../tags/tag192.xml"/><Relationship Id="rId34" Type="http://schemas.openxmlformats.org/officeDocument/2006/relationships/tags" Target="../tags/tag191.xml"/><Relationship Id="rId33" Type="http://schemas.openxmlformats.org/officeDocument/2006/relationships/tags" Target="../tags/tag190.xml"/><Relationship Id="rId32" Type="http://schemas.openxmlformats.org/officeDocument/2006/relationships/tags" Target="../tags/tag189.xml"/><Relationship Id="rId31" Type="http://schemas.openxmlformats.org/officeDocument/2006/relationships/tags" Target="../tags/tag188.xml"/><Relationship Id="rId30" Type="http://schemas.openxmlformats.org/officeDocument/2006/relationships/tags" Target="../tags/tag187.xml"/><Relationship Id="rId3" Type="http://schemas.openxmlformats.org/officeDocument/2006/relationships/tags" Target="../tags/tag160.xml"/><Relationship Id="rId29" Type="http://schemas.openxmlformats.org/officeDocument/2006/relationships/tags" Target="../tags/tag186.xml"/><Relationship Id="rId28" Type="http://schemas.openxmlformats.org/officeDocument/2006/relationships/tags" Target="../tags/tag185.xml"/><Relationship Id="rId27" Type="http://schemas.openxmlformats.org/officeDocument/2006/relationships/tags" Target="../tags/tag184.xml"/><Relationship Id="rId26" Type="http://schemas.openxmlformats.org/officeDocument/2006/relationships/tags" Target="../tags/tag183.xml"/><Relationship Id="rId25" Type="http://schemas.openxmlformats.org/officeDocument/2006/relationships/tags" Target="../tags/tag182.xml"/><Relationship Id="rId24" Type="http://schemas.openxmlformats.org/officeDocument/2006/relationships/tags" Target="../tags/tag181.xml"/><Relationship Id="rId23" Type="http://schemas.openxmlformats.org/officeDocument/2006/relationships/tags" Target="../tags/tag180.xml"/><Relationship Id="rId22" Type="http://schemas.openxmlformats.org/officeDocument/2006/relationships/tags" Target="../tags/tag179.xml"/><Relationship Id="rId21" Type="http://schemas.openxmlformats.org/officeDocument/2006/relationships/tags" Target="../tags/tag178.xml"/><Relationship Id="rId20" Type="http://schemas.openxmlformats.org/officeDocument/2006/relationships/tags" Target="../tags/tag177.xml"/><Relationship Id="rId2" Type="http://schemas.openxmlformats.org/officeDocument/2006/relationships/tags" Target="../tags/tag159.xml"/><Relationship Id="rId19" Type="http://schemas.openxmlformats.org/officeDocument/2006/relationships/tags" Target="../tags/tag176.xml"/><Relationship Id="rId18" Type="http://schemas.openxmlformats.org/officeDocument/2006/relationships/tags" Target="../tags/tag175.xml"/><Relationship Id="rId17" Type="http://schemas.openxmlformats.org/officeDocument/2006/relationships/tags" Target="../tags/tag174.xml"/><Relationship Id="rId16" Type="http://schemas.openxmlformats.org/officeDocument/2006/relationships/tags" Target="../tags/tag173.xml"/><Relationship Id="rId15" Type="http://schemas.openxmlformats.org/officeDocument/2006/relationships/tags" Target="../tags/tag172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tags" Target="../tags/tag15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5.xml"/><Relationship Id="rId1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4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9.xml"/><Relationship Id="rId1" Type="http://schemas.openxmlformats.org/officeDocument/2006/relationships/image" Target="../media/image21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6.xml"/><Relationship Id="rId1" Type="http://schemas.openxmlformats.org/officeDocument/2006/relationships/image" Target="../media/image2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7.xml"/><Relationship Id="rId1" Type="http://schemas.openxmlformats.org/officeDocument/2006/relationships/image" Target="../media/image2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8.xml"/><Relationship Id="rId1" Type="http://schemas.openxmlformats.org/officeDocument/2006/relationships/image" Target="../media/image2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1.xml"/><Relationship Id="rId1" Type="http://schemas.openxmlformats.org/officeDocument/2006/relationships/image" Target="../media/image2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2.xml"/><Relationship Id="rId1" Type="http://schemas.openxmlformats.org/officeDocument/2006/relationships/image" Target="../media/image2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3.xml"/><Relationship Id="rId1" Type="http://schemas.openxmlformats.org/officeDocument/2006/relationships/image" Target="../media/image2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4.xml"/><Relationship Id="rId1" Type="http://schemas.openxmlformats.org/officeDocument/2006/relationships/image" Target="../media/image27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5.xm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6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67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8.xml"/><Relationship Id="rId1" Type="http://schemas.openxmlformats.org/officeDocument/2006/relationships/image" Target="../media/image32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9.xml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1.xml"/><Relationship Id="rId2" Type="http://schemas.openxmlformats.org/officeDocument/2006/relationships/image" Target="../media/image33.png"/><Relationship Id="rId1" Type="http://schemas.openxmlformats.org/officeDocument/2006/relationships/tags" Target="../tags/tag27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八、搜索树（</a:t>
            </a:r>
            <a:r>
              <a:rPr lang="en-US" altLang="zh-CN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3"/>
              </a:buClr>
              <a:defRPr/>
            </a:pPr>
            <a:r>
              <a:rPr lang="en-US" altLang="zh-CN" sz="3200" dirty="0" smtClean="0"/>
              <a:t>B</a:t>
            </a:r>
            <a:r>
              <a:rPr lang="zh-CN" altLang="en-US" sz="3200" dirty="0" smtClean="0"/>
              <a:t>树和</a:t>
            </a:r>
            <a:r>
              <a:rPr lang="zh-CN" altLang="en-US" sz="3200" dirty="0" smtClean="0"/>
              <a:t>红黑树</a:t>
            </a:r>
            <a:endParaRPr lang="zh-CN" altLang="en-US" sz="3200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</a:t>
            </a:r>
            <a:r>
              <a:rPr lang="zh-CN" altLang="en-US"/>
              <a:t>树 </a:t>
            </a:r>
            <a:r>
              <a:rPr lang="en-US" altLang="zh-CN"/>
              <a:t>B</a:t>
            </a:r>
            <a:r>
              <a:rPr lang="en-US" altLang="zh-CN" baseline="30000">
                <a:solidFill>
                  <a:srgbClr val="45B0C5"/>
                </a:solidFill>
                <a:uFillTx/>
              </a:rPr>
              <a:t>+</a:t>
            </a:r>
            <a:r>
              <a:rPr lang="en-US" altLang="zh-CN">
                <a:solidFill>
                  <a:srgbClr val="45B0C5"/>
                </a:solidFill>
              </a:rPr>
              <a:t>树</a:t>
            </a:r>
            <a:endParaRPr lang="zh-CN" altLang="en-US" baseline="30000">
              <a:solidFill>
                <a:srgbClr val="45B0C5"/>
              </a:solidFill>
              <a:uFillTx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lvl="1" indent="-342900"/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定义、搜索</a:t>
            </a:r>
            <a:r>
              <a:rPr lang="zh-CN" altLang="en-US" sz="1400" dirty="0" smtClean="0">
                <a:solidFill>
                  <a:schemeClr val="tx1"/>
                </a:solidFill>
              </a:rPr>
              <a:t>、</a:t>
            </a:r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插入</a:t>
            </a:r>
            <a:r>
              <a:rPr lang="zh-CN" altLang="en-US" sz="1400" dirty="0" smtClean="0">
                <a:solidFill>
                  <a:schemeClr val="tx1"/>
                </a:solidFill>
              </a:rPr>
              <a:t>、</a:t>
            </a:r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删除</a:t>
            </a:r>
            <a:r>
              <a:rPr lang="zh-CN" altLang="en-US" sz="1400" dirty="0" smtClean="0">
                <a:solidFill>
                  <a:schemeClr val="tx1"/>
                </a:solidFill>
              </a:rPr>
              <a:t>、</a:t>
            </a:r>
            <a:r>
              <a:rPr lang="en-US" altLang="zh-CN" sz="1400" dirty="0" smtClean="0">
                <a:solidFill>
                  <a:schemeClr val="tx1"/>
                </a:solidFill>
                <a:sym typeface="+mn-ea"/>
              </a:rPr>
              <a:t>B</a:t>
            </a:r>
            <a:r>
              <a:rPr lang="en-US" altLang="zh-CN" sz="1400" baseline="30000" dirty="0" smtClean="0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树</a:t>
            </a:r>
            <a:endParaRPr lang="zh-CN" altLang="en-US" sz="1400" dirty="0" smtClean="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动机：建立索引</a:t>
            </a:r>
            <a:endParaRPr lang="zh-CN" altLang="en-US" smtClean="0"/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当数据</a:t>
            </a:r>
            <a:r>
              <a:rPr lang="zh-CN" altLang="en-US" smtClean="0">
                <a:solidFill>
                  <a:srgbClr val="0000CC"/>
                </a:solidFill>
              </a:rPr>
              <a:t>元素数目较大</a:t>
            </a:r>
            <a:r>
              <a:rPr lang="zh-CN" altLang="en-US" smtClean="0"/>
              <a:t>时，不能一次读入内存，可以把所有</a:t>
            </a:r>
            <a:r>
              <a:rPr lang="en-US" altLang="zh-CN" smtClean="0"/>
              <a:t>n</a:t>
            </a:r>
            <a:r>
              <a:rPr lang="zh-CN" altLang="en-US" smtClean="0"/>
              <a:t>个元素分为</a:t>
            </a:r>
            <a:r>
              <a:rPr lang="en-US" altLang="zh-CN" smtClean="0"/>
              <a:t>b</a:t>
            </a:r>
            <a:r>
              <a:rPr lang="zh-CN" altLang="en-US" smtClean="0"/>
              <a:t>个子块存放</a:t>
            </a:r>
            <a:endParaRPr lang="en-US" altLang="zh-CN" smtClean="0"/>
          </a:p>
          <a:p>
            <a:r>
              <a:rPr lang="zh-CN" altLang="en-US" smtClean="0"/>
              <a:t>建立索引表，其中每一项是索引项，记录了各子块中最大的关键值</a:t>
            </a:r>
            <a:endParaRPr lang="en-US" altLang="zh-CN" smtClean="0"/>
          </a:p>
          <a:p>
            <a:r>
              <a:rPr lang="zh-CN" altLang="en-US" smtClean="0"/>
              <a:t>此时，索引项与子块一一对应，</a:t>
            </a:r>
            <a:r>
              <a:rPr lang="zh-CN" altLang="en-US" smtClean="0">
                <a:solidFill>
                  <a:srgbClr val="FF0000"/>
                </a:solidFill>
              </a:rPr>
              <a:t>便于查找</a:t>
            </a:r>
            <a:r>
              <a:rPr lang="zh-CN" altLang="en-US" smtClean="0"/>
              <a:t>！</a:t>
            </a:r>
            <a:endParaRPr lang="en-US" altLang="zh-CN" smtClean="0"/>
          </a:p>
          <a:p>
            <a:r>
              <a:rPr lang="zh-CN" altLang="en-US" smtClean="0"/>
              <a:t>当</a:t>
            </a:r>
            <a:r>
              <a:rPr lang="zh-CN" altLang="en-US" smtClean="0">
                <a:solidFill>
                  <a:srgbClr val="0000CC"/>
                </a:solidFill>
              </a:rPr>
              <a:t>元素数目特别大</a:t>
            </a:r>
            <a:r>
              <a:rPr lang="zh-CN" altLang="en-US" smtClean="0"/>
              <a:t>时，索引也不能一次读入内存，可以建立索引的索引（</a:t>
            </a:r>
            <a:r>
              <a:rPr lang="zh-CN" altLang="en-US" smtClean="0">
                <a:solidFill>
                  <a:srgbClr val="FF0000"/>
                </a:solidFill>
              </a:rPr>
              <a:t>多级索引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298862-9EBB-417D-B5DD-82460A89D1DF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 idx="4294967295"/>
          </p:nvPr>
        </p:nvSpPr>
        <p:spPr>
          <a:xfrm>
            <a:off x="535940" y="1162685"/>
            <a:ext cx="958215" cy="132588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索引示例</a:t>
            </a:r>
            <a:endParaRPr lang="zh-CN" altLang="en-US" dirty="0" smtClean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2493E64-A717-41C1-BA37-3D4982D103E7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29701" name="Picture 2" descr="http://www.neb-china.com/nebsite/userFiles/10%287%29.bm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3392" y="439738"/>
            <a:ext cx="5988050" cy="609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越来越小的内存</a:t>
            </a:r>
            <a:endParaRPr lang="zh-CN" altLang="en-US"/>
          </a:p>
        </p:txBody>
      </p:sp>
      <p:sp>
        <p:nvSpPr>
          <p:cNvPr id="935939" name="Rectangle 3"/>
          <p:cNvSpPr>
            <a:spLocks noGrp="1" noChangeArrowheads="1"/>
          </p:cNvSpPr>
          <p:nvPr>
            <p:ph idx="1"/>
          </p:nvPr>
        </p:nvSpPr>
        <p:spPr>
          <a:xfrm>
            <a:off x="66675" y="1490133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RAM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	存储器？不就是无限可数个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寄存器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吗？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tooltip="xTuringMachine" action="ppaction://hlinkfile"/>
              </a:rPr>
              <a:t>Turing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存储器？不就是无限长的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纸带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吗？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但事实上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系统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内存容量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的增长速度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&lt;&lt;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应用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问题规模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的增长速度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35951" name="Picture 15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198913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5952" name="AutoShape 16"/>
          <p:cNvSpPr>
            <a:spLocks noChangeArrowheads="1"/>
          </p:cNvSpPr>
          <p:nvPr/>
        </p:nvSpPr>
        <p:spPr bwMode="auto">
          <a:xfrm>
            <a:off x="1331913" y="5949950"/>
            <a:ext cx="7197725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Doggabyte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100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 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30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53" name="AutoShape 17"/>
          <p:cNvSpPr>
            <a:spLocks noChangeArrowheads="1"/>
          </p:cNvSpPr>
          <p:nvPr/>
        </p:nvSpPr>
        <p:spPr bwMode="auto">
          <a:xfrm>
            <a:off x="1908175" y="5445125"/>
            <a:ext cx="6621463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Nonabyte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90 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27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54" name="AutoShape 18"/>
          <p:cNvSpPr>
            <a:spLocks noChangeArrowheads="1"/>
          </p:cNvSpPr>
          <p:nvPr/>
        </p:nvSpPr>
        <p:spPr bwMode="auto">
          <a:xfrm>
            <a:off x="2627313" y="4940300"/>
            <a:ext cx="5902325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Yottabyte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80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 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24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55" name="AutoShape 19"/>
          <p:cNvSpPr>
            <a:spLocks noChangeArrowheads="1"/>
          </p:cNvSpPr>
          <p:nvPr/>
        </p:nvSpPr>
        <p:spPr bwMode="auto">
          <a:xfrm>
            <a:off x="3203575" y="4437063"/>
            <a:ext cx="5326063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Zettabyte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70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 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21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56" name="AutoShape 20"/>
          <p:cNvSpPr>
            <a:spLocks noChangeArrowheads="1"/>
          </p:cNvSpPr>
          <p:nvPr/>
        </p:nvSpPr>
        <p:spPr bwMode="auto">
          <a:xfrm>
            <a:off x="3783013" y="3933825"/>
            <a:ext cx="4749800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Exabyte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60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 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18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57" name="AutoShape 21"/>
          <p:cNvSpPr>
            <a:spLocks noChangeArrowheads="1"/>
          </p:cNvSpPr>
          <p:nvPr/>
        </p:nvSpPr>
        <p:spPr bwMode="auto">
          <a:xfrm>
            <a:off x="4356100" y="3429000"/>
            <a:ext cx="4175125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Petabyte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50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 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15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58" name="AutoShape 22"/>
          <p:cNvSpPr>
            <a:spLocks noChangeArrowheads="1"/>
          </p:cNvSpPr>
          <p:nvPr/>
        </p:nvSpPr>
        <p:spPr bwMode="auto">
          <a:xfrm>
            <a:off x="4932363" y="2925763"/>
            <a:ext cx="3598863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Terabyte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40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 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12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59" name="AutoShape 23"/>
          <p:cNvSpPr>
            <a:spLocks noChangeArrowheads="1"/>
          </p:cNvSpPr>
          <p:nvPr/>
        </p:nvSpPr>
        <p:spPr bwMode="auto">
          <a:xfrm>
            <a:off x="5508625" y="2420938"/>
            <a:ext cx="3022600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Gigabyte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30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 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9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60" name="AutoShape 24"/>
          <p:cNvSpPr>
            <a:spLocks noChangeArrowheads="1"/>
          </p:cNvSpPr>
          <p:nvPr/>
        </p:nvSpPr>
        <p:spPr bwMode="auto">
          <a:xfrm>
            <a:off x="6084888" y="1916113"/>
            <a:ext cx="2447925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Megabyte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20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 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6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61" name="AutoShape 25"/>
          <p:cNvSpPr>
            <a:spLocks noChangeArrowheads="1"/>
          </p:cNvSpPr>
          <p:nvPr/>
        </p:nvSpPr>
        <p:spPr bwMode="auto">
          <a:xfrm>
            <a:off x="6662738" y="1412875"/>
            <a:ext cx="1870075" cy="287338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>
            <a:prstShdw prst="shdw17" dist="17961" dir="2700000">
              <a:srgbClr val="C0C0C0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ctr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 Kilobyte = 2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10 </a:t>
            </a:r>
            <a:r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= 10</a:t>
            </a:r>
            <a:r>
              <a:rPr kumimoji="0" lang="en-US" altLang="zh-CN" sz="1400" b="1" i="0" u="none" strike="noStrike" kern="1200" cap="none" spc="0" normalizeH="0" baseline="3000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Helvetica" pitchFamily="34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  <a:endParaRPr kumimoji="0" lang="en-US" altLang="zh-CN" sz="1400" b="1" i="0" u="none" strike="noStrike" kern="1200" cap="none" spc="0" normalizeH="0" baseline="3000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Helvetica" pitchFamily="3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35962" name="AutoShape 26"/>
          <p:cNvSpPr>
            <a:spLocks noChangeArrowheads="1"/>
          </p:cNvSpPr>
          <p:nvPr/>
        </p:nvSpPr>
        <p:spPr bwMode="auto">
          <a:xfrm>
            <a:off x="3997325" y="4273550"/>
            <a:ext cx="1150938" cy="576263"/>
          </a:xfrm>
          <a:prstGeom prst="irregularSeal2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2010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5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35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35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93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93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3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93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93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93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93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93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935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935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"/>
                                        <p:tgtEl>
                                          <p:spTgt spid="93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5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35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35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35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35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35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35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35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6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35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35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35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35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35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35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35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60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35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35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35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35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35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35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35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5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35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35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35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35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35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35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35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58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35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35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35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935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35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35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35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57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35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35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35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935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35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35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35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56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35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35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35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35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35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35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935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55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935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935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35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35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35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35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300" fill="hold"/>
                                        <p:tgtEl>
                                          <p:spTgt spid="935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54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935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35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35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35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35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35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935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53"/>
                  </p:tgtEl>
                </p:cond>
              </p:nextCondLst>
            </p:seq>
            <p:seq concurrent="1" nextAc="seek">
              <p:cTn id="160" restart="whenNotActive" fill="hold" evtFilter="cancelBubble" nodeType="interactiveSeq">
                <p:stCondLst>
                  <p:cond evt="onClick" delay="0">
                    <p:tgtEl>
                      <p:spTgt spid="935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" fill="hold">
                      <p:stCondLst>
                        <p:cond delay="0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35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35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935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35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35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935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52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935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935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35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935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0" dur="300" fill="hold"/>
                                        <p:tgtEl>
                                          <p:spTgt spid="935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35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" dur="300" fill="hold"/>
                                        <p:tgtEl>
                                          <p:spTgt spid="935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5962"/>
                  </p:tgtEl>
                </p:cond>
              </p:nextCondLst>
            </p:seq>
          </p:childTnLst>
        </p:cTn>
      </p:par>
    </p:tnLst>
    <p:bldLst>
      <p:bldP spid="935952" grpId="0" animBg="1"/>
      <p:bldP spid="935952" grpId="1" bldLvl="0" animBg="1"/>
      <p:bldP spid="935953" grpId="0" animBg="1"/>
      <p:bldP spid="935953" grpId="1" bldLvl="0" animBg="1"/>
      <p:bldP spid="935954" grpId="0" animBg="1"/>
      <p:bldP spid="935954" grpId="1" bldLvl="0" animBg="1"/>
      <p:bldP spid="935955" grpId="0" animBg="1"/>
      <p:bldP spid="935955" grpId="1" bldLvl="0" animBg="1"/>
      <p:bldP spid="935956" grpId="0" animBg="1"/>
      <p:bldP spid="935956" grpId="1" bldLvl="0" animBg="1"/>
      <p:bldP spid="935957" grpId="0" animBg="1"/>
      <p:bldP spid="935957" grpId="1" bldLvl="0" animBg="1"/>
      <p:bldP spid="935958" grpId="0" animBg="1"/>
      <p:bldP spid="935958" grpId="1" bldLvl="0" animBg="1"/>
      <p:bldP spid="935959" grpId="0" animBg="1"/>
      <p:bldP spid="935959" grpId="1" bldLvl="0" animBg="1"/>
      <p:bldP spid="935960" grpId="0" animBg="1"/>
      <p:bldP spid="935960" grpId="1" bldLvl="0" animBg="1"/>
      <p:bldP spid="935961" grpId="0" animBg="1"/>
      <p:bldP spid="935961" grpId="1" bldLvl="0" animBg="1"/>
      <p:bldP spid="935962" grpId="0" animBg="1"/>
      <p:bldP spid="935962" grpId="1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1218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越来越小的内存</a:t>
            </a:r>
            <a:endParaRPr lang="zh-CN" altLang="en-US">
              <a:sym typeface="+mn-ea"/>
            </a:endParaRPr>
          </a:p>
        </p:txBody>
      </p:sp>
      <p:sp>
        <p:nvSpPr>
          <p:cNvPr id="1161219" name="Rectangle 3"/>
          <p:cNvSpPr>
            <a:spLocks noGrp="1" noChangeArrowheads="1"/>
          </p:cNvSpPr>
          <p:nvPr>
            <p:ph idx="1"/>
          </p:nvPr>
        </p:nvSpPr>
        <p:spPr>
          <a:xfrm>
            <a:off x="320675" y="1490345"/>
            <a:ext cx="8194675" cy="4686935"/>
          </a:xfrm>
        </p:spPr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4121150" algn="r"/>
                <a:tab pos="4391025" algn="ctr"/>
                <a:tab pos="466217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典型的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1980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10MB / 1MB  =    10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数据库规模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/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内存容量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2000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	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1TB / 1GB  =  1000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4121150" algn="r"/>
                <a:tab pos="4391025" algn="ctr"/>
                <a:tab pos="466217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今天典型的数据集	</a:t>
            </a:r>
            <a:r>
              <a:rPr kumimoji="0" lang="fr-FR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345 TB	^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Global climate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须以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TB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为单位度量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300 TB	^	Nuclear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fr-FR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250 TB	^	Turbulent combustion	</a:t>
            </a:r>
            <a:br>
              <a:rPr kumimoji="0" lang="fr-FR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fr-FR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 TB	^	Parkinson's disease	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10 TB	^	Protein folding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4121150" algn="r"/>
                <a:tab pos="4391025" algn="ctr"/>
                <a:tab pos="466217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亦即，相对而言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内存容量是在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不断减小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！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4121150" algn="r"/>
                <a:tab pos="4391025" algn="ctr"/>
                <a:tab pos="466217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为什么不把内存做得更大？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物理上，存储器的容量越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，访问速度就越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慢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快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高速缓存</a:t>
            </a:r>
            <a:endParaRPr lang="zh-CN" altLang="en-US" b="1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976899" name="Rectangle 3"/>
          <p:cNvSpPr>
            <a:spLocks noGrp="1" noChangeArrowheads="1"/>
          </p:cNvSpPr>
          <p:nvPr>
            <p:ph idx="1"/>
          </p:nvPr>
        </p:nvSpPr>
        <p:spPr>
          <a:xfrm>
            <a:off x="320675" y="1490345"/>
            <a:ext cx="8194675" cy="4686935"/>
          </a:xfrm>
        </p:spPr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事实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：不同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容量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的存储器，访问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速度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差异悬殊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以磁盘与内存为例：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ms/ns  &gt;  10^5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  24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Symbol" panose="05050102010706020507" pitchFamily="18" charset="2"/>
              </a:rPr>
              <a:t>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60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  <a:sym typeface="Symbol" panose="05050102010706020507" pitchFamily="18" charset="2"/>
              </a:rPr>
              <a:t>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60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将一次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内存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访问比作从书桌上拿起钢笔，则一次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外存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访问就好比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因此，为避免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次外存访问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我们宁愿访问内存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次、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次，甚至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多数存储系统，都是分级组织的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Caching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最常用的数据尽可能放在更高层、更小的存储器中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实在找不到，才向更低层、更大的存储器索取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算法的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I/O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复杂度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itchFamily="34" charset="-122"/>
                <a:cs typeface="Arial Unicode MS" pitchFamily="34" charset="-122"/>
                <a:sym typeface="Symbol" panose="05050102010706020507" pitchFamily="18" charset="2"/>
              </a:rPr>
              <a:t>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数据在不同存储级别之间的传输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次数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算法的实际运行时间，往往主要取决于此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76905" name="Picture 9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3789363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76906" name="AutoShape 10"/>
          <p:cNvSpPr>
            <a:spLocks noChangeArrowheads="1"/>
          </p:cNvSpPr>
          <p:nvPr/>
        </p:nvSpPr>
        <p:spPr bwMode="auto">
          <a:xfrm>
            <a:off x="7526338" y="2708275"/>
            <a:ext cx="576263" cy="4318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charset="-122"/>
                <a:cs typeface="Times New Roman" panose="02020603050405020304" pitchFamily="18" charset="0"/>
              </a:rPr>
              <a:t>CPU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76907" name="AutoShape 11"/>
          <p:cNvSpPr>
            <a:spLocks noChangeArrowheads="1"/>
          </p:cNvSpPr>
          <p:nvPr/>
        </p:nvSpPr>
        <p:spPr bwMode="auto">
          <a:xfrm>
            <a:off x="7383463" y="3214688"/>
            <a:ext cx="863600" cy="4318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charset="-122"/>
                <a:cs typeface="Times New Roman" panose="02020603050405020304" pitchFamily="18" charset="0"/>
              </a:rPr>
              <a:t>RAM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76908" name="AutoShape 12"/>
          <p:cNvSpPr>
            <a:spLocks noChangeArrowheads="1"/>
          </p:cNvSpPr>
          <p:nvPr/>
        </p:nvSpPr>
        <p:spPr bwMode="auto">
          <a:xfrm>
            <a:off x="7239000" y="3717925"/>
            <a:ext cx="1150938" cy="4318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charset="-122"/>
                <a:cs typeface="Times New Roman" panose="02020603050405020304" pitchFamily="18" charset="0"/>
              </a:rPr>
              <a:t>DISK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76909" name="AutoShape 13"/>
          <p:cNvSpPr>
            <a:spLocks noChangeArrowheads="1"/>
          </p:cNvSpPr>
          <p:nvPr/>
        </p:nvSpPr>
        <p:spPr bwMode="auto">
          <a:xfrm>
            <a:off x="7094538" y="4221163"/>
            <a:ext cx="1439863" cy="4318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charset="-122"/>
                <a:cs typeface="Times New Roman" panose="02020603050405020304" pitchFamily="18" charset="0"/>
              </a:rPr>
              <a:t>ARRAY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76910" name="AutoShape 14"/>
          <p:cNvSpPr>
            <a:spLocks noChangeArrowheads="1"/>
          </p:cNvSpPr>
          <p:nvPr/>
        </p:nvSpPr>
        <p:spPr bwMode="auto">
          <a:xfrm>
            <a:off x="6950075" y="4724400"/>
            <a:ext cx="1727200" cy="4318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charset="-122"/>
                <a:cs typeface="Times New Roman" panose="02020603050405020304" pitchFamily="18" charset="0"/>
              </a:rPr>
              <a:t>...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6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769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76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76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7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7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7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7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690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76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" dur="300" fill="hold"/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76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690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76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" dur="300" fill="hold"/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76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6907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976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" dur="300" fill="hold"/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976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6908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976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7" dur="300" fill="hold"/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76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6909"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976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300" fill="hold"/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9" dur="300" fill="hold"/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300" fill="hold"/>
                                        <p:tgtEl>
                                          <p:spTgt spid="976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6910"/>
                  </p:tgtEl>
                </p:cond>
              </p:nextCondLst>
            </p:seq>
          </p:childTnLst>
        </p:cTn>
      </p:par>
    </p:tnLst>
    <p:bldLst>
      <p:bldP spid="976906" grpId="0" animBg="1"/>
      <p:bldP spid="976906" grpId="1" bldLvl="0" animBg="1"/>
      <p:bldP spid="976907" grpId="0" animBg="1"/>
      <p:bldP spid="976907" grpId="1" bldLvl="0" animBg="1"/>
      <p:bldP spid="976908" grpId="0" animBg="1"/>
      <p:bldP spid="976908" grpId="1" bldLvl="0" animBg="1"/>
      <p:bldP spid="976909" grpId="0" animBg="1"/>
      <p:bldP spid="976909" grpId="1" bldLvl="0" animBg="1"/>
      <p:bldP spid="976910" grpId="0" animBg="1"/>
      <p:bldP spid="976910" grpId="1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高速缓存</a:t>
            </a:r>
            <a:endParaRPr lang="zh-CN" altLang="en-US" b="1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989187" name="Rectangle 3"/>
          <p:cNvSpPr>
            <a:spLocks noGrp="1" noChangeArrowheads="1"/>
          </p:cNvSpPr>
          <p:nvPr>
            <p:ph idx="1"/>
          </p:nvPr>
        </p:nvSpPr>
        <p:spPr>
          <a:xfrm>
            <a:off x="121285" y="1490345"/>
            <a:ext cx="8394065" cy="4686935"/>
          </a:xfrm>
        </p:spPr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65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事实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：从磁盘中读写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1B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，与读写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1KB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几乎一样快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65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批量式访问：以页（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page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）或块（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block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）为单位，使用缓冲区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65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&lt;stdio.h&gt;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#define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BUFSIZ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512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缓冲区默认容量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setvbuf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定制缓冲区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FILE* fp,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流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char* buf,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缓冲区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int _Mode,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//_IO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 | _IO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 | _IO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size_t size);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缓冲区容量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int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fflush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(FILE* fp);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强制清空缓冲区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65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效果：单位字节的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等效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访问时间大大缩短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89188" name="AutoShape 4"/>
          <p:cNvSpPr>
            <a:spLocks noChangeArrowheads="1"/>
          </p:cNvSpPr>
          <p:nvPr/>
        </p:nvSpPr>
        <p:spPr bwMode="auto">
          <a:xfrm>
            <a:off x="7021513" y="2276475"/>
            <a:ext cx="863600" cy="8636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charset="-122"/>
                <a:cs typeface="Times New Roman" panose="02020603050405020304" pitchFamily="18" charset="0"/>
              </a:rPr>
              <a:t>RAM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89189" name="AutoShape 5"/>
          <p:cNvSpPr>
            <a:spLocks noChangeArrowheads="1"/>
          </p:cNvSpPr>
          <p:nvPr/>
        </p:nvSpPr>
        <p:spPr bwMode="auto">
          <a:xfrm>
            <a:off x="6877050" y="5157788"/>
            <a:ext cx="1150938" cy="863600"/>
          </a:xfrm>
          <a:prstGeom prst="can">
            <a:avLst>
              <a:gd name="adj" fmla="val 25000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黑体" panose="02010609060101010101" charset="-122"/>
                <a:cs typeface="Times New Roman" panose="02020603050405020304" pitchFamily="18" charset="0"/>
              </a:rPr>
              <a:t>DISK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89192" name="Line 8"/>
          <p:cNvSpPr/>
          <p:nvPr/>
        </p:nvSpPr>
        <p:spPr>
          <a:xfrm flipH="1" flipV="1">
            <a:off x="7453313" y="3213100"/>
            <a:ext cx="0" cy="2089150"/>
          </a:xfrm>
          <a:prstGeom prst="line">
            <a:avLst/>
          </a:prstGeom>
          <a:ln w="101600" cap="flat" cmpd="sng">
            <a:solidFill>
              <a:srgbClr val="5F5F5F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9191" name="AutoShape 7"/>
          <p:cNvSpPr>
            <a:spLocks noChangeAspect="1" noChangeArrowheads="1"/>
          </p:cNvSpPr>
          <p:nvPr/>
        </p:nvSpPr>
        <p:spPr bwMode="auto">
          <a:xfrm>
            <a:off x="7021513" y="3717925"/>
            <a:ext cx="863600" cy="863600"/>
          </a:xfrm>
          <a:prstGeom prst="flowChartMultidocument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pages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9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891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891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891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989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89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89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918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891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891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891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891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9891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891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89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918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89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89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89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9192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89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989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900"/>
                                        <p:tgtEl>
                                          <p:spTgt spid="98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9191"/>
                  </p:tgtEl>
                </p:cond>
              </p:nextCondLst>
            </p:seq>
          </p:childTnLst>
        </p:cTn>
      </p:par>
    </p:tnLst>
    <p:bldLst>
      <p:bldP spid="989188" grpId="0" animBg="1"/>
      <p:bldP spid="989189" grpId="0" animBg="1"/>
      <p:bldP spid="989192" grpId="0" bldLvl="0" animBg="1"/>
      <p:bldP spid="989191" grpId="0" animBg="1"/>
      <p:bldP spid="98919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B-Tree</a:t>
            </a:r>
            <a:endParaRPr lang="en-US" altLang="zh-CN" b="1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1163267" name="Rectangle 3"/>
          <p:cNvSpPr>
            <a:spLocks noGrp="1" noChangeArrowheads="1"/>
          </p:cNvSpPr>
          <p:nvPr>
            <p:ph idx="1"/>
          </p:nvPr>
        </p:nvSpPr>
        <p:spPr>
          <a:xfrm>
            <a:off x="0" y="1354455"/>
            <a:ext cx="8515350" cy="5212080"/>
          </a:xfrm>
        </p:spPr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25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1970,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tooltip="Rodulf Bayer"/>
              </a:rPr>
              <a:t>R.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tooltip="Rodulf Bayer"/>
              </a:rPr>
              <a:t>B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tooltip="Rodulf Bayer"/>
              </a:rPr>
              <a:t>ayer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&amp;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tooltip="Edward M. McCreight"/>
              </a:rPr>
              <a:t>E. McCreight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25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平衡的多路（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multi-way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）搜索树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可理解为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BBST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等价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形式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25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路：	每个节点与其左、右孩子合并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25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路：	与其下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层后代合并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与其下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层后代合并后，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超级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节点含有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= 2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d+1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路分支，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m-1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个关键码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25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逻辑上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BBST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完全等价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既然如此，为何还要引入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B-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树？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496945" y="3428365"/>
            <a:ext cx="5614670" cy="1947545"/>
            <a:chOff x="4593" y="5400"/>
            <a:chExt cx="8842" cy="3067"/>
          </a:xfrm>
        </p:grpSpPr>
        <p:pic>
          <p:nvPicPr>
            <p:cNvPr id="1163371" name="Picture 107" descr="click_m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5" y="6195"/>
              <a:ext cx="453" cy="45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63373" name="AutoShape 109"/>
            <p:cNvSpPr>
              <a:spLocks noChangeArrowheads="1"/>
            </p:cNvSpPr>
            <p:nvPr/>
          </p:nvSpPr>
          <p:spPr bwMode="auto">
            <a:xfrm>
              <a:off x="7993" y="6085"/>
              <a:ext cx="2040" cy="680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75" name="Oval 111"/>
            <p:cNvSpPr>
              <a:spLocks noChangeAspect="1" noChangeArrowheads="1"/>
            </p:cNvSpPr>
            <p:nvPr/>
          </p:nvSpPr>
          <p:spPr bwMode="auto">
            <a:xfrm>
              <a:off x="8898" y="6310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77" name="Oval 113"/>
            <p:cNvSpPr>
              <a:spLocks noChangeAspect="1" noChangeArrowheads="1"/>
            </p:cNvSpPr>
            <p:nvPr/>
          </p:nvSpPr>
          <p:spPr bwMode="auto">
            <a:xfrm>
              <a:off x="8220" y="6310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79" name="Oval 115"/>
            <p:cNvSpPr>
              <a:spLocks noChangeAspect="1" noChangeArrowheads="1"/>
            </p:cNvSpPr>
            <p:nvPr/>
          </p:nvSpPr>
          <p:spPr bwMode="auto">
            <a:xfrm>
              <a:off x="9580" y="6310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81" name="Line 117"/>
            <p:cNvSpPr/>
            <p:nvPr/>
          </p:nvSpPr>
          <p:spPr>
            <a:xfrm>
              <a:off x="9013" y="5400"/>
              <a:ext cx="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383" name="AutoShape 119"/>
            <p:cNvSpPr>
              <a:spLocks noChangeArrowheads="1"/>
            </p:cNvSpPr>
            <p:nvPr/>
          </p:nvSpPr>
          <p:spPr bwMode="auto">
            <a:xfrm>
              <a:off x="6858" y="7218"/>
              <a:ext cx="2040" cy="680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85" name="Oval 121"/>
            <p:cNvSpPr>
              <a:spLocks noChangeAspect="1" noChangeArrowheads="1"/>
            </p:cNvSpPr>
            <p:nvPr/>
          </p:nvSpPr>
          <p:spPr bwMode="auto">
            <a:xfrm>
              <a:off x="7763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87" name="Oval 123"/>
            <p:cNvSpPr>
              <a:spLocks noChangeAspect="1" noChangeArrowheads="1"/>
            </p:cNvSpPr>
            <p:nvPr/>
          </p:nvSpPr>
          <p:spPr bwMode="auto">
            <a:xfrm>
              <a:off x="7085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89" name="Oval 125"/>
            <p:cNvSpPr>
              <a:spLocks noChangeAspect="1" noChangeArrowheads="1"/>
            </p:cNvSpPr>
            <p:nvPr/>
          </p:nvSpPr>
          <p:spPr bwMode="auto">
            <a:xfrm>
              <a:off x="8445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1" name="AutoShape 127"/>
            <p:cNvSpPr>
              <a:spLocks noChangeArrowheads="1"/>
            </p:cNvSpPr>
            <p:nvPr/>
          </p:nvSpPr>
          <p:spPr bwMode="auto">
            <a:xfrm>
              <a:off x="9125" y="7218"/>
              <a:ext cx="2040" cy="680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3" name="Oval 129"/>
            <p:cNvSpPr>
              <a:spLocks noChangeAspect="1" noChangeArrowheads="1"/>
            </p:cNvSpPr>
            <p:nvPr/>
          </p:nvSpPr>
          <p:spPr bwMode="auto">
            <a:xfrm>
              <a:off x="10030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5" name="Oval 131"/>
            <p:cNvSpPr>
              <a:spLocks noChangeAspect="1" noChangeArrowheads="1"/>
            </p:cNvSpPr>
            <p:nvPr/>
          </p:nvSpPr>
          <p:spPr bwMode="auto">
            <a:xfrm>
              <a:off x="9353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7" name="Oval 133"/>
            <p:cNvSpPr>
              <a:spLocks noChangeAspect="1" noChangeArrowheads="1"/>
            </p:cNvSpPr>
            <p:nvPr/>
          </p:nvSpPr>
          <p:spPr bwMode="auto">
            <a:xfrm>
              <a:off x="10713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8" name="Line 134"/>
            <p:cNvSpPr/>
            <p:nvPr/>
          </p:nvSpPr>
          <p:spPr>
            <a:xfrm flipH="1">
              <a:off x="5610" y="6650"/>
              <a:ext cx="2498" cy="56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00" name="AutoShape 136"/>
            <p:cNvSpPr>
              <a:spLocks noChangeArrowheads="1"/>
            </p:cNvSpPr>
            <p:nvPr/>
          </p:nvSpPr>
          <p:spPr bwMode="auto">
            <a:xfrm>
              <a:off x="4593" y="7218"/>
              <a:ext cx="2040" cy="680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02" name="Oval 138"/>
            <p:cNvSpPr>
              <a:spLocks noChangeAspect="1" noChangeArrowheads="1"/>
            </p:cNvSpPr>
            <p:nvPr/>
          </p:nvSpPr>
          <p:spPr bwMode="auto">
            <a:xfrm>
              <a:off x="5498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04" name="Oval 140"/>
            <p:cNvSpPr>
              <a:spLocks noChangeAspect="1" noChangeArrowheads="1"/>
            </p:cNvSpPr>
            <p:nvPr/>
          </p:nvSpPr>
          <p:spPr bwMode="auto">
            <a:xfrm>
              <a:off x="4820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06" name="Oval 142"/>
            <p:cNvSpPr>
              <a:spLocks noChangeAspect="1" noChangeArrowheads="1"/>
            </p:cNvSpPr>
            <p:nvPr/>
          </p:nvSpPr>
          <p:spPr bwMode="auto">
            <a:xfrm>
              <a:off x="6180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08" name="AutoShape 144"/>
            <p:cNvSpPr>
              <a:spLocks noChangeArrowheads="1"/>
            </p:cNvSpPr>
            <p:nvPr/>
          </p:nvSpPr>
          <p:spPr bwMode="auto">
            <a:xfrm>
              <a:off x="11395" y="7218"/>
              <a:ext cx="2040" cy="680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10" name="Oval 146"/>
            <p:cNvSpPr>
              <a:spLocks noChangeAspect="1" noChangeArrowheads="1"/>
            </p:cNvSpPr>
            <p:nvPr/>
          </p:nvSpPr>
          <p:spPr bwMode="auto">
            <a:xfrm>
              <a:off x="12300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12" name="Oval 148"/>
            <p:cNvSpPr>
              <a:spLocks noChangeAspect="1" noChangeArrowheads="1"/>
            </p:cNvSpPr>
            <p:nvPr/>
          </p:nvSpPr>
          <p:spPr bwMode="auto">
            <a:xfrm>
              <a:off x="11623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14" name="Oval 150"/>
            <p:cNvSpPr>
              <a:spLocks noChangeAspect="1" noChangeArrowheads="1"/>
            </p:cNvSpPr>
            <p:nvPr/>
          </p:nvSpPr>
          <p:spPr bwMode="auto">
            <a:xfrm>
              <a:off x="12983" y="7443"/>
              <a:ext cx="228" cy="228"/>
            </a:xfrm>
            <a:prstGeom prst="ellipse">
              <a:avLst/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16" name="Line 152"/>
            <p:cNvSpPr/>
            <p:nvPr/>
          </p:nvSpPr>
          <p:spPr>
            <a:xfrm>
              <a:off x="9923" y="6650"/>
              <a:ext cx="2377" cy="56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18" name="Line 154"/>
            <p:cNvSpPr/>
            <p:nvPr/>
          </p:nvSpPr>
          <p:spPr>
            <a:xfrm flipH="1">
              <a:off x="7880" y="6650"/>
              <a:ext cx="795" cy="56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20" name="Line 156"/>
            <p:cNvSpPr/>
            <p:nvPr/>
          </p:nvSpPr>
          <p:spPr>
            <a:xfrm>
              <a:off x="9355" y="6650"/>
              <a:ext cx="795" cy="56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22" name="Line 158"/>
            <p:cNvSpPr/>
            <p:nvPr/>
          </p:nvSpPr>
          <p:spPr>
            <a:xfrm flipH="1">
              <a:off x="8448" y="6425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24" name="Line 160"/>
            <p:cNvSpPr/>
            <p:nvPr/>
          </p:nvSpPr>
          <p:spPr>
            <a:xfrm>
              <a:off x="9128" y="6425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26" name="Line 162"/>
            <p:cNvSpPr/>
            <p:nvPr/>
          </p:nvSpPr>
          <p:spPr>
            <a:xfrm flipH="1">
              <a:off x="5048" y="7560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28" name="Line 164"/>
            <p:cNvSpPr/>
            <p:nvPr/>
          </p:nvSpPr>
          <p:spPr>
            <a:xfrm>
              <a:off x="5728" y="7560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0" name="Line 166"/>
            <p:cNvSpPr/>
            <p:nvPr/>
          </p:nvSpPr>
          <p:spPr>
            <a:xfrm flipH="1">
              <a:off x="7315" y="7560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2" name="Line 168"/>
            <p:cNvSpPr/>
            <p:nvPr/>
          </p:nvSpPr>
          <p:spPr>
            <a:xfrm>
              <a:off x="7995" y="7560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4" name="Line 170"/>
            <p:cNvSpPr/>
            <p:nvPr/>
          </p:nvSpPr>
          <p:spPr>
            <a:xfrm flipH="1">
              <a:off x="9583" y="7560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6" name="Line 172"/>
            <p:cNvSpPr/>
            <p:nvPr/>
          </p:nvSpPr>
          <p:spPr>
            <a:xfrm>
              <a:off x="10263" y="7560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8" name="Line 174"/>
            <p:cNvSpPr/>
            <p:nvPr/>
          </p:nvSpPr>
          <p:spPr>
            <a:xfrm flipH="1">
              <a:off x="11850" y="7560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40" name="Line 176"/>
            <p:cNvSpPr/>
            <p:nvPr/>
          </p:nvSpPr>
          <p:spPr>
            <a:xfrm>
              <a:off x="12530" y="7560"/>
              <a:ext cx="455" cy="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42" name="Line 178"/>
            <p:cNvSpPr/>
            <p:nvPr/>
          </p:nvSpPr>
          <p:spPr>
            <a:xfrm flipH="1">
              <a:off x="4820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44" name="Line 180"/>
            <p:cNvSpPr/>
            <p:nvPr/>
          </p:nvSpPr>
          <p:spPr>
            <a:xfrm>
              <a:off x="6408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46" name="Line 182"/>
            <p:cNvSpPr/>
            <p:nvPr/>
          </p:nvSpPr>
          <p:spPr>
            <a:xfrm flipH="1">
              <a:off x="5878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48" name="Line 184"/>
            <p:cNvSpPr/>
            <p:nvPr/>
          </p:nvSpPr>
          <p:spPr>
            <a:xfrm>
              <a:off x="5348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50" name="Line 186"/>
            <p:cNvSpPr/>
            <p:nvPr/>
          </p:nvSpPr>
          <p:spPr>
            <a:xfrm flipH="1">
              <a:off x="7088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52" name="Line 188"/>
            <p:cNvSpPr/>
            <p:nvPr/>
          </p:nvSpPr>
          <p:spPr>
            <a:xfrm>
              <a:off x="8675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54" name="Line 190"/>
            <p:cNvSpPr/>
            <p:nvPr/>
          </p:nvSpPr>
          <p:spPr>
            <a:xfrm flipH="1">
              <a:off x="8145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56" name="Line 192"/>
            <p:cNvSpPr/>
            <p:nvPr/>
          </p:nvSpPr>
          <p:spPr>
            <a:xfrm>
              <a:off x="7615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58" name="Line 194"/>
            <p:cNvSpPr/>
            <p:nvPr/>
          </p:nvSpPr>
          <p:spPr>
            <a:xfrm flipH="1">
              <a:off x="9358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60" name="Line 196"/>
            <p:cNvSpPr/>
            <p:nvPr/>
          </p:nvSpPr>
          <p:spPr>
            <a:xfrm>
              <a:off x="10945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62" name="Line 198"/>
            <p:cNvSpPr/>
            <p:nvPr/>
          </p:nvSpPr>
          <p:spPr>
            <a:xfrm flipH="1">
              <a:off x="10415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64" name="Line 200"/>
            <p:cNvSpPr/>
            <p:nvPr/>
          </p:nvSpPr>
          <p:spPr>
            <a:xfrm>
              <a:off x="9885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66" name="Line 202"/>
            <p:cNvSpPr/>
            <p:nvPr/>
          </p:nvSpPr>
          <p:spPr>
            <a:xfrm flipH="1">
              <a:off x="11625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68" name="Line 204"/>
            <p:cNvSpPr/>
            <p:nvPr/>
          </p:nvSpPr>
          <p:spPr>
            <a:xfrm>
              <a:off x="13213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70" name="Line 206"/>
            <p:cNvSpPr/>
            <p:nvPr/>
          </p:nvSpPr>
          <p:spPr>
            <a:xfrm flipH="1">
              <a:off x="12683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3472" name="Line 208"/>
            <p:cNvSpPr/>
            <p:nvPr/>
          </p:nvSpPr>
          <p:spPr>
            <a:xfrm>
              <a:off x="12153" y="7785"/>
              <a:ext cx="0" cy="683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</p:grpSp>
      <p:grpSp>
        <p:nvGrpSpPr>
          <p:cNvPr id="3" name="组合 2"/>
          <p:cNvGrpSpPr/>
          <p:nvPr/>
        </p:nvGrpSpPr>
        <p:grpSpPr>
          <a:xfrm>
            <a:off x="3784600" y="1052195"/>
            <a:ext cx="5330825" cy="2447290"/>
            <a:chOff x="5955" y="1432"/>
            <a:chExt cx="8395" cy="3854"/>
          </a:xfrm>
        </p:grpSpPr>
        <p:pic>
          <p:nvPicPr>
            <p:cNvPr id="1163370" name="Picture 106" descr="click_m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22" y="2225"/>
              <a:ext cx="453" cy="45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63372" name="AutoShape 108"/>
            <p:cNvSpPr>
              <a:spLocks noChangeArrowheads="1"/>
            </p:cNvSpPr>
            <p:nvPr/>
          </p:nvSpPr>
          <p:spPr bwMode="auto">
            <a:xfrm>
              <a:off x="9357" y="1887"/>
              <a:ext cx="1588" cy="1135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 algn="ctr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74" name="Oval 110"/>
            <p:cNvSpPr>
              <a:spLocks noChangeAspect="1" noChangeArrowheads="1"/>
            </p:cNvSpPr>
            <p:nvPr/>
          </p:nvSpPr>
          <p:spPr bwMode="auto">
            <a:xfrm>
              <a:off x="10037" y="2112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76" name="Oval 112"/>
            <p:cNvSpPr>
              <a:spLocks noChangeAspect="1" noChangeArrowheads="1"/>
            </p:cNvSpPr>
            <p:nvPr/>
          </p:nvSpPr>
          <p:spPr bwMode="auto">
            <a:xfrm>
              <a:off x="9585" y="2567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78" name="Oval 114"/>
            <p:cNvSpPr>
              <a:spLocks noChangeAspect="1" noChangeArrowheads="1"/>
            </p:cNvSpPr>
            <p:nvPr/>
          </p:nvSpPr>
          <p:spPr bwMode="auto">
            <a:xfrm>
              <a:off x="10492" y="2567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80" name="Line 116"/>
            <p:cNvSpPr/>
            <p:nvPr/>
          </p:nvSpPr>
          <p:spPr>
            <a:xfrm>
              <a:off x="10152" y="1432"/>
              <a:ext cx="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382" name="AutoShape 118"/>
            <p:cNvSpPr>
              <a:spLocks noChangeArrowheads="1"/>
            </p:cNvSpPr>
            <p:nvPr/>
          </p:nvSpPr>
          <p:spPr bwMode="auto">
            <a:xfrm>
              <a:off x="8222" y="3812"/>
              <a:ext cx="1588" cy="1135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 algn="ctr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84" name="Oval 120"/>
            <p:cNvSpPr>
              <a:spLocks noChangeAspect="1" noChangeArrowheads="1"/>
            </p:cNvSpPr>
            <p:nvPr/>
          </p:nvSpPr>
          <p:spPr bwMode="auto">
            <a:xfrm>
              <a:off x="8902" y="4037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86" name="Oval 122"/>
            <p:cNvSpPr>
              <a:spLocks noChangeAspect="1" noChangeArrowheads="1"/>
            </p:cNvSpPr>
            <p:nvPr/>
          </p:nvSpPr>
          <p:spPr bwMode="auto">
            <a:xfrm>
              <a:off x="8450" y="4492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88" name="Oval 124"/>
            <p:cNvSpPr>
              <a:spLocks noChangeAspect="1" noChangeArrowheads="1"/>
            </p:cNvSpPr>
            <p:nvPr/>
          </p:nvSpPr>
          <p:spPr bwMode="auto">
            <a:xfrm>
              <a:off x="9357" y="4492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0" name="AutoShape 126"/>
            <p:cNvSpPr>
              <a:spLocks noChangeArrowheads="1"/>
            </p:cNvSpPr>
            <p:nvPr/>
          </p:nvSpPr>
          <p:spPr bwMode="auto">
            <a:xfrm>
              <a:off x="10490" y="3812"/>
              <a:ext cx="1588" cy="1135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 algn="ctr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2" name="Oval 128"/>
            <p:cNvSpPr>
              <a:spLocks noChangeAspect="1" noChangeArrowheads="1"/>
            </p:cNvSpPr>
            <p:nvPr/>
          </p:nvSpPr>
          <p:spPr bwMode="auto">
            <a:xfrm>
              <a:off x="11170" y="4037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4" name="Oval 130"/>
            <p:cNvSpPr>
              <a:spLocks noChangeAspect="1" noChangeArrowheads="1"/>
            </p:cNvSpPr>
            <p:nvPr/>
          </p:nvSpPr>
          <p:spPr bwMode="auto">
            <a:xfrm>
              <a:off x="10717" y="4492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6" name="Oval 132"/>
            <p:cNvSpPr>
              <a:spLocks noChangeAspect="1" noChangeArrowheads="1"/>
            </p:cNvSpPr>
            <p:nvPr/>
          </p:nvSpPr>
          <p:spPr bwMode="auto">
            <a:xfrm>
              <a:off x="11625" y="4492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399" name="AutoShape 135"/>
            <p:cNvSpPr>
              <a:spLocks noChangeArrowheads="1"/>
            </p:cNvSpPr>
            <p:nvPr/>
          </p:nvSpPr>
          <p:spPr bwMode="auto">
            <a:xfrm>
              <a:off x="5957" y="3812"/>
              <a:ext cx="1588" cy="1135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 algn="ctr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01" name="Oval 137"/>
            <p:cNvSpPr>
              <a:spLocks noChangeAspect="1" noChangeArrowheads="1"/>
            </p:cNvSpPr>
            <p:nvPr/>
          </p:nvSpPr>
          <p:spPr bwMode="auto">
            <a:xfrm>
              <a:off x="6637" y="4037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03" name="Oval 139"/>
            <p:cNvSpPr>
              <a:spLocks noChangeAspect="1" noChangeArrowheads="1"/>
            </p:cNvSpPr>
            <p:nvPr/>
          </p:nvSpPr>
          <p:spPr bwMode="auto">
            <a:xfrm>
              <a:off x="6185" y="4492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05" name="Oval 141"/>
            <p:cNvSpPr>
              <a:spLocks noChangeAspect="1" noChangeArrowheads="1"/>
            </p:cNvSpPr>
            <p:nvPr/>
          </p:nvSpPr>
          <p:spPr bwMode="auto">
            <a:xfrm>
              <a:off x="7092" y="4492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07" name="AutoShape 143"/>
            <p:cNvSpPr>
              <a:spLocks noChangeArrowheads="1"/>
            </p:cNvSpPr>
            <p:nvPr/>
          </p:nvSpPr>
          <p:spPr bwMode="auto">
            <a:xfrm>
              <a:off x="12760" y="3812"/>
              <a:ext cx="1588" cy="1135"/>
            </a:xfrm>
            <a:prstGeom prst="roundRect">
              <a:avLst>
                <a:gd name="adj" fmla="val 16667"/>
              </a:avLst>
            </a:prstGeom>
            <a:solidFill>
              <a:srgbClr val="DDDDDD"/>
            </a:solidFill>
            <a:ln w="22225" algn="ctr">
              <a:solidFill>
                <a:srgbClr val="4D4D4D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09" name="Oval 145"/>
            <p:cNvSpPr>
              <a:spLocks noChangeAspect="1" noChangeArrowheads="1"/>
            </p:cNvSpPr>
            <p:nvPr/>
          </p:nvSpPr>
          <p:spPr bwMode="auto">
            <a:xfrm>
              <a:off x="13440" y="4037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11" name="Oval 147"/>
            <p:cNvSpPr>
              <a:spLocks noChangeAspect="1" noChangeArrowheads="1"/>
            </p:cNvSpPr>
            <p:nvPr/>
          </p:nvSpPr>
          <p:spPr bwMode="auto">
            <a:xfrm>
              <a:off x="12987" y="4492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13" name="Oval 149"/>
            <p:cNvSpPr>
              <a:spLocks noChangeAspect="1" noChangeArrowheads="1"/>
            </p:cNvSpPr>
            <p:nvPr/>
          </p:nvSpPr>
          <p:spPr bwMode="auto">
            <a:xfrm>
              <a:off x="13895" y="4492"/>
              <a:ext cx="228" cy="228"/>
            </a:xfrm>
            <a:prstGeom prst="ellipse">
              <a:avLst/>
            </a:prstGeom>
            <a:solidFill>
              <a:srgbClr val="FFFFFF"/>
            </a:solidFill>
            <a:ln w="22225" algn="ctr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3415" name="Line 151"/>
            <p:cNvSpPr/>
            <p:nvPr/>
          </p:nvSpPr>
          <p:spPr>
            <a:xfrm flipH="1">
              <a:off x="6750" y="2792"/>
              <a:ext cx="2835" cy="124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17" name="Line 153"/>
            <p:cNvSpPr/>
            <p:nvPr/>
          </p:nvSpPr>
          <p:spPr>
            <a:xfrm>
              <a:off x="10720" y="2792"/>
              <a:ext cx="2835" cy="124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19" name="Line 155"/>
            <p:cNvSpPr/>
            <p:nvPr/>
          </p:nvSpPr>
          <p:spPr>
            <a:xfrm flipH="1">
              <a:off x="9017" y="2792"/>
              <a:ext cx="795" cy="124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21" name="Line 157"/>
            <p:cNvSpPr/>
            <p:nvPr/>
          </p:nvSpPr>
          <p:spPr>
            <a:xfrm>
              <a:off x="10492" y="2792"/>
              <a:ext cx="795" cy="124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23" name="Line 159"/>
            <p:cNvSpPr/>
            <p:nvPr/>
          </p:nvSpPr>
          <p:spPr>
            <a:xfrm flipH="1">
              <a:off x="9812" y="2340"/>
              <a:ext cx="228" cy="227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25" name="Line 161"/>
            <p:cNvSpPr/>
            <p:nvPr/>
          </p:nvSpPr>
          <p:spPr>
            <a:xfrm>
              <a:off x="10267" y="2340"/>
              <a:ext cx="228" cy="227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27" name="Line 163"/>
            <p:cNvSpPr/>
            <p:nvPr/>
          </p:nvSpPr>
          <p:spPr>
            <a:xfrm flipH="1">
              <a:off x="6412" y="4267"/>
              <a:ext cx="228" cy="22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29" name="Line 165"/>
            <p:cNvSpPr/>
            <p:nvPr/>
          </p:nvSpPr>
          <p:spPr>
            <a:xfrm>
              <a:off x="6867" y="4267"/>
              <a:ext cx="228" cy="22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1" name="Line 167"/>
            <p:cNvSpPr/>
            <p:nvPr/>
          </p:nvSpPr>
          <p:spPr>
            <a:xfrm flipH="1">
              <a:off x="8680" y="4267"/>
              <a:ext cx="227" cy="22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3" name="Line 169"/>
            <p:cNvSpPr/>
            <p:nvPr/>
          </p:nvSpPr>
          <p:spPr>
            <a:xfrm>
              <a:off x="9135" y="4267"/>
              <a:ext cx="227" cy="22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5" name="Line 171"/>
            <p:cNvSpPr/>
            <p:nvPr/>
          </p:nvSpPr>
          <p:spPr>
            <a:xfrm flipH="1">
              <a:off x="10947" y="4267"/>
              <a:ext cx="228" cy="22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7" name="Line 173"/>
            <p:cNvSpPr/>
            <p:nvPr/>
          </p:nvSpPr>
          <p:spPr>
            <a:xfrm>
              <a:off x="11402" y="4267"/>
              <a:ext cx="228" cy="22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39" name="Line 175"/>
            <p:cNvSpPr/>
            <p:nvPr/>
          </p:nvSpPr>
          <p:spPr>
            <a:xfrm flipH="1">
              <a:off x="13215" y="4267"/>
              <a:ext cx="227" cy="22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41" name="Line 177"/>
            <p:cNvSpPr/>
            <p:nvPr/>
          </p:nvSpPr>
          <p:spPr>
            <a:xfrm>
              <a:off x="13670" y="4267"/>
              <a:ext cx="227" cy="228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43" name="Line 179"/>
            <p:cNvSpPr/>
            <p:nvPr/>
          </p:nvSpPr>
          <p:spPr>
            <a:xfrm flipH="1">
              <a:off x="5955" y="4662"/>
              <a:ext cx="227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45" name="Line 181"/>
            <p:cNvSpPr/>
            <p:nvPr/>
          </p:nvSpPr>
          <p:spPr>
            <a:xfrm>
              <a:off x="7317" y="4662"/>
              <a:ext cx="228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47" name="Line 183"/>
            <p:cNvSpPr/>
            <p:nvPr/>
          </p:nvSpPr>
          <p:spPr>
            <a:xfrm flipH="1">
              <a:off x="6865" y="4662"/>
              <a:ext cx="227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49" name="Line 185"/>
            <p:cNvSpPr/>
            <p:nvPr/>
          </p:nvSpPr>
          <p:spPr>
            <a:xfrm>
              <a:off x="6410" y="4662"/>
              <a:ext cx="227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51" name="Line 187"/>
            <p:cNvSpPr/>
            <p:nvPr/>
          </p:nvSpPr>
          <p:spPr>
            <a:xfrm flipH="1">
              <a:off x="8222" y="4662"/>
              <a:ext cx="228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53" name="Line 189"/>
            <p:cNvSpPr/>
            <p:nvPr/>
          </p:nvSpPr>
          <p:spPr>
            <a:xfrm>
              <a:off x="9585" y="4662"/>
              <a:ext cx="227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55" name="Line 191"/>
            <p:cNvSpPr/>
            <p:nvPr/>
          </p:nvSpPr>
          <p:spPr>
            <a:xfrm flipH="1">
              <a:off x="9132" y="4662"/>
              <a:ext cx="228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57" name="Line 193"/>
            <p:cNvSpPr/>
            <p:nvPr/>
          </p:nvSpPr>
          <p:spPr>
            <a:xfrm>
              <a:off x="8677" y="4662"/>
              <a:ext cx="228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59" name="Line 195"/>
            <p:cNvSpPr/>
            <p:nvPr/>
          </p:nvSpPr>
          <p:spPr>
            <a:xfrm flipH="1">
              <a:off x="10492" y="4662"/>
              <a:ext cx="228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61" name="Line 197"/>
            <p:cNvSpPr/>
            <p:nvPr/>
          </p:nvSpPr>
          <p:spPr>
            <a:xfrm>
              <a:off x="11855" y="4662"/>
              <a:ext cx="227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63" name="Line 199"/>
            <p:cNvSpPr/>
            <p:nvPr/>
          </p:nvSpPr>
          <p:spPr>
            <a:xfrm flipH="1">
              <a:off x="11402" y="4662"/>
              <a:ext cx="228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65" name="Line 201"/>
            <p:cNvSpPr/>
            <p:nvPr/>
          </p:nvSpPr>
          <p:spPr>
            <a:xfrm>
              <a:off x="10947" y="4662"/>
              <a:ext cx="228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67" name="Line 203"/>
            <p:cNvSpPr/>
            <p:nvPr/>
          </p:nvSpPr>
          <p:spPr>
            <a:xfrm flipH="1">
              <a:off x="12760" y="4662"/>
              <a:ext cx="227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69" name="Line 205"/>
            <p:cNvSpPr/>
            <p:nvPr/>
          </p:nvSpPr>
          <p:spPr>
            <a:xfrm>
              <a:off x="14122" y="4662"/>
              <a:ext cx="228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71" name="Line 207"/>
            <p:cNvSpPr/>
            <p:nvPr/>
          </p:nvSpPr>
          <p:spPr>
            <a:xfrm flipH="1">
              <a:off x="13670" y="4662"/>
              <a:ext cx="227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163473" name="Line 209"/>
            <p:cNvSpPr/>
            <p:nvPr/>
          </p:nvSpPr>
          <p:spPr>
            <a:xfrm>
              <a:off x="13215" y="4662"/>
              <a:ext cx="227" cy="62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B-Tree</a:t>
            </a:r>
            <a:endParaRPr lang="en-US" altLang="zh-CN" b="1" kern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9451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65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多级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存储系统中使用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B-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树，可针对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外部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查找，大大减少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I/O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次数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65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难道，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AVL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还不够？比如，若有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= 1G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个记录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每次查找需要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30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I/O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操作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每次只读出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关键码，得不偿失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altLang="en-US" sz="14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65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B-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树又能如何？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充分利用外存对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批量访问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的高效支持，将此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特点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转化为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优点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每下降一层，都以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超级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节点为单位，读入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一组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关键码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65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具体多大一组？视磁盘的数据块大小而定，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= #keys/pg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比如，目前多数数据库系统采用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= 200 ~ 300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65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回到上例，若取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= 256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，则每次查找只需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log</a:t>
            </a:r>
            <a:r>
              <a:rPr kumimoji="0" lang="en-US" altLang="zh-CN" sz="2000" b="1" i="0" u="none" strike="noStrike" kern="0" cap="none" spc="0" normalizeH="0" baseline="-25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en-US" altLang="zh-CN" sz="2000" b="1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&lt;=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I/O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45430" name="Picture 278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3141663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45431" name="AutoShape 279"/>
          <p:cNvSpPr>
            <a:spLocks noChangeArrowheads="1"/>
          </p:cNvSpPr>
          <p:nvPr/>
        </p:nvSpPr>
        <p:spPr bwMode="auto">
          <a:xfrm>
            <a:off x="5508625" y="2708275"/>
            <a:ext cx="2879725" cy="4318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>
            <a:solidFill>
              <a:srgbClr val="4D4D4D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5432" name="Oval 280"/>
          <p:cNvSpPr>
            <a:spLocks noChangeAspect="1" noChangeArrowheads="1"/>
          </p:cNvSpPr>
          <p:nvPr/>
        </p:nvSpPr>
        <p:spPr bwMode="auto">
          <a:xfrm>
            <a:off x="6661150" y="2852738"/>
            <a:ext cx="144463" cy="14446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5433" name="Oval 281"/>
          <p:cNvSpPr>
            <a:spLocks noChangeAspect="1" noChangeArrowheads="1"/>
          </p:cNvSpPr>
          <p:nvPr/>
        </p:nvSpPr>
        <p:spPr bwMode="auto">
          <a:xfrm>
            <a:off x="6230938" y="2852738"/>
            <a:ext cx="144463" cy="14446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5434" name="Oval 282"/>
          <p:cNvSpPr>
            <a:spLocks noChangeAspect="1" noChangeArrowheads="1"/>
          </p:cNvSpPr>
          <p:nvPr/>
        </p:nvSpPr>
        <p:spPr bwMode="auto">
          <a:xfrm>
            <a:off x="7094538" y="2852738"/>
            <a:ext cx="144463" cy="14446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5435" name="Line 283"/>
          <p:cNvSpPr/>
          <p:nvPr/>
        </p:nvSpPr>
        <p:spPr>
          <a:xfrm>
            <a:off x="6948488" y="2276475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45436" name="Line 284"/>
          <p:cNvSpPr/>
          <p:nvPr/>
        </p:nvSpPr>
        <p:spPr>
          <a:xfrm flipH="1">
            <a:off x="6084888" y="3068638"/>
            <a:ext cx="0" cy="360362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45437" name="Line 285"/>
          <p:cNvSpPr/>
          <p:nvPr/>
        </p:nvSpPr>
        <p:spPr>
          <a:xfrm>
            <a:off x="7380288" y="3068638"/>
            <a:ext cx="0" cy="360362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45438" name="Line 286"/>
          <p:cNvSpPr/>
          <p:nvPr/>
        </p:nvSpPr>
        <p:spPr>
          <a:xfrm flipH="1">
            <a:off x="6518275" y="3068638"/>
            <a:ext cx="0" cy="360362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45439" name="Line 287"/>
          <p:cNvSpPr/>
          <p:nvPr/>
        </p:nvSpPr>
        <p:spPr>
          <a:xfrm>
            <a:off x="6951663" y="3068638"/>
            <a:ext cx="0" cy="360362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45440" name="Line 288"/>
          <p:cNvSpPr/>
          <p:nvPr/>
        </p:nvSpPr>
        <p:spPr>
          <a:xfrm flipH="1">
            <a:off x="6375400" y="2925763"/>
            <a:ext cx="288925" cy="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5441" name="Line 289"/>
          <p:cNvSpPr/>
          <p:nvPr/>
        </p:nvSpPr>
        <p:spPr>
          <a:xfrm>
            <a:off x="6807200" y="2925763"/>
            <a:ext cx="288925" cy="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5442" name="Oval 290"/>
          <p:cNvSpPr>
            <a:spLocks noChangeAspect="1" noChangeArrowheads="1"/>
          </p:cNvSpPr>
          <p:nvPr/>
        </p:nvSpPr>
        <p:spPr bwMode="auto">
          <a:xfrm>
            <a:off x="7524750" y="2852738"/>
            <a:ext cx="144463" cy="14446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5443" name="Line 291"/>
          <p:cNvSpPr/>
          <p:nvPr/>
        </p:nvSpPr>
        <p:spPr>
          <a:xfrm>
            <a:off x="7812088" y="3068638"/>
            <a:ext cx="0" cy="360362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45444" name="Line 292"/>
          <p:cNvSpPr/>
          <p:nvPr/>
        </p:nvSpPr>
        <p:spPr>
          <a:xfrm>
            <a:off x="7237413" y="2925763"/>
            <a:ext cx="288925" cy="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5445" name="Oval 293"/>
          <p:cNvSpPr>
            <a:spLocks noChangeAspect="1" noChangeArrowheads="1"/>
          </p:cNvSpPr>
          <p:nvPr/>
        </p:nvSpPr>
        <p:spPr bwMode="auto">
          <a:xfrm>
            <a:off x="5799138" y="2852738"/>
            <a:ext cx="144463" cy="14446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5446" name="Line 294"/>
          <p:cNvSpPr/>
          <p:nvPr/>
        </p:nvSpPr>
        <p:spPr>
          <a:xfrm flipH="1">
            <a:off x="5653088" y="3068638"/>
            <a:ext cx="0" cy="360362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45447" name="Line 295"/>
          <p:cNvSpPr/>
          <p:nvPr/>
        </p:nvSpPr>
        <p:spPr>
          <a:xfrm flipH="1">
            <a:off x="5943600" y="2925763"/>
            <a:ext cx="288925" cy="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45451" name="Oval 299"/>
          <p:cNvSpPr>
            <a:spLocks noChangeAspect="1" noChangeArrowheads="1"/>
          </p:cNvSpPr>
          <p:nvPr/>
        </p:nvSpPr>
        <p:spPr bwMode="auto">
          <a:xfrm>
            <a:off x="7956550" y="2852738"/>
            <a:ext cx="144463" cy="14446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5452" name="Line 300"/>
          <p:cNvSpPr/>
          <p:nvPr/>
        </p:nvSpPr>
        <p:spPr>
          <a:xfrm>
            <a:off x="8245475" y="3068638"/>
            <a:ext cx="0" cy="360362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45453" name="Line 301"/>
          <p:cNvSpPr/>
          <p:nvPr/>
        </p:nvSpPr>
        <p:spPr>
          <a:xfrm>
            <a:off x="7669213" y="2925763"/>
            <a:ext cx="288925" cy="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45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45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4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4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4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4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4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4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4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4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4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4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45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45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4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4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4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4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4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4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4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45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0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45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45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45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45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945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45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45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2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45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45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45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45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945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945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45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45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45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45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45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945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45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45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4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45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45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45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45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945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945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45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45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45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45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5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45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45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45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6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945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45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45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7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45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45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45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8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45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45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45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39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45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45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45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40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45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45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45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4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45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45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45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945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945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45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45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42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45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45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45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43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45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45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45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44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45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45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45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" dur="300" fill="hold"/>
                                        <p:tgtEl>
                                          <p:spTgt spid="945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945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45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45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45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45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45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45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46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945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45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45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4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45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45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45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" dur="300" fill="hold"/>
                                        <p:tgtEl>
                                          <p:spTgt spid="945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45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45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45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5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45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45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45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52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945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45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45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45453"/>
                  </p:tgtEl>
                </p:cond>
              </p:nextCondLst>
            </p:seq>
          </p:childTnLst>
        </p:cTn>
      </p:par>
    </p:tnLst>
    <p:bldLst>
      <p:bldP spid="945431" grpId="0" animBg="1"/>
      <p:bldP spid="945431" grpId="1" bldLvl="0" animBg="1"/>
      <p:bldP spid="945432" grpId="0" animBg="1"/>
      <p:bldP spid="945432" grpId="1" bldLvl="0" animBg="1"/>
      <p:bldP spid="945433" grpId="0" animBg="1"/>
      <p:bldP spid="945433" grpId="1" bldLvl="0" animBg="1"/>
      <p:bldP spid="945434" grpId="0" animBg="1"/>
      <p:bldP spid="945434" grpId="1" bldLvl="0" animBg="1"/>
      <p:bldP spid="945435" grpId="0" bldLvl="0" animBg="1"/>
      <p:bldP spid="945436" grpId="0" bldLvl="0" animBg="1"/>
      <p:bldP spid="945437" grpId="0" bldLvl="0" animBg="1"/>
      <p:bldP spid="945438" grpId="0" bldLvl="0" animBg="1"/>
      <p:bldP spid="945439" grpId="0" bldLvl="0" animBg="1"/>
      <p:bldP spid="945440" grpId="0" bldLvl="0" animBg="1"/>
      <p:bldP spid="945441" grpId="0" bldLvl="0" animBg="1"/>
      <p:bldP spid="945442" grpId="0" animBg="1"/>
      <p:bldP spid="945442" grpId="1" bldLvl="0" animBg="1"/>
      <p:bldP spid="945443" grpId="0" bldLvl="0" animBg="1"/>
      <p:bldP spid="945444" grpId="0" bldLvl="0" animBg="1"/>
      <p:bldP spid="945445" grpId="0" animBg="1"/>
      <p:bldP spid="945445" grpId="1" bldLvl="0" animBg="1"/>
      <p:bldP spid="945446" grpId="0" bldLvl="0" animBg="1"/>
      <p:bldP spid="945447" grpId="0" bldLvl="0" animBg="1"/>
      <p:bldP spid="945451" grpId="0" animBg="1"/>
      <p:bldP spid="945451" grpId="1" bldLvl="0" animBg="1"/>
      <p:bldP spid="945452" grpId="0" bldLvl="0" animBg="1"/>
      <p:bldP spid="945453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5314" name="AutoShape 2"/>
          <p:cNvSpPr>
            <a:spLocks noGrp="1" noChangeArrowheads="1"/>
          </p:cNvSpPr>
          <p:nvPr>
            <p:ph type="title"/>
          </p:nvPr>
        </p:nvSpPr>
        <p:spPr>
          <a:xfrm>
            <a:off x="5927725" y="5817236"/>
            <a:ext cx="12369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紧凑表示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65316" name="AutoShape 4"/>
          <p:cNvSpPr>
            <a:spLocks noChangeArrowheads="1"/>
          </p:cNvSpPr>
          <p:nvPr/>
        </p:nvSpPr>
        <p:spPr bwMode="auto">
          <a:xfrm>
            <a:off x="3562350" y="1268413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18" name="AutoShape 6"/>
          <p:cNvSpPr>
            <a:spLocks noChangeArrowheads="1"/>
          </p:cNvSpPr>
          <p:nvPr/>
        </p:nvSpPr>
        <p:spPr bwMode="auto">
          <a:xfrm>
            <a:off x="3851275" y="1268413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19" name="AutoShape 7"/>
          <p:cNvSpPr>
            <a:spLocks noChangeArrowheads="1"/>
          </p:cNvSpPr>
          <p:nvPr/>
        </p:nvSpPr>
        <p:spPr bwMode="auto">
          <a:xfrm>
            <a:off x="3275013" y="1268413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20" name="AutoShape 8"/>
          <p:cNvSpPr>
            <a:spLocks noChangeArrowheads="1"/>
          </p:cNvSpPr>
          <p:nvPr/>
        </p:nvSpPr>
        <p:spPr bwMode="auto">
          <a:xfrm>
            <a:off x="1401763" y="184467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22" name="AutoShape 10"/>
          <p:cNvSpPr>
            <a:spLocks noChangeArrowheads="1"/>
          </p:cNvSpPr>
          <p:nvPr/>
        </p:nvSpPr>
        <p:spPr bwMode="auto">
          <a:xfrm>
            <a:off x="5218113" y="184467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34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24" name="AutoShape 12"/>
          <p:cNvSpPr>
            <a:spLocks noChangeArrowheads="1"/>
          </p:cNvSpPr>
          <p:nvPr/>
        </p:nvSpPr>
        <p:spPr bwMode="auto">
          <a:xfrm>
            <a:off x="5794375" y="184467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43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26" name="AutoShape 14"/>
          <p:cNvSpPr>
            <a:spLocks noChangeArrowheads="1"/>
          </p:cNvSpPr>
          <p:nvPr/>
        </p:nvSpPr>
        <p:spPr bwMode="auto">
          <a:xfrm>
            <a:off x="6369050" y="184467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49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28" name="AutoShape 16"/>
          <p:cNvSpPr>
            <a:spLocks noChangeArrowheads="1"/>
          </p:cNvSpPr>
          <p:nvPr/>
        </p:nvSpPr>
        <p:spPr bwMode="auto">
          <a:xfrm>
            <a:off x="682625" y="2420938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30" name="AutoShape 18"/>
          <p:cNvSpPr>
            <a:spLocks noChangeArrowheads="1"/>
          </p:cNvSpPr>
          <p:nvPr/>
        </p:nvSpPr>
        <p:spPr bwMode="auto">
          <a:xfrm>
            <a:off x="1833563" y="2420938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32" name="AutoShape 20"/>
          <p:cNvSpPr>
            <a:spLocks noChangeArrowheads="1"/>
          </p:cNvSpPr>
          <p:nvPr/>
        </p:nvSpPr>
        <p:spPr bwMode="auto">
          <a:xfrm>
            <a:off x="2409825" y="2420938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22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34" name="AutoShape 22"/>
          <p:cNvSpPr>
            <a:spLocks noChangeArrowheads="1"/>
          </p:cNvSpPr>
          <p:nvPr/>
        </p:nvSpPr>
        <p:spPr bwMode="auto">
          <a:xfrm>
            <a:off x="3562350" y="2420938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28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36" name="AutoShape 24"/>
          <p:cNvSpPr>
            <a:spLocks noChangeArrowheads="1"/>
          </p:cNvSpPr>
          <p:nvPr/>
        </p:nvSpPr>
        <p:spPr bwMode="auto">
          <a:xfrm>
            <a:off x="4713288" y="2420938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37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38" name="AutoShape 26"/>
          <p:cNvSpPr>
            <a:spLocks noChangeArrowheads="1"/>
          </p:cNvSpPr>
          <p:nvPr/>
        </p:nvSpPr>
        <p:spPr bwMode="auto">
          <a:xfrm>
            <a:off x="5289550" y="2420938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40" name="AutoShape 28"/>
          <p:cNvSpPr>
            <a:spLocks noChangeArrowheads="1"/>
          </p:cNvSpPr>
          <p:nvPr/>
        </p:nvSpPr>
        <p:spPr bwMode="auto">
          <a:xfrm>
            <a:off x="5865813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41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42" name="AutoShape 30"/>
          <p:cNvSpPr>
            <a:spLocks noChangeArrowheads="1"/>
          </p:cNvSpPr>
          <p:nvPr/>
        </p:nvSpPr>
        <p:spPr bwMode="auto">
          <a:xfrm>
            <a:off x="7019925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46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44" name="AutoShape 32"/>
          <p:cNvSpPr>
            <a:spLocks noChangeArrowheads="1"/>
          </p:cNvSpPr>
          <p:nvPr/>
        </p:nvSpPr>
        <p:spPr bwMode="auto">
          <a:xfrm>
            <a:off x="8172450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52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46" name="AutoShape 34"/>
          <p:cNvSpPr>
            <a:spLocks noChangeArrowheads="1"/>
          </p:cNvSpPr>
          <p:nvPr/>
        </p:nvSpPr>
        <p:spPr bwMode="auto">
          <a:xfrm>
            <a:off x="1690688" y="1846263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47" name="AutoShape 35"/>
          <p:cNvSpPr>
            <a:spLocks noChangeArrowheads="1"/>
          </p:cNvSpPr>
          <p:nvPr/>
        </p:nvSpPr>
        <p:spPr bwMode="auto">
          <a:xfrm>
            <a:off x="1114425" y="1846263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48" name="AutoShape 36"/>
          <p:cNvSpPr>
            <a:spLocks noChangeArrowheads="1"/>
          </p:cNvSpPr>
          <p:nvPr/>
        </p:nvSpPr>
        <p:spPr bwMode="auto">
          <a:xfrm>
            <a:off x="5507038" y="1846263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49" name="AutoShape 37"/>
          <p:cNvSpPr>
            <a:spLocks noChangeArrowheads="1"/>
          </p:cNvSpPr>
          <p:nvPr/>
        </p:nvSpPr>
        <p:spPr bwMode="auto">
          <a:xfrm>
            <a:off x="4930775" y="1846263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0" name="AutoShape 38"/>
          <p:cNvSpPr>
            <a:spLocks noChangeArrowheads="1"/>
          </p:cNvSpPr>
          <p:nvPr/>
        </p:nvSpPr>
        <p:spPr bwMode="auto">
          <a:xfrm>
            <a:off x="6659563" y="1846263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1" name="AutoShape 39"/>
          <p:cNvSpPr>
            <a:spLocks noChangeArrowheads="1"/>
          </p:cNvSpPr>
          <p:nvPr/>
        </p:nvSpPr>
        <p:spPr bwMode="auto">
          <a:xfrm>
            <a:off x="6083300" y="1846263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2" name="AutoShape 40"/>
          <p:cNvSpPr>
            <a:spLocks noChangeArrowheads="1"/>
          </p:cNvSpPr>
          <p:nvPr/>
        </p:nvSpPr>
        <p:spPr bwMode="auto">
          <a:xfrm>
            <a:off x="971550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3" name="AutoShape 41"/>
          <p:cNvSpPr>
            <a:spLocks noChangeArrowheads="1"/>
          </p:cNvSpPr>
          <p:nvPr/>
        </p:nvSpPr>
        <p:spPr bwMode="auto">
          <a:xfrm>
            <a:off x="395288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4" name="AutoShape 42"/>
          <p:cNvSpPr>
            <a:spLocks noChangeArrowheads="1"/>
          </p:cNvSpPr>
          <p:nvPr/>
        </p:nvSpPr>
        <p:spPr bwMode="auto">
          <a:xfrm>
            <a:off x="2124075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5" name="AutoShape 43"/>
          <p:cNvSpPr>
            <a:spLocks noChangeArrowheads="1"/>
          </p:cNvSpPr>
          <p:nvPr/>
        </p:nvSpPr>
        <p:spPr bwMode="auto">
          <a:xfrm>
            <a:off x="1547813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6" name="AutoShape 44"/>
          <p:cNvSpPr>
            <a:spLocks noChangeArrowheads="1"/>
          </p:cNvSpPr>
          <p:nvPr/>
        </p:nvSpPr>
        <p:spPr bwMode="auto">
          <a:xfrm>
            <a:off x="2698750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7" name="AutoShape 45"/>
          <p:cNvSpPr>
            <a:spLocks noChangeArrowheads="1"/>
          </p:cNvSpPr>
          <p:nvPr/>
        </p:nvSpPr>
        <p:spPr bwMode="auto">
          <a:xfrm>
            <a:off x="3276600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8" name="AutoShape 46"/>
          <p:cNvSpPr>
            <a:spLocks noChangeArrowheads="1"/>
          </p:cNvSpPr>
          <p:nvPr/>
        </p:nvSpPr>
        <p:spPr bwMode="auto">
          <a:xfrm>
            <a:off x="3851275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59" name="AutoShape 47"/>
          <p:cNvSpPr>
            <a:spLocks noChangeArrowheads="1"/>
          </p:cNvSpPr>
          <p:nvPr/>
        </p:nvSpPr>
        <p:spPr bwMode="auto">
          <a:xfrm>
            <a:off x="4425950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60" name="AutoShape 48"/>
          <p:cNvSpPr>
            <a:spLocks noChangeArrowheads="1"/>
          </p:cNvSpPr>
          <p:nvPr/>
        </p:nvSpPr>
        <p:spPr bwMode="auto">
          <a:xfrm>
            <a:off x="5002213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61" name="AutoShape 49"/>
          <p:cNvSpPr>
            <a:spLocks noChangeArrowheads="1"/>
          </p:cNvSpPr>
          <p:nvPr/>
        </p:nvSpPr>
        <p:spPr bwMode="auto">
          <a:xfrm>
            <a:off x="5578475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62" name="AutoShape 50"/>
          <p:cNvSpPr>
            <a:spLocks noChangeArrowheads="1"/>
          </p:cNvSpPr>
          <p:nvPr/>
        </p:nvSpPr>
        <p:spPr bwMode="auto">
          <a:xfrm>
            <a:off x="6154738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63" name="AutoShape 51"/>
          <p:cNvSpPr>
            <a:spLocks noChangeArrowheads="1"/>
          </p:cNvSpPr>
          <p:nvPr/>
        </p:nvSpPr>
        <p:spPr bwMode="auto">
          <a:xfrm>
            <a:off x="6731000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64" name="AutoShape 52"/>
          <p:cNvSpPr>
            <a:spLocks noChangeArrowheads="1"/>
          </p:cNvSpPr>
          <p:nvPr/>
        </p:nvSpPr>
        <p:spPr bwMode="auto">
          <a:xfrm>
            <a:off x="7307263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65" name="AutoShape 53"/>
          <p:cNvSpPr>
            <a:spLocks noChangeArrowheads="1"/>
          </p:cNvSpPr>
          <p:nvPr/>
        </p:nvSpPr>
        <p:spPr bwMode="auto">
          <a:xfrm>
            <a:off x="7883525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66" name="AutoShape 54"/>
          <p:cNvSpPr>
            <a:spLocks noChangeArrowheads="1"/>
          </p:cNvSpPr>
          <p:nvPr/>
        </p:nvSpPr>
        <p:spPr bwMode="auto">
          <a:xfrm>
            <a:off x="8459788" y="2422525"/>
            <a:ext cx="288925" cy="288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algn="ctr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67" name="Line 55"/>
          <p:cNvSpPr/>
          <p:nvPr/>
        </p:nvSpPr>
        <p:spPr>
          <a:xfrm>
            <a:off x="3708400" y="981075"/>
            <a:ext cx="0" cy="288925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69" name="Line 57"/>
          <p:cNvSpPr/>
          <p:nvPr/>
        </p:nvSpPr>
        <p:spPr>
          <a:xfrm flipH="1">
            <a:off x="1547813" y="1412875"/>
            <a:ext cx="1871662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71" name="Line 59"/>
          <p:cNvSpPr/>
          <p:nvPr/>
        </p:nvSpPr>
        <p:spPr>
          <a:xfrm flipH="1">
            <a:off x="827088" y="1990725"/>
            <a:ext cx="43180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73" name="Line 61"/>
          <p:cNvSpPr/>
          <p:nvPr/>
        </p:nvSpPr>
        <p:spPr>
          <a:xfrm>
            <a:off x="1835150" y="1990725"/>
            <a:ext cx="43180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75" name="Line 63"/>
          <p:cNvSpPr/>
          <p:nvPr/>
        </p:nvSpPr>
        <p:spPr>
          <a:xfrm flipH="1">
            <a:off x="3706813" y="1990725"/>
            <a:ext cx="1368425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77" name="Line 65"/>
          <p:cNvSpPr/>
          <p:nvPr/>
        </p:nvSpPr>
        <p:spPr>
          <a:xfrm flipH="1">
            <a:off x="5435600" y="1990725"/>
            <a:ext cx="21590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79" name="Line 67"/>
          <p:cNvSpPr/>
          <p:nvPr/>
        </p:nvSpPr>
        <p:spPr>
          <a:xfrm>
            <a:off x="6227763" y="1990725"/>
            <a:ext cx="936625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81" name="Line 69"/>
          <p:cNvSpPr/>
          <p:nvPr/>
        </p:nvSpPr>
        <p:spPr>
          <a:xfrm>
            <a:off x="6804025" y="1990725"/>
            <a:ext cx="151130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83" name="Line 71"/>
          <p:cNvSpPr/>
          <p:nvPr/>
        </p:nvSpPr>
        <p:spPr>
          <a:xfrm>
            <a:off x="3995738" y="1412875"/>
            <a:ext cx="1941512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85" name="AutoShape 73"/>
          <p:cNvSpPr>
            <a:spLocks noChangeArrowheads="1"/>
          </p:cNvSpPr>
          <p:nvPr/>
        </p:nvSpPr>
        <p:spPr bwMode="auto">
          <a:xfrm>
            <a:off x="468313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87" name="Line 75"/>
          <p:cNvSpPr/>
          <p:nvPr/>
        </p:nvSpPr>
        <p:spPr>
          <a:xfrm flipH="1">
            <a:off x="539750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89" name="AutoShape 77"/>
          <p:cNvSpPr>
            <a:spLocks noChangeArrowheads="1"/>
          </p:cNvSpPr>
          <p:nvPr/>
        </p:nvSpPr>
        <p:spPr bwMode="auto">
          <a:xfrm>
            <a:off x="1042988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91" name="Line 79"/>
          <p:cNvSpPr/>
          <p:nvPr/>
        </p:nvSpPr>
        <p:spPr>
          <a:xfrm flipH="1">
            <a:off x="1114425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93" name="AutoShape 81"/>
          <p:cNvSpPr>
            <a:spLocks noChangeArrowheads="1"/>
          </p:cNvSpPr>
          <p:nvPr/>
        </p:nvSpPr>
        <p:spPr bwMode="auto">
          <a:xfrm>
            <a:off x="1619250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95" name="Line 83"/>
          <p:cNvSpPr/>
          <p:nvPr/>
        </p:nvSpPr>
        <p:spPr>
          <a:xfrm flipH="1">
            <a:off x="1690688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397" name="AutoShape 85"/>
          <p:cNvSpPr>
            <a:spLocks noChangeArrowheads="1"/>
          </p:cNvSpPr>
          <p:nvPr/>
        </p:nvSpPr>
        <p:spPr bwMode="auto">
          <a:xfrm>
            <a:off x="2195513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399" name="Line 87"/>
          <p:cNvSpPr/>
          <p:nvPr/>
        </p:nvSpPr>
        <p:spPr>
          <a:xfrm flipH="1">
            <a:off x="2266950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01" name="AutoShape 89"/>
          <p:cNvSpPr>
            <a:spLocks noChangeArrowheads="1"/>
          </p:cNvSpPr>
          <p:nvPr/>
        </p:nvSpPr>
        <p:spPr bwMode="auto">
          <a:xfrm>
            <a:off x="2771775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03" name="Line 91"/>
          <p:cNvSpPr/>
          <p:nvPr/>
        </p:nvSpPr>
        <p:spPr>
          <a:xfrm flipH="1">
            <a:off x="2843213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05" name="AutoShape 93"/>
          <p:cNvSpPr>
            <a:spLocks noChangeArrowheads="1"/>
          </p:cNvSpPr>
          <p:nvPr/>
        </p:nvSpPr>
        <p:spPr bwMode="auto">
          <a:xfrm>
            <a:off x="3348038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07" name="Line 95"/>
          <p:cNvSpPr/>
          <p:nvPr/>
        </p:nvSpPr>
        <p:spPr>
          <a:xfrm flipH="1">
            <a:off x="3419475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09" name="AutoShape 97"/>
          <p:cNvSpPr>
            <a:spLocks noChangeArrowheads="1"/>
          </p:cNvSpPr>
          <p:nvPr/>
        </p:nvSpPr>
        <p:spPr bwMode="auto">
          <a:xfrm>
            <a:off x="3924300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11" name="Line 99"/>
          <p:cNvSpPr/>
          <p:nvPr/>
        </p:nvSpPr>
        <p:spPr>
          <a:xfrm flipH="1">
            <a:off x="3995738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13" name="AutoShape 101"/>
          <p:cNvSpPr>
            <a:spLocks noChangeArrowheads="1"/>
          </p:cNvSpPr>
          <p:nvPr/>
        </p:nvSpPr>
        <p:spPr bwMode="auto">
          <a:xfrm>
            <a:off x="4498975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15" name="Line 103"/>
          <p:cNvSpPr/>
          <p:nvPr/>
        </p:nvSpPr>
        <p:spPr>
          <a:xfrm flipH="1">
            <a:off x="4570413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17" name="AutoShape 105"/>
          <p:cNvSpPr>
            <a:spLocks noChangeArrowheads="1"/>
          </p:cNvSpPr>
          <p:nvPr/>
        </p:nvSpPr>
        <p:spPr bwMode="auto">
          <a:xfrm>
            <a:off x="5075238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19" name="Line 107"/>
          <p:cNvSpPr/>
          <p:nvPr/>
        </p:nvSpPr>
        <p:spPr>
          <a:xfrm flipH="1">
            <a:off x="5146675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21" name="AutoShape 109"/>
          <p:cNvSpPr>
            <a:spLocks noChangeArrowheads="1"/>
          </p:cNvSpPr>
          <p:nvPr/>
        </p:nvSpPr>
        <p:spPr bwMode="auto">
          <a:xfrm>
            <a:off x="5651500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23" name="Line 111"/>
          <p:cNvSpPr/>
          <p:nvPr/>
        </p:nvSpPr>
        <p:spPr>
          <a:xfrm flipH="1">
            <a:off x="5722938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25" name="AutoShape 113"/>
          <p:cNvSpPr>
            <a:spLocks noChangeArrowheads="1"/>
          </p:cNvSpPr>
          <p:nvPr/>
        </p:nvSpPr>
        <p:spPr bwMode="auto">
          <a:xfrm>
            <a:off x="6227763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27" name="Line 115"/>
          <p:cNvSpPr/>
          <p:nvPr/>
        </p:nvSpPr>
        <p:spPr>
          <a:xfrm flipH="1">
            <a:off x="6299200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29" name="AutoShape 117"/>
          <p:cNvSpPr>
            <a:spLocks noChangeArrowheads="1"/>
          </p:cNvSpPr>
          <p:nvPr/>
        </p:nvSpPr>
        <p:spPr bwMode="auto">
          <a:xfrm>
            <a:off x="6804025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31" name="Line 119"/>
          <p:cNvSpPr/>
          <p:nvPr/>
        </p:nvSpPr>
        <p:spPr>
          <a:xfrm flipH="1">
            <a:off x="6875463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33" name="AutoShape 121"/>
          <p:cNvSpPr>
            <a:spLocks noChangeArrowheads="1"/>
          </p:cNvSpPr>
          <p:nvPr/>
        </p:nvSpPr>
        <p:spPr bwMode="auto">
          <a:xfrm>
            <a:off x="7380288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35" name="Line 123"/>
          <p:cNvSpPr/>
          <p:nvPr/>
        </p:nvSpPr>
        <p:spPr>
          <a:xfrm flipH="1">
            <a:off x="7451725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37" name="AutoShape 125"/>
          <p:cNvSpPr>
            <a:spLocks noChangeArrowheads="1"/>
          </p:cNvSpPr>
          <p:nvPr/>
        </p:nvSpPr>
        <p:spPr bwMode="auto">
          <a:xfrm>
            <a:off x="7956550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39" name="Line 127"/>
          <p:cNvSpPr/>
          <p:nvPr/>
        </p:nvSpPr>
        <p:spPr>
          <a:xfrm flipH="1">
            <a:off x="8027988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41" name="AutoShape 129"/>
          <p:cNvSpPr>
            <a:spLocks noChangeArrowheads="1"/>
          </p:cNvSpPr>
          <p:nvPr/>
        </p:nvSpPr>
        <p:spPr bwMode="auto">
          <a:xfrm>
            <a:off x="8532813" y="2997200"/>
            <a:ext cx="144463" cy="14446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22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^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43" name="Line 131"/>
          <p:cNvSpPr/>
          <p:nvPr/>
        </p:nvSpPr>
        <p:spPr>
          <a:xfrm flipH="1">
            <a:off x="8604250" y="2566988"/>
            <a:ext cx="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45" name="AutoShape 133"/>
          <p:cNvSpPr>
            <a:spLocks noChangeArrowheads="1"/>
          </p:cNvSpPr>
          <p:nvPr/>
        </p:nvSpPr>
        <p:spPr bwMode="auto">
          <a:xfrm>
            <a:off x="6230938" y="400526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25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46" name="AutoShape 134"/>
          <p:cNvSpPr>
            <a:spLocks noChangeArrowheads="1"/>
          </p:cNvSpPr>
          <p:nvPr/>
        </p:nvSpPr>
        <p:spPr bwMode="auto">
          <a:xfrm>
            <a:off x="5076825" y="47244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47" name="AutoShape 135"/>
          <p:cNvSpPr>
            <a:spLocks noChangeArrowheads="1"/>
          </p:cNvSpPr>
          <p:nvPr/>
        </p:nvSpPr>
        <p:spPr bwMode="auto">
          <a:xfrm>
            <a:off x="7021513" y="47244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34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48" name="AutoShape 136"/>
          <p:cNvSpPr>
            <a:spLocks noChangeArrowheads="1"/>
          </p:cNvSpPr>
          <p:nvPr/>
        </p:nvSpPr>
        <p:spPr bwMode="auto">
          <a:xfrm>
            <a:off x="7310438" y="47244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43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49" name="AutoShape 137"/>
          <p:cNvSpPr>
            <a:spLocks noChangeArrowheads="1"/>
          </p:cNvSpPr>
          <p:nvPr/>
        </p:nvSpPr>
        <p:spPr bwMode="auto">
          <a:xfrm>
            <a:off x="7597775" y="4724400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49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0" name="AutoShape 138"/>
          <p:cNvSpPr>
            <a:spLocks noChangeArrowheads="1"/>
          </p:cNvSpPr>
          <p:nvPr/>
        </p:nvSpPr>
        <p:spPr bwMode="auto">
          <a:xfrm>
            <a:off x="4716463" y="5446713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1" name="AutoShape 139"/>
          <p:cNvSpPr>
            <a:spLocks noChangeArrowheads="1"/>
          </p:cNvSpPr>
          <p:nvPr/>
        </p:nvSpPr>
        <p:spPr bwMode="auto">
          <a:xfrm>
            <a:off x="5292725" y="5445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19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2" name="AutoShape 140"/>
          <p:cNvSpPr>
            <a:spLocks noChangeArrowheads="1"/>
          </p:cNvSpPr>
          <p:nvPr/>
        </p:nvSpPr>
        <p:spPr bwMode="auto">
          <a:xfrm>
            <a:off x="5581650" y="5445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22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3" name="AutoShape 141"/>
          <p:cNvSpPr>
            <a:spLocks noChangeArrowheads="1"/>
          </p:cNvSpPr>
          <p:nvPr/>
        </p:nvSpPr>
        <p:spPr bwMode="auto">
          <a:xfrm>
            <a:off x="6157913" y="5445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28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4" name="AutoShape 142"/>
          <p:cNvSpPr>
            <a:spLocks noChangeArrowheads="1"/>
          </p:cNvSpPr>
          <p:nvPr/>
        </p:nvSpPr>
        <p:spPr bwMode="auto">
          <a:xfrm>
            <a:off x="6734175" y="5445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37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5" name="AutoShape 143"/>
          <p:cNvSpPr>
            <a:spLocks noChangeArrowheads="1"/>
          </p:cNvSpPr>
          <p:nvPr/>
        </p:nvSpPr>
        <p:spPr bwMode="auto">
          <a:xfrm>
            <a:off x="7021513" y="5445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40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6" name="AutoShape 144"/>
          <p:cNvSpPr>
            <a:spLocks noChangeArrowheads="1"/>
          </p:cNvSpPr>
          <p:nvPr/>
        </p:nvSpPr>
        <p:spPr bwMode="auto">
          <a:xfrm>
            <a:off x="7310438" y="5445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41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7" name="AutoShape 145"/>
          <p:cNvSpPr>
            <a:spLocks noChangeArrowheads="1"/>
          </p:cNvSpPr>
          <p:nvPr/>
        </p:nvSpPr>
        <p:spPr bwMode="auto">
          <a:xfrm>
            <a:off x="7886700" y="5445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46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8" name="AutoShape 146"/>
          <p:cNvSpPr>
            <a:spLocks noChangeArrowheads="1"/>
          </p:cNvSpPr>
          <p:nvPr/>
        </p:nvSpPr>
        <p:spPr bwMode="auto">
          <a:xfrm>
            <a:off x="8462963" y="5445125"/>
            <a:ext cx="287338" cy="2873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4D4D4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52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5459" name="Line 147"/>
          <p:cNvSpPr/>
          <p:nvPr/>
        </p:nvSpPr>
        <p:spPr>
          <a:xfrm>
            <a:off x="6376988" y="3716338"/>
            <a:ext cx="0" cy="288925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60" name="Line 148"/>
          <p:cNvSpPr/>
          <p:nvPr/>
        </p:nvSpPr>
        <p:spPr>
          <a:xfrm flipH="1">
            <a:off x="5222875" y="4292600"/>
            <a:ext cx="100965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61" name="Line 149"/>
          <p:cNvSpPr/>
          <p:nvPr/>
        </p:nvSpPr>
        <p:spPr>
          <a:xfrm flipH="1">
            <a:off x="4859338" y="5013325"/>
            <a:ext cx="21590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62" name="Line 150"/>
          <p:cNvSpPr/>
          <p:nvPr/>
        </p:nvSpPr>
        <p:spPr>
          <a:xfrm>
            <a:off x="5364163" y="5013325"/>
            <a:ext cx="21590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63" name="Line 151"/>
          <p:cNvSpPr/>
          <p:nvPr/>
        </p:nvSpPr>
        <p:spPr>
          <a:xfrm flipH="1">
            <a:off x="6302375" y="5013325"/>
            <a:ext cx="719138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64" name="Line 152"/>
          <p:cNvSpPr/>
          <p:nvPr/>
        </p:nvSpPr>
        <p:spPr>
          <a:xfrm flipH="1">
            <a:off x="7165975" y="5013325"/>
            <a:ext cx="144463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65" name="Line 153"/>
          <p:cNvSpPr/>
          <p:nvPr/>
        </p:nvSpPr>
        <p:spPr>
          <a:xfrm>
            <a:off x="7597775" y="5013325"/>
            <a:ext cx="431800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66" name="Line 154"/>
          <p:cNvSpPr/>
          <p:nvPr/>
        </p:nvSpPr>
        <p:spPr>
          <a:xfrm>
            <a:off x="7885113" y="5013325"/>
            <a:ext cx="720725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67" name="Line 155"/>
          <p:cNvSpPr/>
          <p:nvPr/>
        </p:nvSpPr>
        <p:spPr>
          <a:xfrm>
            <a:off x="6518275" y="4292600"/>
            <a:ext cx="936625" cy="431800"/>
          </a:xfrm>
          <a:prstGeom prst="line">
            <a:avLst/>
          </a:prstGeom>
          <a:ln w="28575" cap="flat" cmpd="sng">
            <a:solidFill>
              <a:srgbClr val="4D4D4D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165468" name="Rectangle 156"/>
          <p:cNvSpPr>
            <a:spLocks noChangeArrowheads="1"/>
          </p:cNvSpPr>
          <p:nvPr/>
        </p:nvSpPr>
        <p:spPr bwMode="auto">
          <a:xfrm>
            <a:off x="3419475" y="549275"/>
            <a:ext cx="576263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(a)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5605" y="3357880"/>
            <a:ext cx="4175125" cy="2952750"/>
            <a:chOff x="623" y="5288"/>
            <a:chExt cx="6575" cy="4650"/>
          </a:xfrm>
        </p:grpSpPr>
        <p:sp>
          <p:nvSpPr>
            <p:cNvPr id="1165317" name="AutoShape 5"/>
            <p:cNvSpPr>
              <a:spLocks noChangeArrowheads="1"/>
            </p:cNvSpPr>
            <p:nvPr/>
          </p:nvSpPr>
          <p:spPr bwMode="auto">
            <a:xfrm>
              <a:off x="3120" y="6308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25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1" name="AutoShape 9"/>
            <p:cNvSpPr>
              <a:spLocks noChangeArrowheads="1"/>
            </p:cNvSpPr>
            <p:nvPr/>
          </p:nvSpPr>
          <p:spPr bwMode="auto">
            <a:xfrm>
              <a:off x="1303" y="7440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3" name="AutoShape 11"/>
            <p:cNvSpPr>
              <a:spLocks noChangeArrowheads="1"/>
            </p:cNvSpPr>
            <p:nvPr/>
          </p:nvSpPr>
          <p:spPr bwMode="auto">
            <a:xfrm>
              <a:off x="4365" y="7440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34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5" name="AutoShape 13"/>
            <p:cNvSpPr>
              <a:spLocks noChangeArrowheads="1"/>
            </p:cNvSpPr>
            <p:nvPr/>
          </p:nvSpPr>
          <p:spPr bwMode="auto">
            <a:xfrm>
              <a:off x="4820" y="7440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43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7" name="AutoShape 15"/>
            <p:cNvSpPr>
              <a:spLocks noChangeArrowheads="1"/>
            </p:cNvSpPr>
            <p:nvPr/>
          </p:nvSpPr>
          <p:spPr bwMode="auto">
            <a:xfrm>
              <a:off x="5273" y="7440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49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9" name="AutoShape 17"/>
            <p:cNvSpPr>
              <a:spLocks noChangeArrowheads="1"/>
            </p:cNvSpPr>
            <p:nvPr/>
          </p:nvSpPr>
          <p:spPr bwMode="auto">
            <a:xfrm>
              <a:off x="735" y="8578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1" name="AutoShape 19"/>
            <p:cNvSpPr>
              <a:spLocks noChangeArrowheads="1"/>
            </p:cNvSpPr>
            <p:nvPr/>
          </p:nvSpPr>
          <p:spPr bwMode="auto">
            <a:xfrm>
              <a:off x="1643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19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3" name="AutoShape 21"/>
            <p:cNvSpPr>
              <a:spLocks noChangeArrowheads="1"/>
            </p:cNvSpPr>
            <p:nvPr/>
          </p:nvSpPr>
          <p:spPr bwMode="auto">
            <a:xfrm>
              <a:off x="2098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22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5" name="AutoShape 23"/>
            <p:cNvSpPr>
              <a:spLocks noChangeArrowheads="1"/>
            </p:cNvSpPr>
            <p:nvPr/>
          </p:nvSpPr>
          <p:spPr bwMode="auto">
            <a:xfrm>
              <a:off x="3005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28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7" name="AutoShape 25"/>
            <p:cNvSpPr>
              <a:spLocks noChangeArrowheads="1"/>
            </p:cNvSpPr>
            <p:nvPr/>
          </p:nvSpPr>
          <p:spPr bwMode="auto">
            <a:xfrm>
              <a:off x="3913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37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9" name="AutoShape 27"/>
            <p:cNvSpPr>
              <a:spLocks noChangeArrowheads="1"/>
            </p:cNvSpPr>
            <p:nvPr/>
          </p:nvSpPr>
          <p:spPr bwMode="auto">
            <a:xfrm>
              <a:off x="4365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41" name="AutoShape 29"/>
            <p:cNvSpPr>
              <a:spLocks noChangeArrowheads="1"/>
            </p:cNvSpPr>
            <p:nvPr/>
          </p:nvSpPr>
          <p:spPr bwMode="auto">
            <a:xfrm>
              <a:off x="4820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41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43" name="AutoShape 31"/>
            <p:cNvSpPr>
              <a:spLocks noChangeArrowheads="1"/>
            </p:cNvSpPr>
            <p:nvPr/>
          </p:nvSpPr>
          <p:spPr bwMode="auto">
            <a:xfrm>
              <a:off x="5728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46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45" name="AutoShape 33"/>
            <p:cNvSpPr>
              <a:spLocks noChangeArrowheads="1"/>
            </p:cNvSpPr>
            <p:nvPr/>
          </p:nvSpPr>
          <p:spPr bwMode="auto">
            <a:xfrm>
              <a:off x="6635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52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68" name="Line 56"/>
            <p:cNvSpPr/>
            <p:nvPr/>
          </p:nvSpPr>
          <p:spPr>
            <a:xfrm>
              <a:off x="3350" y="5853"/>
              <a:ext cx="0" cy="45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0" name="Line 58"/>
            <p:cNvSpPr/>
            <p:nvPr/>
          </p:nvSpPr>
          <p:spPr>
            <a:xfrm flipH="1">
              <a:off x="1533" y="6760"/>
              <a:ext cx="159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2" name="Line 60"/>
            <p:cNvSpPr/>
            <p:nvPr/>
          </p:nvSpPr>
          <p:spPr>
            <a:xfrm flipH="1">
              <a:off x="960" y="7895"/>
              <a:ext cx="34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4" name="Line 62"/>
            <p:cNvSpPr/>
            <p:nvPr/>
          </p:nvSpPr>
          <p:spPr>
            <a:xfrm>
              <a:off x="1755" y="7895"/>
              <a:ext cx="34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6" name="Line 64"/>
            <p:cNvSpPr/>
            <p:nvPr/>
          </p:nvSpPr>
          <p:spPr>
            <a:xfrm flipH="1">
              <a:off x="3233" y="7895"/>
              <a:ext cx="113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8" name="Line 66"/>
            <p:cNvSpPr/>
            <p:nvPr/>
          </p:nvSpPr>
          <p:spPr>
            <a:xfrm flipH="1">
              <a:off x="4593" y="7895"/>
              <a:ext cx="227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80" name="Line 68"/>
            <p:cNvSpPr/>
            <p:nvPr/>
          </p:nvSpPr>
          <p:spPr>
            <a:xfrm>
              <a:off x="5273" y="7895"/>
              <a:ext cx="68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82" name="Line 70"/>
            <p:cNvSpPr/>
            <p:nvPr/>
          </p:nvSpPr>
          <p:spPr>
            <a:xfrm>
              <a:off x="5725" y="7895"/>
              <a:ext cx="1135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84" name="Line 72"/>
            <p:cNvSpPr/>
            <p:nvPr/>
          </p:nvSpPr>
          <p:spPr>
            <a:xfrm>
              <a:off x="3573" y="6760"/>
              <a:ext cx="1475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86" name="AutoShape 74"/>
            <p:cNvSpPr>
              <a:spLocks noChangeArrowheads="1"/>
            </p:cNvSpPr>
            <p:nvPr/>
          </p:nvSpPr>
          <p:spPr bwMode="auto">
            <a:xfrm>
              <a:off x="62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88" name="Line 76"/>
            <p:cNvSpPr/>
            <p:nvPr/>
          </p:nvSpPr>
          <p:spPr>
            <a:xfrm>
              <a:off x="73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90" name="AutoShape 78"/>
            <p:cNvSpPr>
              <a:spLocks noChangeArrowheads="1"/>
            </p:cNvSpPr>
            <p:nvPr/>
          </p:nvSpPr>
          <p:spPr bwMode="auto">
            <a:xfrm>
              <a:off x="107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92" name="Line 80"/>
            <p:cNvSpPr/>
            <p:nvPr/>
          </p:nvSpPr>
          <p:spPr>
            <a:xfrm>
              <a:off x="118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94" name="AutoShape 82"/>
            <p:cNvSpPr>
              <a:spLocks noChangeArrowheads="1"/>
            </p:cNvSpPr>
            <p:nvPr/>
          </p:nvSpPr>
          <p:spPr bwMode="auto">
            <a:xfrm>
              <a:off x="152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96" name="Line 84"/>
            <p:cNvSpPr/>
            <p:nvPr/>
          </p:nvSpPr>
          <p:spPr>
            <a:xfrm>
              <a:off x="163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98" name="AutoShape 86"/>
            <p:cNvSpPr>
              <a:spLocks noChangeArrowheads="1"/>
            </p:cNvSpPr>
            <p:nvPr/>
          </p:nvSpPr>
          <p:spPr bwMode="auto">
            <a:xfrm>
              <a:off x="198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00" name="Line 88"/>
            <p:cNvSpPr/>
            <p:nvPr/>
          </p:nvSpPr>
          <p:spPr>
            <a:xfrm>
              <a:off x="209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02" name="AutoShape 90"/>
            <p:cNvSpPr>
              <a:spLocks noChangeArrowheads="1"/>
            </p:cNvSpPr>
            <p:nvPr/>
          </p:nvSpPr>
          <p:spPr bwMode="auto">
            <a:xfrm>
              <a:off x="2435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04" name="Line 92"/>
            <p:cNvSpPr/>
            <p:nvPr/>
          </p:nvSpPr>
          <p:spPr>
            <a:xfrm>
              <a:off x="2545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06" name="AutoShape 94"/>
            <p:cNvSpPr>
              <a:spLocks noChangeArrowheads="1"/>
            </p:cNvSpPr>
            <p:nvPr/>
          </p:nvSpPr>
          <p:spPr bwMode="auto">
            <a:xfrm>
              <a:off x="288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08" name="Line 96"/>
            <p:cNvSpPr/>
            <p:nvPr/>
          </p:nvSpPr>
          <p:spPr>
            <a:xfrm>
              <a:off x="299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10" name="AutoShape 98"/>
            <p:cNvSpPr>
              <a:spLocks noChangeArrowheads="1"/>
            </p:cNvSpPr>
            <p:nvPr/>
          </p:nvSpPr>
          <p:spPr bwMode="auto">
            <a:xfrm>
              <a:off x="334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12" name="Line 100"/>
            <p:cNvSpPr/>
            <p:nvPr/>
          </p:nvSpPr>
          <p:spPr>
            <a:xfrm>
              <a:off x="345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14" name="AutoShape 102"/>
            <p:cNvSpPr>
              <a:spLocks noChangeArrowheads="1"/>
            </p:cNvSpPr>
            <p:nvPr/>
          </p:nvSpPr>
          <p:spPr bwMode="auto">
            <a:xfrm>
              <a:off x="3795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16" name="Line 104"/>
            <p:cNvSpPr/>
            <p:nvPr/>
          </p:nvSpPr>
          <p:spPr>
            <a:xfrm>
              <a:off x="3905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18" name="AutoShape 106"/>
            <p:cNvSpPr>
              <a:spLocks noChangeArrowheads="1"/>
            </p:cNvSpPr>
            <p:nvPr/>
          </p:nvSpPr>
          <p:spPr bwMode="auto">
            <a:xfrm>
              <a:off x="4250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20" name="Line 108"/>
            <p:cNvSpPr/>
            <p:nvPr/>
          </p:nvSpPr>
          <p:spPr>
            <a:xfrm>
              <a:off x="4360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22" name="AutoShape 110"/>
            <p:cNvSpPr>
              <a:spLocks noChangeArrowheads="1"/>
            </p:cNvSpPr>
            <p:nvPr/>
          </p:nvSpPr>
          <p:spPr bwMode="auto">
            <a:xfrm>
              <a:off x="470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24" name="Line 112"/>
            <p:cNvSpPr/>
            <p:nvPr/>
          </p:nvSpPr>
          <p:spPr>
            <a:xfrm>
              <a:off x="481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26" name="AutoShape 114"/>
            <p:cNvSpPr>
              <a:spLocks noChangeArrowheads="1"/>
            </p:cNvSpPr>
            <p:nvPr/>
          </p:nvSpPr>
          <p:spPr bwMode="auto">
            <a:xfrm>
              <a:off x="515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28" name="Line 116"/>
            <p:cNvSpPr/>
            <p:nvPr/>
          </p:nvSpPr>
          <p:spPr>
            <a:xfrm>
              <a:off x="526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30" name="AutoShape 118"/>
            <p:cNvSpPr>
              <a:spLocks noChangeArrowheads="1"/>
            </p:cNvSpPr>
            <p:nvPr/>
          </p:nvSpPr>
          <p:spPr bwMode="auto">
            <a:xfrm>
              <a:off x="5610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32" name="Line 120"/>
            <p:cNvSpPr/>
            <p:nvPr/>
          </p:nvSpPr>
          <p:spPr>
            <a:xfrm>
              <a:off x="5720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34" name="AutoShape 122"/>
            <p:cNvSpPr>
              <a:spLocks noChangeArrowheads="1"/>
            </p:cNvSpPr>
            <p:nvPr/>
          </p:nvSpPr>
          <p:spPr bwMode="auto">
            <a:xfrm>
              <a:off x="606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36" name="Line 124"/>
            <p:cNvSpPr/>
            <p:nvPr/>
          </p:nvSpPr>
          <p:spPr>
            <a:xfrm>
              <a:off x="617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38" name="AutoShape 126"/>
            <p:cNvSpPr>
              <a:spLocks noChangeArrowheads="1"/>
            </p:cNvSpPr>
            <p:nvPr/>
          </p:nvSpPr>
          <p:spPr bwMode="auto">
            <a:xfrm>
              <a:off x="651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40" name="Line 128"/>
            <p:cNvSpPr/>
            <p:nvPr/>
          </p:nvSpPr>
          <p:spPr>
            <a:xfrm>
              <a:off x="662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42" name="AutoShape 130"/>
            <p:cNvSpPr>
              <a:spLocks noChangeArrowheads="1"/>
            </p:cNvSpPr>
            <p:nvPr/>
          </p:nvSpPr>
          <p:spPr bwMode="auto">
            <a:xfrm>
              <a:off x="6970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44" name="Line 132"/>
            <p:cNvSpPr/>
            <p:nvPr/>
          </p:nvSpPr>
          <p:spPr>
            <a:xfrm>
              <a:off x="7080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69" name="Rectangle 157"/>
            <p:cNvSpPr>
              <a:spLocks noChangeArrowheads="1"/>
            </p:cNvSpPr>
            <p:nvPr/>
          </p:nvSpPr>
          <p:spPr bwMode="auto">
            <a:xfrm>
              <a:off x="2890" y="5288"/>
              <a:ext cx="908" cy="4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(b)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165470" name="Rectangle 158"/>
          <p:cNvSpPr>
            <a:spLocks noChangeArrowheads="1"/>
          </p:cNvSpPr>
          <p:nvPr/>
        </p:nvSpPr>
        <p:spPr bwMode="auto">
          <a:xfrm>
            <a:off x="6083300" y="3357563"/>
            <a:ext cx="576263" cy="28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(c)</a:t>
            </a:r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165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65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1165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165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165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165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1165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65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165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65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1165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1165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165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65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165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165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165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65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1165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165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1165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165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165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65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165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165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1165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165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165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65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5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165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65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4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165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165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6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1165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165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165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65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165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65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1165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165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4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0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165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65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2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165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165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7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165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165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165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1165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1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165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165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165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165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1165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1165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1165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18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1653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1653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1653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653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11653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11653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1653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19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1653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11653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20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1653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11653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22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653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11653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24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653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11653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26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165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11653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2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1653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11653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30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653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653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32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1653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1653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34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1653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11653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36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1653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11653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38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1653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11653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40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1653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1653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42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165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4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6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9" dur="300" fill="hold"/>
                                        <p:tgtEl>
                                          <p:spTgt spid="11653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44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1653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1653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1653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11653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8" dur="300" fill="hold"/>
                                        <p:tgtEl>
                                          <p:spTgt spid="11653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1653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11653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46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1653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1653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1653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11653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0" dur="300" fill="hold"/>
                                        <p:tgtEl>
                                          <p:spTgt spid="11653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11653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11653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47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1653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1653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1653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11653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300" fill="hold"/>
                                        <p:tgtEl>
                                          <p:spTgt spid="11653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11653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11653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48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1653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11653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11653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11653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4" dur="300" fill="hold"/>
                                        <p:tgtEl>
                                          <p:spTgt spid="11653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11653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11653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49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1653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11653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1653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11653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6" dur="300" fill="hold"/>
                                        <p:tgtEl>
                                          <p:spTgt spid="11653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11653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11653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0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1653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11653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11653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6" dur="300" fill="hold"/>
                                        <p:tgtEl>
                                          <p:spTgt spid="11653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8" dur="300" fill="hold"/>
                                        <p:tgtEl>
                                          <p:spTgt spid="11653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9" dur="300" fill="hold"/>
                                        <p:tgtEl>
                                          <p:spTgt spid="11653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300" fill="hold"/>
                                        <p:tgtEl>
                                          <p:spTgt spid="11653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1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1653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165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165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1653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0" dur="300" fill="hold"/>
                                        <p:tgtEl>
                                          <p:spTgt spid="11653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11653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1165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2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1653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1165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1165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0" dur="300" fill="hold"/>
                                        <p:tgtEl>
                                          <p:spTgt spid="11653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2" dur="300" fill="hold"/>
                                        <p:tgtEl>
                                          <p:spTgt spid="11653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3" dur="300" fill="hold"/>
                                        <p:tgtEl>
                                          <p:spTgt spid="11653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5" dur="300" fill="hold"/>
                                        <p:tgtEl>
                                          <p:spTgt spid="1165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3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1653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1653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1653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11653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4" dur="300" fill="hold"/>
                                        <p:tgtEl>
                                          <p:spTgt spid="11653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11653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7" dur="300" fill="hold"/>
                                        <p:tgtEl>
                                          <p:spTgt spid="11653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4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1653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11653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11653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300" fill="hold"/>
                                        <p:tgtEl>
                                          <p:spTgt spid="11653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6" dur="300" fill="hold"/>
                                        <p:tgtEl>
                                          <p:spTgt spid="11653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7" dur="300" fill="hold"/>
                                        <p:tgtEl>
                                          <p:spTgt spid="11653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9" dur="300" fill="hold"/>
                                        <p:tgtEl>
                                          <p:spTgt spid="11653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5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165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165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165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165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1165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1165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300" fill="hold"/>
                                        <p:tgtEl>
                                          <p:spTgt spid="1165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6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165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1165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1165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1165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0" dur="300" fill="hold"/>
                                        <p:tgtEl>
                                          <p:spTgt spid="1165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1165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3" dur="300" fill="hold"/>
                                        <p:tgtEl>
                                          <p:spTgt spid="1165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7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1653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11653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1653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11653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2" dur="300" fill="hold"/>
                                        <p:tgtEl>
                                          <p:spTgt spid="11653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3" dur="300" fill="hold"/>
                                        <p:tgtEl>
                                          <p:spTgt spid="11653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5" dur="300" fill="hold"/>
                                        <p:tgtEl>
                                          <p:spTgt spid="11653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8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165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1165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1165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1165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4" dur="300" fill="hold"/>
                                        <p:tgtEl>
                                          <p:spTgt spid="1165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1165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11653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59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165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165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165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165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6" dur="300" fill="hold"/>
                                        <p:tgtEl>
                                          <p:spTgt spid="1165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1165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1165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60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1653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11653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11653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11653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8" dur="300" fill="hold"/>
                                        <p:tgtEl>
                                          <p:spTgt spid="11653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11653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1" dur="300" fill="hold"/>
                                        <p:tgtEl>
                                          <p:spTgt spid="11653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61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165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11653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1653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11653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0" dur="300" fill="hold"/>
                                        <p:tgtEl>
                                          <p:spTgt spid="1165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1165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3" dur="300" fill="hold"/>
                                        <p:tgtEl>
                                          <p:spTgt spid="11653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62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1653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11653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11653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11653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2" dur="300" fill="hold"/>
                                        <p:tgtEl>
                                          <p:spTgt spid="11653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11653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11653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63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1653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1653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1653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1653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4" dur="300" fill="hold"/>
                                        <p:tgtEl>
                                          <p:spTgt spid="11653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11653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11653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64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1653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11653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11653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11653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6" dur="300" fill="hold"/>
                                        <p:tgtEl>
                                          <p:spTgt spid="11653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7" dur="300" fill="hold"/>
                                        <p:tgtEl>
                                          <p:spTgt spid="11653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9" dur="300" fill="hold"/>
                                        <p:tgtEl>
                                          <p:spTgt spid="11653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65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165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11653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1653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11653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8" dur="300" fill="hold"/>
                                        <p:tgtEl>
                                          <p:spTgt spid="11653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11653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11653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66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1653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11653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11653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67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11653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11653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1653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69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1653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1653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1653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71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1165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11653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1653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73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165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11653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11653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75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1165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6" dur="300" fill="hold"/>
                                        <p:tgtEl>
                                          <p:spTgt spid="11653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1653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77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165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1165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165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79"/>
                  </p:tgtEl>
                </p:cond>
              </p:nextCondLst>
            </p:seq>
            <p:seq concurrent="1" nextAc="seek">
              <p:cTn id="824" restart="whenNotActive" fill="hold" evtFilter="cancelBubble" nodeType="interactiveSeq">
                <p:stCondLst>
                  <p:cond evt="onClick" delay="0">
                    <p:tgtEl>
                      <p:spTgt spid="1165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5" fill="hold">
                      <p:stCondLst>
                        <p:cond delay="0"/>
                      </p:stCondLst>
                      <p:childTnLst>
                        <p:par>
                          <p:cTn id="826" fill="hold">
                            <p:stCondLst>
                              <p:cond delay="0"/>
                            </p:stCondLst>
                            <p:childTnLst>
                              <p:par>
                                <p:cTn id="8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8" dur="300" fill="hold"/>
                                        <p:tgtEl>
                                          <p:spTgt spid="1165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165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81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165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1165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1165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83"/>
                  </p:tgtEl>
                </p:cond>
              </p:nextCondLst>
            </p:seq>
            <p:seq concurrent="1" nextAc="seek">
              <p:cTn id="836" restart="whenNotActive" fill="hold" evtFilter="cancelBubble" nodeType="interactiveSeq">
                <p:stCondLst>
                  <p:cond evt="onClick" delay="0">
                    <p:tgtEl>
                      <p:spTgt spid="1165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7" fill="hold">
                      <p:stCondLst>
                        <p:cond delay="0"/>
                      </p:stCondLst>
                      <p:childTnLst>
                        <p:par>
                          <p:cTn id="838" fill="hold">
                            <p:stCondLst>
                              <p:cond delay="0"/>
                            </p:stCondLst>
                            <p:childTnLst>
                              <p:par>
                                <p:cTn id="83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0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4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5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7" dur="300" fill="hold"/>
                                        <p:tgtEl>
                                          <p:spTgt spid="1165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85"/>
                  </p:tgtEl>
                </p:cond>
              </p:nextCondLst>
            </p:seq>
            <p:seq concurrent="1" nextAc="seek">
              <p:cTn id="848" restart="whenNotActive" fill="hold" evtFilter="cancelBubble" nodeType="interactiveSeq">
                <p:stCondLst>
                  <p:cond evt="onClick" delay="0">
                    <p:tgtEl>
                      <p:spTgt spid="1165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9" fill="hold">
                      <p:stCondLst>
                        <p:cond delay="0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2" dur="300" fill="hold"/>
                                        <p:tgtEl>
                                          <p:spTgt spid="1165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165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87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165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2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3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5" dur="300" fill="hold"/>
                                        <p:tgtEl>
                                          <p:spTgt spid="1165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89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165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1165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1165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91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1165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8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0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1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3" dur="300" fill="hold"/>
                                        <p:tgtEl>
                                          <p:spTgt spid="1165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93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1165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1165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165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95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165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8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9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1" dur="300" fill="hold"/>
                                        <p:tgtEl>
                                          <p:spTgt spid="1165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97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165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11653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11653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399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1165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4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6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7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9" dur="300" fill="hold"/>
                                        <p:tgtEl>
                                          <p:spTgt spid="1165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01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1165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11654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1654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03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165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2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4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5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7" dur="300" fill="hold"/>
                                        <p:tgtEl>
                                          <p:spTgt spid="1165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05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165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2" dur="300" fill="hold"/>
                                        <p:tgtEl>
                                          <p:spTgt spid="1165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3" dur="300" fill="hold"/>
                                        <p:tgtEl>
                                          <p:spTgt spid="1165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07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1165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8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0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2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3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5" dur="300" fill="hold"/>
                                        <p:tgtEl>
                                          <p:spTgt spid="1165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09"/>
                  </p:tgtEl>
                </p:cond>
              </p:nextCondLst>
            </p:seq>
            <p:seq concurrent="1" nextAc="seek">
              <p:cTn id="956" restart="whenNotActive" fill="hold" evtFilter="cancelBubble" nodeType="interactiveSeq">
                <p:stCondLst>
                  <p:cond evt="onClick" delay="0">
                    <p:tgtEl>
                      <p:spTgt spid="1165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7" fill="hold">
                      <p:stCondLst>
                        <p:cond delay="0"/>
                      </p:stCondLst>
                      <p:childTnLst>
                        <p:par>
                          <p:cTn id="958" fill="hold">
                            <p:stCondLst>
                              <p:cond delay="0"/>
                            </p:stCondLst>
                            <p:childTnLst>
                              <p:par>
                                <p:cTn id="9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0" dur="300" fill="hold"/>
                                        <p:tgtEl>
                                          <p:spTgt spid="1165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165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11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165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6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7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8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0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3" dur="300" fill="hold"/>
                                        <p:tgtEl>
                                          <p:spTgt spid="11654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13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165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8" dur="300" fill="hold"/>
                                        <p:tgtEl>
                                          <p:spTgt spid="1165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1165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15"/>
                  </p:tgtEl>
                </p:cond>
              </p:nextCondLst>
            </p:seq>
            <p:seq concurrent="1" nextAc="seek">
              <p:cTn id="980" restart="whenNotActive" fill="hold" evtFilter="cancelBubble" nodeType="interactiveSeq">
                <p:stCondLst>
                  <p:cond evt="onClick" delay="0">
                    <p:tgtEl>
                      <p:spTgt spid="1165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id="98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4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6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8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9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1" dur="300" fill="hold"/>
                                        <p:tgtEl>
                                          <p:spTgt spid="11654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17"/>
                  </p:tgtEl>
                </p:cond>
              </p:nextCondLst>
            </p:seq>
            <p:seq concurrent="1" nextAc="seek">
              <p:cTn id="992" restart="whenNotActive" fill="hold" evtFilter="cancelBubble" nodeType="interactiveSeq">
                <p:stCondLst>
                  <p:cond evt="onClick" delay="0">
                    <p:tgtEl>
                      <p:spTgt spid="1165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3" fill="hold">
                      <p:stCondLst>
                        <p:cond delay="0"/>
                      </p:stCondLst>
                      <p:childTnLst>
                        <p:par>
                          <p:cTn id="994" fill="hold">
                            <p:stCondLst>
                              <p:cond delay="0"/>
                            </p:stCondLst>
                            <p:childTnLst>
                              <p:par>
                                <p:cTn id="9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6" dur="300" fill="hold"/>
                                        <p:tgtEl>
                                          <p:spTgt spid="1165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165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19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1165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2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3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4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6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9" dur="300" fill="hold"/>
                                        <p:tgtEl>
                                          <p:spTgt spid="11654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21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165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4" dur="300" fill="hold"/>
                                        <p:tgtEl>
                                          <p:spTgt spid="1165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5" dur="300" fill="hold"/>
                                        <p:tgtEl>
                                          <p:spTgt spid="1165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23"/>
                  </p:tgtEl>
                </p:cond>
              </p:nextCondLst>
            </p:seq>
            <p:seq concurrent="1" nextAc="seek">
              <p:cTn id="1016" restart="whenNotActive" fill="hold" evtFilter="cancelBubble" nodeType="interactiveSeq">
                <p:stCondLst>
                  <p:cond evt="onClick" delay="0">
                    <p:tgtEl>
                      <p:spTgt spid="1165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7" fill="hold">
                      <p:stCondLst>
                        <p:cond delay="0"/>
                      </p:stCondLst>
                      <p:childTnLst>
                        <p:par>
                          <p:cTn id="1018" fill="hold">
                            <p:stCondLst>
                              <p:cond delay="0"/>
                            </p:stCondLst>
                            <p:childTnLst>
                              <p:par>
                                <p:cTn id="101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0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2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4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5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7" dur="300" fill="hold"/>
                                        <p:tgtEl>
                                          <p:spTgt spid="1165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25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1165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2" dur="300" fill="hold"/>
                                        <p:tgtEl>
                                          <p:spTgt spid="1165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3" dur="300" fill="hold"/>
                                        <p:tgtEl>
                                          <p:spTgt spid="1165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27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165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0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2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3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5" dur="300" fill="hold"/>
                                        <p:tgtEl>
                                          <p:spTgt spid="1165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29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165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1165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1165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31"/>
                  </p:tgtEl>
                </p:cond>
              </p:nextCondLst>
            </p:seq>
            <p:seq concurrent="1" nextAc="seek">
              <p:cTn id="1052" restart="whenNotActive" fill="hold" evtFilter="cancelBubble" nodeType="interactiveSeq">
                <p:stCondLst>
                  <p:cond evt="onClick" delay="0">
                    <p:tgtEl>
                      <p:spTgt spid="1165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3" fill="hold">
                      <p:stCondLst>
                        <p:cond delay="0"/>
                      </p:stCondLst>
                      <p:childTnLst>
                        <p:par>
                          <p:cTn id="1054" fill="hold">
                            <p:stCondLst>
                              <p:cond delay="0"/>
                            </p:stCondLst>
                            <p:childTnLst>
                              <p:par>
                                <p:cTn id="105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0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1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3" dur="300" fill="hold"/>
                                        <p:tgtEl>
                                          <p:spTgt spid="1165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33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1165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1165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165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35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165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6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8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9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1" dur="300" fill="hold"/>
                                        <p:tgtEl>
                                          <p:spTgt spid="1165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37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165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1165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1165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39"/>
                  </p:tgtEl>
                </p:cond>
              </p:nextCondLst>
            </p:seq>
            <p:seq concurrent="1" nextAc="seek">
              <p:cTn id="1088" restart="whenNotActive" fill="hold" evtFilter="cancelBubble" nodeType="interactiveSeq">
                <p:stCondLst>
                  <p:cond evt="onClick" delay="0">
                    <p:tgtEl>
                      <p:spTgt spid="1165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9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4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6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9" dur="300" fill="hold"/>
                                        <p:tgtEl>
                                          <p:spTgt spid="1165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41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1165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1165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165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43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1165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1165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1165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3" dur="300" fill="hold"/>
                                        <p:tgtEl>
                                          <p:spTgt spid="1165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5" dur="300" fill="hold"/>
                                        <p:tgtEl>
                                          <p:spTgt spid="1165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6" dur="300" fill="hold"/>
                                        <p:tgtEl>
                                          <p:spTgt spid="1165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165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45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165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1165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1165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5" dur="300" fill="hold"/>
                                        <p:tgtEl>
                                          <p:spTgt spid="1165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7" dur="300" fill="hold"/>
                                        <p:tgtEl>
                                          <p:spTgt spid="1165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8" dur="300" fill="hold"/>
                                        <p:tgtEl>
                                          <p:spTgt spid="1165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165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46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165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4" dur="300" fill="hold"/>
                                        <p:tgtEl>
                                          <p:spTgt spid="1165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5" dur="300" fill="hold"/>
                                        <p:tgtEl>
                                          <p:spTgt spid="1165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7" dur="300" fill="hold"/>
                                        <p:tgtEl>
                                          <p:spTgt spid="1165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9" dur="300" fill="hold"/>
                                        <p:tgtEl>
                                          <p:spTgt spid="1165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0" dur="300" fill="hold"/>
                                        <p:tgtEl>
                                          <p:spTgt spid="1165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165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47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165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6" dur="300" fill="hold"/>
                                        <p:tgtEl>
                                          <p:spTgt spid="1165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1165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9" dur="300" fill="hold"/>
                                        <p:tgtEl>
                                          <p:spTgt spid="1165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1" dur="300" fill="hold"/>
                                        <p:tgtEl>
                                          <p:spTgt spid="1165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2" dur="300" fill="hold"/>
                                        <p:tgtEl>
                                          <p:spTgt spid="1165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165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48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165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8" dur="300" fill="hold"/>
                                        <p:tgtEl>
                                          <p:spTgt spid="1165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9" dur="300" fill="hold"/>
                                        <p:tgtEl>
                                          <p:spTgt spid="1165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1" dur="300" fill="hold"/>
                                        <p:tgtEl>
                                          <p:spTgt spid="1165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3" dur="300" fill="hold"/>
                                        <p:tgtEl>
                                          <p:spTgt spid="1165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4" dur="300" fill="hold"/>
                                        <p:tgtEl>
                                          <p:spTgt spid="1165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165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49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165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0" dur="300" fill="hold"/>
                                        <p:tgtEl>
                                          <p:spTgt spid="1165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1" dur="300" fill="hold"/>
                                        <p:tgtEl>
                                          <p:spTgt spid="1165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3" dur="300" fill="hold"/>
                                        <p:tgtEl>
                                          <p:spTgt spid="1165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5" dur="300" fill="hold"/>
                                        <p:tgtEl>
                                          <p:spTgt spid="1165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6" dur="300" fill="hold"/>
                                        <p:tgtEl>
                                          <p:spTgt spid="1165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165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0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165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2" dur="300" fill="hold"/>
                                        <p:tgtEl>
                                          <p:spTgt spid="1165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3" dur="300" fill="hold"/>
                                        <p:tgtEl>
                                          <p:spTgt spid="1165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5" dur="300" fill="hold"/>
                                        <p:tgtEl>
                                          <p:spTgt spid="1165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7" dur="300" fill="hold"/>
                                        <p:tgtEl>
                                          <p:spTgt spid="1165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8" dur="300" fill="hold"/>
                                        <p:tgtEl>
                                          <p:spTgt spid="1165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165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1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165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4" dur="300" fill="hold"/>
                                        <p:tgtEl>
                                          <p:spTgt spid="1165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1165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7" dur="300" fill="hold"/>
                                        <p:tgtEl>
                                          <p:spTgt spid="1165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9" dur="300" fill="hold"/>
                                        <p:tgtEl>
                                          <p:spTgt spid="1165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0" dur="300" fill="hold"/>
                                        <p:tgtEl>
                                          <p:spTgt spid="1165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165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2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165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6" dur="300" fill="hold"/>
                                        <p:tgtEl>
                                          <p:spTgt spid="1165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1165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9" dur="300" fill="hold"/>
                                        <p:tgtEl>
                                          <p:spTgt spid="1165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1" dur="300" fill="hold"/>
                                        <p:tgtEl>
                                          <p:spTgt spid="1165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2" dur="300" fill="hold"/>
                                        <p:tgtEl>
                                          <p:spTgt spid="1165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165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3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165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8" dur="300" fill="hold"/>
                                        <p:tgtEl>
                                          <p:spTgt spid="1165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1165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1" dur="300" fill="hold"/>
                                        <p:tgtEl>
                                          <p:spTgt spid="1165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3" dur="300" fill="hold"/>
                                        <p:tgtEl>
                                          <p:spTgt spid="1165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4" dur="300" fill="hold"/>
                                        <p:tgtEl>
                                          <p:spTgt spid="1165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5" dur="300" fill="hold"/>
                                        <p:tgtEl>
                                          <p:spTgt spid="1165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4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165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0" dur="300" fill="hold"/>
                                        <p:tgtEl>
                                          <p:spTgt spid="1165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1165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3" dur="300" fill="hold"/>
                                        <p:tgtEl>
                                          <p:spTgt spid="1165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5" dur="300" fill="hold"/>
                                        <p:tgtEl>
                                          <p:spTgt spid="1165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6" dur="300" fill="hold"/>
                                        <p:tgtEl>
                                          <p:spTgt spid="1165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1165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5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165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2" dur="300" fill="hold"/>
                                        <p:tgtEl>
                                          <p:spTgt spid="1165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3" dur="300" fill="hold"/>
                                        <p:tgtEl>
                                          <p:spTgt spid="1165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5" dur="300" fill="hold"/>
                                        <p:tgtEl>
                                          <p:spTgt spid="1165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7" dur="300" fill="hold"/>
                                        <p:tgtEl>
                                          <p:spTgt spid="1165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8" dur="300" fill="hold"/>
                                        <p:tgtEl>
                                          <p:spTgt spid="1165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165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6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165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4" dur="300" fill="hold"/>
                                        <p:tgtEl>
                                          <p:spTgt spid="1165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5" dur="300" fill="hold"/>
                                        <p:tgtEl>
                                          <p:spTgt spid="1165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7" dur="300" fill="hold"/>
                                        <p:tgtEl>
                                          <p:spTgt spid="1165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9" dur="300" fill="hold"/>
                                        <p:tgtEl>
                                          <p:spTgt spid="1165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0" dur="300" fill="hold"/>
                                        <p:tgtEl>
                                          <p:spTgt spid="1165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165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7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165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6" dur="300" fill="hold"/>
                                        <p:tgtEl>
                                          <p:spTgt spid="1165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7" dur="300" fill="hold"/>
                                        <p:tgtEl>
                                          <p:spTgt spid="1165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9" dur="300" fill="hold"/>
                                        <p:tgtEl>
                                          <p:spTgt spid="1165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1" dur="300" fill="hold"/>
                                        <p:tgtEl>
                                          <p:spTgt spid="1165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2" dur="300" fill="hold"/>
                                        <p:tgtEl>
                                          <p:spTgt spid="1165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165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8"/>
                  </p:tgtEl>
                </p:cond>
              </p:nextCondLst>
            </p:seq>
            <p:seq concurrent="1" nextAc="seek">
              <p:cTn id="1274" restart="whenNotActive" fill="hold" evtFilter="cancelBubble" nodeType="interactiveSeq">
                <p:stCondLst>
                  <p:cond evt="onClick" delay="0">
                    <p:tgtEl>
                      <p:spTgt spid="1165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5" fill="hold">
                      <p:stCondLst>
                        <p:cond delay="0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8" dur="300" fill="hold"/>
                                        <p:tgtEl>
                                          <p:spTgt spid="1165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1165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59"/>
                  </p:tgtEl>
                </p:cond>
              </p:nextCondLst>
            </p:seq>
            <p:seq concurrent="1" nextAc="seek">
              <p:cTn id="1280" restart="whenNotActive" fill="hold" evtFilter="cancelBubble" nodeType="interactiveSeq">
                <p:stCondLst>
                  <p:cond evt="onClick" delay="0">
                    <p:tgtEl>
                      <p:spTgt spid="1165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1" fill="hold">
                      <p:stCondLst>
                        <p:cond delay="0"/>
                      </p:stCondLst>
                      <p:childTnLst>
                        <p:par>
                          <p:cTn id="1282" fill="hold">
                            <p:stCondLst>
                              <p:cond delay="0"/>
                            </p:stCondLst>
                            <p:childTnLst>
                              <p:par>
                                <p:cTn id="1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1165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165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60"/>
                  </p:tgtEl>
                </p:cond>
              </p:nextCondLst>
            </p:seq>
            <p:seq concurrent="1" nextAc="seek">
              <p:cTn id="1286" restart="whenNotActive" fill="hold" evtFilter="cancelBubble" nodeType="interactiveSeq">
                <p:stCondLst>
                  <p:cond evt="onClick" delay="0">
                    <p:tgtEl>
                      <p:spTgt spid="1165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7" fill="hold">
                      <p:stCondLst>
                        <p:cond delay="0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0" dur="300" fill="hold"/>
                                        <p:tgtEl>
                                          <p:spTgt spid="1165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1" dur="300" fill="hold"/>
                                        <p:tgtEl>
                                          <p:spTgt spid="1165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61"/>
                  </p:tgtEl>
                </p:cond>
              </p:nextCondLst>
            </p:seq>
            <p:seq concurrent="1" nextAc="seek">
              <p:cTn id="1292" restart="whenNotActive" fill="hold" evtFilter="cancelBubble" nodeType="interactiveSeq">
                <p:stCondLst>
                  <p:cond evt="onClick" delay="0">
                    <p:tgtEl>
                      <p:spTgt spid="1165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3" fill="hold">
                      <p:stCondLst>
                        <p:cond delay="0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6" dur="300" fill="hold"/>
                                        <p:tgtEl>
                                          <p:spTgt spid="1165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1165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62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1165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2" dur="300" fill="hold"/>
                                        <p:tgtEl>
                                          <p:spTgt spid="1165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1165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63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1165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8" dur="300" fill="hold"/>
                                        <p:tgtEl>
                                          <p:spTgt spid="1165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1165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64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1165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4" dur="300" fill="hold"/>
                                        <p:tgtEl>
                                          <p:spTgt spid="11654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11654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65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1165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0" dur="300" fill="hold"/>
                                        <p:tgtEl>
                                          <p:spTgt spid="1165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1165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66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1165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6" dur="300" fill="hold"/>
                                        <p:tgtEl>
                                          <p:spTgt spid="1165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7" dur="300" fill="hold"/>
                                        <p:tgtEl>
                                          <p:spTgt spid="1165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67"/>
                  </p:tgtEl>
                </p:cond>
              </p:nextCondLst>
            </p:seq>
            <p:seq concurrent="1" nextAc="seek">
              <p:cTn id="1328" restart="whenNotActive" fill="hold" evtFilter="cancelBubble" nodeType="interactiveSeq">
                <p:stCondLst>
                  <p:cond evt="onClick" delay="0">
                    <p:tgtEl>
                      <p:spTgt spid="1165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9" fill="hold">
                      <p:stCondLst>
                        <p:cond delay="0"/>
                      </p:stCondLst>
                      <p:childTnLst>
                        <p:par>
                          <p:cTn id="1330" fill="hold">
                            <p:stCondLst>
                              <p:cond delay="0"/>
                            </p:stCondLst>
                            <p:childTnLst>
                              <p:par>
                                <p:cTn id="1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2" dur="300" fill="hold"/>
                                        <p:tgtEl>
                                          <p:spTgt spid="1165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68"/>
                  </p:tgtEl>
                </p:cond>
              </p:nextCondLst>
            </p:seq>
            <p:seq concurrent="1" nextAc="seek">
              <p:cTn id="1333" restart="whenNotActive" fill="hold" evtFilter="cancelBubble" nodeType="interactiveSeq">
                <p:stCondLst>
                  <p:cond evt="onClick" delay="0">
                    <p:tgtEl>
                      <p:spTgt spid="1165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4" fill="hold">
                      <p:stCondLst>
                        <p:cond delay="0"/>
                      </p:stCondLst>
                      <p:childTnLst>
                        <p:par>
                          <p:cTn id="1335" fill="hold">
                            <p:stCondLst>
                              <p:cond delay="0"/>
                            </p:stCondLst>
                            <p:childTnLst>
                              <p:par>
                                <p:cTn id="1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7" dur="300" fill="hold"/>
                                        <p:tgtEl>
                                          <p:spTgt spid="1165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65470"/>
                  </p:tgtEl>
                </p:cond>
              </p:nextCondLst>
            </p:seq>
          </p:childTnLst>
        </p:cTn>
      </p:par>
    </p:tnLst>
    <p:bldLst>
      <p:bldP spid="1165316" grpId="0" bldLvl="0" animBg="1"/>
      <p:bldP spid="1165316" grpId="1" animBg="1"/>
      <p:bldP spid="1165316" grpId="2" animBg="1"/>
      <p:bldP spid="1165318" grpId="0" bldLvl="0" animBg="1"/>
      <p:bldP spid="1165318" grpId="1" animBg="1"/>
      <p:bldP spid="1165319" grpId="0" bldLvl="0" animBg="1"/>
      <p:bldP spid="1165319" grpId="1" animBg="1"/>
      <p:bldP spid="1165320" grpId="0" bldLvl="0" animBg="1"/>
      <p:bldP spid="1165320" grpId="1" animBg="1"/>
      <p:bldP spid="1165320" grpId="2" animBg="1"/>
      <p:bldP spid="1165322" grpId="0" bldLvl="0" animBg="1"/>
      <p:bldP spid="1165322" grpId="1" animBg="1"/>
      <p:bldP spid="1165322" grpId="2" animBg="1"/>
      <p:bldP spid="1165324" grpId="0" bldLvl="0" animBg="1"/>
      <p:bldP spid="1165324" grpId="1" animBg="1"/>
      <p:bldP spid="1165324" grpId="2" animBg="1"/>
      <p:bldP spid="1165326" grpId="0" bldLvl="0" animBg="1"/>
      <p:bldP spid="1165326" grpId="1" animBg="1"/>
      <p:bldP spid="1165326" grpId="2" animBg="1"/>
      <p:bldP spid="1165328" grpId="0" bldLvl="0" animBg="1"/>
      <p:bldP spid="1165328" grpId="1" animBg="1"/>
      <p:bldP spid="1165328" grpId="2" animBg="1"/>
      <p:bldP spid="1165330" grpId="0" bldLvl="0" animBg="1"/>
      <p:bldP spid="1165330" grpId="1" animBg="1"/>
      <p:bldP spid="1165330" grpId="2" animBg="1"/>
      <p:bldP spid="1165332" grpId="0" bldLvl="0" animBg="1"/>
      <p:bldP spid="1165332" grpId="1" animBg="1"/>
      <p:bldP spid="1165332" grpId="2" animBg="1"/>
      <p:bldP spid="1165334" grpId="0" bldLvl="0" animBg="1"/>
      <p:bldP spid="1165334" grpId="1" animBg="1"/>
      <p:bldP spid="1165334" grpId="2" animBg="1"/>
      <p:bldP spid="1165336" grpId="0" bldLvl="0" animBg="1"/>
      <p:bldP spid="1165336" grpId="1" animBg="1"/>
      <p:bldP spid="1165336" grpId="2" animBg="1"/>
      <p:bldP spid="1165338" grpId="0" bldLvl="0" animBg="1"/>
      <p:bldP spid="1165338" grpId="1" animBg="1"/>
      <p:bldP spid="1165338" grpId="2" animBg="1"/>
      <p:bldP spid="1165340" grpId="0" bldLvl="0" animBg="1"/>
      <p:bldP spid="1165340" grpId="1" animBg="1"/>
      <p:bldP spid="1165340" grpId="2" animBg="1"/>
      <p:bldP spid="1165342" grpId="0" bldLvl="0" animBg="1"/>
      <p:bldP spid="1165342" grpId="1" animBg="1"/>
      <p:bldP spid="1165342" grpId="2" animBg="1"/>
      <p:bldP spid="1165344" grpId="0" bldLvl="0" animBg="1"/>
      <p:bldP spid="1165344" grpId="1" animBg="1"/>
      <p:bldP spid="1165344" grpId="2" animBg="1"/>
      <p:bldP spid="1165346" grpId="0" bldLvl="0" animBg="1"/>
      <p:bldP spid="1165346" grpId="1" animBg="1"/>
      <p:bldP spid="1165347" grpId="0" bldLvl="0" animBg="1"/>
      <p:bldP spid="1165347" grpId="1" animBg="1"/>
      <p:bldP spid="1165348" grpId="0" bldLvl="0" animBg="1"/>
      <p:bldP spid="1165348" grpId="1" animBg="1"/>
      <p:bldP spid="1165349" grpId="0" bldLvl="0" animBg="1"/>
      <p:bldP spid="1165349" grpId="1" animBg="1"/>
      <p:bldP spid="1165350" grpId="0" bldLvl="0" animBg="1"/>
      <p:bldP spid="1165350" grpId="1" animBg="1"/>
      <p:bldP spid="1165351" grpId="0" bldLvl="0" animBg="1"/>
      <p:bldP spid="1165351" grpId="1" animBg="1"/>
      <p:bldP spid="1165352" grpId="0" bldLvl="0" animBg="1"/>
      <p:bldP spid="1165352" grpId="1" animBg="1"/>
      <p:bldP spid="1165353" grpId="0" bldLvl="0" animBg="1"/>
      <p:bldP spid="1165353" grpId="1" animBg="1"/>
      <p:bldP spid="1165354" grpId="0" bldLvl="0" animBg="1"/>
      <p:bldP spid="1165354" grpId="1" animBg="1"/>
      <p:bldP spid="1165355" grpId="0" bldLvl="0" animBg="1"/>
      <p:bldP spid="1165355" grpId="1" animBg="1"/>
      <p:bldP spid="1165356" grpId="0" bldLvl="0" animBg="1"/>
      <p:bldP spid="1165356" grpId="1" animBg="1"/>
      <p:bldP spid="1165357" grpId="0" bldLvl="0" animBg="1"/>
      <p:bldP spid="1165357" grpId="1" animBg="1"/>
      <p:bldP spid="1165358" grpId="0" bldLvl="0" animBg="1"/>
      <p:bldP spid="1165358" grpId="1" animBg="1"/>
      <p:bldP spid="1165359" grpId="0" bldLvl="0" animBg="1"/>
      <p:bldP spid="1165359" grpId="1" animBg="1"/>
      <p:bldP spid="1165360" grpId="0" bldLvl="0" animBg="1"/>
      <p:bldP spid="1165360" grpId="1" animBg="1"/>
      <p:bldP spid="1165361" grpId="0" bldLvl="0" animBg="1"/>
      <p:bldP spid="1165361" grpId="1" animBg="1"/>
      <p:bldP spid="1165362" grpId="0" bldLvl="0" animBg="1"/>
      <p:bldP spid="1165362" grpId="1" animBg="1"/>
      <p:bldP spid="1165363" grpId="0" bldLvl="0" animBg="1"/>
      <p:bldP spid="1165363" grpId="1" animBg="1"/>
      <p:bldP spid="1165364" grpId="0" bldLvl="0" animBg="1"/>
      <p:bldP spid="1165364" grpId="1" animBg="1"/>
      <p:bldP spid="1165365" grpId="0" bldLvl="0" animBg="1"/>
      <p:bldP spid="1165365" grpId="1" animBg="1"/>
      <p:bldP spid="1165366" grpId="0" bldLvl="0" animBg="1"/>
      <p:bldP spid="1165366" grpId="1" animBg="1"/>
      <p:bldP spid="1165385" grpId="0" bldLvl="0" animBg="1"/>
      <p:bldP spid="1165385" grpId="1" animBg="1"/>
      <p:bldP spid="1165385" grpId="2" animBg="1"/>
      <p:bldP spid="1165389" grpId="0" bldLvl="0" animBg="1"/>
      <p:bldP spid="1165389" grpId="1" animBg="1"/>
      <p:bldP spid="1165389" grpId="2" animBg="1"/>
      <p:bldP spid="1165393" grpId="0" bldLvl="0" animBg="1"/>
      <p:bldP spid="1165393" grpId="1" animBg="1"/>
      <p:bldP spid="1165393" grpId="2" animBg="1"/>
      <p:bldP spid="1165397" grpId="0" bldLvl="0" animBg="1"/>
      <p:bldP spid="1165397" grpId="1" animBg="1"/>
      <p:bldP spid="1165397" grpId="2" animBg="1"/>
      <p:bldP spid="1165401" grpId="0" bldLvl="0" animBg="1"/>
      <p:bldP spid="1165401" grpId="1" animBg="1"/>
      <p:bldP spid="1165401" grpId="2" animBg="1"/>
      <p:bldP spid="1165405" grpId="0" bldLvl="0" animBg="1"/>
      <p:bldP spid="1165405" grpId="1" animBg="1"/>
      <p:bldP spid="1165405" grpId="2" animBg="1"/>
      <p:bldP spid="1165409" grpId="0" bldLvl="0" animBg="1"/>
      <p:bldP spid="1165409" grpId="1" animBg="1"/>
      <p:bldP spid="1165409" grpId="2" animBg="1"/>
      <p:bldP spid="1165413" grpId="0" bldLvl="0" animBg="1"/>
      <p:bldP spid="1165413" grpId="1" animBg="1"/>
      <p:bldP spid="1165413" grpId="2" animBg="1"/>
      <p:bldP spid="1165417" grpId="0" bldLvl="0" animBg="1"/>
      <p:bldP spid="1165417" grpId="1" animBg="1"/>
      <p:bldP spid="1165417" grpId="2" animBg="1"/>
      <p:bldP spid="1165421" grpId="0" bldLvl="0" animBg="1"/>
      <p:bldP spid="1165421" grpId="1" animBg="1"/>
      <p:bldP spid="1165421" grpId="2" animBg="1"/>
      <p:bldP spid="1165425" grpId="0" bldLvl="0" animBg="1"/>
      <p:bldP spid="1165425" grpId="1" animBg="1"/>
      <p:bldP spid="1165425" grpId="2" animBg="1"/>
      <p:bldP spid="1165429" grpId="0" bldLvl="0" animBg="1"/>
      <p:bldP spid="1165429" grpId="1" animBg="1"/>
      <p:bldP spid="1165429" grpId="2" animBg="1"/>
      <p:bldP spid="1165433" grpId="0" bldLvl="0" animBg="1"/>
      <p:bldP spid="1165433" grpId="1" animBg="1"/>
      <p:bldP spid="1165433" grpId="2" animBg="1"/>
      <p:bldP spid="1165437" grpId="0" bldLvl="0" animBg="1"/>
      <p:bldP spid="1165437" grpId="1" animBg="1"/>
      <p:bldP spid="1165437" grpId="2" animBg="1"/>
      <p:bldP spid="1165441" grpId="0" bldLvl="0" animBg="1"/>
      <p:bldP spid="1165441" grpId="1" animBg="1"/>
      <p:bldP spid="1165441" grpId="2" animBg="1"/>
      <p:bldP spid="1165445" grpId="0" animBg="1"/>
      <p:bldP spid="1165446" grpId="0" animBg="1"/>
      <p:bldP spid="1165447" grpId="0" animBg="1"/>
      <p:bldP spid="1165448" grpId="0" animBg="1"/>
      <p:bldP spid="1165449" grpId="0" animBg="1"/>
      <p:bldP spid="1165450" grpId="0" animBg="1"/>
      <p:bldP spid="1165451" grpId="0" animBg="1"/>
      <p:bldP spid="1165452" grpId="0" animBg="1"/>
      <p:bldP spid="1165453" grpId="0" animBg="1"/>
      <p:bldP spid="1165454" grpId="0" animBg="1"/>
      <p:bldP spid="1165455" grpId="0" animBg="1"/>
      <p:bldP spid="1165456" grpId="0" animBg="1"/>
      <p:bldP spid="1165457" grpId="0" animBg="1"/>
      <p:bldP spid="1165458" grpId="0" animBg="1"/>
      <p:bldP spid="1165468" grpId="0"/>
      <p:bldP spid="116547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m</a:t>
            </a:r>
            <a:r>
              <a:rPr lang="zh-CN" altLang="en-US" smtClean="0"/>
              <a:t>叉搜索树</a:t>
            </a:r>
            <a:endParaRPr lang="zh-CN" altLang="en-US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zh-CN" altLang="en-US" smtClean="0">
                <a:solidFill>
                  <a:srgbClr val="0000FF"/>
                </a:solidFill>
              </a:rPr>
              <a:t>定义</a:t>
            </a:r>
            <a:r>
              <a:rPr lang="zh-CN" altLang="en-US" smtClean="0"/>
              <a:t>：</a:t>
            </a:r>
            <a:r>
              <a:rPr lang="en-US" altLang="zh-CN" i="1" smtClean="0">
                <a:solidFill>
                  <a:srgbClr val="0000FF"/>
                </a:solidFill>
              </a:rPr>
              <a:t>m</a:t>
            </a:r>
            <a:r>
              <a:rPr lang="zh-CN" altLang="en-US" smtClean="0">
                <a:solidFill>
                  <a:srgbClr val="0000FF"/>
                </a:solidFill>
              </a:rPr>
              <a:t>叉搜索树</a:t>
            </a:r>
            <a:r>
              <a:rPr lang="zh-CN" altLang="en-US" smtClean="0"/>
              <a:t>（</a:t>
            </a:r>
            <a:r>
              <a:rPr lang="en-US" altLang="zh-CN" i="1" smtClean="0">
                <a:solidFill>
                  <a:schemeClr val="hlink"/>
                </a:solidFill>
              </a:rPr>
              <a:t>m</a:t>
            </a:r>
            <a:r>
              <a:rPr lang="en-US" altLang="zh-CN" smtClean="0">
                <a:solidFill>
                  <a:schemeClr val="hlink"/>
                </a:solidFill>
              </a:rPr>
              <a:t>-way search tree</a:t>
            </a:r>
            <a:r>
              <a:rPr lang="zh-CN" altLang="en-US" smtClean="0"/>
              <a:t>）可以是一棵空树，</a:t>
            </a:r>
            <a:br>
              <a:rPr lang="zh-CN" altLang="en-US" smtClean="0"/>
            </a:br>
            <a:r>
              <a:rPr lang="zh-CN" altLang="en-US" smtClean="0"/>
              <a:t>如果非空，它必须满足：</a:t>
            </a:r>
            <a:endParaRPr lang="zh-CN" altLang="en-US" smtClean="0"/>
          </a:p>
          <a:p>
            <a:pPr marL="533400" indent="-5334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在相应的扩充搜索树中（用外部节点替换零指针），</a:t>
            </a:r>
            <a:r>
              <a:rPr lang="zh-CN" altLang="en-US" smtClean="0">
                <a:solidFill>
                  <a:srgbClr val="FF0000"/>
                </a:solidFill>
              </a:rPr>
              <a:t>每个内部节点最多可以有</a:t>
            </a:r>
            <a:r>
              <a:rPr lang="en-US" altLang="zh-CN" i="1" smtClean="0">
                <a:solidFill>
                  <a:srgbClr val="FF0000"/>
                </a:solidFill>
              </a:rPr>
              <a:t>m</a:t>
            </a:r>
            <a:r>
              <a:rPr lang="zh-CN" altLang="en-US" smtClean="0">
                <a:solidFill>
                  <a:srgbClr val="FF0000"/>
                </a:solidFill>
              </a:rPr>
              <a:t>个子女及</a:t>
            </a:r>
            <a:r>
              <a:rPr lang="en-US" altLang="zh-CN" smtClean="0">
                <a:solidFill>
                  <a:srgbClr val="FF0000"/>
                </a:solidFill>
              </a:rPr>
              <a:t>1</a:t>
            </a:r>
            <a:r>
              <a:rPr lang="zh-CN" altLang="en-US" smtClean="0">
                <a:solidFill>
                  <a:srgbClr val="FF0000"/>
                </a:solidFill>
              </a:rPr>
              <a:t>～</a:t>
            </a:r>
            <a:r>
              <a:rPr lang="en-US" altLang="zh-CN" i="1" smtClean="0">
                <a:solidFill>
                  <a:srgbClr val="FF0000"/>
                </a:solidFill>
              </a:rPr>
              <a:t>m</a:t>
            </a:r>
            <a:r>
              <a:rPr lang="en-US" altLang="zh-CN" smtClean="0">
                <a:solidFill>
                  <a:srgbClr val="FF0000"/>
                </a:solidFill>
              </a:rPr>
              <a:t>-1</a:t>
            </a:r>
            <a:r>
              <a:rPr lang="zh-CN" altLang="en-US" smtClean="0">
                <a:solidFill>
                  <a:srgbClr val="FF0000"/>
                </a:solidFill>
              </a:rPr>
              <a:t>个元素</a:t>
            </a:r>
            <a:r>
              <a:rPr lang="zh-CN" altLang="en-US" smtClean="0"/>
              <a:t>（外部节点不含元素和子女）</a:t>
            </a:r>
            <a:endParaRPr lang="zh-CN" altLang="en-US" smtClean="0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7E6E10-C4DF-4251-9D4F-2151FCBEF45E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m</a:t>
            </a:r>
            <a:r>
              <a:rPr lang="zh-CN" altLang="en-US" smtClean="0"/>
              <a:t>叉搜索树</a:t>
            </a:r>
            <a:endParaRPr lang="zh-CN" altLang="en-US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 startAt="2"/>
            </a:pPr>
            <a:r>
              <a:rPr lang="zh-CN" altLang="en-US" smtClean="0"/>
              <a:t>每个含</a:t>
            </a:r>
            <a:r>
              <a:rPr lang="en-US" altLang="zh-CN" i="1" smtClean="0"/>
              <a:t>p</a:t>
            </a:r>
            <a:r>
              <a:rPr lang="zh-CN" altLang="en-US" smtClean="0"/>
              <a:t>个元素的节点，有</a:t>
            </a:r>
            <a:r>
              <a:rPr lang="en-US" altLang="zh-CN" i="1" smtClean="0"/>
              <a:t>p</a:t>
            </a:r>
            <a:r>
              <a:rPr lang="en-US" altLang="zh-CN" smtClean="0"/>
              <a:t>+1</a:t>
            </a:r>
            <a:r>
              <a:rPr lang="zh-CN" altLang="en-US" smtClean="0"/>
              <a:t>个子女</a:t>
            </a:r>
            <a:endParaRPr lang="zh-CN" altLang="en-US" smtClean="0"/>
          </a:p>
          <a:p>
            <a:pPr marL="609600" indent="-609600">
              <a:buFont typeface="Wingdings" panose="05000000000000000000" pitchFamily="2" charset="2"/>
              <a:buAutoNum type="arabicParenR" startAt="2"/>
            </a:pPr>
            <a:r>
              <a:rPr lang="zh-CN" altLang="en-US" smtClean="0"/>
              <a:t>考察含</a:t>
            </a:r>
            <a:r>
              <a:rPr lang="en-US" altLang="zh-CN" i="1" smtClean="0"/>
              <a:t>p</a:t>
            </a:r>
            <a:r>
              <a:rPr lang="zh-CN" altLang="en-US" smtClean="0"/>
              <a:t>个元素的任意节点</a:t>
            </a:r>
            <a:endParaRPr lang="zh-CN" altLang="en-US" smtClean="0"/>
          </a:p>
          <a:p>
            <a:pPr marL="990600" lvl="1" indent="-533400"/>
            <a:r>
              <a:rPr lang="zh-CN" altLang="en-US" smtClean="0"/>
              <a:t>设</a:t>
            </a:r>
            <a:r>
              <a:rPr lang="en-US" altLang="zh-CN" i="1" smtClean="0"/>
              <a:t>k</a:t>
            </a:r>
            <a:r>
              <a:rPr lang="en-US" altLang="zh-CN" baseline="-25000" smtClean="0"/>
              <a:t>1</a:t>
            </a:r>
            <a:r>
              <a:rPr lang="en-US" altLang="zh-CN" smtClean="0"/>
              <a:t>, ..., </a:t>
            </a:r>
            <a:r>
              <a:rPr lang="en-US" altLang="zh-CN" i="1" smtClean="0"/>
              <a:t>k</a:t>
            </a:r>
            <a:r>
              <a:rPr lang="en-US" altLang="zh-CN" i="1" baseline="-25000" smtClean="0"/>
              <a:t>p</a:t>
            </a:r>
            <a:r>
              <a:rPr lang="zh-CN" altLang="en-US" smtClean="0"/>
              <a:t>是这些元素的关键值，元素按关键字</a:t>
            </a:r>
            <a:r>
              <a:rPr lang="zh-CN" altLang="en-US" smtClean="0">
                <a:solidFill>
                  <a:srgbClr val="FF0000"/>
                </a:solidFill>
              </a:rPr>
              <a:t>升序</a:t>
            </a:r>
            <a:r>
              <a:rPr lang="zh-CN" altLang="en-US" smtClean="0"/>
              <a:t>排列，即有</a:t>
            </a:r>
            <a:r>
              <a:rPr lang="en-US" altLang="zh-CN" i="1" smtClean="0"/>
              <a:t>k</a:t>
            </a:r>
            <a:r>
              <a:rPr lang="en-US" altLang="zh-CN" baseline="-25000" smtClean="0"/>
              <a:t>1</a:t>
            </a:r>
            <a:r>
              <a:rPr lang="en-US" altLang="zh-CN" smtClean="0"/>
              <a:t>&lt;</a:t>
            </a:r>
            <a:r>
              <a:rPr lang="en-US" altLang="zh-CN" i="1" smtClean="0"/>
              <a:t>k</a:t>
            </a:r>
            <a:r>
              <a:rPr lang="en-US" altLang="zh-CN" baseline="-25000" smtClean="0"/>
              <a:t>2</a:t>
            </a:r>
            <a:r>
              <a:rPr lang="en-US" altLang="zh-CN" smtClean="0"/>
              <a:t>&lt;...&lt;</a:t>
            </a:r>
            <a:r>
              <a:rPr lang="en-US" altLang="zh-CN" i="1" smtClean="0"/>
              <a:t>k</a:t>
            </a:r>
            <a:r>
              <a:rPr lang="en-US" altLang="zh-CN" i="1" baseline="-25000" smtClean="0"/>
              <a:t>p</a:t>
            </a:r>
            <a:br>
              <a:rPr lang="en-US" altLang="zh-CN" i="1" baseline="-25000" smtClean="0"/>
            </a:br>
            <a:r>
              <a:rPr lang="zh-CN" altLang="en-US" smtClean="0"/>
              <a:t>设</a:t>
            </a:r>
            <a:r>
              <a:rPr lang="en-US" altLang="zh-CN" i="1" smtClean="0"/>
              <a:t>c</a:t>
            </a:r>
            <a:r>
              <a:rPr lang="en-US" altLang="zh-CN" baseline="-25000" smtClean="0"/>
              <a:t>0</a:t>
            </a:r>
            <a:r>
              <a:rPr lang="en-US" altLang="zh-CN" smtClean="0"/>
              <a:t>, </a:t>
            </a:r>
            <a:r>
              <a:rPr lang="en-US" altLang="zh-CN" i="1" smtClean="0"/>
              <a:t>c</a:t>
            </a:r>
            <a:r>
              <a:rPr lang="en-US" altLang="zh-CN" baseline="-25000" smtClean="0"/>
              <a:t>1</a:t>
            </a:r>
            <a:r>
              <a:rPr lang="en-US" altLang="zh-CN" smtClean="0"/>
              <a:t>, ..., </a:t>
            </a:r>
            <a:r>
              <a:rPr lang="en-US" altLang="zh-CN" i="1" smtClean="0"/>
              <a:t>c</a:t>
            </a:r>
            <a:r>
              <a:rPr lang="en-US" altLang="zh-CN" i="1" baseline="-25000" smtClean="0"/>
              <a:t>p</a:t>
            </a:r>
            <a:r>
              <a:rPr lang="zh-CN" altLang="en-US" smtClean="0"/>
              <a:t>是节点的</a:t>
            </a:r>
            <a:r>
              <a:rPr lang="en-US" altLang="zh-CN" i="1" smtClean="0"/>
              <a:t>p</a:t>
            </a:r>
            <a:r>
              <a:rPr lang="en-US" altLang="zh-CN" smtClean="0"/>
              <a:t>+1</a:t>
            </a:r>
            <a:r>
              <a:rPr lang="zh-CN" altLang="en-US" smtClean="0"/>
              <a:t>个孩子</a:t>
            </a:r>
            <a:endParaRPr lang="zh-CN" altLang="en-US" smtClean="0"/>
          </a:p>
          <a:p>
            <a:pPr marL="1371600" lvl="2" indent="-457200"/>
            <a:r>
              <a:rPr lang="zh-CN" altLang="en-US" smtClean="0"/>
              <a:t>以</a:t>
            </a:r>
            <a:r>
              <a:rPr lang="en-US" altLang="zh-CN" i="1" smtClean="0"/>
              <a:t>c</a:t>
            </a:r>
            <a:r>
              <a:rPr lang="en-US" altLang="zh-CN" baseline="-25000" smtClean="0"/>
              <a:t>0</a:t>
            </a:r>
            <a:r>
              <a:rPr lang="zh-CN" altLang="en-US" smtClean="0"/>
              <a:t>为根的子树中的元素关键值小于</a:t>
            </a:r>
            <a:r>
              <a:rPr lang="en-US" altLang="zh-CN" i="1" smtClean="0"/>
              <a:t>k</a:t>
            </a:r>
            <a:r>
              <a:rPr lang="en-US" altLang="zh-CN" baseline="-25000" smtClean="0"/>
              <a:t>1</a:t>
            </a:r>
            <a:endParaRPr lang="en-US" altLang="zh-CN" baseline="-25000" smtClean="0"/>
          </a:p>
          <a:p>
            <a:pPr marL="1371600" lvl="2" indent="-457200"/>
            <a:r>
              <a:rPr lang="zh-CN" altLang="en-US" smtClean="0"/>
              <a:t>以</a:t>
            </a:r>
            <a:r>
              <a:rPr lang="en-US" altLang="zh-CN" i="1" smtClean="0"/>
              <a:t>c</a:t>
            </a:r>
            <a:r>
              <a:rPr lang="en-US" altLang="zh-CN" i="1" baseline="-25000" smtClean="0"/>
              <a:t>p</a:t>
            </a:r>
            <a:r>
              <a:rPr lang="zh-CN" altLang="en-US" smtClean="0"/>
              <a:t>为根的子树中的元素关键值大于</a:t>
            </a:r>
            <a:r>
              <a:rPr lang="en-US" altLang="zh-CN" i="1" smtClean="0"/>
              <a:t>k</a:t>
            </a:r>
            <a:r>
              <a:rPr lang="en-US" altLang="zh-CN" i="1" baseline="-25000" smtClean="0"/>
              <a:t>p</a:t>
            </a:r>
            <a:endParaRPr lang="en-US" altLang="zh-CN" i="1" baseline="-25000" smtClean="0"/>
          </a:p>
          <a:p>
            <a:pPr marL="1371600" lvl="2" indent="-457200"/>
            <a:r>
              <a:rPr lang="zh-CN" altLang="en-US" smtClean="0"/>
              <a:t>并且以</a:t>
            </a:r>
            <a:r>
              <a:rPr lang="en-US" altLang="zh-CN" i="1" smtClean="0"/>
              <a:t>c</a:t>
            </a:r>
            <a:r>
              <a:rPr lang="en-US" altLang="zh-CN" i="1" baseline="-25000" smtClean="0"/>
              <a:t>i</a:t>
            </a:r>
            <a:r>
              <a:rPr lang="zh-CN" altLang="en-US" smtClean="0"/>
              <a:t>为根的子树中的元素关键值会大于</a:t>
            </a:r>
            <a:r>
              <a:rPr lang="en-US" altLang="zh-CN" i="1" smtClean="0"/>
              <a:t>k</a:t>
            </a:r>
            <a:r>
              <a:rPr lang="en-US" altLang="zh-CN" baseline="-25000" smtClean="0"/>
              <a:t>i</a:t>
            </a:r>
            <a:r>
              <a:rPr lang="zh-CN" altLang="en-US" smtClean="0"/>
              <a:t>而小于</a:t>
            </a:r>
            <a:r>
              <a:rPr lang="en-US" altLang="zh-CN" i="1" smtClean="0"/>
              <a:t>k</a:t>
            </a:r>
            <a:r>
              <a:rPr lang="en-US" altLang="zh-CN" baseline="-25000" smtClean="0"/>
              <a:t>i+1</a:t>
            </a:r>
            <a:r>
              <a:rPr lang="zh-CN" altLang="en-US" smtClean="0"/>
              <a:t>，其中</a:t>
            </a:r>
            <a:r>
              <a:rPr lang="en-US" altLang="zh-CN" smtClean="0"/>
              <a:t>1≤</a:t>
            </a:r>
            <a:r>
              <a:rPr lang="en-US" altLang="zh-CN" i="1" smtClean="0"/>
              <a:t>i</a:t>
            </a:r>
            <a:r>
              <a:rPr lang="en-US" altLang="zh-CN" smtClean="0"/>
              <a:t>≤</a:t>
            </a:r>
            <a:r>
              <a:rPr lang="en-US" altLang="zh-CN" i="1" smtClean="0"/>
              <a:t>p</a:t>
            </a:r>
            <a:endParaRPr lang="en-US" altLang="zh-CN" smtClean="0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3886C2-E646-4E71-B3AC-B2900C97C659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例：</a:t>
            </a:r>
            <a:r>
              <a:rPr lang="en-US" altLang="zh-CN" smtClean="0"/>
              <a:t>7</a:t>
            </a:r>
            <a:r>
              <a:rPr lang="zh-CN" altLang="en-US" smtClean="0"/>
              <a:t>叉搜索树</a:t>
            </a:r>
            <a:endParaRPr lang="zh-CN" altLang="en-US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</a:rPr>
              <a:t>搜索</a:t>
            </a:r>
            <a:r>
              <a:rPr lang="zh-CN" altLang="en-US" smtClean="0"/>
              <a:t>操作</a:t>
            </a:r>
            <a:endParaRPr lang="zh-CN" altLang="en-US" smtClean="0"/>
          </a:p>
          <a:p>
            <a:pPr lvl="1"/>
            <a:r>
              <a:rPr lang="zh-CN" altLang="en-US" smtClean="0"/>
              <a:t>从根节点开始，向下搜索</a:t>
            </a:r>
            <a:endParaRPr lang="zh-CN" altLang="en-US" smtClean="0"/>
          </a:p>
          <a:p>
            <a:pPr lvl="1"/>
            <a:r>
              <a:rPr lang="zh-CN" altLang="en-US" smtClean="0"/>
              <a:t>对每个节点，若目标关键字</a:t>
            </a:r>
            <a:r>
              <a:rPr lang="en-US" altLang="zh-CN" smtClean="0"/>
              <a:t>k</a:t>
            </a:r>
            <a:endParaRPr lang="en-US" altLang="zh-CN" smtClean="0"/>
          </a:p>
          <a:p>
            <a:pPr lvl="2"/>
            <a:r>
              <a:rPr lang="zh-CN" altLang="en-US" smtClean="0"/>
              <a:t>＝</a:t>
            </a:r>
            <a:r>
              <a:rPr lang="en-US" altLang="zh-CN" smtClean="0"/>
              <a:t>k</a:t>
            </a:r>
            <a:r>
              <a:rPr lang="en-US" altLang="zh-CN" baseline="-25000" smtClean="0"/>
              <a:t>i</a:t>
            </a:r>
            <a:r>
              <a:rPr lang="zh-CN" altLang="en-US" smtClean="0"/>
              <a:t>，搜索成功</a:t>
            </a:r>
            <a:endParaRPr lang="zh-CN" altLang="en-US" smtClean="0"/>
          </a:p>
          <a:p>
            <a:pPr lvl="2"/>
            <a:r>
              <a:rPr lang="en-US" altLang="zh-CN" smtClean="0"/>
              <a:t>k</a:t>
            </a:r>
            <a:r>
              <a:rPr lang="en-US" altLang="zh-CN" baseline="-25000" smtClean="0"/>
              <a:t>i</a:t>
            </a:r>
            <a:r>
              <a:rPr lang="en-US" altLang="zh-CN" smtClean="0"/>
              <a:t>&lt;k&lt;k</a:t>
            </a:r>
            <a:r>
              <a:rPr lang="en-US" altLang="zh-CN" baseline="-25000" smtClean="0"/>
              <a:t>i+1</a:t>
            </a:r>
            <a:r>
              <a:rPr lang="zh-CN" altLang="en-US" smtClean="0"/>
              <a:t>，在子树</a:t>
            </a:r>
            <a:r>
              <a:rPr lang="en-US" altLang="zh-CN" smtClean="0"/>
              <a:t>i</a:t>
            </a:r>
            <a:r>
              <a:rPr lang="zh-CN" altLang="en-US" smtClean="0"/>
              <a:t>中继续寻找</a:t>
            </a:r>
            <a:endParaRPr lang="zh-CN" altLang="en-US" smtClean="0"/>
          </a:p>
          <a:p>
            <a:pPr lvl="1"/>
            <a:r>
              <a:rPr lang="zh-CN" altLang="en-US" smtClean="0"/>
              <a:t>到达外部节点</a:t>
            </a:r>
            <a:r>
              <a:rPr lang="en-US" altLang="zh-CN" smtClean="0"/>
              <a:t>——</a:t>
            </a:r>
            <a:r>
              <a:rPr lang="zh-CN" altLang="en-US" smtClean="0"/>
              <a:t>失败：搜索</a:t>
            </a:r>
            <a:r>
              <a:rPr lang="en-US" altLang="zh-CN" smtClean="0"/>
              <a:t>31</a:t>
            </a:r>
            <a:endParaRPr lang="en-US" altLang="zh-CN" smtClean="0"/>
          </a:p>
        </p:txBody>
      </p:sp>
      <p:sp>
        <p:nvSpPr>
          <p:cNvPr id="3379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6418C9B-8BE8-4948-B00E-319B2AE2DB09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33796" name="Picture 4" descr="7arytre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79" y="4126828"/>
            <a:ext cx="8158163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TextBox 4"/>
          <p:cNvSpPr txBox="1">
            <a:spLocks noChangeArrowheads="1"/>
          </p:cNvSpPr>
          <p:nvPr/>
        </p:nvSpPr>
        <p:spPr bwMode="auto">
          <a:xfrm>
            <a:off x="5289550" y="558800"/>
            <a:ext cx="3228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m=7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检验条件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</a:rPr>
              <a:t>插入</a:t>
            </a:r>
            <a:r>
              <a:rPr lang="zh-CN" altLang="en-US" smtClean="0"/>
              <a:t>操作</a:t>
            </a:r>
            <a:endParaRPr lang="zh-CN" altLang="en-US" smtClean="0"/>
          </a:p>
          <a:p>
            <a:pPr lvl="1"/>
            <a:r>
              <a:rPr lang="zh-CN" altLang="en-US" smtClean="0"/>
              <a:t>先进行搜索：成功，插入失败；否则，在失败位置（最后的一个内部节点）进行插入</a:t>
            </a:r>
            <a:endParaRPr lang="zh-CN" altLang="en-US" smtClean="0"/>
          </a:p>
          <a:p>
            <a:pPr lvl="1"/>
            <a:r>
              <a:rPr lang="zh-CN" altLang="en-US" smtClean="0"/>
              <a:t>元素数</a:t>
            </a:r>
            <a:r>
              <a:rPr lang="en-US" altLang="zh-CN" smtClean="0"/>
              <a:t>&lt;m-1</a:t>
            </a:r>
            <a:r>
              <a:rPr lang="zh-CN" altLang="en-US" smtClean="0"/>
              <a:t>，直接插入：插入</a:t>
            </a:r>
            <a:r>
              <a:rPr lang="en-US" altLang="zh-CN" smtClean="0"/>
              <a:t>31</a:t>
            </a:r>
            <a:endParaRPr lang="en-US" altLang="zh-CN" smtClean="0"/>
          </a:p>
          <a:p>
            <a:pPr lvl="1"/>
            <a:r>
              <a:rPr lang="en-US" altLang="zh-CN" smtClean="0">
                <a:latin typeface="宋体" panose="02010600030101010101" pitchFamily="2" charset="-122"/>
              </a:rPr>
              <a:t>≥</a:t>
            </a:r>
            <a:r>
              <a:rPr lang="en-US" altLang="zh-CN" smtClean="0"/>
              <a:t>m-1</a:t>
            </a:r>
            <a:r>
              <a:rPr lang="zh-CN" altLang="en-US" smtClean="0">
                <a:latin typeface="宋体" panose="02010600030101010101" pitchFamily="2" charset="-122"/>
              </a:rPr>
              <a:t>，生成新孩子节点：插入</a:t>
            </a:r>
            <a:r>
              <a:rPr lang="en-US" altLang="zh-CN" smtClean="0"/>
              <a:t>65</a:t>
            </a:r>
            <a:endParaRPr lang="en-US" altLang="zh-CN" smtClean="0"/>
          </a:p>
        </p:txBody>
      </p:sp>
      <p:sp>
        <p:nvSpPr>
          <p:cNvPr id="3482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46A9CD-7988-41A5-8997-1EBC85238D52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34820" name="Picture 4" descr="7arytre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19" y="4033838"/>
            <a:ext cx="8158163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792470" y="2967990"/>
            <a:ext cx="27228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思考：空</a:t>
            </a:r>
            <a:r>
              <a:rPr lang="en-US">
                <a:solidFill>
                  <a:srgbClr val="FF0000"/>
                </a:solidFill>
              </a:rPr>
              <a:t>M</a:t>
            </a:r>
            <a:r>
              <a:rPr lang="zh-CN" altLang="en-US">
                <a:solidFill>
                  <a:srgbClr val="FF0000"/>
                </a:solidFill>
              </a:rPr>
              <a:t>叉搜索树，连续</a:t>
            </a:r>
            <a:r>
              <a:rPr lang="zh-CN" altLang="en-US">
                <a:solidFill>
                  <a:srgbClr val="FF0000"/>
                </a:solidFill>
              </a:rPr>
              <a:t>插入</a:t>
            </a: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r>
              <a:rPr lang="en-US" altLang="zh-CN">
                <a:solidFill>
                  <a:srgbClr val="FF0000"/>
                </a:solidFill>
              </a:rPr>
              <a:t>Key</a:t>
            </a:r>
            <a:r>
              <a:rPr lang="zh-CN" altLang="en-US">
                <a:solidFill>
                  <a:srgbClr val="FF0000"/>
                </a:solidFill>
              </a:rPr>
              <a:t>时高度最高为？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外部节点高度为</a:t>
            </a:r>
            <a:r>
              <a:rPr lang="en-US" altLang="zh-CN">
                <a:solidFill>
                  <a:srgbClr val="FF0000"/>
                </a:solidFill>
              </a:rPr>
              <a:t>0.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</a:rPr>
              <a:t>删除</a:t>
            </a:r>
            <a:r>
              <a:rPr lang="zh-CN" altLang="en-US" smtClean="0"/>
              <a:t>操作</a:t>
            </a:r>
            <a:endParaRPr lang="zh-CN" altLang="en-US" smtClean="0"/>
          </a:p>
          <a:p>
            <a:pPr lvl="1"/>
            <a:r>
              <a:rPr lang="zh-CN" altLang="en-US" smtClean="0"/>
              <a:t>先进行搜索，找到元素后进行删除</a:t>
            </a:r>
            <a:endParaRPr lang="zh-CN" altLang="en-US" smtClean="0"/>
          </a:p>
          <a:p>
            <a:pPr lvl="1"/>
            <a:r>
              <a:rPr lang="zh-CN" altLang="en-US" smtClean="0"/>
              <a:t>左右子树均为空，直接进行删除：删除</a:t>
            </a:r>
            <a:r>
              <a:rPr lang="en-US" altLang="zh-CN" smtClean="0"/>
              <a:t>20</a:t>
            </a:r>
            <a:endParaRPr lang="en-US" altLang="zh-CN" smtClean="0"/>
          </a:p>
          <a:p>
            <a:pPr lvl="1"/>
            <a:r>
              <a:rPr lang="zh-CN" altLang="en-US" smtClean="0"/>
              <a:t>不都为空，子树中元素提升，替代被删除元素：删除</a:t>
            </a:r>
            <a:r>
              <a:rPr lang="en-US" altLang="zh-CN" smtClean="0"/>
              <a:t>10</a:t>
            </a:r>
            <a:endParaRPr lang="en-US" altLang="zh-CN" smtClean="0"/>
          </a:p>
        </p:txBody>
      </p:sp>
      <p:sp>
        <p:nvSpPr>
          <p:cNvPr id="3584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7F3F860-E45C-46A0-9827-22CDDDE5A6FA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35844" name="Picture 4" descr="7arytre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78" y="3987343"/>
            <a:ext cx="8158163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m</a:t>
            </a:r>
            <a:r>
              <a:rPr lang="zh-CN" altLang="en-US" smtClean="0"/>
              <a:t>叉搜索树的高度</a:t>
            </a:r>
            <a:endParaRPr lang="zh-CN" altLang="en-US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高度为</a:t>
            </a:r>
            <a:r>
              <a:rPr lang="en-US" altLang="zh-CN" smtClean="0"/>
              <a:t>h</a:t>
            </a:r>
            <a:r>
              <a:rPr lang="zh-CN" altLang="en-US" smtClean="0"/>
              <a:t>，最少</a:t>
            </a:r>
            <a:r>
              <a:rPr lang="en-US" altLang="zh-CN" smtClean="0"/>
              <a:t>h</a:t>
            </a:r>
            <a:r>
              <a:rPr lang="zh-CN" altLang="en-US" smtClean="0"/>
              <a:t>个元素，最多</a:t>
            </a:r>
            <a:r>
              <a:rPr lang="en-US" altLang="zh-CN" smtClean="0"/>
              <a:t>m</a:t>
            </a:r>
            <a:r>
              <a:rPr lang="en-US" altLang="zh-CN" baseline="30000" smtClean="0"/>
              <a:t>h </a:t>
            </a:r>
            <a:r>
              <a:rPr lang="en-US" altLang="zh-CN" smtClean="0"/>
              <a:t>- 1</a:t>
            </a:r>
            <a:endParaRPr lang="en-US" altLang="zh-CN" smtClean="0"/>
          </a:p>
          <a:p>
            <a:pPr lvl="1"/>
            <a:r>
              <a:rPr lang="en-US" altLang="zh-CN" smtClean="0"/>
              <a:t>1</a:t>
            </a:r>
            <a:r>
              <a:rPr lang="zh-CN" altLang="en-US" smtClean="0"/>
              <a:t>层～</a:t>
            </a:r>
            <a:r>
              <a:rPr lang="en-US" altLang="zh-CN" smtClean="0"/>
              <a:t>h-1</a:t>
            </a:r>
            <a:r>
              <a:rPr lang="zh-CN" altLang="en-US" smtClean="0"/>
              <a:t>层的每个节点孩子数都是</a:t>
            </a:r>
            <a:r>
              <a:rPr lang="en-US" altLang="zh-CN" smtClean="0"/>
              <a:t>m</a:t>
            </a:r>
            <a:br>
              <a:rPr lang="en-US" altLang="zh-CN" smtClean="0"/>
            </a:br>
            <a:r>
              <a:rPr lang="en-US" altLang="zh-CN" smtClean="0"/>
              <a:t>h</a:t>
            </a:r>
            <a:r>
              <a:rPr lang="zh-CN" altLang="en-US" smtClean="0"/>
              <a:t>层节点无孩子，节点总数</a:t>
            </a:r>
            <a:br>
              <a:rPr lang="zh-CN" altLang="en-US" smtClean="0"/>
            </a:br>
            <a:r>
              <a:rPr lang="zh-CN" altLang="en-US" smtClean="0"/>
              <a:t>每个节点</a:t>
            </a:r>
            <a:r>
              <a:rPr lang="en-US" altLang="zh-CN" smtClean="0"/>
              <a:t>m-1</a:t>
            </a:r>
            <a:r>
              <a:rPr lang="zh-CN" altLang="en-US" smtClean="0"/>
              <a:t>个元素</a:t>
            </a:r>
            <a:br>
              <a:rPr lang="zh-CN" altLang="en-US" smtClean="0"/>
            </a:br>
            <a:r>
              <a:rPr lang="en-US" altLang="zh-CN" smtClean="0"/>
              <a:t>key</a:t>
            </a:r>
            <a:r>
              <a:rPr lang="zh-CN" altLang="en-US" smtClean="0"/>
              <a:t>总数</a:t>
            </a:r>
            <a:r>
              <a:rPr lang="en-US" altLang="zh-CN" smtClean="0"/>
              <a:t>m</a:t>
            </a:r>
            <a:r>
              <a:rPr lang="en-US" altLang="zh-CN" baseline="30000" smtClean="0"/>
              <a:t>h</a:t>
            </a:r>
            <a:r>
              <a:rPr lang="en-US" altLang="zh-CN" smtClean="0"/>
              <a:t>-1</a:t>
            </a:r>
            <a:endParaRPr lang="en-US" altLang="zh-CN" smtClean="0"/>
          </a:p>
          <a:p>
            <a:r>
              <a:rPr lang="en-US" altLang="zh-CN" smtClean="0"/>
              <a:t>n</a:t>
            </a:r>
            <a:r>
              <a:rPr lang="zh-CN" altLang="en-US" smtClean="0"/>
              <a:t>个</a:t>
            </a:r>
            <a:r>
              <a:rPr lang="en-US" altLang="zh-CN" smtClean="0"/>
              <a:t>key</a:t>
            </a:r>
            <a:r>
              <a:rPr lang="zh-CN" altLang="en-US" smtClean="0"/>
              <a:t>，高度</a:t>
            </a:r>
            <a:r>
              <a:rPr lang="en-US" altLang="zh-CN" smtClean="0"/>
              <a:t>n</a:t>
            </a:r>
            <a:r>
              <a:rPr lang="zh-CN" altLang="en-US" smtClean="0"/>
              <a:t>～</a:t>
            </a:r>
            <a:r>
              <a:rPr lang="en-US" altLang="zh-CN" smtClean="0"/>
              <a:t>log</a:t>
            </a:r>
            <a:r>
              <a:rPr lang="en-US" altLang="zh-CN" baseline="-25000" smtClean="0"/>
              <a:t>m</a:t>
            </a:r>
            <a:r>
              <a:rPr lang="en-US" altLang="zh-CN" smtClean="0"/>
              <a:t>(n+1)</a:t>
            </a:r>
            <a:endParaRPr lang="en-US" altLang="zh-CN" smtClean="0"/>
          </a:p>
          <a:p>
            <a:r>
              <a:rPr lang="zh-CN" altLang="en-US" smtClean="0"/>
              <a:t>与二叉搜索树类似，最坏情况很差</a:t>
            </a:r>
            <a:r>
              <a:rPr lang="en-US" altLang="zh-CN" smtClean="0"/>
              <a:t>——</a:t>
            </a:r>
            <a:br>
              <a:rPr lang="en-US" altLang="zh-CN" smtClean="0"/>
            </a:br>
            <a:r>
              <a:rPr lang="en-US" altLang="zh-CN" smtClean="0">
                <a:solidFill>
                  <a:srgbClr val="0000CC"/>
                </a:solidFill>
              </a:rPr>
              <a:t>m</a:t>
            </a:r>
            <a:r>
              <a:rPr lang="zh-CN" altLang="en-US" smtClean="0">
                <a:solidFill>
                  <a:srgbClr val="0000CC"/>
                </a:solidFill>
              </a:rPr>
              <a:t>叉平衡搜索树，保证总有对数的复杂性</a:t>
            </a:r>
            <a:endParaRPr lang="zh-CN" altLang="en-US" smtClean="0">
              <a:solidFill>
                <a:srgbClr val="0000CC"/>
              </a:solidFill>
            </a:endParaRPr>
          </a:p>
        </p:txBody>
      </p:sp>
      <p:sp>
        <p:nvSpPr>
          <p:cNvPr id="102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34BE5A-F0A5-4CE1-BCD9-33F631B084EB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6096000" y="2286000"/>
          <a:ext cx="2819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1" imgW="1497965" imgH="431800" progId="Equation.3">
                  <p:embed/>
                </p:oleObj>
              </mc:Choice>
              <mc:Fallback>
                <p:oleObj name="Equation" r:id="rId1" imgW="1497965" imgH="431800" progId="Equation.3">
                  <p:embed/>
                  <p:pic>
                    <p:nvPicPr>
                      <p:cNvPr id="0" name="图片 256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286000"/>
                        <a:ext cx="2819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H1.m</a:t>
            </a:r>
            <a:r>
              <a:rPr lang="zh-CN" altLang="en-US" smtClean="0"/>
              <a:t>阶</a:t>
            </a:r>
            <a:r>
              <a:rPr lang="en-US" altLang="zh-CN" smtClean="0"/>
              <a:t>B-</a:t>
            </a:r>
            <a:r>
              <a:rPr lang="zh-CN" altLang="en-US" smtClean="0"/>
              <a:t>树</a:t>
            </a:r>
            <a:endParaRPr lang="zh-CN" altLang="en-US" smtClean="0"/>
          </a:p>
        </p:txBody>
      </p:sp>
      <p:sp>
        <p:nvSpPr>
          <p:cNvPr id="20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zh-CN" altLang="en-US" smtClean="0">
                <a:solidFill>
                  <a:srgbClr val="0000FF"/>
                </a:solidFill>
              </a:rPr>
              <a:t>定义</a:t>
            </a:r>
            <a:r>
              <a:rPr lang="zh-CN" altLang="en-US" smtClean="0"/>
              <a:t>：</a:t>
            </a:r>
            <a:r>
              <a:rPr lang="en-US" altLang="zh-CN" i="1" smtClean="0">
                <a:solidFill>
                  <a:srgbClr val="0000FF"/>
                </a:solidFill>
              </a:rPr>
              <a:t>m</a:t>
            </a:r>
            <a:r>
              <a:rPr lang="zh-CN" altLang="en-US" smtClean="0">
                <a:solidFill>
                  <a:srgbClr val="0000FF"/>
                </a:solidFill>
              </a:rPr>
              <a:t>阶</a:t>
            </a:r>
            <a:r>
              <a:rPr lang="en-US" altLang="zh-CN" i="1" smtClean="0">
                <a:solidFill>
                  <a:srgbClr val="0000FF"/>
                </a:solidFill>
              </a:rPr>
              <a:t>B</a:t>
            </a:r>
            <a:r>
              <a:rPr lang="en-US" altLang="zh-CN" smtClean="0">
                <a:solidFill>
                  <a:srgbClr val="0000FF"/>
                </a:solidFill>
              </a:rPr>
              <a:t>-</a:t>
            </a:r>
            <a:r>
              <a:rPr lang="zh-CN" altLang="en-US" smtClean="0">
                <a:solidFill>
                  <a:srgbClr val="0000FF"/>
                </a:solidFill>
              </a:rPr>
              <a:t>树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B-Tree of order m</a:t>
            </a:r>
            <a:r>
              <a:rPr lang="zh-CN" altLang="en-US" smtClean="0"/>
              <a:t>）是一棵</a:t>
            </a:r>
            <a:r>
              <a:rPr lang="en-US" altLang="zh-CN" i="1" smtClean="0"/>
              <a:t>m</a:t>
            </a:r>
            <a:r>
              <a:rPr lang="zh-CN" altLang="en-US" smtClean="0"/>
              <a:t>叉搜索树，如果</a:t>
            </a:r>
            <a:r>
              <a:rPr lang="en-US" altLang="zh-CN" smtClean="0"/>
              <a:t>B-</a:t>
            </a:r>
            <a:r>
              <a:rPr lang="zh-CN" altLang="en-US" smtClean="0"/>
              <a:t>树非空，那么相应的扩充树满足下列特征：</a:t>
            </a:r>
            <a:endParaRPr lang="zh-CN" altLang="en-US" smtClean="0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zh-CN" altLang="en-US" smtClean="0">
                <a:solidFill>
                  <a:srgbClr val="FF0000"/>
                </a:solidFill>
              </a:rPr>
              <a:t>根节点至少有</a:t>
            </a:r>
            <a:r>
              <a:rPr lang="en-US" altLang="zh-CN" smtClean="0">
                <a:solidFill>
                  <a:srgbClr val="FF0000"/>
                </a:solidFill>
              </a:rPr>
              <a:t>2</a:t>
            </a:r>
            <a:r>
              <a:rPr lang="zh-CN" altLang="en-US" smtClean="0">
                <a:solidFill>
                  <a:srgbClr val="FF0000"/>
                </a:solidFill>
              </a:rPr>
              <a:t>个孩子</a:t>
            </a:r>
            <a:endParaRPr lang="zh-CN" altLang="en-US" smtClean="0">
              <a:solidFill>
                <a:srgbClr val="FF0000"/>
              </a:solidFill>
            </a:endParaRPr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zh-CN" altLang="en-US" smtClean="0">
                <a:solidFill>
                  <a:srgbClr val="FF0000"/>
                </a:solidFill>
              </a:rPr>
              <a:t>除根节点外，所有内部节点至少有              个孩子</a:t>
            </a:r>
            <a:endParaRPr lang="zh-CN" altLang="en-US" smtClean="0">
              <a:solidFill>
                <a:srgbClr val="FF0000"/>
              </a:solidFill>
            </a:endParaRPr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zh-CN" altLang="en-US" smtClean="0">
                <a:solidFill>
                  <a:srgbClr val="FF0000"/>
                </a:solidFill>
              </a:rPr>
              <a:t>所有外部节点位于同一层上</a:t>
            </a:r>
            <a:endParaRPr lang="zh-CN" altLang="en-US" smtClean="0">
              <a:solidFill>
                <a:srgbClr val="FF0000"/>
              </a:solidFill>
            </a:endParaRPr>
          </a:p>
          <a:p>
            <a:pPr marL="609600" indent="-609600"/>
            <a:endParaRPr lang="en-US" altLang="zh-CN" smtClean="0"/>
          </a:p>
        </p:txBody>
      </p:sp>
      <p:sp>
        <p:nvSpPr>
          <p:cNvPr id="205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A13B42F-29F7-4A94-BD46-5199766A2DC6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5537518" y="3251518"/>
          <a:ext cx="9906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1" imgW="431800" imgH="228600" progId="Equation.3">
                  <p:embed/>
                </p:oleObj>
              </mc:Choice>
              <mc:Fallback>
                <p:oleObj name="Equation" r:id="rId1" imgW="431800" imgH="228600" progId="Equation.3">
                  <p:embed/>
                  <p:pic>
                    <p:nvPicPr>
                      <p:cNvPr id="0" name="图片 266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518" y="3251518"/>
                        <a:ext cx="9906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7</a:t>
            </a:r>
            <a:r>
              <a:rPr lang="zh-CN" altLang="en-US" smtClean="0"/>
              <a:t>阶</a:t>
            </a:r>
            <a:r>
              <a:rPr lang="en-US" altLang="zh-CN" smtClean="0"/>
              <a:t>B-</a:t>
            </a:r>
            <a:r>
              <a:rPr lang="zh-CN" altLang="en-US" smtClean="0"/>
              <a:t>树例</a:t>
            </a:r>
            <a:endParaRPr lang="zh-CN" altLang="en-US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07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A9E72C-DB76-41CB-B3C5-893336F5E216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3076" name="Picture 5" descr="b-tre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1635125"/>
            <a:ext cx="8918575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3"/>
          <p:cNvSpPr txBox="1">
            <a:spLocks noChangeArrowheads="1"/>
          </p:cNvSpPr>
          <p:nvPr/>
        </p:nvSpPr>
        <p:spPr bwMode="auto">
          <a:xfrm>
            <a:off x="5289550" y="3967163"/>
            <a:ext cx="3408363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AutoNum type="arabicParenR"/>
            </a:pPr>
            <a:r>
              <a:rPr lang="zh-CN" altLang="en-US">
                <a:solidFill>
                  <a:srgbClr val="FF0000"/>
                </a:solidFill>
              </a:rPr>
              <a:t>根节点至少有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个孩子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AutoNum type="arabicParenR"/>
            </a:pPr>
            <a:r>
              <a:rPr lang="zh-CN" altLang="en-US">
                <a:solidFill>
                  <a:srgbClr val="FF0000"/>
                </a:solidFill>
              </a:rPr>
              <a:t>除根节点外，所有内部节点至少有           个孩子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AutoNum type="arabicParenR"/>
            </a:pPr>
            <a:r>
              <a:rPr lang="zh-CN" altLang="en-US">
                <a:solidFill>
                  <a:srgbClr val="FF0000"/>
                </a:solidFill>
              </a:rPr>
              <a:t>所有外部节点位于同一层上</a:t>
            </a:r>
            <a:endParaRPr lang="zh-CN" altLang="en-US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6904038" y="4518025"/>
          <a:ext cx="6524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2" imgW="431800" imgH="228600" progId="Equation.3">
                  <p:embed/>
                </p:oleObj>
              </mc:Choice>
              <mc:Fallback>
                <p:oleObj name="Equation" r:id="rId2" imgW="431800" imgH="228600" progId="Equation.3">
                  <p:embed/>
                  <p:pic>
                    <p:nvPicPr>
                      <p:cNvPr id="0" name="图片 276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4038" y="4518025"/>
                        <a:ext cx="65246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5475" y="3967163"/>
            <a:ext cx="3587750" cy="2586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）在扩充搜索树中，每个内部节点最多可以有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m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个子女及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～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m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-1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个元素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609600" indent="-609600">
              <a:defRPr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）每个含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p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个元素的节点，有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p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+1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609600" indent="-609600">
              <a:defRPr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个子女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609600" indent="-609600">
              <a:defRPr/>
            </a:pP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）考察含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p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个元素的任意节点以</a:t>
            </a:r>
            <a:r>
              <a:rPr lang="en-US" altLang="zh-CN" i="1" dirty="0" err="1">
                <a:solidFill>
                  <a:srgbClr val="0000CC"/>
                </a:solidFill>
                <a:latin typeface="Arial" panose="020B0604020202020204" pitchFamily="34" charset="0"/>
              </a:rPr>
              <a:t>c</a:t>
            </a:r>
            <a:r>
              <a:rPr lang="en-US" altLang="zh-CN" i="1" baseline="-25000" dirty="0" err="1">
                <a:solidFill>
                  <a:srgbClr val="0000CC"/>
                </a:solidFill>
                <a:latin typeface="Arial" panose="020B0604020202020204" pitchFamily="34" charset="0"/>
              </a:rPr>
              <a:t>i</a:t>
            </a:r>
            <a:endParaRPr lang="en-US" altLang="zh-CN" i="1" baseline="-25000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609600" indent="-609600">
              <a:defRPr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为根的子树中的元素关键值会大</a:t>
            </a:r>
            <a:endParaRPr lang="en-US" altLang="zh-CN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 marL="609600" indent="-609600">
              <a:defRPr/>
            </a:pP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于</a:t>
            </a:r>
            <a:r>
              <a:rPr lang="en-US" altLang="zh-CN" i="1" dirty="0" err="1">
                <a:solidFill>
                  <a:srgbClr val="0000CC"/>
                </a:solidFill>
                <a:latin typeface="Arial" panose="020B0604020202020204" pitchFamily="34" charset="0"/>
              </a:rPr>
              <a:t>k</a:t>
            </a:r>
            <a:r>
              <a:rPr lang="en-US" altLang="zh-CN" baseline="-25000" dirty="0" err="1">
                <a:solidFill>
                  <a:srgbClr val="0000CC"/>
                </a:solidFill>
                <a:latin typeface="Arial" panose="020B0604020202020204" pitchFamily="34" charset="0"/>
              </a:rPr>
              <a:t>i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而小于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k</a:t>
            </a:r>
            <a:r>
              <a:rPr lang="en-US" altLang="zh-CN" baseline="-25000" dirty="0">
                <a:solidFill>
                  <a:srgbClr val="0000CC"/>
                </a:solidFill>
                <a:latin typeface="Arial" panose="020B0604020202020204" pitchFamily="34" charset="0"/>
              </a:rPr>
              <a:t>i+1</a:t>
            </a:r>
            <a:r>
              <a:rPr lang="zh-CN" altLang="en-US" dirty="0">
                <a:solidFill>
                  <a:srgbClr val="0000CC"/>
                </a:solidFill>
                <a:latin typeface="Arial" panose="020B0604020202020204" pitchFamily="34" charset="0"/>
              </a:rPr>
              <a:t>，其中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1≤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0000CC"/>
                </a:solidFill>
                <a:latin typeface="Arial" panose="020B0604020202020204" pitchFamily="34" charset="0"/>
              </a:rPr>
              <a:t>≤</a:t>
            </a:r>
            <a:r>
              <a:rPr lang="en-US" altLang="zh-CN" i="1" dirty="0">
                <a:solidFill>
                  <a:srgbClr val="0000CC"/>
                </a:solidFill>
                <a:latin typeface="Arial" panose="020B0604020202020204" pitchFamily="34" charset="0"/>
              </a:rPr>
              <a:t>p</a:t>
            </a: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  <a:p>
            <a:pPr>
              <a:defRPr/>
            </a:pPr>
            <a:endParaRPr lang="zh-CN" altLang="en-US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二阶</a:t>
            </a:r>
            <a:r>
              <a:rPr lang="en-US" altLang="zh-CN" smtClean="0"/>
              <a:t>B-</a:t>
            </a:r>
            <a:r>
              <a:rPr lang="zh-CN" altLang="en-US" smtClean="0"/>
              <a:t>树：是否</a:t>
            </a:r>
            <a:r>
              <a:rPr lang="zh-CN" altLang="en-US" smtClean="0"/>
              <a:t>存在？满二叉树（完美二叉树）</a:t>
            </a:r>
            <a:endParaRPr lang="zh-CN" altLang="en-US" smtClean="0"/>
          </a:p>
          <a:p>
            <a:r>
              <a:rPr lang="zh-CN" altLang="en-US" smtClean="0">
                <a:solidFill>
                  <a:srgbClr val="0000CC"/>
                </a:solidFill>
              </a:rPr>
              <a:t>三阶</a:t>
            </a:r>
            <a:r>
              <a:rPr lang="en-US" altLang="zh-CN" smtClean="0">
                <a:solidFill>
                  <a:srgbClr val="0000CC"/>
                </a:solidFill>
              </a:rPr>
              <a:t>B-</a:t>
            </a:r>
            <a:r>
              <a:rPr lang="zh-CN" altLang="en-US" smtClean="0">
                <a:solidFill>
                  <a:srgbClr val="0000CC"/>
                </a:solidFill>
              </a:rPr>
              <a:t>树：</a:t>
            </a:r>
            <a:r>
              <a:rPr lang="en-US" altLang="zh-CN" smtClean="0">
                <a:solidFill>
                  <a:srgbClr val="0000CC"/>
                </a:solidFill>
              </a:rPr>
              <a:t>2-3</a:t>
            </a:r>
            <a:r>
              <a:rPr lang="zh-CN" altLang="en-US" smtClean="0">
                <a:solidFill>
                  <a:srgbClr val="0000CC"/>
                </a:solidFill>
              </a:rPr>
              <a:t>树</a:t>
            </a:r>
            <a:endParaRPr lang="zh-CN" altLang="en-US" smtClean="0">
              <a:solidFill>
                <a:srgbClr val="0000CC"/>
              </a:solidFill>
            </a:endParaRPr>
          </a:p>
          <a:p>
            <a:r>
              <a:rPr lang="zh-CN" altLang="en-US" smtClean="0"/>
              <a:t>四阶</a:t>
            </a:r>
            <a:r>
              <a:rPr lang="en-US" altLang="zh-CN" smtClean="0"/>
              <a:t>B-</a:t>
            </a:r>
            <a:r>
              <a:rPr lang="zh-CN" altLang="en-US" smtClean="0"/>
              <a:t>树：</a:t>
            </a:r>
            <a:r>
              <a:rPr lang="en-US" altLang="zh-CN" smtClean="0">
                <a:solidFill>
                  <a:srgbClr val="FF0000"/>
                </a:solidFill>
              </a:rPr>
              <a:t>2-3-4</a:t>
            </a:r>
            <a:r>
              <a:rPr lang="zh-CN" altLang="en-US" smtClean="0">
                <a:solidFill>
                  <a:srgbClr val="FF0000"/>
                </a:solidFill>
              </a:rPr>
              <a:t>树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3687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F95B530-9422-476C-AF6F-8CBF259FE895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36868" name="Picture 4" descr="2-3tree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327400"/>
            <a:ext cx="8356600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869" name="直接箭头连接符 5"/>
          <p:cNvCxnSpPr>
            <a:cxnSpLocks noChangeShapeType="1"/>
          </p:cNvCxnSpPr>
          <p:nvPr/>
        </p:nvCxnSpPr>
        <p:spPr bwMode="auto">
          <a:xfrm rot="10800000" flipV="1">
            <a:off x="4213225" y="2532063"/>
            <a:ext cx="1076325" cy="538162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0" name="TextBox 6"/>
          <p:cNvSpPr txBox="1">
            <a:spLocks noChangeArrowheads="1"/>
          </p:cNvSpPr>
          <p:nvPr/>
        </p:nvSpPr>
        <p:spPr bwMode="auto">
          <a:xfrm>
            <a:off x="5468938" y="2352675"/>
            <a:ext cx="35877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问题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</a:rPr>
              <a:t>2-3-4</a:t>
            </a:r>
            <a:r>
              <a:rPr lang="zh-CN" altLang="en-US">
                <a:solidFill>
                  <a:srgbClr val="FF0000"/>
                </a:solidFill>
              </a:rPr>
              <a:t>树中有几种节点？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问题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：这些节点如何存储？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重新整理</a:t>
            </a:r>
            <a:r>
              <a:rPr lang="en-US" altLang="zh-CN" smtClean="0"/>
              <a:t>m</a:t>
            </a:r>
            <a:r>
              <a:rPr lang="zh-CN" altLang="en-US" smtClean="0"/>
              <a:t>阶</a:t>
            </a:r>
            <a:r>
              <a:rPr lang="en-US" altLang="zh-CN" smtClean="0"/>
              <a:t>B</a:t>
            </a:r>
            <a:r>
              <a:rPr lang="zh-CN" altLang="en-US" smtClean="0"/>
              <a:t>树特征</a:t>
            </a:r>
            <a:endParaRPr lang="zh-CN" altLang="en-US" smtClean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628650" y="1635125"/>
            <a:ext cx="6275387" cy="4351338"/>
          </a:xfrm>
        </p:spPr>
        <p:txBody>
          <a:bodyPr/>
          <a:lstStyle/>
          <a:p>
            <a:pPr marL="514350" indent="-514350">
              <a:buFontTx/>
              <a:buAutoNum type="arabicPeriod"/>
            </a:pPr>
            <a:r>
              <a:rPr lang="zh-CN" altLang="en-US" dirty="0" smtClean="0"/>
              <a:t>每个节点至多有</a:t>
            </a:r>
            <a:r>
              <a:rPr lang="en-US" altLang="zh-CN" dirty="0" smtClean="0"/>
              <a:t>m</a:t>
            </a:r>
            <a:r>
              <a:rPr lang="zh-CN" altLang="en-US" dirty="0" smtClean="0"/>
              <a:t>棵子树</a:t>
            </a:r>
            <a:endParaRPr lang="en-US" altLang="zh-CN" dirty="0" smtClean="0"/>
          </a:p>
          <a:p>
            <a:pPr marL="514350" indent="-514350">
              <a:buFontTx/>
              <a:buAutoNum type="arabicPeriod"/>
            </a:pPr>
            <a:r>
              <a:rPr lang="zh-CN" altLang="en-US" dirty="0" smtClean="0"/>
              <a:t>若根节点有子树，则至少有</a:t>
            </a:r>
            <a:r>
              <a:rPr lang="en-US" altLang="zh-CN" dirty="0" smtClean="0"/>
              <a:t>2</a:t>
            </a:r>
            <a:r>
              <a:rPr lang="zh-CN" altLang="en-US" dirty="0" smtClean="0"/>
              <a:t>棵子树</a:t>
            </a:r>
            <a:endParaRPr lang="en-US" altLang="zh-CN" dirty="0" smtClean="0"/>
          </a:p>
          <a:p>
            <a:pPr marL="514350" indent="-514350">
              <a:buFontTx/>
              <a:buAutoNum type="arabicPeriod"/>
            </a:pPr>
            <a:r>
              <a:rPr lang="zh-CN" altLang="en-US" dirty="0" smtClean="0"/>
              <a:t>除根节点外，每个节点至少有</a:t>
            </a:r>
            <a:r>
              <a:rPr lang="en-US" altLang="zh-CN" dirty="0" smtClean="0"/>
              <a:t>ceil(m/2)</a:t>
            </a:r>
            <a:r>
              <a:rPr lang="zh-CN" altLang="en-US" dirty="0" smtClean="0"/>
              <a:t>棵子树</a:t>
            </a:r>
            <a:endParaRPr lang="en-US" altLang="zh-CN" dirty="0" smtClean="0"/>
          </a:p>
          <a:p>
            <a:pPr marL="514350" indent="-514350">
              <a:buFontTx/>
              <a:buAutoNum type="arabicPeriod"/>
            </a:pPr>
            <a:r>
              <a:rPr lang="zh-CN" altLang="en-US" dirty="0" smtClean="0"/>
              <a:t>子树与它的索引有确定的大小关系</a:t>
            </a:r>
            <a:endParaRPr lang="en-US" altLang="zh-CN" dirty="0" smtClean="0"/>
          </a:p>
          <a:p>
            <a:pPr marL="514350" indent="-514350">
              <a:buFontTx/>
              <a:buAutoNum type="arabicPeriod"/>
            </a:pPr>
            <a:r>
              <a:rPr lang="zh-CN" altLang="en-US" dirty="0" smtClean="0"/>
              <a:t>所有</a:t>
            </a:r>
            <a:r>
              <a:rPr lang="zh-CN" altLang="en-US" dirty="0" smtClean="0">
                <a:solidFill>
                  <a:srgbClr val="FF0000"/>
                </a:solidFill>
              </a:rPr>
              <a:t>外部</a:t>
            </a:r>
            <a:r>
              <a:rPr lang="zh-CN" altLang="en-US" dirty="0" smtClean="0"/>
              <a:t>节点在同一层上</a:t>
            </a:r>
            <a:endParaRPr lang="zh-CN" altLang="en-US" dirty="0" smtClean="0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C1856B-6EBF-45B9-A5C0-9A51D4E98DA8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37893" name="右大括号 4"/>
          <p:cNvSpPr/>
          <p:nvPr/>
        </p:nvSpPr>
        <p:spPr bwMode="auto">
          <a:xfrm>
            <a:off x="7083425" y="1635125"/>
            <a:ext cx="358775" cy="1854309"/>
          </a:xfrm>
          <a:prstGeom prst="rightBrace">
            <a:avLst>
              <a:gd name="adj1" fmla="val 8326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37894" name="右大括号 5"/>
          <p:cNvSpPr/>
          <p:nvPr/>
        </p:nvSpPr>
        <p:spPr bwMode="auto">
          <a:xfrm>
            <a:off x="7083425" y="3668823"/>
            <a:ext cx="358775" cy="477728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37895" name="右大括号 6"/>
          <p:cNvSpPr/>
          <p:nvPr/>
        </p:nvSpPr>
        <p:spPr bwMode="auto">
          <a:xfrm>
            <a:off x="7096508" y="4303792"/>
            <a:ext cx="358775" cy="455641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37896" name="TextBox 7"/>
          <p:cNvSpPr txBox="1">
            <a:spLocks noChangeArrowheads="1"/>
          </p:cNvSpPr>
          <p:nvPr/>
        </p:nvSpPr>
        <p:spPr bwMode="auto">
          <a:xfrm>
            <a:off x="7621588" y="2352675"/>
            <a:ext cx="12557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CC"/>
                </a:solidFill>
              </a:rPr>
              <a:t>个数要求</a:t>
            </a:r>
            <a:endParaRPr lang="zh-CN" altLang="en-US" b="1">
              <a:solidFill>
                <a:srgbClr val="0000CC"/>
              </a:solidFill>
            </a:endParaRPr>
          </a:p>
        </p:txBody>
      </p:sp>
      <p:sp>
        <p:nvSpPr>
          <p:cNvPr id="37897" name="TextBox 8"/>
          <p:cNvSpPr txBox="1">
            <a:spLocks noChangeArrowheads="1"/>
          </p:cNvSpPr>
          <p:nvPr/>
        </p:nvSpPr>
        <p:spPr bwMode="auto">
          <a:xfrm>
            <a:off x="7621588" y="3776663"/>
            <a:ext cx="1255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CC"/>
                </a:solidFill>
              </a:rPr>
              <a:t>大小要求</a:t>
            </a:r>
            <a:endParaRPr lang="zh-CN" altLang="en-US" b="1">
              <a:solidFill>
                <a:srgbClr val="0000CC"/>
              </a:solidFill>
            </a:endParaRPr>
          </a:p>
        </p:txBody>
      </p:sp>
      <p:sp>
        <p:nvSpPr>
          <p:cNvPr id="37898" name="TextBox 9"/>
          <p:cNvSpPr txBox="1">
            <a:spLocks noChangeArrowheads="1"/>
          </p:cNvSpPr>
          <p:nvPr/>
        </p:nvSpPr>
        <p:spPr bwMode="auto">
          <a:xfrm>
            <a:off x="7621588" y="4389545"/>
            <a:ext cx="12557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CC"/>
                </a:solidFill>
              </a:rPr>
              <a:t>层次要求</a:t>
            </a:r>
            <a:endParaRPr lang="zh-CN" altLang="en-US" b="1" dirty="0">
              <a:solidFill>
                <a:srgbClr val="0000CC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B-</a:t>
            </a:r>
            <a:r>
              <a:rPr lang="zh-CN" altLang="en-US" dirty="0" smtClean="0"/>
              <a:t>树的高度</a:t>
            </a:r>
            <a:endParaRPr lang="zh-CN" altLang="en-US" dirty="0" smtClean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/>
            <a:r>
              <a:rPr lang="zh-CN" altLang="en-US" dirty="0" smtClean="0"/>
              <a:t>定理</a:t>
            </a:r>
            <a:r>
              <a:rPr lang="en-US" altLang="zh-CN" dirty="0" smtClean="0"/>
              <a:t>11-3  </a:t>
            </a:r>
            <a:br>
              <a:rPr lang="en-US" altLang="zh-CN" dirty="0" smtClean="0"/>
            </a:br>
            <a:r>
              <a:rPr lang="zh-CN" altLang="en-US" dirty="0" smtClean="0"/>
              <a:t>设</a:t>
            </a:r>
            <a:r>
              <a:rPr lang="en-US" altLang="zh-CN" i="1" dirty="0" smtClean="0"/>
              <a:t>T</a:t>
            </a:r>
            <a:r>
              <a:rPr lang="zh-CN" altLang="en-US" dirty="0" smtClean="0"/>
              <a:t>是一棵高度为</a:t>
            </a:r>
            <a:r>
              <a:rPr lang="en-US" altLang="zh-CN" i="1" dirty="0" smtClean="0"/>
              <a:t>h</a:t>
            </a:r>
            <a:r>
              <a:rPr lang="zh-CN" altLang="en-US" dirty="0" smtClean="0"/>
              <a:t>的</a:t>
            </a:r>
            <a:r>
              <a:rPr lang="en-US" altLang="zh-CN" i="1" dirty="0" smtClean="0"/>
              <a:t>m</a:t>
            </a:r>
            <a:r>
              <a:rPr lang="zh-CN" altLang="en-US" dirty="0" smtClean="0"/>
              <a:t>阶</a:t>
            </a:r>
            <a:r>
              <a:rPr lang="en-US" altLang="zh-CN" dirty="0" smtClean="0"/>
              <a:t>B-</a:t>
            </a:r>
            <a:r>
              <a:rPr lang="zh-CN" altLang="en-US" dirty="0" smtClean="0"/>
              <a:t>树</a:t>
            </a:r>
            <a:br>
              <a:rPr lang="zh-CN" altLang="en-US" dirty="0" smtClean="0"/>
            </a:br>
            <a:r>
              <a:rPr lang="en-US" altLang="zh-CN" i="1" dirty="0" smtClean="0"/>
              <a:t>d</a:t>
            </a:r>
            <a:r>
              <a:rPr lang="en-US" altLang="zh-CN" dirty="0" smtClean="0"/>
              <a:t>=          </a:t>
            </a:r>
            <a:r>
              <a:rPr lang="zh-CN" altLang="en-US" dirty="0" smtClean="0"/>
              <a:t>且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是</a:t>
            </a:r>
            <a:r>
              <a:rPr lang="en-US" altLang="zh-CN" i="1" dirty="0" smtClean="0"/>
              <a:t>T</a:t>
            </a:r>
            <a:r>
              <a:rPr lang="zh-CN" altLang="en-US" dirty="0" smtClean="0"/>
              <a:t>中的元素个数，则</a:t>
            </a:r>
            <a:endParaRPr lang="zh-CN" altLang="en-US" dirty="0" smtClean="0"/>
          </a:p>
          <a:p>
            <a:pPr marL="914400" lvl="1" indent="-457200">
              <a:buFont typeface="Wingdings" panose="05000000000000000000" pitchFamily="2" charset="2"/>
              <a:buAutoNum type="arabicParenR"/>
            </a:pPr>
            <a:r>
              <a:rPr lang="en-US" altLang="zh-CN" dirty="0" smtClean="0"/>
              <a:t>2</a:t>
            </a:r>
            <a:r>
              <a:rPr lang="en-US" altLang="zh-CN" i="1" dirty="0" smtClean="0"/>
              <a:t>d</a:t>
            </a:r>
            <a:r>
              <a:rPr lang="en-US" altLang="zh-CN" i="1" baseline="30000" dirty="0" smtClean="0"/>
              <a:t>h</a:t>
            </a:r>
            <a:r>
              <a:rPr lang="en-US" altLang="zh-CN" baseline="30000" dirty="0" smtClean="0"/>
              <a:t>-1</a:t>
            </a:r>
            <a:r>
              <a:rPr lang="en-US" altLang="zh-CN" dirty="0" smtClean="0"/>
              <a:t>-1≤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≤</a:t>
            </a:r>
            <a:r>
              <a:rPr lang="en-US" altLang="zh-CN" i="1" dirty="0" smtClean="0"/>
              <a:t>m</a:t>
            </a:r>
            <a:r>
              <a:rPr lang="en-US" altLang="zh-CN" i="1" baseline="30000" dirty="0" smtClean="0"/>
              <a:t>h</a:t>
            </a:r>
            <a:r>
              <a:rPr lang="en-US" altLang="zh-CN" dirty="0" smtClean="0"/>
              <a:t>-1</a:t>
            </a:r>
            <a:endParaRPr lang="en-US" altLang="zh-CN" dirty="0" smtClean="0"/>
          </a:p>
          <a:p>
            <a:pPr marL="914400" lvl="1" indent="-457200">
              <a:buFont typeface="Wingdings" panose="05000000000000000000" pitchFamily="2" charset="2"/>
              <a:buAutoNum type="arabicParenR"/>
            </a:pPr>
            <a:r>
              <a:rPr lang="en-US" altLang="zh-CN" dirty="0" err="1" smtClean="0"/>
              <a:t>log</a:t>
            </a:r>
            <a:r>
              <a:rPr lang="en-US" altLang="zh-CN" i="1" baseline="-25000" dirty="0" err="1" smtClean="0"/>
              <a:t>m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+1)≤</a:t>
            </a:r>
            <a:r>
              <a:rPr lang="en-US" altLang="zh-CN" i="1" dirty="0" err="1" smtClean="0"/>
              <a:t>h</a:t>
            </a:r>
            <a:r>
              <a:rPr lang="en-US" altLang="zh-CN" dirty="0" err="1" smtClean="0"/>
              <a:t>≤log</a:t>
            </a:r>
            <a:r>
              <a:rPr lang="en-US" altLang="zh-CN" i="1" baseline="-25000" dirty="0" err="1" smtClean="0"/>
              <a:t>d</a:t>
            </a:r>
            <a:r>
              <a:rPr lang="en-US" altLang="zh-CN" dirty="0" smtClean="0"/>
              <a:t>((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+1)/2)+1</a:t>
            </a:r>
            <a:endParaRPr lang="en-US" altLang="zh-CN" dirty="0" smtClean="0"/>
          </a:p>
        </p:txBody>
      </p:sp>
      <p:sp>
        <p:nvSpPr>
          <p:cNvPr id="410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D9D6040-46DE-4586-B3A9-9FC7FA6E5C39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642241" y="2493788"/>
          <a:ext cx="798032" cy="422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1" imgW="431800" imgH="228600" progId="Equation.3">
                  <p:embed/>
                </p:oleObj>
              </mc:Choice>
              <mc:Fallback>
                <p:oleObj name="Equation" r:id="rId1" imgW="431800" imgH="228600" progId="Equation.3">
                  <p:embed/>
                  <p:pic>
                    <p:nvPicPr>
                      <p:cNvPr id="0" name="图片 286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2241" y="2493788"/>
                        <a:ext cx="798032" cy="422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证明</a:t>
            </a:r>
            <a:endParaRPr lang="zh-CN" altLang="en-US" smtClean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400" indent="-533400">
              <a:buFont typeface="Wingdings" panose="05000000000000000000" pitchFamily="2" charset="2"/>
              <a:buNone/>
            </a:pPr>
            <a:r>
              <a:rPr lang="en-US" altLang="zh-CN" i="1" dirty="0" smtClean="0"/>
              <a:t>	n</a:t>
            </a:r>
            <a:r>
              <a:rPr lang="zh-CN" altLang="en-US" dirty="0" smtClean="0"/>
              <a:t>的上限，由</a:t>
            </a:r>
            <a:r>
              <a:rPr lang="en-US" altLang="zh-CN" i="1" dirty="0" smtClean="0"/>
              <a:t>T</a:t>
            </a:r>
            <a:r>
              <a:rPr lang="zh-CN" altLang="en-US" dirty="0" smtClean="0"/>
              <a:t>是一棵</a:t>
            </a:r>
            <a:r>
              <a:rPr lang="en-US" altLang="zh-CN" i="1" dirty="0" smtClean="0"/>
              <a:t>m</a:t>
            </a:r>
            <a:r>
              <a:rPr lang="zh-CN" altLang="en-US" dirty="0" smtClean="0"/>
              <a:t>叉搜索树，得证</a:t>
            </a:r>
            <a:br>
              <a:rPr lang="zh-CN" altLang="en-US" dirty="0" smtClean="0"/>
            </a:br>
            <a:r>
              <a:rPr lang="zh-CN" altLang="en-US" dirty="0" smtClean="0"/>
              <a:t>对于下限，扩充</a:t>
            </a:r>
            <a:r>
              <a:rPr lang="en-US" altLang="zh-CN" dirty="0" smtClean="0"/>
              <a:t>B-</a:t>
            </a:r>
            <a:r>
              <a:rPr lang="zh-CN" altLang="en-US" dirty="0" smtClean="0"/>
              <a:t>树的外部节点都在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+1</a:t>
            </a:r>
            <a:r>
              <a:rPr lang="zh-CN" altLang="en-US" dirty="0" smtClean="0"/>
              <a:t>层。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4</a:t>
            </a:r>
            <a:r>
              <a:rPr lang="zh-CN" altLang="en-US" dirty="0" smtClean="0"/>
              <a:t>，</a:t>
            </a:r>
            <a:r>
              <a:rPr lang="en-US" altLang="zh-CN" dirty="0" smtClean="0"/>
              <a:t>...</a:t>
            </a:r>
            <a:r>
              <a:rPr lang="zh-CN" altLang="en-US" dirty="0" smtClean="0"/>
              <a:t>，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+1</a:t>
            </a:r>
            <a:r>
              <a:rPr lang="zh-CN" altLang="en-US" dirty="0" smtClean="0"/>
              <a:t>层的节点最小数目是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en-US" altLang="zh-CN" i="1" dirty="0" smtClean="0"/>
              <a:t>d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en-US" altLang="zh-CN" i="1" dirty="0" smtClean="0"/>
              <a:t>d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...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en-US" altLang="zh-CN" i="1" dirty="0" smtClean="0"/>
              <a:t>d</a:t>
            </a:r>
            <a:r>
              <a:rPr lang="en-US" altLang="zh-CN" i="1" baseline="30000" dirty="0" smtClean="0"/>
              <a:t>h</a:t>
            </a:r>
            <a:r>
              <a:rPr lang="en-US" altLang="zh-CN" baseline="30000" dirty="0" smtClean="0"/>
              <a:t>-1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B-</a:t>
            </a:r>
            <a:r>
              <a:rPr lang="zh-CN" altLang="en-US" dirty="0" smtClean="0"/>
              <a:t>树中外部节点的最小数是</a:t>
            </a:r>
            <a:r>
              <a:rPr lang="en-US" altLang="zh-CN" dirty="0" smtClean="0"/>
              <a:t>2</a:t>
            </a:r>
            <a:r>
              <a:rPr lang="en-US" altLang="zh-CN" i="1" dirty="0" smtClean="0"/>
              <a:t>d</a:t>
            </a:r>
            <a:r>
              <a:rPr lang="en-US" altLang="zh-CN" i="1" baseline="30000" dirty="0" smtClean="0"/>
              <a:t>h</a:t>
            </a:r>
            <a:r>
              <a:rPr lang="en-US" altLang="zh-CN" baseline="30000" dirty="0" smtClean="0"/>
              <a:t>-1</a:t>
            </a:r>
            <a:br>
              <a:rPr lang="en-US" altLang="zh-CN" dirty="0" smtClean="0"/>
            </a:br>
            <a:r>
              <a:rPr lang="zh-CN" altLang="en-US" dirty="0" smtClean="0">
                <a:solidFill>
                  <a:srgbClr val="FF0000"/>
                </a:solidFill>
              </a:rPr>
              <a:t>外部节点的数量比元素的个数多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br>
              <a:rPr lang="en-US" altLang="zh-CN" dirty="0" smtClean="0"/>
            </a:b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en-US" altLang="zh-CN" i="1" dirty="0" smtClean="0"/>
              <a:t>d</a:t>
            </a:r>
            <a:r>
              <a:rPr lang="en-US" altLang="zh-CN" i="1" baseline="30000" dirty="0" smtClean="0"/>
              <a:t>h</a:t>
            </a:r>
            <a:r>
              <a:rPr lang="en-US" altLang="zh-CN" baseline="30000" dirty="0" smtClean="0"/>
              <a:t>-1</a:t>
            </a:r>
            <a:r>
              <a:rPr lang="en-US" altLang="zh-CN" dirty="0" smtClean="0"/>
              <a:t>-1</a:t>
            </a:r>
            <a:r>
              <a:rPr lang="zh-CN" altLang="en-US" dirty="0" smtClean="0"/>
              <a:t>从</a:t>
            </a:r>
            <a:r>
              <a:rPr lang="en-US" altLang="zh-CN" dirty="0" smtClean="0"/>
              <a:t>1)</a:t>
            </a:r>
            <a:r>
              <a:rPr lang="zh-CN" altLang="en-US" dirty="0" smtClean="0"/>
              <a:t>直接可以得到</a:t>
            </a:r>
            <a:r>
              <a:rPr lang="en-US" altLang="zh-CN" dirty="0" smtClean="0"/>
              <a:t>2 )</a:t>
            </a:r>
            <a:endParaRPr lang="en-US" altLang="zh-CN" dirty="0" smtClean="0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20326C1-8992-4C1D-9FAA-517793D3B272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插入操作</a:t>
            </a:r>
            <a:r>
              <a:rPr lang="en-US" altLang="zh-CN" smtClean="0"/>
              <a:t>——</a:t>
            </a:r>
            <a:r>
              <a:rPr lang="zh-CN" altLang="en-US" smtClean="0"/>
              <a:t>简单情况</a:t>
            </a:r>
            <a:endParaRPr lang="zh-CN" altLang="en-US" smtClean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插入节点的元素数</a:t>
            </a:r>
            <a:r>
              <a:rPr lang="en-US" altLang="zh-CN" smtClean="0"/>
              <a:t>&lt;m-1</a:t>
            </a:r>
            <a:r>
              <a:rPr lang="zh-CN" altLang="en-US" smtClean="0"/>
              <a:t>，直接插入</a:t>
            </a:r>
            <a:endParaRPr lang="zh-CN" altLang="en-US" smtClean="0"/>
          </a:p>
        </p:txBody>
      </p:sp>
      <p:sp>
        <p:nvSpPr>
          <p:cNvPr id="3994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56CC65C-63AD-4AB6-91B8-BAE9EA44D037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39940" name="Picture 4" descr="b-tre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320131"/>
            <a:ext cx="6935788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5" descr="btreeins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069" y="4668838"/>
            <a:ext cx="7129463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Text Box 6"/>
          <p:cNvSpPr txBox="1">
            <a:spLocks noChangeArrowheads="1"/>
          </p:cNvSpPr>
          <p:nvPr/>
        </p:nvSpPr>
        <p:spPr bwMode="ltGray">
          <a:xfrm>
            <a:off x="1815662" y="4052888"/>
            <a:ext cx="2514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插入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9943" name="Line 7"/>
          <p:cNvSpPr>
            <a:spLocks noChangeShapeType="1"/>
          </p:cNvSpPr>
          <p:nvPr/>
        </p:nvSpPr>
        <p:spPr bwMode="ltGray">
          <a:xfrm flipH="1">
            <a:off x="4572000" y="4001294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插入操作</a:t>
            </a:r>
            <a:r>
              <a:rPr lang="en-US" altLang="zh-CN" smtClean="0"/>
              <a:t>——</a:t>
            </a:r>
            <a:r>
              <a:rPr lang="zh-CN" altLang="en-US" smtClean="0"/>
              <a:t>分裂</a:t>
            </a:r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插入节点的元素数</a:t>
            </a:r>
            <a:r>
              <a:rPr lang="zh-CN" altLang="en-US" smtClean="0">
                <a:latin typeface="宋体" panose="02010600030101010101" pitchFamily="2" charset="-122"/>
              </a:rPr>
              <a:t>＝</a:t>
            </a:r>
            <a:r>
              <a:rPr lang="en-US" altLang="zh-CN" smtClean="0"/>
              <a:t>m-1</a:t>
            </a:r>
            <a:r>
              <a:rPr lang="zh-CN" altLang="en-US" smtClean="0"/>
              <a:t>，再添加新的元素，必然超出限制，怎么办？分裂！</a:t>
            </a:r>
            <a:endParaRPr lang="zh-CN" altLang="en-US" smtClean="0"/>
          </a:p>
          <a:p>
            <a:r>
              <a:rPr lang="zh-CN" altLang="en-US" smtClean="0"/>
              <a:t>带空指针的新元素</a:t>
            </a:r>
            <a:r>
              <a:rPr lang="en-US" altLang="zh-CN" smtClean="0"/>
              <a:t>e</a:t>
            </a:r>
            <a:r>
              <a:rPr lang="zh-CN" altLang="en-US" smtClean="0"/>
              <a:t>插入饱和节点</a:t>
            </a:r>
            <a:r>
              <a:rPr lang="en-US" altLang="zh-CN" smtClean="0"/>
              <a:t>P</a:t>
            </a:r>
            <a:br>
              <a:rPr lang="en-US" altLang="zh-CN" smtClean="0"/>
            </a:br>
            <a:r>
              <a:rPr lang="en-US" altLang="zh-CN" smtClean="0">
                <a:sym typeface="Wingdings" panose="05000000000000000000" pitchFamily="2" charset="2"/>
              </a:rPr>
              <a:t></a:t>
            </a:r>
            <a:r>
              <a:rPr lang="zh-CN" altLang="en-US" smtClean="0">
                <a:sym typeface="Wingdings" panose="05000000000000000000" pitchFamily="2" charset="2"/>
              </a:rPr>
              <a:t>成为溢出节点</a:t>
            </a:r>
            <a:br>
              <a:rPr lang="zh-CN" altLang="en-US" smtClean="0">
                <a:sym typeface="Wingdings" panose="05000000000000000000" pitchFamily="2" charset="2"/>
              </a:rPr>
            </a:br>
            <a:r>
              <a:rPr lang="en-US" altLang="zh-CN" i="1" smtClean="0"/>
              <a:t>m</a:t>
            </a:r>
            <a:r>
              <a:rPr lang="zh-CN" altLang="en-US" smtClean="0"/>
              <a:t>，</a:t>
            </a:r>
            <a:r>
              <a:rPr lang="en-US" altLang="zh-CN" i="1" smtClean="0"/>
              <a:t>c</a:t>
            </a:r>
            <a:r>
              <a:rPr lang="en-US" altLang="zh-CN" baseline="-25000" smtClean="0"/>
              <a:t>0</a:t>
            </a:r>
            <a:r>
              <a:rPr lang="en-US" altLang="zh-CN" smtClean="0">
                <a:ea typeface="仿宋_GB2312" pitchFamily="49" charset="-122"/>
              </a:rPr>
              <a:t>, </a:t>
            </a:r>
            <a:r>
              <a:rPr lang="en-US" altLang="zh-CN" smtClean="0"/>
              <a:t>(</a:t>
            </a:r>
            <a:r>
              <a:rPr lang="en-US" altLang="zh-CN" i="1" smtClean="0"/>
              <a:t>e</a:t>
            </a:r>
            <a:r>
              <a:rPr lang="en-US" altLang="zh-CN" baseline="-25000" smtClean="0"/>
              <a:t>1</a:t>
            </a:r>
            <a:r>
              <a:rPr lang="en-US" altLang="zh-CN" smtClean="0"/>
              <a:t>, </a:t>
            </a:r>
            <a:r>
              <a:rPr lang="en-US" altLang="zh-CN" i="1" smtClean="0"/>
              <a:t>c</a:t>
            </a:r>
            <a:r>
              <a:rPr lang="en-US" altLang="zh-CN" baseline="-25000" smtClean="0"/>
              <a:t>1</a:t>
            </a:r>
            <a:r>
              <a:rPr lang="en-US" altLang="zh-CN" smtClean="0"/>
              <a:t>)</a:t>
            </a:r>
            <a:r>
              <a:rPr lang="en-US" altLang="zh-CN" smtClean="0">
                <a:ea typeface="仿宋_GB2312" pitchFamily="49" charset="-122"/>
              </a:rPr>
              <a:t>, </a:t>
            </a:r>
            <a:r>
              <a:rPr lang="en-US" altLang="zh-CN" smtClean="0"/>
              <a:t>...</a:t>
            </a:r>
            <a:r>
              <a:rPr lang="en-US" altLang="zh-CN" smtClean="0">
                <a:ea typeface="仿宋_GB2312" pitchFamily="49" charset="-122"/>
              </a:rPr>
              <a:t>, </a:t>
            </a:r>
            <a:r>
              <a:rPr lang="en-US" altLang="zh-CN" smtClean="0"/>
              <a:t>(</a:t>
            </a:r>
            <a:r>
              <a:rPr lang="en-US" altLang="zh-CN" i="1" smtClean="0"/>
              <a:t>e</a:t>
            </a:r>
            <a:r>
              <a:rPr lang="en-US" altLang="zh-CN" i="1" baseline="-25000" smtClean="0"/>
              <a:t>m</a:t>
            </a:r>
            <a:r>
              <a:rPr lang="en-US" altLang="zh-CN" smtClean="0"/>
              <a:t>, </a:t>
            </a:r>
            <a:r>
              <a:rPr lang="en-US" altLang="zh-CN" i="1" smtClean="0"/>
              <a:t>c</a:t>
            </a:r>
            <a:r>
              <a:rPr lang="en-US" altLang="zh-CN" i="1" baseline="-25000" smtClean="0"/>
              <a:t>m</a:t>
            </a:r>
            <a:r>
              <a:rPr lang="en-US" altLang="zh-CN" smtClean="0"/>
              <a:t>)</a:t>
            </a:r>
            <a:endParaRPr lang="en-US" altLang="zh-CN" smtClean="0"/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21E766-EB95-4084-A75D-BD548313481E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插入操作</a:t>
            </a:r>
            <a:r>
              <a:rPr lang="en-US" altLang="zh-CN" smtClean="0"/>
              <a:t>——</a:t>
            </a:r>
            <a:r>
              <a:rPr lang="zh-CN" altLang="en-US" smtClean="0"/>
              <a:t>分裂</a:t>
            </a:r>
            <a:endParaRPr lang="zh-CN" altLang="en-US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从</a:t>
            </a:r>
            <a:r>
              <a:rPr lang="en-US" altLang="zh-CN" i="1" smtClean="0"/>
              <a:t>e</a:t>
            </a:r>
            <a:r>
              <a:rPr lang="en-US" altLang="zh-CN" i="1" baseline="-25000" smtClean="0"/>
              <a:t>d</a:t>
            </a:r>
            <a:r>
              <a:rPr lang="zh-CN" altLang="en-US" smtClean="0"/>
              <a:t>处分裂出新节点</a:t>
            </a:r>
            <a:r>
              <a:rPr lang="en-US" altLang="zh-CN" i="1" smtClean="0"/>
              <a:t>Q</a:t>
            </a:r>
            <a:r>
              <a:rPr lang="zh-CN" altLang="en-US" smtClean="0"/>
              <a:t>：</a:t>
            </a:r>
            <a:br>
              <a:rPr lang="zh-CN" altLang="en-US" smtClean="0"/>
            </a:br>
            <a:r>
              <a:rPr lang="en-US" altLang="zh-CN" i="1" smtClean="0"/>
              <a:t>P</a:t>
            </a:r>
            <a:r>
              <a:rPr lang="zh-CN" altLang="en-US" smtClean="0"/>
              <a:t>：</a:t>
            </a:r>
            <a:r>
              <a:rPr lang="en-US" altLang="zh-CN" i="1" smtClean="0"/>
              <a:t>d</a:t>
            </a:r>
            <a:r>
              <a:rPr lang="en-US" altLang="zh-CN" smtClean="0"/>
              <a:t>-1</a:t>
            </a:r>
            <a:r>
              <a:rPr lang="zh-CN" altLang="en-US" smtClean="0"/>
              <a:t>，</a:t>
            </a:r>
            <a:r>
              <a:rPr lang="en-US" altLang="zh-CN" i="1" smtClean="0"/>
              <a:t>c</a:t>
            </a:r>
            <a:r>
              <a:rPr lang="en-US" altLang="zh-CN" baseline="-25000" smtClean="0"/>
              <a:t>0</a:t>
            </a:r>
            <a:r>
              <a:rPr lang="en-US" altLang="zh-CN" smtClean="0"/>
              <a:t>, (</a:t>
            </a:r>
            <a:r>
              <a:rPr lang="en-US" altLang="zh-CN" i="1" smtClean="0"/>
              <a:t>e</a:t>
            </a:r>
            <a:r>
              <a:rPr lang="en-US" altLang="zh-CN" baseline="-25000" smtClean="0"/>
              <a:t>1</a:t>
            </a:r>
            <a:r>
              <a:rPr lang="en-US" altLang="zh-CN" smtClean="0"/>
              <a:t>, </a:t>
            </a:r>
            <a:r>
              <a:rPr lang="en-US" altLang="zh-CN" i="1" smtClean="0"/>
              <a:t>c</a:t>
            </a:r>
            <a:r>
              <a:rPr lang="en-US" altLang="zh-CN" baseline="-25000" smtClean="0"/>
              <a:t>1</a:t>
            </a:r>
            <a:r>
              <a:rPr lang="en-US" altLang="zh-CN" smtClean="0"/>
              <a:t>), ..., (</a:t>
            </a:r>
            <a:r>
              <a:rPr lang="en-US" altLang="zh-CN" i="1" smtClean="0"/>
              <a:t>e</a:t>
            </a:r>
            <a:r>
              <a:rPr lang="en-US" altLang="zh-CN" i="1" baseline="-25000" smtClean="0"/>
              <a:t>d</a:t>
            </a:r>
            <a:r>
              <a:rPr lang="en-US" altLang="zh-CN" baseline="-25000" smtClean="0"/>
              <a:t>-1</a:t>
            </a:r>
            <a:r>
              <a:rPr lang="en-US" altLang="zh-CN" smtClean="0"/>
              <a:t>, </a:t>
            </a:r>
            <a:r>
              <a:rPr lang="en-US" altLang="zh-CN" i="1" smtClean="0"/>
              <a:t>c</a:t>
            </a:r>
            <a:r>
              <a:rPr lang="en-US" altLang="zh-CN" i="1" baseline="-25000" smtClean="0"/>
              <a:t>d</a:t>
            </a:r>
            <a:r>
              <a:rPr lang="en-US" altLang="zh-CN" baseline="-25000" smtClean="0"/>
              <a:t>-1</a:t>
            </a:r>
            <a:r>
              <a:rPr lang="en-US" altLang="zh-CN" smtClean="0"/>
              <a:t>)</a:t>
            </a:r>
            <a:br>
              <a:rPr lang="en-US" altLang="zh-CN" smtClean="0"/>
            </a:br>
            <a:r>
              <a:rPr lang="en-US" altLang="zh-CN" i="1" smtClean="0"/>
              <a:t>Q</a:t>
            </a:r>
            <a:r>
              <a:rPr lang="zh-CN" altLang="en-US" smtClean="0"/>
              <a:t>：</a:t>
            </a:r>
            <a:r>
              <a:rPr lang="en-US" altLang="zh-CN" i="1" smtClean="0"/>
              <a:t>m</a:t>
            </a:r>
            <a:r>
              <a:rPr lang="en-US" altLang="zh-CN" smtClean="0"/>
              <a:t>-</a:t>
            </a:r>
            <a:r>
              <a:rPr lang="en-US" altLang="zh-CN" i="1" smtClean="0"/>
              <a:t>d</a:t>
            </a:r>
            <a:r>
              <a:rPr lang="zh-CN" altLang="en-US" smtClean="0"/>
              <a:t>，</a:t>
            </a:r>
            <a:r>
              <a:rPr lang="en-US" altLang="zh-CN" i="1" smtClean="0"/>
              <a:t>c</a:t>
            </a:r>
            <a:r>
              <a:rPr lang="en-US" altLang="zh-CN" i="1" baseline="-25000" smtClean="0"/>
              <a:t>d</a:t>
            </a:r>
            <a:r>
              <a:rPr lang="en-US" altLang="zh-CN" smtClean="0"/>
              <a:t>, (</a:t>
            </a:r>
            <a:r>
              <a:rPr lang="en-US" altLang="zh-CN" i="1" smtClean="0"/>
              <a:t>e</a:t>
            </a:r>
            <a:r>
              <a:rPr lang="en-US" altLang="zh-CN" i="1" baseline="-25000" smtClean="0"/>
              <a:t>d</a:t>
            </a:r>
            <a:r>
              <a:rPr lang="en-US" altLang="zh-CN" baseline="-25000" smtClean="0"/>
              <a:t>+1</a:t>
            </a:r>
            <a:r>
              <a:rPr lang="en-US" altLang="zh-CN" smtClean="0"/>
              <a:t>, </a:t>
            </a:r>
            <a:r>
              <a:rPr lang="en-US" altLang="zh-CN" i="1" smtClean="0"/>
              <a:t>c</a:t>
            </a:r>
            <a:r>
              <a:rPr lang="en-US" altLang="zh-CN" i="1" baseline="-25000" smtClean="0"/>
              <a:t>d</a:t>
            </a:r>
            <a:r>
              <a:rPr lang="en-US" altLang="zh-CN" baseline="-25000" smtClean="0"/>
              <a:t>+1</a:t>
            </a:r>
            <a:r>
              <a:rPr lang="en-US" altLang="zh-CN" smtClean="0"/>
              <a:t>), ..., (</a:t>
            </a:r>
            <a:r>
              <a:rPr lang="en-US" altLang="zh-CN" i="1" smtClean="0"/>
              <a:t>e</a:t>
            </a:r>
            <a:r>
              <a:rPr lang="en-US" altLang="zh-CN" i="1" baseline="-25000" smtClean="0"/>
              <a:t>m</a:t>
            </a:r>
            <a:r>
              <a:rPr lang="en-US" altLang="zh-CN" smtClean="0"/>
              <a:t>, </a:t>
            </a:r>
            <a:r>
              <a:rPr lang="en-US" altLang="zh-CN" i="1" smtClean="0"/>
              <a:t>c</a:t>
            </a:r>
            <a:r>
              <a:rPr lang="en-US" altLang="zh-CN" i="1" baseline="-25000" smtClean="0"/>
              <a:t>m</a:t>
            </a:r>
            <a:r>
              <a:rPr lang="en-US" altLang="zh-CN" smtClean="0"/>
              <a:t>)</a:t>
            </a:r>
            <a:endParaRPr lang="en-US" altLang="zh-CN" smtClean="0"/>
          </a:p>
          <a:p>
            <a:r>
              <a:rPr lang="en-US" altLang="zh-CN" smtClean="0"/>
              <a:t>(</a:t>
            </a:r>
            <a:r>
              <a:rPr lang="en-US" altLang="zh-CN" i="1" smtClean="0"/>
              <a:t>e</a:t>
            </a:r>
            <a:r>
              <a:rPr lang="en-US" altLang="zh-CN" i="1" baseline="-25000" smtClean="0"/>
              <a:t>d</a:t>
            </a:r>
            <a:r>
              <a:rPr lang="en-US" altLang="zh-CN" smtClean="0"/>
              <a:t>, </a:t>
            </a:r>
            <a:r>
              <a:rPr lang="en-US" altLang="zh-CN" i="1" smtClean="0"/>
              <a:t>Q</a:t>
            </a:r>
            <a:r>
              <a:rPr lang="en-US" altLang="zh-CN" smtClean="0"/>
              <a:t>)</a:t>
            </a:r>
            <a:r>
              <a:rPr lang="zh-CN" altLang="en-US" smtClean="0"/>
              <a:t>提升到</a:t>
            </a:r>
            <a:r>
              <a:rPr lang="en-US" altLang="zh-CN" i="1" smtClean="0"/>
              <a:t>P</a:t>
            </a:r>
            <a:r>
              <a:rPr lang="zh-CN" altLang="en-US" smtClean="0"/>
              <a:t>的父节点中</a:t>
            </a:r>
            <a:endParaRPr lang="zh-CN" altLang="en-US" smtClean="0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C11C91-C461-44F6-B45E-67F8B60DD672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分裂例</a:t>
            </a:r>
            <a:endParaRPr lang="zh-CN" altLang="en-US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301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C382EE-2832-4560-AA42-C96406961953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43011" name="Picture 4" descr="btreeins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68725"/>
            <a:ext cx="8915400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Text Box 5"/>
          <p:cNvSpPr txBox="1">
            <a:spLocks noChangeArrowheads="1"/>
          </p:cNvSpPr>
          <p:nvPr/>
        </p:nvSpPr>
        <p:spPr bwMode="ltGray">
          <a:xfrm>
            <a:off x="914400" y="3421063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插入</a:t>
            </a:r>
            <a:r>
              <a:rPr lang="en-US" altLang="zh-CN">
                <a:solidFill>
                  <a:schemeClr val="hlink"/>
                </a:solidFill>
              </a:rPr>
              <a:t>25</a:t>
            </a:r>
            <a:endParaRPr lang="en-US" altLang="zh-CN">
              <a:solidFill>
                <a:schemeClr val="hlink"/>
              </a:solidFill>
            </a:endParaRPr>
          </a:p>
        </p:txBody>
      </p:sp>
      <p:sp>
        <p:nvSpPr>
          <p:cNvPr id="43013" name="Line 6"/>
          <p:cNvSpPr>
            <a:spLocks noChangeShapeType="1"/>
          </p:cNvSpPr>
          <p:nvPr/>
        </p:nvSpPr>
        <p:spPr bwMode="ltGray">
          <a:xfrm flipV="1">
            <a:off x="2133600" y="3878263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3014" name="Picture 8" descr="b-tree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23195"/>
            <a:ext cx="7916863" cy="182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插入操作</a:t>
            </a:r>
            <a:r>
              <a:rPr lang="en-US" altLang="zh-CN" smtClean="0"/>
              <a:t>——</a:t>
            </a:r>
            <a:r>
              <a:rPr lang="zh-CN" altLang="en-US" smtClean="0"/>
              <a:t>分裂回溯</a:t>
            </a:r>
            <a:endParaRPr lang="zh-CN" altLang="en-US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分裂后，中心节点提升至父节点</a:t>
            </a:r>
            <a:r>
              <a:rPr lang="en-US" altLang="zh-CN" smtClean="0"/>
              <a:t>——</a:t>
            </a:r>
            <a:br>
              <a:rPr lang="en-US" altLang="zh-CN" smtClean="0"/>
            </a:br>
            <a:r>
              <a:rPr lang="zh-CN" altLang="en-US" smtClean="0"/>
              <a:t>可能导致父节点溢出</a:t>
            </a:r>
            <a:r>
              <a:rPr lang="en-US" altLang="zh-CN" smtClean="0"/>
              <a:t>——</a:t>
            </a:r>
            <a:br>
              <a:rPr lang="en-US" altLang="zh-CN" smtClean="0"/>
            </a:br>
            <a:r>
              <a:rPr lang="zh-CN" altLang="en-US" smtClean="0"/>
              <a:t>继续分裂，</a:t>
            </a:r>
            <a:r>
              <a:rPr lang="en-US" altLang="zh-CN" smtClean="0"/>
              <a:t>...</a:t>
            </a:r>
            <a:r>
              <a:rPr lang="zh-CN" altLang="en-US" smtClean="0"/>
              <a:t>，直至根节点</a:t>
            </a:r>
            <a:endParaRPr lang="zh-CN" altLang="en-US" smtClean="0"/>
          </a:p>
          <a:p>
            <a:r>
              <a:rPr lang="en-US" altLang="zh-CN" smtClean="0"/>
              <a:t>s</a:t>
            </a:r>
            <a:r>
              <a:rPr lang="zh-CN" altLang="en-US" smtClean="0"/>
              <a:t>次分裂，磁盘操作次数为</a:t>
            </a:r>
            <a:r>
              <a:rPr lang="en-US" altLang="zh-CN" smtClean="0"/>
              <a:t>——</a:t>
            </a:r>
            <a:br>
              <a:rPr lang="en-US" altLang="zh-CN" smtClean="0"/>
            </a:br>
            <a:r>
              <a:rPr lang="en-US" altLang="zh-CN" smtClean="0"/>
              <a:t>h</a:t>
            </a:r>
            <a:r>
              <a:rPr lang="zh-CN" altLang="en-US" smtClean="0"/>
              <a:t>（读取路径上的节点）</a:t>
            </a:r>
            <a:r>
              <a:rPr lang="en-US" altLang="zh-CN" smtClean="0"/>
              <a:t>+</a:t>
            </a:r>
            <a:br>
              <a:rPr lang="en-US" altLang="zh-CN" smtClean="0"/>
            </a:br>
            <a:r>
              <a:rPr lang="en-US" altLang="zh-CN" smtClean="0"/>
              <a:t>2s</a:t>
            </a:r>
            <a:r>
              <a:rPr lang="zh-CN" altLang="en-US" smtClean="0"/>
              <a:t>（写回两个分裂出的新节点）</a:t>
            </a:r>
            <a:r>
              <a:rPr lang="en-US" altLang="zh-CN" smtClean="0"/>
              <a:t>+</a:t>
            </a:r>
            <a:br>
              <a:rPr lang="en-US" altLang="zh-CN" smtClean="0"/>
            </a:br>
            <a:r>
              <a:rPr lang="en-US" altLang="zh-CN" smtClean="0"/>
              <a:t>1</a:t>
            </a:r>
            <a:r>
              <a:rPr lang="zh-CN" altLang="en-US" smtClean="0"/>
              <a:t>（写回根节点或未分裂节点）</a:t>
            </a:r>
            <a:br>
              <a:rPr lang="zh-CN" altLang="en-US" smtClean="0"/>
            </a:br>
            <a:r>
              <a:rPr lang="zh-CN" altLang="en-US" smtClean="0"/>
              <a:t>最多</a:t>
            </a:r>
            <a:r>
              <a:rPr lang="en-US" altLang="zh-CN" smtClean="0"/>
              <a:t>3h+1</a:t>
            </a:r>
            <a:endParaRPr lang="en-US" altLang="zh-CN" smtClean="0"/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49C23AA-9562-4332-840A-339B05BF712F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分裂回溯例</a:t>
            </a:r>
            <a:r>
              <a:rPr lang="en-US" altLang="zh-CN" smtClean="0"/>
              <a:t>——</a:t>
            </a:r>
            <a:r>
              <a:rPr lang="zh-CN" altLang="en-US" smtClean="0"/>
              <a:t>三阶</a:t>
            </a:r>
            <a:r>
              <a:rPr lang="en-US" altLang="zh-CN" smtClean="0"/>
              <a:t>B-</a:t>
            </a:r>
            <a:r>
              <a:rPr lang="zh-CN" altLang="en-US" smtClean="0"/>
              <a:t>树</a:t>
            </a:r>
            <a:endParaRPr lang="zh-CN" altLang="en-US" smtClean="0"/>
          </a:p>
        </p:txBody>
      </p:sp>
      <p:sp>
        <p:nvSpPr>
          <p:cNvPr id="4506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65EBF52-0F1F-4860-8BC3-6DFEA0CA4E5B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45059" name="Picture 4" descr="2-3tre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356600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Text Box 5"/>
          <p:cNvSpPr txBox="1">
            <a:spLocks noChangeArrowheads="1"/>
          </p:cNvSpPr>
          <p:nvPr/>
        </p:nvSpPr>
        <p:spPr bwMode="ltGray">
          <a:xfrm>
            <a:off x="2057400" y="43434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插入</a:t>
            </a:r>
            <a:r>
              <a:rPr lang="en-US" altLang="zh-CN">
                <a:solidFill>
                  <a:schemeClr val="hlink"/>
                </a:solidFill>
              </a:rPr>
              <a:t>44</a:t>
            </a:r>
            <a:endParaRPr lang="en-US" altLang="zh-CN">
              <a:solidFill>
                <a:schemeClr val="hlink"/>
              </a:solidFill>
            </a:endParaRPr>
          </a:p>
        </p:txBody>
      </p:sp>
      <p:sp>
        <p:nvSpPr>
          <p:cNvPr id="45061" name="Line 6"/>
          <p:cNvSpPr>
            <a:spLocks noChangeShapeType="1"/>
          </p:cNvSpPr>
          <p:nvPr/>
        </p:nvSpPr>
        <p:spPr bwMode="ltGray">
          <a:xfrm flipH="1">
            <a:off x="4876800" y="42672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分裂回溯例（续）</a:t>
            </a:r>
            <a:endParaRPr lang="zh-CN" altLang="en-US" smtClean="0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1DD6229-70CF-477B-9324-5B1FDCEEF4B5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46083" name="Picture 4" descr="btreeins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47800"/>
            <a:ext cx="8662988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23620" y="838200"/>
            <a:ext cx="7205980" cy="19399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树描述正确的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树，根节点分裂是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树树高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的充要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树，节点分裂前，需要再在当前节点保存的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关键字个数为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全部关键字个数为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，外部节点个数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上图中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树的阶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920615" y="415290"/>
            <a:ext cx="4206875" cy="2300605"/>
            <a:chOff x="7773" y="3132"/>
            <a:chExt cx="6625" cy="3623"/>
          </a:xfrm>
        </p:grpSpPr>
        <p:grpSp>
          <p:nvGrpSpPr>
            <p:cNvPr id="21" name="组合 20"/>
            <p:cNvGrpSpPr/>
            <p:nvPr/>
          </p:nvGrpSpPr>
          <p:grpSpPr>
            <a:xfrm>
              <a:off x="8093" y="3132"/>
              <a:ext cx="4636" cy="3282"/>
              <a:chOff x="623" y="5288"/>
              <a:chExt cx="6575" cy="4650"/>
            </a:xfrm>
          </p:grpSpPr>
          <p:sp>
            <p:nvSpPr>
              <p:cNvPr id="1165317" name="AutoShape 5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3120" y="6308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25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21" name="AutoShape 9"/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1303" y="7440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13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23" name="AutoShape 11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4365" y="7440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34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25" name="AutoShape 13"/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4820" y="7440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43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27" name="AutoShape 15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5273" y="7440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49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29" name="AutoShape 17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735" y="8578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7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31" name="AutoShape 19"/>
              <p:cNvSpPr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1643" y="8575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19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33" name="AutoShape 21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2098" y="8575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22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35" name="AutoShape 23"/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3005" y="8575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28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37" name="AutoShape 25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913" y="8575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37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39" name="AutoShape 27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4365" y="8575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40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41" name="AutoShape 29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820" y="8575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41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43" name="AutoShape 31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5728" y="8575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46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45" name="AutoShape 33"/>
              <p:cNvSpPr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6635" y="8575"/>
                <a:ext cx="453" cy="453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2225">
                <a:solidFill>
                  <a:srgbClr val="4D4D4D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52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68" name="Line 56"/>
              <p:cNvSpPr/>
              <p:nvPr>
                <p:custDataLst>
                  <p:tags r:id="rId25"/>
                </p:custDataLst>
              </p:nvPr>
            </p:nvSpPr>
            <p:spPr>
              <a:xfrm>
                <a:off x="3350" y="5853"/>
                <a:ext cx="0" cy="455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70" name="Line 58"/>
              <p:cNvSpPr/>
              <p:nvPr>
                <p:custDataLst>
                  <p:tags r:id="rId26"/>
                </p:custDataLst>
              </p:nvPr>
            </p:nvSpPr>
            <p:spPr>
              <a:xfrm flipH="1">
                <a:off x="1533" y="6760"/>
                <a:ext cx="1590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72" name="Line 60"/>
              <p:cNvSpPr/>
              <p:nvPr>
                <p:custDataLst>
                  <p:tags r:id="rId27"/>
                </p:custDataLst>
              </p:nvPr>
            </p:nvSpPr>
            <p:spPr>
              <a:xfrm flipH="1">
                <a:off x="960" y="7895"/>
                <a:ext cx="340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74" name="Line 62"/>
              <p:cNvSpPr/>
              <p:nvPr>
                <p:custDataLst>
                  <p:tags r:id="rId28"/>
                </p:custDataLst>
              </p:nvPr>
            </p:nvSpPr>
            <p:spPr>
              <a:xfrm>
                <a:off x="1755" y="7895"/>
                <a:ext cx="340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76" name="Line 64"/>
              <p:cNvSpPr/>
              <p:nvPr>
                <p:custDataLst>
                  <p:tags r:id="rId29"/>
                </p:custDataLst>
              </p:nvPr>
            </p:nvSpPr>
            <p:spPr>
              <a:xfrm flipH="1">
                <a:off x="3233" y="7895"/>
                <a:ext cx="113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78" name="Line 66"/>
              <p:cNvSpPr/>
              <p:nvPr>
                <p:custDataLst>
                  <p:tags r:id="rId30"/>
                </p:custDataLst>
              </p:nvPr>
            </p:nvSpPr>
            <p:spPr>
              <a:xfrm flipH="1">
                <a:off x="4593" y="7895"/>
                <a:ext cx="227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80" name="Line 68"/>
              <p:cNvSpPr/>
              <p:nvPr>
                <p:custDataLst>
                  <p:tags r:id="rId31"/>
                </p:custDataLst>
              </p:nvPr>
            </p:nvSpPr>
            <p:spPr>
              <a:xfrm>
                <a:off x="5273" y="7895"/>
                <a:ext cx="680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82" name="Line 70"/>
              <p:cNvSpPr/>
              <p:nvPr>
                <p:custDataLst>
                  <p:tags r:id="rId32"/>
                </p:custDataLst>
              </p:nvPr>
            </p:nvSpPr>
            <p:spPr>
              <a:xfrm>
                <a:off x="5725" y="7895"/>
                <a:ext cx="1135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84" name="Line 72"/>
              <p:cNvSpPr/>
              <p:nvPr>
                <p:custDataLst>
                  <p:tags r:id="rId33"/>
                </p:custDataLst>
              </p:nvPr>
            </p:nvSpPr>
            <p:spPr>
              <a:xfrm>
                <a:off x="3573" y="6760"/>
                <a:ext cx="1475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86" name="AutoShape 74"/>
              <p:cNvSpPr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623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88" name="Line 76"/>
              <p:cNvSpPr/>
              <p:nvPr>
                <p:custDataLst>
                  <p:tags r:id="rId35"/>
                </p:custDataLst>
              </p:nvPr>
            </p:nvSpPr>
            <p:spPr>
              <a:xfrm>
                <a:off x="733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90" name="AutoShape 78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1078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92" name="Line 80"/>
              <p:cNvSpPr/>
              <p:nvPr>
                <p:custDataLst>
                  <p:tags r:id="rId37"/>
                </p:custDataLst>
              </p:nvPr>
            </p:nvSpPr>
            <p:spPr>
              <a:xfrm>
                <a:off x="1188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94" name="AutoShape 82"/>
              <p:cNvSpPr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1528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396" name="Line 84"/>
              <p:cNvSpPr/>
              <p:nvPr>
                <p:custDataLst>
                  <p:tags r:id="rId39"/>
                </p:custDataLst>
              </p:nvPr>
            </p:nvSpPr>
            <p:spPr>
              <a:xfrm>
                <a:off x="1638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398" name="AutoShape 86"/>
              <p:cNvSpPr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1983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00" name="Line 88"/>
              <p:cNvSpPr/>
              <p:nvPr>
                <p:custDataLst>
                  <p:tags r:id="rId41"/>
                </p:custDataLst>
              </p:nvPr>
            </p:nvSpPr>
            <p:spPr>
              <a:xfrm>
                <a:off x="2093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02" name="AutoShape 90"/>
              <p:cNvSpPr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2435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04" name="Line 92"/>
              <p:cNvSpPr/>
              <p:nvPr>
                <p:custDataLst>
                  <p:tags r:id="rId43"/>
                </p:custDataLst>
              </p:nvPr>
            </p:nvSpPr>
            <p:spPr>
              <a:xfrm>
                <a:off x="2545" y="9030"/>
                <a:ext cx="3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06" name="AutoShape 94"/>
              <p:cNvSpPr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2888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08" name="Line 96"/>
              <p:cNvSpPr/>
              <p:nvPr>
                <p:custDataLst>
                  <p:tags r:id="rId45"/>
                </p:custDataLst>
              </p:nvPr>
            </p:nvSpPr>
            <p:spPr>
              <a:xfrm>
                <a:off x="2998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10" name="AutoShape 98"/>
              <p:cNvSpPr>
                <a:spLocks noChangeArrowheads="1"/>
              </p:cNvSpPr>
              <p:nvPr>
                <p:custDataLst>
                  <p:tags r:id="rId46"/>
                </p:custDataLst>
              </p:nvPr>
            </p:nvSpPr>
            <p:spPr bwMode="auto">
              <a:xfrm>
                <a:off x="3343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12" name="Line 100"/>
              <p:cNvSpPr/>
              <p:nvPr>
                <p:custDataLst>
                  <p:tags r:id="rId47"/>
                </p:custDataLst>
              </p:nvPr>
            </p:nvSpPr>
            <p:spPr>
              <a:xfrm>
                <a:off x="3453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14" name="AutoShape 102"/>
              <p:cNvSpPr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3795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16" name="Line 104"/>
              <p:cNvSpPr/>
              <p:nvPr>
                <p:custDataLst>
                  <p:tags r:id="rId49"/>
                </p:custDataLst>
              </p:nvPr>
            </p:nvSpPr>
            <p:spPr>
              <a:xfrm>
                <a:off x="3905" y="9030"/>
                <a:ext cx="3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18" name="AutoShape 106"/>
              <p:cNvSpPr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4250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20" name="Line 108"/>
              <p:cNvSpPr/>
              <p:nvPr>
                <p:custDataLst>
                  <p:tags r:id="rId51"/>
                </p:custDataLst>
              </p:nvPr>
            </p:nvSpPr>
            <p:spPr>
              <a:xfrm>
                <a:off x="4360" y="9030"/>
                <a:ext cx="3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22" name="AutoShape 110"/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4703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24" name="Line 112"/>
              <p:cNvSpPr/>
              <p:nvPr>
                <p:custDataLst>
                  <p:tags r:id="rId53"/>
                </p:custDataLst>
              </p:nvPr>
            </p:nvSpPr>
            <p:spPr>
              <a:xfrm>
                <a:off x="4813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26" name="AutoShape 114"/>
              <p:cNvSpPr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5158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28" name="Line 116"/>
              <p:cNvSpPr/>
              <p:nvPr>
                <p:custDataLst>
                  <p:tags r:id="rId55"/>
                </p:custDataLst>
              </p:nvPr>
            </p:nvSpPr>
            <p:spPr>
              <a:xfrm>
                <a:off x="5268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30" name="AutoShape 118"/>
              <p:cNvSpPr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5610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32" name="Line 120"/>
              <p:cNvSpPr/>
              <p:nvPr>
                <p:custDataLst>
                  <p:tags r:id="rId57"/>
                </p:custDataLst>
              </p:nvPr>
            </p:nvSpPr>
            <p:spPr>
              <a:xfrm>
                <a:off x="5720" y="9030"/>
                <a:ext cx="3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34" name="AutoShape 122"/>
              <p:cNvSpPr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6063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36" name="Line 124"/>
              <p:cNvSpPr/>
              <p:nvPr>
                <p:custDataLst>
                  <p:tags r:id="rId59"/>
                </p:custDataLst>
              </p:nvPr>
            </p:nvSpPr>
            <p:spPr>
              <a:xfrm>
                <a:off x="6173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38" name="AutoShape 126"/>
              <p:cNvSpPr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6518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40" name="Line 128"/>
              <p:cNvSpPr/>
              <p:nvPr>
                <p:custDataLst>
                  <p:tags r:id="rId61"/>
                </p:custDataLst>
              </p:nvPr>
            </p:nvSpPr>
            <p:spPr>
              <a:xfrm>
                <a:off x="6628" y="9030"/>
                <a:ext cx="2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42" name="AutoShape 130"/>
              <p:cNvSpPr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6970" y="9710"/>
                <a:ext cx="228" cy="228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2225">
                <a:solidFill>
                  <a:srgbClr val="C0C0C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^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5444" name="Line 132"/>
              <p:cNvSpPr/>
              <p:nvPr>
                <p:custDataLst>
                  <p:tags r:id="rId63"/>
                </p:custDataLst>
              </p:nvPr>
            </p:nvSpPr>
            <p:spPr>
              <a:xfrm>
                <a:off x="7080" y="9030"/>
                <a:ext cx="3" cy="680"/>
              </a:xfrm>
              <a:prstGeom prst="line">
                <a:avLst/>
              </a:prstGeom>
              <a:ln w="28575" cap="flat" cmpd="sng">
                <a:solidFill>
                  <a:srgbClr val="4D4D4D"/>
                </a:solidFill>
                <a:prstDash val="solid"/>
                <a:headEnd type="oval" w="med" len="med"/>
                <a:tailEnd type="triangle" w="med" len="med"/>
              </a:ln>
            </p:spPr>
          </p:sp>
          <p:sp>
            <p:nvSpPr>
              <p:cNvPr id="1165469" name="Rectangle 157"/>
              <p:cNvSpPr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2890" y="5288"/>
                <a:ext cx="908" cy="4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 anchor="ctr" anchorCtr="1"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(b)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圆角矩形 32"/>
            <p:cNvSpPr/>
            <p:nvPr/>
          </p:nvSpPr>
          <p:spPr>
            <a:xfrm>
              <a:off x="7773" y="6002"/>
              <a:ext cx="5346" cy="615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12902" y="3383"/>
              <a:ext cx="1497" cy="3373"/>
              <a:chOff x="12902" y="3383"/>
              <a:chExt cx="1497" cy="3373"/>
            </a:xfrm>
          </p:grpSpPr>
          <p:sp>
            <p:nvSpPr>
              <p:cNvPr id="23" name="右大括号 22"/>
              <p:cNvSpPr/>
              <p:nvPr/>
            </p:nvSpPr>
            <p:spPr>
              <a:xfrm>
                <a:off x="12902" y="3383"/>
                <a:ext cx="356" cy="2307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3405" y="4171"/>
                <a:ext cx="995" cy="91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内部节点</a:t>
                </a:r>
                <a:endPara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65"/>
                </p:custDataLst>
              </p:nvPr>
            </p:nvSpPr>
            <p:spPr>
              <a:xfrm>
                <a:off x="13323" y="5838"/>
                <a:ext cx="995" cy="91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r>
                  <a:rPr lang="zh-CN" altLang="en-US" sz="160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外部节点</a:t>
                </a:r>
                <a:endPara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cxnSp>
            <p:nvCxnSpPr>
              <p:cNvPr id="35" name="直接箭头连接符 34"/>
              <p:cNvCxnSpPr>
                <a:stCxn id="33" idx="3"/>
                <a:endCxn id="34" idx="1"/>
              </p:cNvCxnSpPr>
              <p:nvPr/>
            </p:nvCxnSpPr>
            <p:spPr>
              <a:xfrm flipV="1">
                <a:off x="13119" y="6298"/>
                <a:ext cx="204" cy="1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组合 40"/>
          <p:cNvGrpSpPr/>
          <p:nvPr>
            <p:custDataLst>
              <p:tags r:id="rId66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67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68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69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ipText"/>
            <p:cNvSpPr txBox="1"/>
            <p:nvPr>
              <p:custDataLst>
                <p:tags r:id="rId70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AF0A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7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endParaRPr lang="zh-CN" altLang="en-US" smtClean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删除叶节点中元素</a:t>
            </a:r>
            <a:endParaRPr lang="zh-CN" altLang="en-US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 smtClean="0"/>
              <a:t>删除非叶节点元素，类似</a:t>
            </a:r>
            <a:r>
              <a:rPr lang="en-US" altLang="zh-CN" smtClean="0"/>
              <a:t>AVL</a:t>
            </a:r>
            <a:r>
              <a:rPr lang="zh-CN" altLang="en-US" smtClean="0"/>
              <a:t>树，子树叶节点元素与之交换，转换为</a:t>
            </a:r>
            <a:r>
              <a:rPr lang="en-US" altLang="zh-CN" smtClean="0"/>
              <a:t>1)</a:t>
            </a:r>
            <a:endParaRPr lang="en-US" altLang="zh-CN" smtClean="0"/>
          </a:p>
          <a:p>
            <a:pPr marL="609600" indent="-609600"/>
            <a:r>
              <a:rPr lang="zh-CN" altLang="en-US" smtClean="0"/>
              <a:t>元素数目</a:t>
            </a:r>
            <a:r>
              <a:rPr lang="en-US" altLang="zh-CN" smtClean="0"/>
              <a:t>&gt;d-1</a:t>
            </a:r>
            <a:r>
              <a:rPr lang="zh-CN" altLang="en-US" smtClean="0"/>
              <a:t>，直接删除即可</a:t>
            </a:r>
            <a:endParaRPr lang="zh-CN" altLang="en-US" smtClean="0"/>
          </a:p>
          <a:p>
            <a:pPr marL="609600" indent="-609600"/>
            <a:r>
              <a:rPr lang="zh-CN" altLang="en-US" smtClean="0"/>
              <a:t>元素数目</a:t>
            </a:r>
            <a:r>
              <a:rPr lang="en-US" altLang="zh-CN" smtClean="0">
                <a:latin typeface="宋体" panose="02010600030101010101" pitchFamily="2" charset="-122"/>
              </a:rPr>
              <a:t>=</a:t>
            </a:r>
            <a:r>
              <a:rPr lang="en-US" altLang="zh-CN" smtClean="0"/>
              <a:t>d-1</a:t>
            </a:r>
            <a:r>
              <a:rPr lang="zh-CN" altLang="en-US" smtClean="0"/>
              <a:t>，删除后小于限制值</a:t>
            </a:r>
            <a:endParaRPr lang="zh-CN" altLang="en-US" smtClean="0"/>
          </a:p>
          <a:p>
            <a:pPr marL="990600" lvl="1" indent="-533400"/>
            <a:r>
              <a:rPr lang="zh-CN" altLang="en-US" smtClean="0"/>
              <a:t>借用兄弟节点“多余”的元素</a:t>
            </a:r>
            <a:endParaRPr lang="zh-CN" altLang="en-US" smtClean="0"/>
          </a:p>
          <a:p>
            <a:pPr marL="990600" lvl="1" indent="-533400"/>
            <a:r>
              <a:rPr lang="zh-CN" altLang="en-US" smtClean="0"/>
              <a:t>兄弟节点也无多余元素，合并</a:t>
            </a:r>
            <a:endParaRPr lang="zh-CN" altLang="en-US" smtClean="0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98EA0D3-A027-4FAC-8431-68878651F87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借用兄弟节点</a:t>
            </a:r>
            <a:r>
              <a:rPr lang="en-US" altLang="zh-CN" smtClean="0"/>
              <a:t>m=7</a:t>
            </a:r>
            <a:endParaRPr lang="zh-CN" altLang="en-US" smtClean="0"/>
          </a:p>
        </p:txBody>
      </p:sp>
      <p:sp>
        <p:nvSpPr>
          <p:cNvPr id="4813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5F2D1A2-A14D-4527-A6F2-170D098DFD1B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48131" name="Picture 4" descr="btreeins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81113"/>
            <a:ext cx="8015288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Picture 5" descr="btreedel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405188"/>
            <a:ext cx="7913688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 Box 6"/>
          <p:cNvSpPr txBox="1">
            <a:spLocks noChangeArrowheads="1"/>
          </p:cNvSpPr>
          <p:nvPr/>
        </p:nvSpPr>
        <p:spPr bwMode="ltGray">
          <a:xfrm>
            <a:off x="228600" y="32004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删除</a:t>
            </a:r>
            <a:r>
              <a:rPr lang="en-US" altLang="zh-CN">
                <a:solidFill>
                  <a:schemeClr val="hlink"/>
                </a:solidFill>
              </a:rPr>
              <a:t>25</a:t>
            </a:r>
            <a:endParaRPr lang="en-US" altLang="zh-CN">
              <a:solidFill>
                <a:schemeClr val="hlink"/>
              </a:solidFill>
            </a:endParaRPr>
          </a:p>
        </p:txBody>
      </p:sp>
      <p:sp>
        <p:nvSpPr>
          <p:cNvPr id="48134" name="Line 7"/>
          <p:cNvSpPr>
            <a:spLocks noChangeShapeType="1"/>
          </p:cNvSpPr>
          <p:nvPr/>
        </p:nvSpPr>
        <p:spPr bwMode="ltGray">
          <a:xfrm flipH="1">
            <a:off x="3048000" y="31242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借用兄弟节点</a:t>
            </a:r>
            <a:endParaRPr lang="zh-CN" altLang="en-US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zh-CN" altLang="en-US" smtClean="0"/>
              <a:t>左（右）兄弟节点元素数</a:t>
            </a:r>
            <a:r>
              <a:rPr lang="en-US" altLang="zh-CN" smtClean="0"/>
              <a:t>&gt;d-1</a:t>
            </a:r>
            <a:endParaRPr lang="en-US" altLang="zh-CN" smtClean="0"/>
          </a:p>
          <a:p>
            <a:pPr marL="609600" indent="-609600"/>
            <a:r>
              <a:rPr lang="zh-CN" altLang="en-US" smtClean="0"/>
              <a:t>将其最右（左）元素</a:t>
            </a:r>
            <a:r>
              <a:rPr lang="zh-CN" altLang="en-US" smtClean="0">
                <a:sym typeface="Wingdings" panose="05000000000000000000" pitchFamily="2" charset="2"/>
              </a:rPr>
              <a:t>提升至父节点，</a:t>
            </a:r>
            <a:br>
              <a:rPr lang="zh-CN" altLang="en-US" smtClean="0">
                <a:sym typeface="Wingdings" panose="05000000000000000000" pitchFamily="2" charset="2"/>
              </a:rPr>
            </a:br>
            <a:r>
              <a:rPr lang="zh-CN" altLang="en-US" smtClean="0">
                <a:sym typeface="Wingdings" panose="05000000000000000000" pitchFamily="2" charset="2"/>
              </a:rPr>
              <a:t>父节点相应元素下降到删除节点</a:t>
            </a:r>
            <a:br>
              <a:rPr lang="zh-CN" altLang="en-US" smtClean="0">
                <a:sym typeface="Wingdings" panose="05000000000000000000" pitchFamily="2" charset="2"/>
              </a:rPr>
            </a:br>
            <a:r>
              <a:rPr lang="zh-CN" altLang="en-US" smtClean="0">
                <a:sym typeface="Wingdings" panose="05000000000000000000" pitchFamily="2" charset="2"/>
              </a:rPr>
              <a:t>元素数目</a:t>
            </a:r>
            <a:r>
              <a:rPr lang="en-US" altLang="zh-CN" smtClean="0">
                <a:sym typeface="Wingdings" panose="05000000000000000000" pitchFamily="2" charset="2"/>
              </a:rPr>
              <a:t>&gt;=d-1</a:t>
            </a:r>
            <a:endParaRPr lang="en-US" altLang="zh-CN" smtClean="0">
              <a:sym typeface="Wingdings" panose="05000000000000000000" pitchFamily="2" charset="2"/>
            </a:endParaRPr>
          </a:p>
          <a:p>
            <a:pPr marL="609600" indent="-609600"/>
            <a:r>
              <a:rPr lang="en-US" altLang="zh-CN" smtClean="0">
                <a:sym typeface="Wingdings" panose="05000000000000000000" pitchFamily="2" charset="2"/>
              </a:rPr>
              <a:t>6</a:t>
            </a:r>
            <a:r>
              <a:rPr lang="zh-CN" altLang="en-US" smtClean="0">
                <a:sym typeface="Wingdings" panose="05000000000000000000" pitchFamily="2" charset="2"/>
              </a:rPr>
              <a:t>次磁盘操作</a:t>
            </a:r>
            <a:endParaRPr lang="zh-CN" altLang="en-US" smtClean="0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93C0228-C33D-425C-8AD9-C3C9F0A85330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与兄弟节点合并</a:t>
            </a:r>
            <a:r>
              <a:rPr lang="en-US" altLang="zh-CN" smtClean="0"/>
              <a:t>m=7</a:t>
            </a:r>
            <a:endParaRPr lang="zh-CN" altLang="en-US" smtClean="0"/>
          </a:p>
        </p:txBody>
      </p:sp>
      <p:sp>
        <p:nvSpPr>
          <p:cNvPr id="5018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76A805-F296-47B5-B67A-0524D286B2F5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50179" name="Picture 4" descr="btreeins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33513"/>
            <a:ext cx="8015288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5" descr="btreeins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3787775"/>
            <a:ext cx="8029575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 Box 6"/>
          <p:cNvSpPr txBox="1">
            <a:spLocks noChangeArrowheads="1"/>
          </p:cNvSpPr>
          <p:nvPr/>
        </p:nvSpPr>
        <p:spPr bwMode="ltGray">
          <a:xfrm>
            <a:off x="1447800" y="33528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删除</a:t>
            </a:r>
            <a:r>
              <a:rPr lang="en-US" altLang="zh-CN">
                <a:solidFill>
                  <a:schemeClr val="hlink"/>
                </a:solidFill>
              </a:rPr>
              <a:t>25</a:t>
            </a:r>
            <a:endParaRPr lang="en-US" altLang="zh-CN">
              <a:solidFill>
                <a:schemeClr val="hlink"/>
              </a:solidFill>
            </a:endParaRPr>
          </a:p>
        </p:txBody>
      </p:sp>
      <p:sp>
        <p:nvSpPr>
          <p:cNvPr id="50182" name="Line 7"/>
          <p:cNvSpPr>
            <a:spLocks noChangeShapeType="1"/>
          </p:cNvSpPr>
          <p:nvPr/>
        </p:nvSpPr>
        <p:spPr bwMode="ltGray">
          <a:xfrm flipH="1">
            <a:off x="4267200" y="32766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与兄弟节点合并</a:t>
            </a:r>
            <a:endParaRPr lang="zh-CN" altLang="en-US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本节点元素数：</a:t>
            </a:r>
            <a:r>
              <a:rPr lang="en-US" altLang="zh-CN" smtClean="0"/>
              <a:t>d-2</a:t>
            </a:r>
            <a:r>
              <a:rPr lang="zh-CN" altLang="en-US" smtClean="0"/>
              <a:t>＋</a:t>
            </a:r>
            <a:br>
              <a:rPr lang="zh-CN" altLang="en-US" smtClean="0"/>
            </a:br>
            <a:r>
              <a:rPr lang="zh-CN" altLang="en-US" smtClean="0"/>
              <a:t>兄弟节点元素数：</a:t>
            </a:r>
            <a:r>
              <a:rPr lang="en-US" altLang="zh-CN" smtClean="0"/>
              <a:t>d-1</a:t>
            </a:r>
            <a:r>
              <a:rPr lang="zh-CN" altLang="en-US" smtClean="0"/>
              <a:t>＋</a:t>
            </a:r>
            <a:br>
              <a:rPr lang="zh-CN" altLang="en-US" smtClean="0"/>
            </a:br>
            <a:r>
              <a:rPr lang="zh-CN" altLang="en-US" smtClean="0"/>
              <a:t>父节点中介于两者之间的元素：</a:t>
            </a:r>
            <a:r>
              <a:rPr lang="en-US" altLang="zh-CN" smtClean="0"/>
              <a:t>1</a:t>
            </a:r>
            <a:br>
              <a:rPr lang="en-US" altLang="zh-CN" smtClean="0"/>
            </a:br>
            <a:r>
              <a:rPr lang="en-US" altLang="zh-CN" smtClean="0"/>
              <a:t> = 2d – 2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m – 1</a:t>
            </a:r>
            <a:endParaRPr lang="en-US" altLang="zh-CN" smtClean="0"/>
          </a:p>
          <a:p>
            <a:r>
              <a:rPr lang="en-US" altLang="zh-CN" smtClean="0"/>
              <a:t>5</a:t>
            </a:r>
            <a:r>
              <a:rPr lang="zh-CN" altLang="en-US" smtClean="0"/>
              <a:t>次磁盘操作</a:t>
            </a:r>
            <a:endParaRPr lang="zh-CN" altLang="en-US" smtClean="0"/>
          </a:p>
          <a:p>
            <a:endParaRPr lang="en-US" altLang="zh-CN" smtClean="0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C7CBF70-249F-4302-B06A-AB2592043F31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合并的回溯</a:t>
            </a:r>
            <a:endParaRPr lang="zh-CN" altLang="en-US" smtClean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合并：父节点元素数减少，可能</a:t>
            </a:r>
            <a:r>
              <a:rPr lang="en-US" altLang="zh-CN" smtClean="0"/>
              <a:t>&lt;d-1</a:t>
            </a:r>
            <a:endParaRPr lang="en-US" altLang="zh-CN" smtClean="0"/>
          </a:p>
          <a:p>
            <a:r>
              <a:rPr lang="zh-CN" altLang="en-US" smtClean="0"/>
              <a:t>继续前面所述的处理方法</a:t>
            </a:r>
            <a:endParaRPr lang="zh-CN" altLang="en-US" smtClean="0"/>
          </a:p>
          <a:p>
            <a:r>
              <a:rPr lang="zh-CN" altLang="en-US" smtClean="0"/>
              <a:t>可能需合并</a:t>
            </a:r>
            <a:r>
              <a:rPr lang="en-US" altLang="zh-CN" smtClean="0"/>
              <a:t>——</a:t>
            </a:r>
            <a:r>
              <a:rPr lang="zh-CN" altLang="en-US" smtClean="0"/>
              <a:t>涉及祖父节点</a:t>
            </a:r>
            <a:r>
              <a:rPr lang="en-US" altLang="zh-CN" smtClean="0"/>
              <a:t>...</a:t>
            </a:r>
            <a:endParaRPr lang="en-US" altLang="zh-CN" smtClean="0"/>
          </a:p>
          <a:p>
            <a:r>
              <a:rPr lang="zh-CN" altLang="en-US" smtClean="0"/>
              <a:t>最坏情况回溯到根节点</a:t>
            </a:r>
            <a:endParaRPr lang="zh-CN" altLang="en-US" smtClean="0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BD8D1E-4F6C-4140-9DB3-43485D999EF4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合并的回溯</a:t>
            </a:r>
            <a:r>
              <a:rPr lang="en-US" altLang="zh-CN" smtClean="0"/>
              <a:t>m=3</a:t>
            </a:r>
            <a:endParaRPr lang="zh-CN" altLang="en-US" smtClean="0"/>
          </a:p>
        </p:txBody>
      </p:sp>
      <p:sp>
        <p:nvSpPr>
          <p:cNvPr id="532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B665212-5801-4C29-9779-CD91BE4D44C0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53251" name="Picture 4" descr="2-3tre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356600" cy="261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Text Box 5"/>
          <p:cNvSpPr txBox="1">
            <a:spLocks noChangeArrowheads="1"/>
          </p:cNvSpPr>
          <p:nvPr/>
        </p:nvSpPr>
        <p:spPr bwMode="ltGray">
          <a:xfrm>
            <a:off x="2133600" y="4191000"/>
            <a:ext cx="251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删除</a:t>
            </a:r>
            <a:r>
              <a:rPr lang="en-US" altLang="zh-CN">
                <a:solidFill>
                  <a:schemeClr val="hlink"/>
                </a:solidFill>
              </a:rPr>
              <a:t>10</a:t>
            </a:r>
            <a:endParaRPr lang="en-US" altLang="zh-CN">
              <a:solidFill>
                <a:schemeClr val="hlink"/>
              </a:solidFill>
            </a:endParaRPr>
          </a:p>
        </p:txBody>
      </p:sp>
      <p:sp>
        <p:nvSpPr>
          <p:cNvPr id="53253" name="Line 6"/>
          <p:cNvSpPr>
            <a:spLocks noChangeShapeType="1"/>
          </p:cNvSpPr>
          <p:nvPr/>
        </p:nvSpPr>
        <p:spPr bwMode="ltGray">
          <a:xfrm flipH="1">
            <a:off x="4953000" y="41148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42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90B073-0EE5-463E-B31C-86FB4013A520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54275" name="Picture 4" descr="btreedel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65" y="3020378"/>
            <a:ext cx="7856538" cy="238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Text Box 6"/>
          <p:cNvSpPr txBox="1">
            <a:spLocks noChangeArrowheads="1"/>
          </p:cNvSpPr>
          <p:nvPr/>
        </p:nvSpPr>
        <p:spPr bwMode="ltGray">
          <a:xfrm>
            <a:off x="965835" y="205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父节点采取“借用法”</a:t>
            </a:r>
            <a:endParaRPr lang="zh-CN" altLang="en-US">
              <a:solidFill>
                <a:schemeClr val="hlink"/>
              </a:solidFill>
            </a:endParaRPr>
          </a:p>
        </p:txBody>
      </p:sp>
      <p:sp>
        <p:nvSpPr>
          <p:cNvPr id="54277" name="Line 7"/>
          <p:cNvSpPr>
            <a:spLocks noChangeShapeType="1"/>
          </p:cNvSpPr>
          <p:nvPr/>
        </p:nvSpPr>
        <p:spPr bwMode="ltGray">
          <a:xfrm flipH="1">
            <a:off x="1658620" y="3361055"/>
            <a:ext cx="2059940" cy="31305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B78E1E-96F7-45E7-ADBC-EEECEB16334E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55299" name="Picture 4" descr="btreedel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7550"/>
            <a:ext cx="822325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5632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F320AA-C5B4-4E10-A52E-11A92BAC8250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56323" name="Picture 7" descr="btreeins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289050"/>
            <a:ext cx="8093075" cy="320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4" name="Text Box 5"/>
          <p:cNvSpPr txBox="1">
            <a:spLocks noChangeArrowheads="1"/>
          </p:cNvSpPr>
          <p:nvPr/>
        </p:nvSpPr>
        <p:spPr bwMode="ltGray">
          <a:xfrm>
            <a:off x="1295400" y="4572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删除</a:t>
            </a:r>
            <a:r>
              <a:rPr lang="en-US" altLang="zh-CN">
                <a:solidFill>
                  <a:schemeClr val="hlink"/>
                </a:solidFill>
              </a:rPr>
              <a:t>44</a:t>
            </a:r>
            <a:endParaRPr lang="en-US" altLang="zh-CN">
              <a:solidFill>
                <a:schemeClr val="hlink"/>
              </a:solidFill>
            </a:endParaRPr>
          </a:p>
        </p:txBody>
      </p:sp>
      <p:sp>
        <p:nvSpPr>
          <p:cNvPr id="56325" name="Line 6"/>
          <p:cNvSpPr>
            <a:spLocks noChangeShapeType="1"/>
          </p:cNvSpPr>
          <p:nvPr/>
        </p:nvSpPr>
        <p:spPr bwMode="ltGray">
          <a:xfrm flipH="1">
            <a:off x="4495800" y="44958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5735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8818228-C1EA-4CB1-8FBC-659132BB69B1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57347" name="Picture 4" descr="btreedel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7802563" cy="334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Text Box 7"/>
          <p:cNvSpPr txBox="1">
            <a:spLocks noChangeArrowheads="1"/>
          </p:cNvSpPr>
          <p:nvPr/>
        </p:nvSpPr>
        <p:spPr bwMode="ltGray">
          <a:xfrm>
            <a:off x="1219200" y="4724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hlink"/>
                </a:solidFill>
              </a:rPr>
              <a:t>20</a:t>
            </a:r>
            <a:r>
              <a:rPr lang="zh-CN" altLang="en-US">
                <a:solidFill>
                  <a:schemeClr val="hlink"/>
                </a:solidFill>
              </a:rPr>
              <a:t>、</a:t>
            </a:r>
            <a:r>
              <a:rPr lang="en-US" altLang="zh-CN">
                <a:solidFill>
                  <a:schemeClr val="hlink"/>
                </a:solidFill>
              </a:rPr>
              <a:t>30</a:t>
            </a:r>
            <a:r>
              <a:rPr lang="zh-CN" altLang="en-US">
                <a:solidFill>
                  <a:schemeClr val="hlink"/>
                </a:solidFill>
              </a:rPr>
              <a:t>合并</a:t>
            </a:r>
            <a:endParaRPr lang="zh-CN" altLang="en-US">
              <a:solidFill>
                <a:schemeClr val="hlink"/>
              </a:solidFill>
            </a:endParaRPr>
          </a:p>
        </p:txBody>
      </p:sp>
      <p:sp>
        <p:nvSpPr>
          <p:cNvPr id="57349" name="Line 8"/>
          <p:cNvSpPr>
            <a:spLocks noChangeShapeType="1"/>
          </p:cNvSpPr>
          <p:nvPr/>
        </p:nvSpPr>
        <p:spPr bwMode="ltGray">
          <a:xfrm flipH="1">
            <a:off x="4419600" y="46482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5837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653E452-F391-4321-9C13-5AA471D1886A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58371" name="Picture 7" descr="btreedel5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323975"/>
            <a:ext cx="811530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Text Box 5"/>
          <p:cNvSpPr txBox="1">
            <a:spLocks noChangeArrowheads="1"/>
          </p:cNvSpPr>
          <p:nvPr/>
        </p:nvSpPr>
        <p:spPr bwMode="ltGray">
          <a:xfrm>
            <a:off x="914400" y="47244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继续合并，根节点变空</a:t>
            </a:r>
            <a:endParaRPr lang="zh-CN" altLang="en-US">
              <a:solidFill>
                <a:schemeClr val="hlink"/>
              </a:solidFill>
            </a:endParaRPr>
          </a:p>
        </p:txBody>
      </p:sp>
      <p:sp>
        <p:nvSpPr>
          <p:cNvPr id="58373" name="Line 6"/>
          <p:cNvSpPr>
            <a:spLocks noChangeShapeType="1"/>
          </p:cNvSpPr>
          <p:nvPr/>
        </p:nvSpPr>
        <p:spPr bwMode="ltGray">
          <a:xfrm flipH="1">
            <a:off x="4572000" y="46482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btreedel6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95400"/>
            <a:ext cx="6989763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8F96B32-F64D-4F01-BB67-F72A74D040C3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删除操作</a:t>
            </a:r>
            <a:r>
              <a:rPr lang="en-US" altLang="zh-CN" smtClean="0"/>
              <a:t>——</a:t>
            </a:r>
            <a:r>
              <a:rPr lang="zh-CN" altLang="en-US" smtClean="0"/>
              <a:t>例</a:t>
            </a:r>
            <a:endParaRPr lang="zh-CN" altLang="en-US" smtClean="0"/>
          </a:p>
        </p:txBody>
      </p:sp>
      <p:sp>
        <p:nvSpPr>
          <p:cNvPr id="6042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41C1E79-53FD-46ED-BB8F-A55792525E9B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60419" name="Text Box 7"/>
          <p:cNvSpPr txBox="1">
            <a:spLocks noChangeArrowheads="1"/>
          </p:cNvSpPr>
          <p:nvPr/>
        </p:nvSpPr>
        <p:spPr bwMode="ltGray">
          <a:xfrm>
            <a:off x="3200400" y="12954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丢弃根节点，最终结果</a:t>
            </a:r>
            <a:endParaRPr lang="zh-CN" altLang="en-US">
              <a:solidFill>
                <a:schemeClr val="hlink"/>
              </a:solidFill>
            </a:endParaRPr>
          </a:p>
        </p:txBody>
      </p:sp>
      <p:pic>
        <p:nvPicPr>
          <p:cNvPr id="60420" name="Picture 9" descr="btreedel7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7075488" cy="290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23620" y="838200"/>
            <a:ext cx="7205980" cy="105156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树描述正确的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删除中需要合并的两个节点，删除前孩子的个数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均为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上图删除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时，不会发生节点合并，删除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时一定会发生节点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14425" y="28498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114425" y="37071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8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删除的关键字需要先交换到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叶节点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合并节点是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树树高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必要条件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 rot="0">
            <a:off x="5123815" y="415290"/>
            <a:ext cx="2943860" cy="2084070"/>
            <a:chOff x="623" y="5288"/>
            <a:chExt cx="6575" cy="4650"/>
          </a:xfrm>
        </p:grpSpPr>
        <p:sp>
          <p:nvSpPr>
            <p:cNvPr id="1165317" name="AutoShape 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120" y="6308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25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1" name="AutoShape 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303" y="7440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13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3" name="AutoShape 11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365" y="7440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34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5" name="AutoShape 1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820" y="7440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43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7" name="AutoShape 15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273" y="7440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49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29" name="AutoShape 1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35" y="8578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1" name="AutoShape 19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643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19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3" name="AutoShape 21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098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22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5" name="AutoShape 2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005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28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7" name="AutoShape 2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913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37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39" name="AutoShape 27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365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40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41" name="AutoShape 29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820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41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43" name="AutoShape 31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728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46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45" name="AutoShape 33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635" y="8575"/>
              <a:ext cx="453" cy="45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2225">
              <a:solidFill>
                <a:srgbClr val="4D4D4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52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68" name="Line 56"/>
            <p:cNvSpPr/>
            <p:nvPr>
              <p:custDataLst>
                <p:tags r:id="rId25"/>
              </p:custDataLst>
            </p:nvPr>
          </p:nvSpPr>
          <p:spPr>
            <a:xfrm>
              <a:off x="3350" y="5853"/>
              <a:ext cx="0" cy="455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0" name="Line 58"/>
            <p:cNvSpPr/>
            <p:nvPr>
              <p:custDataLst>
                <p:tags r:id="rId26"/>
              </p:custDataLst>
            </p:nvPr>
          </p:nvSpPr>
          <p:spPr>
            <a:xfrm flipH="1">
              <a:off x="1533" y="6760"/>
              <a:ext cx="159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2" name="Line 60"/>
            <p:cNvSpPr/>
            <p:nvPr>
              <p:custDataLst>
                <p:tags r:id="rId27"/>
              </p:custDataLst>
            </p:nvPr>
          </p:nvSpPr>
          <p:spPr>
            <a:xfrm flipH="1">
              <a:off x="960" y="7895"/>
              <a:ext cx="34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4" name="Line 62"/>
            <p:cNvSpPr/>
            <p:nvPr>
              <p:custDataLst>
                <p:tags r:id="rId28"/>
              </p:custDataLst>
            </p:nvPr>
          </p:nvSpPr>
          <p:spPr>
            <a:xfrm>
              <a:off x="1755" y="7895"/>
              <a:ext cx="34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6" name="Line 64"/>
            <p:cNvSpPr/>
            <p:nvPr>
              <p:custDataLst>
                <p:tags r:id="rId29"/>
              </p:custDataLst>
            </p:nvPr>
          </p:nvSpPr>
          <p:spPr>
            <a:xfrm flipH="1">
              <a:off x="3233" y="7895"/>
              <a:ext cx="113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78" name="Line 66"/>
            <p:cNvSpPr/>
            <p:nvPr>
              <p:custDataLst>
                <p:tags r:id="rId30"/>
              </p:custDataLst>
            </p:nvPr>
          </p:nvSpPr>
          <p:spPr>
            <a:xfrm flipH="1">
              <a:off x="4593" y="7895"/>
              <a:ext cx="227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80" name="Line 68"/>
            <p:cNvSpPr/>
            <p:nvPr>
              <p:custDataLst>
                <p:tags r:id="rId31"/>
              </p:custDataLst>
            </p:nvPr>
          </p:nvSpPr>
          <p:spPr>
            <a:xfrm>
              <a:off x="5273" y="7895"/>
              <a:ext cx="680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82" name="Line 70"/>
            <p:cNvSpPr/>
            <p:nvPr>
              <p:custDataLst>
                <p:tags r:id="rId32"/>
              </p:custDataLst>
            </p:nvPr>
          </p:nvSpPr>
          <p:spPr>
            <a:xfrm>
              <a:off x="5725" y="7895"/>
              <a:ext cx="1135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84" name="Line 72"/>
            <p:cNvSpPr/>
            <p:nvPr>
              <p:custDataLst>
                <p:tags r:id="rId33"/>
              </p:custDataLst>
            </p:nvPr>
          </p:nvSpPr>
          <p:spPr>
            <a:xfrm>
              <a:off x="3573" y="6760"/>
              <a:ext cx="1475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86" name="AutoShape 74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2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88" name="Line 76"/>
            <p:cNvSpPr/>
            <p:nvPr>
              <p:custDataLst>
                <p:tags r:id="rId35"/>
              </p:custDataLst>
            </p:nvPr>
          </p:nvSpPr>
          <p:spPr>
            <a:xfrm>
              <a:off x="73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90" name="AutoShape 78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07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92" name="Line 80"/>
            <p:cNvSpPr/>
            <p:nvPr>
              <p:custDataLst>
                <p:tags r:id="rId37"/>
              </p:custDataLst>
            </p:nvPr>
          </p:nvSpPr>
          <p:spPr>
            <a:xfrm>
              <a:off x="118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94" name="AutoShape 82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52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396" name="Line 84"/>
            <p:cNvSpPr/>
            <p:nvPr>
              <p:custDataLst>
                <p:tags r:id="rId39"/>
              </p:custDataLst>
            </p:nvPr>
          </p:nvSpPr>
          <p:spPr>
            <a:xfrm>
              <a:off x="163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398" name="AutoShape 86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98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00" name="Line 88"/>
            <p:cNvSpPr/>
            <p:nvPr>
              <p:custDataLst>
                <p:tags r:id="rId41"/>
              </p:custDataLst>
            </p:nvPr>
          </p:nvSpPr>
          <p:spPr>
            <a:xfrm>
              <a:off x="209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02" name="AutoShape 90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2435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04" name="Line 92"/>
            <p:cNvSpPr/>
            <p:nvPr>
              <p:custDataLst>
                <p:tags r:id="rId43"/>
              </p:custDataLst>
            </p:nvPr>
          </p:nvSpPr>
          <p:spPr>
            <a:xfrm>
              <a:off x="2545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06" name="AutoShape 94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288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08" name="Line 96"/>
            <p:cNvSpPr/>
            <p:nvPr>
              <p:custDataLst>
                <p:tags r:id="rId45"/>
              </p:custDataLst>
            </p:nvPr>
          </p:nvSpPr>
          <p:spPr>
            <a:xfrm>
              <a:off x="299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10" name="AutoShape 98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34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12" name="Line 100"/>
            <p:cNvSpPr/>
            <p:nvPr>
              <p:custDataLst>
                <p:tags r:id="rId47"/>
              </p:custDataLst>
            </p:nvPr>
          </p:nvSpPr>
          <p:spPr>
            <a:xfrm>
              <a:off x="345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14" name="AutoShape 102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795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16" name="Line 104"/>
            <p:cNvSpPr/>
            <p:nvPr>
              <p:custDataLst>
                <p:tags r:id="rId49"/>
              </p:custDataLst>
            </p:nvPr>
          </p:nvSpPr>
          <p:spPr>
            <a:xfrm>
              <a:off x="3905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18" name="AutoShape 106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4250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20" name="Line 108"/>
            <p:cNvSpPr/>
            <p:nvPr>
              <p:custDataLst>
                <p:tags r:id="rId51"/>
              </p:custDataLst>
            </p:nvPr>
          </p:nvSpPr>
          <p:spPr>
            <a:xfrm>
              <a:off x="4360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22" name="AutoShape 110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470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24" name="Line 112"/>
            <p:cNvSpPr/>
            <p:nvPr>
              <p:custDataLst>
                <p:tags r:id="rId53"/>
              </p:custDataLst>
            </p:nvPr>
          </p:nvSpPr>
          <p:spPr>
            <a:xfrm>
              <a:off x="481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26" name="AutoShape 114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515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28" name="Line 116"/>
            <p:cNvSpPr/>
            <p:nvPr>
              <p:custDataLst>
                <p:tags r:id="rId55"/>
              </p:custDataLst>
            </p:nvPr>
          </p:nvSpPr>
          <p:spPr>
            <a:xfrm>
              <a:off x="526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30" name="AutoShape 118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5610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32" name="Line 120"/>
            <p:cNvSpPr/>
            <p:nvPr>
              <p:custDataLst>
                <p:tags r:id="rId57"/>
              </p:custDataLst>
            </p:nvPr>
          </p:nvSpPr>
          <p:spPr>
            <a:xfrm>
              <a:off x="5720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34" name="AutoShape 122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6063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36" name="Line 124"/>
            <p:cNvSpPr/>
            <p:nvPr>
              <p:custDataLst>
                <p:tags r:id="rId59"/>
              </p:custDataLst>
            </p:nvPr>
          </p:nvSpPr>
          <p:spPr>
            <a:xfrm>
              <a:off x="6173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38" name="AutoShape 126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518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40" name="Line 128"/>
            <p:cNvSpPr/>
            <p:nvPr>
              <p:custDataLst>
                <p:tags r:id="rId61"/>
              </p:custDataLst>
            </p:nvPr>
          </p:nvSpPr>
          <p:spPr>
            <a:xfrm>
              <a:off x="6628" y="9030"/>
              <a:ext cx="2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42" name="AutoShape 130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970" y="9710"/>
              <a:ext cx="228" cy="228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2225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65444" name="Line 132"/>
            <p:cNvSpPr/>
            <p:nvPr>
              <p:custDataLst>
                <p:tags r:id="rId63"/>
              </p:custDataLst>
            </p:nvPr>
          </p:nvSpPr>
          <p:spPr>
            <a:xfrm>
              <a:off x="7080" y="9030"/>
              <a:ext cx="3" cy="680"/>
            </a:xfrm>
            <a:prstGeom prst="line">
              <a:avLst/>
            </a:prstGeom>
            <a:ln w="28575" cap="flat" cmpd="sng">
              <a:solidFill>
                <a:srgbClr val="4D4D4D"/>
              </a:solidFill>
              <a:prstDash val="solid"/>
              <a:headEnd type="oval" w="med" len="med"/>
              <a:tailEnd type="triangle" w="med" len="med"/>
            </a:ln>
          </p:spPr>
        </p:sp>
        <p:sp>
          <p:nvSpPr>
            <p:cNvPr id="1165469" name="Rectangle 157"/>
            <p:cNvSpPr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890" y="5288"/>
              <a:ext cx="908" cy="4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(b)</a:t>
              </a:r>
              <a:endPara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右大括号 22"/>
          <p:cNvSpPr/>
          <p:nvPr/>
        </p:nvSpPr>
        <p:spPr>
          <a:xfrm>
            <a:off x="8177530" y="574675"/>
            <a:ext cx="226060" cy="146494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8496935" y="1075055"/>
            <a:ext cx="63182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内部节点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920615" y="2133600"/>
            <a:ext cx="4155440" cy="582930"/>
            <a:chOff x="7749" y="3360"/>
            <a:chExt cx="6544" cy="918"/>
          </a:xfrm>
        </p:grpSpPr>
        <p:sp>
          <p:nvSpPr>
            <p:cNvPr id="33" name="圆角矩形 32"/>
            <p:cNvSpPr/>
            <p:nvPr/>
          </p:nvSpPr>
          <p:spPr>
            <a:xfrm>
              <a:off x="7749" y="3524"/>
              <a:ext cx="5346" cy="615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>
              <p:custDataLst>
                <p:tags r:id="rId65"/>
              </p:custDataLst>
            </p:nvPr>
          </p:nvSpPr>
          <p:spPr>
            <a:xfrm>
              <a:off x="13299" y="3360"/>
              <a:ext cx="995" cy="91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1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外部节点</a:t>
              </a:r>
              <a:endPara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35" name="直接箭头连接符 34"/>
            <p:cNvCxnSpPr>
              <a:stCxn id="33" idx="3"/>
              <a:endCxn id="34" idx="1"/>
            </p:cNvCxnSpPr>
            <p:nvPr/>
          </p:nvCxnSpPr>
          <p:spPr>
            <a:xfrm flipV="1">
              <a:off x="13095" y="3820"/>
              <a:ext cx="204" cy="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4920615" y="1781810"/>
            <a:ext cx="4208780" cy="390525"/>
            <a:chOff x="7749" y="3524"/>
            <a:chExt cx="6628" cy="615"/>
          </a:xfrm>
        </p:grpSpPr>
        <p:sp>
          <p:nvSpPr>
            <p:cNvPr id="18" name="圆角矩形 17"/>
            <p:cNvSpPr/>
            <p:nvPr>
              <p:custDataLst>
                <p:tags r:id="rId66"/>
              </p:custDataLst>
            </p:nvPr>
          </p:nvSpPr>
          <p:spPr>
            <a:xfrm>
              <a:off x="7749" y="3524"/>
              <a:ext cx="5346" cy="615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67"/>
              </p:custDataLst>
            </p:nvPr>
          </p:nvSpPr>
          <p:spPr>
            <a:xfrm>
              <a:off x="13299" y="3598"/>
              <a:ext cx="1078" cy="48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zh-CN" altLang="en-US" sz="12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叶节点</a:t>
              </a:r>
              <a:endParaRPr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cxnSp>
          <p:nvCxnSpPr>
            <p:cNvPr id="20" name="直接箭头连接符 19"/>
            <p:cNvCxnSpPr>
              <a:stCxn id="18" idx="3"/>
              <a:endCxn id="19" idx="1"/>
            </p:cNvCxnSpPr>
            <p:nvPr>
              <p:custDataLst>
                <p:tags r:id="rId68"/>
              </p:custDataLst>
            </p:nvPr>
          </p:nvCxnSpPr>
          <p:spPr>
            <a:xfrm>
              <a:off x="13095" y="3832"/>
              <a:ext cx="204" cy="1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098" name="Object 2"/>
          <p:cNvGraphicFramePr>
            <a:graphicFrameLocks noChangeAspect="1"/>
          </p:cNvGraphicFramePr>
          <p:nvPr>
            <p:custDataLst>
              <p:tags r:id="rId69"/>
            </p:custDataLst>
          </p:nvPr>
        </p:nvGraphicFramePr>
        <p:xfrm>
          <a:off x="3657096" y="4817253"/>
          <a:ext cx="798032" cy="422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70" imgW="431800" imgH="228600" progId="Equation.3">
                  <p:embed/>
                </p:oleObj>
              </mc:Choice>
              <mc:Fallback>
                <p:oleObj name="Equation" r:id="rId70" imgW="431800" imgH="228600" progId="Equation.3">
                  <p:embed/>
                  <p:pic>
                    <p:nvPicPr>
                      <p:cNvPr id="0" name="图片 286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096" y="4817253"/>
                        <a:ext cx="798032" cy="4227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485775" y="6214745"/>
            <a:ext cx="4572000" cy="491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思考：删除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13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过程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1" name="组合 40"/>
          <p:cNvGrpSpPr/>
          <p:nvPr>
            <p:custDataLst>
              <p:tags r:id="rId72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73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7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7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TipText"/>
            <p:cNvSpPr txBox="1"/>
            <p:nvPr>
              <p:custDataLst>
                <p:tags r:id="rId7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AF0A"/>
          <p:cNvPicPr>
            <a:picLocks noChangeAspect="1"/>
          </p:cNvPicPr>
          <p:nvPr>
            <p:custDataLst>
              <p:tags r:id="rId77"/>
            </p:custDataLst>
          </p:nvPr>
        </p:nvPicPr>
        <p:blipFill>
          <a:blip r:embed="rId7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79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H1</a:t>
            </a:r>
            <a:r>
              <a:rPr lang="zh-CN" altLang="en-US" smtClean="0"/>
              <a:t>小结</a:t>
            </a:r>
            <a:endParaRPr lang="zh-CN" altLang="en-US" smtClean="0"/>
          </a:p>
        </p:txBody>
      </p:sp>
      <p:sp>
        <p:nvSpPr>
          <p:cNvPr id="614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m</a:t>
            </a:r>
            <a:r>
              <a:rPr lang="zh-CN" altLang="en-US" smtClean="0"/>
              <a:t>阶</a:t>
            </a:r>
            <a:r>
              <a:rPr lang="en-US" altLang="zh-CN" smtClean="0"/>
              <a:t>B</a:t>
            </a:r>
            <a:r>
              <a:rPr lang="zh-CN" altLang="en-US" smtClean="0"/>
              <a:t>树的插入</a:t>
            </a:r>
            <a:endParaRPr lang="en-US" altLang="zh-CN" smtClean="0"/>
          </a:p>
          <a:p>
            <a:pPr lvl="1"/>
            <a:r>
              <a:rPr lang="zh-CN" altLang="en-US" smtClean="0"/>
              <a:t>需考虑违背</a:t>
            </a:r>
            <a:r>
              <a:rPr lang="en-US" altLang="zh-CN" smtClean="0">
                <a:sym typeface="+mn-ea"/>
              </a:rPr>
              <a:t>m</a:t>
            </a:r>
            <a:r>
              <a:rPr lang="zh-CN" altLang="en-US" smtClean="0">
                <a:sym typeface="+mn-ea"/>
              </a:rPr>
              <a:t>阶</a:t>
            </a:r>
            <a:r>
              <a:rPr lang="en-US" altLang="zh-CN" smtClean="0">
                <a:sym typeface="+mn-ea"/>
              </a:rPr>
              <a:t>B</a:t>
            </a:r>
            <a:r>
              <a:rPr lang="zh-CN" altLang="en-US" smtClean="0">
                <a:sym typeface="+mn-ea"/>
              </a:rPr>
              <a:t>树</a:t>
            </a:r>
            <a:r>
              <a:rPr lang="zh-CN" altLang="en-US" smtClean="0"/>
              <a:t>上限的情况</a:t>
            </a:r>
            <a:endParaRPr lang="en-US" altLang="zh-CN" smtClean="0"/>
          </a:p>
          <a:p>
            <a:pPr lvl="1"/>
            <a:r>
              <a:rPr lang="zh-CN" altLang="en-US" smtClean="0"/>
              <a:t>处理方法：</a:t>
            </a:r>
            <a:r>
              <a:rPr lang="zh-CN" altLang="en-US" smtClean="0">
                <a:solidFill>
                  <a:srgbClr val="0000CC"/>
                </a:solidFill>
              </a:rPr>
              <a:t>分裂</a:t>
            </a:r>
            <a:endParaRPr lang="en-US" altLang="zh-CN" smtClean="0">
              <a:solidFill>
                <a:srgbClr val="0000CC"/>
              </a:solidFill>
            </a:endParaRPr>
          </a:p>
          <a:p>
            <a:r>
              <a:rPr lang="en-US" altLang="zh-CN" smtClean="0"/>
              <a:t>m</a:t>
            </a:r>
            <a:r>
              <a:rPr lang="zh-CN" altLang="en-US" smtClean="0"/>
              <a:t>阶</a:t>
            </a:r>
            <a:r>
              <a:rPr lang="en-US" altLang="zh-CN" smtClean="0"/>
              <a:t>B</a:t>
            </a:r>
            <a:r>
              <a:rPr lang="zh-CN" altLang="en-US" smtClean="0"/>
              <a:t>树的删除</a:t>
            </a:r>
            <a:endParaRPr lang="en-US" altLang="zh-CN" smtClean="0"/>
          </a:p>
          <a:p>
            <a:pPr lvl="1"/>
            <a:r>
              <a:rPr lang="zh-CN" altLang="en-US" smtClean="0"/>
              <a:t>需考虑违背</a:t>
            </a:r>
            <a:r>
              <a:rPr lang="en-US" altLang="zh-CN" smtClean="0"/>
              <a:t>m</a:t>
            </a:r>
            <a:r>
              <a:rPr lang="zh-CN" altLang="en-US" smtClean="0"/>
              <a:t>阶</a:t>
            </a:r>
            <a:r>
              <a:rPr lang="en-US" altLang="zh-CN" smtClean="0"/>
              <a:t>B</a:t>
            </a:r>
            <a:r>
              <a:rPr lang="zh-CN" altLang="en-US" smtClean="0"/>
              <a:t>树</a:t>
            </a:r>
            <a:r>
              <a:rPr lang="zh-CN" altLang="en-US" smtClean="0"/>
              <a:t>下限的情况</a:t>
            </a:r>
            <a:endParaRPr lang="en-US" altLang="zh-CN" smtClean="0"/>
          </a:p>
          <a:p>
            <a:pPr lvl="1"/>
            <a:r>
              <a:rPr lang="zh-CN" altLang="en-US" smtClean="0"/>
              <a:t>处理方法：</a:t>
            </a:r>
            <a:r>
              <a:rPr lang="zh-CN" altLang="en-US" smtClean="0">
                <a:solidFill>
                  <a:srgbClr val="0000CC"/>
                </a:solidFill>
              </a:rPr>
              <a:t>能借就借，不能借合并</a:t>
            </a:r>
            <a:endParaRPr lang="zh-CN" altLang="en-US" smtClean="0">
              <a:solidFill>
                <a:srgbClr val="0000CC"/>
              </a:solidFill>
            </a:endParaRPr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014277C-3111-45B7-8703-37254E6DB40B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</a:t>
            </a:r>
            <a:r>
              <a:rPr lang="zh-CN" altLang="en-US"/>
              <a:t>树</a:t>
            </a:r>
            <a:r>
              <a:rPr lang="zh-CN" altLang="en-US"/>
              <a:t>结构多用于外部</a:t>
            </a:r>
            <a:r>
              <a:rPr lang="zh-CN" altLang="en-US"/>
              <a:t>存储</a:t>
            </a:r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" y="1186815"/>
            <a:ext cx="9037955" cy="4662170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磁盘操作次数</a:t>
            </a:r>
            <a:endParaRPr lang="zh-CN" altLang="en-US" smtClean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最坏情况：</a:t>
            </a:r>
            <a:r>
              <a:rPr lang="en-US" altLang="zh-CN" smtClean="0"/>
              <a:t>h</a:t>
            </a:r>
            <a:r>
              <a:rPr lang="zh-CN" altLang="en-US" smtClean="0"/>
              <a:t>层～</a:t>
            </a:r>
            <a:r>
              <a:rPr lang="en-US" altLang="zh-CN" smtClean="0"/>
              <a:t>2</a:t>
            </a:r>
            <a:r>
              <a:rPr lang="zh-CN" altLang="en-US" smtClean="0"/>
              <a:t>层均发生合并</a:t>
            </a:r>
            <a:endParaRPr lang="zh-CN" altLang="en-US" smtClean="0"/>
          </a:p>
          <a:p>
            <a:r>
              <a:rPr lang="zh-CN" altLang="en-US" smtClean="0"/>
              <a:t>磁盘操作次数为</a:t>
            </a:r>
            <a:r>
              <a:rPr lang="en-US" altLang="zh-CN" smtClean="0"/>
              <a:t>3h-1</a:t>
            </a:r>
            <a:r>
              <a:rPr lang="zh-CN" altLang="en-US" smtClean="0"/>
              <a:t>次</a:t>
            </a:r>
            <a:r>
              <a:rPr lang="en-US" altLang="zh-CN" smtClean="0"/>
              <a:t>=</a:t>
            </a:r>
            <a:br>
              <a:rPr lang="en-US" altLang="zh-CN" smtClean="0"/>
            </a:br>
            <a:r>
              <a:rPr lang="zh-CN" altLang="en-US" smtClean="0"/>
              <a:t>搜索删除元素</a:t>
            </a:r>
            <a:r>
              <a:rPr lang="en-US" altLang="zh-CN" smtClean="0"/>
              <a:t>h</a:t>
            </a:r>
            <a:r>
              <a:rPr lang="zh-CN" altLang="en-US" smtClean="0"/>
              <a:t>次读操作</a:t>
            </a:r>
            <a:r>
              <a:rPr lang="en-US" altLang="zh-CN" smtClean="0"/>
              <a:t>+</a:t>
            </a:r>
            <a:br>
              <a:rPr lang="en-US" altLang="zh-CN" smtClean="0"/>
            </a:br>
            <a:r>
              <a:rPr lang="en-US" altLang="zh-CN" smtClean="0"/>
              <a:t>2</a:t>
            </a:r>
            <a:r>
              <a:rPr lang="zh-CN" altLang="en-US" smtClean="0"/>
              <a:t>～</a:t>
            </a:r>
            <a:r>
              <a:rPr lang="en-US" altLang="zh-CN" smtClean="0"/>
              <a:t>h</a:t>
            </a:r>
            <a:r>
              <a:rPr lang="zh-CN" altLang="en-US" smtClean="0"/>
              <a:t>层读取相邻兄弟节点</a:t>
            </a:r>
            <a:r>
              <a:rPr lang="en-US" altLang="zh-CN" smtClean="0"/>
              <a:t>h-1</a:t>
            </a:r>
            <a:r>
              <a:rPr lang="zh-CN" altLang="en-US" smtClean="0"/>
              <a:t>次</a:t>
            </a:r>
            <a:r>
              <a:rPr lang="en-US" altLang="zh-CN" smtClean="0"/>
              <a:t>+</a:t>
            </a:r>
            <a:br>
              <a:rPr lang="en-US" altLang="zh-CN" smtClean="0"/>
            </a:br>
            <a:r>
              <a:rPr lang="en-US" altLang="zh-CN" smtClean="0"/>
              <a:t>3</a:t>
            </a:r>
            <a:r>
              <a:rPr lang="zh-CN" altLang="en-US" smtClean="0"/>
              <a:t>～</a:t>
            </a:r>
            <a:r>
              <a:rPr lang="en-US" altLang="zh-CN" smtClean="0"/>
              <a:t>h</a:t>
            </a:r>
            <a:r>
              <a:rPr lang="zh-CN" altLang="en-US" smtClean="0"/>
              <a:t>层写回合并节点</a:t>
            </a:r>
            <a:r>
              <a:rPr lang="en-US" altLang="zh-CN" smtClean="0"/>
              <a:t>h-2</a:t>
            </a:r>
            <a:r>
              <a:rPr lang="zh-CN" altLang="en-US" smtClean="0"/>
              <a:t>次</a:t>
            </a:r>
            <a:r>
              <a:rPr lang="en-US" altLang="zh-CN" smtClean="0"/>
              <a:t>+</a:t>
            </a:r>
            <a:br>
              <a:rPr lang="en-US" altLang="zh-CN" smtClean="0"/>
            </a:br>
            <a:r>
              <a:rPr lang="zh-CN" altLang="en-US" smtClean="0"/>
              <a:t>写回修改后的根节点和第</a:t>
            </a:r>
            <a:r>
              <a:rPr lang="en-US" altLang="zh-CN" smtClean="0"/>
              <a:t>2</a:t>
            </a:r>
            <a:r>
              <a:rPr lang="zh-CN" altLang="en-US" smtClean="0"/>
              <a:t>层的</a:t>
            </a:r>
            <a:r>
              <a:rPr lang="en-US" altLang="zh-CN" smtClean="0"/>
              <a:t>1</a:t>
            </a:r>
            <a:r>
              <a:rPr lang="zh-CN" altLang="en-US" smtClean="0"/>
              <a:t>个节点</a:t>
            </a:r>
            <a:r>
              <a:rPr lang="en-US" altLang="zh-CN" smtClean="0"/>
              <a:t>2</a:t>
            </a:r>
            <a:r>
              <a:rPr lang="zh-CN" altLang="en-US" smtClean="0"/>
              <a:t>次</a:t>
            </a:r>
            <a:endParaRPr lang="zh-CN" altLang="en-US" smtClean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F585C8-64DE-42CA-9D52-3F6F58122DEE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</a:t>
            </a:r>
            <a:r>
              <a:rPr lang="en-US" altLang="zh-CN" baseline="30000" smtClean="0"/>
              <a:t>+</a:t>
            </a:r>
            <a:r>
              <a:rPr lang="zh-CN" altLang="en-US" smtClean="0"/>
              <a:t>树定义</a:t>
            </a:r>
            <a:endParaRPr lang="zh-CN" altLang="en-US" smtClean="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B+</a:t>
            </a:r>
            <a:r>
              <a:rPr lang="zh-CN" altLang="en-US" smtClean="0"/>
              <a:t>树与</a:t>
            </a:r>
            <a:r>
              <a:rPr lang="en-US" altLang="zh-CN" smtClean="0"/>
              <a:t>B</a:t>
            </a:r>
            <a:r>
              <a:rPr lang="zh-CN" altLang="en-US" smtClean="0"/>
              <a:t>树的区别</a:t>
            </a:r>
            <a:endParaRPr lang="en-US" altLang="zh-CN" smtClean="0"/>
          </a:p>
          <a:p>
            <a:pPr lvl="1"/>
            <a:r>
              <a:rPr lang="zh-CN" altLang="en-US" smtClean="0"/>
              <a:t>所有关键字都放在叶节点中，上层的非叶结点的关键字是其子树中最大关键字的复写</a:t>
            </a:r>
            <a:endParaRPr lang="en-US" altLang="zh-CN" smtClean="0"/>
          </a:p>
          <a:p>
            <a:pPr lvl="1"/>
            <a:r>
              <a:rPr lang="zh-CN" altLang="en-US" smtClean="0"/>
              <a:t>叶节点包含了全部关键字，且叶节点本身按关键字值从小到大链接</a:t>
            </a:r>
            <a:endParaRPr lang="zh-CN" altLang="en-US" smtClean="0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A5089A7-3F33-4F78-B7C3-A1C50A4D6BB7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4</a:t>
            </a:r>
            <a:r>
              <a:rPr lang="zh-CN" altLang="en-US" smtClean="0"/>
              <a:t>阶</a:t>
            </a:r>
            <a:r>
              <a:rPr lang="en-US" altLang="zh-CN" smtClean="0"/>
              <a:t>B+</a:t>
            </a:r>
            <a:r>
              <a:rPr lang="zh-CN" altLang="en-US" smtClean="0"/>
              <a:t>树示例</a:t>
            </a:r>
            <a:endParaRPr lang="zh-CN" altLang="en-US" smtClean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451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3D6959-1E31-4DD0-911C-A60A5A626492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3316288" y="1455738"/>
            <a:ext cx="161448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67  84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701800" y="2532063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15  34  47  67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6007100" y="2532063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78  84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46088" y="3967163"/>
            <a:ext cx="89693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10  15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1522413" y="3967163"/>
            <a:ext cx="161448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18  22  27  34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3316288" y="3967163"/>
            <a:ext cx="1076325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40 44 47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4572000" y="3967163"/>
            <a:ext cx="89693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54  67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6007100" y="3967163"/>
            <a:ext cx="1076325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72 74  78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 bwMode="auto">
          <a:xfrm>
            <a:off x="7262813" y="3967163"/>
            <a:ext cx="89693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81  84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4525" name="直接连接符 16"/>
          <p:cNvCxnSpPr>
            <a:cxnSpLocks noChangeShapeType="1"/>
          </p:cNvCxnSpPr>
          <p:nvPr/>
        </p:nvCxnSpPr>
        <p:spPr bwMode="auto">
          <a:xfrm rot="5400000">
            <a:off x="804862" y="3070226"/>
            <a:ext cx="1076325" cy="71755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6" name="直接连接符 19"/>
          <p:cNvCxnSpPr>
            <a:cxnSpLocks noChangeShapeType="1"/>
          </p:cNvCxnSpPr>
          <p:nvPr/>
        </p:nvCxnSpPr>
        <p:spPr bwMode="auto">
          <a:xfrm rot="16200000" flipH="1">
            <a:off x="1791494" y="3159919"/>
            <a:ext cx="1076325" cy="538163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7" name="直接连接符 22"/>
          <p:cNvCxnSpPr>
            <a:cxnSpLocks noChangeShapeType="1"/>
            <a:stCxn id="6" idx="2"/>
          </p:cNvCxnSpPr>
          <p:nvPr/>
        </p:nvCxnSpPr>
        <p:spPr bwMode="auto">
          <a:xfrm rot="16200000" flipH="1">
            <a:off x="2732881" y="2666207"/>
            <a:ext cx="1076325" cy="1525588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8" name="直接连接符 25"/>
          <p:cNvCxnSpPr>
            <a:cxnSpLocks noChangeShapeType="1"/>
            <a:endCxn id="11" idx="0"/>
          </p:cNvCxnSpPr>
          <p:nvPr/>
        </p:nvCxnSpPr>
        <p:spPr bwMode="auto">
          <a:xfrm>
            <a:off x="2778125" y="2890838"/>
            <a:ext cx="2243138" cy="1076325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9" name="直接连接符 28"/>
          <p:cNvCxnSpPr>
            <a:cxnSpLocks noChangeShapeType="1"/>
          </p:cNvCxnSpPr>
          <p:nvPr/>
        </p:nvCxnSpPr>
        <p:spPr bwMode="auto">
          <a:xfrm rot="16200000" flipH="1">
            <a:off x="5917406" y="3159920"/>
            <a:ext cx="1076325" cy="538162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0" name="直接连接符 31"/>
          <p:cNvCxnSpPr>
            <a:cxnSpLocks noChangeShapeType="1"/>
            <a:endCxn id="13" idx="0"/>
          </p:cNvCxnSpPr>
          <p:nvPr/>
        </p:nvCxnSpPr>
        <p:spPr bwMode="auto">
          <a:xfrm>
            <a:off x="6545263" y="2890838"/>
            <a:ext cx="1166812" cy="1076325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1" name="直接连接符 34"/>
          <p:cNvCxnSpPr>
            <a:cxnSpLocks noChangeShapeType="1"/>
          </p:cNvCxnSpPr>
          <p:nvPr/>
        </p:nvCxnSpPr>
        <p:spPr bwMode="auto">
          <a:xfrm>
            <a:off x="3854450" y="1814513"/>
            <a:ext cx="2511425" cy="71755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2" name="直接连接符 37"/>
          <p:cNvCxnSpPr>
            <a:cxnSpLocks noChangeShapeType="1"/>
          </p:cNvCxnSpPr>
          <p:nvPr/>
        </p:nvCxnSpPr>
        <p:spPr bwMode="auto">
          <a:xfrm rot="5400000">
            <a:off x="2867819" y="1904207"/>
            <a:ext cx="717550" cy="538162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3" name="直接箭头连接符 41"/>
          <p:cNvCxnSpPr>
            <a:cxnSpLocks noChangeShapeType="1"/>
            <a:stCxn id="8" idx="3"/>
            <a:endCxn id="9" idx="1"/>
          </p:cNvCxnSpPr>
          <p:nvPr/>
        </p:nvCxnSpPr>
        <p:spPr bwMode="auto">
          <a:xfrm>
            <a:off x="1343025" y="4146550"/>
            <a:ext cx="179388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4" name="直接箭头连接符 43"/>
          <p:cNvCxnSpPr>
            <a:cxnSpLocks noChangeShapeType="1"/>
            <a:stCxn id="9" idx="3"/>
            <a:endCxn id="10" idx="1"/>
          </p:cNvCxnSpPr>
          <p:nvPr/>
        </p:nvCxnSpPr>
        <p:spPr bwMode="auto">
          <a:xfrm>
            <a:off x="3136900" y="4146550"/>
            <a:ext cx="179388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5" name="直接箭头连接符 44"/>
          <p:cNvCxnSpPr>
            <a:cxnSpLocks noChangeShapeType="1"/>
            <a:stCxn id="10" idx="3"/>
            <a:endCxn id="11" idx="1"/>
          </p:cNvCxnSpPr>
          <p:nvPr/>
        </p:nvCxnSpPr>
        <p:spPr bwMode="auto">
          <a:xfrm>
            <a:off x="4392613" y="4146550"/>
            <a:ext cx="179387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6" name="直接箭头连接符 47"/>
          <p:cNvCxnSpPr>
            <a:cxnSpLocks noChangeShapeType="1"/>
            <a:stCxn id="11" idx="3"/>
            <a:endCxn id="12" idx="1"/>
          </p:cNvCxnSpPr>
          <p:nvPr/>
        </p:nvCxnSpPr>
        <p:spPr bwMode="auto">
          <a:xfrm>
            <a:off x="5468938" y="4146550"/>
            <a:ext cx="538162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7" name="直接箭头连接符 50"/>
          <p:cNvCxnSpPr>
            <a:cxnSpLocks noChangeShapeType="1"/>
            <a:stCxn id="12" idx="3"/>
            <a:endCxn id="13" idx="1"/>
          </p:cNvCxnSpPr>
          <p:nvPr/>
        </p:nvCxnSpPr>
        <p:spPr bwMode="auto">
          <a:xfrm>
            <a:off x="7083425" y="4146550"/>
            <a:ext cx="179388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38" name="直接箭头连接符 53"/>
          <p:cNvCxnSpPr>
            <a:cxnSpLocks noChangeShapeType="1"/>
          </p:cNvCxnSpPr>
          <p:nvPr/>
        </p:nvCxnSpPr>
        <p:spPr bwMode="auto">
          <a:xfrm>
            <a:off x="266700" y="4146550"/>
            <a:ext cx="179388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</a:t>
            </a:r>
            <a:r>
              <a:rPr lang="en-US" altLang="zh-CN" baseline="30000" smtClean="0"/>
              <a:t>+</a:t>
            </a:r>
            <a:r>
              <a:rPr lang="zh-CN" altLang="en-US" smtClean="0"/>
              <a:t>树插入</a:t>
            </a:r>
            <a:endParaRPr lang="zh-CN" altLang="en-US" smtClean="0"/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通过查找，在叶节点的适当位置插入元素</a:t>
            </a:r>
            <a:endParaRPr lang="en-US" altLang="zh-CN" smtClean="0"/>
          </a:p>
          <a:p>
            <a:r>
              <a:rPr lang="zh-CN" altLang="en-US" smtClean="0"/>
              <a:t>如果插入后合法，结束</a:t>
            </a:r>
            <a:endParaRPr lang="en-US" altLang="zh-CN" smtClean="0"/>
          </a:p>
          <a:p>
            <a:r>
              <a:rPr lang="zh-CN" altLang="en-US" smtClean="0"/>
              <a:t>如果插入后非法，将该叶节点均匀分裂，更新其父节点</a:t>
            </a:r>
            <a:endParaRPr lang="en-US" altLang="zh-CN" smtClean="0"/>
          </a:p>
          <a:p>
            <a:r>
              <a:rPr lang="zh-CN" altLang="en-US" smtClean="0"/>
              <a:t>递归检查其父节点在更新后是否合法，直至结束。</a:t>
            </a:r>
            <a:endParaRPr lang="zh-CN" altLang="en-US" smtClean="0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70581C3-F99E-4129-9017-321BBB7E9D23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B+</a:t>
            </a:r>
            <a:r>
              <a:rPr lang="zh-CN" altLang="en-US" smtClean="0"/>
              <a:t>树插入示例</a:t>
            </a:r>
            <a:endParaRPr lang="zh-CN" altLang="en-US" smtClean="0"/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要求：连续插入十三个数，形成</a:t>
            </a:r>
            <a:r>
              <a:rPr lang="en-US" altLang="zh-CN" smtClean="0"/>
              <a:t>4</a:t>
            </a:r>
            <a:r>
              <a:rPr lang="zh-CN" altLang="en-US" smtClean="0"/>
              <a:t>阶</a:t>
            </a:r>
            <a:r>
              <a:rPr lang="en-US" altLang="zh-CN" smtClean="0"/>
              <a:t>B+</a:t>
            </a:r>
            <a:r>
              <a:rPr lang="zh-CN" altLang="en-US" smtClean="0"/>
              <a:t>树</a:t>
            </a:r>
            <a:r>
              <a:rPr lang="en-US" altLang="zh-CN" smtClean="0"/>
              <a:t>24,72,1,39,53,63,90,88,15,10,44,68,18</a:t>
            </a:r>
            <a:endParaRPr lang="zh-CN" altLang="en-US" smtClean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1094780-F68D-4E07-BD7F-F4E34F6BDE2A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2778125" y="3967163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1  24  39  72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6566" name="直接箭头连接符 5"/>
          <p:cNvCxnSpPr>
            <a:cxnSpLocks noChangeShapeType="1"/>
          </p:cNvCxnSpPr>
          <p:nvPr/>
        </p:nvCxnSpPr>
        <p:spPr bwMode="auto">
          <a:xfrm>
            <a:off x="2598738" y="4146550"/>
            <a:ext cx="179387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567" name="TextBox 6"/>
          <p:cNvSpPr txBox="1">
            <a:spLocks noChangeArrowheads="1"/>
          </p:cNvSpPr>
          <p:nvPr/>
        </p:nvSpPr>
        <p:spPr bwMode="auto">
          <a:xfrm>
            <a:off x="1522413" y="3070225"/>
            <a:ext cx="3408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第</a:t>
            </a:r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zh-CN" altLang="en-US" b="1">
                <a:solidFill>
                  <a:srgbClr val="FF0000"/>
                </a:solidFill>
              </a:rPr>
              <a:t>步：插入</a:t>
            </a:r>
            <a:r>
              <a:rPr lang="en-US" altLang="zh-CN" b="1">
                <a:solidFill>
                  <a:srgbClr val="FF0000"/>
                </a:solidFill>
              </a:rPr>
              <a:t>24,72,1,39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B+</a:t>
            </a:r>
            <a:r>
              <a:rPr lang="zh-CN" altLang="en-US" smtClean="0"/>
              <a:t>树插入示例</a:t>
            </a:r>
            <a:endParaRPr lang="zh-CN" altLang="en-US" smtClean="0"/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要求：连续插入十三个数，形成</a:t>
            </a:r>
            <a:r>
              <a:rPr lang="en-US" altLang="zh-CN" smtClean="0"/>
              <a:t>4</a:t>
            </a:r>
            <a:r>
              <a:rPr lang="zh-CN" altLang="en-US" smtClean="0"/>
              <a:t>阶</a:t>
            </a:r>
            <a:r>
              <a:rPr lang="en-US" altLang="zh-CN" smtClean="0"/>
              <a:t>B+</a:t>
            </a:r>
            <a:r>
              <a:rPr lang="zh-CN" altLang="en-US" smtClean="0"/>
              <a:t>树</a:t>
            </a:r>
            <a:r>
              <a:rPr lang="en-US" altLang="zh-CN" smtClean="0"/>
              <a:t>24,72,1,39,53,63,90,88,15,10,44,68,18</a:t>
            </a:r>
            <a:endParaRPr lang="zh-CN" altLang="en-US" smtClean="0"/>
          </a:p>
        </p:txBody>
      </p:sp>
      <p:sp>
        <p:nvSpPr>
          <p:cNvPr id="6758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6C5D5A4-4347-4999-9859-81BF853B3997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984250" y="3967163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1  24  39  72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7590" name="直接箭头连接符 5"/>
          <p:cNvCxnSpPr>
            <a:cxnSpLocks noChangeShapeType="1"/>
          </p:cNvCxnSpPr>
          <p:nvPr/>
        </p:nvCxnSpPr>
        <p:spPr bwMode="auto">
          <a:xfrm>
            <a:off x="804863" y="4146550"/>
            <a:ext cx="179387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591" name="TextBox 6"/>
          <p:cNvSpPr txBox="1">
            <a:spLocks noChangeArrowheads="1"/>
          </p:cNvSpPr>
          <p:nvPr/>
        </p:nvSpPr>
        <p:spPr bwMode="auto">
          <a:xfrm>
            <a:off x="3495675" y="2890838"/>
            <a:ext cx="3408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第</a:t>
            </a:r>
            <a:r>
              <a:rPr lang="en-US" altLang="zh-CN" b="1">
                <a:solidFill>
                  <a:srgbClr val="FF0000"/>
                </a:solidFill>
              </a:rPr>
              <a:t>2</a:t>
            </a:r>
            <a:r>
              <a:rPr lang="zh-CN" altLang="en-US" b="1">
                <a:solidFill>
                  <a:srgbClr val="FF0000"/>
                </a:solidFill>
              </a:rPr>
              <a:t>步：插入</a:t>
            </a:r>
            <a:r>
              <a:rPr lang="en-US" altLang="zh-CN" b="1">
                <a:solidFill>
                  <a:srgbClr val="FF0000"/>
                </a:solidFill>
              </a:rPr>
              <a:t>53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033838" y="4864100"/>
            <a:ext cx="161448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1  24  39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7593" name="直接箭头连接符 8"/>
          <p:cNvCxnSpPr>
            <a:cxnSpLocks noChangeShapeType="1"/>
          </p:cNvCxnSpPr>
          <p:nvPr/>
        </p:nvCxnSpPr>
        <p:spPr bwMode="auto">
          <a:xfrm>
            <a:off x="3854450" y="5043488"/>
            <a:ext cx="179388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圆角矩形 9"/>
          <p:cNvSpPr/>
          <p:nvPr/>
        </p:nvSpPr>
        <p:spPr bwMode="auto">
          <a:xfrm>
            <a:off x="6545263" y="4864100"/>
            <a:ext cx="161448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53  72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7595" name="直接箭头连接符 10"/>
          <p:cNvCxnSpPr>
            <a:cxnSpLocks noChangeShapeType="1"/>
            <a:stCxn id="8" idx="3"/>
          </p:cNvCxnSpPr>
          <p:nvPr/>
        </p:nvCxnSpPr>
        <p:spPr bwMode="auto">
          <a:xfrm>
            <a:off x="5648325" y="5043488"/>
            <a:ext cx="896938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圆角矩形 12"/>
          <p:cNvSpPr/>
          <p:nvPr/>
        </p:nvSpPr>
        <p:spPr bwMode="auto">
          <a:xfrm>
            <a:off x="5289550" y="3608388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39  72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7597" name="直接连接符 15"/>
          <p:cNvCxnSpPr>
            <a:cxnSpLocks noChangeShapeType="1"/>
          </p:cNvCxnSpPr>
          <p:nvPr/>
        </p:nvCxnSpPr>
        <p:spPr bwMode="auto">
          <a:xfrm rot="5400000">
            <a:off x="4661694" y="4056857"/>
            <a:ext cx="896937" cy="71755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598" name="直接连接符 16"/>
          <p:cNvCxnSpPr>
            <a:cxnSpLocks noChangeShapeType="1"/>
          </p:cNvCxnSpPr>
          <p:nvPr/>
        </p:nvCxnSpPr>
        <p:spPr bwMode="auto">
          <a:xfrm>
            <a:off x="5827713" y="3967163"/>
            <a:ext cx="1076325" cy="896937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B+</a:t>
            </a:r>
            <a:r>
              <a:rPr lang="zh-CN" altLang="en-US" smtClean="0"/>
              <a:t>树插入示例</a:t>
            </a:r>
            <a:endParaRPr lang="zh-CN" altLang="en-US" smtClean="0"/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要求：连续插入十三个数，形成</a:t>
            </a:r>
            <a:r>
              <a:rPr lang="en-US" altLang="zh-CN" smtClean="0"/>
              <a:t>4</a:t>
            </a:r>
            <a:r>
              <a:rPr lang="zh-CN" altLang="en-US" smtClean="0"/>
              <a:t>阶</a:t>
            </a:r>
            <a:r>
              <a:rPr lang="en-US" altLang="zh-CN" smtClean="0"/>
              <a:t>B+</a:t>
            </a:r>
            <a:r>
              <a:rPr lang="zh-CN" altLang="en-US" smtClean="0"/>
              <a:t>树</a:t>
            </a:r>
            <a:r>
              <a:rPr lang="en-US" altLang="zh-CN" smtClean="0"/>
              <a:t>24,72,1,39,53,63,90,88,15,10,44,68,18</a:t>
            </a:r>
            <a:endParaRPr lang="zh-CN" altLang="en-US" smtClean="0"/>
          </a:p>
        </p:txBody>
      </p:sp>
      <p:sp>
        <p:nvSpPr>
          <p:cNvPr id="686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199AEA-059F-4B9C-B531-56EB557F3858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68613" name="TextBox 6"/>
          <p:cNvSpPr txBox="1">
            <a:spLocks noChangeArrowheads="1"/>
          </p:cNvSpPr>
          <p:nvPr/>
        </p:nvSpPr>
        <p:spPr bwMode="auto">
          <a:xfrm>
            <a:off x="3495675" y="2890838"/>
            <a:ext cx="3408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第</a:t>
            </a:r>
            <a:r>
              <a:rPr lang="en-US" altLang="zh-CN" b="1">
                <a:solidFill>
                  <a:srgbClr val="FF0000"/>
                </a:solidFill>
              </a:rPr>
              <a:t>3</a:t>
            </a:r>
            <a:r>
              <a:rPr lang="zh-CN" altLang="en-US" b="1">
                <a:solidFill>
                  <a:srgbClr val="FF0000"/>
                </a:solidFill>
              </a:rPr>
              <a:t>步：插入</a:t>
            </a:r>
            <a:r>
              <a:rPr lang="en-US" altLang="zh-CN" b="1">
                <a:solidFill>
                  <a:srgbClr val="FF0000"/>
                </a:solidFill>
              </a:rPr>
              <a:t>63,90,88,15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266700" y="3967163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1  24  39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8615" name="直接箭头连接符 8"/>
          <p:cNvCxnSpPr>
            <a:cxnSpLocks noChangeShapeType="1"/>
          </p:cNvCxnSpPr>
          <p:nvPr/>
        </p:nvCxnSpPr>
        <p:spPr bwMode="auto">
          <a:xfrm>
            <a:off x="87313" y="4146550"/>
            <a:ext cx="179387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圆角矩形 9"/>
          <p:cNvSpPr/>
          <p:nvPr/>
        </p:nvSpPr>
        <p:spPr bwMode="auto">
          <a:xfrm>
            <a:off x="2778125" y="3967163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53  72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8617" name="直接箭头连接符 10"/>
          <p:cNvCxnSpPr>
            <a:cxnSpLocks noChangeShapeType="1"/>
            <a:stCxn id="8" idx="3"/>
          </p:cNvCxnSpPr>
          <p:nvPr/>
        </p:nvCxnSpPr>
        <p:spPr bwMode="auto">
          <a:xfrm>
            <a:off x="1881188" y="4146550"/>
            <a:ext cx="896937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圆角矩形 12"/>
          <p:cNvSpPr/>
          <p:nvPr/>
        </p:nvSpPr>
        <p:spPr bwMode="auto">
          <a:xfrm>
            <a:off x="1522413" y="2711450"/>
            <a:ext cx="161448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39  72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8619" name="直接连接符 15"/>
          <p:cNvCxnSpPr>
            <a:cxnSpLocks noChangeShapeType="1"/>
          </p:cNvCxnSpPr>
          <p:nvPr/>
        </p:nvCxnSpPr>
        <p:spPr bwMode="auto">
          <a:xfrm rot="5400000">
            <a:off x="894556" y="3159919"/>
            <a:ext cx="896938" cy="71755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20" name="直接连接符 16"/>
          <p:cNvCxnSpPr>
            <a:cxnSpLocks noChangeShapeType="1"/>
          </p:cNvCxnSpPr>
          <p:nvPr/>
        </p:nvCxnSpPr>
        <p:spPr bwMode="auto">
          <a:xfrm>
            <a:off x="2060575" y="3070225"/>
            <a:ext cx="1076325" cy="896938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圆角矩形 14"/>
          <p:cNvSpPr/>
          <p:nvPr/>
        </p:nvSpPr>
        <p:spPr bwMode="auto">
          <a:xfrm>
            <a:off x="4033838" y="4864100"/>
            <a:ext cx="161448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1  15  24  39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8622" name="直接箭头连接符 17"/>
          <p:cNvCxnSpPr>
            <a:cxnSpLocks noChangeShapeType="1"/>
          </p:cNvCxnSpPr>
          <p:nvPr/>
        </p:nvCxnSpPr>
        <p:spPr bwMode="auto">
          <a:xfrm>
            <a:off x="3854450" y="5043488"/>
            <a:ext cx="179388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圆角矩形 18"/>
          <p:cNvSpPr/>
          <p:nvPr/>
        </p:nvSpPr>
        <p:spPr bwMode="auto">
          <a:xfrm>
            <a:off x="5827713" y="4864100"/>
            <a:ext cx="1255712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53  63  72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8624" name="直接箭头连接符 19"/>
          <p:cNvCxnSpPr>
            <a:cxnSpLocks noChangeShapeType="1"/>
            <a:stCxn id="15" idx="3"/>
            <a:endCxn id="19" idx="1"/>
          </p:cNvCxnSpPr>
          <p:nvPr/>
        </p:nvCxnSpPr>
        <p:spPr bwMode="auto">
          <a:xfrm>
            <a:off x="5648325" y="5043488"/>
            <a:ext cx="179388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圆角矩形 20"/>
          <p:cNvSpPr/>
          <p:nvPr/>
        </p:nvSpPr>
        <p:spPr bwMode="auto">
          <a:xfrm>
            <a:off x="5289550" y="3608388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39  72  90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8626" name="直接连接符 21"/>
          <p:cNvCxnSpPr>
            <a:cxnSpLocks noChangeShapeType="1"/>
          </p:cNvCxnSpPr>
          <p:nvPr/>
        </p:nvCxnSpPr>
        <p:spPr bwMode="auto">
          <a:xfrm rot="5400000">
            <a:off x="4841082" y="4236244"/>
            <a:ext cx="896937" cy="358775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27" name="直接连接符 22"/>
          <p:cNvCxnSpPr>
            <a:cxnSpLocks noChangeShapeType="1"/>
          </p:cNvCxnSpPr>
          <p:nvPr/>
        </p:nvCxnSpPr>
        <p:spPr bwMode="auto">
          <a:xfrm rot="16200000" flipH="1">
            <a:off x="5738019" y="4056857"/>
            <a:ext cx="896937" cy="71755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圆角矩形 29"/>
          <p:cNvSpPr/>
          <p:nvPr/>
        </p:nvSpPr>
        <p:spPr bwMode="auto">
          <a:xfrm>
            <a:off x="7262813" y="4864100"/>
            <a:ext cx="1255712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88  90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8629" name="直接连接符 30"/>
          <p:cNvCxnSpPr>
            <a:cxnSpLocks noChangeShapeType="1"/>
            <a:stCxn id="21" idx="2"/>
          </p:cNvCxnSpPr>
          <p:nvPr/>
        </p:nvCxnSpPr>
        <p:spPr bwMode="auto">
          <a:xfrm rot="16200000" flipH="1">
            <a:off x="6411119" y="3653632"/>
            <a:ext cx="896937" cy="1524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630" name="直接箭头连接符 33"/>
          <p:cNvCxnSpPr>
            <a:cxnSpLocks noChangeShapeType="1"/>
          </p:cNvCxnSpPr>
          <p:nvPr/>
        </p:nvCxnSpPr>
        <p:spPr bwMode="auto">
          <a:xfrm>
            <a:off x="7083425" y="5043488"/>
            <a:ext cx="179388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B+</a:t>
            </a:r>
            <a:r>
              <a:rPr lang="zh-CN" altLang="en-US" smtClean="0"/>
              <a:t>树插入示例</a:t>
            </a:r>
            <a:endParaRPr lang="zh-CN" altLang="en-US" smtClean="0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>
          <a:xfrm>
            <a:off x="628650" y="1470818"/>
            <a:ext cx="7886700" cy="4351338"/>
          </a:xfrm>
        </p:spPr>
        <p:txBody>
          <a:bodyPr/>
          <a:lstStyle/>
          <a:p>
            <a:r>
              <a:rPr lang="zh-CN" altLang="en-US" dirty="0" smtClean="0"/>
              <a:t>要求：连续插入十三个数，形成</a:t>
            </a:r>
            <a:r>
              <a:rPr lang="en-US" altLang="zh-CN" dirty="0" smtClean="0"/>
              <a:t>4</a:t>
            </a:r>
            <a:r>
              <a:rPr lang="zh-CN" altLang="en-US" dirty="0" smtClean="0"/>
              <a:t>阶</a:t>
            </a:r>
            <a:r>
              <a:rPr lang="en-US" altLang="zh-CN" dirty="0" smtClean="0"/>
              <a:t>B+</a:t>
            </a:r>
            <a:r>
              <a:rPr lang="zh-CN" altLang="en-US" dirty="0" smtClean="0"/>
              <a:t>树</a:t>
            </a:r>
            <a:r>
              <a:rPr lang="en-US" altLang="zh-CN" dirty="0" smtClean="0"/>
              <a:t>24,72,1,39,53,63,90,88,15,10,44,68,18</a:t>
            </a:r>
            <a:endParaRPr lang="zh-CN" altLang="en-US" dirty="0" smtClean="0"/>
          </a:p>
        </p:txBody>
      </p:sp>
      <p:sp>
        <p:nvSpPr>
          <p:cNvPr id="6963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C19144-B091-4C97-81BA-9325C42A62FB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69637" name="TextBox 6"/>
          <p:cNvSpPr txBox="1">
            <a:spLocks noChangeArrowheads="1"/>
          </p:cNvSpPr>
          <p:nvPr/>
        </p:nvSpPr>
        <p:spPr bwMode="auto">
          <a:xfrm>
            <a:off x="3495675" y="2890838"/>
            <a:ext cx="3408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第</a:t>
            </a:r>
            <a:r>
              <a:rPr lang="en-US" altLang="zh-CN" b="1">
                <a:solidFill>
                  <a:srgbClr val="FF0000"/>
                </a:solidFill>
              </a:rPr>
              <a:t>4</a:t>
            </a:r>
            <a:r>
              <a:rPr lang="zh-CN" altLang="en-US" b="1">
                <a:solidFill>
                  <a:srgbClr val="FF0000"/>
                </a:solidFill>
              </a:rPr>
              <a:t>步：插入</a:t>
            </a:r>
            <a:r>
              <a:rPr lang="en-US" altLang="zh-CN" b="1">
                <a:solidFill>
                  <a:srgbClr val="FF0000"/>
                </a:solidFill>
              </a:rPr>
              <a:t>10,44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179388" y="3787775"/>
            <a:ext cx="161448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1  15  24  39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639" name="直接箭头连接符 17"/>
          <p:cNvCxnSpPr>
            <a:cxnSpLocks noChangeShapeType="1"/>
          </p:cNvCxnSpPr>
          <p:nvPr/>
        </p:nvCxnSpPr>
        <p:spPr bwMode="auto">
          <a:xfrm>
            <a:off x="0" y="3967163"/>
            <a:ext cx="179388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圆角矩形 18"/>
          <p:cNvSpPr/>
          <p:nvPr/>
        </p:nvSpPr>
        <p:spPr bwMode="auto">
          <a:xfrm>
            <a:off x="1973263" y="3787775"/>
            <a:ext cx="1255712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53  63  72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641" name="直接箭头连接符 19"/>
          <p:cNvCxnSpPr>
            <a:cxnSpLocks noChangeShapeType="1"/>
            <a:stCxn id="15" idx="3"/>
            <a:endCxn id="19" idx="1"/>
          </p:cNvCxnSpPr>
          <p:nvPr/>
        </p:nvCxnSpPr>
        <p:spPr bwMode="auto">
          <a:xfrm>
            <a:off x="1793875" y="3967163"/>
            <a:ext cx="179388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圆角矩形 20"/>
          <p:cNvSpPr/>
          <p:nvPr/>
        </p:nvSpPr>
        <p:spPr bwMode="auto">
          <a:xfrm>
            <a:off x="1435100" y="2532063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39  72  90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643" name="直接连接符 21"/>
          <p:cNvCxnSpPr>
            <a:cxnSpLocks noChangeShapeType="1"/>
          </p:cNvCxnSpPr>
          <p:nvPr/>
        </p:nvCxnSpPr>
        <p:spPr bwMode="auto">
          <a:xfrm rot="5400000">
            <a:off x="986632" y="3159919"/>
            <a:ext cx="896937" cy="358775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44" name="直接连接符 22"/>
          <p:cNvCxnSpPr>
            <a:cxnSpLocks noChangeShapeType="1"/>
          </p:cNvCxnSpPr>
          <p:nvPr/>
        </p:nvCxnSpPr>
        <p:spPr bwMode="auto">
          <a:xfrm rot="16200000" flipH="1">
            <a:off x="1883569" y="2980532"/>
            <a:ext cx="896937" cy="71755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圆角矩形 29"/>
          <p:cNvSpPr/>
          <p:nvPr/>
        </p:nvSpPr>
        <p:spPr bwMode="auto">
          <a:xfrm>
            <a:off x="3408363" y="3787775"/>
            <a:ext cx="1255712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88  90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646" name="直接连接符 30"/>
          <p:cNvCxnSpPr>
            <a:cxnSpLocks noChangeShapeType="1"/>
            <a:stCxn id="21" idx="2"/>
          </p:cNvCxnSpPr>
          <p:nvPr/>
        </p:nvCxnSpPr>
        <p:spPr bwMode="auto">
          <a:xfrm rot="16200000" flipH="1">
            <a:off x="2556669" y="2577307"/>
            <a:ext cx="896937" cy="1524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47" name="直接箭头连接符 23"/>
          <p:cNvCxnSpPr>
            <a:cxnSpLocks noChangeShapeType="1"/>
            <a:stCxn id="19" idx="3"/>
            <a:endCxn id="30" idx="1"/>
          </p:cNvCxnSpPr>
          <p:nvPr/>
        </p:nvCxnSpPr>
        <p:spPr bwMode="auto">
          <a:xfrm>
            <a:off x="3228975" y="3967163"/>
            <a:ext cx="179388" cy="0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圆角矩形 26"/>
          <p:cNvSpPr/>
          <p:nvPr/>
        </p:nvSpPr>
        <p:spPr bwMode="auto">
          <a:xfrm>
            <a:off x="5110163" y="5761038"/>
            <a:ext cx="89693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24  39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649" name="直接箭头连接符 27"/>
          <p:cNvCxnSpPr>
            <a:cxnSpLocks noChangeShapeType="1"/>
          </p:cNvCxnSpPr>
          <p:nvPr/>
        </p:nvCxnSpPr>
        <p:spPr bwMode="auto">
          <a:xfrm>
            <a:off x="4930775" y="5940425"/>
            <a:ext cx="179388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圆角矩形 28"/>
          <p:cNvSpPr/>
          <p:nvPr/>
        </p:nvSpPr>
        <p:spPr bwMode="auto">
          <a:xfrm>
            <a:off x="6186488" y="5761038"/>
            <a:ext cx="1435100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44 53  63  72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651" name="直接箭头连接符 31"/>
          <p:cNvCxnSpPr>
            <a:cxnSpLocks noChangeShapeType="1"/>
            <a:stCxn id="27" idx="3"/>
            <a:endCxn id="29" idx="1"/>
          </p:cNvCxnSpPr>
          <p:nvPr/>
        </p:nvCxnSpPr>
        <p:spPr bwMode="auto">
          <a:xfrm>
            <a:off x="6007100" y="5940425"/>
            <a:ext cx="179388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圆角矩形 32"/>
          <p:cNvSpPr/>
          <p:nvPr/>
        </p:nvSpPr>
        <p:spPr bwMode="auto">
          <a:xfrm>
            <a:off x="5468938" y="4505325"/>
            <a:ext cx="161448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15  39  72  90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653" name="直接连接符 33"/>
          <p:cNvCxnSpPr>
            <a:cxnSpLocks noChangeShapeType="1"/>
          </p:cNvCxnSpPr>
          <p:nvPr/>
        </p:nvCxnSpPr>
        <p:spPr bwMode="auto">
          <a:xfrm rot="5400000">
            <a:off x="5379244" y="5133181"/>
            <a:ext cx="896938" cy="358775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54" name="直接连接符 34"/>
          <p:cNvCxnSpPr>
            <a:cxnSpLocks noChangeShapeType="1"/>
          </p:cNvCxnSpPr>
          <p:nvPr/>
        </p:nvCxnSpPr>
        <p:spPr bwMode="auto">
          <a:xfrm rot="16200000" flipH="1">
            <a:off x="6276181" y="4953794"/>
            <a:ext cx="896938" cy="71755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圆角矩形 35"/>
          <p:cNvSpPr/>
          <p:nvPr/>
        </p:nvSpPr>
        <p:spPr bwMode="auto">
          <a:xfrm>
            <a:off x="7800975" y="5761038"/>
            <a:ext cx="89693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88  90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656" name="直接连接符 36"/>
          <p:cNvCxnSpPr>
            <a:cxnSpLocks noChangeShapeType="1"/>
          </p:cNvCxnSpPr>
          <p:nvPr/>
        </p:nvCxnSpPr>
        <p:spPr bwMode="auto">
          <a:xfrm>
            <a:off x="6724650" y="4864100"/>
            <a:ext cx="1435100" cy="896938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57" name="直接箭头连接符 37"/>
          <p:cNvCxnSpPr>
            <a:cxnSpLocks noChangeShapeType="1"/>
            <a:stCxn id="29" idx="3"/>
            <a:endCxn id="36" idx="1"/>
          </p:cNvCxnSpPr>
          <p:nvPr/>
        </p:nvCxnSpPr>
        <p:spPr bwMode="auto">
          <a:xfrm>
            <a:off x="7621588" y="5940425"/>
            <a:ext cx="179387" cy="0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圆角矩形 45"/>
          <p:cNvSpPr/>
          <p:nvPr/>
        </p:nvSpPr>
        <p:spPr bwMode="auto">
          <a:xfrm>
            <a:off x="3675063" y="5761038"/>
            <a:ext cx="1255712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1  10  15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659" name="直接箭头连接符 46"/>
          <p:cNvCxnSpPr>
            <a:cxnSpLocks noChangeShapeType="1"/>
          </p:cNvCxnSpPr>
          <p:nvPr/>
        </p:nvCxnSpPr>
        <p:spPr bwMode="auto">
          <a:xfrm>
            <a:off x="3495675" y="5940425"/>
            <a:ext cx="179388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660" name="直接连接符 47"/>
          <p:cNvCxnSpPr>
            <a:cxnSpLocks noChangeShapeType="1"/>
          </p:cNvCxnSpPr>
          <p:nvPr/>
        </p:nvCxnSpPr>
        <p:spPr bwMode="auto">
          <a:xfrm rot="10800000" flipV="1">
            <a:off x="4392613" y="4864100"/>
            <a:ext cx="1255712" cy="896938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B+</a:t>
            </a:r>
            <a:r>
              <a:rPr lang="zh-CN" altLang="en-US" smtClean="0"/>
              <a:t>树插入示例</a:t>
            </a:r>
            <a:endParaRPr lang="zh-CN" altLang="en-US" smtClean="0"/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>
          <a:xfrm>
            <a:off x="628650" y="1589088"/>
            <a:ext cx="7886700" cy="4351338"/>
          </a:xfrm>
        </p:spPr>
        <p:txBody>
          <a:bodyPr/>
          <a:lstStyle/>
          <a:p>
            <a:r>
              <a:rPr lang="zh-CN" altLang="en-US" dirty="0" smtClean="0"/>
              <a:t>要求：连续插入十三个数，形成</a:t>
            </a:r>
            <a:r>
              <a:rPr lang="en-US" altLang="zh-CN" dirty="0" smtClean="0"/>
              <a:t>4</a:t>
            </a:r>
            <a:r>
              <a:rPr lang="zh-CN" altLang="en-US" dirty="0" smtClean="0"/>
              <a:t>阶</a:t>
            </a:r>
            <a:r>
              <a:rPr lang="en-US" altLang="zh-CN" dirty="0" smtClean="0"/>
              <a:t>B+</a:t>
            </a:r>
            <a:r>
              <a:rPr lang="zh-CN" altLang="en-US" dirty="0" smtClean="0"/>
              <a:t>树</a:t>
            </a:r>
            <a:r>
              <a:rPr lang="en-US" altLang="zh-CN" dirty="0" smtClean="0"/>
              <a:t>24,72,1,39,53,63,90,88,15,10,44,68,18</a:t>
            </a:r>
            <a:endParaRPr lang="zh-CN" altLang="en-US" dirty="0" smtClean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90BD4C-CB35-43B9-B27E-045CB04931C3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70661" name="TextBox 6"/>
          <p:cNvSpPr txBox="1">
            <a:spLocks noChangeArrowheads="1"/>
          </p:cNvSpPr>
          <p:nvPr/>
        </p:nvSpPr>
        <p:spPr bwMode="auto">
          <a:xfrm>
            <a:off x="4346383" y="2767014"/>
            <a:ext cx="3408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zh-CN" altLang="en-US" b="1" dirty="0">
                <a:solidFill>
                  <a:srgbClr val="FF0000"/>
                </a:solidFill>
              </a:rPr>
              <a:t>步：插入</a:t>
            </a:r>
            <a:r>
              <a:rPr lang="en-US" altLang="zh-CN" b="1" dirty="0">
                <a:solidFill>
                  <a:srgbClr val="FF0000"/>
                </a:solidFill>
              </a:rPr>
              <a:t>68,18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7" name="圆角矩形 26"/>
          <p:cNvSpPr/>
          <p:nvPr/>
        </p:nvSpPr>
        <p:spPr bwMode="auto">
          <a:xfrm>
            <a:off x="1701800" y="3787775"/>
            <a:ext cx="89693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24  39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63" name="直接箭头连接符 27"/>
          <p:cNvCxnSpPr>
            <a:cxnSpLocks noChangeShapeType="1"/>
          </p:cNvCxnSpPr>
          <p:nvPr/>
        </p:nvCxnSpPr>
        <p:spPr bwMode="auto">
          <a:xfrm>
            <a:off x="1522413" y="3967163"/>
            <a:ext cx="179387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圆角矩形 28"/>
          <p:cNvSpPr/>
          <p:nvPr/>
        </p:nvSpPr>
        <p:spPr bwMode="auto">
          <a:xfrm>
            <a:off x="2778125" y="3787775"/>
            <a:ext cx="1435100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44 53  63  72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65" name="直接箭头连接符 31"/>
          <p:cNvCxnSpPr>
            <a:cxnSpLocks noChangeShapeType="1"/>
            <a:stCxn id="27" idx="3"/>
            <a:endCxn id="29" idx="1"/>
          </p:cNvCxnSpPr>
          <p:nvPr/>
        </p:nvCxnSpPr>
        <p:spPr bwMode="auto">
          <a:xfrm>
            <a:off x="2598738" y="3967163"/>
            <a:ext cx="179387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圆角矩形 32"/>
          <p:cNvSpPr/>
          <p:nvPr/>
        </p:nvSpPr>
        <p:spPr bwMode="auto">
          <a:xfrm>
            <a:off x="2060575" y="2532063"/>
            <a:ext cx="161448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15  39  72  90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67" name="直接连接符 33"/>
          <p:cNvCxnSpPr>
            <a:cxnSpLocks noChangeShapeType="1"/>
          </p:cNvCxnSpPr>
          <p:nvPr/>
        </p:nvCxnSpPr>
        <p:spPr bwMode="auto">
          <a:xfrm rot="5400000">
            <a:off x="1970882" y="3159919"/>
            <a:ext cx="896937" cy="358775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68" name="直接连接符 34"/>
          <p:cNvCxnSpPr>
            <a:cxnSpLocks noChangeShapeType="1"/>
          </p:cNvCxnSpPr>
          <p:nvPr/>
        </p:nvCxnSpPr>
        <p:spPr bwMode="auto">
          <a:xfrm rot="16200000" flipH="1">
            <a:off x="2867819" y="2980532"/>
            <a:ext cx="896937" cy="71755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圆角矩形 35"/>
          <p:cNvSpPr/>
          <p:nvPr/>
        </p:nvSpPr>
        <p:spPr bwMode="auto">
          <a:xfrm>
            <a:off x="4392613" y="3787775"/>
            <a:ext cx="896937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88  90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70" name="直接连接符 36"/>
          <p:cNvCxnSpPr>
            <a:cxnSpLocks noChangeShapeType="1"/>
          </p:cNvCxnSpPr>
          <p:nvPr/>
        </p:nvCxnSpPr>
        <p:spPr bwMode="auto">
          <a:xfrm>
            <a:off x="3316288" y="2890838"/>
            <a:ext cx="1435100" cy="896937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71" name="直接箭头连接符 37"/>
          <p:cNvCxnSpPr>
            <a:cxnSpLocks noChangeShapeType="1"/>
            <a:stCxn id="29" idx="3"/>
            <a:endCxn id="36" idx="1"/>
          </p:cNvCxnSpPr>
          <p:nvPr/>
        </p:nvCxnSpPr>
        <p:spPr bwMode="auto">
          <a:xfrm>
            <a:off x="4213225" y="3967163"/>
            <a:ext cx="179388" cy="0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" name="圆角矩形 45"/>
          <p:cNvSpPr/>
          <p:nvPr/>
        </p:nvSpPr>
        <p:spPr bwMode="auto">
          <a:xfrm>
            <a:off x="266700" y="3787775"/>
            <a:ext cx="1255713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1  10  15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73" name="直接箭头连接符 46"/>
          <p:cNvCxnSpPr>
            <a:cxnSpLocks noChangeShapeType="1"/>
          </p:cNvCxnSpPr>
          <p:nvPr/>
        </p:nvCxnSpPr>
        <p:spPr bwMode="auto">
          <a:xfrm>
            <a:off x="87313" y="3967163"/>
            <a:ext cx="179387" cy="1587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74" name="直接连接符 47"/>
          <p:cNvCxnSpPr>
            <a:cxnSpLocks noChangeShapeType="1"/>
          </p:cNvCxnSpPr>
          <p:nvPr/>
        </p:nvCxnSpPr>
        <p:spPr bwMode="auto">
          <a:xfrm rot="10800000" flipV="1">
            <a:off x="984250" y="2890838"/>
            <a:ext cx="1255713" cy="896937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圆角矩形 38"/>
          <p:cNvSpPr/>
          <p:nvPr/>
        </p:nvSpPr>
        <p:spPr bwMode="auto">
          <a:xfrm>
            <a:off x="4033838" y="6119813"/>
            <a:ext cx="1255712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18  24  39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76" name="直接箭头连接符 39"/>
          <p:cNvCxnSpPr>
            <a:cxnSpLocks noChangeShapeType="1"/>
          </p:cNvCxnSpPr>
          <p:nvPr/>
        </p:nvCxnSpPr>
        <p:spPr bwMode="auto">
          <a:xfrm>
            <a:off x="3854450" y="6299200"/>
            <a:ext cx="179388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" name="圆角矩形 40"/>
          <p:cNvSpPr/>
          <p:nvPr/>
        </p:nvSpPr>
        <p:spPr bwMode="auto">
          <a:xfrm>
            <a:off x="5468938" y="6119813"/>
            <a:ext cx="1076325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44 53  63 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78" name="直接箭头连接符 41"/>
          <p:cNvCxnSpPr>
            <a:cxnSpLocks noChangeShapeType="1"/>
            <a:stCxn id="39" idx="3"/>
            <a:endCxn id="41" idx="1"/>
          </p:cNvCxnSpPr>
          <p:nvPr/>
        </p:nvCxnSpPr>
        <p:spPr bwMode="auto">
          <a:xfrm>
            <a:off x="5289550" y="6299200"/>
            <a:ext cx="179388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圆角矩形 42"/>
          <p:cNvSpPr/>
          <p:nvPr/>
        </p:nvSpPr>
        <p:spPr bwMode="auto">
          <a:xfrm>
            <a:off x="4572000" y="4864100"/>
            <a:ext cx="1255713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15  39  63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80" name="直接连接符 43"/>
          <p:cNvCxnSpPr>
            <a:cxnSpLocks noChangeShapeType="1"/>
          </p:cNvCxnSpPr>
          <p:nvPr/>
        </p:nvCxnSpPr>
        <p:spPr bwMode="auto">
          <a:xfrm rot="5400000">
            <a:off x="4572000" y="5581650"/>
            <a:ext cx="896938" cy="179388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81" name="直接连接符 44"/>
          <p:cNvCxnSpPr>
            <a:cxnSpLocks noChangeShapeType="1"/>
          </p:cNvCxnSpPr>
          <p:nvPr/>
        </p:nvCxnSpPr>
        <p:spPr bwMode="auto">
          <a:xfrm rot="16200000" flipH="1">
            <a:off x="6545263" y="5581650"/>
            <a:ext cx="896938" cy="179387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圆角矩形 48"/>
          <p:cNvSpPr/>
          <p:nvPr/>
        </p:nvSpPr>
        <p:spPr bwMode="auto">
          <a:xfrm>
            <a:off x="7800975" y="6119813"/>
            <a:ext cx="89693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88  90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83" name="直接连接符 49"/>
          <p:cNvCxnSpPr>
            <a:cxnSpLocks noChangeShapeType="1"/>
          </p:cNvCxnSpPr>
          <p:nvPr/>
        </p:nvCxnSpPr>
        <p:spPr bwMode="auto">
          <a:xfrm rot="16200000" flipH="1">
            <a:off x="7262813" y="5222875"/>
            <a:ext cx="896938" cy="896937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84" name="直接箭头连接符 50"/>
          <p:cNvCxnSpPr>
            <a:cxnSpLocks noChangeShapeType="1"/>
            <a:endCxn id="49" idx="1"/>
          </p:cNvCxnSpPr>
          <p:nvPr/>
        </p:nvCxnSpPr>
        <p:spPr bwMode="auto">
          <a:xfrm>
            <a:off x="7621588" y="6299200"/>
            <a:ext cx="179387" cy="0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圆角矩形 51"/>
          <p:cNvSpPr/>
          <p:nvPr/>
        </p:nvSpPr>
        <p:spPr bwMode="auto">
          <a:xfrm>
            <a:off x="2778125" y="6119813"/>
            <a:ext cx="1076325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1  10  15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86" name="直接箭头连接符 52"/>
          <p:cNvCxnSpPr>
            <a:cxnSpLocks noChangeShapeType="1"/>
          </p:cNvCxnSpPr>
          <p:nvPr/>
        </p:nvCxnSpPr>
        <p:spPr bwMode="auto">
          <a:xfrm>
            <a:off x="2598738" y="6299200"/>
            <a:ext cx="179387" cy="1588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87" name="直接连接符 53"/>
          <p:cNvCxnSpPr>
            <a:cxnSpLocks noChangeShapeType="1"/>
          </p:cNvCxnSpPr>
          <p:nvPr/>
        </p:nvCxnSpPr>
        <p:spPr bwMode="auto">
          <a:xfrm rot="10800000" flipV="1">
            <a:off x="3495675" y="5222875"/>
            <a:ext cx="1255713" cy="896938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" name="圆角矩形 60"/>
          <p:cNvSpPr/>
          <p:nvPr/>
        </p:nvSpPr>
        <p:spPr bwMode="auto">
          <a:xfrm>
            <a:off x="6724650" y="6119813"/>
            <a:ext cx="896938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68  72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89" name="直接箭头连接符 61"/>
          <p:cNvCxnSpPr>
            <a:cxnSpLocks noChangeShapeType="1"/>
          </p:cNvCxnSpPr>
          <p:nvPr/>
        </p:nvCxnSpPr>
        <p:spPr bwMode="auto">
          <a:xfrm>
            <a:off x="6545263" y="6299200"/>
            <a:ext cx="179387" cy="0"/>
          </a:xfrm>
          <a:prstGeom prst="straightConnector1">
            <a:avLst/>
          </a:prstGeom>
          <a:noFill/>
          <a:ln w="9525" algn="ctr">
            <a:solidFill>
              <a:schemeClr val="accent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" name="圆角矩形 62"/>
          <p:cNvSpPr/>
          <p:nvPr/>
        </p:nvSpPr>
        <p:spPr bwMode="auto">
          <a:xfrm>
            <a:off x="6724650" y="4864100"/>
            <a:ext cx="1255713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72  90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4" name="圆角矩形 63"/>
          <p:cNvSpPr/>
          <p:nvPr/>
        </p:nvSpPr>
        <p:spPr bwMode="auto">
          <a:xfrm>
            <a:off x="5827713" y="3967163"/>
            <a:ext cx="1255712" cy="35877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 anchor="ctr"/>
          <a:lstStyle/>
          <a:p>
            <a:pPr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63  90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692" name="直接连接符 71"/>
          <p:cNvCxnSpPr>
            <a:cxnSpLocks noChangeShapeType="1"/>
          </p:cNvCxnSpPr>
          <p:nvPr/>
        </p:nvCxnSpPr>
        <p:spPr bwMode="auto">
          <a:xfrm rot="16200000" flipH="1">
            <a:off x="5379244" y="5312569"/>
            <a:ext cx="896938" cy="71755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93" name="直接连接符 74"/>
          <p:cNvCxnSpPr>
            <a:cxnSpLocks noChangeShapeType="1"/>
          </p:cNvCxnSpPr>
          <p:nvPr/>
        </p:nvCxnSpPr>
        <p:spPr bwMode="auto">
          <a:xfrm>
            <a:off x="6365875" y="4325938"/>
            <a:ext cx="717550" cy="538162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694" name="直接连接符 77"/>
          <p:cNvCxnSpPr>
            <a:cxnSpLocks noChangeShapeType="1"/>
          </p:cNvCxnSpPr>
          <p:nvPr/>
        </p:nvCxnSpPr>
        <p:spPr bwMode="auto">
          <a:xfrm rot="5400000">
            <a:off x="5468938" y="4325938"/>
            <a:ext cx="538162" cy="538162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B</a:t>
            </a:r>
            <a:r>
              <a:rPr lang="en-US" altLang="zh-CN" baseline="30000" smtClean="0"/>
              <a:t>+</a:t>
            </a:r>
            <a:r>
              <a:rPr lang="zh-CN" altLang="en-US" smtClean="0"/>
              <a:t>树删除</a:t>
            </a:r>
            <a:endParaRPr lang="zh-CN" altLang="en-US" smtClean="0"/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首先在叶节点上进行删除</a:t>
            </a:r>
            <a:endParaRPr lang="en-US" altLang="zh-CN" smtClean="0"/>
          </a:p>
          <a:p>
            <a:r>
              <a:rPr lang="zh-CN" altLang="en-US" smtClean="0"/>
              <a:t>如果删除后该节点仍满足最小元素数要求，停止</a:t>
            </a:r>
            <a:endParaRPr lang="en-US" altLang="zh-CN" smtClean="0"/>
          </a:p>
          <a:p>
            <a:r>
              <a:rPr lang="zh-CN" altLang="en-US" smtClean="0"/>
              <a:t>如果不满足了，从兄弟节点借元素</a:t>
            </a:r>
            <a:endParaRPr lang="en-US" altLang="zh-CN" smtClean="0"/>
          </a:p>
          <a:p>
            <a:r>
              <a:rPr lang="zh-CN" altLang="en-US" smtClean="0"/>
              <a:t>如果没法借，则合并兄弟节点</a:t>
            </a:r>
            <a:endParaRPr lang="en-US" altLang="zh-CN" smtClean="0"/>
          </a:p>
          <a:p>
            <a:r>
              <a:rPr lang="zh-CN" altLang="en-US" smtClean="0"/>
              <a:t>递归考察父节点，直至结束</a:t>
            </a:r>
            <a:endParaRPr lang="zh-CN" altLang="en-US" smtClean="0"/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B6FB1C-5476-478A-8C7D-16B0D76570F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/>
              <a:t>红黑树</a:t>
            </a:r>
            <a:endParaRPr lang="zh-CN" baseline="30000">
              <a:solidFill>
                <a:srgbClr val="45B0C5"/>
              </a:solidFill>
              <a:uFillTx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lvl="1" indent="-342900"/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定义、搜索</a:t>
            </a:r>
            <a:r>
              <a:rPr lang="zh-CN" altLang="en-US" sz="1400" dirty="0" smtClean="0">
                <a:solidFill>
                  <a:schemeClr val="tx1"/>
                </a:solidFill>
              </a:rPr>
              <a:t>、</a:t>
            </a:r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插入</a:t>
            </a:r>
            <a:r>
              <a:rPr lang="zh-CN" altLang="en-US" sz="1400" dirty="0" smtClean="0">
                <a:solidFill>
                  <a:schemeClr val="tx1"/>
                </a:solidFill>
              </a:rPr>
              <a:t>、</a:t>
            </a:r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删除</a:t>
            </a:r>
            <a:r>
              <a:rPr lang="zh-CN" altLang="en-US" sz="1400" dirty="0" smtClean="0">
                <a:solidFill>
                  <a:schemeClr val="tx1"/>
                </a:solidFill>
              </a:rPr>
              <a:t>、</a:t>
            </a:r>
            <a:r>
              <a:rPr lang="en-US" altLang="zh-CN" sz="1400" dirty="0" smtClean="0">
                <a:solidFill>
                  <a:schemeClr val="tx1"/>
                </a:solidFill>
                <a:sym typeface="+mn-ea"/>
              </a:rPr>
              <a:t>B</a:t>
            </a:r>
            <a:r>
              <a:rPr lang="en-US" altLang="zh-CN" sz="1400" baseline="30000" dirty="0" smtClean="0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 sz="1400" dirty="0" smtClean="0">
                <a:solidFill>
                  <a:schemeClr val="tx1"/>
                </a:solidFill>
                <a:sym typeface="+mn-ea"/>
              </a:rPr>
              <a:t>树</a:t>
            </a:r>
            <a:endParaRPr lang="zh-CN" altLang="en-US" sz="1400" dirty="0" smtClean="0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红－黑树定义</a:t>
            </a:r>
            <a:endParaRPr lang="en-US" altLang="zh-CN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812088" cy="5029200"/>
          </a:xfrm>
        </p:spPr>
        <p:txBody>
          <a:bodyPr/>
          <a:lstStyle/>
          <a:p>
            <a:r>
              <a:rPr lang="zh-CN" altLang="en-US" smtClean="0"/>
              <a:t>特殊的二叉搜索树，对扩充（外部节点）的二叉搜索树，满足以下条件</a:t>
            </a:r>
            <a:endParaRPr lang="zh-CN" altLang="en-US" smtClean="0"/>
          </a:p>
          <a:p>
            <a:pPr lvl="1"/>
            <a:r>
              <a:rPr lang="en-US" altLang="zh-CN" smtClean="0"/>
              <a:t>RB1</a:t>
            </a:r>
            <a:r>
              <a:rPr lang="zh-CN" altLang="en-US" smtClean="0"/>
              <a:t>：根节点和所有外部节点的颜色是黑的</a:t>
            </a:r>
            <a:endParaRPr lang="zh-CN" altLang="en-US" smtClean="0"/>
          </a:p>
          <a:p>
            <a:pPr lvl="1"/>
            <a:r>
              <a:rPr lang="en-US" altLang="zh-CN" smtClean="0"/>
              <a:t>RB2</a:t>
            </a:r>
            <a:r>
              <a:rPr lang="zh-CN" altLang="en-US" smtClean="0"/>
              <a:t>：根至外部节点的路径上没有连续红节点</a:t>
            </a:r>
            <a:endParaRPr lang="zh-CN" altLang="en-US" smtClean="0"/>
          </a:p>
          <a:p>
            <a:pPr lvl="1"/>
            <a:r>
              <a:rPr lang="en-US" altLang="zh-CN" smtClean="0"/>
              <a:t>RB3</a:t>
            </a:r>
            <a:r>
              <a:rPr lang="zh-CN" altLang="en-US" smtClean="0"/>
              <a:t>：所有根至外部节点的路径具有相同数目的黑节点</a:t>
            </a:r>
            <a:endParaRPr lang="zh-CN" altLang="en-US" smtClean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CFCBD3D-F09B-43A0-8C0F-8D28A1FE3FE4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另一种定义方式</a:t>
            </a:r>
            <a:endParaRPr lang="zh-CN" altLang="en-US" smtClean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边（指针）的颜色</a:t>
            </a:r>
            <a:endParaRPr lang="zh-CN" altLang="en-US" smtClean="0"/>
          </a:p>
          <a:p>
            <a:pPr lvl="1"/>
            <a:r>
              <a:rPr lang="en-US" altLang="zh-CN" smtClean="0"/>
              <a:t>RB1’</a:t>
            </a:r>
            <a:r>
              <a:rPr lang="zh-CN" altLang="en-US" smtClean="0"/>
              <a:t>：从内部节点指向外部节点的指针是黑的</a:t>
            </a:r>
            <a:endParaRPr lang="zh-CN" altLang="en-US" smtClean="0"/>
          </a:p>
          <a:p>
            <a:pPr lvl="1"/>
            <a:r>
              <a:rPr lang="en-US" altLang="zh-CN" smtClean="0"/>
              <a:t>RB2’</a:t>
            </a:r>
            <a:r>
              <a:rPr lang="zh-CN" altLang="en-US" smtClean="0"/>
              <a:t>：从根至外部节点的路径上没有连续红指针</a:t>
            </a:r>
            <a:endParaRPr lang="zh-CN" altLang="en-US" smtClean="0"/>
          </a:p>
          <a:p>
            <a:pPr lvl="1"/>
            <a:r>
              <a:rPr lang="en-US" altLang="zh-CN" smtClean="0"/>
              <a:t>RB3’</a:t>
            </a:r>
            <a:r>
              <a:rPr lang="zh-CN" altLang="en-US" smtClean="0"/>
              <a:t>：所有根至外部节点的路径具有相同数目的黑指针</a:t>
            </a:r>
            <a:endParaRPr lang="zh-CN" altLang="en-US" smtClean="0"/>
          </a:p>
          <a:p>
            <a:r>
              <a:rPr lang="zh-CN" altLang="en-US" smtClean="0"/>
              <a:t>黑指针指向的孩子节点是黑的</a:t>
            </a:r>
            <a:br>
              <a:rPr lang="zh-CN" altLang="en-US" smtClean="0"/>
            </a:br>
            <a:r>
              <a:rPr lang="zh-CN" altLang="en-US" smtClean="0"/>
              <a:t>红指针指向的孩子节点是红的</a:t>
            </a:r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2AF2ED-2C1B-4E91-83EC-22C55B71B7FA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红－黑树例</a:t>
            </a:r>
            <a:endParaRPr lang="zh-CN" altLang="en-US" smtClean="0"/>
          </a:p>
        </p:txBody>
      </p:sp>
      <p:pic>
        <p:nvPicPr>
          <p:cNvPr id="75779" name="Picture 3" descr="redbl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438400"/>
            <a:ext cx="5800725" cy="306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节点的</a:t>
            </a:r>
            <a:r>
              <a:rPr lang="zh-CN" altLang="en-US" smtClean="0">
                <a:solidFill>
                  <a:schemeClr val="accent2"/>
                </a:solidFill>
              </a:rPr>
              <a:t>阶</a:t>
            </a:r>
            <a:r>
              <a:rPr lang="zh-CN" altLang="en-US" smtClean="0"/>
              <a:t>（</a:t>
            </a:r>
            <a:r>
              <a:rPr lang="en-US" altLang="zh-CN" smtClean="0">
                <a:solidFill>
                  <a:schemeClr val="hlink"/>
                </a:solidFill>
              </a:rPr>
              <a:t>rank</a:t>
            </a:r>
            <a:r>
              <a:rPr lang="zh-CN" altLang="en-US" smtClean="0"/>
              <a:t>）：从该节点到其子树中任一外部节点的路径上的黑色指针数目</a:t>
            </a:r>
            <a:endParaRPr lang="zh-CN" altLang="en-US" smtClean="0"/>
          </a:p>
          <a:p>
            <a:endParaRPr lang="en-US" altLang="zh-CN" smtClean="0"/>
          </a:p>
        </p:txBody>
      </p:sp>
      <p:sp>
        <p:nvSpPr>
          <p:cNvPr id="7578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B0B0D5-D49C-4E22-9AB1-A06F99322B1A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红－黑树特性</a:t>
            </a:r>
            <a:r>
              <a:rPr lang="en-US" altLang="zh-CN" smtClean="0"/>
              <a:t>1</a:t>
            </a:r>
            <a:endParaRPr lang="en-US" altLang="zh-CN" smtClean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定理</a:t>
            </a:r>
            <a:r>
              <a:rPr lang="en-US" altLang="zh-CN" smtClean="0"/>
              <a:t>11-1</a:t>
            </a:r>
            <a:r>
              <a:rPr lang="zh-CN" altLang="en-US" smtClean="0"/>
              <a:t>：设从根到外部节点的路径的长度（</a:t>
            </a:r>
            <a:r>
              <a:rPr lang="en-US" altLang="zh-CN" smtClean="0"/>
              <a:t>length</a:t>
            </a:r>
            <a:r>
              <a:rPr lang="zh-CN" altLang="en-US" smtClean="0"/>
              <a:t>）是该路径中指针的数量，若</a:t>
            </a:r>
            <a:r>
              <a:rPr lang="en-US" altLang="zh-CN" smtClean="0"/>
              <a:t>P</a:t>
            </a:r>
            <a:r>
              <a:rPr lang="zh-CN" altLang="en-US" smtClean="0"/>
              <a:t>、</a:t>
            </a:r>
            <a:r>
              <a:rPr lang="en-US" altLang="zh-CN" smtClean="0"/>
              <a:t>Q</a:t>
            </a:r>
            <a:r>
              <a:rPr lang="zh-CN" altLang="en-US" smtClean="0"/>
              <a:t>是红－黑树中两条从根至外部节点的路径，那么</a:t>
            </a:r>
            <a:r>
              <a:rPr lang="en-US" altLang="zh-CN" smtClean="0"/>
              <a:t>length(P) </a:t>
            </a:r>
            <a:r>
              <a:rPr lang="en-US" altLang="zh-CN" smtClean="0">
                <a:latin typeface="宋体" panose="02010600030101010101" pitchFamily="2" charset="-122"/>
              </a:rPr>
              <a:t>≤</a:t>
            </a:r>
            <a:r>
              <a:rPr lang="en-US" altLang="zh-CN" smtClean="0"/>
              <a:t>2length(Q)</a:t>
            </a:r>
            <a:endParaRPr lang="en-US" altLang="zh-CN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/>
              <a:t>证明：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/>
              <a:t>设根的阶为</a:t>
            </a:r>
            <a:r>
              <a:rPr lang="en-US" altLang="zh-CN" smtClean="0"/>
              <a:t>r——</a:t>
            </a:r>
            <a:r>
              <a:rPr lang="zh-CN" altLang="en-US" smtClean="0"/>
              <a:t>黑指针数为</a:t>
            </a:r>
            <a:r>
              <a:rPr lang="en-US" altLang="zh-CN" smtClean="0"/>
              <a:t>r</a:t>
            </a:r>
            <a:endParaRPr lang="en-US" altLang="zh-CN" smtClean="0"/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47FA4D-C849-415F-8AC5-C862B2AF016F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红－黑树特性</a:t>
            </a:r>
            <a:r>
              <a:rPr lang="en-US" altLang="zh-CN" smtClean="0"/>
              <a:t>1</a:t>
            </a:r>
            <a:endParaRPr lang="en-US" altLang="zh-CN" smtClean="0"/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/>
              <a:t>由</a:t>
            </a:r>
            <a:r>
              <a:rPr lang="en-US" altLang="zh-CN" smtClean="0"/>
              <a:t>RB1’</a:t>
            </a:r>
            <a:r>
              <a:rPr lang="zh-CN" altLang="en-US" smtClean="0"/>
              <a:t>知：每条路径最后一个指针为黑色的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/>
              <a:t>由</a:t>
            </a:r>
            <a:r>
              <a:rPr lang="en-US" altLang="zh-CN" smtClean="0"/>
              <a:t>RB2’</a:t>
            </a:r>
            <a:r>
              <a:rPr lang="zh-CN" altLang="en-US" smtClean="0"/>
              <a:t>知：所有路径都不包含连续红指针</a:t>
            </a:r>
            <a:endParaRPr lang="zh-CN" altLang="en-US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sym typeface="Wingdings" panose="05000000000000000000" pitchFamily="2" charset="2"/>
              </a:rPr>
              <a:t>每个红指针后面都会紧跟一个黑指针</a:t>
            </a:r>
            <a:endParaRPr lang="zh-CN" altLang="en-US" smtClean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sym typeface="Wingdings" panose="05000000000000000000" pitchFamily="2" charset="2"/>
              </a:rPr>
              <a:t>红指针数目最多为</a:t>
            </a:r>
            <a:r>
              <a:rPr lang="en-US" altLang="zh-CN" smtClean="0">
                <a:sym typeface="Wingdings" panose="05000000000000000000" pitchFamily="2" charset="2"/>
              </a:rPr>
              <a:t>r</a:t>
            </a:r>
            <a:r>
              <a:rPr lang="zh-CN" altLang="en-US" smtClean="0">
                <a:sym typeface="Wingdings" panose="05000000000000000000" pitchFamily="2" charset="2"/>
              </a:rPr>
              <a:t>指针总数在</a:t>
            </a:r>
            <a:r>
              <a:rPr lang="en-US" altLang="zh-CN" smtClean="0">
                <a:sym typeface="Wingdings" panose="05000000000000000000" pitchFamily="2" charset="2"/>
              </a:rPr>
              <a:t>r~2r</a:t>
            </a:r>
            <a:r>
              <a:rPr lang="zh-CN" altLang="en-US" smtClean="0">
                <a:sym typeface="Wingdings" panose="05000000000000000000" pitchFamily="2" charset="2"/>
              </a:rPr>
              <a:t>之间</a:t>
            </a:r>
            <a:endParaRPr lang="zh-CN" altLang="en-US" smtClean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sym typeface="Wingdings" panose="05000000000000000000" pitchFamily="2" charset="2"/>
              </a:rPr>
              <a:t>定理得证</a:t>
            </a:r>
            <a:endParaRPr lang="zh-CN" altLang="en-US" smtClean="0"/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73BDA82-89FB-4F33-BB54-EBD6B0522EB9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红－黑树特性</a:t>
            </a:r>
            <a:r>
              <a:rPr lang="en-US" altLang="zh-CN" smtClean="0"/>
              <a:t>2</a:t>
            </a:r>
            <a:endParaRPr lang="en-US" altLang="zh-CN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zh-CN" altLang="en-US" smtClean="0"/>
              <a:t>定理</a:t>
            </a:r>
            <a:r>
              <a:rPr lang="en-US" altLang="zh-CN" smtClean="0"/>
              <a:t>11-2</a:t>
            </a:r>
            <a:r>
              <a:rPr lang="zh-CN" altLang="en-US" smtClean="0"/>
              <a:t>：设</a:t>
            </a:r>
            <a:r>
              <a:rPr lang="en-US" altLang="zh-CN" smtClean="0"/>
              <a:t>h</a:t>
            </a:r>
            <a:r>
              <a:rPr lang="zh-CN" altLang="en-US" smtClean="0"/>
              <a:t>是一棵红－黑树的高度（不包括外部节点），</a:t>
            </a:r>
            <a:r>
              <a:rPr lang="en-US" altLang="zh-CN" smtClean="0"/>
              <a:t>n</a:t>
            </a:r>
            <a:r>
              <a:rPr lang="zh-CN" altLang="en-US" smtClean="0"/>
              <a:t>是树中内部节点的数目，而</a:t>
            </a:r>
            <a:r>
              <a:rPr lang="en-US" altLang="zh-CN" smtClean="0"/>
              <a:t>r</a:t>
            </a:r>
            <a:r>
              <a:rPr lang="zh-CN" altLang="en-US" smtClean="0"/>
              <a:t>是根节点的阶，则有</a:t>
            </a:r>
            <a:endParaRPr lang="zh-CN" altLang="en-US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h≤2r——</a:t>
            </a:r>
            <a:r>
              <a:rPr lang="zh-CN" altLang="en-US" smtClean="0"/>
              <a:t>由定理</a:t>
            </a:r>
            <a:r>
              <a:rPr lang="en-US" altLang="zh-CN" smtClean="0"/>
              <a:t>11-1</a:t>
            </a:r>
            <a:r>
              <a:rPr lang="zh-CN" altLang="en-US" smtClean="0"/>
              <a:t>显然</a:t>
            </a:r>
            <a:endParaRPr lang="zh-CN" altLang="en-US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n</a:t>
            </a:r>
            <a:r>
              <a:rPr lang="en-US" altLang="zh-CN" smtClean="0">
                <a:latin typeface="宋体" panose="02010600030101010101" pitchFamily="2" charset="-122"/>
              </a:rPr>
              <a:t>≥</a:t>
            </a:r>
            <a:r>
              <a:rPr lang="en-US" altLang="zh-CN" smtClean="0"/>
              <a:t>2</a:t>
            </a:r>
            <a:r>
              <a:rPr lang="en-US" altLang="zh-CN" baseline="30000" smtClean="0"/>
              <a:t>r</a:t>
            </a:r>
            <a:r>
              <a:rPr lang="en-US" altLang="zh-CN" smtClean="0"/>
              <a:t> – 1</a:t>
            </a:r>
            <a:endParaRPr lang="en-US" altLang="zh-CN" smtClean="0"/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en-US" altLang="zh-CN" smtClean="0"/>
              <a:t>h≤2log</a:t>
            </a:r>
            <a:r>
              <a:rPr lang="en-US" altLang="zh-CN" baseline="-25000" smtClean="0"/>
              <a:t>2</a:t>
            </a:r>
            <a:r>
              <a:rPr lang="en-US" altLang="zh-CN" smtClean="0"/>
              <a:t>(n+1)</a:t>
            </a:r>
            <a:endParaRPr lang="en-US" altLang="zh-CN" smtClean="0"/>
          </a:p>
        </p:txBody>
      </p:sp>
      <p:sp>
        <p:nvSpPr>
          <p:cNvPr id="8397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6968BC-EA18-472F-8CCF-9CEFB22A47FE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ltGray">
          <a:xfrm>
            <a:off x="4876800" y="358140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hlink"/>
                </a:solidFill>
              </a:rPr>
              <a:t>根的阶为</a:t>
            </a:r>
            <a:r>
              <a:rPr lang="en-US" altLang="zh-CN" sz="2800">
                <a:solidFill>
                  <a:schemeClr val="hlink"/>
                </a:solidFill>
              </a:rPr>
              <a:t>r</a:t>
            </a:r>
            <a:r>
              <a:rPr lang="en-US" altLang="zh-CN" sz="2800">
                <a:solidFill>
                  <a:schemeClr val="hlink"/>
                </a:solidFill>
                <a:sym typeface="Wingdings" panose="05000000000000000000" pitchFamily="2" charset="2"/>
              </a:rPr>
              <a:t></a:t>
            </a:r>
            <a:r>
              <a:rPr lang="zh-CN" altLang="en-US" sz="2800">
                <a:solidFill>
                  <a:schemeClr val="hlink"/>
                </a:solidFill>
                <a:sym typeface="Wingdings" panose="05000000000000000000" pitchFamily="2" charset="2"/>
              </a:rPr>
              <a:t>树高至少为</a:t>
            </a:r>
            <a:r>
              <a:rPr lang="en-US" altLang="zh-CN" sz="2800">
                <a:solidFill>
                  <a:schemeClr val="hlink"/>
                </a:solidFill>
                <a:sym typeface="Wingdings" panose="05000000000000000000" pitchFamily="2" charset="2"/>
              </a:rPr>
              <a:t>r</a:t>
            </a:r>
            <a:endParaRPr lang="en-US" altLang="zh-CN" sz="2800">
              <a:solidFill>
                <a:schemeClr val="hlink"/>
              </a:solidFill>
            </a:endParaRPr>
          </a:p>
        </p:txBody>
      </p:sp>
      <p:sp>
        <p:nvSpPr>
          <p:cNvPr id="83973" name="AutoShape 5"/>
          <p:cNvSpPr>
            <a:spLocks noChangeArrowheads="1"/>
          </p:cNvSpPr>
          <p:nvPr/>
        </p:nvSpPr>
        <p:spPr bwMode="ltGray">
          <a:xfrm>
            <a:off x="3657600" y="3657600"/>
            <a:ext cx="1219200" cy="304800"/>
          </a:xfrm>
          <a:prstGeom prst="leftArrow">
            <a:avLst>
              <a:gd name="adj1" fmla="val 50000"/>
              <a:gd name="adj2" fmla="val 100000"/>
            </a:avLst>
          </a:prstGeom>
          <a:noFill/>
          <a:ln w="254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3974" name="Text Box 6"/>
          <p:cNvSpPr txBox="1">
            <a:spLocks noChangeArrowheads="1"/>
          </p:cNvSpPr>
          <p:nvPr/>
        </p:nvSpPr>
        <p:spPr bwMode="ltGray">
          <a:xfrm>
            <a:off x="5257800" y="4191000"/>
            <a:ext cx="3581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chemeClr val="hlink"/>
                </a:solidFill>
              </a:rPr>
              <a:t>由</a:t>
            </a:r>
            <a:r>
              <a:rPr lang="en-US" altLang="zh-CN" sz="2800">
                <a:solidFill>
                  <a:schemeClr val="hlink"/>
                </a:solidFill>
              </a:rPr>
              <a:t>2</a:t>
            </a:r>
            <a:r>
              <a:rPr lang="zh-CN" altLang="en-US" sz="2800">
                <a:solidFill>
                  <a:schemeClr val="hlink"/>
                </a:solidFill>
              </a:rPr>
              <a:t>可得</a:t>
            </a:r>
            <a:r>
              <a:rPr lang="en-US" altLang="zh-CN" sz="2800">
                <a:solidFill>
                  <a:schemeClr val="hlink"/>
                </a:solidFill>
              </a:rPr>
              <a:t>r</a:t>
            </a:r>
            <a:r>
              <a:rPr lang="en-US" altLang="zh-CN" sz="2800">
                <a:solidFill>
                  <a:schemeClr val="hlink"/>
                </a:solidFill>
                <a:latin typeface="Times New Roman" panose="02020603050405020304" pitchFamily="18" charset="0"/>
              </a:rPr>
              <a:t>≤log</a:t>
            </a:r>
            <a:r>
              <a:rPr lang="en-US" altLang="zh-CN" sz="2800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>
                <a:solidFill>
                  <a:schemeClr val="hlink"/>
                </a:solidFill>
                <a:latin typeface="Times New Roman" panose="02020603050405020304" pitchFamily="18" charset="0"/>
              </a:rPr>
              <a:t>(n+1)</a:t>
            </a:r>
            <a:r>
              <a:rPr lang="zh-CN" altLang="en-US" sz="2800">
                <a:solidFill>
                  <a:schemeClr val="hlink"/>
                </a:solidFill>
                <a:latin typeface="Times New Roman" panose="02020603050405020304" pitchFamily="18" charset="0"/>
              </a:rPr>
              <a:t>，再结合</a:t>
            </a:r>
            <a:r>
              <a:rPr lang="en-US" altLang="zh-CN" sz="2800">
                <a:solidFill>
                  <a:schemeClr val="hlin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solidFill>
                  <a:schemeClr val="hlink"/>
                </a:solidFill>
                <a:latin typeface="Times New Roman" panose="02020603050405020304" pitchFamily="18" charset="0"/>
              </a:rPr>
              <a:t>即可得证</a:t>
            </a:r>
            <a:endParaRPr lang="zh-CN" altLang="en-US" sz="28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5" name="AutoShape 7"/>
          <p:cNvSpPr>
            <a:spLocks noChangeArrowheads="1"/>
          </p:cNvSpPr>
          <p:nvPr/>
        </p:nvSpPr>
        <p:spPr bwMode="ltGray">
          <a:xfrm>
            <a:off x="4343400" y="4267200"/>
            <a:ext cx="990600" cy="304800"/>
          </a:xfrm>
          <a:prstGeom prst="leftArrow">
            <a:avLst>
              <a:gd name="adj1" fmla="val 50000"/>
              <a:gd name="adj2" fmla="val 81250"/>
            </a:avLst>
          </a:prstGeom>
          <a:noFill/>
          <a:ln w="25400">
            <a:solidFill>
              <a:schemeClr val="hlink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红－黑树的描述</a:t>
            </a:r>
            <a:endParaRPr lang="zh-CN" altLang="en-US" smtClean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外部节点无需实际保存</a:t>
            </a:r>
            <a:endParaRPr lang="zh-CN" altLang="en-US" smtClean="0"/>
          </a:p>
          <a:p>
            <a:r>
              <a:rPr lang="zh-CN" altLang="en-US" smtClean="0"/>
              <a:t>每个节点需保存其颜色和两个指针的颜色</a:t>
            </a:r>
            <a:r>
              <a:rPr lang="en-US" altLang="zh-CN" smtClean="0"/>
              <a:t>——</a:t>
            </a:r>
            <a:r>
              <a:rPr lang="zh-CN" altLang="en-US" smtClean="0"/>
              <a:t>最多需</a:t>
            </a:r>
            <a:r>
              <a:rPr lang="en-US" altLang="zh-CN" smtClean="0"/>
              <a:t>3</a:t>
            </a:r>
            <a:r>
              <a:rPr lang="zh-CN" altLang="en-US" smtClean="0"/>
              <a:t>个二进制位</a:t>
            </a:r>
            <a:endParaRPr lang="zh-CN" altLang="en-US" smtClean="0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0BED96-B815-4C07-83EF-EA2D248300D7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红－黑树的搜索</a:t>
            </a:r>
            <a:endParaRPr lang="zh-CN" altLang="en-US" smtClean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与二叉搜索树相同</a:t>
            </a:r>
            <a:endParaRPr lang="zh-CN" altLang="en-US" smtClean="0"/>
          </a:p>
          <a:p>
            <a:r>
              <a:rPr lang="zh-CN" altLang="en-US" smtClean="0"/>
              <a:t>复杂性</a:t>
            </a:r>
            <a:r>
              <a:rPr lang="en-US" altLang="zh-CN" smtClean="0"/>
              <a:t>O(logn)</a:t>
            </a:r>
            <a:endParaRPr lang="en-US" altLang="zh-CN" smtClean="0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FD9D46A-0E7D-4901-A1EE-55AD52B62040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红－黑树类似</a:t>
            </a:r>
            <a:r>
              <a:rPr lang="en-US" altLang="zh-CN" smtClean="0"/>
              <a:t>4</a:t>
            </a:r>
            <a:r>
              <a:rPr lang="zh-CN" altLang="en-US" smtClean="0"/>
              <a:t>阶</a:t>
            </a:r>
            <a:r>
              <a:rPr lang="en-US" altLang="zh-CN" smtClean="0"/>
              <a:t>B</a:t>
            </a:r>
            <a:r>
              <a:rPr lang="zh-CN" altLang="en-US" smtClean="0"/>
              <a:t>树</a:t>
            </a:r>
            <a:endParaRPr lang="zh-CN" altLang="en-US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因为</a:t>
            </a:r>
            <a:r>
              <a:rPr lang="en-US" altLang="zh-CN" smtClean="0"/>
              <a:t>2-3-4</a:t>
            </a:r>
            <a:r>
              <a:rPr lang="zh-CN" altLang="en-US" smtClean="0"/>
              <a:t>树节点结构为数组，期望</a:t>
            </a:r>
            <a:r>
              <a:rPr lang="zh-CN" altLang="en-US" smtClean="0"/>
              <a:t>通过二叉树结构描述</a:t>
            </a:r>
            <a:r>
              <a:rPr lang="en-US" altLang="zh-CN" smtClean="0"/>
              <a:t>2-3-4</a:t>
            </a:r>
            <a:r>
              <a:rPr lang="zh-CN" altLang="en-US" smtClean="0"/>
              <a:t>树</a:t>
            </a:r>
            <a:endParaRPr lang="zh-CN" altLang="en-US" smtClean="0"/>
          </a:p>
          <a:p>
            <a:pPr lvl="1"/>
            <a:r>
              <a:rPr lang="en-US" altLang="zh-CN" smtClean="0"/>
              <a:t>2</a:t>
            </a:r>
            <a:r>
              <a:rPr lang="zh-CN" altLang="en-US" smtClean="0"/>
              <a:t>节点（一个关键字，两个孩子）用二叉树结构表示</a:t>
            </a:r>
            <a:endParaRPr lang="zh-CN" altLang="en-US" smtClean="0"/>
          </a:p>
          <a:p>
            <a:pPr lvl="1"/>
            <a:r>
              <a:rPr lang="en-US" altLang="zh-CN" smtClean="0"/>
              <a:t>3</a:t>
            </a:r>
            <a:r>
              <a:rPr lang="zh-CN" altLang="en-US" smtClean="0"/>
              <a:t>节点、</a:t>
            </a:r>
            <a:r>
              <a:rPr lang="en-US" altLang="zh-CN" smtClean="0"/>
              <a:t>4</a:t>
            </a:r>
            <a:r>
              <a:rPr lang="zh-CN" altLang="en-US" smtClean="0"/>
              <a:t>节点怎么办？多个关键字在二叉树中只能形成多个节点</a:t>
            </a:r>
            <a:endParaRPr lang="zh-CN" altLang="en-US" smtClean="0"/>
          </a:p>
          <a:p>
            <a:pPr lvl="1"/>
            <a:r>
              <a:rPr lang="zh-CN" altLang="en-US" smtClean="0"/>
              <a:t>用红边描述</a:t>
            </a:r>
            <a:r>
              <a:rPr lang="en-US" altLang="zh-CN" smtClean="0"/>
              <a:t>——</a:t>
            </a:r>
            <a:r>
              <a:rPr lang="zh-CN" altLang="en-US" smtClean="0"/>
              <a:t>红边连接的节点中的关键字，在</a:t>
            </a:r>
            <a:r>
              <a:rPr lang="en-US" altLang="zh-CN" smtClean="0"/>
              <a:t>2</a:t>
            </a:r>
            <a:r>
              <a:rPr lang="zh-CN" altLang="en-US" smtClean="0"/>
              <a:t>－</a:t>
            </a:r>
            <a:r>
              <a:rPr lang="en-US" altLang="zh-CN" smtClean="0"/>
              <a:t>3</a:t>
            </a:r>
            <a:r>
              <a:rPr lang="zh-CN" altLang="en-US" smtClean="0"/>
              <a:t>－</a:t>
            </a:r>
            <a:r>
              <a:rPr lang="en-US" altLang="zh-CN" smtClean="0"/>
              <a:t>4</a:t>
            </a:r>
            <a:r>
              <a:rPr lang="zh-CN" altLang="en-US" smtClean="0"/>
              <a:t>树中是一个节点内的</a:t>
            </a:r>
            <a:endParaRPr lang="zh-CN" altLang="en-US" smtClean="0"/>
          </a:p>
        </p:txBody>
      </p:sp>
      <p:sp>
        <p:nvSpPr>
          <p:cNvPr id="7680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ACBC376-C289-4345-B1EC-75CA90B787CF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2-3-4</a:t>
            </a:r>
            <a:r>
              <a:rPr lang="zh-CN" altLang="en-US" smtClean="0"/>
              <a:t>树的红－黑树表示</a:t>
            </a:r>
            <a:endParaRPr lang="zh-CN" altLang="en-US" smtClean="0"/>
          </a:p>
        </p:txBody>
      </p:sp>
      <p:pic>
        <p:nvPicPr>
          <p:cNvPr id="77827" name="Picture 5" descr="b-rb-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895475"/>
            <a:ext cx="4879975" cy="197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8" name="Text Box 6"/>
          <p:cNvSpPr txBox="1">
            <a:spLocks noChangeArrowheads="1"/>
          </p:cNvSpPr>
          <p:nvPr/>
        </p:nvSpPr>
        <p:spPr bwMode="ltGray">
          <a:xfrm>
            <a:off x="6858000" y="2133600"/>
            <a:ext cx="152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四节点的转换</a:t>
            </a:r>
            <a:endParaRPr lang="zh-CN" altLang="en-US">
              <a:solidFill>
                <a:schemeClr val="hlink"/>
              </a:solidFill>
            </a:endParaRPr>
          </a:p>
        </p:txBody>
      </p:sp>
      <p:sp>
        <p:nvSpPr>
          <p:cNvPr id="7782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BEBD9A-188C-4091-BED5-C98C0EDE9C63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2-3-4</a:t>
            </a:r>
            <a:r>
              <a:rPr lang="zh-CN" altLang="en-US" smtClean="0"/>
              <a:t>树的红－黑树表示</a:t>
            </a:r>
            <a:endParaRPr lang="zh-CN" altLang="en-US" smtClean="0"/>
          </a:p>
        </p:txBody>
      </p:sp>
      <p:pic>
        <p:nvPicPr>
          <p:cNvPr id="78851" name="Picture 5" descr="b-rb-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95475"/>
            <a:ext cx="7038975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2" name="Text Box 6"/>
          <p:cNvSpPr txBox="1">
            <a:spLocks noChangeArrowheads="1"/>
          </p:cNvSpPr>
          <p:nvPr/>
        </p:nvSpPr>
        <p:spPr bwMode="ltGray">
          <a:xfrm>
            <a:off x="7162800" y="1600200"/>
            <a:ext cx="152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三节点的转换</a:t>
            </a:r>
            <a:endParaRPr lang="zh-CN" altLang="en-US">
              <a:solidFill>
                <a:schemeClr val="hlink"/>
              </a:solidFill>
            </a:endParaRPr>
          </a:p>
        </p:txBody>
      </p:sp>
      <p:sp>
        <p:nvSpPr>
          <p:cNvPr id="78853" name="Text Box 7"/>
          <p:cNvSpPr txBox="1">
            <a:spLocks noChangeArrowheads="1"/>
          </p:cNvSpPr>
          <p:nvPr/>
        </p:nvSpPr>
        <p:spPr bwMode="ltGray">
          <a:xfrm>
            <a:off x="1676400" y="4100513"/>
            <a:ext cx="64008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即：红边实际上表示的是</a:t>
            </a:r>
            <a:r>
              <a:rPr lang="en-US" altLang="zh-CN">
                <a:solidFill>
                  <a:schemeClr val="hlink"/>
                </a:solidFill>
              </a:rPr>
              <a:t>2-3-4</a:t>
            </a:r>
            <a:r>
              <a:rPr lang="zh-CN" altLang="en-US">
                <a:solidFill>
                  <a:schemeClr val="hlink"/>
                </a:solidFill>
              </a:rPr>
              <a:t>树的同节点关系</a:t>
            </a:r>
            <a:endParaRPr lang="zh-CN" altLang="en-US">
              <a:solidFill>
                <a:schemeClr val="hlink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</a:rPr>
              <a:t>黑边表示父子关系</a:t>
            </a:r>
            <a:endParaRPr lang="zh-CN" altLang="en-US">
              <a:solidFill>
                <a:schemeClr val="hlink"/>
              </a:solidFill>
            </a:endParaRPr>
          </a:p>
        </p:txBody>
      </p:sp>
      <p:sp>
        <p:nvSpPr>
          <p:cNvPr id="788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2CB30C8-EFB8-4AF0-921F-D59081F0E4AD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4" descr="redblk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905000"/>
            <a:ext cx="5800725" cy="306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2-3-4</a:t>
            </a:r>
            <a:r>
              <a:rPr lang="zh-CN" altLang="en-US" smtClean="0"/>
              <a:t>树的红－黑树表示</a:t>
            </a:r>
            <a:endParaRPr lang="zh-CN" altLang="en-US" smtClean="0"/>
          </a:p>
        </p:txBody>
      </p:sp>
      <p:sp>
        <p:nvSpPr>
          <p:cNvPr id="1465349" name="AutoShape 5"/>
          <p:cNvSpPr>
            <a:spLocks noChangeArrowheads="1"/>
          </p:cNvSpPr>
          <p:nvPr/>
        </p:nvSpPr>
        <p:spPr bwMode="ltGray">
          <a:xfrm>
            <a:off x="1524000" y="1524000"/>
            <a:ext cx="16002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ym typeface="+mn-ea"/>
              </a:rPr>
              <a:t>50	65</a:t>
            </a:r>
            <a:endParaRPr lang="en-US" altLang="zh-CN"/>
          </a:p>
        </p:txBody>
      </p:sp>
      <p:grpSp>
        <p:nvGrpSpPr>
          <p:cNvPr id="2" name="Group 13"/>
          <p:cNvGrpSpPr/>
          <p:nvPr/>
        </p:nvGrpSpPr>
        <p:grpSpPr bwMode="auto">
          <a:xfrm>
            <a:off x="228600" y="1981200"/>
            <a:ext cx="1371600" cy="1066800"/>
            <a:chOff x="144" y="1248"/>
            <a:chExt cx="864" cy="672"/>
          </a:xfrm>
        </p:grpSpPr>
        <p:sp>
          <p:nvSpPr>
            <p:cNvPr id="79885" name="AutoShape 7"/>
            <p:cNvSpPr>
              <a:spLocks noChangeArrowheads="1"/>
            </p:cNvSpPr>
            <p:nvPr/>
          </p:nvSpPr>
          <p:spPr bwMode="ltGray">
            <a:xfrm>
              <a:off x="144" y="1632"/>
              <a:ext cx="76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5   10</a:t>
              </a:r>
              <a:endParaRPr lang="en-US" altLang="zh-CN"/>
            </a:p>
          </p:txBody>
        </p:sp>
        <p:sp>
          <p:nvSpPr>
            <p:cNvPr id="79886" name="Line 8"/>
            <p:cNvSpPr>
              <a:spLocks noChangeShapeType="1"/>
            </p:cNvSpPr>
            <p:nvPr/>
          </p:nvSpPr>
          <p:spPr bwMode="ltGray">
            <a:xfrm flipH="1">
              <a:off x="528" y="1248"/>
              <a:ext cx="48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4"/>
          <p:cNvGrpSpPr/>
          <p:nvPr/>
        </p:nvGrpSpPr>
        <p:grpSpPr bwMode="auto">
          <a:xfrm>
            <a:off x="1676400" y="1981200"/>
            <a:ext cx="1219200" cy="1066800"/>
            <a:chOff x="1056" y="1248"/>
            <a:chExt cx="768" cy="672"/>
          </a:xfrm>
        </p:grpSpPr>
        <p:sp>
          <p:nvSpPr>
            <p:cNvPr id="79883" name="AutoShape 9"/>
            <p:cNvSpPr>
              <a:spLocks noChangeArrowheads="1"/>
            </p:cNvSpPr>
            <p:nvPr/>
          </p:nvSpPr>
          <p:spPr bwMode="ltGray">
            <a:xfrm>
              <a:off x="1056" y="1632"/>
              <a:ext cx="76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60   62</a:t>
              </a:r>
              <a:endParaRPr lang="en-US" altLang="zh-CN"/>
            </a:p>
          </p:txBody>
        </p:sp>
        <p:sp>
          <p:nvSpPr>
            <p:cNvPr id="79884" name="Line 10"/>
            <p:cNvSpPr>
              <a:spLocks noChangeShapeType="1"/>
            </p:cNvSpPr>
            <p:nvPr/>
          </p:nvSpPr>
          <p:spPr bwMode="ltGray">
            <a:xfrm flipH="1">
              <a:off x="1488" y="1248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>
            <a:off x="3048000" y="1981200"/>
            <a:ext cx="1219200" cy="1066800"/>
            <a:chOff x="1920" y="1248"/>
            <a:chExt cx="768" cy="672"/>
          </a:xfrm>
        </p:grpSpPr>
        <p:sp>
          <p:nvSpPr>
            <p:cNvPr id="79881" name="AutoShape 11"/>
            <p:cNvSpPr>
              <a:spLocks noChangeArrowheads="1"/>
            </p:cNvSpPr>
            <p:nvPr/>
          </p:nvSpPr>
          <p:spPr bwMode="ltGray">
            <a:xfrm>
              <a:off x="1920" y="1632"/>
              <a:ext cx="768" cy="288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70   80</a:t>
              </a:r>
              <a:endParaRPr lang="en-US" altLang="zh-CN"/>
            </a:p>
          </p:txBody>
        </p:sp>
        <p:sp>
          <p:nvSpPr>
            <p:cNvPr id="79882" name="Line 12"/>
            <p:cNvSpPr>
              <a:spLocks noChangeShapeType="1"/>
            </p:cNvSpPr>
            <p:nvPr/>
          </p:nvSpPr>
          <p:spPr bwMode="ltGray">
            <a:xfrm>
              <a:off x="1920" y="1248"/>
              <a:ext cx="384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988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10CB1AC-FDBE-4153-B78F-DE8E04AEA5D6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5349" grpId="0" bldLvl="0" animBg="1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几个问题</a:t>
            </a:r>
            <a:endParaRPr lang="zh-CN" altLang="en-US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为什么用节点和边的颜色表示是等价的？</a:t>
            </a:r>
            <a:endParaRPr lang="zh-CN" altLang="en-US" dirty="0" smtClean="0"/>
          </a:p>
          <a:p>
            <a:r>
              <a:rPr lang="zh-CN" altLang="en-US" dirty="0" smtClean="0"/>
              <a:t>为什么根和外部节点都是黑的？</a:t>
            </a:r>
            <a:endParaRPr lang="zh-CN" altLang="en-US" dirty="0" smtClean="0"/>
          </a:p>
          <a:p>
            <a:r>
              <a:rPr lang="zh-CN" altLang="en-US" dirty="0" smtClean="0"/>
              <a:t>为什么路径上没有连续红节点？</a:t>
            </a:r>
            <a:endParaRPr lang="zh-CN" altLang="en-US" dirty="0" smtClean="0"/>
          </a:p>
          <a:p>
            <a:r>
              <a:rPr lang="zh-CN" altLang="en-US" dirty="0" smtClean="0"/>
              <a:t>为什么每条路径上具有相同数量的黑指针？</a:t>
            </a:r>
            <a:endParaRPr lang="zh-CN" altLang="en-US" dirty="0" smtClean="0"/>
          </a:p>
          <a:p>
            <a:r>
              <a:rPr lang="zh-CN" altLang="en-US" dirty="0" smtClean="0"/>
              <a:t>了解了红－黑树的来历就一清二楚了</a:t>
            </a:r>
            <a:endParaRPr lang="zh-CN" altLang="en-US" dirty="0" smtClean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23D297-E715-4E53-B0A2-A7FEF7F9CF93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H2.</a:t>
            </a:r>
            <a:r>
              <a:rPr lang="zh-CN" altLang="en-US" smtClean="0"/>
              <a:t>红－黑树的插入</a:t>
            </a:r>
            <a:endParaRPr lang="zh-CN" altLang="en-US" smtClean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首先还是简单的二叉搜索树插入方法</a:t>
            </a:r>
            <a:endParaRPr lang="zh-CN" altLang="en-US" smtClean="0"/>
          </a:p>
          <a:p>
            <a:r>
              <a:rPr lang="zh-CN" altLang="en-US" smtClean="0"/>
              <a:t>然后有一个着色的问题</a:t>
            </a:r>
            <a:r>
              <a:rPr lang="en-US" altLang="zh-CN" smtClean="0"/>
              <a:t>——</a:t>
            </a:r>
            <a:r>
              <a:rPr lang="zh-CN" altLang="en-US" smtClean="0"/>
              <a:t>新节点应该是黑色还是红色？</a:t>
            </a:r>
            <a:endParaRPr lang="zh-CN" altLang="en-US" smtClean="0"/>
          </a:p>
          <a:p>
            <a:r>
              <a:rPr lang="zh-CN" altLang="en-US" smtClean="0"/>
              <a:t>应该是红色，为什么？</a:t>
            </a:r>
            <a:r>
              <a:rPr lang="en-US" altLang="zh-CN" smtClean="0"/>
              <a:t>——</a:t>
            </a:r>
            <a:r>
              <a:rPr lang="zh-CN" altLang="en-US" smtClean="0"/>
              <a:t>考虑</a:t>
            </a:r>
            <a:r>
              <a:rPr lang="en-US" altLang="zh-CN" smtClean="0"/>
              <a:t>2-3-4</a:t>
            </a:r>
            <a:r>
              <a:rPr lang="zh-CN" altLang="en-US" smtClean="0"/>
              <a:t>树（</a:t>
            </a:r>
            <a:r>
              <a:rPr lang="en-US" altLang="zh-CN" smtClean="0"/>
              <a:t>B-</a:t>
            </a:r>
            <a:r>
              <a:rPr lang="zh-CN" altLang="en-US" smtClean="0"/>
              <a:t>树）的插入</a:t>
            </a:r>
            <a:endParaRPr lang="zh-CN" altLang="en-US" smtClean="0"/>
          </a:p>
          <a:p>
            <a:r>
              <a:rPr lang="zh-CN" altLang="en-US" smtClean="0"/>
              <a:t>可能会出现连续红边，显然要调整树的结构，如何调整？</a:t>
            </a:r>
            <a:r>
              <a:rPr lang="en-US" altLang="zh-CN" smtClean="0"/>
              <a:t>——</a:t>
            </a:r>
            <a:r>
              <a:rPr lang="zh-CN" altLang="en-US" smtClean="0"/>
              <a:t>考虑对应的</a:t>
            </a:r>
            <a:r>
              <a:rPr lang="en-US" altLang="zh-CN" smtClean="0"/>
              <a:t>2-3-4</a:t>
            </a:r>
            <a:r>
              <a:rPr lang="zh-CN" altLang="en-US" smtClean="0"/>
              <a:t>树（</a:t>
            </a:r>
            <a:r>
              <a:rPr lang="en-US" altLang="zh-CN" smtClean="0"/>
              <a:t>4</a:t>
            </a:r>
            <a:r>
              <a:rPr lang="zh-CN" altLang="en-US" smtClean="0"/>
              <a:t>阶</a:t>
            </a:r>
            <a:r>
              <a:rPr lang="en-US" altLang="zh-CN" smtClean="0"/>
              <a:t>B-</a:t>
            </a:r>
            <a:r>
              <a:rPr lang="zh-CN" altLang="en-US" smtClean="0"/>
              <a:t>树）插入的情况</a:t>
            </a:r>
            <a:endParaRPr lang="zh-CN" altLang="en-US" smtClean="0"/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4CACD7F-5FCA-4232-B9B0-600B10A8223A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没有连续红边的情况（最理想）</a:t>
            </a:r>
            <a:endParaRPr lang="zh-CN" altLang="en-US" smtClean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对应</a:t>
            </a:r>
            <a:r>
              <a:rPr lang="en-US" altLang="zh-CN" smtClean="0"/>
              <a:t>2-3-4</a:t>
            </a:r>
            <a:r>
              <a:rPr lang="zh-CN" altLang="en-US" smtClean="0"/>
              <a:t>树的情况应该是</a:t>
            </a:r>
            <a:r>
              <a:rPr lang="en-US" altLang="zh-CN" smtClean="0"/>
              <a:t>2</a:t>
            </a:r>
            <a:r>
              <a:rPr lang="zh-CN" altLang="en-US" smtClean="0"/>
              <a:t>节点变为</a:t>
            </a:r>
            <a:r>
              <a:rPr lang="en-US" altLang="zh-CN" smtClean="0"/>
              <a:t>3</a:t>
            </a:r>
            <a:r>
              <a:rPr lang="zh-CN" altLang="en-US" smtClean="0"/>
              <a:t>节点</a:t>
            </a:r>
            <a:endParaRPr lang="zh-CN" altLang="en-US" smtClean="0"/>
          </a:p>
        </p:txBody>
      </p:sp>
      <p:pic>
        <p:nvPicPr>
          <p:cNvPr id="89092" name="Picture 4" descr="rbins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379" y="2543175"/>
            <a:ext cx="36957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3" name="TextBox 4"/>
          <p:cNvSpPr txBox="1">
            <a:spLocks noChangeArrowheads="1"/>
          </p:cNvSpPr>
          <p:nvPr/>
        </p:nvSpPr>
        <p:spPr bwMode="auto">
          <a:xfrm>
            <a:off x="3495675" y="2173288"/>
            <a:ext cx="538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pu</a:t>
            </a:r>
            <a:endParaRPr lang="zh-CN" altLang="en-US"/>
          </a:p>
        </p:txBody>
      </p:sp>
      <p:sp>
        <p:nvSpPr>
          <p:cNvPr id="89094" name="TextBox 5"/>
          <p:cNvSpPr txBox="1">
            <a:spLocks noChangeArrowheads="1"/>
          </p:cNvSpPr>
          <p:nvPr/>
        </p:nvSpPr>
        <p:spPr bwMode="auto">
          <a:xfrm>
            <a:off x="6007100" y="2173288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/>
              <a:t>u  pu</a:t>
            </a:r>
            <a:endParaRPr lang="zh-CN" altLang="en-US"/>
          </a:p>
        </p:txBody>
      </p:sp>
      <p:sp>
        <p:nvSpPr>
          <p:cNvPr id="890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CD43044-D08C-490B-80B1-72814C5ED63D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祖父的另一个孩子是黑色</a:t>
            </a:r>
            <a:r>
              <a:rPr lang="en-US" altLang="zh-CN" smtClean="0"/>
              <a:t>—3</a:t>
            </a:r>
            <a:r>
              <a:rPr lang="zh-CN" altLang="en-US" smtClean="0"/>
              <a:t>节点变为</a:t>
            </a:r>
            <a:r>
              <a:rPr lang="en-US" altLang="zh-CN" smtClean="0"/>
              <a:t>4</a:t>
            </a:r>
            <a:r>
              <a:rPr lang="zh-CN" altLang="en-US" smtClean="0"/>
              <a:t>节点</a:t>
            </a:r>
            <a:endParaRPr lang="en-US" altLang="zh-CN" smtClean="0"/>
          </a:p>
          <a:p>
            <a:r>
              <a:rPr lang="zh-CN" altLang="en-US" smtClean="0">
                <a:solidFill>
                  <a:srgbClr val="0000CC"/>
                </a:solidFill>
              </a:rPr>
              <a:t>旋转变色：根黑、子红</a:t>
            </a:r>
            <a:endParaRPr lang="zh-CN" altLang="en-US" smtClean="0">
              <a:solidFill>
                <a:srgbClr val="0000CC"/>
              </a:solidFill>
            </a:endParaRPr>
          </a:p>
        </p:txBody>
      </p:sp>
      <p:pic>
        <p:nvPicPr>
          <p:cNvPr id="90114" name="Picture 5" descr="rbins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100" y="2703513"/>
            <a:ext cx="5402263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连续红边情况</a:t>
            </a:r>
            <a:r>
              <a:rPr lang="en-US" altLang="zh-CN" smtClean="0"/>
              <a:t>1</a:t>
            </a:r>
            <a:r>
              <a:rPr lang="zh-CN" altLang="en-US" smtClean="0"/>
              <a:t>：</a:t>
            </a:r>
            <a:r>
              <a:rPr lang="en-US" altLang="zh-CN" smtClean="0"/>
              <a:t>XYb</a:t>
            </a:r>
            <a:endParaRPr lang="zh-CN" altLang="en-US" smtClean="0"/>
          </a:p>
        </p:txBody>
      </p:sp>
      <p:sp>
        <p:nvSpPr>
          <p:cNvPr id="9011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D329694-5BA2-4E0C-95C7-3F682B72D9A3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Picture 4" descr="rbins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0" y="2908300"/>
            <a:ext cx="5334000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连续红边情况</a:t>
            </a:r>
            <a:r>
              <a:rPr lang="en-US" altLang="zh-CN" smtClean="0"/>
              <a:t>2</a:t>
            </a:r>
            <a:r>
              <a:rPr lang="zh-CN" altLang="en-US" smtClean="0"/>
              <a:t>：</a:t>
            </a:r>
            <a:r>
              <a:rPr lang="en-US" altLang="zh-CN" smtClean="0"/>
              <a:t>XYr</a:t>
            </a:r>
            <a:endParaRPr lang="zh-CN" altLang="en-US" smtClean="0"/>
          </a:p>
        </p:txBody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祖父的另一个孩子是红色</a:t>
            </a:r>
            <a:r>
              <a:rPr lang="en-US" altLang="zh-CN" smtClean="0"/>
              <a:t>——</a:t>
            </a:r>
            <a:r>
              <a:rPr lang="zh-CN" altLang="en-US" smtClean="0"/>
              <a:t>溢出</a:t>
            </a:r>
            <a:endParaRPr lang="en-US" altLang="zh-CN" smtClean="0"/>
          </a:p>
          <a:p>
            <a:r>
              <a:rPr lang="zh-CN" altLang="en-US" smtClean="0">
                <a:solidFill>
                  <a:srgbClr val="0000CC"/>
                </a:solidFill>
              </a:rPr>
              <a:t>不转变色：根红、子黑</a:t>
            </a:r>
            <a:endParaRPr lang="zh-CN" altLang="en-US" smtClean="0">
              <a:solidFill>
                <a:srgbClr val="0000CC"/>
              </a:solidFill>
            </a:endParaRPr>
          </a:p>
        </p:txBody>
      </p:sp>
      <p:sp>
        <p:nvSpPr>
          <p:cNvPr id="9114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A020A2F-6D2B-43BB-96B1-1F2232F0FCB5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H2</a:t>
            </a:r>
            <a:r>
              <a:rPr lang="zh-CN" altLang="en-US" smtClean="0"/>
              <a:t>结束</a:t>
            </a:r>
            <a:endParaRPr lang="zh-CN" altLang="en-US" smtClean="0"/>
          </a:p>
        </p:txBody>
      </p:sp>
      <p:sp>
        <p:nvSpPr>
          <p:cNvPr id="93187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r>
              <a:rPr lang="zh-CN" altLang="en-US" dirty="0" smtClean="0"/>
              <a:t>练习：依次插入这些</a:t>
            </a:r>
            <a:r>
              <a:rPr lang="en-US" altLang="zh-CN" dirty="0" smtClean="0"/>
              <a:t>12 1 9 2 0 11 7 19 4 15 18 5 14 13 10 16 6 3 8 17</a:t>
            </a:r>
            <a:r>
              <a:rPr lang="zh-CN" altLang="en-US" dirty="0" smtClean="0"/>
              <a:t>，生成红黑树</a:t>
            </a:r>
            <a:endParaRPr lang="zh-CN" altLang="en-US" dirty="0" smtClean="0"/>
          </a:p>
        </p:txBody>
      </p:sp>
      <p:sp>
        <p:nvSpPr>
          <p:cNvPr id="9318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20C86C9-31D0-4123-A323-71415F2A4349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pic>
        <p:nvPicPr>
          <p:cNvPr id="9318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2532063"/>
            <a:ext cx="8567738" cy="376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红－黑树的删除</a:t>
            </a:r>
            <a:endParaRPr lang="zh-CN" altLang="en-US" smtClean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r>
              <a:rPr lang="zh-CN" altLang="en-US" smtClean="0"/>
              <a:t>首先还是类似二叉搜索树的方法</a:t>
            </a:r>
            <a:r>
              <a:rPr lang="en-US" altLang="zh-CN" smtClean="0"/>
              <a:t>——</a:t>
            </a:r>
            <a:br>
              <a:rPr lang="en-US" altLang="zh-CN" smtClean="0"/>
            </a:br>
            <a:r>
              <a:rPr lang="zh-CN" altLang="en-US" smtClean="0"/>
              <a:t>转化为叶节点删除</a:t>
            </a:r>
            <a:r>
              <a:rPr lang="en-US" altLang="zh-CN" smtClean="0"/>
              <a:t>——</a:t>
            </a:r>
            <a:br>
              <a:rPr lang="en-US" altLang="zh-CN" smtClean="0"/>
            </a:br>
            <a:r>
              <a:rPr lang="zh-CN" altLang="en-US" smtClean="0"/>
              <a:t>不是叶节点的，与中序遍历的后继节点交换</a:t>
            </a:r>
            <a:endParaRPr lang="zh-CN" altLang="en-US" smtClean="0"/>
          </a:p>
          <a:p>
            <a:r>
              <a:rPr lang="zh-CN" altLang="en-US" smtClean="0"/>
              <a:t>可对应</a:t>
            </a:r>
            <a:r>
              <a:rPr lang="en-US" altLang="zh-CN" smtClean="0"/>
              <a:t>2-3-4</a:t>
            </a:r>
            <a:r>
              <a:rPr lang="zh-CN" altLang="en-US" smtClean="0"/>
              <a:t>树自底向上删除算法设计红－黑树自底向上的删除算法</a:t>
            </a:r>
            <a:endParaRPr lang="zh-CN" altLang="en-US" smtClean="0"/>
          </a:p>
          <a:p>
            <a:r>
              <a:rPr lang="zh-CN" altLang="en-US" smtClean="0"/>
              <a:t>若删除红节点，结束</a:t>
            </a:r>
            <a:r>
              <a:rPr lang="en-US" altLang="zh-CN" smtClean="0"/>
              <a:t>——3</a:t>
            </a:r>
            <a:r>
              <a:rPr lang="zh-CN" altLang="en-US" smtClean="0"/>
              <a:t>节点或</a:t>
            </a:r>
            <a:r>
              <a:rPr lang="en-US" altLang="zh-CN" smtClean="0"/>
              <a:t>4</a:t>
            </a:r>
            <a:r>
              <a:rPr lang="zh-CN" altLang="en-US" smtClean="0"/>
              <a:t>节点的删除</a:t>
            </a:r>
            <a:endParaRPr lang="zh-CN" altLang="en-US" smtClean="0"/>
          </a:p>
          <a:p>
            <a:r>
              <a:rPr lang="zh-CN" altLang="en-US" smtClean="0"/>
              <a:t>若删除黑节点，调整，可能回溯</a:t>
            </a:r>
            <a:r>
              <a:rPr lang="en-US" altLang="zh-CN" smtClean="0"/>
              <a:t>——2</a:t>
            </a:r>
            <a:r>
              <a:rPr lang="zh-CN" altLang="en-US" smtClean="0"/>
              <a:t>节点的删除</a:t>
            </a:r>
            <a:endParaRPr lang="zh-CN" altLang="en-US" smtClean="0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F2213B-4D88-46E6-862E-F3A1B21D4ACB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兄弟节点为黑色，兄弟儿子节点全为黑色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1)</a:t>
            </a:r>
            <a:r>
              <a:rPr lang="zh-CN" altLang="en-US"/>
              <a:t>父亲节点为红色：</a:t>
            </a:r>
            <a:endParaRPr lang="zh-CN" altLang="en-US"/>
          </a:p>
          <a:p>
            <a:pPr lvl="1"/>
            <a:r>
              <a:rPr lang="zh-CN" altLang="en-US"/>
              <a:t>重染兄弟节点为红色，父亲节点为黑色，则符合条件结束</a:t>
            </a:r>
            <a:endParaRPr lang="zh-CN" altLang="en-US"/>
          </a:p>
          <a:p>
            <a:pPr lvl="1"/>
            <a:r>
              <a:rPr lang="zh-CN" altLang="en-US"/>
              <a:t>相当于从</a:t>
            </a:r>
            <a:r>
              <a:rPr lang="en-US" altLang="zh-CN"/>
              <a:t>2,3,4</a:t>
            </a:r>
            <a:r>
              <a:rPr lang="zh-CN" altLang="en-US"/>
              <a:t>树的父节点借到节点</a:t>
            </a:r>
            <a:endParaRPr lang="zh-CN" altLang="en-US"/>
          </a:p>
          <a:p>
            <a:pPr lvl="0"/>
            <a:endParaRPr lang="zh-CN" altLang="en-US"/>
          </a:p>
          <a:p>
            <a:pPr lvl="0"/>
            <a:endParaRPr lang="zh-CN" altLang="en-US"/>
          </a:p>
          <a:p>
            <a:pPr lvl="0"/>
            <a:r>
              <a:rPr lang="en-US" altLang="zh-CN"/>
              <a:t>2)</a:t>
            </a:r>
            <a:r>
              <a:rPr lang="zh-CN" altLang="en-US"/>
              <a:t>父亲节点为黑色</a:t>
            </a:r>
            <a:endParaRPr lang="zh-CN" altLang="en-US"/>
          </a:p>
          <a:p>
            <a:pPr lvl="1"/>
            <a:r>
              <a:rPr lang="zh-CN" altLang="en-US"/>
              <a:t>重染兄弟节点为红色，则整体阶数</a:t>
            </a:r>
            <a:r>
              <a:rPr lang="en-US" altLang="zh-CN"/>
              <a:t>-1</a:t>
            </a:r>
            <a:r>
              <a:rPr lang="zh-CN" altLang="en-US"/>
              <a:t>，继续向上回溯</a:t>
            </a:r>
            <a:endParaRPr lang="zh-CN" altLang="en-US"/>
          </a:p>
          <a:p>
            <a:pPr lvl="1"/>
            <a:r>
              <a:rPr lang="zh-CN" altLang="en-US"/>
              <a:t>对</a:t>
            </a:r>
            <a:r>
              <a:rPr lang="en-US" altLang="zh-CN"/>
              <a:t>2-3-4</a:t>
            </a:r>
            <a:r>
              <a:rPr lang="zh-CN" altLang="en-US"/>
              <a:t>树相当于无法借到节点需要向父节点借，并会造成节点合并或高度</a:t>
            </a:r>
            <a:r>
              <a:rPr lang="en-US" altLang="zh-CN"/>
              <a:t>-1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5375" y="2853690"/>
            <a:ext cx="3516630" cy="14236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615" y="5317490"/>
            <a:ext cx="3247390" cy="13144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兄弟节点为黑，兄弟孩子节点非全黑色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90345"/>
            <a:ext cx="8091805" cy="4686935"/>
          </a:xfrm>
        </p:spPr>
        <p:txBody>
          <a:bodyPr>
            <a:normAutofit lnSpcReduction="10000"/>
          </a:bodyPr>
          <a:p>
            <a:r>
              <a:rPr lang="en-US" altLang="zh-CN"/>
              <a:t>3)</a:t>
            </a:r>
            <a:r>
              <a:rPr lang="zh-CN" altLang="en-US"/>
              <a:t>兄弟孩子中右儿子为红节点</a:t>
            </a:r>
            <a:endParaRPr lang="zh-CN" altLang="en-US"/>
          </a:p>
          <a:p>
            <a:pPr lvl="1"/>
            <a:r>
              <a:rPr lang="zh-CN" altLang="en-US"/>
              <a:t>左儿子红黑均可。经过</a:t>
            </a:r>
            <a:r>
              <a:rPr lang="en-US" altLang="zh-CN"/>
              <a:t>1</a:t>
            </a:r>
            <a:r>
              <a:rPr lang="zh-CN" altLang="en-US"/>
              <a:t>次旋转，恢复红黑特征</a:t>
            </a:r>
            <a:endParaRPr lang="zh-CN" altLang="en-US"/>
          </a:p>
          <a:p>
            <a:pPr lvl="1"/>
            <a:r>
              <a:rPr lang="zh-CN" altLang="en-US"/>
              <a:t>相当于</a:t>
            </a:r>
            <a:r>
              <a:rPr lang="en-US" altLang="zh-CN"/>
              <a:t>2-3-4</a:t>
            </a:r>
            <a:r>
              <a:rPr lang="zh-CN" altLang="en-US"/>
              <a:t>树中兄弟节点包含</a:t>
            </a:r>
            <a:r>
              <a:rPr lang="en-US" altLang="zh-CN"/>
              <a:t>2</a:t>
            </a:r>
            <a:r>
              <a:rPr lang="zh-CN" altLang="en-US"/>
              <a:t>或</a:t>
            </a:r>
            <a:r>
              <a:rPr lang="en-US" altLang="zh-CN"/>
              <a:t>3</a:t>
            </a:r>
            <a:r>
              <a:rPr lang="zh-CN" altLang="en-US"/>
              <a:t>个元素，借一个元素给兄弟节点</a:t>
            </a:r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en-US" altLang="zh-CN"/>
              <a:t>4)</a:t>
            </a:r>
            <a:r>
              <a:rPr lang="zh-CN" altLang="en-US"/>
              <a:t>兄弟孩子中右儿子为黑节点</a:t>
            </a:r>
            <a:endParaRPr lang="zh-CN" altLang="en-US"/>
          </a:p>
          <a:p>
            <a:pPr lvl="1"/>
            <a:r>
              <a:rPr lang="zh-CN" altLang="en-US"/>
              <a:t>对兄弟孩子进行</a:t>
            </a:r>
            <a:r>
              <a:rPr lang="en-US" altLang="zh-CN"/>
              <a:t>1</a:t>
            </a:r>
            <a:r>
              <a:rPr lang="zh-CN" altLang="en-US"/>
              <a:t>次旋转之后便成情况 </a:t>
            </a:r>
            <a:r>
              <a:rPr lang="en-US" altLang="zh-CN"/>
              <a:t>3</a:t>
            </a:r>
            <a:endParaRPr lang="en-US" altLang="zh-CN"/>
          </a:p>
          <a:p>
            <a:pPr lvl="1"/>
            <a:r>
              <a:rPr lang="zh-CN" altLang="en-US"/>
              <a:t>相当于</a:t>
            </a:r>
            <a:r>
              <a:rPr lang="en-US" altLang="zh-CN"/>
              <a:t>2-3-4</a:t>
            </a:r>
            <a:r>
              <a:rPr lang="zh-CN" altLang="en-US"/>
              <a:t>树中同一个结点</a:t>
            </a:r>
            <a:r>
              <a:rPr lang="en-US" altLang="zh-CN"/>
              <a:t>2</a:t>
            </a:r>
            <a:r>
              <a:rPr lang="zh-CN" altLang="en-US"/>
              <a:t>个元素重染色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6570" y="2656840"/>
            <a:ext cx="3247390" cy="1352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75" y="4283075"/>
            <a:ext cx="2352675" cy="14668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兄弟节点为红色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5)</a:t>
            </a:r>
            <a:endParaRPr lang="en-US" altLang="zh-CN"/>
          </a:p>
          <a:p>
            <a:pPr lvl="1"/>
            <a:r>
              <a:rPr lang="zh-CN" altLang="en-US"/>
              <a:t>交换父亲节点和兄弟节点颜色，并旋转</a:t>
            </a:r>
            <a:r>
              <a:rPr lang="en-US" altLang="zh-CN"/>
              <a:t>1</a:t>
            </a:r>
            <a:r>
              <a:rPr lang="zh-CN" altLang="en-US"/>
              <a:t>次，变为兄弟节点为黑色。变为情况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，</a:t>
            </a:r>
            <a:r>
              <a:rPr lang="en-US" altLang="zh-CN"/>
              <a:t>4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080" y="3223260"/>
            <a:ext cx="5022850" cy="20332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例题</a:t>
            </a:r>
            <a:endParaRPr lang="zh-CN" altLang="en-US" smtClean="0"/>
          </a:p>
        </p:txBody>
      </p:sp>
      <p:sp>
        <p:nvSpPr>
          <p:cNvPr id="952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smtClean="0"/>
              <a:t>有以下关键字：</a:t>
            </a:r>
            <a:r>
              <a:rPr lang="en-US" altLang="zh-CN" smtClean="0"/>
              <a:t>28</a:t>
            </a:r>
            <a:r>
              <a:rPr lang="zh-CN" altLang="zh-CN" smtClean="0"/>
              <a:t>，</a:t>
            </a:r>
            <a:r>
              <a:rPr lang="en-US" altLang="zh-CN" smtClean="0"/>
              <a:t>72</a:t>
            </a:r>
            <a:r>
              <a:rPr lang="zh-CN" altLang="zh-CN" smtClean="0"/>
              <a:t>，</a:t>
            </a:r>
            <a:r>
              <a:rPr lang="en-US" altLang="zh-CN" smtClean="0"/>
              <a:t>97</a:t>
            </a:r>
            <a:r>
              <a:rPr lang="zh-CN" altLang="zh-CN" smtClean="0"/>
              <a:t>，</a:t>
            </a:r>
            <a:r>
              <a:rPr lang="en-US" altLang="zh-CN" smtClean="0"/>
              <a:t>23</a:t>
            </a:r>
            <a:r>
              <a:rPr lang="zh-CN" altLang="zh-CN" smtClean="0"/>
              <a:t>，</a:t>
            </a:r>
            <a:r>
              <a:rPr lang="en-US" altLang="zh-CN" smtClean="0"/>
              <a:t>11</a:t>
            </a:r>
            <a:r>
              <a:rPr lang="zh-CN" altLang="zh-CN" smtClean="0"/>
              <a:t>，</a:t>
            </a:r>
            <a:r>
              <a:rPr lang="en-US" altLang="zh-CN" smtClean="0"/>
              <a:t>63</a:t>
            </a:r>
            <a:r>
              <a:rPr lang="zh-CN" altLang="zh-CN" smtClean="0"/>
              <a:t>，</a:t>
            </a:r>
            <a:r>
              <a:rPr lang="en-US" altLang="zh-CN" smtClean="0"/>
              <a:t>4</a:t>
            </a:r>
            <a:r>
              <a:rPr lang="zh-CN" altLang="zh-CN" smtClean="0"/>
              <a:t>，</a:t>
            </a:r>
            <a:r>
              <a:rPr lang="en-US" altLang="zh-CN" smtClean="0"/>
              <a:t>53</a:t>
            </a:r>
            <a:r>
              <a:rPr lang="zh-CN" altLang="zh-CN" smtClean="0"/>
              <a:t>，</a:t>
            </a:r>
            <a:r>
              <a:rPr lang="en-US" altLang="zh-CN" smtClean="0"/>
              <a:t>84</a:t>
            </a:r>
            <a:r>
              <a:rPr lang="zh-CN" altLang="zh-CN" smtClean="0"/>
              <a:t>，</a:t>
            </a:r>
            <a:r>
              <a:rPr lang="en-US" altLang="zh-CN" smtClean="0"/>
              <a:t>32</a:t>
            </a:r>
            <a:r>
              <a:rPr lang="zh-CN" altLang="zh-CN" smtClean="0"/>
              <a:t>，</a:t>
            </a:r>
            <a:r>
              <a:rPr lang="en-US" altLang="zh-CN" smtClean="0"/>
              <a:t>61</a:t>
            </a:r>
            <a:r>
              <a:rPr lang="zh-CN" altLang="zh-CN" smtClean="0"/>
              <a:t>，</a:t>
            </a:r>
            <a:r>
              <a:rPr lang="en-US" altLang="zh-CN" smtClean="0"/>
              <a:t>52</a:t>
            </a:r>
            <a:r>
              <a:rPr lang="zh-CN" altLang="zh-CN" smtClean="0"/>
              <a:t>，按序插入到初始为空的</a:t>
            </a:r>
            <a:r>
              <a:rPr lang="en-US" altLang="zh-CN" smtClean="0"/>
              <a:t>4</a:t>
            </a:r>
            <a:r>
              <a:rPr lang="zh-CN" altLang="zh-CN" smtClean="0"/>
              <a:t>阶</a:t>
            </a:r>
            <a:r>
              <a:rPr lang="en-US" altLang="zh-CN" smtClean="0"/>
              <a:t>B</a:t>
            </a:r>
            <a:r>
              <a:rPr lang="zh-CN" altLang="zh-CN" smtClean="0"/>
              <a:t>树中。</a:t>
            </a:r>
            <a:r>
              <a:rPr lang="zh-CN" altLang="en-US" smtClean="0"/>
              <a:t>依次绘制以下的结构</a:t>
            </a:r>
            <a:r>
              <a:rPr lang="zh-CN" altLang="zh-CN" smtClean="0"/>
              <a:t>：</a:t>
            </a:r>
            <a:endParaRPr lang="zh-CN" altLang="zh-CN" smtClean="0"/>
          </a:p>
          <a:p>
            <a:pPr lvl="1">
              <a:buFont typeface="Arial" panose="020B0604020202020204" pitchFamily="34" charset="0"/>
              <a:buNone/>
            </a:pPr>
            <a:r>
              <a:rPr lang="zh-CN" altLang="zh-CN" smtClean="0"/>
              <a:t>（</a:t>
            </a:r>
            <a:r>
              <a:rPr lang="en-US" altLang="zh-CN" smtClean="0"/>
              <a:t>1</a:t>
            </a:r>
            <a:r>
              <a:rPr lang="zh-CN" altLang="zh-CN" smtClean="0"/>
              <a:t>）</a:t>
            </a:r>
            <a:r>
              <a:rPr lang="en-US" altLang="zh-CN" smtClean="0"/>
              <a:t>4</a:t>
            </a:r>
            <a:r>
              <a:rPr lang="zh-CN" altLang="zh-CN" smtClean="0"/>
              <a:t>阶</a:t>
            </a:r>
            <a:r>
              <a:rPr lang="en-US" altLang="zh-CN" smtClean="0"/>
              <a:t>B</a:t>
            </a:r>
            <a:r>
              <a:rPr lang="zh-CN" altLang="zh-CN" smtClean="0"/>
              <a:t>树</a:t>
            </a:r>
            <a:endParaRPr lang="en-US" altLang="zh-CN" smtClean="0"/>
          </a:p>
          <a:p>
            <a:pPr lvl="1">
              <a:buFont typeface="Arial" panose="020B0604020202020204" pitchFamily="34" charset="0"/>
              <a:buNone/>
            </a:pPr>
            <a:r>
              <a:rPr lang="zh-CN" altLang="zh-CN" smtClean="0"/>
              <a:t>（</a:t>
            </a:r>
            <a:r>
              <a:rPr lang="en-US" altLang="zh-CN" smtClean="0"/>
              <a:t>2</a:t>
            </a:r>
            <a:r>
              <a:rPr lang="zh-CN" altLang="zh-CN" smtClean="0"/>
              <a:t>）红黑树</a:t>
            </a:r>
            <a:endParaRPr lang="en-US" altLang="zh-CN" smtClean="0"/>
          </a:p>
          <a:p>
            <a:pPr lvl="1">
              <a:buFont typeface="Arial" panose="020B0604020202020204" pitchFamily="34" charset="0"/>
              <a:buNone/>
            </a:pPr>
            <a:endParaRPr lang="zh-CN" altLang="en-US" smtClean="0"/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DD541F5-30AA-4ABB-96C8-60879EE1FD8B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80260" y="4104005"/>
            <a:ext cx="4572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zh-CN" smtClean="0">
                <a:sym typeface="+mn-ea"/>
              </a:rPr>
              <a:t>有以下关键字：</a:t>
            </a:r>
            <a:r>
              <a:rPr lang="en-US" altLang="zh-CN" smtClean="0">
                <a:sym typeface="+mn-ea"/>
              </a:rPr>
              <a:t>28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72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97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23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11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63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4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53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84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32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61</a:t>
            </a:r>
            <a:r>
              <a:rPr lang="zh-CN" altLang="zh-CN" smtClean="0">
                <a:sym typeface="+mn-ea"/>
              </a:rPr>
              <a:t>，</a:t>
            </a:r>
            <a:r>
              <a:rPr lang="en-US" altLang="zh-CN" smtClean="0">
                <a:sym typeface="+mn-ea"/>
              </a:rPr>
              <a:t>52</a:t>
            </a:r>
            <a:r>
              <a:rPr lang="zh-CN" altLang="zh-CN" smtClean="0">
                <a:sym typeface="+mn-ea"/>
              </a:rPr>
              <a:t>，按序插入到初始为空的</a:t>
            </a:r>
            <a:r>
              <a:rPr lang="en-US" altLang="zh-CN" smtClean="0">
                <a:sym typeface="+mn-ea"/>
              </a:rPr>
              <a:t>4</a:t>
            </a:r>
            <a:r>
              <a:rPr lang="zh-CN" altLang="zh-CN" smtClean="0">
                <a:sym typeface="+mn-ea"/>
              </a:rPr>
              <a:t>阶</a:t>
            </a:r>
            <a:r>
              <a:rPr lang="en-US" altLang="zh-CN" smtClean="0">
                <a:sym typeface="+mn-ea"/>
              </a:rPr>
              <a:t>B</a:t>
            </a:r>
            <a:r>
              <a:rPr lang="zh-CN" altLang="zh-CN" smtClean="0">
                <a:sym typeface="+mn-ea"/>
              </a:rPr>
              <a:t>树中。</a:t>
            </a:r>
            <a:r>
              <a:rPr lang="zh-CN" altLang="en-US" smtClean="0">
                <a:sym typeface="+mn-ea"/>
              </a:rPr>
              <a:t>依次绘制以下的结构</a:t>
            </a:r>
            <a:r>
              <a:rPr lang="zh-CN" altLang="zh-CN" smtClean="0">
                <a:sym typeface="+mn-ea"/>
              </a:rPr>
              <a:t>：</a:t>
            </a:r>
            <a:endParaRPr lang="zh-CN" altLang="zh-CN" smtClean="0">
              <a:sym typeface="+mn-ea"/>
            </a:endParaRPr>
          </a:p>
        </p:txBody>
      </p:sp>
      <p:pic>
        <p:nvPicPr>
          <p:cNvPr id="9" name="内容占位符 8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8650" y="2316480"/>
            <a:ext cx="7886700" cy="30333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UNIT_PLACING_PICTURE_USER_VIEWPORT" val="{&quot;height&quot;:4115,&quot;width&quot;:13160}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RAINPROBLEM" val="ProblemBody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9.xml><?xml version="1.0" encoding="utf-8"?>
<p:tagLst xmlns:p="http://schemas.openxmlformats.org/presentationml/2006/main">
  <p:tag name="RAINPROBLEM" val="ProblemSubmit"/>
  <p:tag name="RAINPROBLEMTYPE" val="MultipleChoiceMA"/>
</p:tagLst>
</file>

<file path=ppt/tags/tag80.xml><?xml version="1.0" encoding="utf-8"?>
<p:tagLst xmlns:p="http://schemas.openxmlformats.org/presentationml/2006/main">
  <p:tag name="RAINPROBLEM" val="ProblemItem"/>
</p:tagLst>
</file>

<file path=ppt/tags/tag81.xml><?xml version="1.0" encoding="utf-8"?>
<p:tagLst xmlns:p="http://schemas.openxmlformats.org/presentationml/2006/main">
  <p:tag name="RAINPROBLEM" val="ProblemItem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RAINPROBLEMTYPE" val="ProblemTypeMarker"/>
</p:tagLst>
</file>

<file path=ppt/tags/tag138.xml><?xml version="1.0" encoding="utf-8"?>
<p:tagLst xmlns:p="http://schemas.openxmlformats.org/presentationml/2006/main">
  <p:tag name="RAINPROBLEMTYPE" val="ProblemTypeMarker"/>
</p:tagLst>
</file>

<file path=ppt/tags/tag139.xml><?xml version="1.0" encoding="utf-8"?>
<p:tagLst xmlns:p="http://schemas.openxmlformats.org/presentationml/2006/main">
  <p:tag name="RAINPROBLEMTYPE" val="ProblemTypeMarker"/>
</p:tagLst>
</file>

<file path=ppt/tags/tag140.xml><?xml version="1.0" encoding="utf-8"?>
<p:tagLst xmlns:p="http://schemas.openxmlformats.org/presentationml/2006/main">
  <p:tag name="RAINPROBLEMTYPE" val="ProblemTypeMarker"/>
</p:tagLst>
</file>

<file path=ppt/tags/tag141.xml><?xml version="1.0" encoding="utf-8"?>
<p:tagLst xmlns:p="http://schemas.openxmlformats.org/presentationml/2006/main">
  <p:tag name="RAINPROBLEMTYPE" val="ProblemTypeMarker"/>
</p:tagLst>
</file>

<file path=ppt/tags/tag142.xml><?xml version="1.0" encoding="utf-8"?>
<p:tagLst xmlns:p="http://schemas.openxmlformats.org/presentationml/2006/main">
  <p:tag name="RAINPROBLEM" val="ProblemSetting"/>
  <p:tag name="RAINPROBLEMTYPE" val="MultipleChoiceMA"/>
</p:tagLst>
</file>

<file path=ppt/tags/tag143.xml><?xml version="1.0" encoding="utf-8"?>
<p:tagLst xmlns:p="http://schemas.openxmlformats.org/presentationml/2006/main">
  <p:tag name="RAINPROBLEM" val="MultipleChoiceMA"/>
  <p:tag name="PROBLEMSCORE" val="1.0"/>
  <p:tag name="RAINPROBLEMTYPE" val="MultipleChoiceMA"/>
  <p:tag name="PROBLEMSCORE_HALF" val="0.0"/>
</p:tagLst>
</file>

<file path=ppt/tags/tag14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58.xml><?xml version="1.0" encoding="utf-8"?>
<p:tagLst xmlns:p="http://schemas.openxmlformats.org/presentationml/2006/main">
  <p:tag name="RAINPROBLEM" val="ProblemBody"/>
</p:tagLst>
</file>

<file path=ppt/tags/tag159.xml><?xml version="1.0" encoding="utf-8"?>
<p:tagLst xmlns:p="http://schemas.openxmlformats.org/presentationml/2006/main">
  <p:tag name="RAINPROBLEM" val="ProblemItem"/>
</p:tagLst>
</file>

<file path=ppt/tags/tag160.xml><?xml version="1.0" encoding="utf-8"?>
<p:tagLst xmlns:p="http://schemas.openxmlformats.org/presentationml/2006/main">
  <p:tag name="RAINPROBLEM" val="ProblemItem"/>
</p:tagLst>
</file>

<file path=ppt/tags/tag16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62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6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6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65.xml><?xml version="1.0" encoding="utf-8"?>
<p:tagLst xmlns:p="http://schemas.openxmlformats.org/presentationml/2006/main">
  <p:tag name="RAINPROBLEM" val="ProblemSubmit"/>
  <p:tag name="RAINPROBLEMTYPE" val="MultipleChoiceMA"/>
</p:tagLst>
</file>

<file path=ppt/tags/tag166.xml><?xml version="1.0" encoding="utf-8"?>
<p:tagLst xmlns:p="http://schemas.openxmlformats.org/presentationml/2006/main">
  <p:tag name="RAINPROBLEM" val="ProblemItem"/>
</p:tagLst>
</file>

<file path=ppt/tags/tag167.xml><?xml version="1.0" encoding="utf-8"?>
<p:tagLst xmlns:p="http://schemas.openxmlformats.org/presentationml/2006/main">
  <p:tag name="RAINPROBLEM" val="ProblemItem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RAINPROBLEMTYPE" val="ProblemTypeMarker"/>
</p:tagLst>
</file>

<file path=ppt/tags/tag228.xml><?xml version="1.0" encoding="utf-8"?>
<p:tagLst xmlns:p="http://schemas.openxmlformats.org/presentationml/2006/main">
  <p:tag name="RAINPROBLEMTYPE" val="ProblemTypeMarker"/>
</p:tagLst>
</file>

<file path=ppt/tags/tag229.xml><?xml version="1.0" encoding="utf-8"?>
<p:tagLst xmlns:p="http://schemas.openxmlformats.org/presentationml/2006/main">
  <p:tag name="RAINPROBLEMTYPE" val="ProblemTypeMarker"/>
</p:tagLst>
</file>

<file path=ppt/tags/tag230.xml><?xml version="1.0" encoding="utf-8"?>
<p:tagLst xmlns:p="http://schemas.openxmlformats.org/presentationml/2006/main">
  <p:tag name="RAINPROBLEMTYPE" val="ProblemTypeMarker"/>
</p:tagLst>
</file>

<file path=ppt/tags/tag231.xml><?xml version="1.0" encoding="utf-8"?>
<p:tagLst xmlns:p="http://schemas.openxmlformats.org/presentationml/2006/main">
  <p:tag name="RAINPROBLEMTYPE" val="ProblemTypeMarker"/>
</p:tagLst>
</file>

<file path=ppt/tags/tag232.xml><?xml version="1.0" encoding="utf-8"?>
<p:tagLst xmlns:p="http://schemas.openxmlformats.org/presentationml/2006/main">
  <p:tag name="RAINPROBLEM" val="ProblemSetting"/>
  <p:tag name="RAINPROBLEMTYPE" val="MultipleChoiceMA"/>
</p:tagLst>
</file>

<file path=ppt/tags/tag233.xml><?xml version="1.0" encoding="utf-8"?>
<p:tagLst xmlns:p="http://schemas.openxmlformats.org/presentationml/2006/main">
  <p:tag name="RAINPROBLEM" val="MultipleChoiceMA"/>
  <p:tag name="PROBLEMSCORE" val="1.0"/>
  <p:tag name="RAINPROBLEMTYPE" val="MultipleChoiceMA"/>
  <p:tag name="PROBLEMSCORE_HALF" val="0.0"/>
</p:tagLst>
</file>

<file path=ppt/tags/tag23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3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3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3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3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3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4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4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4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4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4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4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4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4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66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6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68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73.xml><?xml version="1.0" encoding="utf-8"?>
<p:tagLst xmlns:p="http://schemas.openxmlformats.org/presentationml/2006/main">
  <p:tag name="KSO_WPP_MARK_KEY" val="144d6878-b9b5-457f-b887-596aa8528b74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7662</Words>
  <Application>WPS 演示</Application>
  <PresentationFormat>全屏显示(4:3)</PresentationFormat>
  <Paragraphs>1095</Paragraphs>
  <Slides>84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84</vt:i4>
      </vt:variant>
    </vt:vector>
  </HeadingPairs>
  <TitlesOfParts>
    <vt:vector size="106" baseType="lpstr">
      <vt:lpstr>Arial</vt:lpstr>
      <vt:lpstr>宋体</vt:lpstr>
      <vt:lpstr>Wingdings</vt:lpstr>
      <vt:lpstr>Microsoft YaHei UI</vt:lpstr>
      <vt:lpstr>微软雅黑</vt:lpstr>
      <vt:lpstr>Helvetica</vt:lpstr>
      <vt:lpstr>黑体</vt:lpstr>
      <vt:lpstr>Times New Roman</vt:lpstr>
      <vt:lpstr>Consolas</vt:lpstr>
      <vt:lpstr>Arial Unicode MS</vt:lpstr>
      <vt:lpstr>Symbol</vt:lpstr>
      <vt:lpstr>Calibri</vt:lpstr>
      <vt:lpstr>Arial Unicode MS</vt:lpstr>
      <vt:lpstr>仿宋_GB2312</vt:lpstr>
      <vt:lpstr>仿宋</vt:lpstr>
      <vt:lpstr>basetag20163155_docer802382.通用教学课件</vt:lpstr>
      <vt:lpstr>1_Office 主题​​</vt:lpstr>
      <vt:lpstr>Equation.3</vt:lpstr>
      <vt:lpstr>Equation.3</vt:lpstr>
      <vt:lpstr>Equation.3</vt:lpstr>
      <vt:lpstr>Equation.3</vt:lpstr>
      <vt:lpstr>Equation.3</vt:lpstr>
      <vt:lpstr>八、搜索树（2）</vt:lpstr>
      <vt:lpstr>B树 B+树</vt:lpstr>
      <vt:lpstr>动机：建立索引</vt:lpstr>
      <vt:lpstr>索引示例</vt:lpstr>
      <vt:lpstr>越来越小的内存</vt:lpstr>
      <vt:lpstr>越来越小的内存</vt:lpstr>
      <vt:lpstr>高速缓存</vt:lpstr>
      <vt:lpstr>高速缓存</vt:lpstr>
      <vt:lpstr>B-Tree</vt:lpstr>
      <vt:lpstr>B-Tree</vt:lpstr>
      <vt:lpstr>紧凑表示</vt:lpstr>
      <vt:lpstr>m叉搜索树</vt:lpstr>
      <vt:lpstr>m叉搜索树</vt:lpstr>
      <vt:lpstr>例：7叉搜索树</vt:lpstr>
      <vt:lpstr>例</vt:lpstr>
      <vt:lpstr>例</vt:lpstr>
      <vt:lpstr>m叉搜索树的高度</vt:lpstr>
      <vt:lpstr>H1.m阶B-树</vt:lpstr>
      <vt:lpstr>7阶B-树例</vt:lpstr>
      <vt:lpstr>例</vt:lpstr>
      <vt:lpstr>重新整理m阶B树特征</vt:lpstr>
      <vt:lpstr>B-树的高度</vt:lpstr>
      <vt:lpstr>证明</vt:lpstr>
      <vt:lpstr>插入操作——简单情况</vt:lpstr>
      <vt:lpstr>插入操作——分裂</vt:lpstr>
      <vt:lpstr>插入操作——分裂</vt:lpstr>
      <vt:lpstr>分裂例</vt:lpstr>
      <vt:lpstr>插入操作——分裂回溯</vt:lpstr>
      <vt:lpstr>分裂回溯例——三阶B-树</vt:lpstr>
      <vt:lpstr>分裂回溯例（续）</vt:lpstr>
      <vt:lpstr>PowerPoint 演示文稿</vt:lpstr>
      <vt:lpstr>删除操作</vt:lpstr>
      <vt:lpstr>删除操作——借用兄弟节点m=7</vt:lpstr>
      <vt:lpstr>删除操作——借用兄弟节点</vt:lpstr>
      <vt:lpstr>删除操作——与兄弟节点合并m=7</vt:lpstr>
      <vt:lpstr>删除操作——与兄弟节点合并</vt:lpstr>
      <vt:lpstr>删除操作——合并的回溯</vt:lpstr>
      <vt:lpstr>删除操作——合并的回溯m=3</vt:lpstr>
      <vt:lpstr>删除操作——例</vt:lpstr>
      <vt:lpstr>删除操作——例</vt:lpstr>
      <vt:lpstr>删除操作——例</vt:lpstr>
      <vt:lpstr>删除操作——例</vt:lpstr>
      <vt:lpstr>删除操作——例</vt:lpstr>
      <vt:lpstr>删除操作——例</vt:lpstr>
      <vt:lpstr>删除操作——例</vt:lpstr>
      <vt:lpstr>PowerPoint 演示文稿</vt:lpstr>
      <vt:lpstr>H1小结</vt:lpstr>
      <vt:lpstr>B树结构多用于外部存储</vt:lpstr>
      <vt:lpstr>磁盘操作次数</vt:lpstr>
      <vt:lpstr>B+树定义</vt:lpstr>
      <vt:lpstr>4阶B+树示例</vt:lpstr>
      <vt:lpstr>B+树插入</vt:lpstr>
      <vt:lpstr>B+树插入示例</vt:lpstr>
      <vt:lpstr>B+树插入示例</vt:lpstr>
      <vt:lpstr>B+树插入示例</vt:lpstr>
      <vt:lpstr>B+树插入示例</vt:lpstr>
      <vt:lpstr>B+树插入示例</vt:lpstr>
      <vt:lpstr>B+树删除</vt:lpstr>
      <vt:lpstr>红黑树</vt:lpstr>
      <vt:lpstr>红－黑树定义</vt:lpstr>
      <vt:lpstr>另一种定义方式</vt:lpstr>
      <vt:lpstr>红－黑树例</vt:lpstr>
      <vt:lpstr>红－黑树特性1</vt:lpstr>
      <vt:lpstr>红－黑树特性1</vt:lpstr>
      <vt:lpstr>红－黑树特性2</vt:lpstr>
      <vt:lpstr>红－黑树的描述</vt:lpstr>
      <vt:lpstr>红－黑树的搜索</vt:lpstr>
      <vt:lpstr>红－黑树类似4阶B树</vt:lpstr>
      <vt:lpstr>2-3-4树的红－黑树表示</vt:lpstr>
      <vt:lpstr>2-3-4树的红－黑树表示</vt:lpstr>
      <vt:lpstr>2-3-4树的红－黑树表示</vt:lpstr>
      <vt:lpstr>几个问题</vt:lpstr>
      <vt:lpstr>H2.红－黑树的插入</vt:lpstr>
      <vt:lpstr>没有连续红边的情况（最理想）</vt:lpstr>
      <vt:lpstr>连续红边情况1：XYb</vt:lpstr>
      <vt:lpstr>连续红边情况2：XYr</vt:lpstr>
      <vt:lpstr>H2结束</vt:lpstr>
      <vt:lpstr>红－黑树的删除</vt:lpstr>
      <vt:lpstr>兄弟节点为黑色，兄弟儿子节点全为黑色</vt:lpstr>
      <vt:lpstr>兄弟节点为黑，兄弟孩子节点非全黑色</vt:lpstr>
      <vt:lpstr>兄弟节点为红色</vt:lpstr>
      <vt:lpstr>例题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127</cp:revision>
  <cp:lastPrinted>2017-09-11T08:45:00Z</cp:lastPrinted>
  <dcterms:created xsi:type="dcterms:W3CDTF">2017-09-04T08:16:00Z</dcterms:created>
  <dcterms:modified xsi:type="dcterms:W3CDTF">2025-05-06T10:18:29Z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E9A53A2993C0451085433EDF45672AE3</vt:lpwstr>
  </property>
</Properties>
</file>