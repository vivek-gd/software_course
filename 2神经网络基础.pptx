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6" r:id="rId2"/>
    <p:sldId id="850" r:id="rId3"/>
    <p:sldId id="854" r:id="rId4"/>
    <p:sldId id="853" r:id="rId5"/>
    <p:sldId id="855" r:id="rId6"/>
    <p:sldId id="856" r:id="rId7"/>
    <p:sldId id="857" r:id="rId8"/>
    <p:sldId id="858" r:id="rId9"/>
    <p:sldId id="859" r:id="rId10"/>
    <p:sldId id="860" r:id="rId11"/>
    <p:sldId id="861" r:id="rId12"/>
    <p:sldId id="862" r:id="rId13"/>
    <p:sldId id="863" r:id="rId14"/>
    <p:sldId id="864" r:id="rId15"/>
    <p:sldId id="865" r:id="rId16"/>
    <p:sldId id="866" r:id="rId17"/>
    <p:sldId id="870" r:id="rId18"/>
    <p:sldId id="867" r:id="rId19"/>
    <p:sldId id="868" r:id="rId20"/>
    <p:sldId id="869" r:id="rId21"/>
    <p:sldId id="871" r:id="rId22"/>
    <p:sldId id="872" r:id="rId23"/>
    <p:sldId id="873" r:id="rId24"/>
    <p:sldId id="874" r:id="rId25"/>
    <p:sldId id="875" r:id="rId26"/>
    <p:sldId id="876" r:id="rId27"/>
    <p:sldId id="877" r:id="rId28"/>
    <p:sldId id="878" r:id="rId29"/>
    <p:sldId id="879" r:id="rId30"/>
    <p:sldId id="880" r:id="rId31"/>
    <p:sldId id="881" r:id="rId32"/>
    <p:sldId id="888" r:id="rId33"/>
    <p:sldId id="882" r:id="rId34"/>
    <p:sldId id="883" r:id="rId35"/>
    <p:sldId id="884" r:id="rId36"/>
    <p:sldId id="885" r:id="rId37"/>
    <p:sldId id="886" r:id="rId38"/>
    <p:sldId id="887" r:id="rId39"/>
    <p:sldId id="889" r:id="rId40"/>
    <p:sldId id="890" r:id="rId41"/>
    <p:sldId id="891" r:id="rId42"/>
    <p:sldId id="892" r:id="rId43"/>
    <p:sldId id="893" r:id="rId44"/>
    <p:sldId id="898" r:id="rId45"/>
    <p:sldId id="894" r:id="rId46"/>
    <p:sldId id="895" r:id="rId47"/>
    <p:sldId id="896" r:id="rId48"/>
    <p:sldId id="897" r:id="rId49"/>
    <p:sldId id="899" r:id="rId50"/>
    <p:sldId id="900" r:id="rId51"/>
    <p:sldId id="901" r:id="rId52"/>
    <p:sldId id="902" r:id="rId53"/>
    <p:sldId id="903" r:id="rId54"/>
    <p:sldId id="904" r:id="rId55"/>
    <p:sldId id="905" r:id="rId56"/>
    <p:sldId id="906" r:id="rId57"/>
    <p:sldId id="907" r:id="rId58"/>
    <p:sldId id="908" r:id="rId59"/>
    <p:sldId id="915" r:id="rId60"/>
    <p:sldId id="910" r:id="rId61"/>
    <p:sldId id="911" r:id="rId62"/>
    <p:sldId id="909" r:id="rId63"/>
    <p:sldId id="912" r:id="rId64"/>
    <p:sldId id="913" r:id="rId65"/>
    <p:sldId id="914" r:id="rId66"/>
    <p:sldId id="916" r:id="rId67"/>
    <p:sldId id="926" r:id="rId68"/>
    <p:sldId id="917" r:id="rId69"/>
    <p:sldId id="927" r:id="rId70"/>
    <p:sldId id="918" r:id="rId71"/>
    <p:sldId id="919" r:id="rId72"/>
    <p:sldId id="928" r:id="rId73"/>
    <p:sldId id="920" r:id="rId74"/>
    <p:sldId id="929" r:id="rId75"/>
    <p:sldId id="921" r:id="rId76"/>
    <p:sldId id="922" r:id="rId77"/>
    <p:sldId id="923" r:id="rId78"/>
    <p:sldId id="924" r:id="rId79"/>
    <p:sldId id="925" r:id="rId80"/>
    <p:sldId id="1150" r:id="rId81"/>
    <p:sldId id="852" r:id="rId8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40" autoAdjust="0"/>
    <p:restoredTop sz="77273" autoAdjust="0"/>
  </p:normalViewPr>
  <p:slideViewPr>
    <p:cSldViewPr snapToGrid="0">
      <p:cViewPr varScale="1">
        <p:scale>
          <a:sx n="84" d="100"/>
          <a:sy n="84" d="100"/>
        </p:scale>
        <p:origin x="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68229D-15AA-4D8B-8B21-B2D56A940B92}" type="datetimeFigureOut">
              <a:rPr lang="zh-CN" altLang="en-US" smtClean="0"/>
              <a:t>2024/4/7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9835DF-FE72-4DE9-8A1F-49F4BAD1D1EA}" type="slidenum">
              <a:rPr lang="zh-CN" altLang="en-US" smtClean="0"/>
              <a:t>‹#›</a:t>
            </a:fld>
            <a:endParaRPr lang="zh-CN" altLang="en-US"/>
          </a:p>
        </p:txBody>
      </p:sp>
    </p:spTree>
    <p:extLst>
      <p:ext uri="{BB962C8B-B14F-4D97-AF65-F5344CB8AC3E}">
        <p14:creationId xmlns:p14="http://schemas.microsoft.com/office/powerpoint/2010/main" val="3381767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基于神经网络实现一个图像风格迁移任务，需要输入图片数据，建立神经网络模型，里面编程框架进行代码实现，编译后运行在处理器上，输出最终的结果。这里的建模可以是简单的神经网络，也可以用我们第三章将要介绍的深度学习来实现。</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a:t>
            </a:fld>
            <a:endParaRPr lang="zh-CN" altLang="en-US"/>
          </a:p>
        </p:txBody>
      </p:sp>
    </p:spTree>
    <p:extLst>
      <p:ext uri="{BB962C8B-B14F-4D97-AF65-F5344CB8AC3E}">
        <p14:creationId xmlns:p14="http://schemas.microsoft.com/office/powerpoint/2010/main" val="2637709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本章首先从最简单的线性回归开始，逐步介绍机器学习和神经网络的基本原理，然后介绍神经网络的训练过程，包括正向计算与反向传播进行参数更新。还会涉及神经网络的设计原则，包括常见的激活函数、损失函数等，也会涉及一些提升神经网络精度的方法和技术，最后介绍神经网络的交叉验证方法。</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a:t>
            </a:fld>
            <a:endParaRPr lang="zh-CN" altLang="en-US"/>
          </a:p>
        </p:txBody>
      </p:sp>
    </p:spTree>
    <p:extLst>
      <p:ext uri="{BB962C8B-B14F-4D97-AF65-F5344CB8AC3E}">
        <p14:creationId xmlns:p14="http://schemas.microsoft.com/office/powerpoint/2010/main" val="2952871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几个比较容易混淆的概念：人工智能、机器学习、神经网络、深度学习，它们之间是怎么的一种包含关系。人工智能是最大的范畴，通俗的讲就是人制造出来的机器所表现出来的智能。能够完成某种特定具体任务的人工智能属于弱人工智能，而强人工智能或者通用人工智能，是具备与人类同等智慧，或超越类型的人工智能，能表现正常人类所具有的所有智能行为。人工智能在某些方面是很容易超越人类的，比如计算加法、乘法等重复性任务。但强人工智能不仅要能解决一两个特定问题，还能够解决人类所能解决的各种各样的问题。从这个角度看，我们现在实现的神经网络、深度学习模型还停留在完成某一特定任务的弱人工智能的范畴。</a:t>
            </a:r>
            <a:endParaRPr lang="en-US" altLang="zh-CN" dirty="0"/>
          </a:p>
          <a:p>
            <a:r>
              <a:rPr lang="zh-CN" altLang="en-US" dirty="0"/>
              <a:t>所以人工智能包括机器学习、计算机视觉、符号逻辑、强化学习（行为主义的一种方法）等不同分支。机器学习里面又包含许多子分支，比如人工神经网络、贝叶斯网络、决策树、线性回归等。目前最主流的机器学习技术是人工神经网络，而人工神经网络中最先进的技术是深度学习。</a:t>
            </a:r>
            <a:endParaRPr lang="en-US" altLang="zh-CN"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a:t>
            </a:fld>
            <a:endParaRPr lang="zh-CN" altLang="en-US"/>
          </a:p>
        </p:txBody>
      </p:sp>
    </p:spTree>
    <p:extLst>
      <p:ext uri="{BB962C8B-B14F-4D97-AF65-F5344CB8AC3E}">
        <p14:creationId xmlns:p14="http://schemas.microsoft.com/office/powerpoint/2010/main" val="2479869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b="0" i="0" kern="1200" dirty="0">
                <a:solidFill>
                  <a:schemeClr val="tx1"/>
                </a:solidFill>
                <a:effectLst/>
                <a:latin typeface="+mn-lt"/>
                <a:ea typeface="+mn-ea"/>
                <a:cs typeface="+mn-cs"/>
              </a:rPr>
              <a:t>机器学习有很多定义，共性之处是计算机通过不断地从经验或数据中学习来逐步提升智能处理能力。左图展示了主要的机器学习算法（决策树、朴素贝叶斯、支持向量机</a:t>
            </a:r>
            <a:r>
              <a:rPr lang="en-US" altLang="zh-CN" sz="1200" b="0" i="0" kern="1200" dirty="0">
                <a:solidFill>
                  <a:schemeClr val="tx1"/>
                </a:solidFill>
                <a:effectLst/>
                <a:latin typeface="+mn-lt"/>
                <a:ea typeface="+mn-ea"/>
                <a:cs typeface="+mn-cs"/>
              </a:rPr>
              <a:t>SVM</a:t>
            </a:r>
            <a:r>
              <a:rPr lang="zh-CN" altLang="en-US" sz="1200" b="0" i="0" kern="1200" dirty="0">
                <a:solidFill>
                  <a:schemeClr val="tx1"/>
                </a:solidFill>
                <a:effectLst/>
                <a:latin typeface="+mn-lt"/>
                <a:ea typeface="+mn-ea"/>
                <a:cs typeface="+mn-cs"/>
              </a:rPr>
              <a:t>、随机森林、人工神经网络、主成分分析</a:t>
            </a:r>
            <a:r>
              <a:rPr lang="en-US" altLang="zh-CN" sz="1200" b="0" i="0" kern="1200" dirty="0">
                <a:solidFill>
                  <a:schemeClr val="tx1"/>
                </a:solidFill>
                <a:effectLst/>
                <a:latin typeface="+mn-lt"/>
                <a:ea typeface="+mn-ea"/>
                <a:cs typeface="+mn-cs"/>
              </a:rPr>
              <a:t>PCA</a:t>
            </a:r>
            <a:r>
              <a:rPr lang="zh-CN" altLang="en-US" sz="1200" b="0" i="0" kern="1200" dirty="0">
                <a:solidFill>
                  <a:schemeClr val="tx1"/>
                </a:solidFill>
                <a:effectLst/>
                <a:latin typeface="+mn-lt"/>
                <a:ea typeface="+mn-ea"/>
                <a:cs typeface="+mn-cs"/>
              </a:rPr>
              <a:t>）、它们的分类以及它们之间的关系，可以完成分类、聚类、逻辑回归、降维等多种特定任务，广泛应用在数据分析与挖掘、模式识别、生物信息学等领域。</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机器学习的分类方式多样，基于学习方式可以分为监督学习、无监督学习、强化学习等；基于数据形式可以分为结构化学习（以结构化数据为输入，以数值计算或符号推演为方法）和非结构化学习（以非结构化数据为输入，文本挖掘、图像挖掘、</a:t>
            </a:r>
            <a:r>
              <a:rPr lang="en-US" altLang="zh-CN" sz="1200" b="0" i="0" kern="1200" dirty="0">
                <a:solidFill>
                  <a:schemeClr val="tx1"/>
                </a:solidFill>
                <a:effectLst/>
                <a:latin typeface="+mn-lt"/>
                <a:ea typeface="+mn-ea"/>
                <a:cs typeface="+mn-cs"/>
              </a:rPr>
              <a:t>Web</a:t>
            </a:r>
            <a:r>
              <a:rPr lang="zh-CN" altLang="en-US" sz="1200" b="0" i="0" kern="1200" dirty="0">
                <a:solidFill>
                  <a:schemeClr val="tx1"/>
                </a:solidFill>
                <a:effectLst/>
                <a:latin typeface="+mn-lt"/>
                <a:ea typeface="+mn-ea"/>
                <a:cs typeface="+mn-cs"/>
              </a:rPr>
              <a:t>挖掘等）；也可以基于学习目标分为概念学习、规则学习（决策树）等。在这里我们根据训练数据有无标签大致分为两类：监督学习、无监督学习。其中，监督学习通过对有标签的训练数据学习，建立一个模型函数来预测新数据的标签。无监督学习通过对无标签的训练数据学习，揭示数据的内在性质及规律。右图展示了一种常见的监督学习训练流程：首先要有训练数据及其标签；其次，针对训练数据选择机器学习算法；最后，经过训练建立模型函数。监督学习的预测流程：将新的预测数据利用模型函数得到一个预测值或预测标签。通常用损失函数来衡量预测值与真实值（预测标签与真实标签）之间的差，损失函数差值越小表示模型预测越准确。</a:t>
            </a:r>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a:t>
            </a:fld>
            <a:endParaRPr lang="zh-CN" altLang="en-US"/>
          </a:p>
        </p:txBody>
      </p:sp>
    </p:spTree>
    <p:extLst>
      <p:ext uri="{BB962C8B-B14F-4D97-AF65-F5344CB8AC3E}">
        <p14:creationId xmlns:p14="http://schemas.microsoft.com/office/powerpoint/2010/main" val="4039015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标量？向量？矩阵运算</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a:t>
            </a:fld>
            <a:endParaRPr lang="zh-CN" altLang="en-US"/>
          </a:p>
        </p:txBody>
      </p:sp>
    </p:spTree>
    <p:extLst>
      <p:ext uri="{BB962C8B-B14F-4D97-AF65-F5344CB8AC3E}">
        <p14:creationId xmlns:p14="http://schemas.microsoft.com/office/powerpoint/2010/main" val="3005732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线性回归是一种最简单的机器学习方法。以线性回归为例，来理解机器学习的原理。线性回归的目标是找到一些点的集合背后的规律。例如，一个点集可以用一条直线来拟合，这条拟合出来的直线的参数特征，就是线性回归找到的点集背后的规律。</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a:t>
            </a:fld>
            <a:endParaRPr lang="zh-CN" altLang="en-US"/>
          </a:p>
        </p:txBody>
      </p:sp>
    </p:spTree>
    <p:extLst>
      <p:ext uri="{BB962C8B-B14F-4D97-AF65-F5344CB8AC3E}">
        <p14:creationId xmlns:p14="http://schemas.microsoft.com/office/powerpoint/2010/main" val="4288983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那么，我们先看一个最简单的一元线性回归。房屋售价只与房屋面积相关的情况，如何在给出新的房屋面积时，计算房屋售价。首先，我们将已有数据以房屋面积作为</a:t>
            </a:r>
            <a:r>
              <a:rPr lang="en-US" altLang="zh-CN" dirty="0"/>
              <a:t>x</a:t>
            </a:r>
            <a:r>
              <a:rPr lang="zh-CN" altLang="en-US" dirty="0"/>
              <a:t>轴，房屋售价作为</a:t>
            </a:r>
            <a:r>
              <a:rPr lang="en-US" altLang="zh-CN" dirty="0"/>
              <a:t>y</a:t>
            </a:r>
            <a:r>
              <a:rPr lang="zh-CN" altLang="en-US" dirty="0"/>
              <a:t>轴，画到坐标系里面，可以看到这些点可以用一条直线进行拟合，如果我们能够找到这么一条拟合直线的话，使得所有数据点到该直线的距离之和最小，那么这条拟合直线就可以反映或者表示房屋面积与房屋售价之间的关系，也就是线性回归模型。</a:t>
            </a:r>
            <a:endParaRPr lang="en-US" altLang="zh-CN"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8</a:t>
            </a:fld>
            <a:endParaRPr lang="zh-CN" altLang="en-US"/>
          </a:p>
        </p:txBody>
      </p:sp>
    </p:spTree>
    <p:extLst>
      <p:ext uri="{BB962C8B-B14F-4D97-AF65-F5344CB8AC3E}">
        <p14:creationId xmlns:p14="http://schemas.microsoft.com/office/powerpoint/2010/main" val="1381322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在一元线性回归模型中，拟合直线可以表示为。其中，</a:t>
            </a:r>
            <a:r>
              <a:rPr lang="en-US" altLang="zh-CN" dirty="0"/>
              <a:t>h</a:t>
            </a:r>
            <a:r>
              <a:rPr lang="zh-CN" altLang="en-US" dirty="0"/>
              <a:t>（</a:t>
            </a:r>
            <a:r>
              <a:rPr lang="en-US" altLang="zh-CN" dirty="0"/>
              <a:t>x</a:t>
            </a:r>
            <a:r>
              <a:rPr lang="zh-CN" altLang="en-US" dirty="0"/>
              <a:t>）是根据已有数据拟合出来的模型函数，是一条直线且仅有一个变量</a:t>
            </a:r>
            <a:r>
              <a:rPr lang="en-US" altLang="zh-CN" dirty="0"/>
              <a:t>x</a:t>
            </a:r>
            <a:r>
              <a:rPr lang="zh-CN" altLang="en-US" dirty="0"/>
              <a:t>。回归系数</a:t>
            </a:r>
            <a:r>
              <a:rPr lang="en-US" altLang="zh-CN" dirty="0"/>
              <a:t>w0</a:t>
            </a:r>
            <a:r>
              <a:rPr lang="zh-CN" altLang="en-US" dirty="0"/>
              <a:t>和</a:t>
            </a:r>
            <a:r>
              <a:rPr lang="en-US" altLang="zh-CN" dirty="0"/>
              <a:t>w1</a:t>
            </a:r>
            <a:r>
              <a:rPr lang="zh-CN" altLang="en-US" dirty="0"/>
              <a:t>可以通过已知点，计算所有数据点到该直线的距离之和求出来。</a:t>
            </a:r>
            <a:r>
              <a:rPr lang="en-US" altLang="zh-CN" dirty="0"/>
              <a:t>W1</a:t>
            </a:r>
            <a:r>
              <a:rPr lang="zh-CN" altLang="en-US" dirty="0"/>
              <a:t>代表斜率，</a:t>
            </a:r>
            <a:r>
              <a:rPr lang="en-US" altLang="zh-CN" dirty="0"/>
              <a:t>w0</a:t>
            </a:r>
            <a:r>
              <a:rPr lang="zh-CN" altLang="en-US" dirty="0"/>
              <a:t>代表截距，即拟合直线与</a:t>
            </a:r>
            <a:r>
              <a:rPr lang="en-US" altLang="zh-CN" dirty="0"/>
              <a:t>y</a:t>
            </a:r>
            <a:r>
              <a:rPr lang="zh-CN" altLang="en-US" dirty="0"/>
              <a:t>轴的交点。计算出</a:t>
            </a:r>
            <a:r>
              <a:rPr lang="en-US" altLang="zh-CN" dirty="0"/>
              <a:t>w0</a:t>
            </a:r>
            <a:r>
              <a:rPr lang="zh-CN" altLang="en-US" dirty="0"/>
              <a:t>和</a:t>
            </a:r>
            <a:r>
              <a:rPr lang="en-US" altLang="zh-CN" dirty="0"/>
              <a:t>w1</a:t>
            </a:r>
            <a:r>
              <a:rPr lang="zh-CN" altLang="en-US" dirty="0"/>
              <a:t>后，就可以利用房屋面积预测新房屋的售价。</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9</a:t>
            </a:fld>
            <a:endParaRPr lang="zh-CN" altLang="en-US"/>
          </a:p>
        </p:txBody>
      </p:sp>
    </p:spTree>
    <p:extLst>
      <p:ext uri="{BB962C8B-B14F-4D97-AF65-F5344CB8AC3E}">
        <p14:creationId xmlns:p14="http://schemas.microsoft.com/office/powerpoint/2010/main" val="3553447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𝑥：特征；</a:t>
            </a:r>
            <a:r>
              <a:rPr lang="en-US" altLang="zh-CN" dirty="0"/>
              <a:t>h(</a:t>
            </a:r>
            <a:r>
              <a:rPr lang="zh-CN" altLang="en-US" dirty="0"/>
              <a:t>𝑥</a:t>
            </a:r>
            <a:r>
              <a:rPr lang="en-US" altLang="zh-CN" dirty="0"/>
              <a:t>) </a:t>
            </a:r>
            <a:r>
              <a:rPr lang="zh-CN" altLang="en-US" dirty="0"/>
              <a:t>：假设</a:t>
            </a:r>
            <a:endParaRPr lang="en-US" altLang="zh-CN" dirty="0"/>
          </a:p>
          <a:p>
            <a:r>
              <a:rPr lang="zh-CN" altLang="en-US" dirty="0"/>
              <a:t>从单变量的线性模型推广到多变量线性模型。当有</a:t>
            </a:r>
            <a:r>
              <a:rPr lang="en-US" altLang="zh-CN" dirty="0"/>
              <a:t>2</a:t>
            </a:r>
            <a:r>
              <a:rPr lang="zh-CN" altLang="en-US" dirty="0"/>
              <a:t>个变量（特征）时，我们可以用二元线性回归模型表示。如果是</a:t>
            </a:r>
            <a:r>
              <a:rPr lang="en-US" altLang="zh-CN" dirty="0"/>
              <a:t>n</a:t>
            </a:r>
            <a:r>
              <a:rPr lang="zh-CN" altLang="en-US" dirty="0"/>
              <a:t>个变量（特征）时，可以用多元线性回归模型。参数向量与输入向量来表示。</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10</a:t>
            </a:fld>
            <a:endParaRPr lang="zh-CN" altLang="en-US"/>
          </a:p>
        </p:txBody>
      </p:sp>
    </p:spTree>
    <p:extLst>
      <p:ext uri="{BB962C8B-B14F-4D97-AF65-F5344CB8AC3E}">
        <p14:creationId xmlns:p14="http://schemas.microsoft.com/office/powerpoint/2010/main" val="1901390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线性回归模型预测结果的正确性如何评价呢？当样本量足够大时，误差服从均值为</a:t>
            </a:r>
            <a:r>
              <a:rPr lang="en-US" altLang="zh-CN" dirty="0"/>
              <a:t>0</a:t>
            </a:r>
            <a:r>
              <a:rPr lang="zh-CN" altLang="en-US" dirty="0"/>
              <a:t>，方差为的高斯（正态）分布。就可以通过求解最大似然函数，得到预测值与真实值之间误差尽量小的目标函数（损失函数）。最大似然估计的计算是把</a:t>
            </a:r>
            <a:r>
              <a:rPr lang="en-US" altLang="zh-CN" dirty="0"/>
              <a:t>m</a:t>
            </a:r>
            <a:r>
              <a:rPr lang="zh-CN" altLang="en-US" dirty="0"/>
              <a:t>次测试，把</a:t>
            </a:r>
            <a:r>
              <a:rPr lang="en-US" altLang="zh-CN" dirty="0"/>
              <a:t>m</a:t>
            </a:r>
            <a:r>
              <a:rPr lang="zh-CN" altLang="en-US" dirty="0"/>
              <a:t>次测试的概率乘起来，乘起来的这个数希望越大越好。每一个样本都对应一个概率值，</a:t>
            </a:r>
            <a:r>
              <a:rPr lang="en-US" altLang="zh-CN" dirty="0"/>
              <a:t>m</a:t>
            </a:r>
            <a:r>
              <a:rPr lang="zh-CN" altLang="en-US" dirty="0"/>
              <a:t>个样本都乘起来的话，那么指数部分就包含误差的平方和。</a:t>
            </a:r>
            <a:endParaRPr lang="en-US" altLang="zh-CN" dirty="0"/>
          </a:p>
          <a:p>
            <a:r>
              <a:rPr lang="zh-CN" altLang="en-US" dirty="0"/>
              <a:t>损失函数计算等同于</a:t>
            </a:r>
            <a:r>
              <a:rPr lang="en-US" altLang="zh-CN" dirty="0"/>
              <a:t>m</a:t>
            </a:r>
            <a:r>
              <a:rPr lang="zh-CN" altLang="en-US" dirty="0"/>
              <a:t>次预测的结果和真实结果之间的差的平方和。那么线性回归的目的是寻找最近的</a:t>
            </a:r>
            <a:r>
              <a:rPr lang="en-US" altLang="zh-CN" dirty="0"/>
              <a:t>w</a:t>
            </a:r>
            <a:r>
              <a:rPr lang="zh-CN" altLang="en-US" dirty="0"/>
              <a:t>，是的损失函数最小。</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11</a:t>
            </a:fld>
            <a:endParaRPr lang="zh-CN" altLang="en-US"/>
          </a:p>
        </p:txBody>
      </p:sp>
    </p:spTree>
    <p:extLst>
      <p:ext uri="{BB962C8B-B14F-4D97-AF65-F5344CB8AC3E}">
        <p14:creationId xmlns:p14="http://schemas.microsoft.com/office/powerpoint/2010/main" val="2412069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解析的方法：最小二乘法是可以解决这个问题的。</a:t>
            </a:r>
            <a:endParaRPr lang="en-US" altLang="zh-CN" dirty="0"/>
          </a:p>
          <a:p>
            <a:r>
              <a:rPr lang="zh-CN" altLang="en-US" dirty="0"/>
              <a:t>迭代的方法：寻找最优参数通常采用梯度下降法，该方法计算损失函数在当前点的梯度，然后沿负梯度方向（即损失函数值下降最快的方向）调整参数，通过多次迭代就可以找到使损失函数最小的参数。具体过程：首先给的初始参数向量</a:t>
            </a:r>
            <a:r>
              <a:rPr lang="en-US" altLang="zh-CN" dirty="0"/>
              <a:t>w</a:t>
            </a:r>
            <a:r>
              <a:rPr lang="zh-CN" altLang="en-US" dirty="0"/>
              <a:t>，如随机初始化参数向量，计算损失函数对参数向量</a:t>
            </a:r>
            <a:r>
              <a:rPr lang="en-US" altLang="zh-CN" dirty="0"/>
              <a:t>w</a:t>
            </a:r>
            <a:r>
              <a:rPr lang="zh-CN" altLang="en-US" dirty="0"/>
              <a:t>的偏导（即梯度），然后沿负梯度方向按照一定的步长（学习率）挑战参数向量的值，不断的进行迭代，使更新后的损失函数值不断变小，直至找到使损失函数最小的参数向量值，从而得到合适的回归模型参数。</a:t>
            </a:r>
            <a:endParaRPr lang="en-US" altLang="zh-CN" dirty="0"/>
          </a:p>
          <a:p>
            <a:r>
              <a:rPr lang="zh-CN" altLang="en-US" dirty="0"/>
              <a:t>人工神经网络的训练和预测过程与线性回归基本上是一致的。例如，要训练一个识别动物的神经网络，首先要找到大量不同种类的动物样本打上标签，然后调整神经网络模型的参数，以使神经网络的输出和标签之间的误差（损失函数）尽可能小；在神经网络做预测时，给神经网络一张未带标记的动物图像，神经网络根据训练拟合好的模型，可以给出它对图中动物类型的判断。</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12</a:t>
            </a:fld>
            <a:endParaRPr lang="zh-CN" altLang="en-US"/>
          </a:p>
        </p:txBody>
      </p:sp>
    </p:spTree>
    <p:extLst>
      <p:ext uri="{BB962C8B-B14F-4D97-AF65-F5344CB8AC3E}">
        <p14:creationId xmlns:p14="http://schemas.microsoft.com/office/powerpoint/2010/main" val="636272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r>
              <a:rPr lang="zh-CN" altLang="en-US" dirty="0"/>
              <a:t>从</a:t>
            </a:r>
            <a:r>
              <a:rPr lang="en-US" altLang="zh-CN" dirty="0"/>
              <a:t>1911</a:t>
            </a:r>
            <a:r>
              <a:rPr lang="zh-CN" altLang="en-US" dirty="0"/>
              <a:t>年提出将神经元，人工神经网络经历了三个发展阶段。</a:t>
            </a:r>
            <a:r>
              <a:rPr lang="en-US" altLang="zh-CN" dirty="0"/>
              <a:t>1943</a:t>
            </a:r>
            <a:r>
              <a:rPr lang="zh-CN" altLang="en-US" dirty="0"/>
              <a:t>年，</a:t>
            </a:r>
            <a:r>
              <a:rPr lang="en-US" altLang="zh-CN" dirty="0"/>
              <a:t>McCulloch-Pitts</a:t>
            </a:r>
            <a:r>
              <a:rPr lang="zh-CN" altLang="en-US" dirty="0"/>
              <a:t>通过模拟人类神经元细胞结构，建立了</a:t>
            </a:r>
            <a:r>
              <a:rPr lang="en-US" altLang="zh-CN" dirty="0"/>
              <a:t>M-P</a:t>
            </a:r>
            <a:r>
              <a:rPr lang="zh-CN" altLang="en-US" dirty="0"/>
              <a:t>神经元模型，这是最早的人工神经网络。</a:t>
            </a:r>
            <a:r>
              <a:rPr lang="en-US" altLang="zh-CN" dirty="0"/>
              <a:t>1957</a:t>
            </a:r>
            <a:r>
              <a:rPr lang="zh-CN" altLang="en-US" dirty="0"/>
              <a:t>年，</a:t>
            </a:r>
            <a:r>
              <a:rPr lang="en-US" altLang="zh-CN" dirty="0"/>
              <a:t>Rosenblatt</a:t>
            </a:r>
            <a:r>
              <a:rPr lang="zh-CN" altLang="en-US" dirty="0"/>
              <a:t>提出了感知机模型，基于</a:t>
            </a:r>
            <a:r>
              <a:rPr lang="en-US" altLang="zh-CN" dirty="0"/>
              <a:t>M-P</a:t>
            </a:r>
            <a:r>
              <a:rPr lang="zh-CN" altLang="en-US" dirty="0"/>
              <a:t>神经元的单层神经网络，可以解决输入数据线性可分的问题，从而神经网络迎来第一次发展热潮，但</a:t>
            </a:r>
            <a:r>
              <a:rPr lang="en-US" altLang="zh-CN" dirty="0"/>
              <a:t>1969</a:t>
            </a:r>
            <a:r>
              <a:rPr lang="zh-CN" altLang="en-US" dirty="0"/>
              <a:t>年，</a:t>
            </a:r>
            <a:r>
              <a:rPr lang="en-US" altLang="zh-CN" dirty="0"/>
              <a:t>Minsky</a:t>
            </a:r>
            <a:r>
              <a:rPr lang="zh-CN" altLang="en-US" dirty="0"/>
              <a:t>和</a:t>
            </a:r>
            <a:r>
              <a:rPr lang="en-US" altLang="zh-CN" dirty="0" err="1"/>
              <a:t>Papert</a:t>
            </a:r>
            <a:r>
              <a:rPr lang="zh-CN" altLang="en-US" dirty="0"/>
              <a:t>研究发现感知机模型无法解决非线性可分问题（异或问题），使得神经网络研究陷入低谷。</a:t>
            </a:r>
            <a:endParaRPr lang="en-US" altLang="zh-CN" dirty="0"/>
          </a:p>
          <a:p>
            <a:r>
              <a:rPr lang="zh-CN" altLang="en-US" dirty="0"/>
              <a:t>到了</a:t>
            </a:r>
            <a:r>
              <a:rPr lang="en-US" altLang="zh-CN" dirty="0"/>
              <a:t>1986</a:t>
            </a:r>
            <a:r>
              <a:rPr lang="zh-CN" altLang="en-US" dirty="0"/>
              <a:t>年，</a:t>
            </a:r>
            <a:r>
              <a:rPr lang="en-US" altLang="zh-CN" dirty="0" err="1"/>
              <a:t>Rumelhart</a:t>
            </a:r>
            <a:r>
              <a:rPr lang="zh-CN" altLang="en-US" dirty="0"/>
              <a:t>、</a:t>
            </a:r>
            <a:r>
              <a:rPr lang="en-US" altLang="zh-CN" dirty="0"/>
              <a:t>Hinton</a:t>
            </a:r>
            <a:r>
              <a:rPr lang="zh-CN" altLang="en-US" dirty="0"/>
              <a:t>和</a:t>
            </a:r>
            <a:r>
              <a:rPr lang="en-US" altLang="zh-CN" dirty="0"/>
              <a:t>Williams</a:t>
            </a:r>
            <a:r>
              <a:rPr lang="zh-CN" altLang="en-US" dirty="0"/>
              <a:t>在</a:t>
            </a:r>
            <a:r>
              <a:rPr lang="en-US" altLang="zh-CN" dirty="0"/>
              <a:t>Nature</a:t>
            </a:r>
            <a:r>
              <a:rPr lang="zh-CN" altLang="en-US" dirty="0"/>
              <a:t>上提出了反向传播算法（</a:t>
            </a:r>
            <a:r>
              <a:rPr lang="en-US" altLang="zh-CN" dirty="0"/>
              <a:t>BP</a:t>
            </a:r>
            <a:r>
              <a:rPr lang="zh-CN" altLang="en-US" dirty="0"/>
              <a:t>算法）训练神经网络。反向传播算法通过不断调整网络连接的权重来最小化实际输出向量和预期输出向量间的差值，改变了感知机模型收敛过程中内部隐藏单元不能表示任务域特征的局限性，提高了神经网络的学习表达能力以及神经网络的训练速度。</a:t>
            </a:r>
            <a:r>
              <a:rPr lang="en-US" altLang="zh-CN" dirty="0"/>
              <a:t>1998</a:t>
            </a:r>
            <a:r>
              <a:rPr lang="zh-CN" altLang="en-US" dirty="0"/>
              <a:t>年</a:t>
            </a:r>
            <a:r>
              <a:rPr lang="en-US" altLang="zh-CN" dirty="0" err="1"/>
              <a:t>LeCun</a:t>
            </a:r>
            <a:r>
              <a:rPr lang="zh-CN" altLang="en-US" dirty="0"/>
              <a:t>提出了用于手写数字识别的卷积神经网络</a:t>
            </a:r>
            <a:r>
              <a:rPr lang="en-US" altLang="zh-CN" dirty="0" err="1"/>
              <a:t>LeNet</a:t>
            </a:r>
            <a:r>
              <a:rPr lang="zh-CN" altLang="en-US" dirty="0"/>
              <a:t>，其定义的卷积神经网络基本框架和卷积、激活、池化、全连接等概念沿用至今。</a:t>
            </a:r>
            <a:endParaRPr lang="en-US" altLang="zh-CN" dirty="0"/>
          </a:p>
          <a:p>
            <a:r>
              <a:rPr lang="en-US" altLang="zh-CN" dirty="0"/>
              <a:t>2006</a:t>
            </a:r>
            <a:r>
              <a:rPr lang="zh-CN" altLang="en-US" dirty="0"/>
              <a:t>年，</a:t>
            </a:r>
            <a:r>
              <a:rPr lang="en-US" altLang="zh-CN" dirty="0"/>
              <a:t>Hinton</a:t>
            </a:r>
            <a:r>
              <a:rPr lang="zh-CN" altLang="en-US" dirty="0"/>
              <a:t>基于受限玻尔兹曼机构建了深度置信网络，和</a:t>
            </a:r>
            <a:r>
              <a:rPr lang="en-US" altLang="zh-CN" dirty="0"/>
              <a:t>Science</a:t>
            </a:r>
            <a:r>
              <a:rPr lang="zh-CN" altLang="en-US" dirty="0"/>
              <a:t>上发表的</a:t>
            </a:r>
            <a:r>
              <a:rPr lang="en-US" altLang="zh-CN" dirty="0"/>
              <a:t>Reducing the dimensionality of data with neural networks</a:t>
            </a:r>
            <a:r>
              <a:rPr lang="zh-CN" altLang="en-US" dirty="0"/>
              <a:t>的论文，推动了深度学习的发展。随着计算机性能的不断提升和数据规模的增加，</a:t>
            </a:r>
            <a:r>
              <a:rPr lang="en-US" altLang="zh-CN" dirty="0"/>
              <a:t>2012</a:t>
            </a:r>
            <a:r>
              <a:rPr lang="zh-CN" altLang="en-US" dirty="0"/>
              <a:t>年的</a:t>
            </a:r>
            <a:r>
              <a:rPr lang="en-US" altLang="zh-CN" dirty="0" err="1"/>
              <a:t>AlexNet</a:t>
            </a:r>
            <a:r>
              <a:rPr lang="zh-CN" altLang="en-US" dirty="0"/>
              <a:t>取得了</a:t>
            </a:r>
            <a:r>
              <a:rPr lang="en-US" altLang="zh-CN" dirty="0"/>
              <a:t>ImageNet</a:t>
            </a:r>
            <a:r>
              <a:rPr lang="zh-CN" altLang="en-US" dirty="0"/>
              <a:t>比赛冠军，</a:t>
            </a:r>
            <a:r>
              <a:rPr lang="en-US" altLang="zh-CN" dirty="0"/>
              <a:t>Top5</a:t>
            </a:r>
            <a:r>
              <a:rPr lang="zh-CN" altLang="en-US" dirty="0"/>
              <a:t>错误率比第二名低了</a:t>
            </a:r>
            <a:r>
              <a:rPr lang="en-US" altLang="zh-CN" dirty="0"/>
              <a:t>81.9%</a:t>
            </a:r>
            <a:r>
              <a:rPr lang="zh-CN" altLang="en-US" dirty="0"/>
              <a:t>，是的深度神经网络受到极大关注，一系列更先进、精度更高的深度学习算法，</a:t>
            </a:r>
            <a:r>
              <a:rPr lang="en-US" altLang="zh-CN" dirty="0"/>
              <a:t>VGG</a:t>
            </a:r>
            <a:r>
              <a:rPr lang="zh-CN" altLang="en-US" dirty="0"/>
              <a:t>、</a:t>
            </a:r>
            <a:r>
              <a:rPr lang="en-US" altLang="zh-CN" dirty="0" err="1"/>
              <a:t>ResNet</a:t>
            </a:r>
            <a:r>
              <a:rPr lang="zh-CN" altLang="en-US" dirty="0"/>
              <a:t>等在图像识别、语音识别等方面达到了先进水平，甚至在特定应用（围棋等）上超过了人类。</a:t>
            </a:r>
            <a:endParaRPr lang="en-US" altLang="zh-CN"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13</a:t>
            </a:fld>
            <a:endParaRPr lang="zh-CN" altLang="en-US"/>
          </a:p>
        </p:txBody>
      </p:sp>
    </p:spTree>
    <p:extLst>
      <p:ext uri="{BB962C8B-B14F-4D97-AF65-F5344CB8AC3E}">
        <p14:creationId xmlns:p14="http://schemas.microsoft.com/office/powerpoint/2010/main" val="2880885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人工神经元网络受生物神经元的启发。在生物学领域，人的大脑基于近千亿个神经元细胞连接组成的网络，赋予人类思考的能力。一个神经元细胞包括细胞体和突起两个部分，突起又分为轴突和树突。</a:t>
            </a:r>
            <a:r>
              <a:rPr lang="zh-CN" altLang="en-US" sz="1200" dirty="0">
                <a:solidFill>
                  <a:srgbClr val="2F2F2F"/>
                </a:solidFill>
                <a:latin typeface="微软雅黑 Light" panose="020B0502040204020203" pitchFamily="34" charset="-122"/>
                <a:ea typeface="微软雅黑 Light" panose="020B0502040204020203" pitchFamily="34" charset="-122"/>
              </a:rPr>
              <a:t>一个生物神经元有多个树突（接受传入信息）；有一条轴突，轴突尾端有许多轴突末梢（给其他多个神经元传递信息）。轴突末梢跟其它生物神经元的树突产生连接的位置叫做“突触”，有电突触和化学突触，进行信息的传递。</a:t>
            </a:r>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14</a:t>
            </a:fld>
            <a:endParaRPr lang="zh-CN" altLang="en-US"/>
          </a:p>
        </p:txBody>
      </p:sp>
    </p:spTree>
    <p:extLst>
      <p:ext uri="{BB962C8B-B14F-4D97-AF65-F5344CB8AC3E}">
        <p14:creationId xmlns:p14="http://schemas.microsoft.com/office/powerpoint/2010/main" val="2546463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人工神经元网络借鉴了生物神经元的一些特性，但又进行了大幅度的抽象简化，把每一个细胞体的输出、每个突触强度都抽象成了一个数字，对神经元的输入进行加权汇总之后，通过一个非线性函数得到该神经元的输出。现在生物神经元与人工神经元已经有了很大的区别，类似于老鼠与米老鼠。</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15</a:t>
            </a:fld>
            <a:endParaRPr lang="zh-CN" altLang="en-US"/>
          </a:p>
        </p:txBody>
      </p:sp>
    </p:spTree>
    <p:extLst>
      <p:ext uri="{BB962C8B-B14F-4D97-AF65-F5344CB8AC3E}">
        <p14:creationId xmlns:p14="http://schemas.microsoft.com/office/powerpoint/2010/main" val="3286991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16</a:t>
            </a:fld>
            <a:endParaRPr lang="zh-CN" altLang="en-US"/>
          </a:p>
        </p:txBody>
      </p:sp>
    </p:spTree>
    <p:extLst>
      <p:ext uri="{BB962C8B-B14F-4D97-AF65-F5344CB8AC3E}">
        <p14:creationId xmlns:p14="http://schemas.microsoft.com/office/powerpoint/2010/main" val="665459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那么，接下来，我们介绍一个最简单的人工神经网络，感知机模型，只有一个神经元的单层神经网络，可以完成简单的线性分类任务。感知机模型</a:t>
            </a:r>
            <a:r>
              <a:rPr lang="en-US" altLang="zh-CN" dirty="0"/>
              <a:t>f(x)</a:t>
            </a:r>
            <a:r>
              <a:rPr lang="zh-CN" altLang="en-US" dirty="0"/>
              <a:t>，其训练的目标是找到一个超平面（</a:t>
            </a:r>
            <a:r>
              <a:rPr lang="en-US" altLang="zh-CN" dirty="0" err="1"/>
              <a:t>wx+b</a:t>
            </a:r>
            <a:r>
              <a:rPr lang="en-US" altLang="zh-CN" dirty="0"/>
              <a:t>=0</a:t>
            </a:r>
            <a:r>
              <a:rPr lang="zh-CN" altLang="en-US" dirty="0"/>
              <a:t>），将线性可分的数据集中的所有样本点正确的分为两类。超平面是</a:t>
            </a:r>
            <a:r>
              <a:rPr lang="en-US" altLang="zh-CN" dirty="0"/>
              <a:t>N</a:t>
            </a:r>
            <a:r>
              <a:rPr lang="zh-CN" altLang="en-US" dirty="0"/>
              <a:t>维线性空间中维度为</a:t>
            </a:r>
            <a:r>
              <a:rPr lang="en-US" altLang="zh-CN" dirty="0"/>
              <a:t>N-1</a:t>
            </a:r>
            <a:r>
              <a:rPr lang="zh-CN" altLang="en-US" dirty="0"/>
              <a:t>的子空间，比如二维空间的超平面是一条直线，三维空间的超平面是一个二维平面，四维空间的超平面是一个三维体。为了找到这么一个超平面，需要找出模型参数</a:t>
            </a:r>
            <a:r>
              <a:rPr lang="en-US" altLang="zh-CN" dirty="0"/>
              <a:t>w</a:t>
            </a:r>
            <a:r>
              <a:rPr lang="zh-CN" altLang="en-US" dirty="0"/>
              <a:t>和</a:t>
            </a:r>
            <a:r>
              <a:rPr lang="en-US" altLang="zh-CN" dirty="0"/>
              <a:t>b</a:t>
            </a:r>
            <a:r>
              <a:rPr lang="zh-CN" altLang="en-US" dirty="0"/>
              <a:t>。相比于线性回归，感知机模型增加了激活函数</a:t>
            </a:r>
            <a:r>
              <a:rPr lang="en-US" altLang="zh-CN" dirty="0"/>
              <a:t>sign(x)</a:t>
            </a:r>
            <a:r>
              <a:rPr lang="zh-CN" altLang="en-US" dirty="0"/>
              <a:t>的计算，增加了求解参数的复杂性。线性激活函数已不常用，后面我们会详细的介绍现有的激活函数</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17</a:t>
            </a:fld>
            <a:endParaRPr lang="zh-CN" altLang="en-US"/>
          </a:p>
        </p:txBody>
      </p:sp>
    </p:spTree>
    <p:extLst>
      <p:ext uri="{BB962C8B-B14F-4D97-AF65-F5344CB8AC3E}">
        <p14:creationId xmlns:p14="http://schemas.microsoft.com/office/powerpoint/2010/main" val="1167987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那么，接下来，我们介绍一个最简单的人工神经网络，感知机模型，只有一个神经元的单层神经网络，可以完成简单的线性分类任务。感知机模型</a:t>
            </a:r>
            <a:r>
              <a:rPr lang="en-US" altLang="zh-CN" dirty="0"/>
              <a:t>f(x)</a:t>
            </a:r>
            <a:r>
              <a:rPr lang="zh-CN" altLang="en-US" dirty="0"/>
              <a:t>，其训练的目标是找到一个超平面（</a:t>
            </a:r>
            <a:r>
              <a:rPr lang="en-US" altLang="zh-CN" dirty="0" err="1"/>
              <a:t>wx+b</a:t>
            </a:r>
            <a:r>
              <a:rPr lang="en-US" altLang="zh-CN" dirty="0"/>
              <a:t>=0</a:t>
            </a:r>
            <a:r>
              <a:rPr lang="zh-CN" altLang="en-US" dirty="0"/>
              <a:t>），将线性可分的数据集中的所有样本点正确的分为两类。超平面是</a:t>
            </a:r>
            <a:r>
              <a:rPr lang="en-US" altLang="zh-CN" dirty="0"/>
              <a:t>N</a:t>
            </a:r>
            <a:r>
              <a:rPr lang="zh-CN" altLang="en-US" dirty="0"/>
              <a:t>维线性空间中维度为</a:t>
            </a:r>
            <a:r>
              <a:rPr lang="en-US" altLang="zh-CN" dirty="0"/>
              <a:t>N-1</a:t>
            </a:r>
            <a:r>
              <a:rPr lang="zh-CN" altLang="en-US" dirty="0"/>
              <a:t>的子空间，比如二维空间的超平面是一条直线，三维空间的超平面是一个二维平面，四维空间的超平面是一个三维体。为了找到这么一个超平面，需要找出模型参数</a:t>
            </a:r>
            <a:r>
              <a:rPr lang="en-US" altLang="zh-CN" dirty="0"/>
              <a:t>w</a:t>
            </a:r>
            <a:r>
              <a:rPr lang="zh-CN" altLang="en-US" dirty="0"/>
              <a:t>和</a:t>
            </a:r>
            <a:r>
              <a:rPr lang="en-US" altLang="zh-CN" dirty="0"/>
              <a:t>b</a:t>
            </a:r>
            <a:r>
              <a:rPr lang="zh-CN" altLang="en-US" dirty="0"/>
              <a:t>。相比于线性回归，感知机模型增加了激活函数</a:t>
            </a:r>
            <a:r>
              <a:rPr lang="en-US" altLang="zh-CN" dirty="0"/>
              <a:t>sign(x)</a:t>
            </a:r>
            <a:r>
              <a:rPr lang="zh-CN" altLang="en-US" dirty="0"/>
              <a:t>的计算，增加了求解参数的复杂性。线性激活函数已不常用，后面我们会详细的介绍现有的激活函数</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18</a:t>
            </a:fld>
            <a:endParaRPr lang="zh-CN" altLang="en-US"/>
          </a:p>
        </p:txBody>
      </p:sp>
    </p:spTree>
    <p:extLst>
      <p:ext uri="{BB962C8B-B14F-4D97-AF65-F5344CB8AC3E}">
        <p14:creationId xmlns:p14="http://schemas.microsoft.com/office/powerpoint/2010/main" val="1940426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感知机模型训练首先要找到一个合适的损失函数，然后通过最小化损失函数来找到最优的超平面，即找到最优的超平面参数</a:t>
            </a:r>
            <a:r>
              <a:rPr lang="en-US" altLang="zh-CN" dirty="0"/>
              <a:t>w</a:t>
            </a:r>
            <a:r>
              <a:rPr lang="zh-CN" altLang="en-US" dirty="0"/>
              <a:t>和</a:t>
            </a:r>
            <a:r>
              <a:rPr lang="en-US" altLang="zh-CN" dirty="0"/>
              <a:t>b</a:t>
            </a:r>
            <a:r>
              <a:rPr lang="zh-CN" altLang="en-US" dirty="0"/>
              <a:t>。</a:t>
            </a:r>
            <a:endParaRPr lang="en-US" altLang="zh-CN" dirty="0"/>
          </a:p>
          <a:p>
            <a:r>
              <a:rPr lang="zh-CN" altLang="en-US" dirty="0"/>
              <a:t>超平面</a:t>
            </a:r>
            <a:r>
              <a:rPr lang="en-US" altLang="zh-CN" dirty="0"/>
              <a:t>S</a:t>
            </a:r>
            <a:r>
              <a:rPr lang="zh-CN" altLang="en-US" dirty="0"/>
              <a:t>需要将两类点区分开，即使分不开，也要与分错的点比较接近。因此，损失函数可以定义为误分类的点到超平面</a:t>
            </a:r>
            <a:r>
              <a:rPr lang="en-US" altLang="zh-CN" dirty="0"/>
              <a:t>S</a:t>
            </a:r>
            <a:r>
              <a:rPr lang="zh-CN" altLang="en-US" dirty="0"/>
              <a:t>的总距离。距离应该怎么算？距离只要满足非负、自反（</a:t>
            </a:r>
            <a:r>
              <a:rPr lang="en-US" altLang="zh-CN" dirty="0"/>
              <a:t>A-B=B-A</a:t>
            </a:r>
            <a:r>
              <a:rPr lang="zh-CN" altLang="en-US" dirty="0"/>
              <a:t>）、三角不等式</a:t>
            </a:r>
            <a:r>
              <a:rPr lang="en-US" altLang="zh-CN" dirty="0"/>
              <a:t>(A+B&gt;C)</a:t>
            </a:r>
            <a:r>
              <a:rPr lang="zh-CN" altLang="en-US" dirty="0"/>
              <a:t>。</a:t>
            </a:r>
            <a:endParaRPr lang="en-US" altLang="zh-CN" dirty="0"/>
          </a:p>
          <a:p>
            <a:r>
              <a:rPr lang="zh-CN" altLang="en-US" dirty="0"/>
              <a:t>距离为欧式距离。对于误分类的点，预测出来的值与实际值在超平面的位置相反，所以预测值与实际值的乘积小于</a:t>
            </a:r>
            <a:r>
              <a:rPr lang="en-US" altLang="zh-CN" dirty="0"/>
              <a:t>0</a:t>
            </a:r>
            <a:r>
              <a:rPr lang="zh-CN" altLang="en-US" dirty="0"/>
              <a:t>。由于</a:t>
            </a:r>
            <a:r>
              <a:rPr lang="en-US" altLang="zh-CN" dirty="0"/>
              <a:t>||w||</a:t>
            </a:r>
            <a:r>
              <a:rPr lang="zh-CN" altLang="en-US" dirty="0"/>
              <a:t>是一个常数，可以去掉。</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19</a:t>
            </a:fld>
            <a:endParaRPr lang="zh-CN" altLang="en-US"/>
          </a:p>
        </p:txBody>
      </p:sp>
    </p:spTree>
    <p:extLst>
      <p:ext uri="{BB962C8B-B14F-4D97-AF65-F5344CB8AC3E}">
        <p14:creationId xmlns:p14="http://schemas.microsoft.com/office/powerpoint/2010/main" val="22613831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感知机模型训练的目标是最小化损失函数。当损失函数足够小时，所有误分类点，要么没有，要么离超平面足够近。可以采用梯度下降法（所有样本一起计算梯度），也可以用随机梯度下降法，随机选取误分类样本，以学习率为步长，对参数进行迭代更新，是损失函数不断减小直至为</a:t>
            </a:r>
            <a:r>
              <a:rPr lang="en-US" altLang="zh-CN" dirty="0"/>
              <a:t>0</a:t>
            </a:r>
            <a:r>
              <a:rPr lang="zh-CN" altLang="en-US" dirty="0"/>
              <a:t>，即使最终不为</a:t>
            </a:r>
            <a:r>
              <a:rPr lang="en-US" altLang="zh-CN" dirty="0"/>
              <a:t>0</a:t>
            </a:r>
            <a:r>
              <a:rPr lang="zh-CN" altLang="en-US" dirty="0"/>
              <a:t>，也会逼近于</a:t>
            </a:r>
            <a:r>
              <a:rPr lang="en-US" altLang="zh-CN" dirty="0"/>
              <a:t>0</a:t>
            </a:r>
            <a:r>
              <a:rPr lang="zh-CN" altLang="en-US" dirty="0"/>
              <a:t>。</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20</a:t>
            </a:fld>
            <a:endParaRPr lang="zh-CN" altLang="en-US"/>
          </a:p>
        </p:txBody>
      </p:sp>
    </p:spTree>
    <p:extLst>
      <p:ext uri="{BB962C8B-B14F-4D97-AF65-F5344CB8AC3E}">
        <p14:creationId xmlns:p14="http://schemas.microsoft.com/office/powerpoint/2010/main" val="4216290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20</a:t>
            </a:r>
            <a:r>
              <a:rPr lang="zh-CN" altLang="en-US" dirty="0"/>
              <a:t>世纪八九十年代，常用的一种两层神经网络，也称为多层感知机</a:t>
            </a:r>
            <a:r>
              <a:rPr lang="en-US" altLang="zh-CN" dirty="0"/>
              <a:t>MLP</a:t>
            </a:r>
            <a:r>
              <a:rPr lang="zh-CN" altLang="en-US" dirty="0"/>
              <a:t>。由一组输入、一个隐层和一个输出层组成，由于该多层感知机包含两层神经网络，其参数比上一节的感知机增加了很多。</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21</a:t>
            </a:fld>
            <a:endParaRPr lang="zh-CN" altLang="en-US"/>
          </a:p>
        </p:txBody>
      </p:sp>
    </p:spTree>
    <p:extLst>
      <p:ext uri="{BB962C8B-B14F-4D97-AF65-F5344CB8AC3E}">
        <p14:creationId xmlns:p14="http://schemas.microsoft.com/office/powerpoint/2010/main" val="33425040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22</a:t>
            </a:fld>
            <a:endParaRPr lang="zh-CN" altLang="en-US"/>
          </a:p>
        </p:txBody>
      </p:sp>
    </p:spTree>
    <p:extLst>
      <p:ext uri="{BB962C8B-B14F-4D97-AF65-F5344CB8AC3E}">
        <p14:creationId xmlns:p14="http://schemas.microsoft.com/office/powerpoint/2010/main" val="38703946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23</a:t>
            </a:fld>
            <a:endParaRPr lang="zh-CN" altLang="en-US"/>
          </a:p>
        </p:txBody>
      </p:sp>
    </p:spTree>
    <p:extLst>
      <p:ext uri="{BB962C8B-B14F-4D97-AF65-F5344CB8AC3E}">
        <p14:creationId xmlns:p14="http://schemas.microsoft.com/office/powerpoint/2010/main" val="7016053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24</a:t>
            </a:fld>
            <a:endParaRPr lang="zh-CN" altLang="en-US"/>
          </a:p>
        </p:txBody>
      </p:sp>
    </p:spTree>
    <p:extLst>
      <p:ext uri="{BB962C8B-B14F-4D97-AF65-F5344CB8AC3E}">
        <p14:creationId xmlns:p14="http://schemas.microsoft.com/office/powerpoint/2010/main" val="30894900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多层感知机的模型参数包括</a:t>
            </a:r>
            <a:r>
              <a:rPr lang="en-US" altLang="zh-CN" dirty="0"/>
              <a:t>2</a:t>
            </a:r>
            <a:r>
              <a:rPr lang="zh-CN" altLang="en-US" dirty="0"/>
              <a:t>个权重矩阵和</a:t>
            </a:r>
            <a:r>
              <a:rPr lang="en-US" altLang="zh-CN" dirty="0"/>
              <a:t>2</a:t>
            </a:r>
            <a:r>
              <a:rPr lang="zh-CN" altLang="en-US" dirty="0"/>
              <a:t>个偏置，第一个权重矩阵有</a:t>
            </a:r>
            <a:r>
              <a:rPr lang="en-US" altLang="zh-CN" dirty="0"/>
              <a:t>6</a:t>
            </a:r>
            <a:r>
              <a:rPr lang="zh-CN" altLang="en-US" dirty="0"/>
              <a:t>个变量，</a:t>
            </a:r>
            <a:r>
              <a:rPr lang="en-US" altLang="zh-CN" dirty="0"/>
              <a:t>1</a:t>
            </a:r>
            <a:r>
              <a:rPr lang="zh-CN" altLang="en-US" dirty="0"/>
              <a:t>个偏置；第二个权重矩阵有</a:t>
            </a:r>
            <a:r>
              <a:rPr lang="en-US" altLang="zh-CN" dirty="0"/>
              <a:t>4</a:t>
            </a:r>
            <a:r>
              <a:rPr lang="zh-CN" altLang="en-US" dirty="0"/>
              <a:t>个变量，</a:t>
            </a:r>
            <a:r>
              <a:rPr lang="en-US" altLang="zh-CN" dirty="0"/>
              <a:t>1</a:t>
            </a:r>
            <a:r>
              <a:rPr lang="zh-CN" altLang="en-US" dirty="0"/>
              <a:t>个偏置；总共</a:t>
            </a:r>
            <a:r>
              <a:rPr lang="en-US" altLang="zh-CN" dirty="0"/>
              <a:t>12</a:t>
            </a:r>
            <a:r>
              <a:rPr lang="zh-CN" altLang="en-US" dirty="0"/>
              <a:t>个变量需要训练，因此，训练所需的样本量不是太多，训练速度很快。</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25</a:t>
            </a:fld>
            <a:endParaRPr lang="zh-CN" altLang="en-US"/>
          </a:p>
        </p:txBody>
      </p:sp>
    </p:spTree>
    <p:extLst>
      <p:ext uri="{BB962C8B-B14F-4D97-AF65-F5344CB8AC3E}">
        <p14:creationId xmlns:p14="http://schemas.microsoft.com/office/powerpoint/2010/main" val="33270903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只有一个隐层的多层感知机是最经典的浅层神经网络。浅层神经网络的问题是结构太简单，对复杂函数的表示能力有限。用浅层神经网络去识别上千类物体是不现实的。但是上世纪八九十年代的研究者都在研究浅层网络，而不是深层网络，主要有两方面的原因，一是理论上证明了两层神经网络足以拟合任意函数，但这个证明存在一定的误导性，因为拟合任意函数时可能会有很大的误差，而且每一层的神经元数量可能非常多。另外，没有足够的数据和计算能力来训练深层神经网络。几十层、几百层的神经网络，参数数量可能几十亿个，需要大量的样本和强大的机器来训练。</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26</a:t>
            </a:fld>
            <a:endParaRPr lang="zh-CN" altLang="en-US"/>
          </a:p>
        </p:txBody>
      </p:sp>
    </p:spTree>
    <p:extLst>
      <p:ext uri="{BB962C8B-B14F-4D97-AF65-F5344CB8AC3E}">
        <p14:creationId xmlns:p14="http://schemas.microsoft.com/office/powerpoint/2010/main" val="10925016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深度学习的隐层可以超过</a:t>
            </a:r>
            <a:r>
              <a:rPr lang="en-US" altLang="zh-CN" dirty="0"/>
              <a:t>1</a:t>
            </a:r>
            <a:r>
              <a:rPr lang="zh-CN" altLang="en-US" dirty="0"/>
              <a:t>层。</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27</a:t>
            </a:fld>
            <a:endParaRPr lang="zh-CN" altLang="en-US"/>
          </a:p>
        </p:txBody>
      </p:sp>
    </p:spTree>
    <p:extLst>
      <p:ext uri="{BB962C8B-B14F-4D97-AF65-F5344CB8AC3E}">
        <p14:creationId xmlns:p14="http://schemas.microsoft.com/office/powerpoint/2010/main" val="4158294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具有两个隐层的深度学习网络。进行逐层推导计算预测值，从输入计算第一个隐层，从第一个隐层计算第二个隐层，从第二个隐层计算出输出层。</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28</a:t>
            </a:fld>
            <a:endParaRPr lang="zh-CN" altLang="en-US"/>
          </a:p>
        </p:txBody>
      </p:sp>
    </p:spTree>
    <p:extLst>
      <p:ext uri="{BB962C8B-B14F-4D97-AF65-F5344CB8AC3E}">
        <p14:creationId xmlns:p14="http://schemas.microsoft.com/office/powerpoint/2010/main" val="18642294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随着层数的增加，神经网络的参数也显著增多。这个三层神经网络的参数公有</a:t>
            </a:r>
            <a:r>
              <a:rPr lang="en-US" altLang="zh-CN" dirty="0"/>
              <a:t>24</a:t>
            </a:r>
            <a:r>
              <a:rPr lang="zh-CN" altLang="en-US" dirty="0"/>
              <a:t>个，包括第一层的</a:t>
            </a:r>
            <a:r>
              <a:rPr lang="en-US" altLang="zh-CN" dirty="0"/>
              <a:t>6</a:t>
            </a:r>
            <a:r>
              <a:rPr lang="zh-CN" altLang="en-US" dirty="0"/>
              <a:t>个权重和</a:t>
            </a:r>
            <a:r>
              <a:rPr lang="en-US" altLang="zh-CN" dirty="0"/>
              <a:t>1</a:t>
            </a:r>
            <a:r>
              <a:rPr lang="zh-CN" altLang="en-US" dirty="0"/>
              <a:t>个偏置，第二层的</a:t>
            </a:r>
            <a:r>
              <a:rPr lang="en-US" altLang="zh-CN" dirty="0"/>
              <a:t>6</a:t>
            </a:r>
            <a:r>
              <a:rPr lang="zh-CN" altLang="en-US" dirty="0"/>
              <a:t>个权重和</a:t>
            </a:r>
            <a:r>
              <a:rPr lang="en-US" altLang="zh-CN" dirty="0"/>
              <a:t>1</a:t>
            </a:r>
            <a:r>
              <a:rPr lang="zh-CN" altLang="en-US" dirty="0"/>
              <a:t>个偏置，第三层的</a:t>
            </a:r>
            <a:r>
              <a:rPr lang="en-US" altLang="zh-CN" dirty="0"/>
              <a:t>9</a:t>
            </a:r>
            <a:r>
              <a:rPr lang="zh-CN" altLang="en-US" dirty="0"/>
              <a:t>个权重和</a:t>
            </a:r>
            <a:r>
              <a:rPr lang="en-US" altLang="zh-CN" dirty="0"/>
              <a:t>1</a:t>
            </a:r>
            <a:r>
              <a:rPr lang="zh-CN" altLang="en-US" dirty="0"/>
              <a:t>个偏置。而</a:t>
            </a:r>
            <a:r>
              <a:rPr lang="en-US" altLang="zh-CN" dirty="0"/>
              <a:t>2012</a:t>
            </a:r>
            <a:r>
              <a:rPr lang="zh-CN" altLang="en-US" dirty="0"/>
              <a:t>年</a:t>
            </a:r>
            <a:r>
              <a:rPr lang="en-US" altLang="zh-CN" dirty="0" err="1"/>
              <a:t>AlexNet</a:t>
            </a:r>
            <a:r>
              <a:rPr lang="zh-CN" altLang="en-US" dirty="0"/>
              <a:t>有六千万个参数，现有的一些大型神经网络有上百亿甚至上千亿个参数。</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29</a:t>
            </a:fld>
            <a:endParaRPr lang="zh-CN" altLang="en-US"/>
          </a:p>
        </p:txBody>
      </p:sp>
    </p:spTree>
    <p:extLst>
      <p:ext uri="{BB962C8B-B14F-4D97-AF65-F5344CB8AC3E}">
        <p14:creationId xmlns:p14="http://schemas.microsoft.com/office/powerpoint/2010/main" val="10777928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深度学习的工作原理，通过对信息的多层抽象和加工来完成复杂的功能。在不同层上抽取不同的特征，第一层，通过卷积提取出局部比较简单的特征，比如对角线；第二层提取一些更大范围更复杂的特征，比如条纹状的结构；第三层提取更大范围更复杂的特征，比如蜂窝网格的结构，最后再逐层细化的抽取和加工，可以完成很多复杂的功能。</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30</a:t>
            </a:fld>
            <a:endParaRPr lang="zh-CN" altLang="en-US"/>
          </a:p>
        </p:txBody>
      </p:sp>
    </p:spTree>
    <p:extLst>
      <p:ext uri="{BB962C8B-B14F-4D97-AF65-F5344CB8AC3E}">
        <p14:creationId xmlns:p14="http://schemas.microsoft.com/office/powerpoint/2010/main" val="17377646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后面，第三章，我们会详细学习深度神经网络的内容，到时候再详细讲解。</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31</a:t>
            </a:fld>
            <a:endParaRPr lang="zh-CN" altLang="en-US"/>
          </a:p>
        </p:txBody>
      </p:sp>
    </p:spTree>
    <p:extLst>
      <p:ext uri="{BB962C8B-B14F-4D97-AF65-F5344CB8AC3E}">
        <p14:creationId xmlns:p14="http://schemas.microsoft.com/office/powerpoint/2010/main" val="10990053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32</a:t>
            </a:fld>
            <a:endParaRPr lang="zh-CN" altLang="en-US"/>
          </a:p>
        </p:txBody>
      </p:sp>
    </p:spTree>
    <p:extLst>
      <p:ext uri="{BB962C8B-B14F-4D97-AF65-F5344CB8AC3E}">
        <p14:creationId xmlns:p14="http://schemas.microsoft.com/office/powerpoint/2010/main" val="29212053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神经网络的训练是通过调整隐层和输出层的参数，使得神经网络计算出来的结果与真实结果尽量接近。</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33</a:t>
            </a:fld>
            <a:endParaRPr lang="zh-CN" altLang="en-US"/>
          </a:p>
        </p:txBody>
      </p:sp>
    </p:spTree>
    <p:extLst>
      <p:ext uri="{BB962C8B-B14F-4D97-AF65-F5344CB8AC3E}">
        <p14:creationId xmlns:p14="http://schemas.microsoft.com/office/powerpoint/2010/main" val="24479906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正向计算的基本原理是：基于训练好的神经网络模型，输入目标通过权重和激活函数计算出隐层，隐层通过下一级的权重和激活函数得到下一个隐层，逐层迭代，将输入的特征向量从低级特征逐步提取为抽象特征，最终输出目标分类结果。</a:t>
            </a:r>
            <a:endParaRPr lang="en-US" altLang="zh-CN" dirty="0"/>
          </a:p>
          <a:p>
            <a:r>
              <a:rPr lang="zh-CN" altLang="en-US" dirty="0"/>
              <a:t>反向传播的基本原理是：首先根据正向传播结果和真实值计算出损失函数，然后采用梯度下降法，通过链式法则计算出损失函数对每个权重和偏置的偏导，即权重或偏置对损失的影响，最后更新权重和偏置。</a:t>
            </a:r>
            <a:endParaRPr lang="en-US" altLang="zh-CN" dirty="0"/>
          </a:p>
          <a:p>
            <a:r>
              <a:rPr lang="zh-CN" altLang="en-US" dirty="0"/>
              <a:t>每一个参数对损失函数有多大影响</a:t>
            </a:r>
            <a:endParaRPr lang="en-US" altLang="zh-CN"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34</a:t>
            </a:fld>
            <a:endParaRPr lang="zh-CN" altLang="en-US"/>
          </a:p>
        </p:txBody>
      </p:sp>
    </p:spTree>
    <p:extLst>
      <p:ext uri="{BB962C8B-B14F-4D97-AF65-F5344CB8AC3E}">
        <p14:creationId xmlns:p14="http://schemas.microsoft.com/office/powerpoint/2010/main" val="36626114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35</a:t>
            </a:fld>
            <a:endParaRPr lang="zh-CN" altLang="en-US"/>
          </a:p>
        </p:txBody>
      </p:sp>
    </p:spTree>
    <p:extLst>
      <p:ext uri="{BB962C8B-B14F-4D97-AF65-F5344CB8AC3E}">
        <p14:creationId xmlns:p14="http://schemas.microsoft.com/office/powerpoint/2010/main" val="15199861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36</a:t>
            </a:fld>
            <a:endParaRPr lang="zh-CN" altLang="en-US"/>
          </a:p>
        </p:txBody>
      </p:sp>
    </p:spTree>
    <p:extLst>
      <p:ext uri="{BB962C8B-B14F-4D97-AF65-F5344CB8AC3E}">
        <p14:creationId xmlns:p14="http://schemas.microsoft.com/office/powerpoint/2010/main" val="29202010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37</a:t>
            </a:fld>
            <a:endParaRPr lang="zh-CN" altLang="en-US"/>
          </a:p>
        </p:txBody>
      </p:sp>
    </p:spTree>
    <p:extLst>
      <p:ext uri="{BB962C8B-B14F-4D97-AF65-F5344CB8AC3E}">
        <p14:creationId xmlns:p14="http://schemas.microsoft.com/office/powerpoint/2010/main" val="15021683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38</a:t>
            </a:fld>
            <a:endParaRPr lang="zh-CN" altLang="en-US"/>
          </a:p>
        </p:txBody>
      </p:sp>
    </p:spTree>
    <p:extLst>
      <p:ext uri="{BB962C8B-B14F-4D97-AF65-F5344CB8AC3E}">
        <p14:creationId xmlns:p14="http://schemas.microsoft.com/office/powerpoint/2010/main" val="3234705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39</a:t>
            </a:fld>
            <a:endParaRPr lang="zh-CN" altLang="en-US"/>
          </a:p>
        </p:txBody>
      </p:sp>
    </p:spTree>
    <p:extLst>
      <p:ext uri="{BB962C8B-B14F-4D97-AF65-F5344CB8AC3E}">
        <p14:creationId xmlns:p14="http://schemas.microsoft.com/office/powerpoint/2010/main" val="32448818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采用均分误差作为损失函数。由于权重参数是随机初始化的，因此损失函数值比较大。</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40</a:t>
            </a:fld>
            <a:endParaRPr lang="zh-CN" altLang="en-US"/>
          </a:p>
        </p:txBody>
      </p:sp>
    </p:spTree>
    <p:extLst>
      <p:ext uri="{BB962C8B-B14F-4D97-AF65-F5344CB8AC3E}">
        <p14:creationId xmlns:p14="http://schemas.microsoft.com/office/powerpoint/2010/main" val="3671557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41</a:t>
            </a:fld>
            <a:endParaRPr lang="zh-CN" altLang="en-US"/>
          </a:p>
        </p:txBody>
      </p:sp>
    </p:spTree>
    <p:extLst>
      <p:ext uri="{BB962C8B-B14F-4D97-AF65-F5344CB8AC3E}">
        <p14:creationId xmlns:p14="http://schemas.microsoft.com/office/powerpoint/2010/main" val="14739240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假设步长或者学习率为</a:t>
            </a:r>
            <a:r>
              <a:rPr lang="en-US" altLang="zh-CN" dirty="0"/>
              <a:t>1</a:t>
            </a:r>
            <a:r>
              <a:rPr lang="zh-CN" altLang="en-US" dirty="0"/>
              <a:t>。从输入到隐层、从隐层到输出的权重都可以用同样的链式法则去计算和更新。</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42</a:t>
            </a:fld>
            <a:endParaRPr lang="zh-CN" altLang="en-US"/>
          </a:p>
        </p:txBody>
      </p:sp>
    </p:spTree>
    <p:extLst>
      <p:ext uri="{BB962C8B-B14F-4D97-AF65-F5344CB8AC3E}">
        <p14:creationId xmlns:p14="http://schemas.microsoft.com/office/powerpoint/2010/main" val="30414118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反向传播就是要将神经网络的输出误差，一级一级地传播到神经网络的输入。在该过程中，需要计算每一个权重对总损失函数的影响，即损失函数对每个权重的偏导。根据权重对误差的影响，再乘以步长，就可以更新整个神经网络的权重。当一次反向传播完成之后，网络的参数模型就可以得到更新。更新一轮之后，接着输入下一个样本，算出误差后又可以更新一轮，再输入一个样本，又来一轮更新，通过不断地输入新的样本迭代地更新模型参数，就可以缩小计算值与真实值之间的误差，最终完成神经网络的训练。</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43</a:t>
            </a:fld>
            <a:endParaRPr lang="zh-CN" altLang="en-US"/>
          </a:p>
        </p:txBody>
      </p:sp>
    </p:spTree>
    <p:extLst>
      <p:ext uri="{BB962C8B-B14F-4D97-AF65-F5344CB8AC3E}">
        <p14:creationId xmlns:p14="http://schemas.microsoft.com/office/powerpoint/2010/main" val="2842674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44</a:t>
            </a:fld>
            <a:endParaRPr lang="zh-CN" altLang="en-US"/>
          </a:p>
        </p:txBody>
      </p:sp>
    </p:spTree>
    <p:extLst>
      <p:ext uri="{BB962C8B-B14F-4D97-AF65-F5344CB8AC3E}">
        <p14:creationId xmlns:p14="http://schemas.microsoft.com/office/powerpoint/2010/main" val="38833563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通过不断迭代更新模型参数可以减少神经网络的预测误差，使得神经网络的输出与预期输出一致，在理论上是可行的。但在实际的神经网络训练中，难免出现设计出来的神经网络经过长时间训练，精度依然很低、甚至不收敛的情况，应该怎么办呢？常用的方法包括调整网络拓扑结构、选择合适的激活函数以及选择合适的损失函数。</a:t>
            </a:r>
          </a:p>
          <a:p>
            <a:r>
              <a:rPr lang="zh-CN" altLang="en-US" dirty="0"/>
              <a:t>神经网络的结构一般为：输入层、隐藏层和输出层。当给定训练样本后，神经网络的输入层和输出层的节点数就确定下来了，其中输入层，输出层。但是隐藏层神经元的个数以及隐藏层的数量是可以调整的。</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45</a:t>
            </a:fld>
            <a:endParaRPr lang="zh-CN" altLang="en-US"/>
          </a:p>
        </p:txBody>
      </p:sp>
    </p:spTree>
    <p:extLst>
      <p:ext uri="{BB962C8B-B14F-4D97-AF65-F5344CB8AC3E}">
        <p14:creationId xmlns:p14="http://schemas.microsoft.com/office/powerpoint/2010/main" val="6215659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46</a:t>
            </a:fld>
            <a:endParaRPr lang="zh-CN" altLang="en-US"/>
          </a:p>
        </p:txBody>
      </p:sp>
    </p:spTree>
    <p:extLst>
      <p:ext uri="{BB962C8B-B14F-4D97-AF65-F5344CB8AC3E}">
        <p14:creationId xmlns:p14="http://schemas.microsoft.com/office/powerpoint/2010/main" val="15246293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激活函数可以为神经网络提供非线性特征。</a:t>
            </a:r>
            <a:r>
              <a:rPr lang="en-US" altLang="zh-CN" dirty="0"/>
              <a:t>20</a:t>
            </a:r>
            <a:r>
              <a:rPr lang="zh-CN" altLang="en-US" dirty="0"/>
              <a:t>世纪</a:t>
            </a:r>
            <a:r>
              <a:rPr lang="en-US" altLang="zh-CN" dirty="0"/>
              <a:t>70</a:t>
            </a:r>
            <a:r>
              <a:rPr lang="zh-CN" altLang="en-US" dirty="0"/>
              <a:t>年代，神经网络研究一度陷入低谷的主要原因是：</a:t>
            </a:r>
            <a:r>
              <a:rPr lang="en-US" altLang="zh-CN" dirty="0"/>
              <a:t>M. Minsky</a:t>
            </a:r>
            <a:r>
              <a:rPr lang="zh-CN" altLang="en-US" dirty="0"/>
              <a:t>证明了当时的神经网络由于没有</a:t>
            </a:r>
            <a:r>
              <a:rPr lang="en-US" altLang="zh-CN" dirty="0"/>
              <a:t>Sigmoid</a:t>
            </a:r>
            <a:r>
              <a:rPr lang="zh-CN" altLang="en-US" dirty="0"/>
              <a:t>等非线性激活函数，无法解决非线性可分问题，例如异或问题等。非线性激活函数拯救了神经网络</a:t>
            </a:r>
          </a:p>
          <a:p>
            <a:r>
              <a:rPr lang="zh-CN" altLang="en-US" dirty="0"/>
              <a:t>在实际选择激活函数时，通常要求激活函数是可微的、输出值的范围是有限的。由于基于反向传播的神经网络训练算法使用梯度下降法来做优化训练，所以激活函数必须是可微的。激活函数的输出决定了下一层神经网络的输入，如果激活函数的输出值范围是有限的，特征表示受到有限权重的影响会更显著，基于梯度的优化方法就会更稳定。如果激活函数的输出范围是无限的，神经网络的训练速度可能会很快，但必须选择一个合适的学习率来进行调节。</a:t>
            </a:r>
          </a:p>
          <a:p>
            <a:r>
              <a:rPr lang="zh-CN" altLang="en-US" dirty="0"/>
              <a:t>常见的激活函数包括</a:t>
            </a:r>
            <a:r>
              <a:rPr lang="en-US" altLang="zh-CN" dirty="0"/>
              <a:t>Sigmoid</a:t>
            </a:r>
            <a:r>
              <a:rPr lang="zh-CN" altLang="en-US" dirty="0"/>
              <a:t>函数，</a:t>
            </a:r>
            <a:r>
              <a:rPr lang="en-US" altLang="zh-CN" dirty="0"/>
              <a:t>tanh</a:t>
            </a:r>
            <a:r>
              <a:rPr lang="zh-CN" altLang="en-US" dirty="0"/>
              <a:t>函数（双曲正切函数）、</a:t>
            </a:r>
            <a:r>
              <a:rPr lang="en-US" altLang="zh-CN" dirty="0" err="1"/>
              <a:t>ReLU</a:t>
            </a:r>
            <a:r>
              <a:rPr lang="zh-CN" altLang="en-US" dirty="0"/>
              <a:t>函数、</a:t>
            </a:r>
            <a:r>
              <a:rPr lang="en-US" altLang="zh-CN" dirty="0" err="1"/>
              <a:t>PReLU</a:t>
            </a:r>
            <a:r>
              <a:rPr lang="en-US" altLang="zh-CN" dirty="0"/>
              <a:t>/Leaky </a:t>
            </a:r>
            <a:r>
              <a:rPr lang="en-US" altLang="zh-CN" dirty="0" err="1"/>
              <a:t>ReLU</a:t>
            </a:r>
            <a:r>
              <a:rPr lang="zh-CN" altLang="en-US" dirty="0"/>
              <a:t>函数、</a:t>
            </a:r>
            <a:r>
              <a:rPr lang="en-US" altLang="zh-CN" dirty="0"/>
              <a:t>ELU</a:t>
            </a:r>
            <a:r>
              <a:rPr lang="zh-CN" altLang="en-US" dirty="0"/>
              <a:t>函数等</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47</a:t>
            </a:fld>
            <a:endParaRPr lang="zh-CN" altLang="en-US"/>
          </a:p>
        </p:txBody>
      </p:sp>
    </p:spTree>
    <p:extLst>
      <p:ext uri="{BB962C8B-B14F-4D97-AF65-F5344CB8AC3E}">
        <p14:creationId xmlns:p14="http://schemas.microsoft.com/office/powerpoint/2010/main" val="30149786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Sigmoid</a:t>
            </a:r>
            <a:r>
              <a:rPr lang="zh-CN" altLang="en-US" dirty="0"/>
              <a:t>函数是曾经最常用的激活函数。数学表达式和几何图像。可以看到，当</a:t>
            </a:r>
            <a:r>
              <a:rPr lang="en-US" altLang="zh-CN" dirty="0"/>
              <a:t>x</a:t>
            </a:r>
            <a:r>
              <a:rPr lang="zh-CN" altLang="en-US" dirty="0"/>
              <a:t>非常小时，函数值接近于</a:t>
            </a:r>
            <a:r>
              <a:rPr lang="en-US" altLang="zh-CN" dirty="0"/>
              <a:t>0</a:t>
            </a:r>
            <a:r>
              <a:rPr lang="zh-CN" altLang="en-US" dirty="0"/>
              <a:t>，当</a:t>
            </a:r>
            <a:r>
              <a:rPr lang="en-US" altLang="zh-CN" dirty="0"/>
              <a:t>x</a:t>
            </a:r>
            <a:r>
              <a:rPr lang="zh-CN" altLang="en-US" dirty="0"/>
              <a:t>非常大时，函数值接近于</a:t>
            </a:r>
            <a:r>
              <a:rPr lang="en-US" altLang="zh-CN" dirty="0"/>
              <a:t>1</a:t>
            </a:r>
            <a:r>
              <a:rPr lang="zh-CN" altLang="en-US" dirty="0"/>
              <a:t>，那么</a:t>
            </a:r>
            <a:r>
              <a:rPr lang="en-US" altLang="zh-CN" dirty="0"/>
              <a:t>Sigmoid</a:t>
            </a:r>
            <a:r>
              <a:rPr lang="zh-CN" altLang="en-US" dirty="0"/>
              <a:t>函数可以将输入的连续实值变换到（</a:t>
            </a:r>
            <a:r>
              <a:rPr lang="en-US" altLang="zh-CN" dirty="0"/>
              <a:t>0,1</a:t>
            </a:r>
            <a:r>
              <a:rPr lang="zh-CN" altLang="en-US" dirty="0"/>
              <a:t>）范围内，从而可以使神经网络中的每一层权重对应的输入都是一个固定范围内的值，所以权重的取值会更加稳定</a:t>
            </a:r>
          </a:p>
          <a:p>
            <a:r>
              <a:rPr lang="zh-CN" altLang="en-US" dirty="0"/>
              <a:t>但是，</a:t>
            </a:r>
            <a:r>
              <a:rPr lang="en-US" altLang="zh-CN" dirty="0"/>
              <a:t>Sigmoid</a:t>
            </a:r>
            <a:r>
              <a:rPr lang="zh-CN" altLang="en-US" dirty="0"/>
              <a:t>函数存在一些缺点：</a:t>
            </a:r>
            <a:r>
              <a:rPr lang="en-US" altLang="zh-CN" dirty="0"/>
              <a:t>1</a:t>
            </a:r>
            <a:r>
              <a:rPr lang="zh-CN" altLang="en-US" dirty="0"/>
              <a:t>）输出的均值不为</a:t>
            </a:r>
            <a:r>
              <a:rPr lang="en-US" altLang="zh-CN" dirty="0"/>
              <a:t>0</a:t>
            </a:r>
            <a:r>
              <a:rPr lang="zh-CN" altLang="en-US" dirty="0"/>
              <a:t>，会导致下一层输入的均值产生偏移，可能会影响神经网络的收敛性；</a:t>
            </a:r>
            <a:r>
              <a:rPr lang="en-US" altLang="zh-CN" dirty="0"/>
              <a:t>2</a:t>
            </a:r>
            <a:r>
              <a:rPr lang="zh-CN" altLang="en-US" dirty="0"/>
              <a:t>）函数中包含指数运算，通用</a:t>
            </a:r>
            <a:r>
              <a:rPr lang="en-US" altLang="zh-CN" dirty="0"/>
              <a:t>CPU</a:t>
            </a:r>
            <a:r>
              <a:rPr lang="zh-CN" altLang="en-US" dirty="0"/>
              <a:t>需要用数百条加减乘除指令才能支持该指数运算，计算效率低，硬件不友好；</a:t>
            </a:r>
            <a:r>
              <a:rPr lang="en-US" altLang="zh-CN" dirty="0"/>
              <a:t>3</a:t>
            </a:r>
            <a:r>
              <a:rPr lang="zh-CN" altLang="en-US" dirty="0"/>
              <a:t>）</a:t>
            </a:r>
            <a:r>
              <a:rPr lang="en-US" altLang="zh-CN" dirty="0"/>
              <a:t>Sigmoid</a:t>
            </a:r>
            <a:r>
              <a:rPr lang="zh-CN" altLang="en-US" dirty="0"/>
              <a:t>函数的左右两边是趋近平缓的，当输入值</a:t>
            </a:r>
            <a:r>
              <a:rPr lang="en-US" altLang="zh-CN" dirty="0"/>
              <a:t>x</a:t>
            </a:r>
            <a:r>
              <a:rPr lang="zh-CN" altLang="en-US" dirty="0"/>
              <a:t>是比较大的正数或者比较小的负数时，</a:t>
            </a:r>
            <a:r>
              <a:rPr lang="en-US" altLang="zh-CN" dirty="0"/>
              <a:t>sigmoid</a:t>
            </a:r>
            <a:r>
              <a:rPr lang="zh-CN" altLang="en-US" dirty="0"/>
              <a:t>函数提供的梯度会接近</a:t>
            </a:r>
            <a:r>
              <a:rPr lang="en-US" altLang="zh-CN" dirty="0"/>
              <a:t>0</a:t>
            </a:r>
            <a:r>
              <a:rPr lang="zh-CN" altLang="en-US" dirty="0"/>
              <a:t>，导致参数更新变得缓慢，称为</a:t>
            </a:r>
            <a:r>
              <a:rPr lang="en-US" altLang="zh-CN" dirty="0"/>
              <a:t>Sigmoid</a:t>
            </a:r>
            <a:r>
              <a:rPr lang="zh-CN" altLang="en-US" dirty="0"/>
              <a:t>的饱和性问题。另外，</a:t>
            </a:r>
            <a:r>
              <a:rPr lang="en-US" altLang="zh-CN" dirty="0"/>
              <a:t>Sigmoid</a:t>
            </a:r>
            <a:r>
              <a:rPr lang="zh-CN" altLang="en-US" dirty="0"/>
              <a:t>函数的导数取值范围为</a:t>
            </a:r>
            <a:r>
              <a:rPr lang="en-US" altLang="zh-CN" dirty="0"/>
              <a:t>(0, 0.25]</a:t>
            </a:r>
            <a:r>
              <a:rPr lang="zh-CN" altLang="en-US" dirty="0"/>
              <a:t>。当深度学习网络层数较多时，通过链式法则计算偏导，相当于很多小于</a:t>
            </a:r>
            <a:r>
              <a:rPr lang="en-US" altLang="zh-CN" dirty="0"/>
              <a:t>0.25</a:t>
            </a:r>
            <a:r>
              <a:rPr lang="zh-CN" altLang="en-US" dirty="0"/>
              <a:t>的值相乘，由于初始化权重的绝对值通常小于</a:t>
            </a:r>
            <a:r>
              <a:rPr lang="en-US" altLang="zh-CN" dirty="0"/>
              <a:t>1</a:t>
            </a:r>
            <a:r>
              <a:rPr lang="zh-CN" altLang="en-US" dirty="0"/>
              <a:t>，就会导致梯度趋于</a:t>
            </a:r>
            <a:r>
              <a:rPr lang="en-US" altLang="zh-CN" dirty="0"/>
              <a:t>0</a:t>
            </a:r>
            <a:r>
              <a:rPr lang="zh-CN" altLang="en-US" dirty="0"/>
              <a:t>，进而导致梯度消失现象。</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48</a:t>
            </a:fld>
            <a:endParaRPr lang="zh-CN" altLang="en-US"/>
          </a:p>
        </p:txBody>
      </p:sp>
    </p:spTree>
    <p:extLst>
      <p:ext uri="{BB962C8B-B14F-4D97-AF65-F5344CB8AC3E}">
        <p14:creationId xmlns:p14="http://schemas.microsoft.com/office/powerpoint/2010/main" val="1706404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为了避免</a:t>
            </a:r>
            <a:r>
              <a:rPr lang="en-US" altLang="zh-CN" dirty="0"/>
              <a:t>Sigmoid</a:t>
            </a:r>
            <a:r>
              <a:rPr lang="zh-CN" altLang="en-US" dirty="0"/>
              <a:t>函数的缺点，研究者设计了很多种激活函数，其中</a:t>
            </a:r>
            <a:r>
              <a:rPr lang="en-US" altLang="zh-CN" dirty="0"/>
              <a:t>tanh</a:t>
            </a:r>
            <a:r>
              <a:rPr lang="zh-CN" altLang="en-US" dirty="0"/>
              <a:t>函数曾短暂流行一段时间。</a:t>
            </a:r>
            <a:r>
              <a:rPr lang="en-US" altLang="zh-CN" dirty="0"/>
              <a:t>Tanh</a:t>
            </a:r>
            <a:r>
              <a:rPr lang="zh-CN" altLang="en-US" dirty="0"/>
              <a:t>函数，也就是双曲正切函数，数学表达式和几何图像。</a:t>
            </a:r>
          </a:p>
          <a:p>
            <a:r>
              <a:rPr lang="zh-CN" altLang="en-US" dirty="0"/>
              <a:t>我们可以看到，</a:t>
            </a:r>
            <a:r>
              <a:rPr lang="en-US" altLang="zh-CN" dirty="0"/>
              <a:t>tanh</a:t>
            </a:r>
            <a:r>
              <a:rPr lang="zh-CN" altLang="en-US" dirty="0"/>
              <a:t>函数相对于</a:t>
            </a:r>
            <a:r>
              <a:rPr lang="en-US" altLang="zh-CN" dirty="0"/>
              <a:t>Sigmoid</a:t>
            </a:r>
            <a:r>
              <a:rPr lang="zh-CN" altLang="en-US" dirty="0"/>
              <a:t>函数是中心对称的，把输入变换到</a:t>
            </a:r>
            <a:r>
              <a:rPr lang="en-US" altLang="zh-CN" dirty="0"/>
              <a:t>(-1, 1)</a:t>
            </a:r>
            <a:r>
              <a:rPr lang="zh-CN" altLang="en-US" dirty="0"/>
              <a:t>的对称范围内，是</a:t>
            </a:r>
            <a:r>
              <a:rPr lang="en-US" altLang="zh-CN" dirty="0"/>
              <a:t>0</a:t>
            </a:r>
            <a:r>
              <a:rPr lang="zh-CN" altLang="en-US" dirty="0"/>
              <a:t>均值的，可以解决</a:t>
            </a:r>
            <a:r>
              <a:rPr lang="en-US" altLang="zh-CN" dirty="0"/>
              <a:t>Sigmoid</a:t>
            </a:r>
            <a:r>
              <a:rPr lang="zh-CN" altLang="en-US" dirty="0"/>
              <a:t>函数非</a:t>
            </a:r>
            <a:r>
              <a:rPr lang="en-US" altLang="zh-CN" dirty="0"/>
              <a:t>0</a:t>
            </a:r>
            <a:r>
              <a:rPr lang="zh-CN" altLang="en-US" dirty="0"/>
              <a:t>均值导致的均值偏移问题。但是，当输入很大或很小时，</a:t>
            </a:r>
            <a:r>
              <a:rPr lang="en-US" altLang="zh-CN" dirty="0"/>
              <a:t>tanh</a:t>
            </a:r>
            <a:r>
              <a:rPr lang="zh-CN" altLang="en-US" dirty="0"/>
              <a:t>函数的输出非常平滑，梯度很小，不利于权重更新，因此</a:t>
            </a:r>
            <a:r>
              <a:rPr lang="en-US" altLang="zh-CN" dirty="0"/>
              <a:t>tanh</a:t>
            </a:r>
            <a:r>
              <a:rPr lang="zh-CN" altLang="en-US" dirty="0"/>
              <a:t>函数仍然没有解决梯度消失问题。</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49</a:t>
            </a:fld>
            <a:endParaRPr lang="zh-CN" altLang="en-US"/>
          </a:p>
        </p:txBody>
      </p:sp>
    </p:spTree>
    <p:extLst>
      <p:ext uri="{BB962C8B-B14F-4D97-AF65-F5344CB8AC3E}">
        <p14:creationId xmlns:p14="http://schemas.microsoft.com/office/powerpoint/2010/main" val="49727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err="1"/>
              <a:t>ReLU</a:t>
            </a:r>
            <a:r>
              <a:rPr lang="zh-CN" altLang="en-US" dirty="0"/>
              <a:t>函数，修正线性单元，首次应用于受限玻尔兹曼机，是现在比较常用的激活函数。其数学表达式和几何图像。我们可以看到，当输入是负数时，</a:t>
            </a:r>
            <a:r>
              <a:rPr lang="en-US" altLang="zh-CN" dirty="0" err="1"/>
              <a:t>ReLU</a:t>
            </a:r>
            <a:r>
              <a:rPr lang="zh-CN" altLang="en-US" dirty="0"/>
              <a:t>函数的输出为</a:t>
            </a:r>
            <a:r>
              <a:rPr lang="en-US" altLang="zh-CN" dirty="0"/>
              <a:t>0</a:t>
            </a:r>
            <a:r>
              <a:rPr lang="zh-CN" altLang="en-US" dirty="0"/>
              <a:t>；否则输出等于输入。</a:t>
            </a:r>
            <a:r>
              <a:rPr lang="en-US" altLang="zh-CN" dirty="0" err="1"/>
              <a:t>ReLU</a:t>
            </a:r>
            <a:r>
              <a:rPr lang="zh-CN" altLang="en-US" dirty="0"/>
              <a:t>函数的优点在于：计算特别简单，没有</a:t>
            </a:r>
            <a:r>
              <a:rPr lang="en-US" altLang="zh-CN" dirty="0"/>
              <a:t>tanh</a:t>
            </a:r>
            <a:r>
              <a:rPr lang="zh-CN" altLang="en-US" dirty="0"/>
              <a:t>函数和</a:t>
            </a:r>
            <a:r>
              <a:rPr lang="en-US" altLang="zh-CN" dirty="0"/>
              <a:t>Sigmoid</a:t>
            </a:r>
            <a:r>
              <a:rPr lang="zh-CN" altLang="en-US" dirty="0"/>
              <a:t>函数中的指数运算，只需要对</a:t>
            </a:r>
            <a:r>
              <a:rPr lang="en-US" altLang="zh-CN" dirty="0"/>
              <a:t>0</a:t>
            </a:r>
            <a:r>
              <a:rPr lang="zh-CN" altLang="en-US" dirty="0"/>
              <a:t>和</a:t>
            </a:r>
            <a:r>
              <a:rPr lang="en-US" altLang="zh-CN" dirty="0"/>
              <a:t>x</a:t>
            </a:r>
            <a:r>
              <a:rPr lang="zh-CN" altLang="en-US" dirty="0"/>
              <a:t>取最大值，可以用一条计算机指令实现；当</a:t>
            </a:r>
            <a:r>
              <a:rPr lang="en-US" altLang="zh-CN" dirty="0"/>
              <a:t>x&gt;0</a:t>
            </a:r>
            <a:r>
              <a:rPr lang="zh-CN" altLang="en-US" dirty="0"/>
              <a:t>时，</a:t>
            </a:r>
            <a:r>
              <a:rPr lang="en-US" altLang="zh-CN" dirty="0" err="1"/>
              <a:t>ReLU</a:t>
            </a:r>
            <a:r>
              <a:rPr lang="zh-CN" altLang="en-US" dirty="0"/>
              <a:t>函数可以保持梯度不衰减，从而缓解梯度消失问题。所以现在深度学习，尤其是</a:t>
            </a:r>
            <a:r>
              <a:rPr lang="en-US" altLang="zh-CN" dirty="0" err="1"/>
              <a:t>ResNet</a:t>
            </a:r>
            <a:r>
              <a:rPr lang="zh-CN" altLang="en-US" dirty="0"/>
              <a:t>等上百层的神经网络里，常用类似于</a:t>
            </a:r>
            <a:r>
              <a:rPr lang="en-US" altLang="zh-CN" dirty="0" err="1"/>
              <a:t>ReLU</a:t>
            </a:r>
            <a:r>
              <a:rPr lang="zh-CN" altLang="en-US" dirty="0"/>
              <a:t>的激活函数。</a:t>
            </a:r>
          </a:p>
          <a:p>
            <a:r>
              <a:rPr lang="zh-CN" altLang="en-US" dirty="0"/>
              <a:t>但是，</a:t>
            </a:r>
            <a:r>
              <a:rPr lang="en-US" altLang="zh-CN" dirty="0" err="1"/>
              <a:t>ReLU</a:t>
            </a:r>
            <a:r>
              <a:rPr lang="zh-CN" altLang="en-US" dirty="0"/>
              <a:t>函数也存在一些问题：</a:t>
            </a:r>
            <a:r>
              <a:rPr lang="en-US" altLang="zh-CN" dirty="0"/>
              <a:t>1</a:t>
            </a:r>
            <a:r>
              <a:rPr lang="zh-CN" altLang="en-US" dirty="0"/>
              <a:t>）</a:t>
            </a:r>
            <a:r>
              <a:rPr lang="en-US" altLang="zh-CN" dirty="0" err="1"/>
              <a:t>ReLU</a:t>
            </a:r>
            <a:r>
              <a:rPr lang="zh-CN" altLang="en-US" dirty="0"/>
              <a:t>函数的输出不是零均值的，可能会带来均值偏移问题；</a:t>
            </a:r>
            <a:r>
              <a:rPr lang="en-US" altLang="zh-CN" dirty="0"/>
              <a:t>2</a:t>
            </a:r>
            <a:r>
              <a:rPr lang="zh-CN" altLang="en-US" dirty="0"/>
              <a:t>）对于某些样本，会出现</a:t>
            </a:r>
            <a:r>
              <a:rPr lang="en-US" altLang="zh-CN" dirty="0" err="1"/>
              <a:t>ReLU</a:t>
            </a:r>
            <a:r>
              <a:rPr lang="zh-CN" altLang="en-US" dirty="0"/>
              <a:t>死掉的现象。在反向传播过程中，如果学习率比较大，一个很大的梯度经过</a:t>
            </a:r>
            <a:r>
              <a:rPr lang="en-US" altLang="zh-CN" dirty="0" err="1"/>
              <a:t>ReLU</a:t>
            </a:r>
            <a:r>
              <a:rPr lang="zh-CN" altLang="en-US" dirty="0"/>
              <a:t>神经元，可能会导致</a:t>
            </a:r>
            <a:r>
              <a:rPr lang="en-US" altLang="zh-CN" dirty="0" err="1"/>
              <a:t>ReLU</a:t>
            </a:r>
            <a:r>
              <a:rPr lang="zh-CN" altLang="en-US" dirty="0"/>
              <a:t>神经元更新后的偏重和权重是负数，进而导致下一轮正向传播过程中的</a:t>
            </a:r>
            <a:r>
              <a:rPr lang="en-US" altLang="zh-CN" dirty="0" err="1"/>
              <a:t>ReLU</a:t>
            </a:r>
            <a:r>
              <a:rPr lang="zh-CN" altLang="en-US" dirty="0"/>
              <a:t>神经元的输入是负数，输出为</a:t>
            </a:r>
            <a:r>
              <a:rPr lang="en-US" altLang="zh-CN" dirty="0"/>
              <a:t>0</a:t>
            </a:r>
            <a:r>
              <a:rPr lang="zh-CN" altLang="en-US" dirty="0"/>
              <a:t>。由于</a:t>
            </a:r>
            <a:r>
              <a:rPr lang="en-US" altLang="zh-CN" dirty="0" err="1"/>
              <a:t>ReLU</a:t>
            </a:r>
            <a:r>
              <a:rPr lang="zh-CN" altLang="en-US" dirty="0"/>
              <a:t>神经元的输出为</a:t>
            </a:r>
            <a:r>
              <a:rPr lang="en-US" altLang="zh-CN" dirty="0"/>
              <a:t>0</a:t>
            </a:r>
            <a:r>
              <a:rPr lang="zh-CN" altLang="en-US" dirty="0"/>
              <a:t>，在后续迭代的反向传播过程中，该处的梯度一直为</a:t>
            </a:r>
            <a:r>
              <a:rPr lang="en-US" altLang="zh-CN" dirty="0"/>
              <a:t>0</a:t>
            </a:r>
            <a:r>
              <a:rPr lang="zh-CN" altLang="en-US" dirty="0"/>
              <a:t>，相关的参数值不再变化，从而导致</a:t>
            </a:r>
            <a:r>
              <a:rPr lang="en-US" altLang="zh-CN" dirty="0" err="1"/>
              <a:t>ReLU</a:t>
            </a:r>
            <a:r>
              <a:rPr lang="zh-CN" altLang="en-US" dirty="0"/>
              <a:t>神经元的输入始终是负数，输出始终为</a:t>
            </a:r>
            <a:r>
              <a:rPr lang="en-US" altLang="zh-CN" dirty="0"/>
              <a:t>0</a:t>
            </a:r>
            <a:r>
              <a:rPr lang="zh-CN" altLang="en-US" dirty="0"/>
              <a:t>，即</a:t>
            </a:r>
            <a:r>
              <a:rPr lang="en-US" altLang="zh-CN" dirty="0" err="1"/>
              <a:t>ReLU</a:t>
            </a:r>
            <a:r>
              <a:rPr lang="zh-CN" altLang="en-US" dirty="0"/>
              <a:t>死掉；</a:t>
            </a:r>
            <a:r>
              <a:rPr lang="en-US" altLang="zh-CN" dirty="0"/>
              <a:t>3</a:t>
            </a:r>
            <a:r>
              <a:rPr lang="zh-CN" altLang="en-US" dirty="0"/>
              <a:t>）</a:t>
            </a:r>
            <a:r>
              <a:rPr lang="en-US" altLang="zh-CN" dirty="0" err="1"/>
              <a:t>ReLU</a:t>
            </a:r>
            <a:r>
              <a:rPr lang="zh-CN" altLang="en-US" dirty="0"/>
              <a:t>函数的输出范围是无限的，可能导致神经网络的输出幅值随着网络层数的增加不断变大。</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50</a:t>
            </a:fld>
            <a:endParaRPr lang="zh-CN" altLang="en-US"/>
          </a:p>
        </p:txBody>
      </p:sp>
    </p:spTree>
    <p:extLst>
      <p:ext uri="{BB962C8B-B14F-4D97-AF65-F5344CB8AC3E}">
        <p14:creationId xmlns:p14="http://schemas.microsoft.com/office/powerpoint/2010/main" val="26526618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由于</a:t>
            </a:r>
            <a:r>
              <a:rPr lang="en-US" altLang="zh-CN" dirty="0" err="1"/>
              <a:t>ReLU</a:t>
            </a:r>
            <a:r>
              <a:rPr lang="zh-CN" altLang="en-US" dirty="0"/>
              <a:t>函数在</a:t>
            </a:r>
            <a:r>
              <a:rPr lang="en-US" altLang="zh-CN" dirty="0"/>
              <a:t>x&lt;0</a:t>
            </a:r>
            <a:r>
              <a:rPr lang="zh-CN" altLang="en-US" dirty="0"/>
              <a:t>时可能会死掉，后来又出现了很多</a:t>
            </a:r>
            <a:r>
              <a:rPr lang="en-US" altLang="zh-CN" dirty="0" err="1"/>
              <a:t>ReLU</a:t>
            </a:r>
            <a:r>
              <a:rPr lang="zh-CN" altLang="en-US" dirty="0"/>
              <a:t>的改进版本，比如</a:t>
            </a:r>
            <a:r>
              <a:rPr lang="en-US" altLang="zh-CN" dirty="0"/>
              <a:t>Leaky </a:t>
            </a:r>
            <a:r>
              <a:rPr lang="en-US" altLang="zh-CN" dirty="0" err="1"/>
              <a:t>ReLU</a:t>
            </a:r>
            <a:r>
              <a:rPr lang="zh-CN" altLang="en-US" dirty="0"/>
              <a:t>、</a:t>
            </a:r>
            <a:r>
              <a:rPr lang="en-US" altLang="zh-CN" dirty="0" err="1"/>
              <a:t>PReLU</a:t>
            </a:r>
            <a:r>
              <a:rPr lang="zh-CN" altLang="en-US" dirty="0"/>
              <a:t>等。其中</a:t>
            </a:r>
            <a:r>
              <a:rPr lang="en-US" altLang="zh-CN" dirty="0"/>
              <a:t>Leaky </a:t>
            </a:r>
            <a:r>
              <a:rPr lang="en-US" altLang="zh-CN" dirty="0" err="1"/>
              <a:t>ReLU</a:t>
            </a:r>
            <a:r>
              <a:rPr lang="zh-CN" altLang="en-US" dirty="0"/>
              <a:t>的数学表达式和几何图像表示。在这里，阿尔法参数是一个非常小的常量，取值范围为</a:t>
            </a:r>
            <a:r>
              <a:rPr lang="en-US" altLang="zh-CN" dirty="0"/>
              <a:t>(0,1)</a:t>
            </a:r>
            <a:r>
              <a:rPr lang="zh-CN" altLang="en-US" dirty="0"/>
              <a:t>。那么，当</a:t>
            </a:r>
            <a:r>
              <a:rPr lang="en-US" altLang="zh-CN" dirty="0"/>
              <a:t>x&lt;0</a:t>
            </a:r>
            <a:r>
              <a:rPr lang="zh-CN" altLang="en-US" dirty="0"/>
              <a:t>时，</a:t>
            </a:r>
            <a:r>
              <a:rPr lang="en-US" altLang="zh-CN" dirty="0"/>
              <a:t>Leaky </a:t>
            </a:r>
            <a:r>
              <a:rPr lang="en-US" altLang="zh-CN" dirty="0" err="1"/>
              <a:t>ReLU</a:t>
            </a:r>
            <a:r>
              <a:rPr lang="zh-CN" altLang="en-US" dirty="0"/>
              <a:t>函数有一个非常小的斜率，可以避免</a:t>
            </a:r>
            <a:r>
              <a:rPr lang="en-US" altLang="zh-CN" dirty="0" err="1"/>
              <a:t>ReLU</a:t>
            </a:r>
            <a:r>
              <a:rPr lang="zh-CN" altLang="en-US" dirty="0"/>
              <a:t>死掉。而</a:t>
            </a:r>
            <a:r>
              <a:rPr lang="en-US" altLang="zh-CN" dirty="0" err="1"/>
              <a:t>PReLU</a:t>
            </a:r>
            <a:r>
              <a:rPr lang="zh-CN" altLang="en-US" dirty="0"/>
              <a:t>函数中的参数阿尔法是可以调整的，每一个通道有一个对应的参数阿尔法，可以通过反向传播训练得到。</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51</a:t>
            </a:fld>
            <a:endParaRPr lang="zh-CN" altLang="en-US"/>
          </a:p>
        </p:txBody>
      </p:sp>
    </p:spTree>
    <p:extLst>
      <p:ext uri="{BB962C8B-B14F-4D97-AF65-F5344CB8AC3E}">
        <p14:creationId xmlns:p14="http://schemas.microsoft.com/office/powerpoint/2010/main" val="9932621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ELU</a:t>
            </a:r>
            <a:r>
              <a:rPr lang="zh-CN" altLang="en-US" dirty="0"/>
              <a:t>函数，指数线性单元，融合了</a:t>
            </a:r>
            <a:r>
              <a:rPr lang="en-US" altLang="zh-CN" dirty="0"/>
              <a:t>Sigmoid</a:t>
            </a:r>
            <a:r>
              <a:rPr lang="zh-CN" altLang="en-US" dirty="0"/>
              <a:t>函数和</a:t>
            </a:r>
            <a:r>
              <a:rPr lang="en-US" altLang="zh-CN" dirty="0" err="1"/>
              <a:t>ReLU</a:t>
            </a:r>
            <a:r>
              <a:rPr lang="zh-CN" altLang="en-US" dirty="0"/>
              <a:t>函数，其函数表达式和几何图像表示。其中，阿尔法为可调参数，可以控制</a:t>
            </a:r>
            <a:r>
              <a:rPr lang="en-US" altLang="zh-CN" dirty="0"/>
              <a:t>ELU</a:t>
            </a:r>
            <a:r>
              <a:rPr lang="zh-CN" altLang="en-US" dirty="0"/>
              <a:t>在负值区间的饱和位置。</a:t>
            </a:r>
            <a:r>
              <a:rPr lang="en-US" altLang="zh-CN" dirty="0"/>
              <a:t>ELU</a:t>
            </a:r>
            <a:r>
              <a:rPr lang="zh-CN" altLang="en-US" dirty="0"/>
              <a:t>的输出均值接近</a:t>
            </a:r>
            <a:r>
              <a:rPr lang="en-US" altLang="zh-CN" dirty="0"/>
              <a:t>0</a:t>
            </a:r>
            <a:r>
              <a:rPr lang="zh-CN" altLang="en-US" dirty="0"/>
              <a:t>，可以加快收敛速度。当</a:t>
            </a:r>
            <a:r>
              <a:rPr lang="en-US" altLang="zh-CN" dirty="0"/>
              <a:t>x&gt;0</a:t>
            </a:r>
            <a:r>
              <a:rPr lang="zh-CN" altLang="en-US" dirty="0"/>
              <a:t>时，</a:t>
            </a:r>
            <a:r>
              <a:rPr lang="en-US" altLang="zh-CN" dirty="0"/>
              <a:t>ELU</a:t>
            </a:r>
            <a:r>
              <a:rPr lang="zh-CN" altLang="en-US" dirty="0"/>
              <a:t>的梯度不衰减，可以避免梯度消失；当</a:t>
            </a:r>
            <a:r>
              <a:rPr lang="en-US" altLang="zh-CN" dirty="0"/>
              <a:t>x&lt;0</a:t>
            </a:r>
            <a:r>
              <a:rPr lang="zh-CN" altLang="en-US" dirty="0"/>
              <a:t>时，</a:t>
            </a:r>
            <a:r>
              <a:rPr lang="en-US" altLang="zh-CN" dirty="0"/>
              <a:t>ELU</a:t>
            </a:r>
            <a:r>
              <a:rPr lang="zh-CN" altLang="en-US" dirty="0"/>
              <a:t>可以避免神经元死掉。但是</a:t>
            </a:r>
            <a:r>
              <a:rPr lang="en-US" altLang="zh-CN" dirty="0"/>
              <a:t>ELU</a:t>
            </a:r>
            <a:r>
              <a:rPr lang="zh-CN" altLang="en-US" dirty="0"/>
              <a:t>的缺点是涉及指数运算，计算复杂度较高。</a:t>
            </a:r>
          </a:p>
          <a:p>
            <a:r>
              <a:rPr lang="zh-CN" altLang="en-US" dirty="0"/>
              <a:t>另外，还有很多其他的激活函数设计，作为课下的知识拓展与调研能力培养。</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52</a:t>
            </a:fld>
            <a:endParaRPr lang="zh-CN" altLang="en-US"/>
          </a:p>
        </p:txBody>
      </p:sp>
    </p:spTree>
    <p:extLst>
      <p:ext uri="{BB962C8B-B14F-4D97-AF65-F5344CB8AC3E}">
        <p14:creationId xmlns:p14="http://schemas.microsoft.com/office/powerpoint/2010/main" val="19638391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基于梯度下降法的神经网络反向传播过程首先需要定义损失函数（</a:t>
            </a:r>
            <a:r>
              <a:rPr lang="en-US" altLang="zh-CN" dirty="0"/>
              <a:t>Loss Function</a:t>
            </a:r>
            <a:r>
              <a:rPr lang="zh-CN" altLang="en-US" dirty="0"/>
              <a:t>），然后计算损失函数对梯度的偏导，最后沿梯度下降方向更新权重及偏置参数。因此，损失函数的设定对梯度计算有着重要影响。</a:t>
            </a:r>
          </a:p>
          <a:p>
            <a:r>
              <a:rPr lang="zh-CN" altLang="en-US" dirty="0"/>
              <a:t>损失函数用以衡量模型预测值与真实值之间的差。神经网络的预测值是参数的函数。二者的误差可以用损失函数进行表示。</a:t>
            </a:r>
          </a:p>
          <a:p>
            <a:r>
              <a:rPr lang="zh-CN" altLang="en-US" dirty="0"/>
              <a:t>常见的损失函数包括均方差和交叉熵损失函数。</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53</a:t>
            </a:fld>
            <a:endParaRPr lang="zh-CN" altLang="en-US"/>
          </a:p>
        </p:txBody>
      </p:sp>
    </p:spTree>
    <p:extLst>
      <p:ext uri="{BB962C8B-B14F-4D97-AF65-F5344CB8AC3E}">
        <p14:creationId xmlns:p14="http://schemas.microsoft.com/office/powerpoint/2010/main" val="30690437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基于梯度下降法的神经网络反向传播过程首先需要定义损失函数（</a:t>
            </a:r>
            <a:r>
              <a:rPr lang="en-US" altLang="zh-CN" dirty="0"/>
              <a:t>Loss Function</a:t>
            </a:r>
            <a:r>
              <a:rPr lang="zh-CN" altLang="en-US" dirty="0"/>
              <a:t>），然后计算损失函数对梯度的偏导，最后沿梯度下降方向更新权重及偏置参数。因此，损失函数的设定对梯度计算有着重要影响。</a:t>
            </a:r>
          </a:p>
          <a:p>
            <a:r>
              <a:rPr lang="zh-CN" altLang="en-US" dirty="0"/>
              <a:t>损失函数用以衡量模型预测值与真实值之间的差。神经网络的预测值是参数的函数。二者的误差可以用损失函数进行表示。</a:t>
            </a:r>
          </a:p>
          <a:p>
            <a:r>
              <a:rPr lang="zh-CN" altLang="en-US" dirty="0"/>
              <a:t>常见的损失函数包括均方差和交叉熵损失函数。</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54</a:t>
            </a:fld>
            <a:endParaRPr lang="zh-CN" altLang="en-US"/>
          </a:p>
        </p:txBody>
      </p:sp>
    </p:spTree>
    <p:extLst>
      <p:ext uri="{BB962C8B-B14F-4D97-AF65-F5344CB8AC3E}">
        <p14:creationId xmlns:p14="http://schemas.microsoft.com/office/powerpoint/2010/main" val="3940034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55</a:t>
            </a:fld>
            <a:endParaRPr lang="zh-CN" altLang="en-US"/>
          </a:p>
        </p:txBody>
      </p:sp>
    </p:spTree>
    <p:extLst>
      <p:ext uri="{BB962C8B-B14F-4D97-AF65-F5344CB8AC3E}">
        <p14:creationId xmlns:p14="http://schemas.microsoft.com/office/powerpoint/2010/main" val="27813691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交叉熵的定义类似于信息论中熵的定义。对于单标签多分类问题，即每张图像样本中只能有一个类别；而对于多标签多分类问题，即每张图像样本中可以有多个类别，一般转化为二分类问题。</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56</a:t>
            </a:fld>
            <a:endParaRPr lang="zh-CN" altLang="en-US"/>
          </a:p>
        </p:txBody>
      </p:sp>
    </p:spTree>
    <p:extLst>
      <p:ext uri="{BB962C8B-B14F-4D97-AF65-F5344CB8AC3E}">
        <p14:creationId xmlns:p14="http://schemas.microsoft.com/office/powerpoint/2010/main" val="9772471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使用</a:t>
            </a:r>
            <a:r>
              <a:rPr lang="en-US" altLang="zh-CN" dirty="0"/>
              <a:t>Sigmoid</a:t>
            </a:r>
            <a:r>
              <a:rPr lang="zh-CN" altLang="en-US" dirty="0"/>
              <a:t>激活函数的交叉熵损失函数对参数的梯度中没有</a:t>
            </a:r>
            <a:r>
              <a:rPr lang="en-US" altLang="zh-CN" dirty="0"/>
              <a:t>Sigmoid</a:t>
            </a:r>
            <a:r>
              <a:rPr lang="zh-CN" altLang="en-US" dirty="0"/>
              <a:t>函数的导数，可以缓解梯度消失。</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57</a:t>
            </a:fld>
            <a:endParaRPr lang="zh-CN" altLang="en-US"/>
          </a:p>
        </p:txBody>
      </p:sp>
    </p:spTree>
    <p:extLst>
      <p:ext uri="{BB962C8B-B14F-4D97-AF65-F5344CB8AC3E}">
        <p14:creationId xmlns:p14="http://schemas.microsoft.com/office/powerpoint/2010/main" val="72840084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损失函数是权重参数和偏置参数的函数，是一个标量，可以用来评价网络模型的好坏，损失函数的值越小说明模型和参数越符合训练样本。对于同一个算法，损失函数不是固定唯一的。除了交叉熵损失函数，还有很多其他的损失函数，但一般选择对参数可微的损失函数，否则无法应用链式求导法则。</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58</a:t>
            </a:fld>
            <a:endParaRPr lang="zh-CN" altLang="en-US"/>
          </a:p>
        </p:txBody>
      </p:sp>
    </p:spTree>
    <p:extLst>
      <p:ext uri="{BB962C8B-B14F-4D97-AF65-F5344CB8AC3E}">
        <p14:creationId xmlns:p14="http://schemas.microsoft.com/office/powerpoint/2010/main" val="6094906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在神经网络中，完全可能试了</a:t>
            </a:r>
            <a:r>
              <a:rPr lang="en-US" altLang="zh-CN" dirty="0"/>
              <a:t>1</a:t>
            </a:r>
            <a:r>
              <a:rPr lang="zh-CN" altLang="en-US" dirty="0"/>
              <a:t>个隐层，</a:t>
            </a:r>
            <a:r>
              <a:rPr lang="en-US" altLang="zh-CN" dirty="0"/>
              <a:t>2</a:t>
            </a:r>
            <a:r>
              <a:rPr lang="zh-CN" altLang="en-US" dirty="0"/>
              <a:t>个隐层，</a:t>
            </a:r>
            <a:r>
              <a:rPr lang="en-US" altLang="zh-CN" dirty="0"/>
              <a:t>5</a:t>
            </a:r>
            <a:r>
              <a:rPr lang="zh-CN" altLang="en-US" dirty="0"/>
              <a:t>个隐层甚至</a:t>
            </a:r>
            <a:r>
              <a:rPr lang="en-US" altLang="zh-CN" dirty="0"/>
              <a:t>10</a:t>
            </a:r>
            <a:r>
              <a:rPr lang="zh-CN" altLang="en-US" dirty="0"/>
              <a:t>个隐层，试了各种各样的网络拓扑、激活函数、损失函数，模型的精度仍然很低，这是神经网络训练中经常出现的问题。此时需要检查神经网络是否过拟合了。关于过拟合，冯诺依曼有一个形象的说法：给我</a:t>
            </a:r>
            <a:r>
              <a:rPr lang="en-US" altLang="zh-CN" dirty="0"/>
              <a:t>4</a:t>
            </a:r>
            <a:r>
              <a:rPr lang="zh-CN" altLang="en-US" dirty="0"/>
              <a:t>个参数，我能拟合出来一头大象，给我</a:t>
            </a:r>
            <a:r>
              <a:rPr lang="en-US" altLang="zh-CN" dirty="0"/>
              <a:t>5</a:t>
            </a:r>
            <a:r>
              <a:rPr lang="zh-CN" altLang="en-US" dirty="0"/>
              <a:t>个参数，我能让大象的鼻子动起来。当网络层数很多时，神经网络可能会学到一些并不重要甚至错误的特征。例如，训练时用一个拿着黑板擦的人照片作为训练样本，过拟合时会认为人一定是拿黑板擦的，但这不是人的真正特征。</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59</a:t>
            </a:fld>
            <a:endParaRPr lang="zh-CN" altLang="en-US"/>
          </a:p>
        </p:txBody>
      </p:sp>
    </p:spTree>
    <p:extLst>
      <p:ext uri="{BB962C8B-B14F-4D97-AF65-F5344CB8AC3E}">
        <p14:creationId xmlns:p14="http://schemas.microsoft.com/office/powerpoint/2010/main" val="25665273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过拟合时，神经网络的泛化能力比较差。深层神经网络具有很强的表示能力，但经常遭遇过拟合。为了提高神经网络的泛化能力，可以使用许多不同形式的正则化方法，包括参数范数惩罚、稀疏化、</a:t>
            </a:r>
            <a:r>
              <a:rPr lang="en-US" altLang="zh-CN" dirty="0"/>
              <a:t>Bagging</a:t>
            </a:r>
            <a:r>
              <a:rPr lang="zh-CN" altLang="en-US" dirty="0"/>
              <a:t>集成、</a:t>
            </a:r>
            <a:r>
              <a:rPr lang="en-US" altLang="zh-CN" dirty="0"/>
              <a:t>Dropout</a:t>
            </a:r>
            <a:r>
              <a:rPr lang="zh-CN" altLang="en-US" dirty="0"/>
              <a:t>、提前终止等。</a:t>
            </a:r>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60</a:t>
            </a:fld>
            <a:endParaRPr lang="zh-CN" altLang="en-US"/>
          </a:p>
        </p:txBody>
      </p:sp>
    </p:spTree>
    <p:extLst>
      <p:ext uri="{BB962C8B-B14F-4D97-AF65-F5344CB8AC3E}">
        <p14:creationId xmlns:p14="http://schemas.microsoft.com/office/powerpoint/2010/main" val="28161309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欠拟合主要是训练的特征少，拟合函数无法有效逼近训练集，导致误差较大，可以通过增加训练样本或增加模型复杂度来解决。对于如图所示的比较复杂的分类问题，合适的拟合可能是一条弧线，虽然会有一点误差，但大部分分类准确；欠拟合会学出一条很简单的直线，误差比较大；而过拟合则会学出一条奇怪形状的曲线。当深度学习中训练的特征维度很多，比如上亿个参数，过拟合的函数可以非常接近数据集，函数形状很奇怪，但泛化能力差，对新数据的预测能力不足。</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61</a:t>
            </a:fld>
            <a:endParaRPr lang="zh-CN" altLang="en-US"/>
          </a:p>
        </p:txBody>
      </p:sp>
    </p:spTree>
    <p:extLst>
      <p:ext uri="{BB962C8B-B14F-4D97-AF65-F5344CB8AC3E}">
        <p14:creationId xmlns:p14="http://schemas.microsoft.com/office/powerpoint/2010/main" val="12226054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过拟合时，神经网络的泛化能力比较差。深层神经网络具有很强的表示能力，但经常遭遇过拟合。为了提高神经网络的泛化能力，可以使用许多不同形式的正则化方法，包括参数范数惩罚、稀疏化、</a:t>
            </a:r>
            <a:r>
              <a:rPr lang="en-US" altLang="zh-CN" dirty="0"/>
              <a:t>Bagging</a:t>
            </a:r>
            <a:r>
              <a:rPr lang="zh-CN" altLang="en-US" dirty="0"/>
              <a:t>集成、</a:t>
            </a:r>
            <a:r>
              <a:rPr lang="en-US" altLang="zh-CN" dirty="0"/>
              <a:t>Dropout</a:t>
            </a:r>
            <a:r>
              <a:rPr lang="zh-CN" altLang="en-US" dirty="0"/>
              <a:t>、提前终止等。</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62</a:t>
            </a:fld>
            <a:endParaRPr lang="zh-CN" altLang="en-US"/>
          </a:p>
        </p:txBody>
      </p:sp>
    </p:spTree>
    <p:extLst>
      <p:ext uri="{BB962C8B-B14F-4D97-AF65-F5344CB8AC3E}">
        <p14:creationId xmlns:p14="http://schemas.microsoft.com/office/powerpoint/2010/main" val="33422820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如果只有三个变量，可以用二次曲线把样本点拟合出来；而如果用四次曲线去拟合，可能会是一个奇怪的形状，该曲线在训练集上的误差可能会比二次曲线小一些，但在真实场景中，将其应用到没有见过的测试集上效果不会太好。为了减少三次项、四次项对模型的影响，可以采用正则化方法。</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63</a:t>
            </a:fld>
            <a:endParaRPr lang="zh-CN" altLang="en-US"/>
          </a:p>
        </p:txBody>
      </p:sp>
    </p:spTree>
    <p:extLst>
      <p:ext uri="{BB962C8B-B14F-4D97-AF65-F5344CB8AC3E}">
        <p14:creationId xmlns:p14="http://schemas.microsoft.com/office/powerpoint/2010/main" val="34375190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在原损失函数中增加对高次项的惩罚，可以避免过拟合。可以最小化误差，还可以最小化高次项参数。加入</a:t>
            </a:r>
            <a:r>
              <a:rPr lang="en-US" altLang="zh-CN" dirty="0"/>
              <a:t>C1</a:t>
            </a:r>
            <a:r>
              <a:rPr lang="zh-CN" altLang="en-US" dirty="0"/>
              <a:t>和</a:t>
            </a:r>
            <a:r>
              <a:rPr lang="en-US" altLang="zh-CN" dirty="0"/>
              <a:t>C2</a:t>
            </a:r>
            <a:r>
              <a:rPr lang="zh-CN" altLang="en-US" dirty="0"/>
              <a:t>都取</a:t>
            </a:r>
            <a:r>
              <a:rPr lang="en-US" altLang="zh-CN" dirty="0"/>
              <a:t>1000</a:t>
            </a:r>
            <a:r>
              <a:rPr lang="zh-CN" altLang="en-US" dirty="0"/>
              <a:t>时，用损失函数训练出来的结果是</a:t>
            </a:r>
            <a:r>
              <a:rPr lang="en-US" altLang="zh-CN" dirty="0"/>
              <a:t>w3</a:t>
            </a:r>
            <a:r>
              <a:rPr lang="zh-CN" altLang="en-US" dirty="0"/>
              <a:t>和</a:t>
            </a:r>
            <a:r>
              <a:rPr lang="en-US" altLang="zh-CN" dirty="0"/>
              <a:t>w4</a:t>
            </a:r>
            <a:r>
              <a:rPr lang="zh-CN" altLang="en-US" dirty="0"/>
              <a:t>都约等于</a:t>
            </a:r>
            <a:r>
              <a:rPr lang="en-US" altLang="zh-CN" dirty="0"/>
              <a:t>0</a:t>
            </a:r>
            <a:r>
              <a:rPr lang="zh-CN" altLang="en-US" dirty="0"/>
              <a:t>，拟合出来一条近似于圆弧的二次曲线。而不加惩罚项，可能是这条稀奇古怪的形状。</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64</a:t>
            </a:fld>
            <a:endParaRPr lang="zh-CN" altLang="en-US"/>
          </a:p>
        </p:txBody>
      </p:sp>
    </p:spTree>
    <p:extLst>
      <p:ext uri="{BB962C8B-B14F-4D97-AF65-F5344CB8AC3E}">
        <p14:creationId xmlns:p14="http://schemas.microsoft.com/office/powerpoint/2010/main" val="400719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正则化就是在损失函数中对不想要的部分加入惩罚项。工程实践中，惩罚项有多种形式，对应不同的作用，比如</a:t>
            </a:r>
            <a:r>
              <a:rPr lang="en-US" altLang="zh-CN" dirty="0"/>
              <a:t>L2</a:t>
            </a:r>
            <a:r>
              <a:rPr lang="zh-CN" altLang="en-US" dirty="0"/>
              <a:t>正则化、</a:t>
            </a:r>
            <a:r>
              <a:rPr lang="en-US" altLang="zh-CN" dirty="0"/>
              <a:t>L1</a:t>
            </a:r>
            <a:r>
              <a:rPr lang="zh-CN" altLang="en-US" dirty="0"/>
              <a:t>正则化等。</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65</a:t>
            </a:fld>
            <a:endParaRPr lang="zh-CN" altLang="en-US"/>
          </a:p>
        </p:txBody>
      </p:sp>
    </p:spTree>
    <p:extLst>
      <p:ext uri="{BB962C8B-B14F-4D97-AF65-F5344CB8AC3E}">
        <p14:creationId xmlns:p14="http://schemas.microsoft.com/office/powerpoint/2010/main" val="4644003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L2</a:t>
            </a:r>
            <a:r>
              <a:rPr lang="zh-CN" altLang="en-US" dirty="0"/>
              <a:t>正则化的数学表达式，</a:t>
            </a:r>
            <a:r>
              <a:rPr lang="en-US" altLang="zh-CN" sz="1200" kern="1200" dirty="0">
                <a:solidFill>
                  <a:schemeClr val="tx1"/>
                </a:solidFill>
                <a:effectLst/>
                <a:latin typeface="+mn-lt"/>
                <a:ea typeface="+mn-ea"/>
                <a:cs typeface="+mn-cs"/>
              </a:rPr>
              <a:t>L2</a:t>
            </a:r>
            <a:r>
              <a:rPr lang="zh-CN" altLang="zh-CN" sz="1200" kern="1200" dirty="0">
                <a:solidFill>
                  <a:schemeClr val="tx1"/>
                </a:solidFill>
                <a:effectLst/>
                <a:latin typeface="+mn-lt"/>
                <a:ea typeface="+mn-ea"/>
                <a:cs typeface="+mn-cs"/>
              </a:rPr>
              <a:t>正则化是说每个</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平方</a:t>
            </a:r>
            <a:r>
              <a:rPr lang="zh-CN" altLang="en-US" sz="1200" kern="1200" dirty="0">
                <a:solidFill>
                  <a:schemeClr val="tx1"/>
                </a:solidFill>
                <a:effectLst/>
                <a:latin typeface="+mn-lt"/>
                <a:ea typeface="+mn-ea"/>
                <a:cs typeface="+mn-cs"/>
              </a:rPr>
              <a:t>和</a:t>
            </a:r>
            <a:r>
              <a:rPr lang="zh-CN" altLang="en-US" dirty="0"/>
              <a:t>。可以避免过拟合时某些区间里的导数值非常大，曲线特别不平滑的情况。</a:t>
            </a:r>
            <a:endParaRPr lang="en-US" altLang="zh-CN" dirty="0"/>
          </a:p>
          <a:p>
            <a:endParaRPr lang="en-US" altLang="zh-CN" dirty="0"/>
          </a:p>
          <a:p>
            <a:r>
              <a:rPr lang="zh-CN" altLang="en-US" dirty="0"/>
              <a:t>我们看到在梯度更新中增加了权重衰减项。通过</a:t>
            </a:r>
            <a:r>
              <a:rPr lang="en-US" altLang="zh-CN" dirty="0"/>
              <a:t>L2</a:t>
            </a:r>
            <a:r>
              <a:rPr lang="zh-CN" altLang="en-US" dirty="0"/>
              <a:t>正则化后，权重</a:t>
            </a:r>
            <a:r>
              <a:rPr lang="en-US" altLang="zh-CN" dirty="0"/>
              <a:t>w</a:t>
            </a:r>
            <a:r>
              <a:rPr lang="zh-CN" altLang="en-US" dirty="0"/>
              <a:t>成为梯度的一部分。权重的绝对值变小的话，拟合的曲线就会变得平滑，数据拟合会更好。</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66</a:t>
            </a:fld>
            <a:endParaRPr lang="zh-CN" altLang="en-US"/>
          </a:p>
        </p:txBody>
      </p:sp>
    </p:spTree>
    <p:extLst>
      <p:ext uri="{BB962C8B-B14F-4D97-AF65-F5344CB8AC3E}">
        <p14:creationId xmlns:p14="http://schemas.microsoft.com/office/powerpoint/2010/main" val="436200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除了</a:t>
            </a:r>
            <a:r>
              <a:rPr lang="en-US" altLang="zh-CN" sz="1200" kern="1200" dirty="0">
                <a:solidFill>
                  <a:schemeClr val="tx1"/>
                </a:solidFill>
                <a:effectLst/>
                <a:latin typeface="+mn-lt"/>
                <a:ea typeface="+mn-ea"/>
                <a:cs typeface="+mn-cs"/>
              </a:rPr>
              <a:t>L2</a:t>
            </a:r>
            <a:r>
              <a:rPr lang="zh-CN" altLang="zh-CN" sz="1200" kern="1200" dirty="0">
                <a:solidFill>
                  <a:schemeClr val="tx1"/>
                </a:solidFill>
                <a:effectLst/>
                <a:latin typeface="+mn-lt"/>
                <a:ea typeface="+mn-ea"/>
                <a:cs typeface="+mn-cs"/>
              </a:rPr>
              <a:t>的正则化之外还有</a:t>
            </a:r>
            <a:r>
              <a:rPr lang="en-US" altLang="zh-CN" sz="1200" kern="1200" dirty="0">
                <a:solidFill>
                  <a:schemeClr val="tx1"/>
                </a:solidFill>
                <a:effectLst/>
                <a:latin typeface="+mn-lt"/>
                <a:ea typeface="+mn-ea"/>
                <a:cs typeface="+mn-cs"/>
              </a:rPr>
              <a:t>L1</a:t>
            </a:r>
            <a:r>
              <a:rPr lang="zh-CN" altLang="zh-CN" sz="1200" kern="1200" dirty="0">
                <a:solidFill>
                  <a:schemeClr val="tx1"/>
                </a:solidFill>
                <a:effectLst/>
                <a:latin typeface="+mn-lt"/>
                <a:ea typeface="+mn-ea"/>
                <a:cs typeface="+mn-cs"/>
              </a:rPr>
              <a:t>正则化，</a:t>
            </a:r>
            <a:r>
              <a:rPr lang="en-US" altLang="zh-CN" sz="1200" kern="1200" dirty="0">
                <a:solidFill>
                  <a:schemeClr val="tx1"/>
                </a:solidFill>
                <a:effectLst/>
                <a:latin typeface="+mn-lt"/>
                <a:ea typeface="+mn-ea"/>
                <a:cs typeface="+mn-cs"/>
              </a:rPr>
              <a:t>L2</a:t>
            </a:r>
            <a:r>
              <a:rPr lang="zh-CN" altLang="zh-CN" sz="1200" kern="1200" dirty="0">
                <a:solidFill>
                  <a:schemeClr val="tx1"/>
                </a:solidFill>
                <a:effectLst/>
                <a:latin typeface="+mn-lt"/>
                <a:ea typeface="+mn-ea"/>
                <a:cs typeface="+mn-cs"/>
              </a:rPr>
              <a:t>正则化是说每个</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平方加起来开根号，</a:t>
            </a:r>
            <a:r>
              <a:rPr lang="en-US" altLang="zh-CN" sz="1200" kern="1200" dirty="0">
                <a:solidFill>
                  <a:schemeClr val="tx1"/>
                </a:solidFill>
                <a:effectLst/>
                <a:latin typeface="+mn-lt"/>
                <a:ea typeface="+mn-ea"/>
                <a:cs typeface="+mn-cs"/>
              </a:rPr>
              <a:t>L1</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的绝对值加起来。</a:t>
            </a:r>
            <a:r>
              <a:rPr lang="en-US" altLang="zh-CN" sz="1200" kern="1200" dirty="0">
                <a:solidFill>
                  <a:schemeClr val="tx1"/>
                </a:solidFill>
                <a:effectLst/>
                <a:latin typeface="+mn-lt"/>
                <a:ea typeface="+mn-ea"/>
                <a:cs typeface="+mn-cs"/>
              </a:rPr>
              <a:t>L1</a:t>
            </a:r>
            <a:r>
              <a:rPr lang="zh-CN" altLang="en-US" sz="1200" kern="1200" dirty="0">
                <a:solidFill>
                  <a:schemeClr val="tx1"/>
                </a:solidFill>
                <a:effectLst/>
                <a:latin typeface="+mn-lt"/>
                <a:ea typeface="+mn-ea"/>
                <a:cs typeface="+mn-cs"/>
              </a:rPr>
              <a:t>正则化在梯度中引入了一个符号函数</a:t>
            </a:r>
            <a:r>
              <a:rPr lang="zh-CN" altLang="zh-CN" sz="1200" kern="1200" dirty="0">
                <a:solidFill>
                  <a:schemeClr val="tx1"/>
                </a:solidFill>
                <a:effectLst/>
                <a:latin typeface="+mn-lt"/>
                <a:ea typeface="+mn-ea"/>
                <a:cs typeface="+mn-cs"/>
              </a:rPr>
              <a:t>，当</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为正数的时候，更新后的</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会变得更小一点；当</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是负的时候更新后的</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会变得大一点，这样正则化的效果就会使得</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更加接近于</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，在网络中的权重接近于</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，也可以减少</a:t>
            </a:r>
            <a:r>
              <a:rPr lang="zh-CN" altLang="en-US" sz="1200" kern="1200" dirty="0">
                <a:solidFill>
                  <a:schemeClr val="tx1"/>
                </a:solidFill>
                <a:effectLst/>
                <a:latin typeface="+mn-lt"/>
                <a:ea typeface="+mn-ea"/>
                <a:cs typeface="+mn-cs"/>
              </a:rPr>
              <a:t>过</a:t>
            </a:r>
            <a:r>
              <a:rPr lang="zh-CN" altLang="zh-CN" sz="1200" kern="1200" dirty="0">
                <a:solidFill>
                  <a:schemeClr val="tx1"/>
                </a:solidFill>
                <a:effectLst/>
                <a:latin typeface="+mn-lt"/>
                <a:ea typeface="+mn-ea"/>
                <a:cs typeface="+mn-cs"/>
              </a:rPr>
              <a:t>拟合。</a:t>
            </a:r>
          </a:p>
          <a:p>
            <a:endParaRPr lang="en-US" altLang="zh-CN" dirty="0"/>
          </a:p>
          <a:p>
            <a:r>
              <a:rPr lang="zh-CN" altLang="zh-CN" sz="1200" kern="1200" dirty="0">
                <a:solidFill>
                  <a:schemeClr val="tx1"/>
                </a:solidFill>
                <a:effectLst/>
                <a:latin typeface="+mn-lt"/>
                <a:ea typeface="+mn-ea"/>
                <a:cs typeface="+mn-cs"/>
              </a:rPr>
              <a:t>这种技巧对于我们在神经网络训练里面，还有一个东西叫稀疏化。稀疏化的意思就是说我们在训练的时候，要让神经网络很多权重都是零。有些稀疏化的技术甚至可以让神经网络里面有</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的权重是零。这个有什么好处呢？你想神经网络权重是零，当你在使用他的时候，这些是零的就不用算了，你就可以跳过去了，这样就可以使得整个神经网络在使用上计算量降低</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或者多少，这些也是很多时候通过加一些正值项或者惩罚项来实现的。</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67</a:t>
            </a:fld>
            <a:endParaRPr lang="zh-CN" altLang="en-US"/>
          </a:p>
        </p:txBody>
      </p:sp>
    </p:spTree>
    <p:extLst>
      <p:ext uri="{BB962C8B-B14F-4D97-AF65-F5344CB8AC3E}">
        <p14:creationId xmlns:p14="http://schemas.microsoft.com/office/powerpoint/2010/main" val="298364123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集成学习可以训练不同的模型来共同决策测试样例的输出。</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68</a:t>
            </a:fld>
            <a:endParaRPr lang="zh-CN" altLang="en-US"/>
          </a:p>
        </p:txBody>
      </p:sp>
    </p:spTree>
    <p:extLst>
      <p:ext uri="{BB962C8B-B14F-4D97-AF65-F5344CB8AC3E}">
        <p14:creationId xmlns:p14="http://schemas.microsoft.com/office/powerpoint/2010/main" val="15888815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当一个识别猫的神经网络不够好时，可以再建两个神经网络模型来识别猫。这三个模型可能是用不同的参数、不同的网络拓扑结构，比如一个支持向量机，一个决策树，一个神经网络等。具体的识别的时候，取三个模型的均值作为输出，也可以再训练一个分类器去选择什么情况下该用三个模型中的哪一个。通过集成学习可以减少神经网络的误差。</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69</a:t>
            </a:fld>
            <a:endParaRPr lang="zh-CN" altLang="en-US"/>
          </a:p>
        </p:txBody>
      </p:sp>
    </p:spTree>
    <p:extLst>
      <p:ext uri="{BB962C8B-B14F-4D97-AF65-F5344CB8AC3E}">
        <p14:creationId xmlns:p14="http://schemas.microsoft.com/office/powerpoint/2010/main" val="34817046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主要考虑是神经网络太复杂了。随机丢掉一些隐层节点，可以降低模型的复杂度，还能避免过拟合。</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70</a:t>
            </a:fld>
            <a:endParaRPr lang="zh-CN" altLang="en-US"/>
          </a:p>
        </p:txBody>
      </p:sp>
    </p:spTree>
    <p:extLst>
      <p:ext uri="{BB962C8B-B14F-4D97-AF65-F5344CB8AC3E}">
        <p14:creationId xmlns:p14="http://schemas.microsoft.com/office/powerpoint/2010/main" val="3580686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基础的网络模型可以丢掉部分节点子集形成子网络。例如，可以丢掉</a:t>
            </a:r>
            <a:r>
              <a:rPr lang="en-US" altLang="zh-CN" dirty="0"/>
              <a:t>h2</a:t>
            </a:r>
            <a:r>
              <a:rPr lang="zh-CN" altLang="en-US" dirty="0"/>
              <a:t>和</a:t>
            </a:r>
            <a:r>
              <a:rPr lang="en-US" altLang="zh-CN" dirty="0"/>
              <a:t>x2</a:t>
            </a:r>
            <a:r>
              <a:rPr lang="zh-CN" altLang="en-US" dirty="0"/>
              <a:t>，也可以丢掉一些边或者丢掉一些神经元。</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71</a:t>
            </a:fld>
            <a:endParaRPr lang="zh-CN" altLang="en-US"/>
          </a:p>
        </p:txBody>
      </p:sp>
    </p:spTree>
    <p:extLst>
      <p:ext uri="{BB962C8B-B14F-4D97-AF65-F5344CB8AC3E}">
        <p14:creationId xmlns:p14="http://schemas.microsoft.com/office/powerpoint/2010/main" val="412512441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具体来讲，可以设置一个掩码向量，每一项对应网络的一个输入或隐层的一个节点，然后随机对掩码进行采样。网络中的每个节点乘以相应的掩码后，沿着网络的其余部分继续向前传播。</a:t>
            </a:r>
            <a:endParaRPr lang="en-US" altLang="zh-CN" dirty="0"/>
          </a:p>
          <a:p>
            <a:r>
              <a:rPr lang="zh-CN" altLang="en-US" dirty="0"/>
              <a:t>采样概率为</a:t>
            </a:r>
            <a:r>
              <a:rPr lang="en-US" altLang="zh-CN" dirty="0"/>
              <a:t>0.5</a:t>
            </a:r>
            <a:r>
              <a:rPr lang="zh-CN" altLang="en-US" dirty="0"/>
              <a:t>意味着可能有一半的隐层节点没有采样就被丢掉了。</a:t>
            </a:r>
            <a:endParaRPr lang="en-US" altLang="zh-CN" dirty="0"/>
          </a:p>
          <a:p>
            <a:r>
              <a:rPr lang="zh-CN" altLang="en-US" dirty="0"/>
              <a:t>在测试过程中，</a:t>
            </a:r>
            <a:r>
              <a:rPr lang="en-US" altLang="zh-CN" dirty="0"/>
              <a:t>Dropout</a:t>
            </a:r>
            <a:r>
              <a:rPr lang="zh-CN" altLang="en-US" dirty="0"/>
              <a:t>会使用所有的节点，但对节点的输出乘以采样概率。</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72</a:t>
            </a:fld>
            <a:endParaRPr lang="zh-CN" altLang="en-US"/>
          </a:p>
        </p:txBody>
      </p:sp>
    </p:spTree>
    <p:extLst>
      <p:ext uri="{BB962C8B-B14F-4D97-AF65-F5344CB8AC3E}">
        <p14:creationId xmlns:p14="http://schemas.microsoft.com/office/powerpoint/2010/main" val="176852469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73</a:t>
            </a:fld>
            <a:endParaRPr lang="zh-CN" altLang="en-US"/>
          </a:p>
        </p:txBody>
      </p:sp>
    </p:spTree>
    <p:extLst>
      <p:ext uri="{BB962C8B-B14F-4D97-AF65-F5344CB8AC3E}">
        <p14:creationId xmlns:p14="http://schemas.microsoft.com/office/powerpoint/2010/main" val="277706279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74</a:t>
            </a:fld>
            <a:endParaRPr lang="zh-CN" altLang="en-US"/>
          </a:p>
        </p:txBody>
      </p:sp>
    </p:spTree>
    <p:extLst>
      <p:ext uri="{BB962C8B-B14F-4D97-AF65-F5344CB8AC3E}">
        <p14:creationId xmlns:p14="http://schemas.microsoft.com/office/powerpoint/2010/main" val="415944598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交叉验证要求把机器学习用到的数据集分成两个部分，一部分训练集，一部分测试集，不能把所有数据都用于训练。一是可以避免过拟合，二是可以判断模型建的好不好。</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75</a:t>
            </a:fld>
            <a:endParaRPr lang="zh-CN" altLang="en-US"/>
          </a:p>
        </p:txBody>
      </p:sp>
    </p:spTree>
    <p:extLst>
      <p:ext uri="{BB962C8B-B14F-4D97-AF65-F5344CB8AC3E}">
        <p14:creationId xmlns:p14="http://schemas.microsoft.com/office/powerpoint/2010/main" val="152949817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solidFill>
                  <a:srgbClr val="1A1A1A"/>
                </a:solidFill>
                <a:latin typeface="微软雅黑 Light" panose="020B0502040204020203" pitchFamily="34" charset="-122"/>
                <a:ea typeface="微软雅黑 Light" panose="020B0502040204020203" pitchFamily="34" charset="-122"/>
              </a:rPr>
              <a:t>Mean Squared Error</a:t>
            </a:r>
            <a:r>
              <a:rPr lang="zh-CN" altLang="en-US" dirty="0">
                <a:solidFill>
                  <a:srgbClr val="1A1A1A"/>
                </a:solidFill>
                <a:latin typeface="微软雅黑 Light" panose="020B0502040204020203" pitchFamily="34" charset="-122"/>
                <a:ea typeface="微软雅黑 Light" panose="020B0502040204020203" pitchFamily="34" charset="-122"/>
              </a:rPr>
              <a:t>：均方误差</a:t>
            </a:r>
            <a:endParaRPr lang="en-US" altLang="zh-CN" dirty="0">
              <a:solidFill>
                <a:srgbClr val="1A1A1A"/>
              </a:solidFill>
              <a:latin typeface="微软雅黑 Light" panose="020B0502040204020203" pitchFamily="34" charset="-122"/>
              <a:ea typeface="微软雅黑 Light" panose="020B0502040204020203" pitchFamily="34" charset="-122"/>
            </a:endParaRPr>
          </a:p>
          <a:p>
            <a:r>
              <a:rPr lang="zh-CN" altLang="en-US" dirty="0">
                <a:solidFill>
                  <a:srgbClr val="1A1A1A"/>
                </a:solidFill>
                <a:latin typeface="微软雅黑 Light" panose="020B0502040204020203" pitchFamily="34" charset="-122"/>
                <a:ea typeface="微软雅黑 Light" panose="020B0502040204020203" pitchFamily="34" charset="-122"/>
              </a:rPr>
              <a:t>最简单的划分方法是随机分。</a:t>
            </a:r>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76</a:t>
            </a:fld>
            <a:endParaRPr lang="zh-CN" altLang="en-US"/>
          </a:p>
        </p:txBody>
      </p:sp>
    </p:spTree>
    <p:extLst>
      <p:ext uri="{BB962C8B-B14F-4D97-AF65-F5344CB8AC3E}">
        <p14:creationId xmlns:p14="http://schemas.microsoft.com/office/powerpoint/2010/main" val="21107874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为了减少精度波动，提出了留一法交叉验证。</a:t>
            </a:r>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77</a:t>
            </a:fld>
            <a:endParaRPr lang="zh-CN" altLang="en-US"/>
          </a:p>
        </p:txBody>
      </p:sp>
    </p:spTree>
    <p:extLst>
      <p:ext uri="{BB962C8B-B14F-4D97-AF65-F5344CB8AC3E}">
        <p14:creationId xmlns:p14="http://schemas.microsoft.com/office/powerpoint/2010/main" val="118991484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78</a:t>
            </a:fld>
            <a:endParaRPr lang="zh-CN" altLang="en-US"/>
          </a:p>
        </p:txBody>
      </p:sp>
    </p:spTree>
    <p:extLst>
      <p:ext uri="{BB962C8B-B14F-4D97-AF65-F5344CB8AC3E}">
        <p14:creationId xmlns:p14="http://schemas.microsoft.com/office/powerpoint/2010/main" val="293190754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79</a:t>
            </a:fld>
            <a:endParaRPr lang="zh-CN" altLang="en-US"/>
          </a:p>
        </p:txBody>
      </p:sp>
    </p:spTree>
    <p:extLst>
      <p:ext uri="{BB962C8B-B14F-4D97-AF65-F5344CB8AC3E}">
        <p14:creationId xmlns:p14="http://schemas.microsoft.com/office/powerpoint/2010/main" val="36145707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80</a:t>
            </a:fld>
            <a:endParaRPr lang="zh-CN" altLang="en-US"/>
          </a:p>
        </p:txBody>
      </p:sp>
    </p:spTree>
    <p:extLst>
      <p:ext uri="{BB962C8B-B14F-4D97-AF65-F5344CB8AC3E}">
        <p14:creationId xmlns:p14="http://schemas.microsoft.com/office/powerpoint/2010/main" val="8333097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0CB8C09-5C8A-4DE1-BA2A-F41931EDF644}" type="slidenum">
              <a:rPr lang="zh-CN" altLang="en-US" smtClean="0"/>
              <a:pPr/>
              <a:t>81</a:t>
            </a:fld>
            <a:endParaRPr lang="zh-CN" altLang="en-US"/>
          </a:p>
        </p:txBody>
      </p:sp>
    </p:spTree>
    <p:extLst>
      <p:ext uri="{BB962C8B-B14F-4D97-AF65-F5344CB8AC3E}">
        <p14:creationId xmlns:p14="http://schemas.microsoft.com/office/powerpoint/2010/main" val="4149515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AF0700-34C0-4E3D-A19F-A88D5AF9BB5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4507F55-9355-4561-9A5F-6726417BDB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7F0FC2-E145-4FF2-8FFE-DED13E67F064}"/>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1A2CAEC5-2BE6-4EE1-8535-2F998430C17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94031E-40BF-4547-AC88-DC452BAD5AA1}"/>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261649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7702CB-D8D6-49FD-B879-F15F42117F0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F155ACF-5C7D-4DD8-9A17-4A2AD7A6F4DE}"/>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1C79303-4918-4254-80C0-279187E346D6}"/>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54368C2E-CE2C-4BF2-8F67-C82E9BF3CE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D1364DD-41C1-4908-9D1F-C79CC8556F6C}"/>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3261234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DDBC00-0E29-4F19-AA41-4CE0573213D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280BA5E-1930-4FB4-8E09-5C23D862E8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3A399645-3096-4BC1-95D3-B0C45296DBE5}"/>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3E3F2C32-1D25-41D0-8A4F-5E031A6281D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19579D-DAA0-47BC-9DFF-F76C3AF36E59}"/>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1432595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F14FA2-2A74-46CC-94B8-983B723AB3D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1FC6913-76CA-4681-9139-9C5B4D9AAE6B}"/>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78629C4-5C2C-40C8-9AB5-5BA521666CA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AB1F2764-EC67-44B3-9C22-1BE27F2B26AE}"/>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761373C8-8F93-4D80-8066-C4BE1EAB587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EDA478A-4EBB-4687-B65A-372965416F64}"/>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366628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48FE5D-3405-434F-B532-73F097E815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54D9FA3-167A-45C5-A989-1CC61552C5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DA4C7125-DD00-43BF-87F3-85B43EEEDAC4}"/>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65D4BE66-C4DD-4B12-9F4E-CED75F5836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364AF68C-2D50-47CD-890A-29FDEE35D5A4}"/>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E6E9C38-C56B-44A1-8EE0-F9D4325375EE}"/>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8" name="页脚占位符 7">
            <a:extLst>
              <a:ext uri="{FF2B5EF4-FFF2-40B4-BE49-F238E27FC236}">
                <a16:creationId xmlns:a16="http://schemas.microsoft.com/office/drawing/2014/main" id="{C22D2491-A380-4011-A41A-839BB840FD2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CA83CEB-42D8-422D-B854-75ED7CB748C0}"/>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2060728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D62A6E-0793-4671-9453-719BE0EB14A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2C8578A-979E-424E-AF77-092938FAF247}"/>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4" name="页脚占位符 3">
            <a:extLst>
              <a:ext uri="{FF2B5EF4-FFF2-40B4-BE49-F238E27FC236}">
                <a16:creationId xmlns:a16="http://schemas.microsoft.com/office/drawing/2014/main" id="{4EF6D1FF-B333-4B94-883F-2963427B36C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4A08772-20A6-4E2E-AB64-9B33764C0C1F}"/>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3808784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5DB403E-F661-41DC-9FA1-4458DA434C8B}"/>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3" name="页脚占位符 2">
            <a:extLst>
              <a:ext uri="{FF2B5EF4-FFF2-40B4-BE49-F238E27FC236}">
                <a16:creationId xmlns:a16="http://schemas.microsoft.com/office/drawing/2014/main" id="{3E32B0ED-2D49-4148-A38A-CB7C398D9DC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DE12E51-31F3-4BD7-BFF6-520B799DAEA6}"/>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1326908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6D8AF8-CFE1-44AF-9B35-99EB5EA61E2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D68008F-9B85-4403-A0C9-13A6A7BED6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246B8C8-7FD6-4740-820D-C4ABBB30A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4EB5917-D763-4DF0-8A10-6E5CC72126E9}"/>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3B3B2E23-35C6-4588-B337-2F33946EFC9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64F47B-A85A-4563-98CD-031C210AF91F}"/>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1556488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72A40-76C2-4DF0-A87F-2D587437E05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E61ECFC-865E-40FE-9C3B-22971FD18F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FA1C57A-FC52-467D-BA94-D2049BC3A8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1810F7C-0A8B-4732-9D75-E77F7212841B}"/>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67AD0434-FF22-48D1-88F6-75C6EE71625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B507A5-4FC0-4343-93C1-FCE89945CE86}"/>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2555691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CFBDD-84CE-4D5E-BB15-D0E1F5DAC40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8AD52AD-73F5-4768-8513-D8F20B7C38F0}"/>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0BC08B7-D34A-424C-8CC4-EB16DE993A6F}"/>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E57AAE88-3379-4B28-9400-0B350E63E76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FD4839-415D-4FB7-91DF-9BC9B5DD0C05}"/>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1369471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AF3CC12-A110-4851-972C-0E52323E4BA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000C1A2-56C9-414C-9101-5784F6B82EB5}"/>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2CB7420-A3EC-466A-B6FE-F31666E0D737}"/>
              </a:ext>
            </a:extLst>
          </p:cNvPr>
          <p:cNvSpPr>
            <a:spLocks noGrp="1"/>
          </p:cNvSpPr>
          <p:nvPr>
            <p:ph type="dt" sz="half" idx="10"/>
          </p:nvPr>
        </p:nvSpPr>
        <p:spPr/>
        <p:txBody>
          <a:bodyPr/>
          <a:lstStyle/>
          <a:p>
            <a:fld id="{ED26C9E2-0F89-426B-873E-41053578D13E}"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13295DA5-4AD9-4F8B-A6E9-51F31ECC49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68A0E1-FC92-4049-92E9-8E61FD2ADBE8}"/>
              </a:ext>
            </a:extLst>
          </p:cNvPr>
          <p:cNvSpPr>
            <a:spLocks noGrp="1"/>
          </p:cNvSpPr>
          <p:nvPr>
            <p:ph type="sldNum" sz="quarter" idx="12"/>
          </p:nvPr>
        </p:nvSpPr>
        <p:spPr/>
        <p:txBody>
          <a:bodyPr/>
          <a:lstStyle/>
          <a:p>
            <a:fld id="{E567681E-E162-4699-A9F0-708A764AC0A1}" type="slidenum">
              <a:rPr lang="zh-CN" altLang="en-US" smtClean="0"/>
              <a:t>‹#›</a:t>
            </a:fld>
            <a:endParaRPr lang="zh-CN" altLang="en-US"/>
          </a:p>
        </p:txBody>
      </p:sp>
    </p:spTree>
    <p:extLst>
      <p:ext uri="{BB962C8B-B14F-4D97-AF65-F5344CB8AC3E}">
        <p14:creationId xmlns:p14="http://schemas.microsoft.com/office/powerpoint/2010/main" val="2688652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A9B181D-858A-407B-A106-FEC3F8440E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B162746-E1CD-482F-B717-741D588D0B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F693465-1049-4A13-8905-73D7D8D6CA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26C9E2-0F89-426B-873E-41053578D13E}"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A7DFB246-0C07-4FBD-891A-A0D9575C12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1C69C82-F438-46B2-9493-6CE7CB89D6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67681E-E162-4699-A9F0-708A764AC0A1}" type="slidenum">
              <a:rPr lang="zh-CN" altLang="en-US" smtClean="0"/>
              <a:t>‹#›</a:t>
            </a:fld>
            <a:endParaRPr lang="zh-CN" altLang="en-US"/>
          </a:p>
        </p:txBody>
      </p:sp>
      <p:sp>
        <p:nvSpPr>
          <p:cNvPr id="7" name="矩形 6">
            <a:extLst>
              <a:ext uri="{FF2B5EF4-FFF2-40B4-BE49-F238E27FC236}">
                <a16:creationId xmlns:a16="http://schemas.microsoft.com/office/drawing/2014/main" id="{A20816EA-8A0A-4AC1-BCD1-CE99189945BC}"/>
              </a:ext>
            </a:extLst>
          </p:cNvPr>
          <p:cNvSpPr/>
          <p:nvPr userDrawn="1"/>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8" name="图片 7">
            <a:extLst>
              <a:ext uri="{FF2B5EF4-FFF2-40B4-BE49-F238E27FC236}">
                <a16:creationId xmlns:a16="http://schemas.microsoft.com/office/drawing/2014/main" id="{A8EC1CB0-B810-4842-9C5A-63A0370D6123}"/>
              </a:ext>
            </a:extLst>
          </p:cNvPr>
          <p:cNvPicPr>
            <a:picLocks noChangeAspect="1"/>
          </p:cNvPicPr>
          <p:nvPr userDrawn="1"/>
        </p:nvPicPr>
        <p:blipFill>
          <a:blip r:embed="rId1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pic>
        <p:nvPicPr>
          <p:cNvPr id="9" name="图片 8">
            <a:extLst>
              <a:ext uri="{FF2B5EF4-FFF2-40B4-BE49-F238E27FC236}">
                <a16:creationId xmlns:a16="http://schemas.microsoft.com/office/drawing/2014/main" id="{C2B02C05-1B92-48A9-95EC-182462B37546}"/>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10" name="矩形 9">
            <a:extLst>
              <a:ext uri="{FF2B5EF4-FFF2-40B4-BE49-F238E27FC236}">
                <a16:creationId xmlns:a16="http://schemas.microsoft.com/office/drawing/2014/main" id="{3F9D65AA-3D1D-43A9-8EB3-7492314CB85D}"/>
              </a:ext>
            </a:extLst>
          </p:cNvPr>
          <p:cNvSpPr/>
          <p:nvPr userDrawn="1"/>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Tree>
    <p:extLst>
      <p:ext uri="{BB962C8B-B14F-4D97-AF65-F5344CB8AC3E}">
        <p14:creationId xmlns:p14="http://schemas.microsoft.com/office/powerpoint/2010/main" val="594784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image" Target="../media/image2.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jpeg"/><Relationship Id="rId5" Type="http://schemas.openxmlformats.org/officeDocument/2006/relationships/notesSlide" Target="../notesSlides/notesSlide1.xml"/><Relationship Id="rId10" Type="http://schemas.openxmlformats.org/officeDocument/2006/relationships/image" Target="../media/image5.png"/><Relationship Id="rId4" Type="http://schemas.openxmlformats.org/officeDocument/2006/relationships/slideLayout" Target="../slideLayouts/slideLayout1.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910.pn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jpeg"/><Relationship Id="rId7" Type="http://schemas.openxmlformats.org/officeDocument/2006/relationships/image" Target="../media/image13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8" Type="http://schemas.openxmlformats.org/officeDocument/2006/relationships/image" Target="../media/image1810.png"/><Relationship Id="rId3" Type="http://schemas.openxmlformats.org/officeDocument/2006/relationships/image" Target="../media/image1.jpe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8" Type="http://schemas.openxmlformats.org/officeDocument/2006/relationships/image" Target="../media/image2210.png"/><Relationship Id="rId3" Type="http://schemas.openxmlformats.org/officeDocument/2006/relationships/image" Target="../media/image1.jpeg"/><Relationship Id="rId7" Type="http://schemas.openxmlformats.org/officeDocument/2006/relationships/image" Target="../media/image2110.png"/><Relationship Id="rId12" Type="http://schemas.openxmlformats.org/officeDocument/2006/relationships/image" Target="../media/image26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2510.png"/><Relationship Id="rId5" Type="http://schemas.openxmlformats.org/officeDocument/2006/relationships/image" Target="../media/image1910.png"/><Relationship Id="rId10" Type="http://schemas.openxmlformats.org/officeDocument/2006/relationships/image" Target="../media/image2410.png"/><Relationship Id="rId4" Type="http://schemas.openxmlformats.org/officeDocument/2006/relationships/image" Target="../media/image2.jpe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9.e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2.jpeg"/><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jpeg"/><Relationship Id="rId7"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42.png"/><Relationship Id="rId3" Type="http://schemas.openxmlformats.org/officeDocument/2006/relationships/image" Target="../media/image1.jpe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2.jpeg"/><Relationship Id="rId9" Type="http://schemas.openxmlformats.org/officeDocument/2006/relationships/image" Target="../media/image38.png"/></Relationships>
</file>

<file path=ppt/slides/_rels/slide20.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1.jpe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4" Type="http://schemas.openxmlformats.org/officeDocument/2006/relationships/image" Target="../media/image2.jpeg"/><Relationship Id="rId9" Type="http://schemas.openxmlformats.org/officeDocument/2006/relationships/image" Target="../media/image47.png"/><Relationship Id="rId14" Type="http://schemas.openxmlformats.org/officeDocument/2006/relationships/image" Target="../media/image52.png"/></Relationships>
</file>

<file path=ppt/slides/_rels/slide21.xml.rels><?xml version="1.0" encoding="UTF-8" standalone="yes"?>
<Relationships xmlns="http://schemas.openxmlformats.org/package/2006/relationships"><Relationship Id="rId8" Type="http://schemas.openxmlformats.org/officeDocument/2006/relationships/image" Target="../media/image490.png"/><Relationship Id="rId3" Type="http://schemas.openxmlformats.org/officeDocument/2006/relationships/image" Target="../media/image1.jpeg"/><Relationship Id="rId7" Type="http://schemas.openxmlformats.org/officeDocument/2006/relationships/image" Target="../media/image49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20.png"/><Relationship Id="rId5" Type="http://schemas.openxmlformats.org/officeDocument/2006/relationships/image" Target="../media/image510.png"/><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1.jpeg"/><Relationship Id="rId7"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jpeg"/><Relationship Id="rId7"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63.png"/><Relationship Id="rId4" Type="http://schemas.openxmlformats.org/officeDocument/2006/relationships/image" Target="../media/image2.jpeg"/><Relationship Id="rId9" Type="http://schemas.openxmlformats.org/officeDocument/2006/relationships/image" Target="../media/image62.png"/></Relationships>
</file>

<file path=ppt/slides/_rels/slide2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1.jpe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2.jpeg"/><Relationship Id="rId9" Type="http://schemas.openxmlformats.org/officeDocument/2006/relationships/image" Target="../media/image68.png"/></Relationships>
</file>

<file path=ppt/slides/_rels/slide25.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26" Type="http://schemas.openxmlformats.org/officeDocument/2006/relationships/image" Target="../media/image93.png"/><Relationship Id="rId3" Type="http://schemas.openxmlformats.org/officeDocument/2006/relationships/image" Target="../media/image1.jpeg"/><Relationship Id="rId21" Type="http://schemas.openxmlformats.org/officeDocument/2006/relationships/image" Target="../media/image88.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84.png"/><Relationship Id="rId25" Type="http://schemas.openxmlformats.org/officeDocument/2006/relationships/image" Target="../media/image92.png"/><Relationship Id="rId2" Type="http://schemas.openxmlformats.org/officeDocument/2006/relationships/notesSlide" Target="../notesSlides/notesSlide24.xml"/><Relationship Id="rId16" Type="http://schemas.openxmlformats.org/officeDocument/2006/relationships/image" Target="../media/image83.png"/><Relationship Id="rId20" Type="http://schemas.openxmlformats.org/officeDocument/2006/relationships/image" Target="../media/image87.png"/><Relationship Id="rId1" Type="http://schemas.openxmlformats.org/officeDocument/2006/relationships/slideLayout" Target="../slideLayouts/slideLayout1.xml"/><Relationship Id="rId6" Type="http://schemas.openxmlformats.org/officeDocument/2006/relationships/image" Target="../media/image73.png"/><Relationship Id="rId11" Type="http://schemas.openxmlformats.org/officeDocument/2006/relationships/image" Target="../media/image78.png"/><Relationship Id="rId24" Type="http://schemas.openxmlformats.org/officeDocument/2006/relationships/image" Target="../media/image91.png"/><Relationship Id="rId5" Type="http://schemas.openxmlformats.org/officeDocument/2006/relationships/image" Target="../media/image72.png"/><Relationship Id="rId15" Type="http://schemas.openxmlformats.org/officeDocument/2006/relationships/image" Target="../media/image82.png"/><Relationship Id="rId23" Type="http://schemas.openxmlformats.org/officeDocument/2006/relationships/image" Target="../media/image90.png"/><Relationship Id="rId28" Type="http://schemas.openxmlformats.org/officeDocument/2006/relationships/image" Target="../media/image95.png"/><Relationship Id="rId10" Type="http://schemas.openxmlformats.org/officeDocument/2006/relationships/image" Target="../media/image77.png"/><Relationship Id="rId19" Type="http://schemas.openxmlformats.org/officeDocument/2006/relationships/image" Target="../media/image86.png"/><Relationship Id="rId4" Type="http://schemas.openxmlformats.org/officeDocument/2006/relationships/image" Target="../media/image2.jpeg"/><Relationship Id="rId9" Type="http://schemas.openxmlformats.org/officeDocument/2006/relationships/image" Target="../media/image76.png"/><Relationship Id="rId14" Type="http://schemas.openxmlformats.org/officeDocument/2006/relationships/image" Target="../media/image81.png"/><Relationship Id="rId22" Type="http://schemas.openxmlformats.org/officeDocument/2006/relationships/image" Target="../media/image89.png"/><Relationship Id="rId27" Type="http://schemas.openxmlformats.org/officeDocument/2006/relationships/image" Target="../media/image94.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image" Target="../media/image107.png"/><Relationship Id="rId3" Type="http://schemas.openxmlformats.org/officeDocument/2006/relationships/image" Target="../media/image1.jpeg"/><Relationship Id="rId7" Type="http://schemas.openxmlformats.org/officeDocument/2006/relationships/image" Target="../media/image101.png"/><Relationship Id="rId12" Type="http://schemas.openxmlformats.org/officeDocument/2006/relationships/image" Target="../media/image106.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00.png"/><Relationship Id="rId11" Type="http://schemas.openxmlformats.org/officeDocument/2006/relationships/image" Target="../media/image105.png"/><Relationship Id="rId5" Type="http://schemas.openxmlformats.org/officeDocument/2006/relationships/image" Target="../media/image99.png"/><Relationship Id="rId10" Type="http://schemas.openxmlformats.org/officeDocument/2006/relationships/image" Target="../media/image104.png"/><Relationship Id="rId4" Type="http://schemas.openxmlformats.org/officeDocument/2006/relationships/image" Target="../media/image2.jpeg"/><Relationship Id="rId9" Type="http://schemas.openxmlformats.org/officeDocument/2006/relationships/image" Target="../media/image103.png"/><Relationship Id="rId14" Type="http://schemas.openxmlformats.org/officeDocument/2006/relationships/image" Target="../media/image108.png"/></Relationships>
</file>

<file path=ppt/slides/_rels/slide29.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jpeg"/><Relationship Id="rId7" Type="http://schemas.openxmlformats.org/officeDocument/2006/relationships/image" Target="../media/image11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2.jpeg"/><Relationship Id="rId9" Type="http://schemas.openxmlformats.org/officeDocument/2006/relationships/image" Target="../media/image113.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7.jpeg"/><Relationship Id="rId4"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3.xml.rels><?xml version="1.0" encoding="UTF-8" standalone="yes"?>
<Relationships xmlns="http://schemas.openxmlformats.org/package/2006/relationships"><Relationship Id="rId8" Type="http://schemas.openxmlformats.org/officeDocument/2006/relationships/image" Target="../media/image1050.png"/><Relationship Id="rId3" Type="http://schemas.openxmlformats.org/officeDocument/2006/relationships/image" Target="../media/image1.jpeg"/><Relationship Id="rId7" Type="http://schemas.openxmlformats.org/officeDocument/2006/relationships/image" Target="../media/image1040.png"/><Relationship Id="rId12" Type="http://schemas.openxmlformats.org/officeDocument/2006/relationships/image" Target="../media/image118.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010.png"/><Relationship Id="rId11" Type="http://schemas.openxmlformats.org/officeDocument/2006/relationships/image" Target="../media/image117.png"/><Relationship Id="rId5" Type="http://schemas.openxmlformats.org/officeDocument/2006/relationships/image" Target="../media/image1020.png"/><Relationship Id="rId10" Type="http://schemas.openxmlformats.org/officeDocument/2006/relationships/image" Target="../media/image1070.png"/><Relationship Id="rId4" Type="http://schemas.openxmlformats.org/officeDocument/2006/relationships/image" Target="../media/image2.jpeg"/><Relationship Id="rId9" Type="http://schemas.openxmlformats.org/officeDocument/2006/relationships/image" Target="../media/image1060.png"/></Relationships>
</file>

<file path=ppt/slides/_rels/slide34.xml.rels><?xml version="1.0" encoding="UTF-8" standalone="yes"?>
<Relationships xmlns="http://schemas.openxmlformats.org/package/2006/relationships"><Relationship Id="rId8" Type="http://schemas.openxmlformats.org/officeDocument/2006/relationships/image" Target="../media/image870.png"/><Relationship Id="rId3" Type="http://schemas.openxmlformats.org/officeDocument/2006/relationships/image" Target="../media/image1.jpeg"/><Relationship Id="rId7" Type="http://schemas.openxmlformats.org/officeDocument/2006/relationships/image" Target="../media/image961.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2.jpeg"/></Relationships>
</file>

<file path=ppt/slides/_rels/slide35.xml.rels><?xml version="1.0" encoding="UTF-8" standalone="yes"?>
<Relationships xmlns="http://schemas.openxmlformats.org/package/2006/relationships"><Relationship Id="rId13" Type="http://schemas.openxmlformats.org/officeDocument/2006/relationships/image" Target="../media/image127.png"/><Relationship Id="rId18" Type="http://schemas.openxmlformats.org/officeDocument/2006/relationships/image" Target="../media/image1150.png"/><Relationship Id="rId26" Type="http://schemas.openxmlformats.org/officeDocument/2006/relationships/image" Target="../media/image186.png"/><Relationship Id="rId3" Type="http://schemas.openxmlformats.org/officeDocument/2006/relationships/image" Target="../media/image1.jpeg"/><Relationship Id="rId21" Type="http://schemas.openxmlformats.org/officeDocument/2006/relationships/image" Target="../media/image181.png"/><Relationship Id="rId34" Type="http://schemas.openxmlformats.org/officeDocument/2006/relationships/image" Target="../media/image194.png"/><Relationship Id="rId7" Type="http://schemas.openxmlformats.org/officeDocument/2006/relationships/image" Target="../media/image121.png"/><Relationship Id="rId12" Type="http://schemas.openxmlformats.org/officeDocument/2006/relationships/image" Target="../media/image126.png"/><Relationship Id="rId17" Type="http://schemas.openxmlformats.org/officeDocument/2006/relationships/image" Target="NULL"/><Relationship Id="rId25" Type="http://schemas.openxmlformats.org/officeDocument/2006/relationships/image" Target="../media/image185.png"/><Relationship Id="rId33" Type="http://schemas.openxmlformats.org/officeDocument/2006/relationships/image" Target="../media/image1171.png"/><Relationship Id="rId2" Type="http://schemas.openxmlformats.org/officeDocument/2006/relationships/notesSlide" Target="../notesSlides/notesSlide34.xml"/><Relationship Id="rId16" Type="http://schemas.openxmlformats.org/officeDocument/2006/relationships/image" Target="../media/image1100.png"/><Relationship Id="rId20" Type="http://schemas.openxmlformats.org/officeDocument/2006/relationships/image" Target="../media/image180.png"/><Relationship Id="rId29" Type="http://schemas.openxmlformats.org/officeDocument/2006/relationships/image" Target="../media/image189.png"/><Relationship Id="rId1" Type="http://schemas.openxmlformats.org/officeDocument/2006/relationships/slideLayout" Target="../slideLayouts/slideLayout1.xml"/><Relationship Id="rId6" Type="http://schemas.openxmlformats.org/officeDocument/2006/relationships/image" Target="../media/image120.png"/><Relationship Id="rId11" Type="http://schemas.openxmlformats.org/officeDocument/2006/relationships/image" Target="../media/image125.png"/><Relationship Id="rId24" Type="http://schemas.openxmlformats.org/officeDocument/2006/relationships/image" Target="../media/image184.png"/><Relationship Id="rId32" Type="http://schemas.openxmlformats.org/officeDocument/2006/relationships/image" Target="../media/image116.png"/><Relationship Id="rId5" Type="http://schemas.openxmlformats.org/officeDocument/2006/relationships/image" Target="../media/image119.png"/><Relationship Id="rId15" Type="http://schemas.openxmlformats.org/officeDocument/2006/relationships/image" Target="NULL"/><Relationship Id="rId23" Type="http://schemas.openxmlformats.org/officeDocument/2006/relationships/image" Target="../media/image183.png"/><Relationship Id="rId28" Type="http://schemas.openxmlformats.org/officeDocument/2006/relationships/image" Target="../media/image188.png"/><Relationship Id="rId36" Type="http://schemas.openxmlformats.org/officeDocument/2006/relationships/image" Target="../media/image196.png"/><Relationship Id="rId10" Type="http://schemas.openxmlformats.org/officeDocument/2006/relationships/image" Target="../media/image124.png"/><Relationship Id="rId19" Type="http://schemas.openxmlformats.org/officeDocument/2006/relationships/image" Target="NULL"/><Relationship Id="rId31" Type="http://schemas.openxmlformats.org/officeDocument/2006/relationships/image" Target="../media/image191.png"/><Relationship Id="rId4" Type="http://schemas.openxmlformats.org/officeDocument/2006/relationships/image" Target="../media/image2.jpeg"/><Relationship Id="rId9" Type="http://schemas.openxmlformats.org/officeDocument/2006/relationships/image" Target="../media/image123.png"/><Relationship Id="rId14" Type="http://schemas.openxmlformats.org/officeDocument/2006/relationships/image" Target="../media/image980.png"/><Relationship Id="rId22" Type="http://schemas.openxmlformats.org/officeDocument/2006/relationships/image" Target="../media/image182.png"/><Relationship Id="rId27" Type="http://schemas.openxmlformats.org/officeDocument/2006/relationships/image" Target="../media/image187.png"/><Relationship Id="rId30" Type="http://schemas.openxmlformats.org/officeDocument/2006/relationships/image" Target="../media/image190.png"/><Relationship Id="rId35" Type="http://schemas.openxmlformats.org/officeDocument/2006/relationships/image" Target="../media/image195.png"/><Relationship Id="rId8" Type="http://schemas.openxmlformats.org/officeDocument/2006/relationships/image" Target="../media/image122.png"/></Relationships>
</file>

<file path=ppt/slides/_rels/slide36.xml.rels><?xml version="1.0" encoding="UTF-8" standalone="yes"?>
<Relationships xmlns="http://schemas.openxmlformats.org/package/2006/relationships"><Relationship Id="rId39" Type="http://schemas.openxmlformats.org/officeDocument/2006/relationships/image" Target="../media/image188.png"/><Relationship Id="rId51" Type="http://schemas.openxmlformats.org/officeDocument/2006/relationships/image" Target="../media/image132.png"/><Relationship Id="rId3" Type="http://schemas.openxmlformats.org/officeDocument/2006/relationships/image" Target="../media/image1.jpeg"/><Relationship Id="rId34" Type="http://schemas.openxmlformats.org/officeDocument/2006/relationships/image" Target="../media/image200.png"/><Relationship Id="rId42" Type="http://schemas.openxmlformats.org/officeDocument/2006/relationships/image" Target="../media/image191.png"/><Relationship Id="rId47" Type="http://schemas.openxmlformats.org/officeDocument/2006/relationships/image" Target="../media/image196.png"/><Relationship Id="rId50" Type="http://schemas.openxmlformats.org/officeDocument/2006/relationships/image" Target="../media/image131.png"/><Relationship Id="rId55" Type="http://schemas.openxmlformats.org/officeDocument/2006/relationships/image" Target="../media/image136.png"/><Relationship Id="rId33" Type="http://schemas.openxmlformats.org/officeDocument/2006/relationships/image" Target="../media/image182.png"/><Relationship Id="rId38" Type="http://schemas.openxmlformats.org/officeDocument/2006/relationships/image" Target="../media/image202.png"/><Relationship Id="rId46" Type="http://schemas.openxmlformats.org/officeDocument/2006/relationships/image" Target="../media/image207.png"/><Relationship Id="rId2" Type="http://schemas.openxmlformats.org/officeDocument/2006/relationships/notesSlide" Target="../notesSlides/notesSlide35.xml"/><Relationship Id="rId41" Type="http://schemas.openxmlformats.org/officeDocument/2006/relationships/image" Target="../media/image190.png"/><Relationship Id="rId54" Type="http://schemas.openxmlformats.org/officeDocument/2006/relationships/image" Target="../media/image135.png"/><Relationship Id="rId1" Type="http://schemas.openxmlformats.org/officeDocument/2006/relationships/slideLayout" Target="../slideLayouts/slideLayout1.xml"/><Relationship Id="rId6" Type="http://schemas.openxmlformats.org/officeDocument/2006/relationships/image" Target="../media/image1022.png"/><Relationship Id="rId32" Type="http://schemas.openxmlformats.org/officeDocument/2006/relationships/image" Target="../media/image199.png"/><Relationship Id="rId37" Type="http://schemas.openxmlformats.org/officeDocument/2006/relationships/image" Target="../media/image186.png"/><Relationship Id="rId40" Type="http://schemas.openxmlformats.org/officeDocument/2006/relationships/image" Target="../media/image203.png"/><Relationship Id="rId45" Type="http://schemas.openxmlformats.org/officeDocument/2006/relationships/image" Target="../media/image206.png"/><Relationship Id="rId53" Type="http://schemas.openxmlformats.org/officeDocument/2006/relationships/image" Target="../media/image134.png"/><Relationship Id="rId5" Type="http://schemas.openxmlformats.org/officeDocument/2006/relationships/image" Target="../media/image33.png"/><Relationship Id="rId36" Type="http://schemas.openxmlformats.org/officeDocument/2006/relationships/image" Target="../media/image185.png"/><Relationship Id="rId49" Type="http://schemas.openxmlformats.org/officeDocument/2006/relationships/image" Target="../media/image130.png"/><Relationship Id="rId31" Type="http://schemas.openxmlformats.org/officeDocument/2006/relationships/image" Target="../media/image198.png"/><Relationship Id="rId52" Type="http://schemas.openxmlformats.org/officeDocument/2006/relationships/image" Target="../media/image133.png"/><Relationship Id="rId4" Type="http://schemas.openxmlformats.org/officeDocument/2006/relationships/image" Target="../media/image2.jpeg"/><Relationship Id="rId35" Type="http://schemas.openxmlformats.org/officeDocument/2006/relationships/image" Target="../media/image201.png"/><Relationship Id="rId48" Type="http://schemas.openxmlformats.org/officeDocument/2006/relationships/image" Target="../media/image54.png"/><Relationship Id="rId56" Type="http://schemas.openxmlformats.org/officeDocument/2006/relationships/image" Target="../media/image137.png"/></Relationships>
</file>

<file path=ppt/slides/_rels/slide37.xml.rels><?xml version="1.0" encoding="UTF-8" standalone="yes"?>
<Relationships xmlns="http://schemas.openxmlformats.org/package/2006/relationships"><Relationship Id="rId39" Type="http://schemas.openxmlformats.org/officeDocument/2006/relationships/image" Target="../media/image200.png"/><Relationship Id="rId51" Type="http://schemas.openxmlformats.org/officeDocument/2006/relationships/image" Target="../media/image207.png"/><Relationship Id="rId3" Type="http://schemas.openxmlformats.org/officeDocument/2006/relationships/image" Target="../media/image1.jpeg"/><Relationship Id="rId21" Type="http://schemas.openxmlformats.org/officeDocument/2006/relationships/image" Target="NULL"/><Relationship Id="rId34" Type="http://schemas.openxmlformats.org/officeDocument/2006/relationships/image" Target="../media/image1200.png"/><Relationship Id="rId42" Type="http://schemas.openxmlformats.org/officeDocument/2006/relationships/image" Target="../media/image186.png"/><Relationship Id="rId47" Type="http://schemas.openxmlformats.org/officeDocument/2006/relationships/image" Target="../media/image191.png"/><Relationship Id="rId50" Type="http://schemas.openxmlformats.org/officeDocument/2006/relationships/image" Target="../media/image206.png"/><Relationship Id="rId7" Type="http://schemas.openxmlformats.org/officeDocument/2006/relationships/image" Target="../media/image140.png"/><Relationship Id="rId33" Type="http://schemas.openxmlformats.org/officeDocument/2006/relationships/image" Target="NULL"/><Relationship Id="rId38" Type="http://schemas.openxmlformats.org/officeDocument/2006/relationships/image" Target="../media/image182.png"/><Relationship Id="rId46" Type="http://schemas.openxmlformats.org/officeDocument/2006/relationships/image" Target="../media/image190.png"/><Relationship Id="rId2" Type="http://schemas.openxmlformats.org/officeDocument/2006/relationships/notesSlide" Target="../notesSlides/notesSlide36.xml"/><Relationship Id="rId29" Type="http://schemas.openxmlformats.org/officeDocument/2006/relationships/image" Target="../media/image1181.png"/><Relationship Id="rId41" Type="http://schemas.openxmlformats.org/officeDocument/2006/relationships/image" Target="../media/image185.png"/><Relationship Id="rId1" Type="http://schemas.openxmlformats.org/officeDocument/2006/relationships/slideLayout" Target="../slideLayouts/slideLayout1.xml"/><Relationship Id="rId6" Type="http://schemas.openxmlformats.org/officeDocument/2006/relationships/image" Target="../media/image128.png"/><Relationship Id="rId32" Type="http://schemas.openxmlformats.org/officeDocument/2006/relationships/image" Target="../media/image1190.png"/><Relationship Id="rId37" Type="http://schemas.openxmlformats.org/officeDocument/2006/relationships/image" Target="../media/image199.png"/><Relationship Id="rId40" Type="http://schemas.openxmlformats.org/officeDocument/2006/relationships/image" Target="../media/image201.png"/><Relationship Id="rId45" Type="http://schemas.openxmlformats.org/officeDocument/2006/relationships/image" Target="../media/image203.png"/><Relationship Id="rId5" Type="http://schemas.openxmlformats.org/officeDocument/2006/relationships/image" Target="../media/image138.png"/><Relationship Id="rId36" Type="http://schemas.openxmlformats.org/officeDocument/2006/relationships/image" Target="../media/image198.png"/><Relationship Id="rId49" Type="http://schemas.openxmlformats.org/officeDocument/2006/relationships/image" Target="../media/image205.png"/><Relationship Id="rId31" Type="http://schemas.openxmlformats.org/officeDocument/2006/relationships/image" Target="NULL"/><Relationship Id="rId44" Type="http://schemas.openxmlformats.org/officeDocument/2006/relationships/image" Target="../media/image188.png"/><Relationship Id="rId52" Type="http://schemas.openxmlformats.org/officeDocument/2006/relationships/image" Target="../media/image196.png"/><Relationship Id="rId4" Type="http://schemas.openxmlformats.org/officeDocument/2006/relationships/image" Target="../media/image2.jpeg"/><Relationship Id="rId22" Type="http://schemas.openxmlformats.org/officeDocument/2006/relationships/image" Target="NULL"/><Relationship Id="rId35" Type="http://schemas.openxmlformats.org/officeDocument/2006/relationships/image" Target="NULL"/><Relationship Id="rId43" Type="http://schemas.openxmlformats.org/officeDocument/2006/relationships/image" Target="../media/image202.png"/><Relationship Id="rId48" Type="http://schemas.openxmlformats.org/officeDocument/2006/relationships/image" Target="../media/image204.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2.jpeg"/></Relationships>
</file>

<file path=ppt/slides/_rels/slide39.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jpeg"/><Relationship Id="rId7"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44.png"/><Relationship Id="rId5" Type="http://schemas.openxmlformats.org/officeDocument/2006/relationships/image" Target="../media/image26.png"/><Relationship Id="rId4" Type="http://schemas.openxmlformats.org/officeDocument/2006/relationships/image" Target="../media/image2.jpeg"/></Relationships>
</file>

<file path=ppt/slides/_rels/slide40.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jpeg"/><Relationship Id="rId7" Type="http://schemas.openxmlformats.org/officeDocument/2006/relationships/image" Target="../media/image149.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280.png"/><Relationship Id="rId11" Type="http://schemas.openxmlformats.org/officeDocument/2006/relationships/image" Target="../media/image153.png"/><Relationship Id="rId5" Type="http://schemas.openxmlformats.org/officeDocument/2006/relationships/image" Target="../media/image147.png"/><Relationship Id="rId10" Type="http://schemas.openxmlformats.org/officeDocument/2006/relationships/image" Target="../media/image152.png"/><Relationship Id="rId4" Type="http://schemas.openxmlformats.org/officeDocument/2006/relationships/image" Target="../media/image2.jpeg"/><Relationship Id="rId9" Type="http://schemas.openxmlformats.org/officeDocument/2006/relationships/image" Target="../media/image151.png"/></Relationships>
</file>

<file path=ppt/slides/_rels/slide41.xml.rels><?xml version="1.0" encoding="UTF-8" standalone="yes"?>
<Relationships xmlns="http://schemas.openxmlformats.org/package/2006/relationships"><Relationship Id="rId39" Type="http://schemas.openxmlformats.org/officeDocument/2006/relationships/image" Target="../media/image155.png"/><Relationship Id="rId3" Type="http://schemas.openxmlformats.org/officeDocument/2006/relationships/image" Target="../media/image1.jpeg"/><Relationship Id="rId34" Type="http://schemas.openxmlformats.org/officeDocument/2006/relationships/image" Target="../media/image224.png"/><Relationship Id="rId42" Type="http://schemas.openxmlformats.org/officeDocument/2006/relationships/image" Target="../media/image158.png"/><Relationship Id="rId47" Type="http://schemas.openxmlformats.org/officeDocument/2006/relationships/image" Target="../media/image163.png"/><Relationship Id="rId7" Type="http://schemas.openxmlformats.org/officeDocument/2006/relationships/image" Target="../media/image1330.png"/><Relationship Id="rId33" Type="http://schemas.openxmlformats.org/officeDocument/2006/relationships/image" Target="../media/image189.png"/><Relationship Id="rId38" Type="http://schemas.openxmlformats.org/officeDocument/2006/relationships/image" Target="../media/image154.png"/><Relationship Id="rId46" Type="http://schemas.openxmlformats.org/officeDocument/2006/relationships/image" Target="../media/image162.png"/><Relationship Id="rId2" Type="http://schemas.openxmlformats.org/officeDocument/2006/relationships/notesSlide" Target="../notesSlides/notesSlide40.xml"/><Relationship Id="rId41" Type="http://schemas.openxmlformats.org/officeDocument/2006/relationships/image" Target="../media/image157.png"/><Relationship Id="rId1" Type="http://schemas.openxmlformats.org/officeDocument/2006/relationships/slideLayout" Target="../slideLayouts/slideLayout1.xml"/><Relationship Id="rId6" Type="http://schemas.openxmlformats.org/officeDocument/2006/relationships/image" Target="../media/image1320.png"/><Relationship Id="rId37" Type="http://schemas.openxmlformats.org/officeDocument/2006/relationships/image" Target="../media/image1350.png"/><Relationship Id="rId40" Type="http://schemas.openxmlformats.org/officeDocument/2006/relationships/image" Target="../media/image156.png"/><Relationship Id="rId45" Type="http://schemas.openxmlformats.org/officeDocument/2006/relationships/image" Target="../media/image161.png"/><Relationship Id="rId5" Type="http://schemas.openxmlformats.org/officeDocument/2006/relationships/image" Target="../media/image1310.png"/><Relationship Id="rId36" Type="http://schemas.openxmlformats.org/officeDocument/2006/relationships/image" Target="../media/image1340.png"/><Relationship Id="rId44" Type="http://schemas.openxmlformats.org/officeDocument/2006/relationships/image" Target="../media/image160.png"/><Relationship Id="rId4" Type="http://schemas.openxmlformats.org/officeDocument/2006/relationships/image" Target="../media/image2.jpeg"/><Relationship Id="rId35" Type="http://schemas.openxmlformats.org/officeDocument/2006/relationships/image" Target="../media/image225.png"/><Relationship Id="rId43" Type="http://schemas.openxmlformats.org/officeDocument/2006/relationships/image" Target="../media/image159.png"/></Relationships>
</file>

<file path=ppt/slides/_rels/slide42.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2.png"/><Relationship Id="rId3" Type="http://schemas.openxmlformats.org/officeDocument/2006/relationships/image" Target="../media/image1.jpeg"/><Relationship Id="rId7" Type="http://schemas.openxmlformats.org/officeDocument/2006/relationships/image" Target="../media/image168.png"/><Relationship Id="rId12" Type="http://schemas.openxmlformats.org/officeDocument/2006/relationships/image" Target="../media/image129.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167.png"/><Relationship Id="rId11" Type="http://schemas.openxmlformats.org/officeDocument/2006/relationships/image" Target="../media/image170.png"/><Relationship Id="rId5" Type="http://schemas.openxmlformats.org/officeDocument/2006/relationships/image" Target="../media/image166.png"/><Relationship Id="rId15" Type="http://schemas.openxmlformats.org/officeDocument/2006/relationships/image" Target="../media/image148.png"/><Relationship Id="rId10" Type="http://schemas.openxmlformats.org/officeDocument/2006/relationships/image" Target="../media/image1520.png"/><Relationship Id="rId4" Type="http://schemas.openxmlformats.org/officeDocument/2006/relationships/image" Target="../media/image2.jpeg"/><Relationship Id="rId9" Type="http://schemas.openxmlformats.org/officeDocument/2006/relationships/image" Target="../media/image1420.png"/><Relationship Id="rId14" Type="http://schemas.openxmlformats.org/officeDocument/2006/relationships/image" Target="../media/image139.pn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50.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75.png"/><Relationship Id="rId4" Type="http://schemas.openxmlformats.org/officeDocument/2006/relationships/image" Target="../media/image2.jpe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77.png"/><Relationship Id="rId4" Type="http://schemas.openxmlformats.org/officeDocument/2006/relationships/image" Target="../media/image2.jpe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9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179.png"/><Relationship Id="rId5" Type="http://schemas.openxmlformats.org/officeDocument/2006/relationships/image" Target="../media/image20.png"/><Relationship Id="rId4" Type="http://schemas.openxmlformats.org/officeDocument/2006/relationships/image" Target="../media/image2.jpe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93.png"/><Relationship Id="rId4" Type="http://schemas.openxmlformats.org/officeDocument/2006/relationships/image" Target="../media/image2.jpeg"/></Relationships>
</file>

<file path=ppt/slides/_rels/slide5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1.jpeg"/><Relationship Id="rId7"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08.png"/><Relationship Id="rId4" Type="http://schemas.openxmlformats.org/officeDocument/2006/relationships/image" Target="../media/image2.jpeg"/><Relationship Id="rId9" Type="http://schemas.openxmlformats.org/officeDocument/2006/relationships/image" Target="../media/image211.pn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12.png"/><Relationship Id="rId4" Type="http://schemas.openxmlformats.org/officeDocument/2006/relationships/image" Target="../media/image2.jpeg"/></Relationships>
</file>

<file path=ppt/slides/_rels/slide53.xml.rels><?xml version="1.0" encoding="UTF-8" standalone="yes"?>
<Relationships xmlns="http://schemas.openxmlformats.org/package/2006/relationships"><Relationship Id="rId8" Type="http://schemas.openxmlformats.org/officeDocument/2006/relationships/image" Target="../media/image1170.png"/><Relationship Id="rId3" Type="http://schemas.openxmlformats.org/officeDocument/2006/relationships/image" Target="../media/image1.jpeg"/><Relationship Id="rId7" Type="http://schemas.openxmlformats.org/officeDocument/2006/relationships/image" Target="../media/image1160.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216.png"/><Relationship Id="rId5" Type="http://schemas.openxmlformats.org/officeDocument/2006/relationships/image" Target="../media/image215.png"/><Relationship Id="rId10" Type="http://schemas.openxmlformats.org/officeDocument/2006/relationships/image" Target="../media/image217.png"/><Relationship Id="rId4" Type="http://schemas.openxmlformats.org/officeDocument/2006/relationships/image" Target="../media/image2.jpeg"/><Relationship Id="rId9" Type="http://schemas.openxmlformats.org/officeDocument/2006/relationships/image" Target="../media/image1180.png"/></Relationships>
</file>

<file path=ppt/slides/_rels/slide54.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228.png"/><Relationship Id="rId3" Type="http://schemas.openxmlformats.org/officeDocument/2006/relationships/image" Target="../media/image1.jpeg"/><Relationship Id="rId7" Type="http://schemas.openxmlformats.org/officeDocument/2006/relationships/image" Target="../media/image171.png"/><Relationship Id="rId12" Type="http://schemas.openxmlformats.org/officeDocument/2006/relationships/image" Target="../media/image197.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145.png"/><Relationship Id="rId11" Type="http://schemas.openxmlformats.org/officeDocument/2006/relationships/image" Target="../media/image178.png"/><Relationship Id="rId5" Type="http://schemas.openxmlformats.org/officeDocument/2006/relationships/image" Target="../media/image143.png"/><Relationship Id="rId10" Type="http://schemas.openxmlformats.org/officeDocument/2006/relationships/image" Target="../media/image176.png"/><Relationship Id="rId4" Type="http://schemas.openxmlformats.org/officeDocument/2006/relationships/image" Target="../media/image2.jpeg"/><Relationship Id="rId9" Type="http://schemas.openxmlformats.org/officeDocument/2006/relationships/image" Target="../media/image174.png"/></Relationships>
</file>

<file path=ppt/slides/_rels/slide55.xml.rels><?xml version="1.0" encoding="UTF-8" standalone="yes"?>
<Relationships xmlns="http://schemas.openxmlformats.org/package/2006/relationships"><Relationship Id="rId8" Type="http://schemas.openxmlformats.org/officeDocument/2006/relationships/image" Target="../media/image232.png"/><Relationship Id="rId3" Type="http://schemas.openxmlformats.org/officeDocument/2006/relationships/image" Target="../media/image1.jpeg"/><Relationship Id="rId7" Type="http://schemas.openxmlformats.org/officeDocument/2006/relationships/image" Target="../media/image231.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230.png"/><Relationship Id="rId5" Type="http://schemas.openxmlformats.org/officeDocument/2006/relationships/image" Target="../media/image229.png"/><Relationship Id="rId10" Type="http://schemas.openxmlformats.org/officeDocument/2006/relationships/image" Target="../media/image234.png"/><Relationship Id="rId4" Type="http://schemas.openxmlformats.org/officeDocument/2006/relationships/image" Target="../media/image2.jpeg"/><Relationship Id="rId9" Type="http://schemas.openxmlformats.org/officeDocument/2006/relationships/image" Target="../media/image233.pn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37.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2.jpeg"/></Relationships>
</file>

<file path=ppt/slides/_rels/slide57.xml.rels><?xml version="1.0" encoding="UTF-8" standalone="yes"?>
<Relationships xmlns="http://schemas.openxmlformats.org/package/2006/relationships"><Relationship Id="rId8" Type="http://schemas.openxmlformats.org/officeDocument/2006/relationships/image" Target="../media/image241.png"/><Relationship Id="rId3" Type="http://schemas.openxmlformats.org/officeDocument/2006/relationships/image" Target="../media/image1.jpeg"/><Relationship Id="rId7" Type="http://schemas.openxmlformats.org/officeDocument/2006/relationships/image" Target="../media/image240.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239.png"/><Relationship Id="rId11" Type="http://schemas.openxmlformats.org/officeDocument/2006/relationships/image" Target="../media/image244.png"/><Relationship Id="rId5" Type="http://schemas.openxmlformats.org/officeDocument/2006/relationships/image" Target="../media/image238.png"/><Relationship Id="rId10" Type="http://schemas.openxmlformats.org/officeDocument/2006/relationships/image" Target="../media/image243.png"/><Relationship Id="rId4" Type="http://schemas.openxmlformats.org/officeDocument/2006/relationships/image" Target="../media/image2.jpeg"/><Relationship Id="rId9" Type="http://schemas.openxmlformats.org/officeDocument/2006/relationships/image" Target="../media/image242.png"/></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3.xml.rels><?xml version="1.0" encoding="UTF-8" standalone="yes"?>
<Relationships xmlns="http://schemas.openxmlformats.org/package/2006/relationships"><Relationship Id="rId8" Type="http://schemas.openxmlformats.org/officeDocument/2006/relationships/image" Target="../media/image248.png"/><Relationship Id="rId3" Type="http://schemas.openxmlformats.org/officeDocument/2006/relationships/image" Target="../media/image1.jpeg"/><Relationship Id="rId7" Type="http://schemas.openxmlformats.org/officeDocument/2006/relationships/image" Target="../media/image247.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246.png"/><Relationship Id="rId5" Type="http://schemas.openxmlformats.org/officeDocument/2006/relationships/image" Target="../media/image245.png"/><Relationship Id="rId4" Type="http://schemas.openxmlformats.org/officeDocument/2006/relationships/image" Target="../media/image2.jpeg"/></Relationships>
</file>

<file path=ppt/slides/_rels/slide64.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1.jpeg"/><Relationship Id="rId7" Type="http://schemas.openxmlformats.org/officeDocument/2006/relationships/image" Target="../media/image219.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250.png"/><Relationship Id="rId5" Type="http://schemas.openxmlformats.org/officeDocument/2006/relationships/image" Target="../media/image249.png"/><Relationship Id="rId10" Type="http://schemas.openxmlformats.org/officeDocument/2006/relationships/image" Target="../media/image254.png"/><Relationship Id="rId4" Type="http://schemas.openxmlformats.org/officeDocument/2006/relationships/image" Target="../media/image2.jpeg"/><Relationship Id="rId9" Type="http://schemas.openxmlformats.org/officeDocument/2006/relationships/image" Target="../media/image253.png"/></Relationships>
</file>

<file path=ppt/slides/_rels/slide65.xml.rels><?xml version="1.0" encoding="UTF-8" standalone="yes"?>
<Relationships xmlns="http://schemas.openxmlformats.org/package/2006/relationships"><Relationship Id="rId8" Type="http://schemas.openxmlformats.org/officeDocument/2006/relationships/image" Target="../media/image258.png"/><Relationship Id="rId3" Type="http://schemas.openxmlformats.org/officeDocument/2006/relationships/image" Target="../media/image1.jpeg"/><Relationship Id="rId7" Type="http://schemas.openxmlformats.org/officeDocument/2006/relationships/image" Target="../media/image257.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256.png"/><Relationship Id="rId5" Type="http://schemas.openxmlformats.org/officeDocument/2006/relationships/image" Target="../media/image255.png"/><Relationship Id="rId10" Type="http://schemas.openxmlformats.org/officeDocument/2006/relationships/image" Target="../media/image209.png"/><Relationship Id="rId4" Type="http://schemas.openxmlformats.org/officeDocument/2006/relationships/image" Target="../media/image2.jpeg"/><Relationship Id="rId9" Type="http://schemas.openxmlformats.org/officeDocument/2006/relationships/image" Target="../media/image259.png"/></Relationships>
</file>

<file path=ppt/slides/_rels/slide66.xml.rels><?xml version="1.0" encoding="UTF-8" standalone="yes"?>
<Relationships xmlns="http://schemas.openxmlformats.org/package/2006/relationships"><Relationship Id="rId8" Type="http://schemas.openxmlformats.org/officeDocument/2006/relationships/image" Target="../media/image263.png"/><Relationship Id="rId13" Type="http://schemas.openxmlformats.org/officeDocument/2006/relationships/image" Target="../media/image268.png"/><Relationship Id="rId3" Type="http://schemas.openxmlformats.org/officeDocument/2006/relationships/image" Target="../media/image1.jpeg"/><Relationship Id="rId7" Type="http://schemas.openxmlformats.org/officeDocument/2006/relationships/image" Target="../media/image262.png"/><Relationship Id="rId12" Type="http://schemas.openxmlformats.org/officeDocument/2006/relationships/image" Target="../media/image223.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261.png"/><Relationship Id="rId11" Type="http://schemas.openxmlformats.org/officeDocument/2006/relationships/image" Target="../media/image222.png"/><Relationship Id="rId5" Type="http://schemas.openxmlformats.org/officeDocument/2006/relationships/image" Target="../media/image260.png"/><Relationship Id="rId10" Type="http://schemas.openxmlformats.org/officeDocument/2006/relationships/image" Target="../media/image221.png"/><Relationship Id="rId4" Type="http://schemas.openxmlformats.org/officeDocument/2006/relationships/image" Target="../media/image2.jpeg"/><Relationship Id="rId9" Type="http://schemas.openxmlformats.org/officeDocument/2006/relationships/image" Target="../media/image264.png"/><Relationship Id="rId14" Type="http://schemas.openxmlformats.org/officeDocument/2006/relationships/image" Target="../media/image209.png"/></Relationships>
</file>

<file path=ppt/slides/_rels/slide67.xml.rels><?xml version="1.0" encoding="UTF-8" standalone="yes"?>
<Relationships xmlns="http://schemas.openxmlformats.org/package/2006/relationships"><Relationship Id="rId8" Type="http://schemas.openxmlformats.org/officeDocument/2006/relationships/image" Target="../media/image272.png"/><Relationship Id="rId3" Type="http://schemas.openxmlformats.org/officeDocument/2006/relationships/image" Target="../media/image1.jpeg"/><Relationship Id="rId7" Type="http://schemas.openxmlformats.org/officeDocument/2006/relationships/image" Target="../media/image271.png"/><Relationship Id="rId12" Type="http://schemas.openxmlformats.org/officeDocument/2006/relationships/image" Target="../media/image209.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270.png"/><Relationship Id="rId11" Type="http://schemas.openxmlformats.org/officeDocument/2006/relationships/image" Target="../media/image275.png"/><Relationship Id="rId5" Type="http://schemas.openxmlformats.org/officeDocument/2006/relationships/image" Target="../media/image269.png"/><Relationship Id="rId10" Type="http://schemas.openxmlformats.org/officeDocument/2006/relationships/image" Target="../media/image274.png"/><Relationship Id="rId4" Type="http://schemas.openxmlformats.org/officeDocument/2006/relationships/image" Target="../media/image2.jpeg"/><Relationship Id="rId9" Type="http://schemas.openxmlformats.org/officeDocument/2006/relationships/image" Target="../media/image273.png"/></Relationships>
</file>

<file path=ppt/slides/_rels/slide6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209.png"/><Relationship Id="rId4" Type="http://schemas.openxmlformats.org/officeDocument/2006/relationships/image" Target="../media/image2.jpeg"/></Relationships>
</file>

<file path=ppt/slides/_rels/slide6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209.png"/><Relationship Id="rId5" Type="http://schemas.openxmlformats.org/officeDocument/2006/relationships/image" Target="../media/image210.jpeg"/><Relationship Id="rId4" Type="http://schemas.openxmlformats.org/officeDocument/2006/relationships/image" Target="../media/image2.jpeg"/></Relationships>
</file>

<file path=ppt/slides/_rels/slide70.xml.rels><?xml version="1.0" encoding="UTF-8" standalone="yes"?>
<Relationships xmlns="http://schemas.openxmlformats.org/package/2006/relationships"><Relationship Id="rId8" Type="http://schemas.openxmlformats.org/officeDocument/2006/relationships/image" Target="../media/image209.png"/><Relationship Id="rId3" Type="http://schemas.openxmlformats.org/officeDocument/2006/relationships/image" Target="../media/image1.jpeg"/><Relationship Id="rId7" Type="http://schemas.openxmlformats.org/officeDocument/2006/relationships/image" Target="../media/image214.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213.png"/><Relationship Id="rId5" Type="http://schemas.openxmlformats.org/officeDocument/2006/relationships/image" Target="../media/image226.png"/><Relationship Id="rId4" Type="http://schemas.openxmlformats.org/officeDocument/2006/relationships/image" Target="../media/image2.jpeg"/></Relationships>
</file>

<file path=ppt/slides/_rels/slide7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09.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218.png"/><Relationship Id="rId5" Type="http://schemas.openxmlformats.org/officeDocument/2006/relationships/image" Target="../media/image215.jpg"/><Relationship Id="rId4" Type="http://schemas.openxmlformats.org/officeDocument/2006/relationships/image" Target="../media/image2.jpeg"/></Relationships>
</file>

<file path=ppt/slides/_rels/slide72.xml.rels><?xml version="1.0" encoding="UTF-8" standalone="yes"?>
<Relationships xmlns="http://schemas.openxmlformats.org/package/2006/relationships"><Relationship Id="rId8" Type="http://schemas.openxmlformats.org/officeDocument/2006/relationships/image" Target="../media/image283.png"/><Relationship Id="rId3" Type="http://schemas.openxmlformats.org/officeDocument/2006/relationships/image" Target="../media/image1.jpeg"/><Relationship Id="rId7" Type="http://schemas.openxmlformats.org/officeDocument/2006/relationships/image" Target="../media/image219.jp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218.png"/><Relationship Id="rId5" Type="http://schemas.openxmlformats.org/officeDocument/2006/relationships/image" Target="../media/image215.jpg"/><Relationship Id="rId4" Type="http://schemas.openxmlformats.org/officeDocument/2006/relationships/image" Target="../media/image2.jpeg"/><Relationship Id="rId9" Type="http://schemas.openxmlformats.org/officeDocument/2006/relationships/image" Target="../media/image209.png"/></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2.xml"/><Relationship Id="rId1" Type="http://schemas.openxmlformats.org/officeDocument/2006/relationships/slideLayout" Target="../slideLayouts/slideLayout1.xml"/><Relationship Id="rId5" Type="http://schemas.openxmlformats.org/officeDocument/2006/relationships/image" Target="../media/image209.png"/><Relationship Id="rId4" Type="http://schemas.openxmlformats.org/officeDocument/2006/relationships/image" Target="../media/image2.jpeg"/></Relationships>
</file>

<file path=ppt/slides/_rels/slide7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209.png"/><Relationship Id="rId4" Type="http://schemas.openxmlformats.org/officeDocument/2006/relationships/image" Target="../media/image2.jpeg"/></Relationships>
</file>

<file path=ppt/slides/_rels/slide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209.png"/><Relationship Id="rId4" Type="http://schemas.openxmlformats.org/officeDocument/2006/relationships/image" Target="../media/image2.jpeg"/></Relationships>
</file>

<file path=ppt/slides/_rels/slide7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209.png"/><Relationship Id="rId4" Type="http://schemas.openxmlformats.org/officeDocument/2006/relationships/image" Target="../media/image2.jpeg"/></Relationships>
</file>

<file path=ppt/slides/_rels/slide7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6.xml"/><Relationship Id="rId1" Type="http://schemas.openxmlformats.org/officeDocument/2006/relationships/slideLayout" Target="../slideLayouts/slideLayout1.xml"/><Relationship Id="rId5" Type="http://schemas.openxmlformats.org/officeDocument/2006/relationships/image" Target="../media/image209.png"/><Relationship Id="rId4" Type="http://schemas.openxmlformats.org/officeDocument/2006/relationships/image" Target="../media/image2.jpeg"/></Relationships>
</file>

<file path=ppt/slides/_rels/slide7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09.png"/><Relationship Id="rId2" Type="http://schemas.openxmlformats.org/officeDocument/2006/relationships/notesSlide" Target="../notesSlides/notesSlide77.xml"/><Relationship Id="rId1" Type="http://schemas.openxmlformats.org/officeDocument/2006/relationships/slideLayout" Target="../slideLayouts/slideLayout1.xml"/><Relationship Id="rId6" Type="http://schemas.openxmlformats.org/officeDocument/2006/relationships/image" Target="../media/image285.png"/><Relationship Id="rId5" Type="http://schemas.openxmlformats.org/officeDocument/2006/relationships/image" Target="../media/image284.png"/><Relationship Id="rId4" Type="http://schemas.openxmlformats.org/officeDocument/2006/relationships/image" Target="../media/image2.jpeg"/></Relationships>
</file>

<file path=ppt/slides/_rels/slide7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209.png"/><Relationship Id="rId4" Type="http://schemas.openxmlformats.org/officeDocument/2006/relationships/image" Target="../media/image2.jpeg"/></Relationships>
</file>

<file path=ppt/slides/_rels/slide80.xml.rels><?xml version="1.0" encoding="UTF-8" standalone="yes"?>
<Relationships xmlns="http://schemas.openxmlformats.org/package/2006/relationships"><Relationship Id="rId8" Type="http://schemas.openxmlformats.org/officeDocument/2006/relationships/image" Target="../media/image276.png"/><Relationship Id="rId3" Type="http://schemas.openxmlformats.org/officeDocument/2006/relationships/image" Target="../media/image1.jpeg"/><Relationship Id="rId7" Type="http://schemas.openxmlformats.org/officeDocument/2006/relationships/image" Target="../media/image267.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209.png"/><Relationship Id="rId10" Type="http://schemas.openxmlformats.org/officeDocument/2006/relationships/image" Target="../media/image278.png"/><Relationship Id="rId4" Type="http://schemas.openxmlformats.org/officeDocument/2006/relationships/image" Target="../media/image2.jpeg"/><Relationship Id="rId9" Type="http://schemas.openxmlformats.org/officeDocument/2006/relationships/image" Target="../media/image277.png"/></Relationships>
</file>

<file path=ppt/slides/_rels/slide8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0.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19A77C-7D4B-4473-ABA3-9E2272A4223C}"/>
              </a:ext>
            </a:extLst>
          </p:cNvPr>
          <p:cNvSpPr>
            <a:spLocks noGrp="1"/>
          </p:cNvSpPr>
          <p:nvPr>
            <p:ph type="ctrTitle"/>
          </p:nvPr>
        </p:nvSpPr>
        <p:spPr/>
        <p:txBody>
          <a:bodyPr/>
          <a:lstStyle/>
          <a:p>
            <a:r>
              <a:rPr lang="zh-CN" altLang="en-US" dirty="0"/>
              <a:t>神经网络基础</a:t>
            </a:r>
          </a:p>
        </p:txBody>
      </p:sp>
      <p:sp>
        <p:nvSpPr>
          <p:cNvPr id="4" name="副标题 2">
            <a:extLst>
              <a:ext uri="{FF2B5EF4-FFF2-40B4-BE49-F238E27FC236}">
                <a16:creationId xmlns:a16="http://schemas.microsoft.com/office/drawing/2014/main" id="{A2ABB97B-D974-4B71-BE4B-5A147CB015EF}"/>
              </a:ext>
            </a:extLst>
          </p:cNvPr>
          <p:cNvSpPr>
            <a:spLocks noGrp="1"/>
          </p:cNvSpPr>
          <p:nvPr>
            <p:ph type="subTitle" idx="1"/>
          </p:nvPr>
        </p:nvSpPr>
        <p:spPr>
          <a:xfrm>
            <a:off x="1524000" y="3602038"/>
            <a:ext cx="9144000" cy="1655762"/>
          </a:xfrm>
        </p:spPr>
        <p:txBody>
          <a:bodyPr anchor="b"/>
          <a:lstStyle/>
          <a:p>
            <a:r>
              <a:rPr lang="zh-CN" altLang="en-US" dirty="0"/>
              <a:t>董前琨</a:t>
            </a:r>
            <a:endParaRPr lang="en-US" altLang="zh-CN" dirty="0"/>
          </a:p>
          <a:p>
            <a:r>
              <a:rPr lang="en-US" altLang="zh-CN" dirty="0"/>
              <a:t>2024-04-08</a:t>
            </a:r>
            <a:endParaRPr lang="zh-CN" altLang="en-US" dirty="0"/>
          </a:p>
        </p:txBody>
      </p:sp>
    </p:spTree>
    <p:extLst>
      <p:ext uri="{BB962C8B-B14F-4D97-AF65-F5344CB8AC3E}">
        <p14:creationId xmlns:p14="http://schemas.microsoft.com/office/powerpoint/2010/main" val="4119764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6"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en-US" altLang="zh-CN" sz="2800" dirty="0">
                <a:solidFill>
                  <a:schemeClr val="bg1"/>
                </a:solidFill>
                <a:latin typeface="微软雅黑" panose="020B0503020204020204" pitchFamily="34" charset="-122"/>
                <a:ea typeface="微软雅黑" panose="020B0503020204020204" pitchFamily="34" charset="-122"/>
              </a:rPr>
              <a:t>Driving Example</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93" name="矩形 92"/>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pic>
        <p:nvPicPr>
          <p:cNvPr id="18" name="图片 17"/>
          <p:cNvPicPr>
            <a:picLocks noChangeAspect="1"/>
          </p:cNvPicPr>
          <p:nvPr/>
        </p:nvPicPr>
        <p:blipFill>
          <a:blip r:embed="rId8"/>
          <a:stretch>
            <a:fillRect/>
          </a:stretch>
        </p:blipFill>
        <p:spPr>
          <a:xfrm>
            <a:off x="1874570" y="996568"/>
            <a:ext cx="1819656" cy="1145100"/>
          </a:xfrm>
          <a:prstGeom prst="rect">
            <a:avLst/>
          </a:prstGeom>
        </p:spPr>
      </p:pic>
      <p:pic>
        <p:nvPicPr>
          <p:cNvPr id="19" name="图片 18"/>
          <p:cNvPicPr>
            <a:picLocks noChangeAspect="1"/>
          </p:cNvPicPr>
          <p:nvPr/>
        </p:nvPicPr>
        <p:blipFill>
          <a:blip r:embed="rId9"/>
          <a:stretch>
            <a:fillRect/>
          </a:stretch>
        </p:blipFill>
        <p:spPr>
          <a:xfrm>
            <a:off x="8438669" y="1027088"/>
            <a:ext cx="1810512" cy="1146768"/>
          </a:xfrm>
          <a:prstGeom prst="rect">
            <a:avLst/>
          </a:prstGeom>
        </p:spPr>
      </p:pic>
      <p:pic>
        <p:nvPicPr>
          <p:cNvPr id="20" name="图片 19"/>
          <p:cNvPicPr>
            <a:picLocks noChangeAspect="1"/>
          </p:cNvPicPr>
          <p:nvPr/>
        </p:nvPicPr>
        <p:blipFill>
          <a:blip r:embed="rId10"/>
          <a:stretch>
            <a:fillRect/>
          </a:stretch>
        </p:blipFill>
        <p:spPr>
          <a:xfrm>
            <a:off x="3742672" y="1056776"/>
            <a:ext cx="1645803" cy="1084891"/>
          </a:xfrm>
          <a:prstGeom prst="rect">
            <a:avLst/>
          </a:prstGeom>
        </p:spPr>
      </p:pic>
      <p:grpSp>
        <p:nvGrpSpPr>
          <p:cNvPr id="21" name="24369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2921498" y="2371256"/>
            <a:ext cx="6438900" cy="950119"/>
            <a:chOff x="1803400" y="1598613"/>
            <a:chExt cx="8585200" cy="1266825"/>
          </a:xfrm>
        </p:grpSpPr>
        <p:sp>
          <p:nvSpPr>
            <p:cNvPr id="22" name="ï$ḻíḓé"/>
            <p:cNvSpPr/>
            <p:nvPr/>
          </p:nvSpPr>
          <p:spPr>
            <a:xfrm>
              <a:off x="1803400" y="1598613"/>
              <a:ext cx="1371600" cy="1266825"/>
            </a:xfrm>
            <a:prstGeom prst="roundRect">
              <a:avLst/>
            </a:prstGeom>
            <a:solidFill>
              <a:srgbClr val="BC3649"/>
            </a:solidFill>
            <a:ln w="12700" cap="flat">
              <a:noFill/>
              <a:miter lim="400000"/>
            </a:ln>
            <a:effectLst/>
            <a:extLst>
              <a:ext uri="{C572A759-6A51-4108-AA02-DFA0A04FC94B}">
                <ma14:wrappingTextBoxFlag xmlns="" xmlns:lc="http://schemas.openxmlformats.org/drawingml/2006/lockedCanvas" xmlns:ma14="http://schemas.microsoft.com/office/mac/drawingml/2011/main" xmlns:p14="http://schemas.microsoft.com/office/powerpoint/2010/main" xmlns:a16="http://schemas.microsoft.com/office/drawing/2014/main" val="1"/>
              </a:ext>
            </a:ex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输入</a:t>
              </a:r>
            </a:p>
          </p:txBody>
        </p:sp>
        <p:sp>
          <p:nvSpPr>
            <p:cNvPr id="23" name="íšliḋè"/>
            <p:cNvSpPr/>
            <p:nvPr/>
          </p:nvSpPr>
          <p:spPr>
            <a:xfrm>
              <a:off x="9017000" y="1598613"/>
              <a:ext cx="1371600" cy="1266825"/>
            </a:xfrm>
            <a:prstGeom prst="roundRect">
              <a:avLst/>
            </a:prstGeom>
            <a:solidFill>
              <a:srgbClr val="BC3649"/>
            </a:solidFill>
            <a:ln w="12700" cap="flat">
              <a:noFill/>
              <a:miter lim="400000"/>
            </a:ln>
            <a:effectLst/>
            <a:extLst>
              <a:ext uri="{C572A759-6A51-4108-AA02-DFA0A04FC94B}">
                <ma14:wrappingTextBoxFlag xmlns="" xmlns:lc="http://schemas.openxmlformats.org/drawingml/2006/lockedCanvas" xmlns:ma14="http://schemas.microsoft.com/office/mac/drawingml/2011/main" xmlns:p14="http://schemas.microsoft.com/office/powerpoint/2010/main" xmlns:a16="http://schemas.microsoft.com/office/drawing/2014/main" val="1"/>
              </a:ext>
            </a:ex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输出</a:t>
              </a:r>
            </a:p>
          </p:txBody>
        </p:sp>
        <p:sp>
          <p:nvSpPr>
            <p:cNvPr id="24" name="ïsḷïḑè"/>
            <p:cNvSpPr/>
            <p:nvPr/>
          </p:nvSpPr>
          <p:spPr>
            <a:xfrm>
              <a:off x="3606801" y="1598613"/>
              <a:ext cx="1371601" cy="1266825"/>
            </a:xfrm>
            <a:prstGeom prst="roundRect">
              <a:avLst/>
            </a:prstGeom>
            <a:solidFill>
              <a:srgbClr val="BC3649"/>
            </a:solidFill>
            <a:ln w="12700" cap="flat">
              <a:noFill/>
              <a:miter lim="400000"/>
            </a:ln>
            <a:effectLst/>
            <a:extLst>
              <a:ext uri="{C572A759-6A51-4108-AA02-DFA0A04FC94B}">
                <ma14:wrappingTextBoxFlag xmlns="" xmlns:lc="http://schemas.openxmlformats.org/drawingml/2006/lockedCanvas" xmlns:ma14="http://schemas.microsoft.com/office/mac/drawingml/2011/main" xmlns:p14="http://schemas.microsoft.com/office/powerpoint/2010/main" xmlns:a16="http://schemas.microsoft.com/office/drawing/2014/main" val="1"/>
              </a:ext>
            </a:ex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建模</a:t>
              </a:r>
            </a:p>
          </p:txBody>
        </p:sp>
        <p:sp>
          <p:nvSpPr>
            <p:cNvPr id="25" name="ïšḷïḓé"/>
            <p:cNvSpPr/>
            <p:nvPr/>
          </p:nvSpPr>
          <p:spPr>
            <a:xfrm>
              <a:off x="5410203" y="1598613"/>
              <a:ext cx="1371600" cy="1266825"/>
            </a:xfrm>
            <a:prstGeom prst="roundRect">
              <a:avLst/>
            </a:prstGeom>
            <a:solidFill>
              <a:srgbClr val="BC3649"/>
            </a:solidFill>
            <a:ln w="12700" cap="flat">
              <a:noFill/>
              <a:miter lim="400000"/>
            </a:ln>
            <a:effectLst/>
            <a:extLst>
              <a:ext uri="{C572A759-6A51-4108-AA02-DFA0A04FC94B}">
                <ma14:wrappingTextBoxFlag xmlns="" xmlns:lc="http://schemas.openxmlformats.org/drawingml/2006/lockedCanvas" xmlns:ma14="http://schemas.microsoft.com/office/mac/drawingml/2011/main" xmlns:p14="http://schemas.microsoft.com/office/powerpoint/2010/main" xmlns:a16="http://schemas.microsoft.com/office/drawing/2014/main" val="1"/>
              </a:ext>
            </a:ex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实现</a:t>
              </a:r>
            </a:p>
          </p:txBody>
        </p:sp>
        <p:sp>
          <p:nvSpPr>
            <p:cNvPr id="26" name="íśḻíḑè"/>
            <p:cNvSpPr/>
            <p:nvPr/>
          </p:nvSpPr>
          <p:spPr>
            <a:xfrm>
              <a:off x="7213603" y="1598613"/>
              <a:ext cx="1371600" cy="1266825"/>
            </a:xfrm>
            <a:prstGeom prst="roundRect">
              <a:avLst/>
            </a:prstGeom>
            <a:solidFill>
              <a:srgbClr val="BC3649"/>
            </a:solidFill>
            <a:ln w="12700" cap="flat">
              <a:noFill/>
              <a:miter lim="400000"/>
            </a:ln>
            <a:effectLst/>
            <a:extLst>
              <a:ext uri="{C572A759-6A51-4108-AA02-DFA0A04FC94B}">
                <ma14:wrappingTextBoxFlag xmlns="" xmlns:lc="http://schemas.openxmlformats.org/drawingml/2006/lockedCanvas" xmlns:ma14="http://schemas.microsoft.com/office/mac/drawingml/2011/main" xmlns:p14="http://schemas.microsoft.com/office/powerpoint/2010/main" xmlns:a16="http://schemas.microsoft.com/office/drawing/2014/main" val="1"/>
              </a:ext>
            </a:ex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a:spcBef>
                  <a:spcPct val="0"/>
                </a:spcBef>
              </a:pPr>
              <a:r>
                <a:rPr lang="zh-CN" altLang="en-US" sz="1800" b="1" dirty="0">
                  <a:solidFill>
                    <a:schemeClr val="bg1"/>
                  </a:solidFill>
                  <a:latin typeface="微软雅黑 Light" panose="020B0502040204020203" pitchFamily="34" charset="-122"/>
                  <a:ea typeface="微软雅黑 Light" panose="020B0502040204020203" pitchFamily="34" charset="-122"/>
                </a:rPr>
                <a:t>运行</a:t>
              </a:r>
            </a:p>
          </p:txBody>
        </p:sp>
        <p:sp>
          <p:nvSpPr>
            <p:cNvPr id="27" name="ïṣḷïḍè"/>
            <p:cNvSpPr/>
            <p:nvPr/>
          </p:nvSpPr>
          <p:spPr>
            <a:xfrm>
              <a:off x="3289300" y="2079625"/>
              <a:ext cx="203201" cy="304800"/>
            </a:xfrm>
            <a:prstGeom prst="rightArrow">
              <a:avLst>
                <a:gd name="adj1" fmla="val 32000"/>
                <a:gd name="adj2" fmla="val 275000"/>
              </a:avLst>
            </a:prstGeom>
            <a:solidFill>
              <a:srgbClr val="BC3649"/>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algn="l" defTabSz="584200">
                <a:lnSpc>
                  <a:spcPct val="110000"/>
                </a:lnSpc>
                <a:spcBef>
                  <a:spcPts val="3000"/>
                </a:spcBef>
                <a:defRPr sz="2000">
                  <a:solidFill>
                    <a:srgbClr val="4C4C4C"/>
                  </a:solidFill>
                </a:defRPr>
              </a:pPr>
              <a:endParaRPr/>
            </a:p>
          </p:txBody>
        </p:sp>
        <p:sp>
          <p:nvSpPr>
            <p:cNvPr id="28" name="ïṧḷïḓé"/>
            <p:cNvSpPr/>
            <p:nvPr/>
          </p:nvSpPr>
          <p:spPr>
            <a:xfrm>
              <a:off x="5092702" y="2079625"/>
              <a:ext cx="203201" cy="304800"/>
            </a:xfrm>
            <a:prstGeom prst="rightArrow">
              <a:avLst>
                <a:gd name="adj1" fmla="val 32000"/>
                <a:gd name="adj2" fmla="val 275000"/>
              </a:avLst>
            </a:prstGeom>
            <a:solidFill>
              <a:srgbClr val="BC3649"/>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algn="l" defTabSz="584200">
                <a:lnSpc>
                  <a:spcPct val="110000"/>
                </a:lnSpc>
                <a:spcBef>
                  <a:spcPts val="3000"/>
                </a:spcBef>
                <a:defRPr sz="2000">
                  <a:solidFill>
                    <a:srgbClr val="4C4C4C"/>
                  </a:solidFill>
                </a:defRPr>
              </a:pPr>
              <a:endParaRPr>
                <a:solidFill>
                  <a:schemeClr val="bg1"/>
                </a:solidFill>
              </a:endParaRPr>
            </a:p>
          </p:txBody>
        </p:sp>
        <p:sp>
          <p:nvSpPr>
            <p:cNvPr id="29" name="iṡļíḍè"/>
            <p:cNvSpPr/>
            <p:nvPr/>
          </p:nvSpPr>
          <p:spPr>
            <a:xfrm>
              <a:off x="8699503" y="2079625"/>
              <a:ext cx="203200" cy="304800"/>
            </a:xfrm>
            <a:prstGeom prst="rightArrow">
              <a:avLst>
                <a:gd name="adj1" fmla="val 32000"/>
                <a:gd name="adj2" fmla="val 275000"/>
              </a:avLst>
            </a:prstGeom>
            <a:solidFill>
              <a:srgbClr val="BC3649"/>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algn="l" defTabSz="584200">
                <a:lnSpc>
                  <a:spcPct val="110000"/>
                </a:lnSpc>
                <a:spcBef>
                  <a:spcPts val="3000"/>
                </a:spcBef>
                <a:defRPr sz="2000">
                  <a:solidFill>
                    <a:srgbClr val="4C4C4C"/>
                  </a:solidFill>
                </a:defRPr>
              </a:pPr>
              <a:endParaRPr>
                <a:solidFill>
                  <a:schemeClr val="bg1"/>
                </a:solidFill>
              </a:endParaRPr>
            </a:p>
          </p:txBody>
        </p:sp>
        <p:sp>
          <p:nvSpPr>
            <p:cNvPr id="30" name="ïş1ïḓè"/>
            <p:cNvSpPr/>
            <p:nvPr/>
          </p:nvSpPr>
          <p:spPr>
            <a:xfrm>
              <a:off x="6896103" y="2079625"/>
              <a:ext cx="203200" cy="304800"/>
            </a:xfrm>
            <a:prstGeom prst="rightArrow">
              <a:avLst>
                <a:gd name="adj1" fmla="val 32000"/>
                <a:gd name="adj2" fmla="val 275000"/>
              </a:avLst>
            </a:prstGeom>
            <a:solidFill>
              <a:srgbClr val="BC3649"/>
            </a:solidFill>
            <a:ln w="12700" cap="flat">
              <a:noFill/>
              <a:miter lim="400000"/>
            </a:ln>
            <a:effectLst/>
          </p:spPr>
          <p:txBody>
            <a:bodyPr wrap="square" lIns="91440" tIns="45720" rIns="91440" bIns="45720" numCol="1" anchor="ctr">
              <a:normAutofit fontScale="25000" lnSpcReduction="20000"/>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algn="l" defTabSz="584200">
                <a:lnSpc>
                  <a:spcPct val="110000"/>
                </a:lnSpc>
                <a:spcBef>
                  <a:spcPts val="3000"/>
                </a:spcBef>
                <a:defRPr sz="2000">
                  <a:solidFill>
                    <a:srgbClr val="4C4C4C"/>
                  </a:solidFill>
                </a:defRPr>
              </a:pPr>
              <a:endParaRPr>
                <a:solidFill>
                  <a:schemeClr val="bg1"/>
                </a:solidFill>
              </a:endParaRPr>
            </a:p>
          </p:txBody>
        </p:sp>
      </p:grpSp>
      <p:grpSp>
        <p:nvGrpSpPr>
          <p:cNvPr id="31" name="62a0234c-3beb-46f2-bd39-7e0bbc0a0fb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2"/>
            </p:custDataLst>
          </p:nvPr>
        </p:nvGrpSpPr>
        <p:grpSpPr>
          <a:xfrm>
            <a:off x="5436921" y="1014048"/>
            <a:ext cx="1456504" cy="1339314"/>
            <a:chOff x="3381264" y="1151007"/>
            <a:chExt cx="5429472" cy="4992618"/>
          </a:xfrm>
        </p:grpSpPr>
        <p:sp>
          <p:nvSpPr>
            <p:cNvPr id="32" name="íSļîḋè"/>
            <p:cNvSpPr/>
            <p:nvPr/>
          </p:nvSpPr>
          <p:spPr bwMode="auto">
            <a:xfrm>
              <a:off x="5468456" y="2803656"/>
              <a:ext cx="3342280" cy="3339969"/>
            </a:xfrm>
            <a:custGeom>
              <a:avLst/>
              <a:gdLst>
                <a:gd name="T0" fmla="*/ 835 w 1669"/>
                <a:gd name="T1" fmla="*/ 114 h 1668"/>
                <a:gd name="T2" fmla="*/ 915 w 1669"/>
                <a:gd name="T3" fmla="*/ 119 h 1668"/>
                <a:gd name="T4" fmla="*/ 951 w 1669"/>
                <a:gd name="T5" fmla="*/ 0 h 1668"/>
                <a:gd name="T6" fmla="*/ 1202 w 1669"/>
                <a:gd name="T7" fmla="*/ 76 h 1668"/>
                <a:gd name="T8" fmla="*/ 1166 w 1669"/>
                <a:gd name="T9" fmla="*/ 195 h 1668"/>
                <a:gd name="T10" fmla="*/ 1397 w 1669"/>
                <a:gd name="T11" fmla="*/ 385 h 1668"/>
                <a:gd name="T12" fmla="*/ 1507 w 1669"/>
                <a:gd name="T13" fmla="*/ 326 h 1668"/>
                <a:gd name="T14" fmla="*/ 1630 w 1669"/>
                <a:gd name="T15" fmla="*/ 558 h 1668"/>
                <a:gd name="T16" fmla="*/ 1520 w 1669"/>
                <a:gd name="T17" fmla="*/ 617 h 1668"/>
                <a:gd name="T18" fmla="*/ 1549 w 1669"/>
                <a:gd name="T19" fmla="*/ 914 h 1668"/>
                <a:gd name="T20" fmla="*/ 1669 w 1669"/>
                <a:gd name="T21" fmla="*/ 950 h 1668"/>
                <a:gd name="T22" fmla="*/ 1592 w 1669"/>
                <a:gd name="T23" fmla="*/ 1201 h 1668"/>
                <a:gd name="T24" fmla="*/ 1473 w 1669"/>
                <a:gd name="T25" fmla="*/ 1165 h 1668"/>
                <a:gd name="T26" fmla="*/ 1283 w 1669"/>
                <a:gd name="T27" fmla="*/ 1396 h 1668"/>
                <a:gd name="T28" fmla="*/ 1342 w 1669"/>
                <a:gd name="T29" fmla="*/ 1506 h 1668"/>
                <a:gd name="T30" fmla="*/ 1110 w 1669"/>
                <a:gd name="T31" fmla="*/ 1630 h 1668"/>
                <a:gd name="T32" fmla="*/ 1052 w 1669"/>
                <a:gd name="T33" fmla="*/ 1520 h 1668"/>
                <a:gd name="T34" fmla="*/ 835 w 1669"/>
                <a:gd name="T35" fmla="*/ 1553 h 1668"/>
                <a:gd name="T36" fmla="*/ 835 w 1669"/>
                <a:gd name="T37" fmla="*/ 1365 h 1668"/>
                <a:gd name="T38" fmla="*/ 1343 w 1669"/>
                <a:gd name="T39" fmla="*/ 988 h 1668"/>
                <a:gd name="T40" fmla="*/ 989 w 1669"/>
                <a:gd name="T41" fmla="*/ 326 h 1668"/>
                <a:gd name="T42" fmla="*/ 835 w 1669"/>
                <a:gd name="T43" fmla="*/ 303 h 1668"/>
                <a:gd name="T44" fmla="*/ 835 w 1669"/>
                <a:gd name="T45" fmla="*/ 114 h 1668"/>
                <a:gd name="T46" fmla="*/ 386 w 1669"/>
                <a:gd name="T47" fmla="*/ 272 h 1668"/>
                <a:gd name="T48" fmla="*/ 327 w 1669"/>
                <a:gd name="T49" fmla="*/ 162 h 1668"/>
                <a:gd name="T50" fmla="*/ 559 w 1669"/>
                <a:gd name="T51" fmla="*/ 38 h 1668"/>
                <a:gd name="T52" fmla="*/ 617 w 1669"/>
                <a:gd name="T53" fmla="*/ 148 h 1668"/>
                <a:gd name="T54" fmla="*/ 835 w 1669"/>
                <a:gd name="T55" fmla="*/ 114 h 1668"/>
                <a:gd name="T56" fmla="*/ 835 w 1669"/>
                <a:gd name="T57" fmla="*/ 303 h 1668"/>
                <a:gd name="T58" fmla="*/ 326 w 1669"/>
                <a:gd name="T59" fmla="*/ 679 h 1668"/>
                <a:gd name="T60" fmla="*/ 680 w 1669"/>
                <a:gd name="T61" fmla="*/ 1342 h 1668"/>
                <a:gd name="T62" fmla="*/ 680 w 1669"/>
                <a:gd name="T63" fmla="*/ 1342 h 1668"/>
                <a:gd name="T64" fmla="*/ 835 w 1669"/>
                <a:gd name="T65" fmla="*/ 1365 h 1668"/>
                <a:gd name="T66" fmla="*/ 835 w 1669"/>
                <a:gd name="T67" fmla="*/ 1553 h 1668"/>
                <a:gd name="T68" fmla="*/ 754 w 1669"/>
                <a:gd name="T69" fmla="*/ 1549 h 1668"/>
                <a:gd name="T70" fmla="*/ 718 w 1669"/>
                <a:gd name="T71" fmla="*/ 1668 h 1668"/>
                <a:gd name="T72" fmla="*/ 467 w 1669"/>
                <a:gd name="T73" fmla="*/ 1592 h 1668"/>
                <a:gd name="T74" fmla="*/ 503 w 1669"/>
                <a:gd name="T75" fmla="*/ 1472 h 1668"/>
                <a:gd name="T76" fmla="*/ 272 w 1669"/>
                <a:gd name="T77" fmla="*/ 1283 h 1668"/>
                <a:gd name="T78" fmla="*/ 162 w 1669"/>
                <a:gd name="T79" fmla="*/ 1341 h 1668"/>
                <a:gd name="T80" fmla="*/ 39 w 1669"/>
                <a:gd name="T81" fmla="*/ 1110 h 1668"/>
                <a:gd name="T82" fmla="*/ 149 w 1669"/>
                <a:gd name="T83" fmla="*/ 1051 h 1668"/>
                <a:gd name="T84" fmla="*/ 120 w 1669"/>
                <a:gd name="T85" fmla="*/ 754 h 1668"/>
                <a:gd name="T86" fmla="*/ 0 w 1669"/>
                <a:gd name="T87" fmla="*/ 718 h 1668"/>
                <a:gd name="T88" fmla="*/ 77 w 1669"/>
                <a:gd name="T89" fmla="*/ 466 h 1668"/>
                <a:gd name="T90" fmla="*/ 196 w 1669"/>
                <a:gd name="T91" fmla="*/ 502 h 1668"/>
                <a:gd name="T92" fmla="*/ 386 w 1669"/>
                <a:gd name="T93" fmla="*/ 272 h 1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69" h="1668">
                  <a:moveTo>
                    <a:pt x="835" y="114"/>
                  </a:moveTo>
                  <a:cubicBezTo>
                    <a:pt x="861" y="114"/>
                    <a:pt x="888" y="116"/>
                    <a:pt x="915" y="119"/>
                  </a:cubicBezTo>
                  <a:cubicBezTo>
                    <a:pt x="951" y="0"/>
                    <a:pt x="951" y="0"/>
                    <a:pt x="951" y="0"/>
                  </a:cubicBezTo>
                  <a:cubicBezTo>
                    <a:pt x="1202" y="76"/>
                    <a:pt x="1202" y="76"/>
                    <a:pt x="1202" y="76"/>
                  </a:cubicBezTo>
                  <a:cubicBezTo>
                    <a:pt x="1166" y="195"/>
                    <a:pt x="1166" y="195"/>
                    <a:pt x="1166" y="195"/>
                  </a:cubicBezTo>
                  <a:cubicBezTo>
                    <a:pt x="1257" y="242"/>
                    <a:pt x="1335" y="308"/>
                    <a:pt x="1397" y="385"/>
                  </a:cubicBezTo>
                  <a:cubicBezTo>
                    <a:pt x="1507" y="326"/>
                    <a:pt x="1507" y="326"/>
                    <a:pt x="1507" y="326"/>
                  </a:cubicBezTo>
                  <a:cubicBezTo>
                    <a:pt x="1630" y="558"/>
                    <a:pt x="1630" y="558"/>
                    <a:pt x="1630" y="558"/>
                  </a:cubicBezTo>
                  <a:cubicBezTo>
                    <a:pt x="1520" y="617"/>
                    <a:pt x="1520" y="617"/>
                    <a:pt x="1520" y="617"/>
                  </a:cubicBezTo>
                  <a:cubicBezTo>
                    <a:pt x="1550" y="711"/>
                    <a:pt x="1561" y="812"/>
                    <a:pt x="1549" y="914"/>
                  </a:cubicBezTo>
                  <a:cubicBezTo>
                    <a:pt x="1669" y="950"/>
                    <a:pt x="1669" y="950"/>
                    <a:pt x="1669" y="950"/>
                  </a:cubicBezTo>
                  <a:cubicBezTo>
                    <a:pt x="1592" y="1201"/>
                    <a:pt x="1592" y="1201"/>
                    <a:pt x="1592" y="1201"/>
                  </a:cubicBezTo>
                  <a:cubicBezTo>
                    <a:pt x="1473" y="1165"/>
                    <a:pt x="1473" y="1165"/>
                    <a:pt x="1473" y="1165"/>
                  </a:cubicBezTo>
                  <a:cubicBezTo>
                    <a:pt x="1426" y="1256"/>
                    <a:pt x="1361" y="1334"/>
                    <a:pt x="1283" y="1396"/>
                  </a:cubicBezTo>
                  <a:cubicBezTo>
                    <a:pt x="1342" y="1506"/>
                    <a:pt x="1342" y="1506"/>
                    <a:pt x="1342" y="1506"/>
                  </a:cubicBezTo>
                  <a:cubicBezTo>
                    <a:pt x="1110" y="1630"/>
                    <a:pt x="1110" y="1630"/>
                    <a:pt x="1110" y="1630"/>
                  </a:cubicBezTo>
                  <a:cubicBezTo>
                    <a:pt x="1052" y="1520"/>
                    <a:pt x="1052" y="1520"/>
                    <a:pt x="1052" y="1520"/>
                  </a:cubicBezTo>
                  <a:cubicBezTo>
                    <a:pt x="982" y="1542"/>
                    <a:pt x="909" y="1553"/>
                    <a:pt x="835" y="1553"/>
                  </a:cubicBezTo>
                  <a:cubicBezTo>
                    <a:pt x="835" y="1365"/>
                    <a:pt x="835" y="1365"/>
                    <a:pt x="835" y="1365"/>
                  </a:cubicBezTo>
                  <a:cubicBezTo>
                    <a:pt x="1062" y="1365"/>
                    <a:pt x="1273" y="1218"/>
                    <a:pt x="1343" y="988"/>
                  </a:cubicBezTo>
                  <a:cubicBezTo>
                    <a:pt x="1428" y="708"/>
                    <a:pt x="1270" y="411"/>
                    <a:pt x="989" y="326"/>
                  </a:cubicBezTo>
                  <a:cubicBezTo>
                    <a:pt x="938" y="310"/>
                    <a:pt x="886" y="303"/>
                    <a:pt x="835" y="303"/>
                  </a:cubicBezTo>
                  <a:lnTo>
                    <a:pt x="835" y="114"/>
                  </a:lnTo>
                  <a:close/>
                  <a:moveTo>
                    <a:pt x="386" y="272"/>
                  </a:moveTo>
                  <a:cubicBezTo>
                    <a:pt x="327" y="162"/>
                    <a:pt x="327" y="162"/>
                    <a:pt x="327" y="162"/>
                  </a:cubicBezTo>
                  <a:cubicBezTo>
                    <a:pt x="559" y="38"/>
                    <a:pt x="559" y="38"/>
                    <a:pt x="559" y="38"/>
                  </a:cubicBezTo>
                  <a:cubicBezTo>
                    <a:pt x="617" y="148"/>
                    <a:pt x="617" y="148"/>
                    <a:pt x="617" y="148"/>
                  </a:cubicBezTo>
                  <a:cubicBezTo>
                    <a:pt x="687" y="126"/>
                    <a:pt x="760" y="114"/>
                    <a:pt x="835" y="114"/>
                  </a:cubicBezTo>
                  <a:cubicBezTo>
                    <a:pt x="835" y="303"/>
                    <a:pt x="835" y="303"/>
                    <a:pt x="835" y="303"/>
                  </a:cubicBezTo>
                  <a:cubicBezTo>
                    <a:pt x="607" y="302"/>
                    <a:pt x="396" y="450"/>
                    <a:pt x="326" y="679"/>
                  </a:cubicBezTo>
                  <a:cubicBezTo>
                    <a:pt x="241" y="960"/>
                    <a:pt x="399" y="1257"/>
                    <a:pt x="680" y="1342"/>
                  </a:cubicBezTo>
                  <a:cubicBezTo>
                    <a:pt x="680" y="1342"/>
                    <a:pt x="680" y="1342"/>
                    <a:pt x="680" y="1342"/>
                  </a:cubicBezTo>
                  <a:cubicBezTo>
                    <a:pt x="731" y="1358"/>
                    <a:pt x="783" y="1365"/>
                    <a:pt x="835" y="1365"/>
                  </a:cubicBezTo>
                  <a:cubicBezTo>
                    <a:pt x="835" y="1553"/>
                    <a:pt x="835" y="1553"/>
                    <a:pt x="835" y="1553"/>
                  </a:cubicBezTo>
                  <a:cubicBezTo>
                    <a:pt x="808" y="1553"/>
                    <a:pt x="781" y="1552"/>
                    <a:pt x="754" y="1549"/>
                  </a:cubicBezTo>
                  <a:cubicBezTo>
                    <a:pt x="718" y="1668"/>
                    <a:pt x="718" y="1668"/>
                    <a:pt x="718" y="1668"/>
                  </a:cubicBezTo>
                  <a:cubicBezTo>
                    <a:pt x="467" y="1592"/>
                    <a:pt x="467" y="1592"/>
                    <a:pt x="467" y="1592"/>
                  </a:cubicBezTo>
                  <a:cubicBezTo>
                    <a:pt x="503" y="1472"/>
                    <a:pt x="503" y="1472"/>
                    <a:pt x="503" y="1472"/>
                  </a:cubicBezTo>
                  <a:cubicBezTo>
                    <a:pt x="412" y="1425"/>
                    <a:pt x="334" y="1360"/>
                    <a:pt x="272" y="1283"/>
                  </a:cubicBezTo>
                  <a:cubicBezTo>
                    <a:pt x="162" y="1341"/>
                    <a:pt x="162" y="1341"/>
                    <a:pt x="162" y="1341"/>
                  </a:cubicBezTo>
                  <a:cubicBezTo>
                    <a:pt x="39" y="1110"/>
                    <a:pt x="39" y="1110"/>
                    <a:pt x="39" y="1110"/>
                  </a:cubicBezTo>
                  <a:cubicBezTo>
                    <a:pt x="149" y="1051"/>
                    <a:pt x="149" y="1051"/>
                    <a:pt x="149" y="1051"/>
                  </a:cubicBezTo>
                  <a:cubicBezTo>
                    <a:pt x="119" y="957"/>
                    <a:pt x="108" y="856"/>
                    <a:pt x="120" y="754"/>
                  </a:cubicBezTo>
                  <a:cubicBezTo>
                    <a:pt x="0" y="718"/>
                    <a:pt x="0" y="718"/>
                    <a:pt x="0" y="718"/>
                  </a:cubicBezTo>
                  <a:cubicBezTo>
                    <a:pt x="77" y="466"/>
                    <a:pt x="77" y="466"/>
                    <a:pt x="77" y="466"/>
                  </a:cubicBezTo>
                  <a:cubicBezTo>
                    <a:pt x="196" y="502"/>
                    <a:pt x="196" y="502"/>
                    <a:pt x="196" y="502"/>
                  </a:cubicBezTo>
                  <a:cubicBezTo>
                    <a:pt x="243" y="411"/>
                    <a:pt x="308" y="333"/>
                    <a:pt x="386" y="272"/>
                  </a:cubicBezTo>
                  <a:close/>
                </a:path>
              </a:pathLst>
            </a:custGeom>
            <a:solidFill>
              <a:srgbClr val="FFA18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íṡḻïḋè"/>
            <p:cNvSpPr/>
            <p:nvPr/>
          </p:nvSpPr>
          <p:spPr bwMode="auto">
            <a:xfrm>
              <a:off x="3381264" y="1427219"/>
              <a:ext cx="2022473" cy="2021317"/>
            </a:xfrm>
            <a:custGeom>
              <a:avLst/>
              <a:gdLst>
                <a:gd name="T0" fmla="*/ 505 w 1010"/>
                <a:gd name="T1" fmla="*/ 69 h 1009"/>
                <a:gd name="T2" fmla="*/ 553 w 1010"/>
                <a:gd name="T3" fmla="*/ 72 h 1009"/>
                <a:gd name="T4" fmla="*/ 575 w 1010"/>
                <a:gd name="T5" fmla="*/ 0 h 1009"/>
                <a:gd name="T6" fmla="*/ 727 w 1010"/>
                <a:gd name="T7" fmla="*/ 46 h 1009"/>
                <a:gd name="T8" fmla="*/ 705 w 1010"/>
                <a:gd name="T9" fmla="*/ 118 h 1009"/>
                <a:gd name="T10" fmla="*/ 845 w 1010"/>
                <a:gd name="T11" fmla="*/ 233 h 1009"/>
                <a:gd name="T12" fmla="*/ 912 w 1010"/>
                <a:gd name="T13" fmla="*/ 197 h 1009"/>
                <a:gd name="T14" fmla="*/ 986 w 1010"/>
                <a:gd name="T15" fmla="*/ 337 h 1009"/>
                <a:gd name="T16" fmla="*/ 920 w 1010"/>
                <a:gd name="T17" fmla="*/ 373 h 1009"/>
                <a:gd name="T18" fmla="*/ 938 w 1010"/>
                <a:gd name="T19" fmla="*/ 553 h 1009"/>
                <a:gd name="T20" fmla="*/ 1010 w 1010"/>
                <a:gd name="T21" fmla="*/ 575 h 1009"/>
                <a:gd name="T22" fmla="*/ 963 w 1010"/>
                <a:gd name="T23" fmla="*/ 727 h 1009"/>
                <a:gd name="T24" fmla="*/ 891 w 1010"/>
                <a:gd name="T25" fmla="*/ 705 h 1009"/>
                <a:gd name="T26" fmla="*/ 777 w 1010"/>
                <a:gd name="T27" fmla="*/ 845 h 1009"/>
                <a:gd name="T28" fmla="*/ 812 w 1010"/>
                <a:gd name="T29" fmla="*/ 911 h 1009"/>
                <a:gd name="T30" fmla="*/ 672 w 1010"/>
                <a:gd name="T31" fmla="*/ 986 h 1009"/>
                <a:gd name="T32" fmla="*/ 636 w 1010"/>
                <a:gd name="T33" fmla="*/ 919 h 1009"/>
                <a:gd name="T34" fmla="*/ 505 w 1010"/>
                <a:gd name="T35" fmla="*/ 940 h 1009"/>
                <a:gd name="T36" fmla="*/ 505 w 1010"/>
                <a:gd name="T37" fmla="*/ 826 h 1009"/>
                <a:gd name="T38" fmla="*/ 812 w 1010"/>
                <a:gd name="T39" fmla="*/ 598 h 1009"/>
                <a:gd name="T40" fmla="*/ 598 w 1010"/>
                <a:gd name="T41" fmla="*/ 197 h 1009"/>
                <a:gd name="T42" fmla="*/ 505 w 1010"/>
                <a:gd name="T43" fmla="*/ 183 h 1009"/>
                <a:gd name="T44" fmla="*/ 505 w 1010"/>
                <a:gd name="T45" fmla="*/ 69 h 1009"/>
                <a:gd name="T46" fmla="*/ 233 w 1010"/>
                <a:gd name="T47" fmla="*/ 164 h 1009"/>
                <a:gd name="T48" fmla="*/ 198 w 1010"/>
                <a:gd name="T49" fmla="*/ 98 h 1009"/>
                <a:gd name="T50" fmla="*/ 338 w 1010"/>
                <a:gd name="T51" fmla="*/ 23 h 1009"/>
                <a:gd name="T52" fmla="*/ 373 w 1010"/>
                <a:gd name="T53" fmla="*/ 89 h 1009"/>
                <a:gd name="T54" fmla="*/ 505 w 1010"/>
                <a:gd name="T55" fmla="*/ 69 h 1009"/>
                <a:gd name="T56" fmla="*/ 505 w 1010"/>
                <a:gd name="T57" fmla="*/ 183 h 1009"/>
                <a:gd name="T58" fmla="*/ 197 w 1010"/>
                <a:gd name="T59" fmla="*/ 411 h 1009"/>
                <a:gd name="T60" fmla="*/ 411 w 1010"/>
                <a:gd name="T61" fmla="*/ 812 h 1009"/>
                <a:gd name="T62" fmla="*/ 411 w 1010"/>
                <a:gd name="T63" fmla="*/ 812 h 1009"/>
                <a:gd name="T64" fmla="*/ 505 w 1010"/>
                <a:gd name="T65" fmla="*/ 826 h 1009"/>
                <a:gd name="T66" fmla="*/ 505 w 1010"/>
                <a:gd name="T67" fmla="*/ 940 h 1009"/>
                <a:gd name="T68" fmla="*/ 456 w 1010"/>
                <a:gd name="T69" fmla="*/ 937 h 1009"/>
                <a:gd name="T70" fmla="*/ 434 w 1010"/>
                <a:gd name="T71" fmla="*/ 1009 h 1009"/>
                <a:gd name="T72" fmla="*/ 282 w 1010"/>
                <a:gd name="T73" fmla="*/ 963 h 1009"/>
                <a:gd name="T74" fmla="*/ 304 w 1010"/>
                <a:gd name="T75" fmla="*/ 891 h 1009"/>
                <a:gd name="T76" fmla="*/ 165 w 1010"/>
                <a:gd name="T77" fmla="*/ 776 h 1009"/>
                <a:gd name="T78" fmla="*/ 98 w 1010"/>
                <a:gd name="T79" fmla="*/ 812 h 1009"/>
                <a:gd name="T80" fmla="*/ 23 w 1010"/>
                <a:gd name="T81" fmla="*/ 671 h 1009"/>
                <a:gd name="T82" fmla="*/ 90 w 1010"/>
                <a:gd name="T83" fmla="*/ 636 h 1009"/>
                <a:gd name="T84" fmla="*/ 72 w 1010"/>
                <a:gd name="T85" fmla="*/ 456 h 1009"/>
                <a:gd name="T86" fmla="*/ 0 w 1010"/>
                <a:gd name="T87" fmla="*/ 434 h 1009"/>
                <a:gd name="T88" fmla="*/ 46 w 1010"/>
                <a:gd name="T89" fmla="*/ 282 h 1009"/>
                <a:gd name="T90" fmla="*/ 118 w 1010"/>
                <a:gd name="T91" fmla="*/ 304 h 1009"/>
                <a:gd name="T92" fmla="*/ 233 w 1010"/>
                <a:gd name="T93" fmla="*/ 164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10" h="1009">
                  <a:moveTo>
                    <a:pt x="505" y="69"/>
                  </a:moveTo>
                  <a:cubicBezTo>
                    <a:pt x="521" y="69"/>
                    <a:pt x="537" y="70"/>
                    <a:pt x="553" y="72"/>
                  </a:cubicBezTo>
                  <a:cubicBezTo>
                    <a:pt x="575" y="0"/>
                    <a:pt x="575" y="0"/>
                    <a:pt x="575" y="0"/>
                  </a:cubicBezTo>
                  <a:cubicBezTo>
                    <a:pt x="727" y="46"/>
                    <a:pt x="727" y="46"/>
                    <a:pt x="727" y="46"/>
                  </a:cubicBezTo>
                  <a:cubicBezTo>
                    <a:pt x="705" y="118"/>
                    <a:pt x="705" y="118"/>
                    <a:pt x="705" y="118"/>
                  </a:cubicBezTo>
                  <a:cubicBezTo>
                    <a:pt x="761" y="146"/>
                    <a:pt x="808" y="186"/>
                    <a:pt x="845" y="233"/>
                  </a:cubicBezTo>
                  <a:cubicBezTo>
                    <a:pt x="912" y="197"/>
                    <a:pt x="912" y="197"/>
                    <a:pt x="912" y="197"/>
                  </a:cubicBezTo>
                  <a:cubicBezTo>
                    <a:pt x="986" y="337"/>
                    <a:pt x="986" y="337"/>
                    <a:pt x="986" y="337"/>
                  </a:cubicBezTo>
                  <a:cubicBezTo>
                    <a:pt x="920" y="373"/>
                    <a:pt x="920" y="373"/>
                    <a:pt x="920" y="373"/>
                  </a:cubicBezTo>
                  <a:cubicBezTo>
                    <a:pt x="938" y="430"/>
                    <a:pt x="945" y="491"/>
                    <a:pt x="938" y="553"/>
                  </a:cubicBezTo>
                  <a:cubicBezTo>
                    <a:pt x="1010" y="575"/>
                    <a:pt x="1010" y="575"/>
                    <a:pt x="1010" y="575"/>
                  </a:cubicBezTo>
                  <a:cubicBezTo>
                    <a:pt x="963" y="727"/>
                    <a:pt x="963" y="727"/>
                    <a:pt x="963" y="727"/>
                  </a:cubicBezTo>
                  <a:cubicBezTo>
                    <a:pt x="891" y="705"/>
                    <a:pt x="891" y="705"/>
                    <a:pt x="891" y="705"/>
                  </a:cubicBezTo>
                  <a:cubicBezTo>
                    <a:pt x="863" y="760"/>
                    <a:pt x="823" y="807"/>
                    <a:pt x="777" y="845"/>
                  </a:cubicBezTo>
                  <a:cubicBezTo>
                    <a:pt x="812" y="911"/>
                    <a:pt x="812" y="911"/>
                    <a:pt x="812" y="911"/>
                  </a:cubicBezTo>
                  <a:cubicBezTo>
                    <a:pt x="672" y="986"/>
                    <a:pt x="672" y="986"/>
                    <a:pt x="672" y="986"/>
                  </a:cubicBezTo>
                  <a:cubicBezTo>
                    <a:pt x="636" y="919"/>
                    <a:pt x="636" y="919"/>
                    <a:pt x="636" y="919"/>
                  </a:cubicBezTo>
                  <a:cubicBezTo>
                    <a:pt x="594" y="933"/>
                    <a:pt x="550" y="940"/>
                    <a:pt x="505" y="940"/>
                  </a:cubicBezTo>
                  <a:cubicBezTo>
                    <a:pt x="505" y="826"/>
                    <a:pt x="505" y="826"/>
                    <a:pt x="505" y="826"/>
                  </a:cubicBezTo>
                  <a:cubicBezTo>
                    <a:pt x="643" y="826"/>
                    <a:pt x="770" y="737"/>
                    <a:pt x="812" y="598"/>
                  </a:cubicBezTo>
                  <a:cubicBezTo>
                    <a:pt x="864" y="428"/>
                    <a:pt x="768" y="248"/>
                    <a:pt x="598" y="197"/>
                  </a:cubicBezTo>
                  <a:cubicBezTo>
                    <a:pt x="567" y="187"/>
                    <a:pt x="536" y="183"/>
                    <a:pt x="505" y="183"/>
                  </a:cubicBezTo>
                  <a:lnTo>
                    <a:pt x="505" y="69"/>
                  </a:lnTo>
                  <a:close/>
                  <a:moveTo>
                    <a:pt x="233" y="164"/>
                  </a:moveTo>
                  <a:cubicBezTo>
                    <a:pt x="198" y="98"/>
                    <a:pt x="198" y="98"/>
                    <a:pt x="198" y="98"/>
                  </a:cubicBezTo>
                  <a:cubicBezTo>
                    <a:pt x="338" y="23"/>
                    <a:pt x="338" y="23"/>
                    <a:pt x="338" y="23"/>
                  </a:cubicBezTo>
                  <a:cubicBezTo>
                    <a:pt x="373" y="89"/>
                    <a:pt x="373" y="89"/>
                    <a:pt x="373" y="89"/>
                  </a:cubicBezTo>
                  <a:cubicBezTo>
                    <a:pt x="415" y="76"/>
                    <a:pt x="460" y="69"/>
                    <a:pt x="505" y="69"/>
                  </a:cubicBezTo>
                  <a:cubicBezTo>
                    <a:pt x="505" y="183"/>
                    <a:pt x="505" y="183"/>
                    <a:pt x="505" y="183"/>
                  </a:cubicBezTo>
                  <a:cubicBezTo>
                    <a:pt x="367" y="183"/>
                    <a:pt x="239" y="272"/>
                    <a:pt x="197" y="411"/>
                  </a:cubicBezTo>
                  <a:cubicBezTo>
                    <a:pt x="146" y="581"/>
                    <a:pt x="241" y="760"/>
                    <a:pt x="411" y="812"/>
                  </a:cubicBezTo>
                  <a:cubicBezTo>
                    <a:pt x="411" y="812"/>
                    <a:pt x="411" y="812"/>
                    <a:pt x="411" y="812"/>
                  </a:cubicBezTo>
                  <a:cubicBezTo>
                    <a:pt x="443" y="821"/>
                    <a:pt x="474" y="826"/>
                    <a:pt x="505" y="826"/>
                  </a:cubicBezTo>
                  <a:cubicBezTo>
                    <a:pt x="505" y="940"/>
                    <a:pt x="505" y="940"/>
                    <a:pt x="505" y="940"/>
                  </a:cubicBezTo>
                  <a:cubicBezTo>
                    <a:pt x="489" y="940"/>
                    <a:pt x="473" y="939"/>
                    <a:pt x="456" y="937"/>
                  </a:cubicBezTo>
                  <a:cubicBezTo>
                    <a:pt x="434" y="1009"/>
                    <a:pt x="434" y="1009"/>
                    <a:pt x="434" y="1009"/>
                  </a:cubicBezTo>
                  <a:cubicBezTo>
                    <a:pt x="282" y="963"/>
                    <a:pt x="282" y="963"/>
                    <a:pt x="282" y="963"/>
                  </a:cubicBezTo>
                  <a:cubicBezTo>
                    <a:pt x="304" y="891"/>
                    <a:pt x="304" y="891"/>
                    <a:pt x="304" y="891"/>
                  </a:cubicBezTo>
                  <a:cubicBezTo>
                    <a:pt x="249" y="862"/>
                    <a:pt x="202" y="823"/>
                    <a:pt x="165" y="776"/>
                  </a:cubicBezTo>
                  <a:cubicBezTo>
                    <a:pt x="98" y="812"/>
                    <a:pt x="98" y="812"/>
                    <a:pt x="98" y="812"/>
                  </a:cubicBezTo>
                  <a:cubicBezTo>
                    <a:pt x="23" y="671"/>
                    <a:pt x="23" y="671"/>
                    <a:pt x="23" y="671"/>
                  </a:cubicBezTo>
                  <a:cubicBezTo>
                    <a:pt x="90" y="636"/>
                    <a:pt x="90" y="636"/>
                    <a:pt x="90" y="636"/>
                  </a:cubicBezTo>
                  <a:cubicBezTo>
                    <a:pt x="72" y="579"/>
                    <a:pt x="65" y="518"/>
                    <a:pt x="72" y="456"/>
                  </a:cubicBezTo>
                  <a:cubicBezTo>
                    <a:pt x="0" y="434"/>
                    <a:pt x="0" y="434"/>
                    <a:pt x="0" y="434"/>
                  </a:cubicBezTo>
                  <a:cubicBezTo>
                    <a:pt x="46" y="282"/>
                    <a:pt x="46" y="282"/>
                    <a:pt x="46" y="282"/>
                  </a:cubicBezTo>
                  <a:cubicBezTo>
                    <a:pt x="118" y="304"/>
                    <a:pt x="118" y="304"/>
                    <a:pt x="118" y="304"/>
                  </a:cubicBezTo>
                  <a:cubicBezTo>
                    <a:pt x="147" y="249"/>
                    <a:pt x="186" y="201"/>
                    <a:pt x="233" y="164"/>
                  </a:cubicBezTo>
                  <a:close/>
                </a:path>
              </a:pathLst>
            </a:custGeom>
            <a:solidFill>
              <a:srgbClr val="FFA18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ïŝľídè"/>
            <p:cNvSpPr/>
            <p:nvPr/>
          </p:nvSpPr>
          <p:spPr bwMode="auto">
            <a:xfrm>
              <a:off x="7188135" y="1954218"/>
              <a:ext cx="1292071" cy="1828315"/>
            </a:xfrm>
            <a:custGeom>
              <a:avLst/>
              <a:gdLst>
                <a:gd name="T0" fmla="*/ 0 w 1118"/>
                <a:gd name="T1" fmla="*/ 0 h 1582"/>
                <a:gd name="T2" fmla="*/ 958 w 1118"/>
                <a:gd name="T3" fmla="*/ 0 h 1582"/>
                <a:gd name="T4" fmla="*/ 1118 w 1118"/>
                <a:gd name="T5" fmla="*/ 161 h 1582"/>
                <a:gd name="T6" fmla="*/ 1118 w 1118"/>
                <a:gd name="T7" fmla="*/ 0 h 1582"/>
                <a:gd name="T8" fmla="*/ 1118 w 1118"/>
                <a:gd name="T9" fmla="*/ 1582 h 1582"/>
                <a:gd name="T10" fmla="*/ 0 w 1118"/>
                <a:gd name="T11" fmla="*/ 1582 h 1582"/>
                <a:gd name="T12" fmla="*/ 0 w 1118"/>
                <a:gd name="T13" fmla="*/ 0 h 1582"/>
              </a:gdLst>
              <a:ahLst/>
              <a:cxnLst>
                <a:cxn ang="0">
                  <a:pos x="T0" y="T1"/>
                </a:cxn>
                <a:cxn ang="0">
                  <a:pos x="T2" y="T3"/>
                </a:cxn>
                <a:cxn ang="0">
                  <a:pos x="T4" y="T5"/>
                </a:cxn>
                <a:cxn ang="0">
                  <a:pos x="T6" y="T7"/>
                </a:cxn>
                <a:cxn ang="0">
                  <a:pos x="T8" y="T9"/>
                </a:cxn>
                <a:cxn ang="0">
                  <a:pos x="T10" y="T11"/>
                </a:cxn>
                <a:cxn ang="0">
                  <a:pos x="T12" y="T13"/>
                </a:cxn>
              </a:cxnLst>
              <a:rect l="0" t="0" r="r" b="b"/>
              <a:pathLst>
                <a:path w="1118" h="1582">
                  <a:moveTo>
                    <a:pt x="0" y="0"/>
                  </a:moveTo>
                  <a:lnTo>
                    <a:pt x="958" y="0"/>
                  </a:lnTo>
                  <a:lnTo>
                    <a:pt x="1118" y="161"/>
                  </a:lnTo>
                  <a:lnTo>
                    <a:pt x="1118" y="0"/>
                  </a:lnTo>
                  <a:lnTo>
                    <a:pt x="1118" y="1582"/>
                  </a:lnTo>
                  <a:lnTo>
                    <a:pt x="0" y="1582"/>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ïśḻïḋè"/>
            <p:cNvSpPr/>
            <p:nvPr/>
          </p:nvSpPr>
          <p:spPr bwMode="auto">
            <a:xfrm>
              <a:off x="7972855" y="3252067"/>
              <a:ext cx="0" cy="114414"/>
            </a:xfrm>
            <a:prstGeom prst="line">
              <a:avLst/>
            </a:prstGeom>
            <a:noFill/>
            <a:ln w="11113" cap="flat">
              <a:solidFill>
                <a:srgbClr val="CCCCCC"/>
              </a:solidFill>
              <a:prstDash val="solid"/>
              <a:miter lim="800000"/>
              <a:headEnd/>
              <a:tailEnd/>
            </a:ln>
            <a:extLst>
              <a:ext uri="{909E8E84-426E-40DD-AFC4-6F175D3DCCD1}">
                <a14:hiddenFill xmlns:a14="http://schemas.microsoft.com/office/drawing/2010/main">
                  <a:noFill/>
                </a14:hiddenFill>
              </a:ext>
            </a:extLst>
          </p:spPr>
          <p:txBody>
            <a:bodyPr anchor="ctr"/>
            <a:lstStyle/>
            <a:p>
              <a:pPr algn="ctr"/>
              <a:endParaRPr/>
            </a:p>
          </p:txBody>
        </p:sp>
        <p:sp>
          <p:nvSpPr>
            <p:cNvPr id="36" name="ïṥľîdê"/>
            <p:cNvSpPr/>
            <p:nvPr/>
          </p:nvSpPr>
          <p:spPr bwMode="auto">
            <a:xfrm>
              <a:off x="8251378" y="3252067"/>
              <a:ext cx="0" cy="228828"/>
            </a:xfrm>
            <a:prstGeom prst="line">
              <a:avLst/>
            </a:prstGeom>
            <a:noFill/>
            <a:ln w="11113" cap="flat">
              <a:solidFill>
                <a:srgbClr val="CCCCCC"/>
              </a:solidFill>
              <a:prstDash val="solid"/>
              <a:miter lim="800000"/>
              <a:headEnd/>
              <a:tailEnd/>
            </a:ln>
            <a:extLst>
              <a:ext uri="{909E8E84-426E-40DD-AFC4-6F175D3DCCD1}">
                <a14:hiddenFill xmlns:a14="http://schemas.microsoft.com/office/drawing/2010/main">
                  <a:noFill/>
                </a14:hiddenFill>
              </a:ext>
            </a:extLst>
          </p:spPr>
          <p:txBody>
            <a:bodyPr anchor="ctr"/>
            <a:lstStyle/>
            <a:p>
              <a:pPr algn="ctr"/>
              <a:endParaRPr/>
            </a:p>
          </p:txBody>
        </p:sp>
        <p:sp>
          <p:nvSpPr>
            <p:cNvPr id="37" name="íṣ1iḍè"/>
            <p:cNvSpPr/>
            <p:nvPr/>
          </p:nvSpPr>
          <p:spPr bwMode="auto">
            <a:xfrm>
              <a:off x="7520976" y="2150686"/>
              <a:ext cx="62638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8" name="îṥļîďè"/>
            <p:cNvSpPr/>
            <p:nvPr/>
          </p:nvSpPr>
          <p:spPr bwMode="auto">
            <a:xfrm>
              <a:off x="7306016" y="2262789"/>
              <a:ext cx="105630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39" name="ïšḻïďè"/>
            <p:cNvSpPr/>
            <p:nvPr/>
          </p:nvSpPr>
          <p:spPr bwMode="auto">
            <a:xfrm>
              <a:off x="7306016" y="2341377"/>
              <a:ext cx="105630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0" name="íṩľïḓè"/>
            <p:cNvSpPr/>
            <p:nvPr/>
          </p:nvSpPr>
          <p:spPr bwMode="auto">
            <a:xfrm>
              <a:off x="7306016" y="2418808"/>
              <a:ext cx="105630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1" name="ïṩḷiḑé"/>
            <p:cNvSpPr/>
            <p:nvPr/>
          </p:nvSpPr>
          <p:spPr bwMode="auto">
            <a:xfrm>
              <a:off x="7306016" y="2497396"/>
              <a:ext cx="494639" cy="4391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 name="ïṧliḍé"/>
            <p:cNvSpPr/>
            <p:nvPr/>
          </p:nvSpPr>
          <p:spPr bwMode="auto">
            <a:xfrm>
              <a:off x="8087269" y="2743560"/>
              <a:ext cx="275056" cy="272745"/>
            </a:xfrm>
            <a:prstGeom prst="ellipse">
              <a:avLst/>
            </a:prstGeom>
            <a:solidFill>
              <a:srgbClr val="EF413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íṣliḓè"/>
            <p:cNvSpPr/>
            <p:nvPr/>
          </p:nvSpPr>
          <p:spPr bwMode="auto">
            <a:xfrm>
              <a:off x="8103448" y="2879932"/>
              <a:ext cx="122504" cy="114414"/>
            </a:xfrm>
            <a:custGeom>
              <a:avLst/>
              <a:gdLst>
                <a:gd name="T0" fmla="*/ 23 w 61"/>
                <a:gd name="T1" fmla="*/ 57 h 57"/>
                <a:gd name="T2" fmla="*/ 0 w 61"/>
                <a:gd name="T3" fmla="*/ 31 h 57"/>
                <a:gd name="T4" fmla="*/ 61 w 61"/>
                <a:gd name="T5" fmla="*/ 0 h 57"/>
                <a:gd name="T6" fmla="*/ 23 w 61"/>
                <a:gd name="T7" fmla="*/ 57 h 57"/>
              </a:gdLst>
              <a:ahLst/>
              <a:cxnLst>
                <a:cxn ang="0">
                  <a:pos x="T0" y="T1"/>
                </a:cxn>
                <a:cxn ang="0">
                  <a:pos x="T2" y="T3"/>
                </a:cxn>
                <a:cxn ang="0">
                  <a:pos x="T4" y="T5"/>
                </a:cxn>
                <a:cxn ang="0">
                  <a:pos x="T6" y="T7"/>
                </a:cxn>
              </a:cxnLst>
              <a:rect l="0" t="0" r="r" b="b"/>
              <a:pathLst>
                <a:path w="61" h="57">
                  <a:moveTo>
                    <a:pt x="23" y="57"/>
                  </a:moveTo>
                  <a:cubicBezTo>
                    <a:pt x="13" y="51"/>
                    <a:pt x="5" y="42"/>
                    <a:pt x="0" y="31"/>
                  </a:cubicBezTo>
                  <a:cubicBezTo>
                    <a:pt x="61" y="0"/>
                    <a:pt x="61" y="0"/>
                    <a:pt x="61" y="0"/>
                  </a:cubicBezTo>
                  <a:lnTo>
                    <a:pt x="23" y="57"/>
                  </a:lnTo>
                  <a:close/>
                </a:path>
              </a:pathLst>
            </a:custGeom>
            <a:solidFill>
              <a:srgbClr val="FCD8D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ïSlídè"/>
            <p:cNvSpPr/>
            <p:nvPr/>
          </p:nvSpPr>
          <p:spPr bwMode="auto">
            <a:xfrm>
              <a:off x="8087269" y="2771296"/>
              <a:ext cx="138684" cy="169888"/>
            </a:xfrm>
            <a:custGeom>
              <a:avLst/>
              <a:gdLst>
                <a:gd name="T0" fmla="*/ 8 w 69"/>
                <a:gd name="T1" fmla="*/ 85 h 85"/>
                <a:gd name="T2" fmla="*/ 0 w 69"/>
                <a:gd name="T3" fmla="*/ 54 h 85"/>
                <a:gd name="T4" fmla="*/ 27 w 69"/>
                <a:gd name="T5" fmla="*/ 0 h 85"/>
                <a:gd name="T6" fmla="*/ 69 w 69"/>
                <a:gd name="T7" fmla="*/ 54 h 85"/>
                <a:gd name="T8" fmla="*/ 8 w 69"/>
                <a:gd name="T9" fmla="*/ 85 h 85"/>
              </a:gdLst>
              <a:ahLst/>
              <a:cxnLst>
                <a:cxn ang="0">
                  <a:pos x="T0" y="T1"/>
                </a:cxn>
                <a:cxn ang="0">
                  <a:pos x="T2" y="T3"/>
                </a:cxn>
                <a:cxn ang="0">
                  <a:pos x="T4" y="T5"/>
                </a:cxn>
                <a:cxn ang="0">
                  <a:pos x="T6" y="T7"/>
                </a:cxn>
                <a:cxn ang="0">
                  <a:pos x="T8" y="T9"/>
                </a:cxn>
              </a:cxnLst>
              <a:rect l="0" t="0" r="r" b="b"/>
              <a:pathLst>
                <a:path w="69" h="85">
                  <a:moveTo>
                    <a:pt x="8" y="85"/>
                  </a:moveTo>
                  <a:cubicBezTo>
                    <a:pt x="3" y="76"/>
                    <a:pt x="0" y="65"/>
                    <a:pt x="0" y="54"/>
                  </a:cubicBezTo>
                  <a:cubicBezTo>
                    <a:pt x="0" y="32"/>
                    <a:pt x="11" y="13"/>
                    <a:pt x="27" y="0"/>
                  </a:cubicBezTo>
                  <a:cubicBezTo>
                    <a:pt x="69" y="54"/>
                    <a:pt x="69" y="54"/>
                    <a:pt x="69" y="54"/>
                  </a:cubicBezTo>
                  <a:lnTo>
                    <a:pt x="8" y="85"/>
                  </a:lnTo>
                  <a:close/>
                </a:path>
              </a:pathLst>
            </a:custGeom>
            <a:solidFill>
              <a:srgbClr val="F9B3A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îsḷidé"/>
            <p:cNvSpPr/>
            <p:nvPr/>
          </p:nvSpPr>
          <p:spPr bwMode="auto">
            <a:xfrm>
              <a:off x="8141587" y="2743560"/>
              <a:ext cx="84366" cy="136372"/>
            </a:xfrm>
            <a:custGeom>
              <a:avLst/>
              <a:gdLst>
                <a:gd name="T0" fmla="*/ 0 w 42"/>
                <a:gd name="T1" fmla="*/ 14 h 68"/>
                <a:gd name="T2" fmla="*/ 42 w 42"/>
                <a:gd name="T3" fmla="*/ 0 h 68"/>
                <a:gd name="T4" fmla="*/ 42 w 42"/>
                <a:gd name="T5" fmla="*/ 68 h 68"/>
                <a:gd name="T6" fmla="*/ 0 w 42"/>
                <a:gd name="T7" fmla="*/ 14 h 68"/>
              </a:gdLst>
              <a:ahLst/>
              <a:cxnLst>
                <a:cxn ang="0">
                  <a:pos x="T0" y="T1"/>
                </a:cxn>
                <a:cxn ang="0">
                  <a:pos x="T2" y="T3"/>
                </a:cxn>
                <a:cxn ang="0">
                  <a:pos x="T4" y="T5"/>
                </a:cxn>
                <a:cxn ang="0">
                  <a:pos x="T6" y="T7"/>
                </a:cxn>
              </a:cxnLst>
              <a:rect l="0" t="0" r="r" b="b"/>
              <a:pathLst>
                <a:path w="42" h="68">
                  <a:moveTo>
                    <a:pt x="0" y="14"/>
                  </a:moveTo>
                  <a:cubicBezTo>
                    <a:pt x="11" y="5"/>
                    <a:pt x="26" y="0"/>
                    <a:pt x="42" y="0"/>
                  </a:cubicBezTo>
                  <a:cubicBezTo>
                    <a:pt x="42" y="68"/>
                    <a:pt x="42" y="68"/>
                    <a:pt x="42" y="68"/>
                  </a:cubicBezTo>
                  <a:lnTo>
                    <a:pt x="0" y="14"/>
                  </a:lnTo>
                  <a:close/>
                </a:path>
              </a:pathLst>
            </a:custGeom>
            <a:solidFill>
              <a:srgbClr val="F48C8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íṥḻîḋê"/>
            <p:cNvSpPr/>
            <p:nvPr/>
          </p:nvSpPr>
          <p:spPr bwMode="auto">
            <a:xfrm>
              <a:off x="8225953" y="2743560"/>
              <a:ext cx="98234" cy="136372"/>
            </a:xfrm>
            <a:custGeom>
              <a:avLst/>
              <a:gdLst>
                <a:gd name="T0" fmla="*/ 0 w 49"/>
                <a:gd name="T1" fmla="*/ 0 h 68"/>
                <a:gd name="T2" fmla="*/ 0 w 49"/>
                <a:gd name="T3" fmla="*/ 68 h 68"/>
                <a:gd name="T4" fmla="*/ 49 w 49"/>
                <a:gd name="T5" fmla="*/ 20 h 68"/>
                <a:gd name="T6" fmla="*/ 0 w 49"/>
                <a:gd name="T7" fmla="*/ 0 h 68"/>
              </a:gdLst>
              <a:ahLst/>
              <a:cxnLst>
                <a:cxn ang="0">
                  <a:pos x="T0" y="T1"/>
                </a:cxn>
                <a:cxn ang="0">
                  <a:pos x="T2" y="T3"/>
                </a:cxn>
                <a:cxn ang="0">
                  <a:pos x="T4" y="T5"/>
                </a:cxn>
                <a:cxn ang="0">
                  <a:pos x="T6" y="T7"/>
                </a:cxn>
              </a:cxnLst>
              <a:rect l="0" t="0" r="r" b="b"/>
              <a:pathLst>
                <a:path w="49" h="68">
                  <a:moveTo>
                    <a:pt x="0" y="0"/>
                  </a:moveTo>
                  <a:cubicBezTo>
                    <a:pt x="0" y="68"/>
                    <a:pt x="0" y="68"/>
                    <a:pt x="0" y="68"/>
                  </a:cubicBezTo>
                  <a:cubicBezTo>
                    <a:pt x="49" y="20"/>
                    <a:pt x="49" y="20"/>
                    <a:pt x="49" y="20"/>
                  </a:cubicBezTo>
                  <a:cubicBezTo>
                    <a:pt x="36" y="8"/>
                    <a:pt x="19" y="0"/>
                    <a:pt x="0" y="0"/>
                  </a:cubicBezTo>
                  <a:close/>
                </a:path>
              </a:pathLst>
            </a:custGeom>
            <a:solidFill>
              <a:srgbClr val="F2675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7" name="îṣḻïďe"/>
            <p:cNvSpPr/>
            <p:nvPr/>
          </p:nvSpPr>
          <p:spPr bwMode="auto">
            <a:xfrm>
              <a:off x="7306016" y="3039419"/>
              <a:ext cx="629856" cy="1618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 name="išľiḑe"/>
            <p:cNvSpPr/>
            <p:nvPr/>
          </p:nvSpPr>
          <p:spPr bwMode="auto">
            <a:xfrm>
              <a:off x="7306016" y="2703110"/>
              <a:ext cx="112103" cy="336308"/>
            </a:xfrm>
            <a:prstGeom prst="rect">
              <a:avLst/>
            </a:prstGeom>
            <a:solidFill>
              <a:srgbClr val="4C8EB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9" name="iśḷïďé"/>
            <p:cNvSpPr/>
            <p:nvPr/>
          </p:nvSpPr>
          <p:spPr bwMode="auto">
            <a:xfrm>
              <a:off x="7436610" y="2829081"/>
              <a:ext cx="109791" cy="210337"/>
            </a:xfrm>
            <a:prstGeom prst="rect">
              <a:avLst/>
            </a:prstGeom>
            <a:solidFill>
              <a:srgbClr val="609DC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0" name="ïṥľíḍé"/>
            <p:cNvSpPr/>
            <p:nvPr/>
          </p:nvSpPr>
          <p:spPr bwMode="auto">
            <a:xfrm>
              <a:off x="7564893" y="2901890"/>
              <a:ext cx="112103" cy="137528"/>
            </a:xfrm>
            <a:prstGeom prst="rect">
              <a:avLst/>
            </a:prstGeom>
            <a:solidFill>
              <a:srgbClr val="73ACC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1" name="iṧḷîḑê"/>
            <p:cNvSpPr/>
            <p:nvPr/>
          </p:nvSpPr>
          <p:spPr bwMode="auto">
            <a:xfrm>
              <a:off x="7693175" y="2836016"/>
              <a:ext cx="112103" cy="203403"/>
            </a:xfrm>
            <a:prstGeom prst="rect">
              <a:avLst/>
            </a:prstGeom>
            <a:solidFill>
              <a:srgbClr val="87BBD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2" name="ïṥľíḑe"/>
            <p:cNvSpPr/>
            <p:nvPr/>
          </p:nvSpPr>
          <p:spPr bwMode="auto">
            <a:xfrm>
              <a:off x="7823769" y="2893801"/>
              <a:ext cx="112103" cy="14561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3" name="íşliḋe"/>
            <p:cNvSpPr/>
            <p:nvPr/>
          </p:nvSpPr>
          <p:spPr bwMode="auto">
            <a:xfrm>
              <a:off x="8097670" y="3039419"/>
              <a:ext cx="55474" cy="1618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4" name="ïṡļíďê"/>
            <p:cNvSpPr/>
            <p:nvPr/>
          </p:nvSpPr>
          <p:spPr bwMode="auto">
            <a:xfrm>
              <a:off x="8179725" y="3039419"/>
              <a:ext cx="167576" cy="16180"/>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5" name="ïṩļiḓé"/>
            <p:cNvSpPr/>
            <p:nvPr/>
          </p:nvSpPr>
          <p:spPr bwMode="auto">
            <a:xfrm>
              <a:off x="8295294" y="1954218"/>
              <a:ext cx="184912" cy="186067"/>
            </a:xfrm>
            <a:custGeom>
              <a:avLst/>
              <a:gdLst>
                <a:gd name="T0" fmla="*/ 0 w 160"/>
                <a:gd name="T1" fmla="*/ 161 h 161"/>
                <a:gd name="T2" fmla="*/ 160 w 160"/>
                <a:gd name="T3" fmla="*/ 161 h 161"/>
                <a:gd name="T4" fmla="*/ 0 w 160"/>
                <a:gd name="T5" fmla="*/ 0 h 161"/>
                <a:gd name="T6" fmla="*/ 0 w 160"/>
                <a:gd name="T7" fmla="*/ 161 h 161"/>
              </a:gdLst>
              <a:ahLst/>
              <a:cxnLst>
                <a:cxn ang="0">
                  <a:pos x="T0" y="T1"/>
                </a:cxn>
                <a:cxn ang="0">
                  <a:pos x="T2" y="T3"/>
                </a:cxn>
                <a:cxn ang="0">
                  <a:pos x="T4" y="T5"/>
                </a:cxn>
                <a:cxn ang="0">
                  <a:pos x="T6" y="T7"/>
                </a:cxn>
              </a:cxnLst>
              <a:rect l="0" t="0" r="r" b="b"/>
              <a:pathLst>
                <a:path w="160" h="161">
                  <a:moveTo>
                    <a:pt x="0" y="161"/>
                  </a:moveTo>
                  <a:lnTo>
                    <a:pt x="160" y="161"/>
                  </a:lnTo>
                  <a:lnTo>
                    <a:pt x="0" y="0"/>
                  </a:lnTo>
                  <a:lnTo>
                    <a:pt x="0" y="161"/>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íS1íḓe"/>
            <p:cNvSpPr/>
            <p:nvPr/>
          </p:nvSpPr>
          <p:spPr bwMode="auto">
            <a:xfrm>
              <a:off x="7306016" y="3218552"/>
              <a:ext cx="223050" cy="68186"/>
            </a:xfrm>
            <a:prstGeom prst="rect">
              <a:avLst/>
            </a:prstGeom>
            <a:solidFill>
              <a:srgbClr val="EF413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7" name="îṥlîḍê"/>
            <p:cNvSpPr/>
            <p:nvPr/>
          </p:nvSpPr>
          <p:spPr bwMode="auto">
            <a:xfrm>
              <a:off x="7584540" y="3218552"/>
              <a:ext cx="223050" cy="68186"/>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8" name="ïšḷïḍê"/>
            <p:cNvSpPr/>
            <p:nvPr/>
          </p:nvSpPr>
          <p:spPr bwMode="auto">
            <a:xfrm>
              <a:off x="7860752" y="3218552"/>
              <a:ext cx="225361" cy="68186"/>
            </a:xfrm>
            <a:prstGeom prst="rect">
              <a:avLst/>
            </a:prstGeom>
            <a:solidFill>
              <a:srgbClr val="609DC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9" name="íšlíḑe"/>
            <p:cNvSpPr/>
            <p:nvPr/>
          </p:nvSpPr>
          <p:spPr bwMode="auto">
            <a:xfrm>
              <a:off x="8139275" y="3218552"/>
              <a:ext cx="223050" cy="68186"/>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0" name="ïṥḻïďe"/>
            <p:cNvSpPr/>
            <p:nvPr/>
          </p:nvSpPr>
          <p:spPr bwMode="auto">
            <a:xfrm>
              <a:off x="7306016" y="3331810"/>
              <a:ext cx="223050" cy="68186"/>
            </a:xfrm>
            <a:prstGeom prst="rect">
              <a:avLst/>
            </a:prstGeom>
            <a:solidFill>
              <a:srgbClr val="F2675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1" name="íṣḻîḓè"/>
            <p:cNvSpPr/>
            <p:nvPr/>
          </p:nvSpPr>
          <p:spPr bwMode="auto">
            <a:xfrm>
              <a:off x="7306016" y="3446224"/>
              <a:ext cx="223050" cy="68186"/>
            </a:xfrm>
            <a:prstGeom prst="rect">
              <a:avLst/>
            </a:prstGeom>
            <a:solidFill>
              <a:srgbClr val="F48C8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2" name="ïSliḑé"/>
            <p:cNvSpPr/>
            <p:nvPr/>
          </p:nvSpPr>
          <p:spPr bwMode="auto">
            <a:xfrm>
              <a:off x="7306016" y="3560639"/>
              <a:ext cx="223050" cy="68186"/>
            </a:xfrm>
            <a:prstGeom prst="rect">
              <a:avLst/>
            </a:prstGeom>
            <a:solidFill>
              <a:srgbClr val="FCD8D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3" name="ïṡḻîḑe"/>
            <p:cNvSpPr/>
            <p:nvPr/>
          </p:nvSpPr>
          <p:spPr bwMode="auto">
            <a:xfrm>
              <a:off x="7860752" y="3331810"/>
              <a:ext cx="225361" cy="68186"/>
            </a:xfrm>
            <a:prstGeom prst="rect">
              <a:avLst/>
            </a:prstGeom>
            <a:solidFill>
              <a:srgbClr val="609DC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4" name="iS1îḓê"/>
            <p:cNvSpPr/>
            <p:nvPr/>
          </p:nvSpPr>
          <p:spPr bwMode="auto">
            <a:xfrm>
              <a:off x="8139275" y="3331810"/>
              <a:ext cx="223050" cy="68186"/>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5" name="ísļiḑe"/>
            <p:cNvSpPr/>
            <p:nvPr/>
          </p:nvSpPr>
          <p:spPr bwMode="auto">
            <a:xfrm>
              <a:off x="8139275" y="3446224"/>
              <a:ext cx="223050" cy="68186"/>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6" name="iṣļiḋé"/>
            <p:cNvSpPr/>
            <p:nvPr/>
          </p:nvSpPr>
          <p:spPr bwMode="auto">
            <a:xfrm>
              <a:off x="4432950" y="3142276"/>
              <a:ext cx="2985169" cy="1962376"/>
            </a:xfrm>
            <a:custGeom>
              <a:avLst/>
              <a:gdLst>
                <a:gd name="T0" fmla="*/ 52 w 1491"/>
                <a:gd name="T1" fmla="*/ 0 h 980"/>
                <a:gd name="T2" fmla="*/ 1440 w 1491"/>
                <a:gd name="T3" fmla="*/ 0 h 980"/>
                <a:gd name="T4" fmla="*/ 1491 w 1491"/>
                <a:gd name="T5" fmla="*/ 51 h 980"/>
                <a:gd name="T6" fmla="*/ 1491 w 1491"/>
                <a:gd name="T7" fmla="*/ 928 h 980"/>
                <a:gd name="T8" fmla="*/ 1440 w 1491"/>
                <a:gd name="T9" fmla="*/ 980 h 980"/>
                <a:gd name="T10" fmla="*/ 52 w 1491"/>
                <a:gd name="T11" fmla="*/ 980 h 980"/>
                <a:gd name="T12" fmla="*/ 0 w 1491"/>
                <a:gd name="T13" fmla="*/ 928 h 980"/>
                <a:gd name="T14" fmla="*/ 0 w 1491"/>
                <a:gd name="T15" fmla="*/ 51 h 980"/>
                <a:gd name="T16" fmla="*/ 52 w 1491"/>
                <a:gd name="T17" fmla="*/ 0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1" h="980">
                  <a:moveTo>
                    <a:pt x="52" y="0"/>
                  </a:moveTo>
                  <a:cubicBezTo>
                    <a:pt x="1440" y="0"/>
                    <a:pt x="1440" y="0"/>
                    <a:pt x="1440" y="0"/>
                  </a:cubicBezTo>
                  <a:cubicBezTo>
                    <a:pt x="1468" y="0"/>
                    <a:pt x="1491" y="23"/>
                    <a:pt x="1491" y="51"/>
                  </a:cubicBezTo>
                  <a:cubicBezTo>
                    <a:pt x="1491" y="928"/>
                    <a:pt x="1491" y="928"/>
                    <a:pt x="1491" y="928"/>
                  </a:cubicBezTo>
                  <a:cubicBezTo>
                    <a:pt x="1491" y="957"/>
                    <a:pt x="1468" y="980"/>
                    <a:pt x="1440" y="980"/>
                  </a:cubicBezTo>
                  <a:cubicBezTo>
                    <a:pt x="52" y="980"/>
                    <a:pt x="52" y="980"/>
                    <a:pt x="52" y="980"/>
                  </a:cubicBezTo>
                  <a:cubicBezTo>
                    <a:pt x="23" y="980"/>
                    <a:pt x="0" y="957"/>
                    <a:pt x="0" y="928"/>
                  </a:cubicBezTo>
                  <a:cubicBezTo>
                    <a:pt x="0" y="51"/>
                    <a:pt x="0" y="51"/>
                    <a:pt x="0" y="51"/>
                  </a:cubicBezTo>
                  <a:cubicBezTo>
                    <a:pt x="0" y="23"/>
                    <a:pt x="23" y="0"/>
                    <a:pt x="52" y="0"/>
                  </a:cubicBez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7" name="i$1íďè"/>
            <p:cNvSpPr/>
            <p:nvPr/>
          </p:nvSpPr>
          <p:spPr bwMode="auto">
            <a:xfrm>
              <a:off x="4586658" y="3346834"/>
              <a:ext cx="2677754" cy="143768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8" name="ïṡlîḑe"/>
            <p:cNvSpPr/>
            <p:nvPr/>
          </p:nvSpPr>
          <p:spPr bwMode="auto">
            <a:xfrm>
              <a:off x="5862549" y="4872357"/>
              <a:ext cx="125971" cy="12828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9" name="iṡ1ïḓê"/>
            <p:cNvSpPr/>
            <p:nvPr/>
          </p:nvSpPr>
          <p:spPr bwMode="auto">
            <a:xfrm>
              <a:off x="3914041" y="5104652"/>
              <a:ext cx="4022987" cy="340931"/>
            </a:xfrm>
            <a:custGeom>
              <a:avLst/>
              <a:gdLst>
                <a:gd name="T0" fmla="*/ 449 w 3481"/>
                <a:gd name="T1" fmla="*/ 0 h 295"/>
                <a:gd name="T2" fmla="*/ 3032 w 3481"/>
                <a:gd name="T3" fmla="*/ 0 h 295"/>
                <a:gd name="T4" fmla="*/ 3481 w 3481"/>
                <a:gd name="T5" fmla="*/ 295 h 295"/>
                <a:gd name="T6" fmla="*/ 0 w 3481"/>
                <a:gd name="T7" fmla="*/ 295 h 295"/>
                <a:gd name="T8" fmla="*/ 449 w 3481"/>
                <a:gd name="T9" fmla="*/ 0 h 295"/>
              </a:gdLst>
              <a:ahLst/>
              <a:cxnLst>
                <a:cxn ang="0">
                  <a:pos x="T0" y="T1"/>
                </a:cxn>
                <a:cxn ang="0">
                  <a:pos x="T2" y="T3"/>
                </a:cxn>
                <a:cxn ang="0">
                  <a:pos x="T4" y="T5"/>
                </a:cxn>
                <a:cxn ang="0">
                  <a:pos x="T6" y="T7"/>
                </a:cxn>
                <a:cxn ang="0">
                  <a:pos x="T8" y="T9"/>
                </a:cxn>
              </a:cxnLst>
              <a:rect l="0" t="0" r="r" b="b"/>
              <a:pathLst>
                <a:path w="3481" h="295">
                  <a:moveTo>
                    <a:pt x="449" y="0"/>
                  </a:moveTo>
                  <a:lnTo>
                    <a:pt x="3032" y="0"/>
                  </a:lnTo>
                  <a:lnTo>
                    <a:pt x="3481" y="295"/>
                  </a:lnTo>
                  <a:lnTo>
                    <a:pt x="0" y="295"/>
                  </a:lnTo>
                  <a:lnTo>
                    <a:pt x="449"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0" name="iŝḻïḋé"/>
            <p:cNvSpPr/>
            <p:nvPr/>
          </p:nvSpPr>
          <p:spPr bwMode="auto">
            <a:xfrm>
              <a:off x="3914041" y="5445583"/>
              <a:ext cx="4022987" cy="189535"/>
            </a:xfrm>
            <a:custGeom>
              <a:avLst/>
              <a:gdLst>
                <a:gd name="T0" fmla="*/ 0 w 2009"/>
                <a:gd name="T1" fmla="*/ 0 h 95"/>
                <a:gd name="T2" fmla="*/ 2009 w 2009"/>
                <a:gd name="T3" fmla="*/ 0 h 95"/>
                <a:gd name="T4" fmla="*/ 2009 w 2009"/>
                <a:gd name="T5" fmla="*/ 58 h 95"/>
                <a:gd name="T6" fmla="*/ 1972 w 2009"/>
                <a:gd name="T7" fmla="*/ 95 h 95"/>
                <a:gd name="T8" fmla="*/ 37 w 2009"/>
                <a:gd name="T9" fmla="*/ 95 h 95"/>
                <a:gd name="T10" fmla="*/ 0 w 2009"/>
                <a:gd name="T11" fmla="*/ 58 h 95"/>
                <a:gd name="T12" fmla="*/ 0 w 2009"/>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2009" h="95">
                  <a:moveTo>
                    <a:pt x="0" y="0"/>
                  </a:moveTo>
                  <a:cubicBezTo>
                    <a:pt x="2009" y="0"/>
                    <a:pt x="2009" y="0"/>
                    <a:pt x="2009" y="0"/>
                  </a:cubicBezTo>
                  <a:cubicBezTo>
                    <a:pt x="2009" y="58"/>
                    <a:pt x="2009" y="58"/>
                    <a:pt x="2009" y="58"/>
                  </a:cubicBezTo>
                  <a:cubicBezTo>
                    <a:pt x="2009" y="78"/>
                    <a:pt x="1993" y="95"/>
                    <a:pt x="1972" y="95"/>
                  </a:cubicBezTo>
                  <a:cubicBezTo>
                    <a:pt x="37" y="95"/>
                    <a:pt x="37" y="95"/>
                    <a:pt x="37" y="95"/>
                  </a:cubicBezTo>
                  <a:cubicBezTo>
                    <a:pt x="17" y="95"/>
                    <a:pt x="0" y="78"/>
                    <a:pt x="0" y="58"/>
                  </a:cubicBezTo>
                  <a:lnTo>
                    <a:pt x="0"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1" name="ïšľïďê"/>
            <p:cNvSpPr/>
            <p:nvPr/>
          </p:nvSpPr>
          <p:spPr bwMode="auto">
            <a:xfrm>
              <a:off x="5520462" y="5543817"/>
              <a:ext cx="812456" cy="52006"/>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2" name="iṣlíḍè"/>
            <p:cNvSpPr/>
            <p:nvPr/>
          </p:nvSpPr>
          <p:spPr bwMode="auto">
            <a:xfrm>
              <a:off x="3914041" y="5445583"/>
              <a:ext cx="4022987" cy="57785"/>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3" name="ïṧlîḓè"/>
            <p:cNvSpPr/>
            <p:nvPr/>
          </p:nvSpPr>
          <p:spPr bwMode="auto">
            <a:xfrm>
              <a:off x="4022677" y="5126610"/>
              <a:ext cx="3762955" cy="286613"/>
            </a:xfrm>
            <a:custGeom>
              <a:avLst/>
              <a:gdLst>
                <a:gd name="T0" fmla="*/ 1852 w 1879"/>
                <a:gd name="T1" fmla="*/ 120 h 143"/>
                <a:gd name="T2" fmla="*/ 1566 w 1879"/>
                <a:gd name="T3" fmla="*/ 52 h 143"/>
                <a:gd name="T4" fmla="*/ 1566 w 1879"/>
                <a:gd name="T5" fmla="*/ 87 h 143"/>
                <a:gd name="T6" fmla="*/ 1566 w 1879"/>
                <a:gd name="T7" fmla="*/ 38 h 143"/>
                <a:gd name="T8" fmla="*/ 1728 w 1879"/>
                <a:gd name="T9" fmla="*/ 38 h 143"/>
                <a:gd name="T10" fmla="*/ 1566 w 1879"/>
                <a:gd name="T11" fmla="*/ 4 h 143"/>
                <a:gd name="T12" fmla="*/ 1803 w 1879"/>
                <a:gd name="T13" fmla="*/ 87 h 143"/>
                <a:gd name="T14" fmla="*/ 337 w 1879"/>
                <a:gd name="T15" fmla="*/ 105 h 143"/>
                <a:gd name="T16" fmla="*/ 914 w 1879"/>
                <a:gd name="T17" fmla="*/ 140 h 143"/>
                <a:gd name="T18" fmla="*/ 1566 w 1879"/>
                <a:gd name="T19" fmla="*/ 2 h 143"/>
                <a:gd name="T20" fmla="*/ 1566 w 1879"/>
                <a:gd name="T21" fmla="*/ 36 h 143"/>
                <a:gd name="T22" fmla="*/ 1433 w 1879"/>
                <a:gd name="T23" fmla="*/ 20 h 143"/>
                <a:gd name="T24" fmla="*/ 1566 w 1879"/>
                <a:gd name="T25" fmla="*/ 52 h 143"/>
                <a:gd name="T26" fmla="*/ 1462 w 1879"/>
                <a:gd name="T27" fmla="*/ 52 h 143"/>
                <a:gd name="T28" fmla="*/ 1517 w 1879"/>
                <a:gd name="T29" fmla="*/ 138 h 143"/>
                <a:gd name="T30" fmla="*/ 1486 w 1879"/>
                <a:gd name="T31" fmla="*/ 103 h 143"/>
                <a:gd name="T32" fmla="*/ 434 w 1879"/>
                <a:gd name="T33" fmla="*/ 52 h 143"/>
                <a:gd name="T34" fmla="*/ 337 w 1879"/>
                <a:gd name="T35" fmla="*/ 38 h 143"/>
                <a:gd name="T36" fmla="*/ 490 w 1879"/>
                <a:gd name="T37" fmla="*/ 1 h 143"/>
                <a:gd name="T38" fmla="*/ 337 w 1879"/>
                <a:gd name="T39" fmla="*/ 5 h 143"/>
                <a:gd name="T40" fmla="*/ 966 w 1879"/>
                <a:gd name="T41" fmla="*/ 104 h 143"/>
                <a:gd name="T42" fmla="*/ 964 w 1879"/>
                <a:gd name="T43" fmla="*/ 140 h 143"/>
                <a:gd name="T44" fmla="*/ 598 w 1879"/>
                <a:gd name="T45" fmla="*/ 52 h 143"/>
                <a:gd name="T46" fmla="*/ 457 w 1879"/>
                <a:gd name="T47" fmla="*/ 71 h 143"/>
                <a:gd name="T48" fmla="*/ 754 w 1879"/>
                <a:gd name="T49" fmla="*/ 71 h 143"/>
                <a:gd name="T50" fmla="*/ 640 w 1879"/>
                <a:gd name="T51" fmla="*/ 52 h 143"/>
                <a:gd name="T52" fmla="*/ 922 w 1879"/>
                <a:gd name="T53" fmla="*/ 89 h 143"/>
                <a:gd name="T54" fmla="*/ 969 w 1879"/>
                <a:gd name="T55" fmla="*/ 52 h 143"/>
                <a:gd name="T56" fmla="*/ 967 w 1879"/>
                <a:gd name="T57" fmla="*/ 88 h 143"/>
                <a:gd name="T58" fmla="*/ 1256 w 1879"/>
                <a:gd name="T59" fmla="*/ 52 h 143"/>
                <a:gd name="T60" fmla="*/ 1138 w 1879"/>
                <a:gd name="T61" fmla="*/ 70 h 143"/>
                <a:gd name="T62" fmla="*/ 1435 w 1879"/>
                <a:gd name="T63" fmla="*/ 70 h 143"/>
                <a:gd name="T64" fmla="*/ 1298 w 1879"/>
                <a:gd name="T65" fmla="*/ 52 h 143"/>
                <a:gd name="T66" fmla="*/ 610 w 1879"/>
                <a:gd name="T67" fmla="*/ 38 h 143"/>
                <a:gd name="T68" fmla="*/ 676 w 1879"/>
                <a:gd name="T69" fmla="*/ 1 h 143"/>
                <a:gd name="T70" fmla="*/ 650 w 1879"/>
                <a:gd name="T71" fmla="*/ 38 h 143"/>
                <a:gd name="T72" fmla="*/ 934 w 1879"/>
                <a:gd name="T73" fmla="*/ 1 h 143"/>
                <a:gd name="T74" fmla="*/ 817 w 1879"/>
                <a:gd name="T75" fmla="*/ 19 h 143"/>
                <a:gd name="T76" fmla="*/ 1086 w 1879"/>
                <a:gd name="T77" fmla="*/ 20 h 143"/>
                <a:gd name="T78" fmla="*/ 972 w 1879"/>
                <a:gd name="T79" fmla="*/ 1 h 143"/>
                <a:gd name="T80" fmla="*/ 1249 w 1879"/>
                <a:gd name="T81" fmla="*/ 38 h 143"/>
                <a:gd name="T82" fmla="*/ 1268 w 1879"/>
                <a:gd name="T83" fmla="*/ 2 h 143"/>
                <a:gd name="T84" fmla="*/ 1290 w 1879"/>
                <a:gd name="T85" fmla="*/ 38 h 143"/>
                <a:gd name="T86" fmla="*/ 337 w 1879"/>
                <a:gd name="T87" fmla="*/ 105 h 143"/>
                <a:gd name="T88" fmla="*/ 337 w 1879"/>
                <a:gd name="T89" fmla="*/ 1 h 143"/>
                <a:gd name="T90" fmla="*/ 266 w 1879"/>
                <a:gd name="T91" fmla="*/ 38 h 143"/>
                <a:gd name="T92" fmla="*/ 331 w 1879"/>
                <a:gd name="T93" fmla="*/ 38 h 143"/>
                <a:gd name="T94" fmla="*/ 337 w 1879"/>
                <a:gd name="T95" fmla="*/ 90 h 143"/>
                <a:gd name="T96" fmla="*/ 312 w 1879"/>
                <a:gd name="T97" fmla="*/ 52 h 143"/>
                <a:gd name="T98" fmla="*/ 266 w 1879"/>
                <a:gd name="T99" fmla="*/ 52 h 143"/>
                <a:gd name="T100" fmla="*/ 266 w 1879"/>
                <a:gd name="T101" fmla="*/ 142 h 143"/>
                <a:gd name="T102" fmla="*/ 266 w 1879"/>
                <a:gd name="T103" fmla="*/ 0 h 143"/>
                <a:gd name="T104" fmla="*/ 232 w 1879"/>
                <a:gd name="T105" fmla="*/ 0 h 143"/>
                <a:gd name="T106" fmla="*/ 243 w 1879"/>
                <a:gd name="T107" fmla="*/ 71 h 143"/>
                <a:gd name="T108" fmla="*/ 148 w 1879"/>
                <a:gd name="T109" fmla="*/ 52 h 143"/>
                <a:gd name="T110" fmla="*/ 266 w 1879"/>
                <a:gd name="T111" fmla="*/ 9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79" h="143">
                  <a:moveTo>
                    <a:pt x="1566" y="138"/>
                  </a:moveTo>
                  <a:cubicBezTo>
                    <a:pt x="1566" y="102"/>
                    <a:pt x="1566" y="102"/>
                    <a:pt x="1566" y="102"/>
                  </a:cubicBezTo>
                  <a:cubicBezTo>
                    <a:pt x="1825" y="102"/>
                    <a:pt x="1825" y="102"/>
                    <a:pt x="1825" y="102"/>
                  </a:cubicBezTo>
                  <a:cubicBezTo>
                    <a:pt x="1834" y="108"/>
                    <a:pt x="1843" y="114"/>
                    <a:pt x="1852" y="120"/>
                  </a:cubicBezTo>
                  <a:cubicBezTo>
                    <a:pt x="1861" y="125"/>
                    <a:pt x="1870" y="131"/>
                    <a:pt x="1879" y="137"/>
                  </a:cubicBezTo>
                  <a:cubicBezTo>
                    <a:pt x="1774" y="138"/>
                    <a:pt x="1670" y="138"/>
                    <a:pt x="1566" y="138"/>
                  </a:cubicBezTo>
                  <a:close/>
                  <a:moveTo>
                    <a:pt x="1566" y="87"/>
                  </a:moveTo>
                  <a:cubicBezTo>
                    <a:pt x="1566" y="52"/>
                    <a:pt x="1566" y="52"/>
                    <a:pt x="1566" y="52"/>
                  </a:cubicBezTo>
                  <a:cubicBezTo>
                    <a:pt x="1585" y="52"/>
                    <a:pt x="1585" y="52"/>
                    <a:pt x="1585" y="52"/>
                  </a:cubicBezTo>
                  <a:cubicBezTo>
                    <a:pt x="1592" y="58"/>
                    <a:pt x="1599" y="63"/>
                    <a:pt x="1606" y="70"/>
                  </a:cubicBezTo>
                  <a:cubicBezTo>
                    <a:pt x="1612" y="75"/>
                    <a:pt x="1619" y="81"/>
                    <a:pt x="1626" y="87"/>
                  </a:cubicBezTo>
                  <a:cubicBezTo>
                    <a:pt x="1566" y="87"/>
                    <a:pt x="1566" y="87"/>
                    <a:pt x="1566" y="87"/>
                  </a:cubicBezTo>
                  <a:close/>
                  <a:moveTo>
                    <a:pt x="1566" y="38"/>
                  </a:moveTo>
                  <a:cubicBezTo>
                    <a:pt x="1566" y="36"/>
                    <a:pt x="1566" y="36"/>
                    <a:pt x="1566" y="36"/>
                  </a:cubicBezTo>
                  <a:cubicBezTo>
                    <a:pt x="1568" y="38"/>
                    <a:pt x="1568" y="38"/>
                    <a:pt x="1568" y="38"/>
                  </a:cubicBezTo>
                  <a:cubicBezTo>
                    <a:pt x="1566" y="38"/>
                    <a:pt x="1566" y="38"/>
                    <a:pt x="1566" y="38"/>
                  </a:cubicBezTo>
                  <a:close/>
                  <a:moveTo>
                    <a:pt x="1566" y="4"/>
                  </a:moveTo>
                  <a:cubicBezTo>
                    <a:pt x="1573" y="9"/>
                    <a:pt x="1580" y="14"/>
                    <a:pt x="1587" y="20"/>
                  </a:cubicBezTo>
                  <a:cubicBezTo>
                    <a:pt x="1595" y="26"/>
                    <a:pt x="1602" y="32"/>
                    <a:pt x="1609" y="38"/>
                  </a:cubicBezTo>
                  <a:cubicBezTo>
                    <a:pt x="1649" y="38"/>
                    <a:pt x="1688" y="38"/>
                    <a:pt x="1728" y="38"/>
                  </a:cubicBezTo>
                  <a:cubicBezTo>
                    <a:pt x="1719" y="32"/>
                    <a:pt x="1711" y="26"/>
                    <a:pt x="1702" y="20"/>
                  </a:cubicBezTo>
                  <a:cubicBezTo>
                    <a:pt x="1693" y="14"/>
                    <a:pt x="1684" y="8"/>
                    <a:pt x="1675" y="2"/>
                  </a:cubicBezTo>
                  <a:cubicBezTo>
                    <a:pt x="1566" y="2"/>
                    <a:pt x="1566" y="2"/>
                    <a:pt x="1566" y="2"/>
                  </a:cubicBezTo>
                  <a:cubicBezTo>
                    <a:pt x="1566" y="4"/>
                    <a:pt x="1566" y="4"/>
                    <a:pt x="1566" y="4"/>
                  </a:cubicBezTo>
                  <a:close/>
                  <a:moveTo>
                    <a:pt x="1627" y="52"/>
                  </a:moveTo>
                  <a:cubicBezTo>
                    <a:pt x="1667" y="52"/>
                    <a:pt x="1708" y="52"/>
                    <a:pt x="1749" y="52"/>
                  </a:cubicBezTo>
                  <a:cubicBezTo>
                    <a:pt x="1758" y="57"/>
                    <a:pt x="1767" y="63"/>
                    <a:pt x="1776" y="69"/>
                  </a:cubicBezTo>
                  <a:cubicBezTo>
                    <a:pt x="1785" y="75"/>
                    <a:pt x="1794" y="81"/>
                    <a:pt x="1803" y="87"/>
                  </a:cubicBezTo>
                  <a:cubicBezTo>
                    <a:pt x="1759" y="87"/>
                    <a:pt x="1715" y="87"/>
                    <a:pt x="1672" y="87"/>
                  </a:cubicBezTo>
                  <a:cubicBezTo>
                    <a:pt x="1664" y="81"/>
                    <a:pt x="1657" y="75"/>
                    <a:pt x="1649" y="69"/>
                  </a:cubicBezTo>
                  <a:cubicBezTo>
                    <a:pt x="1642" y="63"/>
                    <a:pt x="1634" y="58"/>
                    <a:pt x="1627" y="52"/>
                  </a:cubicBezTo>
                  <a:close/>
                  <a:moveTo>
                    <a:pt x="337" y="105"/>
                  </a:moveTo>
                  <a:cubicBezTo>
                    <a:pt x="490" y="105"/>
                    <a:pt x="490" y="105"/>
                    <a:pt x="490" y="105"/>
                  </a:cubicBezTo>
                  <a:cubicBezTo>
                    <a:pt x="633" y="104"/>
                    <a:pt x="776" y="104"/>
                    <a:pt x="920" y="104"/>
                  </a:cubicBezTo>
                  <a:cubicBezTo>
                    <a:pt x="919" y="110"/>
                    <a:pt x="918" y="116"/>
                    <a:pt x="917" y="122"/>
                  </a:cubicBezTo>
                  <a:cubicBezTo>
                    <a:pt x="916" y="128"/>
                    <a:pt x="915" y="134"/>
                    <a:pt x="914" y="140"/>
                  </a:cubicBezTo>
                  <a:cubicBezTo>
                    <a:pt x="762" y="141"/>
                    <a:pt x="609" y="141"/>
                    <a:pt x="457" y="142"/>
                  </a:cubicBezTo>
                  <a:cubicBezTo>
                    <a:pt x="337" y="142"/>
                    <a:pt x="337" y="142"/>
                    <a:pt x="337" y="142"/>
                  </a:cubicBezTo>
                  <a:cubicBezTo>
                    <a:pt x="337" y="105"/>
                    <a:pt x="337" y="105"/>
                    <a:pt x="337" y="105"/>
                  </a:cubicBezTo>
                  <a:close/>
                  <a:moveTo>
                    <a:pt x="1566" y="2"/>
                  </a:moveTo>
                  <a:cubicBezTo>
                    <a:pt x="1566" y="4"/>
                    <a:pt x="1566" y="4"/>
                    <a:pt x="1566" y="4"/>
                  </a:cubicBezTo>
                  <a:cubicBezTo>
                    <a:pt x="1564" y="2"/>
                    <a:pt x="1564" y="2"/>
                    <a:pt x="1564" y="2"/>
                  </a:cubicBezTo>
                  <a:cubicBezTo>
                    <a:pt x="1566" y="2"/>
                    <a:pt x="1566" y="2"/>
                    <a:pt x="1566" y="2"/>
                  </a:cubicBezTo>
                  <a:close/>
                  <a:moveTo>
                    <a:pt x="1566" y="36"/>
                  </a:moveTo>
                  <a:cubicBezTo>
                    <a:pt x="1560" y="31"/>
                    <a:pt x="1554" y="25"/>
                    <a:pt x="1548" y="20"/>
                  </a:cubicBezTo>
                  <a:cubicBezTo>
                    <a:pt x="1541" y="14"/>
                    <a:pt x="1533" y="8"/>
                    <a:pt x="1527" y="2"/>
                  </a:cubicBezTo>
                  <a:cubicBezTo>
                    <a:pt x="1490" y="2"/>
                    <a:pt x="1453" y="2"/>
                    <a:pt x="1416" y="2"/>
                  </a:cubicBezTo>
                  <a:cubicBezTo>
                    <a:pt x="1422" y="8"/>
                    <a:pt x="1427" y="14"/>
                    <a:pt x="1433" y="20"/>
                  </a:cubicBezTo>
                  <a:cubicBezTo>
                    <a:pt x="1439" y="26"/>
                    <a:pt x="1444" y="32"/>
                    <a:pt x="1449" y="38"/>
                  </a:cubicBezTo>
                  <a:cubicBezTo>
                    <a:pt x="1488" y="38"/>
                    <a:pt x="1527" y="38"/>
                    <a:pt x="1566" y="38"/>
                  </a:cubicBezTo>
                  <a:cubicBezTo>
                    <a:pt x="1566" y="36"/>
                    <a:pt x="1566" y="36"/>
                    <a:pt x="1566" y="36"/>
                  </a:cubicBezTo>
                  <a:close/>
                  <a:moveTo>
                    <a:pt x="1566" y="52"/>
                  </a:moveTo>
                  <a:cubicBezTo>
                    <a:pt x="1566" y="87"/>
                    <a:pt x="1566" y="87"/>
                    <a:pt x="1566" y="87"/>
                  </a:cubicBezTo>
                  <a:cubicBezTo>
                    <a:pt x="1495" y="88"/>
                    <a:pt x="1495" y="88"/>
                    <a:pt x="1495" y="88"/>
                  </a:cubicBezTo>
                  <a:cubicBezTo>
                    <a:pt x="1490" y="82"/>
                    <a:pt x="1484" y="76"/>
                    <a:pt x="1479" y="70"/>
                  </a:cubicBezTo>
                  <a:cubicBezTo>
                    <a:pt x="1473" y="64"/>
                    <a:pt x="1468" y="58"/>
                    <a:pt x="1462" y="52"/>
                  </a:cubicBezTo>
                  <a:cubicBezTo>
                    <a:pt x="1497" y="52"/>
                    <a:pt x="1532" y="52"/>
                    <a:pt x="1566" y="52"/>
                  </a:cubicBezTo>
                  <a:close/>
                  <a:moveTo>
                    <a:pt x="1566" y="102"/>
                  </a:moveTo>
                  <a:cubicBezTo>
                    <a:pt x="1566" y="138"/>
                    <a:pt x="1566" y="138"/>
                    <a:pt x="1566" y="138"/>
                  </a:cubicBezTo>
                  <a:cubicBezTo>
                    <a:pt x="1517" y="138"/>
                    <a:pt x="1517" y="138"/>
                    <a:pt x="1517" y="138"/>
                  </a:cubicBezTo>
                  <a:cubicBezTo>
                    <a:pt x="1397" y="139"/>
                    <a:pt x="1277" y="139"/>
                    <a:pt x="1157" y="140"/>
                  </a:cubicBezTo>
                  <a:cubicBezTo>
                    <a:pt x="1155" y="133"/>
                    <a:pt x="1153" y="127"/>
                    <a:pt x="1152" y="121"/>
                  </a:cubicBezTo>
                  <a:cubicBezTo>
                    <a:pt x="1150" y="115"/>
                    <a:pt x="1149" y="109"/>
                    <a:pt x="1147" y="103"/>
                  </a:cubicBezTo>
                  <a:cubicBezTo>
                    <a:pt x="1260" y="103"/>
                    <a:pt x="1373" y="103"/>
                    <a:pt x="1486" y="103"/>
                  </a:cubicBezTo>
                  <a:cubicBezTo>
                    <a:pt x="1566" y="102"/>
                    <a:pt x="1566" y="102"/>
                    <a:pt x="1566" y="102"/>
                  </a:cubicBezTo>
                  <a:close/>
                  <a:moveTo>
                    <a:pt x="337" y="90"/>
                  </a:moveTo>
                  <a:cubicBezTo>
                    <a:pt x="337" y="52"/>
                    <a:pt x="337" y="52"/>
                    <a:pt x="337" y="52"/>
                  </a:cubicBezTo>
                  <a:cubicBezTo>
                    <a:pt x="369" y="52"/>
                    <a:pt x="401" y="52"/>
                    <a:pt x="434" y="52"/>
                  </a:cubicBezTo>
                  <a:cubicBezTo>
                    <a:pt x="427" y="59"/>
                    <a:pt x="420" y="65"/>
                    <a:pt x="414" y="71"/>
                  </a:cubicBezTo>
                  <a:cubicBezTo>
                    <a:pt x="407" y="77"/>
                    <a:pt x="400" y="83"/>
                    <a:pt x="393" y="89"/>
                  </a:cubicBezTo>
                  <a:cubicBezTo>
                    <a:pt x="337" y="90"/>
                    <a:pt x="337" y="90"/>
                    <a:pt x="337" y="90"/>
                  </a:cubicBezTo>
                  <a:close/>
                  <a:moveTo>
                    <a:pt x="337" y="38"/>
                  </a:moveTo>
                  <a:cubicBezTo>
                    <a:pt x="337" y="34"/>
                    <a:pt x="337" y="34"/>
                    <a:pt x="337" y="34"/>
                  </a:cubicBezTo>
                  <a:cubicBezTo>
                    <a:pt x="343" y="29"/>
                    <a:pt x="349" y="24"/>
                    <a:pt x="356" y="19"/>
                  </a:cubicBezTo>
                  <a:cubicBezTo>
                    <a:pt x="364" y="13"/>
                    <a:pt x="372" y="7"/>
                    <a:pt x="380" y="1"/>
                  </a:cubicBezTo>
                  <a:cubicBezTo>
                    <a:pt x="417" y="1"/>
                    <a:pt x="453" y="1"/>
                    <a:pt x="490" y="1"/>
                  </a:cubicBezTo>
                  <a:cubicBezTo>
                    <a:pt x="483" y="7"/>
                    <a:pt x="477" y="13"/>
                    <a:pt x="470" y="19"/>
                  </a:cubicBezTo>
                  <a:cubicBezTo>
                    <a:pt x="463" y="25"/>
                    <a:pt x="456" y="32"/>
                    <a:pt x="450" y="38"/>
                  </a:cubicBezTo>
                  <a:cubicBezTo>
                    <a:pt x="412" y="38"/>
                    <a:pt x="374" y="38"/>
                    <a:pt x="337" y="38"/>
                  </a:cubicBezTo>
                  <a:close/>
                  <a:moveTo>
                    <a:pt x="337" y="5"/>
                  </a:moveTo>
                  <a:cubicBezTo>
                    <a:pt x="338" y="3"/>
                    <a:pt x="340" y="2"/>
                    <a:pt x="342" y="1"/>
                  </a:cubicBezTo>
                  <a:cubicBezTo>
                    <a:pt x="337" y="1"/>
                    <a:pt x="337" y="1"/>
                    <a:pt x="337" y="1"/>
                  </a:cubicBezTo>
                  <a:cubicBezTo>
                    <a:pt x="337" y="5"/>
                    <a:pt x="337" y="5"/>
                    <a:pt x="337" y="5"/>
                  </a:cubicBezTo>
                  <a:close/>
                  <a:moveTo>
                    <a:pt x="966" y="104"/>
                  </a:moveTo>
                  <a:cubicBezTo>
                    <a:pt x="1011" y="104"/>
                    <a:pt x="1056" y="103"/>
                    <a:pt x="1101" y="103"/>
                  </a:cubicBezTo>
                  <a:cubicBezTo>
                    <a:pt x="1102" y="109"/>
                    <a:pt x="1103" y="115"/>
                    <a:pt x="1104" y="121"/>
                  </a:cubicBezTo>
                  <a:cubicBezTo>
                    <a:pt x="1105" y="128"/>
                    <a:pt x="1106" y="134"/>
                    <a:pt x="1107" y="140"/>
                  </a:cubicBezTo>
                  <a:cubicBezTo>
                    <a:pt x="1059" y="140"/>
                    <a:pt x="1012" y="140"/>
                    <a:pt x="964" y="140"/>
                  </a:cubicBezTo>
                  <a:cubicBezTo>
                    <a:pt x="964" y="134"/>
                    <a:pt x="965" y="128"/>
                    <a:pt x="965" y="122"/>
                  </a:cubicBezTo>
                  <a:cubicBezTo>
                    <a:pt x="965" y="116"/>
                    <a:pt x="966" y="110"/>
                    <a:pt x="966" y="104"/>
                  </a:cubicBezTo>
                  <a:close/>
                  <a:moveTo>
                    <a:pt x="476" y="52"/>
                  </a:moveTo>
                  <a:cubicBezTo>
                    <a:pt x="517" y="52"/>
                    <a:pt x="558" y="52"/>
                    <a:pt x="598" y="52"/>
                  </a:cubicBezTo>
                  <a:cubicBezTo>
                    <a:pt x="594" y="58"/>
                    <a:pt x="589" y="64"/>
                    <a:pt x="584" y="71"/>
                  </a:cubicBezTo>
                  <a:cubicBezTo>
                    <a:pt x="579" y="77"/>
                    <a:pt x="574" y="83"/>
                    <a:pt x="570" y="89"/>
                  </a:cubicBezTo>
                  <a:cubicBezTo>
                    <a:pt x="526" y="89"/>
                    <a:pt x="482" y="89"/>
                    <a:pt x="438" y="89"/>
                  </a:cubicBezTo>
                  <a:cubicBezTo>
                    <a:pt x="445" y="83"/>
                    <a:pt x="451" y="77"/>
                    <a:pt x="457" y="71"/>
                  </a:cubicBezTo>
                  <a:cubicBezTo>
                    <a:pt x="464" y="65"/>
                    <a:pt x="470" y="58"/>
                    <a:pt x="476" y="52"/>
                  </a:cubicBezTo>
                  <a:close/>
                  <a:moveTo>
                    <a:pt x="640" y="52"/>
                  </a:moveTo>
                  <a:cubicBezTo>
                    <a:pt x="681" y="52"/>
                    <a:pt x="722" y="52"/>
                    <a:pt x="763" y="52"/>
                  </a:cubicBezTo>
                  <a:cubicBezTo>
                    <a:pt x="760" y="58"/>
                    <a:pt x="757" y="64"/>
                    <a:pt x="754" y="71"/>
                  </a:cubicBezTo>
                  <a:cubicBezTo>
                    <a:pt x="751" y="77"/>
                    <a:pt x="749" y="83"/>
                    <a:pt x="746" y="89"/>
                  </a:cubicBezTo>
                  <a:cubicBezTo>
                    <a:pt x="702" y="89"/>
                    <a:pt x="658" y="89"/>
                    <a:pt x="615" y="89"/>
                  </a:cubicBezTo>
                  <a:cubicBezTo>
                    <a:pt x="619" y="83"/>
                    <a:pt x="623" y="77"/>
                    <a:pt x="628" y="71"/>
                  </a:cubicBezTo>
                  <a:cubicBezTo>
                    <a:pt x="632" y="65"/>
                    <a:pt x="636" y="58"/>
                    <a:pt x="640" y="52"/>
                  </a:cubicBezTo>
                  <a:close/>
                  <a:moveTo>
                    <a:pt x="805" y="52"/>
                  </a:moveTo>
                  <a:cubicBezTo>
                    <a:pt x="846" y="52"/>
                    <a:pt x="886" y="52"/>
                    <a:pt x="927" y="52"/>
                  </a:cubicBezTo>
                  <a:cubicBezTo>
                    <a:pt x="926" y="58"/>
                    <a:pt x="925" y="64"/>
                    <a:pt x="924" y="70"/>
                  </a:cubicBezTo>
                  <a:cubicBezTo>
                    <a:pt x="924" y="76"/>
                    <a:pt x="923" y="82"/>
                    <a:pt x="922" y="89"/>
                  </a:cubicBezTo>
                  <a:cubicBezTo>
                    <a:pt x="878" y="89"/>
                    <a:pt x="834" y="89"/>
                    <a:pt x="791" y="89"/>
                  </a:cubicBezTo>
                  <a:cubicBezTo>
                    <a:pt x="793" y="83"/>
                    <a:pt x="796" y="77"/>
                    <a:pt x="798" y="70"/>
                  </a:cubicBezTo>
                  <a:cubicBezTo>
                    <a:pt x="800" y="64"/>
                    <a:pt x="802" y="58"/>
                    <a:pt x="805" y="52"/>
                  </a:cubicBezTo>
                  <a:close/>
                  <a:moveTo>
                    <a:pt x="969" y="52"/>
                  </a:moveTo>
                  <a:cubicBezTo>
                    <a:pt x="1010" y="52"/>
                    <a:pt x="1051" y="52"/>
                    <a:pt x="1091" y="52"/>
                  </a:cubicBezTo>
                  <a:cubicBezTo>
                    <a:pt x="1092" y="58"/>
                    <a:pt x="1093" y="64"/>
                    <a:pt x="1095" y="70"/>
                  </a:cubicBezTo>
                  <a:cubicBezTo>
                    <a:pt x="1096" y="76"/>
                    <a:pt x="1097" y="82"/>
                    <a:pt x="1098" y="88"/>
                  </a:cubicBezTo>
                  <a:cubicBezTo>
                    <a:pt x="1054" y="88"/>
                    <a:pt x="1010" y="88"/>
                    <a:pt x="967" y="88"/>
                  </a:cubicBezTo>
                  <a:cubicBezTo>
                    <a:pt x="967" y="82"/>
                    <a:pt x="968" y="76"/>
                    <a:pt x="968" y="70"/>
                  </a:cubicBezTo>
                  <a:cubicBezTo>
                    <a:pt x="968" y="64"/>
                    <a:pt x="969" y="58"/>
                    <a:pt x="969" y="52"/>
                  </a:cubicBezTo>
                  <a:close/>
                  <a:moveTo>
                    <a:pt x="1133" y="52"/>
                  </a:moveTo>
                  <a:cubicBezTo>
                    <a:pt x="1174" y="52"/>
                    <a:pt x="1215" y="52"/>
                    <a:pt x="1256" y="52"/>
                  </a:cubicBezTo>
                  <a:cubicBezTo>
                    <a:pt x="1259" y="58"/>
                    <a:pt x="1262" y="64"/>
                    <a:pt x="1265" y="70"/>
                  </a:cubicBezTo>
                  <a:cubicBezTo>
                    <a:pt x="1268" y="76"/>
                    <a:pt x="1271" y="82"/>
                    <a:pt x="1274" y="88"/>
                  </a:cubicBezTo>
                  <a:cubicBezTo>
                    <a:pt x="1230" y="88"/>
                    <a:pt x="1187" y="88"/>
                    <a:pt x="1143" y="88"/>
                  </a:cubicBezTo>
                  <a:cubicBezTo>
                    <a:pt x="1142" y="82"/>
                    <a:pt x="1140" y="76"/>
                    <a:pt x="1138" y="70"/>
                  </a:cubicBezTo>
                  <a:cubicBezTo>
                    <a:pt x="1137" y="64"/>
                    <a:pt x="1135" y="58"/>
                    <a:pt x="1133" y="52"/>
                  </a:cubicBezTo>
                  <a:close/>
                  <a:moveTo>
                    <a:pt x="1298" y="52"/>
                  </a:moveTo>
                  <a:cubicBezTo>
                    <a:pt x="1339" y="52"/>
                    <a:pt x="1379" y="52"/>
                    <a:pt x="1420" y="52"/>
                  </a:cubicBezTo>
                  <a:cubicBezTo>
                    <a:pt x="1425" y="58"/>
                    <a:pt x="1430" y="64"/>
                    <a:pt x="1435" y="70"/>
                  </a:cubicBezTo>
                  <a:cubicBezTo>
                    <a:pt x="1440" y="76"/>
                    <a:pt x="1445" y="82"/>
                    <a:pt x="1450" y="88"/>
                  </a:cubicBezTo>
                  <a:cubicBezTo>
                    <a:pt x="1406" y="88"/>
                    <a:pt x="1363" y="88"/>
                    <a:pt x="1319" y="88"/>
                  </a:cubicBezTo>
                  <a:cubicBezTo>
                    <a:pt x="1316" y="82"/>
                    <a:pt x="1312" y="76"/>
                    <a:pt x="1309" y="70"/>
                  </a:cubicBezTo>
                  <a:cubicBezTo>
                    <a:pt x="1305" y="64"/>
                    <a:pt x="1301" y="58"/>
                    <a:pt x="1298" y="52"/>
                  </a:cubicBezTo>
                  <a:close/>
                  <a:moveTo>
                    <a:pt x="528" y="1"/>
                  </a:moveTo>
                  <a:cubicBezTo>
                    <a:pt x="565" y="1"/>
                    <a:pt x="602" y="1"/>
                    <a:pt x="638" y="1"/>
                  </a:cubicBezTo>
                  <a:cubicBezTo>
                    <a:pt x="634" y="7"/>
                    <a:pt x="629" y="13"/>
                    <a:pt x="624" y="19"/>
                  </a:cubicBezTo>
                  <a:cubicBezTo>
                    <a:pt x="619" y="26"/>
                    <a:pt x="614" y="32"/>
                    <a:pt x="610" y="38"/>
                  </a:cubicBezTo>
                  <a:cubicBezTo>
                    <a:pt x="570" y="38"/>
                    <a:pt x="530" y="38"/>
                    <a:pt x="491" y="38"/>
                  </a:cubicBezTo>
                  <a:cubicBezTo>
                    <a:pt x="497" y="32"/>
                    <a:pt x="503" y="26"/>
                    <a:pt x="509" y="19"/>
                  </a:cubicBezTo>
                  <a:cubicBezTo>
                    <a:pt x="516" y="13"/>
                    <a:pt x="522" y="7"/>
                    <a:pt x="528" y="1"/>
                  </a:cubicBezTo>
                  <a:close/>
                  <a:moveTo>
                    <a:pt x="676" y="1"/>
                  </a:moveTo>
                  <a:cubicBezTo>
                    <a:pt x="713" y="1"/>
                    <a:pt x="750" y="1"/>
                    <a:pt x="786" y="1"/>
                  </a:cubicBezTo>
                  <a:cubicBezTo>
                    <a:pt x="783" y="7"/>
                    <a:pt x="781" y="13"/>
                    <a:pt x="778" y="19"/>
                  </a:cubicBezTo>
                  <a:cubicBezTo>
                    <a:pt x="775" y="26"/>
                    <a:pt x="772" y="32"/>
                    <a:pt x="769" y="38"/>
                  </a:cubicBezTo>
                  <a:cubicBezTo>
                    <a:pt x="730" y="38"/>
                    <a:pt x="690" y="38"/>
                    <a:pt x="650" y="38"/>
                  </a:cubicBezTo>
                  <a:cubicBezTo>
                    <a:pt x="655" y="32"/>
                    <a:pt x="659" y="26"/>
                    <a:pt x="663" y="19"/>
                  </a:cubicBezTo>
                  <a:cubicBezTo>
                    <a:pt x="668" y="13"/>
                    <a:pt x="672" y="7"/>
                    <a:pt x="676" y="1"/>
                  </a:cubicBezTo>
                  <a:close/>
                  <a:moveTo>
                    <a:pt x="824" y="1"/>
                  </a:moveTo>
                  <a:cubicBezTo>
                    <a:pt x="861" y="1"/>
                    <a:pt x="898" y="1"/>
                    <a:pt x="934" y="1"/>
                  </a:cubicBezTo>
                  <a:cubicBezTo>
                    <a:pt x="933" y="7"/>
                    <a:pt x="933" y="13"/>
                    <a:pt x="932" y="20"/>
                  </a:cubicBezTo>
                  <a:cubicBezTo>
                    <a:pt x="931" y="26"/>
                    <a:pt x="930" y="32"/>
                    <a:pt x="929" y="38"/>
                  </a:cubicBezTo>
                  <a:cubicBezTo>
                    <a:pt x="889" y="38"/>
                    <a:pt x="850" y="38"/>
                    <a:pt x="810" y="38"/>
                  </a:cubicBezTo>
                  <a:cubicBezTo>
                    <a:pt x="813" y="32"/>
                    <a:pt x="815" y="26"/>
                    <a:pt x="817" y="19"/>
                  </a:cubicBezTo>
                  <a:cubicBezTo>
                    <a:pt x="820" y="13"/>
                    <a:pt x="822" y="7"/>
                    <a:pt x="824" y="1"/>
                  </a:cubicBezTo>
                  <a:close/>
                  <a:moveTo>
                    <a:pt x="972" y="1"/>
                  </a:moveTo>
                  <a:cubicBezTo>
                    <a:pt x="1009" y="1"/>
                    <a:pt x="1046" y="1"/>
                    <a:pt x="1082" y="1"/>
                  </a:cubicBezTo>
                  <a:cubicBezTo>
                    <a:pt x="1084" y="8"/>
                    <a:pt x="1085" y="14"/>
                    <a:pt x="1086" y="20"/>
                  </a:cubicBezTo>
                  <a:cubicBezTo>
                    <a:pt x="1087" y="26"/>
                    <a:pt x="1088" y="32"/>
                    <a:pt x="1089" y="38"/>
                  </a:cubicBezTo>
                  <a:cubicBezTo>
                    <a:pt x="1049" y="38"/>
                    <a:pt x="1010" y="38"/>
                    <a:pt x="970" y="38"/>
                  </a:cubicBezTo>
                  <a:cubicBezTo>
                    <a:pt x="970" y="32"/>
                    <a:pt x="971" y="26"/>
                    <a:pt x="971" y="20"/>
                  </a:cubicBezTo>
                  <a:cubicBezTo>
                    <a:pt x="972" y="13"/>
                    <a:pt x="972" y="7"/>
                    <a:pt x="972" y="1"/>
                  </a:cubicBezTo>
                  <a:close/>
                  <a:moveTo>
                    <a:pt x="1120" y="1"/>
                  </a:moveTo>
                  <a:cubicBezTo>
                    <a:pt x="1157" y="2"/>
                    <a:pt x="1194" y="2"/>
                    <a:pt x="1230" y="2"/>
                  </a:cubicBezTo>
                  <a:cubicBezTo>
                    <a:pt x="1234" y="8"/>
                    <a:pt x="1237" y="14"/>
                    <a:pt x="1240" y="20"/>
                  </a:cubicBezTo>
                  <a:cubicBezTo>
                    <a:pt x="1243" y="26"/>
                    <a:pt x="1246" y="32"/>
                    <a:pt x="1249" y="38"/>
                  </a:cubicBezTo>
                  <a:cubicBezTo>
                    <a:pt x="1209" y="38"/>
                    <a:pt x="1169" y="38"/>
                    <a:pt x="1130" y="38"/>
                  </a:cubicBezTo>
                  <a:cubicBezTo>
                    <a:pt x="1128" y="32"/>
                    <a:pt x="1127" y="26"/>
                    <a:pt x="1125" y="20"/>
                  </a:cubicBezTo>
                  <a:cubicBezTo>
                    <a:pt x="1123" y="14"/>
                    <a:pt x="1122" y="8"/>
                    <a:pt x="1120" y="1"/>
                  </a:cubicBezTo>
                  <a:close/>
                  <a:moveTo>
                    <a:pt x="1268" y="2"/>
                  </a:moveTo>
                  <a:cubicBezTo>
                    <a:pt x="1305" y="2"/>
                    <a:pt x="1342" y="2"/>
                    <a:pt x="1378" y="2"/>
                  </a:cubicBezTo>
                  <a:cubicBezTo>
                    <a:pt x="1384" y="8"/>
                    <a:pt x="1389" y="14"/>
                    <a:pt x="1393" y="20"/>
                  </a:cubicBezTo>
                  <a:cubicBezTo>
                    <a:pt x="1399" y="26"/>
                    <a:pt x="1404" y="32"/>
                    <a:pt x="1409" y="38"/>
                  </a:cubicBezTo>
                  <a:cubicBezTo>
                    <a:pt x="1369" y="38"/>
                    <a:pt x="1329" y="38"/>
                    <a:pt x="1290" y="38"/>
                  </a:cubicBezTo>
                  <a:cubicBezTo>
                    <a:pt x="1286" y="32"/>
                    <a:pt x="1282" y="26"/>
                    <a:pt x="1279" y="20"/>
                  </a:cubicBezTo>
                  <a:cubicBezTo>
                    <a:pt x="1275" y="14"/>
                    <a:pt x="1272" y="8"/>
                    <a:pt x="1268" y="2"/>
                  </a:cubicBezTo>
                  <a:close/>
                  <a:moveTo>
                    <a:pt x="266" y="105"/>
                  </a:moveTo>
                  <a:cubicBezTo>
                    <a:pt x="337" y="105"/>
                    <a:pt x="337" y="105"/>
                    <a:pt x="337" y="105"/>
                  </a:cubicBezTo>
                  <a:cubicBezTo>
                    <a:pt x="337" y="142"/>
                    <a:pt x="337" y="142"/>
                    <a:pt x="337" y="142"/>
                  </a:cubicBezTo>
                  <a:cubicBezTo>
                    <a:pt x="266" y="142"/>
                    <a:pt x="266" y="142"/>
                    <a:pt x="266" y="142"/>
                  </a:cubicBezTo>
                  <a:cubicBezTo>
                    <a:pt x="266" y="105"/>
                    <a:pt x="266" y="105"/>
                    <a:pt x="266" y="105"/>
                  </a:cubicBezTo>
                  <a:close/>
                  <a:moveTo>
                    <a:pt x="337" y="1"/>
                  </a:moveTo>
                  <a:cubicBezTo>
                    <a:pt x="337" y="5"/>
                    <a:pt x="337" y="5"/>
                    <a:pt x="337" y="5"/>
                  </a:cubicBezTo>
                  <a:cubicBezTo>
                    <a:pt x="330" y="9"/>
                    <a:pt x="323" y="14"/>
                    <a:pt x="316" y="19"/>
                  </a:cubicBezTo>
                  <a:cubicBezTo>
                    <a:pt x="307" y="25"/>
                    <a:pt x="298" y="32"/>
                    <a:pt x="290" y="38"/>
                  </a:cubicBezTo>
                  <a:cubicBezTo>
                    <a:pt x="266" y="38"/>
                    <a:pt x="266" y="38"/>
                    <a:pt x="266" y="38"/>
                  </a:cubicBezTo>
                  <a:cubicBezTo>
                    <a:pt x="266" y="0"/>
                    <a:pt x="266" y="0"/>
                    <a:pt x="266" y="0"/>
                  </a:cubicBezTo>
                  <a:cubicBezTo>
                    <a:pt x="290" y="0"/>
                    <a:pt x="313" y="1"/>
                    <a:pt x="337" y="1"/>
                  </a:cubicBezTo>
                  <a:close/>
                  <a:moveTo>
                    <a:pt x="337" y="34"/>
                  </a:moveTo>
                  <a:cubicBezTo>
                    <a:pt x="335" y="35"/>
                    <a:pt x="333" y="36"/>
                    <a:pt x="331" y="38"/>
                  </a:cubicBezTo>
                  <a:cubicBezTo>
                    <a:pt x="337" y="38"/>
                    <a:pt x="337" y="38"/>
                    <a:pt x="337" y="38"/>
                  </a:cubicBezTo>
                  <a:cubicBezTo>
                    <a:pt x="337" y="34"/>
                    <a:pt x="337" y="34"/>
                    <a:pt x="337" y="34"/>
                  </a:cubicBezTo>
                  <a:close/>
                  <a:moveTo>
                    <a:pt x="337" y="52"/>
                  </a:moveTo>
                  <a:cubicBezTo>
                    <a:pt x="337" y="90"/>
                    <a:pt x="337" y="90"/>
                    <a:pt x="337" y="90"/>
                  </a:cubicBezTo>
                  <a:cubicBezTo>
                    <a:pt x="266" y="90"/>
                    <a:pt x="266" y="90"/>
                    <a:pt x="266" y="90"/>
                  </a:cubicBezTo>
                  <a:cubicBezTo>
                    <a:pt x="266" y="87"/>
                    <a:pt x="266" y="87"/>
                    <a:pt x="266" y="87"/>
                  </a:cubicBezTo>
                  <a:cubicBezTo>
                    <a:pt x="273" y="82"/>
                    <a:pt x="280" y="76"/>
                    <a:pt x="287" y="71"/>
                  </a:cubicBezTo>
                  <a:cubicBezTo>
                    <a:pt x="295" y="65"/>
                    <a:pt x="304" y="59"/>
                    <a:pt x="312" y="52"/>
                  </a:cubicBezTo>
                  <a:cubicBezTo>
                    <a:pt x="337" y="52"/>
                    <a:pt x="337" y="52"/>
                    <a:pt x="337" y="52"/>
                  </a:cubicBezTo>
                  <a:close/>
                  <a:moveTo>
                    <a:pt x="266" y="55"/>
                  </a:moveTo>
                  <a:cubicBezTo>
                    <a:pt x="270" y="52"/>
                    <a:pt x="270" y="52"/>
                    <a:pt x="270" y="52"/>
                  </a:cubicBezTo>
                  <a:cubicBezTo>
                    <a:pt x="266" y="52"/>
                    <a:pt x="266" y="52"/>
                    <a:pt x="266" y="52"/>
                  </a:cubicBezTo>
                  <a:lnTo>
                    <a:pt x="266" y="55"/>
                  </a:lnTo>
                  <a:close/>
                  <a:moveTo>
                    <a:pt x="61" y="105"/>
                  </a:moveTo>
                  <a:cubicBezTo>
                    <a:pt x="266" y="105"/>
                    <a:pt x="266" y="105"/>
                    <a:pt x="266" y="105"/>
                  </a:cubicBezTo>
                  <a:cubicBezTo>
                    <a:pt x="266" y="142"/>
                    <a:pt x="266" y="142"/>
                    <a:pt x="266" y="142"/>
                  </a:cubicBezTo>
                  <a:cubicBezTo>
                    <a:pt x="177" y="142"/>
                    <a:pt x="89" y="143"/>
                    <a:pt x="0" y="143"/>
                  </a:cubicBezTo>
                  <a:cubicBezTo>
                    <a:pt x="10" y="137"/>
                    <a:pt x="20" y="130"/>
                    <a:pt x="31" y="124"/>
                  </a:cubicBezTo>
                  <a:cubicBezTo>
                    <a:pt x="41" y="118"/>
                    <a:pt x="51" y="112"/>
                    <a:pt x="61" y="105"/>
                  </a:cubicBezTo>
                  <a:close/>
                  <a:moveTo>
                    <a:pt x="266" y="0"/>
                  </a:moveTo>
                  <a:cubicBezTo>
                    <a:pt x="266" y="38"/>
                    <a:pt x="266" y="38"/>
                    <a:pt x="266" y="38"/>
                  </a:cubicBezTo>
                  <a:cubicBezTo>
                    <a:pt x="234" y="38"/>
                    <a:pt x="203" y="38"/>
                    <a:pt x="171" y="38"/>
                  </a:cubicBezTo>
                  <a:cubicBezTo>
                    <a:pt x="181" y="32"/>
                    <a:pt x="192" y="25"/>
                    <a:pt x="202" y="19"/>
                  </a:cubicBezTo>
                  <a:cubicBezTo>
                    <a:pt x="212" y="13"/>
                    <a:pt x="222" y="7"/>
                    <a:pt x="232" y="0"/>
                  </a:cubicBezTo>
                  <a:cubicBezTo>
                    <a:pt x="266" y="0"/>
                    <a:pt x="266" y="0"/>
                    <a:pt x="266" y="0"/>
                  </a:cubicBezTo>
                  <a:close/>
                  <a:moveTo>
                    <a:pt x="266" y="52"/>
                  </a:moveTo>
                  <a:cubicBezTo>
                    <a:pt x="266" y="55"/>
                    <a:pt x="266" y="55"/>
                    <a:pt x="266" y="55"/>
                  </a:cubicBezTo>
                  <a:cubicBezTo>
                    <a:pt x="258" y="60"/>
                    <a:pt x="251" y="66"/>
                    <a:pt x="243" y="71"/>
                  </a:cubicBezTo>
                  <a:cubicBezTo>
                    <a:pt x="235" y="77"/>
                    <a:pt x="226" y="84"/>
                    <a:pt x="217" y="90"/>
                  </a:cubicBezTo>
                  <a:cubicBezTo>
                    <a:pt x="174" y="90"/>
                    <a:pt x="130" y="90"/>
                    <a:pt x="86" y="90"/>
                  </a:cubicBezTo>
                  <a:cubicBezTo>
                    <a:pt x="97" y="84"/>
                    <a:pt x="107" y="77"/>
                    <a:pt x="117" y="71"/>
                  </a:cubicBezTo>
                  <a:cubicBezTo>
                    <a:pt x="127" y="65"/>
                    <a:pt x="137" y="59"/>
                    <a:pt x="148" y="52"/>
                  </a:cubicBezTo>
                  <a:cubicBezTo>
                    <a:pt x="187" y="52"/>
                    <a:pt x="226" y="52"/>
                    <a:pt x="266" y="52"/>
                  </a:cubicBezTo>
                  <a:close/>
                  <a:moveTo>
                    <a:pt x="266" y="87"/>
                  </a:moveTo>
                  <a:cubicBezTo>
                    <a:pt x="262" y="90"/>
                    <a:pt x="262" y="90"/>
                    <a:pt x="262" y="90"/>
                  </a:cubicBezTo>
                  <a:cubicBezTo>
                    <a:pt x="266" y="90"/>
                    <a:pt x="266" y="90"/>
                    <a:pt x="266" y="90"/>
                  </a:cubicBezTo>
                  <a:lnTo>
                    <a:pt x="266" y="87"/>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4" name="îṧļíďe"/>
            <p:cNvSpPr/>
            <p:nvPr/>
          </p:nvSpPr>
          <p:spPr bwMode="auto">
            <a:xfrm>
              <a:off x="4586658" y="1375213"/>
              <a:ext cx="2677754" cy="248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5" name="iṡḻïdè"/>
            <p:cNvSpPr/>
            <p:nvPr/>
          </p:nvSpPr>
          <p:spPr bwMode="auto">
            <a:xfrm>
              <a:off x="4586658" y="1569370"/>
              <a:ext cx="2641927" cy="54318"/>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6" name="ïsḻíḋê"/>
            <p:cNvSpPr/>
            <p:nvPr/>
          </p:nvSpPr>
          <p:spPr bwMode="auto">
            <a:xfrm>
              <a:off x="4586658" y="1451489"/>
              <a:ext cx="28892"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7" name="ïšļíḑê"/>
            <p:cNvSpPr/>
            <p:nvPr/>
          </p:nvSpPr>
          <p:spPr bwMode="auto">
            <a:xfrm>
              <a:off x="4651377" y="1500028"/>
              <a:ext cx="11557"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8" name="ïšḻîďê"/>
            <p:cNvSpPr/>
            <p:nvPr/>
          </p:nvSpPr>
          <p:spPr bwMode="auto">
            <a:xfrm>
              <a:off x="4701072"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9" name="îṩḻîḍè"/>
            <p:cNvSpPr/>
            <p:nvPr/>
          </p:nvSpPr>
          <p:spPr bwMode="auto">
            <a:xfrm>
              <a:off x="4750767"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80" name="iṣ1íḓé"/>
            <p:cNvSpPr/>
            <p:nvPr/>
          </p:nvSpPr>
          <p:spPr bwMode="auto">
            <a:xfrm>
              <a:off x="4799306"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81" name="i$ļïḍè"/>
            <p:cNvSpPr/>
            <p:nvPr/>
          </p:nvSpPr>
          <p:spPr bwMode="auto">
            <a:xfrm>
              <a:off x="4849001" y="1451489"/>
              <a:ext cx="28892"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82" name="íṩľíḑê"/>
            <p:cNvSpPr/>
            <p:nvPr/>
          </p:nvSpPr>
          <p:spPr bwMode="auto">
            <a:xfrm>
              <a:off x="4913720"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83" name="ï$lïḍê"/>
            <p:cNvSpPr/>
            <p:nvPr/>
          </p:nvSpPr>
          <p:spPr bwMode="auto">
            <a:xfrm>
              <a:off x="4961104" y="1500028"/>
              <a:ext cx="12713"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84" name="iṥľïḋé"/>
            <p:cNvSpPr/>
            <p:nvPr/>
          </p:nvSpPr>
          <p:spPr bwMode="auto">
            <a:xfrm>
              <a:off x="5011955"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85" name="î$ḷîḍé"/>
            <p:cNvSpPr/>
            <p:nvPr/>
          </p:nvSpPr>
          <p:spPr bwMode="auto">
            <a:xfrm>
              <a:off x="5061650"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86" name="ïṣ1ïḋè"/>
            <p:cNvSpPr/>
            <p:nvPr/>
          </p:nvSpPr>
          <p:spPr bwMode="auto">
            <a:xfrm>
              <a:off x="5110189"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90" name="ísľîḍè"/>
            <p:cNvSpPr/>
            <p:nvPr/>
          </p:nvSpPr>
          <p:spPr bwMode="auto">
            <a:xfrm>
              <a:off x="5173753"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96" name="íśḻïḓe"/>
            <p:cNvSpPr/>
            <p:nvPr/>
          </p:nvSpPr>
          <p:spPr bwMode="auto">
            <a:xfrm>
              <a:off x="5223448"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97" name="íślide"/>
            <p:cNvSpPr/>
            <p:nvPr/>
          </p:nvSpPr>
          <p:spPr bwMode="auto">
            <a:xfrm>
              <a:off x="5271987" y="1500028"/>
              <a:ext cx="11557"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98" name="isḻïḋe"/>
            <p:cNvSpPr/>
            <p:nvPr/>
          </p:nvSpPr>
          <p:spPr bwMode="auto">
            <a:xfrm>
              <a:off x="5321682"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99" name="îṧ1ïḋe"/>
            <p:cNvSpPr/>
            <p:nvPr/>
          </p:nvSpPr>
          <p:spPr bwMode="auto">
            <a:xfrm>
              <a:off x="5372533"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0" name="ïšḻïḍe"/>
            <p:cNvSpPr/>
            <p:nvPr/>
          </p:nvSpPr>
          <p:spPr bwMode="auto">
            <a:xfrm>
              <a:off x="5436096"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1" name="îṣ1ïḍê"/>
            <p:cNvSpPr/>
            <p:nvPr/>
          </p:nvSpPr>
          <p:spPr bwMode="auto">
            <a:xfrm>
              <a:off x="5484635"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2" name="îṥļîḋe"/>
            <p:cNvSpPr/>
            <p:nvPr/>
          </p:nvSpPr>
          <p:spPr bwMode="auto">
            <a:xfrm>
              <a:off x="5534330"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3" name="íşľïḓe"/>
            <p:cNvSpPr/>
            <p:nvPr/>
          </p:nvSpPr>
          <p:spPr bwMode="auto">
            <a:xfrm>
              <a:off x="5584026"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4" name="íśḻidé"/>
            <p:cNvSpPr/>
            <p:nvPr/>
          </p:nvSpPr>
          <p:spPr bwMode="auto">
            <a:xfrm>
              <a:off x="5632565"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5" name="íŝḻïdê"/>
            <p:cNvSpPr/>
            <p:nvPr/>
          </p:nvSpPr>
          <p:spPr bwMode="auto">
            <a:xfrm>
              <a:off x="5696128"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6" name="íṡḷiḍè"/>
            <p:cNvSpPr/>
            <p:nvPr/>
          </p:nvSpPr>
          <p:spPr bwMode="auto">
            <a:xfrm>
              <a:off x="5746979"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7" name="iśḷiḋé"/>
            <p:cNvSpPr/>
            <p:nvPr/>
          </p:nvSpPr>
          <p:spPr bwMode="auto">
            <a:xfrm>
              <a:off x="5794363"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8" name="îSļïḋè"/>
            <p:cNvSpPr/>
            <p:nvPr/>
          </p:nvSpPr>
          <p:spPr bwMode="auto">
            <a:xfrm>
              <a:off x="5845213"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9" name="îS1îḑe"/>
            <p:cNvSpPr/>
            <p:nvPr/>
          </p:nvSpPr>
          <p:spPr bwMode="auto">
            <a:xfrm>
              <a:off x="5894908"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0" name="íśļîḍê"/>
            <p:cNvSpPr/>
            <p:nvPr/>
          </p:nvSpPr>
          <p:spPr bwMode="auto">
            <a:xfrm>
              <a:off x="5958472"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1" name="ïşļîḋê"/>
            <p:cNvSpPr/>
            <p:nvPr/>
          </p:nvSpPr>
          <p:spPr bwMode="auto">
            <a:xfrm>
              <a:off x="6007011"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2" name="íṩľiḓé"/>
            <p:cNvSpPr/>
            <p:nvPr/>
          </p:nvSpPr>
          <p:spPr bwMode="auto">
            <a:xfrm>
              <a:off x="6056706"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3" name="íś1iḑê"/>
            <p:cNvSpPr/>
            <p:nvPr/>
          </p:nvSpPr>
          <p:spPr bwMode="auto">
            <a:xfrm>
              <a:off x="6105246"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4" name="ïṥľîḋe"/>
            <p:cNvSpPr/>
            <p:nvPr/>
          </p:nvSpPr>
          <p:spPr bwMode="auto">
            <a:xfrm>
              <a:off x="6154941"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5" name="ïṥḻîḓe"/>
            <p:cNvSpPr/>
            <p:nvPr/>
          </p:nvSpPr>
          <p:spPr bwMode="auto">
            <a:xfrm>
              <a:off x="6219660"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6" name="ïṥḷïdè"/>
            <p:cNvSpPr/>
            <p:nvPr/>
          </p:nvSpPr>
          <p:spPr bwMode="auto">
            <a:xfrm>
              <a:off x="6269355"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7" name="işḷïḑê"/>
            <p:cNvSpPr/>
            <p:nvPr/>
          </p:nvSpPr>
          <p:spPr bwMode="auto">
            <a:xfrm>
              <a:off x="6316738"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8" name="ïṩlîḋe"/>
            <p:cNvSpPr/>
            <p:nvPr/>
          </p:nvSpPr>
          <p:spPr bwMode="auto">
            <a:xfrm>
              <a:off x="6367589"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9" name="isḷîḑê"/>
            <p:cNvSpPr/>
            <p:nvPr/>
          </p:nvSpPr>
          <p:spPr bwMode="auto">
            <a:xfrm>
              <a:off x="6414973" y="1451489"/>
              <a:ext cx="30048"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0" name="íṡḷíďé"/>
            <p:cNvSpPr/>
            <p:nvPr/>
          </p:nvSpPr>
          <p:spPr bwMode="auto">
            <a:xfrm>
              <a:off x="6479692" y="1500028"/>
              <a:ext cx="11557"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1" name="ïŝḷíḋe"/>
            <p:cNvSpPr/>
            <p:nvPr/>
          </p:nvSpPr>
          <p:spPr bwMode="auto">
            <a:xfrm>
              <a:off x="6529387"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2" name="îṥlïdé"/>
            <p:cNvSpPr/>
            <p:nvPr/>
          </p:nvSpPr>
          <p:spPr bwMode="auto">
            <a:xfrm>
              <a:off x="6579082"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3" name="i$ḻîḑé"/>
            <p:cNvSpPr/>
            <p:nvPr/>
          </p:nvSpPr>
          <p:spPr bwMode="auto">
            <a:xfrm>
              <a:off x="6627621"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4" name="ïśľîḑé"/>
            <p:cNvSpPr/>
            <p:nvPr/>
          </p:nvSpPr>
          <p:spPr bwMode="auto">
            <a:xfrm>
              <a:off x="6677316" y="1451489"/>
              <a:ext cx="28892"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5" name="íSḻïḑé"/>
            <p:cNvSpPr/>
            <p:nvPr/>
          </p:nvSpPr>
          <p:spPr bwMode="auto">
            <a:xfrm>
              <a:off x="6742036"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6" name="îŝ1iḓê"/>
            <p:cNvSpPr/>
            <p:nvPr/>
          </p:nvSpPr>
          <p:spPr bwMode="auto">
            <a:xfrm>
              <a:off x="6791731"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7" name="iṣliḓé"/>
            <p:cNvSpPr/>
            <p:nvPr/>
          </p:nvSpPr>
          <p:spPr bwMode="auto">
            <a:xfrm>
              <a:off x="6840270"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8" name="ïś1iḑè"/>
            <p:cNvSpPr/>
            <p:nvPr/>
          </p:nvSpPr>
          <p:spPr bwMode="auto">
            <a:xfrm>
              <a:off x="6889965"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9" name="ïšḷïḓé"/>
            <p:cNvSpPr/>
            <p:nvPr/>
          </p:nvSpPr>
          <p:spPr bwMode="auto">
            <a:xfrm>
              <a:off x="6938504"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0" name="í$1íďe"/>
            <p:cNvSpPr/>
            <p:nvPr/>
          </p:nvSpPr>
          <p:spPr bwMode="auto">
            <a:xfrm>
              <a:off x="7002068"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1" name="iš1îḋè"/>
            <p:cNvSpPr/>
            <p:nvPr/>
          </p:nvSpPr>
          <p:spPr bwMode="auto">
            <a:xfrm>
              <a:off x="7051763"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2" name="íşľiḍê"/>
            <p:cNvSpPr/>
            <p:nvPr/>
          </p:nvSpPr>
          <p:spPr bwMode="auto">
            <a:xfrm>
              <a:off x="7102613" y="1500028"/>
              <a:ext cx="9246"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3" name="îŝļîḓè"/>
            <p:cNvSpPr/>
            <p:nvPr/>
          </p:nvSpPr>
          <p:spPr bwMode="auto">
            <a:xfrm>
              <a:off x="7149997" y="1500028"/>
              <a:ext cx="10401" cy="123660"/>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4" name="í$ľîďé"/>
            <p:cNvSpPr/>
            <p:nvPr/>
          </p:nvSpPr>
          <p:spPr bwMode="auto">
            <a:xfrm>
              <a:off x="7200848" y="1451489"/>
              <a:ext cx="27737" cy="172199"/>
            </a:xfrm>
            <a:prstGeom prst="rect">
              <a:avLst/>
            </a:prstGeom>
            <a:solidFill>
              <a:srgbClr val="FFCD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5" name="ïṣ1îďé"/>
            <p:cNvSpPr/>
            <p:nvPr/>
          </p:nvSpPr>
          <p:spPr bwMode="auto">
            <a:xfrm>
              <a:off x="3974137" y="3735149"/>
              <a:ext cx="144462" cy="918780"/>
            </a:xfrm>
            <a:custGeom>
              <a:avLst/>
              <a:gdLst>
                <a:gd name="T0" fmla="*/ 2 w 125"/>
                <a:gd name="T1" fmla="*/ 0 h 795"/>
                <a:gd name="T2" fmla="*/ 125 w 125"/>
                <a:gd name="T3" fmla="*/ 0 h 795"/>
                <a:gd name="T4" fmla="*/ 123 w 125"/>
                <a:gd name="T5" fmla="*/ 795 h 795"/>
                <a:gd name="T6" fmla="*/ 0 w 125"/>
                <a:gd name="T7" fmla="*/ 793 h 795"/>
                <a:gd name="T8" fmla="*/ 2 w 125"/>
                <a:gd name="T9" fmla="*/ 0 h 795"/>
              </a:gdLst>
              <a:ahLst/>
              <a:cxnLst>
                <a:cxn ang="0">
                  <a:pos x="T0" y="T1"/>
                </a:cxn>
                <a:cxn ang="0">
                  <a:pos x="T2" y="T3"/>
                </a:cxn>
                <a:cxn ang="0">
                  <a:pos x="T4" y="T5"/>
                </a:cxn>
                <a:cxn ang="0">
                  <a:pos x="T6" y="T7"/>
                </a:cxn>
                <a:cxn ang="0">
                  <a:pos x="T8" y="T9"/>
                </a:cxn>
              </a:cxnLst>
              <a:rect l="0" t="0" r="r" b="b"/>
              <a:pathLst>
                <a:path w="125" h="795">
                  <a:moveTo>
                    <a:pt x="2" y="0"/>
                  </a:moveTo>
                  <a:lnTo>
                    <a:pt x="125" y="0"/>
                  </a:lnTo>
                  <a:lnTo>
                    <a:pt x="123" y="795"/>
                  </a:lnTo>
                  <a:lnTo>
                    <a:pt x="0" y="793"/>
                  </a:lnTo>
                  <a:lnTo>
                    <a:pt x="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îṧḷïďê"/>
            <p:cNvSpPr/>
            <p:nvPr/>
          </p:nvSpPr>
          <p:spPr bwMode="auto">
            <a:xfrm>
              <a:off x="4001874" y="3774443"/>
              <a:ext cx="88989" cy="837881"/>
            </a:xfrm>
            <a:custGeom>
              <a:avLst/>
              <a:gdLst>
                <a:gd name="T0" fmla="*/ 2 w 77"/>
                <a:gd name="T1" fmla="*/ 0 h 725"/>
                <a:gd name="T2" fmla="*/ 0 w 77"/>
                <a:gd name="T3" fmla="*/ 725 h 725"/>
                <a:gd name="T4" fmla="*/ 75 w 77"/>
                <a:gd name="T5" fmla="*/ 725 h 725"/>
                <a:gd name="T6" fmla="*/ 77 w 77"/>
                <a:gd name="T7" fmla="*/ 2 h 725"/>
                <a:gd name="T8" fmla="*/ 2 w 77"/>
                <a:gd name="T9" fmla="*/ 0 h 725"/>
              </a:gdLst>
              <a:ahLst/>
              <a:cxnLst>
                <a:cxn ang="0">
                  <a:pos x="T0" y="T1"/>
                </a:cxn>
                <a:cxn ang="0">
                  <a:pos x="T2" y="T3"/>
                </a:cxn>
                <a:cxn ang="0">
                  <a:pos x="T4" y="T5"/>
                </a:cxn>
                <a:cxn ang="0">
                  <a:pos x="T6" y="T7"/>
                </a:cxn>
                <a:cxn ang="0">
                  <a:pos x="T8" y="T9"/>
                </a:cxn>
              </a:cxnLst>
              <a:rect l="0" t="0" r="r" b="b"/>
              <a:pathLst>
                <a:path w="77" h="725">
                  <a:moveTo>
                    <a:pt x="2" y="0"/>
                  </a:moveTo>
                  <a:lnTo>
                    <a:pt x="0" y="725"/>
                  </a:lnTo>
                  <a:lnTo>
                    <a:pt x="75" y="725"/>
                  </a:lnTo>
                  <a:lnTo>
                    <a:pt x="77" y="2"/>
                  </a:lnTo>
                  <a:lnTo>
                    <a:pt x="2" y="0"/>
                  </a:lnTo>
                  <a:close/>
                </a:path>
              </a:pathLst>
            </a:custGeom>
            <a:solidFill>
              <a:srgbClr val="87BB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7" name="îṩ1ïḓé"/>
            <p:cNvSpPr/>
            <p:nvPr/>
          </p:nvSpPr>
          <p:spPr bwMode="auto">
            <a:xfrm>
              <a:off x="3875903" y="3502854"/>
              <a:ext cx="344398" cy="317817"/>
            </a:xfrm>
            <a:custGeom>
              <a:avLst/>
              <a:gdLst>
                <a:gd name="T0" fmla="*/ 131 w 172"/>
                <a:gd name="T1" fmla="*/ 0 h 159"/>
                <a:gd name="T2" fmla="*/ 172 w 172"/>
                <a:gd name="T3" fmla="*/ 74 h 159"/>
                <a:gd name="T4" fmla="*/ 86 w 172"/>
                <a:gd name="T5" fmla="*/ 159 h 159"/>
                <a:gd name="T6" fmla="*/ 0 w 172"/>
                <a:gd name="T7" fmla="*/ 73 h 159"/>
                <a:gd name="T8" fmla="*/ 42 w 172"/>
                <a:gd name="T9" fmla="*/ 0 h 159"/>
                <a:gd name="T10" fmla="*/ 41 w 172"/>
                <a:gd name="T11" fmla="*/ 49 h 159"/>
                <a:gd name="T12" fmla="*/ 41 w 172"/>
                <a:gd name="T13" fmla="*/ 74 h 159"/>
                <a:gd name="T14" fmla="*/ 64 w 172"/>
                <a:gd name="T15" fmla="*/ 87 h 159"/>
                <a:gd name="T16" fmla="*/ 86 w 172"/>
                <a:gd name="T17" fmla="*/ 100 h 159"/>
                <a:gd name="T18" fmla="*/ 108 w 172"/>
                <a:gd name="T19" fmla="*/ 88 h 159"/>
                <a:gd name="T20" fmla="*/ 131 w 172"/>
                <a:gd name="T21" fmla="*/ 75 h 159"/>
                <a:gd name="T22" fmla="*/ 131 w 172"/>
                <a:gd name="T23" fmla="*/ 49 h 159"/>
                <a:gd name="T24" fmla="*/ 131 w 172"/>
                <a:gd name="T25"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159">
                  <a:moveTo>
                    <a:pt x="131" y="0"/>
                  </a:moveTo>
                  <a:cubicBezTo>
                    <a:pt x="155" y="16"/>
                    <a:pt x="172" y="43"/>
                    <a:pt x="172" y="74"/>
                  </a:cubicBezTo>
                  <a:cubicBezTo>
                    <a:pt x="171" y="121"/>
                    <a:pt x="133" y="159"/>
                    <a:pt x="86" y="159"/>
                  </a:cubicBezTo>
                  <a:cubicBezTo>
                    <a:pt x="38" y="159"/>
                    <a:pt x="0" y="120"/>
                    <a:pt x="0" y="73"/>
                  </a:cubicBezTo>
                  <a:cubicBezTo>
                    <a:pt x="0" y="42"/>
                    <a:pt x="17" y="15"/>
                    <a:pt x="42" y="0"/>
                  </a:cubicBezTo>
                  <a:cubicBezTo>
                    <a:pt x="41" y="49"/>
                    <a:pt x="41" y="49"/>
                    <a:pt x="41" y="49"/>
                  </a:cubicBezTo>
                  <a:cubicBezTo>
                    <a:pt x="41" y="74"/>
                    <a:pt x="41" y="74"/>
                    <a:pt x="41" y="74"/>
                  </a:cubicBezTo>
                  <a:cubicBezTo>
                    <a:pt x="64" y="87"/>
                    <a:pt x="64" y="87"/>
                    <a:pt x="64" y="87"/>
                  </a:cubicBezTo>
                  <a:cubicBezTo>
                    <a:pt x="86" y="100"/>
                    <a:pt x="86" y="100"/>
                    <a:pt x="86" y="100"/>
                  </a:cubicBezTo>
                  <a:cubicBezTo>
                    <a:pt x="108" y="88"/>
                    <a:pt x="108" y="88"/>
                    <a:pt x="108" y="88"/>
                  </a:cubicBezTo>
                  <a:cubicBezTo>
                    <a:pt x="131" y="75"/>
                    <a:pt x="131" y="75"/>
                    <a:pt x="131" y="75"/>
                  </a:cubicBezTo>
                  <a:cubicBezTo>
                    <a:pt x="131" y="49"/>
                    <a:pt x="131" y="49"/>
                    <a:pt x="131" y="49"/>
                  </a:cubicBezTo>
                  <a:lnTo>
                    <a:pt x="13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8" name="ïšľïḍe"/>
            <p:cNvSpPr/>
            <p:nvPr/>
          </p:nvSpPr>
          <p:spPr bwMode="auto">
            <a:xfrm>
              <a:off x="3873592" y="4536048"/>
              <a:ext cx="343242" cy="317817"/>
            </a:xfrm>
            <a:custGeom>
              <a:avLst/>
              <a:gdLst>
                <a:gd name="T0" fmla="*/ 130 w 171"/>
                <a:gd name="T1" fmla="*/ 159 h 159"/>
                <a:gd name="T2" fmla="*/ 171 w 171"/>
                <a:gd name="T3" fmla="*/ 86 h 159"/>
                <a:gd name="T4" fmla="*/ 86 w 171"/>
                <a:gd name="T5" fmla="*/ 0 h 159"/>
                <a:gd name="T6" fmla="*/ 0 w 171"/>
                <a:gd name="T7" fmla="*/ 85 h 159"/>
                <a:gd name="T8" fmla="*/ 40 w 171"/>
                <a:gd name="T9" fmla="*/ 158 h 159"/>
                <a:gd name="T10" fmla="*/ 41 w 171"/>
                <a:gd name="T11" fmla="*/ 110 h 159"/>
                <a:gd name="T12" fmla="*/ 41 w 171"/>
                <a:gd name="T13" fmla="*/ 84 h 159"/>
                <a:gd name="T14" fmla="*/ 63 w 171"/>
                <a:gd name="T15" fmla="*/ 71 h 159"/>
                <a:gd name="T16" fmla="*/ 85 w 171"/>
                <a:gd name="T17" fmla="*/ 59 h 159"/>
                <a:gd name="T18" fmla="*/ 108 w 171"/>
                <a:gd name="T19" fmla="*/ 72 h 159"/>
                <a:gd name="T20" fmla="*/ 130 w 171"/>
                <a:gd name="T21" fmla="*/ 85 h 159"/>
                <a:gd name="T22" fmla="*/ 130 w 171"/>
                <a:gd name="T23" fmla="*/ 110 h 159"/>
                <a:gd name="T24" fmla="*/ 130 w 171"/>
                <a:gd name="T2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159">
                  <a:moveTo>
                    <a:pt x="130" y="159"/>
                  </a:moveTo>
                  <a:cubicBezTo>
                    <a:pt x="154" y="144"/>
                    <a:pt x="171" y="117"/>
                    <a:pt x="171" y="86"/>
                  </a:cubicBezTo>
                  <a:cubicBezTo>
                    <a:pt x="171" y="39"/>
                    <a:pt x="133" y="0"/>
                    <a:pt x="86" y="0"/>
                  </a:cubicBezTo>
                  <a:cubicBezTo>
                    <a:pt x="38" y="0"/>
                    <a:pt x="0" y="38"/>
                    <a:pt x="0" y="85"/>
                  </a:cubicBezTo>
                  <a:cubicBezTo>
                    <a:pt x="0" y="116"/>
                    <a:pt x="16" y="143"/>
                    <a:pt x="40" y="158"/>
                  </a:cubicBezTo>
                  <a:cubicBezTo>
                    <a:pt x="41" y="110"/>
                    <a:pt x="41" y="110"/>
                    <a:pt x="41" y="110"/>
                  </a:cubicBezTo>
                  <a:cubicBezTo>
                    <a:pt x="41" y="84"/>
                    <a:pt x="41" y="84"/>
                    <a:pt x="41" y="84"/>
                  </a:cubicBezTo>
                  <a:cubicBezTo>
                    <a:pt x="63" y="71"/>
                    <a:pt x="63" y="71"/>
                    <a:pt x="63" y="71"/>
                  </a:cubicBezTo>
                  <a:cubicBezTo>
                    <a:pt x="85" y="59"/>
                    <a:pt x="85" y="59"/>
                    <a:pt x="85" y="59"/>
                  </a:cubicBezTo>
                  <a:cubicBezTo>
                    <a:pt x="108" y="72"/>
                    <a:pt x="108" y="72"/>
                    <a:pt x="108" y="72"/>
                  </a:cubicBezTo>
                  <a:cubicBezTo>
                    <a:pt x="130" y="85"/>
                    <a:pt x="130" y="85"/>
                    <a:pt x="130" y="85"/>
                  </a:cubicBezTo>
                  <a:cubicBezTo>
                    <a:pt x="130" y="110"/>
                    <a:pt x="130" y="110"/>
                    <a:pt x="130" y="110"/>
                  </a:cubicBezTo>
                  <a:lnTo>
                    <a:pt x="130" y="1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9" name="iṣľïďê"/>
            <p:cNvSpPr/>
            <p:nvPr/>
          </p:nvSpPr>
          <p:spPr bwMode="auto">
            <a:xfrm>
              <a:off x="3900173" y="4563785"/>
              <a:ext cx="287769" cy="228828"/>
            </a:xfrm>
            <a:custGeom>
              <a:avLst/>
              <a:gdLst>
                <a:gd name="T0" fmla="*/ 131 w 144"/>
                <a:gd name="T1" fmla="*/ 114 h 114"/>
                <a:gd name="T2" fmla="*/ 144 w 144"/>
                <a:gd name="T3" fmla="*/ 72 h 114"/>
                <a:gd name="T4" fmla="*/ 73 w 144"/>
                <a:gd name="T5" fmla="*/ 0 h 114"/>
                <a:gd name="T6" fmla="*/ 0 w 144"/>
                <a:gd name="T7" fmla="*/ 71 h 114"/>
                <a:gd name="T8" fmla="*/ 14 w 144"/>
                <a:gd name="T9" fmla="*/ 113 h 114"/>
                <a:gd name="T10" fmla="*/ 14 w 144"/>
                <a:gd name="T11" fmla="*/ 62 h 114"/>
                <a:gd name="T12" fmla="*/ 73 w 144"/>
                <a:gd name="T13" fmla="*/ 29 h 114"/>
                <a:gd name="T14" fmla="*/ 131 w 144"/>
                <a:gd name="T15" fmla="*/ 63 h 114"/>
                <a:gd name="T16" fmla="*/ 131 w 144"/>
                <a:gd name="T17"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114">
                  <a:moveTo>
                    <a:pt x="131" y="114"/>
                  </a:moveTo>
                  <a:cubicBezTo>
                    <a:pt x="139" y="102"/>
                    <a:pt x="144" y="87"/>
                    <a:pt x="144" y="72"/>
                  </a:cubicBezTo>
                  <a:cubicBezTo>
                    <a:pt x="144" y="32"/>
                    <a:pt x="112" y="0"/>
                    <a:pt x="73" y="0"/>
                  </a:cubicBezTo>
                  <a:cubicBezTo>
                    <a:pt x="33" y="0"/>
                    <a:pt x="1" y="32"/>
                    <a:pt x="0" y="71"/>
                  </a:cubicBezTo>
                  <a:cubicBezTo>
                    <a:pt x="0" y="87"/>
                    <a:pt x="5" y="101"/>
                    <a:pt x="14" y="113"/>
                  </a:cubicBezTo>
                  <a:cubicBezTo>
                    <a:pt x="14" y="62"/>
                    <a:pt x="14" y="62"/>
                    <a:pt x="14" y="62"/>
                  </a:cubicBezTo>
                  <a:cubicBezTo>
                    <a:pt x="73" y="29"/>
                    <a:pt x="73" y="29"/>
                    <a:pt x="73" y="29"/>
                  </a:cubicBezTo>
                  <a:cubicBezTo>
                    <a:pt x="131" y="63"/>
                    <a:pt x="131" y="63"/>
                    <a:pt x="131" y="63"/>
                  </a:cubicBezTo>
                  <a:lnTo>
                    <a:pt x="131" y="114"/>
                  </a:lnTo>
                  <a:close/>
                </a:path>
              </a:pathLst>
            </a:custGeom>
            <a:solidFill>
              <a:srgbClr val="87BB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0" name="îṣḻíḑé"/>
            <p:cNvSpPr/>
            <p:nvPr/>
          </p:nvSpPr>
          <p:spPr bwMode="auto">
            <a:xfrm>
              <a:off x="3903640" y="3564106"/>
              <a:ext cx="288925" cy="228828"/>
            </a:xfrm>
            <a:custGeom>
              <a:avLst/>
              <a:gdLst>
                <a:gd name="T0" fmla="*/ 14 w 144"/>
                <a:gd name="T1" fmla="*/ 0 h 114"/>
                <a:gd name="T2" fmla="*/ 0 w 144"/>
                <a:gd name="T3" fmla="*/ 41 h 114"/>
                <a:gd name="T4" fmla="*/ 72 w 144"/>
                <a:gd name="T5" fmla="*/ 114 h 114"/>
                <a:gd name="T6" fmla="*/ 144 w 144"/>
                <a:gd name="T7" fmla="*/ 42 h 114"/>
                <a:gd name="T8" fmla="*/ 131 w 144"/>
                <a:gd name="T9" fmla="*/ 0 h 114"/>
                <a:gd name="T10" fmla="*/ 130 w 144"/>
                <a:gd name="T11" fmla="*/ 51 h 114"/>
                <a:gd name="T12" fmla="*/ 72 w 144"/>
                <a:gd name="T13" fmla="*/ 85 h 114"/>
                <a:gd name="T14" fmla="*/ 13 w 144"/>
                <a:gd name="T15" fmla="*/ 51 h 114"/>
                <a:gd name="T16" fmla="*/ 14 w 144"/>
                <a:gd name="T1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114">
                  <a:moveTo>
                    <a:pt x="14" y="0"/>
                  </a:moveTo>
                  <a:cubicBezTo>
                    <a:pt x="5" y="12"/>
                    <a:pt x="0" y="26"/>
                    <a:pt x="0" y="41"/>
                  </a:cubicBezTo>
                  <a:cubicBezTo>
                    <a:pt x="0" y="81"/>
                    <a:pt x="32" y="113"/>
                    <a:pt x="72" y="114"/>
                  </a:cubicBezTo>
                  <a:cubicBezTo>
                    <a:pt x="111" y="114"/>
                    <a:pt x="144" y="82"/>
                    <a:pt x="144" y="42"/>
                  </a:cubicBezTo>
                  <a:cubicBezTo>
                    <a:pt x="144" y="27"/>
                    <a:pt x="139" y="12"/>
                    <a:pt x="131" y="0"/>
                  </a:cubicBezTo>
                  <a:cubicBezTo>
                    <a:pt x="130" y="51"/>
                    <a:pt x="130" y="51"/>
                    <a:pt x="130" y="51"/>
                  </a:cubicBezTo>
                  <a:cubicBezTo>
                    <a:pt x="72" y="85"/>
                    <a:pt x="72" y="85"/>
                    <a:pt x="72" y="85"/>
                  </a:cubicBezTo>
                  <a:cubicBezTo>
                    <a:pt x="13" y="51"/>
                    <a:pt x="13" y="51"/>
                    <a:pt x="13" y="51"/>
                  </a:cubicBezTo>
                  <a:lnTo>
                    <a:pt x="14" y="0"/>
                  </a:lnTo>
                  <a:close/>
                </a:path>
              </a:pathLst>
            </a:custGeom>
            <a:solidFill>
              <a:srgbClr val="87BB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1" name="íš1ïḍé"/>
            <p:cNvSpPr/>
            <p:nvPr/>
          </p:nvSpPr>
          <p:spPr bwMode="auto">
            <a:xfrm>
              <a:off x="7627301" y="3502854"/>
              <a:ext cx="129438" cy="1351012"/>
            </a:xfrm>
            <a:custGeom>
              <a:avLst/>
              <a:gdLst>
                <a:gd name="T0" fmla="*/ 65 w 65"/>
                <a:gd name="T1" fmla="*/ 74 h 675"/>
                <a:gd name="T2" fmla="*/ 32 w 65"/>
                <a:gd name="T3" fmla="*/ 0 h 675"/>
                <a:gd name="T4" fmla="*/ 0 w 65"/>
                <a:gd name="T5" fmla="*/ 74 h 675"/>
                <a:gd name="T6" fmla="*/ 0 w 65"/>
                <a:gd name="T7" fmla="*/ 657 h 675"/>
                <a:gd name="T8" fmla="*/ 18 w 65"/>
                <a:gd name="T9" fmla="*/ 675 h 675"/>
                <a:gd name="T10" fmla="*/ 47 w 65"/>
                <a:gd name="T11" fmla="*/ 675 h 675"/>
                <a:gd name="T12" fmla="*/ 65 w 65"/>
                <a:gd name="T13" fmla="*/ 657 h 675"/>
                <a:gd name="T14" fmla="*/ 65 w 65"/>
                <a:gd name="T15" fmla="*/ 74 h 6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675">
                  <a:moveTo>
                    <a:pt x="65" y="74"/>
                  </a:moveTo>
                  <a:cubicBezTo>
                    <a:pt x="32" y="0"/>
                    <a:pt x="32" y="0"/>
                    <a:pt x="32" y="0"/>
                  </a:cubicBezTo>
                  <a:cubicBezTo>
                    <a:pt x="0" y="74"/>
                    <a:pt x="0" y="74"/>
                    <a:pt x="0" y="74"/>
                  </a:cubicBezTo>
                  <a:cubicBezTo>
                    <a:pt x="0" y="657"/>
                    <a:pt x="0" y="657"/>
                    <a:pt x="0" y="657"/>
                  </a:cubicBezTo>
                  <a:cubicBezTo>
                    <a:pt x="0" y="667"/>
                    <a:pt x="8" y="675"/>
                    <a:pt x="18" y="675"/>
                  </a:cubicBezTo>
                  <a:cubicBezTo>
                    <a:pt x="47" y="675"/>
                    <a:pt x="47" y="675"/>
                    <a:pt x="47" y="675"/>
                  </a:cubicBezTo>
                  <a:cubicBezTo>
                    <a:pt x="57" y="675"/>
                    <a:pt x="65" y="667"/>
                    <a:pt x="65" y="657"/>
                  </a:cubicBezTo>
                  <a:lnTo>
                    <a:pt x="65" y="74"/>
                  </a:lnTo>
                  <a:close/>
                </a:path>
              </a:pathLst>
            </a:custGeom>
            <a:solidFill>
              <a:srgbClr val="FFEEC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2" name="íṥḷîdè"/>
            <p:cNvSpPr/>
            <p:nvPr/>
          </p:nvSpPr>
          <p:spPr bwMode="auto">
            <a:xfrm>
              <a:off x="7690864" y="3502854"/>
              <a:ext cx="65875" cy="1351012"/>
            </a:xfrm>
            <a:custGeom>
              <a:avLst/>
              <a:gdLst>
                <a:gd name="T0" fmla="*/ 33 w 33"/>
                <a:gd name="T1" fmla="*/ 74 h 675"/>
                <a:gd name="T2" fmla="*/ 0 w 33"/>
                <a:gd name="T3" fmla="*/ 0 h 675"/>
                <a:gd name="T4" fmla="*/ 15 w 33"/>
                <a:gd name="T5" fmla="*/ 77 h 675"/>
                <a:gd name="T6" fmla="*/ 15 w 33"/>
                <a:gd name="T7" fmla="*/ 675 h 675"/>
                <a:gd name="T8" fmla="*/ 15 w 33"/>
                <a:gd name="T9" fmla="*/ 675 h 675"/>
                <a:gd name="T10" fmla="*/ 33 w 33"/>
                <a:gd name="T11" fmla="*/ 657 h 675"/>
                <a:gd name="T12" fmla="*/ 33 w 33"/>
                <a:gd name="T13" fmla="*/ 74 h 675"/>
              </a:gdLst>
              <a:ahLst/>
              <a:cxnLst>
                <a:cxn ang="0">
                  <a:pos x="T0" y="T1"/>
                </a:cxn>
                <a:cxn ang="0">
                  <a:pos x="T2" y="T3"/>
                </a:cxn>
                <a:cxn ang="0">
                  <a:pos x="T4" y="T5"/>
                </a:cxn>
                <a:cxn ang="0">
                  <a:pos x="T6" y="T7"/>
                </a:cxn>
                <a:cxn ang="0">
                  <a:pos x="T8" y="T9"/>
                </a:cxn>
                <a:cxn ang="0">
                  <a:pos x="T10" y="T11"/>
                </a:cxn>
                <a:cxn ang="0">
                  <a:pos x="T12" y="T13"/>
                </a:cxn>
              </a:cxnLst>
              <a:rect l="0" t="0" r="r" b="b"/>
              <a:pathLst>
                <a:path w="33" h="675">
                  <a:moveTo>
                    <a:pt x="33" y="74"/>
                  </a:moveTo>
                  <a:cubicBezTo>
                    <a:pt x="0" y="0"/>
                    <a:pt x="0" y="0"/>
                    <a:pt x="0" y="0"/>
                  </a:cubicBezTo>
                  <a:cubicBezTo>
                    <a:pt x="15" y="77"/>
                    <a:pt x="15" y="77"/>
                    <a:pt x="15" y="77"/>
                  </a:cubicBezTo>
                  <a:cubicBezTo>
                    <a:pt x="15" y="675"/>
                    <a:pt x="15" y="675"/>
                    <a:pt x="15" y="675"/>
                  </a:cubicBezTo>
                  <a:cubicBezTo>
                    <a:pt x="15" y="675"/>
                    <a:pt x="15" y="675"/>
                    <a:pt x="15" y="675"/>
                  </a:cubicBezTo>
                  <a:cubicBezTo>
                    <a:pt x="25" y="675"/>
                    <a:pt x="33" y="667"/>
                    <a:pt x="33" y="657"/>
                  </a:cubicBezTo>
                  <a:lnTo>
                    <a:pt x="33" y="74"/>
                  </a:lnTo>
                  <a:close/>
                </a:path>
              </a:pathLst>
            </a:custGeom>
            <a:solidFill>
              <a:srgbClr val="FFCD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3" name="íṥľïḑe"/>
            <p:cNvSpPr/>
            <p:nvPr/>
          </p:nvSpPr>
          <p:spPr bwMode="auto">
            <a:xfrm>
              <a:off x="7627301" y="3502854"/>
              <a:ext cx="129438" cy="1271268"/>
            </a:xfrm>
            <a:custGeom>
              <a:avLst/>
              <a:gdLst>
                <a:gd name="T0" fmla="*/ 65 w 65"/>
                <a:gd name="T1" fmla="*/ 74 h 635"/>
                <a:gd name="T2" fmla="*/ 32 w 65"/>
                <a:gd name="T3" fmla="*/ 0 h 635"/>
                <a:gd name="T4" fmla="*/ 0 w 65"/>
                <a:gd name="T5" fmla="*/ 74 h 635"/>
                <a:gd name="T6" fmla="*/ 0 w 65"/>
                <a:gd name="T7" fmla="*/ 631 h 635"/>
                <a:gd name="T8" fmla="*/ 65 w 65"/>
                <a:gd name="T9" fmla="*/ 631 h 635"/>
                <a:gd name="T10" fmla="*/ 65 w 65"/>
                <a:gd name="T11" fmla="*/ 74 h 635"/>
              </a:gdLst>
              <a:ahLst/>
              <a:cxnLst>
                <a:cxn ang="0">
                  <a:pos x="T0" y="T1"/>
                </a:cxn>
                <a:cxn ang="0">
                  <a:pos x="T2" y="T3"/>
                </a:cxn>
                <a:cxn ang="0">
                  <a:pos x="T4" y="T5"/>
                </a:cxn>
                <a:cxn ang="0">
                  <a:pos x="T6" y="T7"/>
                </a:cxn>
                <a:cxn ang="0">
                  <a:pos x="T8" y="T9"/>
                </a:cxn>
                <a:cxn ang="0">
                  <a:pos x="T10" y="T11"/>
                </a:cxn>
              </a:cxnLst>
              <a:rect l="0" t="0" r="r" b="b"/>
              <a:pathLst>
                <a:path w="65" h="635">
                  <a:moveTo>
                    <a:pt x="65" y="74"/>
                  </a:moveTo>
                  <a:cubicBezTo>
                    <a:pt x="32" y="0"/>
                    <a:pt x="32" y="0"/>
                    <a:pt x="32" y="0"/>
                  </a:cubicBezTo>
                  <a:cubicBezTo>
                    <a:pt x="0" y="74"/>
                    <a:pt x="0" y="74"/>
                    <a:pt x="0" y="74"/>
                  </a:cubicBezTo>
                  <a:cubicBezTo>
                    <a:pt x="0" y="631"/>
                    <a:pt x="0" y="631"/>
                    <a:pt x="0" y="631"/>
                  </a:cubicBezTo>
                  <a:cubicBezTo>
                    <a:pt x="23" y="635"/>
                    <a:pt x="44" y="635"/>
                    <a:pt x="65" y="631"/>
                  </a:cubicBezTo>
                  <a:lnTo>
                    <a:pt x="65" y="74"/>
                  </a:lnTo>
                  <a:close/>
                </a:path>
              </a:pathLst>
            </a:custGeom>
            <a:solidFill>
              <a:srgbClr val="C0F7F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4" name="í$lïḑe"/>
            <p:cNvSpPr/>
            <p:nvPr/>
          </p:nvSpPr>
          <p:spPr bwMode="auto">
            <a:xfrm>
              <a:off x="7690864" y="3502854"/>
              <a:ext cx="65875" cy="1268957"/>
            </a:xfrm>
            <a:custGeom>
              <a:avLst/>
              <a:gdLst>
                <a:gd name="T0" fmla="*/ 33 w 33"/>
                <a:gd name="T1" fmla="*/ 74 h 634"/>
                <a:gd name="T2" fmla="*/ 0 w 33"/>
                <a:gd name="T3" fmla="*/ 0 h 634"/>
                <a:gd name="T4" fmla="*/ 15 w 33"/>
                <a:gd name="T5" fmla="*/ 77 h 634"/>
                <a:gd name="T6" fmla="*/ 15 w 33"/>
                <a:gd name="T7" fmla="*/ 634 h 634"/>
                <a:gd name="T8" fmla="*/ 33 w 33"/>
                <a:gd name="T9" fmla="*/ 631 h 634"/>
                <a:gd name="T10" fmla="*/ 33 w 33"/>
                <a:gd name="T11" fmla="*/ 74 h 634"/>
              </a:gdLst>
              <a:ahLst/>
              <a:cxnLst>
                <a:cxn ang="0">
                  <a:pos x="T0" y="T1"/>
                </a:cxn>
                <a:cxn ang="0">
                  <a:pos x="T2" y="T3"/>
                </a:cxn>
                <a:cxn ang="0">
                  <a:pos x="T4" y="T5"/>
                </a:cxn>
                <a:cxn ang="0">
                  <a:pos x="T6" y="T7"/>
                </a:cxn>
                <a:cxn ang="0">
                  <a:pos x="T8" y="T9"/>
                </a:cxn>
                <a:cxn ang="0">
                  <a:pos x="T10" y="T11"/>
                </a:cxn>
              </a:cxnLst>
              <a:rect l="0" t="0" r="r" b="b"/>
              <a:pathLst>
                <a:path w="33" h="634">
                  <a:moveTo>
                    <a:pt x="33" y="74"/>
                  </a:moveTo>
                  <a:cubicBezTo>
                    <a:pt x="0" y="0"/>
                    <a:pt x="0" y="0"/>
                    <a:pt x="0" y="0"/>
                  </a:cubicBezTo>
                  <a:cubicBezTo>
                    <a:pt x="15" y="77"/>
                    <a:pt x="15" y="77"/>
                    <a:pt x="15" y="77"/>
                  </a:cubicBezTo>
                  <a:cubicBezTo>
                    <a:pt x="15" y="634"/>
                    <a:pt x="15" y="634"/>
                    <a:pt x="15" y="634"/>
                  </a:cubicBezTo>
                  <a:cubicBezTo>
                    <a:pt x="26" y="634"/>
                    <a:pt x="22" y="633"/>
                    <a:pt x="33" y="631"/>
                  </a:cubicBezTo>
                  <a:lnTo>
                    <a:pt x="33" y="74"/>
                  </a:lnTo>
                  <a:close/>
                </a:path>
              </a:pathLst>
            </a:custGeom>
            <a:solidFill>
              <a:srgbClr val="A2EDF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išḻïḋè"/>
            <p:cNvSpPr/>
            <p:nvPr/>
          </p:nvSpPr>
          <p:spPr bwMode="auto">
            <a:xfrm>
              <a:off x="7627301" y="3502854"/>
              <a:ext cx="129438" cy="1229663"/>
            </a:xfrm>
            <a:custGeom>
              <a:avLst/>
              <a:gdLst>
                <a:gd name="T0" fmla="*/ 65 w 65"/>
                <a:gd name="T1" fmla="*/ 74 h 614"/>
                <a:gd name="T2" fmla="*/ 32 w 65"/>
                <a:gd name="T3" fmla="*/ 0 h 614"/>
                <a:gd name="T4" fmla="*/ 0 w 65"/>
                <a:gd name="T5" fmla="*/ 74 h 614"/>
                <a:gd name="T6" fmla="*/ 0 w 65"/>
                <a:gd name="T7" fmla="*/ 610 h 614"/>
                <a:gd name="T8" fmla="*/ 65 w 65"/>
                <a:gd name="T9" fmla="*/ 610 h 614"/>
                <a:gd name="T10" fmla="*/ 65 w 65"/>
                <a:gd name="T11" fmla="*/ 74 h 614"/>
              </a:gdLst>
              <a:ahLst/>
              <a:cxnLst>
                <a:cxn ang="0">
                  <a:pos x="T0" y="T1"/>
                </a:cxn>
                <a:cxn ang="0">
                  <a:pos x="T2" y="T3"/>
                </a:cxn>
                <a:cxn ang="0">
                  <a:pos x="T4" y="T5"/>
                </a:cxn>
                <a:cxn ang="0">
                  <a:pos x="T6" y="T7"/>
                </a:cxn>
                <a:cxn ang="0">
                  <a:pos x="T8" y="T9"/>
                </a:cxn>
                <a:cxn ang="0">
                  <a:pos x="T10" y="T11"/>
                </a:cxn>
              </a:cxnLst>
              <a:rect l="0" t="0" r="r" b="b"/>
              <a:pathLst>
                <a:path w="65" h="614">
                  <a:moveTo>
                    <a:pt x="65" y="74"/>
                  </a:moveTo>
                  <a:cubicBezTo>
                    <a:pt x="32" y="0"/>
                    <a:pt x="32" y="0"/>
                    <a:pt x="32" y="0"/>
                  </a:cubicBezTo>
                  <a:cubicBezTo>
                    <a:pt x="0" y="74"/>
                    <a:pt x="0" y="74"/>
                    <a:pt x="0" y="74"/>
                  </a:cubicBezTo>
                  <a:cubicBezTo>
                    <a:pt x="0" y="610"/>
                    <a:pt x="0" y="610"/>
                    <a:pt x="0" y="610"/>
                  </a:cubicBezTo>
                  <a:cubicBezTo>
                    <a:pt x="23" y="614"/>
                    <a:pt x="45" y="614"/>
                    <a:pt x="65" y="610"/>
                  </a:cubicBezTo>
                  <a:lnTo>
                    <a:pt x="65" y="74"/>
                  </a:lnTo>
                  <a:close/>
                </a:path>
              </a:pathLst>
            </a:custGeom>
            <a:solidFill>
              <a:srgbClr val="87BB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6" name="ïśḻíḑê"/>
            <p:cNvSpPr/>
            <p:nvPr/>
          </p:nvSpPr>
          <p:spPr bwMode="auto">
            <a:xfrm>
              <a:off x="7693175" y="3508632"/>
              <a:ext cx="63563" cy="1219262"/>
            </a:xfrm>
            <a:custGeom>
              <a:avLst/>
              <a:gdLst>
                <a:gd name="T0" fmla="*/ 32 w 32"/>
                <a:gd name="T1" fmla="*/ 74 h 609"/>
                <a:gd name="T2" fmla="*/ 0 w 32"/>
                <a:gd name="T3" fmla="*/ 0 h 609"/>
                <a:gd name="T4" fmla="*/ 16 w 32"/>
                <a:gd name="T5" fmla="*/ 74 h 609"/>
                <a:gd name="T6" fmla="*/ 16 w 32"/>
                <a:gd name="T7" fmla="*/ 607 h 609"/>
                <a:gd name="T8" fmla="*/ 32 w 32"/>
                <a:gd name="T9" fmla="*/ 607 h 609"/>
                <a:gd name="T10" fmla="*/ 32 w 32"/>
                <a:gd name="T11" fmla="*/ 74 h 609"/>
              </a:gdLst>
              <a:ahLst/>
              <a:cxnLst>
                <a:cxn ang="0">
                  <a:pos x="T0" y="T1"/>
                </a:cxn>
                <a:cxn ang="0">
                  <a:pos x="T2" y="T3"/>
                </a:cxn>
                <a:cxn ang="0">
                  <a:pos x="T4" y="T5"/>
                </a:cxn>
                <a:cxn ang="0">
                  <a:pos x="T6" y="T7"/>
                </a:cxn>
                <a:cxn ang="0">
                  <a:pos x="T8" y="T9"/>
                </a:cxn>
                <a:cxn ang="0">
                  <a:pos x="T10" y="T11"/>
                </a:cxn>
              </a:cxnLst>
              <a:rect l="0" t="0" r="r" b="b"/>
              <a:pathLst>
                <a:path w="32" h="609">
                  <a:moveTo>
                    <a:pt x="32" y="74"/>
                  </a:moveTo>
                  <a:cubicBezTo>
                    <a:pt x="0" y="0"/>
                    <a:pt x="0" y="0"/>
                    <a:pt x="0" y="0"/>
                  </a:cubicBezTo>
                  <a:cubicBezTo>
                    <a:pt x="16" y="74"/>
                    <a:pt x="16" y="74"/>
                    <a:pt x="16" y="74"/>
                  </a:cubicBezTo>
                  <a:cubicBezTo>
                    <a:pt x="16" y="607"/>
                    <a:pt x="16" y="607"/>
                    <a:pt x="16" y="607"/>
                  </a:cubicBezTo>
                  <a:cubicBezTo>
                    <a:pt x="27" y="607"/>
                    <a:pt x="21" y="609"/>
                    <a:pt x="32" y="607"/>
                  </a:cubicBezTo>
                  <a:lnTo>
                    <a:pt x="32" y="74"/>
                  </a:lnTo>
                  <a:close/>
                </a:path>
              </a:pathLst>
            </a:custGeom>
            <a:solidFill>
              <a:srgbClr val="4C8EB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7" name="î$ľîḍê"/>
            <p:cNvSpPr/>
            <p:nvPr/>
          </p:nvSpPr>
          <p:spPr bwMode="auto">
            <a:xfrm>
              <a:off x="7627301" y="3502854"/>
              <a:ext cx="129438" cy="153708"/>
            </a:xfrm>
            <a:custGeom>
              <a:avLst/>
              <a:gdLst>
                <a:gd name="T0" fmla="*/ 65 w 65"/>
                <a:gd name="T1" fmla="*/ 74 h 77"/>
                <a:gd name="T2" fmla="*/ 32 w 65"/>
                <a:gd name="T3" fmla="*/ 0 h 77"/>
                <a:gd name="T4" fmla="*/ 0 w 65"/>
                <a:gd name="T5" fmla="*/ 74 h 77"/>
                <a:gd name="T6" fmla="*/ 32 w 65"/>
                <a:gd name="T7" fmla="*/ 77 h 77"/>
                <a:gd name="T8" fmla="*/ 65 w 65"/>
                <a:gd name="T9" fmla="*/ 74 h 77"/>
              </a:gdLst>
              <a:ahLst/>
              <a:cxnLst>
                <a:cxn ang="0">
                  <a:pos x="T0" y="T1"/>
                </a:cxn>
                <a:cxn ang="0">
                  <a:pos x="T2" y="T3"/>
                </a:cxn>
                <a:cxn ang="0">
                  <a:pos x="T4" y="T5"/>
                </a:cxn>
                <a:cxn ang="0">
                  <a:pos x="T6" y="T7"/>
                </a:cxn>
                <a:cxn ang="0">
                  <a:pos x="T8" y="T9"/>
                </a:cxn>
              </a:cxnLst>
              <a:rect l="0" t="0" r="r" b="b"/>
              <a:pathLst>
                <a:path w="65" h="77">
                  <a:moveTo>
                    <a:pt x="65" y="74"/>
                  </a:moveTo>
                  <a:cubicBezTo>
                    <a:pt x="32" y="0"/>
                    <a:pt x="32" y="0"/>
                    <a:pt x="32" y="0"/>
                  </a:cubicBezTo>
                  <a:cubicBezTo>
                    <a:pt x="0" y="74"/>
                    <a:pt x="0" y="74"/>
                    <a:pt x="0" y="74"/>
                  </a:cubicBezTo>
                  <a:cubicBezTo>
                    <a:pt x="10" y="76"/>
                    <a:pt x="21" y="77"/>
                    <a:pt x="32" y="77"/>
                  </a:cubicBezTo>
                  <a:cubicBezTo>
                    <a:pt x="44" y="77"/>
                    <a:pt x="55" y="76"/>
                    <a:pt x="65"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8" name="iṥļiḑè"/>
            <p:cNvSpPr/>
            <p:nvPr/>
          </p:nvSpPr>
          <p:spPr bwMode="auto">
            <a:xfrm>
              <a:off x="7690864" y="3502854"/>
              <a:ext cx="65875" cy="153708"/>
            </a:xfrm>
            <a:custGeom>
              <a:avLst/>
              <a:gdLst>
                <a:gd name="T0" fmla="*/ 33 w 33"/>
                <a:gd name="T1" fmla="*/ 74 h 77"/>
                <a:gd name="T2" fmla="*/ 0 w 33"/>
                <a:gd name="T3" fmla="*/ 0 h 77"/>
                <a:gd name="T4" fmla="*/ 17 w 33"/>
                <a:gd name="T5" fmla="*/ 77 h 77"/>
                <a:gd name="T6" fmla="*/ 33 w 33"/>
                <a:gd name="T7" fmla="*/ 74 h 77"/>
              </a:gdLst>
              <a:ahLst/>
              <a:cxnLst>
                <a:cxn ang="0">
                  <a:pos x="T0" y="T1"/>
                </a:cxn>
                <a:cxn ang="0">
                  <a:pos x="T2" y="T3"/>
                </a:cxn>
                <a:cxn ang="0">
                  <a:pos x="T4" y="T5"/>
                </a:cxn>
                <a:cxn ang="0">
                  <a:pos x="T6" y="T7"/>
                </a:cxn>
              </a:cxnLst>
              <a:rect l="0" t="0" r="r" b="b"/>
              <a:pathLst>
                <a:path w="33" h="77">
                  <a:moveTo>
                    <a:pt x="33" y="74"/>
                  </a:moveTo>
                  <a:cubicBezTo>
                    <a:pt x="0" y="0"/>
                    <a:pt x="0" y="0"/>
                    <a:pt x="0" y="0"/>
                  </a:cubicBezTo>
                  <a:cubicBezTo>
                    <a:pt x="17" y="77"/>
                    <a:pt x="17" y="77"/>
                    <a:pt x="17" y="77"/>
                  </a:cubicBezTo>
                  <a:cubicBezTo>
                    <a:pt x="28" y="77"/>
                    <a:pt x="23" y="76"/>
                    <a:pt x="33" y="74"/>
                  </a:cubicBez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9" name="íšḻïdè"/>
            <p:cNvSpPr/>
            <p:nvPr/>
          </p:nvSpPr>
          <p:spPr bwMode="auto">
            <a:xfrm>
              <a:off x="7671217" y="3502854"/>
              <a:ext cx="41605" cy="52006"/>
            </a:xfrm>
            <a:custGeom>
              <a:avLst/>
              <a:gdLst>
                <a:gd name="T0" fmla="*/ 21 w 21"/>
                <a:gd name="T1" fmla="*/ 25 h 26"/>
                <a:gd name="T2" fmla="*/ 10 w 21"/>
                <a:gd name="T3" fmla="*/ 0 h 26"/>
                <a:gd name="T4" fmla="*/ 0 w 21"/>
                <a:gd name="T5" fmla="*/ 25 h 26"/>
                <a:gd name="T6" fmla="*/ 10 w 21"/>
                <a:gd name="T7" fmla="*/ 26 h 26"/>
                <a:gd name="T8" fmla="*/ 21 w 21"/>
                <a:gd name="T9" fmla="*/ 25 h 26"/>
              </a:gdLst>
              <a:ahLst/>
              <a:cxnLst>
                <a:cxn ang="0">
                  <a:pos x="T0" y="T1"/>
                </a:cxn>
                <a:cxn ang="0">
                  <a:pos x="T2" y="T3"/>
                </a:cxn>
                <a:cxn ang="0">
                  <a:pos x="T4" y="T5"/>
                </a:cxn>
                <a:cxn ang="0">
                  <a:pos x="T6" y="T7"/>
                </a:cxn>
                <a:cxn ang="0">
                  <a:pos x="T8" y="T9"/>
                </a:cxn>
              </a:cxnLst>
              <a:rect l="0" t="0" r="r" b="b"/>
              <a:pathLst>
                <a:path w="21" h="26">
                  <a:moveTo>
                    <a:pt x="21" y="25"/>
                  </a:moveTo>
                  <a:cubicBezTo>
                    <a:pt x="10" y="0"/>
                    <a:pt x="10" y="0"/>
                    <a:pt x="10" y="0"/>
                  </a:cubicBezTo>
                  <a:cubicBezTo>
                    <a:pt x="0" y="25"/>
                    <a:pt x="0" y="25"/>
                    <a:pt x="0" y="25"/>
                  </a:cubicBezTo>
                  <a:cubicBezTo>
                    <a:pt x="3" y="26"/>
                    <a:pt x="7" y="26"/>
                    <a:pt x="10" y="26"/>
                  </a:cubicBezTo>
                  <a:cubicBezTo>
                    <a:pt x="14" y="26"/>
                    <a:pt x="18" y="26"/>
                    <a:pt x="21" y="25"/>
                  </a:cubicBez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0" name="íśľïḑé"/>
            <p:cNvSpPr/>
            <p:nvPr/>
          </p:nvSpPr>
          <p:spPr bwMode="auto">
            <a:xfrm>
              <a:off x="3619338" y="2062853"/>
              <a:ext cx="543178" cy="542023"/>
            </a:xfrm>
            <a:custGeom>
              <a:avLst/>
              <a:gdLst>
                <a:gd name="T0" fmla="*/ 239 w 271"/>
                <a:gd name="T1" fmla="*/ 189 h 271"/>
                <a:gd name="T2" fmla="*/ 254 w 271"/>
                <a:gd name="T3" fmla="*/ 202 h 271"/>
                <a:gd name="T4" fmla="*/ 222 w 271"/>
                <a:gd name="T5" fmla="*/ 241 h 271"/>
                <a:gd name="T6" fmla="*/ 207 w 271"/>
                <a:gd name="T7" fmla="*/ 228 h 271"/>
                <a:gd name="T8" fmla="*/ 171 w 271"/>
                <a:gd name="T9" fmla="*/ 246 h 271"/>
                <a:gd name="T10" fmla="*/ 172 w 271"/>
                <a:gd name="T11" fmla="*/ 266 h 271"/>
                <a:gd name="T12" fmla="*/ 136 w 271"/>
                <a:gd name="T13" fmla="*/ 270 h 271"/>
                <a:gd name="T14" fmla="*/ 136 w 271"/>
                <a:gd name="T15" fmla="*/ 213 h 271"/>
                <a:gd name="T16" fmla="*/ 195 w 271"/>
                <a:gd name="T17" fmla="*/ 186 h 271"/>
                <a:gd name="T18" fmla="*/ 186 w 271"/>
                <a:gd name="T19" fmla="*/ 76 h 271"/>
                <a:gd name="T20" fmla="*/ 186 w 271"/>
                <a:gd name="T21" fmla="*/ 76 h 271"/>
                <a:gd name="T22" fmla="*/ 158 w 271"/>
                <a:gd name="T23" fmla="*/ 61 h 271"/>
                <a:gd name="T24" fmla="*/ 136 w 271"/>
                <a:gd name="T25" fmla="*/ 57 h 271"/>
                <a:gd name="T26" fmla="*/ 136 w 271"/>
                <a:gd name="T27" fmla="*/ 1 h 271"/>
                <a:gd name="T28" fmla="*/ 149 w 271"/>
                <a:gd name="T29" fmla="*/ 0 h 271"/>
                <a:gd name="T30" fmla="*/ 151 w 271"/>
                <a:gd name="T31" fmla="*/ 20 h 271"/>
                <a:gd name="T32" fmla="*/ 190 w 271"/>
                <a:gd name="T33" fmla="*/ 32 h 271"/>
                <a:gd name="T34" fmla="*/ 203 w 271"/>
                <a:gd name="T35" fmla="*/ 17 h 271"/>
                <a:gd name="T36" fmla="*/ 241 w 271"/>
                <a:gd name="T37" fmla="*/ 49 h 271"/>
                <a:gd name="T38" fmla="*/ 228 w 271"/>
                <a:gd name="T39" fmla="*/ 64 h 271"/>
                <a:gd name="T40" fmla="*/ 247 w 271"/>
                <a:gd name="T41" fmla="*/ 101 h 271"/>
                <a:gd name="T42" fmla="*/ 267 w 271"/>
                <a:gd name="T43" fmla="*/ 99 h 271"/>
                <a:gd name="T44" fmla="*/ 271 w 271"/>
                <a:gd name="T45" fmla="*/ 149 h 271"/>
                <a:gd name="T46" fmla="*/ 251 w 271"/>
                <a:gd name="T47" fmla="*/ 150 h 271"/>
                <a:gd name="T48" fmla="*/ 239 w 271"/>
                <a:gd name="T49" fmla="*/ 189 h 271"/>
                <a:gd name="T50" fmla="*/ 136 w 271"/>
                <a:gd name="T51" fmla="*/ 270 h 271"/>
                <a:gd name="T52" fmla="*/ 123 w 271"/>
                <a:gd name="T53" fmla="*/ 271 h 271"/>
                <a:gd name="T54" fmla="*/ 121 w 271"/>
                <a:gd name="T55" fmla="*/ 251 h 271"/>
                <a:gd name="T56" fmla="*/ 82 w 271"/>
                <a:gd name="T57" fmla="*/ 238 h 271"/>
                <a:gd name="T58" fmla="*/ 69 w 271"/>
                <a:gd name="T59" fmla="*/ 254 h 271"/>
                <a:gd name="T60" fmla="*/ 31 w 271"/>
                <a:gd name="T61" fmla="*/ 222 h 271"/>
                <a:gd name="T62" fmla="*/ 44 w 271"/>
                <a:gd name="T63" fmla="*/ 206 h 271"/>
                <a:gd name="T64" fmla="*/ 25 w 271"/>
                <a:gd name="T65" fmla="*/ 170 h 271"/>
                <a:gd name="T66" fmla="*/ 5 w 271"/>
                <a:gd name="T67" fmla="*/ 172 h 271"/>
                <a:gd name="T68" fmla="*/ 0 w 271"/>
                <a:gd name="T69" fmla="*/ 122 h 271"/>
                <a:gd name="T70" fmla="*/ 20 w 271"/>
                <a:gd name="T71" fmla="*/ 120 h 271"/>
                <a:gd name="T72" fmla="*/ 33 w 271"/>
                <a:gd name="T73" fmla="*/ 82 h 271"/>
                <a:gd name="T74" fmla="*/ 17 w 271"/>
                <a:gd name="T75" fmla="*/ 69 h 271"/>
                <a:gd name="T76" fmla="*/ 49 w 271"/>
                <a:gd name="T77" fmla="*/ 30 h 271"/>
                <a:gd name="T78" fmla="*/ 65 w 271"/>
                <a:gd name="T79" fmla="*/ 43 h 271"/>
                <a:gd name="T80" fmla="*/ 101 w 271"/>
                <a:gd name="T81" fmla="*/ 24 h 271"/>
                <a:gd name="T82" fmla="*/ 99 w 271"/>
                <a:gd name="T83" fmla="*/ 4 h 271"/>
                <a:gd name="T84" fmla="*/ 136 w 271"/>
                <a:gd name="T85" fmla="*/ 1 h 271"/>
                <a:gd name="T86" fmla="*/ 136 w 271"/>
                <a:gd name="T87" fmla="*/ 57 h 271"/>
                <a:gd name="T88" fmla="*/ 76 w 271"/>
                <a:gd name="T89" fmla="*/ 85 h 271"/>
                <a:gd name="T90" fmla="*/ 86 w 271"/>
                <a:gd name="T91" fmla="*/ 195 h 271"/>
                <a:gd name="T92" fmla="*/ 113 w 271"/>
                <a:gd name="T93" fmla="*/ 210 h 271"/>
                <a:gd name="T94" fmla="*/ 136 w 271"/>
                <a:gd name="T95" fmla="*/ 213 h 271"/>
                <a:gd name="T96" fmla="*/ 136 w 271"/>
                <a:gd name="T97" fmla="*/ 27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1" h="271">
                  <a:moveTo>
                    <a:pt x="239" y="189"/>
                  </a:moveTo>
                  <a:cubicBezTo>
                    <a:pt x="254" y="202"/>
                    <a:pt x="254" y="202"/>
                    <a:pt x="254" y="202"/>
                  </a:cubicBezTo>
                  <a:cubicBezTo>
                    <a:pt x="222" y="241"/>
                    <a:pt x="222" y="241"/>
                    <a:pt x="222" y="241"/>
                  </a:cubicBezTo>
                  <a:cubicBezTo>
                    <a:pt x="207" y="228"/>
                    <a:pt x="207" y="228"/>
                    <a:pt x="207" y="228"/>
                  </a:cubicBezTo>
                  <a:cubicBezTo>
                    <a:pt x="196" y="236"/>
                    <a:pt x="184" y="242"/>
                    <a:pt x="171" y="246"/>
                  </a:cubicBezTo>
                  <a:cubicBezTo>
                    <a:pt x="172" y="266"/>
                    <a:pt x="172" y="266"/>
                    <a:pt x="172" y="266"/>
                  </a:cubicBezTo>
                  <a:cubicBezTo>
                    <a:pt x="136" y="270"/>
                    <a:pt x="136" y="270"/>
                    <a:pt x="136" y="270"/>
                  </a:cubicBezTo>
                  <a:cubicBezTo>
                    <a:pt x="136" y="213"/>
                    <a:pt x="136" y="213"/>
                    <a:pt x="136" y="213"/>
                  </a:cubicBezTo>
                  <a:cubicBezTo>
                    <a:pt x="158" y="213"/>
                    <a:pt x="180" y="204"/>
                    <a:pt x="195" y="186"/>
                  </a:cubicBezTo>
                  <a:cubicBezTo>
                    <a:pt x="223" y="153"/>
                    <a:pt x="219" y="103"/>
                    <a:pt x="186" y="76"/>
                  </a:cubicBezTo>
                  <a:cubicBezTo>
                    <a:pt x="186" y="76"/>
                    <a:pt x="186" y="76"/>
                    <a:pt x="186" y="76"/>
                  </a:cubicBezTo>
                  <a:cubicBezTo>
                    <a:pt x="178" y="69"/>
                    <a:pt x="169" y="64"/>
                    <a:pt x="158" y="61"/>
                  </a:cubicBezTo>
                  <a:cubicBezTo>
                    <a:pt x="151" y="59"/>
                    <a:pt x="143" y="57"/>
                    <a:pt x="136" y="57"/>
                  </a:cubicBezTo>
                  <a:cubicBezTo>
                    <a:pt x="136" y="1"/>
                    <a:pt x="136" y="1"/>
                    <a:pt x="136" y="1"/>
                  </a:cubicBezTo>
                  <a:cubicBezTo>
                    <a:pt x="149" y="0"/>
                    <a:pt x="149" y="0"/>
                    <a:pt x="149" y="0"/>
                  </a:cubicBezTo>
                  <a:cubicBezTo>
                    <a:pt x="151" y="20"/>
                    <a:pt x="151" y="20"/>
                    <a:pt x="151" y="20"/>
                  </a:cubicBezTo>
                  <a:cubicBezTo>
                    <a:pt x="164" y="22"/>
                    <a:pt x="178" y="26"/>
                    <a:pt x="190" y="32"/>
                  </a:cubicBezTo>
                  <a:cubicBezTo>
                    <a:pt x="203" y="17"/>
                    <a:pt x="203" y="17"/>
                    <a:pt x="203" y="17"/>
                  </a:cubicBezTo>
                  <a:cubicBezTo>
                    <a:pt x="241" y="49"/>
                    <a:pt x="241" y="49"/>
                    <a:pt x="241" y="49"/>
                  </a:cubicBezTo>
                  <a:cubicBezTo>
                    <a:pt x="228" y="64"/>
                    <a:pt x="228" y="64"/>
                    <a:pt x="228" y="64"/>
                  </a:cubicBezTo>
                  <a:cubicBezTo>
                    <a:pt x="236" y="75"/>
                    <a:pt x="243" y="88"/>
                    <a:pt x="247" y="101"/>
                  </a:cubicBezTo>
                  <a:cubicBezTo>
                    <a:pt x="267" y="99"/>
                    <a:pt x="267" y="99"/>
                    <a:pt x="267" y="99"/>
                  </a:cubicBezTo>
                  <a:cubicBezTo>
                    <a:pt x="271" y="149"/>
                    <a:pt x="271" y="149"/>
                    <a:pt x="271" y="149"/>
                  </a:cubicBezTo>
                  <a:cubicBezTo>
                    <a:pt x="251" y="150"/>
                    <a:pt x="251" y="150"/>
                    <a:pt x="251" y="150"/>
                  </a:cubicBezTo>
                  <a:cubicBezTo>
                    <a:pt x="249" y="164"/>
                    <a:pt x="245" y="177"/>
                    <a:pt x="239" y="189"/>
                  </a:cubicBezTo>
                  <a:close/>
                  <a:moveTo>
                    <a:pt x="136" y="270"/>
                  </a:moveTo>
                  <a:cubicBezTo>
                    <a:pt x="123" y="271"/>
                    <a:pt x="123" y="271"/>
                    <a:pt x="123" y="271"/>
                  </a:cubicBezTo>
                  <a:cubicBezTo>
                    <a:pt x="121" y="251"/>
                    <a:pt x="121" y="251"/>
                    <a:pt x="121" y="251"/>
                  </a:cubicBezTo>
                  <a:cubicBezTo>
                    <a:pt x="107" y="249"/>
                    <a:pt x="94" y="245"/>
                    <a:pt x="82" y="238"/>
                  </a:cubicBezTo>
                  <a:cubicBezTo>
                    <a:pt x="69" y="254"/>
                    <a:pt x="69" y="254"/>
                    <a:pt x="69" y="254"/>
                  </a:cubicBezTo>
                  <a:cubicBezTo>
                    <a:pt x="31" y="222"/>
                    <a:pt x="31" y="222"/>
                    <a:pt x="31" y="222"/>
                  </a:cubicBezTo>
                  <a:cubicBezTo>
                    <a:pt x="44" y="206"/>
                    <a:pt x="44" y="206"/>
                    <a:pt x="44" y="206"/>
                  </a:cubicBezTo>
                  <a:cubicBezTo>
                    <a:pt x="35" y="195"/>
                    <a:pt x="29" y="183"/>
                    <a:pt x="25" y="170"/>
                  </a:cubicBezTo>
                  <a:cubicBezTo>
                    <a:pt x="5" y="172"/>
                    <a:pt x="5" y="172"/>
                    <a:pt x="5" y="172"/>
                  </a:cubicBezTo>
                  <a:cubicBezTo>
                    <a:pt x="0" y="122"/>
                    <a:pt x="0" y="122"/>
                    <a:pt x="0" y="122"/>
                  </a:cubicBezTo>
                  <a:cubicBezTo>
                    <a:pt x="20" y="120"/>
                    <a:pt x="20" y="120"/>
                    <a:pt x="20" y="120"/>
                  </a:cubicBezTo>
                  <a:cubicBezTo>
                    <a:pt x="22" y="107"/>
                    <a:pt x="26" y="94"/>
                    <a:pt x="33" y="82"/>
                  </a:cubicBezTo>
                  <a:cubicBezTo>
                    <a:pt x="17" y="69"/>
                    <a:pt x="17" y="69"/>
                    <a:pt x="17" y="69"/>
                  </a:cubicBezTo>
                  <a:cubicBezTo>
                    <a:pt x="49" y="30"/>
                    <a:pt x="49" y="30"/>
                    <a:pt x="49" y="30"/>
                  </a:cubicBezTo>
                  <a:cubicBezTo>
                    <a:pt x="65" y="43"/>
                    <a:pt x="65" y="43"/>
                    <a:pt x="65" y="43"/>
                  </a:cubicBezTo>
                  <a:cubicBezTo>
                    <a:pt x="76" y="35"/>
                    <a:pt x="88" y="29"/>
                    <a:pt x="101" y="24"/>
                  </a:cubicBezTo>
                  <a:cubicBezTo>
                    <a:pt x="99" y="4"/>
                    <a:pt x="99" y="4"/>
                    <a:pt x="99" y="4"/>
                  </a:cubicBezTo>
                  <a:cubicBezTo>
                    <a:pt x="136" y="1"/>
                    <a:pt x="136" y="1"/>
                    <a:pt x="136" y="1"/>
                  </a:cubicBezTo>
                  <a:cubicBezTo>
                    <a:pt x="136" y="57"/>
                    <a:pt x="136" y="57"/>
                    <a:pt x="136" y="57"/>
                  </a:cubicBezTo>
                  <a:cubicBezTo>
                    <a:pt x="113" y="57"/>
                    <a:pt x="91" y="67"/>
                    <a:pt x="76" y="85"/>
                  </a:cubicBezTo>
                  <a:cubicBezTo>
                    <a:pt x="48" y="118"/>
                    <a:pt x="53" y="168"/>
                    <a:pt x="86" y="195"/>
                  </a:cubicBezTo>
                  <a:cubicBezTo>
                    <a:pt x="94" y="202"/>
                    <a:pt x="103" y="207"/>
                    <a:pt x="113" y="210"/>
                  </a:cubicBezTo>
                  <a:cubicBezTo>
                    <a:pt x="121" y="212"/>
                    <a:pt x="128" y="213"/>
                    <a:pt x="136" y="213"/>
                  </a:cubicBezTo>
                  <a:lnTo>
                    <a:pt x="136" y="27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1" name="ïṡlîḑê"/>
            <p:cNvSpPr/>
            <p:nvPr/>
          </p:nvSpPr>
          <p:spPr bwMode="auto">
            <a:xfrm>
              <a:off x="7726691" y="1159097"/>
              <a:ext cx="538556" cy="374446"/>
            </a:xfrm>
            <a:custGeom>
              <a:avLst/>
              <a:gdLst>
                <a:gd name="T0" fmla="*/ 213 w 269"/>
                <a:gd name="T1" fmla="*/ 68 h 187"/>
                <a:gd name="T2" fmla="*/ 269 w 269"/>
                <a:gd name="T3" fmla="*/ 127 h 187"/>
                <a:gd name="T4" fmla="*/ 269 w 269"/>
                <a:gd name="T5" fmla="*/ 127 h 187"/>
                <a:gd name="T6" fmla="*/ 211 w 269"/>
                <a:gd name="T7" fmla="*/ 187 h 187"/>
                <a:gd name="T8" fmla="*/ 63 w 269"/>
                <a:gd name="T9" fmla="*/ 187 h 187"/>
                <a:gd name="T10" fmla="*/ 0 w 269"/>
                <a:gd name="T11" fmla="*/ 127 h 187"/>
                <a:gd name="T12" fmla="*/ 0 w 269"/>
                <a:gd name="T13" fmla="*/ 127 h 187"/>
                <a:gd name="T14" fmla="*/ 55 w 269"/>
                <a:gd name="T15" fmla="*/ 68 h 187"/>
                <a:gd name="T16" fmla="*/ 55 w 269"/>
                <a:gd name="T17" fmla="*/ 66 h 187"/>
                <a:gd name="T18" fmla="*/ 134 w 269"/>
                <a:gd name="T19" fmla="*/ 0 h 187"/>
                <a:gd name="T20" fmla="*/ 213 w 269"/>
                <a:gd name="T21" fmla="*/ 66 h 187"/>
                <a:gd name="T22" fmla="*/ 213 w 269"/>
                <a:gd name="T23" fmla="*/ 6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9" h="187">
                  <a:moveTo>
                    <a:pt x="213" y="68"/>
                  </a:moveTo>
                  <a:cubicBezTo>
                    <a:pt x="245" y="75"/>
                    <a:pt x="269" y="99"/>
                    <a:pt x="269" y="127"/>
                  </a:cubicBezTo>
                  <a:cubicBezTo>
                    <a:pt x="269" y="127"/>
                    <a:pt x="269" y="127"/>
                    <a:pt x="269" y="127"/>
                  </a:cubicBezTo>
                  <a:cubicBezTo>
                    <a:pt x="269" y="157"/>
                    <a:pt x="244" y="187"/>
                    <a:pt x="211" y="187"/>
                  </a:cubicBezTo>
                  <a:cubicBezTo>
                    <a:pt x="63" y="187"/>
                    <a:pt x="63" y="187"/>
                    <a:pt x="63" y="187"/>
                  </a:cubicBezTo>
                  <a:cubicBezTo>
                    <a:pt x="27" y="187"/>
                    <a:pt x="0" y="158"/>
                    <a:pt x="0" y="127"/>
                  </a:cubicBezTo>
                  <a:cubicBezTo>
                    <a:pt x="0" y="127"/>
                    <a:pt x="0" y="127"/>
                    <a:pt x="0" y="127"/>
                  </a:cubicBezTo>
                  <a:cubicBezTo>
                    <a:pt x="0" y="99"/>
                    <a:pt x="23" y="75"/>
                    <a:pt x="55" y="68"/>
                  </a:cubicBezTo>
                  <a:cubicBezTo>
                    <a:pt x="55" y="68"/>
                    <a:pt x="55" y="67"/>
                    <a:pt x="55" y="66"/>
                  </a:cubicBezTo>
                  <a:cubicBezTo>
                    <a:pt x="55" y="30"/>
                    <a:pt x="91" y="0"/>
                    <a:pt x="134" y="0"/>
                  </a:cubicBezTo>
                  <a:cubicBezTo>
                    <a:pt x="178" y="0"/>
                    <a:pt x="213" y="30"/>
                    <a:pt x="213" y="66"/>
                  </a:cubicBezTo>
                  <a:cubicBezTo>
                    <a:pt x="213" y="67"/>
                    <a:pt x="213" y="68"/>
                    <a:pt x="213" y="68"/>
                  </a:cubicBezTo>
                  <a:close/>
                </a:path>
              </a:pathLst>
            </a:custGeom>
            <a:solidFill>
              <a:srgbClr val="FFBBA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2" name="íšḻíḍè"/>
            <p:cNvSpPr/>
            <p:nvPr/>
          </p:nvSpPr>
          <p:spPr bwMode="auto">
            <a:xfrm>
              <a:off x="7619211" y="1151007"/>
              <a:ext cx="376758" cy="262344"/>
            </a:xfrm>
            <a:custGeom>
              <a:avLst/>
              <a:gdLst>
                <a:gd name="T0" fmla="*/ 149 w 188"/>
                <a:gd name="T1" fmla="*/ 48 h 131"/>
                <a:gd name="T2" fmla="*/ 188 w 188"/>
                <a:gd name="T3" fmla="*/ 89 h 131"/>
                <a:gd name="T4" fmla="*/ 188 w 188"/>
                <a:gd name="T5" fmla="*/ 89 h 131"/>
                <a:gd name="T6" fmla="*/ 147 w 188"/>
                <a:gd name="T7" fmla="*/ 131 h 131"/>
                <a:gd name="T8" fmla="*/ 44 w 188"/>
                <a:gd name="T9" fmla="*/ 131 h 131"/>
                <a:gd name="T10" fmla="*/ 0 w 188"/>
                <a:gd name="T11" fmla="*/ 89 h 131"/>
                <a:gd name="T12" fmla="*/ 0 w 188"/>
                <a:gd name="T13" fmla="*/ 89 h 131"/>
                <a:gd name="T14" fmla="*/ 39 w 188"/>
                <a:gd name="T15" fmla="*/ 48 h 131"/>
                <a:gd name="T16" fmla="*/ 39 w 188"/>
                <a:gd name="T17" fmla="*/ 47 h 131"/>
                <a:gd name="T18" fmla="*/ 94 w 188"/>
                <a:gd name="T19" fmla="*/ 0 h 131"/>
                <a:gd name="T20" fmla="*/ 149 w 188"/>
                <a:gd name="T21" fmla="*/ 47 h 131"/>
                <a:gd name="T22" fmla="*/ 149 w 188"/>
                <a:gd name="T23" fmla="*/ 4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 h="131">
                  <a:moveTo>
                    <a:pt x="149" y="48"/>
                  </a:moveTo>
                  <a:cubicBezTo>
                    <a:pt x="172" y="53"/>
                    <a:pt x="188" y="69"/>
                    <a:pt x="188" y="89"/>
                  </a:cubicBezTo>
                  <a:cubicBezTo>
                    <a:pt x="188" y="89"/>
                    <a:pt x="188" y="89"/>
                    <a:pt x="188" y="89"/>
                  </a:cubicBezTo>
                  <a:cubicBezTo>
                    <a:pt x="188" y="110"/>
                    <a:pt x="171" y="131"/>
                    <a:pt x="147" y="131"/>
                  </a:cubicBezTo>
                  <a:cubicBezTo>
                    <a:pt x="44" y="131"/>
                    <a:pt x="44" y="131"/>
                    <a:pt x="44" y="131"/>
                  </a:cubicBezTo>
                  <a:cubicBezTo>
                    <a:pt x="19" y="131"/>
                    <a:pt x="0" y="111"/>
                    <a:pt x="0" y="89"/>
                  </a:cubicBezTo>
                  <a:cubicBezTo>
                    <a:pt x="0" y="89"/>
                    <a:pt x="0" y="89"/>
                    <a:pt x="0" y="89"/>
                  </a:cubicBezTo>
                  <a:cubicBezTo>
                    <a:pt x="0" y="69"/>
                    <a:pt x="17" y="53"/>
                    <a:pt x="39" y="48"/>
                  </a:cubicBezTo>
                  <a:cubicBezTo>
                    <a:pt x="39" y="48"/>
                    <a:pt x="39" y="47"/>
                    <a:pt x="39" y="47"/>
                  </a:cubicBezTo>
                  <a:cubicBezTo>
                    <a:pt x="39" y="21"/>
                    <a:pt x="64" y="0"/>
                    <a:pt x="94" y="0"/>
                  </a:cubicBezTo>
                  <a:cubicBezTo>
                    <a:pt x="125" y="0"/>
                    <a:pt x="149" y="21"/>
                    <a:pt x="149" y="47"/>
                  </a:cubicBezTo>
                  <a:cubicBezTo>
                    <a:pt x="149" y="47"/>
                    <a:pt x="149" y="48"/>
                    <a:pt x="149" y="4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îṣḷíḓe"/>
            <p:cNvSpPr/>
            <p:nvPr/>
          </p:nvSpPr>
          <p:spPr bwMode="auto">
            <a:xfrm>
              <a:off x="4913720" y="1954218"/>
              <a:ext cx="2024784" cy="2830306"/>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4" name="îSlîḑè"/>
            <p:cNvSpPr/>
            <p:nvPr/>
          </p:nvSpPr>
          <p:spPr bwMode="auto">
            <a:xfrm>
              <a:off x="5061650" y="2118327"/>
              <a:ext cx="970787" cy="35827"/>
            </a:xfrm>
            <a:prstGeom prst="rect">
              <a:avLst/>
            </a:prstGeom>
            <a:solidFill>
              <a:srgbClr val="F2675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5" name="íSlîďè"/>
            <p:cNvSpPr/>
            <p:nvPr/>
          </p:nvSpPr>
          <p:spPr bwMode="auto">
            <a:xfrm>
              <a:off x="5061650" y="2208471"/>
              <a:ext cx="310883"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6" name="îṥļïďe"/>
            <p:cNvSpPr/>
            <p:nvPr/>
          </p:nvSpPr>
          <p:spPr bwMode="auto">
            <a:xfrm>
              <a:off x="5061650" y="2300927"/>
              <a:ext cx="5027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7" name="îŝḻïḑé"/>
            <p:cNvSpPr/>
            <p:nvPr/>
          </p:nvSpPr>
          <p:spPr bwMode="auto">
            <a:xfrm>
              <a:off x="5296257" y="2391072"/>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8" name="íšļîḋè"/>
            <p:cNvSpPr/>
            <p:nvPr/>
          </p:nvSpPr>
          <p:spPr bwMode="auto">
            <a:xfrm>
              <a:off x="5296257" y="2483527"/>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9" name="î$ļíḍé"/>
            <p:cNvSpPr/>
            <p:nvPr/>
          </p:nvSpPr>
          <p:spPr bwMode="auto">
            <a:xfrm>
              <a:off x="5498504" y="2573672"/>
              <a:ext cx="286613"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0" name="íśḷïḋè"/>
            <p:cNvSpPr/>
            <p:nvPr/>
          </p:nvSpPr>
          <p:spPr bwMode="auto">
            <a:xfrm>
              <a:off x="5477701" y="2208471"/>
              <a:ext cx="53162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1" name="îşḻîďê"/>
            <p:cNvSpPr/>
            <p:nvPr/>
          </p:nvSpPr>
          <p:spPr bwMode="auto">
            <a:xfrm>
              <a:off x="6084443" y="2208471"/>
              <a:ext cx="25540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2" name="ïṧḷîḑe"/>
            <p:cNvSpPr/>
            <p:nvPr/>
          </p:nvSpPr>
          <p:spPr bwMode="auto">
            <a:xfrm>
              <a:off x="6435775" y="2208471"/>
              <a:ext cx="342087"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3" name="iŝľîdé"/>
            <p:cNvSpPr/>
            <p:nvPr/>
          </p:nvSpPr>
          <p:spPr bwMode="auto">
            <a:xfrm>
              <a:off x="5648745" y="2300927"/>
              <a:ext cx="298170"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4" name="ïŝḷïḓê"/>
            <p:cNvSpPr/>
            <p:nvPr/>
          </p:nvSpPr>
          <p:spPr bwMode="auto">
            <a:xfrm>
              <a:off x="5678793" y="2391072"/>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5" name="îśliḍé"/>
            <p:cNvSpPr/>
            <p:nvPr/>
          </p:nvSpPr>
          <p:spPr bwMode="auto">
            <a:xfrm>
              <a:off x="5678793" y="2483527"/>
              <a:ext cx="292392"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6" name="íŝļíḍé"/>
            <p:cNvSpPr/>
            <p:nvPr/>
          </p:nvSpPr>
          <p:spPr bwMode="auto">
            <a:xfrm>
              <a:off x="5930735" y="2391072"/>
              <a:ext cx="32475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7" name="ïŝ1ïḓé"/>
            <p:cNvSpPr/>
            <p:nvPr/>
          </p:nvSpPr>
          <p:spPr bwMode="auto">
            <a:xfrm>
              <a:off x="6321361" y="2391072"/>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8" name="îsļîḋé"/>
            <p:cNvSpPr/>
            <p:nvPr/>
          </p:nvSpPr>
          <p:spPr bwMode="auto">
            <a:xfrm>
              <a:off x="6565214" y="2391072"/>
              <a:ext cx="21264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9" name="iŝlidé"/>
            <p:cNvSpPr/>
            <p:nvPr/>
          </p:nvSpPr>
          <p:spPr bwMode="auto">
            <a:xfrm>
              <a:off x="6037059" y="2483527"/>
              <a:ext cx="368668"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0" name="ïŝ1iďé"/>
            <p:cNvSpPr/>
            <p:nvPr/>
          </p:nvSpPr>
          <p:spPr bwMode="auto">
            <a:xfrm>
              <a:off x="6461201" y="2483527"/>
              <a:ext cx="110947"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1" name="îṧľiḋê"/>
            <p:cNvSpPr/>
            <p:nvPr/>
          </p:nvSpPr>
          <p:spPr bwMode="auto">
            <a:xfrm>
              <a:off x="5864860" y="2573672"/>
              <a:ext cx="21264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2" name="îṣľïďè"/>
            <p:cNvSpPr/>
            <p:nvPr/>
          </p:nvSpPr>
          <p:spPr bwMode="auto">
            <a:xfrm>
              <a:off x="5296257" y="2755117"/>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3" name="îSḻidé"/>
            <p:cNvSpPr/>
            <p:nvPr/>
          </p:nvSpPr>
          <p:spPr bwMode="auto">
            <a:xfrm>
              <a:off x="5296257" y="2847573"/>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4" name="í$ḻîďé"/>
            <p:cNvSpPr/>
            <p:nvPr/>
          </p:nvSpPr>
          <p:spPr bwMode="auto">
            <a:xfrm>
              <a:off x="5678793" y="2755117"/>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5" name="ísļiḓé"/>
            <p:cNvSpPr/>
            <p:nvPr/>
          </p:nvSpPr>
          <p:spPr bwMode="auto">
            <a:xfrm>
              <a:off x="5678793" y="2847573"/>
              <a:ext cx="262344"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6" name="íṣḷíḋe"/>
            <p:cNvSpPr/>
            <p:nvPr/>
          </p:nvSpPr>
          <p:spPr bwMode="auto">
            <a:xfrm>
              <a:off x="5930735" y="2755117"/>
              <a:ext cx="250787"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7" name="iṩḷîdé"/>
            <p:cNvSpPr/>
            <p:nvPr/>
          </p:nvSpPr>
          <p:spPr bwMode="auto">
            <a:xfrm>
              <a:off x="6231217" y="2755117"/>
              <a:ext cx="131750"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8" name="iśḻïḑe"/>
            <p:cNvSpPr/>
            <p:nvPr/>
          </p:nvSpPr>
          <p:spPr bwMode="auto">
            <a:xfrm>
              <a:off x="6419596" y="2755117"/>
              <a:ext cx="16179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9" name="îṥļíďé"/>
            <p:cNvSpPr/>
            <p:nvPr/>
          </p:nvSpPr>
          <p:spPr bwMode="auto">
            <a:xfrm>
              <a:off x="6198857" y="2847573"/>
              <a:ext cx="292392"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0" name="îšḻîďe"/>
            <p:cNvSpPr/>
            <p:nvPr/>
          </p:nvSpPr>
          <p:spPr bwMode="auto">
            <a:xfrm>
              <a:off x="5296257" y="2937717"/>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1" name="íṩḻîḍe"/>
            <p:cNvSpPr/>
            <p:nvPr/>
          </p:nvSpPr>
          <p:spPr bwMode="auto">
            <a:xfrm>
              <a:off x="5296257" y="3030173"/>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2" name="î$ḷïdé"/>
            <p:cNvSpPr/>
            <p:nvPr/>
          </p:nvSpPr>
          <p:spPr bwMode="auto">
            <a:xfrm>
              <a:off x="5678793" y="2937717"/>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3" name="ïŝlíḍé"/>
            <p:cNvSpPr/>
            <p:nvPr/>
          </p:nvSpPr>
          <p:spPr bwMode="auto">
            <a:xfrm>
              <a:off x="5678793" y="3030173"/>
              <a:ext cx="536244"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4" name="ïṡľíḍe"/>
            <p:cNvSpPr/>
            <p:nvPr/>
          </p:nvSpPr>
          <p:spPr bwMode="auto">
            <a:xfrm>
              <a:off x="5930735" y="2937717"/>
              <a:ext cx="32475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5" name="iSḷiḓè"/>
            <p:cNvSpPr/>
            <p:nvPr/>
          </p:nvSpPr>
          <p:spPr bwMode="auto">
            <a:xfrm>
              <a:off x="6321361" y="2937717"/>
              <a:ext cx="169888"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6" name="iṥļîdé"/>
            <p:cNvSpPr/>
            <p:nvPr/>
          </p:nvSpPr>
          <p:spPr bwMode="auto">
            <a:xfrm>
              <a:off x="6565214" y="2937717"/>
              <a:ext cx="21264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7" name="ïṩḻîḍè"/>
            <p:cNvSpPr/>
            <p:nvPr/>
          </p:nvSpPr>
          <p:spPr bwMode="auto">
            <a:xfrm>
              <a:off x="6280912" y="3030173"/>
              <a:ext cx="300482"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8" name="íŝľïḑe"/>
            <p:cNvSpPr/>
            <p:nvPr/>
          </p:nvSpPr>
          <p:spPr bwMode="auto">
            <a:xfrm>
              <a:off x="6001233" y="2847573"/>
              <a:ext cx="123660"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9" name="íśľíḓé"/>
            <p:cNvSpPr/>
            <p:nvPr/>
          </p:nvSpPr>
          <p:spPr bwMode="auto">
            <a:xfrm>
              <a:off x="5061650" y="3211618"/>
              <a:ext cx="310883"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0" name="îš1îḑè"/>
            <p:cNvSpPr/>
            <p:nvPr/>
          </p:nvSpPr>
          <p:spPr bwMode="auto">
            <a:xfrm>
              <a:off x="5061650" y="3304074"/>
              <a:ext cx="5027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1" name="íṡľíḓé"/>
            <p:cNvSpPr/>
            <p:nvPr/>
          </p:nvSpPr>
          <p:spPr bwMode="auto">
            <a:xfrm>
              <a:off x="5296257" y="3394218"/>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2" name="i$ļîḑe"/>
            <p:cNvSpPr/>
            <p:nvPr/>
          </p:nvSpPr>
          <p:spPr bwMode="auto">
            <a:xfrm>
              <a:off x="5296257" y="3486674"/>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3" name="îs1iḋé"/>
            <p:cNvSpPr/>
            <p:nvPr/>
          </p:nvSpPr>
          <p:spPr bwMode="auto">
            <a:xfrm>
              <a:off x="5498504" y="3576818"/>
              <a:ext cx="286613"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4" name="îśļîḑè"/>
            <p:cNvSpPr/>
            <p:nvPr/>
          </p:nvSpPr>
          <p:spPr bwMode="auto">
            <a:xfrm>
              <a:off x="5477701" y="3211618"/>
              <a:ext cx="294703"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5" name="ïṧḷiďe"/>
            <p:cNvSpPr/>
            <p:nvPr/>
          </p:nvSpPr>
          <p:spPr bwMode="auto">
            <a:xfrm>
              <a:off x="5848681" y="3211618"/>
              <a:ext cx="14792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6" name="íSḷîḋê"/>
            <p:cNvSpPr/>
            <p:nvPr/>
          </p:nvSpPr>
          <p:spPr bwMode="auto">
            <a:xfrm>
              <a:off x="6092533" y="3211618"/>
              <a:ext cx="47268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7" name="ïṧḻïḓè"/>
            <p:cNvSpPr/>
            <p:nvPr/>
          </p:nvSpPr>
          <p:spPr bwMode="auto">
            <a:xfrm>
              <a:off x="5648745" y="3304074"/>
              <a:ext cx="298170"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8" name="îṧḷíḓé"/>
            <p:cNvSpPr/>
            <p:nvPr/>
          </p:nvSpPr>
          <p:spPr bwMode="auto">
            <a:xfrm>
              <a:off x="5678793" y="3394218"/>
              <a:ext cx="331685"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9" name="íṥḷídè"/>
            <p:cNvSpPr/>
            <p:nvPr/>
          </p:nvSpPr>
          <p:spPr bwMode="auto">
            <a:xfrm>
              <a:off x="5678793" y="3486674"/>
              <a:ext cx="225361"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0" name="îšḷiḑê"/>
            <p:cNvSpPr/>
            <p:nvPr/>
          </p:nvSpPr>
          <p:spPr bwMode="auto">
            <a:xfrm>
              <a:off x="6092533" y="3394218"/>
              <a:ext cx="248475"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1" name="ïslíḋè"/>
            <p:cNvSpPr/>
            <p:nvPr/>
          </p:nvSpPr>
          <p:spPr bwMode="auto">
            <a:xfrm>
              <a:off x="5971185" y="3486674"/>
              <a:ext cx="434543"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2" name="işḻiḋè"/>
            <p:cNvSpPr/>
            <p:nvPr/>
          </p:nvSpPr>
          <p:spPr bwMode="auto">
            <a:xfrm>
              <a:off x="6461201" y="3486674"/>
              <a:ext cx="110947"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3" name="ïŝļídê"/>
            <p:cNvSpPr/>
            <p:nvPr/>
          </p:nvSpPr>
          <p:spPr bwMode="auto">
            <a:xfrm>
              <a:off x="5864860" y="3576818"/>
              <a:ext cx="212649"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4" name="îṥ1iḑè"/>
            <p:cNvSpPr/>
            <p:nvPr/>
          </p:nvSpPr>
          <p:spPr bwMode="auto">
            <a:xfrm>
              <a:off x="6124892" y="3576818"/>
              <a:ext cx="394093"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5" name="îsḻîďè"/>
            <p:cNvSpPr/>
            <p:nvPr/>
          </p:nvSpPr>
          <p:spPr bwMode="auto">
            <a:xfrm>
              <a:off x="6577926" y="3576818"/>
              <a:ext cx="11788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6" name="išlïdé"/>
            <p:cNvSpPr/>
            <p:nvPr/>
          </p:nvSpPr>
          <p:spPr bwMode="auto">
            <a:xfrm>
              <a:off x="5296257" y="3759419"/>
              <a:ext cx="292392" cy="36982"/>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7" name="ïsļíḋê"/>
            <p:cNvSpPr/>
            <p:nvPr/>
          </p:nvSpPr>
          <p:spPr bwMode="auto">
            <a:xfrm>
              <a:off x="5296257" y="3850719"/>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8" name="îṡľíḑè"/>
            <p:cNvSpPr/>
            <p:nvPr/>
          </p:nvSpPr>
          <p:spPr bwMode="auto">
            <a:xfrm>
              <a:off x="5678793" y="3759419"/>
              <a:ext cx="481926" cy="3698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09" name="îṩḷïḍê"/>
            <p:cNvSpPr/>
            <p:nvPr/>
          </p:nvSpPr>
          <p:spPr bwMode="auto">
            <a:xfrm>
              <a:off x="5678793" y="3850719"/>
              <a:ext cx="262344"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0" name="ïṧļïďe"/>
            <p:cNvSpPr/>
            <p:nvPr/>
          </p:nvSpPr>
          <p:spPr bwMode="auto">
            <a:xfrm>
              <a:off x="6231217" y="3759419"/>
              <a:ext cx="131750" cy="3698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1" name="îṣḻîďè"/>
            <p:cNvSpPr/>
            <p:nvPr/>
          </p:nvSpPr>
          <p:spPr bwMode="auto">
            <a:xfrm>
              <a:off x="6419596" y="3759419"/>
              <a:ext cx="161798" cy="3698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2" name="iṧļiḋê"/>
            <p:cNvSpPr/>
            <p:nvPr/>
          </p:nvSpPr>
          <p:spPr bwMode="auto">
            <a:xfrm>
              <a:off x="6198857" y="3850719"/>
              <a:ext cx="292392"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3" name="íślíḍe"/>
            <p:cNvSpPr/>
            <p:nvPr/>
          </p:nvSpPr>
          <p:spPr bwMode="auto">
            <a:xfrm>
              <a:off x="6001233" y="3850719"/>
              <a:ext cx="123660"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4" name="iśļîďè"/>
            <p:cNvSpPr/>
            <p:nvPr/>
          </p:nvSpPr>
          <p:spPr bwMode="auto">
            <a:xfrm>
              <a:off x="5061650" y="4000960"/>
              <a:ext cx="310883"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5" name="îśľídè"/>
            <p:cNvSpPr/>
            <p:nvPr/>
          </p:nvSpPr>
          <p:spPr bwMode="auto">
            <a:xfrm>
              <a:off x="5061650" y="4091104"/>
              <a:ext cx="5027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6" name="islíḓé"/>
            <p:cNvSpPr/>
            <p:nvPr/>
          </p:nvSpPr>
          <p:spPr bwMode="auto">
            <a:xfrm>
              <a:off x="5296257" y="4183560"/>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7" name="ïsļïḋé"/>
            <p:cNvSpPr/>
            <p:nvPr/>
          </p:nvSpPr>
          <p:spPr bwMode="auto">
            <a:xfrm>
              <a:off x="5296257" y="4273705"/>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8" name="îṣlïḑe"/>
            <p:cNvSpPr/>
            <p:nvPr/>
          </p:nvSpPr>
          <p:spPr bwMode="auto">
            <a:xfrm>
              <a:off x="5498504" y="4366161"/>
              <a:ext cx="286613"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19" name="îṥľíḓé"/>
            <p:cNvSpPr/>
            <p:nvPr/>
          </p:nvSpPr>
          <p:spPr bwMode="auto">
            <a:xfrm>
              <a:off x="5477701" y="4000960"/>
              <a:ext cx="294703"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0" name="îşḷídé"/>
            <p:cNvSpPr/>
            <p:nvPr/>
          </p:nvSpPr>
          <p:spPr bwMode="auto">
            <a:xfrm>
              <a:off x="5848681" y="4000960"/>
              <a:ext cx="1479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1" name="ïŝḷíde"/>
            <p:cNvSpPr/>
            <p:nvPr/>
          </p:nvSpPr>
          <p:spPr bwMode="auto">
            <a:xfrm>
              <a:off x="6092533" y="4000960"/>
              <a:ext cx="68532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2" name="îSļîḑè"/>
            <p:cNvSpPr/>
            <p:nvPr/>
          </p:nvSpPr>
          <p:spPr bwMode="auto">
            <a:xfrm>
              <a:off x="5648745" y="4091104"/>
              <a:ext cx="298170"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3" name="îS1ïďè"/>
            <p:cNvSpPr/>
            <p:nvPr/>
          </p:nvSpPr>
          <p:spPr bwMode="auto">
            <a:xfrm>
              <a:off x="5678793" y="4183560"/>
              <a:ext cx="331685"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4" name="íṣḷíḓé"/>
            <p:cNvSpPr/>
            <p:nvPr/>
          </p:nvSpPr>
          <p:spPr bwMode="auto">
            <a:xfrm>
              <a:off x="5678793" y="4273705"/>
              <a:ext cx="225361"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5" name="ïŝlîḓê"/>
            <p:cNvSpPr/>
            <p:nvPr/>
          </p:nvSpPr>
          <p:spPr bwMode="auto">
            <a:xfrm>
              <a:off x="6092533" y="4183560"/>
              <a:ext cx="248475"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6" name="ïś1ïdè"/>
            <p:cNvSpPr/>
            <p:nvPr/>
          </p:nvSpPr>
          <p:spPr bwMode="auto">
            <a:xfrm>
              <a:off x="6406883" y="4183560"/>
              <a:ext cx="150241"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7" name="iṩļiḋè"/>
            <p:cNvSpPr/>
            <p:nvPr/>
          </p:nvSpPr>
          <p:spPr bwMode="auto">
            <a:xfrm>
              <a:off x="6631088" y="4183560"/>
              <a:ext cx="146774"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8" name="îšḻiḓê"/>
            <p:cNvSpPr/>
            <p:nvPr/>
          </p:nvSpPr>
          <p:spPr bwMode="auto">
            <a:xfrm>
              <a:off x="5971185" y="4273705"/>
              <a:ext cx="434543"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9" name="îṧ1îḋè"/>
            <p:cNvSpPr/>
            <p:nvPr/>
          </p:nvSpPr>
          <p:spPr bwMode="auto">
            <a:xfrm>
              <a:off x="6461201" y="4273705"/>
              <a:ext cx="110947"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30" name="îṣ1iḍè"/>
            <p:cNvSpPr/>
            <p:nvPr/>
          </p:nvSpPr>
          <p:spPr bwMode="auto">
            <a:xfrm>
              <a:off x="5864860" y="4366161"/>
              <a:ext cx="212649"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31" name="ïşlîďe"/>
            <p:cNvSpPr/>
            <p:nvPr/>
          </p:nvSpPr>
          <p:spPr bwMode="auto">
            <a:xfrm>
              <a:off x="5296257" y="4547605"/>
              <a:ext cx="292392" cy="35827"/>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32" name="íṣ1îḓè"/>
            <p:cNvSpPr/>
            <p:nvPr/>
          </p:nvSpPr>
          <p:spPr bwMode="auto">
            <a:xfrm>
              <a:off x="5296257" y="4637750"/>
              <a:ext cx="292392" cy="38138"/>
            </a:xfrm>
            <a:prstGeom prst="rect">
              <a:avLst/>
            </a:prstGeom>
            <a:solidFill>
              <a:srgbClr val="9ACA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33" name="îśľíḓê"/>
            <p:cNvSpPr/>
            <p:nvPr/>
          </p:nvSpPr>
          <p:spPr bwMode="auto">
            <a:xfrm>
              <a:off x="5678793" y="4547605"/>
              <a:ext cx="481926"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34" name="îšḻîde"/>
            <p:cNvSpPr/>
            <p:nvPr/>
          </p:nvSpPr>
          <p:spPr bwMode="auto">
            <a:xfrm>
              <a:off x="5678793" y="4637750"/>
              <a:ext cx="262344"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35" name="ï$1îḋè"/>
            <p:cNvSpPr/>
            <p:nvPr/>
          </p:nvSpPr>
          <p:spPr bwMode="auto">
            <a:xfrm>
              <a:off x="6231217" y="4547605"/>
              <a:ext cx="131750"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36" name="íş1idè"/>
            <p:cNvSpPr/>
            <p:nvPr/>
          </p:nvSpPr>
          <p:spPr bwMode="auto">
            <a:xfrm>
              <a:off x="6419596" y="4547605"/>
              <a:ext cx="161798" cy="35827"/>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37" name="íšḻîďe"/>
            <p:cNvSpPr/>
            <p:nvPr/>
          </p:nvSpPr>
          <p:spPr bwMode="auto">
            <a:xfrm>
              <a:off x="6198857" y="4637750"/>
              <a:ext cx="292392"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38" name="ïş1îďê"/>
            <p:cNvSpPr/>
            <p:nvPr/>
          </p:nvSpPr>
          <p:spPr bwMode="auto">
            <a:xfrm>
              <a:off x="6001233" y="4637750"/>
              <a:ext cx="123660" cy="38138"/>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grpSp>
      <p:grpSp>
        <p:nvGrpSpPr>
          <p:cNvPr id="239" name="1042c4d6-065c-43ea-a1d1-115b3632b96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3"/>
            </p:custDataLst>
          </p:nvPr>
        </p:nvGrpSpPr>
        <p:grpSpPr>
          <a:xfrm>
            <a:off x="6955740" y="1095603"/>
            <a:ext cx="1227745" cy="1225913"/>
            <a:chOff x="3979863" y="1304925"/>
            <a:chExt cx="4254500" cy="4248151"/>
          </a:xfrm>
        </p:grpSpPr>
        <p:sp>
          <p:nvSpPr>
            <p:cNvPr id="240" name="iṡḻíḍè">
              <a:extLst>
                <a:ext uri="{FF2B5EF4-FFF2-40B4-BE49-F238E27FC236}">
                  <a16:creationId xmlns:a16="http://schemas.microsoft.com/office/drawing/2014/main" id="{5A259346-A298-424A-925A-418D625DE1FF}"/>
                </a:ext>
              </a:extLst>
            </p:cNvPr>
            <p:cNvSpPr/>
            <p:nvPr/>
          </p:nvSpPr>
          <p:spPr bwMode="auto">
            <a:xfrm>
              <a:off x="4533900" y="1857375"/>
              <a:ext cx="3146425" cy="3141663"/>
            </a:xfrm>
            <a:custGeom>
              <a:avLst/>
              <a:gdLst>
                <a:gd name="T0" fmla="*/ 284 w 284"/>
                <a:gd name="T1" fmla="*/ 223 h 284"/>
                <a:gd name="T2" fmla="*/ 223 w 284"/>
                <a:gd name="T3" fmla="*/ 284 h 284"/>
                <a:gd name="T4" fmla="*/ 61 w 284"/>
                <a:gd name="T5" fmla="*/ 284 h 284"/>
                <a:gd name="T6" fmla="*/ 0 w 284"/>
                <a:gd name="T7" fmla="*/ 223 h 284"/>
                <a:gd name="T8" fmla="*/ 0 w 284"/>
                <a:gd name="T9" fmla="*/ 62 h 284"/>
                <a:gd name="T10" fmla="*/ 61 w 284"/>
                <a:gd name="T11" fmla="*/ 0 h 284"/>
                <a:gd name="T12" fmla="*/ 223 w 284"/>
                <a:gd name="T13" fmla="*/ 0 h 284"/>
                <a:gd name="T14" fmla="*/ 284 w 284"/>
                <a:gd name="T15" fmla="*/ 62 h 284"/>
                <a:gd name="T16" fmla="*/ 284 w 284"/>
                <a:gd name="T17" fmla="*/ 22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4" h="284">
                  <a:moveTo>
                    <a:pt x="284" y="223"/>
                  </a:moveTo>
                  <a:cubicBezTo>
                    <a:pt x="284" y="257"/>
                    <a:pt x="257" y="284"/>
                    <a:pt x="223" y="284"/>
                  </a:cubicBezTo>
                  <a:cubicBezTo>
                    <a:pt x="61" y="284"/>
                    <a:pt x="61" y="284"/>
                    <a:pt x="61" y="284"/>
                  </a:cubicBezTo>
                  <a:cubicBezTo>
                    <a:pt x="27" y="284"/>
                    <a:pt x="0" y="257"/>
                    <a:pt x="0" y="223"/>
                  </a:cubicBezTo>
                  <a:cubicBezTo>
                    <a:pt x="0" y="62"/>
                    <a:pt x="0" y="62"/>
                    <a:pt x="0" y="62"/>
                  </a:cubicBezTo>
                  <a:cubicBezTo>
                    <a:pt x="0" y="27"/>
                    <a:pt x="27" y="0"/>
                    <a:pt x="61" y="0"/>
                  </a:cubicBezTo>
                  <a:cubicBezTo>
                    <a:pt x="223" y="0"/>
                    <a:pt x="223" y="0"/>
                    <a:pt x="223" y="0"/>
                  </a:cubicBezTo>
                  <a:cubicBezTo>
                    <a:pt x="257" y="0"/>
                    <a:pt x="284" y="27"/>
                    <a:pt x="284" y="62"/>
                  </a:cubicBezTo>
                  <a:lnTo>
                    <a:pt x="284" y="223"/>
                  </a:lnTo>
                  <a:close/>
                </a:path>
              </a:pathLst>
            </a:custGeom>
            <a:solidFill>
              <a:srgbClr val="11BCC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1" name="íṡḷiďê">
              <a:extLst>
                <a:ext uri="{FF2B5EF4-FFF2-40B4-BE49-F238E27FC236}">
                  <a16:creationId xmlns:a16="http://schemas.microsoft.com/office/drawing/2014/main" id="{BC78619A-18FC-4330-9CB6-3ECB73865756}"/>
                </a:ext>
              </a:extLst>
            </p:cNvPr>
            <p:cNvSpPr/>
            <p:nvPr/>
          </p:nvSpPr>
          <p:spPr bwMode="auto">
            <a:xfrm>
              <a:off x="4976813" y="2311400"/>
              <a:ext cx="2260600" cy="2246313"/>
            </a:xfrm>
            <a:custGeom>
              <a:avLst/>
              <a:gdLst>
                <a:gd name="T0" fmla="*/ 204 w 204"/>
                <a:gd name="T1" fmla="*/ 159 h 203"/>
                <a:gd name="T2" fmla="*/ 159 w 204"/>
                <a:gd name="T3" fmla="*/ 203 h 203"/>
                <a:gd name="T4" fmla="*/ 45 w 204"/>
                <a:gd name="T5" fmla="*/ 203 h 203"/>
                <a:gd name="T6" fmla="*/ 0 w 204"/>
                <a:gd name="T7" fmla="*/ 159 h 203"/>
                <a:gd name="T8" fmla="*/ 0 w 204"/>
                <a:gd name="T9" fmla="*/ 44 h 203"/>
                <a:gd name="T10" fmla="*/ 45 w 204"/>
                <a:gd name="T11" fmla="*/ 0 h 203"/>
                <a:gd name="T12" fmla="*/ 159 w 204"/>
                <a:gd name="T13" fmla="*/ 0 h 203"/>
                <a:gd name="T14" fmla="*/ 204 w 204"/>
                <a:gd name="T15" fmla="*/ 44 h 203"/>
                <a:gd name="T16" fmla="*/ 204 w 204"/>
                <a:gd name="T17" fmla="*/ 15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203">
                  <a:moveTo>
                    <a:pt x="204" y="159"/>
                  </a:moveTo>
                  <a:cubicBezTo>
                    <a:pt x="204" y="183"/>
                    <a:pt x="184" y="203"/>
                    <a:pt x="159" y="203"/>
                  </a:cubicBezTo>
                  <a:cubicBezTo>
                    <a:pt x="45" y="203"/>
                    <a:pt x="45" y="203"/>
                    <a:pt x="45" y="203"/>
                  </a:cubicBezTo>
                  <a:cubicBezTo>
                    <a:pt x="20" y="203"/>
                    <a:pt x="0" y="183"/>
                    <a:pt x="0" y="159"/>
                  </a:cubicBezTo>
                  <a:cubicBezTo>
                    <a:pt x="0" y="44"/>
                    <a:pt x="0" y="44"/>
                    <a:pt x="0" y="44"/>
                  </a:cubicBezTo>
                  <a:cubicBezTo>
                    <a:pt x="0" y="19"/>
                    <a:pt x="20" y="0"/>
                    <a:pt x="45" y="0"/>
                  </a:cubicBezTo>
                  <a:cubicBezTo>
                    <a:pt x="159" y="0"/>
                    <a:pt x="159" y="0"/>
                    <a:pt x="159" y="0"/>
                  </a:cubicBezTo>
                  <a:cubicBezTo>
                    <a:pt x="184" y="0"/>
                    <a:pt x="204" y="19"/>
                    <a:pt x="204" y="44"/>
                  </a:cubicBezTo>
                  <a:lnTo>
                    <a:pt x="204" y="159"/>
                  </a:lnTo>
                  <a:close/>
                </a:path>
              </a:pathLst>
            </a:custGeom>
            <a:solidFill>
              <a:srgbClr val="5EE8E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2" name="iṣľîḋê">
              <a:extLst>
                <a:ext uri="{FF2B5EF4-FFF2-40B4-BE49-F238E27FC236}">
                  <a16:creationId xmlns:a16="http://schemas.microsoft.com/office/drawing/2014/main" id="{D698EB0C-03EB-4FB7-8AB8-F80615532607}"/>
                </a:ext>
              </a:extLst>
            </p:cNvPr>
            <p:cNvSpPr/>
            <p:nvPr/>
          </p:nvSpPr>
          <p:spPr bwMode="auto">
            <a:xfrm>
              <a:off x="5221288" y="2543175"/>
              <a:ext cx="1773238" cy="1770063"/>
            </a:xfrm>
            <a:custGeom>
              <a:avLst/>
              <a:gdLst>
                <a:gd name="T0" fmla="*/ 160 w 160"/>
                <a:gd name="T1" fmla="*/ 20 h 160"/>
                <a:gd name="T2" fmla="*/ 20 w 160"/>
                <a:gd name="T3" fmla="*/ 0 h 160"/>
                <a:gd name="T4" fmla="*/ 0 w 160"/>
                <a:gd name="T5" fmla="*/ 140 h 160"/>
                <a:gd name="T6" fmla="*/ 140 w 160"/>
                <a:gd name="T7" fmla="*/ 160 h 160"/>
                <a:gd name="T8" fmla="*/ 20 w 160"/>
                <a:gd name="T9" fmla="*/ 151 h 160"/>
                <a:gd name="T10" fmla="*/ 9 w 160"/>
                <a:gd name="T11" fmla="*/ 138 h 160"/>
                <a:gd name="T12" fmla="*/ 51 w 160"/>
                <a:gd name="T13" fmla="*/ 142 h 160"/>
                <a:gd name="T14" fmla="*/ 51 w 160"/>
                <a:gd name="T15" fmla="*/ 123 h 160"/>
                <a:gd name="T16" fmla="*/ 9 w 160"/>
                <a:gd name="T17" fmla="*/ 127 h 160"/>
                <a:gd name="T18" fmla="*/ 67 w 160"/>
                <a:gd name="T19" fmla="*/ 107 h 160"/>
                <a:gd name="T20" fmla="*/ 88 w 160"/>
                <a:gd name="T21" fmla="*/ 123 h 160"/>
                <a:gd name="T22" fmla="*/ 108 w 160"/>
                <a:gd name="T23" fmla="*/ 123 h 160"/>
                <a:gd name="T24" fmla="*/ 95 w 160"/>
                <a:gd name="T25" fmla="*/ 113 h 160"/>
                <a:gd name="T26" fmla="*/ 9 w 160"/>
                <a:gd name="T27" fmla="*/ 96 h 160"/>
                <a:gd name="T28" fmla="*/ 25 w 160"/>
                <a:gd name="T29" fmla="*/ 80 h 160"/>
                <a:gd name="T30" fmla="*/ 43 w 160"/>
                <a:gd name="T31" fmla="*/ 75 h 160"/>
                <a:gd name="T32" fmla="*/ 25 w 160"/>
                <a:gd name="T33" fmla="*/ 69 h 160"/>
                <a:gd name="T34" fmla="*/ 9 w 160"/>
                <a:gd name="T35" fmla="*/ 31 h 160"/>
                <a:gd name="T36" fmla="*/ 60 w 160"/>
                <a:gd name="T37" fmla="*/ 36 h 160"/>
                <a:gd name="T38" fmla="*/ 60 w 160"/>
                <a:gd name="T39" fmla="*/ 16 h 160"/>
                <a:gd name="T40" fmla="*/ 9 w 160"/>
                <a:gd name="T41" fmla="*/ 20 h 160"/>
                <a:gd name="T42" fmla="*/ 20 w 160"/>
                <a:gd name="T43" fmla="*/ 9 h 160"/>
                <a:gd name="T44" fmla="*/ 151 w 160"/>
                <a:gd name="T45" fmla="*/ 20 h 160"/>
                <a:gd name="T46" fmla="*/ 104 w 160"/>
                <a:gd name="T47" fmla="*/ 30 h 160"/>
                <a:gd name="T48" fmla="*/ 70 w 160"/>
                <a:gd name="T49" fmla="*/ 45 h 160"/>
                <a:gd name="T50" fmla="*/ 70 w 160"/>
                <a:gd name="T51" fmla="*/ 65 h 160"/>
                <a:gd name="T52" fmla="*/ 106 w 160"/>
                <a:gd name="T53" fmla="*/ 41 h 160"/>
                <a:gd name="T54" fmla="*/ 151 w 160"/>
                <a:gd name="T55" fmla="*/ 61 h 160"/>
                <a:gd name="T56" fmla="*/ 121 w 160"/>
                <a:gd name="T57" fmla="*/ 57 h 160"/>
                <a:gd name="T58" fmla="*/ 121 w 160"/>
                <a:gd name="T59" fmla="*/ 76 h 160"/>
                <a:gd name="T60" fmla="*/ 151 w 160"/>
                <a:gd name="T61" fmla="*/ 72 h 160"/>
                <a:gd name="T62" fmla="*/ 117 w 160"/>
                <a:gd name="T63" fmla="*/ 90 h 160"/>
                <a:gd name="T64" fmla="*/ 88 w 160"/>
                <a:gd name="T65" fmla="*/ 70 h 160"/>
                <a:gd name="T66" fmla="*/ 88 w 160"/>
                <a:gd name="T67" fmla="*/ 90 h 160"/>
                <a:gd name="T68" fmla="*/ 114 w 160"/>
                <a:gd name="T69" fmla="*/ 101 h 160"/>
                <a:gd name="T70" fmla="*/ 151 w 160"/>
                <a:gd name="T71" fmla="*/ 117 h 160"/>
                <a:gd name="T72" fmla="*/ 137 w 160"/>
                <a:gd name="T73" fmla="*/ 113 h 160"/>
                <a:gd name="T74" fmla="*/ 137 w 160"/>
                <a:gd name="T75" fmla="*/ 132 h 160"/>
                <a:gd name="T76" fmla="*/ 151 w 160"/>
                <a:gd name="T77" fmla="*/ 128 h 160"/>
                <a:gd name="T78" fmla="*/ 140 w 160"/>
                <a:gd name="T79" fmla="*/ 1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0" h="160">
                  <a:moveTo>
                    <a:pt x="160" y="140"/>
                  </a:moveTo>
                  <a:cubicBezTo>
                    <a:pt x="160" y="20"/>
                    <a:pt x="160" y="20"/>
                    <a:pt x="160" y="20"/>
                  </a:cubicBezTo>
                  <a:cubicBezTo>
                    <a:pt x="160" y="9"/>
                    <a:pt x="151" y="0"/>
                    <a:pt x="140" y="0"/>
                  </a:cubicBezTo>
                  <a:cubicBezTo>
                    <a:pt x="20" y="0"/>
                    <a:pt x="20" y="0"/>
                    <a:pt x="20" y="0"/>
                  </a:cubicBezTo>
                  <a:cubicBezTo>
                    <a:pt x="9" y="0"/>
                    <a:pt x="0" y="9"/>
                    <a:pt x="0" y="20"/>
                  </a:cubicBezTo>
                  <a:cubicBezTo>
                    <a:pt x="0" y="140"/>
                    <a:pt x="0" y="140"/>
                    <a:pt x="0" y="140"/>
                  </a:cubicBezTo>
                  <a:cubicBezTo>
                    <a:pt x="0" y="151"/>
                    <a:pt x="9" y="160"/>
                    <a:pt x="20" y="160"/>
                  </a:cubicBezTo>
                  <a:cubicBezTo>
                    <a:pt x="140" y="160"/>
                    <a:pt x="140" y="160"/>
                    <a:pt x="140" y="160"/>
                  </a:cubicBezTo>
                  <a:cubicBezTo>
                    <a:pt x="151" y="160"/>
                    <a:pt x="160" y="151"/>
                    <a:pt x="160" y="140"/>
                  </a:cubicBezTo>
                  <a:close/>
                  <a:moveTo>
                    <a:pt x="20" y="151"/>
                  </a:moveTo>
                  <a:cubicBezTo>
                    <a:pt x="14" y="151"/>
                    <a:pt x="9" y="146"/>
                    <a:pt x="9" y="140"/>
                  </a:cubicBezTo>
                  <a:cubicBezTo>
                    <a:pt x="9" y="138"/>
                    <a:pt x="9" y="138"/>
                    <a:pt x="9" y="138"/>
                  </a:cubicBezTo>
                  <a:cubicBezTo>
                    <a:pt x="42" y="138"/>
                    <a:pt x="42" y="138"/>
                    <a:pt x="42" y="138"/>
                  </a:cubicBezTo>
                  <a:cubicBezTo>
                    <a:pt x="44" y="140"/>
                    <a:pt x="47" y="142"/>
                    <a:pt x="51" y="142"/>
                  </a:cubicBezTo>
                  <a:cubicBezTo>
                    <a:pt x="56" y="142"/>
                    <a:pt x="60" y="138"/>
                    <a:pt x="60" y="132"/>
                  </a:cubicBezTo>
                  <a:cubicBezTo>
                    <a:pt x="60" y="127"/>
                    <a:pt x="56" y="123"/>
                    <a:pt x="51" y="123"/>
                  </a:cubicBezTo>
                  <a:cubicBezTo>
                    <a:pt x="47" y="123"/>
                    <a:pt x="44" y="124"/>
                    <a:pt x="43" y="127"/>
                  </a:cubicBezTo>
                  <a:cubicBezTo>
                    <a:pt x="9" y="127"/>
                    <a:pt x="9" y="127"/>
                    <a:pt x="9" y="127"/>
                  </a:cubicBezTo>
                  <a:cubicBezTo>
                    <a:pt x="9" y="107"/>
                    <a:pt x="9" y="107"/>
                    <a:pt x="9" y="107"/>
                  </a:cubicBezTo>
                  <a:cubicBezTo>
                    <a:pt x="67" y="107"/>
                    <a:pt x="67" y="107"/>
                    <a:pt x="67" y="107"/>
                  </a:cubicBezTo>
                  <a:cubicBezTo>
                    <a:pt x="88" y="122"/>
                    <a:pt x="88" y="122"/>
                    <a:pt x="88" y="122"/>
                  </a:cubicBezTo>
                  <a:cubicBezTo>
                    <a:pt x="88" y="122"/>
                    <a:pt x="88" y="122"/>
                    <a:pt x="88" y="123"/>
                  </a:cubicBezTo>
                  <a:cubicBezTo>
                    <a:pt x="88" y="128"/>
                    <a:pt x="92" y="132"/>
                    <a:pt x="98" y="132"/>
                  </a:cubicBezTo>
                  <a:cubicBezTo>
                    <a:pt x="103" y="132"/>
                    <a:pt x="108" y="128"/>
                    <a:pt x="108" y="123"/>
                  </a:cubicBezTo>
                  <a:cubicBezTo>
                    <a:pt x="108" y="117"/>
                    <a:pt x="103" y="113"/>
                    <a:pt x="98" y="113"/>
                  </a:cubicBezTo>
                  <a:cubicBezTo>
                    <a:pt x="97" y="113"/>
                    <a:pt x="96" y="113"/>
                    <a:pt x="95" y="113"/>
                  </a:cubicBezTo>
                  <a:cubicBezTo>
                    <a:pt x="70" y="96"/>
                    <a:pt x="70" y="96"/>
                    <a:pt x="70" y="96"/>
                  </a:cubicBezTo>
                  <a:cubicBezTo>
                    <a:pt x="9" y="96"/>
                    <a:pt x="9" y="96"/>
                    <a:pt x="9" y="96"/>
                  </a:cubicBezTo>
                  <a:cubicBezTo>
                    <a:pt x="9" y="80"/>
                    <a:pt x="9" y="80"/>
                    <a:pt x="9" y="80"/>
                  </a:cubicBezTo>
                  <a:cubicBezTo>
                    <a:pt x="25" y="80"/>
                    <a:pt x="25" y="80"/>
                    <a:pt x="25" y="80"/>
                  </a:cubicBezTo>
                  <a:cubicBezTo>
                    <a:pt x="27" y="83"/>
                    <a:pt x="30" y="85"/>
                    <a:pt x="33" y="85"/>
                  </a:cubicBezTo>
                  <a:cubicBezTo>
                    <a:pt x="39" y="85"/>
                    <a:pt x="43" y="80"/>
                    <a:pt x="43" y="75"/>
                  </a:cubicBezTo>
                  <a:cubicBezTo>
                    <a:pt x="43" y="70"/>
                    <a:pt x="39" y="65"/>
                    <a:pt x="33" y="65"/>
                  </a:cubicBezTo>
                  <a:cubicBezTo>
                    <a:pt x="30" y="65"/>
                    <a:pt x="27" y="67"/>
                    <a:pt x="25" y="69"/>
                  </a:cubicBezTo>
                  <a:cubicBezTo>
                    <a:pt x="9" y="69"/>
                    <a:pt x="9" y="69"/>
                    <a:pt x="9" y="69"/>
                  </a:cubicBezTo>
                  <a:cubicBezTo>
                    <a:pt x="9" y="31"/>
                    <a:pt x="9" y="31"/>
                    <a:pt x="9" y="31"/>
                  </a:cubicBezTo>
                  <a:cubicBezTo>
                    <a:pt x="52" y="31"/>
                    <a:pt x="52" y="31"/>
                    <a:pt x="52" y="31"/>
                  </a:cubicBezTo>
                  <a:cubicBezTo>
                    <a:pt x="54" y="34"/>
                    <a:pt x="57" y="36"/>
                    <a:pt x="60" y="36"/>
                  </a:cubicBezTo>
                  <a:cubicBezTo>
                    <a:pt x="65" y="36"/>
                    <a:pt x="70" y="31"/>
                    <a:pt x="70" y="26"/>
                  </a:cubicBezTo>
                  <a:cubicBezTo>
                    <a:pt x="70" y="21"/>
                    <a:pt x="65" y="16"/>
                    <a:pt x="60" y="16"/>
                  </a:cubicBezTo>
                  <a:cubicBezTo>
                    <a:pt x="57" y="16"/>
                    <a:pt x="54" y="18"/>
                    <a:pt x="52" y="20"/>
                  </a:cubicBezTo>
                  <a:cubicBezTo>
                    <a:pt x="9" y="20"/>
                    <a:pt x="9" y="20"/>
                    <a:pt x="9" y="20"/>
                  </a:cubicBezTo>
                  <a:cubicBezTo>
                    <a:pt x="9" y="20"/>
                    <a:pt x="9" y="20"/>
                    <a:pt x="9" y="20"/>
                  </a:cubicBezTo>
                  <a:cubicBezTo>
                    <a:pt x="9" y="14"/>
                    <a:pt x="14" y="9"/>
                    <a:pt x="20" y="9"/>
                  </a:cubicBezTo>
                  <a:cubicBezTo>
                    <a:pt x="140" y="9"/>
                    <a:pt x="140" y="9"/>
                    <a:pt x="140" y="9"/>
                  </a:cubicBezTo>
                  <a:cubicBezTo>
                    <a:pt x="146" y="9"/>
                    <a:pt x="151" y="14"/>
                    <a:pt x="151" y="20"/>
                  </a:cubicBezTo>
                  <a:cubicBezTo>
                    <a:pt x="151" y="30"/>
                    <a:pt x="151" y="30"/>
                    <a:pt x="151" y="30"/>
                  </a:cubicBezTo>
                  <a:cubicBezTo>
                    <a:pt x="104" y="30"/>
                    <a:pt x="104" y="30"/>
                    <a:pt x="104" y="30"/>
                  </a:cubicBezTo>
                  <a:cubicBezTo>
                    <a:pt x="74" y="46"/>
                    <a:pt x="74" y="46"/>
                    <a:pt x="74" y="46"/>
                  </a:cubicBezTo>
                  <a:cubicBezTo>
                    <a:pt x="73" y="46"/>
                    <a:pt x="71" y="45"/>
                    <a:pt x="70" y="45"/>
                  </a:cubicBezTo>
                  <a:cubicBezTo>
                    <a:pt x="64" y="45"/>
                    <a:pt x="60" y="50"/>
                    <a:pt x="60" y="55"/>
                  </a:cubicBezTo>
                  <a:cubicBezTo>
                    <a:pt x="60" y="60"/>
                    <a:pt x="64" y="65"/>
                    <a:pt x="70" y="65"/>
                  </a:cubicBezTo>
                  <a:cubicBezTo>
                    <a:pt x="75" y="65"/>
                    <a:pt x="79" y="61"/>
                    <a:pt x="80" y="56"/>
                  </a:cubicBezTo>
                  <a:cubicBezTo>
                    <a:pt x="106" y="41"/>
                    <a:pt x="106" y="41"/>
                    <a:pt x="106" y="41"/>
                  </a:cubicBezTo>
                  <a:cubicBezTo>
                    <a:pt x="151" y="41"/>
                    <a:pt x="151" y="41"/>
                    <a:pt x="151" y="41"/>
                  </a:cubicBezTo>
                  <a:cubicBezTo>
                    <a:pt x="151" y="61"/>
                    <a:pt x="151" y="61"/>
                    <a:pt x="151" y="61"/>
                  </a:cubicBezTo>
                  <a:cubicBezTo>
                    <a:pt x="129" y="61"/>
                    <a:pt x="129" y="61"/>
                    <a:pt x="129" y="61"/>
                  </a:cubicBezTo>
                  <a:cubicBezTo>
                    <a:pt x="127" y="59"/>
                    <a:pt x="124" y="57"/>
                    <a:pt x="121" y="57"/>
                  </a:cubicBezTo>
                  <a:cubicBezTo>
                    <a:pt x="116" y="57"/>
                    <a:pt x="111" y="61"/>
                    <a:pt x="111" y="67"/>
                  </a:cubicBezTo>
                  <a:cubicBezTo>
                    <a:pt x="111" y="72"/>
                    <a:pt x="116" y="76"/>
                    <a:pt x="121" y="76"/>
                  </a:cubicBezTo>
                  <a:cubicBezTo>
                    <a:pt x="124" y="76"/>
                    <a:pt x="127" y="75"/>
                    <a:pt x="129" y="72"/>
                  </a:cubicBezTo>
                  <a:cubicBezTo>
                    <a:pt x="151" y="72"/>
                    <a:pt x="151" y="72"/>
                    <a:pt x="151" y="72"/>
                  </a:cubicBezTo>
                  <a:cubicBezTo>
                    <a:pt x="151" y="90"/>
                    <a:pt x="151" y="90"/>
                    <a:pt x="151" y="90"/>
                  </a:cubicBezTo>
                  <a:cubicBezTo>
                    <a:pt x="117" y="90"/>
                    <a:pt x="117" y="90"/>
                    <a:pt x="117" y="90"/>
                  </a:cubicBezTo>
                  <a:cubicBezTo>
                    <a:pt x="98" y="79"/>
                    <a:pt x="98" y="79"/>
                    <a:pt x="98" y="79"/>
                  </a:cubicBezTo>
                  <a:cubicBezTo>
                    <a:pt x="97" y="74"/>
                    <a:pt x="93" y="70"/>
                    <a:pt x="88" y="70"/>
                  </a:cubicBezTo>
                  <a:cubicBezTo>
                    <a:pt x="83" y="70"/>
                    <a:pt x="78" y="75"/>
                    <a:pt x="78" y="80"/>
                  </a:cubicBezTo>
                  <a:cubicBezTo>
                    <a:pt x="78" y="85"/>
                    <a:pt x="83" y="90"/>
                    <a:pt x="88" y="90"/>
                  </a:cubicBezTo>
                  <a:cubicBezTo>
                    <a:pt x="90" y="90"/>
                    <a:pt x="91" y="89"/>
                    <a:pt x="92" y="89"/>
                  </a:cubicBezTo>
                  <a:cubicBezTo>
                    <a:pt x="114" y="101"/>
                    <a:pt x="114" y="101"/>
                    <a:pt x="114" y="101"/>
                  </a:cubicBezTo>
                  <a:cubicBezTo>
                    <a:pt x="151" y="101"/>
                    <a:pt x="151" y="101"/>
                    <a:pt x="151" y="101"/>
                  </a:cubicBezTo>
                  <a:cubicBezTo>
                    <a:pt x="151" y="117"/>
                    <a:pt x="151" y="117"/>
                    <a:pt x="151" y="117"/>
                  </a:cubicBezTo>
                  <a:cubicBezTo>
                    <a:pt x="145" y="117"/>
                    <a:pt x="145" y="117"/>
                    <a:pt x="145" y="117"/>
                  </a:cubicBezTo>
                  <a:cubicBezTo>
                    <a:pt x="143" y="114"/>
                    <a:pt x="140" y="113"/>
                    <a:pt x="137" y="113"/>
                  </a:cubicBezTo>
                  <a:cubicBezTo>
                    <a:pt x="132" y="113"/>
                    <a:pt x="127" y="117"/>
                    <a:pt x="127" y="123"/>
                  </a:cubicBezTo>
                  <a:cubicBezTo>
                    <a:pt x="127" y="128"/>
                    <a:pt x="132" y="132"/>
                    <a:pt x="137" y="132"/>
                  </a:cubicBezTo>
                  <a:cubicBezTo>
                    <a:pt x="140" y="132"/>
                    <a:pt x="143" y="131"/>
                    <a:pt x="145" y="128"/>
                  </a:cubicBezTo>
                  <a:cubicBezTo>
                    <a:pt x="151" y="128"/>
                    <a:pt x="151" y="128"/>
                    <a:pt x="151" y="128"/>
                  </a:cubicBezTo>
                  <a:cubicBezTo>
                    <a:pt x="151" y="140"/>
                    <a:pt x="151" y="140"/>
                    <a:pt x="151" y="140"/>
                  </a:cubicBezTo>
                  <a:cubicBezTo>
                    <a:pt x="151" y="146"/>
                    <a:pt x="146" y="151"/>
                    <a:pt x="140" y="151"/>
                  </a:cubicBezTo>
                  <a:lnTo>
                    <a:pt x="20" y="151"/>
                  </a:lnTo>
                  <a:close/>
                </a:path>
              </a:pathLst>
            </a:custGeom>
            <a:solidFill>
              <a:srgbClr val="737EE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3" name="íṩ1ïdê">
              <a:extLst>
                <a:ext uri="{FF2B5EF4-FFF2-40B4-BE49-F238E27FC236}">
                  <a16:creationId xmlns:a16="http://schemas.microsoft.com/office/drawing/2014/main" id="{E4EB213D-5C65-4D70-808D-DE3B0645A1C6}"/>
                </a:ext>
              </a:extLst>
            </p:cNvPr>
            <p:cNvSpPr/>
            <p:nvPr/>
          </p:nvSpPr>
          <p:spPr bwMode="auto">
            <a:xfrm>
              <a:off x="6018213" y="1304925"/>
              <a:ext cx="177800"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44" name="ïşḻïḓe">
              <a:extLst>
                <a:ext uri="{FF2B5EF4-FFF2-40B4-BE49-F238E27FC236}">
                  <a16:creationId xmlns:a16="http://schemas.microsoft.com/office/drawing/2014/main" id="{F1EBF0CD-FC59-4956-BB63-FD8085749470}"/>
                </a:ext>
              </a:extLst>
            </p:cNvPr>
            <p:cNvSpPr/>
            <p:nvPr/>
          </p:nvSpPr>
          <p:spPr bwMode="auto">
            <a:xfrm>
              <a:off x="5619750" y="1304925"/>
              <a:ext cx="177800"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45" name="isľiḑê">
              <a:extLst>
                <a:ext uri="{FF2B5EF4-FFF2-40B4-BE49-F238E27FC236}">
                  <a16:creationId xmlns:a16="http://schemas.microsoft.com/office/drawing/2014/main" id="{C26A49B1-FAE7-45C5-8775-C2BE100487CC}"/>
                </a:ext>
              </a:extLst>
            </p:cNvPr>
            <p:cNvSpPr/>
            <p:nvPr/>
          </p:nvSpPr>
          <p:spPr bwMode="auto">
            <a:xfrm>
              <a:off x="5221288" y="1304925"/>
              <a:ext cx="177800"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46" name="ísļîďé">
              <a:extLst>
                <a:ext uri="{FF2B5EF4-FFF2-40B4-BE49-F238E27FC236}">
                  <a16:creationId xmlns:a16="http://schemas.microsoft.com/office/drawing/2014/main" id="{9EFEACEA-37DE-48CF-92BF-85BC062B6667}"/>
                </a:ext>
              </a:extLst>
            </p:cNvPr>
            <p:cNvSpPr/>
            <p:nvPr/>
          </p:nvSpPr>
          <p:spPr bwMode="auto">
            <a:xfrm>
              <a:off x="6816725" y="1304925"/>
              <a:ext cx="177800"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47" name="îsḻiḑe">
              <a:extLst>
                <a:ext uri="{FF2B5EF4-FFF2-40B4-BE49-F238E27FC236}">
                  <a16:creationId xmlns:a16="http://schemas.microsoft.com/office/drawing/2014/main" id="{C52E909F-BCCC-4B33-81BA-0569A49D0CE8}"/>
                </a:ext>
              </a:extLst>
            </p:cNvPr>
            <p:cNvSpPr/>
            <p:nvPr/>
          </p:nvSpPr>
          <p:spPr bwMode="auto">
            <a:xfrm>
              <a:off x="6418263" y="1304925"/>
              <a:ext cx="176213" cy="55245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48" name="î$ḷíḋè">
              <a:extLst>
                <a:ext uri="{FF2B5EF4-FFF2-40B4-BE49-F238E27FC236}">
                  <a16:creationId xmlns:a16="http://schemas.microsoft.com/office/drawing/2014/main" id="{B7F1E872-CED7-4BEF-9D2C-F790BF2B1C57}"/>
                </a:ext>
              </a:extLst>
            </p:cNvPr>
            <p:cNvSpPr/>
            <p:nvPr/>
          </p:nvSpPr>
          <p:spPr bwMode="auto">
            <a:xfrm>
              <a:off x="6018213" y="4999038"/>
              <a:ext cx="177800"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49" name="ïSľiḍè">
              <a:extLst>
                <a:ext uri="{FF2B5EF4-FFF2-40B4-BE49-F238E27FC236}">
                  <a16:creationId xmlns:a16="http://schemas.microsoft.com/office/drawing/2014/main" id="{DBC4D4E8-9A7F-4E76-A714-5FB38C67D774}"/>
                </a:ext>
              </a:extLst>
            </p:cNvPr>
            <p:cNvSpPr/>
            <p:nvPr/>
          </p:nvSpPr>
          <p:spPr bwMode="auto">
            <a:xfrm>
              <a:off x="5619750" y="4999038"/>
              <a:ext cx="177800"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0" name="îṡļîḋê">
              <a:extLst>
                <a:ext uri="{FF2B5EF4-FFF2-40B4-BE49-F238E27FC236}">
                  <a16:creationId xmlns:a16="http://schemas.microsoft.com/office/drawing/2014/main" id="{9B4AC033-D877-477B-B638-D94233C88E3F}"/>
                </a:ext>
              </a:extLst>
            </p:cNvPr>
            <p:cNvSpPr/>
            <p:nvPr/>
          </p:nvSpPr>
          <p:spPr bwMode="auto">
            <a:xfrm>
              <a:off x="5221288" y="4999038"/>
              <a:ext cx="177800"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1" name="íš1îde">
              <a:extLst>
                <a:ext uri="{FF2B5EF4-FFF2-40B4-BE49-F238E27FC236}">
                  <a16:creationId xmlns:a16="http://schemas.microsoft.com/office/drawing/2014/main" id="{3058DE72-0A53-4DFE-98DD-243F79F8AA2F}"/>
                </a:ext>
              </a:extLst>
            </p:cNvPr>
            <p:cNvSpPr/>
            <p:nvPr/>
          </p:nvSpPr>
          <p:spPr bwMode="auto">
            <a:xfrm>
              <a:off x="6816725" y="4999038"/>
              <a:ext cx="177800"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2" name="iṧļíḍê">
              <a:extLst>
                <a:ext uri="{FF2B5EF4-FFF2-40B4-BE49-F238E27FC236}">
                  <a16:creationId xmlns:a16="http://schemas.microsoft.com/office/drawing/2014/main" id="{EF903C01-8317-449A-AF08-4E4B4D08BAA4}"/>
                </a:ext>
              </a:extLst>
            </p:cNvPr>
            <p:cNvSpPr/>
            <p:nvPr/>
          </p:nvSpPr>
          <p:spPr bwMode="auto">
            <a:xfrm>
              <a:off x="6418263" y="4999038"/>
              <a:ext cx="176213" cy="554038"/>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3" name="ïŝlïḍé">
              <a:extLst>
                <a:ext uri="{FF2B5EF4-FFF2-40B4-BE49-F238E27FC236}">
                  <a16:creationId xmlns:a16="http://schemas.microsoft.com/office/drawing/2014/main" id="{0A5965F0-0234-4FEA-8C39-77D8D9E640E6}"/>
                </a:ext>
              </a:extLst>
            </p:cNvPr>
            <p:cNvSpPr/>
            <p:nvPr/>
          </p:nvSpPr>
          <p:spPr bwMode="auto">
            <a:xfrm>
              <a:off x="7680325" y="3340100"/>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4" name="íŝḻïḍè">
              <a:extLst>
                <a:ext uri="{FF2B5EF4-FFF2-40B4-BE49-F238E27FC236}">
                  <a16:creationId xmlns:a16="http://schemas.microsoft.com/office/drawing/2014/main" id="{92DBF426-13EA-4244-BC2F-C58488889400}"/>
                </a:ext>
              </a:extLst>
            </p:cNvPr>
            <p:cNvSpPr/>
            <p:nvPr/>
          </p:nvSpPr>
          <p:spPr bwMode="auto">
            <a:xfrm>
              <a:off x="7680325" y="2941638"/>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5" name="íṡḷidé">
              <a:extLst>
                <a:ext uri="{FF2B5EF4-FFF2-40B4-BE49-F238E27FC236}">
                  <a16:creationId xmlns:a16="http://schemas.microsoft.com/office/drawing/2014/main" id="{47DEDD51-5BB4-4ED2-A06D-307401AADFB4}"/>
                </a:ext>
              </a:extLst>
            </p:cNvPr>
            <p:cNvSpPr/>
            <p:nvPr/>
          </p:nvSpPr>
          <p:spPr bwMode="auto">
            <a:xfrm>
              <a:off x="7680325" y="2543175"/>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6" name="işḻiḓé">
              <a:extLst>
                <a:ext uri="{FF2B5EF4-FFF2-40B4-BE49-F238E27FC236}">
                  <a16:creationId xmlns:a16="http://schemas.microsoft.com/office/drawing/2014/main" id="{476B92C6-3E73-4D3D-B3F9-EA967695297F}"/>
                </a:ext>
              </a:extLst>
            </p:cNvPr>
            <p:cNvSpPr/>
            <p:nvPr/>
          </p:nvSpPr>
          <p:spPr bwMode="auto">
            <a:xfrm>
              <a:off x="7680325" y="4137025"/>
              <a:ext cx="554038" cy="176213"/>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7" name="iS1îdè">
              <a:extLst>
                <a:ext uri="{FF2B5EF4-FFF2-40B4-BE49-F238E27FC236}">
                  <a16:creationId xmlns:a16="http://schemas.microsoft.com/office/drawing/2014/main" id="{69646F0B-9A0F-4E8C-B584-B7BAC7A582E4}"/>
                </a:ext>
              </a:extLst>
            </p:cNvPr>
            <p:cNvSpPr/>
            <p:nvPr/>
          </p:nvSpPr>
          <p:spPr bwMode="auto">
            <a:xfrm>
              <a:off x="7680325" y="3738563"/>
              <a:ext cx="554038" cy="176213"/>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8" name="ïṡļídé">
              <a:extLst>
                <a:ext uri="{FF2B5EF4-FFF2-40B4-BE49-F238E27FC236}">
                  <a16:creationId xmlns:a16="http://schemas.microsoft.com/office/drawing/2014/main" id="{BBFFC821-3EE8-442C-93CE-9B9468879A60}"/>
                </a:ext>
              </a:extLst>
            </p:cNvPr>
            <p:cNvSpPr/>
            <p:nvPr/>
          </p:nvSpPr>
          <p:spPr bwMode="auto">
            <a:xfrm>
              <a:off x="3979863" y="3340100"/>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9" name="iŝ1iḋè">
              <a:extLst>
                <a:ext uri="{FF2B5EF4-FFF2-40B4-BE49-F238E27FC236}">
                  <a16:creationId xmlns:a16="http://schemas.microsoft.com/office/drawing/2014/main" id="{2309F608-D7D3-4519-A9CE-CEA0D1A7A242}"/>
                </a:ext>
              </a:extLst>
            </p:cNvPr>
            <p:cNvSpPr/>
            <p:nvPr/>
          </p:nvSpPr>
          <p:spPr bwMode="auto">
            <a:xfrm>
              <a:off x="3979863" y="2941638"/>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60" name="ïṥľîdé">
              <a:extLst>
                <a:ext uri="{FF2B5EF4-FFF2-40B4-BE49-F238E27FC236}">
                  <a16:creationId xmlns:a16="http://schemas.microsoft.com/office/drawing/2014/main" id="{BF5B766C-6CC3-493D-B5B1-72A66CF9DB72}"/>
                </a:ext>
              </a:extLst>
            </p:cNvPr>
            <p:cNvSpPr/>
            <p:nvPr/>
          </p:nvSpPr>
          <p:spPr bwMode="auto">
            <a:xfrm>
              <a:off x="3979863" y="2543175"/>
              <a:ext cx="554038" cy="177800"/>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61" name="íSḷïḋè">
              <a:extLst>
                <a:ext uri="{FF2B5EF4-FFF2-40B4-BE49-F238E27FC236}">
                  <a16:creationId xmlns:a16="http://schemas.microsoft.com/office/drawing/2014/main" id="{CF319A7E-30BF-4F71-B795-7E97A4B111CB}"/>
                </a:ext>
              </a:extLst>
            </p:cNvPr>
            <p:cNvSpPr/>
            <p:nvPr/>
          </p:nvSpPr>
          <p:spPr bwMode="auto">
            <a:xfrm>
              <a:off x="3979863" y="4137025"/>
              <a:ext cx="554038" cy="176213"/>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62" name="ïšḻîḑè">
              <a:extLst>
                <a:ext uri="{FF2B5EF4-FFF2-40B4-BE49-F238E27FC236}">
                  <a16:creationId xmlns:a16="http://schemas.microsoft.com/office/drawing/2014/main" id="{EF5C620E-DE9F-40B1-B8D4-8B6B2E57F17F}"/>
                </a:ext>
              </a:extLst>
            </p:cNvPr>
            <p:cNvSpPr/>
            <p:nvPr/>
          </p:nvSpPr>
          <p:spPr bwMode="auto">
            <a:xfrm>
              <a:off x="3979863" y="3738563"/>
              <a:ext cx="554038" cy="176213"/>
            </a:xfrm>
            <a:prstGeom prst="rect">
              <a:avLst/>
            </a:prstGeom>
            <a:solidFill>
              <a:srgbClr val="11BC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grpSp>
      <p:sp>
        <p:nvSpPr>
          <p:cNvPr id="263" name="矩形 262"/>
          <p:cNvSpPr/>
          <p:nvPr/>
        </p:nvSpPr>
        <p:spPr>
          <a:xfrm>
            <a:off x="2423955" y="4064330"/>
            <a:ext cx="1526244" cy="1133475"/>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4" name="肘形连接符 263"/>
          <p:cNvCxnSpPr/>
          <p:nvPr/>
        </p:nvCxnSpPr>
        <p:spPr>
          <a:xfrm rot="10800000" flipV="1">
            <a:off x="3213356" y="3773745"/>
            <a:ext cx="1551784" cy="499467"/>
          </a:xfrm>
          <a:prstGeom prst="bentConnector3">
            <a:avLst>
              <a:gd name="adj1" fmla="val 99923"/>
            </a:avLst>
          </a:prstGeom>
          <a:noFill/>
          <a:ln w="28575" cap="flat" cmpd="sng">
            <a:solidFill>
              <a:srgbClr val="BC3649"/>
            </a:solidFill>
            <a:prstDash val="solid"/>
            <a:round/>
            <a:headEnd/>
            <a:tailEnd type="triangle"/>
          </a:ln>
          <a:effectLst/>
        </p:spPr>
      </p:cxnSp>
      <p:cxnSp>
        <p:nvCxnSpPr>
          <p:cNvPr id="265" name="肘形连接符 264"/>
          <p:cNvCxnSpPr/>
          <p:nvPr/>
        </p:nvCxnSpPr>
        <p:spPr>
          <a:xfrm rot="16200000" flipH="1">
            <a:off x="6882257" y="1199549"/>
            <a:ext cx="466730" cy="4681665"/>
          </a:xfrm>
          <a:prstGeom prst="bentConnector2">
            <a:avLst/>
          </a:prstGeom>
          <a:noFill/>
          <a:ln w="28575" cap="flat" cmpd="sng">
            <a:solidFill>
              <a:srgbClr val="BC3649"/>
            </a:solidFill>
            <a:prstDash val="solid"/>
            <a:round/>
            <a:headEnd type="none" w="med" len="med"/>
            <a:tailEnd type="none" w="med" len="med"/>
          </a:ln>
          <a:effectLst/>
        </p:spPr>
      </p:cxnSp>
      <p:sp>
        <p:nvSpPr>
          <p:cNvPr id="266" name="retro-abacus_73707"/>
          <p:cNvSpPr>
            <a:spLocks/>
          </p:cNvSpPr>
          <p:nvPr/>
        </p:nvSpPr>
        <p:spPr bwMode="auto">
          <a:xfrm>
            <a:off x="2995073" y="4299563"/>
            <a:ext cx="398466" cy="295119"/>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88862 h 440259"/>
              <a:gd name="T45" fmla="*/ 88862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278945 h 440259"/>
              <a:gd name="T89" fmla="*/ 278945 h 440259"/>
              <a:gd name="T90" fmla="*/ 278945 h 440259"/>
              <a:gd name="T91" fmla="*/ 278945 h 440259"/>
              <a:gd name="T92" fmla="*/ 278945 h 440259"/>
              <a:gd name="T93" fmla="*/ 278945 h 440259"/>
              <a:gd name="T94" fmla="*/ 278945 h 440259"/>
              <a:gd name="T95" fmla="*/ 278945 h 440259"/>
              <a:gd name="T96" fmla="*/ 278945 h 440259"/>
              <a:gd name="T97" fmla="*/ 278945 h 440259"/>
              <a:gd name="T98" fmla="*/ 278945 h 440259"/>
              <a:gd name="T99" fmla="*/ 278945 h 440259"/>
              <a:gd name="T100" fmla="*/ 278945 h 440259"/>
              <a:gd name="T101"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48" h="2613">
                <a:moveTo>
                  <a:pt x="2582" y="0"/>
                </a:moveTo>
                <a:lnTo>
                  <a:pt x="2362" y="0"/>
                </a:lnTo>
                <a:cubicBezTo>
                  <a:pt x="2325" y="0"/>
                  <a:pt x="2296" y="29"/>
                  <a:pt x="2296" y="66"/>
                </a:cubicBezTo>
                <a:lnTo>
                  <a:pt x="2296" y="386"/>
                </a:lnTo>
                <a:lnTo>
                  <a:pt x="1455" y="386"/>
                </a:lnTo>
                <a:lnTo>
                  <a:pt x="1455" y="361"/>
                </a:lnTo>
                <a:cubicBezTo>
                  <a:pt x="1455" y="261"/>
                  <a:pt x="1374" y="180"/>
                  <a:pt x="1275" y="180"/>
                </a:cubicBezTo>
                <a:lnTo>
                  <a:pt x="1272" y="180"/>
                </a:lnTo>
                <a:cubicBezTo>
                  <a:pt x="1173" y="180"/>
                  <a:pt x="1091" y="261"/>
                  <a:pt x="1091" y="361"/>
                </a:cubicBezTo>
                <a:lnTo>
                  <a:pt x="1091" y="386"/>
                </a:lnTo>
                <a:lnTo>
                  <a:pt x="918" y="386"/>
                </a:lnTo>
                <a:lnTo>
                  <a:pt x="918" y="361"/>
                </a:lnTo>
                <a:cubicBezTo>
                  <a:pt x="918" y="261"/>
                  <a:pt x="836" y="180"/>
                  <a:pt x="737" y="180"/>
                </a:cubicBezTo>
                <a:lnTo>
                  <a:pt x="734" y="180"/>
                </a:lnTo>
                <a:cubicBezTo>
                  <a:pt x="635" y="180"/>
                  <a:pt x="554" y="261"/>
                  <a:pt x="554" y="361"/>
                </a:cubicBezTo>
                <a:lnTo>
                  <a:pt x="554" y="386"/>
                </a:lnTo>
                <a:lnTo>
                  <a:pt x="353" y="386"/>
                </a:lnTo>
                <a:lnTo>
                  <a:pt x="353" y="66"/>
                </a:lnTo>
                <a:cubicBezTo>
                  <a:pt x="353" y="29"/>
                  <a:pt x="323" y="0"/>
                  <a:pt x="286" y="0"/>
                </a:cubicBezTo>
                <a:lnTo>
                  <a:pt x="67" y="0"/>
                </a:lnTo>
                <a:cubicBezTo>
                  <a:pt x="30" y="0"/>
                  <a:pt x="0" y="29"/>
                  <a:pt x="0" y="66"/>
                </a:cubicBezTo>
                <a:lnTo>
                  <a:pt x="0" y="2546"/>
                </a:lnTo>
                <a:cubicBezTo>
                  <a:pt x="0" y="2583"/>
                  <a:pt x="30" y="2613"/>
                  <a:pt x="67" y="2613"/>
                </a:cubicBezTo>
                <a:lnTo>
                  <a:pt x="286" y="2613"/>
                </a:lnTo>
                <a:cubicBezTo>
                  <a:pt x="323" y="2613"/>
                  <a:pt x="353" y="2583"/>
                  <a:pt x="353" y="2546"/>
                </a:cubicBezTo>
                <a:lnTo>
                  <a:pt x="353" y="2226"/>
                </a:lnTo>
                <a:lnTo>
                  <a:pt x="496" y="2226"/>
                </a:lnTo>
                <a:lnTo>
                  <a:pt x="496" y="2259"/>
                </a:lnTo>
                <a:cubicBezTo>
                  <a:pt x="496" y="2358"/>
                  <a:pt x="577" y="2440"/>
                  <a:pt x="676" y="2440"/>
                </a:cubicBezTo>
                <a:lnTo>
                  <a:pt x="679" y="2440"/>
                </a:lnTo>
                <a:cubicBezTo>
                  <a:pt x="778" y="2440"/>
                  <a:pt x="860" y="2358"/>
                  <a:pt x="860" y="2259"/>
                </a:cubicBezTo>
                <a:lnTo>
                  <a:pt x="860" y="2226"/>
                </a:lnTo>
                <a:lnTo>
                  <a:pt x="1033" y="2226"/>
                </a:lnTo>
                <a:lnTo>
                  <a:pt x="1033" y="2259"/>
                </a:lnTo>
                <a:cubicBezTo>
                  <a:pt x="1033" y="2358"/>
                  <a:pt x="1115" y="2440"/>
                  <a:pt x="1214" y="2440"/>
                </a:cubicBezTo>
                <a:lnTo>
                  <a:pt x="1217" y="2440"/>
                </a:lnTo>
                <a:cubicBezTo>
                  <a:pt x="1316" y="2440"/>
                  <a:pt x="1397" y="2358"/>
                  <a:pt x="1397" y="2259"/>
                </a:cubicBezTo>
                <a:lnTo>
                  <a:pt x="1397" y="2226"/>
                </a:lnTo>
                <a:lnTo>
                  <a:pt x="2296" y="2226"/>
                </a:lnTo>
                <a:lnTo>
                  <a:pt x="2296" y="2546"/>
                </a:lnTo>
                <a:cubicBezTo>
                  <a:pt x="2296" y="2583"/>
                  <a:pt x="2325" y="2613"/>
                  <a:pt x="2362" y="2613"/>
                </a:cubicBezTo>
                <a:lnTo>
                  <a:pt x="2582" y="2613"/>
                </a:lnTo>
                <a:cubicBezTo>
                  <a:pt x="2619" y="2613"/>
                  <a:pt x="2648" y="2583"/>
                  <a:pt x="2648" y="2546"/>
                </a:cubicBezTo>
                <a:lnTo>
                  <a:pt x="2648" y="66"/>
                </a:lnTo>
                <a:cubicBezTo>
                  <a:pt x="2648" y="29"/>
                  <a:pt x="2619" y="0"/>
                  <a:pt x="2582" y="0"/>
                </a:cubicBezTo>
                <a:close/>
                <a:moveTo>
                  <a:pt x="553" y="520"/>
                </a:moveTo>
                <a:lnTo>
                  <a:pt x="553" y="559"/>
                </a:lnTo>
                <a:cubicBezTo>
                  <a:pt x="553" y="659"/>
                  <a:pt x="635" y="740"/>
                  <a:pt x="734" y="740"/>
                </a:cubicBezTo>
                <a:lnTo>
                  <a:pt x="737" y="740"/>
                </a:lnTo>
                <a:cubicBezTo>
                  <a:pt x="836" y="740"/>
                  <a:pt x="918" y="659"/>
                  <a:pt x="918" y="559"/>
                </a:cubicBezTo>
                <a:lnTo>
                  <a:pt x="918" y="520"/>
                </a:lnTo>
                <a:lnTo>
                  <a:pt x="1091" y="520"/>
                </a:lnTo>
                <a:lnTo>
                  <a:pt x="1091" y="559"/>
                </a:lnTo>
                <a:cubicBezTo>
                  <a:pt x="1091" y="659"/>
                  <a:pt x="1172" y="740"/>
                  <a:pt x="1272" y="740"/>
                </a:cubicBezTo>
                <a:lnTo>
                  <a:pt x="1275" y="740"/>
                </a:lnTo>
                <a:cubicBezTo>
                  <a:pt x="1374" y="740"/>
                  <a:pt x="1455" y="659"/>
                  <a:pt x="1455" y="559"/>
                </a:cubicBezTo>
                <a:lnTo>
                  <a:pt x="1455" y="520"/>
                </a:lnTo>
                <a:lnTo>
                  <a:pt x="2296" y="520"/>
                </a:lnTo>
                <a:lnTo>
                  <a:pt x="2296" y="1240"/>
                </a:lnTo>
                <a:lnTo>
                  <a:pt x="2051" y="1240"/>
                </a:lnTo>
                <a:lnTo>
                  <a:pt x="2051" y="1188"/>
                </a:lnTo>
                <a:cubicBezTo>
                  <a:pt x="2051" y="1088"/>
                  <a:pt x="1970" y="1007"/>
                  <a:pt x="1870" y="1007"/>
                </a:cubicBezTo>
                <a:lnTo>
                  <a:pt x="1868" y="1007"/>
                </a:lnTo>
                <a:cubicBezTo>
                  <a:pt x="1768" y="1007"/>
                  <a:pt x="1687" y="1088"/>
                  <a:pt x="1687" y="1188"/>
                </a:cubicBezTo>
                <a:lnTo>
                  <a:pt x="1687" y="1240"/>
                </a:lnTo>
                <a:lnTo>
                  <a:pt x="1513" y="1240"/>
                </a:lnTo>
                <a:lnTo>
                  <a:pt x="1513" y="1188"/>
                </a:lnTo>
                <a:cubicBezTo>
                  <a:pt x="1513" y="1088"/>
                  <a:pt x="1432" y="1007"/>
                  <a:pt x="1332" y="1007"/>
                </a:cubicBezTo>
                <a:lnTo>
                  <a:pt x="1330" y="1007"/>
                </a:lnTo>
                <a:cubicBezTo>
                  <a:pt x="1230" y="1007"/>
                  <a:pt x="1149" y="1088"/>
                  <a:pt x="1149" y="1188"/>
                </a:cubicBezTo>
                <a:lnTo>
                  <a:pt x="1149" y="1240"/>
                </a:lnTo>
                <a:lnTo>
                  <a:pt x="353" y="1240"/>
                </a:lnTo>
                <a:lnTo>
                  <a:pt x="353" y="520"/>
                </a:lnTo>
                <a:lnTo>
                  <a:pt x="553" y="520"/>
                </a:lnTo>
                <a:close/>
                <a:moveTo>
                  <a:pt x="1397" y="2093"/>
                </a:moveTo>
                <a:lnTo>
                  <a:pt x="1397" y="2060"/>
                </a:lnTo>
                <a:cubicBezTo>
                  <a:pt x="1397" y="1961"/>
                  <a:pt x="1316" y="1880"/>
                  <a:pt x="1217" y="1880"/>
                </a:cubicBezTo>
                <a:lnTo>
                  <a:pt x="1214" y="1880"/>
                </a:lnTo>
                <a:cubicBezTo>
                  <a:pt x="1115" y="1880"/>
                  <a:pt x="1033" y="1961"/>
                  <a:pt x="1033" y="2060"/>
                </a:cubicBezTo>
                <a:lnTo>
                  <a:pt x="1033" y="2093"/>
                </a:lnTo>
                <a:lnTo>
                  <a:pt x="860" y="2093"/>
                </a:lnTo>
                <a:lnTo>
                  <a:pt x="860" y="2060"/>
                </a:lnTo>
                <a:cubicBezTo>
                  <a:pt x="860" y="1961"/>
                  <a:pt x="778" y="1880"/>
                  <a:pt x="679" y="1880"/>
                </a:cubicBezTo>
                <a:lnTo>
                  <a:pt x="676" y="1880"/>
                </a:lnTo>
                <a:cubicBezTo>
                  <a:pt x="577" y="1880"/>
                  <a:pt x="496" y="1961"/>
                  <a:pt x="496" y="2060"/>
                </a:cubicBezTo>
                <a:lnTo>
                  <a:pt x="496" y="2093"/>
                </a:lnTo>
                <a:lnTo>
                  <a:pt x="353" y="2093"/>
                </a:lnTo>
                <a:lnTo>
                  <a:pt x="353" y="1373"/>
                </a:lnTo>
                <a:lnTo>
                  <a:pt x="1149" y="1373"/>
                </a:lnTo>
                <a:lnTo>
                  <a:pt x="1149" y="1386"/>
                </a:lnTo>
                <a:cubicBezTo>
                  <a:pt x="1149" y="1486"/>
                  <a:pt x="1230" y="1567"/>
                  <a:pt x="1330" y="1567"/>
                </a:cubicBezTo>
                <a:lnTo>
                  <a:pt x="1332" y="1567"/>
                </a:lnTo>
                <a:cubicBezTo>
                  <a:pt x="1432" y="1567"/>
                  <a:pt x="1513" y="1486"/>
                  <a:pt x="1513" y="1386"/>
                </a:cubicBezTo>
                <a:lnTo>
                  <a:pt x="1513" y="1373"/>
                </a:lnTo>
                <a:lnTo>
                  <a:pt x="1687" y="1373"/>
                </a:lnTo>
                <a:lnTo>
                  <a:pt x="1687" y="1386"/>
                </a:lnTo>
                <a:cubicBezTo>
                  <a:pt x="1687" y="1486"/>
                  <a:pt x="1768" y="1567"/>
                  <a:pt x="1868" y="1567"/>
                </a:cubicBezTo>
                <a:lnTo>
                  <a:pt x="1870" y="1567"/>
                </a:lnTo>
                <a:cubicBezTo>
                  <a:pt x="1970" y="1567"/>
                  <a:pt x="2051" y="1486"/>
                  <a:pt x="2051" y="1386"/>
                </a:cubicBezTo>
                <a:lnTo>
                  <a:pt x="2051" y="1373"/>
                </a:lnTo>
                <a:lnTo>
                  <a:pt x="2296" y="1373"/>
                </a:lnTo>
                <a:lnTo>
                  <a:pt x="2296" y="2093"/>
                </a:lnTo>
                <a:lnTo>
                  <a:pt x="1397" y="2093"/>
                </a:lnTo>
                <a:close/>
              </a:path>
            </a:pathLst>
          </a:custGeom>
          <a:solidFill>
            <a:srgbClr val="BC3649"/>
          </a:solidFill>
          <a:ln>
            <a:noFill/>
          </a:ln>
        </p:spPr>
      </p:sp>
      <p:sp>
        <p:nvSpPr>
          <p:cNvPr id="267" name="old-computer-screen-and-keyboard_77334"/>
          <p:cNvSpPr>
            <a:spLocks/>
          </p:cNvSpPr>
          <p:nvPr/>
        </p:nvSpPr>
        <p:spPr bwMode="auto">
          <a:xfrm>
            <a:off x="9257221" y="4299563"/>
            <a:ext cx="398466" cy="295119"/>
          </a:xfrm>
          <a:custGeom>
            <a:avLst/>
            <a:gdLst>
              <a:gd name="connsiteX0" fmla="*/ 77343 w 606580"/>
              <a:gd name="connsiteY0" fmla="*/ 537652 h 605592"/>
              <a:gd name="connsiteX1" fmla="*/ 64994 w 606580"/>
              <a:gd name="connsiteY1" fmla="*/ 549979 h 605592"/>
              <a:gd name="connsiteX2" fmla="*/ 77343 w 606580"/>
              <a:gd name="connsiteY2" fmla="*/ 562399 h 605592"/>
              <a:gd name="connsiteX3" fmla="*/ 529237 w 606580"/>
              <a:gd name="connsiteY3" fmla="*/ 562399 h 605592"/>
              <a:gd name="connsiteX4" fmla="*/ 541586 w 606580"/>
              <a:gd name="connsiteY4" fmla="*/ 549979 h 605592"/>
              <a:gd name="connsiteX5" fmla="*/ 529237 w 606580"/>
              <a:gd name="connsiteY5" fmla="*/ 537652 h 605592"/>
              <a:gd name="connsiteX6" fmla="*/ 462386 w 606580"/>
              <a:gd name="connsiteY6" fmla="*/ 487785 h 605592"/>
              <a:gd name="connsiteX7" fmla="*/ 450037 w 606580"/>
              <a:gd name="connsiteY7" fmla="*/ 500205 h 605592"/>
              <a:gd name="connsiteX8" fmla="*/ 462386 w 606580"/>
              <a:gd name="connsiteY8" fmla="*/ 512533 h 605592"/>
              <a:gd name="connsiteX9" fmla="*/ 492376 w 606580"/>
              <a:gd name="connsiteY9" fmla="*/ 512533 h 605592"/>
              <a:gd name="connsiteX10" fmla="*/ 504818 w 606580"/>
              <a:gd name="connsiteY10" fmla="*/ 500205 h 605592"/>
              <a:gd name="connsiteX11" fmla="*/ 492376 w 606580"/>
              <a:gd name="connsiteY11" fmla="*/ 487785 h 605592"/>
              <a:gd name="connsiteX12" fmla="*/ 375387 w 606580"/>
              <a:gd name="connsiteY12" fmla="*/ 487785 h 605592"/>
              <a:gd name="connsiteX13" fmla="*/ 362945 w 606580"/>
              <a:gd name="connsiteY13" fmla="*/ 500205 h 605592"/>
              <a:gd name="connsiteX14" fmla="*/ 375387 w 606580"/>
              <a:gd name="connsiteY14" fmla="*/ 512533 h 605592"/>
              <a:gd name="connsiteX15" fmla="*/ 405377 w 606580"/>
              <a:gd name="connsiteY15" fmla="*/ 512533 h 605592"/>
              <a:gd name="connsiteX16" fmla="*/ 417726 w 606580"/>
              <a:gd name="connsiteY16" fmla="*/ 500205 h 605592"/>
              <a:gd name="connsiteX17" fmla="*/ 405377 w 606580"/>
              <a:gd name="connsiteY17" fmla="*/ 487785 h 605592"/>
              <a:gd name="connsiteX18" fmla="*/ 288295 w 606580"/>
              <a:gd name="connsiteY18" fmla="*/ 487785 h 605592"/>
              <a:gd name="connsiteX19" fmla="*/ 275946 w 606580"/>
              <a:gd name="connsiteY19" fmla="*/ 500205 h 605592"/>
              <a:gd name="connsiteX20" fmla="*/ 288295 w 606580"/>
              <a:gd name="connsiteY20" fmla="*/ 512533 h 605592"/>
              <a:gd name="connsiteX21" fmla="*/ 318285 w 606580"/>
              <a:gd name="connsiteY21" fmla="*/ 512533 h 605592"/>
              <a:gd name="connsiteX22" fmla="*/ 330727 w 606580"/>
              <a:gd name="connsiteY22" fmla="*/ 500205 h 605592"/>
              <a:gd name="connsiteX23" fmla="*/ 318285 w 606580"/>
              <a:gd name="connsiteY23" fmla="*/ 487785 h 605592"/>
              <a:gd name="connsiteX24" fmla="*/ 201296 w 606580"/>
              <a:gd name="connsiteY24" fmla="*/ 487785 h 605592"/>
              <a:gd name="connsiteX25" fmla="*/ 188854 w 606580"/>
              <a:gd name="connsiteY25" fmla="*/ 500205 h 605592"/>
              <a:gd name="connsiteX26" fmla="*/ 201296 w 606580"/>
              <a:gd name="connsiteY26" fmla="*/ 512533 h 605592"/>
              <a:gd name="connsiteX27" fmla="*/ 231286 w 606580"/>
              <a:gd name="connsiteY27" fmla="*/ 512533 h 605592"/>
              <a:gd name="connsiteX28" fmla="*/ 243635 w 606580"/>
              <a:gd name="connsiteY28" fmla="*/ 500205 h 605592"/>
              <a:gd name="connsiteX29" fmla="*/ 231286 w 606580"/>
              <a:gd name="connsiteY29" fmla="*/ 487785 h 605592"/>
              <a:gd name="connsiteX30" fmla="*/ 114204 w 606580"/>
              <a:gd name="connsiteY30" fmla="*/ 487785 h 605592"/>
              <a:gd name="connsiteX31" fmla="*/ 101855 w 606580"/>
              <a:gd name="connsiteY31" fmla="*/ 500205 h 605592"/>
              <a:gd name="connsiteX32" fmla="*/ 114204 w 606580"/>
              <a:gd name="connsiteY32" fmla="*/ 512533 h 605592"/>
              <a:gd name="connsiteX33" fmla="*/ 144194 w 606580"/>
              <a:gd name="connsiteY33" fmla="*/ 512533 h 605592"/>
              <a:gd name="connsiteX34" fmla="*/ 156636 w 606580"/>
              <a:gd name="connsiteY34" fmla="*/ 500205 h 605592"/>
              <a:gd name="connsiteX35" fmla="*/ 144194 w 606580"/>
              <a:gd name="connsiteY35" fmla="*/ 487785 h 605592"/>
              <a:gd name="connsiteX36" fmla="*/ 110304 w 606580"/>
              <a:gd name="connsiteY36" fmla="*/ 468413 h 605592"/>
              <a:gd name="connsiteX37" fmla="*/ 302687 w 606580"/>
              <a:gd name="connsiteY37" fmla="*/ 468413 h 605592"/>
              <a:gd name="connsiteX38" fmla="*/ 303894 w 606580"/>
              <a:gd name="connsiteY38" fmla="*/ 468413 h 605592"/>
              <a:gd name="connsiteX39" fmla="*/ 496276 w 606580"/>
              <a:gd name="connsiteY39" fmla="*/ 468413 h 605592"/>
              <a:gd name="connsiteX40" fmla="*/ 513267 w 606580"/>
              <a:gd name="connsiteY40" fmla="*/ 472770 h 605592"/>
              <a:gd name="connsiteX41" fmla="*/ 515589 w 606580"/>
              <a:gd name="connsiteY41" fmla="*/ 474809 h 605592"/>
              <a:gd name="connsiteX42" fmla="*/ 589496 w 606580"/>
              <a:gd name="connsiteY42" fmla="*/ 538300 h 605592"/>
              <a:gd name="connsiteX43" fmla="*/ 597760 w 606580"/>
              <a:gd name="connsiteY43" fmla="*/ 545345 h 605592"/>
              <a:gd name="connsiteX44" fmla="*/ 606580 w 606580"/>
              <a:gd name="connsiteY44" fmla="*/ 569166 h 605592"/>
              <a:gd name="connsiteX45" fmla="*/ 570091 w 606580"/>
              <a:gd name="connsiteY45" fmla="*/ 605592 h 605592"/>
              <a:gd name="connsiteX46" fmla="*/ 303894 w 606580"/>
              <a:gd name="connsiteY46" fmla="*/ 605592 h 605592"/>
              <a:gd name="connsiteX47" fmla="*/ 302687 w 606580"/>
              <a:gd name="connsiteY47" fmla="*/ 605592 h 605592"/>
              <a:gd name="connsiteX48" fmla="*/ 36489 w 606580"/>
              <a:gd name="connsiteY48" fmla="*/ 605592 h 605592"/>
              <a:gd name="connsiteX49" fmla="*/ 0 w 606580"/>
              <a:gd name="connsiteY49" fmla="*/ 569166 h 605592"/>
              <a:gd name="connsiteX50" fmla="*/ 8820 w 606580"/>
              <a:gd name="connsiteY50" fmla="*/ 545345 h 605592"/>
              <a:gd name="connsiteX51" fmla="*/ 17084 w 606580"/>
              <a:gd name="connsiteY51" fmla="*/ 538300 h 605592"/>
              <a:gd name="connsiteX52" fmla="*/ 90991 w 606580"/>
              <a:gd name="connsiteY52" fmla="*/ 474809 h 605592"/>
              <a:gd name="connsiteX53" fmla="*/ 93405 w 606580"/>
              <a:gd name="connsiteY53" fmla="*/ 472770 h 605592"/>
              <a:gd name="connsiteX54" fmla="*/ 110304 w 606580"/>
              <a:gd name="connsiteY54" fmla="*/ 468413 h 605592"/>
              <a:gd name="connsiteX55" fmla="*/ 150233 w 606580"/>
              <a:gd name="connsiteY55" fmla="*/ 49396 h 605592"/>
              <a:gd name="connsiteX56" fmla="*/ 456347 w 606580"/>
              <a:gd name="connsiteY56" fmla="*/ 49396 h 605592"/>
              <a:gd name="connsiteX57" fmla="*/ 479280 w 606580"/>
              <a:gd name="connsiteY57" fmla="*/ 72295 h 605592"/>
              <a:gd name="connsiteX58" fmla="*/ 479280 w 606580"/>
              <a:gd name="connsiteY58" fmla="*/ 183541 h 605592"/>
              <a:gd name="connsiteX59" fmla="*/ 479280 w 606580"/>
              <a:gd name="connsiteY59" fmla="*/ 294788 h 605592"/>
              <a:gd name="connsiteX60" fmla="*/ 456347 w 606580"/>
              <a:gd name="connsiteY60" fmla="*/ 317686 h 605592"/>
              <a:gd name="connsiteX61" fmla="*/ 150233 w 606580"/>
              <a:gd name="connsiteY61" fmla="*/ 317686 h 605592"/>
              <a:gd name="connsiteX62" fmla="*/ 127300 w 606580"/>
              <a:gd name="connsiteY62" fmla="*/ 294788 h 605592"/>
              <a:gd name="connsiteX63" fmla="*/ 127300 w 606580"/>
              <a:gd name="connsiteY63" fmla="*/ 183541 h 605592"/>
              <a:gd name="connsiteX64" fmla="*/ 127300 w 606580"/>
              <a:gd name="connsiteY64" fmla="*/ 72295 h 605592"/>
              <a:gd name="connsiteX65" fmla="*/ 150233 w 606580"/>
              <a:gd name="connsiteY65" fmla="*/ 49396 h 605592"/>
              <a:gd name="connsiteX66" fmla="*/ 150248 w 606580"/>
              <a:gd name="connsiteY66" fmla="*/ 24750 h 605592"/>
              <a:gd name="connsiteX67" fmla="*/ 102621 w 606580"/>
              <a:gd name="connsiteY67" fmla="*/ 72304 h 605592"/>
              <a:gd name="connsiteX68" fmla="*/ 102621 w 606580"/>
              <a:gd name="connsiteY68" fmla="*/ 183541 h 605592"/>
              <a:gd name="connsiteX69" fmla="*/ 102621 w 606580"/>
              <a:gd name="connsiteY69" fmla="*/ 294777 h 605592"/>
              <a:gd name="connsiteX70" fmla="*/ 150248 w 606580"/>
              <a:gd name="connsiteY70" fmla="*/ 342331 h 605592"/>
              <a:gd name="connsiteX71" fmla="*/ 456334 w 606580"/>
              <a:gd name="connsiteY71" fmla="*/ 342331 h 605592"/>
              <a:gd name="connsiteX72" fmla="*/ 504052 w 606580"/>
              <a:gd name="connsiteY72" fmla="*/ 294777 h 605592"/>
              <a:gd name="connsiteX73" fmla="*/ 504052 w 606580"/>
              <a:gd name="connsiteY73" fmla="*/ 183541 h 605592"/>
              <a:gd name="connsiteX74" fmla="*/ 504052 w 606580"/>
              <a:gd name="connsiteY74" fmla="*/ 72304 h 605592"/>
              <a:gd name="connsiteX75" fmla="*/ 456334 w 606580"/>
              <a:gd name="connsiteY75" fmla="*/ 24750 h 605592"/>
              <a:gd name="connsiteX76" fmla="*/ 150248 w 606580"/>
              <a:gd name="connsiteY76" fmla="*/ 0 h 605592"/>
              <a:gd name="connsiteX77" fmla="*/ 456334 w 606580"/>
              <a:gd name="connsiteY77" fmla="*/ 0 h 605592"/>
              <a:gd name="connsiteX78" fmla="*/ 528747 w 606580"/>
              <a:gd name="connsiteY78" fmla="*/ 72304 h 605592"/>
              <a:gd name="connsiteX79" fmla="*/ 528747 w 606580"/>
              <a:gd name="connsiteY79" fmla="*/ 183541 h 605592"/>
              <a:gd name="connsiteX80" fmla="*/ 528747 w 606580"/>
              <a:gd name="connsiteY80" fmla="*/ 294777 h 605592"/>
              <a:gd name="connsiteX81" fmla="*/ 456334 w 606580"/>
              <a:gd name="connsiteY81" fmla="*/ 367081 h 605592"/>
              <a:gd name="connsiteX82" fmla="*/ 371477 w 606580"/>
              <a:gd name="connsiteY82" fmla="*/ 367081 h 605592"/>
              <a:gd name="connsiteX83" fmla="*/ 371477 w 606580"/>
              <a:gd name="connsiteY83" fmla="*/ 410093 h 605592"/>
              <a:gd name="connsiteX84" fmla="*/ 380391 w 606580"/>
              <a:gd name="connsiteY84" fmla="*/ 418992 h 605592"/>
              <a:gd name="connsiteX85" fmla="*/ 399240 w 606580"/>
              <a:gd name="connsiteY85" fmla="*/ 418992 h 605592"/>
              <a:gd name="connsiteX86" fmla="*/ 399240 w 606580"/>
              <a:gd name="connsiteY86" fmla="*/ 419085 h 605592"/>
              <a:gd name="connsiteX87" fmla="*/ 440094 w 606580"/>
              <a:gd name="connsiteY87" fmla="*/ 419085 h 605592"/>
              <a:gd name="connsiteX88" fmla="*/ 449007 w 606580"/>
              <a:gd name="connsiteY88" fmla="*/ 427891 h 605592"/>
              <a:gd name="connsiteX89" fmla="*/ 449007 w 606580"/>
              <a:gd name="connsiteY89" fmla="*/ 448655 h 605592"/>
              <a:gd name="connsiteX90" fmla="*/ 157643 w 606580"/>
              <a:gd name="connsiteY90" fmla="*/ 448655 h 605592"/>
              <a:gd name="connsiteX91" fmla="*/ 157643 w 606580"/>
              <a:gd name="connsiteY91" fmla="*/ 427891 h 605592"/>
              <a:gd name="connsiteX92" fmla="*/ 166557 w 606580"/>
              <a:gd name="connsiteY92" fmla="*/ 419085 h 605592"/>
              <a:gd name="connsiteX93" fmla="*/ 207318 w 606580"/>
              <a:gd name="connsiteY93" fmla="*/ 419085 h 605592"/>
              <a:gd name="connsiteX94" fmla="*/ 207318 w 606580"/>
              <a:gd name="connsiteY94" fmla="*/ 418992 h 605592"/>
              <a:gd name="connsiteX95" fmla="*/ 226167 w 606580"/>
              <a:gd name="connsiteY95" fmla="*/ 418992 h 605592"/>
              <a:gd name="connsiteX96" fmla="*/ 235080 w 606580"/>
              <a:gd name="connsiteY96" fmla="*/ 410093 h 605592"/>
              <a:gd name="connsiteX97" fmla="*/ 235080 w 606580"/>
              <a:gd name="connsiteY97" fmla="*/ 367081 h 605592"/>
              <a:gd name="connsiteX98" fmla="*/ 150248 w 606580"/>
              <a:gd name="connsiteY98" fmla="*/ 367081 h 605592"/>
              <a:gd name="connsiteX99" fmla="*/ 77834 w 606580"/>
              <a:gd name="connsiteY99" fmla="*/ 294777 h 605592"/>
              <a:gd name="connsiteX100" fmla="*/ 77834 w 606580"/>
              <a:gd name="connsiteY100" fmla="*/ 183541 h 605592"/>
              <a:gd name="connsiteX101" fmla="*/ 77834 w 606580"/>
              <a:gd name="connsiteY101" fmla="*/ 72304 h 605592"/>
              <a:gd name="connsiteX102" fmla="*/ 150248 w 606580"/>
              <a:gd name="connsiteY102"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606580" h="605592">
                <a:moveTo>
                  <a:pt x="77343" y="537652"/>
                </a:moveTo>
                <a:cubicBezTo>
                  <a:pt x="70565" y="537652"/>
                  <a:pt x="64994" y="543213"/>
                  <a:pt x="64994" y="549979"/>
                </a:cubicBezTo>
                <a:cubicBezTo>
                  <a:pt x="64994" y="556838"/>
                  <a:pt x="70565" y="562399"/>
                  <a:pt x="77343" y="562399"/>
                </a:cubicBezTo>
                <a:lnTo>
                  <a:pt x="529237" y="562399"/>
                </a:lnTo>
                <a:cubicBezTo>
                  <a:pt x="536108" y="562399"/>
                  <a:pt x="541586" y="556838"/>
                  <a:pt x="541586" y="549979"/>
                </a:cubicBezTo>
                <a:cubicBezTo>
                  <a:pt x="541586" y="543213"/>
                  <a:pt x="536108" y="537652"/>
                  <a:pt x="529237" y="537652"/>
                </a:cubicBezTo>
                <a:close/>
                <a:moveTo>
                  <a:pt x="462386" y="487785"/>
                </a:moveTo>
                <a:cubicBezTo>
                  <a:pt x="455516" y="487785"/>
                  <a:pt x="450037" y="493346"/>
                  <a:pt x="450037" y="500205"/>
                </a:cubicBezTo>
                <a:cubicBezTo>
                  <a:pt x="450037" y="506972"/>
                  <a:pt x="455516" y="512533"/>
                  <a:pt x="462386" y="512533"/>
                </a:cubicBezTo>
                <a:lnTo>
                  <a:pt x="492376" y="512533"/>
                </a:lnTo>
                <a:cubicBezTo>
                  <a:pt x="499247" y="512533"/>
                  <a:pt x="504818" y="506972"/>
                  <a:pt x="504818" y="500205"/>
                </a:cubicBezTo>
                <a:cubicBezTo>
                  <a:pt x="504818" y="493346"/>
                  <a:pt x="499247" y="487785"/>
                  <a:pt x="492376" y="487785"/>
                </a:cubicBezTo>
                <a:close/>
                <a:moveTo>
                  <a:pt x="375387" y="487785"/>
                </a:moveTo>
                <a:cubicBezTo>
                  <a:pt x="368516" y="487785"/>
                  <a:pt x="362945" y="493346"/>
                  <a:pt x="362945" y="500205"/>
                </a:cubicBezTo>
                <a:cubicBezTo>
                  <a:pt x="362945" y="506972"/>
                  <a:pt x="368516" y="512533"/>
                  <a:pt x="375387" y="512533"/>
                </a:cubicBezTo>
                <a:lnTo>
                  <a:pt x="405377" y="512533"/>
                </a:lnTo>
                <a:cubicBezTo>
                  <a:pt x="412155" y="512533"/>
                  <a:pt x="417726" y="506972"/>
                  <a:pt x="417726" y="500205"/>
                </a:cubicBezTo>
                <a:cubicBezTo>
                  <a:pt x="417726" y="493346"/>
                  <a:pt x="412155" y="487785"/>
                  <a:pt x="405377" y="487785"/>
                </a:cubicBezTo>
                <a:close/>
                <a:moveTo>
                  <a:pt x="288295" y="487785"/>
                </a:moveTo>
                <a:cubicBezTo>
                  <a:pt x="281424" y="487785"/>
                  <a:pt x="275946" y="493346"/>
                  <a:pt x="275946" y="500205"/>
                </a:cubicBezTo>
                <a:cubicBezTo>
                  <a:pt x="275946" y="506972"/>
                  <a:pt x="281424" y="512533"/>
                  <a:pt x="288295" y="512533"/>
                </a:cubicBezTo>
                <a:lnTo>
                  <a:pt x="318285" y="512533"/>
                </a:lnTo>
                <a:cubicBezTo>
                  <a:pt x="325156" y="512533"/>
                  <a:pt x="330727" y="506972"/>
                  <a:pt x="330727" y="500205"/>
                </a:cubicBezTo>
                <a:cubicBezTo>
                  <a:pt x="330727" y="493346"/>
                  <a:pt x="325156" y="487785"/>
                  <a:pt x="318285" y="487785"/>
                </a:cubicBezTo>
                <a:close/>
                <a:moveTo>
                  <a:pt x="201296" y="487785"/>
                </a:moveTo>
                <a:cubicBezTo>
                  <a:pt x="194425" y="487785"/>
                  <a:pt x="188854" y="493346"/>
                  <a:pt x="188854" y="500205"/>
                </a:cubicBezTo>
                <a:cubicBezTo>
                  <a:pt x="188854" y="506972"/>
                  <a:pt x="194425" y="512533"/>
                  <a:pt x="201296" y="512533"/>
                </a:cubicBezTo>
                <a:lnTo>
                  <a:pt x="231286" y="512533"/>
                </a:lnTo>
                <a:cubicBezTo>
                  <a:pt x="238064" y="512533"/>
                  <a:pt x="243635" y="506972"/>
                  <a:pt x="243635" y="500205"/>
                </a:cubicBezTo>
                <a:cubicBezTo>
                  <a:pt x="243635" y="493346"/>
                  <a:pt x="238064" y="487785"/>
                  <a:pt x="231286" y="487785"/>
                </a:cubicBezTo>
                <a:close/>
                <a:moveTo>
                  <a:pt x="114204" y="487785"/>
                </a:moveTo>
                <a:cubicBezTo>
                  <a:pt x="107333" y="487785"/>
                  <a:pt x="101855" y="493346"/>
                  <a:pt x="101855" y="500205"/>
                </a:cubicBezTo>
                <a:cubicBezTo>
                  <a:pt x="101855" y="506972"/>
                  <a:pt x="107333" y="512533"/>
                  <a:pt x="114204" y="512533"/>
                </a:cubicBezTo>
                <a:lnTo>
                  <a:pt x="144194" y="512533"/>
                </a:lnTo>
                <a:cubicBezTo>
                  <a:pt x="151065" y="512533"/>
                  <a:pt x="156636" y="506972"/>
                  <a:pt x="156636" y="500205"/>
                </a:cubicBezTo>
                <a:cubicBezTo>
                  <a:pt x="156636" y="493346"/>
                  <a:pt x="151065" y="487785"/>
                  <a:pt x="144194" y="487785"/>
                </a:cubicBezTo>
                <a:close/>
                <a:moveTo>
                  <a:pt x="110304" y="468413"/>
                </a:moveTo>
                <a:lnTo>
                  <a:pt x="302687" y="468413"/>
                </a:lnTo>
                <a:lnTo>
                  <a:pt x="303894" y="468413"/>
                </a:lnTo>
                <a:lnTo>
                  <a:pt x="496276" y="468413"/>
                </a:lnTo>
                <a:cubicBezTo>
                  <a:pt x="503240" y="468413"/>
                  <a:pt x="509461" y="470174"/>
                  <a:pt x="513267" y="472770"/>
                </a:cubicBezTo>
                <a:cubicBezTo>
                  <a:pt x="514196" y="473418"/>
                  <a:pt x="515032" y="474067"/>
                  <a:pt x="515589" y="474809"/>
                </a:cubicBezTo>
                <a:lnTo>
                  <a:pt x="589496" y="538300"/>
                </a:lnTo>
                <a:cubicBezTo>
                  <a:pt x="592560" y="540247"/>
                  <a:pt x="595346" y="542657"/>
                  <a:pt x="597760" y="545345"/>
                </a:cubicBezTo>
                <a:cubicBezTo>
                  <a:pt x="603238" y="551740"/>
                  <a:pt x="606580" y="560082"/>
                  <a:pt x="606580" y="569166"/>
                </a:cubicBezTo>
                <a:cubicBezTo>
                  <a:pt x="606580" y="589279"/>
                  <a:pt x="590239" y="605592"/>
                  <a:pt x="570091" y="605592"/>
                </a:cubicBezTo>
                <a:lnTo>
                  <a:pt x="303894" y="605592"/>
                </a:lnTo>
                <a:lnTo>
                  <a:pt x="302687" y="605592"/>
                </a:lnTo>
                <a:lnTo>
                  <a:pt x="36489" y="605592"/>
                </a:lnTo>
                <a:cubicBezTo>
                  <a:pt x="16341" y="605592"/>
                  <a:pt x="0" y="589279"/>
                  <a:pt x="0" y="569166"/>
                </a:cubicBezTo>
                <a:cubicBezTo>
                  <a:pt x="0" y="560082"/>
                  <a:pt x="3342" y="551740"/>
                  <a:pt x="8820" y="545345"/>
                </a:cubicBezTo>
                <a:cubicBezTo>
                  <a:pt x="11234" y="542657"/>
                  <a:pt x="14020" y="540247"/>
                  <a:pt x="17084" y="538300"/>
                </a:cubicBezTo>
                <a:lnTo>
                  <a:pt x="90991" y="474809"/>
                </a:lnTo>
                <a:cubicBezTo>
                  <a:pt x="91641" y="474067"/>
                  <a:pt x="92384" y="473418"/>
                  <a:pt x="93405" y="472770"/>
                </a:cubicBezTo>
                <a:cubicBezTo>
                  <a:pt x="97212" y="470174"/>
                  <a:pt x="103340" y="468413"/>
                  <a:pt x="110304" y="468413"/>
                </a:cubicBezTo>
                <a:close/>
                <a:moveTo>
                  <a:pt x="150233" y="49396"/>
                </a:moveTo>
                <a:lnTo>
                  <a:pt x="456347" y="49396"/>
                </a:lnTo>
                <a:cubicBezTo>
                  <a:pt x="468974" y="49396"/>
                  <a:pt x="479280" y="59687"/>
                  <a:pt x="479280" y="72295"/>
                </a:cubicBezTo>
                <a:lnTo>
                  <a:pt x="479280" y="183541"/>
                </a:lnTo>
                <a:lnTo>
                  <a:pt x="479280" y="294788"/>
                </a:lnTo>
                <a:cubicBezTo>
                  <a:pt x="479280" y="307396"/>
                  <a:pt x="468974" y="317686"/>
                  <a:pt x="456347" y="317686"/>
                </a:cubicBezTo>
                <a:lnTo>
                  <a:pt x="150233" y="317686"/>
                </a:lnTo>
                <a:cubicBezTo>
                  <a:pt x="137606" y="317686"/>
                  <a:pt x="127300" y="307396"/>
                  <a:pt x="127300" y="294788"/>
                </a:cubicBezTo>
                <a:lnTo>
                  <a:pt x="127300" y="183541"/>
                </a:lnTo>
                <a:lnTo>
                  <a:pt x="127300" y="72295"/>
                </a:lnTo>
                <a:cubicBezTo>
                  <a:pt x="127300" y="59687"/>
                  <a:pt x="137606" y="49396"/>
                  <a:pt x="150233" y="49396"/>
                </a:cubicBezTo>
                <a:close/>
                <a:moveTo>
                  <a:pt x="150248" y="24750"/>
                </a:moveTo>
                <a:cubicBezTo>
                  <a:pt x="123881" y="24750"/>
                  <a:pt x="102621" y="45978"/>
                  <a:pt x="102621" y="72304"/>
                </a:cubicBezTo>
                <a:lnTo>
                  <a:pt x="102621" y="183541"/>
                </a:lnTo>
                <a:lnTo>
                  <a:pt x="102621" y="294777"/>
                </a:lnTo>
                <a:cubicBezTo>
                  <a:pt x="102621" y="321103"/>
                  <a:pt x="123881" y="342331"/>
                  <a:pt x="150248" y="342331"/>
                </a:cubicBezTo>
                <a:lnTo>
                  <a:pt x="456334" y="342331"/>
                </a:lnTo>
                <a:cubicBezTo>
                  <a:pt x="482700" y="342331"/>
                  <a:pt x="504052" y="321103"/>
                  <a:pt x="504052" y="294777"/>
                </a:cubicBezTo>
                <a:lnTo>
                  <a:pt x="504052" y="183541"/>
                </a:lnTo>
                <a:lnTo>
                  <a:pt x="504052" y="72304"/>
                </a:lnTo>
                <a:cubicBezTo>
                  <a:pt x="504052" y="45978"/>
                  <a:pt x="482700" y="24750"/>
                  <a:pt x="456334" y="24750"/>
                </a:cubicBezTo>
                <a:close/>
                <a:moveTo>
                  <a:pt x="150248" y="0"/>
                </a:moveTo>
                <a:lnTo>
                  <a:pt x="456334" y="0"/>
                </a:lnTo>
                <a:cubicBezTo>
                  <a:pt x="496254" y="0"/>
                  <a:pt x="528747" y="32444"/>
                  <a:pt x="528747" y="72304"/>
                </a:cubicBezTo>
                <a:lnTo>
                  <a:pt x="528747" y="183541"/>
                </a:lnTo>
                <a:lnTo>
                  <a:pt x="528747" y="294777"/>
                </a:lnTo>
                <a:cubicBezTo>
                  <a:pt x="528747" y="334637"/>
                  <a:pt x="496254" y="367081"/>
                  <a:pt x="456334" y="367081"/>
                </a:cubicBezTo>
                <a:lnTo>
                  <a:pt x="371477" y="367081"/>
                </a:lnTo>
                <a:lnTo>
                  <a:pt x="371477" y="410093"/>
                </a:lnTo>
                <a:cubicBezTo>
                  <a:pt x="371477" y="415006"/>
                  <a:pt x="375470" y="418992"/>
                  <a:pt x="380391" y="418992"/>
                </a:cubicBezTo>
                <a:lnTo>
                  <a:pt x="399240" y="418992"/>
                </a:lnTo>
                <a:lnTo>
                  <a:pt x="399240" y="419085"/>
                </a:lnTo>
                <a:lnTo>
                  <a:pt x="440094" y="419085"/>
                </a:lnTo>
                <a:cubicBezTo>
                  <a:pt x="445015" y="419085"/>
                  <a:pt x="449007" y="422978"/>
                  <a:pt x="449007" y="427891"/>
                </a:cubicBezTo>
                <a:lnTo>
                  <a:pt x="449007" y="448655"/>
                </a:lnTo>
                <a:lnTo>
                  <a:pt x="157643" y="448655"/>
                </a:lnTo>
                <a:lnTo>
                  <a:pt x="157643" y="427891"/>
                </a:lnTo>
                <a:cubicBezTo>
                  <a:pt x="157643" y="422978"/>
                  <a:pt x="161636" y="419085"/>
                  <a:pt x="166557" y="419085"/>
                </a:cubicBezTo>
                <a:lnTo>
                  <a:pt x="207318" y="419085"/>
                </a:lnTo>
                <a:lnTo>
                  <a:pt x="207318" y="418992"/>
                </a:lnTo>
                <a:lnTo>
                  <a:pt x="226167" y="418992"/>
                </a:lnTo>
                <a:cubicBezTo>
                  <a:pt x="231088" y="418992"/>
                  <a:pt x="235080" y="415006"/>
                  <a:pt x="235080" y="410093"/>
                </a:cubicBezTo>
                <a:lnTo>
                  <a:pt x="235080" y="367081"/>
                </a:lnTo>
                <a:lnTo>
                  <a:pt x="150248" y="367081"/>
                </a:lnTo>
                <a:cubicBezTo>
                  <a:pt x="110327" y="367081"/>
                  <a:pt x="77834" y="334637"/>
                  <a:pt x="77834" y="294777"/>
                </a:cubicBezTo>
                <a:lnTo>
                  <a:pt x="77834" y="183541"/>
                </a:lnTo>
                <a:lnTo>
                  <a:pt x="77834" y="72304"/>
                </a:lnTo>
                <a:cubicBezTo>
                  <a:pt x="77834" y="32444"/>
                  <a:pt x="110327" y="0"/>
                  <a:pt x="150248" y="0"/>
                </a:cubicBezTo>
                <a:close/>
              </a:path>
            </a:pathLst>
          </a:custGeom>
          <a:solidFill>
            <a:srgbClr val="BC3649"/>
          </a:solidFill>
          <a:ln>
            <a:noFill/>
          </a:ln>
        </p:spPr>
      </p:sp>
      <p:cxnSp>
        <p:nvCxnSpPr>
          <p:cNvPr id="268" name="直接连接符 267"/>
          <p:cNvCxnSpPr/>
          <p:nvPr/>
        </p:nvCxnSpPr>
        <p:spPr>
          <a:xfrm>
            <a:off x="9456454" y="3757870"/>
            <a:ext cx="0" cy="474663"/>
          </a:xfrm>
          <a:prstGeom prst="line">
            <a:avLst/>
          </a:prstGeom>
          <a:noFill/>
          <a:ln w="28575" cap="flat" cmpd="sng">
            <a:solidFill>
              <a:srgbClr val="BC3649"/>
            </a:solidFill>
            <a:prstDash val="solid"/>
            <a:round/>
            <a:headEnd type="none" w="med" len="med"/>
            <a:tailEnd type="triangle" w="med" len="med"/>
          </a:ln>
          <a:effectLst/>
        </p:spPr>
      </p:cxnSp>
      <p:sp>
        <p:nvSpPr>
          <p:cNvPr id="269" name="文本框 268"/>
          <p:cNvSpPr txBox="1"/>
          <p:nvPr/>
        </p:nvSpPr>
        <p:spPr>
          <a:xfrm>
            <a:off x="2423954" y="4711675"/>
            <a:ext cx="1569660" cy="369332"/>
          </a:xfrm>
          <a:prstGeom prst="rect">
            <a:avLst/>
          </a:prstGeom>
          <a:noFill/>
        </p:spPr>
        <p:txBody>
          <a:bodyPr wrap="none" rtlCol="0">
            <a:spAutoFit/>
          </a:bodyPr>
          <a:lstStyle/>
          <a:p>
            <a:r>
              <a:rPr lang="zh-CN" altLang="en-US" b="1" dirty="0">
                <a:latin typeface="微软雅黑 Light" panose="020B0502040204020203" pitchFamily="34" charset="-122"/>
                <a:ea typeface="微软雅黑 Light" panose="020B0502040204020203" pitchFamily="34" charset="-122"/>
              </a:rPr>
              <a:t>神经网络基础</a:t>
            </a:r>
          </a:p>
        </p:txBody>
      </p:sp>
      <p:sp>
        <p:nvSpPr>
          <p:cNvPr id="270" name="文本框 269"/>
          <p:cNvSpPr txBox="1"/>
          <p:nvPr/>
        </p:nvSpPr>
        <p:spPr>
          <a:xfrm>
            <a:off x="8902456" y="4711675"/>
            <a:ext cx="1107996" cy="369332"/>
          </a:xfrm>
          <a:prstGeom prst="rect">
            <a:avLst/>
          </a:prstGeom>
          <a:noFill/>
        </p:spPr>
        <p:txBody>
          <a:bodyPr wrap="none" rtlCol="0">
            <a:spAutoFit/>
          </a:bodyPr>
          <a:lstStyle/>
          <a:p>
            <a:r>
              <a:rPr lang="zh-CN" altLang="en-US" b="1" dirty="0">
                <a:latin typeface="微软雅黑 Light" panose="020B0502040204020203" pitchFamily="34" charset="-122"/>
                <a:ea typeface="微软雅黑 Light" panose="020B0502040204020203" pitchFamily="34" charset="-122"/>
              </a:rPr>
              <a:t>深度学习</a:t>
            </a:r>
          </a:p>
        </p:txBody>
      </p:sp>
      <p:sp>
        <p:nvSpPr>
          <p:cNvPr id="271" name="下箭头 270"/>
          <p:cNvSpPr/>
          <p:nvPr/>
        </p:nvSpPr>
        <p:spPr>
          <a:xfrm rot="10800000">
            <a:off x="3027809" y="5254286"/>
            <a:ext cx="361950" cy="3905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文本框 271"/>
          <p:cNvSpPr txBox="1"/>
          <p:nvPr/>
        </p:nvSpPr>
        <p:spPr>
          <a:xfrm>
            <a:off x="420943" y="5854955"/>
            <a:ext cx="11224483" cy="461665"/>
          </a:xfrm>
          <a:prstGeom prst="rect">
            <a:avLst/>
          </a:prstGeom>
          <a:noFill/>
        </p:spPr>
        <p:txBody>
          <a:bodyPr wrap="none" rtlCol="0">
            <a:spAutoFit/>
          </a:bodyPr>
          <a:lstStyle/>
          <a:p>
            <a:r>
              <a:rPr lang="zh-CN" altLang="en-US" sz="2400" b="1" dirty="0">
                <a:latin typeface="微软雅黑 Light" panose="020B0502040204020203" pitchFamily="34" charset="-122"/>
                <a:ea typeface="微软雅黑 Light" panose="020B0502040204020203" pitchFamily="34" charset="-122"/>
              </a:rPr>
              <a:t>本节将学习到搭建一个神经网络需要的基本知识，为深入理解深度学习打下基础</a:t>
            </a:r>
          </a:p>
        </p:txBody>
      </p:sp>
      <p:sp>
        <p:nvSpPr>
          <p:cNvPr id="275" name="灯片编号占位符 8">
            <a:extLst>
              <a:ext uri="{FF2B5EF4-FFF2-40B4-BE49-F238E27FC236}">
                <a16:creationId xmlns:a16="http://schemas.microsoft.com/office/drawing/2014/main" id="{36965CB1-6BE3-4F4E-81D5-7EB0D6EE66E8}"/>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765217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本章提纲</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1" name="矩形 20"/>
          <p:cNvSpPr/>
          <p:nvPr/>
        </p:nvSpPr>
        <p:spPr>
          <a:xfrm>
            <a:off x="946463" y="697477"/>
            <a:ext cx="10301608" cy="58721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0" indent="-457200">
              <a:lnSpc>
                <a:spcPct val="150000"/>
              </a:lnSpc>
              <a:buClr>
                <a:srgbClr val="727CA3"/>
              </a:buClr>
              <a:buFont typeface="Wingdings" panose="05000000000000000000" pitchFamily="2" charset="2"/>
              <a:buChar char="Ø"/>
              <a:defRPr/>
            </a:pPr>
            <a:r>
              <a:rPr lang="zh-CN" altLang="en-US" sz="2800" u="sng" dirty="0">
                <a:solidFill>
                  <a:sysClr val="windowText" lastClr="000000"/>
                </a:solidFill>
              </a:rPr>
              <a:t>从机器学习到神经网络</a:t>
            </a:r>
          </a:p>
          <a:p>
            <a:pPr marL="45720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正向计算与反向传播</a:t>
            </a:r>
            <a:endParaRPr lang="en-US" altLang="zh-CN" sz="2800" dirty="0">
              <a:solidFill>
                <a:sysClr val="windowText" lastClr="000000"/>
              </a:solidFill>
            </a:endParaRPr>
          </a:p>
          <a:p>
            <a:pPr marL="457200" lvl="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神经网络设计原则</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网络的拓扑结构</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激活函数</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损失函数</a:t>
            </a:r>
            <a:endParaRPr lang="en-US" altLang="zh-CN" sz="2800" dirty="0">
              <a:solidFill>
                <a:sysClr val="windowText" lastClr="000000"/>
              </a:solidFill>
            </a:endParaRPr>
          </a:p>
          <a:p>
            <a:pPr marL="45720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过拟合与正则化</a:t>
            </a:r>
            <a:endParaRPr lang="en-US" altLang="zh-CN" sz="2800" dirty="0">
              <a:solidFill>
                <a:sysClr val="windowText" lastClr="000000"/>
              </a:solidFill>
            </a:endParaRPr>
          </a:p>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交叉验证</a:t>
            </a:r>
          </a:p>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小结</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10" name="灯片编号占位符 8">
            <a:extLst>
              <a:ext uri="{FF2B5EF4-FFF2-40B4-BE49-F238E27FC236}">
                <a16:creationId xmlns:a16="http://schemas.microsoft.com/office/drawing/2014/main" id="{CBB4DF13-3668-44A1-9F10-9582F55D4FDC}"/>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41072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包含关系</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860767"/>
            <a:ext cx="5337732" cy="563900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ü"/>
            </a:pPr>
            <a:r>
              <a:rPr lang="zh-CN" altLang="en-US" sz="2800" b="1" dirty="0"/>
              <a:t>人工智能</a:t>
            </a:r>
            <a:endParaRPr lang="en-US" altLang="zh-CN" sz="2800" b="1" dirty="0"/>
          </a:p>
          <a:p>
            <a:pPr marL="800100" lvl="1" indent="-342900" algn="l">
              <a:lnSpc>
                <a:spcPct val="120000"/>
              </a:lnSpc>
              <a:buFont typeface="Wingdings" panose="05000000000000000000" pitchFamily="2" charset="2"/>
              <a:buChar char="ü"/>
            </a:pPr>
            <a:r>
              <a:rPr lang="zh-CN" altLang="en-US" sz="2400" dirty="0"/>
              <a:t>尼尔逊教授：是关于知识的学科</a:t>
            </a:r>
            <a:r>
              <a:rPr lang="en-US" altLang="zh-CN" sz="2400" dirty="0"/>
              <a:t>―</a:t>
            </a:r>
            <a:r>
              <a:rPr lang="zh-CN" altLang="en-US" sz="2400" dirty="0"/>
              <a:t>怎样表示知识以及怎样获得知识并使用知识的科学。</a:t>
            </a:r>
            <a:endParaRPr lang="en-US" altLang="zh-CN" sz="2400" dirty="0"/>
          </a:p>
          <a:p>
            <a:pPr marL="800100" lvl="1" indent="-342900" algn="l">
              <a:lnSpc>
                <a:spcPct val="120000"/>
              </a:lnSpc>
              <a:buFont typeface="Wingdings" panose="05000000000000000000" pitchFamily="2" charset="2"/>
              <a:buChar char="ü"/>
            </a:pPr>
            <a:r>
              <a:rPr lang="zh-CN" altLang="en-US" sz="2400" dirty="0"/>
              <a:t>温斯顿教授：是研究如何使计算机去做过去只有人才能做的智能工作。</a:t>
            </a:r>
            <a:endParaRPr lang="en-US" altLang="zh-CN" sz="2400" dirty="0"/>
          </a:p>
          <a:p>
            <a:pPr marL="800100" lvl="1" indent="-342900" algn="l">
              <a:lnSpc>
                <a:spcPct val="120000"/>
              </a:lnSpc>
              <a:buFont typeface="Wingdings" panose="05000000000000000000" pitchFamily="2" charset="2"/>
              <a:buChar char="ü"/>
            </a:pPr>
            <a:r>
              <a:rPr lang="zh-CN" altLang="en-US" sz="2400" dirty="0"/>
              <a:t>研究人类智能活动的规律，构造具有一定智能的人工系统，研究如何让计算机去完成以往需要人的智力才能胜任的工作，也就是研究如何应用计算机的软硬件来模拟人类某些智能行为的基本理论、方法和技术。</a:t>
            </a:r>
            <a:endParaRPr lang="en-US" altLang="zh-CN" sz="2400" dirty="0"/>
          </a:p>
          <a:p>
            <a:pPr marL="342900" indent="-342900" algn="l">
              <a:buFont typeface="Wingdings" panose="05000000000000000000" pitchFamily="2" charset="2"/>
              <a:buChar char="ü"/>
            </a:pPr>
            <a:r>
              <a:rPr lang="zh-CN" altLang="en-US" sz="2800" b="1" dirty="0"/>
              <a:t>机器学习</a:t>
            </a:r>
            <a:endParaRPr lang="en-US" altLang="zh-CN" sz="2800" b="1" dirty="0"/>
          </a:p>
          <a:p>
            <a:pPr marL="342900" indent="-342900" algn="l">
              <a:buFont typeface="Wingdings" panose="05000000000000000000" pitchFamily="2" charset="2"/>
              <a:buChar char="ü"/>
            </a:pPr>
            <a:r>
              <a:rPr lang="zh-CN" altLang="en-US" sz="2800" b="1" dirty="0"/>
              <a:t>神经网络</a:t>
            </a:r>
            <a:endParaRPr lang="en-US" altLang="zh-CN" sz="2800" b="1" dirty="0"/>
          </a:p>
          <a:p>
            <a:pPr marL="342900" indent="-342900" algn="l">
              <a:buFont typeface="Wingdings" panose="05000000000000000000" pitchFamily="2" charset="2"/>
              <a:buChar char="ü"/>
            </a:pPr>
            <a:r>
              <a:rPr lang="zh-CN" altLang="en-US" sz="2800" b="1" dirty="0"/>
              <a:t>深度学习</a:t>
            </a:r>
          </a:p>
        </p:txBody>
      </p:sp>
      <p:sp>
        <p:nvSpPr>
          <p:cNvPr id="34" name="椭圆 33"/>
          <p:cNvSpPr/>
          <p:nvPr/>
        </p:nvSpPr>
        <p:spPr>
          <a:xfrm>
            <a:off x="9896934" y="3019099"/>
            <a:ext cx="1909606" cy="1521658"/>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35" name="矩形 34"/>
          <p:cNvSpPr/>
          <p:nvPr/>
        </p:nvSpPr>
        <p:spPr>
          <a:xfrm>
            <a:off x="10397868" y="3347834"/>
            <a:ext cx="1116733" cy="646331"/>
          </a:xfrm>
          <a:prstGeom prst="rect">
            <a:avLst/>
          </a:prstGeom>
        </p:spPr>
        <p:txBody>
          <a:bodyPr wrap="square">
            <a:spAutoFit/>
          </a:bodyPr>
          <a:lstStyle/>
          <a:p>
            <a:r>
              <a:rPr lang="en-US" altLang="zh-CN" b="1" dirty="0"/>
              <a:t>Deep learning</a:t>
            </a:r>
            <a:endParaRPr lang="zh-CN" altLang="en-US" b="1" dirty="0"/>
          </a:p>
        </p:txBody>
      </p:sp>
      <p:sp>
        <p:nvSpPr>
          <p:cNvPr id="36" name="椭圆 35"/>
          <p:cNvSpPr/>
          <p:nvPr/>
        </p:nvSpPr>
        <p:spPr>
          <a:xfrm>
            <a:off x="8599259" y="2498810"/>
            <a:ext cx="3227149" cy="2519407"/>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8869000" y="3347834"/>
            <a:ext cx="1443562" cy="646331"/>
          </a:xfrm>
          <a:prstGeom prst="rect">
            <a:avLst/>
          </a:prstGeom>
        </p:spPr>
        <p:txBody>
          <a:bodyPr wrap="square">
            <a:spAutoFit/>
          </a:bodyPr>
          <a:lstStyle/>
          <a:p>
            <a:r>
              <a:rPr lang="en-US" altLang="zh-CN" b="1" dirty="0"/>
              <a:t>Neural network</a:t>
            </a:r>
            <a:endParaRPr lang="zh-CN" altLang="en-US" b="1" dirty="0"/>
          </a:p>
        </p:txBody>
      </p:sp>
      <p:sp>
        <p:nvSpPr>
          <p:cNvPr id="38" name="椭圆 37"/>
          <p:cNvSpPr/>
          <p:nvPr/>
        </p:nvSpPr>
        <p:spPr>
          <a:xfrm>
            <a:off x="7167721" y="1823115"/>
            <a:ext cx="4658688" cy="3695770"/>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7431707" y="3267482"/>
            <a:ext cx="1295599" cy="646331"/>
          </a:xfrm>
          <a:prstGeom prst="rect">
            <a:avLst/>
          </a:prstGeom>
        </p:spPr>
        <p:txBody>
          <a:bodyPr wrap="square">
            <a:spAutoFit/>
          </a:bodyPr>
          <a:lstStyle/>
          <a:p>
            <a:r>
              <a:rPr lang="en-US" altLang="zh-CN" b="1" dirty="0"/>
              <a:t>Machine learning</a:t>
            </a:r>
            <a:endParaRPr lang="zh-CN" altLang="en-US" b="1" dirty="0"/>
          </a:p>
        </p:txBody>
      </p:sp>
      <p:sp>
        <p:nvSpPr>
          <p:cNvPr id="40" name="椭圆 39"/>
          <p:cNvSpPr/>
          <p:nvPr/>
        </p:nvSpPr>
        <p:spPr>
          <a:xfrm>
            <a:off x="5683819" y="815374"/>
            <a:ext cx="6153471" cy="5550552"/>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5683820" y="3267483"/>
            <a:ext cx="1431536" cy="646331"/>
          </a:xfrm>
          <a:prstGeom prst="rect">
            <a:avLst/>
          </a:prstGeom>
        </p:spPr>
        <p:txBody>
          <a:bodyPr wrap="square">
            <a:spAutoFit/>
          </a:bodyPr>
          <a:lstStyle/>
          <a:p>
            <a:r>
              <a:rPr lang="en-US" altLang="zh-CN" b="1" dirty="0"/>
              <a:t>Artificial intelligence</a:t>
            </a:r>
            <a:endParaRPr lang="zh-CN" altLang="en-US" b="1" dirty="0"/>
          </a:p>
        </p:txBody>
      </p:sp>
      <p:sp>
        <p:nvSpPr>
          <p:cNvPr id="19" name="灯片编号占位符 8">
            <a:extLst>
              <a:ext uri="{FF2B5EF4-FFF2-40B4-BE49-F238E27FC236}">
                <a16:creationId xmlns:a16="http://schemas.microsoft.com/office/drawing/2014/main" id="{3F2FFE01-D71A-41AB-B273-585BEF8C242A}"/>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905972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机器学习的相关概念</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1980126"/>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机器学习</a:t>
            </a:r>
            <a:endParaRPr lang="en-US" altLang="zh-CN" sz="2800" b="1" dirty="0"/>
          </a:p>
          <a:p>
            <a:pPr marL="800100" lvl="1" indent="-342900" algn="l">
              <a:lnSpc>
                <a:spcPct val="150000"/>
              </a:lnSpc>
              <a:buFont typeface="Wingdings" panose="05000000000000000000" pitchFamily="2" charset="2"/>
              <a:buChar char="ü"/>
            </a:pP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机器学习是对能通过经验自动改进的计算机算法的研究（</a:t>
            </a:r>
            <a:r>
              <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Mitchell</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endPar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a:p>
            <a:pPr marL="800100" lvl="1" indent="-342900" algn="l">
              <a:lnSpc>
                <a:spcPct val="150000"/>
              </a:lnSpc>
              <a:buFont typeface="Wingdings" panose="05000000000000000000" pitchFamily="2" charset="2"/>
              <a:buChar char="ü"/>
            </a:pP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机器学习是用数据或以往的经验，以此提升计算机程序的能力（</a:t>
            </a:r>
            <a:r>
              <a:rPr lang="en-US" altLang="zh-CN" sz="2400" kern="0" dirty="0" err="1">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Alpaydin</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endPar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a:p>
            <a:pPr marL="800100" lvl="1" indent="-342900" algn="l">
              <a:lnSpc>
                <a:spcPct val="150000"/>
              </a:lnSpc>
              <a:buFont typeface="Wingdings" panose="05000000000000000000" pitchFamily="2" charset="2"/>
              <a:buChar char="ü"/>
            </a:pP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机器学习是研究如何通过计算的手段、利用经验来改善系统自身性能的一门学科（周志华）</a:t>
            </a:r>
            <a:endPar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grpSp>
        <p:nvGrpSpPr>
          <p:cNvPr id="16" name="组合 15"/>
          <p:cNvGrpSpPr/>
          <p:nvPr/>
        </p:nvGrpSpPr>
        <p:grpSpPr>
          <a:xfrm>
            <a:off x="6929292" y="3054369"/>
            <a:ext cx="5142197" cy="3290162"/>
            <a:chOff x="2204845" y="1941112"/>
            <a:chExt cx="4300607" cy="2405062"/>
          </a:xfrm>
        </p:grpSpPr>
        <p:sp>
          <p:nvSpPr>
            <p:cNvPr id="18" name="矩形 17"/>
            <p:cNvSpPr/>
            <p:nvPr/>
          </p:nvSpPr>
          <p:spPr>
            <a:xfrm>
              <a:off x="3520052" y="2454140"/>
              <a:ext cx="1728192" cy="4320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训练数据</a:t>
              </a:r>
            </a:p>
          </p:txBody>
        </p:sp>
        <p:sp>
          <p:nvSpPr>
            <p:cNvPr id="19" name="矩形 18"/>
            <p:cNvSpPr/>
            <p:nvPr/>
          </p:nvSpPr>
          <p:spPr>
            <a:xfrm>
              <a:off x="3520052" y="3182435"/>
              <a:ext cx="1728192" cy="4320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机器学习方法</a:t>
              </a:r>
            </a:p>
          </p:txBody>
        </p:sp>
        <p:sp>
          <p:nvSpPr>
            <p:cNvPr id="20" name="矩形 19"/>
            <p:cNvSpPr/>
            <p:nvPr/>
          </p:nvSpPr>
          <p:spPr>
            <a:xfrm>
              <a:off x="2204845" y="3914126"/>
              <a:ext cx="1008112" cy="4320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新数据</a:t>
              </a:r>
            </a:p>
          </p:txBody>
        </p:sp>
        <p:sp>
          <p:nvSpPr>
            <p:cNvPr id="21" name="矩形 20"/>
            <p:cNvSpPr/>
            <p:nvPr/>
          </p:nvSpPr>
          <p:spPr>
            <a:xfrm>
              <a:off x="3520052" y="3914126"/>
              <a:ext cx="1728192" cy="4320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模型函数</a:t>
              </a:r>
            </a:p>
          </p:txBody>
        </p:sp>
        <p:sp>
          <p:nvSpPr>
            <p:cNvPr id="22" name="矩形 21"/>
            <p:cNvSpPr/>
            <p:nvPr/>
          </p:nvSpPr>
          <p:spPr>
            <a:xfrm>
              <a:off x="5508104" y="3914126"/>
              <a:ext cx="997348" cy="4320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预测值</a:t>
              </a:r>
            </a:p>
          </p:txBody>
        </p:sp>
        <p:sp>
          <p:nvSpPr>
            <p:cNvPr id="23" name="下箭头 22"/>
            <p:cNvSpPr/>
            <p:nvPr/>
          </p:nvSpPr>
          <p:spPr>
            <a:xfrm>
              <a:off x="4281803" y="2913139"/>
              <a:ext cx="204691" cy="290135"/>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下箭头 23"/>
            <p:cNvSpPr/>
            <p:nvPr/>
          </p:nvSpPr>
          <p:spPr>
            <a:xfrm>
              <a:off x="4306954" y="3626099"/>
              <a:ext cx="204691" cy="290135"/>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下箭头 24"/>
            <p:cNvSpPr/>
            <p:nvPr/>
          </p:nvSpPr>
          <p:spPr>
            <a:xfrm rot="16200000">
              <a:off x="3274910" y="3997113"/>
              <a:ext cx="204691" cy="290135"/>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下箭头 25"/>
            <p:cNvSpPr/>
            <p:nvPr/>
          </p:nvSpPr>
          <p:spPr>
            <a:xfrm rot="16200000">
              <a:off x="5292917" y="3997113"/>
              <a:ext cx="204691" cy="290135"/>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3520052" y="1941112"/>
              <a:ext cx="2151131" cy="369332"/>
            </a:xfrm>
            <a:prstGeom prst="rect">
              <a:avLst/>
            </a:prstGeom>
          </p:spPr>
          <p:txBody>
            <a:bodyPr wrap="square">
              <a:spAutoFit/>
            </a:bodyPr>
            <a:lstStyle/>
            <a:p>
              <a:r>
                <a:rPr lang="zh-CN" altLang="en-US" kern="0" dirty="0">
                  <a:solidFill>
                    <a:srgbClr val="FF0000"/>
                  </a:solidFill>
                  <a:latin typeface="微软雅黑 Light" panose="020B0502040204020203" pitchFamily="34" charset="-122"/>
                  <a:ea typeface="微软雅黑 Light" panose="020B0502040204020203" pitchFamily="34" charset="-122"/>
                </a:rPr>
                <a:t>典型机器学习过程</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grpSp>
      <p:pic>
        <p:nvPicPr>
          <p:cNvPr id="2" name="图片 1"/>
          <p:cNvPicPr>
            <a:picLocks noChangeAspect="1"/>
          </p:cNvPicPr>
          <p:nvPr/>
        </p:nvPicPr>
        <p:blipFill>
          <a:blip r:embed="rId5"/>
          <a:stretch>
            <a:fillRect/>
          </a:stretch>
        </p:blipFill>
        <p:spPr>
          <a:xfrm>
            <a:off x="89182" y="2693619"/>
            <a:ext cx="6817115" cy="3803083"/>
          </a:xfrm>
          <a:prstGeom prst="rect">
            <a:avLst/>
          </a:prstGeom>
        </p:spPr>
      </p:pic>
      <p:sp>
        <p:nvSpPr>
          <p:cNvPr id="31" name="灯片编号占位符 8">
            <a:extLst>
              <a:ext uri="{FF2B5EF4-FFF2-40B4-BE49-F238E27FC236}">
                <a16:creationId xmlns:a16="http://schemas.microsoft.com/office/drawing/2014/main" id="{8EE4EB02-F353-4E00-8A00-1CC1B3D04794}"/>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01898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en-US" altLang="zh-CN" sz="2800" dirty="0">
                <a:solidFill>
                  <a:schemeClr val="bg1"/>
                </a:solidFill>
                <a:latin typeface="微软雅黑" panose="020B0503020204020204" pitchFamily="34" charset="-122"/>
                <a:ea typeface="微软雅黑" panose="020B0503020204020204" pitchFamily="34" charset="-122"/>
              </a:rPr>
              <a:t>How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213565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如何学会</a:t>
            </a:r>
            <a:endParaRPr lang="en-US" altLang="zh-CN" sz="2800" b="1" dirty="0"/>
          </a:p>
          <a:p>
            <a:pPr marL="800100" lvl="1" indent="-342900" algn="l">
              <a:lnSpc>
                <a:spcPct val="150000"/>
              </a:lnSpc>
              <a:buFont typeface="Wingdings" panose="05000000000000000000" pitchFamily="2" charset="2"/>
              <a:buChar char="ü"/>
            </a:pPr>
            <a:r>
              <a:rPr lang="zh-CN" altLang="en-US" sz="2400" dirty="0">
                <a:latin typeface="微软雅黑 Light" panose="020B0502040204020203" pitchFamily="34" charset="-122"/>
                <a:ea typeface="微软雅黑 Light" panose="020B0502040204020203" pitchFamily="34" charset="-122"/>
              </a:rPr>
              <a:t>从最简单的线性模型开始，直至搭建出一个完整的神经网络架构</a:t>
            </a:r>
            <a:endParaRPr lang="en-US" altLang="zh-CN" sz="2400" dirty="0">
              <a:latin typeface="微软雅黑 Light" panose="020B0502040204020203" pitchFamily="34" charset="-122"/>
              <a:ea typeface="微软雅黑 Light" panose="020B0502040204020203" pitchFamily="34" charset="-122"/>
            </a:endParaRPr>
          </a:p>
          <a:p>
            <a:pPr marL="800100" lvl="1" indent="-342900" algn="l">
              <a:lnSpc>
                <a:spcPct val="150000"/>
              </a:lnSpc>
              <a:buFont typeface="Wingdings" panose="05000000000000000000" pitchFamily="2" charset="2"/>
              <a:buChar char="ü"/>
            </a:pP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符号说明</a:t>
            </a:r>
            <a:endPar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28" name="文本框 27"/>
              <p:cNvSpPr txBox="1"/>
              <p:nvPr/>
            </p:nvSpPr>
            <p:spPr>
              <a:xfrm>
                <a:off x="3159139" y="2111035"/>
                <a:ext cx="5929993" cy="4194931"/>
              </a:xfrm>
              <a:prstGeom prst="rect">
                <a:avLst/>
              </a:prstGeom>
              <a:noFill/>
            </p:spPr>
            <p:txBody>
              <a:bodyPr wrap="square" rtlCol="0">
                <a:spAutoFit/>
              </a:bodyPr>
              <a:lstStyle/>
              <a:p>
                <a:pPr>
                  <a:lnSpc>
                    <a:spcPct val="150000"/>
                  </a:lnSpc>
                </a:pPr>
                <a:r>
                  <a:rPr lang="zh-CN" altLang="en-US" sz="2000" dirty="0">
                    <a:latin typeface="微软雅黑 Light" panose="020B0502040204020203" pitchFamily="34" charset="-122"/>
                    <a:ea typeface="微软雅黑 Light" panose="020B0502040204020203" pitchFamily="34" charset="-122"/>
                  </a:rPr>
                  <a:t>输入数据：</a:t>
                </a:r>
                <a:r>
                  <a:rPr lang="en-US" altLang="zh-CN" sz="2000" dirty="0">
                    <a:ea typeface="微软雅黑 Light" panose="020B0502040204020203" pitchFamily="34" charset="-122"/>
                  </a:rPr>
                  <a:t> </a:t>
                </a:r>
                <a14:m>
                  <m:oMath xmlns:m="http://schemas.openxmlformats.org/officeDocument/2006/math">
                    <m:r>
                      <a:rPr lang="en-US" altLang="zh-CN" sz="2000" b="0" i="1" smtClean="0">
                        <a:latin typeface="Cambria Math" panose="02040503050406030204" pitchFamily="18" charset="0"/>
                        <a:ea typeface="微软雅黑 Light" panose="020B0502040204020203" pitchFamily="34" charset="-122"/>
                      </a:rPr>
                      <m:t>𝑥</m:t>
                    </m:r>
                  </m:oMath>
                </a14:m>
                <a:endParaRPr lang="en-US" altLang="zh-CN" sz="2000"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真实值（实际值）：</a:t>
                </a:r>
                <a14:m>
                  <m:oMath xmlns:m="http://schemas.openxmlformats.org/officeDocument/2006/math">
                    <m:r>
                      <a:rPr lang="en-US" altLang="zh-CN" sz="2000" b="0" i="1" smtClean="0">
                        <a:latin typeface="Cambria Math" panose="02040503050406030204" pitchFamily="18" charset="0"/>
                        <a:ea typeface="微软雅黑 Light" panose="020B0502040204020203" pitchFamily="34" charset="-122"/>
                      </a:rPr>
                      <m:t>𝑦</m:t>
                    </m:r>
                  </m:oMath>
                </a14:m>
                <a:endParaRPr lang="en-US" altLang="zh-CN" sz="2000"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计算值（模型输出值）：</a:t>
                </a:r>
                <a14:m>
                  <m:oMath xmlns:m="http://schemas.openxmlformats.org/officeDocument/2006/math">
                    <m:acc>
                      <m:accPr>
                        <m:chr m:val="̂"/>
                        <m:ctrlPr>
                          <a:rPr lang="en-US" altLang="zh-CN" sz="2000" i="1" smtClean="0">
                            <a:latin typeface="Cambria Math" panose="02040503050406030204" pitchFamily="18" charset="0"/>
                            <a:ea typeface="微软雅黑 Light" panose="020B0502040204020203" pitchFamily="34" charset="-122"/>
                          </a:rPr>
                        </m:ctrlPr>
                      </m:accPr>
                      <m:e>
                        <m:r>
                          <a:rPr lang="en-US" altLang="zh-CN" sz="2000" b="0" i="1" smtClean="0">
                            <a:latin typeface="Cambria Math" panose="02040503050406030204" pitchFamily="18" charset="0"/>
                            <a:ea typeface="微软雅黑 Light" panose="020B0502040204020203" pitchFamily="34" charset="-122"/>
                          </a:rPr>
                          <m:t>𝑦</m:t>
                        </m:r>
                      </m:e>
                    </m:acc>
                  </m:oMath>
                </a14:m>
                <a:endParaRPr lang="en-US" altLang="zh-CN" sz="2000"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模型函数：</a:t>
                </a:r>
                <a:r>
                  <a:rPr lang="en-US" altLang="zh-CN" sz="2000" dirty="0">
                    <a:ea typeface="微软雅黑 Light" panose="020B0502040204020203" pitchFamily="34" charset="-122"/>
                  </a:rPr>
                  <a:t> </a:t>
                </a:r>
                <a14:m>
                  <m:oMath xmlns:m="http://schemas.openxmlformats.org/officeDocument/2006/math">
                    <m:r>
                      <a:rPr lang="en-US" altLang="zh-CN" sz="2000" b="0" i="1" smtClean="0">
                        <a:latin typeface="Cambria Math" panose="02040503050406030204" pitchFamily="18" charset="0"/>
                        <a:ea typeface="微软雅黑 Light" panose="020B0502040204020203" pitchFamily="34" charset="-122"/>
                      </a:rPr>
                      <m:t>𝐻</m:t>
                    </m:r>
                    <m:r>
                      <a:rPr lang="en-US" altLang="zh-CN" sz="2000" b="0" i="1" smtClean="0">
                        <a:latin typeface="Cambria Math" panose="02040503050406030204" pitchFamily="18" charset="0"/>
                        <a:ea typeface="微软雅黑 Light" panose="020B0502040204020203" pitchFamily="34" charset="-122"/>
                      </a:rPr>
                      <m:t>(</m:t>
                    </m:r>
                    <m:r>
                      <a:rPr lang="en-US" altLang="zh-CN" sz="2000" b="0" i="1" smtClean="0">
                        <a:latin typeface="Cambria Math" panose="02040503050406030204" pitchFamily="18" charset="0"/>
                        <a:ea typeface="微软雅黑 Light" panose="020B0502040204020203" pitchFamily="34" charset="-122"/>
                      </a:rPr>
                      <m:t>𝑥</m:t>
                    </m:r>
                    <m:r>
                      <a:rPr lang="en-US" altLang="zh-CN" sz="2000" b="0" i="1" smtClean="0">
                        <a:latin typeface="Cambria Math" panose="02040503050406030204" pitchFamily="18" charset="0"/>
                        <a:ea typeface="微软雅黑 Light" panose="020B0502040204020203" pitchFamily="34" charset="-122"/>
                      </a:rPr>
                      <m:t>)</m:t>
                    </m:r>
                  </m:oMath>
                </a14:m>
                <a:endParaRPr lang="en-US" altLang="zh-CN" sz="2000"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激活函数：</a:t>
                </a:r>
                <a:r>
                  <a:rPr lang="en-US" altLang="zh-CN" sz="2000" dirty="0">
                    <a:ea typeface="微软雅黑 Light" panose="020B0502040204020203" pitchFamily="34" charset="-122"/>
                  </a:rPr>
                  <a:t> </a:t>
                </a:r>
                <a14:m>
                  <m:oMath xmlns:m="http://schemas.openxmlformats.org/officeDocument/2006/math">
                    <m:r>
                      <a:rPr lang="en-US" altLang="zh-CN" sz="2000" b="0" i="1" smtClean="0">
                        <a:latin typeface="Cambria Math" panose="02040503050406030204" pitchFamily="18" charset="0"/>
                        <a:ea typeface="微软雅黑 Light" panose="020B0502040204020203" pitchFamily="34" charset="-122"/>
                      </a:rPr>
                      <m:t>𝐺</m:t>
                    </m:r>
                    <m:r>
                      <a:rPr lang="en-US" altLang="zh-CN" sz="2000" b="0" i="1" smtClean="0">
                        <a:latin typeface="Cambria Math" panose="02040503050406030204" pitchFamily="18" charset="0"/>
                        <a:ea typeface="微软雅黑 Light" panose="020B0502040204020203" pitchFamily="34" charset="-122"/>
                      </a:rPr>
                      <m:t>(</m:t>
                    </m:r>
                    <m:r>
                      <a:rPr lang="en-US" altLang="zh-CN" sz="2000" b="0" i="1" smtClean="0">
                        <a:latin typeface="Cambria Math" panose="02040503050406030204" pitchFamily="18" charset="0"/>
                        <a:ea typeface="微软雅黑 Light" panose="020B0502040204020203" pitchFamily="34" charset="-122"/>
                      </a:rPr>
                      <m:t>𝑥</m:t>
                    </m:r>
                    <m:r>
                      <a:rPr lang="en-US" altLang="zh-CN" sz="2000" b="0" i="1" smtClean="0">
                        <a:latin typeface="Cambria Math" panose="02040503050406030204" pitchFamily="18" charset="0"/>
                        <a:ea typeface="微软雅黑 Light" panose="020B0502040204020203" pitchFamily="34" charset="-122"/>
                      </a:rPr>
                      <m:t>)</m:t>
                    </m:r>
                  </m:oMath>
                </a14:m>
                <a:endParaRPr lang="en-US" altLang="zh-CN" sz="2000"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损失函数：</a:t>
                </a:r>
                <a:r>
                  <a:rPr lang="en-US" altLang="zh-CN" sz="2000" dirty="0">
                    <a:ea typeface="微软雅黑 Light" panose="020B0502040204020203" pitchFamily="34" charset="-122"/>
                  </a:rPr>
                  <a:t> </a:t>
                </a:r>
                <a14:m>
                  <m:oMath xmlns:m="http://schemas.openxmlformats.org/officeDocument/2006/math">
                    <m:r>
                      <a:rPr lang="en-US" altLang="zh-CN" sz="2000" b="0" i="1" smtClean="0">
                        <a:latin typeface="Cambria Math" panose="02040503050406030204" pitchFamily="18" charset="0"/>
                        <a:ea typeface="微软雅黑 Light" panose="020B0502040204020203" pitchFamily="34" charset="-122"/>
                      </a:rPr>
                      <m:t>𝐿</m:t>
                    </m:r>
                    <m:r>
                      <a:rPr lang="en-US" altLang="zh-CN" sz="2000" b="0" i="1" smtClean="0">
                        <a:latin typeface="Cambria Math" panose="02040503050406030204" pitchFamily="18" charset="0"/>
                        <a:ea typeface="微软雅黑 Light" panose="020B0502040204020203" pitchFamily="34" charset="-122"/>
                      </a:rPr>
                      <m:t>(</m:t>
                    </m:r>
                    <m:r>
                      <a:rPr lang="en-US" altLang="zh-CN" sz="2000" b="0" i="1" smtClean="0">
                        <a:latin typeface="Cambria Math" panose="02040503050406030204" pitchFamily="18" charset="0"/>
                        <a:ea typeface="微软雅黑 Light" panose="020B0502040204020203" pitchFamily="34" charset="-122"/>
                      </a:rPr>
                      <m:t>𝑥</m:t>
                    </m:r>
                    <m:r>
                      <a:rPr lang="en-US" altLang="zh-CN" sz="2000" b="0" i="1" smtClean="0">
                        <a:latin typeface="Cambria Math" panose="02040503050406030204" pitchFamily="18" charset="0"/>
                        <a:ea typeface="微软雅黑 Light" panose="020B0502040204020203" pitchFamily="34" charset="-122"/>
                      </a:rPr>
                      <m:t>) </m:t>
                    </m:r>
                  </m:oMath>
                </a14:m>
                <a:endParaRPr lang="en-US" altLang="zh-CN" sz="2000" dirty="0">
                  <a:latin typeface="微软雅黑 Light" panose="020B0502040204020203" pitchFamily="34" charset="-122"/>
                  <a:ea typeface="微软雅黑 Light" panose="020B0502040204020203" pitchFamily="34" charset="-122"/>
                </a:endParaRPr>
              </a:p>
              <a:p>
                <a:pPr>
                  <a:lnSpc>
                    <a:spcPct val="150000"/>
                  </a:lnSpc>
                </a:pPr>
                <a:r>
                  <a:rPr lang="zh-CN" altLang="en-US" sz="2000" dirty="0">
                    <a:latin typeface="微软雅黑 Light" panose="020B0502040204020203" pitchFamily="34" charset="-122"/>
                    <a:ea typeface="微软雅黑 Light" panose="020B0502040204020203" pitchFamily="34" charset="-122"/>
                  </a:rPr>
                  <a:t>标量：斜体小写字母 </a:t>
                </a:r>
                <a:r>
                  <a:rPr lang="en-US" altLang="zh-CN" sz="2000" i="1" dirty="0">
                    <a:latin typeface="微软雅黑 Light" panose="020B0502040204020203" pitchFamily="34" charset="-122"/>
                    <a:ea typeface="微软雅黑 Light" panose="020B0502040204020203" pitchFamily="34" charset="-122"/>
                  </a:rPr>
                  <a:t>a</a:t>
                </a:r>
                <a:r>
                  <a:rPr lang="zh-CN" altLang="en-US" sz="2000" i="1" dirty="0">
                    <a:latin typeface="微软雅黑 Light" panose="020B0502040204020203" pitchFamily="34" charset="-122"/>
                    <a:ea typeface="微软雅黑 Light" panose="020B0502040204020203" pitchFamily="34" charset="-122"/>
                  </a:rPr>
                  <a:t>、</a:t>
                </a:r>
                <a:r>
                  <a:rPr lang="en-US" altLang="zh-CN" sz="2000" i="1" dirty="0">
                    <a:latin typeface="微软雅黑 Light" panose="020B0502040204020203" pitchFamily="34" charset="-122"/>
                    <a:ea typeface="微软雅黑 Light" panose="020B0502040204020203" pitchFamily="34" charset="-122"/>
                  </a:rPr>
                  <a:t>b</a:t>
                </a:r>
                <a:r>
                  <a:rPr lang="zh-CN" altLang="en-US" sz="2000" i="1" dirty="0">
                    <a:latin typeface="微软雅黑 Light" panose="020B0502040204020203" pitchFamily="34" charset="-122"/>
                    <a:ea typeface="微软雅黑 Light" panose="020B0502040204020203" pitchFamily="34" charset="-122"/>
                  </a:rPr>
                  <a:t>、</a:t>
                </a:r>
                <a:r>
                  <a:rPr lang="en-US" altLang="zh-CN" sz="2000" i="1" dirty="0">
                    <a:latin typeface="微软雅黑 Light" panose="020B0502040204020203" pitchFamily="34" charset="-122"/>
                    <a:ea typeface="微软雅黑 Light" panose="020B0502040204020203" pitchFamily="34" charset="-122"/>
                  </a:rPr>
                  <a:t>c</a:t>
                </a:r>
              </a:p>
              <a:p>
                <a:pPr>
                  <a:lnSpc>
                    <a:spcPct val="150000"/>
                  </a:lnSpc>
                </a:pPr>
                <a:r>
                  <a:rPr lang="zh-CN" altLang="en-US" sz="2000" dirty="0">
                    <a:latin typeface="微软雅黑 Light" panose="020B0502040204020203" pitchFamily="34" charset="-122"/>
                    <a:ea typeface="微软雅黑 Light" panose="020B0502040204020203" pitchFamily="34" charset="-122"/>
                  </a:rPr>
                  <a:t>向量：加粗斜体小写字母</a:t>
                </a:r>
                <a:r>
                  <a:rPr lang="zh-CN" altLang="en-US" sz="2000" b="1" i="1" dirty="0">
                    <a:latin typeface="微软雅黑 Light" panose="020B0502040204020203" pitchFamily="34" charset="-122"/>
                    <a:ea typeface="微软雅黑 Light" panose="020B0502040204020203" pitchFamily="34" charset="-122"/>
                  </a:rPr>
                  <a:t> </a:t>
                </a:r>
                <a:r>
                  <a:rPr lang="en-US" altLang="zh-CN" sz="2000" b="1" i="1" dirty="0">
                    <a:latin typeface="微软雅黑 Light" panose="020B0502040204020203" pitchFamily="34" charset="-122"/>
                    <a:ea typeface="微软雅黑 Light" panose="020B0502040204020203" pitchFamily="34" charset="-122"/>
                  </a:rPr>
                  <a:t>a</a:t>
                </a:r>
                <a:r>
                  <a:rPr lang="zh-CN" altLang="en-US" sz="2000" b="1" i="1" dirty="0">
                    <a:latin typeface="微软雅黑 Light" panose="020B0502040204020203" pitchFamily="34" charset="-122"/>
                    <a:ea typeface="微软雅黑 Light" panose="020B0502040204020203" pitchFamily="34" charset="-122"/>
                  </a:rPr>
                  <a:t>、</a:t>
                </a:r>
                <a:r>
                  <a:rPr lang="en-US" altLang="zh-CN" sz="2000" b="1" i="1" dirty="0">
                    <a:latin typeface="微软雅黑 Light" panose="020B0502040204020203" pitchFamily="34" charset="-122"/>
                    <a:ea typeface="微软雅黑 Light" panose="020B0502040204020203" pitchFamily="34" charset="-122"/>
                  </a:rPr>
                  <a:t>b</a:t>
                </a:r>
                <a:r>
                  <a:rPr lang="zh-CN" altLang="en-US" sz="2000" b="1" i="1" dirty="0">
                    <a:latin typeface="微软雅黑 Light" panose="020B0502040204020203" pitchFamily="34" charset="-122"/>
                    <a:ea typeface="微软雅黑 Light" panose="020B0502040204020203" pitchFamily="34" charset="-122"/>
                  </a:rPr>
                  <a:t>、</a:t>
                </a:r>
                <a:r>
                  <a:rPr lang="en-US" altLang="zh-CN" sz="2000" b="1" i="1" dirty="0">
                    <a:latin typeface="微软雅黑 Light" panose="020B0502040204020203" pitchFamily="34" charset="-122"/>
                    <a:ea typeface="微软雅黑 Light" panose="020B0502040204020203" pitchFamily="34" charset="-122"/>
                  </a:rPr>
                  <a:t>c</a:t>
                </a:r>
              </a:p>
              <a:p>
                <a:pPr>
                  <a:lnSpc>
                    <a:spcPct val="150000"/>
                  </a:lnSpc>
                </a:pPr>
                <a:r>
                  <a:rPr lang="zh-CN" altLang="en-US" sz="2000" dirty="0">
                    <a:latin typeface="微软雅黑 Light" panose="020B0502040204020203" pitchFamily="34" charset="-122"/>
                    <a:ea typeface="微软雅黑 Light" panose="020B0502040204020203" pitchFamily="34" charset="-122"/>
                  </a:rPr>
                  <a:t>矩阵：大写字母</a:t>
                </a:r>
                <a:r>
                  <a:rPr lang="en-US" altLang="zh-CN" sz="2000" b="1" dirty="0">
                    <a:latin typeface="微软雅黑 Light" panose="020B0502040204020203" pitchFamily="34" charset="-122"/>
                    <a:ea typeface="微软雅黑 Light" panose="020B0502040204020203" pitchFamily="34" charset="-122"/>
                  </a:rPr>
                  <a:t>A</a:t>
                </a:r>
                <a:r>
                  <a:rPr lang="zh-CN" altLang="en-US" sz="2000" b="1" dirty="0">
                    <a:latin typeface="微软雅黑 Light" panose="020B0502040204020203" pitchFamily="34" charset="-122"/>
                    <a:ea typeface="微软雅黑 Light" panose="020B0502040204020203" pitchFamily="34" charset="-122"/>
                  </a:rPr>
                  <a:t>、</a:t>
                </a:r>
                <a:r>
                  <a:rPr lang="en-US" altLang="zh-CN" sz="2000" b="1" dirty="0">
                    <a:latin typeface="微软雅黑 Light" panose="020B0502040204020203" pitchFamily="34" charset="-122"/>
                    <a:ea typeface="微软雅黑 Light" panose="020B0502040204020203" pitchFamily="34" charset="-122"/>
                  </a:rPr>
                  <a:t>B</a:t>
                </a:r>
                <a:r>
                  <a:rPr lang="zh-CN" altLang="en-US" sz="2000" b="1" dirty="0">
                    <a:latin typeface="微软雅黑 Light" panose="020B0502040204020203" pitchFamily="34" charset="-122"/>
                    <a:ea typeface="微软雅黑 Light" panose="020B0502040204020203" pitchFamily="34" charset="-122"/>
                  </a:rPr>
                  <a:t>、</a:t>
                </a:r>
                <a:r>
                  <a:rPr lang="en-US" altLang="zh-CN" sz="2000" b="1" dirty="0">
                    <a:latin typeface="微软雅黑 Light" panose="020B0502040204020203" pitchFamily="34" charset="-122"/>
                    <a:ea typeface="微软雅黑 Light" panose="020B0502040204020203" pitchFamily="34" charset="-122"/>
                  </a:rPr>
                  <a:t>C</a:t>
                </a:r>
                <a:endParaRPr lang="zh-CN" altLang="en-US" sz="2000" b="1" dirty="0">
                  <a:latin typeface="微软雅黑 Light" panose="020B0502040204020203" pitchFamily="34" charset="-122"/>
                  <a:ea typeface="微软雅黑 Light" panose="020B0502040204020203" pitchFamily="34" charset="-122"/>
                </a:endParaRPr>
              </a:p>
            </p:txBody>
          </p:sp>
        </mc:Choice>
        <mc:Fallback xmlns="">
          <p:sp>
            <p:nvSpPr>
              <p:cNvPr id="28" name="文本框 27"/>
              <p:cNvSpPr txBox="1">
                <a:spLocks noRot="1" noChangeAspect="1" noMove="1" noResize="1" noEditPoints="1" noAdjustHandles="1" noChangeArrowheads="1" noChangeShapeType="1" noTextEdit="1"/>
              </p:cNvSpPr>
              <p:nvPr/>
            </p:nvSpPr>
            <p:spPr>
              <a:xfrm>
                <a:off x="3159139" y="2111035"/>
                <a:ext cx="5929993" cy="4194931"/>
              </a:xfrm>
              <a:prstGeom prst="rect">
                <a:avLst/>
              </a:prstGeom>
              <a:blipFill>
                <a:blip r:embed="rId5"/>
                <a:stretch>
                  <a:fillRect l="-1028" b="-1599"/>
                </a:stretch>
              </a:blipFill>
            </p:spPr>
            <p:txBody>
              <a:bodyPr/>
              <a:lstStyle/>
              <a:p>
                <a:r>
                  <a:rPr lang="zh-CN" altLang="en-US">
                    <a:noFill/>
                  </a:rPr>
                  <a:t> </a:t>
                </a:r>
              </a:p>
            </p:txBody>
          </p:sp>
        </mc:Fallback>
      </mc:AlternateContent>
      <p:sp>
        <p:nvSpPr>
          <p:cNvPr id="11" name="灯片编号占位符 8">
            <a:extLst>
              <a:ext uri="{FF2B5EF4-FFF2-40B4-BE49-F238E27FC236}">
                <a16:creationId xmlns:a16="http://schemas.microsoft.com/office/drawing/2014/main" id="{69FCFFA9-71D9-4C0B-B2E9-BBA16E27E43E}"/>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29487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线性回归</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0"/>
            <a:ext cx="11637087" cy="3122061"/>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概念：</a:t>
            </a:r>
            <a:r>
              <a:rPr lang="zh-CN" altLang="en-US" sz="2600" dirty="0"/>
              <a:t>利用数理统计中回归分析，来确定两种或两种以上变量间相互依赖的定量关系的一种统计分析方法。</a:t>
            </a:r>
            <a:endParaRPr lang="en-US" altLang="zh-CN" sz="2600" dirty="0"/>
          </a:p>
          <a:p>
            <a:pPr marL="342900" indent="-342900" algn="l">
              <a:lnSpc>
                <a:spcPct val="150000"/>
              </a:lnSpc>
              <a:buFont typeface="Wingdings" panose="05000000000000000000" pitchFamily="2" charset="2"/>
              <a:buChar char="ü"/>
            </a:pPr>
            <a:r>
              <a:rPr lang="zh-CN" altLang="en-US" sz="2800" b="1" dirty="0"/>
              <a:t>最小二乘法：</a:t>
            </a:r>
            <a:r>
              <a:rPr lang="zh-CN" altLang="en-US" dirty="0"/>
              <a:t>通过最小化误差的平方和寻找数据的最佳函数匹配</a:t>
            </a:r>
            <a:endParaRPr lang="en-US" altLang="zh-CN" sz="2800" b="1" dirty="0"/>
          </a:p>
          <a:p>
            <a:pPr marL="342900" indent="-342900" algn="l">
              <a:lnSpc>
                <a:spcPct val="150000"/>
              </a:lnSpc>
              <a:buFont typeface="Wingdings" panose="05000000000000000000" pitchFamily="2" charset="2"/>
              <a:buChar char="ü"/>
            </a:pPr>
            <a:r>
              <a:rPr lang="zh-CN" altLang="en-US" sz="2800" b="1" dirty="0"/>
              <a:t>问题引入</a:t>
            </a:r>
            <a:endParaRPr lang="en-US" altLang="zh-CN" sz="2800" b="1" dirty="0"/>
          </a:p>
          <a:p>
            <a:pPr marL="800100" lvl="1" indent="-342900" algn="l">
              <a:lnSpc>
                <a:spcPct val="150000"/>
              </a:lnSpc>
              <a:buFont typeface="Wingdings" panose="05000000000000000000" pitchFamily="2" charset="2"/>
              <a:buChar char="ü"/>
            </a:pPr>
            <a:r>
              <a:rPr lang="zh-CN"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假设</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房屋销售中心</a:t>
            </a:r>
            <a:r>
              <a:rPr lang="zh-CN"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有这样一组关于</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房屋面积和房屋位置与销售价格的</a:t>
            </a:r>
            <a:r>
              <a:rPr lang="zh-CN"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数据，</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用</a:t>
            </a:r>
            <a:r>
              <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x1</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表示房屋面积</a:t>
            </a:r>
            <a:r>
              <a:rPr lang="zh-CN"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x2</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表示房屋楼层，</a:t>
            </a:r>
            <a:r>
              <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y</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表示售价（万元）</a:t>
            </a:r>
            <a:r>
              <a:rPr lang="zh-CN"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endParaRPr lang="en-US" altLang="zh-CN" sz="2400" dirty="0">
              <a:latin typeface="微软雅黑 Light" panose="020B0502040204020203" pitchFamily="34" charset="-122"/>
              <a:ea typeface="微软雅黑 Light" panose="020B0502040204020203" pitchFamily="34" charset="-122"/>
            </a:endParaRPr>
          </a:p>
        </p:txBody>
      </p:sp>
      <p:graphicFrame>
        <p:nvGraphicFramePr>
          <p:cNvPr id="9" name="表格 8"/>
          <p:cNvGraphicFramePr>
            <a:graphicFrameLocks noGrp="1"/>
          </p:cNvGraphicFramePr>
          <p:nvPr>
            <p:extLst/>
          </p:nvPr>
        </p:nvGraphicFramePr>
        <p:xfrm>
          <a:off x="2896970" y="3852968"/>
          <a:ext cx="5357396" cy="259588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50549336"/>
                    </a:ext>
                  </a:extLst>
                </a:gridCol>
                <a:gridCol w="1944216">
                  <a:extLst>
                    <a:ext uri="{9D8B030D-6E8A-4147-A177-3AD203B41FA5}">
                      <a16:colId xmlns:a16="http://schemas.microsoft.com/office/drawing/2014/main" val="1162554621"/>
                    </a:ext>
                  </a:extLst>
                </a:gridCol>
                <a:gridCol w="633671">
                  <a:extLst>
                    <a:ext uri="{9D8B030D-6E8A-4147-A177-3AD203B41FA5}">
                      <a16:colId xmlns:a16="http://schemas.microsoft.com/office/drawing/2014/main" val="2258273136"/>
                    </a:ext>
                  </a:extLst>
                </a:gridCol>
                <a:gridCol w="1339349">
                  <a:extLst>
                    <a:ext uri="{9D8B030D-6E8A-4147-A177-3AD203B41FA5}">
                      <a16:colId xmlns:a16="http://schemas.microsoft.com/office/drawing/2014/main" val="1593107956"/>
                    </a:ext>
                  </a:extLst>
                </a:gridCol>
              </a:tblGrid>
              <a:tr h="370840">
                <a:tc>
                  <a:txBody>
                    <a:bodyPr/>
                    <a:lstStyle/>
                    <a:p>
                      <a:pPr algn="ctr"/>
                      <a:r>
                        <a:rPr lang="en-US" altLang="zh-CN" b="0" dirty="0">
                          <a:solidFill>
                            <a:schemeClr val="tx1"/>
                          </a:solidFill>
                          <a:latin typeface="微软雅黑 Light" panose="020B0502040204020203" pitchFamily="34" charset="-122"/>
                          <a:ea typeface="微软雅黑 Light" panose="020B0502040204020203" pitchFamily="34" charset="-122"/>
                        </a:rPr>
                        <a:t>x1</a:t>
                      </a: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微软雅黑 Light" panose="020B0502040204020203" pitchFamily="34" charset="-122"/>
                          <a:ea typeface="微软雅黑 Light" panose="020B0502040204020203" pitchFamily="34" charset="-122"/>
                        </a:rPr>
                        <a:t>x2</a:t>
                      </a: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微软雅黑 Light" panose="020B0502040204020203" pitchFamily="34" charset="-122"/>
                          <a:ea typeface="微软雅黑 Light" panose="020B0502040204020203" pitchFamily="34" charset="-122"/>
                        </a:rPr>
                        <a:t>…</a:t>
                      </a: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微软雅黑 Light" panose="020B0502040204020203" pitchFamily="34" charset="-122"/>
                          <a:ea typeface="微软雅黑 Light" panose="020B0502040204020203" pitchFamily="34" charset="-122"/>
                        </a:rPr>
                        <a:t>y</a:t>
                      </a: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9114000"/>
                  </a:ext>
                </a:extLst>
              </a:tr>
              <a:tr h="370840">
                <a:tc>
                  <a:txBody>
                    <a:bodyPr/>
                    <a:lstStyle/>
                    <a:p>
                      <a:pPr algn="ctr">
                        <a:spcAft>
                          <a:spcPts val="0"/>
                        </a:spcAft>
                      </a:pPr>
                      <a:r>
                        <a:rPr 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50</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altLang="zh-CN"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2</a:t>
                      </a:r>
                      <a:endParaRPr kumimoji="0" lang="zh-CN" alt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0" dirty="0">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50</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8208844"/>
                  </a:ext>
                </a:extLst>
              </a:tr>
              <a:tr h="370840">
                <a:tc>
                  <a:txBody>
                    <a:bodyPr/>
                    <a:lstStyle/>
                    <a:p>
                      <a:pPr algn="ctr">
                        <a:spcAft>
                          <a:spcPts val="0"/>
                        </a:spcAft>
                      </a:pPr>
                      <a:r>
                        <a:rPr 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47</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altLang="zh-CN"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1</a:t>
                      </a:r>
                      <a:endParaRPr kumimoji="0" lang="zh-CN" alt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0" dirty="0">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42</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5851675"/>
                  </a:ext>
                </a:extLst>
              </a:tr>
              <a:tr h="370840">
                <a:tc>
                  <a:txBody>
                    <a:bodyPr/>
                    <a:lstStyle/>
                    <a:p>
                      <a:pPr algn="ctr">
                        <a:spcAft>
                          <a:spcPts val="0"/>
                        </a:spcAft>
                      </a:pPr>
                      <a:r>
                        <a:rPr 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60</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altLang="zh-CN"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4</a:t>
                      </a:r>
                      <a:endParaRPr kumimoji="0" lang="zh-CN" alt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0" dirty="0">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80</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841668"/>
                  </a:ext>
                </a:extLst>
              </a:tr>
              <a:tr h="370840">
                <a:tc>
                  <a:txBody>
                    <a:bodyPr/>
                    <a:lstStyle/>
                    <a:p>
                      <a:pPr algn="ctr">
                        <a:spcAft>
                          <a:spcPts val="0"/>
                        </a:spcAft>
                      </a:pPr>
                      <a:r>
                        <a:rPr 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55</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altLang="zh-CN"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3</a:t>
                      </a:r>
                      <a:endParaRPr kumimoji="0" lang="zh-CN" alt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0" dirty="0">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60</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833469"/>
                  </a:ext>
                </a:extLst>
              </a:tr>
              <a:tr h="370840">
                <a:tc>
                  <a:txBody>
                    <a:bodyPr/>
                    <a:lstStyle/>
                    <a:p>
                      <a:pPr algn="ctr"/>
                      <a:r>
                        <a:rPr lang="en-US" altLang="zh-CN" b="0" dirty="0">
                          <a:solidFill>
                            <a:schemeClr val="tx1"/>
                          </a:solidFill>
                          <a:latin typeface="微软雅黑 Light" panose="020B0502040204020203" pitchFamily="34" charset="-122"/>
                          <a:ea typeface="微软雅黑 Light" panose="020B0502040204020203" pitchFamily="34" charset="-122"/>
                        </a:rPr>
                        <a:t>…</a:t>
                      </a: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微软雅黑 Light" panose="020B0502040204020203" pitchFamily="34" charset="-122"/>
                          <a:ea typeface="微软雅黑 Light" panose="020B0502040204020203" pitchFamily="34" charset="-122"/>
                        </a:rPr>
                        <a:t>…</a:t>
                      </a: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微软雅黑 Light" panose="020B0502040204020203" pitchFamily="34" charset="-122"/>
                          <a:ea typeface="微软雅黑 Light" panose="020B0502040204020203" pitchFamily="34" charset="-122"/>
                        </a:rPr>
                        <a:t>…</a:t>
                      </a: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036113"/>
                  </a:ext>
                </a:extLst>
              </a:tr>
              <a:tr h="370840">
                <a:tc>
                  <a:txBody>
                    <a:bodyPr/>
                    <a:lstStyle/>
                    <a:p>
                      <a:pPr algn="ctr"/>
                      <a:r>
                        <a:rPr lang="en-US" altLang="zh-CN" b="0" dirty="0">
                          <a:solidFill>
                            <a:srgbClr val="FF0000"/>
                          </a:solidFill>
                          <a:latin typeface="微软雅黑 Light" panose="020B0502040204020203" pitchFamily="34" charset="-122"/>
                          <a:ea typeface="微软雅黑 Light" panose="020B0502040204020203" pitchFamily="34" charset="-122"/>
                        </a:rPr>
                        <a:t>65</a:t>
                      </a:r>
                      <a:endParaRPr lang="zh-CN" altLang="en-US" b="0" dirty="0">
                        <a:solidFill>
                          <a:srgbClr val="FF0000"/>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rgbClr val="FF0000"/>
                          </a:solidFill>
                          <a:latin typeface="微软雅黑 Light" panose="020B0502040204020203" pitchFamily="34" charset="-122"/>
                          <a:ea typeface="微软雅黑 Light" panose="020B0502040204020203" pitchFamily="34" charset="-122"/>
                        </a:rPr>
                        <a:t>10</a:t>
                      </a:r>
                      <a:endParaRPr lang="zh-CN" altLang="en-US" b="0" dirty="0">
                        <a:solidFill>
                          <a:srgbClr val="FF0000"/>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b="0" dirty="0">
                          <a:solidFill>
                            <a:srgbClr val="FF0000"/>
                          </a:solidFill>
                          <a:latin typeface="微软雅黑 Light" panose="020B0502040204020203" pitchFamily="34" charset="-122"/>
                          <a:ea typeface="微软雅黑 Light" panose="020B0502040204020203"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1327206"/>
                  </a:ext>
                </a:extLst>
              </a:tr>
            </a:tbl>
          </a:graphicData>
        </a:graphic>
      </p:graphicFrame>
      <p:cxnSp>
        <p:nvCxnSpPr>
          <p:cNvPr id="10" name="直接箭头连接符 9"/>
          <p:cNvCxnSpPr/>
          <p:nvPr/>
        </p:nvCxnSpPr>
        <p:spPr>
          <a:xfrm flipH="1">
            <a:off x="8009538" y="6085216"/>
            <a:ext cx="648072" cy="216024"/>
          </a:xfrm>
          <a:prstGeom prst="straightConnector1">
            <a:avLst/>
          </a:prstGeom>
          <a:noFill/>
          <a:ln w="15875" cap="flat" cmpd="sng">
            <a:solidFill>
              <a:srgbClr val="2B66F9"/>
            </a:solidFill>
            <a:prstDash val="solid"/>
            <a:round/>
            <a:headEnd/>
            <a:tailEnd type="triangle"/>
          </a:ln>
          <a:effectLst/>
        </p:spPr>
      </p:cxnSp>
      <p:sp>
        <p:nvSpPr>
          <p:cNvPr id="11" name="矩形 10"/>
          <p:cNvSpPr/>
          <p:nvPr/>
        </p:nvSpPr>
        <p:spPr>
          <a:xfrm>
            <a:off x="8585602" y="5623551"/>
            <a:ext cx="1562492" cy="875817"/>
          </a:xfrm>
          <a:prstGeom prst="rect">
            <a:avLst/>
          </a:prstGeom>
        </p:spPr>
        <p:txBody>
          <a:bodyPr wrap="square">
            <a:spAutoFit/>
          </a:bodyPr>
          <a:lstStyle/>
          <a:p>
            <a:pPr>
              <a:lnSpc>
                <a:spcPct val="150000"/>
              </a:lnSpc>
            </a:pPr>
            <a:r>
              <a:rPr lang="zh-CN" altLang="en-US"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设计一个回归程序进行预测</a:t>
            </a:r>
            <a:endParaRPr lang="zh-CN" altLang="zh-CN" sz="14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14" name="灯片编号占位符 8">
            <a:extLst>
              <a:ext uri="{FF2B5EF4-FFF2-40B4-BE49-F238E27FC236}">
                <a16:creationId xmlns:a16="http://schemas.microsoft.com/office/drawing/2014/main" id="{41F3229A-87BE-42AF-84B9-01A70969E248}"/>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56062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线性回归</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graphicFrame>
        <p:nvGraphicFramePr>
          <p:cNvPr id="9" name="表格 8"/>
          <p:cNvGraphicFramePr>
            <a:graphicFrameLocks noGrp="1"/>
          </p:cNvGraphicFramePr>
          <p:nvPr>
            <p:extLst/>
          </p:nvPr>
        </p:nvGraphicFramePr>
        <p:xfrm>
          <a:off x="1160515" y="1690606"/>
          <a:ext cx="2599016" cy="2032666"/>
        </p:xfrm>
        <a:graphic>
          <a:graphicData uri="http://schemas.openxmlformats.org/drawingml/2006/table">
            <a:tbl>
              <a:tblPr firstRow="1" bandRow="1">
                <a:tableStyleId>{5C22544A-7EE6-4342-B048-85BDC9FD1C3A}</a:tableStyleId>
              </a:tblPr>
              <a:tblGrid>
                <a:gridCol w="1346641">
                  <a:extLst>
                    <a:ext uri="{9D8B030D-6E8A-4147-A177-3AD203B41FA5}">
                      <a16:colId xmlns:a16="http://schemas.microsoft.com/office/drawing/2014/main" val="50549336"/>
                    </a:ext>
                  </a:extLst>
                </a:gridCol>
                <a:gridCol w="1252375">
                  <a:extLst>
                    <a:ext uri="{9D8B030D-6E8A-4147-A177-3AD203B41FA5}">
                      <a16:colId xmlns:a16="http://schemas.microsoft.com/office/drawing/2014/main" val="1593107956"/>
                    </a:ext>
                  </a:extLst>
                </a:gridCol>
              </a:tblGrid>
              <a:tr h="208949">
                <a:tc>
                  <a:txBody>
                    <a:bodyPr/>
                    <a:lstStyle/>
                    <a:p>
                      <a:pPr algn="ctr"/>
                      <a:r>
                        <a:rPr lang="en-US" altLang="zh-CN" sz="1200" b="0" dirty="0">
                          <a:solidFill>
                            <a:schemeClr val="tx1"/>
                          </a:solidFill>
                          <a:latin typeface="微软雅黑 Light" panose="020B0502040204020203" pitchFamily="34" charset="-122"/>
                          <a:ea typeface="微软雅黑 Light" panose="020B0502040204020203" pitchFamily="34" charset="-122"/>
                        </a:rPr>
                        <a:t>x1</a:t>
                      </a:r>
                      <a:endParaRPr lang="zh-CN" altLang="en-US" sz="1200"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b="0" dirty="0">
                          <a:solidFill>
                            <a:schemeClr val="tx1"/>
                          </a:solidFill>
                          <a:latin typeface="微软雅黑 Light" panose="020B0502040204020203" pitchFamily="34" charset="-122"/>
                          <a:ea typeface="微软雅黑 Light" panose="020B0502040204020203" pitchFamily="34" charset="-122"/>
                        </a:rPr>
                        <a:t>y</a:t>
                      </a:r>
                      <a:endParaRPr lang="zh-CN" altLang="en-US" sz="1200"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9114000"/>
                  </a:ext>
                </a:extLst>
              </a:tr>
              <a:tr h="318458">
                <a:tc>
                  <a:txBody>
                    <a:bodyPr/>
                    <a:lstStyle/>
                    <a:p>
                      <a:pPr algn="ctr">
                        <a:spcAft>
                          <a:spcPts val="0"/>
                        </a:spcAft>
                      </a:pPr>
                      <a:r>
                        <a:rPr 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50</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0" dirty="0">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55</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8208844"/>
                  </a:ext>
                </a:extLst>
              </a:tr>
              <a:tr h="279594">
                <a:tc>
                  <a:txBody>
                    <a:bodyPr/>
                    <a:lstStyle/>
                    <a:p>
                      <a:pPr algn="ctr">
                        <a:spcAft>
                          <a:spcPts val="0"/>
                        </a:spcAft>
                      </a:pPr>
                      <a:r>
                        <a:rPr 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47</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0" dirty="0">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42</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5851675"/>
                  </a:ext>
                </a:extLst>
              </a:tr>
              <a:tr h="312738">
                <a:tc>
                  <a:txBody>
                    <a:bodyPr/>
                    <a:lstStyle/>
                    <a:p>
                      <a:pPr algn="ctr">
                        <a:spcAft>
                          <a:spcPts val="0"/>
                        </a:spcAft>
                      </a:pPr>
                      <a:r>
                        <a:rPr 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60</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0" dirty="0">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80</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841668"/>
                  </a:ext>
                </a:extLst>
              </a:tr>
              <a:tr h="273874">
                <a:tc>
                  <a:txBody>
                    <a:bodyPr/>
                    <a:lstStyle/>
                    <a:p>
                      <a:pPr algn="ctr">
                        <a:spcAft>
                          <a:spcPts val="0"/>
                        </a:spcAft>
                      </a:pPr>
                      <a:r>
                        <a:rPr lang="en-US" sz="1200" b="0" kern="0" dirty="0">
                          <a:solidFill>
                            <a:srgbClr val="000000"/>
                          </a:solidFill>
                          <a:effectLst/>
                          <a:latin typeface="微软雅黑 Light" panose="020B0502040204020203" pitchFamily="34" charset="-122"/>
                          <a:ea typeface="微软雅黑 Light" panose="020B0502040204020203" pitchFamily="34" charset="-122"/>
                          <a:cs typeface="宋体" panose="02010600030101010101" pitchFamily="2" charset="-122"/>
                        </a:rPr>
                        <a:t>55</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altLang="zh-CN" sz="1200" b="0" kern="0" dirty="0">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a:t>
                      </a:r>
                      <a:endParaRPr lang="zh-CN" sz="1050" b="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833469"/>
                  </a:ext>
                </a:extLst>
              </a:tr>
              <a:tr h="269537">
                <a:tc>
                  <a:txBody>
                    <a:bodyPr/>
                    <a:lstStyle/>
                    <a:p>
                      <a:pPr algn="ctr"/>
                      <a:r>
                        <a:rPr lang="en-US" altLang="zh-CN" sz="1200" b="0" dirty="0">
                          <a:solidFill>
                            <a:schemeClr val="tx1"/>
                          </a:solidFill>
                          <a:latin typeface="微软雅黑 Light" panose="020B0502040204020203" pitchFamily="34" charset="-122"/>
                          <a:ea typeface="微软雅黑 Light" panose="020B0502040204020203" pitchFamily="34" charset="-122"/>
                        </a:rPr>
                        <a:t>…</a:t>
                      </a:r>
                      <a:endParaRPr lang="zh-CN" altLang="en-US" sz="1200"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200"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036113"/>
                  </a:ext>
                </a:extLst>
              </a:tr>
              <a:tr h="299362">
                <a:tc>
                  <a:txBody>
                    <a:bodyPr/>
                    <a:lstStyle/>
                    <a:p>
                      <a:pPr algn="ctr"/>
                      <a:r>
                        <a:rPr lang="en-US" altLang="zh-CN" sz="1200" b="0" dirty="0">
                          <a:solidFill>
                            <a:schemeClr val="tx1"/>
                          </a:solidFill>
                          <a:latin typeface="微软雅黑 Light" panose="020B0502040204020203" pitchFamily="34" charset="-122"/>
                          <a:ea typeface="微软雅黑 Light" panose="020B0502040204020203" pitchFamily="34" charset="-122"/>
                        </a:rPr>
                        <a:t>65</a:t>
                      </a:r>
                      <a:endParaRPr lang="zh-CN" altLang="en-US" sz="1200" b="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b="0" dirty="0">
                          <a:solidFill>
                            <a:srgbClr val="FF0000"/>
                          </a:solidFill>
                          <a:latin typeface="微软雅黑 Light" panose="020B0502040204020203" pitchFamily="34" charset="-122"/>
                          <a:ea typeface="微软雅黑 Light" panose="020B0502040204020203"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1327206"/>
                  </a:ext>
                </a:extLst>
              </a:tr>
            </a:tbl>
          </a:graphicData>
        </a:graphic>
      </p:graphicFrame>
      <p:sp>
        <p:nvSpPr>
          <p:cNvPr id="10" name="矩形 9"/>
          <p:cNvSpPr/>
          <p:nvPr/>
        </p:nvSpPr>
        <p:spPr>
          <a:xfrm>
            <a:off x="661308" y="1089213"/>
            <a:ext cx="3597430" cy="400110"/>
          </a:xfrm>
          <a:prstGeom prst="rect">
            <a:avLst/>
          </a:prstGeom>
        </p:spPr>
        <p:txBody>
          <a:bodyPr wrap="square">
            <a:spAutoFit/>
          </a:bodyPr>
          <a:lstStyle/>
          <a:p>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房屋面积</a:t>
            </a:r>
            <a:r>
              <a:rPr lang="en-US"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x1</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与售价</a:t>
            </a:r>
            <a:r>
              <a:rPr lang="en-US"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y</a:t>
            </a:r>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的关系</a:t>
            </a:r>
            <a:endParaRPr lang="zh-CN" altLang="en-US" sz="2000" dirty="0">
              <a:latin typeface="微软雅黑 Light" panose="020B0502040204020203" pitchFamily="34" charset="-122"/>
              <a:ea typeface="微软雅黑 Light" panose="020B0502040204020203" pitchFamily="34" charset="-122"/>
            </a:endParaRPr>
          </a:p>
        </p:txBody>
      </p:sp>
      <p:grpSp>
        <p:nvGrpSpPr>
          <p:cNvPr id="11" name="组合 10"/>
          <p:cNvGrpSpPr/>
          <p:nvPr/>
        </p:nvGrpSpPr>
        <p:grpSpPr>
          <a:xfrm>
            <a:off x="690957" y="4046133"/>
            <a:ext cx="4007142" cy="2436005"/>
            <a:chOff x="395536" y="4200881"/>
            <a:chExt cx="3689152" cy="2110228"/>
          </a:xfrm>
        </p:grpSpPr>
        <p:cxnSp>
          <p:nvCxnSpPr>
            <p:cNvPr id="12" name="直接箭头连接符 11"/>
            <p:cNvCxnSpPr/>
            <p:nvPr/>
          </p:nvCxnSpPr>
          <p:spPr>
            <a:xfrm flipV="1">
              <a:off x="707136" y="6126443"/>
              <a:ext cx="2960757" cy="24940"/>
            </a:xfrm>
            <a:prstGeom prst="straightConnector1">
              <a:avLst/>
            </a:prstGeom>
            <a:noFill/>
            <a:ln w="28575" cap="flat" cmpd="sng">
              <a:solidFill>
                <a:schemeClr val="tx1"/>
              </a:solidFill>
              <a:prstDash val="solid"/>
              <a:round/>
              <a:headEnd/>
              <a:tailEnd type="triangle"/>
            </a:ln>
            <a:effectLst/>
          </p:spPr>
        </p:cxnSp>
        <p:cxnSp>
          <p:nvCxnSpPr>
            <p:cNvPr id="13" name="直接箭头连接符 12"/>
            <p:cNvCxnSpPr/>
            <p:nvPr/>
          </p:nvCxnSpPr>
          <p:spPr>
            <a:xfrm flipV="1">
              <a:off x="707136" y="4200881"/>
              <a:ext cx="0" cy="1961566"/>
            </a:xfrm>
            <a:prstGeom prst="straightConnector1">
              <a:avLst/>
            </a:prstGeom>
            <a:noFill/>
            <a:ln w="28575" cap="flat" cmpd="sng">
              <a:solidFill>
                <a:schemeClr val="tx1"/>
              </a:solidFill>
              <a:prstDash val="solid"/>
              <a:round/>
              <a:headEnd/>
              <a:tailEnd type="triangle"/>
            </a:ln>
            <a:effectLst/>
          </p:spPr>
        </p:cxnSp>
        <p:sp>
          <p:nvSpPr>
            <p:cNvPr id="14" name="乘号 13"/>
            <p:cNvSpPr/>
            <p:nvPr/>
          </p:nvSpPr>
          <p:spPr>
            <a:xfrm>
              <a:off x="1330133" y="560588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乘号 15"/>
            <p:cNvSpPr/>
            <p:nvPr/>
          </p:nvSpPr>
          <p:spPr>
            <a:xfrm>
              <a:off x="1921746" y="4827091"/>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乘号 17"/>
            <p:cNvSpPr/>
            <p:nvPr/>
          </p:nvSpPr>
          <p:spPr>
            <a:xfrm>
              <a:off x="1730141" y="539891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乘号 18"/>
            <p:cNvSpPr/>
            <p:nvPr/>
          </p:nvSpPr>
          <p:spPr>
            <a:xfrm>
              <a:off x="2339752" y="461655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乘号 19"/>
            <p:cNvSpPr/>
            <p:nvPr/>
          </p:nvSpPr>
          <p:spPr>
            <a:xfrm>
              <a:off x="2467489" y="429309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3580632" y="5941777"/>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395536" y="4200881"/>
              <a:ext cx="345910" cy="369332"/>
            </a:xfrm>
            <a:prstGeom prst="rect">
              <a:avLst/>
            </a:prstGeom>
            <a:noFill/>
          </p:spPr>
          <p:txBody>
            <a:bodyPr wrap="square" rtlCol="0">
              <a:spAutoFit/>
            </a:bodyPr>
            <a:lstStyle/>
            <a:p>
              <a:r>
                <a:rPr lang="en-US" altLang="zh-CN" dirty="0"/>
                <a:t>y</a:t>
              </a:r>
              <a:endParaRPr lang="zh-CN" altLang="en-US" dirty="0"/>
            </a:p>
          </p:txBody>
        </p:sp>
        <p:sp>
          <p:nvSpPr>
            <p:cNvPr id="23" name="乘号 22"/>
            <p:cNvSpPr/>
            <p:nvPr/>
          </p:nvSpPr>
          <p:spPr>
            <a:xfrm>
              <a:off x="1857878" y="5138129"/>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矩形 23"/>
          <p:cNvSpPr/>
          <p:nvPr/>
        </p:nvSpPr>
        <p:spPr>
          <a:xfrm>
            <a:off x="5139769" y="995561"/>
            <a:ext cx="6065260" cy="1477328"/>
          </a:xfrm>
          <a:prstGeom prst="rect">
            <a:avLst/>
          </a:prstGeom>
        </p:spPr>
        <p:txBody>
          <a:bodyPr wrap="square">
            <a:spAutoFit/>
          </a:bodyPr>
          <a:lstStyle/>
          <a:p>
            <a:pPr algn="just">
              <a:lnSpc>
                <a:spcPct val="150000"/>
              </a:lnSpc>
            </a:pP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如果给出一个新的</a:t>
            </a:r>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房屋面积</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在销售记录中没有的，</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如何确定</a:t>
            </a:r>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在该面积下的房屋售价</a:t>
            </a:r>
            <a:r>
              <a:rPr lang="en-US"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y</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的值呢</a:t>
            </a:r>
            <a:r>
              <a:rPr lang="en-US"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endParaRPr lang="zh-CN"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a:p>
            <a:pPr algn="just">
              <a:lnSpc>
                <a:spcPct val="150000"/>
              </a:lnSpc>
            </a:pP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如预测</a:t>
            </a:r>
            <a:r>
              <a:rPr lang="en-US"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x1=65 </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时的</a:t>
            </a:r>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售价</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endParaRPr lang="zh-CN"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25" name="矩形 24"/>
          <p:cNvSpPr/>
          <p:nvPr/>
        </p:nvSpPr>
        <p:spPr>
          <a:xfrm>
            <a:off x="5177100" y="2672487"/>
            <a:ext cx="4572000" cy="1015663"/>
          </a:xfrm>
          <a:prstGeom prst="rect">
            <a:avLst/>
          </a:prstGeom>
        </p:spPr>
        <p:txBody>
          <a:bodyPr>
            <a:spAutoFit/>
          </a:bodyPr>
          <a:lstStyle/>
          <a:p>
            <a:pPr>
              <a:lnSpc>
                <a:spcPct val="150000"/>
              </a:lnSpc>
            </a:pP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解决办法</a:t>
            </a:r>
            <a:r>
              <a:rPr lang="en-US"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-&gt;</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寻找</a:t>
            </a:r>
            <a:r>
              <a:rPr lang="en-US"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x1</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和</a:t>
            </a:r>
            <a:r>
              <a:rPr lang="en-US"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y</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的之间的关系，使用已有</a:t>
            </a:r>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记录</a:t>
            </a:r>
            <a:r>
              <a:rPr lang="zh-CN"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数据进行训练</a:t>
            </a:r>
            <a:endParaRPr lang="zh-CN"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grpSp>
        <p:nvGrpSpPr>
          <p:cNvPr id="26" name="组合 25"/>
          <p:cNvGrpSpPr/>
          <p:nvPr/>
        </p:nvGrpSpPr>
        <p:grpSpPr>
          <a:xfrm>
            <a:off x="5619002" y="3802870"/>
            <a:ext cx="4509735" cy="2735454"/>
            <a:chOff x="4563922" y="4084224"/>
            <a:chExt cx="3689152" cy="2189013"/>
          </a:xfrm>
        </p:grpSpPr>
        <p:cxnSp>
          <p:nvCxnSpPr>
            <p:cNvPr id="27" name="直接连接符 26"/>
            <p:cNvCxnSpPr/>
            <p:nvPr/>
          </p:nvCxnSpPr>
          <p:spPr>
            <a:xfrm flipV="1">
              <a:off x="5387191" y="4084224"/>
              <a:ext cx="1664644" cy="1902370"/>
            </a:xfrm>
            <a:prstGeom prst="line">
              <a:avLst/>
            </a:prstGeom>
            <a:noFill/>
            <a:ln w="15875" cap="flat" cmpd="sng">
              <a:solidFill>
                <a:srgbClr val="FF0000"/>
              </a:solidFill>
              <a:prstDash val="solid"/>
              <a:round/>
              <a:headEnd/>
              <a:tailEnd/>
            </a:ln>
            <a:effectLst/>
          </p:spPr>
        </p:cxnSp>
        <p:cxnSp>
          <p:nvCxnSpPr>
            <p:cNvPr id="30" name="直接连接符 29"/>
            <p:cNvCxnSpPr/>
            <p:nvPr/>
          </p:nvCxnSpPr>
          <p:spPr>
            <a:xfrm>
              <a:off x="4885499" y="4755765"/>
              <a:ext cx="1582194" cy="20521"/>
            </a:xfrm>
            <a:prstGeom prst="line">
              <a:avLst/>
            </a:prstGeom>
            <a:noFill/>
            <a:ln w="28575" cap="flat" cmpd="sng">
              <a:solidFill>
                <a:srgbClr val="00B050"/>
              </a:solidFill>
              <a:prstDash val="solid"/>
              <a:round/>
              <a:headEnd/>
              <a:tailEnd/>
            </a:ln>
            <a:effectLst/>
          </p:spPr>
        </p:cxnSp>
        <p:cxnSp>
          <p:nvCxnSpPr>
            <p:cNvPr id="31" name="直接连接符 30"/>
            <p:cNvCxnSpPr/>
            <p:nvPr/>
          </p:nvCxnSpPr>
          <p:spPr>
            <a:xfrm flipH="1" flipV="1">
              <a:off x="6467694" y="4759661"/>
              <a:ext cx="20859" cy="1337224"/>
            </a:xfrm>
            <a:prstGeom prst="line">
              <a:avLst/>
            </a:prstGeom>
            <a:noFill/>
            <a:ln w="28575" cap="flat" cmpd="sng">
              <a:solidFill>
                <a:srgbClr val="00B050"/>
              </a:solidFill>
              <a:prstDash val="solid"/>
              <a:round/>
              <a:headEnd/>
              <a:tailEnd/>
            </a:ln>
            <a:effectLst/>
          </p:spPr>
        </p:cxnSp>
        <p:sp>
          <p:nvSpPr>
            <p:cNvPr id="32" name="椭圆 31"/>
            <p:cNvSpPr/>
            <p:nvPr/>
          </p:nvSpPr>
          <p:spPr>
            <a:xfrm>
              <a:off x="6409352" y="4717788"/>
              <a:ext cx="79201" cy="96473"/>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4563922" y="4163009"/>
              <a:ext cx="3689152" cy="2110228"/>
              <a:chOff x="395536" y="4200881"/>
              <a:chExt cx="3689152" cy="2110228"/>
            </a:xfrm>
          </p:grpSpPr>
          <p:cxnSp>
            <p:nvCxnSpPr>
              <p:cNvPr id="35" name="直接箭头连接符 34"/>
              <p:cNvCxnSpPr/>
              <p:nvPr/>
            </p:nvCxnSpPr>
            <p:spPr>
              <a:xfrm flipV="1">
                <a:off x="707136" y="6126443"/>
                <a:ext cx="2960757" cy="24940"/>
              </a:xfrm>
              <a:prstGeom prst="straightConnector1">
                <a:avLst/>
              </a:prstGeom>
              <a:noFill/>
              <a:ln w="28575" cap="flat" cmpd="sng">
                <a:solidFill>
                  <a:schemeClr val="tx1"/>
                </a:solidFill>
                <a:prstDash val="solid"/>
                <a:round/>
                <a:headEnd/>
                <a:tailEnd type="triangle"/>
              </a:ln>
              <a:effectLst/>
            </p:spPr>
          </p:cxnSp>
          <p:cxnSp>
            <p:nvCxnSpPr>
              <p:cNvPr id="36" name="直接箭头连接符 35"/>
              <p:cNvCxnSpPr/>
              <p:nvPr/>
            </p:nvCxnSpPr>
            <p:spPr>
              <a:xfrm flipV="1">
                <a:off x="707136" y="4200881"/>
                <a:ext cx="0" cy="1961566"/>
              </a:xfrm>
              <a:prstGeom prst="straightConnector1">
                <a:avLst/>
              </a:prstGeom>
              <a:noFill/>
              <a:ln w="28575" cap="flat" cmpd="sng">
                <a:solidFill>
                  <a:schemeClr val="tx1"/>
                </a:solidFill>
                <a:prstDash val="solid"/>
                <a:round/>
                <a:headEnd/>
                <a:tailEnd type="triangle"/>
              </a:ln>
              <a:effectLst/>
            </p:spPr>
          </p:cxnSp>
          <p:sp>
            <p:nvSpPr>
              <p:cNvPr id="37" name="乘号 36"/>
              <p:cNvSpPr/>
              <p:nvPr/>
            </p:nvSpPr>
            <p:spPr>
              <a:xfrm>
                <a:off x="1330133" y="560588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乘号 37"/>
              <p:cNvSpPr/>
              <p:nvPr/>
            </p:nvSpPr>
            <p:spPr>
              <a:xfrm>
                <a:off x="1921746" y="4827091"/>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乘号 38"/>
              <p:cNvSpPr/>
              <p:nvPr/>
            </p:nvSpPr>
            <p:spPr>
              <a:xfrm>
                <a:off x="1730141" y="539891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乘号 39"/>
              <p:cNvSpPr/>
              <p:nvPr/>
            </p:nvSpPr>
            <p:spPr>
              <a:xfrm>
                <a:off x="2339752" y="461655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乘号 40"/>
              <p:cNvSpPr/>
              <p:nvPr/>
            </p:nvSpPr>
            <p:spPr>
              <a:xfrm>
                <a:off x="2467489" y="429309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3580632" y="5941777"/>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43" name="文本框 42"/>
              <p:cNvSpPr txBox="1"/>
              <p:nvPr/>
            </p:nvSpPr>
            <p:spPr>
              <a:xfrm>
                <a:off x="395536" y="4200881"/>
                <a:ext cx="345910" cy="369332"/>
              </a:xfrm>
              <a:prstGeom prst="rect">
                <a:avLst/>
              </a:prstGeom>
              <a:noFill/>
            </p:spPr>
            <p:txBody>
              <a:bodyPr wrap="square" rtlCol="0">
                <a:spAutoFit/>
              </a:bodyPr>
              <a:lstStyle/>
              <a:p>
                <a:r>
                  <a:rPr lang="en-US" altLang="zh-CN" dirty="0"/>
                  <a:t>y</a:t>
                </a:r>
                <a:endParaRPr lang="zh-CN" altLang="en-US" dirty="0"/>
              </a:p>
            </p:txBody>
          </p:sp>
          <p:sp>
            <p:nvSpPr>
              <p:cNvPr id="44" name="乘号 43"/>
              <p:cNvSpPr/>
              <p:nvPr/>
            </p:nvSpPr>
            <p:spPr>
              <a:xfrm>
                <a:off x="1857878" y="5138129"/>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7" name="灯片编号占位符 8">
            <a:extLst>
              <a:ext uri="{FF2B5EF4-FFF2-40B4-BE49-F238E27FC236}">
                <a16:creationId xmlns:a16="http://schemas.microsoft.com/office/drawing/2014/main" id="{F25F348D-AC00-4A8D-86AA-F6CFCB95D54C}"/>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8</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263735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线性回归</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213565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单变量线性回归模型（一元回归模型）</a:t>
            </a:r>
            <a:endParaRPr lang="en-US" altLang="zh-CN" sz="2800" b="1" dirty="0"/>
          </a:p>
          <a:p>
            <a:pPr marL="800100" lvl="1" indent="-342900" algn="l">
              <a:lnSpc>
                <a:spcPct val="150000"/>
              </a:lnSpc>
              <a:buFont typeface="Wingdings" panose="05000000000000000000" pitchFamily="2" charset="2"/>
              <a:buChar char="ü"/>
            </a:pPr>
            <a:r>
              <a:rPr lang="zh-CN"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给定一个点的集合，能够通过一条曲线进行拟合，如果拟合出的线是一条直线，那就称为线性回归</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endParaRPr lang="en-US" altLang="zh-CN" sz="2400" dirty="0">
              <a:latin typeface="微软雅黑 Light" panose="020B0502040204020203" pitchFamily="34" charset="-122"/>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9" name="矩形 8"/>
              <p:cNvSpPr/>
              <p:nvPr/>
            </p:nvSpPr>
            <p:spPr>
              <a:xfrm>
                <a:off x="645493" y="4612799"/>
                <a:ext cx="4032448" cy="460704"/>
              </a:xfrm>
              <a:prstGeom prst="rect">
                <a:avLst/>
              </a:prstGeom>
            </p:spPr>
            <p:txBody>
              <a:bodyPr wrap="square">
                <a:spAutoFit/>
              </a:bodyPr>
              <a:lstStyle/>
              <a:p>
                <a:pPr>
                  <a:lnSpc>
                    <a:spcPct val="150000"/>
                  </a:lnSpc>
                </a:pPr>
                <a14:m>
                  <m:oMath xmlns:m="http://schemas.openxmlformats.org/officeDocument/2006/math">
                    <m:r>
                      <a:rPr lang="en-US" altLang="zh-CN" b="0" i="1" kern="100" smtClean="0">
                        <a:latin typeface="Cambria Math" panose="02040503050406030204" pitchFamily="18" charset="0"/>
                        <a:ea typeface="微软雅黑" panose="020B0503020204020204" pitchFamily="34" charset="-122"/>
                        <a:cs typeface="Times New Roman" panose="02020603050405020304" pitchFamily="18" charset="0"/>
                      </a:rPr>
                      <m:t>𝑥</m:t>
                    </m:r>
                  </m:oMath>
                </a14:m>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Feature</a:t>
                </a:r>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14:m>
                  <m:oMath xmlns:m="http://schemas.openxmlformats.org/officeDocument/2006/math">
                    <m:r>
                      <m:rPr>
                        <m:sty m:val="p"/>
                      </m:rPr>
                      <a:rPr lang="en-US" altLang="zh-CN" b="0" i="0" kern="100" smtClean="0">
                        <a:latin typeface="Cambria Math" panose="02040503050406030204" pitchFamily="18" charset="0"/>
                        <a:ea typeface="微软雅黑" panose="020B0503020204020204" pitchFamily="34" charset="-122"/>
                        <a:cs typeface="Times New Roman" panose="02020603050405020304" pitchFamily="18" charset="0"/>
                      </a:rPr>
                      <m:t>h</m:t>
                    </m:r>
                    <m:d>
                      <m:dPr>
                        <m:ctrlPr>
                          <a:rPr lang="en-US" altLang="zh-CN" i="1" kern="10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i="1" kern="100">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i="1" kern="10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hypothesis</a:t>
                </a:r>
                <a:endParaRPr lang="zh-CN" altLang="zh-CN" sz="14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645493" y="4612799"/>
                <a:ext cx="4032448" cy="460704"/>
              </a:xfrm>
              <a:prstGeom prst="rect">
                <a:avLst/>
              </a:prstGeom>
              <a:blipFill rotWithShape="0">
                <a:blip r:embed="rId5"/>
                <a:stretch>
                  <a:fillRect b="-21333"/>
                </a:stretch>
              </a:blipFill>
            </p:spPr>
            <p:txBody>
              <a:bodyPr/>
              <a:lstStyle/>
              <a:p>
                <a:r>
                  <a:rPr lang="zh-CN" altLang="en-US">
                    <a:noFill/>
                  </a:rPr>
                  <a:t> </a:t>
                </a:r>
              </a:p>
            </p:txBody>
          </p:sp>
        </mc:Fallback>
      </mc:AlternateContent>
      <p:sp>
        <p:nvSpPr>
          <p:cNvPr id="10" name="矩形 9"/>
          <p:cNvSpPr/>
          <p:nvPr/>
        </p:nvSpPr>
        <p:spPr>
          <a:xfrm>
            <a:off x="1427516" y="2898362"/>
            <a:ext cx="1907568" cy="460319"/>
          </a:xfrm>
          <a:prstGeom prst="rect">
            <a:avLst/>
          </a:prstGeom>
        </p:spPr>
        <p:txBody>
          <a:bodyPr wrap="square">
            <a:spAutoFit/>
          </a:bodyPr>
          <a:lstStyle/>
          <a:p>
            <a:pPr>
              <a:lnSpc>
                <a:spcPct val="150000"/>
              </a:lnSpc>
            </a:pPr>
            <a:r>
              <a:rPr lang="zh-CN" altLang="en-US"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单变量线性模型</a:t>
            </a:r>
            <a:endParaRPr lang="zh-CN" altLang="zh-CN" sz="14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grpSp>
        <p:nvGrpSpPr>
          <p:cNvPr id="11" name="组合 10"/>
          <p:cNvGrpSpPr/>
          <p:nvPr/>
        </p:nvGrpSpPr>
        <p:grpSpPr>
          <a:xfrm>
            <a:off x="5282552" y="2609020"/>
            <a:ext cx="5633978" cy="3366814"/>
            <a:chOff x="4563922" y="4084224"/>
            <a:chExt cx="3689152" cy="2189013"/>
          </a:xfrm>
        </p:grpSpPr>
        <p:cxnSp>
          <p:nvCxnSpPr>
            <p:cNvPr id="12" name="直接连接符 11"/>
            <p:cNvCxnSpPr/>
            <p:nvPr/>
          </p:nvCxnSpPr>
          <p:spPr>
            <a:xfrm flipV="1">
              <a:off x="5387191" y="4084224"/>
              <a:ext cx="1664644" cy="1902370"/>
            </a:xfrm>
            <a:prstGeom prst="line">
              <a:avLst/>
            </a:prstGeom>
            <a:noFill/>
            <a:ln w="15875" cap="flat" cmpd="sng">
              <a:solidFill>
                <a:srgbClr val="FF0000"/>
              </a:solidFill>
              <a:prstDash val="solid"/>
              <a:round/>
              <a:headEnd/>
              <a:tailEnd/>
            </a:ln>
            <a:effectLst/>
          </p:spPr>
        </p:cxnSp>
        <p:cxnSp>
          <p:nvCxnSpPr>
            <p:cNvPr id="13" name="直接连接符 12"/>
            <p:cNvCxnSpPr/>
            <p:nvPr/>
          </p:nvCxnSpPr>
          <p:spPr>
            <a:xfrm flipV="1">
              <a:off x="4875522" y="4776286"/>
              <a:ext cx="1592171" cy="12933"/>
            </a:xfrm>
            <a:prstGeom prst="line">
              <a:avLst/>
            </a:prstGeom>
            <a:noFill/>
            <a:ln w="28575" cap="flat" cmpd="sng">
              <a:solidFill>
                <a:srgbClr val="00B050"/>
              </a:solidFill>
              <a:prstDash val="solid"/>
              <a:round/>
              <a:headEnd/>
              <a:tailEnd/>
            </a:ln>
            <a:effectLst/>
          </p:spPr>
        </p:cxnSp>
        <p:cxnSp>
          <p:nvCxnSpPr>
            <p:cNvPr id="14" name="直接连接符 13"/>
            <p:cNvCxnSpPr/>
            <p:nvPr/>
          </p:nvCxnSpPr>
          <p:spPr>
            <a:xfrm flipH="1" flipV="1">
              <a:off x="6467694" y="4759661"/>
              <a:ext cx="20859" cy="1337224"/>
            </a:xfrm>
            <a:prstGeom prst="line">
              <a:avLst/>
            </a:prstGeom>
            <a:noFill/>
            <a:ln w="28575" cap="flat" cmpd="sng">
              <a:solidFill>
                <a:srgbClr val="00B050"/>
              </a:solidFill>
              <a:prstDash val="solid"/>
              <a:round/>
              <a:headEnd/>
              <a:tailEnd/>
            </a:ln>
            <a:effectLst/>
          </p:spPr>
        </p:cxnSp>
        <p:sp>
          <p:nvSpPr>
            <p:cNvPr id="16" name="椭圆 15"/>
            <p:cNvSpPr/>
            <p:nvPr/>
          </p:nvSpPr>
          <p:spPr>
            <a:xfrm>
              <a:off x="6409352" y="4717788"/>
              <a:ext cx="79201" cy="96473"/>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4563922" y="4163009"/>
              <a:ext cx="3689152" cy="2110228"/>
              <a:chOff x="395536" y="4200881"/>
              <a:chExt cx="3689152" cy="2110228"/>
            </a:xfrm>
          </p:grpSpPr>
          <p:cxnSp>
            <p:nvCxnSpPr>
              <p:cNvPr id="19" name="直接箭头连接符 18"/>
              <p:cNvCxnSpPr/>
              <p:nvPr/>
            </p:nvCxnSpPr>
            <p:spPr>
              <a:xfrm flipV="1">
                <a:off x="707136" y="6126443"/>
                <a:ext cx="2960757" cy="24940"/>
              </a:xfrm>
              <a:prstGeom prst="straightConnector1">
                <a:avLst/>
              </a:prstGeom>
              <a:noFill/>
              <a:ln w="28575" cap="flat" cmpd="sng">
                <a:solidFill>
                  <a:schemeClr val="tx1"/>
                </a:solidFill>
                <a:prstDash val="solid"/>
                <a:round/>
                <a:headEnd/>
                <a:tailEnd type="triangle"/>
              </a:ln>
              <a:effectLst/>
            </p:spPr>
          </p:cxnSp>
          <p:cxnSp>
            <p:nvCxnSpPr>
              <p:cNvPr id="20" name="直接箭头连接符 19"/>
              <p:cNvCxnSpPr/>
              <p:nvPr/>
            </p:nvCxnSpPr>
            <p:spPr>
              <a:xfrm flipV="1">
                <a:off x="707136" y="4200881"/>
                <a:ext cx="0" cy="1961566"/>
              </a:xfrm>
              <a:prstGeom prst="straightConnector1">
                <a:avLst/>
              </a:prstGeom>
              <a:noFill/>
              <a:ln w="28575" cap="flat" cmpd="sng">
                <a:solidFill>
                  <a:schemeClr val="tx1"/>
                </a:solidFill>
                <a:prstDash val="solid"/>
                <a:round/>
                <a:headEnd/>
                <a:tailEnd type="triangle"/>
              </a:ln>
              <a:effectLst/>
            </p:spPr>
          </p:cxnSp>
          <p:sp>
            <p:nvSpPr>
              <p:cNvPr id="21" name="乘号 20"/>
              <p:cNvSpPr/>
              <p:nvPr/>
            </p:nvSpPr>
            <p:spPr>
              <a:xfrm>
                <a:off x="1330133" y="560588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乘号 21"/>
              <p:cNvSpPr/>
              <p:nvPr/>
            </p:nvSpPr>
            <p:spPr>
              <a:xfrm>
                <a:off x="1921746" y="4827091"/>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乘号 22"/>
              <p:cNvSpPr/>
              <p:nvPr/>
            </p:nvSpPr>
            <p:spPr>
              <a:xfrm>
                <a:off x="1730141" y="539891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乘号 23"/>
              <p:cNvSpPr/>
              <p:nvPr/>
            </p:nvSpPr>
            <p:spPr>
              <a:xfrm>
                <a:off x="2339752" y="461655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乘号 24"/>
              <p:cNvSpPr/>
              <p:nvPr/>
            </p:nvSpPr>
            <p:spPr>
              <a:xfrm>
                <a:off x="2467489" y="4293096"/>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580632" y="5941777"/>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395536" y="4200881"/>
                <a:ext cx="345910" cy="369332"/>
              </a:xfrm>
              <a:prstGeom prst="rect">
                <a:avLst/>
              </a:prstGeom>
              <a:noFill/>
            </p:spPr>
            <p:txBody>
              <a:bodyPr wrap="square" rtlCol="0">
                <a:spAutoFit/>
              </a:bodyPr>
              <a:lstStyle/>
              <a:p>
                <a:r>
                  <a:rPr lang="en-US" altLang="zh-CN" dirty="0"/>
                  <a:t>y</a:t>
                </a:r>
                <a:endParaRPr lang="zh-CN" altLang="en-US" dirty="0"/>
              </a:p>
            </p:txBody>
          </p:sp>
          <p:sp>
            <p:nvSpPr>
              <p:cNvPr id="30" name="乘号 29"/>
              <p:cNvSpPr/>
              <p:nvPr/>
            </p:nvSpPr>
            <p:spPr>
              <a:xfrm>
                <a:off x="1857878" y="5138129"/>
                <a:ext cx="173944" cy="175139"/>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mc:AlternateContent xmlns:mc="http://schemas.openxmlformats.org/markup-compatibility/2006" xmlns:a14="http://schemas.microsoft.com/office/drawing/2010/main">
        <mc:Choice Requires="a14">
          <p:sp>
            <p:nvSpPr>
              <p:cNvPr id="31" name="矩形 30"/>
              <p:cNvSpPr/>
              <p:nvPr/>
            </p:nvSpPr>
            <p:spPr>
              <a:xfrm>
                <a:off x="933055" y="3502993"/>
                <a:ext cx="3302303" cy="646331"/>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40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h</m:t>
                          </m:r>
                        </m:e>
                        <m: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𝑤</m:t>
                          </m:r>
                        </m:sub>
                      </m:sSub>
                      <m:d>
                        <m:dPr>
                          <m:ctrlP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𝑤</m:t>
                      </m:r>
                      <m:r>
                        <a:rPr lang="en-US" altLang="zh-CN" sz="2400" b="0" i="1" kern="100" baseline="-25000" smtClean="0">
                          <a:latin typeface="Cambria Math" panose="02040503050406030204" pitchFamily="18" charset="0"/>
                          <a:ea typeface="微软雅黑" panose="020B0503020204020204" pitchFamily="34" charset="-122"/>
                          <a:cs typeface="Times New Roman" panose="02020603050405020304" pitchFamily="18" charset="0"/>
                        </a:rPr>
                        <m:t>1</m:t>
                      </m:r>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2400" b="0" i="1" kern="100" baseline="-25000" smtClean="0">
                          <a:latin typeface="Cambria Math" panose="02040503050406030204" pitchFamily="18" charset="0"/>
                          <a:ea typeface="微软雅黑" panose="020B0503020204020204" pitchFamily="34" charset="-122"/>
                          <a:cs typeface="Times New Roman" panose="02020603050405020304" pitchFamily="18" charset="0"/>
                        </a:rPr>
                        <m:t>1</m:t>
                      </m:r>
                    </m:oMath>
                  </m:oMathPara>
                </a14:m>
                <a:endParaRPr lang="zh-CN" altLang="zh-CN" sz="2400" kern="100" baseline="-250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mc:Choice>
        <mc:Fallback xmlns="">
          <p:sp>
            <p:nvSpPr>
              <p:cNvPr id="31" name="矩形 30"/>
              <p:cNvSpPr>
                <a:spLocks noRot="1" noChangeAspect="1" noMove="1" noResize="1" noEditPoints="1" noAdjustHandles="1" noChangeArrowheads="1" noChangeShapeType="1" noTextEdit="1"/>
              </p:cNvSpPr>
              <p:nvPr/>
            </p:nvSpPr>
            <p:spPr>
              <a:xfrm>
                <a:off x="933055" y="3502993"/>
                <a:ext cx="3302303" cy="646331"/>
              </a:xfrm>
              <a:prstGeom prst="rect">
                <a:avLst/>
              </a:prstGeom>
              <a:blipFill>
                <a:blip r:embed="rId6"/>
                <a:stretch>
                  <a:fillRect/>
                </a:stretch>
              </a:blipFill>
            </p:spPr>
            <p:txBody>
              <a:bodyPr/>
              <a:lstStyle/>
              <a:p>
                <a:r>
                  <a:rPr lang="zh-CN" altLang="en-US">
                    <a:noFill/>
                  </a:rPr>
                  <a:t> </a:t>
                </a:r>
              </a:p>
            </p:txBody>
          </p:sp>
        </mc:Fallback>
      </mc:AlternateContent>
      <p:sp>
        <p:nvSpPr>
          <p:cNvPr id="34" name="灯片编号占位符 8">
            <a:extLst>
              <a:ext uri="{FF2B5EF4-FFF2-40B4-BE49-F238E27FC236}">
                <a16:creationId xmlns:a16="http://schemas.microsoft.com/office/drawing/2014/main" id="{C7F12437-0A2A-4C17-9AB7-83E3746CC98D}"/>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9</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47339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线性回归</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mc:AlternateContent xmlns:mc="http://schemas.openxmlformats.org/markup-compatibility/2006" xmlns:a14="http://schemas.microsoft.com/office/drawing/2010/main">
        <mc:Choice Requires="a14">
          <p:sp>
            <p:nvSpPr>
              <p:cNvPr id="33" name="内容占位符 2"/>
              <p:cNvSpPr txBox="1">
                <a:spLocks/>
              </p:cNvSpPr>
              <p:nvPr/>
            </p:nvSpPr>
            <p:spPr>
              <a:xfrm>
                <a:off x="293722" y="691951"/>
                <a:ext cx="11637087" cy="213565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多变量线性回归模型</a:t>
                </a:r>
                <a:endParaRPr lang="en-US" altLang="zh-CN" sz="2800" b="1" dirty="0"/>
              </a:p>
              <a:p>
                <a:pPr marL="800100" lvl="1" indent="-342900" algn="l">
                  <a:lnSpc>
                    <a:spcPct val="150000"/>
                  </a:lnSpc>
                  <a:buFont typeface="Wingdings" panose="05000000000000000000" pitchFamily="2" charset="2"/>
                  <a:buChar char="ü"/>
                </a:pPr>
                <a:r>
                  <a:rPr lang="zh-CN" altLang="en-US" sz="2400" kern="0" dirty="0">
                    <a:solidFill>
                      <a:srgbClr val="000000"/>
                    </a:solidFill>
                    <a:latin typeface="微软雅黑 Light" panose="020B0502040204020203" pitchFamily="34" charset="-122"/>
                    <a:ea typeface="微软雅黑 Light" panose="020B0502040204020203" pitchFamily="34" charset="-122"/>
                  </a:rPr>
                  <a:t>假设影响售价</a:t>
                </a:r>
                <a:r>
                  <a:rPr lang="en-US" altLang="zh-CN" sz="2400" kern="0" dirty="0">
                    <a:solidFill>
                      <a:srgbClr val="000000"/>
                    </a:solidFill>
                    <a:latin typeface="微软雅黑 Light" panose="020B0502040204020203" pitchFamily="34" charset="-122"/>
                    <a:ea typeface="微软雅黑 Light" panose="020B0502040204020203" pitchFamily="34" charset="-122"/>
                  </a:rPr>
                  <a:t>y</a:t>
                </a:r>
                <a:r>
                  <a:rPr lang="zh-CN" altLang="en-US" sz="2400" kern="0" dirty="0">
                    <a:solidFill>
                      <a:srgbClr val="000000"/>
                    </a:solidFill>
                    <a:latin typeface="微软雅黑 Light" panose="020B0502040204020203" pitchFamily="34" charset="-122"/>
                    <a:ea typeface="微软雅黑 Light" panose="020B0502040204020203" pitchFamily="34" charset="-122"/>
                  </a:rPr>
                  <a:t>的特征不仅仅只有房屋面积</a:t>
                </a:r>
                <a14:m>
                  <m:oMath xmlns:m="http://schemas.openxmlformats.org/officeDocument/2006/math">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还有楼层</a:t>
                </a:r>
                <a14:m>
                  <m:oMath xmlns:m="http://schemas.openxmlformats.org/officeDocument/2006/math">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，房屋朝向</a:t>
                </a:r>
                <a14:m>
                  <m:oMath xmlns:m="http://schemas.openxmlformats.org/officeDocument/2006/math">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3</m:t>
                        </m:r>
                      </m:sub>
                    </m:s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400" kern="100" dirty="0">
                    <a:ea typeface="微软雅黑" panose="020B0503020204020204" pitchFamily="34" charset="-122"/>
                    <a:cs typeface="Times New Roman" panose="02020603050405020304" pitchFamily="18" charset="0"/>
                  </a:rPr>
                  <a:t> </a:t>
                </a:r>
                <a14:m>
                  <m:oMath xmlns:m="http://schemas.openxmlformats.org/officeDocument/2006/math">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4</m:t>
                        </m:r>
                      </m:sub>
                    </m:s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 </m:t>
                    </m:r>
                  </m:oMath>
                </a14:m>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 </a:t>
                </a:r>
                <a14:m>
                  <m:oMath xmlns:m="http://schemas.openxmlformats.org/officeDocument/2006/math">
                    <m:sSub>
                      <m:sSubPr>
                        <m:ctrlPr>
                          <a:rPr lang="en-US" altLang="zh-CN" sz="2400" i="1" kern="0">
                            <a:solidFill>
                              <a:srgbClr val="000000"/>
                            </a:solidFill>
                            <a:latin typeface="Cambria Math" panose="02040503050406030204" pitchFamily="18" charset="0"/>
                            <a:ea typeface="微软雅黑 Light" panose="020B0502040204020203" pitchFamily="34" charset="-122"/>
                            <a:cs typeface="宋体" panose="02010600030101010101" pitchFamily="2" charset="-122"/>
                          </a:rPr>
                        </m:ctrlPr>
                      </m:sSubPr>
                      <m:e>
                        <m:r>
                          <a:rPr lang="en-US" altLang="zh-CN" sz="2400" kern="0">
                            <a:solidFill>
                              <a:srgbClr val="000000"/>
                            </a:solidFill>
                            <a:latin typeface="Cambria Math" panose="02040503050406030204" pitchFamily="18" charset="0"/>
                            <a:ea typeface="微软雅黑 Light" panose="020B0502040204020203" pitchFamily="34" charset="-122"/>
                            <a:cs typeface="宋体" panose="02010600030101010101" pitchFamily="2" charset="-122"/>
                          </a:rPr>
                          <m:t>𝑥</m:t>
                        </m:r>
                      </m:e>
                      <m:sub>
                        <m:r>
                          <m:rPr>
                            <m:sty m:val="p"/>
                          </m:rPr>
                          <a:rPr lang="en-US" altLang="zh-CN" sz="2400" kern="0">
                            <a:solidFill>
                              <a:srgbClr val="000000"/>
                            </a:solidFill>
                            <a:latin typeface="Cambria Math" panose="02040503050406030204" pitchFamily="18" charset="0"/>
                            <a:ea typeface="微软雅黑 Light" panose="020B0502040204020203" pitchFamily="34" charset="-122"/>
                            <a:cs typeface="宋体" panose="02010600030101010101" pitchFamily="2" charset="-122"/>
                          </a:rPr>
                          <m:t>n</m:t>
                        </m:r>
                      </m:sub>
                    </m:sSub>
                    <m:r>
                      <a:rPr lang="en-US" altLang="zh-CN" sz="2400" kern="0">
                        <a:solidFill>
                          <a:srgbClr val="000000"/>
                        </a:solidFill>
                        <a:latin typeface="Cambria Math" panose="02040503050406030204" pitchFamily="18" charset="0"/>
                        <a:ea typeface="微软雅黑 Light" panose="020B0502040204020203" pitchFamily="34" charset="-122"/>
                        <a:cs typeface="宋体" panose="02010600030101010101" pitchFamily="2" charset="-122"/>
                      </a:rPr>
                      <m:t> </m:t>
                    </m:r>
                  </m:oMath>
                </a14:m>
                <a:endPar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3" name="内容占位符 2"/>
              <p:cNvSpPr txBox="1">
                <a:spLocks noRot="1" noChangeAspect="1" noMove="1" noResize="1" noEditPoints="1" noAdjustHandles="1" noChangeArrowheads="1" noChangeShapeType="1" noTextEdit="1"/>
              </p:cNvSpPr>
              <p:nvPr/>
            </p:nvSpPr>
            <p:spPr>
              <a:xfrm>
                <a:off x="293722" y="691951"/>
                <a:ext cx="11637087" cy="2135655"/>
              </a:xfrm>
              <a:prstGeom prst="rect">
                <a:avLst/>
              </a:prstGeom>
              <a:blipFill rotWithShape="0">
                <a:blip r:embed="rId5"/>
                <a:stretch>
                  <a:fillRect l="-891"/>
                </a:stretch>
              </a:blipFill>
            </p:spPr>
            <p:txBody>
              <a:bodyPr/>
              <a:lstStyle/>
              <a:p>
                <a:r>
                  <a:rPr lang="zh-CN" altLang="en-US">
                    <a:noFill/>
                  </a:rPr>
                  <a:t> </a:t>
                </a:r>
              </a:p>
            </p:txBody>
          </p:sp>
        </mc:Fallback>
      </mc:AlternateContent>
      <p:sp>
        <p:nvSpPr>
          <p:cNvPr id="28" name="矩形 27"/>
          <p:cNvSpPr/>
          <p:nvPr/>
        </p:nvSpPr>
        <p:spPr>
          <a:xfrm>
            <a:off x="1513964" y="3536267"/>
            <a:ext cx="1907568" cy="460319"/>
          </a:xfrm>
          <a:prstGeom prst="rect">
            <a:avLst/>
          </a:prstGeom>
        </p:spPr>
        <p:txBody>
          <a:bodyPr wrap="square">
            <a:spAutoFit/>
          </a:bodyPr>
          <a:lstStyle/>
          <a:p>
            <a:pPr>
              <a:lnSpc>
                <a:spcPct val="150000"/>
              </a:lnSpc>
            </a:pPr>
            <a:r>
              <a:rPr lang="zh-CN" altLang="en-US"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单变量线性模型</a:t>
            </a:r>
            <a:endParaRPr lang="zh-CN" altLang="zh-CN" sz="14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32" name="矩形 31"/>
          <p:cNvSpPr/>
          <p:nvPr/>
        </p:nvSpPr>
        <p:spPr>
          <a:xfrm>
            <a:off x="5509653" y="2502806"/>
            <a:ext cx="1907568" cy="460704"/>
          </a:xfrm>
          <a:prstGeom prst="rect">
            <a:avLst/>
          </a:prstGeom>
        </p:spPr>
        <p:txBody>
          <a:bodyPr wrap="square">
            <a:spAutoFit/>
          </a:bodyPr>
          <a:lstStyle/>
          <a:p>
            <a:pPr>
              <a:lnSpc>
                <a:spcPct val="150000"/>
              </a:lnSpc>
            </a:pPr>
            <a:r>
              <a:rPr lang="zh-CN" altLang="en-US"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多变量线性模型</a:t>
            </a:r>
            <a:endParaRPr lang="zh-CN" altLang="zh-CN" sz="14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34" name="右箭头 33"/>
          <p:cNvSpPr/>
          <p:nvPr/>
        </p:nvSpPr>
        <p:spPr>
          <a:xfrm>
            <a:off x="3935227" y="4044098"/>
            <a:ext cx="288032" cy="24382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右箭头 34"/>
          <p:cNvSpPr/>
          <p:nvPr/>
        </p:nvSpPr>
        <p:spPr>
          <a:xfrm rot="5203508">
            <a:off x="6358121" y="3829758"/>
            <a:ext cx="288032" cy="24382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8727173" y="3192541"/>
            <a:ext cx="1205304" cy="460704"/>
          </a:xfrm>
          <a:prstGeom prst="rect">
            <a:avLst/>
          </a:prstGeom>
        </p:spPr>
        <p:txBody>
          <a:bodyPr wrap="square">
            <a:spAutoFit/>
          </a:bodyPr>
          <a:lstStyle/>
          <a:p>
            <a:pPr>
              <a:lnSpc>
                <a:spcPct val="150000"/>
              </a:lnSpc>
            </a:pPr>
            <a:r>
              <a:rPr lang="en-US" altLang="zh-CN"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2</a:t>
            </a:r>
            <a:r>
              <a:rPr lang="zh-CN" altLang="en-US"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个特征</a:t>
            </a:r>
            <a:endParaRPr lang="zh-CN" altLang="zh-CN" sz="14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37" name="矩形 36"/>
          <p:cNvSpPr/>
          <p:nvPr/>
        </p:nvSpPr>
        <p:spPr>
          <a:xfrm>
            <a:off x="8935859" y="4684197"/>
            <a:ext cx="1205304" cy="460704"/>
          </a:xfrm>
          <a:prstGeom prst="rect">
            <a:avLst/>
          </a:prstGeom>
        </p:spPr>
        <p:txBody>
          <a:bodyPr wrap="square">
            <a:spAutoFit/>
          </a:bodyPr>
          <a:lstStyle/>
          <a:p>
            <a:pPr>
              <a:lnSpc>
                <a:spcPct val="150000"/>
              </a:lnSpc>
            </a:pPr>
            <a:r>
              <a:rPr lang="en-US" altLang="zh-CN"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n</a:t>
            </a:r>
            <a:r>
              <a:rPr lang="zh-CN" altLang="en-US"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个特征</a:t>
            </a:r>
            <a:endParaRPr lang="zh-CN" altLang="zh-CN" sz="1400" kern="1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8" name="矩形 37"/>
              <p:cNvSpPr/>
              <p:nvPr/>
            </p:nvSpPr>
            <p:spPr>
              <a:xfrm>
                <a:off x="816596" y="4132791"/>
                <a:ext cx="3302303" cy="646331"/>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40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h</m:t>
                          </m:r>
                        </m:e>
                        <m: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𝑤</m:t>
                          </m:r>
                        </m:sub>
                      </m:sSub>
                      <m:d>
                        <m:dPr>
                          <m:ctrlP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2400" i="1" kern="100" smtClean="0">
                          <a:latin typeface="Cambria Math" panose="02040503050406030204" pitchFamily="18" charset="0"/>
                          <a:ea typeface="微软雅黑" panose="020B0503020204020204" pitchFamily="34" charset="-122"/>
                          <a:cs typeface="Times New Roman" panose="02020603050405020304" pitchFamily="18" charset="0"/>
                        </a:rPr>
                        <m:t>𝑤</m:t>
                      </m:r>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2400" b="0" i="1" kern="100" baseline="-25000" smtClean="0">
                          <a:latin typeface="Cambria Math" panose="02040503050406030204" pitchFamily="18" charset="0"/>
                          <a:ea typeface="微软雅黑" panose="020B0503020204020204" pitchFamily="34" charset="-122"/>
                          <a:cs typeface="Times New Roman" panose="02020603050405020304" pitchFamily="18" charset="0"/>
                        </a:rPr>
                        <m:t>1</m:t>
                      </m:r>
                    </m:oMath>
                  </m:oMathPara>
                </a14:m>
                <a:endParaRPr lang="zh-CN" altLang="zh-CN" sz="2400" kern="100" baseline="-25000" dirty="0">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mc:Choice>
        <mc:Fallback xmlns="">
          <p:sp>
            <p:nvSpPr>
              <p:cNvPr id="38" name="矩形 37"/>
              <p:cNvSpPr>
                <a:spLocks noRot="1" noChangeAspect="1" noMove="1" noResize="1" noEditPoints="1" noAdjustHandles="1" noChangeArrowheads="1" noChangeShapeType="1" noTextEdit="1"/>
              </p:cNvSpPr>
              <p:nvPr/>
            </p:nvSpPr>
            <p:spPr>
              <a:xfrm>
                <a:off x="816596" y="4132791"/>
                <a:ext cx="3302303" cy="64633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p:cNvSpPr/>
              <p:nvPr/>
            </p:nvSpPr>
            <p:spPr>
              <a:xfrm>
                <a:off x="4589009" y="3047511"/>
                <a:ext cx="4138164" cy="64633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40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h</m:t>
                          </m:r>
                        </m:e>
                        <m: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𝑤</m:t>
                          </m:r>
                        </m:sub>
                      </m:sSub>
                      <m:d>
                        <m:dPr>
                          <m:ctrlP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1</m:t>
                          </m:r>
                        </m:sub>
                      </m:sSub>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2</m:t>
                          </m:r>
                        </m:sub>
                      </m:sSub>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2</m:t>
                          </m:r>
                        </m:sub>
                      </m:sSub>
                    </m:oMath>
                  </m:oMathPara>
                </a14:m>
                <a:endParaRPr lang="zh-CN" altLang="zh-CN" sz="24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mc:Choice>
        <mc:Fallback xmlns="">
          <p:sp>
            <p:nvSpPr>
              <p:cNvPr id="39" name="矩形 38"/>
              <p:cNvSpPr>
                <a:spLocks noRot="1" noChangeAspect="1" noMove="1" noResize="1" noEditPoints="1" noAdjustHandles="1" noChangeArrowheads="1" noChangeShapeType="1" noTextEdit="1"/>
              </p:cNvSpPr>
              <p:nvPr/>
            </p:nvSpPr>
            <p:spPr>
              <a:xfrm>
                <a:off x="4589009" y="3047511"/>
                <a:ext cx="4138164" cy="646331"/>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p:cNvSpPr/>
              <p:nvPr/>
            </p:nvSpPr>
            <p:spPr>
              <a:xfrm>
                <a:off x="4469856" y="3654030"/>
                <a:ext cx="5322968" cy="215918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40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h</m:t>
                          </m:r>
                        </m:e>
                        <m:sub>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𝑤</m:t>
                          </m:r>
                        </m:sub>
                      </m:sSub>
                      <m:d>
                        <m:dPr>
                          <m:ctrlP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m:t>
                      </m:r>
                      <m:nary>
                        <m:naryPr>
                          <m:chr m:val="∑"/>
                          <m:ctrlP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ctrlPr>
                        </m:naryPr>
                        <m:sub>
                          <m:r>
                            <m:rPr>
                              <m:brk m:alnAt="23"/>
                            </m:rP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=0</m:t>
                          </m:r>
                        </m:sub>
                        <m:sup>
                          <m:r>
                            <a:rPr lang="en-US" altLang="zh-CN" sz="2400" b="0" i="1" kern="100" smtClean="0">
                              <a:effectLst/>
                              <a:latin typeface="Cambria Math" panose="02040503050406030204" pitchFamily="18" charset="0"/>
                              <a:ea typeface="微软雅黑" panose="020B0503020204020204" pitchFamily="34" charset="-122"/>
                              <a:cs typeface="Times New Roman" panose="02020603050405020304" pitchFamily="18" charset="0"/>
                            </a:rPr>
                            <m:t>𝑛</m:t>
                          </m:r>
                        </m:sup>
                        <m:e>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𝑖</m:t>
                              </m:r>
                            </m:sub>
                          </m:sSub>
                          <m:sSub>
                            <m:sSubPr>
                              <m:ctrlPr>
                                <a:rPr lang="en-US" altLang="zh-CN" sz="2400"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𝑖</m:t>
                              </m:r>
                            </m:sub>
                          </m:sSub>
                        </m:e>
                      </m:nary>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400" i="1">
                              <a:latin typeface="Cambria Math" panose="02040503050406030204" pitchFamily="18" charset="0"/>
                              <a:ea typeface="微软雅黑 Light" panose="020B0502040204020203" pitchFamily="34" charset="-122"/>
                            </a:rPr>
                          </m:ctrlPr>
                        </m:sSupPr>
                        <m:e>
                          <m:r>
                            <a:rPr lang="en-US" altLang="zh-CN" sz="2400" b="1" i="1" smtClean="0">
                              <a:latin typeface="Cambria Math" panose="02040503050406030204" pitchFamily="18" charset="0"/>
                              <a:ea typeface="微软雅黑 Light" panose="020B0502040204020203" pitchFamily="34" charset="-122"/>
                            </a:rPr>
                            <m:t>𝒘</m:t>
                          </m:r>
                        </m:e>
                        <m:sup>
                          <m:r>
                            <a:rPr lang="en-US" altLang="zh-CN" sz="2400" i="1">
                              <a:latin typeface="Cambria Math" panose="02040503050406030204" pitchFamily="18" charset="0"/>
                              <a:ea typeface="微软雅黑 Light" panose="020B0502040204020203" pitchFamily="34" charset="-122"/>
                            </a:rPr>
                            <m:t>𝑇</m:t>
                          </m:r>
                        </m:sup>
                      </m:sSup>
                      <m:r>
                        <a:rPr lang="en-US" altLang="zh-CN" sz="2400" b="1" i="1" smtClean="0">
                          <a:latin typeface="Cambria Math" panose="02040503050406030204" pitchFamily="18" charset="0"/>
                          <a:ea typeface="微软雅黑 Light" panose="020B0502040204020203" pitchFamily="34" charset="-122"/>
                        </a:rPr>
                        <m:t>𝒙</m:t>
                      </m:r>
                      <m:r>
                        <a:rPr lang="zh-CN" altLang="en-US" sz="2400" b="1" i="1" smtClean="0">
                          <a:latin typeface="Cambria Math" panose="02040503050406030204" pitchFamily="18" charset="0"/>
                          <a:ea typeface="微软雅黑 Light" panose="020B0502040204020203" pitchFamily="34" charset="-122"/>
                        </a:rPr>
                        <m:t>，</m:t>
                      </m:r>
                    </m:oMath>
                  </m:oMathPara>
                </a14:m>
                <a:endParaRPr lang="en-US" altLang="zh-CN" sz="2400" b="1" dirty="0">
                  <a:latin typeface="微软雅黑 Light" panose="020B0502040204020203" pitchFamily="34" charset="-122"/>
                  <a:ea typeface="微软雅黑 Light" panose="020B0502040204020203" pitchFamily="34" charset="-122"/>
                </a:endParaRPr>
              </a:p>
              <a:p>
                <a:pPr algn="ctr">
                  <a:lnSpc>
                    <a:spcPct val="150000"/>
                  </a:lnSpc>
                </a:pPr>
                <a14:m>
                  <m:oMath xmlns:m="http://schemas.openxmlformats.org/officeDocument/2006/math">
                    <m:r>
                      <a:rPr lang="en-US" altLang="zh-CN" sz="2400" b="1" i="1" smtClean="0">
                        <a:latin typeface="Cambria Math" panose="02040503050406030204" pitchFamily="18" charset="0"/>
                        <a:ea typeface="微软雅黑 Light" panose="020B0502040204020203" pitchFamily="34" charset="-122"/>
                      </a:rPr>
                      <m:t>𝒘</m:t>
                    </m:r>
                  </m:oMath>
                </a14:m>
                <a:r>
                  <a:rPr lang="en-US" altLang="zh-CN" sz="2400" kern="100" dirty="0">
                    <a:latin typeface="微软雅黑 Light" panose="020B0502040204020203" pitchFamily="34" charset="-122"/>
                    <a:ea typeface="微软雅黑 Light" panose="020B0502040204020203" pitchFamily="34" charset="-122"/>
                    <a:cs typeface="Times New Roman" panose="02020603050405020304" pitchFamily="18" charset="0"/>
                  </a:rPr>
                  <a:t>=[</a:t>
                </a:r>
                <a14:m>
                  <m:oMath xmlns:m="http://schemas.openxmlformats.org/officeDocument/2006/math">
                    <m:sSub>
                      <m:sSubPr>
                        <m:ctrlPr>
                          <a:rPr lang="en-US" altLang="zh-CN" sz="2400" i="1" kern="100" smtClean="0">
                            <a:latin typeface="Cambria Math" panose="02040503050406030204" pitchFamily="18" charset="0"/>
                            <a:ea typeface="微软雅黑 Light" panose="020B0502040204020203" pitchFamily="34" charset="-122"/>
                            <a:cs typeface="Times New Roman" panose="02020603050405020304" pitchFamily="18" charset="0"/>
                          </a:rPr>
                        </m:ctrlPr>
                      </m:sSubPr>
                      <m:e>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𝑤</m:t>
                        </m:r>
                      </m:e>
                      <m:sub>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0</m:t>
                        </m:r>
                      </m:sub>
                    </m:sSub>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m:t>
                    </m:r>
                    <m:sSub>
                      <m:sSubPr>
                        <m:ctrlP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ctrlPr>
                      </m:sSubPr>
                      <m:e>
                        <m: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t>𝑤</m:t>
                        </m:r>
                      </m:e>
                      <m:sub>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1</m:t>
                        </m:r>
                      </m:sub>
                    </m:sSub>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m:t>
                    </m:r>
                    <m:sSub>
                      <m:sSubPr>
                        <m:ctrlP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ctrlPr>
                      </m:sSubPr>
                      <m:e>
                        <m: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t>𝑤</m:t>
                        </m:r>
                      </m:e>
                      <m:sub>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2</m:t>
                        </m:r>
                      </m:sub>
                    </m:sSub>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m:t>
                    </m:r>
                    <m:r>
                      <a:rPr lang="en-US" altLang="zh-CN" sz="2400" b="1" i="1" smtClean="0">
                        <a:latin typeface="Cambria Math" panose="02040503050406030204" pitchFamily="18" charset="0"/>
                        <a:ea typeface="微软雅黑 Light" panose="020B0502040204020203" pitchFamily="34" charset="-122"/>
                      </a:rPr>
                      <m:t> </m:t>
                    </m:r>
                    <m:r>
                      <a:rPr lang="en-US" altLang="zh-CN" sz="2400" b="1" i="1" smtClean="0">
                        <a:latin typeface="Cambria Math" panose="02040503050406030204" pitchFamily="18" charset="0"/>
                        <a:ea typeface="微软雅黑 Light" panose="020B0502040204020203" pitchFamily="34" charset="-122"/>
                      </a:rPr>
                      <m:t>𝒙</m:t>
                    </m:r>
                    <m:r>
                      <m:rPr>
                        <m:nor/>
                      </m:rPr>
                      <a:rPr lang="en-US" altLang="zh-CN" sz="2400" kern="100" dirty="0">
                        <a:latin typeface="微软雅黑 Light" panose="020B0502040204020203" pitchFamily="34" charset="-122"/>
                        <a:ea typeface="微软雅黑 Light" panose="020B0502040204020203" pitchFamily="34" charset="-122"/>
                        <a:cs typeface="Times New Roman" panose="02020603050405020304" pitchFamily="18" charset="0"/>
                      </a:rPr>
                      <m:t>=[</m:t>
                    </m:r>
                    <m:sSub>
                      <m:sSubPr>
                        <m:ctrlP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ctrlPr>
                      </m:sSubPr>
                      <m:e>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𝑥</m:t>
                        </m:r>
                      </m:e>
                      <m:sub>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0</m:t>
                        </m:r>
                      </m:sub>
                    </m:sSub>
                    <m: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t>;</m:t>
                    </m:r>
                    <m:sSub>
                      <m:sSubPr>
                        <m:ctrlP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ctrlPr>
                      </m:sSubPr>
                      <m:e>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𝑥</m:t>
                        </m:r>
                      </m:e>
                      <m:sub>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1</m:t>
                        </m:r>
                      </m:sub>
                    </m:sSub>
                    <m: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t>;</m:t>
                    </m:r>
                    <m:sSub>
                      <m:sSubPr>
                        <m:ctrlP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ctrlPr>
                      </m:sSubPr>
                      <m:e>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𝑥</m:t>
                        </m:r>
                      </m:e>
                      <m:sub>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2</m:t>
                        </m:r>
                      </m:sub>
                    </m:sSub>
                    <m:r>
                      <a:rPr lang="en-US" altLang="zh-CN" sz="2400" i="1" kern="100">
                        <a:latin typeface="Cambria Math" panose="02040503050406030204" pitchFamily="18" charset="0"/>
                        <a:ea typeface="微软雅黑 Light" panose="020B0502040204020203" pitchFamily="34" charset="-122"/>
                        <a:cs typeface="Times New Roman" panose="02020603050405020304" pitchFamily="18" charset="0"/>
                      </a:rPr>
                      <m:t>]</m:t>
                    </m:r>
                    <m:r>
                      <a:rPr lang="en-US" altLang="zh-CN" sz="2400" b="0" i="1" kern="100" smtClean="0">
                        <a:latin typeface="Cambria Math" panose="02040503050406030204" pitchFamily="18" charset="0"/>
                        <a:ea typeface="微软雅黑 Light" panose="020B0502040204020203" pitchFamily="34" charset="-122"/>
                        <a:cs typeface="Times New Roman" panose="02020603050405020304" pitchFamily="18" charset="0"/>
                      </a:rPr>
                      <m:t>,</m:t>
                    </m:r>
                    <m:sSub>
                      <m:sSubPr>
                        <m:ctrlP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400" b="0" i="1" kern="100" smtClean="0">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400" i="1" kern="100">
                        <a:latin typeface="Cambria Math" panose="02040503050406030204" pitchFamily="18" charset="0"/>
                        <a:ea typeface="微软雅黑" panose="020B0503020204020204" pitchFamily="34" charset="-122"/>
                        <a:cs typeface="Times New Roman" panose="02020603050405020304" pitchFamily="18" charset="0"/>
                      </a:rPr>
                      <m:t>=1</m:t>
                    </m:r>
                  </m:oMath>
                </a14:m>
                <a:endParaRPr lang="zh-CN" altLang="zh-CN" sz="24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mc:Choice>
        <mc:Fallback xmlns="">
          <p:sp>
            <p:nvSpPr>
              <p:cNvPr id="40" name="矩形 39"/>
              <p:cNvSpPr>
                <a:spLocks noRot="1" noChangeAspect="1" noMove="1" noResize="1" noEditPoints="1" noAdjustHandles="1" noChangeArrowheads="1" noChangeShapeType="1" noTextEdit="1"/>
              </p:cNvSpPr>
              <p:nvPr/>
            </p:nvSpPr>
            <p:spPr>
              <a:xfrm>
                <a:off x="4469856" y="3654030"/>
                <a:ext cx="5322968" cy="2159181"/>
              </a:xfrm>
              <a:prstGeom prst="rect">
                <a:avLst/>
              </a:prstGeom>
              <a:blipFill>
                <a:blip r:embed="rId8"/>
                <a:stretch>
                  <a:fillRect b="-2254"/>
                </a:stretch>
              </a:blipFill>
            </p:spPr>
            <p:txBody>
              <a:bodyPr/>
              <a:lstStyle/>
              <a:p>
                <a:r>
                  <a:rPr lang="zh-CN" altLang="en-US">
                    <a:noFill/>
                  </a:rPr>
                  <a:t> </a:t>
                </a:r>
              </a:p>
            </p:txBody>
          </p:sp>
        </mc:Fallback>
      </mc:AlternateContent>
      <p:cxnSp>
        <p:nvCxnSpPr>
          <p:cNvPr id="41" name="直接连接符 40">
            <a:extLst>
              <a:ext uri="{FF2B5EF4-FFF2-40B4-BE49-F238E27FC236}">
                <a16:creationId xmlns:a16="http://schemas.microsoft.com/office/drawing/2014/main" id="{7C2BEBEF-0FFE-4FEB-B1B7-7C66B295FAD4}"/>
              </a:ext>
            </a:extLst>
          </p:cNvPr>
          <p:cNvCxnSpPr/>
          <p:nvPr/>
        </p:nvCxnSpPr>
        <p:spPr>
          <a:xfrm>
            <a:off x="4589009" y="2824426"/>
            <a:ext cx="0" cy="2775857"/>
          </a:xfrm>
          <a:prstGeom prst="line">
            <a:avLst/>
          </a:prstGeom>
          <a:noFill/>
          <a:ln w="15875" cap="flat" cmpd="sng">
            <a:solidFill>
              <a:schemeClr val="bg1">
                <a:lumMod val="85000"/>
              </a:schemeClr>
            </a:solidFill>
            <a:prstDash val="solid"/>
            <a:round/>
            <a:headEnd/>
            <a:tailEnd/>
          </a:ln>
          <a:effectLst/>
        </p:spPr>
      </p:cxnSp>
      <p:sp>
        <p:nvSpPr>
          <p:cNvPr id="20" name="灯片编号占位符 8">
            <a:extLst>
              <a:ext uri="{FF2B5EF4-FFF2-40B4-BE49-F238E27FC236}">
                <a16:creationId xmlns:a16="http://schemas.microsoft.com/office/drawing/2014/main" id="{EF214004-46D3-4C09-903D-085D18581006}"/>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10</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23777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800665" y="5989816"/>
            <a:ext cx="9144000" cy="556395"/>
          </a:xfrm>
          <a:prstGeom prst="rect">
            <a:avLst/>
          </a:prstGeom>
          <a:solidFill>
            <a:srgbClr val="1D45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线性回归</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mc:AlternateContent xmlns:mc="http://schemas.openxmlformats.org/markup-compatibility/2006" xmlns:a14="http://schemas.microsoft.com/office/drawing/2010/main">
        <mc:Choice Requires="a14">
          <p:sp>
            <p:nvSpPr>
              <p:cNvPr id="33" name="内容占位符 2"/>
              <p:cNvSpPr txBox="1">
                <a:spLocks/>
              </p:cNvSpPr>
              <p:nvPr/>
            </p:nvSpPr>
            <p:spPr>
              <a:xfrm>
                <a:off x="293722" y="691952"/>
                <a:ext cx="11637087" cy="216267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线性函数拟合效果</a:t>
                </a:r>
                <a:endParaRPr lang="en-US" altLang="zh-CN" sz="2800" b="1" dirty="0"/>
              </a:p>
              <a:p>
                <a:pPr marL="800100" lvl="1" indent="-342900" algn="l">
                  <a:lnSpc>
                    <a:spcPct val="150000"/>
                  </a:lnSpc>
                  <a:buFont typeface="Wingdings" panose="05000000000000000000" pitchFamily="2" charset="2"/>
                  <a:buChar char="ü"/>
                </a:pPr>
                <a:r>
                  <a:rPr lang="zh-CN" altLang="en-US" sz="2400" kern="0" dirty="0">
                    <a:solidFill>
                      <a:srgbClr val="000000"/>
                    </a:solidFill>
                    <a:latin typeface="+mn-ea"/>
                    <a:cs typeface="Times New Roman" panose="02020603050405020304" pitchFamily="18" charset="0"/>
                  </a:rPr>
                  <a:t>模型预测值</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oMath>
                </a14:m>
                <a:r>
                  <a:rPr lang="zh-CN" altLang="en-US" sz="2400" kern="0" dirty="0">
                    <a:solidFill>
                      <a:srgbClr val="000000"/>
                    </a:solidFill>
                    <a:latin typeface="+mn-ea"/>
                    <a:cs typeface="Times New Roman" panose="02020603050405020304" pitchFamily="18" charset="0"/>
                  </a:rPr>
                  <a:t>与真实值</a:t>
                </a:r>
                <a14:m>
                  <m:oMath xmlns:m="http://schemas.openxmlformats.org/officeDocument/2006/math">
                    <m:r>
                      <a:rPr lang="en-US" altLang="zh-CN" sz="2400" i="1" kern="0">
                        <a:solidFill>
                          <a:srgbClr val="000000"/>
                        </a:solidFill>
                        <a:latin typeface="Cambria Math" panose="02040503050406030204" pitchFamily="18" charset="0"/>
                        <a:cs typeface="Times New Roman" panose="02020603050405020304" pitchFamily="18" charset="0"/>
                      </a:rPr>
                      <m:t>𝑦</m:t>
                    </m:r>
                  </m:oMath>
                </a14:m>
                <a:r>
                  <a:rPr lang="zh-CN" altLang="en-US" sz="2400" kern="0" dirty="0">
                    <a:solidFill>
                      <a:srgbClr val="000000"/>
                    </a:solidFill>
                    <a:latin typeface="+mn-ea"/>
                    <a:cs typeface="Times New Roman" panose="02020603050405020304" pitchFamily="18" charset="0"/>
                  </a:rPr>
                  <a:t>之间存在误差   </a:t>
                </a:r>
                <a14:m>
                  <m:oMath xmlns:m="http://schemas.openxmlformats.org/officeDocument/2006/math">
                    <m:r>
                      <a:rPr lang="zh-CN" altLang="en-US" sz="2400" i="1">
                        <a:latin typeface="Cambria Math" panose="02040503050406030204" pitchFamily="18" charset="0"/>
                      </a:rPr>
                      <m:t>𝜀</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𝑦</m:t>
                        </m:r>
                      </m:e>
                    </m:acc>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sSup>
                      <m:sSupPr>
                        <m:ctrlPr>
                          <a:rPr lang="en-US" altLang="zh-CN" sz="2400" i="1">
                            <a:latin typeface="Cambria Math" panose="02040503050406030204" pitchFamily="18" charset="0"/>
                            <a:ea typeface="微软雅黑 Light" panose="020B0502040204020203" pitchFamily="34" charset="-122"/>
                          </a:rPr>
                        </m:ctrlPr>
                      </m:sSupPr>
                      <m:e>
                        <m:r>
                          <a:rPr lang="en-US" altLang="zh-CN" sz="2400" b="1" i="1">
                            <a:latin typeface="Cambria Math" panose="02040503050406030204" pitchFamily="18" charset="0"/>
                            <a:ea typeface="微软雅黑 Light" panose="020B0502040204020203" pitchFamily="34" charset="-122"/>
                          </a:rPr>
                          <m:t>𝒘</m:t>
                        </m:r>
                      </m:e>
                      <m:sup>
                        <m:r>
                          <a:rPr lang="en-US" altLang="zh-CN" sz="2400" i="1">
                            <a:latin typeface="Cambria Math" panose="02040503050406030204" pitchFamily="18" charset="0"/>
                            <a:ea typeface="微软雅黑 Light" panose="020B0502040204020203" pitchFamily="34" charset="-122"/>
                          </a:rPr>
                          <m:t>𝑇</m:t>
                        </m:r>
                      </m:sup>
                    </m:sSup>
                    <m:r>
                      <a:rPr lang="en-US" altLang="zh-CN" sz="2400" b="1" i="1">
                        <a:latin typeface="Cambria Math" panose="02040503050406030204" pitchFamily="18" charset="0"/>
                      </a:rPr>
                      <m:t>𝒙</m:t>
                    </m:r>
                  </m:oMath>
                </a14:m>
                <a:r>
                  <a:rPr lang="zh-CN" altLang="en-US" sz="2400" kern="0" dirty="0">
                    <a:solidFill>
                      <a:srgbClr val="000000"/>
                    </a:solidFill>
                    <a:latin typeface="+mn-ea"/>
                    <a:cs typeface="Times New Roman" panose="02020603050405020304" pitchFamily="18" charset="0"/>
                  </a:rPr>
                  <a:t> </a:t>
                </a:r>
                <a14:m>
                  <m:oMath xmlns:m="http://schemas.openxmlformats.org/officeDocument/2006/math">
                    <m:r>
                      <a:rPr lang="en-US" altLang="zh-CN" sz="2400" i="1" kern="0">
                        <a:solidFill>
                          <a:srgbClr val="000000"/>
                        </a:solidFill>
                        <a:latin typeface="Cambria Math" panose="02040503050406030204" pitchFamily="18" charset="0"/>
                        <a:cs typeface="Times New Roman" panose="02020603050405020304" pitchFamily="18" charset="0"/>
                      </a:rPr>
                      <m:t> </m:t>
                    </m:r>
                  </m:oMath>
                </a14:m>
                <a:endParaRPr lang="zh-CN" altLang="zh-CN" sz="1800" kern="100" dirty="0">
                  <a:latin typeface="+mn-ea"/>
                  <a:cs typeface="Times New Roman" panose="02020603050405020304" pitchFamily="18" charset="0"/>
                </a:endParaRPr>
              </a:p>
              <a:p>
                <a:pPr marL="800100" lvl="1" indent="-342900" algn="l">
                  <a:lnSpc>
                    <a:spcPct val="150000"/>
                  </a:lnSpc>
                  <a:buFont typeface="Wingdings" panose="05000000000000000000" pitchFamily="2" charset="2"/>
                  <a:buChar char="ü"/>
                </a:pPr>
                <a14:m>
                  <m:oMath xmlns:m="http://schemas.openxmlformats.org/officeDocument/2006/math">
                    <m:r>
                      <a:rPr lang="zh-CN" altLang="en-US" sz="2400" ker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𝜀</m:t>
                    </m:r>
                    <m:r>
                      <a:rPr lang="en-US" altLang="zh-CN" sz="2400" ker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m:rPr>
                        <m:nor/>
                      </m:rPr>
                      <a:rPr lang="zh-CN" altLang="en-US" sz="2400"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m:t>满足</m:t>
                    </m:r>
                    <m:r>
                      <a:rPr lang="en-US" altLang="zh-CN" sz="2400" ker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(0,</m:t>
                    </m:r>
                    <m:sSup>
                      <m:sSupPr>
                        <m:ctrlPr>
                          <a:rPr lang="en-US" altLang="zh-CN" sz="2400" i="1" ker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400" i="1">
                            <a:latin typeface="Cambria Math" panose="02040503050406030204" pitchFamily="18" charset="0"/>
                          </a:rPr>
                          <m:t>𝜎</m:t>
                        </m:r>
                      </m:e>
                      <m:sup>
                        <m:r>
                          <a:rPr lang="en-US" altLang="zh-CN" sz="2400" ker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400" ker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m:rPr>
                        <m:nor/>
                      </m:rPr>
                      <a:rPr lang="zh-CN" altLang="en-US" sz="2400"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m:t>的高斯分布：  </m:t>
                    </m:r>
                    <m:r>
                      <a:rPr lang="en-US" altLang="zh-CN" sz="2400" i="1">
                        <a:latin typeface="Cambria Math" panose="02040503050406030204" pitchFamily="18" charset="0"/>
                      </a:rPr>
                      <m:t>𝑝</m:t>
                    </m:r>
                    <m:r>
                      <a:rPr lang="en-US" altLang="zh-CN" sz="2400" i="1">
                        <a:latin typeface="Cambria Math" panose="02040503050406030204" pitchFamily="18" charset="0"/>
                      </a:rPr>
                      <m:t>(</m:t>
                    </m:r>
                    <m:r>
                      <a:rPr lang="zh-CN" altLang="en-US" sz="2400" i="1">
                        <a:latin typeface="Cambria Math" panose="02040503050406030204" pitchFamily="18" charset="0"/>
                      </a:rPr>
                      <m:t>𝜀</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ad>
                          <m:radPr>
                            <m:degHide m:val="on"/>
                            <m:ctrlPr>
                              <a:rPr lang="en-US" altLang="zh-CN" sz="2400" i="1">
                                <a:latin typeface="Cambria Math" panose="02040503050406030204" pitchFamily="18" charset="0"/>
                              </a:rPr>
                            </m:ctrlPr>
                          </m:radPr>
                          <m:deg/>
                          <m:e>
                            <m:r>
                              <a:rPr lang="en-US" altLang="zh-CN" sz="2400" i="1">
                                <a:latin typeface="Cambria Math" panose="02040503050406030204" pitchFamily="18" charset="0"/>
                              </a:rPr>
                              <m:t>2</m:t>
                            </m:r>
                            <m:r>
                              <a:rPr lang="zh-CN" altLang="en-US" sz="2400" i="1">
                                <a:latin typeface="Cambria Math" panose="02040503050406030204" pitchFamily="18" charset="0"/>
                              </a:rPr>
                              <m:t>𝜋𝜎</m:t>
                            </m:r>
                          </m:e>
                        </m:rad>
                      </m:den>
                    </m:f>
                    <m:r>
                      <a:rPr lang="en-US" altLang="zh-CN" sz="2400" i="1">
                        <a:latin typeface="Cambria Math" panose="02040503050406030204" pitchFamily="18" charset="0"/>
                      </a:rPr>
                      <m:t>𝑒𝑥𝑝</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m:t>
                            </m:r>
                            <m:r>
                              <a:rPr lang="zh-CN" altLang="en-US" sz="2400" i="1">
                                <a:latin typeface="Cambria Math" panose="02040503050406030204" pitchFamily="18" charset="0"/>
                              </a:rPr>
                              <m:t>𝜀</m:t>
                            </m:r>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num>
                      <m:den>
                        <m:r>
                          <a:rPr lang="en-US" altLang="zh-CN" sz="2400" i="1">
                            <a:latin typeface="Cambria Math" panose="02040503050406030204" pitchFamily="18" charset="0"/>
                          </a:rPr>
                          <m:t>2</m:t>
                        </m:r>
                        <m:sSup>
                          <m:sSupPr>
                            <m:ctrlPr>
                              <a:rPr lang="en-US" altLang="zh-CN" sz="2400" i="1">
                                <a:latin typeface="Cambria Math" panose="02040503050406030204" pitchFamily="18" charset="0"/>
                              </a:rPr>
                            </m:ctrlPr>
                          </m:sSupPr>
                          <m:e>
                            <m:r>
                              <a:rPr lang="zh-CN" altLang="en-US" sz="2400" i="1">
                                <a:latin typeface="Cambria Math" panose="02040503050406030204" pitchFamily="18" charset="0"/>
                              </a:rPr>
                              <m:t>𝜎</m:t>
                            </m:r>
                          </m:e>
                          <m:sup>
                            <m:r>
                              <a:rPr lang="en-US" altLang="zh-CN" sz="2400" i="1">
                                <a:latin typeface="Cambria Math" panose="02040503050406030204" pitchFamily="18" charset="0"/>
                              </a:rPr>
                              <m:t>2</m:t>
                            </m:r>
                          </m:sup>
                        </m:sSup>
                      </m:den>
                    </m:f>
                    <m:r>
                      <a:rPr lang="en-US" altLang="zh-CN" sz="2400" i="1">
                        <a:latin typeface="Cambria Math" panose="02040503050406030204" pitchFamily="18" charset="0"/>
                      </a:rPr>
                      <m:t>)</m:t>
                    </m:r>
                  </m:oMath>
                </a14:m>
                <a:endParaRPr lang="zh-CN" altLang="en-US" sz="2400"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mc:Choice>
        <mc:Fallback xmlns="">
          <p:sp>
            <p:nvSpPr>
              <p:cNvPr id="33" name="内容占位符 2"/>
              <p:cNvSpPr txBox="1">
                <a:spLocks noRot="1" noChangeAspect="1" noMove="1" noResize="1" noEditPoints="1" noAdjustHandles="1" noChangeArrowheads="1" noChangeShapeType="1" noTextEdit="1"/>
              </p:cNvSpPr>
              <p:nvPr/>
            </p:nvSpPr>
            <p:spPr>
              <a:xfrm>
                <a:off x="293722" y="691952"/>
                <a:ext cx="11637087" cy="2162679"/>
              </a:xfrm>
              <a:prstGeom prst="rect">
                <a:avLst/>
              </a:prstGeom>
              <a:blipFill rotWithShape="0">
                <a:blip r:embed="rId5"/>
                <a:stretch>
                  <a:fillRect l="-8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3207572" y="3277122"/>
                <a:ext cx="7302697" cy="7676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𝑝</m:t>
                      </m:r>
                      <m:r>
                        <a:rPr lang="en-US" altLang="zh-CN" sz="2000" b="0" i="1" smtClean="0">
                          <a:solidFill>
                            <a:schemeClr val="tx1"/>
                          </a:solidFill>
                          <a:latin typeface="Cambria Math" panose="02040503050406030204" pitchFamily="18" charset="0"/>
                        </a:rPr>
                        <m:t>(</m:t>
                      </m:r>
                      <m:r>
                        <a:rPr lang="en-US" altLang="zh-CN" sz="2000" i="1" smtClean="0">
                          <a:solidFill>
                            <a:schemeClr val="tx1"/>
                          </a:solidFill>
                          <a:latin typeface="Cambria Math" panose="02040503050406030204" pitchFamily="18" charset="0"/>
                        </a:rPr>
                        <m:t>𝑦</m:t>
                      </m:r>
                      <m:r>
                        <a:rPr lang="en-US" altLang="zh-CN" sz="2000" b="0" i="1">
                          <a:solidFill>
                            <a:schemeClr val="tx1"/>
                          </a:solidFill>
                          <a:latin typeface="Cambria Math" panose="02040503050406030204" pitchFamily="18" charset="0"/>
                        </a:rPr>
                        <m:t>|</m:t>
                      </m:r>
                      <m:r>
                        <a:rPr lang="en-US" altLang="zh-CN" sz="2000" b="1" i="1" smtClean="0">
                          <a:solidFill>
                            <a:schemeClr val="tx1"/>
                          </a:solidFill>
                          <a:latin typeface="Cambria Math" panose="02040503050406030204" pitchFamily="18" charset="0"/>
                        </a:rPr>
                        <m:t>𝒙</m:t>
                      </m:r>
                      <m:r>
                        <a:rPr lang="en-US" altLang="zh-CN" sz="2000" b="0" i="1" smtClean="0">
                          <a:solidFill>
                            <a:schemeClr val="tx1"/>
                          </a:solidFill>
                          <a:latin typeface="Cambria Math" panose="02040503050406030204" pitchFamily="18" charset="0"/>
                        </a:rPr>
                        <m:t>;</m:t>
                      </m:r>
                      <m:r>
                        <a:rPr lang="en-US" altLang="zh-CN" sz="2000" b="1" i="1" smtClean="0">
                          <a:solidFill>
                            <a:schemeClr val="tx1"/>
                          </a:solidFill>
                          <a:latin typeface="Cambria Math" panose="02040503050406030204" pitchFamily="18" charset="0"/>
                        </a:rPr>
                        <m:t>𝒘</m:t>
                      </m:r>
                      <m:r>
                        <a:rPr lang="en-US" altLang="zh-CN" sz="2000" b="0" i="1" smtClean="0">
                          <a:solidFill>
                            <a:schemeClr val="tx1"/>
                          </a:solidFill>
                          <a:latin typeface="Cambria Math" panose="02040503050406030204" pitchFamily="18" charset="0"/>
                        </a:rPr>
                        <m:t>)=</m:t>
                      </m:r>
                      <m:f>
                        <m:fPr>
                          <m:ctrlPr>
                            <a:rPr lang="en-US" altLang="zh-CN" sz="2000" i="1" smtClean="0">
                              <a:solidFill>
                                <a:schemeClr val="tx1"/>
                              </a:solidFill>
                              <a:latin typeface="Cambria Math" panose="02040503050406030204" pitchFamily="18" charset="0"/>
                            </a:rPr>
                          </m:ctrlPr>
                        </m:fPr>
                        <m:num>
                          <m:r>
                            <a:rPr lang="en-US" altLang="zh-CN" sz="2000" b="0" i="1" smtClean="0">
                              <a:solidFill>
                                <a:schemeClr val="tx1"/>
                              </a:solidFill>
                              <a:latin typeface="Cambria Math" panose="02040503050406030204" pitchFamily="18" charset="0"/>
                            </a:rPr>
                            <m:t>1</m:t>
                          </m:r>
                        </m:num>
                        <m:den>
                          <m:rad>
                            <m:radPr>
                              <m:degHide m:val="on"/>
                              <m:ctrlPr>
                                <a:rPr lang="en-US" altLang="zh-CN" sz="2000" i="1" smtClean="0">
                                  <a:solidFill>
                                    <a:schemeClr val="tx1"/>
                                  </a:solidFill>
                                  <a:latin typeface="Cambria Math" panose="02040503050406030204" pitchFamily="18" charset="0"/>
                                </a:rPr>
                              </m:ctrlPr>
                            </m:radPr>
                            <m:deg/>
                            <m:e>
                              <m:r>
                                <a:rPr lang="en-US" altLang="zh-CN" sz="2000" b="0" i="1" smtClean="0">
                                  <a:solidFill>
                                    <a:schemeClr val="tx1"/>
                                  </a:solidFill>
                                  <a:latin typeface="Cambria Math" panose="02040503050406030204" pitchFamily="18" charset="0"/>
                                </a:rPr>
                                <m:t>2</m:t>
                              </m:r>
                              <m:r>
                                <a:rPr lang="zh-CN" altLang="en-US" sz="2000" b="0" i="1" smtClean="0">
                                  <a:solidFill>
                                    <a:schemeClr val="tx1"/>
                                  </a:solidFill>
                                  <a:latin typeface="Cambria Math" panose="02040503050406030204" pitchFamily="18" charset="0"/>
                                </a:rPr>
                                <m:t>𝜋𝜎</m:t>
                              </m:r>
                            </m:e>
                          </m:rad>
                        </m:den>
                      </m:f>
                      <m:r>
                        <a:rPr lang="en-US" altLang="zh-CN" sz="2000" b="0" i="1" smtClean="0">
                          <a:solidFill>
                            <a:schemeClr val="tx1"/>
                          </a:solidFill>
                          <a:latin typeface="Cambria Math" panose="02040503050406030204" pitchFamily="18" charset="0"/>
                        </a:rPr>
                        <m:t>𝑒𝑥𝑝</m:t>
                      </m:r>
                      <m:r>
                        <a:rPr lang="en-US" altLang="zh-CN" sz="2000" b="0" i="1" smtClean="0">
                          <a:solidFill>
                            <a:schemeClr val="tx1"/>
                          </a:solidFill>
                          <a:latin typeface="Cambria Math" panose="02040503050406030204" pitchFamily="18" charset="0"/>
                        </a:rPr>
                        <m:t>(−</m:t>
                      </m:r>
                      <m:f>
                        <m:fPr>
                          <m:ctrlPr>
                            <a:rPr lang="en-US" altLang="zh-CN" sz="2000" i="1" smtClean="0">
                              <a:solidFill>
                                <a:schemeClr val="tx1"/>
                              </a:solidFill>
                              <a:latin typeface="Cambria Math" panose="02040503050406030204" pitchFamily="18" charset="0"/>
                            </a:rPr>
                          </m:ctrlPr>
                        </m:fPr>
                        <m:num>
                          <m:sSup>
                            <m:sSupPr>
                              <m:ctrlPr>
                                <a:rPr lang="en-US" altLang="zh-CN" sz="200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m:t>
                              </m:r>
                              <m:r>
                                <a:rPr lang="en-US" altLang="zh-CN" sz="2000" i="1">
                                  <a:latin typeface="Cambria Math" panose="02040503050406030204" pitchFamily="18" charset="0"/>
                                </a:rPr>
                                <m:t>𝑦</m:t>
                              </m:r>
                              <m:r>
                                <a:rPr lang="en-US" altLang="zh-CN" sz="2000" i="1">
                                  <a:latin typeface="Cambria Math" panose="02040503050406030204" pitchFamily="18" charset="0"/>
                                </a:rPr>
                                <m:t>−</m:t>
                              </m:r>
                              <m:sSup>
                                <m:sSupPr>
                                  <m:ctrlPr>
                                    <a:rPr lang="en-US" altLang="zh-CN" sz="2000" i="1">
                                      <a:latin typeface="Cambria Math" panose="02040503050406030204" pitchFamily="18" charset="0"/>
                                      <a:ea typeface="微软雅黑 Light" panose="020B0502040204020203" pitchFamily="34" charset="-122"/>
                                    </a:rPr>
                                  </m:ctrlPr>
                                </m:sSupPr>
                                <m:e>
                                  <m:r>
                                    <a:rPr lang="en-US" altLang="zh-CN" sz="2000" b="1" i="1" smtClean="0">
                                      <a:latin typeface="Cambria Math" panose="02040503050406030204" pitchFamily="18" charset="0"/>
                                      <a:ea typeface="微软雅黑 Light" panose="020B0502040204020203" pitchFamily="34" charset="-122"/>
                                    </a:rPr>
                                    <m:t>𝒘</m:t>
                                  </m:r>
                                </m:e>
                                <m:sup>
                                  <m:r>
                                    <a:rPr lang="en-US" altLang="zh-CN" sz="2000" i="1">
                                      <a:latin typeface="Cambria Math" panose="02040503050406030204" pitchFamily="18" charset="0"/>
                                      <a:ea typeface="微软雅黑 Light" panose="020B0502040204020203" pitchFamily="34" charset="-122"/>
                                    </a:rPr>
                                    <m:t>𝑇</m:t>
                                  </m:r>
                                </m:sup>
                              </m:sSup>
                              <m:r>
                                <a:rPr lang="en-US" altLang="zh-CN" sz="2000" b="1" i="1">
                                  <a:latin typeface="Cambria Math" panose="02040503050406030204" pitchFamily="18" charset="0"/>
                                </a:rPr>
                                <m:t>𝒙</m:t>
                              </m:r>
                              <m:r>
                                <a:rPr lang="en-US" altLang="zh-CN" sz="2000" b="0" i="1" smtClean="0">
                                  <a:solidFill>
                                    <a:schemeClr val="tx1"/>
                                  </a:solidFill>
                                  <a:latin typeface="Cambria Math" panose="02040503050406030204" pitchFamily="18" charset="0"/>
                                </a:rPr>
                                <m:t>)</m:t>
                              </m:r>
                            </m:e>
                            <m:sup>
                              <m:r>
                                <a:rPr lang="en-US" altLang="zh-CN" sz="2000" b="0" i="1" smtClean="0">
                                  <a:solidFill>
                                    <a:schemeClr val="tx1"/>
                                  </a:solidFill>
                                  <a:latin typeface="Cambria Math" panose="02040503050406030204" pitchFamily="18" charset="0"/>
                                </a:rPr>
                                <m:t>2</m:t>
                              </m:r>
                            </m:sup>
                          </m:sSup>
                        </m:num>
                        <m:den>
                          <m:r>
                            <a:rPr lang="en-US" altLang="zh-CN" sz="2000" b="0" i="1" smtClean="0">
                              <a:solidFill>
                                <a:schemeClr val="tx1"/>
                              </a:solidFill>
                              <a:latin typeface="Cambria Math" panose="02040503050406030204" pitchFamily="18" charset="0"/>
                            </a:rPr>
                            <m:t>2</m:t>
                          </m:r>
                          <m:sSup>
                            <m:sSupPr>
                              <m:ctrlPr>
                                <a:rPr lang="en-US" altLang="zh-CN" sz="2000" i="1" smtClean="0">
                                  <a:solidFill>
                                    <a:schemeClr val="tx1"/>
                                  </a:solidFill>
                                  <a:latin typeface="Cambria Math" panose="02040503050406030204" pitchFamily="18" charset="0"/>
                                </a:rPr>
                              </m:ctrlPr>
                            </m:sSupPr>
                            <m:e>
                              <m:r>
                                <a:rPr lang="zh-CN" altLang="en-US" sz="2000" b="0" i="1" smtClean="0">
                                  <a:solidFill>
                                    <a:schemeClr val="tx1"/>
                                  </a:solidFill>
                                  <a:latin typeface="Cambria Math" panose="02040503050406030204" pitchFamily="18" charset="0"/>
                                </a:rPr>
                                <m:t>𝜎</m:t>
                              </m:r>
                            </m:e>
                            <m:sup>
                              <m:r>
                                <a:rPr lang="en-US" altLang="zh-CN" sz="2000" b="0" i="1" smtClean="0">
                                  <a:solidFill>
                                    <a:schemeClr val="tx1"/>
                                  </a:solidFill>
                                  <a:latin typeface="Cambria Math" panose="02040503050406030204" pitchFamily="18" charset="0"/>
                                </a:rPr>
                                <m:t>2</m:t>
                              </m:r>
                            </m:sup>
                          </m:sSup>
                        </m:den>
                      </m:f>
                      <m:r>
                        <a:rPr lang="en-US" altLang="zh-CN" sz="2000" b="0" i="1" smtClean="0">
                          <a:solidFill>
                            <a:schemeClr val="tx1"/>
                          </a:solidFill>
                          <a:latin typeface="Cambria Math" panose="02040503050406030204" pitchFamily="18" charset="0"/>
                        </a:rPr>
                        <m:t>)</m:t>
                      </m:r>
                    </m:oMath>
                  </m:oMathPara>
                </a14:m>
                <a:endParaRPr lang="zh-CN" altLang="en-US" sz="2000" dirty="0">
                  <a:solidFill>
                    <a:schemeClr val="tx1"/>
                  </a:solidFill>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3207572" y="3277122"/>
                <a:ext cx="7302697" cy="767646"/>
              </a:xfrm>
              <a:prstGeom prst="rect">
                <a:avLst/>
              </a:prstGeom>
              <a:blipFill rotWithShape="0">
                <a:blip r:embed="rId6"/>
                <a:stretch>
                  <a:fillRect/>
                </a:stretch>
              </a:blipFill>
            </p:spPr>
            <p:txBody>
              <a:bodyPr/>
              <a:lstStyle/>
              <a:p>
                <a:r>
                  <a:rPr lang="zh-CN" altLang="en-US">
                    <a:noFill/>
                  </a:rPr>
                  <a:t> </a:t>
                </a:r>
              </a:p>
            </p:txBody>
          </p:sp>
        </mc:Fallback>
      </mc:AlternateContent>
      <p:sp>
        <p:nvSpPr>
          <p:cNvPr id="19" name="右箭头 18"/>
          <p:cNvSpPr/>
          <p:nvPr/>
        </p:nvSpPr>
        <p:spPr>
          <a:xfrm rot="5400000">
            <a:off x="5771165" y="3099582"/>
            <a:ext cx="385534" cy="23255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p:cNvSpPr txBox="1"/>
              <p:nvPr/>
            </p:nvSpPr>
            <p:spPr>
              <a:xfrm>
                <a:off x="4293151" y="4985929"/>
                <a:ext cx="4397039" cy="9674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b="0" i="0" smtClean="0">
                          <a:solidFill>
                            <a:srgbClr val="FF0000"/>
                          </a:solidFill>
                          <a:latin typeface="Cambria Math" panose="02040503050406030204" pitchFamily="18" charset="0"/>
                        </a:rPr>
                        <m:t>L</m:t>
                      </m:r>
                      <m:r>
                        <a:rPr lang="en-US" altLang="zh-CN" sz="2000" b="0"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ea typeface="微软雅黑 Light" panose="020B0502040204020203" pitchFamily="34" charset="-122"/>
                        </a:rPr>
                        <m:t>𝒘</m:t>
                      </m:r>
                      <m:r>
                        <a:rPr lang="en-US" altLang="zh-CN" sz="2000" b="0" i="1" smtClean="0">
                          <a:solidFill>
                            <a:srgbClr val="FF0000"/>
                          </a:solidFill>
                          <a:latin typeface="Cambria Math" panose="02040503050406030204" pitchFamily="18" charset="0"/>
                        </a:rPr>
                        <m:t>)=</m:t>
                      </m:r>
                      <m:f>
                        <m:fPr>
                          <m:ctrlPr>
                            <a:rPr lang="en-US" altLang="zh-CN" sz="2000" i="1" smtClean="0">
                              <a:solidFill>
                                <a:srgbClr val="FF0000"/>
                              </a:solidFill>
                              <a:latin typeface="Cambria Math" panose="02040503050406030204" pitchFamily="18" charset="0"/>
                            </a:rPr>
                          </m:ctrlPr>
                        </m:fPr>
                        <m:num>
                          <m:r>
                            <a:rPr lang="en-US" altLang="zh-CN" sz="2000" b="0" i="1" smtClean="0">
                              <a:solidFill>
                                <a:srgbClr val="FF0000"/>
                              </a:solidFill>
                              <a:latin typeface="Cambria Math" panose="02040503050406030204" pitchFamily="18" charset="0"/>
                            </a:rPr>
                            <m:t>1</m:t>
                          </m:r>
                        </m:num>
                        <m:den>
                          <m:r>
                            <a:rPr lang="en-US" altLang="zh-CN" sz="2000" b="0" i="1" smtClean="0">
                              <a:solidFill>
                                <a:srgbClr val="FF0000"/>
                              </a:solidFill>
                              <a:latin typeface="Cambria Math" panose="02040503050406030204" pitchFamily="18" charset="0"/>
                            </a:rPr>
                            <m:t>2</m:t>
                          </m:r>
                        </m:den>
                      </m:f>
                      <m:nary>
                        <m:naryPr>
                          <m:chr m:val="∑"/>
                          <m:ctrlPr>
                            <a:rPr lang="en-US" altLang="zh-CN" sz="2000" i="1" smtClean="0">
                              <a:solidFill>
                                <a:srgbClr val="FF0000"/>
                              </a:solidFill>
                              <a:latin typeface="Cambria Math" panose="02040503050406030204" pitchFamily="18" charset="0"/>
                            </a:rPr>
                          </m:ctrlPr>
                        </m:naryPr>
                        <m:sub>
                          <m:r>
                            <a:rPr lang="en-US" altLang="zh-CN" sz="2000" b="0" i="1" smtClean="0">
                              <a:solidFill>
                                <a:srgbClr val="FF0000"/>
                              </a:solidFill>
                              <a:latin typeface="Cambria Math" panose="02040503050406030204" pitchFamily="18" charset="0"/>
                            </a:rPr>
                            <m:t>𝑗</m:t>
                          </m:r>
                          <m:r>
                            <a:rPr lang="en-US" altLang="zh-CN" sz="2000" b="0" i="1" smtClean="0">
                              <a:solidFill>
                                <a:srgbClr val="FF0000"/>
                              </a:solidFill>
                              <a:latin typeface="Cambria Math" panose="02040503050406030204" pitchFamily="18" charset="0"/>
                            </a:rPr>
                            <m:t>=1</m:t>
                          </m:r>
                        </m:sub>
                        <m:sup>
                          <m:r>
                            <a:rPr lang="en-US" altLang="zh-CN" sz="2000" b="0" i="1" smtClean="0">
                              <a:solidFill>
                                <a:srgbClr val="FF0000"/>
                              </a:solidFill>
                              <a:latin typeface="Cambria Math" panose="02040503050406030204" pitchFamily="18" charset="0"/>
                            </a:rPr>
                            <m:t>𝑚</m:t>
                          </m:r>
                        </m:sup>
                        <m:e>
                          <m:sSup>
                            <m:sSupPr>
                              <m:ctrlPr>
                                <a:rPr lang="en-US" altLang="zh-CN" sz="2000" i="1" smtClean="0">
                                  <a:solidFill>
                                    <a:srgbClr val="FF0000"/>
                                  </a:solidFill>
                                  <a:latin typeface="Cambria Math" panose="02040503050406030204" pitchFamily="18" charset="0"/>
                                </a:rPr>
                              </m:ctrlPr>
                            </m:sSupPr>
                            <m:e>
                              <m:r>
                                <a:rPr lang="en-US" altLang="zh-CN" sz="2000" b="0" i="1" smtClean="0">
                                  <a:solidFill>
                                    <a:srgbClr val="FF0000"/>
                                  </a:solidFill>
                                  <a:latin typeface="Cambria Math" panose="02040503050406030204" pitchFamily="18" charset="0"/>
                                </a:rPr>
                                <m:t>(</m:t>
                              </m:r>
                              <m:sSub>
                                <m:sSubPr>
                                  <m:ctrlPr>
                                    <a:rPr lang="en-US" altLang="zh-CN" sz="200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h</m:t>
                                  </m:r>
                                </m:e>
                                <m:sub>
                                  <m:r>
                                    <a:rPr lang="en-US" altLang="zh-CN" sz="2000" b="0" i="1" smtClean="0">
                                      <a:solidFill>
                                        <a:srgbClr val="FF0000"/>
                                      </a:solidFill>
                                      <a:latin typeface="Cambria Math" panose="02040503050406030204" pitchFamily="18" charset="0"/>
                                    </a:rPr>
                                    <m:t>𝑤</m:t>
                                  </m:r>
                                </m:sub>
                              </m:sSub>
                              <m:d>
                                <m:dPr>
                                  <m:ctrlPr>
                                    <a:rPr lang="en-US" altLang="zh-CN" sz="2000" i="1" smtClean="0">
                                      <a:solidFill>
                                        <a:srgbClr val="FF0000"/>
                                      </a:solidFill>
                                      <a:latin typeface="Cambria Math" panose="02040503050406030204" pitchFamily="18" charset="0"/>
                                    </a:rPr>
                                  </m:ctrlPr>
                                </m:dPr>
                                <m:e>
                                  <m:r>
                                    <a:rPr lang="en-US" altLang="zh-CN" sz="2000" b="1" i="1" smtClean="0">
                                      <a:solidFill>
                                        <a:srgbClr val="FF0000"/>
                                      </a:solidFill>
                                      <a:latin typeface="Cambria Math" panose="02040503050406030204" pitchFamily="18" charset="0"/>
                                    </a:rPr>
                                    <m:t>𝒙</m:t>
                                  </m:r>
                                  <m:r>
                                    <a:rPr lang="en-US" altLang="zh-CN" sz="2000" b="0" i="1" baseline="-25000" smtClean="0">
                                      <a:solidFill>
                                        <a:srgbClr val="FF0000"/>
                                      </a:solidFill>
                                      <a:latin typeface="Cambria Math" panose="02040503050406030204" pitchFamily="18" charset="0"/>
                                    </a:rPr>
                                    <m:t>𝑗</m:t>
                                  </m:r>
                                </m:e>
                              </m:d>
                              <m:r>
                                <a:rPr lang="en-US" altLang="zh-CN" sz="2000" b="0" i="1" smtClean="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𝒚</m:t>
                              </m:r>
                              <m:r>
                                <a:rPr lang="en-US" altLang="zh-CN" sz="2000" i="1" baseline="-25000">
                                  <a:solidFill>
                                    <a:srgbClr val="FF0000"/>
                                  </a:solidFill>
                                  <a:latin typeface="Cambria Math" panose="02040503050406030204" pitchFamily="18" charset="0"/>
                                </a:rPr>
                                <m:t>𝑗</m:t>
                              </m:r>
                              <m:r>
                                <a:rPr lang="en-US" altLang="zh-CN" sz="2000" b="0" i="1" smtClean="0">
                                  <a:solidFill>
                                    <a:srgbClr val="FF0000"/>
                                  </a:solidFill>
                                  <a:latin typeface="Cambria Math" panose="02040503050406030204" pitchFamily="18" charset="0"/>
                                </a:rPr>
                                <m:t>)</m:t>
                              </m:r>
                            </m:e>
                            <m:sup>
                              <m:r>
                                <a:rPr lang="en-US" altLang="zh-CN" sz="2000" b="0" i="1" smtClean="0">
                                  <a:solidFill>
                                    <a:srgbClr val="FF0000"/>
                                  </a:solidFill>
                                  <a:latin typeface="Cambria Math" panose="02040503050406030204" pitchFamily="18" charset="0"/>
                                </a:rPr>
                                <m:t>2</m:t>
                              </m:r>
                            </m:sup>
                          </m:sSup>
                        </m:e>
                      </m:nary>
                    </m:oMath>
                  </m:oMathPara>
                </a14:m>
                <a:endParaRPr lang="zh-CN" altLang="en-US" sz="2000" dirty="0">
                  <a:solidFill>
                    <a:srgbClr val="FF0000"/>
                  </a:solidFill>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4293151" y="4985929"/>
                <a:ext cx="4397039" cy="967444"/>
              </a:xfrm>
              <a:prstGeom prst="rect">
                <a:avLst/>
              </a:prstGeom>
              <a:blipFill rotWithShape="0">
                <a:blip r:embed="rId7"/>
                <a:stretch>
                  <a:fillRect/>
                </a:stretch>
              </a:blipFill>
            </p:spPr>
            <p:txBody>
              <a:bodyPr/>
              <a:lstStyle/>
              <a:p>
                <a:r>
                  <a:rPr lang="zh-CN" altLang="en-US">
                    <a:noFill/>
                  </a:rPr>
                  <a:t> </a:t>
                </a:r>
              </a:p>
            </p:txBody>
          </p:sp>
        </mc:Fallback>
      </mc:AlternateContent>
      <p:sp>
        <p:nvSpPr>
          <p:cNvPr id="21" name="右箭头 20"/>
          <p:cNvSpPr/>
          <p:nvPr/>
        </p:nvSpPr>
        <p:spPr>
          <a:xfrm rot="5400000">
            <a:off x="5728376" y="4325089"/>
            <a:ext cx="481486" cy="24382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6164763" y="4083967"/>
            <a:ext cx="5370745" cy="923330"/>
          </a:xfrm>
          <a:prstGeom prst="rect">
            <a:avLst/>
          </a:prstGeom>
        </p:spPr>
        <p:txBody>
          <a:bodyPr wrap="square">
            <a:spAutoFit/>
          </a:bodyPr>
          <a:lstStyle/>
          <a:p>
            <a:pPr algn="just">
              <a:lnSpc>
                <a:spcPct val="150000"/>
              </a:lnSpc>
            </a:pPr>
            <a:r>
              <a:rPr lang="zh-CN" altLang="en-US" kern="0" dirty="0">
                <a:solidFill>
                  <a:srgbClr val="000000"/>
                </a:solidFill>
                <a:ea typeface="微软雅黑 Light" panose="020B0502040204020203" pitchFamily="34" charset="-122"/>
                <a:cs typeface="Times New Roman" panose="02020603050405020304" pitchFamily="18" charset="0"/>
              </a:rPr>
              <a:t>通过求最大似然函数，得到预测值与真实值之间误差尽量小的目标函数</a:t>
            </a:r>
            <a:endParaRPr lang="zh-CN" altLang="en-US"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矩形 22"/>
              <p:cNvSpPr/>
              <p:nvPr/>
            </p:nvSpPr>
            <p:spPr>
              <a:xfrm>
                <a:off x="3992036" y="6143305"/>
                <a:ext cx="5510121" cy="400110"/>
              </a:xfrm>
              <a:prstGeom prst="rect">
                <a:avLst/>
              </a:prstGeom>
            </p:spPr>
            <p:txBody>
              <a:bodyPr wrap="square">
                <a:spAutoFit/>
              </a:bodyPr>
              <a:lstStyle/>
              <a:p>
                <a:r>
                  <a:rPr lang="zh-CN" altLang="en-US" sz="2000" dirty="0">
                    <a:solidFill>
                      <a:schemeClr val="bg1"/>
                    </a:solidFill>
                    <a:latin typeface="微软雅黑 Light" panose="020B0502040204020203" pitchFamily="34" charset="-122"/>
                    <a:ea typeface="微软雅黑 Light" panose="020B0502040204020203" pitchFamily="34" charset="-122"/>
                  </a:rPr>
                  <a:t>目标</a:t>
                </a:r>
                <a:r>
                  <a:rPr lang="en-US" altLang="zh-CN" sz="2000" dirty="0">
                    <a:solidFill>
                      <a:schemeClr val="bg1"/>
                    </a:solidFill>
                    <a:latin typeface="微软雅黑 Light" panose="020B0502040204020203" pitchFamily="34" charset="-122"/>
                    <a:ea typeface="微软雅黑 Light" panose="020B0502040204020203" pitchFamily="34" charset="-122"/>
                  </a:rPr>
                  <a:t>:</a:t>
                </a:r>
                <a:r>
                  <a:rPr lang="zh-CN" altLang="en-US" sz="2000" dirty="0">
                    <a:solidFill>
                      <a:schemeClr val="bg1"/>
                    </a:solidFill>
                    <a:latin typeface="微软雅黑 Light" panose="020B0502040204020203" pitchFamily="34" charset="-122"/>
                    <a:ea typeface="微软雅黑 Light" panose="020B0502040204020203" pitchFamily="34" charset="-122"/>
                  </a:rPr>
                  <a:t> 求出参数</a:t>
                </a:r>
                <a14:m>
                  <m:oMath xmlns:m="http://schemas.openxmlformats.org/officeDocument/2006/math">
                    <m:r>
                      <a:rPr lang="en-US" altLang="zh-CN" sz="2000" b="1" i="1" smtClean="0">
                        <a:solidFill>
                          <a:srgbClr val="FF0000"/>
                        </a:solidFill>
                        <a:latin typeface="Cambria Math" panose="02040503050406030204" pitchFamily="18" charset="0"/>
                      </a:rPr>
                      <m:t>𝒘</m:t>
                    </m:r>
                  </m:oMath>
                </a14:m>
                <a:r>
                  <a:rPr lang="zh-CN" altLang="en-US" sz="2000" dirty="0">
                    <a:solidFill>
                      <a:schemeClr val="bg1"/>
                    </a:solidFill>
                    <a:latin typeface="微软雅黑 Light" panose="020B0502040204020203" pitchFamily="34" charset="-122"/>
                    <a:ea typeface="微软雅黑 Light" panose="020B0502040204020203" pitchFamily="34" charset="-122"/>
                  </a:rPr>
                  <a:t>，使得损失函数</a:t>
                </a:r>
                <a:r>
                  <a:rPr lang="en-US" altLang="zh-CN" sz="2000" dirty="0">
                    <a:solidFill>
                      <a:srgbClr val="FF0000"/>
                    </a:solidFill>
                    <a:latin typeface="微软雅黑 Light" panose="020B0502040204020203" pitchFamily="34" charset="-122"/>
                    <a:ea typeface="微软雅黑 Light" panose="020B0502040204020203" pitchFamily="34" charset="-122"/>
                  </a:rPr>
                  <a:t>L(</a:t>
                </a:r>
                <a14:m>
                  <m:oMath xmlns:m="http://schemas.openxmlformats.org/officeDocument/2006/math">
                    <m:r>
                      <a:rPr lang="en-US" altLang="zh-CN" sz="2000" b="1" i="1" smtClean="0">
                        <a:solidFill>
                          <a:srgbClr val="FF0000"/>
                        </a:solidFill>
                        <a:latin typeface="Cambria Math" panose="02040503050406030204" pitchFamily="18" charset="0"/>
                      </a:rPr>
                      <m:t>𝒘</m:t>
                    </m:r>
                  </m:oMath>
                </a14:m>
                <a:r>
                  <a:rPr lang="en-US" altLang="zh-CN" sz="2000" dirty="0">
                    <a:solidFill>
                      <a:srgbClr val="FF0000"/>
                    </a:solidFill>
                    <a:latin typeface="微软雅黑 Light" panose="020B0502040204020203" pitchFamily="34" charset="-122"/>
                    <a:ea typeface="微软雅黑 Light" panose="020B0502040204020203" pitchFamily="34" charset="-122"/>
                  </a:rPr>
                  <a:t>)</a:t>
                </a:r>
                <a:r>
                  <a:rPr lang="zh-CN" altLang="en-US" sz="2000" dirty="0">
                    <a:solidFill>
                      <a:schemeClr val="bg1"/>
                    </a:solidFill>
                    <a:latin typeface="微软雅黑 Light" panose="020B0502040204020203" pitchFamily="34" charset="-122"/>
                    <a:ea typeface="微软雅黑 Light" panose="020B0502040204020203" pitchFamily="34" charset="-122"/>
                  </a:rPr>
                  <a:t>取值最小</a:t>
                </a:r>
              </a:p>
            </p:txBody>
          </p:sp>
        </mc:Choice>
        <mc:Fallback xmlns="">
          <p:sp>
            <p:nvSpPr>
              <p:cNvPr id="23" name="矩形 22"/>
              <p:cNvSpPr>
                <a:spLocks noRot="1" noChangeAspect="1" noMove="1" noResize="1" noEditPoints="1" noAdjustHandles="1" noChangeArrowheads="1" noChangeShapeType="1" noTextEdit="1"/>
              </p:cNvSpPr>
              <p:nvPr/>
            </p:nvSpPr>
            <p:spPr>
              <a:xfrm>
                <a:off x="3992036" y="6143305"/>
                <a:ext cx="5510121" cy="400110"/>
              </a:xfrm>
              <a:prstGeom prst="rect">
                <a:avLst/>
              </a:prstGeom>
              <a:blipFill rotWithShape="0">
                <a:blip r:embed="rId8"/>
                <a:stretch>
                  <a:fillRect l="-1217" t="-9231" b="-27692"/>
                </a:stretch>
              </a:blipFill>
            </p:spPr>
            <p:txBody>
              <a:bodyPr/>
              <a:lstStyle/>
              <a:p>
                <a:r>
                  <a:rPr lang="zh-CN" altLang="en-US">
                    <a:noFill/>
                  </a:rPr>
                  <a:t> </a:t>
                </a:r>
              </a:p>
            </p:txBody>
          </p:sp>
        </mc:Fallback>
      </mc:AlternateContent>
      <p:sp>
        <p:nvSpPr>
          <p:cNvPr id="24" name="矩形 23"/>
          <p:cNvSpPr/>
          <p:nvPr/>
        </p:nvSpPr>
        <p:spPr>
          <a:xfrm>
            <a:off x="3509538" y="5222593"/>
            <a:ext cx="1190077" cy="460319"/>
          </a:xfrm>
          <a:prstGeom prst="rect">
            <a:avLst/>
          </a:prstGeom>
        </p:spPr>
        <p:txBody>
          <a:bodyPr wrap="square">
            <a:spAutoFit/>
          </a:bodyPr>
          <a:lstStyle/>
          <a:p>
            <a:pPr algn="just">
              <a:lnSpc>
                <a:spcPct val="150000"/>
              </a:lnSpc>
            </a:pPr>
            <a:r>
              <a:rPr lang="zh-CN" altLang="en-US" kern="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损失函数</a:t>
            </a:r>
          </a:p>
        </p:txBody>
      </p:sp>
      <p:sp>
        <p:nvSpPr>
          <p:cNvPr id="27" name="灯片编号占位符 8">
            <a:extLst>
              <a:ext uri="{FF2B5EF4-FFF2-40B4-BE49-F238E27FC236}">
                <a16:creationId xmlns:a16="http://schemas.microsoft.com/office/drawing/2014/main" id="{506FD883-D109-4F30-A592-34E9F97AF5A5}"/>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11</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155605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线性回归</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mc:AlternateContent xmlns:mc="http://schemas.openxmlformats.org/markup-compatibility/2006" xmlns:a14="http://schemas.microsoft.com/office/drawing/2010/main">
        <mc:Choice Requires="a14">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寻找参数</a:t>
                </a:r>
                <a14:m>
                  <m:oMath xmlns:m="http://schemas.openxmlformats.org/officeDocument/2006/math">
                    <m:r>
                      <a:rPr lang="en-US" altLang="zh-CN" sz="2800" i="1">
                        <a:latin typeface="Cambria Math" panose="02040503050406030204" pitchFamily="18" charset="0"/>
                      </a:rPr>
                      <m:t>𝒘</m:t>
                    </m:r>
                    <m:r>
                      <a:rPr lang="en-US" altLang="zh-CN" sz="2800" i="1">
                        <a:latin typeface="Cambria Math" panose="02040503050406030204" pitchFamily="18" charset="0"/>
                      </a:rPr>
                      <m:t>  </m:t>
                    </m:r>
                  </m:oMath>
                </a14:m>
                <a:r>
                  <a:rPr lang="en-US" altLang="zh-CN" sz="28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800" dirty="0">
                    <a:latin typeface="微软雅黑" panose="020B0503020204020204" pitchFamily="34" charset="-122"/>
                    <a:ea typeface="微软雅黑" panose="020B0503020204020204" pitchFamily="34" charset="-122"/>
                  </a:rPr>
                  <a:t>使得</a:t>
                </a:r>
                <a:r>
                  <a:rPr lang="en-US" altLang="zh-CN" sz="2800" i="1" dirty="0">
                    <a:latin typeface="微软雅黑" panose="020B0503020204020204" pitchFamily="34" charset="-122"/>
                    <a:ea typeface="微软雅黑" panose="020B0503020204020204" pitchFamily="34" charset="-122"/>
                  </a:rPr>
                  <a:t>L</a:t>
                </a:r>
                <a:r>
                  <a:rPr lang="en-US" altLang="zh-CN" sz="2800" dirty="0">
                    <a:latin typeface="微软雅黑" panose="020B0503020204020204" pitchFamily="34" charset="-122"/>
                    <a:ea typeface="微软雅黑" panose="020B0503020204020204" pitchFamily="34" charset="-122"/>
                  </a:rPr>
                  <a:t>(</a:t>
                </a:r>
                <a14:m>
                  <m:oMath xmlns:m="http://schemas.openxmlformats.org/officeDocument/2006/math">
                    <m:r>
                      <a:rPr lang="en-US" altLang="zh-CN" sz="2800" i="1">
                        <a:latin typeface="Cambria Math" panose="02040503050406030204" pitchFamily="18" charset="0"/>
                      </a:rPr>
                      <m:t>𝒘</m:t>
                    </m:r>
                  </m:oMath>
                </a14:m>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 最小</a:t>
                </a:r>
                <a:endParaRPr lang="en-US" altLang="zh-CN" sz="2600" dirty="0"/>
              </a:p>
            </p:txBody>
          </p:sp>
        </mc:Choice>
        <mc:Fallback xmlns="">
          <p:sp>
            <p:nvSpPr>
              <p:cNvPr id="33" name="内容占位符 2"/>
              <p:cNvSpPr txBox="1">
                <a:spLocks noRot="1" noChangeAspect="1" noMove="1" noResize="1" noEditPoints="1" noAdjustHandles="1" noChangeArrowheads="1" noChangeShapeType="1" noTextEdit="1"/>
              </p:cNvSpPr>
              <p:nvPr/>
            </p:nvSpPr>
            <p:spPr>
              <a:xfrm>
                <a:off x="293722" y="691951"/>
                <a:ext cx="11637087" cy="742954"/>
              </a:xfrm>
              <a:prstGeom prst="rect">
                <a:avLst/>
              </a:prstGeom>
              <a:blipFill rotWithShape="0">
                <a:blip r:embed="rId5"/>
                <a:stretch>
                  <a:fillRect l="-891" b="-12397"/>
                </a:stretch>
              </a:blipFill>
            </p:spPr>
            <p:txBody>
              <a:bodyPr/>
              <a:lstStyle/>
              <a:p>
                <a:r>
                  <a:rPr lang="zh-CN" altLang="en-US">
                    <a:noFill/>
                  </a:rPr>
                  <a:t> </a:t>
                </a:r>
              </a:p>
            </p:txBody>
          </p:sp>
        </mc:Fallback>
      </mc:AlternateContent>
      <p:grpSp>
        <p:nvGrpSpPr>
          <p:cNvPr id="12" name="组合 11"/>
          <p:cNvGrpSpPr/>
          <p:nvPr/>
        </p:nvGrpSpPr>
        <p:grpSpPr>
          <a:xfrm>
            <a:off x="123769" y="1702190"/>
            <a:ext cx="5075895" cy="4431324"/>
            <a:chOff x="467544" y="2209623"/>
            <a:chExt cx="3119754" cy="1728193"/>
          </a:xfrm>
        </p:grpSpPr>
        <p:pic>
          <p:nvPicPr>
            <p:cNvPr id="13" name="图片 12"/>
            <p:cNvPicPr>
              <a:picLocks noChangeAspect="1"/>
            </p:cNvPicPr>
            <p:nvPr/>
          </p:nvPicPr>
          <p:blipFill rotWithShape="1">
            <a:blip r:embed="rId6">
              <a:extLst>
                <a:ext uri="{28A0092B-C50C-407E-A947-70E740481C1C}">
                  <a14:useLocalDpi xmlns:a14="http://schemas.microsoft.com/office/drawing/2010/main" val="0"/>
                </a:ext>
              </a:extLst>
            </a:blip>
            <a:srcRect t="14420" r="56955" b="55083"/>
            <a:stretch/>
          </p:blipFill>
          <p:spPr>
            <a:xfrm>
              <a:off x="467544" y="2209623"/>
              <a:ext cx="3119754" cy="1728193"/>
            </a:xfrm>
            <a:prstGeom prst="rect">
              <a:avLst/>
            </a:prstGeom>
          </p:spPr>
        </p:pic>
        <mc:AlternateContent xmlns:mc="http://schemas.openxmlformats.org/markup-compatibility/2006" xmlns:a14="http://schemas.microsoft.com/office/drawing/2010/main">
          <mc:Choice Requires="a14">
            <p:sp>
              <p:nvSpPr>
                <p:cNvPr id="14" name="矩形 13"/>
                <p:cNvSpPr/>
                <p:nvPr/>
              </p:nvSpPr>
              <p:spPr>
                <a:xfrm>
                  <a:off x="1259632" y="2358648"/>
                  <a:ext cx="710555" cy="156041"/>
                </a:xfrm>
                <a:prstGeom prst="rect">
                  <a:avLst/>
                </a:prstGeom>
              </p:spPr>
              <p:txBody>
                <a:bodyPr wrap="none">
                  <a:spAutoFit/>
                </a:bodyPr>
                <a:lstStyle/>
                <a:p>
                  <a14:m>
                    <m:oMath xmlns:m="http://schemas.openxmlformats.org/officeDocument/2006/math">
                      <m:r>
                        <a:rPr lang="en-US" altLang="zh-CN" sz="2000" b="1" i="1" smtClean="0">
                          <a:solidFill>
                            <a:srgbClr val="C00000"/>
                          </a:solidFill>
                          <a:latin typeface="Cambria Math" panose="02040503050406030204" pitchFamily="18" charset="0"/>
                        </a:rPr>
                        <m:t>𝒘</m:t>
                      </m:r>
                    </m:oMath>
                  </a14:m>
                  <a:r>
                    <a:rPr lang="zh-CN" altLang="en-US" sz="2000" dirty="0">
                      <a:solidFill>
                        <a:srgbClr val="C00000"/>
                      </a:solidFill>
                      <a:latin typeface="微软雅黑 Light" panose="020B0502040204020203" pitchFamily="34" charset="-122"/>
                      <a:ea typeface="微软雅黑 Light" panose="020B0502040204020203" pitchFamily="34" charset="-122"/>
                    </a:rPr>
                    <a:t>初始值</a:t>
                  </a:r>
                </a:p>
              </p:txBody>
            </p:sp>
          </mc:Choice>
          <mc:Fallback xmlns="">
            <p:sp>
              <p:nvSpPr>
                <p:cNvPr id="14" name="矩形 13"/>
                <p:cNvSpPr>
                  <a:spLocks noRot="1" noChangeAspect="1" noMove="1" noResize="1" noEditPoints="1" noAdjustHandles="1" noChangeArrowheads="1" noChangeShapeType="1" noTextEdit="1"/>
                </p:cNvSpPr>
                <p:nvPr/>
              </p:nvSpPr>
              <p:spPr>
                <a:xfrm>
                  <a:off x="1259632" y="2358648"/>
                  <a:ext cx="710555" cy="156041"/>
                </a:xfrm>
                <a:prstGeom prst="rect">
                  <a:avLst/>
                </a:prstGeom>
                <a:blipFill rotWithShape="0">
                  <a:blip r:embed="rId7"/>
                  <a:stretch>
                    <a:fillRect t="-9091" r="-5291"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794734" y="3073720"/>
                  <a:ext cx="790359" cy="1560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000" i="1" smtClean="0">
                            <a:solidFill>
                              <a:srgbClr val="C00000"/>
                            </a:solidFill>
                            <a:latin typeface="Cambria Math" panose="02040503050406030204" pitchFamily="18" charset="0"/>
                            <a:ea typeface="微软雅黑" panose="020B0503020204020204" pitchFamily="34" charset="-122"/>
                          </a:rPr>
                          <m:t>不断</m:t>
                        </m:r>
                        <m:r>
                          <a:rPr lang="zh-CN" altLang="en-US" sz="2000">
                            <a:solidFill>
                              <a:srgbClr val="C00000"/>
                            </a:solidFill>
                            <a:latin typeface="Cambria Math" panose="02040503050406030204" pitchFamily="18" charset="0"/>
                            <a:ea typeface="微软雅黑" panose="020B0503020204020204" pitchFamily="34" charset="-122"/>
                          </a:rPr>
                          <m:t>下降</m:t>
                        </m:r>
                      </m:oMath>
                    </m:oMathPara>
                  </a14:m>
                  <a:endParaRPr lang="zh-CN" altLang="en-US" sz="2000" dirty="0">
                    <a:solidFill>
                      <a:srgbClr val="C00000"/>
                    </a:solidFill>
                    <a:latin typeface="微软雅黑 Light" panose="020B0502040204020203" pitchFamily="34" charset="-122"/>
                    <a:ea typeface="微软雅黑 Light" panose="020B0502040204020203" pitchFamily="34" charset="-122"/>
                  </a:endParaRPr>
                </a:p>
              </p:txBody>
            </p:sp>
          </mc:Choice>
          <mc:Fallback xmlns="">
            <p:sp>
              <p:nvSpPr>
                <p:cNvPr id="16" name="矩形 15"/>
                <p:cNvSpPr>
                  <a:spLocks noRot="1" noChangeAspect="1" noMove="1" noResize="1" noEditPoints="1" noAdjustHandles="1" noChangeArrowheads="1" noChangeShapeType="1" noTextEdit="1"/>
                </p:cNvSpPr>
                <p:nvPr/>
              </p:nvSpPr>
              <p:spPr>
                <a:xfrm>
                  <a:off x="2794734" y="3073720"/>
                  <a:ext cx="790359" cy="156041"/>
                </a:xfrm>
                <a:prstGeom prst="rect">
                  <a:avLst/>
                </a:prstGeom>
                <a:blipFill rotWithShape="0">
                  <a:blip r:embed="rId8"/>
                  <a:stretch>
                    <a:fillRect b="-1384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0" name="矩形 19"/>
              <p:cNvSpPr/>
              <p:nvPr/>
            </p:nvSpPr>
            <p:spPr>
              <a:xfrm>
                <a:off x="5910801" y="1162754"/>
                <a:ext cx="5042102" cy="3323987"/>
              </a:xfrm>
              <a:prstGeom prst="rect">
                <a:avLst/>
              </a:prstGeom>
            </p:spPr>
            <p:txBody>
              <a:bodyPr wrap="square">
                <a:spAutoFit/>
              </a:bodyPr>
              <a:lstStyle/>
              <a:p>
                <a:pPr algn="just">
                  <a:lnSpc>
                    <a:spcPct val="150000"/>
                  </a:lnSpc>
                </a:pPr>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梯度下降法迭代寻找参数</a:t>
                </a:r>
                <a:endParaRPr lang="en-US" altLang="zh-CN"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a:p>
                <a:pPr marL="342900" indent="-342900" algn="just">
                  <a:lnSpc>
                    <a:spcPct val="150000"/>
                  </a:lnSpc>
                  <a:buFont typeface="Wingdings" panose="05000000000000000000" pitchFamily="2" charset="2"/>
                  <a:buChar char="Ø"/>
                </a:pPr>
                <a:r>
                  <a:rPr lang="zh-CN" altLang="en-US" sz="20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初始先给定一</a:t>
                </a:r>
                <a:r>
                  <a:rPr lang="zh-CN" altLang="en-US" sz="2000" kern="0" dirty="0">
                    <a:latin typeface="微软雅黑 Light" panose="020B0502040204020203" pitchFamily="34" charset="-122"/>
                    <a:ea typeface="微软雅黑 Light" panose="020B0502040204020203" pitchFamily="34" charset="-122"/>
                    <a:cs typeface="宋体" panose="02010600030101010101" pitchFamily="2" charset="-122"/>
                  </a:rPr>
                  <a:t>个</a:t>
                </a:r>
                <a14:m>
                  <m:oMath xmlns:m="http://schemas.openxmlformats.org/officeDocument/2006/math">
                    <m:r>
                      <a:rPr lang="en-US" altLang="zh-CN" sz="2000" b="1" i="1" smtClean="0">
                        <a:latin typeface="Cambria Math" panose="02040503050406030204" pitchFamily="18" charset="0"/>
                        <a:ea typeface="微软雅黑 Light" panose="020B0502040204020203" pitchFamily="34" charset="-122"/>
                      </a:rPr>
                      <m:t>𝒘</m:t>
                    </m:r>
                  </m:oMath>
                </a14:m>
                <a:r>
                  <a:rPr lang="zh-CN" altLang="en-US" sz="2000" dirty="0">
                    <a:latin typeface="微软雅黑 Light" panose="020B0502040204020203" pitchFamily="34" charset="-122"/>
                    <a:ea typeface="微软雅黑 Light" panose="020B0502040204020203" pitchFamily="34" charset="-122"/>
                  </a:rPr>
                  <a:t>，如</a:t>
                </a:r>
                <a14:m>
                  <m:oMath xmlns:m="http://schemas.openxmlformats.org/officeDocument/2006/math">
                    <m:r>
                      <a:rPr lang="en-US" altLang="zh-CN" sz="2000" b="1" i="1" smtClean="0">
                        <a:latin typeface="Cambria Math" panose="02040503050406030204" pitchFamily="18" charset="0"/>
                      </a:rPr>
                      <m:t>𝟎</m:t>
                    </m:r>
                  </m:oMath>
                </a14:m>
                <a:r>
                  <a:rPr lang="zh-CN" altLang="en-US" sz="2000" dirty="0">
                    <a:latin typeface="微软雅黑 Light" panose="020B0502040204020203" pitchFamily="34" charset="-122"/>
                    <a:ea typeface="微软雅黑 Light" panose="020B0502040204020203" pitchFamily="34" charset="-122"/>
                  </a:rPr>
                  <a:t>向量或随机向量</a:t>
                </a:r>
                <a:endParaRPr lang="en-US" altLang="zh-CN" sz="2000" dirty="0">
                  <a:latin typeface="微软雅黑 Light" panose="020B0502040204020203" pitchFamily="34" charset="-122"/>
                  <a:ea typeface="微软雅黑 Light" panose="020B0502040204020203" pitchFamily="34" charset="-122"/>
                </a:endParaRPr>
              </a:p>
              <a:p>
                <a:pPr marL="342900" indent="-342900" algn="just">
                  <a:lnSpc>
                    <a:spcPct val="150000"/>
                  </a:lnSpc>
                  <a:buFont typeface="Wingdings" panose="05000000000000000000" pitchFamily="2" charset="2"/>
                  <a:buChar char="Ø"/>
                </a:pPr>
                <a:r>
                  <a:rPr lang="zh-CN" altLang="en-US" sz="2000" dirty="0">
                    <a:latin typeface="微软雅黑 Light" panose="020B0502040204020203" pitchFamily="34" charset="-122"/>
                    <a:ea typeface="微软雅黑 Light" panose="020B0502040204020203" pitchFamily="34" charset="-122"/>
                  </a:rPr>
                  <a:t>沿着梯度下降的方向进行迭代，使更新后的</a:t>
                </a:r>
                <a14:m>
                  <m:oMath xmlns:m="http://schemas.openxmlformats.org/officeDocument/2006/math">
                    <m:r>
                      <a:rPr lang="en-US" altLang="zh-CN" sz="2000" b="0" i="1" smtClean="0">
                        <a:latin typeface="Cambria Math" panose="02040503050406030204" pitchFamily="18" charset="0"/>
                      </a:rPr>
                      <m:t>𝐿</m:t>
                    </m:r>
                    <m:r>
                      <a:rPr lang="en-US" altLang="zh-CN" sz="2000" b="0" i="1" smtClean="0">
                        <a:latin typeface="Cambria Math" panose="02040503050406030204" pitchFamily="18" charset="0"/>
                      </a:rPr>
                      <m:t>(</m:t>
                    </m:r>
                    <m:r>
                      <a:rPr lang="en-US" altLang="zh-CN" b="1" i="1" smtClean="0">
                        <a:latin typeface="Cambria Math" panose="02040503050406030204" pitchFamily="18" charset="0"/>
                        <a:ea typeface="微软雅黑 Light" panose="020B0502040204020203" pitchFamily="34" charset="-122"/>
                      </a:rPr>
                      <m:t>𝒘</m:t>
                    </m:r>
                    <m:r>
                      <a:rPr lang="en-US" altLang="zh-CN" sz="2000" b="1" i="1" smtClean="0">
                        <a:latin typeface="Cambria Math" panose="02040503050406030204" pitchFamily="18" charset="0"/>
                      </a:rPr>
                      <m:t>)</m:t>
                    </m:r>
                  </m:oMath>
                </a14:m>
                <a:r>
                  <a:rPr lang="zh-CN" altLang="en-US" i="1" dirty="0">
                    <a:latin typeface="微软雅黑 Light" panose="020B0502040204020203" pitchFamily="34" charset="-122"/>
                    <a:ea typeface="微软雅黑 Light" panose="020B0502040204020203" pitchFamily="34" charset="-122"/>
                  </a:rPr>
                  <a:t> </a:t>
                </a:r>
                <a:r>
                  <a:rPr lang="zh-CN" altLang="en-US" sz="2000" dirty="0">
                    <a:latin typeface="微软雅黑 Light" panose="020B0502040204020203" pitchFamily="34" charset="-122"/>
                    <a:ea typeface="微软雅黑 Light" panose="020B0502040204020203" pitchFamily="34" charset="-122"/>
                  </a:rPr>
                  <a:t>不断变小</a:t>
                </a:r>
                <a:endParaRPr lang="en-US" altLang="zh-CN" sz="2000" dirty="0">
                  <a:latin typeface="微软雅黑 Light" panose="020B0502040204020203" pitchFamily="34" charset="-122"/>
                  <a:ea typeface="微软雅黑 Light" panose="020B0502040204020203" pitchFamily="34" charset="-122"/>
                </a:endParaRPr>
              </a:p>
              <a:p>
                <a:pPr marL="342900" indent="-342900" algn="just">
                  <a:lnSpc>
                    <a:spcPct val="150000"/>
                  </a:lnSpc>
                  <a:buFont typeface="Wingdings" panose="05000000000000000000" pitchFamily="2" charset="2"/>
                  <a:buChar char="Ø"/>
                </a:pPr>
                <a:endParaRPr lang="en-US" altLang="zh-CN" sz="2000" dirty="0">
                  <a:latin typeface="微软雅黑 Light" panose="020B0502040204020203" pitchFamily="34" charset="-122"/>
                  <a:ea typeface="微软雅黑 Light" panose="020B0502040204020203" pitchFamily="34" charset="-122"/>
                </a:endParaRPr>
              </a:p>
              <a:p>
                <a:pPr marL="342900" indent="-342900" algn="just">
                  <a:lnSpc>
                    <a:spcPct val="150000"/>
                  </a:lnSpc>
                  <a:buFont typeface="Wingdings" panose="05000000000000000000" pitchFamily="2" charset="2"/>
                  <a:buChar char="Ø"/>
                </a:pPr>
                <a:endParaRPr lang="en-US" altLang="zh-CN" sz="2000" dirty="0">
                  <a:latin typeface="微软雅黑 Light" panose="020B0502040204020203" pitchFamily="34" charset="-122"/>
                  <a:ea typeface="微软雅黑 Light" panose="020B0502040204020203" pitchFamily="34" charset="-122"/>
                </a:endParaRPr>
              </a:p>
              <a:p>
                <a:pPr marL="342900" indent="-342900" algn="just">
                  <a:lnSpc>
                    <a:spcPct val="150000"/>
                  </a:lnSpc>
                  <a:buFont typeface="Wingdings" panose="05000000000000000000" pitchFamily="2" charset="2"/>
                  <a:buChar char="Ø"/>
                </a:pPr>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20" name="矩形 19"/>
              <p:cNvSpPr>
                <a:spLocks noRot="1" noChangeAspect="1" noMove="1" noResize="1" noEditPoints="1" noAdjustHandles="1" noChangeArrowheads="1" noChangeShapeType="1" noTextEdit="1"/>
              </p:cNvSpPr>
              <p:nvPr/>
            </p:nvSpPr>
            <p:spPr>
              <a:xfrm>
                <a:off x="5910801" y="1162754"/>
                <a:ext cx="5042102" cy="3323987"/>
              </a:xfrm>
              <a:prstGeom prst="rect">
                <a:avLst/>
              </a:prstGeom>
              <a:blipFill>
                <a:blip r:embed="rId9"/>
                <a:stretch>
                  <a:fillRect l="-1330" r="-12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6116904" y="3539018"/>
                <a:ext cx="4248472" cy="6190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ea typeface="微软雅黑 Light" panose="020B0502040204020203" pitchFamily="34" charset="-122"/>
                        </a:rPr>
                        <m:t>𝒘</m:t>
                      </m:r>
                      <m:r>
                        <a:rPr lang="en-US" altLang="zh-CN" b="1" i="1" smtClean="0">
                          <a:solidFill>
                            <a:schemeClr val="tx1"/>
                          </a:solidFill>
                          <a:latin typeface="Cambria Math" panose="02040503050406030204" pitchFamily="18" charset="0"/>
                        </a:rPr>
                        <m:t>=</m:t>
                      </m:r>
                      <m:r>
                        <a:rPr lang="en-US" altLang="zh-CN" b="1" i="1" smtClean="0">
                          <a:latin typeface="Cambria Math" panose="02040503050406030204" pitchFamily="18" charset="0"/>
                          <a:ea typeface="微软雅黑 Light" panose="020B0502040204020203" pitchFamily="34" charset="-122"/>
                        </a:rPr>
                        <m:t>𝒘</m:t>
                      </m:r>
                      <m:r>
                        <a:rPr lang="en-US" altLang="zh-CN" b="1" i="1" smtClean="0">
                          <a:latin typeface="Cambria Math" panose="02040503050406030204" pitchFamily="18" charset="0"/>
                        </a:rPr>
                        <m:t>−</m:t>
                      </m:r>
                      <m:r>
                        <a:rPr lang="zh-CN" altLang="en-US" b="1" i="1" smtClean="0">
                          <a:latin typeface="Cambria Math" panose="02040503050406030204" pitchFamily="18" charset="0"/>
                        </a:rPr>
                        <m:t>𝜶</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m:t>
                          </m:r>
                          <m:r>
                            <a:rPr lang="en-US" altLang="zh-CN" b="1" i="1" smtClean="0">
                              <a:latin typeface="Cambria Math" panose="02040503050406030204" pitchFamily="18" charset="0"/>
                            </a:rPr>
                            <m:t>𝑳</m:t>
                          </m:r>
                          <m:r>
                            <a:rPr lang="en-US" altLang="zh-CN" b="1" i="1" smtClean="0">
                              <a:latin typeface="Cambria Math" panose="02040503050406030204" pitchFamily="18" charset="0"/>
                            </a:rPr>
                            <m:t>(</m:t>
                          </m:r>
                          <m:r>
                            <a:rPr lang="en-US" altLang="zh-CN" b="1" i="1" smtClean="0">
                              <a:latin typeface="Cambria Math" panose="02040503050406030204" pitchFamily="18" charset="0"/>
                              <a:ea typeface="微软雅黑 Light" panose="020B0502040204020203" pitchFamily="34" charset="-122"/>
                            </a:rPr>
                            <m:t>𝒘</m:t>
                          </m:r>
                          <m:r>
                            <a:rPr lang="en-US" altLang="zh-CN" b="1" i="1" smtClean="0">
                              <a:latin typeface="Cambria Math" panose="02040503050406030204" pitchFamily="18" charset="0"/>
                            </a:rPr>
                            <m:t>)</m:t>
                          </m:r>
                        </m:num>
                        <m:den>
                          <m:r>
                            <a:rPr lang="en-US" altLang="zh-CN" b="1" i="1" smtClean="0">
                              <a:latin typeface="Cambria Math" panose="02040503050406030204" pitchFamily="18" charset="0"/>
                            </a:rPr>
                            <m:t>𝝏</m:t>
                          </m:r>
                          <m:r>
                            <a:rPr lang="en-US" altLang="zh-CN" b="1" i="1" smtClean="0">
                              <a:latin typeface="Cambria Math" panose="02040503050406030204" pitchFamily="18" charset="0"/>
                              <a:ea typeface="微软雅黑 Light" panose="020B0502040204020203" pitchFamily="34" charset="-122"/>
                            </a:rPr>
                            <m:t>𝒘</m:t>
                          </m:r>
                        </m:den>
                      </m:f>
                    </m:oMath>
                  </m:oMathPara>
                </a14:m>
                <a:endParaRPr lang="zh-CN" altLang="en-US" b="1" dirty="0">
                  <a:solidFill>
                    <a:schemeClr val="tx1"/>
                  </a:solidFill>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6116904" y="3539018"/>
                <a:ext cx="4248472" cy="619016"/>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7272091" y="4340574"/>
                <a:ext cx="2255746" cy="369332"/>
              </a:xfrm>
              <a:prstGeom prst="rect">
                <a:avLst/>
              </a:prstGeom>
            </p:spPr>
            <p:txBody>
              <a:bodyPr wrap="none">
                <a:spAutoFit/>
              </a:bodyPr>
              <a:lstStyle/>
              <a:p>
                <a14:m>
                  <m:oMath xmlns:m="http://schemas.openxmlformats.org/officeDocument/2006/math">
                    <m:r>
                      <a:rPr lang="zh-CN" altLang="en-US" b="1" i="1" smtClean="0">
                        <a:latin typeface="Cambria Math" panose="02040503050406030204" pitchFamily="18" charset="0"/>
                      </a:rPr>
                      <m:t>𝜶</m:t>
                    </m:r>
                  </m:oMath>
                </a14:m>
                <a:r>
                  <a:rPr lang="zh-CN" altLang="en-US" dirty="0">
                    <a:latin typeface="微软雅黑 Light" panose="020B0502040204020203" pitchFamily="34" charset="-122"/>
                    <a:ea typeface="微软雅黑 Light" panose="020B0502040204020203" pitchFamily="34" charset="-122"/>
                  </a:rPr>
                  <a:t> 称为学习率或步长</a:t>
                </a:r>
              </a:p>
            </p:txBody>
          </p:sp>
        </mc:Choice>
        <mc:Fallback xmlns="">
          <p:sp>
            <p:nvSpPr>
              <p:cNvPr id="22" name="矩形 21"/>
              <p:cNvSpPr>
                <a:spLocks noRot="1" noChangeAspect="1" noMove="1" noResize="1" noEditPoints="1" noAdjustHandles="1" noChangeArrowheads="1" noChangeShapeType="1" noTextEdit="1"/>
              </p:cNvSpPr>
              <p:nvPr/>
            </p:nvSpPr>
            <p:spPr>
              <a:xfrm>
                <a:off x="7272091" y="4340574"/>
                <a:ext cx="2255746" cy="369332"/>
              </a:xfrm>
              <a:prstGeom prst="rect">
                <a:avLst/>
              </a:prstGeom>
              <a:blipFill rotWithShape="0">
                <a:blip r:embed="rId11"/>
                <a:stretch>
                  <a:fillRect t="-8197" r="-1892" b="-24590"/>
                </a:stretch>
              </a:blipFill>
            </p:spPr>
            <p:txBody>
              <a:bodyPr/>
              <a:lstStyle/>
              <a:p>
                <a:r>
                  <a:rPr lang="zh-CN" altLang="en-US">
                    <a:noFill/>
                  </a:rPr>
                  <a:t> </a:t>
                </a:r>
              </a:p>
            </p:txBody>
          </p:sp>
        </mc:Fallback>
      </mc:AlternateContent>
      <p:sp>
        <p:nvSpPr>
          <p:cNvPr id="23" name="箭头: 右 5">
            <a:extLst>
              <a:ext uri="{FF2B5EF4-FFF2-40B4-BE49-F238E27FC236}">
                <a16:creationId xmlns:a16="http://schemas.microsoft.com/office/drawing/2014/main" id="{8076C8C5-E1BA-461B-8DCE-B49E9E05B680}"/>
              </a:ext>
            </a:extLst>
          </p:cNvPr>
          <p:cNvSpPr/>
          <p:nvPr/>
        </p:nvSpPr>
        <p:spPr>
          <a:xfrm rot="5400000">
            <a:off x="8100846" y="4786108"/>
            <a:ext cx="185057" cy="1825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AF46C995-10A4-42F3-BCD8-3CF893A26733}"/>
                  </a:ext>
                </a:extLst>
              </p:cNvPr>
              <p:cNvSpPr/>
              <p:nvPr/>
            </p:nvSpPr>
            <p:spPr>
              <a:xfrm>
                <a:off x="6386860" y="4997718"/>
                <a:ext cx="4818169" cy="923330"/>
              </a:xfrm>
              <a:prstGeom prst="rect">
                <a:avLst/>
              </a:prstGeom>
            </p:spPr>
            <p:txBody>
              <a:bodyPr wrap="square">
                <a:spAutoFit/>
              </a:bodyPr>
              <a:lstStyle/>
              <a:p>
                <a:pPr algn="just">
                  <a:lnSpc>
                    <a:spcPct val="150000"/>
                  </a:lnSpc>
                </a:pPr>
                <a:r>
                  <a:rPr lang="zh-CN" altLang="en-US" dirty="0">
                    <a:latin typeface="微软雅黑 Light" panose="020B0502040204020203" pitchFamily="34" charset="-122"/>
                    <a:ea typeface="微软雅黑 Light" panose="020B0502040204020203" pitchFamily="34" charset="-122"/>
                  </a:rPr>
                  <a:t>迭代至找到使得</a:t>
                </a:r>
                <a14:m>
                  <m:oMath xmlns:m="http://schemas.openxmlformats.org/officeDocument/2006/math">
                    <m:r>
                      <a:rPr lang="en-US" altLang="zh-CN" b="0" i="1" smtClean="0">
                        <a:latin typeface="Cambria Math" panose="02040503050406030204" pitchFamily="18" charset="0"/>
                      </a:rPr>
                      <m:t>𝐿</m:t>
                    </m:r>
                    <m:r>
                      <a:rPr lang="en-US" altLang="zh-CN" i="1">
                        <a:latin typeface="Cambria Math" panose="02040503050406030204" pitchFamily="18" charset="0"/>
                      </a:rPr>
                      <m:t>(</m:t>
                    </m:r>
                    <m:r>
                      <a:rPr lang="en-US" altLang="zh-CN" b="1" i="1" smtClean="0">
                        <a:latin typeface="Cambria Math" panose="02040503050406030204" pitchFamily="18" charset="0"/>
                        <a:ea typeface="微软雅黑 Light" panose="020B0502040204020203" pitchFamily="34" charset="-122"/>
                      </a:rPr>
                      <m:t>𝒘</m:t>
                    </m:r>
                    <m:r>
                      <a:rPr lang="en-US" altLang="zh-CN" b="1" i="1">
                        <a:latin typeface="Cambria Math" panose="02040503050406030204" pitchFamily="18" charset="0"/>
                      </a:rPr>
                      <m:t>)</m:t>
                    </m:r>
                  </m:oMath>
                </a14:m>
                <a:r>
                  <a:rPr lang="zh-CN" altLang="en-US" dirty="0">
                    <a:latin typeface="微软雅黑 Light" panose="020B0502040204020203" pitchFamily="34" charset="-122"/>
                    <a:ea typeface="微软雅黑 Light" panose="020B0502040204020203" pitchFamily="34" charset="-122"/>
                  </a:rPr>
                  <a:t>最小的</a:t>
                </a:r>
                <a14:m>
                  <m:oMath xmlns:m="http://schemas.openxmlformats.org/officeDocument/2006/math">
                    <m:r>
                      <a:rPr lang="en-US" altLang="zh-CN" b="1" i="1" smtClean="0">
                        <a:latin typeface="Cambria Math" panose="02040503050406030204" pitchFamily="18" charset="0"/>
                        <a:ea typeface="微软雅黑 Light" panose="020B0502040204020203" pitchFamily="34" charset="-122"/>
                      </a:rPr>
                      <m:t>𝒘</m:t>
                    </m:r>
                  </m:oMath>
                </a14:m>
                <a:r>
                  <a:rPr lang="zh-CN" altLang="en-US" dirty="0">
                    <a:latin typeface="微软雅黑 Light" panose="020B0502040204020203" pitchFamily="34" charset="-122"/>
                    <a:ea typeface="微软雅黑 Light" panose="020B0502040204020203" pitchFamily="34" charset="-122"/>
                  </a:rPr>
                  <a:t>值停止，从而得到回归模型参数</a:t>
                </a:r>
                <a:endParaRPr lang="en-US" altLang="zh-CN" dirty="0">
                  <a:latin typeface="微软雅黑 Light" panose="020B0502040204020203" pitchFamily="34" charset="-122"/>
                  <a:ea typeface="微软雅黑 Light" panose="020B0502040204020203" pitchFamily="34" charset="-122"/>
                </a:endParaRPr>
              </a:p>
            </p:txBody>
          </p:sp>
        </mc:Choice>
        <mc:Fallback xmlns="">
          <p:sp>
            <p:nvSpPr>
              <p:cNvPr id="24" name="矩形 23">
                <a:extLst>
                  <a:ext uri="{FF2B5EF4-FFF2-40B4-BE49-F238E27FC236}">
                    <a16:creationId xmlns:a16="http://schemas.microsoft.com/office/drawing/2014/main" xmlns:a14="http://schemas.microsoft.com/office/drawing/2010/main" xmlns="" id="{AF46C995-10A4-42F3-BCD8-3CF893A26733}"/>
                  </a:ext>
                </a:extLst>
              </p:cNvPr>
              <p:cNvSpPr>
                <a:spLocks noRot="1" noChangeAspect="1" noMove="1" noResize="1" noEditPoints="1" noAdjustHandles="1" noChangeArrowheads="1" noChangeShapeType="1" noTextEdit="1"/>
              </p:cNvSpPr>
              <p:nvPr/>
            </p:nvSpPr>
            <p:spPr>
              <a:xfrm>
                <a:off x="6386860" y="4997718"/>
                <a:ext cx="4818169" cy="923330"/>
              </a:xfrm>
              <a:prstGeom prst="rect">
                <a:avLst/>
              </a:prstGeom>
              <a:blipFill rotWithShape="0">
                <a:blip r:embed="rId12"/>
                <a:stretch>
                  <a:fillRect l="-1139" r="-1013" b="-4636"/>
                </a:stretch>
              </a:blipFill>
            </p:spPr>
            <p:txBody>
              <a:bodyPr/>
              <a:lstStyle/>
              <a:p>
                <a:r>
                  <a:rPr lang="zh-CN" altLang="en-US">
                    <a:noFill/>
                  </a:rPr>
                  <a:t> </a:t>
                </a:r>
              </a:p>
            </p:txBody>
          </p:sp>
        </mc:Fallback>
      </mc:AlternateContent>
      <p:sp>
        <p:nvSpPr>
          <p:cNvPr id="25" name="灯片编号占位符 8">
            <a:extLst>
              <a:ext uri="{FF2B5EF4-FFF2-40B4-BE49-F238E27FC236}">
                <a16:creationId xmlns:a16="http://schemas.microsoft.com/office/drawing/2014/main" id="{EC61887C-8282-4C39-B14F-6BBCA6169693}"/>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12</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817068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1221647"/>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人工神经网络</a:t>
            </a:r>
            <a:r>
              <a:rPr lang="zh-CN" altLang="en-US" sz="2800" dirty="0"/>
              <a:t>是一种应用类似于大脑神经突触联接的结构进行信息处理的数学模型。</a:t>
            </a:r>
            <a:endParaRPr lang="en-US" altLang="zh-CN" sz="2800" b="1" dirty="0"/>
          </a:p>
        </p:txBody>
      </p:sp>
      <p:sp>
        <p:nvSpPr>
          <p:cNvPr id="9" name="文本框 20"/>
          <p:cNvSpPr txBox="1"/>
          <p:nvPr/>
        </p:nvSpPr>
        <p:spPr>
          <a:xfrm>
            <a:off x="1507068" y="2148516"/>
            <a:ext cx="2791149"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微软雅黑 Light" panose="020B0502040204020203" pitchFamily="34" charset="-122"/>
                <a:ea typeface="微软雅黑 Light" panose="020B0502040204020203" pitchFamily="34" charset="-122"/>
              </a:rPr>
              <a:t>神经元作为基本单元（</a:t>
            </a:r>
            <a:r>
              <a:rPr lang="en-US" altLang="zh-CN" sz="1600" dirty="0">
                <a:latin typeface="微软雅黑 Light" panose="020B0502040204020203" pitchFamily="34" charset="-122"/>
                <a:ea typeface="微软雅黑 Light" panose="020B0502040204020203" pitchFamily="34" charset="-122"/>
              </a:rPr>
              <a:t>1911</a:t>
            </a:r>
            <a:r>
              <a:rPr lang="zh-CN" altLang="en-US" sz="1600" dirty="0">
                <a:latin typeface="微软雅黑 Light" panose="020B0502040204020203" pitchFamily="34" charset="-122"/>
                <a:ea typeface="微软雅黑 Light" panose="020B0502040204020203" pitchFamily="34" charset="-122"/>
              </a:rPr>
              <a:t>）</a:t>
            </a:r>
          </a:p>
        </p:txBody>
      </p:sp>
      <p:cxnSp>
        <p:nvCxnSpPr>
          <p:cNvPr id="10" name="直接箭头连接符 9"/>
          <p:cNvCxnSpPr>
            <a:stCxn id="9" idx="2"/>
            <a:endCxn id="42" idx="0"/>
          </p:cNvCxnSpPr>
          <p:nvPr/>
        </p:nvCxnSpPr>
        <p:spPr>
          <a:xfrm flipH="1">
            <a:off x="1913705" y="2487070"/>
            <a:ext cx="988938" cy="3313828"/>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26"/>
          <p:cNvSpPr txBox="1"/>
          <p:nvPr/>
        </p:nvSpPr>
        <p:spPr>
          <a:xfrm>
            <a:off x="4965040" y="3525906"/>
            <a:ext cx="1563248"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err="1">
                <a:latin typeface="微软雅黑 Light" panose="020B0502040204020203" pitchFamily="34" charset="-122"/>
                <a:ea typeface="微软雅黑 Light" panose="020B0502040204020203" pitchFamily="34" charset="-122"/>
              </a:rPr>
              <a:t>LeNet</a:t>
            </a:r>
            <a:r>
              <a:rPr lang="zh-CN" altLang="en-US" sz="1600" dirty="0">
                <a:latin typeface="微软雅黑 Light" panose="020B0502040204020203" pitchFamily="34" charset="-122"/>
                <a:ea typeface="微软雅黑 Light" panose="020B0502040204020203" pitchFamily="34" charset="-122"/>
              </a:rPr>
              <a:t>（</a:t>
            </a:r>
            <a:r>
              <a:rPr lang="en-US" altLang="zh-CN" sz="1600" dirty="0">
                <a:latin typeface="微软雅黑 Light" panose="020B0502040204020203" pitchFamily="34" charset="-122"/>
                <a:ea typeface="微软雅黑 Light" panose="020B0502040204020203" pitchFamily="34" charset="-122"/>
              </a:rPr>
              <a:t>1998</a:t>
            </a:r>
            <a:r>
              <a:rPr lang="zh-CN" altLang="en-US" sz="1600" dirty="0">
                <a:latin typeface="微软雅黑 Light" panose="020B0502040204020203" pitchFamily="34" charset="-122"/>
                <a:ea typeface="微软雅黑 Light" panose="020B0502040204020203" pitchFamily="34" charset="-122"/>
              </a:rPr>
              <a:t>）</a:t>
            </a:r>
          </a:p>
        </p:txBody>
      </p:sp>
      <p:cxnSp>
        <p:nvCxnSpPr>
          <p:cNvPr id="12" name="直接箭头连接符 11"/>
          <p:cNvCxnSpPr>
            <a:stCxn id="11" idx="2"/>
          </p:cNvCxnSpPr>
          <p:nvPr/>
        </p:nvCxnSpPr>
        <p:spPr>
          <a:xfrm flipH="1">
            <a:off x="4509539" y="3864460"/>
            <a:ext cx="1237125" cy="1903807"/>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32"/>
          <p:cNvSpPr txBox="1"/>
          <p:nvPr/>
        </p:nvSpPr>
        <p:spPr>
          <a:xfrm>
            <a:off x="3858662" y="3231164"/>
            <a:ext cx="1691489"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微软雅黑 Light" panose="020B0502040204020203" pitchFamily="34" charset="-122"/>
                <a:ea typeface="微软雅黑 Light" panose="020B0502040204020203" pitchFamily="34" charset="-122"/>
              </a:rPr>
              <a:t>感知机（</a:t>
            </a:r>
            <a:r>
              <a:rPr lang="en-US" altLang="zh-CN" sz="1600" dirty="0">
                <a:latin typeface="微软雅黑 Light" panose="020B0502040204020203" pitchFamily="34" charset="-122"/>
                <a:ea typeface="微软雅黑 Light" panose="020B0502040204020203" pitchFamily="34" charset="-122"/>
              </a:rPr>
              <a:t>1957</a:t>
            </a:r>
            <a:r>
              <a:rPr lang="zh-CN" altLang="en-US" sz="1600" dirty="0">
                <a:latin typeface="微软雅黑 Light" panose="020B0502040204020203" pitchFamily="34" charset="-122"/>
                <a:ea typeface="微软雅黑 Light" panose="020B0502040204020203" pitchFamily="34" charset="-122"/>
              </a:rPr>
              <a:t>）</a:t>
            </a:r>
          </a:p>
        </p:txBody>
      </p:sp>
      <p:cxnSp>
        <p:nvCxnSpPr>
          <p:cNvPr id="14" name="直接箭头连接符 13"/>
          <p:cNvCxnSpPr>
            <a:stCxn id="13" idx="2"/>
            <a:endCxn id="43" idx="0"/>
          </p:cNvCxnSpPr>
          <p:nvPr/>
        </p:nvCxnSpPr>
        <p:spPr>
          <a:xfrm flipH="1">
            <a:off x="3353164" y="3569718"/>
            <a:ext cx="1351243" cy="2231179"/>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36"/>
          <p:cNvSpPr txBox="1"/>
          <p:nvPr/>
        </p:nvSpPr>
        <p:spPr>
          <a:xfrm>
            <a:off x="1964234" y="2770061"/>
            <a:ext cx="3485249"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微软雅黑 Light" panose="020B0502040204020203" pitchFamily="34" charset="-122"/>
                <a:ea typeface="微软雅黑 Light" panose="020B0502040204020203" pitchFamily="34" charset="-122"/>
              </a:rPr>
              <a:t>McCulloch-Pitts</a:t>
            </a:r>
            <a:r>
              <a:rPr lang="zh-CN" altLang="en-US" sz="1600" dirty="0">
                <a:latin typeface="微软雅黑 Light" panose="020B0502040204020203" pitchFamily="34" charset="-122"/>
                <a:ea typeface="微软雅黑 Light" panose="020B0502040204020203" pitchFamily="34" charset="-122"/>
              </a:rPr>
              <a:t>神经元模型（</a:t>
            </a:r>
            <a:r>
              <a:rPr lang="en-US" altLang="zh-CN" sz="1600" dirty="0">
                <a:latin typeface="微软雅黑 Light" panose="020B0502040204020203" pitchFamily="34" charset="-122"/>
                <a:ea typeface="微软雅黑 Light" panose="020B0502040204020203" pitchFamily="34" charset="-122"/>
              </a:rPr>
              <a:t>1943</a:t>
            </a:r>
            <a:r>
              <a:rPr lang="zh-CN" altLang="en-US" sz="1600" dirty="0">
                <a:latin typeface="微软雅黑 Light" panose="020B0502040204020203" pitchFamily="34" charset="-122"/>
                <a:ea typeface="微软雅黑 Light" panose="020B0502040204020203" pitchFamily="34" charset="-122"/>
              </a:rPr>
              <a:t>）</a:t>
            </a:r>
          </a:p>
        </p:txBody>
      </p:sp>
      <p:cxnSp>
        <p:nvCxnSpPr>
          <p:cNvPr id="18" name="直接箭头连接符 17"/>
          <p:cNvCxnSpPr>
            <a:stCxn id="16" idx="2"/>
          </p:cNvCxnSpPr>
          <p:nvPr/>
        </p:nvCxnSpPr>
        <p:spPr>
          <a:xfrm flipH="1">
            <a:off x="2796090" y="3108615"/>
            <a:ext cx="910769" cy="268634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45"/>
          <p:cNvSpPr txBox="1"/>
          <p:nvPr/>
        </p:nvSpPr>
        <p:spPr>
          <a:xfrm>
            <a:off x="6399282" y="2055161"/>
            <a:ext cx="1659429"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微软雅黑 Light" panose="020B0502040204020203" pitchFamily="34" charset="-122"/>
                <a:ea typeface="微软雅黑 Light" panose="020B0502040204020203" pitchFamily="34" charset="-122"/>
              </a:rPr>
              <a:t>DNN</a:t>
            </a:r>
            <a:r>
              <a:rPr lang="zh-CN" altLang="en-US" sz="1600" dirty="0">
                <a:latin typeface="微软雅黑 Light" panose="020B0502040204020203" pitchFamily="34" charset="-122"/>
                <a:ea typeface="微软雅黑 Light" panose="020B0502040204020203" pitchFamily="34" charset="-122"/>
              </a:rPr>
              <a:t>（</a:t>
            </a:r>
            <a:r>
              <a:rPr lang="en-US" altLang="zh-CN" sz="1600" dirty="0">
                <a:latin typeface="微软雅黑 Light" panose="020B0502040204020203" pitchFamily="34" charset="-122"/>
                <a:ea typeface="微软雅黑 Light" panose="020B0502040204020203" pitchFamily="34" charset="-122"/>
              </a:rPr>
              <a:t>2006*</a:t>
            </a:r>
            <a:r>
              <a:rPr lang="zh-CN" altLang="en-US" sz="1600" dirty="0">
                <a:latin typeface="微软雅黑 Light" panose="020B0502040204020203" pitchFamily="34" charset="-122"/>
                <a:ea typeface="微软雅黑 Light" panose="020B0502040204020203" pitchFamily="34" charset="-122"/>
              </a:rPr>
              <a:t>）</a:t>
            </a:r>
          </a:p>
        </p:txBody>
      </p:sp>
      <p:cxnSp>
        <p:nvCxnSpPr>
          <p:cNvPr id="20" name="直接箭头连接符 19"/>
          <p:cNvCxnSpPr>
            <a:stCxn id="19" idx="2"/>
          </p:cNvCxnSpPr>
          <p:nvPr/>
        </p:nvCxnSpPr>
        <p:spPr>
          <a:xfrm flipH="1">
            <a:off x="6923677" y="2393715"/>
            <a:ext cx="305320" cy="337455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48"/>
          <p:cNvSpPr txBox="1"/>
          <p:nvPr/>
        </p:nvSpPr>
        <p:spPr>
          <a:xfrm>
            <a:off x="4454659" y="3944196"/>
            <a:ext cx="1255472"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微软雅黑 Light" panose="020B0502040204020203" pitchFamily="34" charset="-122"/>
                <a:ea typeface="微软雅黑 Light" panose="020B0502040204020203" pitchFamily="34" charset="-122"/>
              </a:rPr>
              <a:t>BP</a:t>
            </a:r>
            <a:r>
              <a:rPr lang="zh-CN" altLang="en-US" sz="1600" dirty="0">
                <a:latin typeface="微软雅黑 Light" panose="020B0502040204020203" pitchFamily="34" charset="-122"/>
                <a:ea typeface="微软雅黑 Light" panose="020B0502040204020203" pitchFamily="34" charset="-122"/>
              </a:rPr>
              <a:t>（</a:t>
            </a:r>
            <a:r>
              <a:rPr lang="en-US" altLang="zh-CN" sz="1600" dirty="0">
                <a:latin typeface="微软雅黑 Light" panose="020B0502040204020203" pitchFamily="34" charset="-122"/>
                <a:ea typeface="微软雅黑 Light" panose="020B0502040204020203" pitchFamily="34" charset="-122"/>
              </a:rPr>
              <a:t>1986</a:t>
            </a:r>
            <a:r>
              <a:rPr lang="zh-CN" altLang="en-US" sz="1600" dirty="0">
                <a:latin typeface="微软雅黑 Light" panose="020B0502040204020203" pitchFamily="34" charset="-122"/>
                <a:ea typeface="微软雅黑 Light" panose="020B0502040204020203" pitchFamily="34" charset="-122"/>
              </a:rPr>
              <a:t>）</a:t>
            </a:r>
          </a:p>
        </p:txBody>
      </p:sp>
      <p:cxnSp>
        <p:nvCxnSpPr>
          <p:cNvPr id="22" name="直接箭头连接符 21"/>
          <p:cNvCxnSpPr>
            <a:stCxn id="21" idx="2"/>
          </p:cNvCxnSpPr>
          <p:nvPr/>
        </p:nvCxnSpPr>
        <p:spPr>
          <a:xfrm flipH="1">
            <a:off x="4208676" y="4282750"/>
            <a:ext cx="873719" cy="1453498"/>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53"/>
          <p:cNvSpPr txBox="1"/>
          <p:nvPr/>
        </p:nvSpPr>
        <p:spPr>
          <a:xfrm>
            <a:off x="4247131" y="5139212"/>
            <a:ext cx="2959465"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err="1">
                <a:latin typeface="微软雅黑 Light" panose="020B0502040204020203" pitchFamily="34" charset="-122"/>
                <a:ea typeface="微软雅黑 Light" panose="020B0502040204020203" pitchFamily="34" charset="-122"/>
              </a:rPr>
              <a:t>Gabor&amp;SVM</a:t>
            </a:r>
            <a:r>
              <a:rPr lang="zh-CN" altLang="en-US" sz="1600" dirty="0">
                <a:latin typeface="微软雅黑 Light" panose="020B0502040204020203" pitchFamily="34" charset="-122"/>
                <a:ea typeface="微软雅黑 Light" panose="020B0502040204020203" pitchFamily="34" charset="-122"/>
              </a:rPr>
              <a:t>（</a:t>
            </a:r>
            <a:r>
              <a:rPr lang="en-US" altLang="zh-CN" sz="1600" dirty="0">
                <a:latin typeface="微软雅黑 Light" panose="020B0502040204020203" pitchFamily="34" charset="-122"/>
                <a:ea typeface="微软雅黑 Light" panose="020B0502040204020203" pitchFamily="34" charset="-122"/>
              </a:rPr>
              <a:t>1990s&amp;2000s</a:t>
            </a:r>
            <a:r>
              <a:rPr lang="zh-CN" altLang="en-US" sz="1600" dirty="0">
                <a:latin typeface="微软雅黑 Light" panose="020B0502040204020203" pitchFamily="34" charset="-122"/>
                <a:ea typeface="微软雅黑 Light" panose="020B0502040204020203" pitchFamily="34" charset="-122"/>
              </a:rPr>
              <a:t>）</a:t>
            </a:r>
          </a:p>
        </p:txBody>
      </p:sp>
      <p:sp>
        <p:nvSpPr>
          <p:cNvPr id="24" name="文本框 62"/>
          <p:cNvSpPr txBox="1"/>
          <p:nvPr/>
        </p:nvSpPr>
        <p:spPr>
          <a:xfrm>
            <a:off x="8584230" y="2801236"/>
            <a:ext cx="1386918"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err="1">
                <a:latin typeface="微软雅黑 Light" panose="020B0502040204020203" pitchFamily="34" charset="-122"/>
                <a:ea typeface="微软雅黑 Light" panose="020B0502040204020203" pitchFamily="34" charset="-122"/>
              </a:rPr>
              <a:t>ResNet</a:t>
            </a:r>
            <a:r>
              <a:rPr lang="en-US" altLang="zh-CN" sz="1600" dirty="0">
                <a:latin typeface="微软雅黑 Light" panose="020B0502040204020203" pitchFamily="34" charset="-122"/>
                <a:ea typeface="微软雅黑 Light" panose="020B0502040204020203" pitchFamily="34" charset="-122"/>
              </a:rPr>
              <a:t>(2015)</a:t>
            </a:r>
            <a:endParaRPr lang="zh-CN" altLang="en-US" sz="1600" dirty="0">
              <a:latin typeface="微软雅黑 Light" panose="020B0502040204020203" pitchFamily="34" charset="-122"/>
              <a:ea typeface="微软雅黑 Light" panose="020B0502040204020203" pitchFamily="34" charset="-122"/>
            </a:endParaRPr>
          </a:p>
        </p:txBody>
      </p:sp>
      <p:cxnSp>
        <p:nvCxnSpPr>
          <p:cNvPr id="25" name="直接箭头连接符 24"/>
          <p:cNvCxnSpPr>
            <a:stCxn id="24" idx="2"/>
          </p:cNvCxnSpPr>
          <p:nvPr/>
        </p:nvCxnSpPr>
        <p:spPr>
          <a:xfrm>
            <a:off x="9277689" y="3139790"/>
            <a:ext cx="185013" cy="2655168"/>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68"/>
          <p:cNvSpPr txBox="1"/>
          <p:nvPr/>
        </p:nvSpPr>
        <p:spPr>
          <a:xfrm>
            <a:off x="8910190" y="2352290"/>
            <a:ext cx="1359668"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微软雅黑 Light" panose="020B0502040204020203" pitchFamily="34" charset="-122"/>
                <a:ea typeface="微软雅黑 Light" panose="020B0502040204020203" pitchFamily="34" charset="-122"/>
              </a:rPr>
              <a:t>GANs(2016</a:t>
            </a:r>
            <a:r>
              <a:rPr lang="zh-CN" altLang="en-US" sz="1600" dirty="0">
                <a:latin typeface="微软雅黑 Light" panose="020B0502040204020203" pitchFamily="34" charset="-122"/>
                <a:ea typeface="微软雅黑 Light" panose="020B0502040204020203" pitchFamily="34" charset="-122"/>
              </a:rPr>
              <a:t>*</a:t>
            </a:r>
            <a:r>
              <a:rPr lang="en-US" altLang="zh-CN" sz="1600" dirty="0">
                <a:latin typeface="微软雅黑 Light" panose="020B0502040204020203" pitchFamily="34" charset="-122"/>
                <a:ea typeface="微软雅黑 Light" panose="020B0502040204020203" pitchFamily="34" charset="-122"/>
              </a:rPr>
              <a:t>)</a:t>
            </a:r>
            <a:endParaRPr lang="zh-CN" altLang="en-US" sz="1600" dirty="0">
              <a:latin typeface="微软雅黑 Light" panose="020B0502040204020203" pitchFamily="34" charset="-122"/>
              <a:ea typeface="微软雅黑 Light" panose="020B0502040204020203" pitchFamily="34" charset="-122"/>
            </a:endParaRPr>
          </a:p>
        </p:txBody>
      </p:sp>
      <p:cxnSp>
        <p:nvCxnSpPr>
          <p:cNvPr id="27" name="直接箭头连接符 26"/>
          <p:cNvCxnSpPr>
            <a:stCxn id="26" idx="2"/>
            <a:endCxn id="47" idx="0"/>
          </p:cNvCxnSpPr>
          <p:nvPr/>
        </p:nvCxnSpPr>
        <p:spPr>
          <a:xfrm>
            <a:off x="9590024" y="2690844"/>
            <a:ext cx="116080" cy="312829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73"/>
          <p:cNvSpPr txBox="1"/>
          <p:nvPr/>
        </p:nvSpPr>
        <p:spPr>
          <a:xfrm>
            <a:off x="7904852" y="3219031"/>
            <a:ext cx="1338828"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微软雅黑 Light" panose="020B0502040204020203" pitchFamily="34" charset="-122"/>
                <a:ea typeface="微软雅黑 Light" panose="020B0502040204020203" pitchFamily="34" charset="-122"/>
              </a:rPr>
              <a:t>LSTM(2015</a:t>
            </a:r>
            <a:r>
              <a:rPr lang="zh-CN" altLang="en-US" sz="1600" dirty="0">
                <a:latin typeface="微软雅黑 Light" panose="020B0502040204020203" pitchFamily="34" charset="-122"/>
                <a:ea typeface="微软雅黑 Light" panose="020B0502040204020203" pitchFamily="34" charset="-122"/>
              </a:rPr>
              <a:t>*</a:t>
            </a:r>
            <a:r>
              <a:rPr lang="en-US" altLang="zh-CN" sz="1600" dirty="0">
                <a:latin typeface="微软雅黑 Light" panose="020B0502040204020203" pitchFamily="34" charset="-122"/>
                <a:ea typeface="微软雅黑 Light" panose="020B0502040204020203" pitchFamily="34" charset="-122"/>
              </a:rPr>
              <a:t>)</a:t>
            </a:r>
            <a:endParaRPr lang="zh-CN" altLang="en-US" sz="1600" dirty="0">
              <a:latin typeface="微软雅黑 Light" panose="020B0502040204020203" pitchFamily="34" charset="-122"/>
              <a:ea typeface="微软雅黑 Light" panose="020B0502040204020203" pitchFamily="34" charset="-122"/>
            </a:endParaRPr>
          </a:p>
        </p:txBody>
      </p:sp>
      <p:cxnSp>
        <p:nvCxnSpPr>
          <p:cNvPr id="31" name="直接箭头连接符 30"/>
          <p:cNvCxnSpPr>
            <a:stCxn id="30" idx="2"/>
          </p:cNvCxnSpPr>
          <p:nvPr/>
        </p:nvCxnSpPr>
        <p:spPr>
          <a:xfrm>
            <a:off x="8574266" y="3557585"/>
            <a:ext cx="842777" cy="226155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77"/>
          <p:cNvSpPr txBox="1"/>
          <p:nvPr/>
        </p:nvSpPr>
        <p:spPr>
          <a:xfrm>
            <a:off x="7966581" y="4094884"/>
            <a:ext cx="1454244"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err="1">
                <a:latin typeface="微软雅黑 Light" panose="020B0502040204020203" pitchFamily="34" charset="-122"/>
                <a:ea typeface="微软雅黑 Light" panose="020B0502040204020203" pitchFamily="34" charset="-122"/>
              </a:rPr>
              <a:t>AlexNet</a:t>
            </a:r>
            <a:r>
              <a:rPr lang="en-US" altLang="zh-CN" sz="1600" dirty="0">
                <a:latin typeface="微软雅黑 Light" panose="020B0502040204020203" pitchFamily="34" charset="-122"/>
                <a:ea typeface="微软雅黑 Light" panose="020B0502040204020203" pitchFamily="34" charset="-122"/>
              </a:rPr>
              <a:t>(2012)</a:t>
            </a:r>
            <a:endParaRPr lang="zh-CN" altLang="en-US" sz="1600" dirty="0">
              <a:latin typeface="微软雅黑 Light" panose="020B0502040204020203" pitchFamily="34" charset="-122"/>
              <a:ea typeface="微软雅黑 Light" panose="020B0502040204020203" pitchFamily="34" charset="-122"/>
            </a:endParaRPr>
          </a:p>
        </p:txBody>
      </p:sp>
      <p:cxnSp>
        <p:nvCxnSpPr>
          <p:cNvPr id="34" name="直接箭头连接符 33"/>
          <p:cNvCxnSpPr>
            <a:stCxn id="32" idx="2"/>
          </p:cNvCxnSpPr>
          <p:nvPr/>
        </p:nvCxnSpPr>
        <p:spPr>
          <a:xfrm flipH="1">
            <a:off x="8570957" y="4433438"/>
            <a:ext cx="122746" cy="136152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81"/>
          <p:cNvSpPr txBox="1"/>
          <p:nvPr/>
        </p:nvSpPr>
        <p:spPr>
          <a:xfrm>
            <a:off x="7992355" y="3574182"/>
            <a:ext cx="1155381"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微软雅黑 Light" panose="020B0502040204020203" pitchFamily="34" charset="-122"/>
                <a:ea typeface="微软雅黑 Light" panose="020B0502040204020203" pitchFamily="34" charset="-122"/>
              </a:rPr>
              <a:t>VGG(2014)</a:t>
            </a:r>
            <a:endParaRPr lang="zh-CN" altLang="en-US" sz="1600" dirty="0">
              <a:latin typeface="微软雅黑 Light" panose="020B0502040204020203" pitchFamily="34" charset="-122"/>
              <a:ea typeface="微软雅黑 Light" panose="020B0502040204020203" pitchFamily="34" charset="-122"/>
            </a:endParaRPr>
          </a:p>
        </p:txBody>
      </p:sp>
      <p:cxnSp>
        <p:nvCxnSpPr>
          <p:cNvPr id="36" name="直接箭头连接符 35"/>
          <p:cNvCxnSpPr>
            <a:stCxn id="35" idx="2"/>
          </p:cNvCxnSpPr>
          <p:nvPr/>
        </p:nvCxnSpPr>
        <p:spPr>
          <a:xfrm>
            <a:off x="8570046" y="3912736"/>
            <a:ext cx="730153" cy="188222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85"/>
          <p:cNvSpPr txBox="1"/>
          <p:nvPr/>
        </p:nvSpPr>
        <p:spPr>
          <a:xfrm>
            <a:off x="7066554" y="4454982"/>
            <a:ext cx="1685461"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微软雅黑 Light" panose="020B0502040204020203" pitchFamily="34" charset="-122"/>
                <a:ea typeface="微软雅黑 Light" panose="020B0502040204020203" pitchFamily="34" charset="-122"/>
              </a:rPr>
              <a:t>LCN&amp;LRN(2009)</a:t>
            </a:r>
            <a:endParaRPr lang="zh-CN" altLang="en-US" sz="1600" dirty="0">
              <a:latin typeface="微软雅黑 Light" panose="020B0502040204020203" pitchFamily="34" charset="-122"/>
              <a:ea typeface="微软雅黑 Light" panose="020B0502040204020203" pitchFamily="34" charset="-122"/>
            </a:endParaRPr>
          </a:p>
        </p:txBody>
      </p:sp>
      <p:cxnSp>
        <p:nvCxnSpPr>
          <p:cNvPr id="38" name="直接箭头连接符 37"/>
          <p:cNvCxnSpPr>
            <a:stCxn id="37" idx="2"/>
          </p:cNvCxnSpPr>
          <p:nvPr/>
        </p:nvCxnSpPr>
        <p:spPr>
          <a:xfrm flipH="1">
            <a:off x="7675789" y="4793536"/>
            <a:ext cx="233496" cy="94271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1466306" y="5610396"/>
            <a:ext cx="8664131" cy="578073"/>
            <a:chOff x="286388" y="2830742"/>
            <a:chExt cx="11552174" cy="770763"/>
          </a:xfrm>
        </p:grpSpPr>
        <p:grpSp>
          <p:nvGrpSpPr>
            <p:cNvPr id="40" name="组合 39"/>
            <p:cNvGrpSpPr/>
            <p:nvPr/>
          </p:nvGrpSpPr>
          <p:grpSpPr>
            <a:xfrm>
              <a:off x="340468" y="2830742"/>
              <a:ext cx="11498094" cy="316150"/>
              <a:chOff x="340468" y="3132306"/>
              <a:chExt cx="11498094" cy="316150"/>
            </a:xfrm>
          </p:grpSpPr>
          <p:cxnSp>
            <p:nvCxnSpPr>
              <p:cNvPr id="48" name="直接箭头连接符 47"/>
              <p:cNvCxnSpPr/>
              <p:nvPr/>
            </p:nvCxnSpPr>
            <p:spPr>
              <a:xfrm>
                <a:off x="340468" y="3429000"/>
                <a:ext cx="11498094" cy="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437745" y="3151762"/>
                <a:ext cx="0" cy="296694"/>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2496766" y="3132306"/>
                <a:ext cx="0" cy="296694"/>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4682247" y="3132306"/>
                <a:ext cx="0" cy="296694"/>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848273" y="3132306"/>
                <a:ext cx="0" cy="296694"/>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9014298" y="3132306"/>
                <a:ext cx="0" cy="296694"/>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11083047" y="3132306"/>
                <a:ext cx="0" cy="296694"/>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286388" y="3084743"/>
              <a:ext cx="11424765" cy="516762"/>
              <a:chOff x="208646" y="3521572"/>
              <a:chExt cx="11424765" cy="516762"/>
            </a:xfrm>
          </p:grpSpPr>
          <p:sp>
            <p:nvSpPr>
              <p:cNvPr id="42" name="文本框 13"/>
              <p:cNvSpPr txBox="1"/>
              <p:nvPr/>
            </p:nvSpPr>
            <p:spPr>
              <a:xfrm>
                <a:off x="208646" y="3521573"/>
                <a:ext cx="1193063" cy="4924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微软雅黑 Light" panose="020B0502040204020203" pitchFamily="34" charset="-122"/>
                    <a:ea typeface="微软雅黑 Light" panose="020B0502040204020203" pitchFamily="34" charset="-122"/>
                  </a:rPr>
                  <a:t>1900 ···</a:t>
                </a:r>
                <a:endParaRPr lang="zh-CN" altLang="en-US" dirty="0">
                  <a:latin typeface="微软雅黑 Light" panose="020B0502040204020203" pitchFamily="34" charset="-122"/>
                  <a:ea typeface="微软雅黑 Light" panose="020B0502040204020203" pitchFamily="34" charset="-122"/>
                </a:endParaRPr>
              </a:p>
            </p:txBody>
          </p:sp>
          <p:sp>
            <p:nvSpPr>
              <p:cNvPr id="43" name="文本框 14"/>
              <p:cNvSpPr txBox="1"/>
              <p:nvPr/>
            </p:nvSpPr>
            <p:spPr>
              <a:xfrm>
                <a:off x="1969762" y="3521572"/>
                <a:ext cx="1509388" cy="4924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微软雅黑 Light" panose="020B0502040204020203" pitchFamily="34" charset="-122"/>
                    <a:ea typeface="微软雅黑 Light" panose="020B0502040204020203" pitchFamily="34" charset="-122"/>
                  </a:rPr>
                  <a:t>··· 1950 ···</a:t>
                </a:r>
                <a:endParaRPr lang="zh-CN" altLang="en-US" dirty="0">
                  <a:latin typeface="微软雅黑 Light" panose="020B0502040204020203" pitchFamily="34" charset="-122"/>
                  <a:ea typeface="微软雅黑 Light" panose="020B0502040204020203" pitchFamily="34" charset="-122"/>
                </a:endParaRPr>
              </a:p>
            </p:txBody>
          </p:sp>
          <p:sp>
            <p:nvSpPr>
              <p:cNvPr id="44" name="文本框 15"/>
              <p:cNvSpPr txBox="1"/>
              <p:nvPr/>
            </p:nvSpPr>
            <p:spPr>
              <a:xfrm>
                <a:off x="4001787" y="3521572"/>
                <a:ext cx="1280692" cy="4924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微软雅黑 Light" panose="020B0502040204020203" pitchFamily="34" charset="-122"/>
                    <a:ea typeface="微软雅黑 Light" panose="020B0502040204020203" pitchFamily="34" charset="-122"/>
                  </a:rPr>
                  <a:t>··· 2000</a:t>
                </a:r>
                <a:endParaRPr lang="zh-CN" altLang="en-US" dirty="0">
                  <a:latin typeface="微软雅黑 Light" panose="020B0502040204020203" pitchFamily="34" charset="-122"/>
                  <a:ea typeface="微软雅黑 Light" panose="020B0502040204020203" pitchFamily="34" charset="-122"/>
                </a:endParaRPr>
              </a:p>
            </p:txBody>
          </p:sp>
          <p:sp>
            <p:nvSpPr>
              <p:cNvPr id="45" name="文本框 16"/>
              <p:cNvSpPr txBox="1"/>
              <p:nvPr/>
            </p:nvSpPr>
            <p:spPr>
              <a:xfrm>
                <a:off x="6520774" y="3541028"/>
                <a:ext cx="964367" cy="4924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微软雅黑 Light" panose="020B0502040204020203" pitchFamily="34" charset="-122"/>
                    <a:ea typeface="微软雅黑 Light" panose="020B0502040204020203" pitchFamily="34" charset="-122"/>
                  </a:rPr>
                  <a:t>2005</a:t>
                </a:r>
                <a:endParaRPr lang="zh-CN" altLang="en-US" dirty="0">
                  <a:latin typeface="微软雅黑 Light" panose="020B0502040204020203" pitchFamily="34" charset="-122"/>
                  <a:ea typeface="微软雅黑 Light" panose="020B0502040204020203" pitchFamily="34" charset="-122"/>
                </a:endParaRPr>
              </a:p>
            </p:txBody>
          </p:sp>
          <p:sp>
            <p:nvSpPr>
              <p:cNvPr id="46" name="文本框 17"/>
              <p:cNvSpPr txBox="1"/>
              <p:nvPr/>
            </p:nvSpPr>
            <p:spPr>
              <a:xfrm>
                <a:off x="8670450" y="3541028"/>
                <a:ext cx="876736" cy="4924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微软雅黑 Light" panose="020B0502040204020203" pitchFamily="34" charset="-122"/>
                    <a:ea typeface="微软雅黑 Light" panose="020B0502040204020203" pitchFamily="34" charset="-122"/>
                  </a:rPr>
                  <a:t>2010</a:t>
                </a:r>
                <a:endParaRPr lang="zh-CN" altLang="en-US" dirty="0">
                  <a:latin typeface="微软雅黑 Light" panose="020B0502040204020203" pitchFamily="34" charset="-122"/>
                  <a:ea typeface="微软雅黑 Light" panose="020B0502040204020203" pitchFamily="34" charset="-122"/>
                </a:endParaRPr>
              </a:p>
            </p:txBody>
          </p:sp>
          <p:sp>
            <p:nvSpPr>
              <p:cNvPr id="47" name="文本框 18"/>
              <p:cNvSpPr txBox="1"/>
              <p:nvPr/>
            </p:nvSpPr>
            <p:spPr>
              <a:xfrm>
                <a:off x="10756675" y="3545892"/>
                <a:ext cx="876736" cy="49244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微软雅黑 Light" panose="020B0502040204020203" pitchFamily="34" charset="-122"/>
                    <a:ea typeface="微软雅黑 Light" panose="020B0502040204020203" pitchFamily="34" charset="-122"/>
                  </a:rPr>
                  <a:t>2015</a:t>
                </a:r>
                <a:endParaRPr lang="zh-CN" altLang="en-US" dirty="0">
                  <a:latin typeface="微软雅黑 Light" panose="020B0502040204020203" pitchFamily="34" charset="-122"/>
                  <a:ea typeface="微软雅黑 Light" panose="020B0502040204020203" pitchFamily="34" charset="-122"/>
                </a:endParaRPr>
              </a:p>
            </p:txBody>
          </p:sp>
        </p:grpSp>
      </p:grpSp>
      <p:sp>
        <p:nvSpPr>
          <p:cNvPr id="55" name="文本框 54"/>
          <p:cNvSpPr txBox="1"/>
          <p:nvPr/>
        </p:nvSpPr>
        <p:spPr>
          <a:xfrm>
            <a:off x="4896198" y="6112807"/>
            <a:ext cx="1665841" cy="369332"/>
          </a:xfrm>
          <a:prstGeom prst="rect">
            <a:avLst/>
          </a:prstGeom>
          <a:noFill/>
        </p:spPr>
        <p:txBody>
          <a:bodyPr wrap="none" rtlCol="0">
            <a:spAutoFit/>
          </a:bodyPr>
          <a:lstStyle/>
          <a:p>
            <a:r>
              <a:rPr lang="en-US" altLang="zh-CN" dirty="0"/>
              <a:t>*</a:t>
            </a:r>
            <a:r>
              <a:rPr lang="zh-CN" altLang="en-US" dirty="0"/>
              <a:t>开始流行时间</a:t>
            </a:r>
          </a:p>
        </p:txBody>
      </p:sp>
      <p:sp>
        <p:nvSpPr>
          <p:cNvPr id="58" name="灯片编号占位符 8">
            <a:extLst>
              <a:ext uri="{FF2B5EF4-FFF2-40B4-BE49-F238E27FC236}">
                <a16:creationId xmlns:a16="http://schemas.microsoft.com/office/drawing/2014/main" id="{276C5BDA-E09F-4927-A7A4-147A0B75968C}"/>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13</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493928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122164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生物神经元</a:t>
            </a:r>
            <a:endParaRPr lang="en-US" altLang="zh-CN" sz="2800" b="1" dirty="0"/>
          </a:p>
        </p:txBody>
      </p:sp>
      <p:sp>
        <p:nvSpPr>
          <p:cNvPr id="56" name="矩形 55"/>
          <p:cNvSpPr/>
          <p:nvPr/>
        </p:nvSpPr>
        <p:spPr>
          <a:xfrm>
            <a:off x="773723" y="1467570"/>
            <a:ext cx="10775852" cy="1754326"/>
          </a:xfrm>
          <a:prstGeom prst="rect">
            <a:avLst/>
          </a:prstGeom>
        </p:spPr>
        <p:txBody>
          <a:bodyPr wrap="square">
            <a:spAutoFit/>
          </a:bodyPr>
          <a:lstStyle/>
          <a:p>
            <a:pPr algn="just">
              <a:lnSpc>
                <a:spcPct val="150000"/>
              </a:lnSpc>
            </a:pPr>
            <a:r>
              <a:rPr lang="zh-CN" altLang="en-US" sz="2400" dirty="0">
                <a:solidFill>
                  <a:srgbClr val="2F2F2F"/>
                </a:solidFill>
                <a:latin typeface="微软雅黑 Light" panose="020B0502040204020203" pitchFamily="34" charset="-122"/>
                <a:ea typeface="微软雅黑 Light" panose="020B0502040204020203" pitchFamily="34" charset="-122"/>
              </a:rPr>
              <a:t>生物学领域，一个生物神经元有多个树突（接受传入信息）；有一条轴突，轴突尾端有许多轴突末梢（给其他多个神经元传递信息）。轴突末梢跟其它生物神经元的树突产生连接的位置叫做“突触”。</a:t>
            </a:r>
            <a:endParaRPr lang="en-US" altLang="zh-CN" sz="2400" dirty="0">
              <a:solidFill>
                <a:srgbClr val="2F2F2F"/>
              </a:solidFill>
              <a:latin typeface="微软雅黑 Light" panose="020B0502040204020203" pitchFamily="34" charset="-122"/>
              <a:ea typeface="微软雅黑 Light" panose="020B0502040204020203" pitchFamily="34" charset="-122"/>
            </a:endParaRPr>
          </a:p>
        </p:txBody>
      </p:sp>
      <p:grpSp>
        <p:nvGrpSpPr>
          <p:cNvPr id="57" name="组合 56"/>
          <p:cNvGrpSpPr/>
          <p:nvPr/>
        </p:nvGrpSpPr>
        <p:grpSpPr>
          <a:xfrm>
            <a:off x="1273799" y="3329464"/>
            <a:ext cx="9748349" cy="3091912"/>
            <a:chOff x="853058" y="3356992"/>
            <a:chExt cx="7663292" cy="2257425"/>
          </a:xfrm>
        </p:grpSpPr>
        <p:sp>
          <p:nvSpPr>
            <p:cNvPr id="58" name="矩形 57"/>
            <p:cNvSpPr/>
            <p:nvPr/>
          </p:nvSpPr>
          <p:spPr>
            <a:xfrm>
              <a:off x="883502" y="4005867"/>
              <a:ext cx="7632848" cy="369332"/>
            </a:xfrm>
            <a:prstGeom prst="rect">
              <a:avLst/>
            </a:prstGeom>
          </p:spPr>
          <p:txBody>
            <a:bodyPr wrap="square">
              <a:spAutoFit/>
            </a:bodyPr>
            <a:lstStyle/>
            <a:p>
              <a:r>
                <a:rPr lang="zh-CN" altLang="en-US" dirty="0">
                  <a:solidFill>
                    <a:srgbClr val="2F2F2F"/>
                  </a:solidFill>
                  <a:latin typeface="微软雅黑 Light" panose="020B0502040204020203" pitchFamily="34" charset="-122"/>
                  <a:ea typeface="微软雅黑 Light" panose="020B0502040204020203" pitchFamily="34" charset="-122"/>
                </a:rPr>
                <a:t>多层感知机即为一种全连接的神经网络模型</a:t>
              </a:r>
              <a:endParaRPr lang="en-US" altLang="zh-CN" dirty="0">
                <a:solidFill>
                  <a:srgbClr val="2F2F2F"/>
                </a:solidFill>
                <a:latin typeface="微软雅黑 Light" panose="020B0502040204020203" pitchFamily="34" charset="-122"/>
                <a:ea typeface="微软雅黑 Light" panose="020B0502040204020203" pitchFamily="34" charset="-122"/>
              </a:endParaRPr>
            </a:p>
          </p:txBody>
        </p:sp>
        <p:pic>
          <p:nvPicPr>
            <p:cNvPr id="59" name="图片 5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3058" y="3356992"/>
              <a:ext cx="3790950" cy="2257425"/>
            </a:xfrm>
            <a:prstGeom prst="rect">
              <a:avLst/>
            </a:prstGeom>
          </p:spPr>
        </p:pic>
        <p:pic>
          <p:nvPicPr>
            <p:cNvPr id="60" name="图片 5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4008" y="3356992"/>
              <a:ext cx="3790950" cy="2257425"/>
            </a:xfrm>
            <a:prstGeom prst="rect">
              <a:avLst/>
            </a:prstGeom>
          </p:spPr>
        </p:pic>
        <p:sp>
          <p:nvSpPr>
            <p:cNvPr id="61" name="矩形 60"/>
            <p:cNvSpPr/>
            <p:nvPr/>
          </p:nvSpPr>
          <p:spPr>
            <a:xfrm>
              <a:off x="2230966" y="3484630"/>
              <a:ext cx="1368152" cy="378565"/>
            </a:xfrm>
            <a:prstGeom prst="rect">
              <a:avLst/>
            </a:prstGeom>
          </p:spPr>
          <p:txBody>
            <a:bodyPr wrap="square">
              <a:spAutoFit/>
            </a:bodyPr>
            <a:lstStyle/>
            <a:p>
              <a:pPr algn="just">
                <a:lnSpc>
                  <a:spcPct val="150000"/>
                </a:lnSpc>
              </a:pPr>
              <a:r>
                <a:rPr lang="zh-CN" altLang="en-US" sz="1400" b="1" kern="0" dirty="0">
                  <a:solidFill>
                    <a:srgbClr val="FF0000"/>
                  </a:solidFill>
                  <a:latin typeface="微软雅黑 Light" panose="020B0502040204020203" pitchFamily="34" charset="-122"/>
                  <a:ea typeface="微软雅黑 Light" panose="020B0502040204020203" pitchFamily="34" charset="-122"/>
                  <a:cs typeface="宋体" panose="02010600030101010101" pitchFamily="2" charset="-122"/>
                </a:rPr>
                <a:t>上一个神经元</a:t>
              </a:r>
              <a:endParaRPr lang="en-US" altLang="zh-CN" sz="1400" b="1" kern="0" dirty="0">
                <a:solidFill>
                  <a:srgbClr val="FF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62" name="矩形 61"/>
            <p:cNvSpPr/>
            <p:nvPr/>
          </p:nvSpPr>
          <p:spPr>
            <a:xfrm>
              <a:off x="6106499" y="3477846"/>
              <a:ext cx="1253125" cy="378886"/>
            </a:xfrm>
            <a:prstGeom prst="rect">
              <a:avLst/>
            </a:prstGeom>
          </p:spPr>
          <p:txBody>
            <a:bodyPr wrap="square">
              <a:spAutoFit/>
            </a:bodyPr>
            <a:lstStyle/>
            <a:p>
              <a:pPr algn="just">
                <a:lnSpc>
                  <a:spcPct val="150000"/>
                </a:lnSpc>
              </a:pPr>
              <a:r>
                <a:rPr lang="zh-CN" altLang="en-US" sz="1400" b="1" kern="0" dirty="0">
                  <a:solidFill>
                    <a:srgbClr val="FF0000"/>
                  </a:solidFill>
                  <a:latin typeface="微软雅黑 Light" panose="020B0502040204020203" pitchFamily="34" charset="-122"/>
                  <a:ea typeface="微软雅黑 Light" panose="020B0502040204020203" pitchFamily="34" charset="-122"/>
                  <a:cs typeface="宋体" panose="02010600030101010101" pitchFamily="2" charset="-122"/>
                </a:rPr>
                <a:t>下一个神经元</a:t>
              </a:r>
              <a:endParaRPr lang="en-US" altLang="zh-CN" sz="1400" b="1" kern="0" dirty="0">
                <a:solidFill>
                  <a:srgbClr val="FF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63" name="任意多边形 62"/>
            <p:cNvSpPr/>
            <p:nvPr/>
          </p:nvSpPr>
          <p:spPr>
            <a:xfrm rot="21263479">
              <a:off x="4381450" y="3759791"/>
              <a:ext cx="323407" cy="72567"/>
            </a:xfrm>
            <a:custGeom>
              <a:avLst/>
              <a:gdLst>
                <a:gd name="connsiteX0" fmla="*/ 1345 w 272008"/>
                <a:gd name="connsiteY0" fmla="*/ 108065 h 141316"/>
                <a:gd name="connsiteX1" fmla="*/ 51221 w 272008"/>
                <a:gd name="connsiteY1" fmla="*/ 99752 h 141316"/>
                <a:gd name="connsiteX2" fmla="*/ 76159 w 272008"/>
                <a:gd name="connsiteY2" fmla="*/ 91440 h 141316"/>
                <a:gd name="connsiteX3" fmla="*/ 126036 w 272008"/>
                <a:gd name="connsiteY3" fmla="*/ 99752 h 141316"/>
                <a:gd name="connsiteX4" fmla="*/ 150974 w 272008"/>
                <a:gd name="connsiteY4" fmla="*/ 108065 h 141316"/>
                <a:gd name="connsiteX5" fmla="*/ 184225 w 272008"/>
                <a:gd name="connsiteY5" fmla="*/ 116378 h 141316"/>
                <a:gd name="connsiteX6" fmla="*/ 209163 w 272008"/>
                <a:gd name="connsiteY6" fmla="*/ 133003 h 141316"/>
                <a:gd name="connsiteX7" fmla="*/ 234101 w 272008"/>
                <a:gd name="connsiteY7" fmla="*/ 141316 h 141316"/>
                <a:gd name="connsiteX8" fmla="*/ 250727 w 272008"/>
                <a:gd name="connsiteY8" fmla="*/ 49876 h 141316"/>
                <a:gd name="connsiteX9" fmla="*/ 150974 w 272008"/>
                <a:gd name="connsiteY9" fmla="*/ 0 h 141316"/>
                <a:gd name="connsiteX10" fmla="*/ 59534 w 272008"/>
                <a:gd name="connsiteY10" fmla="*/ 8312 h 141316"/>
                <a:gd name="connsiteX11" fmla="*/ 42909 w 272008"/>
                <a:gd name="connsiteY11" fmla="*/ 24938 h 141316"/>
                <a:gd name="connsiteX12" fmla="*/ 17970 w 272008"/>
                <a:gd name="connsiteY12" fmla="*/ 33250 h 141316"/>
                <a:gd name="connsiteX13" fmla="*/ 1345 w 272008"/>
                <a:gd name="connsiteY13" fmla="*/ 108065 h 141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008" h="141316">
                  <a:moveTo>
                    <a:pt x="1345" y="108065"/>
                  </a:moveTo>
                  <a:cubicBezTo>
                    <a:pt x="6887" y="119149"/>
                    <a:pt x="34768" y="103408"/>
                    <a:pt x="51221" y="99752"/>
                  </a:cubicBezTo>
                  <a:cubicBezTo>
                    <a:pt x="59775" y="97851"/>
                    <a:pt x="67397" y="91440"/>
                    <a:pt x="76159" y="91440"/>
                  </a:cubicBezTo>
                  <a:cubicBezTo>
                    <a:pt x="93014" y="91440"/>
                    <a:pt x="109410" y="96981"/>
                    <a:pt x="126036" y="99752"/>
                  </a:cubicBezTo>
                  <a:cubicBezTo>
                    <a:pt x="134349" y="102523"/>
                    <a:pt x="142549" y="105658"/>
                    <a:pt x="150974" y="108065"/>
                  </a:cubicBezTo>
                  <a:cubicBezTo>
                    <a:pt x="161959" y="111204"/>
                    <a:pt x="173724" y="111878"/>
                    <a:pt x="184225" y="116378"/>
                  </a:cubicBezTo>
                  <a:cubicBezTo>
                    <a:pt x="193408" y="120313"/>
                    <a:pt x="200227" y="128535"/>
                    <a:pt x="209163" y="133003"/>
                  </a:cubicBezTo>
                  <a:cubicBezTo>
                    <a:pt x="217000" y="136922"/>
                    <a:pt x="225788" y="138545"/>
                    <a:pt x="234101" y="141316"/>
                  </a:cubicBezTo>
                  <a:cubicBezTo>
                    <a:pt x="277807" y="126747"/>
                    <a:pt x="284223" y="133617"/>
                    <a:pt x="250727" y="49876"/>
                  </a:cubicBezTo>
                  <a:cubicBezTo>
                    <a:pt x="230575" y="-505"/>
                    <a:pt x="193294" y="6045"/>
                    <a:pt x="150974" y="0"/>
                  </a:cubicBezTo>
                  <a:cubicBezTo>
                    <a:pt x="120494" y="2771"/>
                    <a:pt x="89356" y="1430"/>
                    <a:pt x="59534" y="8312"/>
                  </a:cubicBezTo>
                  <a:cubicBezTo>
                    <a:pt x="51897" y="10074"/>
                    <a:pt x="49629" y="20906"/>
                    <a:pt x="42909" y="24938"/>
                  </a:cubicBezTo>
                  <a:cubicBezTo>
                    <a:pt x="35395" y="29446"/>
                    <a:pt x="26283" y="30479"/>
                    <a:pt x="17970" y="33250"/>
                  </a:cubicBezTo>
                  <a:cubicBezTo>
                    <a:pt x="8571" y="80248"/>
                    <a:pt x="-4197" y="96981"/>
                    <a:pt x="1345" y="108065"/>
                  </a:cubicBezTo>
                  <a:close/>
                </a:path>
              </a:pathLst>
            </a:custGeom>
            <a:solidFill>
              <a:srgbClr val="A68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63"/>
            <p:cNvSpPr/>
            <p:nvPr/>
          </p:nvSpPr>
          <p:spPr>
            <a:xfrm rot="10039452">
              <a:off x="4530440" y="4209740"/>
              <a:ext cx="212526" cy="271269"/>
            </a:xfrm>
            <a:custGeom>
              <a:avLst/>
              <a:gdLst>
                <a:gd name="connsiteX0" fmla="*/ 0 w 216131"/>
                <a:gd name="connsiteY0" fmla="*/ 8496 h 83796"/>
                <a:gd name="connsiteX1" fmla="*/ 83128 w 216131"/>
                <a:gd name="connsiteY1" fmla="*/ 8496 h 83796"/>
                <a:gd name="connsiteX2" fmla="*/ 108066 w 216131"/>
                <a:gd name="connsiteY2" fmla="*/ 25122 h 83796"/>
                <a:gd name="connsiteX3" fmla="*/ 124691 w 216131"/>
                <a:gd name="connsiteY3" fmla="*/ 58373 h 83796"/>
                <a:gd name="connsiteX4" fmla="*/ 157942 w 216131"/>
                <a:gd name="connsiteY4" fmla="*/ 74998 h 83796"/>
                <a:gd name="connsiteX5" fmla="*/ 216131 w 216131"/>
                <a:gd name="connsiteY5" fmla="*/ 83311 h 8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131" h="83796">
                  <a:moveTo>
                    <a:pt x="0" y="8496"/>
                  </a:moveTo>
                  <a:cubicBezTo>
                    <a:pt x="38550" y="787"/>
                    <a:pt x="44578" y="-5960"/>
                    <a:pt x="83128" y="8496"/>
                  </a:cubicBezTo>
                  <a:cubicBezTo>
                    <a:pt x="92483" y="12004"/>
                    <a:pt x="99753" y="19580"/>
                    <a:pt x="108066" y="25122"/>
                  </a:cubicBezTo>
                  <a:cubicBezTo>
                    <a:pt x="113608" y="36206"/>
                    <a:pt x="115929" y="49611"/>
                    <a:pt x="124691" y="58373"/>
                  </a:cubicBezTo>
                  <a:cubicBezTo>
                    <a:pt x="133453" y="67135"/>
                    <a:pt x="146552" y="70117"/>
                    <a:pt x="157942" y="74998"/>
                  </a:cubicBezTo>
                  <a:cubicBezTo>
                    <a:pt x="185518" y="86816"/>
                    <a:pt x="184082" y="83311"/>
                    <a:pt x="216131" y="83311"/>
                  </a:cubicBezTo>
                </a:path>
              </a:pathLst>
            </a:custGeom>
            <a:solidFill>
              <a:srgbClr val="A68DCC"/>
            </a:solidFill>
            <a:ln>
              <a:solidFill>
                <a:srgbClr val="A88E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64"/>
            <p:cNvSpPr/>
            <p:nvPr/>
          </p:nvSpPr>
          <p:spPr>
            <a:xfrm>
              <a:off x="4517877" y="4530433"/>
              <a:ext cx="313111" cy="534190"/>
            </a:xfrm>
            <a:custGeom>
              <a:avLst/>
              <a:gdLst>
                <a:gd name="connsiteX0" fmla="*/ 400 w 175169"/>
                <a:gd name="connsiteY0" fmla="*/ 12409 h 527798"/>
                <a:gd name="connsiteX1" fmla="*/ 17025 w 175169"/>
                <a:gd name="connsiteY1" fmla="*/ 62285 h 527798"/>
                <a:gd name="connsiteX2" fmla="*/ 41964 w 175169"/>
                <a:gd name="connsiteY2" fmla="*/ 112162 h 527798"/>
                <a:gd name="connsiteX3" fmla="*/ 66902 w 175169"/>
                <a:gd name="connsiteY3" fmla="*/ 220227 h 527798"/>
                <a:gd name="connsiteX4" fmla="*/ 75214 w 175169"/>
                <a:gd name="connsiteY4" fmla="*/ 303355 h 527798"/>
                <a:gd name="connsiteX5" fmla="*/ 83527 w 175169"/>
                <a:gd name="connsiteY5" fmla="*/ 469609 h 527798"/>
                <a:gd name="connsiteX6" fmla="*/ 100153 w 175169"/>
                <a:gd name="connsiteY6" fmla="*/ 494547 h 527798"/>
                <a:gd name="connsiteX7" fmla="*/ 150029 w 175169"/>
                <a:gd name="connsiteY7" fmla="*/ 527798 h 527798"/>
                <a:gd name="connsiteX8" fmla="*/ 174967 w 175169"/>
                <a:gd name="connsiteY8" fmla="*/ 511173 h 527798"/>
                <a:gd name="connsiteX9" fmla="*/ 133404 w 175169"/>
                <a:gd name="connsiteY9" fmla="*/ 469609 h 527798"/>
                <a:gd name="connsiteX10" fmla="*/ 125091 w 175169"/>
                <a:gd name="connsiteY10" fmla="*/ 419733 h 527798"/>
                <a:gd name="connsiteX11" fmla="*/ 108465 w 175169"/>
                <a:gd name="connsiteY11" fmla="*/ 369856 h 527798"/>
                <a:gd name="connsiteX12" fmla="*/ 100153 w 175169"/>
                <a:gd name="connsiteY12" fmla="*/ 295042 h 527798"/>
                <a:gd name="connsiteX13" fmla="*/ 91840 w 175169"/>
                <a:gd name="connsiteY13" fmla="*/ 261791 h 527798"/>
                <a:gd name="connsiteX14" fmla="*/ 83527 w 175169"/>
                <a:gd name="connsiteY14" fmla="*/ 128787 h 527798"/>
                <a:gd name="connsiteX15" fmla="*/ 75214 w 175169"/>
                <a:gd name="connsiteY15" fmla="*/ 103849 h 527798"/>
                <a:gd name="connsiteX16" fmla="*/ 50276 w 175169"/>
                <a:gd name="connsiteY16" fmla="*/ 78911 h 527798"/>
                <a:gd name="connsiteX17" fmla="*/ 41964 w 175169"/>
                <a:gd name="connsiteY17" fmla="*/ 53973 h 527798"/>
                <a:gd name="connsiteX18" fmla="*/ 33651 w 175169"/>
                <a:gd name="connsiteY18" fmla="*/ 4096 h 527798"/>
                <a:gd name="connsiteX19" fmla="*/ 400 w 175169"/>
                <a:gd name="connsiteY19" fmla="*/ 12409 h 527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5169" h="527798">
                  <a:moveTo>
                    <a:pt x="400" y="12409"/>
                  </a:moveTo>
                  <a:cubicBezTo>
                    <a:pt x="-2371" y="22107"/>
                    <a:pt x="9908" y="46271"/>
                    <a:pt x="17025" y="62285"/>
                  </a:cubicBezTo>
                  <a:cubicBezTo>
                    <a:pt x="37874" y="109195"/>
                    <a:pt x="31051" y="64871"/>
                    <a:pt x="41964" y="112162"/>
                  </a:cubicBezTo>
                  <a:cubicBezTo>
                    <a:pt x="69480" y="231397"/>
                    <a:pt x="46809" y="159949"/>
                    <a:pt x="66902" y="220227"/>
                  </a:cubicBezTo>
                  <a:cubicBezTo>
                    <a:pt x="69673" y="247936"/>
                    <a:pt x="73362" y="275569"/>
                    <a:pt x="75214" y="303355"/>
                  </a:cubicBezTo>
                  <a:cubicBezTo>
                    <a:pt x="78905" y="358719"/>
                    <a:pt x="76350" y="414588"/>
                    <a:pt x="83527" y="469609"/>
                  </a:cubicBezTo>
                  <a:cubicBezTo>
                    <a:pt x="84819" y="479516"/>
                    <a:pt x="92634" y="487968"/>
                    <a:pt x="100153" y="494547"/>
                  </a:cubicBezTo>
                  <a:cubicBezTo>
                    <a:pt x="115190" y="507705"/>
                    <a:pt x="150029" y="527798"/>
                    <a:pt x="150029" y="527798"/>
                  </a:cubicBezTo>
                  <a:cubicBezTo>
                    <a:pt x="158342" y="522256"/>
                    <a:pt x="173008" y="520969"/>
                    <a:pt x="174967" y="511173"/>
                  </a:cubicBezTo>
                  <a:cubicBezTo>
                    <a:pt x="178227" y="494874"/>
                    <a:pt x="141227" y="474825"/>
                    <a:pt x="133404" y="469609"/>
                  </a:cubicBezTo>
                  <a:cubicBezTo>
                    <a:pt x="130633" y="452984"/>
                    <a:pt x="129179" y="436084"/>
                    <a:pt x="125091" y="419733"/>
                  </a:cubicBezTo>
                  <a:cubicBezTo>
                    <a:pt x="120840" y="402731"/>
                    <a:pt x="108465" y="369856"/>
                    <a:pt x="108465" y="369856"/>
                  </a:cubicBezTo>
                  <a:cubicBezTo>
                    <a:pt x="105694" y="344918"/>
                    <a:pt x="103968" y="319842"/>
                    <a:pt x="100153" y="295042"/>
                  </a:cubicBezTo>
                  <a:cubicBezTo>
                    <a:pt x="98416" y="283750"/>
                    <a:pt x="92977" y="273159"/>
                    <a:pt x="91840" y="261791"/>
                  </a:cubicBezTo>
                  <a:cubicBezTo>
                    <a:pt x="87420" y="217590"/>
                    <a:pt x="88177" y="172964"/>
                    <a:pt x="83527" y="128787"/>
                  </a:cubicBezTo>
                  <a:cubicBezTo>
                    <a:pt x="82610" y="120073"/>
                    <a:pt x="80075" y="111140"/>
                    <a:pt x="75214" y="103849"/>
                  </a:cubicBezTo>
                  <a:cubicBezTo>
                    <a:pt x="68693" y="94068"/>
                    <a:pt x="58589" y="87224"/>
                    <a:pt x="50276" y="78911"/>
                  </a:cubicBezTo>
                  <a:cubicBezTo>
                    <a:pt x="47505" y="70598"/>
                    <a:pt x="43865" y="62527"/>
                    <a:pt x="41964" y="53973"/>
                  </a:cubicBezTo>
                  <a:cubicBezTo>
                    <a:pt x="38308" y="37519"/>
                    <a:pt x="42013" y="18730"/>
                    <a:pt x="33651" y="4096"/>
                  </a:cubicBezTo>
                  <a:cubicBezTo>
                    <a:pt x="28401" y="-5092"/>
                    <a:pt x="3171" y="2711"/>
                    <a:pt x="400" y="12409"/>
                  </a:cubicBezTo>
                  <a:close/>
                </a:path>
              </a:pathLst>
            </a:custGeom>
            <a:solidFill>
              <a:srgbClr val="A68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65"/>
            <p:cNvSpPr/>
            <p:nvPr/>
          </p:nvSpPr>
          <p:spPr>
            <a:xfrm>
              <a:off x="4365807" y="3935349"/>
              <a:ext cx="376246" cy="160187"/>
            </a:xfrm>
            <a:custGeom>
              <a:avLst/>
              <a:gdLst>
                <a:gd name="connsiteX0" fmla="*/ 18343 w 376246"/>
                <a:gd name="connsiteY0" fmla="*/ 68747 h 160187"/>
                <a:gd name="connsiteX1" fmla="*/ 68219 w 376246"/>
                <a:gd name="connsiteY1" fmla="*/ 77060 h 160187"/>
                <a:gd name="connsiteX2" fmla="*/ 126408 w 376246"/>
                <a:gd name="connsiteY2" fmla="*/ 93685 h 160187"/>
                <a:gd name="connsiteX3" fmla="*/ 151346 w 376246"/>
                <a:gd name="connsiteY3" fmla="*/ 110311 h 160187"/>
                <a:gd name="connsiteX4" fmla="*/ 184597 w 376246"/>
                <a:gd name="connsiteY4" fmla="*/ 118624 h 160187"/>
                <a:gd name="connsiteX5" fmla="*/ 259412 w 376246"/>
                <a:gd name="connsiteY5" fmla="*/ 143562 h 160187"/>
                <a:gd name="connsiteX6" fmla="*/ 284350 w 376246"/>
                <a:gd name="connsiteY6" fmla="*/ 151874 h 160187"/>
                <a:gd name="connsiteX7" fmla="*/ 309288 w 376246"/>
                <a:gd name="connsiteY7" fmla="*/ 160187 h 160187"/>
                <a:gd name="connsiteX8" fmla="*/ 375790 w 376246"/>
                <a:gd name="connsiteY8" fmla="*/ 151874 h 160187"/>
                <a:gd name="connsiteX9" fmla="*/ 317601 w 376246"/>
                <a:gd name="connsiteY9" fmla="*/ 126936 h 160187"/>
                <a:gd name="connsiteX10" fmla="*/ 300975 w 376246"/>
                <a:gd name="connsiteY10" fmla="*/ 110311 h 160187"/>
                <a:gd name="connsiteX11" fmla="*/ 276037 w 376246"/>
                <a:gd name="connsiteY11" fmla="*/ 101998 h 160187"/>
                <a:gd name="connsiteX12" fmla="*/ 217848 w 376246"/>
                <a:gd name="connsiteY12" fmla="*/ 85373 h 160187"/>
                <a:gd name="connsiteX13" fmla="*/ 192910 w 376246"/>
                <a:gd name="connsiteY13" fmla="*/ 68747 h 160187"/>
                <a:gd name="connsiteX14" fmla="*/ 143034 w 376246"/>
                <a:gd name="connsiteY14" fmla="*/ 52122 h 160187"/>
                <a:gd name="connsiteX15" fmla="*/ 118095 w 376246"/>
                <a:gd name="connsiteY15" fmla="*/ 35496 h 160187"/>
                <a:gd name="connsiteX16" fmla="*/ 51594 w 376246"/>
                <a:gd name="connsiteY16" fmla="*/ 18871 h 160187"/>
                <a:gd name="connsiteX17" fmla="*/ 1717 w 376246"/>
                <a:gd name="connsiteY17" fmla="*/ 10558 h 160187"/>
                <a:gd name="connsiteX18" fmla="*/ 18343 w 376246"/>
                <a:gd name="connsiteY18" fmla="*/ 68747 h 16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6246" h="160187">
                  <a:moveTo>
                    <a:pt x="18343" y="68747"/>
                  </a:moveTo>
                  <a:cubicBezTo>
                    <a:pt x="29427" y="79831"/>
                    <a:pt x="51692" y="73754"/>
                    <a:pt x="68219" y="77060"/>
                  </a:cubicBezTo>
                  <a:cubicBezTo>
                    <a:pt x="94310" y="82278"/>
                    <a:pt x="102643" y="85764"/>
                    <a:pt x="126408" y="93685"/>
                  </a:cubicBezTo>
                  <a:cubicBezTo>
                    <a:pt x="134721" y="99227"/>
                    <a:pt x="142163" y="106375"/>
                    <a:pt x="151346" y="110311"/>
                  </a:cubicBezTo>
                  <a:cubicBezTo>
                    <a:pt x="161847" y="114812"/>
                    <a:pt x="173654" y="115341"/>
                    <a:pt x="184597" y="118624"/>
                  </a:cubicBezTo>
                  <a:cubicBezTo>
                    <a:pt x="184659" y="118643"/>
                    <a:pt x="246912" y="139395"/>
                    <a:pt x="259412" y="143562"/>
                  </a:cubicBezTo>
                  <a:lnTo>
                    <a:pt x="284350" y="151874"/>
                  </a:lnTo>
                  <a:lnTo>
                    <a:pt x="309288" y="160187"/>
                  </a:lnTo>
                  <a:cubicBezTo>
                    <a:pt x="331455" y="157416"/>
                    <a:pt x="357918" y="165278"/>
                    <a:pt x="375790" y="151874"/>
                  </a:cubicBezTo>
                  <a:cubicBezTo>
                    <a:pt x="382110" y="147134"/>
                    <a:pt x="320772" y="127993"/>
                    <a:pt x="317601" y="126936"/>
                  </a:cubicBezTo>
                  <a:cubicBezTo>
                    <a:pt x="312059" y="121394"/>
                    <a:pt x="307695" y="114343"/>
                    <a:pt x="300975" y="110311"/>
                  </a:cubicBezTo>
                  <a:cubicBezTo>
                    <a:pt x="293461" y="105803"/>
                    <a:pt x="284462" y="104405"/>
                    <a:pt x="276037" y="101998"/>
                  </a:cubicBezTo>
                  <a:cubicBezTo>
                    <a:pt x="202946" y="81114"/>
                    <a:pt x="277661" y="105309"/>
                    <a:pt x="217848" y="85373"/>
                  </a:cubicBezTo>
                  <a:cubicBezTo>
                    <a:pt x="209535" y="79831"/>
                    <a:pt x="202040" y="72805"/>
                    <a:pt x="192910" y="68747"/>
                  </a:cubicBezTo>
                  <a:cubicBezTo>
                    <a:pt x="176896" y="61630"/>
                    <a:pt x="143034" y="52122"/>
                    <a:pt x="143034" y="52122"/>
                  </a:cubicBezTo>
                  <a:cubicBezTo>
                    <a:pt x="134721" y="46580"/>
                    <a:pt x="127484" y="38910"/>
                    <a:pt x="118095" y="35496"/>
                  </a:cubicBezTo>
                  <a:cubicBezTo>
                    <a:pt x="96621" y="27687"/>
                    <a:pt x="51594" y="18871"/>
                    <a:pt x="51594" y="18871"/>
                  </a:cubicBezTo>
                  <a:cubicBezTo>
                    <a:pt x="43891" y="13735"/>
                    <a:pt x="14623" y="-15255"/>
                    <a:pt x="1717" y="10558"/>
                  </a:cubicBezTo>
                  <a:cubicBezTo>
                    <a:pt x="-4479" y="22950"/>
                    <a:pt x="7259" y="57663"/>
                    <a:pt x="18343" y="68747"/>
                  </a:cubicBezTo>
                  <a:close/>
                </a:path>
              </a:pathLst>
            </a:custGeom>
            <a:solidFill>
              <a:srgbClr val="A68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灯片编号占位符 8">
            <a:extLst>
              <a:ext uri="{FF2B5EF4-FFF2-40B4-BE49-F238E27FC236}">
                <a16:creationId xmlns:a16="http://schemas.microsoft.com/office/drawing/2014/main" id="{44DB8F5D-9DF1-467F-9696-A4047BDCEB69}"/>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14</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98164992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4"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122164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神经元模型</a:t>
            </a:r>
            <a:endParaRPr lang="en-US" altLang="zh-CN" sz="2800" b="1" dirty="0"/>
          </a:p>
        </p:txBody>
      </p:sp>
      <p:sp>
        <p:nvSpPr>
          <p:cNvPr id="19" name="矩形 18"/>
          <p:cNvSpPr/>
          <p:nvPr/>
        </p:nvSpPr>
        <p:spPr>
          <a:xfrm>
            <a:off x="655496" y="1417998"/>
            <a:ext cx="10851876" cy="1200329"/>
          </a:xfrm>
          <a:prstGeom prst="rect">
            <a:avLst/>
          </a:prstGeom>
        </p:spPr>
        <p:txBody>
          <a:bodyPr wrap="square">
            <a:spAutoFit/>
          </a:bodyPr>
          <a:lstStyle/>
          <a:p>
            <a:pPr algn="just">
              <a:lnSpc>
                <a:spcPct val="150000"/>
              </a:lnSpc>
            </a:pPr>
            <a:r>
              <a:rPr lang="zh-CN" altLang="en-US" sz="2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机器学习领域，神经元模型是一个包含输入，输出与计算功能的模型。输入类比为神经元的树突，而输出类比为神经元的轴突，计算类比为细胞核。</a:t>
            </a:r>
            <a:endParaRPr lang="en-US" altLang="zh-CN" sz="24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graphicFrame>
        <p:nvGraphicFramePr>
          <p:cNvPr id="20" name="对象 19"/>
          <p:cNvGraphicFramePr>
            <a:graphicFrameLocks noChangeAspect="1"/>
          </p:cNvGraphicFramePr>
          <p:nvPr>
            <p:extLst/>
          </p:nvPr>
        </p:nvGraphicFramePr>
        <p:xfrm>
          <a:off x="1775433" y="2579279"/>
          <a:ext cx="7604094" cy="3902859"/>
        </p:xfrm>
        <a:graphic>
          <a:graphicData uri="http://schemas.openxmlformats.org/presentationml/2006/ole">
            <mc:AlternateContent xmlns:mc="http://schemas.openxmlformats.org/markup-compatibility/2006">
              <mc:Choice xmlns:v="urn:schemas-microsoft-com:vml" Requires="v">
                <p:oleObj spid="_x0000_s1029" name="Visio" r:id="rId6" imgW="14716101" imgH="7582029" progId="Visio.Drawing.11">
                  <p:embed/>
                </p:oleObj>
              </mc:Choice>
              <mc:Fallback>
                <p:oleObj name="Visio" r:id="rId6" imgW="14716101" imgH="7582029" progId="Visio.Drawing.11">
                  <p:embed/>
                  <p:pic>
                    <p:nvPicPr>
                      <p:cNvPr id="20" name="对象 19"/>
                      <p:cNvPicPr>
                        <a:picLocks noChangeAspect="1" noChangeArrowheads="1"/>
                      </p:cNvPicPr>
                      <p:nvPr/>
                    </p:nvPicPr>
                    <p:blipFill>
                      <a:blip r:embed="rId7"/>
                      <a:srcRect/>
                      <a:stretch>
                        <a:fillRect/>
                      </a:stretch>
                    </p:blipFill>
                    <p:spPr bwMode="auto">
                      <a:xfrm>
                        <a:off x="1775433" y="2579279"/>
                        <a:ext cx="7604094" cy="3902859"/>
                      </a:xfrm>
                      <a:prstGeom prst="rect">
                        <a:avLst/>
                      </a:prstGeom>
                      <a:noFill/>
                      <a:ln>
                        <a:noFill/>
                      </a:ln>
                      <a:effectLst/>
                    </p:spPr>
                  </p:pic>
                </p:oleObj>
              </mc:Fallback>
            </mc:AlternateContent>
          </a:graphicData>
        </a:graphic>
      </p:graphicFrame>
      <p:sp>
        <p:nvSpPr>
          <p:cNvPr id="22" name="矩形 21"/>
          <p:cNvSpPr/>
          <p:nvPr/>
        </p:nvSpPr>
        <p:spPr>
          <a:xfrm>
            <a:off x="2985275" y="920825"/>
            <a:ext cx="6717810" cy="400110"/>
          </a:xfrm>
          <a:prstGeom prst="rect">
            <a:avLst/>
          </a:prstGeom>
          <a:solidFill>
            <a:srgbClr val="1C4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849342" y="915387"/>
            <a:ext cx="4942966" cy="400110"/>
          </a:xfrm>
          <a:prstGeom prst="rect">
            <a:avLst/>
          </a:prstGeom>
        </p:spPr>
        <p:txBody>
          <a:bodyPr wrap="square">
            <a:spAutoFit/>
          </a:bodyPr>
          <a:lstStyle/>
          <a:p>
            <a:pPr algn="ctr"/>
            <a:r>
              <a:rPr lang="zh-CN" altLang="en-US" sz="2000" b="1" dirty="0">
                <a:solidFill>
                  <a:schemeClr val="bg1"/>
                </a:solidFill>
                <a:latin typeface="微软雅黑 Light" panose="020B0502040204020203" pitchFamily="34" charset="-122"/>
                <a:ea typeface="微软雅黑 Light" panose="020B0502040204020203" pitchFamily="34" charset="-122"/>
              </a:rPr>
              <a:t>生物神经元</a:t>
            </a:r>
            <a:r>
              <a:rPr lang="en-US" altLang="zh-CN" sz="2000" b="1" dirty="0">
                <a:solidFill>
                  <a:schemeClr val="bg1"/>
                </a:solidFill>
                <a:latin typeface="微软雅黑 Light" panose="020B0502040204020203" pitchFamily="34" charset="-122"/>
                <a:ea typeface="微软雅黑 Light" panose="020B0502040204020203" pitchFamily="34" charset="-122"/>
              </a:rPr>
              <a:t>:</a:t>
            </a:r>
            <a:r>
              <a:rPr lang="zh-CN" altLang="en-US" sz="2000" b="1" dirty="0">
                <a:solidFill>
                  <a:schemeClr val="bg1"/>
                </a:solidFill>
                <a:latin typeface="微软雅黑 Light" panose="020B0502040204020203" pitchFamily="34" charset="-122"/>
                <a:ea typeface="微软雅黑 Light" panose="020B0502040204020203" pitchFamily="34" charset="-122"/>
              </a:rPr>
              <a:t>人工神经元</a:t>
            </a:r>
            <a:r>
              <a:rPr lang="en-US" altLang="zh-CN" sz="2000" b="1" dirty="0">
                <a:solidFill>
                  <a:schemeClr val="bg1"/>
                </a:solidFill>
                <a:latin typeface="微软雅黑 Light" panose="020B0502040204020203" pitchFamily="34" charset="-122"/>
                <a:ea typeface="微软雅黑 Light" panose="020B0502040204020203" pitchFamily="34" charset="-122"/>
              </a:rPr>
              <a:t>=</a:t>
            </a:r>
            <a:r>
              <a:rPr lang="zh-CN" altLang="en-US" sz="2000" b="1" dirty="0">
                <a:solidFill>
                  <a:schemeClr val="bg1"/>
                </a:solidFill>
                <a:latin typeface="微软雅黑 Light" panose="020B0502040204020203" pitchFamily="34" charset="-122"/>
                <a:ea typeface="微软雅黑 Light" panose="020B0502040204020203" pitchFamily="34" charset="-122"/>
              </a:rPr>
              <a:t>老鼠</a:t>
            </a:r>
            <a:r>
              <a:rPr lang="en-US" altLang="zh-CN" sz="2000" b="1" dirty="0">
                <a:solidFill>
                  <a:schemeClr val="bg1"/>
                </a:solidFill>
                <a:latin typeface="微软雅黑 Light" panose="020B0502040204020203" pitchFamily="34" charset="-122"/>
                <a:ea typeface="微软雅黑 Light" panose="020B0502040204020203" pitchFamily="34" charset="-122"/>
              </a:rPr>
              <a:t>:</a:t>
            </a:r>
            <a:r>
              <a:rPr lang="zh-CN" altLang="en-US" sz="2000" b="1" dirty="0">
                <a:solidFill>
                  <a:schemeClr val="bg1"/>
                </a:solidFill>
                <a:latin typeface="微软雅黑 Light" panose="020B0502040204020203" pitchFamily="34" charset="-122"/>
                <a:ea typeface="微软雅黑 Light" panose="020B0502040204020203" pitchFamily="34" charset="-122"/>
              </a:rPr>
              <a:t>米老鼠</a:t>
            </a:r>
          </a:p>
        </p:txBody>
      </p:sp>
      <p:sp>
        <p:nvSpPr>
          <p:cNvPr id="14" name="灯片编号占位符 8">
            <a:extLst>
              <a:ext uri="{FF2B5EF4-FFF2-40B4-BE49-F238E27FC236}">
                <a16:creationId xmlns:a16="http://schemas.microsoft.com/office/drawing/2014/main" id="{19ACDCCE-F9EC-417D-B515-25480E2D2CEC}"/>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15</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97070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2"/>
            <a:ext cx="11637087" cy="7073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b="1" dirty="0"/>
              <a:t>一个完整的神经网络</a:t>
            </a:r>
            <a:endParaRPr lang="en-US" altLang="zh-CN" sz="2800" b="1" dirty="0"/>
          </a:p>
        </p:txBody>
      </p:sp>
      <p:pic>
        <p:nvPicPr>
          <p:cNvPr id="2" name="图片 1"/>
          <p:cNvPicPr>
            <a:picLocks noChangeAspect="1"/>
          </p:cNvPicPr>
          <p:nvPr/>
        </p:nvPicPr>
        <p:blipFill>
          <a:blip r:embed="rId5"/>
          <a:stretch>
            <a:fillRect/>
          </a:stretch>
        </p:blipFill>
        <p:spPr>
          <a:xfrm>
            <a:off x="9073661" y="712731"/>
            <a:ext cx="2682683" cy="5834614"/>
          </a:xfrm>
          <a:prstGeom prst="rect">
            <a:avLst/>
          </a:prstGeom>
        </p:spPr>
      </p:pic>
      <p:sp>
        <p:nvSpPr>
          <p:cNvPr id="30" name="矩形 29">
            <a:extLst>
              <a:ext uri="{FF2B5EF4-FFF2-40B4-BE49-F238E27FC236}">
                <a16:creationId xmlns:a16="http://schemas.microsoft.com/office/drawing/2014/main" id="{B0B92444-B6D6-402D-B146-72524AFA99B9}"/>
              </a:ext>
            </a:extLst>
          </p:cNvPr>
          <p:cNvSpPr/>
          <p:nvPr/>
        </p:nvSpPr>
        <p:spPr>
          <a:xfrm>
            <a:off x="557995" y="1488795"/>
            <a:ext cx="7896688" cy="501612"/>
          </a:xfrm>
          <a:prstGeom prst="rect">
            <a:avLst/>
          </a:prstGeom>
        </p:spPr>
        <p:txBody>
          <a:bodyPr wrap="square">
            <a:spAutoFit/>
          </a:bodyPr>
          <a:lstStyle/>
          <a:p>
            <a:pPr algn="just">
              <a:lnSpc>
                <a:spcPct val="150000"/>
              </a:lnSpc>
            </a:pP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训练：大量不同类型的动物样本进行训练神经网络模型</a:t>
            </a:r>
            <a:endPar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31" name="矩形 30">
            <a:extLst>
              <a:ext uri="{FF2B5EF4-FFF2-40B4-BE49-F238E27FC236}">
                <a16:creationId xmlns:a16="http://schemas.microsoft.com/office/drawing/2014/main" id="{7C6B7C40-27A9-4B1A-BD9C-8C768514F8CC}"/>
              </a:ext>
            </a:extLst>
          </p:cNvPr>
          <p:cNvSpPr/>
          <p:nvPr/>
        </p:nvSpPr>
        <p:spPr>
          <a:xfrm>
            <a:off x="563495" y="2825568"/>
            <a:ext cx="8352937" cy="1938992"/>
          </a:xfrm>
          <a:prstGeom prst="rect">
            <a:avLst/>
          </a:prstGeom>
        </p:spPr>
        <p:txBody>
          <a:bodyPr wrap="square">
            <a:spAutoFit/>
          </a:bodyPr>
          <a:lstStyle/>
          <a:p>
            <a:pPr algn="just">
              <a:lnSpc>
                <a:spcPct val="150000"/>
              </a:lnSpc>
            </a:pP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第一层：神经网络获取不同类型的特征，如颜色特征、边缘特征、直线特征、三角特征等</a:t>
            </a:r>
            <a:endPar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a:p>
            <a:pPr algn="just">
              <a:lnSpc>
                <a:spcPct val="150000"/>
              </a:lnSpc>
            </a:pP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更高层：在其前一层的基础上继续提取更抽象的结构</a:t>
            </a:r>
            <a:endPar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a:p>
            <a:pPr algn="just">
              <a:lnSpc>
                <a:spcPct val="150000"/>
              </a:lnSpc>
            </a:pP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最高层：提取到高复杂高抽象的特征，网路能够由此判别输入图像类别</a:t>
            </a:r>
            <a:endPar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32" name="矩形 31">
            <a:extLst>
              <a:ext uri="{FF2B5EF4-FFF2-40B4-BE49-F238E27FC236}">
                <a16:creationId xmlns:a16="http://schemas.microsoft.com/office/drawing/2014/main" id="{D6DBCC13-27ED-4792-8E56-A8616FC753AA}"/>
              </a:ext>
            </a:extLst>
          </p:cNvPr>
          <p:cNvSpPr/>
          <p:nvPr/>
        </p:nvSpPr>
        <p:spPr>
          <a:xfrm>
            <a:off x="563206" y="2106012"/>
            <a:ext cx="8155750" cy="501612"/>
          </a:xfrm>
          <a:prstGeom prst="rect">
            <a:avLst/>
          </a:prstGeom>
        </p:spPr>
        <p:txBody>
          <a:bodyPr wrap="square">
            <a:spAutoFit/>
          </a:bodyPr>
          <a:lstStyle/>
          <a:p>
            <a:pPr algn="just">
              <a:lnSpc>
                <a:spcPct val="150000"/>
              </a:lnSpc>
            </a:pP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输入：给神经网络输入一张未带任何标记的动物图像</a:t>
            </a:r>
            <a:endPar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34" name="矩形 33">
            <a:extLst>
              <a:ext uri="{FF2B5EF4-FFF2-40B4-BE49-F238E27FC236}">
                <a16:creationId xmlns:a16="http://schemas.microsoft.com/office/drawing/2014/main" id="{9325DB13-729E-4001-A3CF-C408C592E8F9}"/>
              </a:ext>
            </a:extLst>
          </p:cNvPr>
          <p:cNvSpPr/>
          <p:nvPr/>
        </p:nvSpPr>
        <p:spPr>
          <a:xfrm>
            <a:off x="570497" y="4912596"/>
            <a:ext cx="8328697" cy="963277"/>
          </a:xfrm>
          <a:prstGeom prst="rect">
            <a:avLst/>
          </a:prstGeom>
        </p:spPr>
        <p:txBody>
          <a:bodyPr wrap="square">
            <a:spAutoFit/>
          </a:bodyPr>
          <a:lstStyle/>
          <a:p>
            <a:pPr algn="just">
              <a:lnSpc>
                <a:spcPct val="150000"/>
              </a:lnSpc>
            </a:pP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输出：基于训练好的模型，神经网络以概率的形式给出输入图像里的动物类型。</a:t>
            </a:r>
            <a:endPar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16" name="灯片编号占位符 8">
            <a:extLst>
              <a:ext uri="{FF2B5EF4-FFF2-40B4-BE49-F238E27FC236}">
                <a16:creationId xmlns:a16="http://schemas.microsoft.com/office/drawing/2014/main" id="{CBD083FA-A884-42E9-8319-73E27DF21E29}"/>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16</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81480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感知机与大脑</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感知机类似于大脑的工作原理</a:t>
            </a:r>
            <a:endParaRPr lang="en-US" altLang="zh-CN" sz="2600" b="1" dirty="0"/>
          </a:p>
        </p:txBody>
      </p:sp>
      <p:pic>
        <p:nvPicPr>
          <p:cNvPr id="14" name="Picture 4" descr="https://upload-images.jianshu.io/upload_images/3927002-298f5f5d6e4e0968.jpg?imageMogr2/auto-orien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269" y="1824437"/>
            <a:ext cx="7248524" cy="2186638"/>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p:cNvSpPr/>
          <p:nvPr/>
        </p:nvSpPr>
        <p:spPr>
          <a:xfrm>
            <a:off x="1918444" y="4610168"/>
            <a:ext cx="1237320" cy="792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Light" panose="020B0502040204020203" pitchFamily="34" charset="-122"/>
                <a:ea typeface="微软雅黑 Light" panose="020B0502040204020203" pitchFamily="34" charset="-122"/>
              </a:rPr>
              <a:t>输入值</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algn="ctr"/>
            <a:r>
              <a:rPr lang="zh-CN" altLang="en-US" sz="2000" dirty="0">
                <a:solidFill>
                  <a:schemeClr val="tx1"/>
                </a:solidFill>
                <a:latin typeface="微软雅黑 Light" panose="020B0502040204020203" pitchFamily="34" charset="-122"/>
                <a:ea typeface="微软雅黑 Light" panose="020B0502040204020203" pitchFamily="34" charset="-122"/>
              </a:rPr>
              <a:t>（神经元）</a:t>
            </a:r>
          </a:p>
        </p:txBody>
      </p:sp>
      <p:sp>
        <p:nvSpPr>
          <p:cNvPr id="20" name="矩形 19"/>
          <p:cNvSpPr/>
          <p:nvPr/>
        </p:nvSpPr>
        <p:spPr>
          <a:xfrm>
            <a:off x="3978795" y="4577740"/>
            <a:ext cx="2592288" cy="792088"/>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Light" panose="020B0502040204020203" pitchFamily="34" charset="-122"/>
                <a:ea typeface="微软雅黑 Light" panose="020B0502040204020203" pitchFamily="34" charset="-122"/>
              </a:rPr>
              <a:t>权重</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algn="ctr"/>
            <a:r>
              <a:rPr lang="zh-CN" altLang="en-US" sz="2000" dirty="0">
                <a:solidFill>
                  <a:schemeClr val="tx1"/>
                </a:solidFill>
                <a:latin typeface="微软雅黑 Light" panose="020B0502040204020203" pitchFamily="34" charset="-122"/>
                <a:ea typeface="微软雅黑 Light" panose="020B0502040204020203" pitchFamily="34" charset="-122"/>
              </a:rPr>
              <a:t>（神经元的突触强度）</a:t>
            </a:r>
          </a:p>
        </p:txBody>
      </p:sp>
      <p:sp>
        <p:nvSpPr>
          <p:cNvPr id="21" name="矩形 20"/>
          <p:cNvSpPr/>
          <p:nvPr/>
        </p:nvSpPr>
        <p:spPr>
          <a:xfrm>
            <a:off x="7414158" y="4610168"/>
            <a:ext cx="1070198" cy="792088"/>
          </a:xfrm>
          <a:prstGeom prst="rect">
            <a:avLst/>
          </a:prstGeom>
          <a:noFill/>
          <a:ln>
            <a:solidFill>
              <a:srgbClr val="1E4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Light" panose="020B0502040204020203" pitchFamily="34" charset="-122"/>
                <a:ea typeface="微软雅黑 Light" panose="020B0502040204020203" pitchFamily="34" charset="-122"/>
              </a:rPr>
              <a:t>阈值</a:t>
            </a:r>
          </a:p>
        </p:txBody>
      </p:sp>
      <p:sp>
        <p:nvSpPr>
          <p:cNvPr id="22" name="矩形 21"/>
          <p:cNvSpPr/>
          <p:nvPr/>
        </p:nvSpPr>
        <p:spPr>
          <a:xfrm>
            <a:off x="2540471" y="1824437"/>
            <a:ext cx="327366" cy="21866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193492" y="1824437"/>
            <a:ext cx="330729" cy="2186638"/>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a:stCxn id="22" idx="2"/>
            <a:endCxn id="16" idx="0"/>
          </p:cNvCxnSpPr>
          <p:nvPr/>
        </p:nvCxnSpPr>
        <p:spPr>
          <a:xfrm flipH="1">
            <a:off x="2537104" y="4011075"/>
            <a:ext cx="167050" cy="599093"/>
          </a:xfrm>
          <a:prstGeom prst="line">
            <a:avLst/>
          </a:prstGeom>
          <a:noFill/>
          <a:ln w="15875" cap="flat" cmpd="sng">
            <a:solidFill>
              <a:srgbClr val="FF0000"/>
            </a:solidFill>
            <a:prstDash val="solid"/>
            <a:round/>
            <a:headEnd/>
            <a:tailEnd/>
          </a:ln>
          <a:effectLst/>
        </p:spPr>
      </p:cxnSp>
      <p:sp>
        <p:nvSpPr>
          <p:cNvPr id="30" name="矩形 29"/>
          <p:cNvSpPr/>
          <p:nvPr/>
        </p:nvSpPr>
        <p:spPr>
          <a:xfrm>
            <a:off x="6750765" y="1824437"/>
            <a:ext cx="864096" cy="2186638"/>
          </a:xfrm>
          <a:prstGeom prst="rect">
            <a:avLst/>
          </a:prstGeom>
          <a:noFill/>
          <a:ln w="28575">
            <a:solidFill>
              <a:srgbClr val="1E4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连接符 30"/>
          <p:cNvCxnSpPr>
            <a:stCxn id="23" idx="2"/>
            <a:endCxn id="20" idx="0"/>
          </p:cNvCxnSpPr>
          <p:nvPr/>
        </p:nvCxnSpPr>
        <p:spPr>
          <a:xfrm>
            <a:off x="3358857" y="4011075"/>
            <a:ext cx="1916082" cy="566665"/>
          </a:xfrm>
          <a:prstGeom prst="line">
            <a:avLst/>
          </a:prstGeom>
          <a:noFill/>
          <a:ln w="15875" cap="flat" cmpd="sng">
            <a:solidFill>
              <a:srgbClr val="92D050"/>
            </a:solidFill>
            <a:prstDash val="solid"/>
            <a:round/>
            <a:headEnd/>
            <a:tailEnd/>
          </a:ln>
          <a:effectLst/>
        </p:spPr>
      </p:cxnSp>
      <p:cxnSp>
        <p:nvCxnSpPr>
          <p:cNvPr id="32" name="直接连接符 31"/>
          <p:cNvCxnSpPr>
            <a:endCxn id="21" idx="0"/>
          </p:cNvCxnSpPr>
          <p:nvPr/>
        </p:nvCxnSpPr>
        <p:spPr>
          <a:xfrm>
            <a:off x="7174605" y="3995909"/>
            <a:ext cx="774652" cy="614259"/>
          </a:xfrm>
          <a:prstGeom prst="line">
            <a:avLst/>
          </a:prstGeom>
          <a:noFill/>
          <a:ln w="15875" cap="flat" cmpd="sng">
            <a:solidFill>
              <a:srgbClr val="1E4193"/>
            </a:solidFill>
            <a:prstDash val="solid"/>
            <a:round/>
            <a:headEnd/>
            <a:tailEnd/>
          </a:ln>
          <a:effectLst/>
        </p:spPr>
      </p:cxnSp>
      <p:sp>
        <p:nvSpPr>
          <p:cNvPr id="25" name="灯片编号占位符 8">
            <a:extLst>
              <a:ext uri="{FF2B5EF4-FFF2-40B4-BE49-F238E27FC236}">
                <a16:creationId xmlns:a16="http://schemas.microsoft.com/office/drawing/2014/main" id="{8EA0C6C5-F411-4860-95EE-76DEC53B707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17</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849611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感知机模型</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感知机模型</a:t>
            </a:r>
            <a:r>
              <a:rPr lang="en-US" altLang="zh-CN" sz="2600" b="1" dirty="0"/>
              <a:t>Perceptron model</a:t>
            </a:r>
          </a:p>
        </p:txBody>
      </p:sp>
      <mc:AlternateContent xmlns:mc="http://schemas.openxmlformats.org/markup-compatibility/2006" xmlns:a14="http://schemas.microsoft.com/office/drawing/2010/main">
        <mc:Choice Requires="a14">
          <p:sp>
            <p:nvSpPr>
              <p:cNvPr id="18" name="矩形 17"/>
              <p:cNvSpPr/>
              <p:nvPr/>
            </p:nvSpPr>
            <p:spPr>
              <a:xfrm>
                <a:off x="507103" y="1396640"/>
                <a:ext cx="11177793" cy="1691489"/>
              </a:xfrm>
              <a:prstGeom prst="rect">
                <a:avLst/>
              </a:prstGeom>
            </p:spPr>
            <p:txBody>
              <a:bodyPr wrap="square">
                <a:spAutoFit/>
              </a:bodyPr>
              <a:lstStyle/>
              <a:p>
                <a:pPr algn="just">
                  <a:lnSpc>
                    <a:spcPct val="150000"/>
                  </a:lnSpc>
                </a:pPr>
                <a:r>
                  <a:rPr lang="zh-CN" altLang="en-US" sz="2400" dirty="0">
                    <a:latin typeface="微软雅黑 Light" panose="020B0502040204020203" pitchFamily="34" charset="-122"/>
                    <a:ea typeface="微软雅黑 Light" panose="020B0502040204020203" pitchFamily="34" charset="-122"/>
                  </a:rPr>
                  <a:t>感知机模型</a:t>
                </a:r>
                <a14:m>
                  <m:oMath xmlns:m="http://schemas.openxmlformats.org/officeDocument/2006/math">
                    <m:r>
                      <m:rPr>
                        <m:sty m:val="p"/>
                      </m:rPr>
                      <a:rPr lang="en-US" altLang="zh-CN" sz="2400" b="0" i="0" smtClean="0">
                        <a:latin typeface="Cambria Math" panose="02040503050406030204" pitchFamily="18" charset="0"/>
                        <a:ea typeface="微软雅黑 Light" panose="020B0502040204020203" pitchFamily="34" charset="-122"/>
                      </a:rPr>
                      <m:t>f</m:t>
                    </m:r>
                    <m:d>
                      <m:dPr>
                        <m:ctrlPr>
                          <a:rPr lang="en-US" altLang="zh-CN" sz="2400" b="0" i="1" smtClean="0">
                            <a:latin typeface="Cambria Math" panose="02040503050406030204" pitchFamily="18" charset="0"/>
                            <a:ea typeface="微软雅黑 Light" panose="020B0502040204020203" pitchFamily="34" charset="-122"/>
                          </a:rPr>
                        </m:ctrlPr>
                      </m:dPr>
                      <m:e>
                        <m:r>
                          <m:rPr>
                            <m:sty m:val="p"/>
                          </m:rPr>
                          <a:rPr lang="en-US" altLang="zh-CN" sz="2400" b="0" i="0" smtClean="0">
                            <a:latin typeface="Cambria Math" panose="02040503050406030204" pitchFamily="18" charset="0"/>
                            <a:ea typeface="微软雅黑 Light" panose="020B0502040204020203" pitchFamily="34" charset="-122"/>
                          </a:rPr>
                          <m:t>x</m:t>
                        </m:r>
                      </m:e>
                    </m:d>
                    <m:r>
                      <a:rPr lang="en-US" altLang="zh-CN" sz="2400" b="0" i="0" smtClean="0">
                        <a:latin typeface="Cambria Math" panose="02040503050406030204" pitchFamily="18" charset="0"/>
                        <a:ea typeface="微软雅黑 Light" panose="020B0502040204020203" pitchFamily="34" charset="-122"/>
                      </a:rPr>
                      <m:t>=</m:t>
                    </m:r>
                    <m:r>
                      <m:rPr>
                        <m:sty m:val="p"/>
                      </m:rPr>
                      <a:rPr lang="en-US" altLang="zh-CN" sz="2400" b="0" i="0" smtClean="0">
                        <a:latin typeface="Cambria Math" panose="02040503050406030204" pitchFamily="18" charset="0"/>
                        <a:ea typeface="微软雅黑 Light" panose="020B0502040204020203" pitchFamily="34" charset="-122"/>
                      </a:rPr>
                      <m:t>sign</m:t>
                    </m:r>
                    <m:r>
                      <a:rPr lang="en-US" altLang="zh-CN" sz="2400" b="0" i="0" smtClean="0">
                        <a:latin typeface="Cambria Math" panose="02040503050406030204" pitchFamily="18" charset="0"/>
                        <a:ea typeface="微软雅黑 Light" panose="020B0502040204020203" pitchFamily="34" charset="-122"/>
                      </a:rPr>
                      <m:t>(</m:t>
                    </m:r>
                    <m:sSup>
                      <m:sSupPr>
                        <m:ctrlPr>
                          <a:rPr lang="en-US" altLang="zh-CN" sz="2400" i="1">
                            <a:latin typeface="Cambria Math" panose="02040503050406030204" pitchFamily="18" charset="0"/>
                            <a:ea typeface="微软雅黑 Light" panose="020B0502040204020203" pitchFamily="34" charset="-122"/>
                          </a:rPr>
                        </m:ctrlPr>
                      </m:sSupPr>
                      <m:e>
                        <m:r>
                          <a:rPr lang="en-US" altLang="zh-CN" sz="2400" b="1" i="1">
                            <a:latin typeface="Cambria Math" panose="02040503050406030204" pitchFamily="18" charset="0"/>
                            <a:ea typeface="微软雅黑 Light" panose="020B0502040204020203" pitchFamily="34" charset="-122"/>
                          </a:rPr>
                          <m:t>𝒘</m:t>
                        </m:r>
                      </m:e>
                      <m:sup>
                        <m:r>
                          <a:rPr lang="en-US" altLang="zh-CN" sz="2400" i="1">
                            <a:latin typeface="Cambria Math" panose="02040503050406030204" pitchFamily="18" charset="0"/>
                            <a:ea typeface="微软雅黑 Light" panose="020B0502040204020203" pitchFamily="34" charset="-122"/>
                          </a:rPr>
                          <m:t>𝑇</m:t>
                        </m:r>
                      </m:sup>
                    </m:sSup>
                    <m:r>
                      <a:rPr lang="en-US" altLang="zh-CN" sz="2400" b="1" i="1">
                        <a:latin typeface="Cambria Math" panose="02040503050406030204" pitchFamily="18" charset="0"/>
                        <a:ea typeface="微软雅黑 Light" panose="020B0502040204020203" pitchFamily="34" charset="-122"/>
                      </a:rPr>
                      <m:t>𝒙</m:t>
                    </m:r>
                    <m:r>
                      <a:rPr lang="en-US" altLang="zh-CN" sz="2400" i="1">
                        <a:latin typeface="Cambria Math" panose="02040503050406030204" pitchFamily="18" charset="0"/>
                        <a:ea typeface="微软雅黑 Light" panose="020B0502040204020203" pitchFamily="34" charset="-122"/>
                      </a:rPr>
                      <m:t>+</m:t>
                    </m:r>
                    <m:r>
                      <a:rPr lang="en-US" altLang="zh-CN" sz="2400" i="1">
                        <a:latin typeface="Cambria Math" panose="02040503050406030204" pitchFamily="18" charset="0"/>
                        <a:ea typeface="微软雅黑 Light" panose="020B0502040204020203" pitchFamily="34" charset="-122"/>
                      </a:rPr>
                      <m:t>𝑏</m:t>
                    </m:r>
                    <m:r>
                      <a:rPr lang="en-US" altLang="zh-CN" sz="2400" b="0" i="1" smtClean="0">
                        <a:latin typeface="Cambria Math" panose="02040503050406030204" pitchFamily="18" charset="0"/>
                        <a:ea typeface="微软雅黑 Light" panose="020B0502040204020203" pitchFamily="34" charset="-122"/>
                      </a:rPr>
                      <m:t>)</m:t>
                    </m:r>
                  </m:oMath>
                </a14:m>
                <a:r>
                  <a:rPr lang="zh-CN" altLang="en-US" sz="2400" dirty="0">
                    <a:latin typeface="微软雅黑 Light" panose="020B0502040204020203" pitchFamily="34" charset="-122"/>
                    <a:ea typeface="微软雅黑 Light" panose="020B0502040204020203" pitchFamily="34" charset="-122"/>
                  </a:rPr>
                  <a:t>对应一个超平面</a:t>
                </a:r>
                <a14:m>
                  <m:oMath xmlns:m="http://schemas.openxmlformats.org/officeDocument/2006/math">
                    <m:sSup>
                      <m:sSupPr>
                        <m:ctrlPr>
                          <a:rPr lang="en-US" altLang="zh-CN" sz="2400" i="1" smtClean="0">
                            <a:latin typeface="Cambria Math" panose="02040503050406030204" pitchFamily="18" charset="0"/>
                            <a:ea typeface="微软雅黑 Light" panose="020B0502040204020203" pitchFamily="34" charset="-122"/>
                          </a:rPr>
                        </m:ctrlPr>
                      </m:sSupPr>
                      <m:e>
                        <m:r>
                          <a:rPr lang="en-US" altLang="zh-CN" sz="2400" b="1" i="1" smtClean="0">
                            <a:latin typeface="Cambria Math" panose="02040503050406030204" pitchFamily="18" charset="0"/>
                            <a:ea typeface="微软雅黑 Light" panose="020B0502040204020203" pitchFamily="34" charset="-122"/>
                          </a:rPr>
                          <m:t>𝒘</m:t>
                        </m:r>
                      </m:e>
                      <m:sup>
                        <m:r>
                          <a:rPr lang="en-US" altLang="zh-CN" sz="2400" b="0" i="1" smtClean="0">
                            <a:latin typeface="Cambria Math" panose="02040503050406030204" pitchFamily="18" charset="0"/>
                            <a:ea typeface="微软雅黑 Light" panose="020B0502040204020203" pitchFamily="34" charset="-122"/>
                          </a:rPr>
                          <m:t>𝑇</m:t>
                        </m:r>
                      </m:sup>
                    </m:sSup>
                    <m:r>
                      <a:rPr lang="en-US" altLang="zh-CN" sz="2400" b="1" i="1" smtClean="0">
                        <a:latin typeface="Cambria Math" panose="02040503050406030204" pitchFamily="18" charset="0"/>
                        <a:ea typeface="微软雅黑 Light" panose="020B0502040204020203" pitchFamily="34" charset="-122"/>
                      </a:rPr>
                      <m:t>𝒙</m:t>
                    </m:r>
                    <m:r>
                      <a:rPr lang="en-US" altLang="zh-CN" sz="2400" b="0" i="1" smtClean="0">
                        <a:latin typeface="Cambria Math" panose="02040503050406030204" pitchFamily="18" charset="0"/>
                        <a:ea typeface="微软雅黑 Light" panose="020B0502040204020203" pitchFamily="34" charset="-122"/>
                      </a:rPr>
                      <m:t>+</m:t>
                    </m:r>
                    <m:r>
                      <a:rPr lang="en-US" altLang="zh-CN" sz="2400" b="0" i="1" smtClean="0">
                        <a:latin typeface="Cambria Math" panose="02040503050406030204" pitchFamily="18" charset="0"/>
                        <a:ea typeface="微软雅黑 Light" panose="020B0502040204020203" pitchFamily="34" charset="-122"/>
                      </a:rPr>
                      <m:t>𝑏</m:t>
                    </m:r>
                    <m:r>
                      <a:rPr lang="en-US" altLang="zh-CN" sz="2400" b="0" i="1" smtClean="0">
                        <a:latin typeface="Cambria Math" panose="02040503050406030204" pitchFamily="18" charset="0"/>
                        <a:ea typeface="微软雅黑 Light" panose="020B0502040204020203" pitchFamily="34" charset="-122"/>
                      </a:rPr>
                      <m:t>=0</m:t>
                    </m:r>
                  </m:oMath>
                </a14:m>
                <a:r>
                  <a:rPr lang="zh-CN" altLang="en-US" sz="2400" dirty="0">
                    <a:latin typeface="微软雅黑 Light" panose="020B0502040204020203" pitchFamily="34" charset="-122"/>
                    <a:ea typeface="微软雅黑 Light" panose="020B0502040204020203" pitchFamily="34" charset="-122"/>
                  </a:rPr>
                  <a:t>，模型参数是</a:t>
                </a:r>
                <a:r>
                  <a:rPr lang="en-US" altLang="zh-CN" sz="2400" dirty="0">
                    <a:latin typeface="微软雅黑 Light" panose="020B0502040204020203" pitchFamily="34" charset="-122"/>
                    <a:ea typeface="微软雅黑 Light" panose="020B0502040204020203" pitchFamily="34" charset="-122"/>
                  </a:rPr>
                  <a:t>(</a:t>
                </a:r>
                <a14:m>
                  <m:oMath xmlns:m="http://schemas.openxmlformats.org/officeDocument/2006/math">
                    <m:r>
                      <a:rPr lang="en-US" altLang="zh-CN" sz="2400" b="1" i="1" smtClean="0">
                        <a:latin typeface="Cambria Math" panose="02040503050406030204" pitchFamily="18" charset="0"/>
                        <a:ea typeface="微软雅黑 Light" panose="020B0502040204020203" pitchFamily="34" charset="-122"/>
                      </a:rPr>
                      <m:t>𝒘</m:t>
                    </m:r>
                    <m:r>
                      <a:rPr lang="en-US" altLang="zh-CN" sz="2400" b="1" i="1" smtClean="0">
                        <a:latin typeface="Cambria Math" panose="02040503050406030204" pitchFamily="18" charset="0"/>
                        <a:ea typeface="微软雅黑 Light" panose="020B0502040204020203" pitchFamily="34" charset="-122"/>
                      </a:rPr>
                      <m:t>,</m:t>
                    </m:r>
                    <m:r>
                      <a:rPr lang="en-US" altLang="zh-CN" sz="2400" i="1">
                        <a:latin typeface="Cambria Math" panose="02040503050406030204" pitchFamily="18" charset="0"/>
                        <a:ea typeface="微软雅黑 Light" panose="020B0502040204020203" pitchFamily="34" charset="-122"/>
                      </a:rPr>
                      <m:t>𝑏</m:t>
                    </m:r>
                  </m:oMath>
                </a14:m>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。感知机的目标是找到一个</a:t>
                </a:r>
                <a:r>
                  <a:rPr lang="en-US" altLang="zh-CN" sz="2400" dirty="0">
                    <a:latin typeface="微软雅黑 Light" panose="020B0502040204020203" pitchFamily="34" charset="-122"/>
                    <a:ea typeface="微软雅黑 Light" panose="020B0502040204020203" pitchFamily="34" charset="-122"/>
                  </a:rPr>
                  <a:t>(</a:t>
                </a:r>
                <a14:m>
                  <m:oMath xmlns:m="http://schemas.openxmlformats.org/officeDocument/2006/math">
                    <m:r>
                      <a:rPr lang="en-US" altLang="zh-CN" sz="2400" b="1" i="1">
                        <a:latin typeface="Cambria Math" panose="02040503050406030204" pitchFamily="18" charset="0"/>
                        <a:ea typeface="微软雅黑 Light" panose="020B0502040204020203" pitchFamily="34" charset="-122"/>
                      </a:rPr>
                      <m:t>𝒘</m:t>
                    </m:r>
                    <m:r>
                      <a:rPr lang="en-US" altLang="zh-CN" sz="2400" b="1" i="1">
                        <a:latin typeface="Cambria Math" panose="02040503050406030204" pitchFamily="18" charset="0"/>
                        <a:ea typeface="微软雅黑 Light" panose="020B0502040204020203" pitchFamily="34" charset="-122"/>
                      </a:rPr>
                      <m:t>,</m:t>
                    </m:r>
                    <m:r>
                      <a:rPr lang="en-US" altLang="zh-CN" sz="2400" i="1">
                        <a:latin typeface="Cambria Math" panose="02040503050406030204" pitchFamily="18" charset="0"/>
                        <a:ea typeface="微软雅黑 Light" panose="020B0502040204020203" pitchFamily="34" charset="-122"/>
                      </a:rPr>
                      <m:t>𝑏</m:t>
                    </m:r>
                  </m:oMath>
                </a14:m>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，将线性可分的数据集</a:t>
                </a:r>
                <a:r>
                  <a:rPr lang="en-US" altLang="zh-CN" sz="2400" dirty="0">
                    <a:latin typeface="微软雅黑 Light" panose="020B0502040204020203" pitchFamily="34" charset="-122"/>
                    <a:ea typeface="微软雅黑 Light" panose="020B0502040204020203" pitchFamily="34" charset="-122"/>
                  </a:rPr>
                  <a:t>T</a:t>
                </a:r>
                <a:r>
                  <a:rPr lang="zh-CN" altLang="en-US" sz="2400" dirty="0">
                    <a:latin typeface="微软雅黑 Light" panose="020B0502040204020203" pitchFamily="34" charset="-122"/>
                    <a:ea typeface="微软雅黑 Light" panose="020B0502040204020203" pitchFamily="34" charset="-122"/>
                  </a:rPr>
                  <a:t>中的所有的样本点正确地分为两类。</a:t>
                </a:r>
                <a:endParaRPr lang="en-US" altLang="zh-CN" sz="24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8" name="矩形 17"/>
              <p:cNvSpPr>
                <a:spLocks noRot="1" noChangeAspect="1" noMove="1" noResize="1" noEditPoints="1" noAdjustHandles="1" noChangeArrowheads="1" noChangeShapeType="1" noTextEdit="1"/>
              </p:cNvSpPr>
              <p:nvPr/>
            </p:nvSpPr>
            <p:spPr>
              <a:xfrm>
                <a:off x="507103" y="1396640"/>
                <a:ext cx="11177793" cy="1691489"/>
              </a:xfrm>
              <a:prstGeom prst="rect">
                <a:avLst/>
              </a:prstGeom>
              <a:blipFill rotWithShape="0">
                <a:blip r:embed="rId5"/>
                <a:stretch>
                  <a:fillRect l="-818" r="-818" b="-7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6243690" y="3672091"/>
                <a:ext cx="2809362" cy="7102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𝑠𝑖𝑔𝑛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≥0</m:t>
                              </m:r>
                            </m:e>
                            <m:e>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&lt;0</m:t>
                              </m:r>
                            </m:e>
                          </m:eqArr>
                        </m:e>
                      </m:d>
                    </m:oMath>
                  </m:oMathPara>
                </a14:m>
                <a:br>
                  <a:rPr lang="en-US" altLang="zh-CN" dirty="0"/>
                </a:br>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6243690" y="3672091"/>
                <a:ext cx="2809362" cy="710259"/>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6177099" y="3136391"/>
                <a:ext cx="280936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ea typeface="微软雅黑 Light" panose="020B0502040204020203" pitchFamily="34" charset="-122"/>
                        </a:rPr>
                        <m:t>f</m:t>
                      </m:r>
                      <m:d>
                        <m:dPr>
                          <m:ctrlPr>
                            <a:rPr lang="en-US" altLang="zh-CN" i="1">
                              <a:latin typeface="Cambria Math" panose="02040503050406030204" pitchFamily="18" charset="0"/>
                              <a:ea typeface="微软雅黑 Light" panose="020B0502040204020203" pitchFamily="34" charset="-122"/>
                            </a:rPr>
                          </m:ctrlPr>
                        </m:dPr>
                        <m:e>
                          <m:r>
                            <m:rPr>
                              <m:sty m:val="p"/>
                            </m:rPr>
                            <a:rPr lang="en-US" altLang="zh-CN">
                              <a:latin typeface="Cambria Math" panose="02040503050406030204" pitchFamily="18" charset="0"/>
                              <a:ea typeface="微软雅黑 Light" panose="020B0502040204020203" pitchFamily="34" charset="-122"/>
                            </a:rPr>
                            <m:t>x</m:t>
                          </m:r>
                        </m:e>
                      </m:d>
                      <m:r>
                        <a:rPr lang="en-US" altLang="zh-CN">
                          <a:latin typeface="Cambria Math" panose="02040503050406030204" pitchFamily="18" charset="0"/>
                          <a:ea typeface="微软雅黑 Light" panose="020B0502040204020203" pitchFamily="34" charset="-122"/>
                        </a:rPr>
                        <m:t>=</m:t>
                      </m:r>
                      <m:r>
                        <m:rPr>
                          <m:sty m:val="p"/>
                        </m:rPr>
                        <a:rPr lang="en-US" altLang="zh-CN">
                          <a:latin typeface="Cambria Math" panose="02040503050406030204" pitchFamily="18" charset="0"/>
                          <a:ea typeface="微软雅黑 Light" panose="020B0502040204020203" pitchFamily="34" charset="-122"/>
                        </a:rPr>
                        <m:t>sign</m:t>
                      </m:r>
                      <m:r>
                        <a:rPr lang="en-US" altLang="zh-CN">
                          <a:latin typeface="Cambria Math" panose="02040503050406030204" pitchFamily="18" charset="0"/>
                          <a:ea typeface="微软雅黑 Light" panose="020B0502040204020203" pitchFamily="34" charset="-122"/>
                        </a:rPr>
                        <m:t>(</m:t>
                      </m:r>
                      <m:sSup>
                        <m:sSupPr>
                          <m:ctrlPr>
                            <a:rPr lang="en-US" altLang="zh-CN" i="1">
                              <a:latin typeface="Cambria Math" panose="02040503050406030204" pitchFamily="18" charset="0"/>
                              <a:ea typeface="微软雅黑 Light" panose="020B0502040204020203" pitchFamily="34" charset="-122"/>
                            </a:rPr>
                          </m:ctrlPr>
                        </m:sSupPr>
                        <m:e>
                          <m:r>
                            <a:rPr lang="en-US" altLang="zh-CN" b="1" i="1">
                              <a:latin typeface="Cambria Math" panose="02040503050406030204" pitchFamily="18" charset="0"/>
                              <a:ea typeface="微软雅黑 Light" panose="020B0502040204020203" pitchFamily="34" charset="-122"/>
                            </a:rPr>
                            <m:t>𝒘</m:t>
                          </m:r>
                        </m:e>
                        <m:sup>
                          <m:r>
                            <a:rPr lang="en-US" altLang="zh-CN" i="1">
                              <a:latin typeface="Cambria Math" panose="02040503050406030204" pitchFamily="18" charset="0"/>
                              <a:ea typeface="微软雅黑 Light" panose="020B0502040204020203" pitchFamily="34" charset="-122"/>
                            </a:rPr>
                            <m:t>𝑇</m:t>
                          </m:r>
                        </m:sup>
                      </m:sSup>
                      <m:r>
                        <a:rPr lang="en-US" altLang="zh-CN" b="1" i="1">
                          <a:latin typeface="Cambria Math" panose="02040503050406030204" pitchFamily="18" charset="0"/>
                          <a:ea typeface="微软雅黑 Light" panose="020B0502040204020203" pitchFamily="34" charset="-122"/>
                        </a:rPr>
                        <m:t>𝒙</m:t>
                      </m:r>
                      <m:r>
                        <a:rPr lang="en-US" altLang="zh-CN" i="1">
                          <a:latin typeface="Cambria Math" panose="02040503050406030204" pitchFamily="18" charset="0"/>
                          <a:ea typeface="微软雅黑 Light" panose="020B0502040204020203" pitchFamily="34" charset="-122"/>
                        </a:rPr>
                        <m:t>+</m:t>
                      </m:r>
                      <m:r>
                        <a:rPr lang="en-US" altLang="zh-CN" i="1">
                          <a:latin typeface="Cambria Math" panose="02040503050406030204" pitchFamily="18" charset="0"/>
                          <a:ea typeface="微软雅黑 Light" panose="020B0502040204020203" pitchFamily="34" charset="-122"/>
                        </a:rPr>
                        <m:t>𝑏</m:t>
                      </m:r>
                      <m:r>
                        <a:rPr lang="en-US" altLang="zh-CN" i="1">
                          <a:latin typeface="Cambria Math" panose="02040503050406030204" pitchFamily="18" charset="0"/>
                          <a:ea typeface="微软雅黑 Light" panose="020B0502040204020203" pitchFamily="34" charset="-122"/>
                        </a:rPr>
                        <m:t>)</m:t>
                      </m:r>
                    </m:oMath>
                  </m:oMathPara>
                </a14:m>
                <a:endParaRPr lang="zh-CN"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6177099" y="3136391"/>
                <a:ext cx="2809362" cy="369332"/>
              </a:xfrm>
              <a:prstGeom prst="rect">
                <a:avLst/>
              </a:prstGeom>
              <a:blipFill rotWithShape="0">
                <a:blip r:embed="rId7"/>
                <a:stretch>
                  <a:fillRect b="-13115"/>
                </a:stretch>
              </a:blipFill>
            </p:spPr>
            <p:txBody>
              <a:bodyPr/>
              <a:lstStyle/>
              <a:p>
                <a:r>
                  <a:rPr lang="zh-CN" altLang="en-US">
                    <a:noFill/>
                  </a:rPr>
                  <a:t> </a:t>
                </a:r>
              </a:p>
            </p:txBody>
          </p:sp>
        </mc:Fallback>
      </mc:AlternateContent>
      <p:sp>
        <p:nvSpPr>
          <p:cNvPr id="26" name="下箭头 25"/>
          <p:cNvSpPr/>
          <p:nvPr/>
        </p:nvSpPr>
        <p:spPr>
          <a:xfrm>
            <a:off x="7382711" y="4478146"/>
            <a:ext cx="190584" cy="604627"/>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6446000" y="5201037"/>
            <a:ext cx="2305469" cy="962892"/>
          </a:xfrm>
          <a:prstGeom prst="rect">
            <a:avLst/>
          </a:prstGeom>
        </p:spPr>
        <p:txBody>
          <a:bodyPr wrap="square">
            <a:spAutoFit/>
          </a:bodyPr>
          <a:lstStyle/>
          <a:p>
            <a:pPr algn="just">
              <a:lnSpc>
                <a:spcPct val="150000"/>
              </a:lnSpc>
            </a:pPr>
            <a:r>
              <a:rPr lang="zh-CN" altLang="en-US" sz="2000" dirty="0">
                <a:latin typeface="微软雅黑 Light" panose="020B0502040204020203" pitchFamily="34" charset="-122"/>
                <a:ea typeface="微软雅黑 Light" panose="020B0502040204020203" pitchFamily="34" charset="-122"/>
              </a:rPr>
              <a:t>寻找损失函数，并将损失函数最小化</a:t>
            </a:r>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pic>
        <p:nvPicPr>
          <p:cNvPr id="28" name="图片 2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47119" y="3222827"/>
            <a:ext cx="3593177" cy="3258173"/>
          </a:xfrm>
          <a:prstGeom prst="rect">
            <a:avLst/>
          </a:prstGeom>
        </p:spPr>
      </p:pic>
      <p:sp>
        <p:nvSpPr>
          <p:cNvPr id="2" name="文本框 1"/>
          <p:cNvSpPr txBox="1"/>
          <p:nvPr/>
        </p:nvSpPr>
        <p:spPr>
          <a:xfrm>
            <a:off x="4939304" y="3842554"/>
            <a:ext cx="1304386" cy="400110"/>
          </a:xfrm>
          <a:prstGeom prst="rect">
            <a:avLst/>
          </a:prstGeom>
          <a:noFill/>
        </p:spPr>
        <p:txBody>
          <a:bodyPr wrap="square" rtlCol="0">
            <a:spAutoFit/>
          </a:bodyPr>
          <a:lstStyle/>
          <a:p>
            <a:r>
              <a:rPr lang="zh-CN" altLang="en-US" sz="2000" dirty="0"/>
              <a:t>激活函数</a:t>
            </a:r>
          </a:p>
        </p:txBody>
      </p:sp>
      <p:sp>
        <p:nvSpPr>
          <p:cNvPr id="21" name="灯片编号占位符 8">
            <a:extLst>
              <a:ext uri="{FF2B5EF4-FFF2-40B4-BE49-F238E27FC236}">
                <a16:creationId xmlns:a16="http://schemas.microsoft.com/office/drawing/2014/main" id="{BDFCA0FD-EDB5-4FFE-B76C-A81A53DF1235}"/>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18</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41878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感知机模型</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寻找损失函数</a:t>
            </a:r>
            <a:endParaRPr lang="en-US" altLang="zh-CN" sz="2600" b="1" dirty="0"/>
          </a:p>
        </p:txBody>
      </p:sp>
      <mc:AlternateContent xmlns:mc="http://schemas.openxmlformats.org/markup-compatibility/2006" xmlns:a14="http://schemas.microsoft.com/office/drawing/2010/main">
        <mc:Choice Requires="a14">
          <p:sp>
            <p:nvSpPr>
              <p:cNvPr id="14" name="矩形 13"/>
              <p:cNvSpPr/>
              <p:nvPr/>
            </p:nvSpPr>
            <p:spPr>
              <a:xfrm>
                <a:off x="293722" y="1237956"/>
                <a:ext cx="11657238" cy="1514389"/>
              </a:xfrm>
              <a:prstGeom prst="rect">
                <a:avLst/>
              </a:prstGeom>
            </p:spPr>
            <p:txBody>
              <a:bodyPr wrap="square">
                <a:spAutoFit/>
              </a:bodyPr>
              <a:lstStyle/>
              <a:p>
                <a:pPr algn="just">
                  <a:lnSpc>
                    <a:spcPct val="150000"/>
                  </a:lnSpc>
                </a:pPr>
                <a:r>
                  <a:rPr lang="zh-CN" altLang="en-US" sz="2000" dirty="0">
                    <a:latin typeface="微软雅黑 Light" panose="020B0502040204020203" pitchFamily="34" charset="-122"/>
                    <a:ea typeface="微软雅黑 Light" panose="020B0502040204020203" pitchFamily="34" charset="-122"/>
                  </a:rPr>
                  <a:t>       考虑一个训练数据集</a:t>
                </a:r>
                <a14:m>
                  <m:oMath xmlns:m="http://schemas.openxmlformats.org/officeDocument/2006/math">
                    <m:r>
                      <m:rPr>
                        <m:sty m:val="p"/>
                      </m:rPr>
                      <a:rPr lang="en-US" altLang="zh-CN" sz="2000" b="0" i="0" smtClean="0">
                        <a:latin typeface="Cambria Math" panose="02040503050406030204" pitchFamily="18" charset="0"/>
                        <a:ea typeface="微软雅黑 Light" panose="020B0502040204020203" pitchFamily="34" charset="-122"/>
                      </a:rPr>
                      <m:t>D</m:t>
                    </m:r>
                    <m:r>
                      <a:rPr lang="en-US" altLang="zh-CN" sz="2000" b="0" i="0" smtClean="0">
                        <a:latin typeface="Cambria Math" panose="02040503050406030204" pitchFamily="18" charset="0"/>
                        <a:ea typeface="微软雅黑 Light" panose="020B0502040204020203" pitchFamily="34" charset="-122"/>
                      </a:rPr>
                      <m:t>={</m:t>
                    </m:r>
                    <m:d>
                      <m:dPr>
                        <m:ctrlPr>
                          <a:rPr lang="en-US" altLang="zh-CN" sz="2000" b="0" i="1" smtClean="0">
                            <a:latin typeface="Cambria Math" panose="02040503050406030204" pitchFamily="18" charset="0"/>
                            <a:ea typeface="微软雅黑 Light" panose="020B0502040204020203" pitchFamily="34" charset="-122"/>
                          </a:rPr>
                        </m:ctrlPr>
                      </m:dPr>
                      <m:e>
                        <m:sSub>
                          <m:sSubPr>
                            <m:ctrlPr>
                              <a:rPr lang="en-US" altLang="zh-CN" sz="2000" b="0" i="1" smtClean="0">
                                <a:latin typeface="Cambria Math" panose="02040503050406030204" pitchFamily="18" charset="0"/>
                                <a:ea typeface="微软雅黑 Light" panose="020B0502040204020203" pitchFamily="34" charset="-122"/>
                              </a:rPr>
                            </m:ctrlPr>
                          </m:sSubPr>
                          <m:e>
                            <m:r>
                              <a:rPr lang="en-US" altLang="zh-CN" sz="2000" b="1" i="1" smtClean="0">
                                <a:latin typeface="Cambria Math" panose="02040503050406030204" pitchFamily="18" charset="0"/>
                                <a:ea typeface="微软雅黑 Light" panose="020B0502040204020203" pitchFamily="34" charset="-122"/>
                              </a:rPr>
                              <m:t>𝒙</m:t>
                            </m:r>
                          </m:e>
                          <m:sub>
                            <m:r>
                              <a:rPr lang="en-US" altLang="zh-CN" sz="2000" b="0" i="1" smtClean="0">
                                <a:latin typeface="Cambria Math" panose="02040503050406030204" pitchFamily="18" charset="0"/>
                                <a:ea typeface="微软雅黑 Light" panose="020B0502040204020203" pitchFamily="34" charset="-122"/>
                              </a:rPr>
                              <m:t>1</m:t>
                            </m:r>
                          </m:sub>
                        </m:sSub>
                        <m:r>
                          <a:rPr lang="en-US" altLang="zh-CN" sz="2000" b="0" i="1" smtClean="0">
                            <a:latin typeface="Cambria Math" panose="02040503050406030204" pitchFamily="18" charset="0"/>
                            <a:ea typeface="微软雅黑 Light" panose="020B0502040204020203" pitchFamily="34" charset="-122"/>
                          </a:rPr>
                          <m:t>,</m:t>
                        </m:r>
                        <m:sSub>
                          <m:sSubPr>
                            <m:ctrlPr>
                              <a:rPr lang="en-US" altLang="zh-CN" sz="2000" i="1">
                                <a:latin typeface="Cambria Math" panose="02040503050406030204" pitchFamily="18" charset="0"/>
                                <a:ea typeface="微软雅黑 Light" panose="020B0502040204020203" pitchFamily="34" charset="-122"/>
                              </a:rPr>
                            </m:ctrlPr>
                          </m:sSubPr>
                          <m:e>
                            <m:r>
                              <a:rPr lang="en-US" altLang="zh-CN" sz="2000" b="0" i="1" smtClean="0">
                                <a:latin typeface="Cambria Math" panose="02040503050406030204" pitchFamily="18" charset="0"/>
                                <a:ea typeface="微软雅黑 Light" panose="020B0502040204020203" pitchFamily="34" charset="-122"/>
                              </a:rPr>
                              <m:t>𝑦</m:t>
                            </m:r>
                          </m:e>
                          <m:sub>
                            <m:r>
                              <a:rPr lang="en-US" altLang="zh-CN" sz="2000" i="1">
                                <a:latin typeface="Cambria Math" panose="02040503050406030204" pitchFamily="18" charset="0"/>
                                <a:ea typeface="微软雅黑 Light" panose="020B0502040204020203" pitchFamily="34" charset="-122"/>
                              </a:rPr>
                              <m:t>1</m:t>
                            </m:r>
                          </m:sub>
                        </m:sSub>
                      </m:e>
                    </m:d>
                    <m:r>
                      <a:rPr lang="en-US" altLang="zh-CN" sz="2000" b="0" i="1" smtClean="0">
                        <a:latin typeface="Cambria Math" panose="02040503050406030204" pitchFamily="18" charset="0"/>
                        <a:ea typeface="微软雅黑 Light" panose="020B0502040204020203" pitchFamily="34" charset="-122"/>
                      </a:rPr>
                      <m:t>,</m:t>
                    </m:r>
                    <m:d>
                      <m:dPr>
                        <m:ctrlPr>
                          <a:rPr lang="en-US" altLang="zh-CN" sz="2000" b="0" i="1" smtClean="0">
                            <a:latin typeface="Cambria Math" panose="02040503050406030204" pitchFamily="18" charset="0"/>
                            <a:ea typeface="微软雅黑 Light" panose="020B0502040204020203" pitchFamily="34" charset="-122"/>
                          </a:rPr>
                        </m:ctrlPr>
                      </m:dPr>
                      <m:e>
                        <m:sSub>
                          <m:sSubPr>
                            <m:ctrlPr>
                              <a:rPr lang="en-US" altLang="zh-CN" sz="2000" i="1">
                                <a:latin typeface="Cambria Math" panose="02040503050406030204" pitchFamily="18" charset="0"/>
                                <a:ea typeface="微软雅黑 Light" panose="020B0502040204020203" pitchFamily="34" charset="-122"/>
                              </a:rPr>
                            </m:ctrlPr>
                          </m:sSubPr>
                          <m:e>
                            <m:r>
                              <a:rPr lang="en-US" altLang="zh-CN" sz="2000" b="1" i="1">
                                <a:latin typeface="Cambria Math" panose="02040503050406030204" pitchFamily="18" charset="0"/>
                                <a:ea typeface="微软雅黑 Light" panose="020B0502040204020203" pitchFamily="34" charset="-122"/>
                              </a:rPr>
                              <m:t>𝒙</m:t>
                            </m:r>
                          </m:e>
                          <m:sub>
                            <m:r>
                              <a:rPr lang="en-US" altLang="zh-CN" sz="2000" b="0" i="1" smtClean="0">
                                <a:latin typeface="Cambria Math" panose="02040503050406030204" pitchFamily="18" charset="0"/>
                                <a:ea typeface="微软雅黑 Light" panose="020B0502040204020203" pitchFamily="34" charset="-122"/>
                              </a:rPr>
                              <m:t>2</m:t>
                            </m:r>
                          </m:sub>
                        </m:sSub>
                        <m:r>
                          <a:rPr lang="en-US" altLang="zh-CN" sz="2000" i="1">
                            <a:latin typeface="Cambria Math" panose="02040503050406030204" pitchFamily="18" charset="0"/>
                            <a:ea typeface="微软雅黑 Light" panose="020B0502040204020203" pitchFamily="34" charset="-122"/>
                          </a:rPr>
                          <m:t>,</m:t>
                        </m:r>
                        <m:sSub>
                          <m:sSubPr>
                            <m:ctrlPr>
                              <a:rPr lang="en-US" altLang="zh-CN" sz="2000" i="1">
                                <a:latin typeface="Cambria Math" panose="02040503050406030204" pitchFamily="18" charset="0"/>
                                <a:ea typeface="微软雅黑 Light" panose="020B0502040204020203" pitchFamily="34" charset="-122"/>
                              </a:rPr>
                            </m:ctrlPr>
                          </m:sSubPr>
                          <m:e>
                            <m:r>
                              <a:rPr lang="en-US" altLang="zh-CN" sz="2000" i="1">
                                <a:latin typeface="Cambria Math" panose="02040503050406030204" pitchFamily="18" charset="0"/>
                                <a:ea typeface="微软雅黑 Light" panose="020B0502040204020203" pitchFamily="34" charset="-122"/>
                              </a:rPr>
                              <m:t>𝑦</m:t>
                            </m:r>
                          </m:e>
                          <m:sub>
                            <m:r>
                              <a:rPr lang="en-US" altLang="zh-CN" sz="2000" b="0" i="1" smtClean="0">
                                <a:latin typeface="Cambria Math" panose="02040503050406030204" pitchFamily="18" charset="0"/>
                                <a:ea typeface="微软雅黑 Light" panose="020B0502040204020203" pitchFamily="34" charset="-122"/>
                              </a:rPr>
                              <m:t>2</m:t>
                            </m:r>
                          </m:sub>
                        </m:sSub>
                      </m:e>
                    </m:d>
                    <m:r>
                      <a:rPr lang="en-US" altLang="zh-CN" sz="2000" b="0" i="1" smtClean="0">
                        <a:latin typeface="Cambria Math" panose="02040503050406030204" pitchFamily="18" charset="0"/>
                        <a:ea typeface="微软雅黑 Light" panose="020B0502040204020203" pitchFamily="34" charset="-122"/>
                      </a:rPr>
                      <m:t>,…,</m:t>
                    </m:r>
                    <m:sSub>
                      <m:sSubPr>
                        <m:ctrlPr>
                          <a:rPr lang="en-US" altLang="zh-CN" sz="2000" i="1">
                            <a:latin typeface="Cambria Math" panose="02040503050406030204" pitchFamily="18" charset="0"/>
                            <a:ea typeface="微软雅黑 Light" panose="020B0502040204020203" pitchFamily="34" charset="-122"/>
                          </a:rPr>
                        </m:ctrlPr>
                      </m:sSubPr>
                      <m:e>
                        <m:r>
                          <a:rPr lang="en-US" altLang="zh-CN" sz="2000" b="0" i="1" smtClean="0">
                            <a:latin typeface="Cambria Math" panose="02040503050406030204" pitchFamily="18" charset="0"/>
                            <a:ea typeface="微软雅黑 Light" panose="020B0502040204020203" pitchFamily="34" charset="-122"/>
                          </a:rPr>
                          <m:t>(</m:t>
                        </m:r>
                        <m:r>
                          <a:rPr lang="en-US" altLang="zh-CN" sz="2000" b="1" i="1">
                            <a:latin typeface="Cambria Math" panose="02040503050406030204" pitchFamily="18" charset="0"/>
                            <a:ea typeface="微软雅黑 Light" panose="020B0502040204020203" pitchFamily="34" charset="-122"/>
                          </a:rPr>
                          <m:t>𝒙</m:t>
                        </m:r>
                      </m:e>
                      <m:sub>
                        <m:r>
                          <a:rPr lang="en-US" altLang="zh-CN" sz="2000" b="0" i="1" smtClean="0">
                            <a:latin typeface="Cambria Math" panose="02040503050406030204" pitchFamily="18" charset="0"/>
                            <a:ea typeface="微软雅黑 Light" panose="020B0502040204020203" pitchFamily="34" charset="-122"/>
                          </a:rPr>
                          <m:t>𝑚</m:t>
                        </m:r>
                      </m:sub>
                    </m:sSub>
                    <m:r>
                      <a:rPr lang="en-US" altLang="zh-CN" sz="2000" i="1">
                        <a:latin typeface="Cambria Math" panose="02040503050406030204" pitchFamily="18" charset="0"/>
                        <a:ea typeface="微软雅黑 Light" panose="020B0502040204020203" pitchFamily="34" charset="-122"/>
                      </a:rPr>
                      <m:t>,</m:t>
                    </m:r>
                    <m:sSub>
                      <m:sSubPr>
                        <m:ctrlPr>
                          <a:rPr lang="en-US" altLang="zh-CN" sz="2000" i="1">
                            <a:latin typeface="Cambria Math" panose="02040503050406030204" pitchFamily="18" charset="0"/>
                            <a:ea typeface="微软雅黑 Light" panose="020B0502040204020203" pitchFamily="34" charset="-122"/>
                          </a:rPr>
                        </m:ctrlPr>
                      </m:sSubPr>
                      <m:e>
                        <m:r>
                          <a:rPr lang="en-US" altLang="zh-CN" sz="2000" i="1">
                            <a:latin typeface="Cambria Math" panose="02040503050406030204" pitchFamily="18" charset="0"/>
                            <a:ea typeface="微软雅黑 Light" panose="020B0502040204020203" pitchFamily="34" charset="-122"/>
                          </a:rPr>
                          <m:t>𝑦</m:t>
                        </m:r>
                      </m:e>
                      <m:sub>
                        <m:r>
                          <a:rPr lang="en-US" altLang="zh-CN" sz="2000" b="0" i="1" smtClean="0">
                            <a:latin typeface="Cambria Math" panose="02040503050406030204" pitchFamily="18" charset="0"/>
                            <a:ea typeface="微软雅黑 Light" panose="020B0502040204020203" pitchFamily="34" charset="-122"/>
                          </a:rPr>
                          <m:t>𝑚</m:t>
                        </m:r>
                      </m:sub>
                    </m:sSub>
                    <m:r>
                      <a:rPr lang="en-US" altLang="zh-CN" sz="2000" b="0" i="1" smtClean="0">
                        <a:latin typeface="Cambria Math" panose="02040503050406030204" pitchFamily="18" charset="0"/>
                        <a:ea typeface="微软雅黑 Light" panose="020B0502040204020203" pitchFamily="34" charset="-122"/>
                      </a:rPr>
                      <m:t>)}</m:t>
                    </m:r>
                  </m:oMath>
                </a14:m>
                <a:r>
                  <a:rPr lang="zh-CN" altLang="en-US" sz="2000" dirty="0">
                    <a:latin typeface="微软雅黑 Light" panose="020B0502040204020203" pitchFamily="34" charset="-122"/>
                    <a:ea typeface="微软雅黑 Light" panose="020B0502040204020203" pitchFamily="34" charset="-122"/>
                  </a:rPr>
                  <a:t>，其中，</a:t>
                </a:r>
                <a:r>
                  <a:rPr lang="en-US" altLang="zh-CN" sz="2000" dirty="0">
                    <a:ea typeface="微软雅黑 Light" panose="020B0502040204020203" pitchFamily="34" charset="-122"/>
                  </a:rPr>
                  <a:t> </a:t>
                </a:r>
                <a14:m>
                  <m:oMath xmlns:m="http://schemas.openxmlformats.org/officeDocument/2006/math">
                    <m:sSub>
                      <m:sSubPr>
                        <m:ctrlPr>
                          <a:rPr lang="en-US" altLang="zh-CN" sz="2000" i="1">
                            <a:latin typeface="Cambria Math" panose="02040503050406030204" pitchFamily="18" charset="0"/>
                            <a:ea typeface="微软雅黑 Light" panose="020B0502040204020203" pitchFamily="34" charset="-122"/>
                          </a:rPr>
                        </m:ctrlPr>
                      </m:sSubPr>
                      <m:e>
                        <m:r>
                          <a:rPr lang="en-US" altLang="zh-CN" sz="2000" b="1" i="1">
                            <a:latin typeface="Cambria Math" panose="02040503050406030204" pitchFamily="18" charset="0"/>
                            <a:ea typeface="微软雅黑 Light" panose="020B0502040204020203" pitchFamily="34" charset="-122"/>
                          </a:rPr>
                          <m:t>𝒙</m:t>
                        </m:r>
                      </m:e>
                      <m:sub>
                        <m:r>
                          <a:rPr lang="en-US" altLang="zh-CN" sz="2000" b="0" i="1" smtClean="0">
                            <a:latin typeface="Cambria Math" panose="02040503050406030204" pitchFamily="18" charset="0"/>
                            <a:ea typeface="微软雅黑 Light" panose="020B0502040204020203" pitchFamily="34" charset="-122"/>
                          </a:rPr>
                          <m:t>𝑗</m:t>
                        </m:r>
                      </m:sub>
                    </m:sSub>
                    <m:r>
                      <a:rPr lang="zh-CN" altLang="en-US" sz="2000" i="1">
                        <a:latin typeface="Cambria Math" panose="02040503050406030204" pitchFamily="18" charset="0"/>
                        <a:ea typeface="微软雅黑 Light" panose="020B0502040204020203" pitchFamily="34" charset="-122"/>
                      </a:rPr>
                      <m:t>∈</m:t>
                    </m:r>
                    <m:sSup>
                      <m:sSupPr>
                        <m:ctrlPr>
                          <a:rPr lang="en-US" altLang="zh-CN" sz="2000" i="1" smtClean="0">
                            <a:latin typeface="Cambria Math" panose="02040503050406030204" pitchFamily="18" charset="0"/>
                            <a:ea typeface="微软雅黑 Light" panose="020B0502040204020203" pitchFamily="34" charset="-122"/>
                          </a:rPr>
                        </m:ctrlPr>
                      </m:sSupPr>
                      <m:e>
                        <m:r>
                          <m:rPr>
                            <m:sty m:val="p"/>
                          </m:rPr>
                          <a:rPr lang="en-US" altLang="zh-CN" sz="2000" i="1">
                            <a:latin typeface="Cambria Math" panose="02040503050406030204" pitchFamily="18" charset="0"/>
                            <a:ea typeface="微软雅黑 Light" panose="020B0502040204020203" pitchFamily="34" charset="-122"/>
                          </a:rPr>
                          <m:t>R</m:t>
                        </m:r>
                      </m:e>
                      <m:sup>
                        <m:r>
                          <a:rPr lang="en-US" altLang="zh-CN" sz="2000" b="0" i="1" smtClean="0">
                            <a:latin typeface="Cambria Math" panose="02040503050406030204" pitchFamily="18" charset="0"/>
                            <a:ea typeface="微软雅黑 Light" panose="020B0502040204020203" pitchFamily="34" charset="-122"/>
                          </a:rPr>
                          <m:t>𝑛</m:t>
                        </m:r>
                      </m:sup>
                    </m:sSup>
                    <m:r>
                      <a:rPr lang="en-US" altLang="zh-CN" sz="2000" i="1">
                        <a:latin typeface="Cambria Math" panose="02040503050406030204" pitchFamily="18" charset="0"/>
                        <a:ea typeface="微软雅黑 Light" panose="020B0502040204020203" pitchFamily="34" charset="-122"/>
                      </a:rPr>
                      <m:t>,</m:t>
                    </m:r>
                    <m:sSub>
                      <m:sSubPr>
                        <m:ctrlPr>
                          <a:rPr lang="en-US" altLang="zh-CN" sz="2000" i="1">
                            <a:latin typeface="Cambria Math" panose="02040503050406030204" pitchFamily="18" charset="0"/>
                            <a:ea typeface="微软雅黑 Light" panose="020B0502040204020203" pitchFamily="34" charset="-122"/>
                          </a:rPr>
                        </m:ctrlPr>
                      </m:sSubPr>
                      <m:e>
                        <m:r>
                          <a:rPr lang="en-US" altLang="zh-CN" sz="2000" i="1">
                            <a:latin typeface="Cambria Math" panose="02040503050406030204" pitchFamily="18" charset="0"/>
                            <a:ea typeface="微软雅黑 Light" panose="020B0502040204020203" pitchFamily="34" charset="-122"/>
                          </a:rPr>
                          <m:t>𝑦</m:t>
                        </m:r>
                      </m:e>
                      <m:sub>
                        <m:r>
                          <a:rPr lang="en-US" altLang="zh-CN" sz="2000" b="0" i="1" smtClean="0">
                            <a:latin typeface="Cambria Math" panose="02040503050406030204" pitchFamily="18" charset="0"/>
                            <a:ea typeface="微软雅黑 Light" panose="020B0502040204020203" pitchFamily="34" charset="-122"/>
                          </a:rPr>
                          <m:t>𝑗</m:t>
                        </m:r>
                      </m:sub>
                    </m:sSub>
                    <m:r>
                      <a:rPr lang="en-US" altLang="zh-CN" sz="2000" i="1">
                        <a:latin typeface="Cambria Math" panose="02040503050406030204" pitchFamily="18" charset="0"/>
                        <a:ea typeface="微软雅黑 Light" panose="020B0502040204020203" pitchFamily="34" charset="-122"/>
                      </a:rPr>
                      <m:t> </m:t>
                    </m:r>
                    <m:r>
                      <a:rPr lang="en-US" altLang="zh-CN" sz="2000" i="1" smtClean="0">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1,−1</m:t>
                    </m:r>
                    <m:r>
                      <a:rPr lang="en-US" altLang="zh-CN" sz="2000" i="1">
                        <a:latin typeface="Cambria Math" panose="02040503050406030204" pitchFamily="18" charset="0"/>
                        <a:ea typeface="Cambria Math" panose="02040503050406030204" pitchFamily="18" charset="0"/>
                      </a:rPr>
                      <m:t>}</m:t>
                    </m:r>
                  </m:oMath>
                </a14:m>
                <a:r>
                  <a:rPr lang="zh-CN" altLang="en-US" sz="2000" kern="0" dirty="0">
                    <a:latin typeface="微软雅黑 Light" panose="020B0502040204020203" pitchFamily="34" charset="-122"/>
                    <a:ea typeface="微软雅黑 Light" panose="020B0502040204020203" pitchFamily="34" charset="-122"/>
                    <a:cs typeface="宋体" panose="02010600030101010101" pitchFamily="2" charset="-122"/>
                  </a:rPr>
                  <a:t> 。如果存在某个超平面</a:t>
                </a:r>
                <a14:m>
                  <m:oMath xmlns:m="http://schemas.openxmlformats.org/officeDocument/2006/math">
                    <m:r>
                      <m:rPr>
                        <m:sty m:val="p"/>
                      </m:rPr>
                      <a:rPr lang="en-US" altLang="zh-CN" sz="2000" i="1" kern="0" dirty="0" smtClean="0">
                        <a:latin typeface="Cambria Math" panose="02040503050406030204" pitchFamily="18" charset="0"/>
                      </a:rPr>
                      <m:t>S</m:t>
                    </m:r>
                    <m:r>
                      <a:rPr lang="en-US" altLang="zh-CN" sz="2000" b="0" i="1" kern="0" dirty="0" smtClean="0">
                        <a:latin typeface="Cambria Math" panose="02040503050406030204" pitchFamily="18" charset="0"/>
                      </a:rPr>
                      <m:t>:</m:t>
                    </m:r>
                    <m:d>
                      <m:dPr>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ea typeface="微软雅黑 Light" panose="020B0502040204020203" pitchFamily="34" charset="-122"/>
                              </a:rPr>
                            </m:ctrlPr>
                          </m:sSupPr>
                          <m:e>
                            <m:r>
                              <a:rPr lang="en-US" altLang="zh-CN" sz="2000" b="1" i="1">
                                <a:latin typeface="Cambria Math" panose="02040503050406030204" pitchFamily="18" charset="0"/>
                                <a:ea typeface="微软雅黑 Light" panose="020B0502040204020203" pitchFamily="34" charset="-122"/>
                              </a:rPr>
                              <m:t>𝒘</m:t>
                            </m:r>
                          </m:e>
                          <m:sup>
                            <m:r>
                              <a:rPr lang="en-US" altLang="zh-CN" sz="2000" i="1">
                                <a:latin typeface="Cambria Math" panose="02040503050406030204" pitchFamily="18" charset="0"/>
                                <a:ea typeface="微软雅黑 Light" panose="020B0502040204020203" pitchFamily="34" charset="-122"/>
                              </a:rPr>
                              <m:t>𝑇</m:t>
                            </m:r>
                          </m:sup>
                        </m:sSup>
                        <m:r>
                          <a:rPr lang="en-US" altLang="zh-CN" sz="2000" b="1" i="1">
                            <a:latin typeface="Cambria Math" panose="02040503050406030204" pitchFamily="18" charset="0"/>
                            <a:ea typeface="微软雅黑 Light" panose="020B0502040204020203" pitchFamily="34" charset="-122"/>
                          </a:rPr>
                          <m:t>𝒙</m:t>
                        </m:r>
                        <m:r>
                          <a:rPr lang="en-US" altLang="zh-CN" sz="2000" i="1">
                            <a:latin typeface="Cambria Math" panose="02040503050406030204" pitchFamily="18" charset="0"/>
                            <a:ea typeface="微软雅黑 Light" panose="020B0502040204020203" pitchFamily="34" charset="-122"/>
                          </a:rPr>
                          <m:t>+</m:t>
                        </m:r>
                        <m:r>
                          <a:rPr lang="en-US" altLang="zh-CN" sz="2000" i="1">
                            <a:latin typeface="Cambria Math" panose="02040503050406030204" pitchFamily="18" charset="0"/>
                            <a:ea typeface="微软雅黑 Light" panose="020B0502040204020203" pitchFamily="34" charset="-122"/>
                          </a:rPr>
                          <m:t>𝑏</m:t>
                        </m:r>
                        <m:r>
                          <a:rPr lang="en-US" altLang="zh-CN" sz="2000" i="1">
                            <a:latin typeface="Cambria Math" panose="02040503050406030204" pitchFamily="18" charset="0"/>
                            <a:ea typeface="微软雅黑 Light" panose="020B0502040204020203" pitchFamily="34" charset="-122"/>
                          </a:rPr>
                          <m:t>=0</m:t>
                        </m:r>
                      </m:e>
                    </m:d>
                    <m:r>
                      <a:rPr lang="en-US" altLang="zh-CN" sz="2000" i="1">
                        <a:latin typeface="Cambria Math" panose="02040503050406030204" pitchFamily="18" charset="0"/>
                      </a:rPr>
                      <m:t> </m:t>
                    </m:r>
                  </m:oMath>
                </a14:m>
                <a:r>
                  <a:rPr lang="zh-CN" altLang="en-US" sz="2000" kern="0" dirty="0">
                    <a:latin typeface="微软雅黑 Light" panose="020B0502040204020203" pitchFamily="34" charset="-122"/>
                    <a:ea typeface="微软雅黑 Light" panose="020B0502040204020203" pitchFamily="34" charset="-122"/>
                    <a:cs typeface="宋体" panose="02010600030101010101" pitchFamily="2" charset="-122"/>
                  </a:rPr>
                  <a:t>，能将正负样本分到</a:t>
                </a:r>
                <a14:m>
                  <m:oMath xmlns:m="http://schemas.openxmlformats.org/officeDocument/2006/math">
                    <m:r>
                      <m:rPr>
                        <m:sty m:val="p"/>
                      </m:rPr>
                      <a:rPr lang="en-US" altLang="zh-CN" sz="2000" i="1" kern="0" dirty="0">
                        <a:latin typeface="Cambria Math" panose="02040503050406030204" pitchFamily="18" charset="0"/>
                      </a:rPr>
                      <m:t>S</m:t>
                    </m:r>
                  </m:oMath>
                </a14:m>
                <a:r>
                  <a:rPr lang="zh-CN" altLang="en-US" sz="2000" kern="0" dirty="0">
                    <a:latin typeface="微软雅黑 Light" panose="020B0502040204020203" pitchFamily="34" charset="-122"/>
                    <a:ea typeface="微软雅黑 Light" panose="020B0502040204020203" pitchFamily="34" charset="-122"/>
                    <a:cs typeface="宋体" panose="02010600030101010101" pitchFamily="2" charset="-122"/>
                  </a:rPr>
                  <a:t>两侧，则说明数据集可分，那么，如何求出这个超平面</a:t>
                </a:r>
                <a14:m>
                  <m:oMath xmlns:m="http://schemas.openxmlformats.org/officeDocument/2006/math">
                    <m:r>
                      <m:rPr>
                        <m:sty m:val="p"/>
                      </m:rPr>
                      <a:rPr lang="en-US" altLang="zh-CN" sz="2000" i="1" kern="0" dirty="0">
                        <a:latin typeface="Cambria Math" panose="02040503050406030204" pitchFamily="18" charset="0"/>
                      </a:rPr>
                      <m:t>S</m:t>
                    </m:r>
                  </m:oMath>
                </a14:m>
                <a:r>
                  <a:rPr lang="zh-CN" altLang="en-US" sz="2000" kern="0" dirty="0">
                    <a:latin typeface="微软雅黑 Light" panose="020B0502040204020203" pitchFamily="34" charset="-122"/>
                    <a:ea typeface="微软雅黑 Light" panose="020B0502040204020203" pitchFamily="34" charset="-122"/>
                    <a:cs typeface="宋体" panose="02010600030101010101" pitchFamily="2" charset="-122"/>
                  </a:rPr>
                  <a:t>的表达式？</a:t>
                </a:r>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4" name="矩形 13"/>
              <p:cNvSpPr>
                <a:spLocks noRot="1" noChangeAspect="1" noMove="1" noResize="1" noEditPoints="1" noAdjustHandles="1" noChangeArrowheads="1" noChangeShapeType="1" noTextEdit="1"/>
              </p:cNvSpPr>
              <p:nvPr/>
            </p:nvSpPr>
            <p:spPr>
              <a:xfrm>
                <a:off x="293722" y="1237956"/>
                <a:ext cx="11657238" cy="1514389"/>
              </a:xfrm>
              <a:prstGeom prst="rect">
                <a:avLst/>
              </a:prstGeom>
              <a:blipFill rotWithShape="0">
                <a:blip r:embed="rId5"/>
                <a:stretch>
                  <a:fillRect l="-523" r="-575" b="-2410"/>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FEB19F1B-3DC7-41D2-9465-C12580D50EF1}"/>
              </a:ext>
            </a:extLst>
          </p:cNvPr>
          <p:cNvSpPr/>
          <p:nvPr/>
        </p:nvSpPr>
        <p:spPr>
          <a:xfrm>
            <a:off x="293722" y="2619258"/>
            <a:ext cx="11637087" cy="1015663"/>
          </a:xfrm>
          <a:prstGeom prst="rect">
            <a:avLst/>
          </a:prstGeom>
        </p:spPr>
        <p:txBody>
          <a:bodyPr wrap="square">
            <a:spAutoFit/>
          </a:bodyPr>
          <a:lstStyle/>
          <a:p>
            <a:pPr>
              <a:lnSpc>
                <a:spcPct val="150000"/>
              </a:lnSpc>
            </a:pPr>
            <a:r>
              <a:rPr lang="zh-CN" altLang="en-US" sz="2000" kern="0" dirty="0">
                <a:latin typeface="微软雅黑 Light" panose="020B0502040204020203" pitchFamily="34" charset="-122"/>
                <a:ea typeface="微软雅黑 Light" panose="020B0502040204020203" pitchFamily="34" charset="-122"/>
              </a:rPr>
              <a:t>      策略：假设误分类的点为数据集</a:t>
            </a:r>
            <a:r>
              <a:rPr lang="en-US" altLang="zh-CN" sz="2000" kern="0" dirty="0">
                <a:latin typeface="微软雅黑 Light" panose="020B0502040204020203" pitchFamily="34" charset="-122"/>
                <a:ea typeface="微软雅黑 Light" panose="020B0502040204020203" pitchFamily="34" charset="-122"/>
              </a:rPr>
              <a:t>M</a:t>
            </a:r>
            <a:r>
              <a:rPr lang="zh-CN" altLang="en-US" sz="2000" kern="0" dirty="0">
                <a:latin typeface="微软雅黑 Light" panose="020B0502040204020203" pitchFamily="34" charset="-122"/>
                <a:ea typeface="微软雅黑 Light" panose="020B0502040204020203" pitchFamily="34" charset="-122"/>
              </a:rPr>
              <a:t>，使用误分类点到超平面的总距离来寻找损失函数（</a:t>
            </a:r>
            <a:r>
              <a:rPr lang="zh-CN" altLang="en-US" sz="2000" kern="0" dirty="0">
                <a:solidFill>
                  <a:srgbClr val="C00000"/>
                </a:solidFill>
                <a:latin typeface="微软雅黑 Light" panose="020B0502040204020203" pitchFamily="34" charset="-122"/>
                <a:ea typeface="微软雅黑 Light" panose="020B0502040204020203" pitchFamily="34" charset="-122"/>
              </a:rPr>
              <a:t>直观来看，总距离越小越好</a:t>
            </a:r>
            <a:r>
              <a:rPr lang="zh-CN" altLang="en-US" sz="2000" kern="0" dirty="0">
                <a:latin typeface="微软雅黑 Light" panose="020B0502040204020203" pitchFamily="34" charset="-122"/>
                <a:ea typeface="微软雅黑 Light" panose="020B0502040204020203" pitchFamily="34" charset="-122"/>
              </a:rPr>
              <a:t>）</a:t>
            </a:r>
            <a:endParaRPr lang="zh-CN" altLang="en-US" sz="2000" dirty="0"/>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EFCDBE42-7EB9-4551-BABA-1577B665AD0B}"/>
                  </a:ext>
                </a:extLst>
              </p:cNvPr>
              <p:cNvSpPr/>
              <p:nvPr/>
            </p:nvSpPr>
            <p:spPr>
              <a:xfrm>
                <a:off x="2559109" y="3292912"/>
                <a:ext cx="3140219" cy="391646"/>
              </a:xfrm>
              <a:prstGeom prst="rect">
                <a:avLst/>
              </a:prstGeom>
            </p:spPr>
            <p:txBody>
              <a:bodyPr wrap="none">
                <a:spAutoFit/>
              </a:bodyPr>
              <a:lstStyle/>
              <a:p>
                <a:r>
                  <a:rPr lang="zh-CN" altLang="en-US" dirty="0">
                    <a:solidFill>
                      <a:schemeClr val="tx1"/>
                    </a:solidFill>
                    <a:ea typeface="微软雅黑 Light" panose="020B0502040204020203" pitchFamily="34" charset="-122"/>
                  </a:rPr>
                  <a:t>样本点</a:t>
                </a:r>
                <a14:m>
                  <m:oMath xmlns:m="http://schemas.openxmlformats.org/officeDocument/2006/math">
                    <m:sSub>
                      <m:sSubPr>
                        <m:ctrlPr>
                          <a:rPr lang="en-US" altLang="zh-CN" i="1">
                            <a:solidFill>
                              <a:schemeClr val="tx1"/>
                            </a:solidFill>
                            <a:latin typeface="Cambria Math" panose="02040503050406030204" pitchFamily="18" charset="0"/>
                            <a:ea typeface="微软雅黑 Light" panose="020B0502040204020203" pitchFamily="34" charset="-122"/>
                          </a:rPr>
                        </m:ctrlPr>
                      </m:sSubPr>
                      <m:e>
                        <m:r>
                          <a:rPr lang="en-US" altLang="zh-CN" b="1" i="1">
                            <a:solidFill>
                              <a:schemeClr val="tx1"/>
                            </a:solidFill>
                            <a:latin typeface="Cambria Math" panose="02040503050406030204" pitchFamily="18" charset="0"/>
                            <a:ea typeface="微软雅黑 Light" panose="020B0502040204020203" pitchFamily="34" charset="-122"/>
                          </a:rPr>
                          <m:t>𝒙</m:t>
                        </m:r>
                      </m:e>
                      <m:sub>
                        <m:r>
                          <a:rPr lang="en-US" altLang="zh-CN" b="0" i="1" smtClean="0">
                            <a:solidFill>
                              <a:schemeClr val="tx1"/>
                            </a:solidFill>
                            <a:latin typeface="Cambria Math" panose="02040503050406030204" pitchFamily="18" charset="0"/>
                            <a:ea typeface="微软雅黑 Light" panose="020B0502040204020203" pitchFamily="34" charset="-122"/>
                          </a:rPr>
                          <m:t>𝑗</m:t>
                        </m:r>
                      </m:sub>
                    </m:sSub>
                  </m:oMath>
                </a14:m>
                <a:r>
                  <a:rPr lang="zh-CN" altLang="en-US" dirty="0">
                    <a:solidFill>
                      <a:schemeClr val="tx1"/>
                    </a:solidFill>
                  </a:rPr>
                  <a:t>到超平面</a:t>
                </a:r>
                <a14:m>
                  <m:oMath xmlns:m="http://schemas.openxmlformats.org/officeDocument/2006/math">
                    <m:r>
                      <m:rPr>
                        <m:sty m:val="p"/>
                      </m:rPr>
                      <a:rPr lang="en-US" altLang="zh-CN" i="1" kern="0" dirty="0">
                        <a:solidFill>
                          <a:schemeClr val="tx1"/>
                        </a:solidFill>
                        <a:latin typeface="Cambria Math" panose="02040503050406030204" pitchFamily="18" charset="0"/>
                      </a:rPr>
                      <m:t>S</m:t>
                    </m:r>
                  </m:oMath>
                </a14:m>
                <a:r>
                  <a:rPr lang="zh-CN" altLang="en-US" dirty="0">
                    <a:solidFill>
                      <a:schemeClr val="tx1"/>
                    </a:solidFill>
                  </a:rPr>
                  <a:t>的距离：</a:t>
                </a:r>
              </a:p>
            </p:txBody>
          </p:sp>
        </mc:Choice>
        <mc:Fallback xmlns="">
          <p:sp>
            <p:nvSpPr>
              <p:cNvPr id="20" name="矩形 19">
                <a:extLst>
                  <a:ext uri="{FF2B5EF4-FFF2-40B4-BE49-F238E27FC236}">
                    <a16:creationId xmlns:a16="http://schemas.microsoft.com/office/drawing/2014/main" xmlns:a14="http://schemas.microsoft.com/office/drawing/2010/main" xmlns="" id="{EFCDBE42-7EB9-4551-BABA-1577B665AD0B}"/>
                  </a:ext>
                </a:extLst>
              </p:cNvPr>
              <p:cNvSpPr>
                <a:spLocks noRot="1" noChangeAspect="1" noMove="1" noResize="1" noEditPoints="1" noAdjustHandles="1" noChangeArrowheads="1" noChangeShapeType="1" noTextEdit="1"/>
              </p:cNvSpPr>
              <p:nvPr/>
            </p:nvSpPr>
            <p:spPr>
              <a:xfrm>
                <a:off x="2559109" y="3292912"/>
                <a:ext cx="3140219" cy="391646"/>
              </a:xfrm>
              <a:prstGeom prst="rect">
                <a:avLst/>
              </a:prstGeom>
              <a:blipFill rotWithShape="0">
                <a:blip r:embed="rId6"/>
                <a:stretch>
                  <a:fillRect l="-1748" t="-7813" b="-203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B6E48898-B876-419B-86AC-A74DF8904367}"/>
                  </a:ext>
                </a:extLst>
              </p:cNvPr>
              <p:cNvSpPr/>
              <p:nvPr/>
            </p:nvSpPr>
            <p:spPr>
              <a:xfrm>
                <a:off x="5699328" y="3170982"/>
                <a:ext cx="2229648" cy="64992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𝑑</m:t>
                      </m:r>
                      <m:r>
                        <a:rPr lang="en-US" altLang="zh-CN" b="0" i="1"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rPr>
                            <m:t>1</m:t>
                          </m:r>
                        </m:num>
                        <m:den>
                          <m:d>
                            <m:dPr>
                              <m:begChr m:val="‖"/>
                              <m:endChr m:val="‖"/>
                              <m:ctrlPr>
                                <a:rPr lang="en-US" altLang="zh-CN"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𝒘</m:t>
                              </m:r>
                            </m:e>
                          </m:d>
                        </m:den>
                      </m:f>
                      <m:r>
                        <a:rPr lang="en-US" altLang="zh-CN" b="0" i="1" smtClean="0">
                          <a:solidFill>
                            <a:schemeClr val="tx1"/>
                          </a:solidFill>
                          <a:latin typeface="Cambria Math" panose="02040503050406030204" pitchFamily="18" charset="0"/>
                        </a:rPr>
                        <m:t>|</m:t>
                      </m:r>
                      <m:sSup>
                        <m:sSupPr>
                          <m:ctrlPr>
                            <a:rPr lang="en-US" altLang="zh-CN" i="1">
                              <a:solidFill>
                                <a:schemeClr val="tx1"/>
                              </a:solidFill>
                              <a:latin typeface="Cambria Math" panose="02040503050406030204" pitchFamily="18" charset="0"/>
                              <a:ea typeface="微软雅黑 Light" panose="020B0502040204020203" pitchFamily="34" charset="-122"/>
                            </a:rPr>
                          </m:ctrlPr>
                        </m:sSupPr>
                        <m:e>
                          <m:r>
                            <a:rPr lang="en-US" altLang="zh-CN" b="1" i="1">
                              <a:solidFill>
                                <a:schemeClr val="tx1"/>
                              </a:solidFill>
                              <a:latin typeface="Cambria Math" panose="02040503050406030204" pitchFamily="18" charset="0"/>
                              <a:ea typeface="微软雅黑 Light" panose="020B0502040204020203" pitchFamily="34" charset="-122"/>
                            </a:rPr>
                            <m:t>𝒘</m:t>
                          </m:r>
                        </m:e>
                        <m:sup>
                          <m:r>
                            <a:rPr lang="en-US" altLang="zh-CN" i="1">
                              <a:solidFill>
                                <a:schemeClr val="tx1"/>
                              </a:solidFill>
                              <a:latin typeface="Cambria Math" panose="02040503050406030204" pitchFamily="18" charset="0"/>
                              <a:ea typeface="微软雅黑 Light" panose="020B0502040204020203" pitchFamily="34" charset="-122"/>
                            </a:rPr>
                            <m:t>𝑇</m:t>
                          </m:r>
                        </m:sup>
                      </m:sSup>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b="0" i="1" smtClean="0">
                              <a:solidFill>
                                <a:schemeClr val="tx1"/>
                              </a:solidFill>
                              <a:latin typeface="Cambria Math" panose="02040503050406030204" pitchFamily="18" charset="0"/>
                            </a:rPr>
                            <m:t>𝑗</m:t>
                          </m:r>
                        </m:sub>
                      </m:sSub>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𝑏</m:t>
                      </m:r>
                      <m:r>
                        <a:rPr lang="en-US" altLang="zh-CN" b="0" i="1" smtClean="0">
                          <a:solidFill>
                            <a:schemeClr val="tx1"/>
                          </a:solidFill>
                          <a:latin typeface="Cambria Math" panose="02040503050406030204" pitchFamily="18" charset="0"/>
                        </a:rPr>
                        <m:t>|</m:t>
                      </m:r>
                    </m:oMath>
                  </m:oMathPara>
                </a14:m>
                <a:endParaRPr lang="zh-CN" altLang="en-US" dirty="0">
                  <a:solidFill>
                    <a:schemeClr val="tx1"/>
                  </a:solidFill>
                </a:endParaRPr>
              </a:p>
            </p:txBody>
          </p:sp>
        </mc:Choice>
        <mc:Fallback xmlns="">
          <p:sp>
            <p:nvSpPr>
              <p:cNvPr id="21" name="矩形 20">
                <a:extLst>
                  <a:ext uri="{FF2B5EF4-FFF2-40B4-BE49-F238E27FC236}">
                    <a16:creationId xmlns:a16="http://schemas.microsoft.com/office/drawing/2014/main" xmlns:a14="http://schemas.microsoft.com/office/drawing/2010/main" xmlns="" id="{B6E48898-B876-419B-86AC-A74DF8904367}"/>
                  </a:ext>
                </a:extLst>
              </p:cNvPr>
              <p:cNvSpPr>
                <a:spLocks noRot="1" noChangeAspect="1" noMove="1" noResize="1" noEditPoints="1" noAdjustHandles="1" noChangeArrowheads="1" noChangeShapeType="1" noTextEdit="1"/>
              </p:cNvSpPr>
              <p:nvPr/>
            </p:nvSpPr>
            <p:spPr>
              <a:xfrm>
                <a:off x="5699328" y="3170982"/>
                <a:ext cx="2229648" cy="649922"/>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68BE3B54-AACD-45D9-9680-BFF5160C1B7C}"/>
                  </a:ext>
                </a:extLst>
              </p:cNvPr>
              <p:cNvSpPr/>
              <p:nvPr/>
            </p:nvSpPr>
            <p:spPr>
              <a:xfrm>
                <a:off x="8397964" y="3278024"/>
                <a:ext cx="1976823" cy="369332"/>
              </a:xfrm>
              <a:prstGeom prst="rect">
                <a:avLst/>
              </a:prstGeom>
            </p:spPr>
            <p:txBody>
              <a:bodyPr wrap="none">
                <a:spAutoFit/>
              </a:bodyPr>
              <a:lstStyle/>
              <a:p>
                <a14:m>
                  <m:oMath xmlns:m="http://schemas.openxmlformats.org/officeDocument/2006/math">
                    <m:d>
                      <m:dPr>
                        <m:begChr m:val="‖"/>
                        <m:endChr m:val="‖"/>
                        <m:ctrlPr>
                          <a:rPr lang="en-US" altLang="zh-CN" i="1" smtClean="0">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𝒘</m:t>
                        </m:r>
                      </m:e>
                    </m:d>
                  </m:oMath>
                </a14:m>
                <a:r>
                  <a:rPr lang="zh-CN" altLang="en-US" dirty="0">
                    <a:solidFill>
                      <a:schemeClr val="tx1"/>
                    </a:solidFill>
                    <a:latin typeface="微软雅黑 Light" panose="020B0502040204020203" pitchFamily="34" charset="-122"/>
                    <a:ea typeface="微软雅黑 Light" panose="020B0502040204020203" pitchFamily="34" charset="-122"/>
                  </a:rPr>
                  <a:t>是</a:t>
                </a:r>
                <a14:m>
                  <m:oMath xmlns:m="http://schemas.openxmlformats.org/officeDocument/2006/math">
                    <m:r>
                      <a:rPr lang="en-US" altLang="zh-CN" b="1" i="1">
                        <a:solidFill>
                          <a:schemeClr val="tx1"/>
                        </a:solidFill>
                        <a:latin typeface="Cambria Math" panose="02040503050406030204" pitchFamily="18" charset="0"/>
                      </a:rPr>
                      <m:t>𝒘</m:t>
                    </m:r>
                  </m:oMath>
                </a14:m>
                <a:r>
                  <a:rPr lang="zh-CN" altLang="en-US" dirty="0">
                    <a:solidFill>
                      <a:schemeClr val="tx1"/>
                    </a:solidFill>
                    <a:latin typeface="微软雅黑 Light" panose="020B0502040204020203" pitchFamily="34" charset="-122"/>
                    <a:ea typeface="微软雅黑 Light" panose="020B0502040204020203" pitchFamily="34" charset="-122"/>
                  </a:rPr>
                  <a:t>的</a:t>
                </a:r>
                <a:r>
                  <a:rPr lang="en-US" altLang="zh-CN" dirty="0">
                    <a:solidFill>
                      <a:schemeClr val="tx1"/>
                    </a:solidFill>
                    <a:latin typeface="微软雅黑 Light" panose="020B0502040204020203" pitchFamily="34" charset="-122"/>
                    <a:ea typeface="微软雅黑 Light" panose="020B0502040204020203" pitchFamily="34" charset="-122"/>
                  </a:rPr>
                  <a:t>L</a:t>
                </a:r>
                <a:r>
                  <a:rPr lang="en-US" altLang="zh-CN" baseline="30000" dirty="0">
                    <a:solidFill>
                      <a:schemeClr val="tx1"/>
                    </a:solidFill>
                    <a:latin typeface="微软雅黑 Light" panose="020B0502040204020203" pitchFamily="34" charset="-122"/>
                    <a:ea typeface="微软雅黑 Light" panose="020B0502040204020203" pitchFamily="34" charset="-122"/>
                  </a:rPr>
                  <a:t>2</a:t>
                </a:r>
                <a:r>
                  <a:rPr lang="zh-CN" altLang="en-US" dirty="0">
                    <a:solidFill>
                      <a:schemeClr val="tx1"/>
                    </a:solidFill>
                    <a:latin typeface="微软雅黑 Light" panose="020B0502040204020203" pitchFamily="34" charset="-122"/>
                    <a:ea typeface="微软雅黑 Light" panose="020B0502040204020203" pitchFamily="34" charset="-122"/>
                  </a:rPr>
                  <a:t>范数</a:t>
                </a:r>
              </a:p>
            </p:txBody>
          </p:sp>
        </mc:Choice>
        <mc:Fallback xmlns="">
          <p:sp>
            <p:nvSpPr>
              <p:cNvPr id="22" name="矩形 21">
                <a:extLst>
                  <a:ext uri="{FF2B5EF4-FFF2-40B4-BE49-F238E27FC236}">
                    <a16:creationId xmlns:a16="http://schemas.microsoft.com/office/drawing/2014/main" id="{68BE3B54-AACD-45D9-9680-BFF5160C1B7C}"/>
                  </a:ext>
                </a:extLst>
              </p:cNvPr>
              <p:cNvSpPr>
                <a:spLocks noRot="1" noChangeAspect="1" noMove="1" noResize="1" noEditPoints="1" noAdjustHandles="1" noChangeArrowheads="1" noChangeShapeType="1" noTextEdit="1"/>
              </p:cNvSpPr>
              <p:nvPr/>
            </p:nvSpPr>
            <p:spPr>
              <a:xfrm>
                <a:off x="8397964" y="3278024"/>
                <a:ext cx="1976823" cy="369332"/>
              </a:xfrm>
              <a:prstGeom prst="rect">
                <a:avLst/>
              </a:prstGeom>
              <a:blipFill>
                <a:blip r:embed="rId8"/>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EFCDBE42-7EB9-4551-BABA-1577B665AD0B}"/>
                  </a:ext>
                </a:extLst>
              </p:cNvPr>
              <p:cNvSpPr/>
              <p:nvPr/>
            </p:nvSpPr>
            <p:spPr>
              <a:xfrm>
                <a:off x="2538192" y="4549319"/>
                <a:ext cx="4491551" cy="391646"/>
              </a:xfrm>
              <a:prstGeom prst="rect">
                <a:avLst/>
              </a:prstGeom>
            </p:spPr>
            <p:txBody>
              <a:bodyPr wrap="none">
                <a:spAutoFit/>
              </a:bodyPr>
              <a:lstStyle/>
              <a:p>
                <a:r>
                  <a:rPr lang="zh-CN" altLang="en-US" dirty="0">
                    <a:solidFill>
                      <a:schemeClr val="tx1"/>
                    </a:solidFill>
                    <a:latin typeface="微软雅黑 Light" panose="020B0502040204020203" pitchFamily="34" charset="-122"/>
                    <a:ea typeface="微软雅黑 Light" panose="020B0502040204020203" pitchFamily="34" charset="-122"/>
                  </a:rPr>
                  <a:t>去掉点 </a:t>
                </a:r>
                <a14:m>
                  <m:oMath xmlns:m="http://schemas.openxmlformats.org/officeDocument/2006/math">
                    <m:sSub>
                      <m:sSubPr>
                        <m:ctrlPr>
                          <a:rPr lang="en-US" altLang="zh-CN" i="1">
                            <a:solidFill>
                              <a:schemeClr val="tx1"/>
                            </a:solidFill>
                            <a:latin typeface="Cambria Math" panose="02040503050406030204" pitchFamily="18" charset="0"/>
                            <a:ea typeface="微软雅黑 Light" panose="020B0502040204020203" pitchFamily="34" charset="-122"/>
                          </a:rPr>
                        </m:ctrlPr>
                      </m:sSubPr>
                      <m:e>
                        <m:r>
                          <a:rPr lang="en-US" altLang="zh-CN" b="1" i="1">
                            <a:solidFill>
                              <a:schemeClr val="tx1"/>
                            </a:solidFill>
                            <a:latin typeface="Cambria Math" panose="02040503050406030204" pitchFamily="18" charset="0"/>
                            <a:ea typeface="微软雅黑 Light" panose="020B0502040204020203" pitchFamily="34" charset="-122"/>
                          </a:rPr>
                          <m:t>𝒙</m:t>
                        </m:r>
                      </m:e>
                      <m:sub>
                        <m:r>
                          <a:rPr lang="en-US" altLang="zh-CN" b="0" i="1" smtClean="0">
                            <a:solidFill>
                              <a:schemeClr val="tx1"/>
                            </a:solidFill>
                            <a:latin typeface="Cambria Math" panose="02040503050406030204" pitchFamily="18" charset="0"/>
                            <a:ea typeface="微软雅黑 Light" panose="020B0502040204020203" pitchFamily="34" charset="-122"/>
                          </a:rPr>
                          <m:t>𝑗</m:t>
                        </m:r>
                      </m:sub>
                    </m:sSub>
                  </m:oMath>
                </a14:m>
                <a:r>
                  <a:rPr lang="zh-CN" altLang="en-US" dirty="0">
                    <a:solidFill>
                      <a:schemeClr val="tx1"/>
                    </a:solidFill>
                    <a:latin typeface="微软雅黑 Light" panose="020B0502040204020203" pitchFamily="34" charset="-122"/>
                    <a:ea typeface="微软雅黑 Light" panose="020B0502040204020203" pitchFamily="34" charset="-122"/>
                  </a:rPr>
                  <a:t>到超平面</a:t>
                </a:r>
                <a14:m>
                  <m:oMath xmlns:m="http://schemas.openxmlformats.org/officeDocument/2006/math">
                    <m:r>
                      <m:rPr>
                        <m:sty m:val="p"/>
                      </m:rPr>
                      <a:rPr lang="en-US" altLang="zh-CN" i="1" kern="0" dirty="0">
                        <a:solidFill>
                          <a:schemeClr val="tx1"/>
                        </a:solidFill>
                        <a:latin typeface="Cambria Math" panose="02040503050406030204" pitchFamily="18" charset="0"/>
                      </a:rPr>
                      <m:t>S</m:t>
                    </m:r>
                  </m:oMath>
                </a14:m>
                <a:r>
                  <a:rPr lang="zh-CN" altLang="en-US" dirty="0">
                    <a:solidFill>
                      <a:schemeClr val="tx1"/>
                    </a:solidFill>
                    <a:latin typeface="微软雅黑 Light" panose="020B0502040204020203" pitchFamily="34" charset="-122"/>
                    <a:ea typeface="微软雅黑 Light" panose="020B0502040204020203" pitchFamily="34" charset="-122"/>
                  </a:rPr>
                  <a:t>的距离的绝对值符号：</a:t>
                </a:r>
              </a:p>
            </p:txBody>
          </p:sp>
        </mc:Choice>
        <mc:Fallback xmlns="">
          <p:sp>
            <p:nvSpPr>
              <p:cNvPr id="23" name="矩形 22">
                <a:extLst>
                  <a:ext uri="{FF2B5EF4-FFF2-40B4-BE49-F238E27FC236}">
                    <a16:creationId xmlns:a16="http://schemas.microsoft.com/office/drawing/2014/main" xmlns:a14="http://schemas.microsoft.com/office/drawing/2010/main" xmlns="" id="{EFCDBE42-7EB9-4551-BABA-1577B665AD0B}"/>
                  </a:ext>
                </a:extLst>
              </p:cNvPr>
              <p:cNvSpPr>
                <a:spLocks noRot="1" noChangeAspect="1" noMove="1" noResize="1" noEditPoints="1" noAdjustHandles="1" noChangeArrowheads="1" noChangeShapeType="1" noTextEdit="1"/>
              </p:cNvSpPr>
              <p:nvPr/>
            </p:nvSpPr>
            <p:spPr>
              <a:xfrm>
                <a:off x="2538192" y="4549319"/>
                <a:ext cx="4491551" cy="391646"/>
              </a:xfrm>
              <a:prstGeom prst="rect">
                <a:avLst/>
              </a:prstGeom>
              <a:blipFill rotWithShape="0">
                <a:blip r:embed="rId9"/>
                <a:stretch>
                  <a:fillRect l="-1085" t="-7692" r="-814" b="-1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B6E48898-B876-419B-86AC-A74DF8904367}"/>
                  </a:ext>
                </a:extLst>
              </p:cNvPr>
              <p:cNvSpPr/>
              <p:nvPr/>
            </p:nvSpPr>
            <p:spPr>
              <a:xfrm>
                <a:off x="6814152" y="4372163"/>
                <a:ext cx="2789738" cy="64992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𝑑</m:t>
                      </m:r>
                      <m:r>
                        <a:rPr lang="en-US" altLang="zh-CN" b="0" i="1"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rPr>
                            <m:t>1</m:t>
                          </m:r>
                        </m:num>
                        <m:den>
                          <m:d>
                            <m:dPr>
                              <m:begChr m:val="‖"/>
                              <m:endChr m:val="‖"/>
                              <m:ctrlPr>
                                <a:rPr lang="en-US" altLang="zh-CN"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𝒘</m:t>
                              </m:r>
                            </m:e>
                          </m:d>
                        </m:den>
                      </m:f>
                      <m:sSub>
                        <m:sSubPr>
                          <m:ctrlPr>
                            <a:rPr lang="en-US" altLang="zh-CN" i="1">
                              <a:solidFill>
                                <a:schemeClr val="tx1"/>
                              </a:solidFill>
                              <a:latin typeface="Cambria Math" panose="02040503050406030204" pitchFamily="18" charset="0"/>
                              <a:ea typeface="微软雅黑 Light" panose="020B0502040204020203" pitchFamily="34" charset="-122"/>
                            </a:rPr>
                          </m:ctrlPr>
                        </m:sSubPr>
                        <m:e>
                          <m:r>
                            <a:rPr lang="en-US" altLang="zh-CN" b="0" i="1">
                              <a:solidFill>
                                <a:schemeClr val="tx1"/>
                              </a:solidFill>
                              <a:latin typeface="Cambria Math" panose="02040503050406030204" pitchFamily="18" charset="0"/>
                              <a:ea typeface="微软雅黑 Light" panose="020B0502040204020203" pitchFamily="34" charset="-122"/>
                            </a:rPr>
                            <m:t>𝑦</m:t>
                          </m:r>
                        </m:e>
                        <m:sub>
                          <m:r>
                            <a:rPr lang="en-US" altLang="zh-CN" b="0" i="1">
                              <a:solidFill>
                                <a:schemeClr val="tx1"/>
                              </a:solidFill>
                              <a:latin typeface="Cambria Math" panose="02040503050406030204" pitchFamily="18" charset="0"/>
                              <a:ea typeface="微软雅黑 Light" panose="020B0502040204020203" pitchFamily="34" charset="-122"/>
                            </a:rPr>
                            <m:t>𝑗</m:t>
                          </m:r>
                        </m:sub>
                      </m:sSub>
                      <m:d>
                        <m:dPr>
                          <m:ctrlPr>
                            <a:rPr lang="en-US" altLang="zh-CN" i="1">
                              <a:solidFill>
                                <a:schemeClr val="tx1"/>
                              </a:solidFill>
                              <a:latin typeface="Cambria Math" panose="02040503050406030204" pitchFamily="18" charset="0"/>
                              <a:ea typeface="微软雅黑 Light" panose="020B0502040204020203" pitchFamily="34" charset="-122"/>
                            </a:rPr>
                          </m:ctrlPr>
                        </m:dPr>
                        <m:e>
                          <m:sSup>
                            <m:sSupPr>
                              <m:ctrlPr>
                                <a:rPr lang="en-US" altLang="zh-CN" i="1">
                                  <a:solidFill>
                                    <a:schemeClr val="tx1"/>
                                  </a:solidFill>
                                  <a:latin typeface="Cambria Math" panose="02040503050406030204" pitchFamily="18" charset="0"/>
                                  <a:ea typeface="微软雅黑 Light" panose="020B0502040204020203" pitchFamily="34" charset="-122"/>
                                </a:rPr>
                              </m:ctrlPr>
                            </m:sSupPr>
                            <m:e>
                              <m:r>
                                <a:rPr lang="en-US" altLang="zh-CN" b="1" i="1">
                                  <a:solidFill>
                                    <a:schemeClr val="tx1"/>
                                  </a:solidFill>
                                  <a:latin typeface="Cambria Math" panose="02040503050406030204" pitchFamily="18" charset="0"/>
                                  <a:ea typeface="微软雅黑 Light" panose="020B0502040204020203" pitchFamily="34" charset="-122"/>
                                </a:rPr>
                                <m:t>𝒘</m:t>
                              </m:r>
                            </m:e>
                            <m:sup>
                              <m:r>
                                <a:rPr lang="en-US" altLang="zh-CN" i="1">
                                  <a:solidFill>
                                    <a:schemeClr val="tx1"/>
                                  </a:solidFill>
                                  <a:latin typeface="Cambria Math" panose="02040503050406030204" pitchFamily="18" charset="0"/>
                                  <a:ea typeface="微软雅黑 Light" panose="020B0502040204020203" pitchFamily="34" charset="-122"/>
                                </a:rPr>
                                <m:t>𝑇</m:t>
                              </m:r>
                            </m:sup>
                          </m:sSup>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i="1">
                                  <a:solidFill>
                                    <a:schemeClr val="tx1"/>
                                  </a:solidFill>
                                  <a:latin typeface="Cambria Math" panose="02040503050406030204" pitchFamily="18" charset="0"/>
                                </a:rPr>
                                <m:t>𝑗</m:t>
                              </m:r>
                            </m:sub>
                          </m:sSub>
                          <m:r>
                            <a:rPr lang="en-US" altLang="zh-CN" b="0" i="1">
                              <a:solidFill>
                                <a:schemeClr val="tx1"/>
                              </a:solidFill>
                              <a:latin typeface="Cambria Math" panose="02040503050406030204" pitchFamily="18" charset="0"/>
                            </a:rPr>
                            <m:t>+</m:t>
                          </m:r>
                          <m:r>
                            <a:rPr lang="en-US" altLang="zh-CN" b="0" i="1">
                              <a:solidFill>
                                <a:schemeClr val="tx1"/>
                              </a:solidFill>
                              <a:latin typeface="Cambria Math" panose="02040503050406030204" pitchFamily="18" charset="0"/>
                            </a:rPr>
                            <m:t>𝑏</m:t>
                          </m:r>
                        </m:e>
                      </m:d>
                    </m:oMath>
                  </m:oMathPara>
                </a14:m>
                <a:endParaRPr lang="zh-CN" altLang="en-US" dirty="0">
                  <a:solidFill>
                    <a:schemeClr val="tx1"/>
                  </a:solidFill>
                </a:endParaRPr>
              </a:p>
            </p:txBody>
          </p:sp>
        </mc:Choice>
        <mc:Fallback xmlns="">
          <p:sp>
            <p:nvSpPr>
              <p:cNvPr id="24" name="矩形 23">
                <a:extLst>
                  <a:ext uri="{FF2B5EF4-FFF2-40B4-BE49-F238E27FC236}">
                    <a16:creationId xmlns:a16="http://schemas.microsoft.com/office/drawing/2014/main" xmlns:a14="http://schemas.microsoft.com/office/drawing/2010/main" xmlns="" id="{B6E48898-B876-419B-86AC-A74DF8904367}"/>
                  </a:ext>
                </a:extLst>
              </p:cNvPr>
              <p:cNvSpPr>
                <a:spLocks noRot="1" noChangeAspect="1" noMove="1" noResize="1" noEditPoints="1" noAdjustHandles="1" noChangeArrowheads="1" noChangeShapeType="1" noTextEdit="1"/>
              </p:cNvSpPr>
              <p:nvPr/>
            </p:nvSpPr>
            <p:spPr>
              <a:xfrm>
                <a:off x="6814152" y="4372163"/>
                <a:ext cx="2789738" cy="649922"/>
              </a:xfrm>
              <a:prstGeom prst="rect">
                <a:avLst/>
              </a:prstGeom>
              <a:blipFill rotWithShape="0">
                <a:blip r:embed="rId10"/>
                <a:stretch>
                  <a:fillRect/>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27DE3062-3CFC-469B-BF57-11109AF87A69}"/>
              </a:ext>
            </a:extLst>
          </p:cNvPr>
          <p:cNvSpPr/>
          <p:nvPr/>
        </p:nvSpPr>
        <p:spPr>
          <a:xfrm>
            <a:off x="2538192" y="3979414"/>
            <a:ext cx="3185487" cy="369332"/>
          </a:xfrm>
          <a:prstGeom prst="rect">
            <a:avLst/>
          </a:prstGeom>
        </p:spPr>
        <p:txBody>
          <a:bodyPr wrap="none">
            <a:spAutoFit/>
          </a:bodyPr>
          <a:lstStyle/>
          <a:p>
            <a:r>
              <a:rPr lang="zh-CN" altLang="en-US" dirty="0">
                <a:latin typeface="微软雅黑 Light" panose="020B0502040204020203" pitchFamily="34" charset="-122"/>
                <a:ea typeface="微软雅黑 Light" panose="020B0502040204020203" pitchFamily="34" charset="-122"/>
              </a:rPr>
              <a:t>数据集中误分类点满足条件：</a:t>
            </a:r>
          </a:p>
        </p:txBody>
      </p: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F1E371B8-7AF7-4174-9E2E-8BA19606C11C}"/>
                  </a:ext>
                </a:extLst>
              </p:cNvPr>
              <p:cNvSpPr/>
              <p:nvPr/>
            </p:nvSpPr>
            <p:spPr>
              <a:xfrm>
                <a:off x="5507241" y="3979414"/>
                <a:ext cx="2174505" cy="4113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ea typeface="微软雅黑 Light" panose="020B0502040204020203" pitchFamily="34" charset="-122"/>
                            </a:rPr>
                          </m:ctrlPr>
                        </m:sSubPr>
                        <m:e>
                          <m:r>
                            <a:rPr lang="en-US" altLang="zh-CN" b="0" i="1">
                              <a:solidFill>
                                <a:schemeClr val="tx1"/>
                              </a:solidFill>
                              <a:latin typeface="Cambria Math" panose="02040503050406030204" pitchFamily="18" charset="0"/>
                              <a:ea typeface="微软雅黑 Light" panose="020B0502040204020203" pitchFamily="34" charset="-122"/>
                            </a:rPr>
                            <m:t>𝑦</m:t>
                          </m:r>
                        </m:e>
                        <m:sub>
                          <m:r>
                            <a:rPr lang="en-US" altLang="zh-CN" b="0" i="1" smtClean="0">
                              <a:solidFill>
                                <a:schemeClr val="tx1"/>
                              </a:solidFill>
                              <a:latin typeface="Cambria Math" panose="02040503050406030204" pitchFamily="18" charset="0"/>
                              <a:ea typeface="微软雅黑 Light" panose="020B0502040204020203" pitchFamily="34" charset="-122"/>
                            </a:rPr>
                            <m:t>𝑗</m:t>
                          </m:r>
                        </m:sub>
                      </m:sSub>
                      <m:d>
                        <m:dPr>
                          <m:ctrlPr>
                            <a:rPr lang="en-US" altLang="zh-CN" i="1" smtClean="0">
                              <a:solidFill>
                                <a:schemeClr val="tx1"/>
                              </a:solidFill>
                              <a:latin typeface="Cambria Math" panose="02040503050406030204" pitchFamily="18" charset="0"/>
                              <a:ea typeface="微软雅黑 Light" panose="020B0502040204020203" pitchFamily="34" charset="-122"/>
                            </a:rPr>
                          </m:ctrlPr>
                        </m:dPr>
                        <m:e>
                          <m:sSup>
                            <m:sSupPr>
                              <m:ctrlPr>
                                <a:rPr lang="en-US" altLang="zh-CN" i="1">
                                  <a:solidFill>
                                    <a:schemeClr val="tx1"/>
                                  </a:solidFill>
                                  <a:latin typeface="Cambria Math" panose="02040503050406030204" pitchFamily="18" charset="0"/>
                                  <a:ea typeface="微软雅黑 Light" panose="020B0502040204020203" pitchFamily="34" charset="-122"/>
                                </a:rPr>
                              </m:ctrlPr>
                            </m:sSupPr>
                            <m:e>
                              <m:r>
                                <a:rPr lang="en-US" altLang="zh-CN" b="1" i="1">
                                  <a:solidFill>
                                    <a:schemeClr val="tx1"/>
                                  </a:solidFill>
                                  <a:latin typeface="Cambria Math" panose="02040503050406030204" pitchFamily="18" charset="0"/>
                                  <a:ea typeface="微软雅黑 Light" panose="020B0502040204020203" pitchFamily="34" charset="-122"/>
                                </a:rPr>
                                <m:t>𝒘</m:t>
                              </m:r>
                            </m:e>
                            <m:sup>
                              <m:r>
                                <a:rPr lang="en-US" altLang="zh-CN" i="1">
                                  <a:solidFill>
                                    <a:schemeClr val="tx1"/>
                                  </a:solidFill>
                                  <a:latin typeface="Cambria Math" panose="02040503050406030204" pitchFamily="18" charset="0"/>
                                  <a:ea typeface="微软雅黑 Light" panose="020B0502040204020203" pitchFamily="34" charset="-122"/>
                                </a:rPr>
                                <m:t>𝑇</m:t>
                              </m:r>
                            </m:sup>
                          </m:sSup>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i="1">
                                  <a:solidFill>
                                    <a:schemeClr val="tx1"/>
                                  </a:solidFill>
                                  <a:latin typeface="Cambria Math" panose="02040503050406030204" pitchFamily="18" charset="0"/>
                                </a:rPr>
                                <m:t>𝑗</m:t>
                              </m:r>
                            </m:sub>
                          </m:sSub>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𝑏</m:t>
                          </m:r>
                        </m:e>
                      </m:d>
                      <m:r>
                        <a:rPr lang="en-US" altLang="zh-CN" b="0" i="1" smtClean="0">
                          <a:solidFill>
                            <a:schemeClr val="tx1"/>
                          </a:solidFill>
                          <a:latin typeface="Cambria Math" panose="02040503050406030204" pitchFamily="18" charset="0"/>
                        </a:rPr>
                        <m:t>&gt;0</m:t>
                      </m:r>
                    </m:oMath>
                  </m:oMathPara>
                </a14:m>
                <a:endParaRPr lang="zh-CN" altLang="en-US" dirty="0">
                  <a:solidFill>
                    <a:schemeClr val="tx1"/>
                  </a:solidFill>
                </a:endParaRPr>
              </a:p>
            </p:txBody>
          </p:sp>
        </mc:Choice>
        <mc:Fallback xmlns="">
          <p:sp>
            <p:nvSpPr>
              <p:cNvPr id="31" name="矩形 30">
                <a:extLst>
                  <a:ext uri="{FF2B5EF4-FFF2-40B4-BE49-F238E27FC236}">
                    <a16:creationId xmlns:a16="http://schemas.microsoft.com/office/drawing/2014/main" xmlns:a14="http://schemas.microsoft.com/office/drawing/2010/main" xmlns="" id="{F1E371B8-7AF7-4174-9E2E-8BA19606C11C}"/>
                  </a:ext>
                </a:extLst>
              </p:cNvPr>
              <p:cNvSpPr>
                <a:spLocks noRot="1" noChangeAspect="1" noMove="1" noResize="1" noEditPoints="1" noAdjustHandles="1" noChangeArrowheads="1" noChangeShapeType="1" noTextEdit="1"/>
              </p:cNvSpPr>
              <p:nvPr/>
            </p:nvSpPr>
            <p:spPr>
              <a:xfrm>
                <a:off x="5507241" y="3979414"/>
                <a:ext cx="2174505" cy="411395"/>
              </a:xfrm>
              <a:prstGeom prst="rect">
                <a:avLst/>
              </a:prstGeom>
              <a:blipFill rotWithShape="0">
                <a:blip r:embed="rId11"/>
                <a:stretch>
                  <a:fillRect b="-74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5507241" y="5740044"/>
                <a:ext cx="3660089" cy="8286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𝐿</m:t>
                      </m:r>
                      <m:d>
                        <m:dPr>
                          <m:ctrlPr>
                            <a:rPr lang="en-US" altLang="zh-CN" b="0"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𝑏</m:t>
                          </m:r>
                        </m:e>
                      </m:d>
                      <m:r>
                        <a:rPr lang="en-US" altLang="zh-CN" b="0" i="1" smtClean="0">
                          <a:solidFill>
                            <a:schemeClr val="tx1"/>
                          </a:solidFill>
                          <a:latin typeface="Cambria Math" panose="02040503050406030204" pitchFamily="18" charset="0"/>
                        </a:rPr>
                        <m:t>=−</m:t>
                      </m:r>
                      <m:nary>
                        <m:naryPr>
                          <m:chr m:val="∑"/>
                          <m:supHide m:val="on"/>
                          <m:ctrlPr>
                            <a:rPr lang="en-US" altLang="zh-CN" i="1">
                              <a:solidFill>
                                <a:schemeClr val="tx1"/>
                              </a:solidFill>
                              <a:latin typeface="Cambria Math" panose="02040503050406030204" pitchFamily="18" charset="0"/>
                            </a:rPr>
                          </m:ctrlPr>
                        </m:naryPr>
                        <m:sub>
                          <m:sSub>
                            <m:sSubPr>
                              <m:ctrlPr>
                                <a:rPr lang="en-US" altLang="zh-CN" i="1">
                                  <a:solidFill>
                                    <a:schemeClr val="tx1"/>
                                  </a:solidFill>
                                  <a:latin typeface="Cambria Math" panose="02040503050406030204" pitchFamily="18" charset="0"/>
                                  <a:ea typeface="微软雅黑 Light" panose="020B0502040204020203" pitchFamily="34" charset="-122"/>
                                </a:rPr>
                              </m:ctrlPr>
                            </m:sSubPr>
                            <m:e>
                              <m:r>
                                <a:rPr lang="en-US" altLang="zh-CN" b="1" i="1">
                                  <a:solidFill>
                                    <a:schemeClr val="tx1"/>
                                  </a:solidFill>
                                  <a:latin typeface="Cambria Math" panose="02040503050406030204" pitchFamily="18" charset="0"/>
                                  <a:ea typeface="微软雅黑 Light" panose="020B0502040204020203" pitchFamily="34" charset="-122"/>
                                </a:rPr>
                                <m:t>𝒙</m:t>
                              </m:r>
                            </m:e>
                            <m:sub>
                              <m:r>
                                <a:rPr lang="en-US" altLang="zh-CN" i="1">
                                  <a:solidFill>
                                    <a:schemeClr val="tx1"/>
                                  </a:solidFill>
                                  <a:latin typeface="Cambria Math" panose="02040503050406030204" pitchFamily="18" charset="0"/>
                                  <a:ea typeface="微软雅黑 Light" panose="020B0502040204020203" pitchFamily="34" charset="-122"/>
                                </a:rPr>
                                <m:t>𝑗</m:t>
                              </m:r>
                            </m:sub>
                          </m:sSub>
                          <m:r>
                            <a:rPr lang="en-US" altLang="zh-CN" i="1">
                              <a:solidFill>
                                <a:schemeClr val="tx1"/>
                              </a:solidFill>
                              <a:latin typeface="Cambria Math" panose="02040503050406030204" pitchFamily="18" charset="0"/>
                              <a:ea typeface="Cambria Math" panose="02040503050406030204" pitchFamily="18" charset="0"/>
                            </a:rPr>
                            <m:t>∈</m:t>
                          </m:r>
                          <m:r>
                            <a:rPr lang="en-US" altLang="zh-CN" i="1">
                              <a:solidFill>
                                <a:schemeClr val="tx1"/>
                              </a:solidFill>
                              <a:latin typeface="Cambria Math" panose="02040503050406030204" pitchFamily="18" charset="0"/>
                              <a:ea typeface="Cambria Math" panose="02040503050406030204" pitchFamily="18" charset="0"/>
                            </a:rPr>
                            <m:t>𝑀</m:t>
                          </m:r>
                        </m:sub>
                        <m:sup/>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𝑦</m:t>
                              </m:r>
                            </m:e>
                            <m:sub>
                              <m:r>
                                <a:rPr lang="en-US" altLang="zh-CN" i="1">
                                  <a:solidFill>
                                    <a:schemeClr val="tx1"/>
                                  </a:solidFill>
                                  <a:latin typeface="Cambria Math" panose="02040503050406030204" pitchFamily="18" charset="0"/>
                                </a:rPr>
                                <m:t>𝑗</m:t>
                              </m:r>
                            </m:sub>
                          </m:sSub>
                          <m:r>
                            <a:rPr lang="en-US" altLang="zh-CN" i="1">
                              <a:solidFill>
                                <a:schemeClr val="tx1"/>
                              </a:solidFill>
                              <a:latin typeface="Cambria Math" panose="02040503050406030204" pitchFamily="18" charset="0"/>
                            </a:rPr>
                            <m:t>(</m:t>
                          </m:r>
                          <m:sSup>
                            <m:sSupPr>
                              <m:ctrlPr>
                                <a:rPr lang="en-US" altLang="zh-CN" i="1">
                                  <a:solidFill>
                                    <a:schemeClr val="tx1"/>
                                  </a:solidFill>
                                  <a:latin typeface="Cambria Math" panose="02040503050406030204" pitchFamily="18" charset="0"/>
                                  <a:ea typeface="微软雅黑 Light" panose="020B0502040204020203" pitchFamily="34" charset="-122"/>
                                </a:rPr>
                              </m:ctrlPr>
                            </m:sSupPr>
                            <m:e>
                              <m:r>
                                <a:rPr lang="en-US" altLang="zh-CN" b="1" i="1">
                                  <a:solidFill>
                                    <a:schemeClr val="tx1"/>
                                  </a:solidFill>
                                  <a:latin typeface="Cambria Math" panose="02040503050406030204" pitchFamily="18" charset="0"/>
                                  <a:ea typeface="微软雅黑 Light" panose="020B0502040204020203" pitchFamily="34" charset="-122"/>
                                </a:rPr>
                                <m:t>𝒘</m:t>
                              </m:r>
                            </m:e>
                            <m:sup>
                              <m:r>
                                <a:rPr lang="en-US" altLang="zh-CN" i="1">
                                  <a:solidFill>
                                    <a:schemeClr val="tx1"/>
                                  </a:solidFill>
                                  <a:latin typeface="Cambria Math" panose="02040503050406030204" pitchFamily="18" charset="0"/>
                                  <a:ea typeface="微软雅黑 Light" panose="020B0502040204020203" pitchFamily="34" charset="-122"/>
                                </a:rPr>
                                <m:t>𝑇</m:t>
                              </m:r>
                            </m:sup>
                          </m:sSup>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i="1">
                                  <a:solidFill>
                                    <a:schemeClr val="tx1"/>
                                  </a:solidFill>
                                  <a:latin typeface="Cambria Math" panose="02040503050406030204" pitchFamily="18" charset="0"/>
                                </a:rPr>
                                <m:t>𝑗</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𝑏</m:t>
                          </m:r>
                          <m:r>
                            <a:rPr lang="en-US" altLang="zh-CN" i="1">
                              <a:solidFill>
                                <a:schemeClr val="tx1"/>
                              </a:solidFill>
                              <a:latin typeface="Cambria Math" panose="02040503050406030204" pitchFamily="18" charset="0"/>
                            </a:rPr>
                            <m:t>)</m:t>
                          </m:r>
                        </m:e>
                      </m:nary>
                    </m:oMath>
                  </m:oMathPara>
                </a14:m>
                <a:br>
                  <a:rPr lang="en-US" altLang="zh-CN" dirty="0">
                    <a:solidFill>
                      <a:schemeClr val="tx1"/>
                    </a:solidFill>
                  </a:rPr>
                </a:br>
                <a:endParaRPr lang="zh-CN" altLang="en-US" dirty="0">
                  <a:solidFill>
                    <a:schemeClr val="tx1"/>
                  </a:solidFill>
                </a:endParaRPr>
              </a:p>
            </p:txBody>
          </p:sp>
        </mc:Choice>
        <mc:Fallback xmlns="">
          <p:sp>
            <p:nvSpPr>
              <p:cNvPr id="32" name="矩形 31"/>
              <p:cNvSpPr>
                <a:spLocks noRot="1" noChangeAspect="1" noMove="1" noResize="1" noEditPoints="1" noAdjustHandles="1" noChangeArrowheads="1" noChangeShapeType="1" noTextEdit="1"/>
              </p:cNvSpPr>
              <p:nvPr/>
            </p:nvSpPr>
            <p:spPr>
              <a:xfrm>
                <a:off x="5507241" y="5740044"/>
                <a:ext cx="3660089" cy="828625"/>
              </a:xfrm>
              <a:prstGeom prst="rect">
                <a:avLst/>
              </a:prstGeom>
              <a:blipFill rotWithShape="0">
                <a:blip r:embed="rId12"/>
                <a:stretch>
                  <a:fillRect/>
                </a:stretch>
              </a:blipFill>
            </p:spPr>
            <p:txBody>
              <a:bodyPr/>
              <a:lstStyle/>
              <a:p>
                <a:r>
                  <a:rPr lang="zh-CN" altLang="en-US">
                    <a:noFill/>
                  </a:rPr>
                  <a:t> </a:t>
                </a:r>
              </a:p>
            </p:txBody>
          </p:sp>
        </mc:Fallback>
      </mc:AlternateContent>
      <p:sp>
        <p:nvSpPr>
          <p:cNvPr id="34" name="矩形 33">
            <a:extLst>
              <a:ext uri="{FF2B5EF4-FFF2-40B4-BE49-F238E27FC236}">
                <a16:creationId xmlns:a16="http://schemas.microsoft.com/office/drawing/2014/main" id="{A7665E4B-5AFD-42A1-8580-732AAEFBA102}"/>
              </a:ext>
            </a:extLst>
          </p:cNvPr>
          <p:cNvSpPr/>
          <p:nvPr/>
        </p:nvSpPr>
        <p:spPr>
          <a:xfrm>
            <a:off x="2534788" y="5151986"/>
            <a:ext cx="3849131" cy="369332"/>
          </a:xfrm>
          <a:prstGeom prst="rect">
            <a:avLst/>
          </a:prstGeom>
        </p:spPr>
        <p:txBody>
          <a:bodyPr wrap="none">
            <a:spAutoFit/>
          </a:bodyPr>
          <a:lstStyle/>
          <a:p>
            <a:r>
              <a:rPr lang="zh-CN" altLang="en-US" dirty="0">
                <a:latin typeface="微软雅黑 Light" panose="020B0502040204020203" pitchFamily="34" charset="-122"/>
                <a:ea typeface="微软雅黑 Light" panose="020B0502040204020203" pitchFamily="34" charset="-122"/>
              </a:rPr>
              <a:t>所有误分类点到超平面</a:t>
            </a:r>
            <a:r>
              <a:rPr lang="en-US" altLang="zh-CN" dirty="0">
                <a:latin typeface="微软雅黑 Light" panose="020B0502040204020203" pitchFamily="34" charset="-122"/>
                <a:ea typeface="微软雅黑 Light" panose="020B0502040204020203" pitchFamily="34" charset="-122"/>
              </a:rPr>
              <a:t>S</a:t>
            </a:r>
            <a:r>
              <a:rPr lang="zh-CN" altLang="en-US" dirty="0">
                <a:latin typeface="微软雅黑 Light" panose="020B0502040204020203" pitchFamily="34" charset="-122"/>
                <a:ea typeface="微软雅黑 Light" panose="020B0502040204020203" pitchFamily="34" charset="-122"/>
              </a:rPr>
              <a:t>的总距离为 </a:t>
            </a:r>
          </a:p>
        </p:txBody>
      </p: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D145C216-62AA-444D-8012-800A4BC90974}"/>
                  </a:ext>
                </a:extLst>
              </p:cNvPr>
              <p:cNvSpPr/>
              <p:nvPr/>
            </p:nvSpPr>
            <p:spPr>
              <a:xfrm>
                <a:off x="6213404" y="5000554"/>
                <a:ext cx="3141822" cy="8285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𝑑</m:t>
                      </m:r>
                      <m:r>
                        <a:rPr lang="en-US" altLang="zh-CN" b="0" i="1"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rPr>
                            <m:t>1</m:t>
                          </m:r>
                        </m:num>
                        <m:den>
                          <m:d>
                            <m:dPr>
                              <m:begChr m:val="‖"/>
                              <m:endChr m:val="‖"/>
                              <m:ctrlPr>
                                <a:rPr lang="en-US" altLang="zh-CN"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𝒘</m:t>
                              </m:r>
                            </m:e>
                          </m:d>
                        </m:den>
                      </m:f>
                      <m:nary>
                        <m:naryPr>
                          <m:chr m:val="∑"/>
                          <m:supHide m:val="on"/>
                          <m:ctrlPr>
                            <a:rPr lang="en-US" altLang="zh-CN" i="1">
                              <a:solidFill>
                                <a:schemeClr val="tx1"/>
                              </a:solidFill>
                              <a:latin typeface="Cambria Math" panose="02040503050406030204" pitchFamily="18" charset="0"/>
                            </a:rPr>
                          </m:ctrlPr>
                        </m:naryPr>
                        <m:sub>
                          <m:sSub>
                            <m:sSubPr>
                              <m:ctrlPr>
                                <a:rPr lang="en-US" altLang="zh-CN" i="1" smtClean="0">
                                  <a:solidFill>
                                    <a:schemeClr val="tx1"/>
                                  </a:solidFill>
                                  <a:latin typeface="Cambria Math" panose="02040503050406030204" pitchFamily="18" charset="0"/>
                                  <a:ea typeface="微软雅黑 Light" panose="020B0502040204020203" pitchFamily="34" charset="-122"/>
                                </a:rPr>
                              </m:ctrlPr>
                            </m:sSubPr>
                            <m:e>
                              <m:r>
                                <a:rPr lang="en-US" altLang="zh-CN" b="1" i="1">
                                  <a:solidFill>
                                    <a:schemeClr val="tx1"/>
                                  </a:solidFill>
                                  <a:latin typeface="Cambria Math" panose="02040503050406030204" pitchFamily="18" charset="0"/>
                                  <a:ea typeface="微软雅黑 Light" panose="020B0502040204020203" pitchFamily="34" charset="-122"/>
                                </a:rPr>
                                <m:t>𝒙</m:t>
                              </m:r>
                            </m:e>
                            <m:sub>
                              <m:r>
                                <a:rPr lang="en-US" altLang="zh-CN" i="1">
                                  <a:solidFill>
                                    <a:schemeClr val="tx1"/>
                                  </a:solidFill>
                                  <a:latin typeface="Cambria Math" panose="02040503050406030204" pitchFamily="18" charset="0"/>
                                  <a:ea typeface="微软雅黑 Light" panose="020B0502040204020203" pitchFamily="34" charset="-122"/>
                                </a:rPr>
                                <m:t>𝑗</m:t>
                              </m:r>
                            </m:sub>
                          </m:sSub>
                          <m:r>
                            <a:rPr lang="en-US" altLang="zh-CN" i="1">
                              <a:solidFill>
                                <a:schemeClr val="tx1"/>
                              </a:solidFill>
                              <a:latin typeface="Cambria Math" panose="02040503050406030204" pitchFamily="18" charset="0"/>
                              <a:ea typeface="Cambria Math" panose="02040503050406030204" pitchFamily="18" charset="0"/>
                            </a:rPr>
                            <m:t>∈</m:t>
                          </m:r>
                          <m:r>
                            <a:rPr lang="en-US" altLang="zh-CN" i="1">
                              <a:solidFill>
                                <a:schemeClr val="tx1"/>
                              </a:solidFill>
                              <a:latin typeface="Cambria Math" panose="02040503050406030204" pitchFamily="18" charset="0"/>
                              <a:ea typeface="Cambria Math" panose="02040503050406030204" pitchFamily="18" charset="0"/>
                            </a:rPr>
                            <m:t>𝑀</m:t>
                          </m:r>
                        </m:sub>
                        <m:sup/>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𝑦</m:t>
                              </m:r>
                            </m:e>
                            <m:sub>
                              <m:r>
                                <a:rPr lang="en-US" altLang="zh-CN" i="1">
                                  <a:solidFill>
                                    <a:schemeClr val="tx1"/>
                                  </a:solidFill>
                                  <a:latin typeface="Cambria Math" panose="02040503050406030204" pitchFamily="18" charset="0"/>
                                </a:rPr>
                                <m:t>𝑗</m:t>
                              </m:r>
                            </m:sub>
                          </m:sSub>
                          <m:r>
                            <a:rPr lang="en-US" altLang="zh-CN" i="1">
                              <a:solidFill>
                                <a:schemeClr val="tx1"/>
                              </a:solidFill>
                              <a:latin typeface="Cambria Math" panose="02040503050406030204" pitchFamily="18" charset="0"/>
                            </a:rPr>
                            <m:t>(</m:t>
                          </m:r>
                          <m:sSup>
                            <m:sSupPr>
                              <m:ctrlPr>
                                <a:rPr lang="en-US" altLang="zh-CN" i="1">
                                  <a:solidFill>
                                    <a:schemeClr val="tx1"/>
                                  </a:solidFill>
                                  <a:latin typeface="Cambria Math" panose="02040503050406030204" pitchFamily="18" charset="0"/>
                                  <a:ea typeface="微软雅黑 Light" panose="020B0502040204020203" pitchFamily="34" charset="-122"/>
                                </a:rPr>
                              </m:ctrlPr>
                            </m:sSupPr>
                            <m:e>
                              <m:r>
                                <a:rPr lang="en-US" altLang="zh-CN" b="1" i="1">
                                  <a:solidFill>
                                    <a:schemeClr val="tx1"/>
                                  </a:solidFill>
                                  <a:latin typeface="Cambria Math" panose="02040503050406030204" pitchFamily="18" charset="0"/>
                                  <a:ea typeface="微软雅黑 Light" panose="020B0502040204020203" pitchFamily="34" charset="-122"/>
                                </a:rPr>
                                <m:t>𝒘</m:t>
                              </m:r>
                            </m:e>
                            <m:sup>
                              <m:r>
                                <a:rPr lang="en-US" altLang="zh-CN" i="1">
                                  <a:solidFill>
                                    <a:schemeClr val="tx1"/>
                                  </a:solidFill>
                                  <a:latin typeface="Cambria Math" panose="02040503050406030204" pitchFamily="18" charset="0"/>
                                  <a:ea typeface="微软雅黑 Light" panose="020B0502040204020203" pitchFamily="34" charset="-122"/>
                                </a:rPr>
                                <m:t>𝑇</m:t>
                              </m:r>
                            </m:sup>
                          </m:sSup>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i="1">
                                  <a:solidFill>
                                    <a:schemeClr val="tx1"/>
                                  </a:solidFill>
                                  <a:latin typeface="Cambria Math" panose="02040503050406030204" pitchFamily="18" charset="0"/>
                                </a:rPr>
                                <m:t>𝑗</m:t>
                              </m:r>
                            </m:sub>
                          </m:sSub>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𝑏</m:t>
                          </m:r>
                          <m:r>
                            <a:rPr lang="en-US" altLang="zh-CN" i="1">
                              <a:solidFill>
                                <a:schemeClr val="tx1"/>
                              </a:solidFill>
                              <a:latin typeface="Cambria Math" panose="02040503050406030204" pitchFamily="18" charset="0"/>
                            </a:rPr>
                            <m:t>)</m:t>
                          </m:r>
                        </m:e>
                      </m:nary>
                    </m:oMath>
                  </m:oMathPara>
                </a14:m>
                <a:endParaRPr lang="zh-CN" altLang="en-US" dirty="0">
                  <a:solidFill>
                    <a:schemeClr val="tx1"/>
                  </a:solidFill>
                </a:endParaRPr>
              </a:p>
            </p:txBody>
          </p:sp>
        </mc:Choice>
        <mc:Fallback xmlns="">
          <p:sp>
            <p:nvSpPr>
              <p:cNvPr id="35" name="矩形 34">
                <a:extLst>
                  <a:ext uri="{FF2B5EF4-FFF2-40B4-BE49-F238E27FC236}">
                    <a16:creationId xmlns:a16="http://schemas.microsoft.com/office/drawing/2014/main" xmlns:a14="http://schemas.microsoft.com/office/drawing/2010/main" xmlns="" id="{D145C216-62AA-444D-8012-800A4BC90974}"/>
                  </a:ext>
                </a:extLst>
              </p:cNvPr>
              <p:cNvSpPr>
                <a:spLocks noRot="1" noChangeAspect="1" noMove="1" noResize="1" noEditPoints="1" noAdjustHandles="1" noChangeArrowheads="1" noChangeShapeType="1" noTextEdit="1"/>
              </p:cNvSpPr>
              <p:nvPr/>
            </p:nvSpPr>
            <p:spPr>
              <a:xfrm>
                <a:off x="6213404" y="5000554"/>
                <a:ext cx="3141822" cy="828560"/>
              </a:xfrm>
              <a:prstGeom prst="rect">
                <a:avLst/>
              </a:prstGeom>
              <a:blipFill rotWithShape="0">
                <a:blip r:embed="rId13"/>
                <a:stretch>
                  <a:fillRect/>
                </a:stretch>
              </a:blipFill>
            </p:spPr>
            <p:txBody>
              <a:bodyPr/>
              <a:lstStyle/>
              <a:p>
                <a:r>
                  <a:rPr lang="zh-CN" altLang="en-US">
                    <a:noFill/>
                  </a:rPr>
                  <a:t> </a:t>
                </a:r>
              </a:p>
            </p:txBody>
          </p:sp>
        </mc:Fallback>
      </mc:AlternateContent>
      <p:sp>
        <p:nvSpPr>
          <p:cNvPr id="36" name="矩形 35">
            <a:extLst>
              <a:ext uri="{FF2B5EF4-FFF2-40B4-BE49-F238E27FC236}">
                <a16:creationId xmlns:a16="http://schemas.microsoft.com/office/drawing/2014/main" id="{E500C090-B418-46B8-A6C5-51AF86D5D31B}"/>
              </a:ext>
            </a:extLst>
          </p:cNvPr>
          <p:cNvSpPr/>
          <p:nvPr/>
        </p:nvSpPr>
        <p:spPr>
          <a:xfrm>
            <a:off x="2534788" y="5946105"/>
            <a:ext cx="3185487" cy="369332"/>
          </a:xfrm>
          <a:prstGeom prst="rect">
            <a:avLst/>
          </a:prstGeom>
        </p:spPr>
        <p:txBody>
          <a:bodyPr wrap="none">
            <a:spAutoFit/>
          </a:bodyPr>
          <a:lstStyle/>
          <a:p>
            <a:r>
              <a:rPr lang="zh-CN" altLang="en-US" dirty="0">
                <a:latin typeface="微软雅黑 Light" panose="020B0502040204020203" pitchFamily="34" charset="-122"/>
                <a:ea typeface="微软雅黑 Light" panose="020B0502040204020203" pitchFamily="34" charset="-122"/>
              </a:rPr>
              <a:t>由此寻找到感知机的损失函数</a:t>
            </a:r>
            <a:endParaRPr lang="zh-CN" altLang="en-US" dirty="0"/>
          </a:p>
        </p:txBody>
      </p:sp>
      <p:sp>
        <p:nvSpPr>
          <p:cNvPr id="27" name="灯片编号占位符 8">
            <a:extLst>
              <a:ext uri="{FF2B5EF4-FFF2-40B4-BE49-F238E27FC236}">
                <a16:creationId xmlns:a16="http://schemas.microsoft.com/office/drawing/2014/main" id="{0DD71E2F-212D-4A72-A3CD-18C598678CE6}"/>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19</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953267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感知机算法</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mc:AlternateContent xmlns:mc="http://schemas.openxmlformats.org/markup-compatibility/2006" xmlns:a14="http://schemas.microsoft.com/office/drawing/2010/main">
        <mc:Choice Requires="a14">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800" dirty="0">
                    <a:latin typeface="微软雅黑 Light" panose="020B0502040204020203" pitchFamily="34" charset="-122"/>
                    <a:ea typeface="微软雅黑 Light" panose="020B0502040204020203" pitchFamily="34" charset="-122"/>
                  </a:rPr>
                  <a:t>问题转化为寻找（</a:t>
                </a:r>
                <a:r>
                  <a:rPr lang="en-US" altLang="zh-CN" sz="2800" b="1" dirty="0"/>
                  <a:t> </a:t>
                </a:r>
                <a14:m>
                  <m:oMath xmlns:m="http://schemas.openxmlformats.org/officeDocument/2006/math">
                    <m:r>
                      <a:rPr lang="en-US" altLang="zh-CN" sz="2800" b="1" i="1">
                        <a:latin typeface="Cambria Math" panose="02040503050406030204" pitchFamily="18" charset="0"/>
                      </a:rPr>
                      <m:t>𝒘</m:t>
                    </m:r>
                    <m:r>
                      <a:rPr lang="en-US" altLang="zh-CN" sz="2800" i="1">
                        <a:latin typeface="Cambria Math" panose="02040503050406030204" pitchFamily="18" charset="0"/>
                      </a:rPr>
                      <m:t>,</m:t>
                    </m:r>
                    <m:r>
                      <a:rPr lang="en-US" altLang="zh-CN" sz="2800" i="1">
                        <a:latin typeface="Cambria Math" panose="02040503050406030204" pitchFamily="18" charset="0"/>
                      </a:rPr>
                      <m:t>𝑏</m:t>
                    </m:r>
                    <m:r>
                      <a:rPr lang="en-US" altLang="zh-CN" sz="2800" i="1">
                        <a:latin typeface="Cambria Math" panose="02040503050406030204" pitchFamily="18" charset="0"/>
                      </a:rPr>
                      <m:t> </m:t>
                    </m:r>
                  </m:oMath>
                </a14:m>
                <a:r>
                  <a:rPr lang="zh-CN" altLang="en-US" sz="2800" dirty="0">
                    <a:latin typeface="微软雅黑 Light" panose="020B0502040204020203" pitchFamily="34" charset="-122"/>
                    <a:ea typeface="微软雅黑 Light" panose="020B0502040204020203" pitchFamily="34" charset="-122"/>
                  </a:rPr>
                  <a:t>）使得损失函数极小化的最优化问题</a:t>
                </a:r>
                <a:endParaRPr lang="en-US" altLang="zh-CN" sz="28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3" name="内容占位符 2"/>
              <p:cNvSpPr txBox="1">
                <a:spLocks noRot="1" noChangeAspect="1" noMove="1" noResize="1" noEditPoints="1" noAdjustHandles="1" noChangeArrowheads="1" noChangeShapeType="1" noTextEdit="1"/>
              </p:cNvSpPr>
              <p:nvPr/>
            </p:nvSpPr>
            <p:spPr>
              <a:xfrm>
                <a:off x="293722" y="691951"/>
                <a:ext cx="11637087" cy="742954"/>
              </a:xfrm>
              <a:prstGeom prst="rect">
                <a:avLst/>
              </a:prstGeom>
              <a:blipFill rotWithShape="0">
                <a:blip r:embed="rId5"/>
                <a:stretch>
                  <a:fillRect l="-891" b="-123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808189" y="2023103"/>
                <a:ext cx="2809362" cy="7102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𝑠𝑖𝑔𝑛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≥0</m:t>
                              </m:r>
                            </m:e>
                            <m:e>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&lt;0</m:t>
                              </m:r>
                            </m:e>
                          </m:eqArr>
                        </m:e>
                      </m:d>
                    </m:oMath>
                  </m:oMathPara>
                </a14:m>
                <a:br>
                  <a:rPr lang="en-US" altLang="zh-CN" dirty="0"/>
                </a:br>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808189" y="2023103"/>
                <a:ext cx="2809362" cy="710259"/>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731378" y="1467604"/>
                <a:ext cx="2809362" cy="36939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f</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x</m:t>
                      </m:r>
                      <m:r>
                        <a:rPr lang="en-US" altLang="zh-CN" b="0" i="0" smtClean="0">
                          <a:latin typeface="Cambria Math" panose="02040503050406030204" pitchFamily="18" charset="0"/>
                        </a:rPr>
                        <m:t>)=</m:t>
                      </m:r>
                      <m:r>
                        <a:rPr lang="en-US" altLang="zh-CN" b="0" i="1" smtClean="0">
                          <a:latin typeface="Cambria Math" panose="02040503050406030204" pitchFamily="18" charset="0"/>
                        </a:rPr>
                        <m:t>𝑠𝑖𝑔𝑛</m:t>
                      </m:r>
                      <m:d>
                        <m:dPr>
                          <m:ctrlPr>
                            <a:rPr lang="en-US" altLang="zh-CN" b="0" i="1" smtClean="0">
                              <a:latin typeface="Cambria Math" panose="02040503050406030204" pitchFamily="18" charset="0"/>
                            </a:rPr>
                          </m:ctrlPr>
                        </m:dPr>
                        <m:e>
                          <m:sSup>
                            <m:sSupPr>
                              <m:ctrlPr>
                                <a:rPr lang="en-US" altLang="zh-CN" i="1">
                                  <a:latin typeface="Cambria Math" panose="02040503050406030204" pitchFamily="18" charset="0"/>
                                  <a:ea typeface="微软雅黑 Light" panose="020B0502040204020203" pitchFamily="34" charset="-122"/>
                                </a:rPr>
                              </m:ctrlPr>
                            </m:sSupPr>
                            <m:e>
                              <m:r>
                                <a:rPr lang="en-US" altLang="zh-CN" b="1" i="1">
                                  <a:latin typeface="Cambria Math" panose="02040503050406030204" pitchFamily="18" charset="0"/>
                                  <a:ea typeface="微软雅黑 Light" panose="020B0502040204020203" pitchFamily="34" charset="-122"/>
                                </a:rPr>
                                <m:t>𝒘</m:t>
                              </m:r>
                            </m:e>
                            <m:sup>
                              <m:r>
                                <a:rPr lang="en-US" altLang="zh-CN" i="1">
                                  <a:latin typeface="Cambria Math" panose="02040503050406030204" pitchFamily="18" charset="0"/>
                                  <a:ea typeface="微软雅黑 Light" panose="020B0502040204020203" pitchFamily="34" charset="-122"/>
                                </a:rPr>
                                <m:t>𝑇</m:t>
                              </m:r>
                            </m:sup>
                          </m:sSup>
                          <m:r>
                            <a:rPr lang="en-US" altLang="zh-CN" b="1" i="1">
                              <a:latin typeface="Cambria Math" panose="02040503050406030204" pitchFamily="18" charset="0"/>
                              <a:ea typeface="微软雅黑 Light" panose="020B0502040204020203" pitchFamily="34" charset="-122"/>
                            </a:rPr>
                            <m:t>𝒙</m:t>
                          </m:r>
                          <m:r>
                            <a:rPr lang="en-US" altLang="zh-CN" i="1">
                              <a:latin typeface="Cambria Math" panose="02040503050406030204" pitchFamily="18" charset="0"/>
                              <a:ea typeface="微软雅黑 Light" panose="020B0502040204020203" pitchFamily="34" charset="-122"/>
                            </a:rPr>
                            <m:t>+</m:t>
                          </m:r>
                          <m:r>
                            <a:rPr lang="en-US" altLang="zh-CN" b="0" i="1" smtClean="0">
                              <a:latin typeface="Cambria Math" panose="02040503050406030204" pitchFamily="18" charset="0"/>
                            </a:rPr>
                            <m:t>𝑏</m:t>
                          </m:r>
                        </m:e>
                      </m:d>
                    </m:oMath>
                  </m:oMathPara>
                </a14:m>
                <a:br>
                  <a:rPr lang="en-US" altLang="zh-CN" dirty="0"/>
                </a:br>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731378" y="1467604"/>
                <a:ext cx="2809362" cy="369397"/>
              </a:xfrm>
              <a:prstGeom prst="rect">
                <a:avLst/>
              </a:prstGeom>
              <a:blipFill rotWithShape="0">
                <a:blip r:embed="rId7"/>
                <a:stretch>
                  <a:fillRect b="-13333"/>
                </a:stretch>
              </a:blipFill>
            </p:spPr>
            <p:txBody>
              <a:bodyPr/>
              <a:lstStyle/>
              <a:p>
                <a:r>
                  <a:rPr lang="zh-CN" altLang="en-US">
                    <a:noFill/>
                  </a:rPr>
                  <a:t> </a:t>
                </a:r>
              </a:p>
            </p:txBody>
          </p:sp>
        </mc:Fallback>
      </mc:AlternateContent>
      <p:sp>
        <p:nvSpPr>
          <p:cNvPr id="20" name="下箭头 19"/>
          <p:cNvSpPr/>
          <p:nvPr/>
        </p:nvSpPr>
        <p:spPr>
          <a:xfrm rot="16200000">
            <a:off x="4086503" y="1909081"/>
            <a:ext cx="216024" cy="218230"/>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4633353" y="1747276"/>
            <a:ext cx="1272275" cy="501227"/>
          </a:xfrm>
          <a:prstGeom prst="rect">
            <a:avLst/>
          </a:prstGeom>
        </p:spPr>
        <p:txBody>
          <a:bodyPr wrap="square">
            <a:spAutoFit/>
          </a:bodyPr>
          <a:lstStyle/>
          <a:p>
            <a:pPr algn="just">
              <a:lnSpc>
                <a:spcPct val="150000"/>
              </a:lnSpc>
            </a:pPr>
            <a:r>
              <a:rPr lang="zh-CN" altLang="en-US" sz="2000" dirty="0">
                <a:latin typeface="微软雅黑 Light" panose="020B0502040204020203" pitchFamily="34" charset="-122"/>
                <a:ea typeface="微软雅黑 Light" panose="020B0502040204020203" pitchFamily="34" charset="-122"/>
              </a:rPr>
              <a:t>损失函数</a:t>
            </a:r>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22" name="矩形 21"/>
              <p:cNvSpPr/>
              <p:nvPr/>
            </p:nvSpPr>
            <p:spPr>
              <a:xfrm>
                <a:off x="5727544" y="1681921"/>
                <a:ext cx="3660089" cy="8286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1" i="1" smtClean="0">
                              <a:latin typeface="Cambria Math" panose="02040503050406030204" pitchFamily="18" charset="0"/>
                            </a:rPr>
                            <m:t>𝒘</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r>
                        <a:rPr lang="en-US" altLang="zh-CN" b="0" i="1" smtClean="0">
                          <a:latin typeface="Cambria Math" panose="02040503050406030204" pitchFamily="18" charset="0"/>
                        </a:rPr>
                        <m:t>=−</m:t>
                      </m:r>
                      <m:nary>
                        <m:naryPr>
                          <m:chr m:val="∑"/>
                          <m:supHide m:val="on"/>
                          <m:ctrlPr>
                            <a:rPr lang="en-US" altLang="zh-CN" i="1">
                              <a:latin typeface="Cambria Math" panose="02040503050406030204" pitchFamily="18" charset="0"/>
                            </a:rPr>
                          </m:ctrlPr>
                        </m:naryPr>
                        <m:sub>
                          <m:sSub>
                            <m:sSubPr>
                              <m:ctrlPr>
                                <a:rPr lang="en-US" altLang="zh-CN" i="1">
                                  <a:latin typeface="Cambria Math" panose="02040503050406030204" pitchFamily="18" charset="0"/>
                                  <a:ea typeface="微软雅黑 Light" panose="020B0502040204020203" pitchFamily="34" charset="-122"/>
                                </a:rPr>
                              </m:ctrlPr>
                            </m:sSubPr>
                            <m:e>
                              <m:r>
                                <a:rPr lang="en-US" altLang="zh-CN" b="1" i="1">
                                  <a:latin typeface="Cambria Math" panose="02040503050406030204" pitchFamily="18" charset="0"/>
                                  <a:ea typeface="微软雅黑 Light" panose="020B0502040204020203" pitchFamily="34" charset="-122"/>
                                </a:rPr>
                                <m:t>𝒙</m:t>
                              </m:r>
                            </m:e>
                            <m:sub>
                              <m:r>
                                <a:rPr lang="en-US" altLang="zh-CN" i="1">
                                  <a:latin typeface="Cambria Math" panose="02040503050406030204" pitchFamily="18" charset="0"/>
                                  <a:ea typeface="微软雅黑 Light" panose="020B0502040204020203" pitchFamily="34" charset="-122"/>
                                </a:rPr>
                                <m:t>𝑗</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𝑀</m:t>
                          </m:r>
                        </m: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𝑗</m:t>
                              </m:r>
                            </m:sub>
                          </m:sSub>
                          <m:r>
                            <a:rPr lang="en-US" altLang="zh-CN" i="1">
                              <a:latin typeface="Cambria Math" panose="02040503050406030204" pitchFamily="18" charset="0"/>
                            </a:rPr>
                            <m:t>(</m:t>
                          </m:r>
                          <m:sSup>
                            <m:sSupPr>
                              <m:ctrlPr>
                                <a:rPr lang="en-US" altLang="zh-CN" i="1">
                                  <a:latin typeface="Cambria Math" panose="02040503050406030204" pitchFamily="18" charset="0"/>
                                  <a:ea typeface="微软雅黑 Light" panose="020B0502040204020203" pitchFamily="34" charset="-122"/>
                                </a:rPr>
                              </m:ctrlPr>
                            </m:sSupPr>
                            <m:e>
                              <m:r>
                                <a:rPr lang="en-US" altLang="zh-CN" b="1" i="1">
                                  <a:latin typeface="Cambria Math" panose="02040503050406030204" pitchFamily="18" charset="0"/>
                                  <a:ea typeface="微软雅黑 Light" panose="020B0502040204020203" pitchFamily="34" charset="-122"/>
                                </a:rPr>
                                <m:t>𝒘</m:t>
                              </m:r>
                            </m:e>
                            <m:sup>
                              <m:r>
                                <a:rPr lang="en-US" altLang="zh-CN" i="1">
                                  <a:latin typeface="Cambria Math" panose="02040503050406030204" pitchFamily="18" charset="0"/>
                                  <a:ea typeface="微软雅黑 Light" panose="020B0502040204020203" pitchFamily="34" charset="-122"/>
                                </a:rPr>
                                <m:t>𝑇</m:t>
                              </m:r>
                            </m:sup>
                          </m:sSup>
                          <m:sSub>
                            <m:sSubPr>
                              <m:ctrlPr>
                                <a:rPr lang="en-US" altLang="zh-CN" i="1">
                                  <a:latin typeface="Cambria Math" panose="02040503050406030204" pitchFamily="18" charset="0"/>
                                </a:rPr>
                              </m:ctrlPr>
                            </m:sSubPr>
                            <m:e>
                              <m:r>
                                <a:rPr lang="en-US" altLang="zh-CN" b="1" i="1">
                                  <a:latin typeface="Cambria Math" panose="02040503050406030204" pitchFamily="18" charset="0"/>
                                </a:rPr>
                                <m:t>𝒙</m:t>
                              </m:r>
                            </m:e>
                            <m:sub>
                              <m:r>
                                <a:rPr lang="en-US" altLang="zh-CN" i="1">
                                  <a:latin typeface="Cambria Math" panose="02040503050406030204" pitchFamily="18" charset="0"/>
                                </a:rPr>
                                <m:t>𝑗</m:t>
                              </m:r>
                            </m:sub>
                          </m:sSub>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e>
                      </m:nary>
                    </m:oMath>
                  </m:oMathPara>
                </a14:m>
                <a:br>
                  <a:rPr lang="en-US" altLang="zh-CN" dirty="0"/>
                </a:br>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5727544" y="1681921"/>
                <a:ext cx="3660089" cy="828625"/>
              </a:xfrm>
              <a:prstGeom prst="rect">
                <a:avLst/>
              </a:prstGeom>
              <a:blipFill rotWithShape="0">
                <a:blip r:embed="rId8"/>
                <a:stretch>
                  <a:fillRect/>
                </a:stretch>
              </a:blipFill>
            </p:spPr>
            <p:txBody>
              <a:bodyPr/>
              <a:lstStyle/>
              <a:p>
                <a:r>
                  <a:rPr lang="zh-CN" altLang="en-US">
                    <a:noFill/>
                  </a:rPr>
                  <a:t> </a:t>
                </a:r>
              </a:p>
            </p:txBody>
          </p:sp>
        </mc:Fallback>
      </mc:AlternateContent>
      <p:sp>
        <p:nvSpPr>
          <p:cNvPr id="42" name="矩形 41"/>
          <p:cNvSpPr/>
          <p:nvPr/>
        </p:nvSpPr>
        <p:spPr>
          <a:xfrm>
            <a:off x="7357194" y="3948294"/>
            <a:ext cx="2725265" cy="400110"/>
          </a:xfrm>
          <a:prstGeom prst="rect">
            <a:avLst/>
          </a:prstGeom>
          <a:solidFill>
            <a:srgbClr val="1C4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697491" y="3039678"/>
            <a:ext cx="9144000" cy="400110"/>
          </a:xfrm>
          <a:prstGeom prst="rect">
            <a:avLst/>
          </a:prstGeom>
          <a:solidFill>
            <a:srgbClr val="1C4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1885116" y="3047373"/>
            <a:ext cx="7330052" cy="400110"/>
          </a:xfrm>
          <a:prstGeom prst="rect">
            <a:avLst/>
          </a:prstGeom>
        </p:spPr>
        <p:txBody>
          <a:bodyPr wrap="square">
            <a:spAutoFit/>
          </a:bodyPr>
          <a:lstStyle/>
          <a:p>
            <a:r>
              <a:rPr lang="zh-CN" altLang="en-US" sz="2000" b="1" dirty="0">
                <a:solidFill>
                  <a:schemeClr val="bg1"/>
                </a:solidFill>
                <a:latin typeface="微软雅黑 Light" panose="020B0502040204020203" pitchFamily="34" charset="-122"/>
                <a:ea typeface="微软雅黑 Light" panose="020B0502040204020203" pitchFamily="34" charset="-122"/>
              </a:rPr>
              <a:t>损失函数极小化的最优化问题可使用：随机梯度下降法</a:t>
            </a:r>
          </a:p>
        </p:txBody>
      </p:sp>
      <mc:AlternateContent xmlns:mc="http://schemas.openxmlformats.org/markup-compatibility/2006" xmlns:a14="http://schemas.microsoft.com/office/drawing/2010/main">
        <mc:Choice Requires="a14">
          <p:sp>
            <p:nvSpPr>
              <p:cNvPr id="45" name="矩形 44"/>
              <p:cNvSpPr/>
              <p:nvPr/>
            </p:nvSpPr>
            <p:spPr>
              <a:xfrm>
                <a:off x="623013" y="4606521"/>
                <a:ext cx="3660089" cy="8286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1" i="1" smtClean="0">
                              <a:latin typeface="Cambria Math" panose="02040503050406030204" pitchFamily="18" charset="0"/>
                            </a:rPr>
                            <m:t>𝒘</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r>
                        <a:rPr lang="en-US" altLang="zh-CN" b="0" i="1" smtClean="0">
                          <a:latin typeface="Cambria Math" panose="02040503050406030204" pitchFamily="18" charset="0"/>
                        </a:rPr>
                        <m:t>=−</m:t>
                      </m:r>
                      <m:nary>
                        <m:naryPr>
                          <m:chr m:val="∑"/>
                          <m:supHide m:val="on"/>
                          <m:ctrlPr>
                            <a:rPr lang="en-US" altLang="zh-CN" i="1" smtClean="0">
                              <a:latin typeface="Cambria Math" panose="02040503050406030204" pitchFamily="18" charset="0"/>
                            </a:rPr>
                          </m:ctrlPr>
                        </m:naryPr>
                        <m:sub>
                          <m:sSub>
                            <m:sSubPr>
                              <m:ctrlPr>
                                <a:rPr lang="en-US" altLang="zh-CN" i="1">
                                  <a:latin typeface="Cambria Math" panose="02040503050406030204" pitchFamily="18" charset="0"/>
                                  <a:ea typeface="微软雅黑 Light" panose="020B0502040204020203" pitchFamily="34" charset="-122"/>
                                </a:rPr>
                              </m:ctrlPr>
                            </m:sSubPr>
                            <m:e>
                              <m:r>
                                <a:rPr lang="en-US" altLang="zh-CN" b="1" i="1">
                                  <a:latin typeface="Cambria Math" panose="02040503050406030204" pitchFamily="18" charset="0"/>
                                  <a:ea typeface="微软雅黑 Light" panose="020B0502040204020203" pitchFamily="34" charset="-122"/>
                                </a:rPr>
                                <m:t>𝒙</m:t>
                              </m:r>
                            </m:e>
                            <m:sub>
                              <m:r>
                                <a:rPr lang="en-US" altLang="zh-CN" i="1">
                                  <a:latin typeface="Cambria Math" panose="02040503050406030204" pitchFamily="18" charset="0"/>
                                  <a:ea typeface="微软雅黑 Light" panose="020B0502040204020203" pitchFamily="34" charset="-122"/>
                                </a:rPr>
                                <m:t>𝑗</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𝑀</m:t>
                          </m:r>
                        </m: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𝑗</m:t>
                              </m:r>
                            </m:sub>
                          </m:s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𝒙</m:t>
                              </m:r>
                            </m:e>
                            <m:sub>
                              <m:r>
                                <a:rPr lang="en-US" altLang="zh-CN" i="1">
                                  <a:latin typeface="Cambria Math" panose="02040503050406030204" pitchFamily="18" charset="0"/>
                                </a:rPr>
                                <m:t>𝑗</m:t>
                              </m:r>
                            </m:sub>
                          </m:sSub>
                        </m:e>
                      </m:nary>
                    </m:oMath>
                  </m:oMathPara>
                </a14:m>
                <a:br>
                  <a:rPr lang="en-US" altLang="zh-CN" dirty="0"/>
                </a:br>
                <a:endParaRPr lang="zh-CN" altLang="en-US" dirty="0"/>
              </a:p>
            </p:txBody>
          </p:sp>
        </mc:Choice>
        <mc:Fallback xmlns="">
          <p:sp>
            <p:nvSpPr>
              <p:cNvPr id="45" name="矩形 44"/>
              <p:cNvSpPr>
                <a:spLocks noRot="1" noChangeAspect="1" noMove="1" noResize="1" noEditPoints="1" noAdjustHandles="1" noChangeArrowheads="1" noChangeShapeType="1" noTextEdit="1"/>
              </p:cNvSpPr>
              <p:nvPr/>
            </p:nvSpPr>
            <p:spPr>
              <a:xfrm>
                <a:off x="623013" y="4606521"/>
                <a:ext cx="3660089" cy="828625"/>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p:cNvSpPr/>
              <p:nvPr/>
            </p:nvSpPr>
            <p:spPr>
              <a:xfrm>
                <a:off x="534426" y="5397027"/>
                <a:ext cx="3660089" cy="8286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rPr>
                            <m:t>𝑏</m:t>
                          </m:r>
                        </m:sub>
                      </m:sSub>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1" i="1" smtClean="0">
                              <a:latin typeface="Cambria Math" panose="02040503050406030204" pitchFamily="18" charset="0"/>
                            </a:rPr>
                            <m:t>𝒘</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r>
                        <a:rPr lang="en-US" altLang="zh-CN" b="0" i="1" smtClean="0">
                          <a:latin typeface="Cambria Math" panose="02040503050406030204" pitchFamily="18" charset="0"/>
                        </a:rPr>
                        <m:t>=−</m:t>
                      </m:r>
                      <m:nary>
                        <m:naryPr>
                          <m:chr m:val="∑"/>
                          <m:supHide m:val="on"/>
                          <m:ctrlPr>
                            <a:rPr lang="en-US" altLang="zh-CN" i="1">
                              <a:latin typeface="Cambria Math" panose="02040503050406030204" pitchFamily="18" charset="0"/>
                            </a:rPr>
                          </m:ctrlPr>
                        </m:naryPr>
                        <m:sub>
                          <m:sSub>
                            <m:sSubPr>
                              <m:ctrlPr>
                                <a:rPr lang="en-US" altLang="zh-CN" i="1">
                                  <a:latin typeface="Cambria Math" panose="02040503050406030204" pitchFamily="18" charset="0"/>
                                  <a:ea typeface="微软雅黑 Light" panose="020B0502040204020203" pitchFamily="34" charset="-122"/>
                                </a:rPr>
                              </m:ctrlPr>
                            </m:sSubPr>
                            <m:e>
                              <m:r>
                                <a:rPr lang="en-US" altLang="zh-CN" b="1" i="1">
                                  <a:latin typeface="Cambria Math" panose="02040503050406030204" pitchFamily="18" charset="0"/>
                                  <a:ea typeface="微软雅黑 Light" panose="020B0502040204020203" pitchFamily="34" charset="-122"/>
                                </a:rPr>
                                <m:t>𝒙</m:t>
                              </m:r>
                            </m:e>
                            <m:sub>
                              <m:r>
                                <a:rPr lang="en-US" altLang="zh-CN" i="1">
                                  <a:latin typeface="Cambria Math" panose="02040503050406030204" pitchFamily="18" charset="0"/>
                                  <a:ea typeface="微软雅黑 Light" panose="020B0502040204020203" pitchFamily="34" charset="-122"/>
                                </a:rPr>
                                <m:t>𝑗</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𝑀</m:t>
                          </m:r>
                        </m: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𝑗</m:t>
                              </m:r>
                            </m:sub>
                          </m:sSub>
                        </m:e>
                      </m:nary>
                    </m:oMath>
                  </m:oMathPara>
                </a14:m>
                <a:br>
                  <a:rPr lang="en-US" altLang="zh-CN" dirty="0"/>
                </a:br>
                <a:endParaRPr lang="zh-CN" altLang="en-US" dirty="0"/>
              </a:p>
            </p:txBody>
          </p:sp>
        </mc:Choice>
        <mc:Fallback xmlns="">
          <p:sp>
            <p:nvSpPr>
              <p:cNvPr id="46" name="矩形 45"/>
              <p:cNvSpPr>
                <a:spLocks noRot="1" noChangeAspect="1" noMove="1" noResize="1" noEditPoints="1" noAdjustHandles="1" noChangeArrowheads="1" noChangeShapeType="1" noTextEdit="1"/>
              </p:cNvSpPr>
              <p:nvPr/>
            </p:nvSpPr>
            <p:spPr>
              <a:xfrm>
                <a:off x="534426" y="5397027"/>
                <a:ext cx="3660089" cy="828625"/>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p:cNvSpPr/>
              <p:nvPr/>
            </p:nvSpPr>
            <p:spPr>
              <a:xfrm>
                <a:off x="3224137" y="5566796"/>
                <a:ext cx="2809362" cy="3917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𝛼</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𝑗</m:t>
                          </m:r>
                        </m:sub>
                      </m:sSub>
                    </m:oMath>
                  </m:oMathPara>
                </a14:m>
                <a:br>
                  <a:rPr lang="en-US" altLang="zh-CN" dirty="0"/>
                </a:br>
                <a:endParaRPr lang="zh-CN" altLang="en-US" dirty="0"/>
              </a:p>
            </p:txBody>
          </p:sp>
        </mc:Choice>
        <mc:Fallback xmlns="">
          <p:sp>
            <p:nvSpPr>
              <p:cNvPr id="47" name="矩形 46"/>
              <p:cNvSpPr>
                <a:spLocks noRot="1" noChangeAspect="1" noMove="1" noResize="1" noEditPoints="1" noAdjustHandles="1" noChangeArrowheads="1" noChangeShapeType="1" noTextEdit="1"/>
              </p:cNvSpPr>
              <p:nvPr/>
            </p:nvSpPr>
            <p:spPr>
              <a:xfrm>
                <a:off x="3224137" y="5566796"/>
                <a:ext cx="2809362" cy="391710"/>
              </a:xfrm>
              <a:prstGeom prst="rect">
                <a:avLst/>
              </a:prstGeom>
              <a:blipFill rotWithShape="0">
                <a:blip r:embed="rId11"/>
                <a:stretch>
                  <a:fillRect b="-9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p:cNvSpPr/>
              <p:nvPr/>
            </p:nvSpPr>
            <p:spPr>
              <a:xfrm>
                <a:off x="3325275" y="4812935"/>
                <a:ext cx="3957098" cy="3917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𝒘</m:t>
                      </m:r>
                      <m:r>
                        <a:rPr lang="en-US" altLang="zh-CN" b="0"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𝒘</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𝛼</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𝑦</m:t>
                          </m:r>
                        </m:e>
                        <m:sub>
                          <m:r>
                            <a:rPr lang="en-US" altLang="zh-CN" b="0" i="1" smtClean="0">
                              <a:latin typeface="Cambria Math" panose="02040503050406030204" pitchFamily="18" charset="0"/>
                              <a:ea typeface="Cambria Math" panose="02040503050406030204" pitchFamily="18" charset="0"/>
                            </a:rPr>
                            <m:t>𝑗</m:t>
                          </m:r>
                        </m:sub>
                      </m:s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𝒙</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  </m:t>
                      </m:r>
                      <m:r>
                        <a:rPr lang="zh-CN" altLang="en-US" i="1"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0&lt;</m:t>
                      </m:r>
                      <m:r>
                        <a:rPr lang="zh-CN" altLang="en-US" i="1">
                          <a:latin typeface="Cambria Math" panose="02040503050406030204" pitchFamily="18" charset="0"/>
                          <a:ea typeface="Cambria Math" panose="02040503050406030204" pitchFamily="18" charset="0"/>
                        </a:rPr>
                        <m:t>𝛼</m:t>
                      </m:r>
                      <m:r>
                        <a:rPr lang="zh-CN" altLang="en-US" i="1">
                          <a:latin typeface="Cambria Math" panose="02040503050406030204" pitchFamily="18" charset="0"/>
                          <a:ea typeface="Cambria Math" panose="02040503050406030204" pitchFamily="18" charset="0"/>
                        </a:rPr>
                        <m:t>≤1</m:t>
                      </m:r>
                    </m:oMath>
                  </m:oMathPara>
                </a14:m>
                <a:br>
                  <a:rPr lang="en-US" altLang="zh-CN" dirty="0"/>
                </a:br>
                <a:endParaRPr lang="zh-CN" altLang="en-US" dirty="0"/>
              </a:p>
            </p:txBody>
          </p:sp>
        </mc:Choice>
        <mc:Fallback xmlns="">
          <p:sp>
            <p:nvSpPr>
              <p:cNvPr id="48" name="矩形 47"/>
              <p:cNvSpPr>
                <a:spLocks noRot="1" noChangeAspect="1" noMove="1" noResize="1" noEditPoints="1" noAdjustHandles="1" noChangeArrowheads="1" noChangeShapeType="1" noTextEdit="1"/>
              </p:cNvSpPr>
              <p:nvPr/>
            </p:nvSpPr>
            <p:spPr>
              <a:xfrm>
                <a:off x="3325275" y="4812935"/>
                <a:ext cx="3957098" cy="391710"/>
              </a:xfrm>
              <a:prstGeom prst="rect">
                <a:avLst/>
              </a:prstGeom>
              <a:blipFill rotWithShape="0">
                <a:blip r:embed="rId12"/>
                <a:stretch>
                  <a:fillRect b="-7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p:cNvSpPr/>
              <p:nvPr/>
            </p:nvSpPr>
            <p:spPr>
              <a:xfrm>
                <a:off x="7282373" y="4831167"/>
                <a:ext cx="4469918" cy="1372299"/>
              </a:xfrm>
              <a:prstGeom prst="rect">
                <a:avLst/>
              </a:prstGeom>
            </p:spPr>
            <p:txBody>
              <a:bodyPr wrap="square">
                <a:spAutoFit/>
              </a:bodyPr>
              <a:lstStyle/>
              <a:p>
                <a:pPr algn="just">
                  <a:lnSpc>
                    <a:spcPct val="150000"/>
                  </a:lnSpc>
                </a:pPr>
                <a:r>
                  <a:rPr lang="zh-CN" altLang="en-US" dirty="0">
                    <a:latin typeface="微软雅黑 Light" panose="020B0502040204020203" pitchFamily="34" charset="-122"/>
                    <a:ea typeface="微软雅黑 Light" panose="020B0502040204020203" pitchFamily="34" charset="-122"/>
                  </a:rPr>
                  <a:t>随机选取误分类点</a:t>
                </a:r>
                <a:r>
                  <a:rPr lang="en-US" altLang="zh-CN" dirty="0">
                    <a:latin typeface="微软雅黑 Light" panose="020B0502040204020203" pitchFamily="34" charset="-122"/>
                    <a:ea typeface="微软雅黑 Light" panose="020B0502040204020203" pitchFamily="34" charset="-122"/>
                  </a:rPr>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b="0" i="1" smtClean="0">
                            <a:latin typeface="Cambria Math" panose="02040503050406030204" pitchFamily="18" charset="0"/>
                          </a:rPr>
                          <m:t>𝑗</m:t>
                        </m:r>
                      </m:sub>
                    </m:sSub>
                  </m:oMath>
                </a14:m>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对</a:t>
                </a:r>
                <a14:m>
                  <m:oMath xmlns:m="http://schemas.openxmlformats.org/officeDocument/2006/math">
                    <m:r>
                      <a:rPr lang="en-US" altLang="zh-CN" b="1" i="1">
                        <a:latin typeface="Cambria Math" panose="02040503050406030204" pitchFamily="18" charset="0"/>
                      </a:rPr>
                      <m:t>𝒘</m:t>
                    </m:r>
                    <m:r>
                      <a:rPr lang="en-US" altLang="zh-CN" i="1">
                        <a:latin typeface="Cambria Math" panose="02040503050406030204" pitchFamily="18" charset="0"/>
                      </a:rPr>
                      <m:t>,</m:t>
                    </m:r>
                    <m:r>
                      <a:rPr lang="en-US" altLang="zh-CN" i="1">
                        <a:latin typeface="Cambria Math" panose="02040503050406030204" pitchFamily="18" charset="0"/>
                      </a:rPr>
                      <m:t>𝑏</m:t>
                    </m:r>
                  </m:oMath>
                </a14:m>
                <a:r>
                  <a:rPr lang="zh-CN" altLang="en-US" dirty="0">
                    <a:latin typeface="微软雅黑 Light" panose="020B0502040204020203" pitchFamily="34" charset="-122"/>
                    <a:ea typeface="微软雅黑 Light" panose="020B0502040204020203" pitchFamily="34" charset="-122"/>
                  </a:rPr>
                  <a:t>以</a:t>
                </a:r>
                <a:r>
                  <a:rPr lang="el-GR" altLang="zh-CN" dirty="0">
                    <a:latin typeface="微软雅黑 Light" panose="020B0502040204020203" pitchFamily="34" charset="-122"/>
                    <a:ea typeface="微软雅黑 Light" panose="020B0502040204020203" pitchFamily="34" charset="-122"/>
                  </a:rPr>
                  <a:t>α</a:t>
                </a:r>
                <a:r>
                  <a:rPr lang="zh-CN" altLang="en-US" dirty="0">
                    <a:latin typeface="微软雅黑 Light" panose="020B0502040204020203" pitchFamily="34" charset="-122"/>
                    <a:ea typeface="微软雅黑 Light" panose="020B0502040204020203" pitchFamily="34" charset="-122"/>
                  </a:rPr>
                  <a:t>为步长</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学习率进行更新，通过迭代可以使得损失函数</a:t>
                </a:r>
                <a14:m>
                  <m:oMath xmlns:m="http://schemas.openxmlformats.org/officeDocument/2006/math">
                    <m:r>
                      <a:rPr lang="en-US" altLang="zh-CN" b="0" i="1" smtClean="0">
                        <a:latin typeface="Cambria Math" panose="02040503050406030204" pitchFamily="18" charset="0"/>
                      </a:rPr>
                      <m:t>𝐿</m:t>
                    </m:r>
                    <m:d>
                      <m:dPr>
                        <m:ctrlPr>
                          <a:rPr lang="en-US" altLang="zh-CN" i="1">
                            <a:latin typeface="Cambria Math" panose="02040503050406030204" pitchFamily="18" charset="0"/>
                          </a:rPr>
                        </m:ctrlPr>
                      </m:dPr>
                      <m:e>
                        <m:r>
                          <a:rPr lang="en-US" altLang="zh-CN" b="1" i="1">
                            <a:latin typeface="Cambria Math" panose="02040503050406030204" pitchFamily="18" charset="0"/>
                          </a:rPr>
                          <m:t>𝒘</m:t>
                        </m:r>
                        <m:r>
                          <a:rPr lang="en-US" altLang="zh-CN" i="1">
                            <a:latin typeface="Cambria Math" panose="02040503050406030204" pitchFamily="18" charset="0"/>
                          </a:rPr>
                          <m:t>,</m:t>
                        </m:r>
                        <m:r>
                          <a:rPr lang="en-US" altLang="zh-CN" i="1">
                            <a:latin typeface="Cambria Math" panose="02040503050406030204" pitchFamily="18" charset="0"/>
                          </a:rPr>
                          <m:t>𝑏</m:t>
                        </m:r>
                      </m:e>
                    </m:d>
                  </m:oMath>
                </a14:m>
                <a:r>
                  <a:rPr lang="zh-CN" altLang="en-US" dirty="0">
                    <a:latin typeface="微软雅黑 Light" panose="020B0502040204020203" pitchFamily="34" charset="-122"/>
                    <a:ea typeface="微软雅黑 Light" panose="020B0502040204020203" pitchFamily="34" charset="-122"/>
                  </a:rPr>
                  <a:t>不断减小，直到为</a:t>
                </a:r>
                <a:r>
                  <a:rPr lang="en-US" altLang="zh-CN" dirty="0">
                    <a:latin typeface="微软雅黑 Light" panose="020B0502040204020203" pitchFamily="34" charset="-122"/>
                    <a:ea typeface="微软雅黑 Light" panose="020B0502040204020203" pitchFamily="34" charset="-122"/>
                  </a:rPr>
                  <a:t>0</a:t>
                </a:r>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49" name="矩形 48"/>
              <p:cNvSpPr>
                <a:spLocks noRot="1" noChangeAspect="1" noMove="1" noResize="1" noEditPoints="1" noAdjustHandles="1" noChangeArrowheads="1" noChangeShapeType="1" noTextEdit="1"/>
              </p:cNvSpPr>
              <p:nvPr/>
            </p:nvSpPr>
            <p:spPr>
              <a:xfrm>
                <a:off x="7282373" y="4831167"/>
                <a:ext cx="4469918" cy="1372299"/>
              </a:xfrm>
              <a:prstGeom prst="rect">
                <a:avLst/>
              </a:prstGeom>
              <a:blipFill rotWithShape="0">
                <a:blip r:embed="rId13"/>
                <a:stretch>
                  <a:fillRect l="-1228" r="-1091" b="-2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8033685" y="3948294"/>
                <a:ext cx="142808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bg1"/>
                          </a:solidFill>
                          <a:latin typeface="Cambria Math" panose="02040503050406030204" pitchFamily="18" charset="0"/>
                        </a:rPr>
                        <m:t>𝑳</m:t>
                      </m:r>
                      <m:d>
                        <m:dPr>
                          <m:ctrlPr>
                            <a:rPr lang="en-US" altLang="zh-CN" b="1" i="1">
                              <a:solidFill>
                                <a:schemeClr val="bg1"/>
                              </a:solidFill>
                              <a:latin typeface="Cambria Math" panose="02040503050406030204" pitchFamily="18" charset="0"/>
                            </a:rPr>
                          </m:ctrlPr>
                        </m:dPr>
                        <m:e>
                          <m:r>
                            <a:rPr lang="en-US" altLang="zh-CN" b="1" i="1">
                              <a:solidFill>
                                <a:schemeClr val="bg1"/>
                              </a:solidFill>
                              <a:latin typeface="Cambria Math" panose="02040503050406030204" pitchFamily="18" charset="0"/>
                            </a:rPr>
                            <m:t>𝒘</m:t>
                          </m:r>
                          <m:r>
                            <a:rPr lang="en-US" altLang="zh-CN" b="1" i="1">
                              <a:solidFill>
                                <a:schemeClr val="bg1"/>
                              </a:solidFill>
                              <a:latin typeface="Cambria Math" panose="02040503050406030204" pitchFamily="18" charset="0"/>
                            </a:rPr>
                            <m:t>,</m:t>
                          </m:r>
                          <m:r>
                            <a:rPr lang="en-US" altLang="zh-CN" b="0" i="1">
                              <a:solidFill>
                                <a:schemeClr val="bg1"/>
                              </a:solidFill>
                              <a:latin typeface="Cambria Math" panose="02040503050406030204" pitchFamily="18" charset="0"/>
                            </a:rPr>
                            <m:t>𝑏</m:t>
                          </m:r>
                        </m:e>
                      </m:d>
                      <m:r>
                        <a:rPr lang="en-US" altLang="zh-CN" b="1" i="1" smtClean="0">
                          <a:solidFill>
                            <a:schemeClr val="bg1"/>
                          </a:solidFill>
                          <a:latin typeface="Cambria Math" panose="02040503050406030204" pitchFamily="18" charset="0"/>
                          <a:ea typeface="Cambria Math" panose="02040503050406030204" pitchFamily="18" charset="0"/>
                        </a:rPr>
                        <m:t>→</m:t>
                      </m:r>
                      <m:r>
                        <a:rPr lang="en-US" altLang="zh-CN" b="1" i="1" smtClean="0">
                          <a:solidFill>
                            <a:schemeClr val="bg1"/>
                          </a:solidFill>
                          <a:latin typeface="Cambria Math" panose="02040503050406030204" pitchFamily="18" charset="0"/>
                          <a:ea typeface="Cambria Math" panose="02040503050406030204" pitchFamily="18" charset="0"/>
                        </a:rPr>
                        <m:t>𝟎</m:t>
                      </m:r>
                    </m:oMath>
                  </m:oMathPara>
                </a14:m>
                <a:endParaRPr lang="zh-CN" altLang="en-US" b="1" dirty="0">
                  <a:solidFill>
                    <a:schemeClr val="bg1"/>
                  </a:solidFill>
                </a:endParaRPr>
              </a:p>
            </p:txBody>
          </p:sp>
        </mc:Choice>
        <mc:Fallback xmlns="">
          <p:sp>
            <p:nvSpPr>
              <p:cNvPr id="50" name="矩形 49"/>
              <p:cNvSpPr>
                <a:spLocks noRot="1" noChangeAspect="1" noMove="1" noResize="1" noEditPoints="1" noAdjustHandles="1" noChangeArrowheads="1" noChangeShapeType="1" noTextEdit="1"/>
              </p:cNvSpPr>
              <p:nvPr/>
            </p:nvSpPr>
            <p:spPr>
              <a:xfrm>
                <a:off x="8033685" y="3948294"/>
                <a:ext cx="1428083" cy="369332"/>
              </a:xfrm>
              <a:prstGeom prst="rect">
                <a:avLst/>
              </a:prstGeom>
              <a:blipFill rotWithShape="0">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p:cNvSpPr/>
              <p:nvPr/>
            </p:nvSpPr>
            <p:spPr>
              <a:xfrm>
                <a:off x="804995" y="3807734"/>
                <a:ext cx="3660089" cy="8286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1" i="1" smtClean="0">
                              <a:latin typeface="Cambria Math" panose="02040503050406030204" pitchFamily="18" charset="0"/>
                            </a:rPr>
                            <m:t>𝒘</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sSub>
                            <m:sSubPr>
                              <m:ctrlPr>
                                <a:rPr lang="en-US" altLang="zh-CN" i="1">
                                  <a:latin typeface="Cambria Math" panose="02040503050406030204" pitchFamily="18" charset="0"/>
                                  <a:ea typeface="微软雅黑 Light" panose="020B0502040204020203" pitchFamily="34" charset="-122"/>
                                </a:rPr>
                              </m:ctrlPr>
                            </m:sSubPr>
                            <m:e>
                              <m:r>
                                <a:rPr lang="en-US" altLang="zh-CN" b="1" i="1">
                                  <a:latin typeface="Cambria Math" panose="02040503050406030204" pitchFamily="18" charset="0"/>
                                  <a:ea typeface="微软雅黑 Light" panose="020B0502040204020203" pitchFamily="34" charset="-122"/>
                                </a:rPr>
                                <m:t>𝒙</m:t>
                              </m:r>
                            </m:e>
                            <m:sub>
                              <m:r>
                                <a:rPr lang="en-US" altLang="zh-CN" i="1">
                                  <a:latin typeface="Cambria Math" panose="02040503050406030204" pitchFamily="18" charset="0"/>
                                  <a:ea typeface="微软雅黑 Light" panose="020B0502040204020203" pitchFamily="34" charset="-122"/>
                                </a:rPr>
                                <m:t>𝑗</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𝑀</m:t>
                          </m:r>
                        </m: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𝑗</m:t>
                              </m:r>
                            </m:sub>
                          </m:sSub>
                          <m:r>
                            <a:rPr lang="en-US" altLang="zh-CN" i="1">
                              <a:latin typeface="Cambria Math" panose="02040503050406030204" pitchFamily="18" charset="0"/>
                            </a:rPr>
                            <m:t>(</m:t>
                          </m:r>
                          <m:sSup>
                            <m:sSupPr>
                              <m:ctrlPr>
                                <a:rPr lang="en-US" altLang="zh-CN" i="1">
                                  <a:latin typeface="Cambria Math" panose="02040503050406030204" pitchFamily="18" charset="0"/>
                                  <a:ea typeface="微软雅黑 Light" panose="020B0502040204020203" pitchFamily="34" charset="-122"/>
                                </a:rPr>
                              </m:ctrlPr>
                            </m:sSupPr>
                            <m:e>
                              <m:r>
                                <a:rPr lang="en-US" altLang="zh-CN" b="1" i="1">
                                  <a:latin typeface="Cambria Math" panose="02040503050406030204" pitchFamily="18" charset="0"/>
                                  <a:ea typeface="微软雅黑 Light" panose="020B0502040204020203" pitchFamily="34" charset="-122"/>
                                </a:rPr>
                                <m:t>𝒘</m:t>
                              </m:r>
                            </m:e>
                            <m:sup>
                              <m:r>
                                <a:rPr lang="en-US" altLang="zh-CN" i="1">
                                  <a:latin typeface="Cambria Math" panose="02040503050406030204" pitchFamily="18" charset="0"/>
                                  <a:ea typeface="微软雅黑 Light" panose="020B0502040204020203" pitchFamily="34" charset="-122"/>
                                </a:rPr>
                                <m:t>𝑇</m:t>
                              </m:r>
                            </m:sup>
                          </m:sSup>
                          <m:sSub>
                            <m:sSubPr>
                              <m:ctrlPr>
                                <a:rPr lang="en-US" altLang="zh-CN" i="1">
                                  <a:latin typeface="Cambria Math" panose="02040503050406030204" pitchFamily="18" charset="0"/>
                                </a:rPr>
                              </m:ctrlPr>
                            </m:sSubPr>
                            <m:e>
                              <m:r>
                                <a:rPr lang="en-US" altLang="zh-CN" b="1" i="1">
                                  <a:latin typeface="Cambria Math" panose="02040503050406030204" pitchFamily="18" charset="0"/>
                                </a:rPr>
                                <m:t>𝒙</m:t>
                              </m:r>
                            </m:e>
                            <m:sub>
                              <m:r>
                                <a:rPr lang="en-US" altLang="zh-CN" i="1">
                                  <a:latin typeface="Cambria Math" panose="02040503050406030204" pitchFamily="18" charset="0"/>
                                </a:rPr>
                                <m:t>𝑗</m:t>
                              </m:r>
                            </m:sub>
                          </m:sSub>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e>
                      </m:nary>
                    </m:oMath>
                  </m:oMathPara>
                </a14:m>
                <a:br>
                  <a:rPr lang="en-US" altLang="zh-CN" dirty="0"/>
                </a:br>
                <a:endParaRPr lang="zh-CN" altLang="en-US" dirty="0"/>
              </a:p>
            </p:txBody>
          </p:sp>
        </mc:Choice>
        <mc:Fallback xmlns="">
          <p:sp>
            <p:nvSpPr>
              <p:cNvPr id="51" name="矩形 50"/>
              <p:cNvSpPr>
                <a:spLocks noRot="1" noChangeAspect="1" noMove="1" noResize="1" noEditPoints="1" noAdjustHandles="1" noChangeArrowheads="1" noChangeShapeType="1" noTextEdit="1"/>
              </p:cNvSpPr>
              <p:nvPr/>
            </p:nvSpPr>
            <p:spPr>
              <a:xfrm>
                <a:off x="804995" y="3807734"/>
                <a:ext cx="3660089" cy="828625"/>
              </a:xfrm>
              <a:prstGeom prst="rect">
                <a:avLst/>
              </a:prstGeom>
              <a:blipFill rotWithShape="0">
                <a:blip r:embed="rId15"/>
                <a:stretch>
                  <a:fillRect/>
                </a:stretch>
              </a:blipFill>
            </p:spPr>
            <p:txBody>
              <a:bodyPr/>
              <a:lstStyle/>
              <a:p>
                <a:r>
                  <a:rPr lang="zh-CN" altLang="en-US">
                    <a:noFill/>
                  </a:rPr>
                  <a:t> </a:t>
                </a:r>
              </a:p>
            </p:txBody>
          </p:sp>
        </mc:Fallback>
      </mc:AlternateContent>
      <p:sp>
        <p:nvSpPr>
          <p:cNvPr id="52" name="右箭头 51"/>
          <p:cNvSpPr/>
          <p:nvPr/>
        </p:nvSpPr>
        <p:spPr>
          <a:xfrm>
            <a:off x="3685315" y="4916963"/>
            <a:ext cx="144016" cy="18469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右箭头 52"/>
          <p:cNvSpPr/>
          <p:nvPr/>
        </p:nvSpPr>
        <p:spPr>
          <a:xfrm>
            <a:off x="3685315" y="5659144"/>
            <a:ext cx="144016" cy="18469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灯片编号占位符 8">
            <a:extLst>
              <a:ext uri="{FF2B5EF4-FFF2-40B4-BE49-F238E27FC236}">
                <a16:creationId xmlns:a16="http://schemas.microsoft.com/office/drawing/2014/main" id="{D7CE7C49-44C0-4FF9-B8A2-69F1FA918390}"/>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20</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429014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fade">
                                      <p:cBhvr>
                                        <p:cTn id="28" dur="500"/>
                                        <p:tgtEl>
                                          <p:spTgt spid="4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fade">
                                      <p:cBhvr>
                                        <p:cTn id="34" dur="500"/>
                                        <p:tgtEl>
                                          <p:spTgt spid="5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500"/>
                                        <p:tgtEl>
                                          <p:spTgt spid="5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fade">
                                      <p:cBhvr>
                                        <p:cTn id="4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p:bldP spid="45" grpId="0"/>
      <p:bldP spid="46" grpId="0"/>
      <p:bldP spid="47" grpId="0"/>
      <p:bldP spid="48" grpId="0"/>
      <p:bldP spid="49" grpId="0"/>
      <p:bldP spid="50" grpId="0"/>
      <p:bldP spid="51" grpId="0"/>
      <p:bldP spid="52" grpId="0" animBg="1"/>
      <p:bldP spid="5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143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多层感知机</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两层神经网络</a:t>
            </a:r>
            <a:r>
              <a:rPr lang="en-US" altLang="zh-CN" sz="2600" b="1" dirty="0"/>
              <a:t>-</a:t>
            </a:r>
            <a:r>
              <a:rPr lang="zh-CN" altLang="en-US" sz="2600" b="1" dirty="0"/>
              <a:t>多层感知机</a:t>
            </a:r>
            <a:endParaRPr lang="en-US" altLang="zh-CN" sz="2600" b="1" dirty="0"/>
          </a:p>
        </p:txBody>
      </p:sp>
      <p:sp>
        <p:nvSpPr>
          <p:cNvPr id="18" name="矩形 17"/>
          <p:cNvSpPr/>
          <p:nvPr/>
        </p:nvSpPr>
        <p:spPr>
          <a:xfrm>
            <a:off x="663026" y="1350246"/>
            <a:ext cx="11111631" cy="1015663"/>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000" dirty="0">
                <a:solidFill>
                  <a:srgbClr val="2F2F2F"/>
                </a:solidFill>
                <a:latin typeface="微软雅黑 Light" panose="020B0502040204020203" pitchFamily="34" charset="-122"/>
                <a:ea typeface="微软雅黑 Light" panose="020B0502040204020203" pitchFamily="34" charset="-122"/>
              </a:rPr>
              <a:t>将大量的神经元模型进行组合，用不同的方法进行连接并作用在不同的激活函数上，就构成了人工神经网络模型。</a:t>
            </a:r>
            <a:endParaRPr lang="en-US" altLang="zh-CN" sz="2000" dirty="0">
              <a:solidFill>
                <a:srgbClr val="2F2F2F"/>
              </a:solidFill>
              <a:latin typeface="微软雅黑 Light" panose="020B0502040204020203" pitchFamily="34" charset="-122"/>
              <a:ea typeface="微软雅黑 Light" panose="020B0502040204020203" pitchFamily="34" charset="-122"/>
            </a:endParaRPr>
          </a:p>
        </p:txBody>
      </p:sp>
      <p:sp>
        <p:nvSpPr>
          <p:cNvPr id="19" name="矩形 18"/>
          <p:cNvSpPr/>
          <p:nvPr/>
        </p:nvSpPr>
        <p:spPr>
          <a:xfrm>
            <a:off x="663026" y="2362916"/>
            <a:ext cx="7632848" cy="400110"/>
          </a:xfrm>
          <a:prstGeom prst="rect">
            <a:avLst/>
          </a:prstGeom>
        </p:spPr>
        <p:txBody>
          <a:bodyPr wrap="square">
            <a:spAutoFit/>
          </a:bodyPr>
          <a:lstStyle/>
          <a:p>
            <a:pPr marL="285750" indent="-285750">
              <a:buFont typeface="Wingdings" panose="05000000000000000000" pitchFamily="2" charset="2"/>
              <a:buChar char="Ø"/>
            </a:pPr>
            <a:r>
              <a:rPr lang="zh-CN" altLang="en-US" sz="2000" dirty="0">
                <a:solidFill>
                  <a:srgbClr val="2F2F2F"/>
                </a:solidFill>
                <a:latin typeface="微软雅黑 Light" panose="020B0502040204020203" pitchFamily="34" charset="-122"/>
                <a:ea typeface="微软雅黑 Light" panose="020B0502040204020203" pitchFamily="34" charset="-122"/>
              </a:rPr>
              <a:t>多层感知机也即为一种全连接的两层神经网络模型。</a:t>
            </a:r>
            <a:endParaRPr lang="en-US" altLang="zh-CN" sz="2000" dirty="0">
              <a:solidFill>
                <a:srgbClr val="2F2F2F"/>
              </a:solidFill>
              <a:latin typeface="微软雅黑 Light" panose="020B0502040204020203" pitchFamily="34" charset="-122"/>
              <a:ea typeface="微软雅黑 Light" panose="020B0502040204020203" pitchFamily="34" charset="-122"/>
            </a:endParaRPr>
          </a:p>
        </p:txBody>
      </p:sp>
      <p:grpSp>
        <p:nvGrpSpPr>
          <p:cNvPr id="25" name="组合 24"/>
          <p:cNvGrpSpPr/>
          <p:nvPr/>
        </p:nvGrpSpPr>
        <p:grpSpPr>
          <a:xfrm>
            <a:off x="2126487" y="2785048"/>
            <a:ext cx="5942588" cy="3612872"/>
            <a:chOff x="1287631" y="2158668"/>
            <a:chExt cx="5942588" cy="3612872"/>
          </a:xfrm>
        </p:grpSpPr>
        <p:sp>
          <p:nvSpPr>
            <p:cNvPr id="26" name="椭圆 25"/>
            <p:cNvSpPr/>
            <p:nvPr/>
          </p:nvSpPr>
          <p:spPr>
            <a:xfrm>
              <a:off x="1969332" y="2652053"/>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rot="1763759">
              <a:off x="6356557" y="3493384"/>
              <a:ext cx="576064" cy="5760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rot="21061334">
              <a:off x="4262588" y="3252770"/>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rot="922928">
              <a:off x="1969332" y="3923765"/>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rot="218974">
              <a:off x="4279007" y="4479398"/>
              <a:ext cx="576064" cy="56840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1969332" y="5195476"/>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箭头连接符 36"/>
            <p:cNvCxnSpPr>
              <a:stCxn id="26" idx="6"/>
              <a:endCxn id="28" idx="1"/>
            </p:cNvCxnSpPr>
            <p:nvPr/>
          </p:nvCxnSpPr>
          <p:spPr>
            <a:xfrm>
              <a:off x="2545396" y="2940085"/>
              <a:ext cx="1772267" cy="43132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8" name="直接箭头连接符 37"/>
            <p:cNvCxnSpPr>
              <a:stCxn id="26" idx="5"/>
              <a:endCxn id="35" idx="1"/>
            </p:cNvCxnSpPr>
            <p:nvPr/>
          </p:nvCxnSpPr>
          <p:spPr>
            <a:xfrm>
              <a:off x="2461033" y="3143754"/>
              <a:ext cx="1915542" cy="140632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9" name="直接箭头连接符 38"/>
            <p:cNvCxnSpPr>
              <a:stCxn id="34" idx="7"/>
              <a:endCxn id="28" idx="2"/>
            </p:cNvCxnSpPr>
            <p:nvPr/>
          </p:nvCxnSpPr>
          <p:spPr>
            <a:xfrm flipV="1">
              <a:off x="2507762" y="3585750"/>
              <a:ext cx="1758355" cy="48369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0" name="直接箭头连接符 39"/>
            <p:cNvCxnSpPr>
              <a:stCxn id="36" idx="7"/>
              <a:endCxn id="28" idx="3"/>
            </p:cNvCxnSpPr>
            <p:nvPr/>
          </p:nvCxnSpPr>
          <p:spPr>
            <a:xfrm flipV="1">
              <a:off x="2461033" y="3773759"/>
              <a:ext cx="1920196" cy="150608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1" name="直接箭头连接符 40"/>
            <p:cNvCxnSpPr>
              <a:stCxn id="34" idx="6"/>
              <a:endCxn id="35" idx="2"/>
            </p:cNvCxnSpPr>
            <p:nvPr/>
          </p:nvCxnSpPr>
          <p:spPr>
            <a:xfrm>
              <a:off x="2535078" y="4288199"/>
              <a:ext cx="1744513" cy="45706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2" name="直接箭头连接符 41"/>
            <p:cNvCxnSpPr>
              <a:stCxn id="36" idx="6"/>
              <a:endCxn id="35" idx="3"/>
            </p:cNvCxnSpPr>
            <p:nvPr/>
          </p:nvCxnSpPr>
          <p:spPr>
            <a:xfrm flipV="1">
              <a:off x="2545396" y="4951190"/>
              <a:ext cx="1805595" cy="53231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3" name="直接箭头连接符 42"/>
            <p:cNvCxnSpPr>
              <a:stCxn id="28" idx="6"/>
              <a:endCxn id="27" idx="2"/>
            </p:cNvCxnSpPr>
            <p:nvPr/>
          </p:nvCxnSpPr>
          <p:spPr>
            <a:xfrm>
              <a:off x="4835123" y="3495854"/>
              <a:ext cx="1558519" cy="14418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4" name="直接箭头连接符 43"/>
            <p:cNvCxnSpPr>
              <a:stCxn id="35" idx="7"/>
              <a:endCxn id="27" idx="3"/>
            </p:cNvCxnSpPr>
            <p:nvPr/>
          </p:nvCxnSpPr>
          <p:spPr>
            <a:xfrm flipV="1">
              <a:off x="4783087" y="3858893"/>
              <a:ext cx="1584086" cy="717118"/>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45" name="椭圆 44"/>
            <p:cNvSpPr/>
            <p:nvPr/>
          </p:nvSpPr>
          <p:spPr>
            <a:xfrm rot="1533250">
              <a:off x="6356557" y="4259241"/>
              <a:ext cx="576064" cy="5760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箭头连接符 45"/>
            <p:cNvCxnSpPr>
              <a:stCxn id="28" idx="5"/>
              <a:endCxn id="45" idx="2"/>
            </p:cNvCxnSpPr>
            <p:nvPr/>
          </p:nvCxnSpPr>
          <p:spPr>
            <a:xfrm>
              <a:off x="4783577" y="3710193"/>
              <a:ext cx="1601156" cy="712833"/>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7" name="直接箭头连接符 46"/>
            <p:cNvCxnSpPr>
              <a:stCxn id="35" idx="6"/>
              <a:endCxn id="45" idx="3"/>
            </p:cNvCxnSpPr>
            <p:nvPr/>
          </p:nvCxnSpPr>
          <p:spPr>
            <a:xfrm flipV="1">
              <a:off x="4854487" y="4643163"/>
              <a:ext cx="1518501" cy="138772"/>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48" name="矩形 47"/>
            <p:cNvSpPr/>
            <p:nvPr/>
          </p:nvSpPr>
          <p:spPr>
            <a:xfrm>
              <a:off x="1287631" y="2244514"/>
              <a:ext cx="969733" cy="419474"/>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输入</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49" name="矩形 48"/>
            <p:cNvSpPr/>
            <p:nvPr/>
          </p:nvSpPr>
          <p:spPr>
            <a:xfrm>
              <a:off x="6260486" y="2688927"/>
              <a:ext cx="969733" cy="418191"/>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输出层</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0" name="矩形 49"/>
            <p:cNvSpPr/>
            <p:nvPr/>
          </p:nvSpPr>
          <p:spPr>
            <a:xfrm>
              <a:off x="4228482" y="2463871"/>
              <a:ext cx="969733" cy="41979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隐层</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1" name="矩形 50"/>
                <p:cNvSpPr/>
                <p:nvPr/>
              </p:nvSpPr>
              <p:spPr>
                <a:xfrm>
                  <a:off x="3178360" y="2627473"/>
                  <a:ext cx="417158" cy="593560"/>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latin typeface="Cambria Math" panose="02040503050406030204" pitchFamily="18" charset="0"/>
                                <a:ea typeface="微软雅黑" panose="020B0503020204020204" pitchFamily="34" charset="-122"/>
                              </a:rPr>
                            </m:ctrlPr>
                          </m:sSupPr>
                          <m:e>
                            <m:r>
                              <a:rPr lang="en-US" altLang="zh-CN" sz="2000" b="0" i="1" kern="0" smtClean="0">
                                <a:latin typeface="Cambria Math" panose="02040503050406030204" pitchFamily="18" charset="0"/>
                                <a:ea typeface="微软雅黑" panose="020B0503020204020204" pitchFamily="34" charset="-122"/>
                              </a:rPr>
                              <m:t>𝑊</m:t>
                            </m:r>
                          </m:e>
                          <m:sup>
                            <m:r>
                              <a:rPr lang="en-US" altLang="zh-CN" sz="2000" b="0" i="1" kern="0" smtClean="0">
                                <a:latin typeface="Cambria Math" panose="02040503050406030204" pitchFamily="18" charset="0"/>
                                <a:ea typeface="微软雅黑" panose="020B0503020204020204" pitchFamily="34" charset="-122"/>
                              </a:rPr>
                              <m:t>(1)</m:t>
                            </m:r>
                          </m:sup>
                        </m:sSup>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2" name="矩形 81"/>
                <p:cNvSpPr>
                  <a:spLocks noRot="1" noChangeAspect="1" noMove="1" noResize="1" noEditPoints="1" noAdjustHandles="1" noChangeArrowheads="1" noChangeShapeType="1" noTextEdit="1"/>
                </p:cNvSpPr>
                <p:nvPr/>
              </p:nvSpPr>
              <p:spPr>
                <a:xfrm>
                  <a:off x="3178360" y="2627473"/>
                  <a:ext cx="417158" cy="593560"/>
                </a:xfrm>
                <a:prstGeom prst="rect">
                  <a:avLst/>
                </a:prstGeom>
                <a:blipFill rotWithShape="0">
                  <a:blip r:embed="rId5"/>
                  <a:stretch>
                    <a:fillRect r="-434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p:cNvSpPr/>
                <p:nvPr/>
              </p:nvSpPr>
              <p:spPr>
                <a:xfrm>
                  <a:off x="5308924" y="3042283"/>
                  <a:ext cx="702159" cy="593560"/>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latin typeface="Cambria Math" panose="02040503050406030204" pitchFamily="18" charset="0"/>
                                <a:ea typeface="微软雅黑" panose="020B0503020204020204" pitchFamily="34" charset="-122"/>
                              </a:rPr>
                            </m:ctrlPr>
                          </m:sSupPr>
                          <m:e>
                            <m:r>
                              <a:rPr lang="en-US" altLang="zh-CN" sz="2000" b="0" i="1" kern="0" smtClean="0">
                                <a:latin typeface="Cambria Math" panose="02040503050406030204" pitchFamily="18" charset="0"/>
                                <a:ea typeface="微软雅黑" panose="020B0503020204020204" pitchFamily="34" charset="-122"/>
                              </a:rPr>
                              <m:t>𝑊</m:t>
                            </m:r>
                          </m:e>
                          <m:sup>
                            <m:r>
                              <a:rPr lang="en-US" altLang="zh-CN" sz="2000" b="0" i="1" kern="0" smtClean="0">
                                <a:latin typeface="Cambria Math" panose="02040503050406030204" pitchFamily="18" charset="0"/>
                                <a:ea typeface="微软雅黑" panose="020B0503020204020204" pitchFamily="34" charset="-122"/>
                              </a:rPr>
                              <m:t>(2)</m:t>
                            </m:r>
                          </m:sup>
                        </m:sSup>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3" name="矩形 82"/>
                <p:cNvSpPr>
                  <a:spLocks noRot="1" noChangeAspect="1" noMove="1" noResize="1" noEditPoints="1" noAdjustHandles="1" noChangeArrowheads="1" noChangeShapeType="1" noTextEdit="1"/>
                </p:cNvSpPr>
                <p:nvPr/>
              </p:nvSpPr>
              <p:spPr>
                <a:xfrm>
                  <a:off x="5308924" y="3042283"/>
                  <a:ext cx="702159" cy="593560"/>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矩形 52"/>
                <p:cNvSpPr/>
                <p:nvPr/>
              </p:nvSpPr>
              <p:spPr>
                <a:xfrm>
                  <a:off x="1875717" y="2158668"/>
                  <a:ext cx="839775" cy="553998"/>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latin typeface="Cambria Math" panose="02040503050406030204" pitchFamily="18" charset="0"/>
                            <a:ea typeface="微软雅黑 Light" panose="020B0502040204020203" pitchFamily="34" charset="-122"/>
                            <a:cs typeface="宋体" panose="02010600030101010101" pitchFamily="2" charset="-122"/>
                          </a:rPr>
                          <m:t>𝑋</m:t>
                        </m:r>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4" name="矩形 83"/>
                <p:cNvSpPr>
                  <a:spLocks noRot="1" noChangeAspect="1" noMove="1" noResize="1" noEditPoints="1" noAdjustHandles="1" noChangeArrowheads="1" noChangeShapeType="1" noTextEdit="1"/>
                </p:cNvSpPr>
                <p:nvPr/>
              </p:nvSpPr>
              <p:spPr>
                <a:xfrm>
                  <a:off x="1875717" y="2158668"/>
                  <a:ext cx="839775" cy="553998"/>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p:cNvSpPr/>
                <p:nvPr/>
              </p:nvSpPr>
              <p:spPr>
                <a:xfrm>
                  <a:off x="4317055" y="2726199"/>
                  <a:ext cx="559885" cy="553998"/>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000" i="1" kern="0" smtClean="0">
                            <a:solidFill>
                              <a:srgbClr val="C00000"/>
                            </a:solidFill>
                            <a:latin typeface="Cambria Math" panose="02040503050406030204" pitchFamily="18" charset="0"/>
                            <a:ea typeface="微软雅黑" panose="020B0503020204020204" pitchFamily="34" charset="-122"/>
                          </a:rPr>
                          <m:t>𝐻</m:t>
                        </m:r>
                      </m:oMath>
                    </m:oMathPara>
                  </a14:m>
                  <a:endParaRPr lang="en-US" altLang="zh-CN" sz="2000" kern="0" dirty="0">
                    <a:solidFill>
                      <a:srgbClr val="C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5" name="矩形 84"/>
                <p:cNvSpPr>
                  <a:spLocks noRot="1" noChangeAspect="1" noMove="1" noResize="1" noEditPoints="1" noAdjustHandles="1" noChangeArrowheads="1" noChangeShapeType="1" noTextEdit="1"/>
                </p:cNvSpPr>
                <p:nvPr/>
              </p:nvSpPr>
              <p:spPr>
                <a:xfrm>
                  <a:off x="4317055" y="2726199"/>
                  <a:ext cx="559885" cy="553998"/>
                </a:xfrm>
                <a:prstGeom prst="rect">
                  <a:avLst/>
                </a:prstGeom>
                <a:blipFill rotWithShape="0">
                  <a:blip r:embed="rId8"/>
                  <a:stretch>
                    <a:fillRect/>
                  </a:stretch>
                </a:blipFill>
              </p:spPr>
              <p:txBody>
                <a:bodyPr/>
                <a:lstStyle/>
                <a:p>
                  <a:r>
                    <a:rPr lang="zh-CN" altLang="en-US">
                      <a:noFill/>
                    </a:rPr>
                    <a:t> </a:t>
                  </a:r>
                </a:p>
              </p:txBody>
            </p:sp>
          </mc:Fallback>
        </mc:AlternateContent>
        <p:sp>
          <p:nvSpPr>
            <p:cNvPr id="55" name="矩形 54"/>
            <p:cNvSpPr/>
            <p:nvPr/>
          </p:nvSpPr>
          <p:spPr>
            <a:xfrm>
              <a:off x="6439935" y="2962387"/>
              <a:ext cx="702159" cy="553998"/>
            </a:xfrm>
            <a:prstGeom prst="rect">
              <a:avLst/>
            </a:prstGeom>
          </p:spPr>
          <p:txBody>
            <a:bodyPr wrap="square">
              <a:spAutoFit/>
            </a:bodyPr>
            <a:lstStyle/>
            <a:p>
              <a:pPr algn="just">
                <a:lnSpc>
                  <a:spcPct val="150000"/>
                </a:lnSpc>
              </a:pPr>
              <a:r>
                <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rPr>
                <a:t>Y</a:t>
              </a:r>
            </a:p>
          </p:txBody>
        </p:sp>
      </p:grpSp>
      <p:cxnSp>
        <p:nvCxnSpPr>
          <p:cNvPr id="56" name="直接箭头连接符 55"/>
          <p:cNvCxnSpPr/>
          <p:nvPr/>
        </p:nvCxnSpPr>
        <p:spPr>
          <a:xfrm>
            <a:off x="7755133" y="4399797"/>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7" name="直接箭头连接符 56"/>
          <p:cNvCxnSpPr/>
          <p:nvPr/>
        </p:nvCxnSpPr>
        <p:spPr>
          <a:xfrm>
            <a:off x="7755133" y="5192294"/>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60" name="灯片编号占位符 8">
            <a:extLst>
              <a:ext uri="{FF2B5EF4-FFF2-40B4-BE49-F238E27FC236}">
                <a16:creationId xmlns:a16="http://schemas.microsoft.com/office/drawing/2014/main" id="{0BCD5C54-7D0F-417F-9197-A02CB042AC66}"/>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21</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007339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多层感知机</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两层神经网络</a:t>
            </a:r>
            <a:r>
              <a:rPr lang="en-US" altLang="zh-CN" sz="2600" b="1" dirty="0"/>
              <a:t>-</a:t>
            </a:r>
            <a:r>
              <a:rPr lang="zh-CN" altLang="en-US" sz="2600" b="1" dirty="0"/>
              <a:t>多层感知机</a:t>
            </a:r>
            <a:endParaRPr lang="en-US" altLang="zh-CN" sz="2600" b="1" dirty="0"/>
          </a:p>
        </p:txBody>
      </p:sp>
      <mc:AlternateContent xmlns:mc="http://schemas.openxmlformats.org/markup-compatibility/2006" xmlns:a14="http://schemas.microsoft.com/office/drawing/2010/main">
        <mc:Choice Requires="a14">
          <p:sp>
            <p:nvSpPr>
              <p:cNvPr id="82" name="矩形 81"/>
              <p:cNvSpPr/>
              <p:nvPr/>
            </p:nvSpPr>
            <p:spPr>
              <a:xfrm>
                <a:off x="5374337" y="1690908"/>
                <a:ext cx="3823234" cy="1601721"/>
              </a:xfrm>
              <a:prstGeom prst="rect">
                <a:avLst/>
              </a:prstGeom>
            </p:spPr>
            <p:txBody>
              <a:bodyPr wrap="square">
                <a:spAutoFit/>
              </a:bodyPr>
              <a:lstStyle/>
              <a:p>
                <a:pPr algn="just">
                  <a:lnSpc>
                    <a:spcPct val="150000"/>
                  </a:lnSpc>
                </a:pPr>
                <a:r>
                  <a:rPr lang="zh-CN" altLang="en-US" sz="1600" kern="0" dirty="0">
                    <a:ea typeface="微软雅黑 Light" panose="020B0502040204020203" pitchFamily="34" charset="-122"/>
                  </a:rPr>
                  <a:t>权值</a:t>
                </a:r>
                <a14:m>
                  <m:oMath xmlns:m="http://schemas.openxmlformats.org/officeDocument/2006/math">
                    <m:r>
                      <a:rPr lang="zh-CN" altLang="en-US" sz="1400" i="1" kern="0" smtClean="0">
                        <a:latin typeface="Cambria Math" panose="02040503050406030204" pitchFamily="18" charset="0"/>
                        <a:ea typeface="微软雅黑" panose="020B0503020204020204" pitchFamily="34" charset="-122"/>
                      </a:rPr>
                      <m:t>：</m:t>
                    </m:r>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b="0" i="1" kern="0" smtClean="0">
                            <a:latin typeface="Cambria Math" panose="02040503050406030204" pitchFamily="18" charset="0"/>
                            <a:ea typeface="微软雅黑" panose="020B0503020204020204" pitchFamily="34" charset="-122"/>
                          </a:rPr>
                          <m:t>𝑊</m:t>
                        </m:r>
                      </m:e>
                      <m:sup>
                        <m:r>
                          <a:rPr lang="en-US" altLang="zh-CN" sz="1600" i="1" kern="0">
                            <a:latin typeface="Cambria Math" panose="02040503050406030204" pitchFamily="18" charset="0"/>
                            <a:ea typeface="微软雅黑" panose="020B0503020204020204" pitchFamily="34" charset="-122"/>
                          </a:rPr>
                          <m:t>(1)</m:t>
                        </m:r>
                      </m:sup>
                    </m:sSup>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 </m:t>
                    </m:r>
                    <m:d>
                      <m:dPr>
                        <m:begChr m:val="["/>
                        <m:endChr m:val="]"/>
                        <m:ctrlPr>
                          <a:rPr lang="en-US" altLang="zh-CN" sz="1600"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sz="1600" i="1" kern="0">
                                <a:latin typeface="Cambria Math" panose="02040503050406030204" pitchFamily="18" charset="0"/>
                                <a:ea typeface="微软雅黑" panose="020B0503020204020204" pitchFamily="34" charset="-122"/>
                              </a:rPr>
                            </m:ctrlPr>
                          </m:mPr>
                          <m:mr>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1,1</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b="0" i="1" kern="0" smtClean="0">
                                      <a:latin typeface="Cambria Math" panose="02040503050406030204" pitchFamily="18" charset="0"/>
                                      <a:ea typeface="微软雅黑" panose="020B0503020204020204" pitchFamily="34" charset="-122"/>
                                    </a:rPr>
                                    <m:t>1</m:t>
                                  </m:r>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2</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mr>
                          <m:mr>
                            <m:e>
                              <m:sSubSup>
                                <m:sSubSupPr>
                                  <m:ctrlPr>
                                    <a:rPr lang="en-US" altLang="zh-CN" sz="1600" i="1" kern="0" smtClea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b="0" i="1" kern="0" smtClean="0">
                                      <a:latin typeface="Cambria Math" panose="02040503050406030204" pitchFamily="18" charset="0"/>
                                      <a:ea typeface="微软雅黑" panose="020B0503020204020204" pitchFamily="34" charset="-122"/>
                                    </a:rPr>
                                    <m:t>2</m:t>
                                  </m:r>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1</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2,2</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mr>
                          <m:mr>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b="0" i="1" kern="0" smtClean="0">
                                      <a:latin typeface="Cambria Math" panose="02040503050406030204" pitchFamily="18" charset="0"/>
                                      <a:ea typeface="微软雅黑" panose="020B0503020204020204" pitchFamily="34" charset="-122"/>
                                    </a:rPr>
                                    <m:t>3</m:t>
                                  </m:r>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1</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b="0" i="1" kern="0" smtClean="0">
                                      <a:latin typeface="Cambria Math" panose="02040503050406030204" pitchFamily="18" charset="0"/>
                                      <a:ea typeface="微软雅黑" panose="020B0503020204020204" pitchFamily="34" charset="-122"/>
                                    </a:rPr>
                                    <m:t>3</m:t>
                                  </m:r>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2</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mr>
                        </m:m>
                      </m:e>
                    </m:d>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2" name="矩形 81"/>
              <p:cNvSpPr>
                <a:spLocks noRot="1" noChangeAspect="1" noMove="1" noResize="1" noEditPoints="1" noAdjustHandles="1" noChangeArrowheads="1" noChangeShapeType="1" noTextEdit="1"/>
              </p:cNvSpPr>
              <p:nvPr/>
            </p:nvSpPr>
            <p:spPr>
              <a:xfrm>
                <a:off x="5374337" y="1690908"/>
                <a:ext cx="3823234" cy="1601721"/>
              </a:xfrm>
              <a:prstGeom prst="rect">
                <a:avLst/>
              </a:prstGeom>
              <a:blipFill rotWithShape="0">
                <a:blip r:embed="rId5"/>
                <a:stretch>
                  <a:fillRect l="-957"/>
                </a:stretch>
              </a:blipFill>
            </p:spPr>
            <p:txBody>
              <a:bodyPr/>
              <a:lstStyle/>
              <a:p>
                <a:r>
                  <a:rPr lang="zh-CN" altLang="en-US">
                    <a:noFill/>
                  </a:rPr>
                  <a:t> </a:t>
                </a:r>
              </a:p>
            </p:txBody>
          </p:sp>
        </mc:Fallback>
      </mc:AlternateContent>
      <p:sp>
        <p:nvSpPr>
          <p:cNvPr id="83" name="椭圆 82"/>
          <p:cNvSpPr/>
          <p:nvPr/>
        </p:nvSpPr>
        <p:spPr>
          <a:xfrm>
            <a:off x="1969332" y="2652053"/>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rot="1763759">
            <a:off x="6356557" y="3493384"/>
            <a:ext cx="576064" cy="576064"/>
          </a:xfrm>
          <a:prstGeom prst="ellipse">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rot="21061334">
            <a:off x="4262588" y="3252770"/>
            <a:ext cx="576064" cy="576064"/>
          </a:xfrm>
          <a:prstGeom prst="ellipse">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rot="922928">
            <a:off x="1969332" y="3923765"/>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rot="218974">
            <a:off x="4279007" y="4479398"/>
            <a:ext cx="576064" cy="568405"/>
          </a:xfrm>
          <a:prstGeom prst="ellipse">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969332" y="5195476"/>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9" name="直接箭头连接符 88"/>
          <p:cNvCxnSpPr>
            <a:stCxn id="83" idx="6"/>
            <a:endCxn id="85" idx="1"/>
          </p:cNvCxnSpPr>
          <p:nvPr/>
        </p:nvCxnSpPr>
        <p:spPr>
          <a:xfrm>
            <a:off x="2545396" y="2940085"/>
            <a:ext cx="1772267" cy="43132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90" name="直接箭头连接符 89"/>
          <p:cNvCxnSpPr>
            <a:stCxn id="83" idx="5"/>
            <a:endCxn id="87" idx="1"/>
          </p:cNvCxnSpPr>
          <p:nvPr/>
        </p:nvCxnSpPr>
        <p:spPr>
          <a:xfrm>
            <a:off x="2461033" y="3143754"/>
            <a:ext cx="1915542" cy="140632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91" name="直接箭头连接符 90"/>
          <p:cNvCxnSpPr>
            <a:stCxn id="86" idx="7"/>
            <a:endCxn id="85" idx="2"/>
          </p:cNvCxnSpPr>
          <p:nvPr/>
        </p:nvCxnSpPr>
        <p:spPr>
          <a:xfrm flipV="1">
            <a:off x="2507762" y="3585750"/>
            <a:ext cx="1758355" cy="48369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92" name="直接箭头连接符 91"/>
          <p:cNvCxnSpPr>
            <a:stCxn id="88" idx="7"/>
            <a:endCxn id="85" idx="3"/>
          </p:cNvCxnSpPr>
          <p:nvPr/>
        </p:nvCxnSpPr>
        <p:spPr>
          <a:xfrm flipV="1">
            <a:off x="2461033" y="3773759"/>
            <a:ext cx="1920196" cy="150608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93" name="直接箭头连接符 92"/>
          <p:cNvCxnSpPr>
            <a:stCxn id="86" idx="6"/>
            <a:endCxn id="87" idx="2"/>
          </p:cNvCxnSpPr>
          <p:nvPr/>
        </p:nvCxnSpPr>
        <p:spPr>
          <a:xfrm>
            <a:off x="2535078" y="4288199"/>
            <a:ext cx="1744513" cy="45706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94" name="直接箭头连接符 93"/>
          <p:cNvCxnSpPr>
            <a:stCxn id="88" idx="6"/>
            <a:endCxn id="87" idx="3"/>
          </p:cNvCxnSpPr>
          <p:nvPr/>
        </p:nvCxnSpPr>
        <p:spPr>
          <a:xfrm flipV="1">
            <a:off x="2545396" y="4951190"/>
            <a:ext cx="1805595" cy="53231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95" name="直接箭头连接符 94"/>
          <p:cNvCxnSpPr>
            <a:stCxn id="85" idx="6"/>
            <a:endCxn id="84" idx="2"/>
          </p:cNvCxnSpPr>
          <p:nvPr/>
        </p:nvCxnSpPr>
        <p:spPr>
          <a:xfrm>
            <a:off x="4835123" y="3495854"/>
            <a:ext cx="1558519" cy="144184"/>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96" name="直接箭头连接符 95"/>
          <p:cNvCxnSpPr>
            <a:stCxn id="87" idx="7"/>
            <a:endCxn id="84" idx="3"/>
          </p:cNvCxnSpPr>
          <p:nvPr/>
        </p:nvCxnSpPr>
        <p:spPr>
          <a:xfrm flipV="1">
            <a:off x="4783087" y="3858893"/>
            <a:ext cx="1584086" cy="717118"/>
          </a:xfrm>
          <a:prstGeom prst="straightConnector1">
            <a:avLst/>
          </a:prstGeom>
          <a:noFill/>
          <a:ln w="15875" cap="flat" cmpd="sng">
            <a:solidFill>
              <a:schemeClr val="tx1">
                <a:lumMod val="65000"/>
                <a:lumOff val="35000"/>
              </a:schemeClr>
            </a:solidFill>
            <a:prstDash val="sysDot"/>
            <a:round/>
            <a:headEnd/>
            <a:tailEnd type="triangle"/>
          </a:ln>
          <a:effectLst/>
        </p:spPr>
      </p:cxnSp>
      <p:sp>
        <p:nvSpPr>
          <p:cNvPr id="97" name="椭圆 96"/>
          <p:cNvSpPr/>
          <p:nvPr/>
        </p:nvSpPr>
        <p:spPr>
          <a:xfrm rot="1533250">
            <a:off x="6356557" y="4259241"/>
            <a:ext cx="576064" cy="576064"/>
          </a:xfrm>
          <a:prstGeom prst="ellipse">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8" name="直接箭头连接符 97"/>
          <p:cNvCxnSpPr>
            <a:stCxn id="85" idx="5"/>
            <a:endCxn id="97" idx="2"/>
          </p:cNvCxnSpPr>
          <p:nvPr/>
        </p:nvCxnSpPr>
        <p:spPr>
          <a:xfrm>
            <a:off x="4783577" y="3710193"/>
            <a:ext cx="1601156" cy="712833"/>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99" name="直接箭头连接符 98"/>
          <p:cNvCxnSpPr>
            <a:stCxn id="87" idx="6"/>
            <a:endCxn id="97" idx="3"/>
          </p:cNvCxnSpPr>
          <p:nvPr/>
        </p:nvCxnSpPr>
        <p:spPr>
          <a:xfrm flipV="1">
            <a:off x="4854487" y="4643163"/>
            <a:ext cx="1518501" cy="138772"/>
          </a:xfrm>
          <a:prstGeom prst="straightConnector1">
            <a:avLst/>
          </a:prstGeom>
          <a:noFill/>
          <a:ln w="15875" cap="flat" cmpd="sng">
            <a:solidFill>
              <a:schemeClr val="tx1">
                <a:lumMod val="65000"/>
                <a:lumOff val="35000"/>
              </a:schemeClr>
            </a:solidFill>
            <a:prstDash val="sysDot"/>
            <a:round/>
            <a:headEnd/>
            <a:tailEnd type="triangle"/>
          </a:ln>
          <a:effectLst/>
        </p:spPr>
      </p:cxnSp>
      <p:sp>
        <p:nvSpPr>
          <p:cNvPr id="100" name="矩形 99"/>
          <p:cNvSpPr/>
          <p:nvPr/>
        </p:nvSpPr>
        <p:spPr>
          <a:xfrm>
            <a:off x="1876358" y="1817812"/>
            <a:ext cx="969733" cy="419474"/>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输入</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101" name="矩形 100"/>
              <p:cNvSpPr/>
              <p:nvPr/>
            </p:nvSpPr>
            <p:spPr>
              <a:xfrm>
                <a:off x="3058240" y="2144569"/>
                <a:ext cx="417158" cy="57323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latin typeface="Cambria Math" panose="02040503050406030204" pitchFamily="18" charset="0"/>
                              <a:ea typeface="微软雅黑" panose="020B0503020204020204" pitchFamily="34" charset="-122"/>
                            </a:rPr>
                          </m:ctrlPr>
                        </m:sSupPr>
                        <m:e>
                          <m:r>
                            <a:rPr lang="en-US" altLang="zh-CN" sz="2000" b="0" i="1" kern="0" smtClean="0">
                              <a:latin typeface="Cambria Math" panose="02040503050406030204" pitchFamily="18" charset="0"/>
                              <a:ea typeface="微软雅黑" panose="020B0503020204020204" pitchFamily="34" charset="-122"/>
                            </a:rPr>
                            <m:t>𝑊</m:t>
                          </m:r>
                        </m:e>
                        <m:sup>
                          <m:r>
                            <a:rPr lang="en-US" altLang="zh-CN" sz="2000" b="0" i="1" kern="0" smtClean="0">
                              <a:latin typeface="Cambria Math" panose="02040503050406030204" pitchFamily="18" charset="0"/>
                              <a:ea typeface="微软雅黑" panose="020B0503020204020204" pitchFamily="34" charset="-122"/>
                            </a:rPr>
                            <m:t>(1)</m:t>
                          </m:r>
                        </m:sup>
                      </m:sSup>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1" name="矩形 100"/>
              <p:cNvSpPr>
                <a:spLocks noRot="1" noChangeAspect="1" noMove="1" noResize="1" noEditPoints="1" noAdjustHandles="1" noChangeArrowheads="1" noChangeShapeType="1" noTextEdit="1"/>
              </p:cNvSpPr>
              <p:nvPr/>
            </p:nvSpPr>
            <p:spPr>
              <a:xfrm>
                <a:off x="3058240" y="2144569"/>
                <a:ext cx="417158" cy="573234"/>
              </a:xfrm>
              <a:prstGeom prst="rect">
                <a:avLst/>
              </a:prstGeom>
              <a:blipFill rotWithShape="0">
                <a:blip r:embed="rId6"/>
                <a:stretch>
                  <a:fillRect r="-441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矩形 101"/>
              <p:cNvSpPr/>
              <p:nvPr/>
            </p:nvSpPr>
            <p:spPr>
              <a:xfrm>
                <a:off x="1875717" y="2158668"/>
                <a:ext cx="839775" cy="553998"/>
              </a:xfrm>
              <a:prstGeom prst="rect">
                <a:avLst/>
              </a:prstGeom>
            </p:spPr>
            <p:txBody>
              <a:bodyPr wrap="square">
                <a:spAutoFit/>
              </a:bodyPr>
              <a:lstStyle/>
              <a:p>
                <a:pPr algn="ctr">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latin typeface="Cambria Math" panose="02040503050406030204" pitchFamily="18" charset="0"/>
                          <a:ea typeface="微软雅黑 Light" panose="020B0502040204020203" pitchFamily="34" charset="-122"/>
                          <a:cs typeface="宋体" panose="02010600030101010101" pitchFamily="2" charset="-122"/>
                        </a:rPr>
                        <m:t>𝑋</m:t>
                      </m:r>
                    </m:oMath>
                  </m:oMathPara>
                </a14:m>
                <a:endParaRPr lang="en-US" altLang="zh-CN" sz="2000" i="1"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2" name="矩形 101"/>
              <p:cNvSpPr>
                <a:spLocks noRot="1" noChangeAspect="1" noMove="1" noResize="1" noEditPoints="1" noAdjustHandles="1" noChangeArrowheads="1" noChangeShapeType="1" noTextEdit="1"/>
              </p:cNvSpPr>
              <p:nvPr/>
            </p:nvSpPr>
            <p:spPr>
              <a:xfrm>
                <a:off x="1875717" y="2158668"/>
                <a:ext cx="839775" cy="553998"/>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矩形 102"/>
              <p:cNvSpPr/>
              <p:nvPr/>
            </p:nvSpPr>
            <p:spPr>
              <a:xfrm>
                <a:off x="5374337" y="1671218"/>
                <a:ext cx="3716822" cy="417807"/>
              </a:xfrm>
              <a:prstGeom prst="rect">
                <a:avLst/>
              </a:prstGeom>
            </p:spPr>
            <p:txBody>
              <a:bodyPr wrap="square">
                <a:spAutoFit/>
              </a:bodyPr>
              <a:lstStyle/>
              <a:p>
                <a:pPr algn="just">
                  <a:lnSpc>
                    <a:spcPct val="150000"/>
                  </a:lnSpc>
                </a:pPr>
                <a:r>
                  <a:rPr lang="zh-CN" altLang="en-US" sz="1600" kern="0" dirty="0">
                    <a:ea typeface="微软雅黑 Light" panose="020B0502040204020203" pitchFamily="34" charset="-122"/>
                  </a:rPr>
                  <a:t>输入样本：</a:t>
                </a:r>
                <a14:m>
                  <m:oMath xmlns:m="http://schemas.openxmlformats.org/officeDocument/2006/math">
                    <m:r>
                      <a:rPr lang="en-US" altLang="zh-CN" sz="1600" b="1" i="1" kern="0" smtClean="0">
                        <a:latin typeface="Cambria Math" panose="02040503050406030204" pitchFamily="18" charset="0"/>
                        <a:ea typeface="微软雅黑" panose="020B0503020204020204" pitchFamily="34" charset="-122"/>
                      </a:rPr>
                      <m:t>𝒙</m:t>
                    </m:r>
                    <m:r>
                      <a:rPr lang="en-US" altLang="zh-CN" sz="1600" b="0" i="0" kern="0" smtClea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b="0" i="1">
                            <a:latin typeface="Cambria Math" panose="02040503050406030204" pitchFamily="18" charset="0"/>
                            <a:ea typeface="微软雅黑 Light" panose="020B0502040204020203" pitchFamily="34" charset="-122"/>
                          </a:rPr>
                          <m:t>𝑥</m:t>
                        </m:r>
                      </m:e>
                      <m:sub>
                        <m:r>
                          <a:rPr lang="en-US" altLang="zh-CN" sz="1600" b="0" i="1">
                            <a:latin typeface="Cambria Math" panose="02040503050406030204" pitchFamily="18" charset="0"/>
                            <a:ea typeface="微软雅黑 Light" panose="020B0502040204020203" pitchFamily="34" charset="-122"/>
                          </a:rPr>
                          <m:t>1</m:t>
                        </m:r>
                      </m:sub>
                    </m:sSub>
                  </m:oMath>
                </a14:m>
                <a:r>
                  <a:rPr lang="en-US" altLang="zh-CN" sz="1600" dirty="0">
                    <a:latin typeface="微软雅黑 Light" panose="020B0502040204020203" pitchFamily="34" charset="-122"/>
                    <a:ea typeface="微软雅黑 Light" panose="020B0502040204020203" pitchFamily="34" charset="-122"/>
                  </a:rPr>
                  <a:t>;</a:t>
                </a:r>
                <a:r>
                  <a:rPr lang="en-US" altLang="zh-CN" sz="1600" dirty="0">
                    <a:ea typeface="微软雅黑 Light" panose="020B0502040204020203" pitchFamily="34" charset="-122"/>
                  </a:rPr>
                  <a:t> </a:t>
                </a:r>
                <a14:m>
                  <m:oMath xmlns:m="http://schemas.openxmlformats.org/officeDocument/2006/math">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𝑥</m:t>
                        </m:r>
                      </m:e>
                      <m:sub>
                        <m:r>
                          <a:rPr lang="en-US" altLang="zh-CN" sz="1600" b="0" i="1" smtClean="0">
                            <a:latin typeface="Cambria Math" panose="02040503050406030204" pitchFamily="18" charset="0"/>
                            <a:ea typeface="微软雅黑 Light" panose="020B0502040204020203" pitchFamily="34" charset="-122"/>
                          </a:rPr>
                          <m:t>2</m:t>
                        </m:r>
                      </m:sub>
                    </m:sSub>
                  </m:oMath>
                </a14:m>
                <a:r>
                  <a:rPr lang="en-US" altLang="zh-CN" sz="1600" dirty="0">
                    <a:latin typeface="微软雅黑 Light" panose="020B0502040204020203" pitchFamily="34" charset="-122"/>
                    <a:ea typeface="微软雅黑 Light" panose="020B0502040204020203" pitchFamily="34" charset="-122"/>
                  </a:rPr>
                  <a:t>; </a:t>
                </a:r>
                <a14:m>
                  <m:oMath xmlns:m="http://schemas.openxmlformats.org/officeDocument/2006/math">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𝑥</m:t>
                        </m:r>
                      </m:e>
                      <m:sub>
                        <m:r>
                          <a:rPr lang="en-US" altLang="zh-CN" sz="1600" b="0" i="1" smtClean="0">
                            <a:latin typeface="Cambria Math" panose="02040503050406030204" pitchFamily="18" charset="0"/>
                            <a:ea typeface="微软雅黑 Light" panose="020B0502040204020203" pitchFamily="34" charset="-122"/>
                          </a:rPr>
                          <m:t>3</m:t>
                        </m:r>
                      </m:sub>
                    </m:sSub>
                    <m:r>
                      <a:rPr lang="en-US" altLang="zh-CN" sz="1600" b="0" i="1" smtClean="0">
                        <a:latin typeface="Cambria Math" panose="02040503050406030204" pitchFamily="18" charset="0"/>
                        <a:ea typeface="微软雅黑 Light" panose="020B0502040204020203" pitchFamily="34" charset="-122"/>
                      </a:rPr>
                      <m:t>]</m:t>
                    </m:r>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3" name="矩形 102"/>
              <p:cNvSpPr>
                <a:spLocks noRot="1" noChangeAspect="1" noMove="1" noResize="1" noEditPoints="1" noAdjustHandles="1" noChangeArrowheads="1" noChangeShapeType="1" noTextEdit="1"/>
              </p:cNvSpPr>
              <p:nvPr/>
            </p:nvSpPr>
            <p:spPr>
              <a:xfrm>
                <a:off x="5374337" y="1671218"/>
                <a:ext cx="3716822" cy="417807"/>
              </a:xfrm>
              <a:prstGeom prst="rect">
                <a:avLst/>
              </a:prstGeom>
              <a:blipFill rotWithShape="0">
                <a:blip r:embed="rId8"/>
                <a:stretch>
                  <a:fillRect l="-985" b="-17391"/>
                </a:stretch>
              </a:blipFill>
            </p:spPr>
            <p:txBody>
              <a:bodyPr/>
              <a:lstStyle/>
              <a:p>
                <a:r>
                  <a:rPr lang="zh-CN" altLang="en-US">
                    <a:noFill/>
                  </a:rPr>
                  <a:t> </a:t>
                </a:r>
              </a:p>
            </p:txBody>
          </p:sp>
        </mc:Fallback>
      </mc:AlternateContent>
      <p:cxnSp>
        <p:nvCxnSpPr>
          <p:cNvPr id="104" name="直接箭头连接符 103"/>
          <p:cNvCxnSpPr/>
          <p:nvPr/>
        </p:nvCxnSpPr>
        <p:spPr>
          <a:xfrm>
            <a:off x="6939126" y="3757133"/>
            <a:ext cx="496568" cy="342"/>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105" name="直接箭头连接符 104"/>
          <p:cNvCxnSpPr/>
          <p:nvPr/>
        </p:nvCxnSpPr>
        <p:spPr>
          <a:xfrm>
            <a:off x="6939126" y="4549630"/>
            <a:ext cx="496568" cy="342"/>
          </a:xfrm>
          <a:prstGeom prst="straightConnector1">
            <a:avLst/>
          </a:prstGeom>
          <a:noFill/>
          <a:ln w="15875" cap="flat" cmpd="sng">
            <a:solidFill>
              <a:schemeClr val="tx1">
                <a:lumMod val="65000"/>
                <a:lumOff val="35000"/>
              </a:schemeClr>
            </a:solidFill>
            <a:prstDash val="sysDot"/>
            <a:round/>
            <a:headEnd/>
            <a:tailEnd type="triangle"/>
          </a:ln>
          <a:effectLst/>
        </p:spPr>
      </p:cxnSp>
      <p:sp>
        <p:nvSpPr>
          <p:cNvPr id="35" name="灯片编号占位符 8">
            <a:extLst>
              <a:ext uri="{FF2B5EF4-FFF2-40B4-BE49-F238E27FC236}">
                <a16:creationId xmlns:a16="http://schemas.microsoft.com/office/drawing/2014/main" id="{B82C9245-74D6-49A2-B467-F90158B743E6}"/>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22</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227659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多层感知机</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两层神经网络</a:t>
            </a:r>
            <a:r>
              <a:rPr lang="en-US" altLang="zh-CN" sz="2600" b="1" dirty="0"/>
              <a:t>-</a:t>
            </a:r>
            <a:r>
              <a:rPr lang="zh-CN" altLang="en-US" sz="2600" b="1" dirty="0"/>
              <a:t>多层感知机</a:t>
            </a:r>
            <a:endParaRPr lang="en-US" altLang="zh-CN" sz="2600" b="1" dirty="0"/>
          </a:p>
        </p:txBody>
      </p:sp>
      <mc:AlternateContent xmlns:mc="http://schemas.openxmlformats.org/markup-compatibility/2006" xmlns:a14="http://schemas.microsoft.com/office/drawing/2010/main">
        <mc:Choice Requires="a14">
          <p:sp>
            <p:nvSpPr>
              <p:cNvPr id="32" name="矩形 31"/>
              <p:cNvSpPr/>
              <p:nvPr/>
            </p:nvSpPr>
            <p:spPr>
              <a:xfrm>
                <a:off x="5367177" y="1133301"/>
                <a:ext cx="3823234" cy="1659685"/>
              </a:xfrm>
              <a:prstGeom prst="rect">
                <a:avLst/>
              </a:prstGeom>
            </p:spPr>
            <p:txBody>
              <a:bodyPr wrap="square">
                <a:spAutoFit/>
              </a:bodyPr>
              <a:lstStyle/>
              <a:p>
                <a:pPr algn="just">
                  <a:lnSpc>
                    <a:spcPct val="150000"/>
                  </a:lnSpc>
                </a:pPr>
                <a:r>
                  <a:rPr lang="zh-CN" altLang="en-US" sz="1600" kern="0" dirty="0">
                    <a:ea typeface="微软雅黑 Light" panose="020B0502040204020203" pitchFamily="34" charset="-122"/>
                  </a:rPr>
                  <a:t>权值</a:t>
                </a:r>
                <a14:m>
                  <m:oMath xmlns:m="http://schemas.openxmlformats.org/officeDocument/2006/math">
                    <m:r>
                      <a:rPr lang="zh-CN" altLang="en-US" sz="1600" i="1" kern="0" smtClean="0">
                        <a:latin typeface="Cambria Math" panose="02040503050406030204" pitchFamily="18" charset="0"/>
                        <a:ea typeface="微软雅黑" panose="020B0503020204020204" pitchFamily="34" charset="-122"/>
                      </a:rPr>
                      <m:t>：</m:t>
                    </m:r>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b="0" i="1" kern="0" smtClean="0">
                            <a:latin typeface="Cambria Math" panose="02040503050406030204" pitchFamily="18" charset="0"/>
                            <a:ea typeface="微软雅黑" panose="020B0503020204020204" pitchFamily="34" charset="-122"/>
                          </a:rPr>
                          <m:t>𝑊</m:t>
                        </m:r>
                      </m:e>
                      <m:sup>
                        <m:r>
                          <a:rPr lang="en-US" altLang="zh-CN" sz="1600" i="1" kern="0">
                            <a:latin typeface="Cambria Math" panose="02040503050406030204" pitchFamily="18" charset="0"/>
                            <a:ea typeface="微软雅黑" panose="020B0503020204020204" pitchFamily="34" charset="-122"/>
                          </a:rPr>
                          <m:t>(1)</m:t>
                        </m:r>
                      </m:sup>
                    </m:sSup>
                    <m:r>
                      <a:rPr lang="en-US" altLang="zh-CN" sz="1600" i="1" kern="0">
                        <a:latin typeface="Cambria Math" panose="02040503050406030204" pitchFamily="18" charset="0"/>
                        <a:ea typeface="微软雅黑" panose="020B0503020204020204" pitchFamily="34" charset="-122"/>
                      </a:rPr>
                      <m:t>=</m:t>
                    </m:r>
                    <m:d>
                      <m:dPr>
                        <m:begChr m:val="["/>
                        <m:endChr m:val="]"/>
                        <m:ctrlPr>
                          <a:rPr lang="en-US" altLang="zh-CN" sz="1600"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sz="1600" i="1" kern="0">
                                <a:latin typeface="Cambria Math" panose="02040503050406030204" pitchFamily="18" charset="0"/>
                                <a:ea typeface="微软雅黑" panose="020B0503020204020204" pitchFamily="34" charset="-122"/>
                              </a:rPr>
                            </m:ctrlPr>
                          </m:mPr>
                          <m:mr>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1,1</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1,2</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mr>
                          <m:mr>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2,1</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2,2</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mr>
                          <m:mr>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3,1</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3,2</m:t>
                                  </m:r>
                                </m:sub>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bSup>
                            </m:e>
                          </m:mr>
                        </m:m>
                      </m:e>
                    </m:d>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2" name="矩形 31"/>
              <p:cNvSpPr>
                <a:spLocks noRot="1" noChangeAspect="1" noMove="1" noResize="1" noEditPoints="1" noAdjustHandles="1" noChangeArrowheads="1" noChangeShapeType="1" noTextEdit="1"/>
              </p:cNvSpPr>
              <p:nvPr/>
            </p:nvSpPr>
            <p:spPr>
              <a:xfrm>
                <a:off x="5367177" y="1133301"/>
                <a:ext cx="3823234" cy="1659685"/>
              </a:xfrm>
              <a:prstGeom prst="rect">
                <a:avLst/>
              </a:prstGeom>
              <a:blipFill rotWithShape="0">
                <a:blip r:embed="rId5"/>
                <a:stretch>
                  <a:fillRect l="-796"/>
                </a:stretch>
              </a:blipFill>
            </p:spPr>
            <p:txBody>
              <a:bodyPr/>
              <a:lstStyle/>
              <a:p>
                <a:r>
                  <a:rPr lang="zh-CN" altLang="en-US">
                    <a:noFill/>
                  </a:rPr>
                  <a:t> </a:t>
                </a:r>
              </a:p>
            </p:txBody>
          </p:sp>
        </mc:Fallback>
      </mc:AlternateContent>
      <p:sp>
        <p:nvSpPr>
          <p:cNvPr id="34" name="椭圆 33"/>
          <p:cNvSpPr/>
          <p:nvPr/>
        </p:nvSpPr>
        <p:spPr>
          <a:xfrm>
            <a:off x="1969332" y="2652053"/>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rot="1763759">
            <a:off x="6356557" y="3493384"/>
            <a:ext cx="576064" cy="576064"/>
          </a:xfrm>
          <a:prstGeom prst="ellipse">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rot="21061334">
            <a:off x="4262588" y="3252770"/>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rot="922928">
            <a:off x="1969332" y="3923765"/>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rot="218974">
            <a:off x="4279007" y="4479398"/>
            <a:ext cx="576064" cy="568405"/>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969332" y="5195476"/>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p:cNvCxnSpPr>
            <a:stCxn id="34" idx="6"/>
            <a:endCxn id="36" idx="1"/>
          </p:cNvCxnSpPr>
          <p:nvPr/>
        </p:nvCxnSpPr>
        <p:spPr>
          <a:xfrm>
            <a:off x="2545396" y="2940085"/>
            <a:ext cx="1772267" cy="43132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1" name="直接箭头连接符 40"/>
          <p:cNvCxnSpPr>
            <a:stCxn id="34" idx="5"/>
            <a:endCxn id="38" idx="1"/>
          </p:cNvCxnSpPr>
          <p:nvPr/>
        </p:nvCxnSpPr>
        <p:spPr>
          <a:xfrm>
            <a:off x="2461033" y="3143754"/>
            <a:ext cx="1915542" cy="140632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2" name="直接箭头连接符 41"/>
          <p:cNvCxnSpPr>
            <a:stCxn id="37" idx="7"/>
            <a:endCxn id="36" idx="2"/>
          </p:cNvCxnSpPr>
          <p:nvPr/>
        </p:nvCxnSpPr>
        <p:spPr>
          <a:xfrm flipV="1">
            <a:off x="2507762" y="3585750"/>
            <a:ext cx="1758355" cy="48369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3" name="直接箭头连接符 42"/>
          <p:cNvCxnSpPr>
            <a:stCxn id="39" idx="7"/>
            <a:endCxn id="36" idx="3"/>
          </p:cNvCxnSpPr>
          <p:nvPr/>
        </p:nvCxnSpPr>
        <p:spPr>
          <a:xfrm flipV="1">
            <a:off x="2461033" y="3773759"/>
            <a:ext cx="1920196" cy="150608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4" name="直接箭头连接符 43"/>
          <p:cNvCxnSpPr>
            <a:stCxn id="37" idx="6"/>
            <a:endCxn id="38" idx="2"/>
          </p:cNvCxnSpPr>
          <p:nvPr/>
        </p:nvCxnSpPr>
        <p:spPr>
          <a:xfrm>
            <a:off x="2535078" y="4288199"/>
            <a:ext cx="1744513" cy="45706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5" name="直接箭头连接符 44"/>
          <p:cNvCxnSpPr>
            <a:stCxn id="39" idx="6"/>
            <a:endCxn id="38" idx="3"/>
          </p:cNvCxnSpPr>
          <p:nvPr/>
        </p:nvCxnSpPr>
        <p:spPr>
          <a:xfrm flipV="1">
            <a:off x="2545396" y="4951190"/>
            <a:ext cx="1805595" cy="53231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6" name="直接箭头连接符 45"/>
          <p:cNvCxnSpPr>
            <a:stCxn id="36" idx="6"/>
            <a:endCxn id="35" idx="2"/>
          </p:cNvCxnSpPr>
          <p:nvPr/>
        </p:nvCxnSpPr>
        <p:spPr>
          <a:xfrm>
            <a:off x="4835123" y="3495854"/>
            <a:ext cx="1558519" cy="144184"/>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47" name="直接箭头连接符 46"/>
          <p:cNvCxnSpPr>
            <a:stCxn id="38" idx="7"/>
            <a:endCxn id="35" idx="3"/>
          </p:cNvCxnSpPr>
          <p:nvPr/>
        </p:nvCxnSpPr>
        <p:spPr>
          <a:xfrm flipV="1">
            <a:off x="4783087" y="3858893"/>
            <a:ext cx="1584086" cy="717118"/>
          </a:xfrm>
          <a:prstGeom prst="straightConnector1">
            <a:avLst/>
          </a:prstGeom>
          <a:noFill/>
          <a:ln w="15875" cap="flat" cmpd="sng">
            <a:solidFill>
              <a:schemeClr val="tx1">
                <a:lumMod val="65000"/>
                <a:lumOff val="35000"/>
              </a:schemeClr>
            </a:solidFill>
            <a:prstDash val="sysDot"/>
            <a:round/>
            <a:headEnd/>
            <a:tailEnd type="triangle"/>
          </a:ln>
          <a:effectLst/>
        </p:spPr>
      </p:cxnSp>
      <p:sp>
        <p:nvSpPr>
          <p:cNvPr id="48" name="椭圆 47"/>
          <p:cNvSpPr/>
          <p:nvPr/>
        </p:nvSpPr>
        <p:spPr>
          <a:xfrm rot="1533250">
            <a:off x="6356557" y="4259241"/>
            <a:ext cx="576064" cy="576064"/>
          </a:xfrm>
          <a:prstGeom prst="ellipse">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p:cNvCxnSpPr>
            <a:stCxn id="36" idx="5"/>
            <a:endCxn id="48" idx="2"/>
          </p:cNvCxnSpPr>
          <p:nvPr/>
        </p:nvCxnSpPr>
        <p:spPr>
          <a:xfrm>
            <a:off x="4783577" y="3710193"/>
            <a:ext cx="1601156" cy="712833"/>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50" name="直接箭头连接符 49"/>
          <p:cNvCxnSpPr>
            <a:stCxn id="38" idx="6"/>
            <a:endCxn id="48" idx="3"/>
          </p:cNvCxnSpPr>
          <p:nvPr/>
        </p:nvCxnSpPr>
        <p:spPr>
          <a:xfrm flipV="1">
            <a:off x="4854487" y="4643163"/>
            <a:ext cx="1518501" cy="138772"/>
          </a:xfrm>
          <a:prstGeom prst="straightConnector1">
            <a:avLst/>
          </a:prstGeom>
          <a:noFill/>
          <a:ln w="15875" cap="flat" cmpd="sng">
            <a:solidFill>
              <a:schemeClr val="tx1">
                <a:lumMod val="65000"/>
                <a:lumOff val="35000"/>
              </a:schemeClr>
            </a:solidFill>
            <a:prstDash val="sysDot"/>
            <a:round/>
            <a:headEnd/>
            <a:tailEnd type="triangle"/>
          </a:ln>
          <a:effectLst/>
        </p:spPr>
      </p:cxnSp>
      <p:sp>
        <p:nvSpPr>
          <p:cNvPr id="51" name="矩形 50"/>
          <p:cNvSpPr/>
          <p:nvPr/>
        </p:nvSpPr>
        <p:spPr>
          <a:xfrm>
            <a:off x="1876358" y="1817812"/>
            <a:ext cx="969733" cy="419474"/>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输入</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2" name="矩形 51"/>
              <p:cNvSpPr/>
              <p:nvPr/>
            </p:nvSpPr>
            <p:spPr>
              <a:xfrm>
                <a:off x="3178360" y="2627473"/>
                <a:ext cx="417158" cy="57323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latin typeface="Cambria Math" panose="02040503050406030204" pitchFamily="18" charset="0"/>
                              <a:ea typeface="微软雅黑" panose="020B0503020204020204" pitchFamily="34" charset="-122"/>
                            </a:rPr>
                          </m:ctrlPr>
                        </m:sSupPr>
                        <m:e>
                          <m:r>
                            <a:rPr lang="en-US" altLang="zh-CN" sz="2000" b="0" i="1" kern="0" smtClean="0">
                              <a:latin typeface="Cambria Math" panose="02040503050406030204" pitchFamily="18" charset="0"/>
                              <a:ea typeface="微软雅黑" panose="020B0503020204020204" pitchFamily="34" charset="-122"/>
                            </a:rPr>
                            <m:t>𝑊</m:t>
                          </m:r>
                        </m:e>
                        <m:sup>
                          <m:r>
                            <a:rPr lang="en-US" altLang="zh-CN" sz="2000" b="0" i="1" kern="0" smtClean="0">
                              <a:latin typeface="Cambria Math" panose="02040503050406030204" pitchFamily="18" charset="0"/>
                              <a:ea typeface="微软雅黑" panose="020B0503020204020204" pitchFamily="34" charset="-122"/>
                            </a:rPr>
                            <m:t>(1)</m:t>
                          </m:r>
                        </m:sup>
                      </m:sSup>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2" name="矩形 51"/>
              <p:cNvSpPr>
                <a:spLocks noRot="1" noChangeAspect="1" noMove="1" noResize="1" noEditPoints="1" noAdjustHandles="1" noChangeArrowheads="1" noChangeShapeType="1" noTextEdit="1"/>
              </p:cNvSpPr>
              <p:nvPr/>
            </p:nvSpPr>
            <p:spPr>
              <a:xfrm>
                <a:off x="3178360" y="2627473"/>
                <a:ext cx="417158" cy="573234"/>
              </a:xfrm>
              <a:prstGeom prst="rect">
                <a:avLst/>
              </a:prstGeom>
              <a:blipFill rotWithShape="0">
                <a:blip r:embed="rId6"/>
                <a:stretch>
                  <a:fillRect r="-434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矩形 52"/>
              <p:cNvSpPr/>
              <p:nvPr/>
            </p:nvSpPr>
            <p:spPr>
              <a:xfrm>
                <a:off x="1875717" y="2158668"/>
                <a:ext cx="839775" cy="553998"/>
              </a:xfrm>
              <a:prstGeom prst="rect">
                <a:avLst/>
              </a:prstGeom>
            </p:spPr>
            <p:txBody>
              <a:bodyPr wrap="square">
                <a:spAutoFit/>
              </a:bodyPr>
              <a:lstStyle/>
              <a:p>
                <a:pPr algn="ctr">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latin typeface="Cambria Math" panose="02040503050406030204" pitchFamily="18" charset="0"/>
                          <a:ea typeface="微软雅黑 Light" panose="020B0502040204020203" pitchFamily="34" charset="-122"/>
                          <a:cs typeface="宋体" panose="02010600030101010101" pitchFamily="2" charset="-122"/>
                        </a:rPr>
                        <m:t>𝑋</m:t>
                      </m:r>
                    </m:oMath>
                  </m:oMathPara>
                </a14:m>
                <a:endParaRPr lang="en-US" altLang="zh-CN" sz="2000" i="1"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3" name="矩形 52"/>
              <p:cNvSpPr>
                <a:spLocks noRot="1" noChangeAspect="1" noMove="1" noResize="1" noEditPoints="1" noAdjustHandles="1" noChangeArrowheads="1" noChangeShapeType="1" noTextEdit="1"/>
              </p:cNvSpPr>
              <p:nvPr/>
            </p:nvSpPr>
            <p:spPr>
              <a:xfrm>
                <a:off x="1875717" y="2158668"/>
                <a:ext cx="839775" cy="553998"/>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p:cNvSpPr/>
              <p:nvPr/>
            </p:nvSpPr>
            <p:spPr>
              <a:xfrm>
                <a:off x="5413421" y="1114026"/>
                <a:ext cx="3716822" cy="417743"/>
              </a:xfrm>
              <a:prstGeom prst="rect">
                <a:avLst/>
              </a:prstGeom>
            </p:spPr>
            <p:txBody>
              <a:bodyPr wrap="square">
                <a:spAutoFit/>
              </a:bodyPr>
              <a:lstStyle/>
              <a:p>
                <a:pPr algn="just">
                  <a:lnSpc>
                    <a:spcPct val="150000"/>
                  </a:lnSpc>
                </a:pPr>
                <a:r>
                  <a:rPr lang="zh-CN" altLang="en-US" sz="1600" kern="0" dirty="0">
                    <a:ea typeface="微软雅黑 Light" panose="020B0502040204020203" pitchFamily="34" charset="-122"/>
                  </a:rPr>
                  <a:t>输入</a:t>
                </a:r>
                <a14:m>
                  <m:oMath xmlns:m="http://schemas.openxmlformats.org/officeDocument/2006/math">
                    <m:r>
                      <a:rPr lang="zh-CN" altLang="en-US" sz="1600" i="1" kern="0">
                        <a:latin typeface="Cambria Math" panose="02040503050406030204" pitchFamily="18" charset="0"/>
                        <a:ea typeface="微软雅黑" panose="020B0503020204020204" pitchFamily="34" charset="-122"/>
                      </a:rPr>
                      <m:t>：</m:t>
                    </m:r>
                    <m:r>
                      <a:rPr lang="en-US" altLang="zh-CN" sz="1600" b="1" i="1" kern="0" smtClean="0">
                        <a:latin typeface="Cambria Math" panose="02040503050406030204" pitchFamily="18" charset="0"/>
                        <a:ea typeface="微软雅黑" panose="020B0503020204020204" pitchFamily="34" charset="-122"/>
                      </a:rPr>
                      <m:t>𝒙</m:t>
                    </m:r>
                    <m:r>
                      <a:rPr lang="en-US" altLang="zh-CN" sz="1600" ker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𝑥</m:t>
                        </m:r>
                      </m:e>
                      <m:sub>
                        <m:r>
                          <a:rPr lang="en-US" altLang="zh-CN" sz="1600" i="1">
                            <a:latin typeface="Cambria Math" panose="02040503050406030204" pitchFamily="18" charset="0"/>
                            <a:ea typeface="微软雅黑 Light" panose="020B0502040204020203" pitchFamily="34" charset="-122"/>
                          </a:rPr>
                          <m:t>1</m:t>
                        </m:r>
                      </m:sub>
                    </m:sSub>
                    <m:r>
                      <m:rPr>
                        <m:nor/>
                      </m:rPr>
                      <a:rPr lang="en-US" altLang="zh-CN" sz="1600" dirty="0">
                        <a:latin typeface="微软雅黑 Light" panose="020B0502040204020203" pitchFamily="34" charset="-122"/>
                        <a:ea typeface="微软雅黑 Light" panose="020B0502040204020203" pitchFamily="34" charset="-122"/>
                      </a:rPr>
                      <m:t>;</m:t>
                    </m:r>
                    <m:r>
                      <m:rPr>
                        <m:nor/>
                      </m:rPr>
                      <a:rPr lang="en-US" altLang="zh-CN" sz="1600" dirty="0">
                        <a:ea typeface="微软雅黑 Light" panose="020B0502040204020203" pitchFamily="34" charset="-122"/>
                      </a:rPr>
                      <m:t> </m:t>
                    </m:r>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𝑥</m:t>
                        </m:r>
                      </m:e>
                      <m:sub>
                        <m:r>
                          <a:rPr lang="en-US" altLang="zh-CN" sz="1600" i="1">
                            <a:latin typeface="Cambria Math" panose="02040503050406030204" pitchFamily="18" charset="0"/>
                            <a:ea typeface="微软雅黑 Light" panose="020B0502040204020203" pitchFamily="34" charset="-122"/>
                          </a:rPr>
                          <m:t>2</m:t>
                        </m:r>
                      </m:sub>
                    </m:sSub>
                    <m:r>
                      <m:rPr>
                        <m:nor/>
                      </m:rPr>
                      <a:rPr lang="en-US" altLang="zh-CN" sz="1600" dirty="0">
                        <a:latin typeface="微软雅黑 Light" panose="020B0502040204020203" pitchFamily="34" charset="-122"/>
                        <a:ea typeface="微软雅黑 Light" panose="020B0502040204020203" pitchFamily="34" charset="-122"/>
                      </a:rPr>
                      <m:t>; </m:t>
                    </m:r>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𝑥</m:t>
                        </m:r>
                      </m:e>
                      <m:sub>
                        <m:r>
                          <a:rPr lang="en-US" altLang="zh-CN" sz="1600" i="1">
                            <a:latin typeface="Cambria Math" panose="02040503050406030204" pitchFamily="18" charset="0"/>
                            <a:ea typeface="微软雅黑 Light" panose="020B0502040204020203" pitchFamily="34" charset="-122"/>
                          </a:rPr>
                          <m:t>3</m:t>
                        </m:r>
                      </m:sub>
                    </m:sSub>
                    <m:r>
                      <a:rPr lang="en-US" altLang="zh-CN" sz="1600" i="1">
                        <a:latin typeface="Cambria Math" panose="02040503050406030204" pitchFamily="18" charset="0"/>
                        <a:ea typeface="微软雅黑 Light" panose="020B0502040204020203" pitchFamily="34" charset="-122"/>
                      </a:rPr>
                      <m:t>]</m:t>
                    </m:r>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4" name="矩形 53"/>
              <p:cNvSpPr>
                <a:spLocks noRot="1" noChangeAspect="1" noMove="1" noResize="1" noEditPoints="1" noAdjustHandles="1" noChangeArrowheads="1" noChangeShapeType="1" noTextEdit="1"/>
              </p:cNvSpPr>
              <p:nvPr/>
            </p:nvSpPr>
            <p:spPr>
              <a:xfrm>
                <a:off x="5413421" y="1114026"/>
                <a:ext cx="3716822" cy="417743"/>
              </a:xfrm>
              <a:prstGeom prst="rect">
                <a:avLst/>
              </a:prstGeom>
              <a:blipFill rotWithShape="0">
                <a:blip r:embed="rId8"/>
                <a:stretch>
                  <a:fillRect l="-820" b="-19118"/>
                </a:stretch>
              </a:blipFill>
            </p:spPr>
            <p:txBody>
              <a:bodyPr/>
              <a:lstStyle/>
              <a:p>
                <a:r>
                  <a:rPr lang="zh-CN" altLang="en-US">
                    <a:noFill/>
                  </a:rPr>
                  <a:t> </a:t>
                </a:r>
              </a:p>
            </p:txBody>
          </p:sp>
        </mc:Fallback>
      </mc:AlternateContent>
      <p:sp>
        <p:nvSpPr>
          <p:cNvPr id="55" name="矩形 54"/>
          <p:cNvSpPr/>
          <p:nvPr/>
        </p:nvSpPr>
        <p:spPr>
          <a:xfrm>
            <a:off x="4240631" y="2340555"/>
            <a:ext cx="969733" cy="41979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隐含层</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6" name="矩形 55"/>
              <p:cNvSpPr/>
              <p:nvPr/>
            </p:nvSpPr>
            <p:spPr>
              <a:xfrm>
                <a:off x="4317055" y="2726199"/>
                <a:ext cx="559885" cy="553998"/>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000" i="1" kern="0" smtClean="0">
                          <a:solidFill>
                            <a:srgbClr val="C00000"/>
                          </a:solidFill>
                          <a:latin typeface="Cambria Math" panose="02040503050406030204" pitchFamily="18" charset="0"/>
                          <a:ea typeface="微软雅黑" panose="020B0503020204020204" pitchFamily="34" charset="-122"/>
                        </a:rPr>
                        <m:t>𝐻</m:t>
                      </m:r>
                    </m:oMath>
                  </m:oMathPara>
                </a14:m>
                <a:endParaRPr lang="en-US" altLang="zh-CN" sz="2000" kern="0" dirty="0">
                  <a:solidFill>
                    <a:srgbClr val="C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6" name="矩形 55"/>
              <p:cNvSpPr>
                <a:spLocks noRot="1" noChangeAspect="1" noMove="1" noResize="1" noEditPoints="1" noAdjustHandles="1" noChangeArrowheads="1" noChangeShapeType="1" noTextEdit="1"/>
              </p:cNvSpPr>
              <p:nvPr/>
            </p:nvSpPr>
            <p:spPr>
              <a:xfrm>
                <a:off x="4317055" y="2726199"/>
                <a:ext cx="559885" cy="553998"/>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矩形 56"/>
              <p:cNvSpPr/>
              <p:nvPr/>
            </p:nvSpPr>
            <p:spPr>
              <a:xfrm>
                <a:off x="5584155" y="2693396"/>
                <a:ext cx="3115146" cy="550151"/>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1600" b="0" i="1" kern="0" smtClean="0">
                          <a:latin typeface="Cambria Math" panose="02040503050406030204" pitchFamily="18" charset="0"/>
                          <a:ea typeface="微软雅黑" panose="020B0503020204020204" pitchFamily="34" charset="-122"/>
                        </a:rPr>
                        <m:t> </m:t>
                      </m:r>
                      <m:r>
                        <a:rPr lang="en-US" altLang="zh-CN" sz="1600" b="1" i="1" kern="0" smtClean="0">
                          <a:latin typeface="Cambria Math" panose="02040503050406030204" pitchFamily="18" charset="0"/>
                          <a:ea typeface="微软雅黑" panose="020B0503020204020204" pitchFamily="34" charset="-122"/>
                        </a:rPr>
                        <m:t>𝒉</m:t>
                      </m:r>
                      <m:r>
                        <a:rPr lang="en-US" altLang="zh-CN" sz="1600" b="0" i="1" kern="0" smtClea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𝐺</m:t>
                      </m:r>
                      <m:r>
                        <a:rPr lang="en-US" altLang="zh-CN" sz="1600" b="0" i="1" kern="0" smtClean="0">
                          <a:latin typeface="Cambria Math" panose="02040503050406030204" pitchFamily="18" charset="0"/>
                          <a:ea typeface="微软雅黑" panose="020B0503020204020204" pitchFamily="34" charset="-122"/>
                        </a:rPr>
                        <m:t>(</m:t>
                      </m:r>
                      <m:sSup>
                        <m:sSupPr>
                          <m:ctrlPr>
                            <a:rPr lang="en-US" altLang="zh-CN" sz="1600" b="0" i="1" kern="0" smtClean="0">
                              <a:latin typeface="Cambria Math" panose="02040503050406030204" pitchFamily="18" charset="0"/>
                              <a:ea typeface="微软雅黑" panose="020B0503020204020204" pitchFamily="34" charset="-122"/>
                            </a:rPr>
                          </m:ctrlPr>
                        </m:sSupPr>
                        <m:e>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i="1" kern="0">
                                  <a:latin typeface="Cambria Math" panose="02040503050406030204" pitchFamily="18" charset="0"/>
                                  <a:ea typeface="微软雅黑" panose="020B0503020204020204" pitchFamily="34" charset="-122"/>
                                </a:rPr>
                                <m:t>𝑊</m:t>
                              </m:r>
                            </m:e>
                            <m:sup>
                              <m:r>
                                <a:rPr lang="en-US" altLang="zh-CN" sz="1600" i="1" kern="0">
                                  <a:latin typeface="Cambria Math" panose="02040503050406030204" pitchFamily="18" charset="0"/>
                                  <a:ea typeface="微软雅黑" panose="020B0503020204020204" pitchFamily="34" charset="-122"/>
                                </a:rPr>
                                <m:t>(1)</m:t>
                              </m:r>
                            </m:sup>
                          </m:sSup>
                        </m:e>
                        <m:sup>
                          <m:r>
                            <a:rPr lang="en-US" altLang="zh-CN" sz="1600" b="0" i="1" kern="0" smtClean="0">
                              <a:latin typeface="Cambria Math" panose="02040503050406030204" pitchFamily="18" charset="0"/>
                              <a:ea typeface="微软雅黑" panose="020B0503020204020204" pitchFamily="34" charset="-122"/>
                            </a:rPr>
                            <m:t>𝑇</m:t>
                          </m:r>
                        </m:sup>
                      </m:sSup>
                      <m:r>
                        <a:rPr lang="en-US" altLang="zh-CN" sz="1600" b="1" i="1" kern="0" smtClean="0">
                          <a:latin typeface="Cambria Math" panose="02040503050406030204" pitchFamily="18" charset="0"/>
                          <a:ea typeface="微软雅黑" panose="020B0503020204020204" pitchFamily="34" charset="-122"/>
                        </a:rPr>
                        <m:t>𝒙</m:t>
                      </m:r>
                      <m:r>
                        <a:rPr lang="en-US" altLang="zh-CN" sz="1600" b="0" i="1" kern="0" smtClean="0">
                          <a:latin typeface="Cambria Math" panose="02040503050406030204" pitchFamily="18" charset="0"/>
                          <a:ea typeface="微软雅黑" panose="020B0503020204020204" pitchFamily="34" charset="-122"/>
                        </a:rPr>
                        <m:t>)</m:t>
                      </m:r>
                    </m:oMath>
                  </m:oMathPara>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7" name="矩形 56"/>
              <p:cNvSpPr>
                <a:spLocks noRot="1" noChangeAspect="1" noMove="1" noResize="1" noEditPoints="1" noAdjustHandles="1" noChangeArrowheads="1" noChangeShapeType="1" noTextEdit="1"/>
              </p:cNvSpPr>
              <p:nvPr/>
            </p:nvSpPr>
            <p:spPr>
              <a:xfrm>
                <a:off x="5584155" y="2693396"/>
                <a:ext cx="3115146" cy="550151"/>
              </a:xfrm>
              <a:prstGeom prst="rect">
                <a:avLst/>
              </a:prstGeom>
              <a:blipFill rotWithShape="0">
                <a:blip r:embed="rId10"/>
                <a:stretch>
                  <a:fillRect/>
                </a:stretch>
              </a:blipFill>
            </p:spPr>
            <p:txBody>
              <a:bodyPr/>
              <a:lstStyle/>
              <a:p>
                <a:r>
                  <a:rPr lang="zh-CN" altLang="en-US">
                    <a:noFill/>
                  </a:rPr>
                  <a:t> </a:t>
                </a:r>
              </a:p>
            </p:txBody>
          </p:sp>
        </mc:Fallback>
      </mc:AlternateContent>
      <p:cxnSp>
        <p:nvCxnSpPr>
          <p:cNvPr id="58" name="直接箭头连接符 57"/>
          <p:cNvCxnSpPr/>
          <p:nvPr/>
        </p:nvCxnSpPr>
        <p:spPr>
          <a:xfrm flipV="1">
            <a:off x="6928879" y="3091408"/>
            <a:ext cx="0" cy="246595"/>
          </a:xfrm>
          <a:prstGeom prst="straightConnector1">
            <a:avLst/>
          </a:prstGeom>
          <a:noFill/>
          <a:ln w="15875" cap="flat" cmpd="sng">
            <a:solidFill>
              <a:srgbClr val="FF0000"/>
            </a:solidFill>
            <a:prstDash val="solid"/>
            <a:round/>
            <a:headEnd/>
            <a:tailEnd type="triangle"/>
          </a:ln>
          <a:effectLst/>
        </p:spPr>
      </p:cxnSp>
      <p:sp>
        <p:nvSpPr>
          <p:cNvPr id="59" name="矩形 58"/>
          <p:cNvSpPr/>
          <p:nvPr/>
        </p:nvSpPr>
        <p:spPr>
          <a:xfrm>
            <a:off x="6928879" y="3039343"/>
            <a:ext cx="1070639" cy="41979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激活函数</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60" name="直接箭头连接符 59"/>
          <p:cNvCxnSpPr/>
          <p:nvPr/>
        </p:nvCxnSpPr>
        <p:spPr>
          <a:xfrm>
            <a:off x="6928879" y="3775876"/>
            <a:ext cx="496568" cy="342"/>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61" name="直接箭头连接符 60"/>
          <p:cNvCxnSpPr/>
          <p:nvPr/>
        </p:nvCxnSpPr>
        <p:spPr>
          <a:xfrm>
            <a:off x="6928879" y="4568373"/>
            <a:ext cx="496568" cy="342"/>
          </a:xfrm>
          <a:prstGeom prst="straightConnector1">
            <a:avLst/>
          </a:prstGeom>
          <a:noFill/>
          <a:ln w="15875" cap="flat" cmpd="sng">
            <a:solidFill>
              <a:schemeClr val="tx1">
                <a:lumMod val="65000"/>
                <a:lumOff val="35000"/>
              </a:schemeClr>
            </a:solidFill>
            <a:prstDash val="sysDot"/>
            <a:round/>
            <a:headEnd/>
            <a:tailEnd type="triangle"/>
          </a:ln>
          <a:effectLst/>
        </p:spPr>
      </p:cxnSp>
      <p:sp>
        <p:nvSpPr>
          <p:cNvPr id="64" name="灯片编号占位符 8">
            <a:extLst>
              <a:ext uri="{FF2B5EF4-FFF2-40B4-BE49-F238E27FC236}">
                <a16:creationId xmlns:a16="http://schemas.microsoft.com/office/drawing/2014/main" id="{540E79EC-BC67-4AF8-AD77-3099AD70EF72}"/>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23</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83864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多层感知机</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两层神经网络</a:t>
            </a:r>
            <a:r>
              <a:rPr lang="en-US" altLang="zh-CN" sz="2600" b="1" dirty="0"/>
              <a:t>-</a:t>
            </a:r>
            <a:r>
              <a:rPr lang="zh-CN" altLang="en-US" sz="2600" b="1" dirty="0"/>
              <a:t>多层感知机</a:t>
            </a:r>
            <a:endParaRPr lang="en-US" altLang="zh-CN" sz="2600" b="1" dirty="0"/>
          </a:p>
        </p:txBody>
      </p:sp>
      <p:sp>
        <p:nvSpPr>
          <p:cNvPr id="32" name="椭圆 31"/>
          <p:cNvSpPr/>
          <p:nvPr/>
        </p:nvSpPr>
        <p:spPr>
          <a:xfrm>
            <a:off x="1969332" y="2652053"/>
            <a:ext cx="576064" cy="576064"/>
          </a:xfrm>
          <a:prstGeom prst="ellipse">
            <a:avLst/>
          </a:prstGeom>
          <a:noFill/>
          <a:ln>
            <a:solidFill>
              <a:srgbClr val="1E3C8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rot="20281288">
            <a:off x="6356557" y="3493384"/>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rot="21061334">
            <a:off x="4262588" y="3252770"/>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rot="922928">
            <a:off x="1969332" y="3923765"/>
            <a:ext cx="576064" cy="576064"/>
          </a:xfrm>
          <a:prstGeom prst="ellipse">
            <a:avLst/>
          </a:prstGeom>
          <a:noFill/>
          <a:ln>
            <a:solidFill>
              <a:srgbClr val="1E3C8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rot="218974">
            <a:off x="4279007" y="4479398"/>
            <a:ext cx="576064" cy="568405"/>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969332" y="5195476"/>
            <a:ext cx="576064" cy="576064"/>
          </a:xfrm>
          <a:prstGeom prst="ellipse">
            <a:avLst/>
          </a:prstGeom>
          <a:noFill/>
          <a:ln>
            <a:solidFill>
              <a:srgbClr val="1E3C8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箭头连接符 38"/>
          <p:cNvCxnSpPr>
            <a:stCxn id="32" idx="6"/>
            <a:endCxn id="35" idx="1"/>
          </p:cNvCxnSpPr>
          <p:nvPr/>
        </p:nvCxnSpPr>
        <p:spPr>
          <a:xfrm>
            <a:off x="2545396" y="2940085"/>
            <a:ext cx="1772267" cy="431326"/>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40" name="直接箭头连接符 39"/>
          <p:cNvCxnSpPr>
            <a:stCxn id="32" idx="5"/>
            <a:endCxn id="37" idx="1"/>
          </p:cNvCxnSpPr>
          <p:nvPr/>
        </p:nvCxnSpPr>
        <p:spPr>
          <a:xfrm>
            <a:off x="2461033" y="3143754"/>
            <a:ext cx="1915542" cy="1406328"/>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41" name="直接箭头连接符 40"/>
          <p:cNvCxnSpPr>
            <a:stCxn id="36" idx="7"/>
            <a:endCxn id="35" idx="2"/>
          </p:cNvCxnSpPr>
          <p:nvPr/>
        </p:nvCxnSpPr>
        <p:spPr>
          <a:xfrm flipV="1">
            <a:off x="2507762" y="3585750"/>
            <a:ext cx="1758355" cy="483698"/>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42" name="直接箭头连接符 41"/>
          <p:cNvCxnSpPr>
            <a:stCxn id="38" idx="7"/>
            <a:endCxn id="35" idx="3"/>
          </p:cNvCxnSpPr>
          <p:nvPr/>
        </p:nvCxnSpPr>
        <p:spPr>
          <a:xfrm flipV="1">
            <a:off x="2461033" y="3773759"/>
            <a:ext cx="1920196" cy="1506080"/>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43" name="直接箭头连接符 42"/>
          <p:cNvCxnSpPr>
            <a:stCxn id="36" idx="6"/>
            <a:endCxn id="37" idx="2"/>
          </p:cNvCxnSpPr>
          <p:nvPr/>
        </p:nvCxnSpPr>
        <p:spPr>
          <a:xfrm>
            <a:off x="2535078" y="4288199"/>
            <a:ext cx="1744513" cy="457068"/>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44" name="直接箭头连接符 43"/>
          <p:cNvCxnSpPr>
            <a:stCxn id="38" idx="6"/>
            <a:endCxn id="37" idx="3"/>
          </p:cNvCxnSpPr>
          <p:nvPr/>
        </p:nvCxnSpPr>
        <p:spPr>
          <a:xfrm flipV="1">
            <a:off x="2545396" y="4951190"/>
            <a:ext cx="1805595" cy="532318"/>
          </a:xfrm>
          <a:prstGeom prst="straightConnector1">
            <a:avLst/>
          </a:prstGeom>
          <a:noFill/>
          <a:ln w="15875" cap="flat" cmpd="sng">
            <a:solidFill>
              <a:schemeClr val="tx1">
                <a:lumMod val="65000"/>
                <a:lumOff val="35000"/>
              </a:schemeClr>
            </a:solidFill>
            <a:prstDash val="sysDot"/>
            <a:round/>
            <a:headEnd/>
            <a:tailEnd type="triangle"/>
          </a:ln>
          <a:effectLst/>
        </p:spPr>
      </p:cxnSp>
      <p:cxnSp>
        <p:nvCxnSpPr>
          <p:cNvPr id="45" name="直接箭头连接符 44"/>
          <p:cNvCxnSpPr>
            <a:stCxn id="35" idx="6"/>
            <a:endCxn id="34" idx="1"/>
          </p:cNvCxnSpPr>
          <p:nvPr/>
        </p:nvCxnSpPr>
        <p:spPr>
          <a:xfrm>
            <a:off x="4835123" y="3495854"/>
            <a:ext cx="1544374" cy="17292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6" name="直接箭头连接符 45"/>
          <p:cNvCxnSpPr>
            <a:stCxn id="37" idx="7"/>
            <a:endCxn id="34" idx="2"/>
          </p:cNvCxnSpPr>
          <p:nvPr/>
        </p:nvCxnSpPr>
        <p:spPr>
          <a:xfrm flipV="1">
            <a:off x="4783087" y="3889215"/>
            <a:ext cx="1594403" cy="686796"/>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47" name="椭圆 46"/>
          <p:cNvSpPr/>
          <p:nvPr/>
        </p:nvSpPr>
        <p:spPr>
          <a:xfrm rot="1533250">
            <a:off x="6356557" y="4259241"/>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箭头连接符 47"/>
          <p:cNvCxnSpPr>
            <a:stCxn id="35" idx="5"/>
            <a:endCxn id="47" idx="2"/>
          </p:cNvCxnSpPr>
          <p:nvPr/>
        </p:nvCxnSpPr>
        <p:spPr>
          <a:xfrm>
            <a:off x="4783577" y="3710193"/>
            <a:ext cx="1601156" cy="712833"/>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9" name="直接箭头连接符 48"/>
          <p:cNvCxnSpPr>
            <a:stCxn id="37" idx="6"/>
            <a:endCxn id="47" idx="3"/>
          </p:cNvCxnSpPr>
          <p:nvPr/>
        </p:nvCxnSpPr>
        <p:spPr>
          <a:xfrm flipV="1">
            <a:off x="4854487" y="4643163"/>
            <a:ext cx="1518501" cy="138772"/>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50" name="矩形 49"/>
          <p:cNvSpPr/>
          <p:nvPr/>
        </p:nvSpPr>
        <p:spPr>
          <a:xfrm>
            <a:off x="1876358" y="1817812"/>
            <a:ext cx="969733" cy="418191"/>
          </a:xfrm>
          <a:prstGeom prst="rect">
            <a:avLst/>
          </a:prstGeom>
        </p:spPr>
        <p:txBody>
          <a:bodyPr wrap="square">
            <a:spAutoFit/>
          </a:bodyPr>
          <a:lstStyle/>
          <a:p>
            <a:pPr algn="just">
              <a:lnSpc>
                <a:spcPct val="150000"/>
              </a:lnSpc>
            </a:pPr>
            <a:r>
              <a:rPr lang="zh-CN" altLang="en-US" sz="1600" kern="0" dirty="0">
                <a:solidFill>
                  <a:schemeClr val="bg1">
                    <a:lumMod val="65000"/>
                  </a:schemeClr>
                </a:solidFill>
                <a:latin typeface="微软雅黑 Light" panose="020B0502040204020203" pitchFamily="34" charset="-122"/>
                <a:ea typeface="微软雅黑 Light" panose="020B0502040204020203" pitchFamily="34" charset="-122"/>
                <a:cs typeface="宋体" panose="02010600030101010101" pitchFamily="2" charset="-122"/>
              </a:rPr>
              <a:t>输入</a:t>
            </a:r>
            <a:endParaRPr lang="en-US" altLang="zh-CN" sz="1600" kern="0" dirty="0">
              <a:solidFill>
                <a:schemeClr val="bg1">
                  <a:lumMod val="65000"/>
                </a:schemeClr>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1" name="矩形 50"/>
              <p:cNvSpPr/>
              <p:nvPr/>
            </p:nvSpPr>
            <p:spPr>
              <a:xfrm>
                <a:off x="3178360" y="2627473"/>
                <a:ext cx="417158" cy="57323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solidFill>
                                <a:schemeClr val="bg1">
                                  <a:lumMod val="65000"/>
                                </a:schemeClr>
                              </a:solidFill>
                              <a:latin typeface="Cambria Math" panose="02040503050406030204" pitchFamily="18" charset="0"/>
                              <a:ea typeface="微软雅黑" panose="020B0503020204020204" pitchFamily="34" charset="-122"/>
                            </a:rPr>
                          </m:ctrlPr>
                        </m:sSupPr>
                        <m:e>
                          <m:r>
                            <a:rPr lang="en-US" altLang="zh-CN" sz="2000" b="0" i="1" kern="0" smtClean="0">
                              <a:solidFill>
                                <a:schemeClr val="bg1">
                                  <a:lumMod val="65000"/>
                                </a:schemeClr>
                              </a:solidFill>
                              <a:latin typeface="Cambria Math" panose="02040503050406030204" pitchFamily="18" charset="0"/>
                              <a:ea typeface="微软雅黑" panose="020B0503020204020204" pitchFamily="34" charset="-122"/>
                            </a:rPr>
                            <m:t>𝑊</m:t>
                          </m:r>
                        </m:e>
                        <m:sup>
                          <m:r>
                            <a:rPr lang="en-US" altLang="zh-CN" sz="2000" b="0" i="1" kern="0" smtClean="0">
                              <a:solidFill>
                                <a:schemeClr val="bg1">
                                  <a:lumMod val="65000"/>
                                </a:schemeClr>
                              </a:solidFill>
                              <a:latin typeface="Cambria Math" panose="02040503050406030204" pitchFamily="18" charset="0"/>
                              <a:ea typeface="微软雅黑" panose="020B0503020204020204" pitchFamily="34" charset="-122"/>
                            </a:rPr>
                            <m:t>(1)</m:t>
                          </m:r>
                        </m:sup>
                      </m:sSup>
                    </m:oMath>
                  </m:oMathPara>
                </a14:m>
                <a:endParaRPr lang="en-US" altLang="zh-CN" sz="2000" kern="0" dirty="0">
                  <a:solidFill>
                    <a:schemeClr val="bg1">
                      <a:lumMod val="65000"/>
                    </a:schemeClr>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1" name="矩形 50"/>
              <p:cNvSpPr>
                <a:spLocks noRot="1" noChangeAspect="1" noMove="1" noResize="1" noEditPoints="1" noAdjustHandles="1" noChangeArrowheads="1" noChangeShapeType="1" noTextEdit="1"/>
              </p:cNvSpPr>
              <p:nvPr/>
            </p:nvSpPr>
            <p:spPr>
              <a:xfrm>
                <a:off x="3178360" y="2627473"/>
                <a:ext cx="417158" cy="573234"/>
              </a:xfrm>
              <a:prstGeom prst="rect">
                <a:avLst/>
              </a:prstGeom>
              <a:blipFill rotWithShape="0">
                <a:blip r:embed="rId5"/>
                <a:stretch>
                  <a:fillRect r="-434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p:cNvSpPr/>
              <p:nvPr/>
            </p:nvSpPr>
            <p:spPr>
              <a:xfrm>
                <a:off x="1875717" y="2158668"/>
                <a:ext cx="839775" cy="553998"/>
              </a:xfrm>
              <a:prstGeom prst="rect">
                <a:avLst/>
              </a:prstGeom>
            </p:spPr>
            <p:txBody>
              <a:bodyPr wrap="square">
                <a:spAutoFit/>
              </a:bodyPr>
              <a:lstStyle/>
              <a:p>
                <a:pPr algn="ctr">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solidFill>
                            <a:schemeClr val="bg1">
                              <a:lumMod val="50000"/>
                            </a:schemeClr>
                          </a:solidFill>
                          <a:latin typeface="Cambria Math" panose="02040503050406030204" pitchFamily="18" charset="0"/>
                          <a:ea typeface="微软雅黑 Light" panose="020B0502040204020203" pitchFamily="34" charset="-122"/>
                          <a:cs typeface="宋体" panose="02010600030101010101" pitchFamily="2" charset="-122"/>
                        </a:rPr>
                        <m:t>𝑋</m:t>
                      </m:r>
                    </m:oMath>
                  </m:oMathPara>
                </a14:m>
                <a:endParaRPr lang="en-US" altLang="zh-CN" sz="2000" i="1" kern="0" dirty="0">
                  <a:solidFill>
                    <a:schemeClr val="bg1">
                      <a:lumMod val="50000"/>
                    </a:schemeClr>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2" name="矩形 51"/>
              <p:cNvSpPr>
                <a:spLocks noRot="1" noChangeAspect="1" noMove="1" noResize="1" noEditPoints="1" noAdjustHandles="1" noChangeArrowheads="1" noChangeShapeType="1" noTextEdit="1"/>
              </p:cNvSpPr>
              <p:nvPr/>
            </p:nvSpPr>
            <p:spPr>
              <a:xfrm>
                <a:off x="1875717" y="2158668"/>
                <a:ext cx="839775" cy="553998"/>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矩形 52"/>
              <p:cNvSpPr/>
              <p:nvPr/>
            </p:nvSpPr>
            <p:spPr>
              <a:xfrm>
                <a:off x="5639930" y="1579976"/>
                <a:ext cx="2793970" cy="1129155"/>
              </a:xfrm>
              <a:prstGeom prst="rect">
                <a:avLst/>
              </a:prstGeom>
            </p:spPr>
            <p:txBody>
              <a:bodyPr wrap="square">
                <a:spAutoFit/>
              </a:bodyPr>
              <a:lstStyle/>
              <a:p>
                <a:pPr algn="just">
                  <a:lnSpc>
                    <a:spcPct val="150000"/>
                  </a:lnSpc>
                </a:pPr>
                <a:r>
                  <a:rPr lang="zh-CN" altLang="en-US" sz="1600" kern="0" dirty="0">
                    <a:ea typeface="微软雅黑 Light" panose="020B0502040204020203" pitchFamily="34" charset="-122"/>
                  </a:rPr>
                  <a:t>权值</a:t>
                </a:r>
                <a14:m>
                  <m:oMath xmlns:m="http://schemas.openxmlformats.org/officeDocument/2006/math">
                    <m:r>
                      <a:rPr lang="zh-CN" altLang="en-US" sz="1600" i="1" kern="0" smtClea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 </m:t>
                    </m:r>
                    <m:sSup>
                      <m:sSupPr>
                        <m:ctrlPr>
                          <a:rPr lang="en-US" altLang="zh-CN" sz="1600" i="1" kern="0" smtClean="0">
                            <a:latin typeface="Cambria Math" panose="02040503050406030204" pitchFamily="18" charset="0"/>
                            <a:ea typeface="微软雅黑" panose="020B0503020204020204" pitchFamily="34" charset="-122"/>
                          </a:rPr>
                        </m:ctrlPr>
                      </m:sSupPr>
                      <m:e>
                        <m:r>
                          <a:rPr lang="en-US" altLang="zh-CN" sz="1600" b="0" i="1" kern="0" smtClean="0">
                            <a:latin typeface="Cambria Math" panose="02040503050406030204" pitchFamily="18" charset="0"/>
                            <a:ea typeface="微软雅黑" panose="020B0503020204020204" pitchFamily="34" charset="-122"/>
                          </a:rPr>
                          <m:t>𝑊</m:t>
                        </m:r>
                      </m:e>
                      <m:sup>
                        <m:d>
                          <m:dPr>
                            <m:ctrlPr>
                              <a:rPr lang="en-US" altLang="zh-CN" sz="1600" i="1" kern="0">
                                <a:latin typeface="Cambria Math" panose="02040503050406030204" pitchFamily="18" charset="0"/>
                                <a:ea typeface="微软雅黑" panose="020B0503020204020204" pitchFamily="34" charset="-122"/>
                              </a:rPr>
                            </m:ctrlPr>
                          </m:dPr>
                          <m:e>
                            <m:r>
                              <a:rPr lang="en-US" altLang="zh-CN" sz="1600" b="0" i="1" kern="0" smtClean="0">
                                <a:latin typeface="Cambria Math" panose="02040503050406030204" pitchFamily="18" charset="0"/>
                                <a:ea typeface="微软雅黑" panose="020B0503020204020204" pitchFamily="34" charset="-122"/>
                              </a:rPr>
                              <m:t>2</m:t>
                            </m:r>
                          </m:e>
                        </m:d>
                      </m:sup>
                    </m:sSup>
                    <m:r>
                      <a:rPr lang="en-US" altLang="zh-CN" sz="1600" b="0" i="0" kern="0" smtClean="0">
                        <a:latin typeface="Cambria Math" panose="02040503050406030204" pitchFamily="18" charset="0"/>
                        <a:ea typeface="微软雅黑" panose="020B0503020204020204" pitchFamily="34" charset="-122"/>
                      </a:rPr>
                      <m:t>=</m:t>
                    </m:r>
                    <m:d>
                      <m:dPr>
                        <m:begChr m:val="["/>
                        <m:endChr m:val="]"/>
                        <m:ctrlPr>
                          <a:rPr lang="en-US" altLang="zh-CN" sz="1600" b="0" i="1" kern="0" smtClea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sz="1600" i="1" kern="0">
                                <a:latin typeface="Cambria Math" panose="02040503050406030204" pitchFamily="18" charset="0"/>
                                <a:ea typeface="微软雅黑" panose="020B0503020204020204" pitchFamily="34" charset="-122"/>
                              </a:rPr>
                            </m:ctrlPr>
                          </m:mPr>
                          <m:mr>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1,1</m:t>
                                  </m:r>
                                </m:sub>
                                <m:sup>
                                  <m:r>
                                    <a:rPr lang="en-US" altLang="zh-CN" sz="1600" i="1" kern="0">
                                      <a:latin typeface="Cambria Math" panose="02040503050406030204" pitchFamily="18" charset="0"/>
                                      <a:ea typeface="微软雅黑" panose="020B0503020204020204" pitchFamily="34" charset="-122"/>
                                    </a:rPr>
                                    <m:t>(2)</m:t>
                                  </m:r>
                                </m:sup>
                              </m:sSubSup>
                            </m:e>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b="0" i="1" kern="0" smtClean="0">
                                      <a:latin typeface="Cambria Math" panose="02040503050406030204" pitchFamily="18" charset="0"/>
                                      <a:ea typeface="微软雅黑" panose="020B0503020204020204" pitchFamily="34" charset="-122"/>
                                    </a:rPr>
                                    <m:t>1</m:t>
                                  </m:r>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2</m:t>
                                  </m:r>
                                </m:sub>
                                <m:sup>
                                  <m:r>
                                    <a:rPr lang="en-US" altLang="zh-CN" sz="1600" i="1" kern="0">
                                      <a:latin typeface="Cambria Math" panose="02040503050406030204" pitchFamily="18" charset="0"/>
                                      <a:ea typeface="微软雅黑" panose="020B0503020204020204" pitchFamily="34" charset="-122"/>
                                    </a:rPr>
                                    <m:t>(2)</m:t>
                                  </m:r>
                                </m:sup>
                              </m:sSubSup>
                            </m:e>
                          </m:mr>
                          <m:mr>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b="0" i="1" kern="0" smtClean="0">
                                      <a:latin typeface="Cambria Math" panose="02040503050406030204" pitchFamily="18" charset="0"/>
                                      <a:ea typeface="微软雅黑" panose="020B0503020204020204" pitchFamily="34" charset="-122"/>
                                    </a:rPr>
                                    <m:t>2</m:t>
                                  </m:r>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1</m:t>
                                  </m:r>
                                </m:sub>
                                <m:sup>
                                  <m:r>
                                    <a:rPr lang="en-US" altLang="zh-CN" sz="1600" i="1" kern="0">
                                      <a:latin typeface="Cambria Math" panose="02040503050406030204" pitchFamily="18" charset="0"/>
                                      <a:ea typeface="微软雅黑" panose="020B0503020204020204" pitchFamily="34" charset="-122"/>
                                    </a:rPr>
                                    <m:t>(2)</m:t>
                                  </m:r>
                                </m:sup>
                              </m:sSubSup>
                            </m:e>
                            <m:e>
                              <m:sSubSup>
                                <m:sSubSupPr>
                                  <m:ctrlPr>
                                    <a:rPr lang="en-US" altLang="zh-CN" sz="1600" i="1" kern="0">
                                      <a:latin typeface="Cambria Math" panose="02040503050406030204" pitchFamily="18" charset="0"/>
                                      <a:ea typeface="微软雅黑" panose="020B0503020204020204" pitchFamily="34" charset="-122"/>
                                    </a:rPr>
                                  </m:ctrlPr>
                                </m:sSubSupPr>
                                <m:e>
                                  <m:r>
                                    <a:rPr lang="en-US" altLang="zh-CN" sz="1600" i="1" kern="0">
                                      <a:latin typeface="Cambria Math" panose="02040503050406030204" pitchFamily="18" charset="0"/>
                                      <a:ea typeface="微软雅黑" panose="020B0503020204020204" pitchFamily="34" charset="-122"/>
                                    </a:rPr>
                                    <m:t>𝑤</m:t>
                                  </m:r>
                                </m:e>
                                <m:sub>
                                  <m:r>
                                    <a:rPr lang="en-US" altLang="zh-CN" sz="1600" i="1" kern="0">
                                      <a:latin typeface="Cambria Math" panose="02040503050406030204" pitchFamily="18" charset="0"/>
                                      <a:ea typeface="微软雅黑" panose="020B0503020204020204" pitchFamily="34" charset="-122"/>
                                    </a:rPr>
                                    <m:t>2,2</m:t>
                                  </m:r>
                                </m:sub>
                                <m:sup>
                                  <m:r>
                                    <a:rPr lang="en-US" altLang="zh-CN" sz="1600" i="1" kern="0">
                                      <a:latin typeface="Cambria Math" panose="02040503050406030204" pitchFamily="18" charset="0"/>
                                      <a:ea typeface="微软雅黑" panose="020B0503020204020204" pitchFamily="34" charset="-122"/>
                                    </a:rPr>
                                    <m:t>(2)</m:t>
                                  </m:r>
                                </m:sup>
                              </m:sSubSup>
                            </m:e>
                          </m:mr>
                        </m:m>
                      </m:e>
                    </m:d>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3" name="矩形 52"/>
              <p:cNvSpPr>
                <a:spLocks noRot="1" noChangeAspect="1" noMove="1" noResize="1" noEditPoints="1" noAdjustHandles="1" noChangeArrowheads="1" noChangeShapeType="1" noTextEdit="1"/>
              </p:cNvSpPr>
              <p:nvPr/>
            </p:nvSpPr>
            <p:spPr>
              <a:xfrm>
                <a:off x="5639930" y="1579976"/>
                <a:ext cx="2793970" cy="1129155"/>
              </a:xfrm>
              <a:prstGeom prst="rect">
                <a:avLst/>
              </a:prstGeom>
              <a:blipFill rotWithShape="0">
                <a:blip r:embed="rId7"/>
                <a:stretch>
                  <a:fillRect l="-1089"/>
                </a:stretch>
              </a:blipFill>
            </p:spPr>
            <p:txBody>
              <a:bodyPr/>
              <a:lstStyle/>
              <a:p>
                <a:r>
                  <a:rPr lang="zh-CN" altLang="en-US">
                    <a:noFill/>
                  </a:rPr>
                  <a:t> </a:t>
                </a:r>
              </a:p>
            </p:txBody>
          </p:sp>
        </mc:Fallback>
      </mc:AlternateContent>
      <p:sp>
        <p:nvSpPr>
          <p:cNvPr id="54" name="矩形 53"/>
          <p:cNvSpPr/>
          <p:nvPr/>
        </p:nvSpPr>
        <p:spPr>
          <a:xfrm>
            <a:off x="4240631" y="2340555"/>
            <a:ext cx="969733" cy="41979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隐层</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5" name="矩形 54"/>
              <p:cNvSpPr/>
              <p:nvPr/>
            </p:nvSpPr>
            <p:spPr>
              <a:xfrm>
                <a:off x="4274063" y="2692161"/>
                <a:ext cx="559885" cy="553998"/>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000" i="1" kern="0" smtClean="0">
                          <a:latin typeface="Cambria Math" panose="02040503050406030204" pitchFamily="18" charset="0"/>
                          <a:ea typeface="微软雅黑" panose="020B0503020204020204" pitchFamily="34" charset="-122"/>
                        </a:rPr>
                        <m:t>𝐻</m:t>
                      </m:r>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5" name="矩形 54"/>
              <p:cNvSpPr>
                <a:spLocks noRot="1" noChangeAspect="1" noMove="1" noResize="1" noEditPoints="1" noAdjustHandles="1" noChangeArrowheads="1" noChangeShapeType="1" noTextEdit="1"/>
              </p:cNvSpPr>
              <p:nvPr/>
            </p:nvSpPr>
            <p:spPr>
              <a:xfrm>
                <a:off x="4274063" y="2692161"/>
                <a:ext cx="559885" cy="553998"/>
              </a:xfrm>
              <a:prstGeom prst="rect">
                <a:avLst/>
              </a:prstGeom>
              <a:blipFill rotWithShape="0">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矩形 55"/>
              <p:cNvSpPr/>
              <p:nvPr/>
            </p:nvSpPr>
            <p:spPr>
              <a:xfrm>
                <a:off x="5194727" y="3062609"/>
                <a:ext cx="822544" cy="57323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latin typeface="Cambria Math" panose="02040503050406030204" pitchFamily="18" charset="0"/>
                              <a:ea typeface="微软雅黑" panose="020B0503020204020204" pitchFamily="34" charset="-122"/>
                            </a:rPr>
                          </m:ctrlPr>
                        </m:sSupPr>
                        <m:e>
                          <m:r>
                            <a:rPr lang="en-US" altLang="zh-CN" sz="2000" b="0" i="1" kern="0" smtClean="0">
                              <a:latin typeface="Cambria Math" panose="02040503050406030204" pitchFamily="18" charset="0"/>
                              <a:ea typeface="微软雅黑" panose="020B0503020204020204" pitchFamily="34" charset="-122"/>
                            </a:rPr>
                            <m:t>𝑊</m:t>
                          </m:r>
                        </m:e>
                        <m:sup>
                          <m:r>
                            <a:rPr lang="en-US" altLang="zh-CN" sz="2000" b="0" i="1" kern="0" smtClean="0">
                              <a:latin typeface="Cambria Math" panose="02040503050406030204" pitchFamily="18" charset="0"/>
                              <a:ea typeface="微软雅黑" panose="020B0503020204020204" pitchFamily="34" charset="-122"/>
                            </a:rPr>
                            <m:t>(2)</m:t>
                          </m:r>
                        </m:sup>
                      </m:sSup>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6" name="矩形 55"/>
              <p:cNvSpPr>
                <a:spLocks noRot="1" noChangeAspect="1" noMove="1" noResize="1" noEditPoints="1" noAdjustHandles="1" noChangeArrowheads="1" noChangeShapeType="1" noTextEdit="1"/>
              </p:cNvSpPr>
              <p:nvPr/>
            </p:nvSpPr>
            <p:spPr>
              <a:xfrm>
                <a:off x="5194727" y="3062609"/>
                <a:ext cx="822544" cy="573234"/>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矩形 56"/>
              <p:cNvSpPr/>
              <p:nvPr/>
            </p:nvSpPr>
            <p:spPr>
              <a:xfrm>
                <a:off x="5624578" y="1503860"/>
                <a:ext cx="3639538" cy="486672"/>
              </a:xfrm>
              <a:prstGeom prst="rect">
                <a:avLst/>
              </a:prstGeom>
            </p:spPr>
            <p:txBody>
              <a:bodyPr wrap="square">
                <a:spAutoFit/>
              </a:bodyPr>
              <a:lstStyle/>
              <a:p>
                <a:pPr algn="just">
                  <a:lnSpc>
                    <a:spcPct val="150000"/>
                  </a:lnSpc>
                </a:pPr>
                <a:r>
                  <a:rPr lang="zh-CN" altLang="en-US" sz="1600" kern="0" dirty="0">
                    <a:ea typeface="微软雅黑 Light" panose="020B0502040204020203" pitchFamily="34" charset="-122"/>
                  </a:rPr>
                  <a:t>输入</a:t>
                </a:r>
                <a14:m>
                  <m:oMath xmlns:m="http://schemas.openxmlformats.org/officeDocument/2006/math">
                    <m:r>
                      <a:rPr lang="zh-CN" altLang="en-US" sz="1600" b="0" i="1" kern="0" dirty="0">
                        <a:latin typeface="Cambria Math" panose="02040503050406030204" pitchFamily="18" charset="0"/>
                        <a:ea typeface="微软雅黑" panose="020B0503020204020204" pitchFamily="34" charset="-122"/>
                      </a:rPr>
                      <m:t>：</m:t>
                    </m:r>
                    <m:r>
                      <a:rPr lang="en-US" altLang="zh-CN" sz="1600" b="0" i="0" kern="0" smtClean="0">
                        <a:latin typeface="Cambria Math" panose="02040503050406030204" pitchFamily="18" charset="0"/>
                        <a:ea typeface="微软雅黑" panose="020B0503020204020204" pitchFamily="34" charset="-122"/>
                      </a:rPr>
                      <m:t> </m:t>
                    </m:r>
                    <m:r>
                      <a:rPr lang="en-US" altLang="zh-CN" sz="1600" b="0" i="1" kern="0" smtClean="0">
                        <a:latin typeface="Cambria Math" panose="02040503050406030204" pitchFamily="18" charset="0"/>
                        <a:ea typeface="微软雅黑" panose="020B0503020204020204" pitchFamily="34" charset="-122"/>
                      </a:rPr>
                      <m:t> </m:t>
                    </m:r>
                    <m:r>
                      <a:rPr lang="en-US" altLang="zh-CN" sz="1600" b="1" i="1" kern="0" smtClean="0">
                        <a:latin typeface="Cambria Math" panose="02040503050406030204" pitchFamily="18" charset="0"/>
                        <a:ea typeface="微软雅黑" panose="020B0503020204020204" pitchFamily="34" charset="-122"/>
                      </a:rPr>
                      <m:t>𝒉</m:t>
                    </m:r>
                    <m:r>
                      <a:rPr lang="en-US" altLang="zh-CN" sz="1600" b="0" i="1" kern="0" smtClean="0">
                        <a:latin typeface="Cambria Math" panose="02040503050406030204" pitchFamily="18" charset="0"/>
                        <a:ea typeface="微软雅黑" panose="020B0503020204020204" pitchFamily="34" charset="-122"/>
                      </a:rPr>
                      <m:t>=</m:t>
                    </m:r>
                    <m:r>
                      <a:rPr lang="en-US" altLang="zh-CN" sz="1600" i="1" kern="0">
                        <a:latin typeface="Cambria Math" panose="02040503050406030204" pitchFamily="18" charset="0"/>
                        <a:ea typeface="微软雅黑" panose="020B0503020204020204" pitchFamily="34" charset="-122"/>
                      </a:rPr>
                      <m:t>𝐺</m:t>
                    </m:r>
                    <m:r>
                      <a:rPr lang="en-US" altLang="zh-CN" sz="1600" i="1" kern="0">
                        <a:latin typeface="Cambria Math" panose="02040503050406030204" pitchFamily="18" charset="0"/>
                        <a:ea typeface="微软雅黑" panose="020B0503020204020204" pitchFamily="34" charset="-122"/>
                      </a:rPr>
                      <m:t>(</m:t>
                    </m:r>
                    <m:sSup>
                      <m:sSupPr>
                        <m:ctrlPr>
                          <a:rPr lang="en-US" altLang="zh-CN" sz="1600" i="1" kern="0">
                            <a:latin typeface="Cambria Math" panose="02040503050406030204" pitchFamily="18" charset="0"/>
                            <a:ea typeface="微软雅黑" panose="020B0503020204020204" pitchFamily="34" charset="-122"/>
                          </a:rPr>
                        </m:ctrlPr>
                      </m:sSupPr>
                      <m:e>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i="1" kern="0">
                                <a:latin typeface="Cambria Math" panose="02040503050406030204" pitchFamily="18" charset="0"/>
                                <a:ea typeface="微软雅黑" panose="020B0503020204020204" pitchFamily="34" charset="-122"/>
                              </a:rPr>
                              <m:t>𝑊</m:t>
                            </m:r>
                          </m:e>
                          <m:sup>
                            <m:r>
                              <a:rPr lang="en-US" altLang="zh-CN" sz="1600" i="1" kern="0">
                                <a:latin typeface="Cambria Math" panose="02040503050406030204" pitchFamily="18" charset="0"/>
                                <a:ea typeface="微软雅黑" panose="020B0503020204020204" pitchFamily="34" charset="-122"/>
                              </a:rPr>
                              <m:t>(1)</m:t>
                            </m:r>
                          </m:sup>
                        </m:sSup>
                      </m:e>
                      <m:sup>
                        <m:r>
                          <a:rPr lang="en-US" altLang="zh-CN" sz="1600" i="1" kern="0">
                            <a:latin typeface="Cambria Math" panose="02040503050406030204" pitchFamily="18" charset="0"/>
                            <a:ea typeface="微软雅黑" panose="020B0503020204020204" pitchFamily="34" charset="-122"/>
                          </a:rPr>
                          <m:t>𝑇</m:t>
                        </m:r>
                      </m:sup>
                    </m:sSup>
                    <m:r>
                      <a:rPr lang="en-US" altLang="zh-CN" sz="1600" b="1" i="1" kern="0">
                        <a:latin typeface="Cambria Math" panose="02040503050406030204" pitchFamily="18" charset="0"/>
                        <a:ea typeface="微软雅黑" panose="020B0503020204020204" pitchFamily="34" charset="-122"/>
                      </a:rPr>
                      <m:t>𝒙</m:t>
                    </m:r>
                    <m:r>
                      <a:rPr lang="en-US" altLang="zh-CN" sz="1600" i="1" kern="0">
                        <a:latin typeface="Cambria Math" panose="02040503050406030204" pitchFamily="18" charset="0"/>
                        <a:ea typeface="微软雅黑" panose="020B0503020204020204" pitchFamily="34" charset="-122"/>
                      </a:rPr>
                      <m:t>)</m:t>
                    </m:r>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7" name="矩形 56"/>
              <p:cNvSpPr>
                <a:spLocks noRot="1" noChangeAspect="1" noMove="1" noResize="1" noEditPoints="1" noAdjustHandles="1" noChangeArrowheads="1" noChangeShapeType="1" noTextEdit="1"/>
              </p:cNvSpPr>
              <p:nvPr/>
            </p:nvSpPr>
            <p:spPr>
              <a:xfrm>
                <a:off x="5624578" y="1503860"/>
                <a:ext cx="3639538" cy="486672"/>
              </a:xfrm>
              <a:prstGeom prst="rect">
                <a:avLst/>
              </a:prstGeom>
              <a:blipFill rotWithShape="0">
                <a:blip r:embed="rId10"/>
                <a:stretch>
                  <a:fillRect l="-1005" b="-15000"/>
                </a:stretch>
              </a:blipFill>
            </p:spPr>
            <p:txBody>
              <a:bodyPr/>
              <a:lstStyle/>
              <a:p>
                <a:r>
                  <a:rPr lang="zh-CN" altLang="en-US">
                    <a:noFill/>
                  </a:rPr>
                  <a:t> </a:t>
                </a:r>
              </a:p>
            </p:txBody>
          </p:sp>
        </mc:Fallback>
      </mc:AlternateContent>
      <p:sp>
        <p:nvSpPr>
          <p:cNvPr id="58" name="矩形 57"/>
          <p:cNvSpPr/>
          <p:nvPr/>
        </p:nvSpPr>
        <p:spPr>
          <a:xfrm>
            <a:off x="6260486" y="2835927"/>
            <a:ext cx="969733" cy="418191"/>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输出层</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9" name="矩形 58"/>
              <p:cNvSpPr/>
              <p:nvPr/>
            </p:nvSpPr>
            <p:spPr>
              <a:xfrm>
                <a:off x="6322568" y="3065036"/>
                <a:ext cx="702159" cy="553998"/>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latin typeface="Cambria Math" panose="02040503050406030204" pitchFamily="18" charset="0"/>
                          <a:ea typeface="微软雅黑 Light" panose="020B0502040204020203" pitchFamily="34" charset="-122"/>
                          <a:cs typeface="宋体" panose="02010600030101010101" pitchFamily="2" charset="-122"/>
                        </a:rPr>
                        <m:t>𝑌</m:t>
                      </m:r>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9" name="矩形 58"/>
              <p:cNvSpPr>
                <a:spLocks noRot="1" noChangeAspect="1" noMove="1" noResize="1" noEditPoints="1" noAdjustHandles="1" noChangeArrowheads="1" noChangeShapeType="1" noTextEdit="1"/>
              </p:cNvSpPr>
              <p:nvPr/>
            </p:nvSpPr>
            <p:spPr>
              <a:xfrm>
                <a:off x="6322568" y="3065036"/>
                <a:ext cx="702159" cy="553998"/>
              </a:xfrm>
              <a:prstGeom prst="rect">
                <a:avLst/>
              </a:prstGeom>
              <a:blipFill rotWithShape="0">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矩形 59"/>
              <p:cNvSpPr/>
              <p:nvPr/>
            </p:nvSpPr>
            <p:spPr>
              <a:xfrm>
                <a:off x="5724128" y="4939238"/>
                <a:ext cx="2793970" cy="550151"/>
              </a:xfrm>
              <a:prstGeom prst="rect">
                <a:avLst/>
              </a:prstGeom>
            </p:spPr>
            <p:txBody>
              <a:bodyPr wrap="square">
                <a:spAutoFit/>
              </a:bodyPr>
              <a:lstStyle/>
              <a:p>
                <a:pPr algn="just">
                  <a:lnSpc>
                    <a:spcPct val="150000"/>
                  </a:lnSpc>
                </a:pPr>
                <a:r>
                  <a:rPr lang="zh-CN" altLang="en-US" sz="1600" kern="0" dirty="0">
                    <a:ea typeface="微软雅黑 Light" panose="020B0502040204020203" pitchFamily="34" charset="-122"/>
                  </a:rPr>
                  <a:t>输出</a:t>
                </a:r>
                <a14:m>
                  <m:oMath xmlns:m="http://schemas.openxmlformats.org/officeDocument/2006/math">
                    <m:r>
                      <a:rPr lang="zh-CN" altLang="en-US" sz="1600" i="1" kern="0" smtClean="0">
                        <a:latin typeface="Cambria Math" panose="02040503050406030204" pitchFamily="18" charset="0"/>
                        <a:ea typeface="微软雅黑" panose="020B0503020204020204" pitchFamily="34" charset="-122"/>
                      </a:rPr>
                      <m:t>：</m:t>
                    </m:r>
                    <m:r>
                      <a:rPr lang="en-US" altLang="zh-CN" sz="1600" b="1" i="1" kern="0" smtClean="0">
                        <a:latin typeface="Cambria Math" panose="02040503050406030204" pitchFamily="18" charset="0"/>
                        <a:ea typeface="微软雅黑" panose="020B0503020204020204" pitchFamily="34" charset="-122"/>
                      </a:rPr>
                      <m:t>𝒚</m:t>
                    </m:r>
                    <m:r>
                      <a:rPr lang="en-US" altLang="zh-CN" sz="1600" b="0" i="1" kern="0" smtClean="0">
                        <a:latin typeface="Cambria Math" panose="02040503050406030204" pitchFamily="18" charset="0"/>
                        <a:ea typeface="微软雅黑" panose="020B0503020204020204" pitchFamily="34" charset="-122"/>
                      </a:rPr>
                      <m:t>=</m:t>
                    </m:r>
                    <m:r>
                      <a:rPr lang="en-US" altLang="zh-CN" sz="1600" i="1" kern="0">
                        <a:latin typeface="Cambria Math" panose="02040503050406030204" pitchFamily="18" charset="0"/>
                        <a:ea typeface="微软雅黑" panose="020B0503020204020204" pitchFamily="34" charset="-122"/>
                      </a:rPr>
                      <m:t>𝐺</m:t>
                    </m:r>
                    <m:r>
                      <a:rPr lang="en-US" altLang="zh-CN" sz="1600" i="1" kern="0">
                        <a:latin typeface="Cambria Math" panose="02040503050406030204" pitchFamily="18" charset="0"/>
                        <a:ea typeface="微软雅黑" panose="020B0503020204020204" pitchFamily="34" charset="-122"/>
                      </a:rPr>
                      <m:t>(</m:t>
                    </m:r>
                    <m:sSup>
                      <m:sSupPr>
                        <m:ctrlPr>
                          <a:rPr lang="en-US" altLang="zh-CN" sz="1600" i="1" kern="0">
                            <a:latin typeface="Cambria Math" panose="02040503050406030204" pitchFamily="18" charset="0"/>
                            <a:ea typeface="微软雅黑" panose="020B0503020204020204" pitchFamily="34" charset="-122"/>
                          </a:rPr>
                        </m:ctrlPr>
                      </m:sSupPr>
                      <m:e>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i="1" kern="0">
                                <a:latin typeface="Cambria Math" panose="02040503050406030204" pitchFamily="18" charset="0"/>
                                <a:ea typeface="微软雅黑" panose="020B0503020204020204" pitchFamily="34" charset="-122"/>
                              </a:rPr>
                              <m:t>𝑊</m:t>
                            </m:r>
                          </m:e>
                          <m:sup>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2</m:t>
                            </m:r>
                            <m:r>
                              <a:rPr lang="en-US" altLang="zh-CN" sz="1600" i="1" kern="0">
                                <a:latin typeface="Cambria Math" panose="02040503050406030204" pitchFamily="18" charset="0"/>
                                <a:ea typeface="微软雅黑" panose="020B0503020204020204" pitchFamily="34" charset="-122"/>
                              </a:rPr>
                              <m:t>)</m:t>
                            </m:r>
                          </m:sup>
                        </m:sSup>
                      </m:e>
                      <m:sup>
                        <m:r>
                          <a:rPr lang="en-US" altLang="zh-CN" sz="1600" i="1" kern="0">
                            <a:latin typeface="Cambria Math" panose="02040503050406030204" pitchFamily="18" charset="0"/>
                            <a:ea typeface="微软雅黑" panose="020B0503020204020204" pitchFamily="34" charset="-122"/>
                          </a:rPr>
                          <m:t>𝑇</m:t>
                        </m:r>
                      </m:sup>
                    </m:sSup>
                    <m:r>
                      <a:rPr lang="en-US" altLang="zh-CN" sz="1600" b="1" i="1" kern="0" smtClean="0">
                        <a:latin typeface="Cambria Math" panose="02040503050406030204" pitchFamily="18" charset="0"/>
                        <a:ea typeface="微软雅黑" panose="020B0503020204020204" pitchFamily="34" charset="-122"/>
                      </a:rPr>
                      <m:t>𝒉</m:t>
                    </m:r>
                    <m:r>
                      <a:rPr lang="en-US" altLang="zh-CN" sz="1600" i="1" kern="0">
                        <a:latin typeface="Cambria Math" panose="02040503050406030204" pitchFamily="18" charset="0"/>
                        <a:ea typeface="微软雅黑" panose="020B0503020204020204" pitchFamily="34" charset="-122"/>
                      </a:rPr>
                      <m:t>)</m:t>
                    </m:r>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60" name="矩形 59"/>
              <p:cNvSpPr>
                <a:spLocks noRot="1" noChangeAspect="1" noMove="1" noResize="1" noEditPoints="1" noAdjustHandles="1" noChangeArrowheads="1" noChangeShapeType="1" noTextEdit="1"/>
              </p:cNvSpPr>
              <p:nvPr/>
            </p:nvSpPr>
            <p:spPr>
              <a:xfrm>
                <a:off x="5724128" y="4939238"/>
                <a:ext cx="2793970" cy="550151"/>
              </a:xfrm>
              <a:prstGeom prst="rect">
                <a:avLst/>
              </a:prstGeom>
              <a:blipFill rotWithShape="0">
                <a:blip r:embed="rId12"/>
                <a:stretch>
                  <a:fillRect l="-1310" b="-2222"/>
                </a:stretch>
              </a:blipFill>
            </p:spPr>
            <p:txBody>
              <a:bodyPr/>
              <a:lstStyle/>
              <a:p>
                <a:r>
                  <a:rPr lang="zh-CN" altLang="en-US">
                    <a:noFill/>
                  </a:rPr>
                  <a:t> </a:t>
                </a:r>
              </a:p>
            </p:txBody>
          </p:sp>
        </mc:Fallback>
      </mc:AlternateContent>
      <p:cxnSp>
        <p:nvCxnSpPr>
          <p:cNvPr id="61" name="直接箭头连接符 60"/>
          <p:cNvCxnSpPr/>
          <p:nvPr/>
        </p:nvCxnSpPr>
        <p:spPr>
          <a:xfrm flipV="1">
            <a:off x="6921785" y="5381784"/>
            <a:ext cx="0" cy="246595"/>
          </a:xfrm>
          <a:prstGeom prst="straightConnector1">
            <a:avLst/>
          </a:prstGeom>
          <a:noFill/>
          <a:ln w="15875" cap="flat" cmpd="sng">
            <a:solidFill>
              <a:srgbClr val="FF0000"/>
            </a:solidFill>
            <a:prstDash val="solid"/>
            <a:round/>
            <a:headEnd/>
            <a:tailEnd type="triangle"/>
          </a:ln>
          <a:effectLst/>
        </p:spPr>
      </p:cxnSp>
      <p:sp>
        <p:nvSpPr>
          <p:cNvPr id="62" name="矩形 61"/>
          <p:cNvSpPr/>
          <p:nvPr/>
        </p:nvSpPr>
        <p:spPr>
          <a:xfrm>
            <a:off x="6876256" y="5321713"/>
            <a:ext cx="1070639" cy="41979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激活函数</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63" name="直接箭头连接符 62"/>
          <p:cNvCxnSpPr/>
          <p:nvPr/>
        </p:nvCxnSpPr>
        <p:spPr>
          <a:xfrm>
            <a:off x="6937021" y="3751047"/>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64" name="直接箭头连接符 63"/>
          <p:cNvCxnSpPr/>
          <p:nvPr/>
        </p:nvCxnSpPr>
        <p:spPr>
          <a:xfrm>
            <a:off x="6937021" y="4543544"/>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67" name="灯片编号占位符 8">
            <a:extLst>
              <a:ext uri="{FF2B5EF4-FFF2-40B4-BE49-F238E27FC236}">
                <a16:creationId xmlns:a16="http://schemas.microsoft.com/office/drawing/2014/main" id="{9821D5CB-0AD2-446A-AD6F-0E24D62404F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24</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57674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多层感知机</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偏置节点</a:t>
            </a:r>
            <a:endParaRPr lang="en-US" altLang="zh-CN" sz="2600" b="1" dirty="0"/>
          </a:p>
        </p:txBody>
      </p:sp>
      <p:sp>
        <p:nvSpPr>
          <p:cNvPr id="65" name="椭圆 64"/>
          <p:cNvSpPr/>
          <p:nvPr/>
        </p:nvSpPr>
        <p:spPr>
          <a:xfrm>
            <a:off x="2047417" y="2391033"/>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rot="20281288">
            <a:off x="6434642" y="3232364"/>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rot="21061334">
            <a:off x="4340673" y="2991750"/>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rot="922928">
            <a:off x="2047417" y="3662745"/>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rot="218974">
            <a:off x="4357092" y="4218378"/>
            <a:ext cx="576064" cy="568405"/>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2047417" y="4934456"/>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1" name="直接箭头连接符 70"/>
          <p:cNvCxnSpPr>
            <a:stCxn id="65" idx="6"/>
            <a:endCxn id="67" idx="1"/>
          </p:cNvCxnSpPr>
          <p:nvPr/>
        </p:nvCxnSpPr>
        <p:spPr>
          <a:xfrm>
            <a:off x="2623481" y="2679065"/>
            <a:ext cx="1772267" cy="43132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72" name="直接箭头连接符 71"/>
          <p:cNvCxnSpPr>
            <a:stCxn id="65" idx="5"/>
            <a:endCxn id="69" idx="1"/>
          </p:cNvCxnSpPr>
          <p:nvPr/>
        </p:nvCxnSpPr>
        <p:spPr>
          <a:xfrm>
            <a:off x="2539118" y="2882734"/>
            <a:ext cx="1915542" cy="140632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73" name="直接箭头连接符 72"/>
          <p:cNvCxnSpPr>
            <a:stCxn id="68" idx="7"/>
            <a:endCxn id="67" idx="2"/>
          </p:cNvCxnSpPr>
          <p:nvPr/>
        </p:nvCxnSpPr>
        <p:spPr>
          <a:xfrm flipV="1">
            <a:off x="2585847" y="3324730"/>
            <a:ext cx="1758355" cy="48369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74" name="直接箭头连接符 73"/>
          <p:cNvCxnSpPr>
            <a:stCxn id="70" idx="7"/>
            <a:endCxn id="67" idx="3"/>
          </p:cNvCxnSpPr>
          <p:nvPr/>
        </p:nvCxnSpPr>
        <p:spPr>
          <a:xfrm flipV="1">
            <a:off x="2539118" y="3512739"/>
            <a:ext cx="1920196" cy="150608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75" name="直接箭头连接符 74"/>
          <p:cNvCxnSpPr>
            <a:stCxn id="68" idx="6"/>
            <a:endCxn id="69" idx="2"/>
          </p:cNvCxnSpPr>
          <p:nvPr/>
        </p:nvCxnSpPr>
        <p:spPr>
          <a:xfrm>
            <a:off x="2613163" y="4027179"/>
            <a:ext cx="1744513" cy="45706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76" name="直接箭头连接符 75"/>
          <p:cNvCxnSpPr>
            <a:stCxn id="70" idx="6"/>
            <a:endCxn id="69" idx="3"/>
          </p:cNvCxnSpPr>
          <p:nvPr/>
        </p:nvCxnSpPr>
        <p:spPr>
          <a:xfrm flipV="1">
            <a:off x="2623481" y="4690170"/>
            <a:ext cx="1805595" cy="53231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77" name="直接箭头连接符 76"/>
          <p:cNvCxnSpPr>
            <a:stCxn id="67" idx="6"/>
            <a:endCxn id="66" idx="1"/>
          </p:cNvCxnSpPr>
          <p:nvPr/>
        </p:nvCxnSpPr>
        <p:spPr>
          <a:xfrm>
            <a:off x="4913208" y="3234834"/>
            <a:ext cx="1544374" cy="17292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78" name="直接箭头连接符 77"/>
          <p:cNvCxnSpPr>
            <a:stCxn id="69" idx="7"/>
            <a:endCxn id="66" idx="2"/>
          </p:cNvCxnSpPr>
          <p:nvPr/>
        </p:nvCxnSpPr>
        <p:spPr>
          <a:xfrm flipV="1">
            <a:off x="4861172" y="3628195"/>
            <a:ext cx="1594403" cy="686796"/>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79" name="椭圆 78"/>
          <p:cNvSpPr/>
          <p:nvPr/>
        </p:nvSpPr>
        <p:spPr>
          <a:xfrm rot="1533250">
            <a:off x="6434642" y="3998221"/>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0" name="直接箭头连接符 79"/>
          <p:cNvCxnSpPr>
            <a:stCxn id="67" idx="5"/>
            <a:endCxn id="79" idx="2"/>
          </p:cNvCxnSpPr>
          <p:nvPr/>
        </p:nvCxnSpPr>
        <p:spPr>
          <a:xfrm>
            <a:off x="4861662" y="3449173"/>
            <a:ext cx="1601156" cy="712833"/>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81" name="直接箭头连接符 80"/>
          <p:cNvCxnSpPr>
            <a:stCxn id="69" idx="6"/>
            <a:endCxn id="79" idx="3"/>
          </p:cNvCxnSpPr>
          <p:nvPr/>
        </p:nvCxnSpPr>
        <p:spPr>
          <a:xfrm flipV="1">
            <a:off x="4932572" y="4382143"/>
            <a:ext cx="1518501" cy="138772"/>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82" name="矩形 81"/>
          <p:cNvSpPr/>
          <p:nvPr/>
        </p:nvSpPr>
        <p:spPr>
          <a:xfrm>
            <a:off x="1954443" y="1714665"/>
            <a:ext cx="969733" cy="418191"/>
          </a:xfrm>
          <a:prstGeom prst="rect">
            <a:avLst/>
          </a:prstGeom>
        </p:spPr>
        <p:txBody>
          <a:bodyPr wrap="square">
            <a:spAutoFit/>
          </a:bodyPr>
          <a:lstStyle/>
          <a:p>
            <a:pPr algn="just">
              <a:lnSpc>
                <a:spcPct val="150000"/>
              </a:lnSpc>
            </a:pPr>
            <a:r>
              <a:rPr lang="zh-CN" altLang="en-US" sz="1600" kern="0" dirty="0">
                <a:latin typeface="微软雅黑 Light" panose="020B0502040204020203" pitchFamily="34" charset="-122"/>
                <a:ea typeface="微软雅黑 Light" panose="020B0502040204020203" pitchFamily="34" charset="-122"/>
                <a:cs typeface="宋体" panose="02010600030101010101" pitchFamily="2" charset="-122"/>
              </a:rPr>
              <a:t>输入</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83" name="矩形 82"/>
              <p:cNvSpPr/>
              <p:nvPr/>
            </p:nvSpPr>
            <p:spPr>
              <a:xfrm>
                <a:off x="3184238" y="1847726"/>
                <a:ext cx="417158" cy="573234"/>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solidFill>
                                <a:schemeClr val="tx1"/>
                              </a:solidFill>
                              <a:latin typeface="Cambria Math" panose="02040503050406030204" pitchFamily="18" charset="0"/>
                              <a:ea typeface="微软雅黑" panose="020B0503020204020204" pitchFamily="34" charset="-122"/>
                            </a:rPr>
                          </m:ctrlPr>
                        </m:sSupPr>
                        <m:e>
                          <m:r>
                            <a:rPr lang="en-US" altLang="zh-CN" sz="2000" b="0" i="1" kern="0" smtClean="0">
                              <a:solidFill>
                                <a:schemeClr val="tx1"/>
                              </a:solidFill>
                              <a:latin typeface="Cambria Math" panose="02040503050406030204" pitchFamily="18" charset="0"/>
                              <a:ea typeface="微软雅黑" panose="020B0503020204020204" pitchFamily="34" charset="-122"/>
                            </a:rPr>
                            <m:t>𝑊</m:t>
                          </m:r>
                        </m:e>
                        <m:sup>
                          <m:r>
                            <a:rPr lang="en-US" altLang="zh-CN" sz="2000" b="0" i="1" kern="0" smtClean="0">
                              <a:solidFill>
                                <a:schemeClr val="tx1"/>
                              </a:solidFill>
                              <a:latin typeface="Cambria Math" panose="02040503050406030204" pitchFamily="18" charset="0"/>
                              <a:ea typeface="微软雅黑" panose="020B0503020204020204" pitchFamily="34" charset="-122"/>
                            </a:rPr>
                            <m:t>(1)</m:t>
                          </m:r>
                        </m:sup>
                      </m:sSup>
                    </m:oMath>
                  </m:oMathPara>
                </a14:m>
                <a:endParaRPr lang="en-US" altLang="zh-CN" sz="2000" kern="0" dirty="0">
                  <a:solidFill>
                    <a:schemeClr val="tx1"/>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3" name="矩形 82"/>
              <p:cNvSpPr>
                <a:spLocks noRot="1" noChangeAspect="1" noMove="1" noResize="1" noEditPoints="1" noAdjustHandles="1" noChangeArrowheads="1" noChangeShapeType="1" noTextEdit="1"/>
              </p:cNvSpPr>
              <p:nvPr/>
            </p:nvSpPr>
            <p:spPr>
              <a:xfrm>
                <a:off x="3184238" y="1847726"/>
                <a:ext cx="417158" cy="573234"/>
              </a:xfrm>
              <a:prstGeom prst="rect">
                <a:avLst/>
              </a:prstGeom>
              <a:blipFill rotWithShape="0">
                <a:blip r:embed="rId5"/>
                <a:stretch>
                  <a:fillRect r="-43478"/>
                </a:stretch>
              </a:blipFill>
              <a:ln>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矩形 83"/>
              <p:cNvSpPr/>
              <p:nvPr/>
            </p:nvSpPr>
            <p:spPr>
              <a:xfrm>
                <a:off x="1953802" y="1897648"/>
                <a:ext cx="839775" cy="553998"/>
              </a:xfrm>
              <a:prstGeom prst="rect">
                <a:avLst/>
              </a:prstGeom>
            </p:spPr>
            <p:txBody>
              <a:bodyPr wrap="square">
                <a:spAutoFit/>
              </a:bodyPr>
              <a:lstStyle/>
              <a:p>
                <a:pPr algn="ctr">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solidFill>
                            <a:schemeClr val="tx1"/>
                          </a:solidFill>
                          <a:latin typeface="Cambria Math" panose="02040503050406030204" pitchFamily="18" charset="0"/>
                          <a:ea typeface="微软雅黑 Light" panose="020B0502040204020203" pitchFamily="34" charset="-122"/>
                          <a:cs typeface="宋体" panose="02010600030101010101" pitchFamily="2" charset="-122"/>
                        </a:rPr>
                        <m:t>𝑋</m:t>
                      </m:r>
                    </m:oMath>
                  </m:oMathPara>
                </a14:m>
                <a:endParaRPr lang="en-US" altLang="zh-CN" sz="2000" i="1" kern="0" dirty="0">
                  <a:solidFill>
                    <a:schemeClr val="tx1"/>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4" name="矩形 83"/>
              <p:cNvSpPr>
                <a:spLocks noRot="1" noChangeAspect="1" noMove="1" noResize="1" noEditPoints="1" noAdjustHandles="1" noChangeArrowheads="1" noChangeShapeType="1" noTextEdit="1"/>
              </p:cNvSpPr>
              <p:nvPr/>
            </p:nvSpPr>
            <p:spPr>
              <a:xfrm>
                <a:off x="1953802" y="1897648"/>
                <a:ext cx="839775" cy="553998"/>
              </a:xfrm>
              <a:prstGeom prst="rect">
                <a:avLst/>
              </a:prstGeom>
              <a:blipFill rotWithShape="0">
                <a:blip r:embed="rId6"/>
                <a:stretch>
                  <a:fillRect/>
                </a:stretch>
              </a:blipFill>
            </p:spPr>
            <p:txBody>
              <a:bodyPr/>
              <a:lstStyle/>
              <a:p>
                <a:r>
                  <a:rPr lang="zh-CN" altLang="en-US">
                    <a:noFill/>
                  </a:rPr>
                  <a:t> </a:t>
                </a:r>
              </a:p>
            </p:txBody>
          </p:sp>
        </mc:Fallback>
      </mc:AlternateContent>
      <p:sp>
        <p:nvSpPr>
          <p:cNvPr id="85" name="矩形 84"/>
          <p:cNvSpPr/>
          <p:nvPr/>
        </p:nvSpPr>
        <p:spPr>
          <a:xfrm>
            <a:off x="4281867" y="2083530"/>
            <a:ext cx="969733" cy="41979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隐层</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86" name="矩形 85"/>
          <p:cNvSpPr/>
          <p:nvPr/>
        </p:nvSpPr>
        <p:spPr>
          <a:xfrm>
            <a:off x="4359724" y="2286684"/>
            <a:ext cx="559885" cy="553998"/>
          </a:xfrm>
          <a:prstGeom prst="rect">
            <a:avLst/>
          </a:prstGeom>
          <a:ln>
            <a:noFill/>
            <a:prstDash val="solid"/>
          </a:ln>
        </p:spPr>
        <p:txBody>
          <a:bodyPr wrap="square">
            <a:spAutoFit/>
          </a:bodyPr>
          <a:lstStyle/>
          <a:p>
            <a:pPr algn="ctr">
              <a:lnSpc>
                <a:spcPct val="150000"/>
              </a:lnSpc>
            </a:pPr>
            <a:r>
              <a:rPr lang="en-US" altLang="zh-CN" sz="2000" i="1" kern="0" dirty="0">
                <a:solidFill>
                  <a:srgbClr val="C00000"/>
                </a:solidFill>
                <a:latin typeface="微软雅黑 Light" panose="020B0502040204020203" pitchFamily="34" charset="-122"/>
                <a:ea typeface="微软雅黑 Light" panose="020B0502040204020203" pitchFamily="34" charset="-122"/>
                <a:cs typeface="宋体" panose="02010600030101010101" pitchFamily="2" charset="-122"/>
              </a:rPr>
              <a:t>H</a:t>
            </a:r>
          </a:p>
        </p:txBody>
      </p:sp>
      <mc:AlternateContent xmlns:mc="http://schemas.openxmlformats.org/markup-compatibility/2006" xmlns:a14="http://schemas.microsoft.com/office/drawing/2010/main">
        <mc:Choice Requires="a14">
          <p:sp>
            <p:nvSpPr>
              <p:cNvPr id="87" name="矩形 86"/>
              <p:cNvSpPr/>
              <p:nvPr/>
            </p:nvSpPr>
            <p:spPr>
              <a:xfrm>
                <a:off x="5292088" y="2456112"/>
                <a:ext cx="822544" cy="57323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latin typeface="Cambria Math" panose="02040503050406030204" pitchFamily="18" charset="0"/>
                              <a:ea typeface="微软雅黑" panose="020B0503020204020204" pitchFamily="34" charset="-122"/>
                            </a:rPr>
                          </m:ctrlPr>
                        </m:sSupPr>
                        <m:e>
                          <m:r>
                            <a:rPr lang="en-US" altLang="zh-CN" sz="2000" b="0" i="1" kern="0" smtClean="0">
                              <a:latin typeface="Cambria Math" panose="02040503050406030204" pitchFamily="18" charset="0"/>
                              <a:ea typeface="微软雅黑" panose="020B0503020204020204" pitchFamily="34" charset="-122"/>
                            </a:rPr>
                            <m:t>𝑊</m:t>
                          </m:r>
                        </m:e>
                        <m:sup>
                          <m:r>
                            <a:rPr lang="en-US" altLang="zh-CN" sz="2000" b="0" i="1" kern="0" smtClean="0">
                              <a:latin typeface="Cambria Math" panose="02040503050406030204" pitchFamily="18" charset="0"/>
                              <a:ea typeface="微软雅黑" panose="020B0503020204020204" pitchFamily="34" charset="-122"/>
                            </a:rPr>
                            <m:t>(2)</m:t>
                          </m:r>
                        </m:sup>
                      </m:sSup>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7" name="矩形 86"/>
              <p:cNvSpPr>
                <a:spLocks noRot="1" noChangeAspect="1" noMove="1" noResize="1" noEditPoints="1" noAdjustHandles="1" noChangeArrowheads="1" noChangeShapeType="1" noTextEdit="1"/>
              </p:cNvSpPr>
              <p:nvPr/>
            </p:nvSpPr>
            <p:spPr>
              <a:xfrm>
                <a:off x="5292088" y="2456112"/>
                <a:ext cx="822544" cy="573234"/>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矩形 87"/>
              <p:cNvSpPr/>
              <p:nvPr/>
            </p:nvSpPr>
            <p:spPr>
              <a:xfrm>
                <a:off x="5272166" y="1014823"/>
                <a:ext cx="3639538" cy="550151"/>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1600" b="1" i="1" kern="0" smtClean="0">
                          <a:latin typeface="Cambria Math" panose="02040503050406030204" pitchFamily="18" charset="0"/>
                          <a:ea typeface="微软雅黑" panose="020B0503020204020204" pitchFamily="34" charset="-122"/>
                        </a:rPr>
                        <m:t>𝒉</m:t>
                      </m:r>
                      <m:r>
                        <a:rPr lang="en-US" altLang="zh-CN" sz="1600" b="0" i="1" kern="0" smtClea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𝐺</m:t>
                      </m:r>
                      <m:r>
                        <a:rPr lang="en-US" altLang="zh-CN" sz="1600" b="0" i="1" kern="0" smtClean="0">
                          <a:latin typeface="Cambria Math" panose="02040503050406030204" pitchFamily="18" charset="0"/>
                          <a:ea typeface="微软雅黑" panose="020B0503020204020204" pitchFamily="34" charset="-122"/>
                        </a:rPr>
                        <m:t>(</m:t>
                      </m:r>
                      <m:sSup>
                        <m:sSupPr>
                          <m:ctrlPr>
                            <a:rPr lang="en-US" altLang="zh-CN" sz="1600" i="1" kern="0">
                              <a:latin typeface="Cambria Math" panose="02040503050406030204" pitchFamily="18" charset="0"/>
                              <a:ea typeface="微软雅黑" panose="020B0503020204020204" pitchFamily="34" charset="-122"/>
                            </a:rPr>
                          </m:ctrlPr>
                        </m:sSupPr>
                        <m:e>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i="1" kern="0">
                                  <a:latin typeface="Cambria Math" panose="02040503050406030204" pitchFamily="18" charset="0"/>
                                  <a:ea typeface="微软雅黑" panose="020B0503020204020204" pitchFamily="34" charset="-122"/>
                                </a:rPr>
                                <m:t>𝑊</m:t>
                              </m:r>
                            </m:e>
                            <m:sup>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1</m:t>
                              </m:r>
                              <m:r>
                                <a:rPr lang="en-US" altLang="zh-CN" sz="1600" i="1" kern="0">
                                  <a:latin typeface="Cambria Math" panose="02040503050406030204" pitchFamily="18" charset="0"/>
                                  <a:ea typeface="微软雅黑" panose="020B0503020204020204" pitchFamily="34" charset="-122"/>
                                </a:rPr>
                                <m:t>)</m:t>
                              </m:r>
                            </m:sup>
                          </m:sSup>
                        </m:e>
                        <m:sup>
                          <m:r>
                            <a:rPr lang="en-US" altLang="zh-CN" sz="1600" i="1" kern="0">
                              <a:latin typeface="Cambria Math" panose="02040503050406030204" pitchFamily="18" charset="0"/>
                              <a:ea typeface="微软雅黑" panose="020B0503020204020204" pitchFamily="34" charset="-122"/>
                            </a:rPr>
                            <m:t>𝑇</m:t>
                          </m:r>
                        </m:sup>
                      </m:sSup>
                      <m:r>
                        <a:rPr lang="en-US" altLang="zh-CN" sz="1600" b="1" i="1" kern="0" smtClean="0">
                          <a:latin typeface="Cambria Math" panose="02040503050406030204" pitchFamily="18" charset="0"/>
                          <a:ea typeface="微软雅黑" panose="020B0503020204020204" pitchFamily="34" charset="-122"/>
                        </a:rPr>
                        <m:t>𝒙</m:t>
                      </m:r>
                      <m:r>
                        <a:rPr lang="en-US" altLang="zh-CN" sz="1600" b="0" i="1" kern="0" smtClean="0">
                          <a:solidFill>
                            <a:srgbClr val="FF0000"/>
                          </a:solidFill>
                          <a:latin typeface="Cambria Math" panose="02040503050406030204" pitchFamily="18" charset="0"/>
                          <a:ea typeface="微软雅黑" panose="020B0503020204020204" pitchFamily="34" charset="-122"/>
                        </a:rPr>
                        <m:t>+</m:t>
                      </m:r>
                      <m:sSub>
                        <m:sSubPr>
                          <m:ctrlPr>
                            <a:rPr lang="en-US" altLang="zh-CN" sz="1600" i="1">
                              <a:solidFill>
                                <a:srgbClr val="FF0000"/>
                              </a:solidFill>
                              <a:latin typeface="Cambria Math" panose="02040503050406030204" pitchFamily="18" charset="0"/>
                              <a:ea typeface="微软雅黑 Light" panose="020B0502040204020203" pitchFamily="34" charset="-122"/>
                            </a:rPr>
                          </m:ctrlPr>
                        </m:sSubPr>
                        <m:e>
                          <m:r>
                            <a:rPr lang="en-US" altLang="zh-CN" sz="1600" i="1">
                              <a:solidFill>
                                <a:srgbClr val="FF0000"/>
                              </a:solidFill>
                              <a:latin typeface="Cambria Math" panose="02040503050406030204" pitchFamily="18" charset="0"/>
                              <a:ea typeface="微软雅黑 Light" panose="020B0502040204020203" pitchFamily="34" charset="-122"/>
                            </a:rPr>
                            <m:t>𝑏</m:t>
                          </m:r>
                        </m:e>
                        <m:sub>
                          <m:r>
                            <a:rPr lang="en-US" altLang="zh-CN" sz="1600" b="0" i="1" smtClean="0">
                              <a:solidFill>
                                <a:srgbClr val="FF0000"/>
                              </a:solidFill>
                              <a:latin typeface="Cambria Math" panose="02040503050406030204" pitchFamily="18" charset="0"/>
                              <a:ea typeface="微软雅黑 Light" panose="020B0502040204020203" pitchFamily="34" charset="-122"/>
                            </a:rPr>
                            <m:t>1</m:t>
                          </m:r>
                        </m:sub>
                      </m:sSub>
                      <m:r>
                        <a:rPr lang="en-US" altLang="zh-CN" sz="1600" b="0" i="1" kern="0" smtClean="0">
                          <a:latin typeface="Cambria Math" panose="02040503050406030204" pitchFamily="18" charset="0"/>
                          <a:ea typeface="微软雅黑" panose="020B0503020204020204" pitchFamily="34" charset="-122"/>
                        </a:rPr>
                        <m:t>)</m:t>
                      </m:r>
                    </m:oMath>
                  </m:oMathPara>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8" name="矩形 87"/>
              <p:cNvSpPr>
                <a:spLocks noRot="1" noChangeAspect="1" noMove="1" noResize="1" noEditPoints="1" noAdjustHandles="1" noChangeArrowheads="1" noChangeShapeType="1" noTextEdit="1"/>
              </p:cNvSpPr>
              <p:nvPr/>
            </p:nvSpPr>
            <p:spPr>
              <a:xfrm>
                <a:off x="5272166" y="1014823"/>
                <a:ext cx="3639538" cy="550151"/>
              </a:xfrm>
              <a:prstGeom prst="rect">
                <a:avLst/>
              </a:prstGeom>
              <a:blipFill rotWithShape="0">
                <a:blip r:embed="rId8"/>
                <a:stretch>
                  <a:fillRect/>
                </a:stretch>
              </a:blipFill>
            </p:spPr>
            <p:txBody>
              <a:bodyPr/>
              <a:lstStyle/>
              <a:p>
                <a:r>
                  <a:rPr lang="zh-CN" altLang="en-US">
                    <a:noFill/>
                  </a:rPr>
                  <a:t> </a:t>
                </a:r>
              </a:p>
            </p:txBody>
          </p:sp>
        </mc:Fallback>
      </mc:AlternateContent>
      <p:sp>
        <p:nvSpPr>
          <p:cNvPr id="89" name="矩形 88"/>
          <p:cNvSpPr/>
          <p:nvPr/>
        </p:nvSpPr>
        <p:spPr>
          <a:xfrm>
            <a:off x="6328721" y="2398385"/>
            <a:ext cx="969733" cy="418191"/>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输出层</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90" name="矩形 89"/>
          <p:cNvSpPr/>
          <p:nvPr/>
        </p:nvSpPr>
        <p:spPr>
          <a:xfrm>
            <a:off x="6389776" y="2615110"/>
            <a:ext cx="702159" cy="496674"/>
          </a:xfrm>
          <a:prstGeom prst="rect">
            <a:avLst/>
          </a:prstGeom>
        </p:spPr>
        <p:txBody>
          <a:bodyPr wrap="square">
            <a:spAutoFit/>
          </a:bodyPr>
          <a:lstStyle/>
          <a:p>
            <a:pPr algn="ctr">
              <a:lnSpc>
                <a:spcPct val="150000"/>
              </a:lnSpc>
            </a:pPr>
            <a:r>
              <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rPr>
              <a:t>Y</a:t>
            </a:r>
          </a:p>
        </p:txBody>
      </p:sp>
      <mc:AlternateContent xmlns:mc="http://schemas.openxmlformats.org/markup-compatibility/2006" xmlns:a14="http://schemas.microsoft.com/office/drawing/2010/main">
        <mc:Choice Requires="a14">
          <p:sp>
            <p:nvSpPr>
              <p:cNvPr id="91" name="矩形 90"/>
              <p:cNvSpPr/>
              <p:nvPr/>
            </p:nvSpPr>
            <p:spPr>
              <a:xfrm>
                <a:off x="8018604" y="1022221"/>
                <a:ext cx="2842959" cy="550151"/>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1600" b="1" i="1" kern="0" smtClean="0">
                          <a:latin typeface="Cambria Math" panose="02040503050406030204" pitchFamily="18" charset="0"/>
                          <a:ea typeface="微软雅黑" panose="020B0503020204020204" pitchFamily="34" charset="-122"/>
                        </a:rPr>
                        <m:t>𝒚</m:t>
                      </m:r>
                      <m:r>
                        <a:rPr lang="en-US" altLang="zh-CN" sz="1600" b="0" i="0" kern="0" smtClean="0">
                          <a:latin typeface="Cambria Math" panose="02040503050406030204" pitchFamily="18" charset="0"/>
                          <a:ea typeface="微软雅黑" panose="020B0503020204020204" pitchFamily="34" charset="-122"/>
                        </a:rPr>
                        <m:t>=</m:t>
                      </m:r>
                      <m:r>
                        <a:rPr lang="en-US" altLang="zh-CN" sz="1600" i="1" kern="0">
                          <a:latin typeface="Cambria Math" panose="02040503050406030204" pitchFamily="18" charset="0"/>
                          <a:ea typeface="微软雅黑" panose="020B0503020204020204" pitchFamily="34" charset="-122"/>
                        </a:rPr>
                        <m:t>𝐺</m:t>
                      </m:r>
                      <m:r>
                        <a:rPr lang="en-US" altLang="zh-CN" sz="1600" i="1" kern="0">
                          <a:latin typeface="Cambria Math" panose="02040503050406030204" pitchFamily="18" charset="0"/>
                          <a:ea typeface="微软雅黑" panose="020B0503020204020204" pitchFamily="34" charset="-122"/>
                        </a:rPr>
                        <m:t>(</m:t>
                      </m:r>
                      <m:sSup>
                        <m:sSupPr>
                          <m:ctrlPr>
                            <a:rPr lang="en-US" altLang="zh-CN" sz="1600" i="1" kern="0">
                              <a:latin typeface="Cambria Math" panose="02040503050406030204" pitchFamily="18" charset="0"/>
                              <a:ea typeface="微软雅黑" panose="020B0503020204020204" pitchFamily="34" charset="-122"/>
                            </a:rPr>
                          </m:ctrlPr>
                        </m:sSupPr>
                        <m:e>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i="1" kern="0">
                                  <a:latin typeface="Cambria Math" panose="02040503050406030204" pitchFamily="18" charset="0"/>
                                  <a:ea typeface="微软雅黑" panose="020B0503020204020204" pitchFamily="34" charset="-122"/>
                                </a:rPr>
                                <m:t>𝑊</m:t>
                              </m:r>
                            </m:e>
                            <m:sup>
                              <m:r>
                                <a:rPr lang="en-US" altLang="zh-CN" sz="1600" i="1" ker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2</m:t>
                              </m:r>
                              <m:r>
                                <a:rPr lang="en-US" altLang="zh-CN" sz="1600" i="1" kern="0">
                                  <a:latin typeface="Cambria Math" panose="02040503050406030204" pitchFamily="18" charset="0"/>
                                  <a:ea typeface="微软雅黑" panose="020B0503020204020204" pitchFamily="34" charset="-122"/>
                                </a:rPr>
                                <m:t>)</m:t>
                              </m:r>
                            </m:sup>
                          </m:sSup>
                        </m:e>
                        <m:sup>
                          <m:r>
                            <a:rPr lang="en-US" altLang="zh-CN" sz="1600" i="1" kern="0">
                              <a:latin typeface="Cambria Math" panose="02040503050406030204" pitchFamily="18" charset="0"/>
                              <a:ea typeface="微软雅黑" panose="020B0503020204020204" pitchFamily="34" charset="-122"/>
                            </a:rPr>
                            <m:t>𝑇</m:t>
                          </m:r>
                        </m:sup>
                      </m:sSup>
                      <m:r>
                        <a:rPr lang="en-US" altLang="zh-CN" sz="1600" b="1" i="1" kern="0" smtClean="0">
                          <a:latin typeface="Cambria Math" panose="02040503050406030204" pitchFamily="18" charset="0"/>
                          <a:ea typeface="微软雅黑" panose="020B0503020204020204" pitchFamily="34" charset="-122"/>
                        </a:rPr>
                        <m:t>𝒉</m:t>
                      </m:r>
                      <m:r>
                        <a:rPr lang="en-US" altLang="zh-CN" sz="1600" b="0" i="0" kern="0" smtClean="0">
                          <a:solidFill>
                            <a:srgbClr val="FF0000"/>
                          </a:solidFill>
                          <a:latin typeface="Cambria Math" panose="02040503050406030204" pitchFamily="18" charset="0"/>
                          <a:ea typeface="微软雅黑" panose="020B0503020204020204" pitchFamily="34" charset="-122"/>
                        </a:rPr>
                        <m:t>+</m:t>
                      </m:r>
                      <m:sSub>
                        <m:sSubPr>
                          <m:ctrlPr>
                            <a:rPr lang="en-US" altLang="zh-CN" sz="1600" i="1" smtClean="0">
                              <a:solidFill>
                                <a:srgbClr val="FF0000"/>
                              </a:solidFill>
                              <a:latin typeface="Cambria Math" panose="02040503050406030204" pitchFamily="18" charset="0"/>
                              <a:ea typeface="微软雅黑 Light" panose="020B0502040204020203" pitchFamily="34" charset="-122"/>
                            </a:rPr>
                          </m:ctrlPr>
                        </m:sSubPr>
                        <m:e>
                          <m:r>
                            <a:rPr lang="en-US" altLang="zh-CN" sz="1600" i="1">
                              <a:solidFill>
                                <a:srgbClr val="FF0000"/>
                              </a:solidFill>
                              <a:latin typeface="Cambria Math" panose="02040503050406030204" pitchFamily="18" charset="0"/>
                              <a:ea typeface="微软雅黑 Light" panose="020B0502040204020203" pitchFamily="34" charset="-122"/>
                            </a:rPr>
                            <m:t>𝑏</m:t>
                          </m:r>
                        </m:e>
                        <m:sub>
                          <m:r>
                            <a:rPr lang="en-US" altLang="zh-CN" sz="1600" i="1">
                              <a:solidFill>
                                <a:srgbClr val="FF0000"/>
                              </a:solidFill>
                              <a:latin typeface="Cambria Math" panose="02040503050406030204" pitchFamily="18" charset="0"/>
                              <a:ea typeface="微软雅黑 Light" panose="020B0502040204020203" pitchFamily="34" charset="-122"/>
                            </a:rPr>
                            <m:t>2</m:t>
                          </m:r>
                        </m:sub>
                      </m:sSub>
                      <m:r>
                        <a:rPr lang="en-US" altLang="zh-CN" sz="1600" b="0" i="0" kern="0" smtClean="0">
                          <a:latin typeface="Cambria Math" panose="02040503050406030204" pitchFamily="18" charset="0"/>
                          <a:ea typeface="微软雅黑" panose="020B0503020204020204" pitchFamily="34" charset="-122"/>
                        </a:rPr>
                        <m:t>)</m:t>
                      </m:r>
                    </m:oMath>
                  </m:oMathPara>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1" name="矩形 90"/>
              <p:cNvSpPr>
                <a:spLocks noRot="1" noChangeAspect="1" noMove="1" noResize="1" noEditPoints="1" noAdjustHandles="1" noChangeArrowheads="1" noChangeShapeType="1" noTextEdit="1"/>
              </p:cNvSpPr>
              <p:nvPr/>
            </p:nvSpPr>
            <p:spPr>
              <a:xfrm>
                <a:off x="8018604" y="1022221"/>
                <a:ext cx="2842959" cy="550151"/>
              </a:xfrm>
              <a:prstGeom prst="rect">
                <a:avLst/>
              </a:prstGeom>
              <a:blipFill rotWithShape="0">
                <a:blip r:embed="rId9"/>
                <a:stretch>
                  <a:fillRect/>
                </a:stretch>
              </a:blipFill>
            </p:spPr>
            <p:txBody>
              <a:bodyPr/>
              <a:lstStyle/>
              <a:p>
                <a:r>
                  <a:rPr lang="zh-CN" altLang="en-US">
                    <a:noFill/>
                  </a:rPr>
                  <a:t> </a:t>
                </a:r>
              </a:p>
            </p:txBody>
          </p:sp>
        </mc:Fallback>
      </mc:AlternateContent>
      <p:sp>
        <p:nvSpPr>
          <p:cNvPr id="92" name="椭圆 91"/>
          <p:cNvSpPr/>
          <p:nvPr/>
        </p:nvSpPr>
        <p:spPr>
          <a:xfrm>
            <a:off x="3385571" y="5302925"/>
            <a:ext cx="576064" cy="576064"/>
          </a:xfrm>
          <a:prstGeom prst="ellipse">
            <a:avLst/>
          </a:prstGeom>
          <a:noFill/>
          <a:ln w="28575">
            <a:solidFill>
              <a:srgbClr val="FFFF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ndParaRPr>
          </a:p>
        </p:txBody>
      </p:sp>
      <p:sp>
        <p:nvSpPr>
          <p:cNvPr id="93" name="椭圆 92"/>
          <p:cNvSpPr/>
          <p:nvPr/>
        </p:nvSpPr>
        <p:spPr>
          <a:xfrm>
            <a:off x="5302368" y="5316898"/>
            <a:ext cx="576064" cy="576064"/>
          </a:xfrm>
          <a:prstGeom prst="ellipse">
            <a:avLst/>
          </a:prstGeom>
          <a:noFill/>
          <a:ln w="28575">
            <a:solidFill>
              <a:srgbClr val="FFFF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solidFill>
            </a:endParaRPr>
          </a:p>
        </p:txBody>
      </p:sp>
      <p:cxnSp>
        <p:nvCxnSpPr>
          <p:cNvPr id="94" name="直接箭头连接符 93"/>
          <p:cNvCxnSpPr>
            <a:stCxn id="92" idx="7"/>
            <a:endCxn id="67" idx="4"/>
          </p:cNvCxnSpPr>
          <p:nvPr/>
        </p:nvCxnSpPr>
        <p:spPr>
          <a:xfrm flipV="1">
            <a:off x="3877272" y="3564285"/>
            <a:ext cx="796381" cy="1823003"/>
          </a:xfrm>
          <a:prstGeom prst="straightConnector1">
            <a:avLst/>
          </a:prstGeom>
          <a:noFill/>
          <a:ln w="15875" cap="flat" cmpd="sng">
            <a:solidFill>
              <a:srgbClr val="FFFF00"/>
            </a:solidFill>
            <a:prstDash val="solid"/>
            <a:round/>
            <a:headEnd/>
            <a:tailEnd type="triangle"/>
          </a:ln>
          <a:effectLst/>
        </p:spPr>
      </p:cxnSp>
      <p:cxnSp>
        <p:nvCxnSpPr>
          <p:cNvPr id="95" name="直接箭头连接符 94"/>
          <p:cNvCxnSpPr>
            <a:stCxn id="92" idx="6"/>
            <a:endCxn id="69" idx="4"/>
          </p:cNvCxnSpPr>
          <p:nvPr/>
        </p:nvCxnSpPr>
        <p:spPr>
          <a:xfrm flipV="1">
            <a:off x="3961635" y="4786207"/>
            <a:ext cx="665398" cy="804750"/>
          </a:xfrm>
          <a:prstGeom prst="straightConnector1">
            <a:avLst/>
          </a:prstGeom>
          <a:noFill/>
          <a:ln w="15875" cap="flat" cmpd="sng">
            <a:solidFill>
              <a:srgbClr val="FFFF00"/>
            </a:solidFill>
            <a:prstDash val="solid"/>
            <a:round/>
            <a:headEnd/>
            <a:tailEnd type="triangle"/>
          </a:ln>
          <a:effectLst/>
        </p:spPr>
      </p:cxnSp>
      <p:cxnSp>
        <p:nvCxnSpPr>
          <p:cNvPr id="96" name="直接箭头连接符 95"/>
          <p:cNvCxnSpPr>
            <a:stCxn id="93" idx="0"/>
          </p:cNvCxnSpPr>
          <p:nvPr/>
        </p:nvCxnSpPr>
        <p:spPr>
          <a:xfrm flipV="1">
            <a:off x="5590400" y="3789081"/>
            <a:ext cx="906202" cy="1527817"/>
          </a:xfrm>
          <a:prstGeom prst="straightConnector1">
            <a:avLst/>
          </a:prstGeom>
          <a:noFill/>
          <a:ln w="15875" cap="flat" cmpd="sng">
            <a:solidFill>
              <a:srgbClr val="FFFF00"/>
            </a:solidFill>
            <a:prstDash val="solid"/>
            <a:round/>
            <a:headEnd/>
            <a:tailEnd type="triangle"/>
          </a:ln>
          <a:effectLst/>
        </p:spPr>
      </p:cxnSp>
      <p:cxnSp>
        <p:nvCxnSpPr>
          <p:cNvPr id="97" name="直接箭头连接符 96"/>
          <p:cNvCxnSpPr>
            <a:stCxn id="93" idx="7"/>
            <a:endCxn id="79" idx="4"/>
          </p:cNvCxnSpPr>
          <p:nvPr/>
        </p:nvCxnSpPr>
        <p:spPr>
          <a:xfrm flipV="1">
            <a:off x="5794069" y="4546109"/>
            <a:ext cx="804358" cy="855152"/>
          </a:xfrm>
          <a:prstGeom prst="straightConnector1">
            <a:avLst/>
          </a:prstGeom>
          <a:noFill/>
          <a:ln w="15875" cap="flat" cmpd="sng">
            <a:solidFill>
              <a:srgbClr val="FFFF00"/>
            </a:solidFill>
            <a:prstDash val="solid"/>
            <a:round/>
            <a:headEnd/>
            <a:tailEnd type="triangle"/>
          </a:ln>
          <a:effectLst/>
        </p:spPr>
      </p:cxnSp>
      <p:sp>
        <p:nvSpPr>
          <p:cNvPr id="98" name="矩形 97"/>
          <p:cNvSpPr/>
          <p:nvPr/>
        </p:nvSpPr>
        <p:spPr>
          <a:xfrm>
            <a:off x="8375575" y="2132856"/>
            <a:ext cx="3034161" cy="3416320"/>
          </a:xfrm>
          <a:prstGeom prst="rect">
            <a:avLst/>
          </a:prstGeom>
        </p:spPr>
        <p:txBody>
          <a:bodyPr wrap="square">
            <a:spAutoFit/>
          </a:bodyPr>
          <a:lstStyle/>
          <a:p>
            <a:r>
              <a:rPr lang="zh-CN" altLang="en-US" sz="2400" dirty="0">
                <a:solidFill>
                  <a:srgbClr val="000000"/>
                </a:solidFill>
                <a:latin typeface="微软雅黑 Light" panose="020B0502040204020203" pitchFamily="34" charset="-122"/>
                <a:ea typeface="微软雅黑 Light" panose="020B0502040204020203" pitchFamily="34" charset="-122"/>
              </a:rPr>
              <a:t>在神经网络中，除了输出层以外，都会有一个偏置单元</a:t>
            </a:r>
            <a:r>
              <a:rPr lang="en-US" altLang="zh-CN" sz="2400" dirty="0">
                <a:solidFill>
                  <a:srgbClr val="000000"/>
                </a:solidFill>
                <a:latin typeface="微软雅黑 Light" panose="020B0502040204020203" pitchFamily="34" charset="-122"/>
                <a:ea typeface="微软雅黑 Light" panose="020B0502040204020203" pitchFamily="34" charset="-122"/>
              </a:rPr>
              <a:t>b,</a:t>
            </a:r>
            <a:r>
              <a:rPr lang="zh-CN" altLang="en-US" sz="2400" dirty="0">
                <a:solidFill>
                  <a:srgbClr val="000000"/>
                </a:solidFill>
                <a:latin typeface="微软雅黑 Light" panose="020B0502040204020203" pitchFamily="34" charset="-122"/>
                <a:ea typeface="微软雅黑 Light" panose="020B0502040204020203" pitchFamily="34" charset="-122"/>
              </a:rPr>
              <a:t>与后一层的所有节点相连接。</a:t>
            </a:r>
            <a:endParaRPr lang="en-US" altLang="zh-CN" sz="2400" dirty="0">
              <a:solidFill>
                <a:srgbClr val="000000"/>
              </a:solidFill>
              <a:latin typeface="微软雅黑 Light" panose="020B0502040204020203" pitchFamily="34" charset="-122"/>
              <a:ea typeface="微软雅黑 Light" panose="020B0502040204020203" pitchFamily="34" charset="-122"/>
            </a:endParaRPr>
          </a:p>
          <a:p>
            <a:r>
              <a:rPr lang="en-US" altLang="zh-CN" sz="2400" i="1" dirty="0">
                <a:solidFill>
                  <a:srgbClr val="000000"/>
                </a:solidFill>
                <a:latin typeface="微软雅黑 Light" panose="020B0502040204020203" pitchFamily="34" charset="-122"/>
                <a:ea typeface="微软雅黑 Light" panose="020B0502040204020203" pitchFamily="34" charset="-122"/>
              </a:rPr>
              <a:t>W</a:t>
            </a:r>
            <a:r>
              <a:rPr lang="zh-CN" altLang="en-US" sz="2400" dirty="0">
                <a:solidFill>
                  <a:srgbClr val="000000"/>
                </a:solidFill>
                <a:latin typeface="微软雅黑 Light" panose="020B0502040204020203" pitchFamily="34" charset="-122"/>
                <a:ea typeface="微软雅黑 Light" panose="020B0502040204020203" pitchFamily="34" charset="-122"/>
              </a:rPr>
              <a:t>称之为权重</a:t>
            </a:r>
            <a:endParaRPr lang="en-US" altLang="zh-CN" sz="2400" dirty="0">
              <a:solidFill>
                <a:srgbClr val="000000"/>
              </a:solidFill>
              <a:latin typeface="微软雅黑 Light" panose="020B0502040204020203" pitchFamily="34" charset="-122"/>
              <a:ea typeface="微软雅黑 Light" panose="020B0502040204020203" pitchFamily="34" charset="-122"/>
            </a:endParaRPr>
          </a:p>
          <a:p>
            <a:r>
              <a:rPr lang="en-US" altLang="zh-CN" sz="2400" i="1" dirty="0">
                <a:solidFill>
                  <a:srgbClr val="000000"/>
                </a:solidFill>
                <a:latin typeface="微软雅黑 Light" panose="020B0502040204020203" pitchFamily="34" charset="-122"/>
                <a:ea typeface="微软雅黑 Light" panose="020B0502040204020203" pitchFamily="34" charset="-122"/>
              </a:rPr>
              <a:t>b</a:t>
            </a:r>
            <a:r>
              <a:rPr lang="zh-CN" altLang="en-US" sz="2400" dirty="0">
                <a:solidFill>
                  <a:srgbClr val="000000"/>
                </a:solidFill>
                <a:latin typeface="微软雅黑 Light" panose="020B0502040204020203" pitchFamily="34" charset="-122"/>
                <a:ea typeface="微软雅黑 Light" panose="020B0502040204020203" pitchFamily="34" charset="-122"/>
              </a:rPr>
              <a:t>为偏置</a:t>
            </a:r>
            <a:endParaRPr lang="en-US" altLang="zh-CN" sz="2400" dirty="0">
              <a:solidFill>
                <a:srgbClr val="000000"/>
              </a:solidFill>
              <a:latin typeface="微软雅黑 Light" panose="020B0502040204020203" pitchFamily="34" charset="-122"/>
              <a:ea typeface="微软雅黑 Light" panose="020B0502040204020203" pitchFamily="34" charset="-122"/>
            </a:endParaRPr>
          </a:p>
          <a:p>
            <a:r>
              <a:rPr lang="zh-CN" altLang="en-US" sz="2400" dirty="0">
                <a:solidFill>
                  <a:srgbClr val="000000"/>
                </a:solidFill>
                <a:latin typeface="微软雅黑 Light" panose="020B0502040204020203" pitchFamily="34" charset="-122"/>
                <a:ea typeface="微软雅黑 Light" panose="020B0502040204020203" pitchFamily="34" charset="-122"/>
              </a:rPr>
              <a:t>（</a:t>
            </a:r>
            <a:r>
              <a:rPr lang="en-US" altLang="zh-CN" sz="2400" i="1" dirty="0">
                <a:solidFill>
                  <a:srgbClr val="000000"/>
                </a:solidFill>
                <a:latin typeface="微软雅黑 Light" panose="020B0502040204020203" pitchFamily="34" charset="-122"/>
                <a:ea typeface="微软雅黑 Light" panose="020B0502040204020203" pitchFamily="34" charset="-122"/>
              </a:rPr>
              <a:t>W</a:t>
            </a:r>
            <a:r>
              <a:rPr lang="zh-CN" altLang="en-US" sz="2400" dirty="0">
                <a:solidFill>
                  <a:srgbClr val="000000"/>
                </a:solidFill>
                <a:latin typeface="微软雅黑 Light" panose="020B0502040204020203" pitchFamily="34" charset="-122"/>
                <a:ea typeface="微软雅黑 Light" panose="020B0502040204020203" pitchFamily="34" charset="-122"/>
              </a:rPr>
              <a:t>，</a:t>
            </a:r>
            <a:r>
              <a:rPr lang="en-US" altLang="zh-CN" sz="2400" i="1" dirty="0">
                <a:solidFill>
                  <a:srgbClr val="000000"/>
                </a:solidFill>
                <a:latin typeface="微软雅黑 Light" panose="020B0502040204020203" pitchFamily="34" charset="-122"/>
                <a:ea typeface="微软雅黑 Light" panose="020B0502040204020203" pitchFamily="34" charset="-122"/>
              </a:rPr>
              <a:t>b</a:t>
            </a:r>
            <a:r>
              <a:rPr lang="zh-CN" altLang="en-US" sz="2400" dirty="0">
                <a:solidFill>
                  <a:srgbClr val="000000"/>
                </a:solidFill>
                <a:latin typeface="微软雅黑 Light" panose="020B0502040204020203" pitchFamily="34" charset="-122"/>
                <a:ea typeface="微软雅黑 Light" panose="020B0502040204020203" pitchFamily="34" charset="-122"/>
              </a:rPr>
              <a:t>）合称为神经网络的参数</a:t>
            </a:r>
            <a:endParaRPr lang="en-US" altLang="zh-CN" sz="2400" dirty="0">
              <a:solidFill>
                <a:srgbClr val="000000"/>
              </a:solidFill>
              <a:latin typeface="微软雅黑 Light" panose="020B0502040204020203" pitchFamily="34" charset="-122"/>
              <a:ea typeface="微软雅黑 Light" panose="020B0502040204020203" pitchFamily="34" charset="-122"/>
            </a:endParaRPr>
          </a:p>
        </p:txBody>
      </p:sp>
      <p:cxnSp>
        <p:nvCxnSpPr>
          <p:cNvPr id="99" name="直接箭头连接符 98"/>
          <p:cNvCxnSpPr/>
          <p:nvPr/>
        </p:nvCxnSpPr>
        <p:spPr>
          <a:xfrm>
            <a:off x="7005694" y="3524513"/>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100" name="直接箭头连接符 99"/>
          <p:cNvCxnSpPr/>
          <p:nvPr/>
        </p:nvCxnSpPr>
        <p:spPr>
          <a:xfrm>
            <a:off x="7005694" y="4317010"/>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101" name="矩形 100"/>
              <p:cNvSpPr/>
              <p:nvPr/>
            </p:nvSpPr>
            <p:spPr>
              <a:xfrm>
                <a:off x="2879465" y="2384962"/>
                <a:ext cx="681149" cy="4609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(1)</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01" name="矩形 100"/>
              <p:cNvSpPr>
                <a:spLocks noRot="1" noChangeAspect="1" noMove="1" noResize="1" noEditPoints="1" noAdjustHandles="1" noChangeArrowheads="1" noChangeShapeType="1" noTextEdit="1"/>
              </p:cNvSpPr>
              <p:nvPr/>
            </p:nvSpPr>
            <p:spPr>
              <a:xfrm>
                <a:off x="2879465" y="2384962"/>
                <a:ext cx="681149" cy="460960"/>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矩形 101"/>
              <p:cNvSpPr/>
              <p:nvPr/>
            </p:nvSpPr>
            <p:spPr>
              <a:xfrm>
                <a:off x="2810683" y="2855630"/>
                <a:ext cx="674736" cy="4612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smtClea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m:t>
                          </m:r>
                          <m:r>
                            <a:rPr lang="en-US" altLang="zh-CN" b="0" i="1" kern="0" smtClean="0">
                              <a:latin typeface="Cambria Math" panose="02040503050406030204" pitchFamily="18" charset="0"/>
                              <a:ea typeface="微软雅黑" panose="020B0503020204020204" pitchFamily="34" charset="-122"/>
                            </a:rPr>
                            <m:t>2</m:t>
                          </m:r>
                        </m:sub>
                        <m:sup>
                          <m:r>
                            <a:rPr lang="en-US" altLang="zh-CN" i="1" kern="0">
                              <a:latin typeface="Cambria Math" panose="02040503050406030204" pitchFamily="18" charset="0"/>
                              <a:ea typeface="微软雅黑" panose="020B0503020204020204" pitchFamily="34" charset="-122"/>
                            </a:rPr>
                            <m:t>(1)</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02" name="矩形 101"/>
              <p:cNvSpPr>
                <a:spLocks noRot="1" noChangeAspect="1" noMove="1" noResize="1" noEditPoints="1" noAdjustHandles="1" noChangeArrowheads="1" noChangeShapeType="1" noTextEdit="1"/>
              </p:cNvSpPr>
              <p:nvPr/>
            </p:nvSpPr>
            <p:spPr>
              <a:xfrm>
                <a:off x="2810683" y="2855630"/>
                <a:ext cx="674736" cy="461217"/>
              </a:xfrm>
              <a:prstGeom prst="rect">
                <a:avLst/>
              </a:prstGeom>
              <a:blipFill rotWithShape="0">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矩形 102"/>
              <p:cNvSpPr/>
              <p:nvPr/>
            </p:nvSpPr>
            <p:spPr>
              <a:xfrm>
                <a:off x="2700225" y="3288116"/>
                <a:ext cx="674736" cy="4612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smtClea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1</m:t>
                          </m:r>
                        </m:sub>
                        <m:sup>
                          <m:r>
                            <a:rPr lang="en-US" altLang="zh-CN" i="1" kern="0">
                              <a:latin typeface="Cambria Math" panose="02040503050406030204" pitchFamily="18" charset="0"/>
                              <a:ea typeface="微软雅黑" panose="020B0503020204020204" pitchFamily="34" charset="-122"/>
                            </a:rPr>
                            <m:t>(1)</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03" name="矩形 102"/>
              <p:cNvSpPr>
                <a:spLocks noRot="1" noChangeAspect="1" noMove="1" noResize="1" noEditPoints="1" noAdjustHandles="1" noChangeArrowheads="1" noChangeShapeType="1" noTextEdit="1"/>
              </p:cNvSpPr>
              <p:nvPr/>
            </p:nvSpPr>
            <p:spPr>
              <a:xfrm>
                <a:off x="2700225" y="3288116"/>
                <a:ext cx="674736" cy="461217"/>
              </a:xfrm>
              <a:prstGeom prst="rect">
                <a:avLst/>
              </a:prstGeom>
              <a:blipFill rotWithShape="0">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矩形 103"/>
              <p:cNvSpPr/>
              <p:nvPr/>
            </p:nvSpPr>
            <p:spPr>
              <a:xfrm>
                <a:off x="2733677" y="3755954"/>
                <a:ext cx="674736" cy="4612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smtClea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sub>
                        <m:sup>
                          <m:r>
                            <a:rPr lang="en-US" altLang="zh-CN" i="1" kern="0">
                              <a:latin typeface="Cambria Math" panose="02040503050406030204" pitchFamily="18" charset="0"/>
                              <a:ea typeface="微软雅黑" panose="020B0503020204020204" pitchFamily="34" charset="-122"/>
                            </a:rPr>
                            <m:t>(1)</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04" name="矩形 103"/>
              <p:cNvSpPr>
                <a:spLocks noRot="1" noChangeAspect="1" noMove="1" noResize="1" noEditPoints="1" noAdjustHandles="1" noChangeArrowheads="1" noChangeShapeType="1" noTextEdit="1"/>
              </p:cNvSpPr>
              <p:nvPr/>
            </p:nvSpPr>
            <p:spPr>
              <a:xfrm>
                <a:off x="2733677" y="3755954"/>
                <a:ext cx="674736" cy="461217"/>
              </a:xfrm>
              <a:prstGeom prst="rect">
                <a:avLst/>
              </a:prstGeom>
              <a:blipFill rotWithShape="0">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5" name="矩形 104"/>
              <p:cNvSpPr/>
              <p:nvPr/>
            </p:nvSpPr>
            <p:spPr>
              <a:xfrm>
                <a:off x="2754972" y="4470800"/>
                <a:ext cx="674736" cy="4612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smtClea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3</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1</m:t>
                          </m:r>
                        </m:sub>
                        <m:sup>
                          <m:r>
                            <a:rPr lang="en-US" altLang="zh-CN" i="1" kern="0">
                              <a:latin typeface="Cambria Math" panose="02040503050406030204" pitchFamily="18" charset="0"/>
                              <a:ea typeface="微软雅黑" panose="020B0503020204020204" pitchFamily="34" charset="-122"/>
                            </a:rPr>
                            <m:t>(1)</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05" name="矩形 104"/>
              <p:cNvSpPr>
                <a:spLocks noRot="1" noChangeAspect="1" noMove="1" noResize="1" noEditPoints="1" noAdjustHandles="1" noChangeArrowheads="1" noChangeShapeType="1" noTextEdit="1"/>
              </p:cNvSpPr>
              <p:nvPr/>
            </p:nvSpPr>
            <p:spPr>
              <a:xfrm>
                <a:off x="2754972" y="4470800"/>
                <a:ext cx="674736" cy="461217"/>
              </a:xfrm>
              <a:prstGeom prst="rect">
                <a:avLst/>
              </a:prstGeom>
              <a:blipFill rotWithShape="0">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矩形 105"/>
              <p:cNvSpPr/>
              <p:nvPr/>
            </p:nvSpPr>
            <p:spPr>
              <a:xfrm>
                <a:off x="2828526" y="4994938"/>
                <a:ext cx="674736" cy="4612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smtClea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3</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sub>
                        <m:sup>
                          <m:r>
                            <a:rPr lang="en-US" altLang="zh-CN" i="1" kern="0">
                              <a:latin typeface="Cambria Math" panose="02040503050406030204" pitchFamily="18" charset="0"/>
                              <a:ea typeface="微软雅黑" panose="020B0503020204020204" pitchFamily="34" charset="-122"/>
                            </a:rPr>
                            <m:t>(1)</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06" name="矩形 105"/>
              <p:cNvSpPr>
                <a:spLocks noRot="1" noChangeAspect="1" noMove="1" noResize="1" noEditPoints="1" noAdjustHandles="1" noChangeArrowheads="1" noChangeShapeType="1" noTextEdit="1"/>
              </p:cNvSpPr>
              <p:nvPr/>
            </p:nvSpPr>
            <p:spPr>
              <a:xfrm>
                <a:off x="2828526" y="4994938"/>
                <a:ext cx="674736" cy="461217"/>
              </a:xfrm>
              <a:prstGeom prst="rect">
                <a:avLst/>
              </a:prstGeom>
              <a:blipFill rotWithShape="0">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矩形 106"/>
              <p:cNvSpPr/>
              <p:nvPr/>
            </p:nvSpPr>
            <p:spPr>
              <a:xfrm>
                <a:off x="5186027" y="2877160"/>
                <a:ext cx="674736" cy="4609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smtClea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07" name="矩形 106"/>
              <p:cNvSpPr>
                <a:spLocks noRot="1" noChangeAspect="1" noMove="1" noResize="1" noEditPoints="1" noAdjustHandles="1" noChangeArrowheads="1" noChangeShapeType="1" noTextEdit="1"/>
              </p:cNvSpPr>
              <p:nvPr/>
            </p:nvSpPr>
            <p:spPr>
              <a:xfrm>
                <a:off x="5186027" y="2877160"/>
                <a:ext cx="674736" cy="460960"/>
              </a:xfrm>
              <a:prstGeom prst="rect">
                <a:avLst/>
              </a:prstGeom>
              <a:blipFill rotWithShape="0">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矩形 107"/>
              <p:cNvSpPr/>
              <p:nvPr/>
            </p:nvSpPr>
            <p:spPr>
              <a:xfrm>
                <a:off x="5117111" y="3310537"/>
                <a:ext cx="674736" cy="4609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smtClea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m:t>
                          </m:r>
                          <m:r>
                            <a:rPr lang="en-US" altLang="zh-CN" b="0" i="1" kern="0" smtClean="0">
                              <a:latin typeface="Cambria Math" panose="02040503050406030204" pitchFamily="18" charset="0"/>
                              <a:ea typeface="微软雅黑" panose="020B0503020204020204" pitchFamily="34" charset="-122"/>
                            </a:rPr>
                            <m:t>2</m:t>
                          </m:r>
                        </m:sub>
                        <m:sup>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08" name="矩形 107"/>
              <p:cNvSpPr>
                <a:spLocks noRot="1" noChangeAspect="1" noMove="1" noResize="1" noEditPoints="1" noAdjustHandles="1" noChangeArrowheads="1" noChangeShapeType="1" noTextEdit="1"/>
              </p:cNvSpPr>
              <p:nvPr/>
            </p:nvSpPr>
            <p:spPr>
              <a:xfrm>
                <a:off x="5117111" y="3310537"/>
                <a:ext cx="674736" cy="460960"/>
              </a:xfrm>
              <a:prstGeom prst="rect">
                <a:avLst/>
              </a:prstGeom>
              <a:blipFill rotWithShape="0">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9" name="矩形 108"/>
              <p:cNvSpPr/>
              <p:nvPr/>
            </p:nvSpPr>
            <p:spPr>
              <a:xfrm>
                <a:off x="5062865" y="3889200"/>
                <a:ext cx="674736" cy="4609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smtClea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1</m:t>
                          </m:r>
                        </m:sub>
                        <m:sup>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09" name="矩形 108"/>
              <p:cNvSpPr>
                <a:spLocks noRot="1" noChangeAspect="1" noMove="1" noResize="1" noEditPoints="1" noAdjustHandles="1" noChangeArrowheads="1" noChangeShapeType="1" noTextEdit="1"/>
              </p:cNvSpPr>
              <p:nvPr/>
            </p:nvSpPr>
            <p:spPr>
              <a:xfrm>
                <a:off x="5062865" y="3889200"/>
                <a:ext cx="674736" cy="460960"/>
              </a:xfrm>
              <a:prstGeom prst="rect">
                <a:avLst/>
              </a:prstGeom>
              <a:blipFill rotWithShape="0">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矩形 109"/>
              <p:cNvSpPr/>
              <p:nvPr/>
            </p:nvSpPr>
            <p:spPr>
              <a:xfrm>
                <a:off x="5105847" y="4446142"/>
                <a:ext cx="674736" cy="4609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i="1" kern="0" smtClea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sub>
                        <m:sup>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sup>
                      </m:sSubSup>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110" name="矩形 109"/>
              <p:cNvSpPr>
                <a:spLocks noRot="1" noChangeAspect="1" noMove="1" noResize="1" noEditPoints="1" noAdjustHandles="1" noChangeArrowheads="1" noChangeShapeType="1" noTextEdit="1"/>
              </p:cNvSpPr>
              <p:nvPr/>
            </p:nvSpPr>
            <p:spPr>
              <a:xfrm>
                <a:off x="5105847" y="4446142"/>
                <a:ext cx="674736" cy="460960"/>
              </a:xfrm>
              <a:prstGeom prst="rect">
                <a:avLst/>
              </a:prstGeom>
              <a:blipFill rotWithShape="0">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文本框 110"/>
              <p:cNvSpPr txBox="1"/>
              <p:nvPr/>
            </p:nvSpPr>
            <p:spPr>
              <a:xfrm>
                <a:off x="1740042" y="2485420"/>
                <a:ext cx="2857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Light" panose="020B0502040204020203" pitchFamily="34" charset="-122"/>
                            </a:rPr>
                          </m:ctrlPr>
                        </m:sSubPr>
                        <m:e>
                          <m:r>
                            <a:rPr lang="en-US" altLang="zh-CN" b="0" i="1" smtClean="0">
                              <a:latin typeface="Cambria Math" panose="02040503050406030204" pitchFamily="18" charset="0"/>
                              <a:ea typeface="微软雅黑 Light" panose="020B0502040204020203" pitchFamily="34" charset="-122"/>
                            </a:rPr>
                            <m:t>𝑥</m:t>
                          </m:r>
                        </m:e>
                        <m:sub>
                          <m:r>
                            <a:rPr lang="en-US" altLang="zh-CN" b="0" i="1" smtClean="0">
                              <a:latin typeface="Cambria Math" panose="02040503050406030204" pitchFamily="18" charset="0"/>
                              <a:ea typeface="微软雅黑 Light" panose="020B0502040204020203" pitchFamily="34" charset="-122"/>
                            </a:rPr>
                            <m:t>1</m:t>
                          </m:r>
                        </m:sub>
                      </m:sSub>
                    </m:oMath>
                  </m:oMathPara>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1" name="文本框 110"/>
              <p:cNvSpPr txBox="1">
                <a:spLocks noRot="1" noChangeAspect="1" noMove="1" noResize="1" noEditPoints="1" noAdjustHandles="1" noChangeArrowheads="1" noChangeShapeType="1" noTextEdit="1"/>
              </p:cNvSpPr>
              <p:nvPr/>
            </p:nvSpPr>
            <p:spPr>
              <a:xfrm>
                <a:off x="1740042" y="2485420"/>
                <a:ext cx="285719" cy="276999"/>
              </a:xfrm>
              <a:prstGeom prst="rect">
                <a:avLst/>
              </a:prstGeom>
              <a:blipFill rotWithShape="0">
                <a:blip r:embed="rId20"/>
                <a:stretch>
                  <a:fillRect l="-10638" r="-6383"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文本框 111"/>
              <p:cNvSpPr txBox="1"/>
              <p:nvPr/>
            </p:nvSpPr>
            <p:spPr>
              <a:xfrm>
                <a:off x="1717331" y="3833093"/>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Light" panose="020B0502040204020203" pitchFamily="34" charset="-122"/>
                            </a:rPr>
                          </m:ctrlPr>
                        </m:sSubPr>
                        <m:e>
                          <m:r>
                            <a:rPr lang="en-US" altLang="zh-CN" b="0" i="1" smtClean="0">
                              <a:latin typeface="Cambria Math" panose="02040503050406030204" pitchFamily="18" charset="0"/>
                              <a:ea typeface="微软雅黑 Light" panose="020B0502040204020203" pitchFamily="34" charset="-122"/>
                            </a:rPr>
                            <m:t>𝑥</m:t>
                          </m:r>
                        </m:e>
                        <m:sub>
                          <m:r>
                            <a:rPr lang="en-US" altLang="zh-CN" b="0" i="1" smtClean="0">
                              <a:latin typeface="Cambria Math" panose="02040503050406030204" pitchFamily="18" charset="0"/>
                              <a:ea typeface="微软雅黑 Light" panose="020B0502040204020203" pitchFamily="34" charset="-122"/>
                            </a:rPr>
                            <m:t>2</m:t>
                          </m:r>
                        </m:sub>
                      </m:sSub>
                    </m:oMath>
                  </m:oMathPara>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2" name="文本框 111"/>
              <p:cNvSpPr txBox="1">
                <a:spLocks noRot="1" noChangeAspect="1" noMove="1" noResize="1" noEditPoints="1" noAdjustHandles="1" noChangeArrowheads="1" noChangeShapeType="1" noTextEdit="1"/>
              </p:cNvSpPr>
              <p:nvPr/>
            </p:nvSpPr>
            <p:spPr>
              <a:xfrm>
                <a:off x="1717331" y="3833093"/>
                <a:ext cx="291042" cy="276999"/>
              </a:xfrm>
              <a:prstGeom prst="rect">
                <a:avLst/>
              </a:prstGeom>
              <a:blipFill rotWithShape="0">
                <a:blip r:embed="rId21"/>
                <a:stretch>
                  <a:fillRect l="-10638" r="-6383"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本框 112"/>
              <p:cNvSpPr txBox="1"/>
              <p:nvPr/>
            </p:nvSpPr>
            <p:spPr>
              <a:xfrm>
                <a:off x="1740042" y="5113651"/>
                <a:ext cx="2910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Light" panose="020B0502040204020203" pitchFamily="34" charset="-122"/>
                            </a:rPr>
                          </m:ctrlPr>
                        </m:sSubPr>
                        <m:e>
                          <m:r>
                            <a:rPr lang="en-US" altLang="zh-CN" b="0" i="1" smtClean="0">
                              <a:latin typeface="Cambria Math" panose="02040503050406030204" pitchFamily="18" charset="0"/>
                              <a:ea typeface="微软雅黑 Light" panose="020B0502040204020203" pitchFamily="34" charset="-122"/>
                            </a:rPr>
                            <m:t>𝑥</m:t>
                          </m:r>
                        </m:e>
                        <m:sub>
                          <m:r>
                            <a:rPr lang="en-US" altLang="zh-CN" b="0" i="1" smtClean="0">
                              <a:latin typeface="Cambria Math" panose="02040503050406030204" pitchFamily="18" charset="0"/>
                              <a:ea typeface="微软雅黑 Light" panose="020B0502040204020203" pitchFamily="34" charset="-122"/>
                            </a:rPr>
                            <m:t>3</m:t>
                          </m:r>
                        </m:sub>
                      </m:sSub>
                    </m:oMath>
                  </m:oMathPara>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3" name="文本框 112"/>
              <p:cNvSpPr txBox="1">
                <a:spLocks noRot="1" noChangeAspect="1" noMove="1" noResize="1" noEditPoints="1" noAdjustHandles="1" noChangeArrowheads="1" noChangeShapeType="1" noTextEdit="1"/>
              </p:cNvSpPr>
              <p:nvPr/>
            </p:nvSpPr>
            <p:spPr>
              <a:xfrm>
                <a:off x="1740042" y="5113651"/>
                <a:ext cx="291042" cy="276999"/>
              </a:xfrm>
              <a:prstGeom prst="rect">
                <a:avLst/>
              </a:prstGeom>
              <a:blipFill rotWithShape="0">
                <a:blip r:embed="rId22"/>
                <a:stretch>
                  <a:fillRect l="-10417" r="-6250"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文本框 113"/>
              <p:cNvSpPr txBox="1"/>
              <p:nvPr/>
            </p:nvSpPr>
            <p:spPr>
              <a:xfrm>
                <a:off x="4773223" y="2808821"/>
                <a:ext cx="2927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Light" panose="020B0502040204020203" pitchFamily="34" charset="-122"/>
                            </a:rPr>
                          </m:ctrlPr>
                        </m:sSubPr>
                        <m:e>
                          <m:r>
                            <a:rPr lang="en-US" altLang="zh-CN" b="0" i="1" smtClean="0">
                              <a:latin typeface="Cambria Math" panose="02040503050406030204" pitchFamily="18" charset="0"/>
                              <a:ea typeface="微软雅黑 Light" panose="020B0502040204020203" pitchFamily="34" charset="-122"/>
                            </a:rPr>
                            <m:t>h</m:t>
                          </m:r>
                        </m:e>
                        <m:sub>
                          <m:r>
                            <a:rPr lang="en-US" altLang="zh-CN" b="0" i="1" smtClean="0">
                              <a:latin typeface="Cambria Math" panose="02040503050406030204" pitchFamily="18" charset="0"/>
                              <a:ea typeface="微软雅黑 Light" panose="020B0502040204020203" pitchFamily="34" charset="-122"/>
                            </a:rPr>
                            <m:t>1</m:t>
                          </m:r>
                        </m:sub>
                      </m:sSub>
                    </m:oMath>
                  </m:oMathPara>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4" name="文本框 113"/>
              <p:cNvSpPr txBox="1">
                <a:spLocks noRot="1" noChangeAspect="1" noMove="1" noResize="1" noEditPoints="1" noAdjustHandles="1" noChangeArrowheads="1" noChangeShapeType="1" noTextEdit="1"/>
              </p:cNvSpPr>
              <p:nvPr/>
            </p:nvSpPr>
            <p:spPr>
              <a:xfrm>
                <a:off x="4773223" y="2808821"/>
                <a:ext cx="292772" cy="276999"/>
              </a:xfrm>
              <a:prstGeom prst="rect">
                <a:avLst/>
              </a:prstGeom>
              <a:blipFill rotWithShape="0">
                <a:blip r:embed="rId23"/>
                <a:stretch>
                  <a:fillRect l="-18750" r="-6250"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 name="文本框 114"/>
              <p:cNvSpPr txBox="1"/>
              <p:nvPr/>
            </p:nvSpPr>
            <p:spPr>
              <a:xfrm>
                <a:off x="4650577" y="3924830"/>
                <a:ext cx="2980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Light" panose="020B0502040204020203" pitchFamily="34" charset="-122"/>
                            </a:rPr>
                          </m:ctrlPr>
                        </m:sSubPr>
                        <m:e>
                          <m:r>
                            <a:rPr lang="en-US" altLang="zh-CN" b="0" i="1" smtClean="0">
                              <a:latin typeface="Cambria Math" panose="02040503050406030204" pitchFamily="18" charset="0"/>
                              <a:ea typeface="微软雅黑 Light" panose="020B0502040204020203" pitchFamily="34" charset="-122"/>
                            </a:rPr>
                            <m:t>h</m:t>
                          </m:r>
                        </m:e>
                        <m:sub>
                          <m:r>
                            <a:rPr lang="en-US" altLang="zh-CN" b="0" i="1" smtClean="0">
                              <a:latin typeface="Cambria Math" panose="02040503050406030204" pitchFamily="18" charset="0"/>
                              <a:ea typeface="微软雅黑 Light" panose="020B0502040204020203" pitchFamily="34" charset="-122"/>
                            </a:rPr>
                            <m:t>2</m:t>
                          </m:r>
                        </m:sub>
                      </m:sSub>
                    </m:oMath>
                  </m:oMathPara>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5" name="文本框 114"/>
              <p:cNvSpPr txBox="1">
                <a:spLocks noRot="1" noChangeAspect="1" noMove="1" noResize="1" noEditPoints="1" noAdjustHandles="1" noChangeArrowheads="1" noChangeShapeType="1" noTextEdit="1"/>
              </p:cNvSpPr>
              <p:nvPr/>
            </p:nvSpPr>
            <p:spPr>
              <a:xfrm>
                <a:off x="4650577" y="3924830"/>
                <a:ext cx="298094" cy="276999"/>
              </a:xfrm>
              <a:prstGeom prst="rect">
                <a:avLst/>
              </a:prstGeom>
              <a:blipFill rotWithShape="0">
                <a:blip r:embed="rId24"/>
                <a:stretch>
                  <a:fillRect l="-18367" r="-4082"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文本框 115"/>
              <p:cNvSpPr txBox="1"/>
              <p:nvPr/>
            </p:nvSpPr>
            <p:spPr>
              <a:xfrm>
                <a:off x="7043948" y="3211822"/>
                <a:ext cx="2873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Light" panose="020B0502040204020203" pitchFamily="34" charset="-122"/>
                            </a:rPr>
                          </m:ctrlPr>
                        </m:sSubPr>
                        <m:e>
                          <m:r>
                            <a:rPr lang="en-US" altLang="zh-CN" b="0" i="1" smtClean="0">
                              <a:latin typeface="Cambria Math" panose="02040503050406030204" pitchFamily="18" charset="0"/>
                              <a:ea typeface="微软雅黑 Light" panose="020B0502040204020203" pitchFamily="34" charset="-122"/>
                            </a:rPr>
                            <m:t>𝑦</m:t>
                          </m:r>
                        </m:e>
                        <m:sub>
                          <m:r>
                            <a:rPr lang="en-US" altLang="zh-CN" b="0" i="1" smtClean="0">
                              <a:latin typeface="Cambria Math" panose="02040503050406030204" pitchFamily="18" charset="0"/>
                              <a:ea typeface="微软雅黑 Light" panose="020B0502040204020203" pitchFamily="34" charset="-122"/>
                            </a:rPr>
                            <m:t>1</m:t>
                          </m:r>
                        </m:sub>
                      </m:sSub>
                    </m:oMath>
                  </m:oMathPara>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6" name="文本框 115"/>
              <p:cNvSpPr txBox="1">
                <a:spLocks noRot="1" noChangeAspect="1" noMove="1" noResize="1" noEditPoints="1" noAdjustHandles="1" noChangeArrowheads="1" noChangeShapeType="1" noTextEdit="1"/>
              </p:cNvSpPr>
              <p:nvPr/>
            </p:nvSpPr>
            <p:spPr>
              <a:xfrm>
                <a:off x="7043948" y="3211822"/>
                <a:ext cx="287386" cy="276999"/>
              </a:xfrm>
              <a:prstGeom prst="rect">
                <a:avLst/>
              </a:prstGeom>
              <a:blipFill rotWithShape="0">
                <a:blip r:embed="rId25"/>
                <a:stretch>
                  <a:fillRect l="-19149" r="-4255" b="-2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 name="文本框 116"/>
              <p:cNvSpPr txBox="1"/>
              <p:nvPr/>
            </p:nvSpPr>
            <p:spPr>
              <a:xfrm>
                <a:off x="7057392" y="4014372"/>
                <a:ext cx="2927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Light" panose="020B0502040204020203" pitchFamily="34" charset="-122"/>
                            </a:rPr>
                          </m:ctrlPr>
                        </m:sSubPr>
                        <m:e>
                          <m:r>
                            <a:rPr lang="en-US" altLang="zh-CN" b="0" i="1" smtClean="0">
                              <a:latin typeface="Cambria Math" panose="02040503050406030204" pitchFamily="18" charset="0"/>
                              <a:ea typeface="微软雅黑 Light" panose="020B0502040204020203" pitchFamily="34" charset="-122"/>
                            </a:rPr>
                            <m:t>𝑦</m:t>
                          </m:r>
                        </m:e>
                        <m:sub>
                          <m:r>
                            <a:rPr lang="en-US" altLang="zh-CN" b="0" i="1" smtClean="0">
                              <a:latin typeface="Cambria Math" panose="02040503050406030204" pitchFamily="18" charset="0"/>
                              <a:ea typeface="微软雅黑 Light" panose="020B0502040204020203" pitchFamily="34" charset="-122"/>
                            </a:rPr>
                            <m:t>2</m:t>
                          </m:r>
                        </m:sub>
                      </m:sSub>
                    </m:oMath>
                  </m:oMathPara>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7" name="文本框 116"/>
              <p:cNvSpPr txBox="1">
                <a:spLocks noRot="1" noChangeAspect="1" noMove="1" noResize="1" noEditPoints="1" noAdjustHandles="1" noChangeArrowheads="1" noChangeShapeType="1" noTextEdit="1"/>
              </p:cNvSpPr>
              <p:nvPr/>
            </p:nvSpPr>
            <p:spPr>
              <a:xfrm>
                <a:off x="7057392" y="4014372"/>
                <a:ext cx="292708" cy="276999"/>
              </a:xfrm>
              <a:prstGeom prst="rect">
                <a:avLst/>
              </a:prstGeom>
              <a:blipFill rotWithShape="0">
                <a:blip r:embed="rId26"/>
                <a:stretch>
                  <a:fillRect l="-18750" r="-4167" b="-2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文本框 117"/>
              <p:cNvSpPr txBox="1"/>
              <p:nvPr/>
            </p:nvSpPr>
            <p:spPr>
              <a:xfrm>
                <a:off x="3526278" y="5436430"/>
                <a:ext cx="2822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Light" panose="020B0502040204020203" pitchFamily="34" charset="-122"/>
                            </a:rPr>
                          </m:ctrlPr>
                        </m:sSubPr>
                        <m:e>
                          <m:r>
                            <a:rPr lang="en-US" altLang="zh-CN" b="0" i="1" smtClean="0">
                              <a:latin typeface="Cambria Math" panose="02040503050406030204" pitchFamily="18" charset="0"/>
                              <a:ea typeface="微软雅黑 Light" panose="020B0502040204020203" pitchFamily="34" charset="-122"/>
                            </a:rPr>
                            <m:t>𝑏</m:t>
                          </m:r>
                        </m:e>
                        <m:sub>
                          <m:r>
                            <a:rPr lang="en-US" altLang="zh-CN" b="0" i="1" smtClean="0">
                              <a:latin typeface="Cambria Math" panose="02040503050406030204" pitchFamily="18" charset="0"/>
                              <a:ea typeface="微软雅黑 Light" panose="020B0502040204020203" pitchFamily="34" charset="-122"/>
                            </a:rPr>
                            <m:t>1</m:t>
                          </m:r>
                        </m:sub>
                      </m:sSub>
                    </m:oMath>
                  </m:oMathPara>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8" name="文本框 117"/>
              <p:cNvSpPr txBox="1">
                <a:spLocks noRot="1" noChangeAspect="1" noMove="1" noResize="1" noEditPoints="1" noAdjustHandles="1" noChangeArrowheads="1" noChangeShapeType="1" noTextEdit="1"/>
              </p:cNvSpPr>
              <p:nvPr/>
            </p:nvSpPr>
            <p:spPr>
              <a:xfrm>
                <a:off x="3526278" y="5436430"/>
                <a:ext cx="282257" cy="276999"/>
              </a:xfrm>
              <a:prstGeom prst="rect">
                <a:avLst/>
              </a:prstGeom>
              <a:blipFill rotWithShape="0">
                <a:blip r:embed="rId27"/>
                <a:stretch>
                  <a:fillRect l="-19149" r="-4255"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 name="文本框 118"/>
              <p:cNvSpPr txBox="1"/>
              <p:nvPr/>
            </p:nvSpPr>
            <p:spPr>
              <a:xfrm>
                <a:off x="5440324" y="5457510"/>
                <a:ext cx="2875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微软雅黑 Light" panose="020B0502040204020203" pitchFamily="34" charset="-122"/>
                            </a:rPr>
                          </m:ctrlPr>
                        </m:sSubPr>
                        <m:e>
                          <m:r>
                            <a:rPr lang="en-US" altLang="zh-CN" b="0" i="1" smtClean="0">
                              <a:latin typeface="Cambria Math" panose="02040503050406030204" pitchFamily="18" charset="0"/>
                              <a:ea typeface="微软雅黑 Light" panose="020B0502040204020203" pitchFamily="34" charset="-122"/>
                            </a:rPr>
                            <m:t>𝑏</m:t>
                          </m:r>
                        </m:e>
                        <m:sub>
                          <m:r>
                            <a:rPr lang="en-US" altLang="zh-CN" b="0" i="1" smtClean="0">
                              <a:latin typeface="Cambria Math" panose="02040503050406030204" pitchFamily="18" charset="0"/>
                              <a:ea typeface="微软雅黑 Light" panose="020B0502040204020203" pitchFamily="34" charset="-122"/>
                            </a:rPr>
                            <m:t>2</m:t>
                          </m:r>
                        </m:sub>
                      </m:sSub>
                    </m:oMath>
                  </m:oMathPara>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9" name="文本框 118"/>
              <p:cNvSpPr txBox="1">
                <a:spLocks noRot="1" noChangeAspect="1" noMove="1" noResize="1" noEditPoints="1" noAdjustHandles="1" noChangeArrowheads="1" noChangeShapeType="1" noTextEdit="1"/>
              </p:cNvSpPr>
              <p:nvPr/>
            </p:nvSpPr>
            <p:spPr>
              <a:xfrm>
                <a:off x="5440324" y="5457510"/>
                <a:ext cx="287579" cy="276999"/>
              </a:xfrm>
              <a:prstGeom prst="rect">
                <a:avLst/>
              </a:prstGeom>
              <a:blipFill rotWithShape="0">
                <a:blip r:embed="rId28"/>
                <a:stretch>
                  <a:fillRect l="-18750" r="-4167" b="-17391"/>
                </a:stretch>
              </a:blipFill>
            </p:spPr>
            <p:txBody>
              <a:bodyPr/>
              <a:lstStyle/>
              <a:p>
                <a:r>
                  <a:rPr lang="zh-CN" altLang="en-US">
                    <a:noFill/>
                  </a:rPr>
                  <a:t> </a:t>
                </a:r>
              </a:p>
            </p:txBody>
          </p:sp>
        </mc:Fallback>
      </mc:AlternateContent>
      <p:sp>
        <p:nvSpPr>
          <p:cNvPr id="120" name="灯片编号占位符 8">
            <a:extLst>
              <a:ext uri="{FF2B5EF4-FFF2-40B4-BE49-F238E27FC236}">
                <a16:creationId xmlns:a16="http://schemas.microsoft.com/office/drawing/2014/main" id="{4D18CE00-B3FA-49B3-BC66-4D85B68E525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25</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743858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8" name="矩形 7"/>
          <p:cNvSpPr/>
          <p:nvPr/>
        </p:nvSpPr>
        <p:spPr>
          <a:xfrm>
            <a:off x="330656" y="759188"/>
            <a:ext cx="8194365" cy="600164"/>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2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神经网络是通过已知的样本预测未知数据的模型</a:t>
            </a:r>
            <a:endParaRPr lang="en-US" altLang="zh-CN" sz="2200" b="1"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9" name="文本框 8"/>
              <p:cNvSpPr txBox="1"/>
              <p:nvPr/>
            </p:nvSpPr>
            <p:spPr>
              <a:xfrm>
                <a:off x="5865401" y="1761803"/>
                <a:ext cx="3384376" cy="400110"/>
              </a:xfrm>
              <a:prstGeom prst="rect">
                <a:avLst/>
              </a:prstGeom>
              <a:noFill/>
            </p:spPr>
            <p:txBody>
              <a:bodyPr wrap="square" rtlCol="0">
                <a:spAutoFit/>
              </a:bodyPr>
              <a:lstStyle/>
              <a:p>
                <a14:m>
                  <m:oMath xmlns:m="http://schemas.openxmlformats.org/officeDocument/2006/math">
                    <m:r>
                      <a:rPr lang="en-US" altLang="zh-CN" sz="2000" b="1" i="1" smtClean="0">
                        <a:latin typeface="Cambria Math" panose="02040503050406030204" pitchFamily="18" charset="0"/>
                      </a:rPr>
                      <m:t>𝒘</m:t>
                    </m:r>
                    <m:r>
                      <a:rPr lang="en-US" altLang="zh-CN" sz="2000" b="1" i="1" baseline="-25000" smtClean="0">
                        <a:latin typeface="Cambria Math" panose="02040503050406030204" pitchFamily="18" charset="0"/>
                      </a:rPr>
                      <m:t>𝟏</m:t>
                    </m:r>
                    <m:r>
                      <a:rPr lang="en-US" altLang="zh-CN" sz="2000" b="1" i="0" smtClean="0">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b="1" i="1" smtClean="0">
                            <a:latin typeface="Cambria Math" panose="02040503050406030204" pitchFamily="18" charset="0"/>
                          </a:rPr>
                          <m:t>𝒘</m:t>
                        </m:r>
                      </m:e>
                      <m:sub>
                        <m:r>
                          <a:rPr lang="en-US" altLang="zh-CN" sz="2000" b="1" i="1" smtClean="0">
                            <a:latin typeface="Cambria Math" panose="02040503050406030204" pitchFamily="18" charset="0"/>
                          </a:rPr>
                          <m:t>𝟐</m:t>
                        </m:r>
                      </m:sub>
                    </m:sSub>
                  </m:oMath>
                </a14:m>
                <a:r>
                  <a:rPr lang="en-US" altLang="zh-CN" sz="2000" b="1" dirty="0">
                    <a:latin typeface="微软雅黑 Light" panose="020B0502040204020203" pitchFamily="34" charset="-122"/>
                    <a:ea typeface="微软雅黑 Light" panose="020B0502040204020203" pitchFamily="34" charset="-122"/>
                  </a:rPr>
                  <a:t>, </a:t>
                </a:r>
                <a14:m>
                  <m:oMath xmlns:m="http://schemas.openxmlformats.org/officeDocument/2006/math">
                    <m:sSub>
                      <m:sSubPr>
                        <m:ctrlPr>
                          <a:rPr lang="en-US" altLang="zh-CN" sz="2000" b="1" i="1">
                            <a:latin typeface="Cambria Math" panose="02040503050406030204" pitchFamily="18" charset="0"/>
                          </a:rPr>
                        </m:ctrlPr>
                      </m:sSubPr>
                      <m:e>
                        <m:r>
                          <a:rPr lang="en-US" altLang="zh-CN" sz="2000" b="1" i="1" smtClean="0">
                            <a:latin typeface="Cambria Math" panose="02040503050406030204" pitchFamily="18" charset="0"/>
                          </a:rPr>
                          <m:t>𝒘</m:t>
                        </m:r>
                      </m:e>
                      <m:sub>
                        <m:r>
                          <a:rPr lang="en-US" altLang="zh-CN" sz="2000" b="1" i="1" smtClean="0">
                            <a:latin typeface="Cambria Math" panose="02040503050406030204" pitchFamily="18" charset="0"/>
                          </a:rPr>
                          <m:t>𝟑</m:t>
                        </m:r>
                      </m:sub>
                    </m:sSub>
                  </m:oMath>
                </a14:m>
                <a:r>
                  <a:rPr lang="zh-CN" altLang="en-US" sz="2000" b="1" dirty="0">
                    <a:latin typeface="微软雅黑 Light" panose="020B0502040204020203" pitchFamily="34" charset="-122"/>
                    <a:ea typeface="微软雅黑 Light" panose="020B0502040204020203" pitchFamily="34" charset="-122"/>
                  </a:rPr>
                  <a:t> 权值</a:t>
                </a:r>
              </a:p>
            </p:txBody>
          </p:sp>
        </mc:Choice>
        <mc:Fallback xmlns="">
          <p:sp>
            <p:nvSpPr>
              <p:cNvPr id="9" name="文本框 8"/>
              <p:cNvSpPr txBox="1">
                <a:spLocks noRot="1" noChangeAspect="1" noMove="1" noResize="1" noEditPoints="1" noAdjustHandles="1" noChangeArrowheads="1" noChangeShapeType="1" noTextEdit="1"/>
              </p:cNvSpPr>
              <p:nvPr/>
            </p:nvSpPr>
            <p:spPr>
              <a:xfrm>
                <a:off x="5865401" y="1761803"/>
                <a:ext cx="3384376" cy="400110"/>
              </a:xfrm>
              <a:prstGeom prst="rect">
                <a:avLst/>
              </a:prstGeom>
              <a:blipFill rotWithShape="0">
                <a:blip r:embed="rId5"/>
                <a:stretch>
                  <a:fillRect t="-7576"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2206830" y="1795200"/>
                <a:ext cx="3406638" cy="400110"/>
              </a:xfrm>
              <a:prstGeom prst="rect">
                <a:avLst/>
              </a:prstGeom>
            </p:spPr>
            <p:txBody>
              <a:bodyPr wrap="none">
                <a:spAutoFit/>
              </a:bodyPr>
              <a:lstStyle/>
              <a:p>
                <a14:m>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𝒚</m:t>
                        </m:r>
                        <m:r>
                          <a:rPr lang="en-US" altLang="zh-CN" sz="2000" b="1" i="1">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b="1" i="1" smtClean="0">
                                <a:latin typeface="Cambria Math" panose="02040503050406030204" pitchFamily="18" charset="0"/>
                              </a:rPr>
                              <m:t>𝒇</m:t>
                            </m:r>
                            <m:r>
                              <a:rPr lang="en-US" altLang="zh-CN" sz="2000" b="1" i="1" smtClean="0">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b="1" i="1" smtClean="0">
                                    <a:latin typeface="Cambria Math" panose="02040503050406030204" pitchFamily="18" charset="0"/>
                                  </a:rPr>
                                  <m:t>𝒘</m:t>
                                </m:r>
                              </m:e>
                              <m:sub>
                                <m:r>
                                  <a:rPr lang="en-US" altLang="zh-CN" sz="2000" b="1" i="1" smtClean="0">
                                    <a:latin typeface="Cambria Math" panose="02040503050406030204" pitchFamily="18" charset="0"/>
                                  </a:rPr>
                                  <m:t>𝟏</m:t>
                                </m:r>
                              </m:sub>
                            </m:sSub>
                            <m:r>
                              <a:rPr lang="en-US" altLang="zh-CN" sz="2000" b="1" i="1">
                                <a:latin typeface="Cambria Math" panose="02040503050406030204" pitchFamily="18" charset="0"/>
                              </a:rPr>
                              <m:t>𝒙</m:t>
                            </m:r>
                          </m:e>
                          <m:sub>
                            <m:r>
                              <a:rPr lang="en-US" altLang="zh-CN" sz="2000" b="1" i="1" smtClean="0">
                                <a:latin typeface="Cambria Math" panose="02040503050406030204" pitchFamily="18" charset="0"/>
                              </a:rPr>
                              <m:t>𝟏</m:t>
                            </m:r>
                          </m:sub>
                        </m:sSub>
                        <m:r>
                          <a:rPr lang="en-US" altLang="zh-CN" sz="2000" b="1" i="1" smtClean="0">
                            <a:latin typeface="Cambria Math" panose="02040503050406030204" pitchFamily="18" charset="0"/>
                          </a:rPr>
                          <m:t>+</m:t>
                        </m:r>
                        <m:sSub>
                          <m:sSubPr>
                            <m:ctrlPr>
                              <a:rPr lang="en-US" altLang="zh-CN" sz="2000" b="1" i="1">
                                <a:latin typeface="Cambria Math" panose="02040503050406030204" pitchFamily="18" charset="0"/>
                              </a:rPr>
                            </m:ctrlPr>
                          </m:sSubPr>
                          <m:e>
                            <m:sSub>
                              <m:sSubPr>
                                <m:ctrlPr>
                                  <a:rPr lang="en-US" altLang="zh-CN" sz="2000" b="1" i="1">
                                    <a:latin typeface="Cambria Math" panose="02040503050406030204" pitchFamily="18" charset="0"/>
                                  </a:rPr>
                                </m:ctrlPr>
                              </m:sSubPr>
                              <m:e>
                                <m:r>
                                  <a:rPr lang="en-US" altLang="zh-CN" sz="2000" b="1" i="1" smtClean="0">
                                    <a:latin typeface="Cambria Math" panose="02040503050406030204" pitchFamily="18" charset="0"/>
                                  </a:rPr>
                                  <m:t>𝒘</m:t>
                                </m:r>
                              </m:e>
                              <m:sub>
                                <m:r>
                                  <a:rPr lang="en-US" altLang="zh-CN" sz="2000" b="1" i="1">
                                    <a:latin typeface="Cambria Math" panose="02040503050406030204" pitchFamily="18" charset="0"/>
                                  </a:rPr>
                                  <m:t>𝟐</m:t>
                                </m:r>
                              </m:sub>
                            </m:sSub>
                            <m:r>
                              <a:rPr lang="en-US" altLang="zh-CN" sz="2000" b="1" i="1">
                                <a:latin typeface="Cambria Math" panose="02040503050406030204" pitchFamily="18" charset="0"/>
                              </a:rPr>
                              <m:t>𝒙</m:t>
                            </m:r>
                          </m:e>
                          <m:sub>
                            <m:r>
                              <a:rPr lang="en-US" altLang="zh-CN" sz="2000" b="1" i="1">
                                <a:latin typeface="Cambria Math" panose="02040503050406030204" pitchFamily="18" charset="0"/>
                              </a:rPr>
                              <m:t>𝟐</m:t>
                            </m:r>
                          </m:sub>
                        </m:sSub>
                        <m:r>
                          <a:rPr lang="en-US" altLang="zh-CN" sz="2000" b="1" i="1" smtClean="0">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b="1" i="1" smtClean="0">
                                <a:latin typeface="Cambria Math" panose="02040503050406030204" pitchFamily="18" charset="0"/>
                              </a:rPr>
                              <m:t>𝒘</m:t>
                            </m:r>
                          </m:e>
                          <m:sub>
                            <m:r>
                              <a:rPr lang="en-US" altLang="zh-CN" sz="2000" b="1" i="1" smtClean="0">
                                <a:latin typeface="Cambria Math" panose="02040503050406030204" pitchFamily="18" charset="0"/>
                              </a:rPr>
                              <m:t>𝟑</m:t>
                            </m:r>
                          </m:sub>
                        </m:sSub>
                        <m:r>
                          <a:rPr lang="en-US" altLang="zh-CN" sz="2000" b="1" i="1">
                            <a:latin typeface="Cambria Math" panose="02040503050406030204" pitchFamily="18" charset="0"/>
                          </a:rPr>
                          <m:t>𝒙</m:t>
                        </m:r>
                      </m:e>
                      <m:sub>
                        <m:r>
                          <a:rPr lang="en-US" altLang="zh-CN" sz="2000" b="1" i="1" smtClean="0">
                            <a:latin typeface="Cambria Math" panose="02040503050406030204" pitchFamily="18" charset="0"/>
                          </a:rPr>
                          <m:t>𝟑</m:t>
                        </m:r>
                      </m:sub>
                    </m:sSub>
                  </m:oMath>
                </a14:m>
                <a:r>
                  <a:rPr lang="en-US" altLang="zh-CN" sz="2000" b="1" dirty="0"/>
                  <a:t>)</a:t>
                </a:r>
                <a:endParaRPr lang="zh-CN" altLang="en-US" sz="2000" b="1" dirty="0"/>
              </a:p>
            </p:txBody>
          </p:sp>
        </mc:Choice>
        <mc:Fallback xmlns="">
          <p:sp>
            <p:nvSpPr>
              <p:cNvPr id="10" name="矩形 9"/>
              <p:cNvSpPr>
                <a:spLocks noRot="1" noChangeAspect="1" noMove="1" noResize="1" noEditPoints="1" noAdjustHandles="1" noChangeArrowheads="1" noChangeShapeType="1" noTextEdit="1"/>
              </p:cNvSpPr>
              <p:nvPr/>
            </p:nvSpPr>
            <p:spPr>
              <a:xfrm>
                <a:off x="2206830" y="1795200"/>
                <a:ext cx="3406638" cy="400110"/>
              </a:xfrm>
              <a:prstGeom prst="rect">
                <a:avLst/>
              </a:prstGeom>
              <a:blipFill rotWithShape="0">
                <a:blip r:embed="rId6"/>
                <a:stretch>
                  <a:fillRect t="-7576" r="-1073"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723397" y="1345941"/>
                <a:ext cx="5799948" cy="400110"/>
              </a:xfrm>
              <a:prstGeom prst="rect">
                <a:avLst/>
              </a:prstGeom>
              <a:noFill/>
            </p:spPr>
            <p:txBody>
              <a:bodyPr wrap="square" rtlCol="0">
                <a:spAutoFit/>
              </a:bodyPr>
              <a:lstStyle/>
              <a:p>
                <a14:m>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r>
                      <a:rPr lang="en-US" altLang="zh-CN" sz="2000" b="1" i="0" smtClean="0">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𝒙</m:t>
                        </m:r>
                      </m:e>
                      <m:sub>
                        <m:r>
                          <a:rPr lang="en-US" altLang="zh-CN" sz="2000" b="1" i="1" smtClean="0">
                            <a:latin typeface="Cambria Math" panose="02040503050406030204" pitchFamily="18" charset="0"/>
                          </a:rPr>
                          <m:t>𝟐</m:t>
                        </m:r>
                      </m:sub>
                    </m:sSub>
                  </m:oMath>
                </a14:m>
                <a:r>
                  <a:rPr lang="en-US" altLang="zh-CN" sz="2000" b="1" dirty="0">
                    <a:latin typeface="微软雅黑 Light" panose="020B0502040204020203" pitchFamily="34" charset="-122"/>
                    <a:ea typeface="微软雅黑 Light" panose="020B0502040204020203" pitchFamily="34" charset="-122"/>
                  </a:rPr>
                  <a:t>, </a:t>
                </a:r>
                <a14:m>
                  <m:oMath xmlns:m="http://schemas.openxmlformats.org/officeDocument/2006/math">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𝒙</m:t>
                        </m:r>
                      </m:e>
                      <m:sub>
                        <m:r>
                          <a:rPr lang="en-US" altLang="zh-CN" sz="2000" b="1" i="1" smtClean="0">
                            <a:latin typeface="Cambria Math" panose="02040503050406030204" pitchFamily="18" charset="0"/>
                          </a:rPr>
                          <m:t>𝟑</m:t>
                        </m:r>
                      </m:sub>
                    </m:sSub>
                  </m:oMath>
                </a14:m>
                <a:r>
                  <a:rPr lang="zh-CN" altLang="en-US" sz="2000" b="1" dirty="0">
                    <a:latin typeface="微软雅黑 Light" panose="020B0502040204020203" pitchFamily="34" charset="-122"/>
                    <a:ea typeface="微软雅黑 Light" panose="020B0502040204020203" pitchFamily="34" charset="-122"/>
                  </a:rPr>
                  <a:t> 已知，用模型计算值 </a:t>
                </a:r>
                <a14:m>
                  <m:oMath xmlns:m="http://schemas.openxmlformats.org/officeDocument/2006/math">
                    <m:acc>
                      <m:accPr>
                        <m:chr m:val="̂"/>
                        <m:ctrlPr>
                          <a:rPr lang="zh-CN" altLang="en-US" sz="2000" b="1" i="1" smtClean="0">
                            <a:latin typeface="Cambria Math" panose="02040503050406030204" pitchFamily="18" charset="0"/>
                            <a:ea typeface="微软雅黑 Light" panose="020B0502040204020203" pitchFamily="34" charset="-122"/>
                          </a:rPr>
                        </m:ctrlPr>
                      </m:accPr>
                      <m:e>
                        <m:r>
                          <a:rPr lang="en-US" altLang="zh-CN" sz="2000" b="1" i="1" smtClean="0">
                            <a:latin typeface="Cambria Math" panose="02040503050406030204" pitchFamily="18" charset="0"/>
                            <a:ea typeface="微软雅黑 Light" panose="020B0502040204020203" pitchFamily="34" charset="-122"/>
                          </a:rPr>
                          <m:t>𝒚</m:t>
                        </m:r>
                      </m:e>
                    </m:acc>
                  </m:oMath>
                </a14:m>
                <a:r>
                  <a:rPr lang="zh-CN" altLang="en-US" sz="2000" b="1" dirty="0">
                    <a:latin typeface="微软雅黑 Light" panose="020B0502040204020203" pitchFamily="34" charset="-122"/>
                    <a:ea typeface="微软雅黑 Light" panose="020B0502040204020203" pitchFamily="34" charset="-122"/>
                  </a:rPr>
                  <a:t>预测未知属性 </a:t>
                </a:r>
                <a14:m>
                  <m:oMath xmlns:m="http://schemas.openxmlformats.org/officeDocument/2006/math">
                    <m:r>
                      <a:rPr lang="en-US" altLang="zh-CN" sz="2000" b="1" i="1" smtClean="0">
                        <a:latin typeface="Cambria Math" panose="02040503050406030204" pitchFamily="18" charset="0"/>
                      </a:rPr>
                      <m:t>𝒚</m:t>
                    </m:r>
                  </m:oMath>
                </a14:m>
                <a:endParaRPr lang="zh-CN" altLang="en-US" sz="2000" b="1" dirty="0">
                  <a:latin typeface="微软雅黑 Light" panose="020B0502040204020203" pitchFamily="34" charset="-122"/>
                  <a:ea typeface="微软雅黑 Light" panose="020B0502040204020203" pitchFamily="34"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23397" y="1345941"/>
                <a:ext cx="5799948" cy="400110"/>
              </a:xfrm>
              <a:prstGeom prst="rect">
                <a:avLst/>
              </a:prstGeom>
              <a:blipFill rotWithShape="0">
                <a:blip r:embed="rId7"/>
                <a:stretch>
                  <a:fillRect t="-9231" b="-27692"/>
                </a:stretch>
              </a:blipFill>
            </p:spPr>
            <p:txBody>
              <a:bodyPr/>
              <a:lstStyle/>
              <a:p>
                <a:r>
                  <a:rPr lang="zh-CN" altLang="en-US">
                    <a:noFill/>
                  </a:rPr>
                  <a:t> </a:t>
                </a:r>
              </a:p>
            </p:txBody>
          </p:sp>
        </mc:Fallback>
      </mc:AlternateContent>
      <p:sp>
        <p:nvSpPr>
          <p:cNvPr id="12" name="矩形 11"/>
          <p:cNvSpPr/>
          <p:nvPr/>
        </p:nvSpPr>
        <p:spPr>
          <a:xfrm>
            <a:off x="330657" y="3633859"/>
            <a:ext cx="11429934" cy="1558247"/>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200" b="1" dirty="0">
                <a:solidFill>
                  <a:srgbClr val="000000"/>
                </a:solidFill>
                <a:latin typeface="微软雅黑 Light" panose="020B0502040204020203" pitchFamily="34" charset="-122"/>
                <a:ea typeface="微软雅黑 Light" panose="020B0502040204020203" pitchFamily="34" charset="-122"/>
              </a:rPr>
              <a:t>隐含层节点数设计方法 </a:t>
            </a:r>
            <a:r>
              <a:rPr lang="en-US" altLang="zh-CN" sz="2200" b="1" dirty="0">
                <a:solidFill>
                  <a:srgbClr val="000000"/>
                </a:solidFill>
                <a:latin typeface="微软雅黑 Light" panose="020B0502040204020203" pitchFamily="34" charset="-122"/>
                <a:ea typeface="微软雅黑 Light" panose="020B0502040204020203" pitchFamily="34" charset="-122"/>
              </a:rPr>
              <a:t>- Grid Search</a:t>
            </a:r>
            <a:r>
              <a:rPr lang="zh-CN" altLang="en-US" sz="2200" b="1" dirty="0">
                <a:solidFill>
                  <a:srgbClr val="000000"/>
                </a:solidFill>
                <a:latin typeface="微软雅黑 Light" panose="020B0502040204020203" pitchFamily="34" charset="-122"/>
                <a:ea typeface="微软雅黑 Light" panose="020B0502040204020203" pitchFamily="34" charset="-122"/>
              </a:rPr>
              <a:t>（网格搜索）    </a:t>
            </a:r>
            <a:endParaRPr lang="en-US" altLang="zh-CN" sz="2200" b="1" dirty="0">
              <a:solidFill>
                <a:srgbClr val="000000"/>
              </a:solidFill>
              <a:latin typeface="微软雅黑 Light" panose="020B0502040204020203" pitchFamily="34" charset="-122"/>
              <a:ea typeface="微软雅黑 Light" panose="020B0502040204020203" pitchFamily="34" charset="-122"/>
            </a:endParaRPr>
          </a:p>
          <a:p>
            <a:pPr>
              <a:lnSpc>
                <a:spcPct val="150000"/>
              </a:lnSpc>
            </a:pPr>
            <a:r>
              <a:rPr lang="zh-CN" altLang="en-US" sz="2200" b="1" dirty="0">
                <a:solidFill>
                  <a:srgbClr val="000000"/>
                </a:solidFill>
                <a:latin typeface="微软雅黑 Light" panose="020B0502040204020203" pitchFamily="34" charset="-122"/>
                <a:ea typeface="微软雅黑 Light" panose="020B0502040204020203" pitchFamily="34" charset="-122"/>
              </a:rPr>
              <a:t>    预先设定若干个可选值，通过切换这几个值来观察整个模型的预测效果，选择效果最好的值作为最终选择</a:t>
            </a:r>
            <a:endParaRPr lang="zh-CN" altLang="en-US" sz="2200" b="1" dirty="0">
              <a:latin typeface="微软雅黑 Light" panose="020B0502040204020203" pitchFamily="34" charset="-122"/>
              <a:ea typeface="微软雅黑 Light" panose="020B0502040204020203" pitchFamily="34" charset="-122"/>
            </a:endParaRPr>
          </a:p>
        </p:txBody>
      </p:sp>
      <p:cxnSp>
        <p:nvCxnSpPr>
          <p:cNvPr id="13" name="直接箭头连接符 12"/>
          <p:cNvCxnSpPr>
            <a:endCxn id="10" idx="1"/>
          </p:cNvCxnSpPr>
          <p:nvPr/>
        </p:nvCxnSpPr>
        <p:spPr>
          <a:xfrm>
            <a:off x="1886098" y="1979866"/>
            <a:ext cx="320732" cy="15389"/>
          </a:xfrm>
          <a:prstGeom prst="straightConnector1">
            <a:avLst/>
          </a:prstGeom>
          <a:noFill/>
          <a:ln w="15875" cap="flat" cmpd="sng">
            <a:solidFill>
              <a:srgbClr val="FF0000"/>
            </a:solidFill>
            <a:prstDash val="solid"/>
            <a:round/>
            <a:headEnd/>
            <a:tailEnd type="triangle"/>
          </a:ln>
          <a:effectLst/>
        </p:spPr>
      </p:cxnSp>
      <p:sp>
        <p:nvSpPr>
          <p:cNvPr id="14" name="矩形 13"/>
          <p:cNvSpPr/>
          <p:nvPr/>
        </p:nvSpPr>
        <p:spPr>
          <a:xfrm>
            <a:off x="330657" y="2197411"/>
            <a:ext cx="11429934" cy="1558247"/>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200" b="1" dirty="0">
                <a:solidFill>
                  <a:srgbClr val="000000"/>
                </a:solidFill>
                <a:latin typeface="微软雅黑 Light" panose="020B0502040204020203" pitchFamily="34" charset="-122"/>
                <a:ea typeface="微软雅黑 Light" panose="020B0502040204020203" pitchFamily="34" charset="-122"/>
              </a:rPr>
              <a:t>如何由感知机设计出一个实用的神经网络？</a:t>
            </a:r>
            <a:endParaRPr lang="en-US" altLang="zh-CN" sz="2200" b="1" dirty="0">
              <a:solidFill>
                <a:srgbClr val="000000"/>
              </a:solidFill>
              <a:latin typeface="微软雅黑 Light" panose="020B0502040204020203" pitchFamily="34" charset="-122"/>
              <a:ea typeface="微软雅黑 Light" panose="020B0502040204020203" pitchFamily="34" charset="-122"/>
            </a:endParaRPr>
          </a:p>
          <a:p>
            <a:pPr>
              <a:lnSpc>
                <a:spcPct val="150000"/>
              </a:lnSpc>
            </a:pPr>
            <a:r>
              <a:rPr lang="zh-CN" altLang="en-US" sz="2200" b="1" dirty="0">
                <a:solidFill>
                  <a:srgbClr val="000000"/>
                </a:solidFill>
                <a:latin typeface="微软雅黑 Light" panose="020B0502040204020203" pitchFamily="34" charset="-122"/>
                <a:ea typeface="微软雅黑 Light" panose="020B0502040204020203" pitchFamily="34" charset="-122"/>
              </a:rPr>
              <a:t>    输入层的节点数与特征的维度匹配，输出层的节点数与目标的维度匹配，设计者只需要设计隐含层的节点数</a:t>
            </a:r>
            <a:endParaRPr lang="zh-CN" altLang="en-US" sz="2200" b="1" dirty="0">
              <a:latin typeface="微软雅黑 Light" panose="020B0502040204020203" pitchFamily="34" charset="-122"/>
              <a:ea typeface="微软雅黑 Light" panose="020B0502040204020203" pitchFamily="34" charset="-122"/>
            </a:endParaRPr>
          </a:p>
        </p:txBody>
      </p:sp>
      <p:sp>
        <p:nvSpPr>
          <p:cNvPr id="16" name="内容占位符 2"/>
          <p:cNvSpPr txBox="1">
            <a:spLocks/>
          </p:cNvSpPr>
          <p:nvPr/>
        </p:nvSpPr>
        <p:spPr>
          <a:xfrm>
            <a:off x="2574390" y="4992593"/>
            <a:ext cx="9298745" cy="157395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zh-CN" altLang="en-US" sz="2200" b="1" dirty="0"/>
              <a:t>需要数据量小、训练快，其局限性在于对复杂函数的表示能力有限，针对复杂分类问题其泛化能力受到制约</a:t>
            </a:r>
            <a:endParaRPr lang="en-US" altLang="zh-CN" sz="2200" b="1" dirty="0"/>
          </a:p>
          <a:p>
            <a:pPr algn="l"/>
            <a:r>
              <a:rPr lang="en-US" altLang="zh-CN" sz="2200" b="1" dirty="0"/>
              <a:t>Why Not Go Deeper? Kurt </a:t>
            </a:r>
            <a:r>
              <a:rPr lang="en-US" altLang="zh-CN" sz="2200" b="1" dirty="0" err="1"/>
              <a:t>Hornik</a:t>
            </a:r>
            <a:r>
              <a:rPr lang="zh-CN" altLang="en-US" sz="2200" b="1" dirty="0"/>
              <a:t>证明了理论上两层神经网络足以拟合任意函数，过去也没有足够的数据和计算能力</a:t>
            </a:r>
          </a:p>
        </p:txBody>
      </p:sp>
      <p:sp>
        <p:nvSpPr>
          <p:cNvPr id="18" name="矩形 17"/>
          <p:cNvSpPr/>
          <p:nvPr/>
        </p:nvSpPr>
        <p:spPr>
          <a:xfrm>
            <a:off x="330657" y="5397368"/>
            <a:ext cx="2131189" cy="553998"/>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zh-CN" altLang="en-US" sz="2000" b="1" kern="0" dirty="0">
                <a:latin typeface="微软雅黑 Light" panose="020B0502040204020203" pitchFamily="34" charset="-122"/>
                <a:ea typeface="微软雅黑 Light" panose="020B0502040204020203" pitchFamily="34" charset="-122"/>
                <a:cs typeface="宋体" panose="02010600030101010101" pitchFamily="2" charset="-122"/>
              </a:rPr>
              <a:t>浅层</a:t>
            </a:r>
            <a:r>
              <a:rPr lang="en-US" altLang="zh-CN" sz="2000" b="1" kern="0" dirty="0">
                <a:latin typeface="微软雅黑 Light" panose="020B0502040204020203" pitchFamily="34" charset="-122"/>
                <a:ea typeface="微软雅黑 Light" panose="020B0502040204020203" pitchFamily="34" charset="-122"/>
                <a:cs typeface="宋体" panose="02010600030101010101" pitchFamily="2" charset="-122"/>
              </a:rPr>
              <a:t>NN</a:t>
            </a:r>
            <a:r>
              <a:rPr lang="zh-CN" altLang="en-US" sz="2000" b="1" kern="0" dirty="0">
                <a:latin typeface="微软雅黑 Light" panose="020B0502040204020203" pitchFamily="34" charset="-122"/>
                <a:ea typeface="微软雅黑 Light" panose="020B0502040204020203" pitchFamily="34" charset="-122"/>
                <a:cs typeface="宋体" panose="02010600030101010101" pitchFamily="2" charset="-122"/>
              </a:rPr>
              <a:t>特点：</a:t>
            </a:r>
            <a:endParaRPr lang="en-US" altLang="zh-CN" sz="2000" b="1"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21" name="灯片编号占位符 8">
            <a:extLst>
              <a:ext uri="{FF2B5EF4-FFF2-40B4-BE49-F238E27FC236}">
                <a16:creationId xmlns:a16="http://schemas.microsoft.com/office/drawing/2014/main" id="{9333A503-46BC-4EF9-9B8B-E8E45B62F2C2}"/>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26</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82264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多层神经网络</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深度学习</a:t>
            </a:r>
            <a:endParaRPr lang="en-US" altLang="zh-CN" sz="2600" b="1" dirty="0"/>
          </a:p>
        </p:txBody>
      </p:sp>
      <p:sp>
        <p:nvSpPr>
          <p:cNvPr id="8" name="矩形 7"/>
          <p:cNvSpPr/>
          <p:nvPr/>
        </p:nvSpPr>
        <p:spPr>
          <a:xfrm>
            <a:off x="471544" y="1434905"/>
            <a:ext cx="11218708" cy="1477328"/>
          </a:xfrm>
          <a:prstGeom prst="rect">
            <a:avLst/>
          </a:prstGeom>
        </p:spPr>
        <p:txBody>
          <a:bodyPr wrap="square">
            <a:spAutoFit/>
          </a:bodyPr>
          <a:lstStyle/>
          <a:p>
            <a:pPr algn="just">
              <a:lnSpc>
                <a:spcPct val="150000"/>
              </a:lnSpc>
            </a:pPr>
            <a:r>
              <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2006</a:t>
            </a: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年，</a:t>
            </a:r>
            <a:r>
              <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Hinton</a:t>
            </a: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在</a:t>
            </a:r>
            <a:r>
              <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Science</a:t>
            </a: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发表了论文（</a:t>
            </a:r>
            <a:r>
              <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Reducing the dimensionality of data with neural networks. Science, Vol. 313. no. 5786</a:t>
            </a: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），给多层神经网络相关的学习方法赋予了一个新名词</a:t>
            </a:r>
            <a:r>
              <a:rPr lang="en-US" altLang="zh-CN"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a:t>
            </a: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深度学习”。他和</a:t>
            </a:r>
            <a:r>
              <a:rPr lang="en-US" altLang="zh-CN" sz="2000" b="1" kern="0" dirty="0" err="1">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LeCun</a:t>
            </a: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以及</a:t>
            </a:r>
            <a:r>
              <a:rPr lang="en-US" altLang="zh-CN" sz="2000" b="1" kern="0" dirty="0" err="1">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Bengio</a:t>
            </a:r>
            <a:r>
              <a:rPr lang="zh-CN" altLang="en-US" sz="2000" b="1"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三人被称为深度学习三位开创者。</a:t>
            </a:r>
            <a:endParaRPr lang="en-US" altLang="zh-CN" sz="2000" b="1"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9" name="矩形 8"/>
          <p:cNvSpPr/>
          <p:nvPr/>
        </p:nvSpPr>
        <p:spPr>
          <a:xfrm>
            <a:off x="471544" y="3719764"/>
            <a:ext cx="11218708" cy="2400657"/>
          </a:xfrm>
          <a:prstGeom prst="rect">
            <a:avLst/>
          </a:prstGeom>
        </p:spPr>
        <p:txBody>
          <a:bodyPr wrap="square">
            <a:spAutoFit/>
          </a:bodyPr>
          <a:lstStyle/>
          <a:p>
            <a:pPr>
              <a:lnSpc>
                <a:spcPct val="150000"/>
              </a:lnSpc>
            </a:pPr>
            <a:r>
              <a:rPr lang="zh-CN" altLang="en-US" sz="2000" b="1" dirty="0">
                <a:latin typeface="微软雅黑 Light" panose="020B0502040204020203" pitchFamily="34" charset="-122"/>
                <a:ea typeface="微软雅黑 Light" panose="020B0502040204020203" pitchFamily="34" charset="-122"/>
              </a:rPr>
              <a:t>深度神经网络不断发展不仅依赖于自身的结构优势，也依赖于如下一些外在因素</a:t>
            </a:r>
            <a:endParaRPr lang="en-US" altLang="zh-CN" sz="2000" b="1" dirty="0">
              <a:latin typeface="微软雅黑 Light" panose="020B0502040204020203" pitchFamily="34" charset="-122"/>
              <a:ea typeface="微软雅黑 Light" panose="020B0502040204020203" pitchFamily="34" charset="-122"/>
            </a:endParaRPr>
          </a:p>
          <a:p>
            <a:pPr marL="800100" lvl="1" indent="-342900">
              <a:lnSpc>
                <a:spcPct val="150000"/>
              </a:lnSpc>
              <a:buFont typeface="Wingdings" panose="05000000000000000000" pitchFamily="2" charset="2"/>
              <a:buChar char="Ø"/>
            </a:pPr>
            <a:r>
              <a:rPr lang="en-US" altLang="zh-CN" sz="2000" b="1" dirty="0">
                <a:latin typeface="微软雅黑 Light" panose="020B0502040204020203" pitchFamily="34" charset="-122"/>
                <a:ea typeface="微软雅黑 Light" panose="020B0502040204020203" pitchFamily="34" charset="-122"/>
              </a:rPr>
              <a:t>A</a:t>
            </a:r>
            <a:r>
              <a:rPr lang="en-US" altLang="zh-CN" sz="2000" dirty="0">
                <a:latin typeface="微软雅黑 Light" panose="020B0502040204020203" pitchFamily="34" charset="-122"/>
                <a:ea typeface="微软雅黑 Light" panose="020B0502040204020203" pitchFamily="34" charset="-122"/>
              </a:rPr>
              <a:t>lgorithm</a:t>
            </a:r>
            <a:r>
              <a:rPr lang="zh-CN" altLang="en-US" sz="2000" dirty="0">
                <a:latin typeface="微软雅黑 Light" panose="020B0502040204020203" pitchFamily="34" charset="-122"/>
                <a:ea typeface="微软雅黑 Light" panose="020B0502040204020203" pitchFamily="34" charset="-122"/>
              </a:rPr>
              <a:t>：算法日新月异，优化算法层出不穷（学习算法</a:t>
            </a:r>
            <a:r>
              <a:rPr lang="en-US" altLang="zh-CN" sz="2000" dirty="0">
                <a:latin typeface="微软雅黑 Light" panose="020B0502040204020203" pitchFamily="34" charset="-122"/>
                <a:ea typeface="微软雅黑 Light" panose="020B0502040204020203" pitchFamily="34" charset="-122"/>
              </a:rPr>
              <a:t>-&gt;BP </a:t>
            </a:r>
            <a:r>
              <a:rPr lang="zh-CN" altLang="en-US" sz="2000" dirty="0">
                <a:latin typeface="微软雅黑 Light" panose="020B0502040204020203" pitchFamily="34" charset="-122"/>
                <a:ea typeface="微软雅黑 Light" panose="020B0502040204020203" pitchFamily="34" charset="-122"/>
              </a:rPr>
              <a:t>算法</a:t>
            </a:r>
            <a:r>
              <a:rPr lang="en-US" altLang="zh-CN" sz="2000" dirty="0">
                <a:latin typeface="微软雅黑 Light" panose="020B0502040204020203" pitchFamily="34" charset="-122"/>
                <a:ea typeface="微软雅黑 Light" panose="020B0502040204020203" pitchFamily="34" charset="-122"/>
              </a:rPr>
              <a:t>-&gt; Pre-training</a:t>
            </a:r>
            <a:r>
              <a:rPr lang="zh-CN" altLang="en-US" sz="2000" dirty="0">
                <a:latin typeface="微软雅黑 Light" panose="020B0502040204020203" pitchFamily="34" charset="-122"/>
                <a:ea typeface="微软雅黑 Light" panose="020B0502040204020203" pitchFamily="34" charset="-122"/>
              </a:rPr>
              <a:t>，</a:t>
            </a:r>
            <a:r>
              <a:rPr lang="en-US" altLang="zh-CN" sz="2000" dirty="0">
                <a:latin typeface="微软雅黑 Light" panose="020B0502040204020203" pitchFamily="34" charset="-122"/>
                <a:ea typeface="微软雅黑 Light" panose="020B0502040204020203" pitchFamily="34" charset="-122"/>
              </a:rPr>
              <a:t>Dropout</a:t>
            </a:r>
            <a:r>
              <a:rPr lang="zh-CN" altLang="en-US" sz="2000" dirty="0">
                <a:latin typeface="微软雅黑 Light" panose="020B0502040204020203" pitchFamily="34" charset="-122"/>
                <a:ea typeface="微软雅黑 Light" panose="020B0502040204020203" pitchFamily="34" charset="-122"/>
              </a:rPr>
              <a:t>等方法）</a:t>
            </a:r>
            <a:endParaRPr lang="en-US" altLang="zh-CN" sz="2000" dirty="0">
              <a:latin typeface="微软雅黑 Light" panose="020B0502040204020203" pitchFamily="34" charset="-122"/>
              <a:ea typeface="微软雅黑 Light" panose="020B0502040204020203" pitchFamily="34" charset="-122"/>
            </a:endParaRPr>
          </a:p>
          <a:p>
            <a:pPr marL="800100" lvl="1" indent="-342900">
              <a:lnSpc>
                <a:spcPct val="150000"/>
              </a:lnSpc>
              <a:buFont typeface="Wingdings" panose="05000000000000000000" pitchFamily="2" charset="2"/>
              <a:buChar char="Ø"/>
            </a:pPr>
            <a:r>
              <a:rPr lang="en-US" altLang="zh-CN" sz="2000" b="1" dirty="0">
                <a:latin typeface="微软雅黑 Light" panose="020B0502040204020203" pitchFamily="34" charset="-122"/>
                <a:ea typeface="微软雅黑 Light" panose="020B0502040204020203" pitchFamily="34" charset="-122"/>
              </a:rPr>
              <a:t>B</a:t>
            </a:r>
            <a:r>
              <a:rPr lang="en-US" altLang="zh-CN" sz="2000" dirty="0">
                <a:latin typeface="微软雅黑 Light" panose="020B0502040204020203" pitchFamily="34" charset="-122"/>
                <a:ea typeface="微软雅黑 Light" panose="020B0502040204020203" pitchFamily="34" charset="-122"/>
              </a:rPr>
              <a:t>ig data</a:t>
            </a:r>
            <a:r>
              <a:rPr lang="zh-CN" altLang="en-US" sz="2000" dirty="0">
                <a:latin typeface="微软雅黑 Light" panose="020B0502040204020203" pitchFamily="34" charset="-122"/>
                <a:ea typeface="微软雅黑 Light" panose="020B0502040204020203" pitchFamily="34" charset="-122"/>
              </a:rPr>
              <a:t>：数据量不断增大（</a:t>
            </a:r>
            <a:r>
              <a:rPr lang="en-US" altLang="zh-CN" sz="2000" dirty="0">
                <a:latin typeface="微软雅黑 Light" panose="020B0502040204020203" pitchFamily="34" charset="-122"/>
                <a:ea typeface="微软雅黑 Light" panose="020B0502040204020203" pitchFamily="34" charset="-122"/>
              </a:rPr>
              <a:t>10-&gt; 10 k -&gt;10M</a:t>
            </a:r>
            <a:r>
              <a:rPr lang="zh-CN" altLang="en-US" sz="2000" dirty="0">
                <a:latin typeface="微软雅黑 Light" panose="020B0502040204020203" pitchFamily="34" charset="-122"/>
                <a:ea typeface="微软雅黑 Light" panose="020B0502040204020203" pitchFamily="34" charset="-122"/>
              </a:rPr>
              <a:t>）</a:t>
            </a:r>
            <a:endParaRPr lang="en-US" altLang="zh-CN" sz="2000" dirty="0">
              <a:latin typeface="微软雅黑 Light" panose="020B0502040204020203" pitchFamily="34" charset="-122"/>
              <a:ea typeface="微软雅黑 Light" panose="020B0502040204020203" pitchFamily="34" charset="-122"/>
            </a:endParaRPr>
          </a:p>
          <a:p>
            <a:pPr marL="800100" lvl="1" indent="-342900">
              <a:lnSpc>
                <a:spcPct val="150000"/>
              </a:lnSpc>
              <a:buFont typeface="Wingdings" panose="05000000000000000000" pitchFamily="2" charset="2"/>
              <a:buChar char="Ø"/>
            </a:pPr>
            <a:r>
              <a:rPr lang="en-US" altLang="zh-CN" sz="2000" b="1" dirty="0">
                <a:latin typeface="微软雅黑 Light" panose="020B0502040204020203" pitchFamily="34" charset="-122"/>
                <a:ea typeface="微软雅黑 Light" panose="020B0502040204020203" pitchFamily="34" charset="-122"/>
              </a:rPr>
              <a:t>C</a:t>
            </a:r>
            <a:r>
              <a:rPr lang="en-US" altLang="zh-CN" sz="2000" dirty="0">
                <a:latin typeface="微软雅黑 Light" panose="020B0502040204020203" pitchFamily="34" charset="-122"/>
                <a:ea typeface="微软雅黑 Light" panose="020B0502040204020203" pitchFamily="34" charset="-122"/>
              </a:rPr>
              <a:t>omputing</a:t>
            </a:r>
            <a:r>
              <a:rPr lang="zh-CN" altLang="en-US" sz="2000" dirty="0">
                <a:latin typeface="微软雅黑 Light" panose="020B0502040204020203" pitchFamily="34" charset="-122"/>
                <a:ea typeface="微软雅黑 Light" panose="020B0502040204020203" pitchFamily="34" charset="-122"/>
              </a:rPr>
              <a:t>：处理器计算能力的不算提升（晶体管</a:t>
            </a:r>
            <a:r>
              <a:rPr lang="en-US" altLang="zh-CN" sz="2000" dirty="0">
                <a:latin typeface="微软雅黑 Light" panose="020B0502040204020203" pitchFamily="34" charset="-122"/>
                <a:ea typeface="微软雅黑 Light" panose="020B0502040204020203" pitchFamily="34" charset="-122"/>
              </a:rPr>
              <a:t>-&gt;CPU -&gt;</a:t>
            </a:r>
            <a:r>
              <a:rPr lang="zh-CN" altLang="en-US" sz="2000" dirty="0">
                <a:latin typeface="微软雅黑 Light" panose="020B0502040204020203" pitchFamily="34" charset="-122"/>
                <a:ea typeface="微软雅黑 Light" panose="020B0502040204020203" pitchFamily="34" charset="-122"/>
              </a:rPr>
              <a:t>集群</a:t>
            </a:r>
            <a:r>
              <a:rPr lang="en-US" altLang="zh-CN" sz="2000" dirty="0">
                <a:latin typeface="微软雅黑 Light" panose="020B0502040204020203" pitchFamily="34" charset="-122"/>
                <a:ea typeface="微软雅黑 Light" panose="020B0502040204020203" pitchFamily="34" charset="-122"/>
              </a:rPr>
              <a:t>/GPU -&gt;</a:t>
            </a:r>
            <a:r>
              <a:rPr lang="zh-CN" altLang="en-US" sz="2000" dirty="0">
                <a:latin typeface="微软雅黑 Light" panose="020B0502040204020203" pitchFamily="34" charset="-122"/>
                <a:ea typeface="微软雅黑 Light" panose="020B0502040204020203" pitchFamily="34" charset="-122"/>
              </a:rPr>
              <a:t>智能处理器）</a:t>
            </a:r>
          </a:p>
        </p:txBody>
      </p:sp>
      <p:sp>
        <p:nvSpPr>
          <p:cNvPr id="10" name="内容占位符 2"/>
          <p:cNvSpPr txBox="1">
            <a:spLocks/>
          </p:cNvSpPr>
          <p:nvPr/>
        </p:nvSpPr>
        <p:spPr>
          <a:xfrm>
            <a:off x="313873" y="2912233"/>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深度神经网络的成功</a:t>
            </a:r>
            <a:endParaRPr lang="en-US" altLang="zh-CN" sz="2600" b="1" dirty="0"/>
          </a:p>
        </p:txBody>
      </p:sp>
      <p:sp>
        <p:nvSpPr>
          <p:cNvPr id="13" name="灯片编号占位符 8">
            <a:extLst>
              <a:ext uri="{FF2B5EF4-FFF2-40B4-BE49-F238E27FC236}">
                <a16:creationId xmlns:a16="http://schemas.microsoft.com/office/drawing/2014/main" id="{09F1E301-3E10-49F9-832A-DBEE750AE757}"/>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27</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406540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多层神经网络</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多层神经网络（深度学习）</a:t>
            </a:r>
            <a:r>
              <a:rPr lang="en-US" altLang="zh-CN" sz="2600" b="1" dirty="0"/>
              <a:t>-</a:t>
            </a:r>
            <a:r>
              <a:rPr lang="zh-CN" altLang="en-US" sz="2600" b="1" dirty="0"/>
              <a:t>层数不断增加</a:t>
            </a:r>
            <a:endParaRPr lang="en-US" altLang="zh-CN" sz="2600" b="1" dirty="0"/>
          </a:p>
        </p:txBody>
      </p:sp>
      <p:sp>
        <p:nvSpPr>
          <p:cNvPr id="8" name="椭圆 7"/>
          <p:cNvSpPr/>
          <p:nvPr/>
        </p:nvSpPr>
        <p:spPr>
          <a:xfrm>
            <a:off x="2265207" y="2370808"/>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9560457">
            <a:off x="6722607" y="3616523"/>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rot="21061334">
            <a:off x="4558463" y="2971525"/>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rot="922928">
            <a:off x="2265207" y="3642520"/>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rot="218974">
            <a:off x="4574882" y="4198153"/>
            <a:ext cx="576064" cy="568405"/>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265207" y="4914231"/>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a:stCxn id="8" idx="6"/>
            <a:endCxn id="10" idx="1"/>
          </p:cNvCxnSpPr>
          <p:nvPr/>
        </p:nvCxnSpPr>
        <p:spPr>
          <a:xfrm>
            <a:off x="2841271" y="2658840"/>
            <a:ext cx="1772267" cy="43132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16" name="直接箭头连接符 15"/>
          <p:cNvCxnSpPr>
            <a:stCxn id="8" idx="5"/>
            <a:endCxn id="12" idx="1"/>
          </p:cNvCxnSpPr>
          <p:nvPr/>
        </p:nvCxnSpPr>
        <p:spPr>
          <a:xfrm>
            <a:off x="2756908" y="2862509"/>
            <a:ext cx="1915542" cy="140632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18" name="直接箭头连接符 17"/>
          <p:cNvCxnSpPr>
            <a:stCxn id="11" idx="7"/>
            <a:endCxn id="10" idx="2"/>
          </p:cNvCxnSpPr>
          <p:nvPr/>
        </p:nvCxnSpPr>
        <p:spPr>
          <a:xfrm flipV="1">
            <a:off x="2803637" y="3304505"/>
            <a:ext cx="1758355" cy="48369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19" name="直接箭头连接符 18"/>
          <p:cNvCxnSpPr>
            <a:stCxn id="13" idx="7"/>
            <a:endCxn id="10" idx="3"/>
          </p:cNvCxnSpPr>
          <p:nvPr/>
        </p:nvCxnSpPr>
        <p:spPr>
          <a:xfrm flipV="1">
            <a:off x="2756908" y="3492514"/>
            <a:ext cx="1920196" cy="150608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0" name="直接箭头连接符 19"/>
          <p:cNvCxnSpPr>
            <a:stCxn id="11" idx="6"/>
            <a:endCxn id="12" idx="2"/>
          </p:cNvCxnSpPr>
          <p:nvPr/>
        </p:nvCxnSpPr>
        <p:spPr>
          <a:xfrm>
            <a:off x="2830953" y="4006954"/>
            <a:ext cx="1744513" cy="45706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1" name="直接箭头连接符 20"/>
          <p:cNvCxnSpPr>
            <a:stCxn id="13" idx="6"/>
            <a:endCxn id="12" idx="3"/>
          </p:cNvCxnSpPr>
          <p:nvPr/>
        </p:nvCxnSpPr>
        <p:spPr>
          <a:xfrm flipV="1">
            <a:off x="2841271" y="4669945"/>
            <a:ext cx="1805595" cy="53231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2" name="直接箭头连接符 21"/>
          <p:cNvCxnSpPr>
            <a:stCxn id="10" idx="6"/>
            <a:endCxn id="9" idx="1"/>
          </p:cNvCxnSpPr>
          <p:nvPr/>
        </p:nvCxnSpPr>
        <p:spPr>
          <a:xfrm>
            <a:off x="5130998" y="3214609"/>
            <a:ext cx="1596909" cy="63494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3" name="直接箭头连接符 22"/>
          <p:cNvCxnSpPr>
            <a:stCxn id="12" idx="7"/>
            <a:endCxn id="37" idx="3"/>
          </p:cNvCxnSpPr>
          <p:nvPr/>
        </p:nvCxnSpPr>
        <p:spPr>
          <a:xfrm flipV="1">
            <a:off x="5078962" y="3021548"/>
            <a:ext cx="1661106" cy="1273218"/>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24" name="椭圆 23"/>
          <p:cNvSpPr/>
          <p:nvPr/>
        </p:nvSpPr>
        <p:spPr>
          <a:xfrm rot="20796204">
            <a:off x="6712638" y="4742817"/>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a:stCxn id="10" idx="5"/>
            <a:endCxn id="24" idx="1"/>
          </p:cNvCxnSpPr>
          <p:nvPr/>
        </p:nvCxnSpPr>
        <p:spPr>
          <a:xfrm>
            <a:off x="5079452" y="3428948"/>
            <a:ext cx="1675903" cy="145096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6" name="直接箭头连接符 25"/>
          <p:cNvCxnSpPr>
            <a:stCxn id="12" idx="5"/>
            <a:endCxn id="24" idx="2"/>
          </p:cNvCxnSpPr>
          <p:nvPr/>
        </p:nvCxnSpPr>
        <p:spPr>
          <a:xfrm>
            <a:off x="5053378" y="4695874"/>
            <a:ext cx="1667097" cy="401709"/>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27" name="矩形 26"/>
              <p:cNvSpPr/>
              <p:nvPr/>
            </p:nvSpPr>
            <p:spPr>
              <a:xfrm>
                <a:off x="2899558" y="2430670"/>
                <a:ext cx="1656763" cy="461665"/>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1400" i="1" kern="0" smtClean="0">
                              <a:solidFill>
                                <a:schemeClr val="tx1"/>
                              </a:solidFill>
                              <a:latin typeface="Cambria Math" panose="02040503050406030204" pitchFamily="18" charset="0"/>
                              <a:ea typeface="微软雅黑" panose="020B0503020204020204" pitchFamily="34" charset="-122"/>
                            </a:rPr>
                          </m:ctrlPr>
                        </m:sSupPr>
                        <m:e>
                          <m:r>
                            <a:rPr lang="en-US" altLang="zh-CN" sz="1400" b="0" i="1" kern="0" smtClean="0">
                              <a:solidFill>
                                <a:schemeClr val="tx1"/>
                              </a:solidFill>
                              <a:latin typeface="Cambria Math" panose="02040503050406030204" pitchFamily="18" charset="0"/>
                              <a:ea typeface="微软雅黑" panose="020B0503020204020204" pitchFamily="34" charset="-122"/>
                            </a:rPr>
                            <m:t>𝑊</m:t>
                          </m:r>
                        </m:e>
                        <m:sup>
                          <m:r>
                            <a:rPr lang="en-US" altLang="zh-CN" sz="1400" b="0" i="1" kern="0" smtClean="0">
                              <a:solidFill>
                                <a:schemeClr val="tx1"/>
                              </a:solidFill>
                              <a:latin typeface="Cambria Math" panose="02040503050406030204" pitchFamily="18" charset="0"/>
                              <a:ea typeface="微软雅黑" panose="020B0503020204020204" pitchFamily="34" charset="-122"/>
                            </a:rPr>
                            <m:t>(1)</m:t>
                          </m:r>
                        </m:sup>
                      </m:sSup>
                      <m:r>
                        <a:rPr lang="en-US" altLang="zh-CN" sz="1400" b="0" i="1" kern="0" smtClean="0">
                          <a:solidFill>
                            <a:schemeClr val="tx1"/>
                          </a:solidFill>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𝑏</m:t>
                          </m:r>
                        </m:e>
                        <m:sub>
                          <m:r>
                            <a:rPr lang="en-US" altLang="zh-CN" sz="1600" i="1">
                              <a:latin typeface="Cambria Math" panose="02040503050406030204" pitchFamily="18" charset="0"/>
                              <a:ea typeface="微软雅黑 Light" panose="020B0502040204020203" pitchFamily="34" charset="-122"/>
                            </a:rPr>
                            <m:t>1</m:t>
                          </m:r>
                        </m:sub>
                      </m:sSub>
                    </m:oMath>
                  </m:oMathPara>
                </a14:m>
                <a:endParaRPr lang="en-US" altLang="zh-CN" sz="1600" kern="0" dirty="0">
                  <a:solidFill>
                    <a:schemeClr val="tx1"/>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27" name="矩形 26"/>
              <p:cNvSpPr>
                <a:spLocks noRot="1" noChangeAspect="1" noMove="1" noResize="1" noEditPoints="1" noAdjustHandles="1" noChangeArrowheads="1" noChangeShapeType="1" noTextEdit="1"/>
              </p:cNvSpPr>
              <p:nvPr/>
            </p:nvSpPr>
            <p:spPr>
              <a:xfrm>
                <a:off x="2899558" y="2430670"/>
                <a:ext cx="1656763" cy="461665"/>
              </a:xfrm>
              <a:prstGeom prst="rect">
                <a:avLst/>
              </a:prstGeom>
              <a:blipFill rotWithShape="0">
                <a:blip r:embed="rId5"/>
                <a:stretch>
                  <a:fillRect/>
                </a:stretch>
              </a:blipFill>
              <a:ln>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2171592" y="1877423"/>
                <a:ext cx="839775" cy="555665"/>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solidFill>
                            <a:schemeClr val="tx1"/>
                          </a:solidFill>
                          <a:latin typeface="Cambria Math" panose="02040503050406030204" pitchFamily="18" charset="0"/>
                          <a:ea typeface="微软雅黑 Light" panose="020B0502040204020203" pitchFamily="34" charset="-122"/>
                          <a:cs typeface="宋体" panose="02010600030101010101" pitchFamily="2" charset="-122"/>
                        </a:rPr>
                        <m:t>𝑋</m:t>
                      </m:r>
                    </m:oMath>
                  </m:oMathPara>
                </a14:m>
                <a:endParaRPr lang="en-US" altLang="zh-CN" sz="2000" kern="0" dirty="0">
                  <a:solidFill>
                    <a:schemeClr val="tx1"/>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28" name="矩形 27"/>
              <p:cNvSpPr>
                <a:spLocks noRot="1" noChangeAspect="1" noMove="1" noResize="1" noEditPoints="1" noAdjustHandles="1" noChangeArrowheads="1" noChangeShapeType="1" noTextEdit="1"/>
              </p:cNvSpPr>
              <p:nvPr/>
            </p:nvSpPr>
            <p:spPr>
              <a:xfrm>
                <a:off x="2171592" y="1877423"/>
                <a:ext cx="839775" cy="555665"/>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4523763" y="1894263"/>
                <a:ext cx="559885" cy="593560"/>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solidFill>
                                <a:srgbClr val="C00000"/>
                              </a:solidFill>
                              <a:latin typeface="Cambria Math" panose="02040503050406030204" pitchFamily="18" charset="0"/>
                              <a:ea typeface="微软雅黑" panose="020B0503020204020204" pitchFamily="34" charset="-122"/>
                            </a:rPr>
                          </m:ctrlPr>
                        </m:sSupPr>
                        <m:e>
                          <m:r>
                            <a:rPr lang="en-US" altLang="zh-CN" sz="2000" b="0" i="1" kern="0" smtClean="0">
                              <a:solidFill>
                                <a:srgbClr val="C00000"/>
                              </a:solidFill>
                              <a:latin typeface="Cambria Math" panose="02040503050406030204" pitchFamily="18" charset="0"/>
                              <a:ea typeface="微软雅黑" panose="020B0503020204020204" pitchFamily="34" charset="-122"/>
                            </a:rPr>
                            <m:t>𝐻</m:t>
                          </m:r>
                        </m:e>
                        <m:sup>
                          <m:d>
                            <m:dPr>
                              <m:ctrlPr>
                                <a:rPr lang="en-US" altLang="zh-CN" sz="2000" b="0" i="1" kern="0" smtClean="0">
                                  <a:solidFill>
                                    <a:srgbClr val="C00000"/>
                                  </a:solidFill>
                                  <a:latin typeface="Cambria Math" panose="02040503050406030204" pitchFamily="18" charset="0"/>
                                  <a:ea typeface="微软雅黑" panose="020B0503020204020204" pitchFamily="34" charset="-122"/>
                                </a:rPr>
                              </m:ctrlPr>
                            </m:dPr>
                            <m:e>
                              <m:r>
                                <a:rPr lang="en-US" altLang="zh-CN" sz="2000" b="0" i="1" kern="0" smtClean="0">
                                  <a:solidFill>
                                    <a:srgbClr val="C00000"/>
                                  </a:solidFill>
                                  <a:latin typeface="Cambria Math" panose="02040503050406030204" pitchFamily="18" charset="0"/>
                                  <a:ea typeface="微软雅黑" panose="020B0503020204020204" pitchFamily="34" charset="-122"/>
                                </a:rPr>
                                <m:t>1</m:t>
                              </m:r>
                            </m:e>
                          </m:d>
                        </m:sup>
                      </m:sSup>
                    </m:oMath>
                  </m:oMathPara>
                </a14:m>
                <a:endParaRPr lang="en-US" altLang="zh-CN" sz="2000" kern="0" dirty="0">
                  <a:solidFill>
                    <a:srgbClr val="C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0" name="矩形 29"/>
              <p:cNvSpPr>
                <a:spLocks noRot="1" noChangeAspect="1" noMove="1" noResize="1" noEditPoints="1" noAdjustHandles="1" noChangeArrowheads="1" noChangeShapeType="1" noTextEdit="1"/>
              </p:cNvSpPr>
              <p:nvPr/>
            </p:nvSpPr>
            <p:spPr>
              <a:xfrm>
                <a:off x="4523763" y="1894263"/>
                <a:ext cx="559885" cy="593560"/>
              </a:xfrm>
              <a:prstGeom prst="rect">
                <a:avLst/>
              </a:prstGeom>
              <a:blipFill rotWithShape="0">
                <a:blip r:embed="rId7"/>
                <a:stretch>
                  <a:fillRect/>
                </a:stretch>
              </a:blipFill>
              <a:ln>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5398088" y="2516513"/>
                <a:ext cx="1265169" cy="477054"/>
              </a:xfrm>
              <a:prstGeom prst="rect">
                <a:avLst/>
              </a:prstGeom>
            </p:spPr>
            <p:txBody>
              <a:bodyPr wrap="square">
                <a:spAutoFit/>
              </a:bodyPr>
              <a:lstStyle/>
              <a:p>
                <a:pPr algn="just">
                  <a:lnSpc>
                    <a:spcPct val="150000"/>
                  </a:lnSpc>
                </a:pPr>
                <a14:m>
                  <m:oMath xmlns:m="http://schemas.openxmlformats.org/officeDocument/2006/math">
                    <m:sSup>
                      <m:sSupPr>
                        <m:ctrlPr>
                          <a:rPr lang="en-US" altLang="zh-CN" sz="1600" i="1" kern="0" smtClean="0">
                            <a:latin typeface="Cambria Math" panose="02040503050406030204" pitchFamily="18" charset="0"/>
                            <a:ea typeface="微软雅黑" panose="020B0503020204020204" pitchFamily="34" charset="-122"/>
                          </a:rPr>
                        </m:ctrlPr>
                      </m:sSupPr>
                      <m:e>
                        <m:r>
                          <a:rPr lang="en-US" altLang="zh-CN" sz="1600" b="0" i="1" kern="0" smtClean="0">
                            <a:latin typeface="Cambria Math" panose="02040503050406030204" pitchFamily="18" charset="0"/>
                            <a:ea typeface="微软雅黑" panose="020B0503020204020204" pitchFamily="34" charset="-122"/>
                          </a:rPr>
                          <m:t>𝑊</m:t>
                        </m:r>
                      </m:e>
                      <m:sup>
                        <m:r>
                          <a:rPr lang="en-US" altLang="zh-CN" sz="1600" b="0" i="1" kern="0" smtClean="0">
                            <a:latin typeface="Cambria Math" panose="02040503050406030204" pitchFamily="18" charset="0"/>
                            <a:ea typeface="微软雅黑" panose="020B0503020204020204" pitchFamily="34" charset="-122"/>
                          </a:rPr>
                          <m:t>(2)</m:t>
                        </m:r>
                      </m:sup>
                    </m:sSup>
                  </m:oMath>
                </a14:m>
                <a:r>
                  <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rPr>
                  <a:t>,</a:t>
                </a:r>
                <a14:m>
                  <m:oMath xmlns:m="http://schemas.openxmlformats.org/officeDocument/2006/math">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𝑏</m:t>
                        </m:r>
                      </m:e>
                      <m:sub>
                        <m:r>
                          <a:rPr lang="en-US" altLang="zh-CN" sz="1600" b="0" i="1" smtClean="0">
                            <a:latin typeface="Cambria Math" panose="02040503050406030204" pitchFamily="18" charset="0"/>
                            <a:ea typeface="微软雅黑 Light" panose="020B0502040204020203" pitchFamily="34" charset="-122"/>
                          </a:rPr>
                          <m:t>2</m:t>
                        </m:r>
                      </m:sub>
                    </m:sSub>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1" name="矩形 30"/>
              <p:cNvSpPr>
                <a:spLocks noRot="1" noChangeAspect="1" noMove="1" noResize="1" noEditPoints="1" noAdjustHandles="1" noChangeArrowheads="1" noChangeShapeType="1" noTextEdit="1"/>
              </p:cNvSpPr>
              <p:nvPr/>
            </p:nvSpPr>
            <p:spPr>
              <a:xfrm>
                <a:off x="5398088" y="2516513"/>
                <a:ext cx="1265169" cy="477054"/>
              </a:xfrm>
              <a:prstGeom prst="rect">
                <a:avLst/>
              </a:prstGeom>
              <a:blipFill rotWithShape="0">
                <a:blip r:embed="rId8"/>
                <a:stretch>
                  <a:fillRect b="-6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8450398" y="1795865"/>
                <a:ext cx="702159" cy="553998"/>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latin typeface="Cambria Math" panose="02040503050406030204" pitchFamily="18" charset="0"/>
                          <a:ea typeface="微软雅黑 Light" panose="020B0502040204020203" pitchFamily="34" charset="-122"/>
                          <a:cs typeface="宋体" panose="02010600030101010101" pitchFamily="2" charset="-122"/>
                        </a:rPr>
                        <m:t>𝑌</m:t>
                      </m:r>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2" name="矩形 31"/>
              <p:cNvSpPr>
                <a:spLocks noRot="1" noChangeAspect="1" noMove="1" noResize="1" noEditPoints="1" noAdjustHandles="1" noChangeArrowheads="1" noChangeShapeType="1" noTextEdit="1"/>
              </p:cNvSpPr>
              <p:nvPr/>
            </p:nvSpPr>
            <p:spPr>
              <a:xfrm>
                <a:off x="8450398" y="1795865"/>
                <a:ext cx="702159" cy="553998"/>
              </a:xfrm>
              <a:prstGeom prst="rect">
                <a:avLst/>
              </a:prstGeom>
              <a:blipFill rotWithShape="0">
                <a:blip r:embed="rId9"/>
                <a:stretch>
                  <a:fillRect/>
                </a:stretch>
              </a:blipFill>
            </p:spPr>
            <p:txBody>
              <a:bodyPr/>
              <a:lstStyle/>
              <a:p>
                <a:r>
                  <a:rPr lang="zh-CN" altLang="en-US">
                    <a:noFill/>
                  </a:rPr>
                  <a:t> </a:t>
                </a:r>
              </a:p>
            </p:txBody>
          </p:sp>
        </mc:Fallback>
      </mc:AlternateContent>
      <p:sp>
        <p:nvSpPr>
          <p:cNvPr id="34" name="椭圆 33"/>
          <p:cNvSpPr/>
          <p:nvPr/>
        </p:nvSpPr>
        <p:spPr>
          <a:xfrm rot="20281288">
            <a:off x="8529903" y="3755957"/>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rot="4858626">
            <a:off x="8544435" y="4914231"/>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rot="20281288">
            <a:off x="8447077" y="2366922"/>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rot="942118">
            <a:off x="6703224" y="2592567"/>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箭头连接符 37"/>
          <p:cNvCxnSpPr>
            <a:stCxn id="10" idx="7"/>
            <a:endCxn id="37" idx="2"/>
          </p:cNvCxnSpPr>
          <p:nvPr/>
        </p:nvCxnSpPr>
        <p:spPr>
          <a:xfrm flipV="1">
            <a:off x="5015886" y="2802648"/>
            <a:ext cx="1698087" cy="22395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9" name="直接箭头连接符 38"/>
          <p:cNvCxnSpPr>
            <a:stCxn id="12" idx="6"/>
            <a:endCxn id="9" idx="2"/>
          </p:cNvCxnSpPr>
          <p:nvPr/>
        </p:nvCxnSpPr>
        <p:spPr>
          <a:xfrm flipV="1">
            <a:off x="5150362" y="4065589"/>
            <a:ext cx="1621466" cy="435101"/>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0" name="直接箭头连接符 39"/>
          <p:cNvCxnSpPr>
            <a:stCxn id="37" idx="7"/>
            <a:endCxn id="36" idx="1"/>
          </p:cNvCxnSpPr>
          <p:nvPr/>
        </p:nvCxnSpPr>
        <p:spPr>
          <a:xfrm flipV="1">
            <a:off x="7242444" y="2542312"/>
            <a:ext cx="1227573" cy="197338"/>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41" name="矩形 40"/>
              <p:cNvSpPr/>
              <p:nvPr/>
            </p:nvSpPr>
            <p:spPr>
              <a:xfrm>
                <a:off x="6662624" y="1850769"/>
                <a:ext cx="559885" cy="593560"/>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solidFill>
                                <a:srgbClr val="C00000"/>
                              </a:solidFill>
                              <a:latin typeface="Cambria Math" panose="02040503050406030204" pitchFamily="18" charset="0"/>
                              <a:ea typeface="微软雅黑" panose="020B0503020204020204" pitchFamily="34" charset="-122"/>
                            </a:rPr>
                          </m:ctrlPr>
                        </m:sSupPr>
                        <m:e>
                          <m:r>
                            <a:rPr lang="en-US" altLang="zh-CN" sz="2000" b="0" i="1" kern="0" smtClean="0">
                              <a:solidFill>
                                <a:srgbClr val="C00000"/>
                              </a:solidFill>
                              <a:latin typeface="Cambria Math" panose="02040503050406030204" pitchFamily="18" charset="0"/>
                              <a:ea typeface="微软雅黑" panose="020B0503020204020204" pitchFamily="34" charset="-122"/>
                            </a:rPr>
                            <m:t>𝐻</m:t>
                          </m:r>
                        </m:e>
                        <m:sup>
                          <m:d>
                            <m:dPr>
                              <m:ctrlPr>
                                <a:rPr lang="en-US" altLang="zh-CN" sz="2000" b="0" i="1" kern="0" smtClean="0">
                                  <a:solidFill>
                                    <a:srgbClr val="C00000"/>
                                  </a:solidFill>
                                  <a:latin typeface="Cambria Math" panose="02040503050406030204" pitchFamily="18" charset="0"/>
                                  <a:ea typeface="微软雅黑" panose="020B0503020204020204" pitchFamily="34" charset="-122"/>
                                </a:rPr>
                              </m:ctrlPr>
                            </m:dPr>
                            <m:e>
                              <m:r>
                                <a:rPr lang="en-US" altLang="zh-CN" sz="2000" b="0" i="1" kern="0" smtClean="0">
                                  <a:solidFill>
                                    <a:srgbClr val="C00000"/>
                                  </a:solidFill>
                                  <a:latin typeface="Cambria Math" panose="02040503050406030204" pitchFamily="18" charset="0"/>
                                  <a:ea typeface="微软雅黑" panose="020B0503020204020204" pitchFamily="34" charset="-122"/>
                                </a:rPr>
                                <m:t>2</m:t>
                              </m:r>
                            </m:e>
                          </m:d>
                        </m:sup>
                      </m:sSup>
                    </m:oMath>
                  </m:oMathPara>
                </a14:m>
                <a:endParaRPr lang="en-US" altLang="zh-CN" sz="2000" kern="0" dirty="0">
                  <a:solidFill>
                    <a:srgbClr val="C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41" name="矩形 40"/>
              <p:cNvSpPr>
                <a:spLocks noRot="1" noChangeAspect="1" noMove="1" noResize="1" noEditPoints="1" noAdjustHandles="1" noChangeArrowheads="1" noChangeShapeType="1" noTextEdit="1"/>
              </p:cNvSpPr>
              <p:nvPr/>
            </p:nvSpPr>
            <p:spPr>
              <a:xfrm>
                <a:off x="6662624" y="1850769"/>
                <a:ext cx="559885" cy="593560"/>
              </a:xfrm>
              <a:prstGeom prst="rect">
                <a:avLst/>
              </a:prstGeom>
              <a:blipFill rotWithShape="0">
                <a:blip r:embed="rId10"/>
                <a:stretch>
                  <a:fillRect/>
                </a:stretch>
              </a:blipFill>
              <a:ln>
                <a:noFill/>
                <a:prstDash val="solid"/>
              </a:ln>
            </p:spPr>
            <p:txBody>
              <a:bodyPr/>
              <a:lstStyle/>
              <a:p>
                <a:r>
                  <a:rPr lang="zh-CN" altLang="en-US">
                    <a:noFill/>
                  </a:rPr>
                  <a:t> </a:t>
                </a:r>
              </a:p>
            </p:txBody>
          </p:sp>
        </mc:Fallback>
      </mc:AlternateContent>
      <p:cxnSp>
        <p:nvCxnSpPr>
          <p:cNvPr id="42" name="直接箭头连接符 41"/>
          <p:cNvCxnSpPr>
            <a:stCxn id="37" idx="6"/>
            <a:endCxn id="34" idx="1"/>
          </p:cNvCxnSpPr>
          <p:nvPr/>
        </p:nvCxnSpPr>
        <p:spPr>
          <a:xfrm>
            <a:off x="7268539" y="2958550"/>
            <a:ext cx="1284304" cy="972797"/>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3" name="直接箭头连接符 42"/>
          <p:cNvCxnSpPr>
            <a:stCxn id="37" idx="5"/>
            <a:endCxn id="35" idx="2"/>
          </p:cNvCxnSpPr>
          <p:nvPr/>
        </p:nvCxnSpPr>
        <p:spPr>
          <a:xfrm>
            <a:off x="7132205" y="3131787"/>
            <a:ext cx="1655090" cy="178600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4" name="直接箭头连接符 43"/>
          <p:cNvCxnSpPr>
            <a:stCxn id="24" idx="7"/>
            <a:endCxn id="36" idx="3"/>
          </p:cNvCxnSpPr>
          <p:nvPr/>
        </p:nvCxnSpPr>
        <p:spPr>
          <a:xfrm flipV="1">
            <a:off x="7151609" y="2920046"/>
            <a:ext cx="1470858" cy="186548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5" name="直接箭头连接符 44"/>
          <p:cNvCxnSpPr>
            <a:stCxn id="9" idx="6"/>
            <a:endCxn id="36" idx="2"/>
          </p:cNvCxnSpPr>
          <p:nvPr/>
        </p:nvCxnSpPr>
        <p:spPr>
          <a:xfrm flipV="1">
            <a:off x="7249450" y="2762753"/>
            <a:ext cx="1218560" cy="98076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6" name="直接箭头连接符 45"/>
          <p:cNvCxnSpPr>
            <a:stCxn id="9" idx="5"/>
            <a:endCxn id="34" idx="2"/>
          </p:cNvCxnSpPr>
          <p:nvPr/>
        </p:nvCxnSpPr>
        <p:spPr>
          <a:xfrm>
            <a:off x="7293371" y="3959552"/>
            <a:ext cx="1257465" cy="19223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7" name="直接箭头连接符 46"/>
          <p:cNvCxnSpPr>
            <a:stCxn id="9" idx="4"/>
            <a:endCxn id="35" idx="3"/>
          </p:cNvCxnSpPr>
          <p:nvPr/>
        </p:nvCxnSpPr>
        <p:spPr>
          <a:xfrm>
            <a:off x="7171673" y="4143366"/>
            <a:ext cx="1427704" cy="88969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8" name="直接箭头连接符 47"/>
          <p:cNvCxnSpPr>
            <a:stCxn id="24" idx="6"/>
            <a:endCxn id="34" idx="3"/>
          </p:cNvCxnSpPr>
          <p:nvPr/>
        </p:nvCxnSpPr>
        <p:spPr>
          <a:xfrm flipV="1">
            <a:off x="7280865" y="4309081"/>
            <a:ext cx="1424428" cy="65503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9" name="直接箭头连接符 48"/>
          <p:cNvCxnSpPr>
            <a:stCxn id="24" idx="5"/>
            <a:endCxn id="35" idx="4"/>
          </p:cNvCxnSpPr>
          <p:nvPr/>
        </p:nvCxnSpPr>
        <p:spPr>
          <a:xfrm>
            <a:off x="7245985" y="5181788"/>
            <a:ext cx="1302014" cy="65647"/>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50" name="矩形 49"/>
          <p:cNvSpPr/>
          <p:nvPr/>
        </p:nvSpPr>
        <p:spPr>
          <a:xfrm>
            <a:off x="2265904" y="1695339"/>
            <a:ext cx="969733" cy="418191"/>
          </a:xfrm>
          <a:prstGeom prst="rect">
            <a:avLst/>
          </a:prstGeom>
        </p:spPr>
        <p:txBody>
          <a:bodyPr wrap="square">
            <a:spAutoFit/>
          </a:bodyPr>
          <a:lstStyle/>
          <a:p>
            <a:pPr algn="just">
              <a:lnSpc>
                <a:spcPct val="150000"/>
              </a:lnSpc>
            </a:pPr>
            <a:r>
              <a:rPr lang="zh-CN" altLang="en-US" sz="1600" kern="0" dirty="0">
                <a:latin typeface="微软雅黑 Light" panose="020B0502040204020203" pitchFamily="34" charset="-122"/>
                <a:ea typeface="微软雅黑 Light" panose="020B0502040204020203" pitchFamily="34" charset="-122"/>
                <a:cs typeface="宋体" panose="02010600030101010101" pitchFamily="2" charset="-122"/>
              </a:rPr>
              <a:t>输入</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1" name="矩形 50"/>
          <p:cNvSpPr/>
          <p:nvPr/>
        </p:nvSpPr>
        <p:spPr>
          <a:xfrm>
            <a:off x="4435765" y="1700801"/>
            <a:ext cx="969733" cy="46166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隐层</a:t>
            </a:r>
            <a:r>
              <a:rPr lang="en-US" altLang="zh-CN"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1</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2" name="矩形 51"/>
          <p:cNvSpPr/>
          <p:nvPr/>
        </p:nvSpPr>
        <p:spPr>
          <a:xfrm>
            <a:off x="8385492" y="1592105"/>
            <a:ext cx="969733" cy="418191"/>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输出层</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3" name="矩形 52"/>
          <p:cNvSpPr/>
          <p:nvPr/>
        </p:nvSpPr>
        <p:spPr>
          <a:xfrm>
            <a:off x="6633387" y="1638817"/>
            <a:ext cx="969733" cy="46166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隐层</a:t>
            </a:r>
            <a:r>
              <a:rPr lang="en-US" altLang="zh-CN"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2</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4" name="矩形 53"/>
              <p:cNvSpPr/>
              <p:nvPr/>
            </p:nvSpPr>
            <p:spPr>
              <a:xfrm>
                <a:off x="3251131" y="5000049"/>
                <a:ext cx="3639538" cy="559769"/>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pt-BR" altLang="zh-CN" sz="1600" b="0" i="1" kern="0" smtClean="0">
                              <a:latin typeface="Cambria Math" panose="02040503050406030204" pitchFamily="18" charset="0"/>
                              <a:ea typeface="微软雅黑" panose="020B0503020204020204" pitchFamily="34" charset="-122"/>
                            </a:rPr>
                          </m:ctrlPr>
                        </m:sSubPr>
                        <m:e>
                          <m:r>
                            <a:rPr lang="en-US" altLang="zh-CN" sz="1600" b="1" i="1" kern="0" smtClean="0">
                              <a:latin typeface="Cambria Math" panose="02040503050406030204" pitchFamily="18" charset="0"/>
                              <a:ea typeface="微软雅黑" panose="020B0503020204020204" pitchFamily="34" charset="-122"/>
                            </a:rPr>
                            <m:t>𝒉</m:t>
                          </m:r>
                        </m:e>
                        <m:sub>
                          <m:r>
                            <a:rPr lang="en-US" altLang="zh-CN" sz="1600" b="0" i="1" kern="0" smtClean="0">
                              <a:latin typeface="Cambria Math" panose="02040503050406030204" pitchFamily="18" charset="0"/>
                              <a:ea typeface="微软雅黑" panose="020B0503020204020204" pitchFamily="34" charset="-122"/>
                            </a:rPr>
                            <m:t>1</m:t>
                          </m:r>
                        </m:sub>
                      </m:sSub>
                      <m:r>
                        <a:rPr lang="en-US" altLang="zh-CN" sz="1600" b="0" i="1" kern="0" smtClean="0">
                          <a:latin typeface="Cambria Math" panose="02040503050406030204" pitchFamily="18" charset="0"/>
                          <a:ea typeface="微软雅黑" panose="020B0503020204020204" pitchFamily="34" charset="-122"/>
                        </a:rPr>
                        <m:t>=</m:t>
                      </m:r>
                      <m:r>
                        <a:rPr lang="en-US" altLang="zh-CN" sz="1600" b="0" i="1" kern="0" smtClean="0">
                          <a:latin typeface="Cambria Math" panose="02040503050406030204" pitchFamily="18" charset="0"/>
                          <a:ea typeface="微软雅黑" panose="020B0503020204020204" pitchFamily="34" charset="-122"/>
                        </a:rPr>
                        <m:t>𝐺</m:t>
                      </m:r>
                      <m:r>
                        <a:rPr lang="en-US" altLang="zh-CN" sz="1600" b="0" i="1" kern="0" smtClean="0">
                          <a:latin typeface="Cambria Math" panose="02040503050406030204" pitchFamily="18" charset="0"/>
                          <a:ea typeface="微软雅黑" panose="020B0503020204020204" pitchFamily="34" charset="-122"/>
                        </a:rPr>
                        <m:t>(</m:t>
                      </m:r>
                      <m:sSup>
                        <m:sSupPr>
                          <m:ctrlPr>
                            <a:rPr lang="en-US" altLang="zh-CN" sz="1600" i="1" kern="0">
                              <a:latin typeface="Cambria Math" panose="02040503050406030204" pitchFamily="18" charset="0"/>
                              <a:ea typeface="微软雅黑" panose="020B0503020204020204" pitchFamily="34" charset="-122"/>
                            </a:rPr>
                          </m:ctrlPr>
                        </m:sSupPr>
                        <m:e>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i="1" kern="0">
                                  <a:latin typeface="Cambria Math" panose="02040503050406030204" pitchFamily="18" charset="0"/>
                                  <a:ea typeface="微软雅黑" panose="020B0503020204020204" pitchFamily="34" charset="-122"/>
                                </a:rPr>
                                <m:t>𝑊</m:t>
                              </m:r>
                            </m:e>
                            <m:sup>
                              <m:d>
                                <m:dPr>
                                  <m:ctrlPr>
                                    <a:rPr lang="en-US" altLang="zh-CN" sz="1600" i="1" kern="0">
                                      <a:latin typeface="Cambria Math" panose="02040503050406030204" pitchFamily="18" charset="0"/>
                                      <a:ea typeface="微软雅黑" panose="020B0503020204020204" pitchFamily="34" charset="-122"/>
                                    </a:rPr>
                                  </m:ctrlPr>
                                </m:dPr>
                                <m:e>
                                  <m:r>
                                    <a:rPr lang="en-US" altLang="zh-CN" sz="1600" i="1" kern="0">
                                      <a:latin typeface="Cambria Math" panose="02040503050406030204" pitchFamily="18" charset="0"/>
                                      <a:ea typeface="微软雅黑" panose="020B0503020204020204" pitchFamily="34" charset="-122"/>
                                    </a:rPr>
                                    <m:t>1</m:t>
                                  </m:r>
                                </m:e>
                              </m:d>
                            </m:sup>
                          </m:sSup>
                        </m:e>
                        <m:sup>
                          <m:r>
                            <a:rPr lang="en-US" altLang="zh-CN" sz="1600" i="1" kern="0">
                              <a:latin typeface="Cambria Math" panose="02040503050406030204" pitchFamily="18" charset="0"/>
                              <a:ea typeface="微软雅黑" panose="020B0503020204020204" pitchFamily="34" charset="-122"/>
                            </a:rPr>
                            <m:t>𝑇</m:t>
                          </m:r>
                        </m:sup>
                      </m:sSup>
                      <m:r>
                        <a:rPr lang="en-US" altLang="zh-CN" sz="1600" b="1" i="1" kern="0">
                          <a:latin typeface="Cambria Math" panose="02040503050406030204" pitchFamily="18" charset="0"/>
                          <a:ea typeface="微软雅黑" panose="020B0503020204020204" pitchFamily="34" charset="-122"/>
                        </a:rPr>
                        <m:t>𝒙</m:t>
                      </m:r>
                      <m:r>
                        <a:rPr lang="en-US" altLang="zh-CN" sz="1600" b="0" i="1" kern="0" smtClean="0">
                          <a:solidFill>
                            <a:schemeClr val="tx1"/>
                          </a:solidFill>
                          <a:latin typeface="Cambria Math" panose="02040503050406030204" pitchFamily="18" charset="0"/>
                          <a:ea typeface="微软雅黑" panose="020B0503020204020204" pitchFamily="34" charset="-122"/>
                        </a:rPr>
                        <m:t>+</m:t>
                      </m:r>
                      <m:sSub>
                        <m:sSubPr>
                          <m:ctrlPr>
                            <a:rPr lang="pt-BR" altLang="zh-CN" sz="1600" i="1" kern="0">
                              <a:latin typeface="Cambria Math" panose="02040503050406030204" pitchFamily="18" charset="0"/>
                              <a:ea typeface="微软雅黑" panose="020B0503020204020204" pitchFamily="34" charset="-122"/>
                            </a:rPr>
                          </m:ctrlPr>
                        </m:sSubPr>
                        <m:e>
                          <m:r>
                            <a:rPr lang="en-US" altLang="zh-CN" sz="1600" b="0" i="1" kern="0" smtClean="0">
                              <a:latin typeface="Cambria Math" panose="02040503050406030204" pitchFamily="18" charset="0"/>
                              <a:ea typeface="微软雅黑" panose="020B0503020204020204" pitchFamily="34" charset="-122"/>
                            </a:rPr>
                            <m:t>𝑏</m:t>
                          </m:r>
                        </m:e>
                        <m:sub>
                          <m:r>
                            <a:rPr lang="en-US" altLang="zh-CN" sz="1600" i="1" kern="0">
                              <a:latin typeface="Cambria Math" panose="02040503050406030204" pitchFamily="18" charset="0"/>
                              <a:ea typeface="微软雅黑" panose="020B0503020204020204" pitchFamily="34" charset="-122"/>
                            </a:rPr>
                            <m:t>1</m:t>
                          </m:r>
                        </m:sub>
                      </m:sSub>
                      <m:r>
                        <a:rPr lang="en-US" altLang="zh-CN" sz="1600" b="0" i="1" kern="0" smtClean="0">
                          <a:latin typeface="Cambria Math" panose="02040503050406030204" pitchFamily="18" charset="0"/>
                          <a:ea typeface="微软雅黑" panose="020B0503020204020204" pitchFamily="34" charset="-122"/>
                        </a:rPr>
                        <m:t>)</m:t>
                      </m:r>
                    </m:oMath>
                  </m:oMathPara>
                </a14:m>
                <a:endParaRPr lang="en-US" altLang="zh-CN" sz="1600" kern="0" dirty="0">
                  <a:solidFill>
                    <a:schemeClr val="tx1"/>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4" name="矩形 53"/>
              <p:cNvSpPr>
                <a:spLocks noRot="1" noChangeAspect="1" noMove="1" noResize="1" noEditPoints="1" noAdjustHandles="1" noChangeArrowheads="1" noChangeShapeType="1" noTextEdit="1"/>
              </p:cNvSpPr>
              <p:nvPr/>
            </p:nvSpPr>
            <p:spPr>
              <a:xfrm>
                <a:off x="3251131" y="5000049"/>
                <a:ext cx="3639538" cy="559769"/>
              </a:xfrm>
              <a:prstGeom prst="rect">
                <a:avLst/>
              </a:prstGeom>
              <a:blipFill rotWithShape="0">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矩形 54"/>
              <p:cNvSpPr/>
              <p:nvPr/>
            </p:nvSpPr>
            <p:spPr>
              <a:xfrm>
                <a:off x="3681977" y="5821352"/>
                <a:ext cx="2793970" cy="559769"/>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acc>
                        <m:accPr>
                          <m:chr m:val="̂"/>
                          <m:ctrlPr>
                            <a:rPr lang="en-US" altLang="zh-CN" sz="1600" i="1" kern="0">
                              <a:latin typeface="Cambria Math" panose="02040503050406030204" pitchFamily="18" charset="0"/>
                              <a:ea typeface="微软雅黑 Light" panose="020B0502040204020203" pitchFamily="34" charset="-122"/>
                            </a:rPr>
                          </m:ctrlPr>
                        </m:accPr>
                        <m:e>
                          <m:r>
                            <a:rPr lang="en-US" altLang="zh-CN" sz="1600" b="1" i="1" kern="0">
                              <a:latin typeface="Cambria Math" panose="02040503050406030204" pitchFamily="18" charset="0"/>
                              <a:ea typeface="微软雅黑 Light" panose="020B0502040204020203" pitchFamily="34" charset="-122"/>
                            </a:rPr>
                            <m:t>𝒚</m:t>
                          </m:r>
                        </m:e>
                      </m:acc>
                      <m:r>
                        <a:rPr lang="en-US" altLang="zh-CN" sz="1600" i="1" kern="0">
                          <a:latin typeface="Cambria Math" panose="02040503050406030204" pitchFamily="18" charset="0"/>
                          <a:ea typeface="微软雅黑" panose="020B0503020204020204" pitchFamily="34" charset="-122"/>
                        </a:rPr>
                        <m:t>=</m:t>
                      </m:r>
                      <m:r>
                        <a:rPr lang="en-US" altLang="zh-CN" sz="1600" i="1" kern="0">
                          <a:latin typeface="Cambria Math" panose="02040503050406030204" pitchFamily="18" charset="0"/>
                          <a:ea typeface="微软雅黑" panose="020B0503020204020204" pitchFamily="34" charset="-122"/>
                        </a:rPr>
                        <m:t>𝐺</m:t>
                      </m:r>
                      <m:r>
                        <a:rPr lang="en-US" altLang="zh-CN" sz="1600" i="1" kern="0">
                          <a:latin typeface="Cambria Math" panose="02040503050406030204" pitchFamily="18" charset="0"/>
                          <a:ea typeface="微软雅黑" panose="020B0503020204020204" pitchFamily="34" charset="-122"/>
                        </a:rPr>
                        <m:t>(</m:t>
                      </m:r>
                      <m:sSup>
                        <m:sSupPr>
                          <m:ctrlPr>
                            <a:rPr lang="en-US" altLang="zh-CN" sz="1600" i="1" kern="0">
                              <a:latin typeface="Cambria Math" panose="02040503050406030204" pitchFamily="18" charset="0"/>
                              <a:ea typeface="微软雅黑" panose="020B0503020204020204" pitchFamily="34" charset="-122"/>
                            </a:rPr>
                          </m:ctrlPr>
                        </m:sSupPr>
                        <m:e>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i="1" kern="0">
                                  <a:latin typeface="Cambria Math" panose="02040503050406030204" pitchFamily="18" charset="0"/>
                                  <a:ea typeface="微软雅黑" panose="020B0503020204020204" pitchFamily="34" charset="-122"/>
                                </a:rPr>
                                <m:t>𝑊</m:t>
                              </m:r>
                            </m:e>
                            <m:sup>
                              <m:d>
                                <m:dPr>
                                  <m:ctrlPr>
                                    <a:rPr lang="en-US" altLang="zh-CN" sz="1600" i="1" kern="0">
                                      <a:latin typeface="Cambria Math" panose="02040503050406030204" pitchFamily="18" charset="0"/>
                                      <a:ea typeface="微软雅黑" panose="020B0503020204020204" pitchFamily="34" charset="-122"/>
                                    </a:rPr>
                                  </m:ctrlPr>
                                </m:dPr>
                                <m:e>
                                  <m:r>
                                    <a:rPr lang="en-US" altLang="zh-CN" sz="1600" b="0" i="1" kern="0" smtClean="0">
                                      <a:latin typeface="Cambria Math" panose="02040503050406030204" pitchFamily="18" charset="0"/>
                                      <a:ea typeface="微软雅黑" panose="020B0503020204020204" pitchFamily="34" charset="-122"/>
                                    </a:rPr>
                                    <m:t>3</m:t>
                                  </m:r>
                                </m:e>
                              </m:d>
                            </m:sup>
                          </m:sSup>
                        </m:e>
                        <m:sup>
                          <m:r>
                            <a:rPr lang="en-US" altLang="zh-CN" sz="1600" i="1" kern="0">
                              <a:latin typeface="Cambria Math" panose="02040503050406030204" pitchFamily="18" charset="0"/>
                              <a:ea typeface="微软雅黑" panose="020B0503020204020204" pitchFamily="34" charset="-122"/>
                            </a:rPr>
                            <m:t>𝑇</m:t>
                          </m:r>
                        </m:sup>
                      </m:sSup>
                      <m:sSub>
                        <m:sSubPr>
                          <m:ctrlPr>
                            <a:rPr lang="pt-BR" altLang="zh-CN" sz="1600" i="1" kern="0">
                              <a:latin typeface="Cambria Math" panose="02040503050406030204" pitchFamily="18" charset="0"/>
                              <a:ea typeface="微软雅黑" panose="020B0503020204020204" pitchFamily="34" charset="-122"/>
                            </a:rPr>
                          </m:ctrlPr>
                        </m:sSubPr>
                        <m:e>
                          <m:r>
                            <a:rPr lang="en-US" altLang="zh-CN" sz="1600" b="1" i="1" kern="0">
                              <a:latin typeface="Cambria Math" panose="02040503050406030204" pitchFamily="18" charset="0"/>
                              <a:ea typeface="微软雅黑" panose="020B0503020204020204" pitchFamily="34" charset="-122"/>
                            </a:rPr>
                            <m:t>𝒉</m:t>
                          </m:r>
                        </m:e>
                        <m:sub>
                          <m:r>
                            <a:rPr lang="en-US" altLang="zh-CN" sz="1600" b="1" i="1" kern="0" smtClean="0">
                              <a:latin typeface="Cambria Math" panose="02040503050406030204" pitchFamily="18" charset="0"/>
                              <a:ea typeface="微软雅黑" panose="020B0503020204020204" pitchFamily="34" charset="-122"/>
                            </a:rPr>
                            <m:t>𝟐</m:t>
                          </m:r>
                        </m:sub>
                      </m:sSub>
                      <m:r>
                        <a:rPr lang="en-US" altLang="zh-CN" sz="1600" i="1" kern="0">
                          <a:latin typeface="Cambria Math" panose="02040503050406030204" pitchFamily="18" charset="0"/>
                          <a:ea typeface="微软雅黑" panose="020B0503020204020204" pitchFamily="34" charset="-122"/>
                        </a:rPr>
                        <m:t>+</m:t>
                      </m:r>
                      <m:sSub>
                        <m:sSubPr>
                          <m:ctrlPr>
                            <a:rPr lang="pt-BR" altLang="zh-CN" sz="1600" i="1" kern="0">
                              <a:latin typeface="Cambria Math" panose="02040503050406030204" pitchFamily="18" charset="0"/>
                              <a:ea typeface="微软雅黑" panose="020B0503020204020204" pitchFamily="34" charset="-122"/>
                            </a:rPr>
                          </m:ctrlPr>
                        </m:sSubPr>
                        <m:e>
                          <m:r>
                            <a:rPr lang="en-US" altLang="zh-CN" sz="1600" i="1" kern="0">
                              <a:latin typeface="Cambria Math" panose="02040503050406030204" pitchFamily="18" charset="0"/>
                              <a:ea typeface="微软雅黑" panose="020B0503020204020204" pitchFamily="34" charset="-122"/>
                            </a:rPr>
                            <m:t>𝑏</m:t>
                          </m:r>
                        </m:e>
                        <m:sub>
                          <m:r>
                            <a:rPr lang="en-US" altLang="zh-CN" sz="1600" b="0" i="1" kern="0" smtClean="0">
                              <a:latin typeface="Cambria Math" panose="02040503050406030204" pitchFamily="18" charset="0"/>
                              <a:ea typeface="微软雅黑" panose="020B0503020204020204" pitchFamily="34" charset="-122"/>
                            </a:rPr>
                            <m:t>3</m:t>
                          </m:r>
                        </m:sub>
                      </m:sSub>
                      <m:r>
                        <a:rPr lang="en-US" altLang="zh-CN" sz="1600" i="1" kern="0">
                          <a:latin typeface="Cambria Math" panose="02040503050406030204" pitchFamily="18" charset="0"/>
                          <a:ea typeface="微软雅黑" panose="020B0503020204020204" pitchFamily="34" charset="-122"/>
                        </a:rPr>
                        <m:t>)</m:t>
                      </m:r>
                    </m:oMath>
                  </m:oMathPara>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5" name="矩形 54"/>
              <p:cNvSpPr>
                <a:spLocks noRot="1" noChangeAspect="1" noMove="1" noResize="1" noEditPoints="1" noAdjustHandles="1" noChangeArrowheads="1" noChangeShapeType="1" noTextEdit="1"/>
              </p:cNvSpPr>
              <p:nvPr/>
            </p:nvSpPr>
            <p:spPr>
              <a:xfrm>
                <a:off x="3681977" y="5821352"/>
                <a:ext cx="2793970" cy="559769"/>
              </a:xfrm>
              <a:prstGeom prst="rect">
                <a:avLst/>
              </a:prstGeom>
              <a:blipFill rotWithShape="0">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矩形 55"/>
              <p:cNvSpPr/>
              <p:nvPr/>
            </p:nvSpPr>
            <p:spPr>
              <a:xfrm>
                <a:off x="3315528" y="5396738"/>
                <a:ext cx="3639538" cy="56643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pt-BR" altLang="zh-CN" sz="1600" i="1" kern="0" smtClean="0">
                              <a:latin typeface="Cambria Math" panose="02040503050406030204" pitchFamily="18" charset="0"/>
                              <a:ea typeface="微软雅黑" panose="020B0503020204020204" pitchFamily="34" charset="-122"/>
                            </a:rPr>
                          </m:ctrlPr>
                        </m:sSubPr>
                        <m:e>
                          <m:r>
                            <a:rPr lang="en-US" altLang="zh-CN" sz="1600" b="1" i="1" kern="0">
                              <a:latin typeface="Cambria Math" panose="02040503050406030204" pitchFamily="18" charset="0"/>
                              <a:ea typeface="微软雅黑" panose="020B0503020204020204" pitchFamily="34" charset="-122"/>
                            </a:rPr>
                            <m:t>𝒉</m:t>
                          </m:r>
                        </m:e>
                        <m:sub>
                          <m:r>
                            <a:rPr lang="en-US" altLang="zh-CN" sz="1600" b="0" i="1" kern="0" smtClean="0">
                              <a:latin typeface="Cambria Math" panose="02040503050406030204" pitchFamily="18" charset="0"/>
                              <a:ea typeface="微软雅黑" panose="020B0503020204020204" pitchFamily="34" charset="-122"/>
                            </a:rPr>
                            <m:t>2</m:t>
                          </m:r>
                        </m:sub>
                      </m:sSub>
                      <m:r>
                        <a:rPr lang="en-US" altLang="zh-CN" sz="1600" i="1" kern="0">
                          <a:latin typeface="Cambria Math" panose="02040503050406030204" pitchFamily="18" charset="0"/>
                          <a:ea typeface="微软雅黑" panose="020B0503020204020204" pitchFamily="34" charset="-122"/>
                        </a:rPr>
                        <m:t>=</m:t>
                      </m:r>
                      <m:r>
                        <a:rPr lang="en-US" altLang="zh-CN" sz="1600" i="1" kern="0">
                          <a:latin typeface="Cambria Math" panose="02040503050406030204" pitchFamily="18" charset="0"/>
                          <a:ea typeface="微软雅黑" panose="020B0503020204020204" pitchFamily="34" charset="-122"/>
                        </a:rPr>
                        <m:t>𝐺</m:t>
                      </m:r>
                      <m:r>
                        <a:rPr lang="en-US" altLang="zh-CN" sz="1600" i="1" kern="0">
                          <a:latin typeface="Cambria Math" panose="02040503050406030204" pitchFamily="18" charset="0"/>
                          <a:ea typeface="微软雅黑" panose="020B0503020204020204" pitchFamily="34" charset="-122"/>
                        </a:rPr>
                        <m:t>(</m:t>
                      </m:r>
                      <m:sSup>
                        <m:sSupPr>
                          <m:ctrlPr>
                            <a:rPr lang="en-US" altLang="zh-CN" sz="1600" i="1" kern="0">
                              <a:latin typeface="Cambria Math" panose="02040503050406030204" pitchFamily="18" charset="0"/>
                              <a:ea typeface="微软雅黑" panose="020B0503020204020204" pitchFamily="34" charset="-122"/>
                            </a:rPr>
                          </m:ctrlPr>
                        </m:sSupPr>
                        <m:e>
                          <m:sSup>
                            <m:sSupPr>
                              <m:ctrlPr>
                                <a:rPr lang="en-US" altLang="zh-CN" sz="1600" i="1" kern="0">
                                  <a:latin typeface="Cambria Math" panose="02040503050406030204" pitchFamily="18" charset="0"/>
                                  <a:ea typeface="微软雅黑" panose="020B0503020204020204" pitchFamily="34" charset="-122"/>
                                </a:rPr>
                              </m:ctrlPr>
                            </m:sSupPr>
                            <m:e>
                              <m:r>
                                <a:rPr lang="en-US" altLang="zh-CN" sz="1600" i="1" kern="0">
                                  <a:latin typeface="Cambria Math" panose="02040503050406030204" pitchFamily="18" charset="0"/>
                                  <a:ea typeface="微软雅黑" panose="020B0503020204020204" pitchFamily="34" charset="-122"/>
                                </a:rPr>
                                <m:t>𝑊</m:t>
                              </m:r>
                            </m:e>
                            <m:sup>
                              <m:d>
                                <m:dPr>
                                  <m:ctrlPr>
                                    <a:rPr lang="en-US" altLang="zh-CN" sz="1600" i="1" kern="0">
                                      <a:latin typeface="Cambria Math" panose="02040503050406030204" pitchFamily="18" charset="0"/>
                                      <a:ea typeface="微软雅黑" panose="020B0503020204020204" pitchFamily="34" charset="-122"/>
                                    </a:rPr>
                                  </m:ctrlPr>
                                </m:dPr>
                                <m:e>
                                  <m:r>
                                    <a:rPr lang="en-US" altLang="zh-CN" sz="1600" b="0" i="1" kern="0" smtClean="0">
                                      <a:latin typeface="Cambria Math" panose="02040503050406030204" pitchFamily="18" charset="0"/>
                                      <a:ea typeface="微软雅黑" panose="020B0503020204020204" pitchFamily="34" charset="-122"/>
                                    </a:rPr>
                                    <m:t>2</m:t>
                                  </m:r>
                                </m:e>
                              </m:d>
                            </m:sup>
                          </m:sSup>
                        </m:e>
                        <m:sup>
                          <m:r>
                            <a:rPr lang="en-US" altLang="zh-CN" sz="1600" i="1" kern="0">
                              <a:latin typeface="Cambria Math" panose="02040503050406030204" pitchFamily="18" charset="0"/>
                              <a:ea typeface="微软雅黑" panose="020B0503020204020204" pitchFamily="34" charset="-122"/>
                            </a:rPr>
                            <m:t>𝑇</m:t>
                          </m:r>
                        </m:sup>
                      </m:sSup>
                      <m:sSub>
                        <m:sSubPr>
                          <m:ctrlPr>
                            <a:rPr lang="pt-BR" altLang="zh-CN" sz="1600" i="1" kern="0">
                              <a:latin typeface="Cambria Math" panose="02040503050406030204" pitchFamily="18" charset="0"/>
                              <a:ea typeface="微软雅黑" panose="020B0503020204020204" pitchFamily="34" charset="-122"/>
                            </a:rPr>
                          </m:ctrlPr>
                        </m:sSubPr>
                        <m:e>
                          <m:r>
                            <a:rPr lang="en-US" altLang="zh-CN" sz="1600" b="1" i="1" kern="0">
                              <a:latin typeface="Cambria Math" panose="02040503050406030204" pitchFamily="18" charset="0"/>
                              <a:ea typeface="微软雅黑" panose="020B0503020204020204" pitchFamily="34" charset="-122"/>
                            </a:rPr>
                            <m:t>𝒉</m:t>
                          </m:r>
                        </m:e>
                        <m:sub>
                          <m:r>
                            <a:rPr lang="en-US" altLang="zh-CN" sz="1600" b="1" i="1" kern="0" smtClean="0">
                              <a:latin typeface="Cambria Math" panose="02040503050406030204" pitchFamily="18" charset="0"/>
                              <a:ea typeface="微软雅黑" panose="020B0503020204020204" pitchFamily="34" charset="-122"/>
                            </a:rPr>
                            <m:t>𝟏</m:t>
                          </m:r>
                        </m:sub>
                      </m:sSub>
                      <m:r>
                        <a:rPr lang="en-US" altLang="zh-CN" sz="1600" i="1" kern="0">
                          <a:latin typeface="Cambria Math" panose="02040503050406030204" pitchFamily="18" charset="0"/>
                          <a:ea typeface="微软雅黑" panose="020B0503020204020204" pitchFamily="34" charset="-122"/>
                        </a:rPr>
                        <m:t>+</m:t>
                      </m:r>
                      <m:sSub>
                        <m:sSubPr>
                          <m:ctrlPr>
                            <a:rPr lang="pt-BR" altLang="zh-CN" sz="1600" i="1" kern="0">
                              <a:latin typeface="Cambria Math" panose="02040503050406030204" pitchFamily="18" charset="0"/>
                              <a:ea typeface="微软雅黑" panose="020B0503020204020204" pitchFamily="34" charset="-122"/>
                            </a:rPr>
                          </m:ctrlPr>
                        </m:sSubPr>
                        <m:e>
                          <m:r>
                            <a:rPr lang="en-US" altLang="zh-CN" sz="1600" i="1" kern="0">
                              <a:latin typeface="Cambria Math" panose="02040503050406030204" pitchFamily="18" charset="0"/>
                              <a:ea typeface="微软雅黑" panose="020B0503020204020204" pitchFamily="34" charset="-122"/>
                            </a:rPr>
                            <m:t>𝑏</m:t>
                          </m:r>
                        </m:e>
                        <m:sub>
                          <m:r>
                            <a:rPr lang="en-US" altLang="zh-CN" sz="1600" b="0" i="1" kern="0" smtClean="0">
                              <a:latin typeface="Cambria Math" panose="02040503050406030204" pitchFamily="18" charset="0"/>
                              <a:ea typeface="微软雅黑" panose="020B0503020204020204" pitchFamily="34" charset="-122"/>
                            </a:rPr>
                            <m:t>2</m:t>
                          </m:r>
                        </m:sub>
                      </m:sSub>
                      <m:r>
                        <a:rPr lang="en-US" altLang="zh-CN" sz="1600" i="1" kern="0">
                          <a:latin typeface="Cambria Math" panose="02040503050406030204" pitchFamily="18" charset="0"/>
                          <a:ea typeface="微软雅黑" panose="020B0503020204020204" pitchFamily="34" charset="-122"/>
                        </a:rPr>
                        <m:t>)</m:t>
                      </m:r>
                    </m:oMath>
                  </m:oMathPara>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6" name="矩形 55"/>
              <p:cNvSpPr>
                <a:spLocks noRot="1" noChangeAspect="1" noMove="1" noResize="1" noEditPoints="1" noAdjustHandles="1" noChangeArrowheads="1" noChangeShapeType="1" noTextEdit="1"/>
              </p:cNvSpPr>
              <p:nvPr/>
            </p:nvSpPr>
            <p:spPr>
              <a:xfrm>
                <a:off x="3315528" y="5396738"/>
                <a:ext cx="3639538" cy="566437"/>
              </a:xfrm>
              <a:prstGeom prst="rect">
                <a:avLst/>
              </a:prstGeom>
              <a:blipFill rotWithShape="0">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矩形 56"/>
              <p:cNvSpPr/>
              <p:nvPr/>
            </p:nvSpPr>
            <p:spPr>
              <a:xfrm>
                <a:off x="7437373" y="2242918"/>
                <a:ext cx="1265169" cy="477054"/>
              </a:xfrm>
              <a:prstGeom prst="rect">
                <a:avLst/>
              </a:prstGeom>
            </p:spPr>
            <p:txBody>
              <a:bodyPr wrap="square">
                <a:spAutoFit/>
              </a:bodyPr>
              <a:lstStyle/>
              <a:p>
                <a:pPr algn="just">
                  <a:lnSpc>
                    <a:spcPct val="150000"/>
                  </a:lnSpc>
                </a:pPr>
                <a14:m>
                  <m:oMath xmlns:m="http://schemas.openxmlformats.org/officeDocument/2006/math">
                    <m:sSup>
                      <m:sSupPr>
                        <m:ctrlPr>
                          <a:rPr lang="en-US" altLang="zh-CN" sz="1600" i="1" kern="0" smtClean="0">
                            <a:latin typeface="Cambria Math" panose="02040503050406030204" pitchFamily="18" charset="0"/>
                            <a:ea typeface="微软雅黑" panose="020B0503020204020204" pitchFamily="34" charset="-122"/>
                          </a:rPr>
                        </m:ctrlPr>
                      </m:sSupPr>
                      <m:e>
                        <m:r>
                          <a:rPr lang="en-US" altLang="zh-CN" sz="1600" b="0" i="1" kern="0" smtClean="0">
                            <a:latin typeface="Cambria Math" panose="02040503050406030204" pitchFamily="18" charset="0"/>
                            <a:ea typeface="微软雅黑" panose="020B0503020204020204" pitchFamily="34" charset="-122"/>
                          </a:rPr>
                          <m:t>𝑊</m:t>
                        </m:r>
                      </m:e>
                      <m:sup>
                        <m:r>
                          <a:rPr lang="en-US" altLang="zh-CN" sz="1600" b="0" i="1" kern="0" smtClean="0">
                            <a:latin typeface="Cambria Math" panose="02040503050406030204" pitchFamily="18" charset="0"/>
                            <a:ea typeface="微软雅黑" panose="020B0503020204020204" pitchFamily="34" charset="-122"/>
                          </a:rPr>
                          <m:t>(3)</m:t>
                        </m:r>
                      </m:sup>
                    </m:sSup>
                  </m:oMath>
                </a14:m>
                <a:r>
                  <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rPr>
                  <a:t>,</a:t>
                </a:r>
                <a14:m>
                  <m:oMath xmlns:m="http://schemas.openxmlformats.org/officeDocument/2006/math">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𝑏</m:t>
                        </m:r>
                      </m:e>
                      <m:sub>
                        <m:r>
                          <a:rPr lang="en-US" altLang="zh-CN" sz="1600" b="0" i="1" smtClean="0">
                            <a:latin typeface="Cambria Math" panose="02040503050406030204" pitchFamily="18" charset="0"/>
                            <a:ea typeface="微软雅黑 Light" panose="020B0502040204020203" pitchFamily="34" charset="-122"/>
                          </a:rPr>
                          <m:t>3</m:t>
                        </m:r>
                      </m:sub>
                    </m:sSub>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7" name="矩形 56"/>
              <p:cNvSpPr>
                <a:spLocks noRot="1" noChangeAspect="1" noMove="1" noResize="1" noEditPoints="1" noAdjustHandles="1" noChangeArrowheads="1" noChangeShapeType="1" noTextEdit="1"/>
              </p:cNvSpPr>
              <p:nvPr/>
            </p:nvSpPr>
            <p:spPr>
              <a:xfrm>
                <a:off x="7437373" y="2242918"/>
                <a:ext cx="1265169" cy="477054"/>
              </a:xfrm>
              <a:prstGeom prst="rect">
                <a:avLst/>
              </a:prstGeom>
              <a:blipFill rotWithShape="0">
                <a:blip r:embed="rId14"/>
                <a:stretch>
                  <a:fillRect b="-6410"/>
                </a:stretch>
              </a:blipFill>
            </p:spPr>
            <p:txBody>
              <a:bodyPr/>
              <a:lstStyle/>
              <a:p>
                <a:r>
                  <a:rPr lang="zh-CN" altLang="en-US">
                    <a:noFill/>
                  </a:rPr>
                  <a:t> </a:t>
                </a:r>
              </a:p>
            </p:txBody>
          </p:sp>
        </mc:Fallback>
      </mc:AlternateContent>
      <p:sp>
        <p:nvSpPr>
          <p:cNvPr id="58" name="矩形 57"/>
          <p:cNvSpPr/>
          <p:nvPr/>
        </p:nvSpPr>
        <p:spPr>
          <a:xfrm>
            <a:off x="2726865" y="5408686"/>
            <a:ext cx="1125415" cy="419474"/>
          </a:xfrm>
          <a:prstGeom prst="rect">
            <a:avLst/>
          </a:prstGeom>
        </p:spPr>
        <p:txBody>
          <a:bodyPr wrap="square">
            <a:spAutoFit/>
          </a:bodyPr>
          <a:lstStyle/>
          <a:p>
            <a:pPr algn="just">
              <a:lnSpc>
                <a:spcPct val="150000"/>
              </a:lnSpc>
            </a:pPr>
            <a:r>
              <a:rPr lang="zh-CN" altLang="en-US" sz="1600" kern="0" dirty="0">
                <a:latin typeface="微软雅黑 Light" panose="020B0502040204020203" pitchFamily="34" charset="-122"/>
                <a:ea typeface="微软雅黑 Light" panose="020B0502040204020203" pitchFamily="34" charset="-122"/>
                <a:cs typeface="宋体" panose="02010600030101010101" pitchFamily="2" charset="-122"/>
              </a:rPr>
              <a:t>推导公式</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59" name="直接箭头连接符 58"/>
          <p:cNvCxnSpPr/>
          <p:nvPr/>
        </p:nvCxnSpPr>
        <p:spPr>
          <a:xfrm>
            <a:off x="9095876" y="4063867"/>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60" name="直接箭头连接符 59"/>
          <p:cNvCxnSpPr/>
          <p:nvPr/>
        </p:nvCxnSpPr>
        <p:spPr>
          <a:xfrm>
            <a:off x="9110007" y="5247093"/>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61" name="直接箭头连接符 60"/>
          <p:cNvCxnSpPr/>
          <p:nvPr/>
        </p:nvCxnSpPr>
        <p:spPr>
          <a:xfrm>
            <a:off x="9038905" y="2670406"/>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64" name="灯片编号占位符 8">
            <a:extLst>
              <a:ext uri="{FF2B5EF4-FFF2-40B4-BE49-F238E27FC236}">
                <a16:creationId xmlns:a16="http://schemas.microsoft.com/office/drawing/2014/main" id="{4C178509-AF26-4E75-A8DD-FFD76E92A46F}"/>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28</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516005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8"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多层神经网络（深度学习）</a:t>
            </a:r>
            <a:r>
              <a:rPr lang="en-US" altLang="zh-CN" sz="2600" b="1" dirty="0"/>
              <a:t>-</a:t>
            </a:r>
            <a:r>
              <a:rPr lang="zh-CN" altLang="en-US" sz="2600" b="1" dirty="0"/>
              <a:t>层数不断增加</a:t>
            </a:r>
            <a:endParaRPr lang="en-US" altLang="zh-CN" sz="2600" b="1" dirty="0"/>
          </a:p>
        </p:txBody>
      </p:sp>
      <p:sp>
        <p:nvSpPr>
          <p:cNvPr id="9" name="矩形 8"/>
          <p:cNvSpPr/>
          <p:nvPr/>
        </p:nvSpPr>
        <p:spPr>
          <a:xfrm>
            <a:off x="4758373" y="5978270"/>
            <a:ext cx="3747426" cy="461665"/>
          </a:xfrm>
          <a:prstGeom prst="rect">
            <a:avLst/>
          </a:prstGeom>
        </p:spPr>
        <p:txBody>
          <a:bodyPr wrap="square">
            <a:spAutoFit/>
          </a:bodyPr>
          <a:lstStyle/>
          <a:p>
            <a:pPr algn="just">
              <a:lnSpc>
                <a:spcPct val="150000"/>
              </a:lnSpc>
            </a:pPr>
            <a:r>
              <a:rPr lang="zh-CN" altLang="en-US" sz="1600" kern="0" dirty="0">
                <a:latin typeface="微软雅黑 Light" panose="020B0502040204020203" pitchFamily="34" charset="-122"/>
                <a:ea typeface="微软雅黑 Light" panose="020B0502040204020203" pitchFamily="34" charset="-122"/>
                <a:cs typeface="宋体" panose="02010600030101010101" pitchFamily="2" charset="-122"/>
              </a:rPr>
              <a:t>需 </a:t>
            </a:r>
            <a:r>
              <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rPr>
              <a:t>6+6+9+3=24</a:t>
            </a:r>
            <a:r>
              <a:rPr lang="zh-CN" altLang="en-US" sz="1600" kern="0" dirty="0">
                <a:latin typeface="微软雅黑 Light" panose="020B0502040204020203" pitchFamily="34" charset="-122"/>
                <a:ea typeface="微软雅黑 Light" panose="020B0502040204020203" pitchFamily="34" charset="-122"/>
                <a:cs typeface="宋体" panose="02010600030101010101" pitchFamily="2" charset="-122"/>
              </a:rPr>
              <a:t>个参数</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10" name="椭圆 9"/>
          <p:cNvSpPr/>
          <p:nvPr/>
        </p:nvSpPr>
        <p:spPr>
          <a:xfrm>
            <a:off x="2223007" y="2392625"/>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rot="19560457">
            <a:off x="6680407" y="3638340"/>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rot="21061334">
            <a:off x="4516263" y="2993342"/>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rot="922928">
            <a:off x="2223007" y="3664337"/>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rot="218974">
            <a:off x="4532682" y="4219970"/>
            <a:ext cx="576064" cy="568405"/>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223007" y="4936048"/>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p:cNvCxnSpPr>
            <a:stCxn id="10" idx="6"/>
            <a:endCxn id="12" idx="1"/>
          </p:cNvCxnSpPr>
          <p:nvPr/>
        </p:nvCxnSpPr>
        <p:spPr>
          <a:xfrm>
            <a:off x="2799071" y="2680657"/>
            <a:ext cx="1772267" cy="43132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19" name="直接箭头连接符 18"/>
          <p:cNvCxnSpPr>
            <a:stCxn id="10" idx="5"/>
            <a:endCxn id="14" idx="1"/>
          </p:cNvCxnSpPr>
          <p:nvPr/>
        </p:nvCxnSpPr>
        <p:spPr>
          <a:xfrm>
            <a:off x="2714708" y="2884326"/>
            <a:ext cx="1915542" cy="140632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0" name="直接箭头连接符 19"/>
          <p:cNvCxnSpPr>
            <a:stCxn id="13" idx="7"/>
            <a:endCxn id="12" idx="2"/>
          </p:cNvCxnSpPr>
          <p:nvPr/>
        </p:nvCxnSpPr>
        <p:spPr>
          <a:xfrm flipV="1">
            <a:off x="2761437" y="3326322"/>
            <a:ext cx="1758355" cy="48369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1" name="直接箭头连接符 20"/>
          <p:cNvCxnSpPr>
            <a:stCxn id="16" idx="7"/>
            <a:endCxn id="12" idx="3"/>
          </p:cNvCxnSpPr>
          <p:nvPr/>
        </p:nvCxnSpPr>
        <p:spPr>
          <a:xfrm flipV="1">
            <a:off x="2714708" y="3514331"/>
            <a:ext cx="1920196" cy="150608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2" name="直接箭头连接符 21"/>
          <p:cNvCxnSpPr>
            <a:stCxn id="13" idx="6"/>
            <a:endCxn id="14" idx="2"/>
          </p:cNvCxnSpPr>
          <p:nvPr/>
        </p:nvCxnSpPr>
        <p:spPr>
          <a:xfrm>
            <a:off x="2788753" y="4028771"/>
            <a:ext cx="1744513" cy="45706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3" name="直接箭头连接符 22"/>
          <p:cNvCxnSpPr>
            <a:stCxn id="16" idx="6"/>
            <a:endCxn id="14" idx="3"/>
          </p:cNvCxnSpPr>
          <p:nvPr/>
        </p:nvCxnSpPr>
        <p:spPr>
          <a:xfrm flipV="1">
            <a:off x="2799071" y="4691762"/>
            <a:ext cx="1805595" cy="53231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4" name="直接箭头连接符 23"/>
          <p:cNvCxnSpPr>
            <a:stCxn id="12" idx="6"/>
            <a:endCxn id="11" idx="1"/>
          </p:cNvCxnSpPr>
          <p:nvPr/>
        </p:nvCxnSpPr>
        <p:spPr>
          <a:xfrm>
            <a:off x="5088798" y="3236426"/>
            <a:ext cx="1596909" cy="63494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5" name="直接箭头连接符 24"/>
          <p:cNvCxnSpPr>
            <a:stCxn id="14" idx="7"/>
            <a:endCxn id="39" idx="3"/>
          </p:cNvCxnSpPr>
          <p:nvPr/>
        </p:nvCxnSpPr>
        <p:spPr>
          <a:xfrm flipV="1">
            <a:off x="5036762" y="3043365"/>
            <a:ext cx="1661106" cy="1273218"/>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26" name="椭圆 25"/>
          <p:cNvSpPr/>
          <p:nvPr/>
        </p:nvSpPr>
        <p:spPr>
          <a:xfrm rot="20796204">
            <a:off x="6670438" y="4764634"/>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26"/>
          <p:cNvCxnSpPr>
            <a:stCxn id="12" idx="5"/>
            <a:endCxn id="26" idx="1"/>
          </p:cNvCxnSpPr>
          <p:nvPr/>
        </p:nvCxnSpPr>
        <p:spPr>
          <a:xfrm>
            <a:off x="5037252" y="3450765"/>
            <a:ext cx="1675903" cy="145096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8" name="直接箭头连接符 27"/>
          <p:cNvCxnSpPr>
            <a:stCxn id="14" idx="5"/>
            <a:endCxn id="26" idx="2"/>
          </p:cNvCxnSpPr>
          <p:nvPr/>
        </p:nvCxnSpPr>
        <p:spPr>
          <a:xfrm>
            <a:off x="5011178" y="4717691"/>
            <a:ext cx="1667097" cy="401709"/>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30" name="矩形 29"/>
              <p:cNvSpPr/>
              <p:nvPr/>
            </p:nvSpPr>
            <p:spPr>
              <a:xfrm>
                <a:off x="2857358" y="2452487"/>
                <a:ext cx="1656763" cy="461665"/>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1400" i="1" kern="0" smtClean="0">
                              <a:solidFill>
                                <a:schemeClr val="tx1"/>
                              </a:solidFill>
                              <a:latin typeface="Cambria Math" panose="02040503050406030204" pitchFamily="18" charset="0"/>
                              <a:ea typeface="微软雅黑" panose="020B0503020204020204" pitchFamily="34" charset="-122"/>
                            </a:rPr>
                          </m:ctrlPr>
                        </m:sSupPr>
                        <m:e>
                          <m:r>
                            <a:rPr lang="en-US" altLang="zh-CN" sz="1400" b="0" i="1" kern="0" smtClean="0">
                              <a:solidFill>
                                <a:schemeClr val="tx1"/>
                              </a:solidFill>
                              <a:latin typeface="Cambria Math" panose="02040503050406030204" pitchFamily="18" charset="0"/>
                              <a:ea typeface="微软雅黑" panose="020B0503020204020204" pitchFamily="34" charset="-122"/>
                            </a:rPr>
                            <m:t>𝑊</m:t>
                          </m:r>
                        </m:e>
                        <m:sup>
                          <m:r>
                            <a:rPr lang="en-US" altLang="zh-CN" sz="1400" b="0" i="1" kern="0" smtClean="0">
                              <a:solidFill>
                                <a:schemeClr val="tx1"/>
                              </a:solidFill>
                              <a:latin typeface="Cambria Math" panose="02040503050406030204" pitchFamily="18" charset="0"/>
                              <a:ea typeface="微软雅黑" panose="020B0503020204020204" pitchFamily="34" charset="-122"/>
                            </a:rPr>
                            <m:t>(1)</m:t>
                          </m:r>
                        </m:sup>
                      </m:sSup>
                      <m:r>
                        <a:rPr lang="en-US" altLang="zh-CN" sz="1400" b="0" i="1" kern="0" smtClean="0">
                          <a:solidFill>
                            <a:schemeClr val="tx1"/>
                          </a:solidFill>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𝑏</m:t>
                          </m:r>
                        </m:e>
                        <m:sub>
                          <m:r>
                            <a:rPr lang="en-US" altLang="zh-CN" sz="1600" i="1">
                              <a:latin typeface="Cambria Math" panose="02040503050406030204" pitchFamily="18" charset="0"/>
                              <a:ea typeface="微软雅黑 Light" panose="020B0502040204020203" pitchFamily="34" charset="-122"/>
                            </a:rPr>
                            <m:t>1</m:t>
                          </m:r>
                        </m:sub>
                      </m:sSub>
                    </m:oMath>
                  </m:oMathPara>
                </a14:m>
                <a:endParaRPr lang="en-US" altLang="zh-CN" sz="1600" kern="0" dirty="0">
                  <a:solidFill>
                    <a:schemeClr val="tx1"/>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0" name="矩形 29"/>
              <p:cNvSpPr>
                <a:spLocks noRot="1" noChangeAspect="1" noMove="1" noResize="1" noEditPoints="1" noAdjustHandles="1" noChangeArrowheads="1" noChangeShapeType="1" noTextEdit="1"/>
              </p:cNvSpPr>
              <p:nvPr/>
            </p:nvSpPr>
            <p:spPr>
              <a:xfrm>
                <a:off x="2857358" y="2452487"/>
                <a:ext cx="1656763" cy="461665"/>
              </a:xfrm>
              <a:prstGeom prst="rect">
                <a:avLst/>
              </a:prstGeom>
              <a:blipFill rotWithShape="0">
                <a:blip r:embed="rId5"/>
                <a:stretch>
                  <a:fillRect/>
                </a:stretch>
              </a:blipFill>
              <a:ln>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2129392" y="1899240"/>
                <a:ext cx="839775" cy="555665"/>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solidFill>
                            <a:schemeClr val="tx1"/>
                          </a:solidFill>
                          <a:latin typeface="Cambria Math" panose="02040503050406030204" pitchFamily="18" charset="0"/>
                          <a:ea typeface="微软雅黑 Light" panose="020B0502040204020203" pitchFamily="34" charset="-122"/>
                          <a:cs typeface="宋体" panose="02010600030101010101" pitchFamily="2" charset="-122"/>
                        </a:rPr>
                        <m:t>𝑋</m:t>
                      </m:r>
                    </m:oMath>
                  </m:oMathPara>
                </a14:m>
                <a:endParaRPr lang="en-US" altLang="zh-CN" sz="2000" kern="0" dirty="0">
                  <a:solidFill>
                    <a:schemeClr val="tx1"/>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1" name="矩形 30"/>
              <p:cNvSpPr>
                <a:spLocks noRot="1" noChangeAspect="1" noMove="1" noResize="1" noEditPoints="1" noAdjustHandles="1" noChangeArrowheads="1" noChangeShapeType="1" noTextEdit="1"/>
              </p:cNvSpPr>
              <p:nvPr/>
            </p:nvSpPr>
            <p:spPr>
              <a:xfrm>
                <a:off x="2129392" y="1899240"/>
                <a:ext cx="839775" cy="555665"/>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4481563" y="1916080"/>
                <a:ext cx="559885" cy="593560"/>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solidFill>
                                <a:srgbClr val="C00000"/>
                              </a:solidFill>
                              <a:latin typeface="Cambria Math" panose="02040503050406030204" pitchFamily="18" charset="0"/>
                              <a:ea typeface="微软雅黑" panose="020B0503020204020204" pitchFamily="34" charset="-122"/>
                            </a:rPr>
                          </m:ctrlPr>
                        </m:sSupPr>
                        <m:e>
                          <m:r>
                            <a:rPr lang="en-US" altLang="zh-CN" sz="2000" b="0" i="1" kern="0" smtClean="0">
                              <a:solidFill>
                                <a:srgbClr val="C00000"/>
                              </a:solidFill>
                              <a:latin typeface="Cambria Math" panose="02040503050406030204" pitchFamily="18" charset="0"/>
                              <a:ea typeface="微软雅黑" panose="020B0503020204020204" pitchFamily="34" charset="-122"/>
                            </a:rPr>
                            <m:t>𝐻</m:t>
                          </m:r>
                        </m:e>
                        <m:sup>
                          <m:d>
                            <m:dPr>
                              <m:ctrlPr>
                                <a:rPr lang="en-US" altLang="zh-CN" sz="2000" b="0" i="1" kern="0" smtClean="0">
                                  <a:solidFill>
                                    <a:srgbClr val="C00000"/>
                                  </a:solidFill>
                                  <a:latin typeface="Cambria Math" panose="02040503050406030204" pitchFamily="18" charset="0"/>
                                  <a:ea typeface="微软雅黑" panose="020B0503020204020204" pitchFamily="34" charset="-122"/>
                                </a:rPr>
                              </m:ctrlPr>
                            </m:dPr>
                            <m:e>
                              <m:r>
                                <a:rPr lang="en-US" altLang="zh-CN" sz="2000" b="0" i="1" kern="0" smtClean="0">
                                  <a:solidFill>
                                    <a:srgbClr val="C00000"/>
                                  </a:solidFill>
                                  <a:latin typeface="Cambria Math" panose="02040503050406030204" pitchFamily="18" charset="0"/>
                                  <a:ea typeface="微软雅黑" panose="020B0503020204020204" pitchFamily="34" charset="-122"/>
                                </a:rPr>
                                <m:t>1</m:t>
                              </m:r>
                            </m:e>
                          </m:d>
                        </m:sup>
                      </m:sSup>
                    </m:oMath>
                  </m:oMathPara>
                </a14:m>
                <a:endParaRPr lang="en-US" altLang="zh-CN" sz="2000" kern="0" dirty="0">
                  <a:solidFill>
                    <a:srgbClr val="C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2" name="矩形 31"/>
              <p:cNvSpPr>
                <a:spLocks noRot="1" noChangeAspect="1" noMove="1" noResize="1" noEditPoints="1" noAdjustHandles="1" noChangeArrowheads="1" noChangeShapeType="1" noTextEdit="1"/>
              </p:cNvSpPr>
              <p:nvPr/>
            </p:nvSpPr>
            <p:spPr>
              <a:xfrm>
                <a:off x="4481563" y="1916080"/>
                <a:ext cx="559885" cy="593560"/>
              </a:xfrm>
              <a:prstGeom prst="rect">
                <a:avLst/>
              </a:prstGeom>
              <a:blipFill rotWithShape="0">
                <a:blip r:embed="rId7"/>
                <a:stretch>
                  <a:fillRect/>
                </a:stretch>
              </a:blipFill>
              <a:ln>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5355888" y="2538330"/>
                <a:ext cx="1265169" cy="477054"/>
              </a:xfrm>
              <a:prstGeom prst="rect">
                <a:avLst/>
              </a:prstGeom>
            </p:spPr>
            <p:txBody>
              <a:bodyPr wrap="square">
                <a:spAutoFit/>
              </a:bodyPr>
              <a:lstStyle/>
              <a:p>
                <a:pPr algn="just">
                  <a:lnSpc>
                    <a:spcPct val="150000"/>
                  </a:lnSpc>
                </a:pPr>
                <a14:m>
                  <m:oMath xmlns:m="http://schemas.openxmlformats.org/officeDocument/2006/math">
                    <m:sSup>
                      <m:sSupPr>
                        <m:ctrlPr>
                          <a:rPr lang="en-US" altLang="zh-CN" sz="1600" i="1" kern="0" smtClean="0">
                            <a:latin typeface="Cambria Math" panose="02040503050406030204" pitchFamily="18" charset="0"/>
                            <a:ea typeface="微软雅黑" panose="020B0503020204020204" pitchFamily="34" charset="-122"/>
                          </a:rPr>
                        </m:ctrlPr>
                      </m:sSupPr>
                      <m:e>
                        <m:r>
                          <a:rPr lang="en-US" altLang="zh-CN" sz="1600" b="0" i="1" kern="0" smtClean="0">
                            <a:latin typeface="Cambria Math" panose="02040503050406030204" pitchFamily="18" charset="0"/>
                            <a:ea typeface="微软雅黑" panose="020B0503020204020204" pitchFamily="34" charset="-122"/>
                          </a:rPr>
                          <m:t>𝑊</m:t>
                        </m:r>
                      </m:e>
                      <m:sup>
                        <m:r>
                          <a:rPr lang="en-US" altLang="zh-CN" sz="1600" b="0" i="1" kern="0" smtClean="0">
                            <a:latin typeface="Cambria Math" panose="02040503050406030204" pitchFamily="18" charset="0"/>
                            <a:ea typeface="微软雅黑" panose="020B0503020204020204" pitchFamily="34" charset="-122"/>
                          </a:rPr>
                          <m:t>(2)</m:t>
                        </m:r>
                      </m:sup>
                    </m:sSup>
                  </m:oMath>
                </a14:m>
                <a:r>
                  <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rPr>
                  <a:t>,</a:t>
                </a:r>
                <a14:m>
                  <m:oMath xmlns:m="http://schemas.openxmlformats.org/officeDocument/2006/math">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𝑏</m:t>
                        </m:r>
                      </m:e>
                      <m:sub>
                        <m:r>
                          <a:rPr lang="en-US" altLang="zh-CN" sz="1600" b="0" i="1" smtClean="0">
                            <a:latin typeface="Cambria Math" panose="02040503050406030204" pitchFamily="18" charset="0"/>
                            <a:ea typeface="微软雅黑 Light" panose="020B0502040204020203" pitchFamily="34" charset="-122"/>
                          </a:rPr>
                          <m:t>2</m:t>
                        </m:r>
                      </m:sub>
                    </m:sSub>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4" name="矩形 33"/>
              <p:cNvSpPr>
                <a:spLocks noRot="1" noChangeAspect="1" noMove="1" noResize="1" noEditPoints="1" noAdjustHandles="1" noChangeArrowheads="1" noChangeShapeType="1" noTextEdit="1"/>
              </p:cNvSpPr>
              <p:nvPr/>
            </p:nvSpPr>
            <p:spPr>
              <a:xfrm>
                <a:off x="5355888" y="2538330"/>
                <a:ext cx="1265169" cy="477054"/>
              </a:xfrm>
              <a:prstGeom prst="rect">
                <a:avLst/>
              </a:prstGeom>
              <a:blipFill rotWithShape="0">
                <a:blip r:embed="rId8"/>
                <a:stretch>
                  <a:fillRect b="-50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8408198" y="1817682"/>
                <a:ext cx="702159" cy="553998"/>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000" b="0" i="1" kern="0" smtClean="0">
                          <a:latin typeface="Cambria Math" panose="02040503050406030204" pitchFamily="18" charset="0"/>
                          <a:ea typeface="微软雅黑 Light" panose="020B0502040204020203" pitchFamily="34" charset="-122"/>
                          <a:cs typeface="宋体" panose="02010600030101010101" pitchFamily="2" charset="-122"/>
                        </a:rPr>
                        <m:t>𝑌</m:t>
                      </m:r>
                    </m:oMath>
                  </m:oMathPara>
                </a14:m>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5" name="矩形 34"/>
              <p:cNvSpPr>
                <a:spLocks noRot="1" noChangeAspect="1" noMove="1" noResize="1" noEditPoints="1" noAdjustHandles="1" noChangeArrowheads="1" noChangeShapeType="1" noTextEdit="1"/>
              </p:cNvSpPr>
              <p:nvPr/>
            </p:nvSpPr>
            <p:spPr>
              <a:xfrm>
                <a:off x="8408198" y="1817682"/>
                <a:ext cx="702159" cy="553998"/>
              </a:xfrm>
              <a:prstGeom prst="rect">
                <a:avLst/>
              </a:prstGeom>
              <a:blipFill rotWithShape="0">
                <a:blip r:embed="rId9"/>
                <a:stretch>
                  <a:fillRect/>
                </a:stretch>
              </a:blipFill>
            </p:spPr>
            <p:txBody>
              <a:bodyPr/>
              <a:lstStyle/>
              <a:p>
                <a:r>
                  <a:rPr lang="zh-CN" altLang="en-US">
                    <a:noFill/>
                  </a:rPr>
                  <a:t> </a:t>
                </a:r>
              </a:p>
            </p:txBody>
          </p:sp>
        </mc:Fallback>
      </mc:AlternateContent>
      <p:sp>
        <p:nvSpPr>
          <p:cNvPr id="36" name="椭圆 35"/>
          <p:cNvSpPr/>
          <p:nvPr/>
        </p:nvSpPr>
        <p:spPr>
          <a:xfrm rot="20281288">
            <a:off x="8487703" y="3777774"/>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rot="4858626">
            <a:off x="8502235" y="4936048"/>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rot="20281288">
            <a:off x="8404877" y="2388739"/>
            <a:ext cx="576064"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rot="942118">
            <a:off x="6661024" y="2614384"/>
            <a:ext cx="576064" cy="576064"/>
          </a:xfrm>
          <a:prstGeom prst="ellipse">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箭头连接符 39"/>
          <p:cNvCxnSpPr>
            <a:stCxn id="12" idx="7"/>
            <a:endCxn id="39" idx="2"/>
          </p:cNvCxnSpPr>
          <p:nvPr/>
        </p:nvCxnSpPr>
        <p:spPr>
          <a:xfrm flipV="1">
            <a:off x="4973686" y="2824465"/>
            <a:ext cx="1698087" cy="22395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1" name="直接箭头连接符 40"/>
          <p:cNvCxnSpPr>
            <a:stCxn id="14" idx="6"/>
            <a:endCxn id="11" idx="2"/>
          </p:cNvCxnSpPr>
          <p:nvPr/>
        </p:nvCxnSpPr>
        <p:spPr>
          <a:xfrm flipV="1">
            <a:off x="5108162" y="4087406"/>
            <a:ext cx="1621466" cy="435101"/>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2" name="直接箭头连接符 41"/>
          <p:cNvCxnSpPr>
            <a:stCxn id="39" idx="7"/>
            <a:endCxn id="38" idx="1"/>
          </p:cNvCxnSpPr>
          <p:nvPr/>
        </p:nvCxnSpPr>
        <p:spPr>
          <a:xfrm flipV="1">
            <a:off x="7200244" y="2564129"/>
            <a:ext cx="1227573" cy="197338"/>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43" name="矩形 42"/>
              <p:cNvSpPr/>
              <p:nvPr/>
            </p:nvSpPr>
            <p:spPr>
              <a:xfrm>
                <a:off x="6620424" y="1872586"/>
                <a:ext cx="559885" cy="593560"/>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kern="0" smtClean="0">
                              <a:solidFill>
                                <a:srgbClr val="C00000"/>
                              </a:solidFill>
                              <a:latin typeface="Cambria Math" panose="02040503050406030204" pitchFamily="18" charset="0"/>
                              <a:ea typeface="微软雅黑" panose="020B0503020204020204" pitchFamily="34" charset="-122"/>
                            </a:rPr>
                          </m:ctrlPr>
                        </m:sSupPr>
                        <m:e>
                          <m:r>
                            <a:rPr lang="en-US" altLang="zh-CN" sz="2000" b="0" i="1" kern="0" smtClean="0">
                              <a:solidFill>
                                <a:srgbClr val="C00000"/>
                              </a:solidFill>
                              <a:latin typeface="Cambria Math" panose="02040503050406030204" pitchFamily="18" charset="0"/>
                              <a:ea typeface="微软雅黑" panose="020B0503020204020204" pitchFamily="34" charset="-122"/>
                            </a:rPr>
                            <m:t>𝐻</m:t>
                          </m:r>
                        </m:e>
                        <m:sup>
                          <m:d>
                            <m:dPr>
                              <m:ctrlPr>
                                <a:rPr lang="en-US" altLang="zh-CN" sz="2000" b="0" i="1" kern="0" smtClean="0">
                                  <a:solidFill>
                                    <a:srgbClr val="C00000"/>
                                  </a:solidFill>
                                  <a:latin typeface="Cambria Math" panose="02040503050406030204" pitchFamily="18" charset="0"/>
                                  <a:ea typeface="微软雅黑" panose="020B0503020204020204" pitchFamily="34" charset="-122"/>
                                </a:rPr>
                              </m:ctrlPr>
                            </m:dPr>
                            <m:e>
                              <m:r>
                                <a:rPr lang="en-US" altLang="zh-CN" sz="2000" b="0" i="1" kern="0" smtClean="0">
                                  <a:solidFill>
                                    <a:srgbClr val="C00000"/>
                                  </a:solidFill>
                                  <a:latin typeface="Cambria Math" panose="02040503050406030204" pitchFamily="18" charset="0"/>
                                  <a:ea typeface="微软雅黑" panose="020B0503020204020204" pitchFamily="34" charset="-122"/>
                                </a:rPr>
                                <m:t>2</m:t>
                              </m:r>
                            </m:e>
                          </m:d>
                        </m:sup>
                      </m:sSup>
                    </m:oMath>
                  </m:oMathPara>
                </a14:m>
                <a:endParaRPr lang="en-US" altLang="zh-CN" sz="2000" kern="0" dirty="0">
                  <a:solidFill>
                    <a:srgbClr val="C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43" name="矩形 42"/>
              <p:cNvSpPr>
                <a:spLocks noRot="1" noChangeAspect="1" noMove="1" noResize="1" noEditPoints="1" noAdjustHandles="1" noChangeArrowheads="1" noChangeShapeType="1" noTextEdit="1"/>
              </p:cNvSpPr>
              <p:nvPr/>
            </p:nvSpPr>
            <p:spPr>
              <a:xfrm>
                <a:off x="6620424" y="1872586"/>
                <a:ext cx="559885" cy="593560"/>
              </a:xfrm>
              <a:prstGeom prst="rect">
                <a:avLst/>
              </a:prstGeom>
              <a:blipFill rotWithShape="0">
                <a:blip r:embed="rId10"/>
                <a:stretch>
                  <a:fillRect/>
                </a:stretch>
              </a:blipFill>
              <a:ln>
                <a:noFill/>
                <a:prstDash val="solid"/>
              </a:ln>
            </p:spPr>
            <p:txBody>
              <a:bodyPr/>
              <a:lstStyle/>
              <a:p>
                <a:r>
                  <a:rPr lang="zh-CN" altLang="en-US">
                    <a:noFill/>
                  </a:rPr>
                  <a:t> </a:t>
                </a:r>
              </a:p>
            </p:txBody>
          </p:sp>
        </mc:Fallback>
      </mc:AlternateContent>
      <p:cxnSp>
        <p:nvCxnSpPr>
          <p:cNvPr id="44" name="直接箭头连接符 43"/>
          <p:cNvCxnSpPr>
            <a:stCxn id="39" idx="6"/>
            <a:endCxn id="36" idx="1"/>
          </p:cNvCxnSpPr>
          <p:nvPr/>
        </p:nvCxnSpPr>
        <p:spPr>
          <a:xfrm>
            <a:off x="7226339" y="2980367"/>
            <a:ext cx="1284304" cy="972797"/>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5" name="直接箭头连接符 44"/>
          <p:cNvCxnSpPr>
            <a:stCxn id="39" idx="5"/>
            <a:endCxn id="37" idx="2"/>
          </p:cNvCxnSpPr>
          <p:nvPr/>
        </p:nvCxnSpPr>
        <p:spPr>
          <a:xfrm>
            <a:off x="7090005" y="3153604"/>
            <a:ext cx="1655090" cy="178600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6" name="直接箭头连接符 45"/>
          <p:cNvCxnSpPr>
            <a:stCxn id="26" idx="7"/>
            <a:endCxn id="38" idx="3"/>
          </p:cNvCxnSpPr>
          <p:nvPr/>
        </p:nvCxnSpPr>
        <p:spPr>
          <a:xfrm flipV="1">
            <a:off x="7109409" y="2941863"/>
            <a:ext cx="1470858" cy="186548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7" name="直接箭头连接符 46"/>
          <p:cNvCxnSpPr>
            <a:stCxn id="11" idx="6"/>
            <a:endCxn id="38" idx="2"/>
          </p:cNvCxnSpPr>
          <p:nvPr/>
        </p:nvCxnSpPr>
        <p:spPr>
          <a:xfrm flipV="1">
            <a:off x="7207250" y="2784570"/>
            <a:ext cx="1218560" cy="98076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8" name="直接箭头连接符 47"/>
          <p:cNvCxnSpPr>
            <a:stCxn id="11" idx="5"/>
            <a:endCxn id="36" idx="2"/>
          </p:cNvCxnSpPr>
          <p:nvPr/>
        </p:nvCxnSpPr>
        <p:spPr>
          <a:xfrm>
            <a:off x="7251171" y="3981369"/>
            <a:ext cx="1257465" cy="19223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9" name="直接箭头连接符 48"/>
          <p:cNvCxnSpPr>
            <a:stCxn id="11" idx="4"/>
            <a:endCxn id="37" idx="3"/>
          </p:cNvCxnSpPr>
          <p:nvPr/>
        </p:nvCxnSpPr>
        <p:spPr>
          <a:xfrm>
            <a:off x="7129473" y="4165183"/>
            <a:ext cx="1427704" cy="88969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0" name="直接箭头连接符 49"/>
          <p:cNvCxnSpPr>
            <a:stCxn id="26" idx="6"/>
            <a:endCxn id="36" idx="3"/>
          </p:cNvCxnSpPr>
          <p:nvPr/>
        </p:nvCxnSpPr>
        <p:spPr>
          <a:xfrm flipV="1">
            <a:off x="7238665" y="4330898"/>
            <a:ext cx="1424428" cy="65503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1" name="直接箭头连接符 50"/>
          <p:cNvCxnSpPr>
            <a:stCxn id="26" idx="5"/>
            <a:endCxn id="37" idx="4"/>
          </p:cNvCxnSpPr>
          <p:nvPr/>
        </p:nvCxnSpPr>
        <p:spPr>
          <a:xfrm>
            <a:off x="7203785" y="5203605"/>
            <a:ext cx="1302014" cy="65647"/>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52" name="矩形 51"/>
          <p:cNvSpPr/>
          <p:nvPr/>
        </p:nvSpPr>
        <p:spPr>
          <a:xfrm>
            <a:off x="2223704" y="1717156"/>
            <a:ext cx="969733" cy="418191"/>
          </a:xfrm>
          <a:prstGeom prst="rect">
            <a:avLst/>
          </a:prstGeom>
        </p:spPr>
        <p:txBody>
          <a:bodyPr wrap="square">
            <a:spAutoFit/>
          </a:bodyPr>
          <a:lstStyle/>
          <a:p>
            <a:pPr algn="just">
              <a:lnSpc>
                <a:spcPct val="150000"/>
              </a:lnSpc>
            </a:pPr>
            <a:r>
              <a:rPr lang="zh-CN" altLang="en-US" sz="1600" kern="0" dirty="0">
                <a:latin typeface="微软雅黑 Light" panose="020B0502040204020203" pitchFamily="34" charset="-122"/>
                <a:ea typeface="微软雅黑 Light" panose="020B0502040204020203" pitchFamily="34" charset="-122"/>
                <a:cs typeface="宋体" panose="02010600030101010101" pitchFamily="2" charset="-122"/>
              </a:rPr>
              <a:t>输入</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3" name="矩形 52"/>
          <p:cNvSpPr/>
          <p:nvPr/>
        </p:nvSpPr>
        <p:spPr>
          <a:xfrm>
            <a:off x="4393565" y="1722618"/>
            <a:ext cx="969733" cy="46166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隐层</a:t>
            </a:r>
            <a:r>
              <a:rPr lang="en-US" altLang="zh-CN"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1</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4" name="矩形 53"/>
          <p:cNvSpPr/>
          <p:nvPr/>
        </p:nvSpPr>
        <p:spPr>
          <a:xfrm>
            <a:off x="8343292" y="1613922"/>
            <a:ext cx="969733" cy="418191"/>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输出层</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5" name="矩形 54"/>
          <p:cNvSpPr/>
          <p:nvPr/>
        </p:nvSpPr>
        <p:spPr>
          <a:xfrm>
            <a:off x="6591187" y="1660634"/>
            <a:ext cx="969733" cy="461665"/>
          </a:xfrm>
          <a:prstGeom prst="rect">
            <a:avLst/>
          </a:prstGeom>
        </p:spPr>
        <p:txBody>
          <a:bodyPr wrap="square">
            <a:spAutoFit/>
          </a:bodyPr>
          <a:lstStyle/>
          <a:p>
            <a:pPr algn="just">
              <a:lnSpc>
                <a:spcPct val="150000"/>
              </a:lnSpc>
            </a:pPr>
            <a:r>
              <a:rPr lang="zh-CN" altLang="en-US"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隐层</a:t>
            </a:r>
            <a:r>
              <a:rPr lang="en-US" altLang="zh-CN"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2</a:t>
            </a:r>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AlternateContent xmlns:mc="http://schemas.openxmlformats.org/markup-compatibility/2006" xmlns:a14="http://schemas.microsoft.com/office/drawing/2010/main">
        <mc:Choice Requires="a14">
          <p:sp>
            <p:nvSpPr>
              <p:cNvPr id="56" name="矩形 55"/>
              <p:cNvSpPr/>
              <p:nvPr/>
            </p:nvSpPr>
            <p:spPr>
              <a:xfrm>
                <a:off x="7395173" y="2264735"/>
                <a:ext cx="1265169" cy="477054"/>
              </a:xfrm>
              <a:prstGeom prst="rect">
                <a:avLst/>
              </a:prstGeom>
            </p:spPr>
            <p:txBody>
              <a:bodyPr wrap="square">
                <a:spAutoFit/>
              </a:bodyPr>
              <a:lstStyle/>
              <a:p>
                <a:pPr algn="just">
                  <a:lnSpc>
                    <a:spcPct val="150000"/>
                  </a:lnSpc>
                </a:pPr>
                <a14:m>
                  <m:oMath xmlns:m="http://schemas.openxmlformats.org/officeDocument/2006/math">
                    <m:sSup>
                      <m:sSupPr>
                        <m:ctrlPr>
                          <a:rPr lang="en-US" altLang="zh-CN" sz="1600" i="1" kern="0" smtClean="0">
                            <a:latin typeface="Cambria Math" panose="02040503050406030204" pitchFamily="18" charset="0"/>
                            <a:ea typeface="微软雅黑" panose="020B0503020204020204" pitchFamily="34" charset="-122"/>
                          </a:rPr>
                        </m:ctrlPr>
                      </m:sSupPr>
                      <m:e>
                        <m:r>
                          <a:rPr lang="en-US" altLang="zh-CN" sz="1600" b="0" i="1" kern="0" smtClean="0">
                            <a:latin typeface="Cambria Math" panose="02040503050406030204" pitchFamily="18" charset="0"/>
                            <a:ea typeface="微软雅黑" panose="020B0503020204020204" pitchFamily="34" charset="-122"/>
                          </a:rPr>
                          <m:t>𝑊</m:t>
                        </m:r>
                      </m:e>
                      <m:sup>
                        <m:r>
                          <a:rPr lang="en-US" altLang="zh-CN" sz="1600" b="0" i="1" kern="0" smtClean="0">
                            <a:latin typeface="Cambria Math" panose="02040503050406030204" pitchFamily="18" charset="0"/>
                            <a:ea typeface="微软雅黑" panose="020B0503020204020204" pitchFamily="34" charset="-122"/>
                          </a:rPr>
                          <m:t>(3)</m:t>
                        </m:r>
                      </m:sup>
                    </m:sSup>
                  </m:oMath>
                </a14:m>
                <a:r>
                  <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rPr>
                  <a:t>,</a:t>
                </a:r>
                <a14:m>
                  <m:oMath xmlns:m="http://schemas.openxmlformats.org/officeDocument/2006/math">
                    <m:sSub>
                      <m:sSubPr>
                        <m:ctrlPr>
                          <a:rPr lang="en-US" altLang="zh-CN" sz="1600" i="1">
                            <a:latin typeface="Cambria Math" panose="02040503050406030204" pitchFamily="18" charset="0"/>
                            <a:ea typeface="微软雅黑 Light" panose="020B0502040204020203" pitchFamily="34" charset="-122"/>
                          </a:rPr>
                        </m:ctrlPr>
                      </m:sSubPr>
                      <m:e>
                        <m:r>
                          <a:rPr lang="en-US" altLang="zh-CN" sz="1600" i="1">
                            <a:latin typeface="Cambria Math" panose="02040503050406030204" pitchFamily="18" charset="0"/>
                            <a:ea typeface="微软雅黑 Light" panose="020B0502040204020203" pitchFamily="34" charset="-122"/>
                          </a:rPr>
                          <m:t>𝑏</m:t>
                        </m:r>
                      </m:e>
                      <m:sub>
                        <m:r>
                          <a:rPr lang="en-US" altLang="zh-CN" sz="1600" b="0" i="1" smtClean="0">
                            <a:latin typeface="Cambria Math" panose="02040503050406030204" pitchFamily="18" charset="0"/>
                            <a:ea typeface="微软雅黑 Light" panose="020B0502040204020203" pitchFamily="34" charset="-122"/>
                          </a:rPr>
                          <m:t>3</m:t>
                        </m:r>
                      </m:sub>
                    </m:sSub>
                  </m:oMath>
                </a14:m>
                <a:endParaRPr lang="en-US" altLang="zh-CN" sz="16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6" name="矩形 55"/>
              <p:cNvSpPr>
                <a:spLocks noRot="1" noChangeAspect="1" noMove="1" noResize="1" noEditPoints="1" noAdjustHandles="1" noChangeArrowheads="1" noChangeShapeType="1" noTextEdit="1"/>
              </p:cNvSpPr>
              <p:nvPr/>
            </p:nvSpPr>
            <p:spPr>
              <a:xfrm>
                <a:off x="7395173" y="2264735"/>
                <a:ext cx="1265169" cy="477054"/>
              </a:xfrm>
              <a:prstGeom prst="rect">
                <a:avLst/>
              </a:prstGeom>
              <a:blipFill rotWithShape="0">
                <a:blip r:embed="rId11"/>
                <a:stretch>
                  <a:fillRect b="-6410"/>
                </a:stretch>
              </a:blipFill>
            </p:spPr>
            <p:txBody>
              <a:bodyPr/>
              <a:lstStyle/>
              <a:p>
                <a:r>
                  <a:rPr lang="zh-CN" altLang="en-US">
                    <a:noFill/>
                  </a:rPr>
                  <a:t> </a:t>
                </a:r>
              </a:p>
            </p:txBody>
          </p:sp>
        </mc:Fallback>
      </mc:AlternateContent>
      <p:cxnSp>
        <p:nvCxnSpPr>
          <p:cNvPr id="57" name="直接箭头连接符 56"/>
          <p:cNvCxnSpPr/>
          <p:nvPr/>
        </p:nvCxnSpPr>
        <p:spPr>
          <a:xfrm>
            <a:off x="9053676" y="4085684"/>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8" name="直接箭头连接符 57"/>
          <p:cNvCxnSpPr/>
          <p:nvPr/>
        </p:nvCxnSpPr>
        <p:spPr>
          <a:xfrm>
            <a:off x="9067807" y="5268910"/>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9" name="直接箭头连接符 58"/>
          <p:cNvCxnSpPr/>
          <p:nvPr/>
        </p:nvCxnSpPr>
        <p:spPr>
          <a:xfrm>
            <a:off x="8996705" y="2692223"/>
            <a:ext cx="496568" cy="342"/>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60" name="左大括号 59"/>
          <p:cNvSpPr/>
          <p:nvPr/>
        </p:nvSpPr>
        <p:spPr>
          <a:xfrm rot="-5400000">
            <a:off x="3597367" y="4653514"/>
            <a:ext cx="305359" cy="1566440"/>
          </a:xfrm>
          <a:prstGeom prst="leftBrace">
            <a:avLst/>
          </a:prstGeom>
          <a:noFill/>
          <a:ln w="12700" cap="flat" cmpd="sng">
            <a:solidFill>
              <a:srgbClr val="FF0000"/>
            </a:solidFill>
            <a:prstDash val="solid"/>
            <a:round/>
            <a:headEnd/>
            <a:tailEnd/>
          </a:ln>
          <a:effectLst/>
        </p:spPr>
        <p:txBody>
          <a:bodyPr rtlCol="0" anchor="ctr"/>
          <a:lstStyle/>
          <a:p>
            <a:pPr algn="ctr"/>
            <a:endParaRPr lang="zh-CN" altLang="en-US"/>
          </a:p>
        </p:txBody>
      </p:sp>
      <p:sp>
        <p:nvSpPr>
          <p:cNvPr id="61" name="文本框 60"/>
          <p:cNvSpPr txBox="1"/>
          <p:nvPr/>
        </p:nvSpPr>
        <p:spPr>
          <a:xfrm>
            <a:off x="3211181" y="5128957"/>
            <a:ext cx="1385781" cy="338554"/>
          </a:xfrm>
          <a:prstGeom prst="rect">
            <a:avLst/>
          </a:prstGeom>
          <a:noFill/>
        </p:spPr>
        <p:txBody>
          <a:bodyPr wrap="square" rtlCol="0">
            <a:spAutoFit/>
          </a:bodyPr>
          <a:lstStyle/>
          <a:p>
            <a:r>
              <a:rPr lang="zh-CN" altLang="en-US" sz="1600" dirty="0">
                <a:latin typeface="微软雅黑 Light" panose="020B0502040204020203" pitchFamily="34" charset="-122"/>
                <a:ea typeface="微软雅黑 Light" panose="020B0502040204020203" pitchFamily="34" charset="-122"/>
              </a:rPr>
              <a:t>第一层参数</a:t>
            </a:r>
          </a:p>
        </p:txBody>
      </p:sp>
      <p:sp>
        <p:nvSpPr>
          <p:cNvPr id="62" name="文本框 61"/>
          <p:cNvSpPr txBox="1"/>
          <p:nvPr/>
        </p:nvSpPr>
        <p:spPr>
          <a:xfrm>
            <a:off x="3418514" y="5639540"/>
            <a:ext cx="1385781" cy="338554"/>
          </a:xfrm>
          <a:prstGeom prst="rect">
            <a:avLst/>
          </a:prstGeom>
          <a:noFill/>
        </p:spPr>
        <p:txBody>
          <a:bodyPr wrap="square" rtlCol="0">
            <a:spAutoFit/>
          </a:bodyPr>
          <a:lstStyle/>
          <a:p>
            <a:r>
              <a:rPr lang="en-US" altLang="zh-CN" sz="1600" dirty="0" err="1">
                <a:latin typeface="微软雅黑 Light" panose="020B0502040204020203" pitchFamily="34" charset="-122"/>
                <a:ea typeface="微软雅黑 Light" panose="020B0502040204020203" pitchFamily="34" charset="-122"/>
              </a:rPr>
              <a:t>2x3+1</a:t>
            </a:r>
            <a:endParaRPr lang="zh-CN" altLang="en-US" sz="1600" dirty="0">
              <a:latin typeface="微软雅黑 Light" panose="020B0502040204020203" pitchFamily="34" charset="-122"/>
              <a:ea typeface="微软雅黑 Light" panose="020B0502040204020203" pitchFamily="34" charset="-122"/>
            </a:endParaRPr>
          </a:p>
        </p:txBody>
      </p:sp>
      <p:sp>
        <p:nvSpPr>
          <p:cNvPr id="63" name="左大括号 62"/>
          <p:cNvSpPr/>
          <p:nvPr/>
        </p:nvSpPr>
        <p:spPr>
          <a:xfrm rot="-5400000">
            <a:off x="5506227" y="4653514"/>
            <a:ext cx="305359" cy="1566440"/>
          </a:xfrm>
          <a:prstGeom prst="leftBrace">
            <a:avLst/>
          </a:prstGeom>
          <a:noFill/>
          <a:ln w="12700" cap="flat" cmpd="sng">
            <a:solidFill>
              <a:srgbClr val="FF0000"/>
            </a:solidFill>
            <a:prstDash val="solid"/>
            <a:round/>
            <a:headEnd/>
            <a:tailEnd/>
          </a:ln>
          <a:effectLst/>
        </p:spPr>
        <p:txBody>
          <a:bodyPr rtlCol="0" anchor="ctr"/>
          <a:lstStyle/>
          <a:p>
            <a:pPr algn="ctr"/>
            <a:endParaRPr lang="zh-CN" altLang="en-US"/>
          </a:p>
        </p:txBody>
      </p:sp>
      <p:sp>
        <p:nvSpPr>
          <p:cNvPr id="64" name="文本框 63"/>
          <p:cNvSpPr txBox="1"/>
          <p:nvPr/>
        </p:nvSpPr>
        <p:spPr>
          <a:xfrm>
            <a:off x="5120041" y="5128957"/>
            <a:ext cx="1385781" cy="338554"/>
          </a:xfrm>
          <a:prstGeom prst="rect">
            <a:avLst/>
          </a:prstGeom>
          <a:noFill/>
        </p:spPr>
        <p:txBody>
          <a:bodyPr wrap="square" rtlCol="0">
            <a:spAutoFit/>
          </a:bodyPr>
          <a:lstStyle/>
          <a:p>
            <a:r>
              <a:rPr lang="zh-CN" altLang="en-US" sz="1600" dirty="0">
                <a:latin typeface="微软雅黑 Light" panose="020B0502040204020203" pitchFamily="34" charset="-122"/>
                <a:ea typeface="微软雅黑 Light" panose="020B0502040204020203" pitchFamily="34" charset="-122"/>
              </a:rPr>
              <a:t>第二层参数</a:t>
            </a:r>
          </a:p>
        </p:txBody>
      </p:sp>
      <p:sp>
        <p:nvSpPr>
          <p:cNvPr id="65" name="文本框 64"/>
          <p:cNvSpPr txBox="1"/>
          <p:nvPr/>
        </p:nvSpPr>
        <p:spPr>
          <a:xfrm>
            <a:off x="5327374" y="5639540"/>
            <a:ext cx="1385781" cy="338554"/>
          </a:xfrm>
          <a:prstGeom prst="rect">
            <a:avLst/>
          </a:prstGeom>
          <a:noFill/>
        </p:spPr>
        <p:txBody>
          <a:bodyPr wrap="square" rtlCol="0">
            <a:spAutoFit/>
          </a:bodyPr>
          <a:lstStyle/>
          <a:p>
            <a:r>
              <a:rPr lang="en-US" altLang="zh-CN" sz="1600" dirty="0" err="1">
                <a:latin typeface="微软雅黑 Light" panose="020B0502040204020203" pitchFamily="34" charset="-122"/>
                <a:ea typeface="微软雅黑 Light" panose="020B0502040204020203" pitchFamily="34" charset="-122"/>
              </a:rPr>
              <a:t>3x2+1</a:t>
            </a:r>
            <a:endParaRPr lang="zh-CN" altLang="en-US" sz="1600" dirty="0">
              <a:latin typeface="微软雅黑 Light" panose="020B0502040204020203" pitchFamily="34" charset="-122"/>
              <a:ea typeface="微软雅黑 Light" panose="020B0502040204020203" pitchFamily="34" charset="-122"/>
            </a:endParaRPr>
          </a:p>
        </p:txBody>
      </p:sp>
      <p:sp>
        <p:nvSpPr>
          <p:cNvPr id="66" name="左大括号 65"/>
          <p:cNvSpPr/>
          <p:nvPr/>
        </p:nvSpPr>
        <p:spPr>
          <a:xfrm rot="-5400000">
            <a:off x="7580390" y="4809998"/>
            <a:ext cx="305359" cy="1566440"/>
          </a:xfrm>
          <a:prstGeom prst="leftBrace">
            <a:avLst/>
          </a:prstGeom>
          <a:noFill/>
          <a:ln w="12700" cap="flat" cmpd="sng">
            <a:solidFill>
              <a:srgbClr val="FF0000"/>
            </a:solidFill>
            <a:prstDash val="solid"/>
            <a:round/>
            <a:headEnd/>
            <a:tailEnd/>
          </a:ln>
          <a:effectLst/>
        </p:spPr>
        <p:txBody>
          <a:bodyPr rtlCol="0" anchor="ctr"/>
          <a:lstStyle/>
          <a:p>
            <a:pPr algn="ctr"/>
            <a:endParaRPr lang="zh-CN" altLang="en-US"/>
          </a:p>
        </p:txBody>
      </p:sp>
      <p:sp>
        <p:nvSpPr>
          <p:cNvPr id="67" name="文本框 66"/>
          <p:cNvSpPr txBox="1"/>
          <p:nvPr/>
        </p:nvSpPr>
        <p:spPr>
          <a:xfrm>
            <a:off x="7194204" y="5285441"/>
            <a:ext cx="1385781" cy="338554"/>
          </a:xfrm>
          <a:prstGeom prst="rect">
            <a:avLst/>
          </a:prstGeom>
          <a:noFill/>
        </p:spPr>
        <p:txBody>
          <a:bodyPr wrap="square" rtlCol="0">
            <a:spAutoFit/>
          </a:bodyPr>
          <a:lstStyle/>
          <a:p>
            <a:r>
              <a:rPr lang="zh-CN" altLang="en-US" sz="1600" dirty="0">
                <a:latin typeface="微软雅黑 Light" panose="020B0502040204020203" pitchFamily="34" charset="-122"/>
                <a:ea typeface="微软雅黑 Light" panose="020B0502040204020203" pitchFamily="34" charset="-122"/>
              </a:rPr>
              <a:t>第三层参数</a:t>
            </a:r>
          </a:p>
        </p:txBody>
      </p:sp>
      <p:sp>
        <p:nvSpPr>
          <p:cNvPr id="68" name="文本框 67"/>
          <p:cNvSpPr txBox="1"/>
          <p:nvPr/>
        </p:nvSpPr>
        <p:spPr>
          <a:xfrm>
            <a:off x="7401537" y="5796024"/>
            <a:ext cx="1385781" cy="338554"/>
          </a:xfrm>
          <a:prstGeom prst="rect">
            <a:avLst/>
          </a:prstGeom>
          <a:noFill/>
        </p:spPr>
        <p:txBody>
          <a:bodyPr wrap="square" rtlCol="0">
            <a:spAutoFit/>
          </a:bodyPr>
          <a:lstStyle/>
          <a:p>
            <a:r>
              <a:rPr lang="en-US" altLang="zh-CN" sz="1600" dirty="0" err="1">
                <a:latin typeface="微软雅黑 Light" panose="020B0502040204020203" pitchFamily="34" charset="-122"/>
                <a:ea typeface="微软雅黑 Light" panose="020B0502040204020203" pitchFamily="34" charset="-122"/>
              </a:rPr>
              <a:t>3x3+1</a:t>
            </a:r>
            <a:endParaRPr lang="zh-CN" altLang="en-US" sz="1600" dirty="0">
              <a:latin typeface="微软雅黑 Light" panose="020B0502040204020203" pitchFamily="34" charset="-122"/>
              <a:ea typeface="微软雅黑 Light" panose="020B0502040204020203" pitchFamily="34" charset="-122"/>
            </a:endParaRPr>
          </a:p>
        </p:txBody>
      </p:sp>
      <p:sp>
        <p:nvSpPr>
          <p:cNvPr id="72" name="灯片编号占位符 8">
            <a:extLst>
              <a:ext uri="{FF2B5EF4-FFF2-40B4-BE49-F238E27FC236}">
                <a16:creationId xmlns:a16="http://schemas.microsoft.com/office/drawing/2014/main" id="{1D1E1E9C-8394-4E6A-AF87-E2A66E77000E}"/>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29</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781396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多层神经网络</a:t>
            </a:r>
            <a:endParaRPr lang="en-US" altLang="zh-CN" sz="2600" b="1" dirty="0"/>
          </a:p>
        </p:txBody>
      </p:sp>
      <p:sp>
        <p:nvSpPr>
          <p:cNvPr id="8" name="矩形 7"/>
          <p:cNvSpPr/>
          <p:nvPr/>
        </p:nvSpPr>
        <p:spPr>
          <a:xfrm>
            <a:off x="641512" y="1494210"/>
            <a:ext cx="10606557" cy="1015663"/>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sz="2000" kern="0" dirty="0">
                <a:latin typeface="微软雅黑 Light" panose="020B0502040204020203" pitchFamily="34" charset="-122"/>
                <a:ea typeface="微软雅黑 Light" panose="020B0502040204020203" pitchFamily="34" charset="-122"/>
                <a:cs typeface="宋体" panose="02010600030101010101" pitchFamily="2" charset="-122"/>
              </a:rPr>
              <a:t>随着网络的层数增加，每一层对于前一层次的抽象表示更深入，每一层神经元学习到的是前一层神经元更抽象的表示</a:t>
            </a:r>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9" name="矩形 8"/>
          <p:cNvSpPr/>
          <p:nvPr/>
        </p:nvSpPr>
        <p:spPr>
          <a:xfrm>
            <a:off x="1727945" y="4139377"/>
            <a:ext cx="1274708" cy="369332"/>
          </a:xfrm>
          <a:prstGeom prst="rect">
            <a:avLst/>
          </a:prstGeom>
        </p:spPr>
        <p:txBody>
          <a:bodyPr wrap="none">
            <a:spAutoFit/>
          </a:bodyPr>
          <a:lstStyle/>
          <a:p>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“边缘”特征</a:t>
            </a:r>
            <a:endParaRPr lang="zh-CN" altLang="en-US" dirty="0"/>
          </a:p>
        </p:txBody>
      </p:sp>
      <p:sp>
        <p:nvSpPr>
          <p:cNvPr id="10" name="矩形 9"/>
          <p:cNvSpPr/>
          <p:nvPr/>
        </p:nvSpPr>
        <p:spPr>
          <a:xfrm>
            <a:off x="3708268" y="4139377"/>
            <a:ext cx="1274708" cy="369332"/>
          </a:xfrm>
          <a:prstGeom prst="rect">
            <a:avLst/>
          </a:prstGeom>
        </p:spPr>
        <p:txBody>
          <a:bodyPr wrap="none">
            <a:spAutoFit/>
          </a:bodyPr>
          <a:lstStyle/>
          <a:p>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“形状”特征</a:t>
            </a:r>
            <a:endParaRPr lang="zh-CN" altLang="en-US" dirty="0"/>
          </a:p>
        </p:txBody>
      </p:sp>
      <p:sp>
        <p:nvSpPr>
          <p:cNvPr id="11" name="矩形 10"/>
          <p:cNvSpPr/>
          <p:nvPr/>
        </p:nvSpPr>
        <p:spPr>
          <a:xfrm>
            <a:off x="5701203" y="4139377"/>
            <a:ext cx="1274708" cy="369332"/>
          </a:xfrm>
          <a:prstGeom prst="rect">
            <a:avLst/>
          </a:prstGeom>
        </p:spPr>
        <p:txBody>
          <a:bodyPr wrap="none">
            <a:spAutoFit/>
          </a:bodyPr>
          <a:lstStyle/>
          <a:p>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“图案”特征</a:t>
            </a:r>
            <a:endParaRPr lang="zh-CN" altLang="en-US" dirty="0"/>
          </a:p>
        </p:txBody>
      </p:sp>
      <p:sp>
        <p:nvSpPr>
          <p:cNvPr id="12" name="矩形 11"/>
          <p:cNvSpPr/>
          <p:nvPr/>
        </p:nvSpPr>
        <p:spPr>
          <a:xfrm>
            <a:off x="7897520" y="4094589"/>
            <a:ext cx="1274708" cy="460319"/>
          </a:xfrm>
          <a:prstGeom prst="rect">
            <a:avLst/>
          </a:prstGeom>
        </p:spPr>
        <p:txBody>
          <a:bodyPr wrap="none">
            <a:spAutoFit/>
          </a:bodyPr>
          <a:lstStyle/>
          <a:p>
            <a:pPr algn="just">
              <a:lnSpc>
                <a:spcPct val="150000"/>
              </a:lnSpc>
            </a:pPr>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“目标”特征</a:t>
            </a:r>
            <a:endParaRPr lang="en-US" altLang="zh-CN"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13" name="矩形 12"/>
          <p:cNvSpPr/>
          <p:nvPr/>
        </p:nvSpPr>
        <p:spPr>
          <a:xfrm>
            <a:off x="1845925" y="4908885"/>
            <a:ext cx="1569660" cy="369332"/>
          </a:xfrm>
          <a:prstGeom prst="rect">
            <a:avLst/>
          </a:prstGeom>
        </p:spPr>
        <p:txBody>
          <a:bodyPr wrap="none">
            <a:spAutoFit/>
          </a:bodyPr>
          <a:lstStyle/>
          <a:p>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第一个隐藏层</a:t>
            </a:r>
            <a:endParaRPr lang="zh-CN" altLang="en-US" dirty="0"/>
          </a:p>
        </p:txBody>
      </p:sp>
      <p:sp>
        <p:nvSpPr>
          <p:cNvPr id="14" name="矩形 13"/>
          <p:cNvSpPr/>
          <p:nvPr/>
        </p:nvSpPr>
        <p:spPr>
          <a:xfrm>
            <a:off x="3867262" y="4908885"/>
            <a:ext cx="1569660" cy="369332"/>
          </a:xfrm>
          <a:prstGeom prst="rect">
            <a:avLst/>
          </a:prstGeom>
        </p:spPr>
        <p:txBody>
          <a:bodyPr wrap="none">
            <a:spAutoFit/>
          </a:bodyPr>
          <a:lstStyle/>
          <a:p>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第二个隐藏层</a:t>
            </a:r>
            <a:endParaRPr lang="zh-CN" altLang="en-US" dirty="0"/>
          </a:p>
        </p:txBody>
      </p:sp>
      <p:sp>
        <p:nvSpPr>
          <p:cNvPr id="16" name="矩形 15"/>
          <p:cNvSpPr/>
          <p:nvPr/>
        </p:nvSpPr>
        <p:spPr>
          <a:xfrm>
            <a:off x="5888599" y="4908885"/>
            <a:ext cx="1569660" cy="369332"/>
          </a:xfrm>
          <a:prstGeom prst="rect">
            <a:avLst/>
          </a:prstGeom>
        </p:spPr>
        <p:txBody>
          <a:bodyPr wrap="none">
            <a:spAutoFit/>
          </a:bodyPr>
          <a:lstStyle/>
          <a:p>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第三个隐藏层</a:t>
            </a:r>
            <a:endParaRPr lang="zh-CN" altLang="en-US" dirty="0"/>
          </a:p>
        </p:txBody>
      </p:sp>
      <p:sp>
        <p:nvSpPr>
          <p:cNvPr id="18" name="矩形 17"/>
          <p:cNvSpPr/>
          <p:nvPr/>
        </p:nvSpPr>
        <p:spPr>
          <a:xfrm>
            <a:off x="7909937" y="4908885"/>
            <a:ext cx="1569660" cy="369332"/>
          </a:xfrm>
          <a:prstGeom prst="rect">
            <a:avLst/>
          </a:prstGeom>
        </p:spPr>
        <p:txBody>
          <a:bodyPr wrap="none">
            <a:spAutoFit/>
          </a:bodyPr>
          <a:lstStyle/>
          <a:p>
            <a:r>
              <a:rPr lang="zh-CN" altLang="en-US"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第四个隐藏层</a:t>
            </a:r>
            <a:endParaRPr lang="zh-CN" altLang="en-US" dirty="0"/>
          </a:p>
        </p:txBody>
      </p:sp>
      <p:cxnSp>
        <p:nvCxnSpPr>
          <p:cNvPr id="19" name="直接连接符 18"/>
          <p:cNvCxnSpPr/>
          <p:nvPr/>
        </p:nvCxnSpPr>
        <p:spPr>
          <a:xfrm>
            <a:off x="3598455" y="4025591"/>
            <a:ext cx="0" cy="1463343"/>
          </a:xfrm>
          <a:prstGeom prst="line">
            <a:avLst/>
          </a:prstGeom>
          <a:noFill/>
          <a:ln w="15875" cap="flat" cmpd="sng">
            <a:solidFill>
              <a:srgbClr val="FF0000"/>
            </a:solidFill>
            <a:prstDash val="solid"/>
            <a:round/>
            <a:headEnd/>
            <a:tailEnd/>
          </a:ln>
          <a:effectLst/>
        </p:spPr>
      </p:cxnSp>
      <p:cxnSp>
        <p:nvCxnSpPr>
          <p:cNvPr id="20" name="直接连接符 19"/>
          <p:cNvCxnSpPr/>
          <p:nvPr/>
        </p:nvCxnSpPr>
        <p:spPr>
          <a:xfrm>
            <a:off x="7630903" y="4039990"/>
            <a:ext cx="0" cy="1463343"/>
          </a:xfrm>
          <a:prstGeom prst="line">
            <a:avLst/>
          </a:prstGeom>
          <a:noFill/>
          <a:ln w="15875" cap="flat" cmpd="sng">
            <a:solidFill>
              <a:srgbClr val="FF0000"/>
            </a:solidFill>
            <a:prstDash val="solid"/>
            <a:round/>
            <a:headEnd/>
            <a:tailEnd/>
          </a:ln>
          <a:effectLst/>
        </p:spPr>
      </p:cxnSp>
      <p:cxnSp>
        <p:nvCxnSpPr>
          <p:cNvPr id="21" name="直接连接符 20"/>
          <p:cNvCxnSpPr/>
          <p:nvPr/>
        </p:nvCxnSpPr>
        <p:spPr>
          <a:xfrm>
            <a:off x="5614679" y="4039990"/>
            <a:ext cx="0" cy="1463343"/>
          </a:xfrm>
          <a:prstGeom prst="line">
            <a:avLst/>
          </a:prstGeom>
          <a:noFill/>
          <a:ln w="15875" cap="flat" cmpd="sng">
            <a:solidFill>
              <a:srgbClr val="FF0000"/>
            </a:solidFill>
            <a:prstDash val="solid"/>
            <a:round/>
            <a:headEnd/>
            <a:tailEnd/>
          </a:ln>
          <a:effectLst/>
        </p:spPr>
      </p:cxnSp>
      <p:sp>
        <p:nvSpPr>
          <p:cNvPr id="22" name="右箭头 21"/>
          <p:cNvSpPr/>
          <p:nvPr/>
        </p:nvSpPr>
        <p:spPr>
          <a:xfrm>
            <a:off x="3454439" y="4590498"/>
            <a:ext cx="360040" cy="2880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2"/>
          <p:cNvSpPr/>
          <p:nvPr/>
        </p:nvSpPr>
        <p:spPr>
          <a:xfrm>
            <a:off x="7486887" y="4564467"/>
            <a:ext cx="360040" cy="2880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右箭头 23"/>
          <p:cNvSpPr/>
          <p:nvPr/>
        </p:nvSpPr>
        <p:spPr>
          <a:xfrm>
            <a:off x="5470662" y="4564467"/>
            <a:ext cx="360040" cy="2880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44525" y="2578106"/>
            <a:ext cx="10560504" cy="55399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sz="2000" kern="0" dirty="0">
                <a:latin typeface="微软雅黑 Light" panose="020B0502040204020203" pitchFamily="34" charset="-122"/>
                <a:ea typeface="微软雅黑 Light" panose="020B0502040204020203" pitchFamily="34" charset="-122"/>
                <a:cs typeface="宋体" panose="02010600030101010101" pitchFamily="2" charset="-122"/>
              </a:rPr>
              <a:t>通过抽取更抽象的特征来对事物进行区分，从而获得更好的区分与分类能力</a:t>
            </a:r>
            <a:endParaRPr lang="en-US" altLang="zh-CN" sz="20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28" name="灯片编号占位符 8">
            <a:extLst>
              <a:ext uri="{FF2B5EF4-FFF2-40B4-BE49-F238E27FC236}">
                <a16:creationId xmlns:a16="http://schemas.microsoft.com/office/drawing/2014/main" id="{E0BB1CF3-479A-4EB1-8B5F-BCAD22A3B2FD}"/>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30</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673502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多层神经网络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多层神经网络</a:t>
            </a:r>
            <a:endParaRPr lang="en-US" altLang="zh-CN" sz="2600" b="1" dirty="0"/>
          </a:p>
        </p:txBody>
      </p:sp>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08915" y="759188"/>
            <a:ext cx="8647174" cy="5741980"/>
          </a:xfrm>
          <a:prstGeom prst="rect">
            <a:avLst/>
          </a:prstGeom>
        </p:spPr>
      </p:pic>
      <p:sp>
        <p:nvSpPr>
          <p:cNvPr id="9" name="矩形 8"/>
          <p:cNvSpPr/>
          <p:nvPr/>
        </p:nvSpPr>
        <p:spPr>
          <a:xfrm>
            <a:off x="500687" y="1967583"/>
            <a:ext cx="2439460" cy="3785652"/>
          </a:xfrm>
          <a:prstGeom prst="rect">
            <a:avLst/>
          </a:prstGeom>
        </p:spPr>
        <p:txBody>
          <a:bodyPr wrap="square">
            <a:spAutoFit/>
          </a:bodyPr>
          <a:lstStyle/>
          <a:p>
            <a:pPr>
              <a:lnSpc>
                <a:spcPct val="150000"/>
              </a:lnSpc>
            </a:pPr>
            <a:r>
              <a:rPr lang="zh-CN" altLang="en-US" sz="2000" dirty="0">
                <a:latin typeface="微软雅黑 Light" panose="020B0502040204020203" pitchFamily="34" charset="-122"/>
                <a:ea typeface="微软雅黑 Light" panose="020B0502040204020203" pitchFamily="34" charset="-122"/>
              </a:rPr>
              <a:t>       从单层神经网络，到两层神经网络，再到多层神经网络，随着网络层数的增加，以及激活函数的调整，神经网络拟合非线性分界不断增强。</a:t>
            </a:r>
          </a:p>
        </p:txBody>
      </p:sp>
      <p:sp>
        <p:nvSpPr>
          <p:cNvPr id="12" name="灯片编号占位符 8">
            <a:extLst>
              <a:ext uri="{FF2B5EF4-FFF2-40B4-BE49-F238E27FC236}">
                <a16:creationId xmlns:a16="http://schemas.microsoft.com/office/drawing/2014/main" id="{65379EAA-579D-4FF5-92A2-CB2CB4E3C88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31</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591856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本章提纲</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1" name="矩形 20"/>
          <p:cNvSpPr/>
          <p:nvPr/>
        </p:nvSpPr>
        <p:spPr>
          <a:xfrm>
            <a:off x="946463" y="697477"/>
            <a:ext cx="10301608" cy="58721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从机器学习到神经网络</a:t>
            </a:r>
          </a:p>
          <a:p>
            <a:pPr marL="457200" indent="-457200">
              <a:lnSpc>
                <a:spcPct val="150000"/>
              </a:lnSpc>
              <a:buClr>
                <a:srgbClr val="727CA3"/>
              </a:buClr>
              <a:buFont typeface="Wingdings" panose="05000000000000000000" pitchFamily="2" charset="2"/>
              <a:buChar char="Ø"/>
            </a:pPr>
            <a:r>
              <a:rPr lang="zh-CN" altLang="en-US" sz="2800" u="sng" dirty="0">
                <a:solidFill>
                  <a:sysClr val="windowText" lastClr="000000"/>
                </a:solidFill>
              </a:rPr>
              <a:t>正向计算与反向传播</a:t>
            </a:r>
            <a:endParaRPr lang="en-US" altLang="zh-CN" sz="2800" u="sng" dirty="0">
              <a:solidFill>
                <a:sysClr val="windowText" lastClr="000000"/>
              </a:solidFill>
            </a:endParaRPr>
          </a:p>
          <a:p>
            <a:pPr marL="457200" lvl="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神经网络设计原则</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网络的拓扑结构</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激活函数</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损失函数</a:t>
            </a:r>
            <a:endParaRPr lang="en-US" altLang="zh-CN" sz="2800" dirty="0">
              <a:solidFill>
                <a:sysClr val="windowText" lastClr="000000"/>
              </a:solidFill>
            </a:endParaRPr>
          </a:p>
          <a:p>
            <a:pPr marL="45720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过拟合与正则化</a:t>
            </a:r>
            <a:endParaRPr lang="en-US" altLang="zh-CN" sz="2800" dirty="0">
              <a:solidFill>
                <a:sysClr val="windowText" lastClr="000000"/>
              </a:solidFill>
            </a:endParaRPr>
          </a:p>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交叉验证</a:t>
            </a:r>
          </a:p>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小结</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10" name="灯片编号占位符 8">
            <a:extLst>
              <a:ext uri="{FF2B5EF4-FFF2-40B4-BE49-F238E27FC236}">
                <a16:creationId xmlns:a16="http://schemas.microsoft.com/office/drawing/2014/main" id="{0B1721E3-86E5-45EC-BB9F-C450637F1CD0}"/>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32</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747349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神经网络模型训练</a:t>
            </a:r>
            <a:endParaRPr lang="en-US" altLang="zh-CN" sz="2600" b="1" dirty="0"/>
          </a:p>
        </p:txBody>
      </p:sp>
      <p:grpSp>
        <p:nvGrpSpPr>
          <p:cNvPr id="10" name="组合 9"/>
          <p:cNvGrpSpPr/>
          <p:nvPr/>
        </p:nvGrpSpPr>
        <p:grpSpPr>
          <a:xfrm>
            <a:off x="761570" y="1656073"/>
            <a:ext cx="4181530" cy="2631825"/>
            <a:chOff x="891432" y="1673589"/>
            <a:chExt cx="6948906" cy="4372803"/>
          </a:xfrm>
        </p:grpSpPr>
        <p:sp>
          <p:nvSpPr>
            <p:cNvPr id="11" name="椭圆 10"/>
            <p:cNvSpPr/>
            <p:nvPr/>
          </p:nvSpPr>
          <p:spPr>
            <a:xfrm>
              <a:off x="985047" y="2217243"/>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sp>
          <p:nvSpPr>
            <p:cNvPr id="12" name="椭圆 11"/>
            <p:cNvSpPr/>
            <p:nvPr/>
          </p:nvSpPr>
          <p:spPr>
            <a:xfrm rot="19560457">
              <a:off x="5442447" y="3385016"/>
              <a:ext cx="576065"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sp>
          <p:nvSpPr>
            <p:cNvPr id="13" name="椭圆 12"/>
            <p:cNvSpPr/>
            <p:nvPr/>
          </p:nvSpPr>
          <p:spPr>
            <a:xfrm rot="21061334">
              <a:off x="3278302" y="2662837"/>
              <a:ext cx="576065"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sp>
          <p:nvSpPr>
            <p:cNvPr id="14" name="椭圆 13"/>
            <p:cNvSpPr/>
            <p:nvPr/>
          </p:nvSpPr>
          <p:spPr>
            <a:xfrm rot="922928">
              <a:off x="985047" y="3488955"/>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sp>
          <p:nvSpPr>
            <p:cNvPr id="16" name="椭圆 15"/>
            <p:cNvSpPr/>
            <p:nvPr/>
          </p:nvSpPr>
          <p:spPr>
            <a:xfrm rot="218974">
              <a:off x="3294723" y="3889465"/>
              <a:ext cx="576065" cy="56840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sp>
          <p:nvSpPr>
            <p:cNvPr id="18" name="椭圆 17"/>
            <p:cNvSpPr/>
            <p:nvPr/>
          </p:nvSpPr>
          <p:spPr>
            <a:xfrm>
              <a:off x="985047" y="4760666"/>
              <a:ext cx="576064" cy="576064"/>
            </a:xfrm>
            <a:prstGeom prst="ellipse">
              <a:avLst/>
            </a:prstGeom>
            <a:noFill/>
            <a:ln>
              <a:solidFill>
                <a:srgbClr val="1E3C8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cxnSp>
          <p:nvCxnSpPr>
            <p:cNvPr id="19" name="直接箭头连接符 18"/>
            <p:cNvCxnSpPr>
              <a:stCxn id="11" idx="6"/>
              <a:endCxn id="13" idx="1"/>
            </p:cNvCxnSpPr>
            <p:nvPr/>
          </p:nvCxnSpPr>
          <p:spPr>
            <a:xfrm>
              <a:off x="1561111" y="2505276"/>
              <a:ext cx="1772262" cy="27619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0" name="直接箭头连接符 19"/>
            <p:cNvCxnSpPr>
              <a:stCxn id="11" idx="5"/>
              <a:endCxn id="16" idx="1"/>
            </p:cNvCxnSpPr>
            <p:nvPr/>
          </p:nvCxnSpPr>
          <p:spPr>
            <a:xfrm>
              <a:off x="1476748" y="2708944"/>
              <a:ext cx="1915546" cy="125120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1" name="直接箭头连接符 20"/>
            <p:cNvCxnSpPr>
              <a:stCxn id="14" idx="7"/>
              <a:endCxn id="13" idx="2"/>
            </p:cNvCxnSpPr>
            <p:nvPr/>
          </p:nvCxnSpPr>
          <p:spPr>
            <a:xfrm flipV="1">
              <a:off x="1523486" y="2995809"/>
              <a:ext cx="1758344" cy="63881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2" name="直接箭头连接符 21"/>
            <p:cNvCxnSpPr>
              <a:stCxn id="18" idx="7"/>
              <a:endCxn id="13" idx="3"/>
            </p:cNvCxnSpPr>
            <p:nvPr/>
          </p:nvCxnSpPr>
          <p:spPr>
            <a:xfrm flipV="1">
              <a:off x="1476748" y="3183820"/>
              <a:ext cx="1920201" cy="166120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3" name="直接箭头连接符 22"/>
            <p:cNvCxnSpPr>
              <a:stCxn id="14" idx="6"/>
              <a:endCxn id="16" idx="2"/>
            </p:cNvCxnSpPr>
            <p:nvPr/>
          </p:nvCxnSpPr>
          <p:spPr>
            <a:xfrm>
              <a:off x="1550793" y="3853375"/>
              <a:ext cx="1744513" cy="301961"/>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4" name="直接箭头连接符 23"/>
            <p:cNvCxnSpPr>
              <a:stCxn id="18" idx="6"/>
              <a:endCxn id="16" idx="3"/>
            </p:cNvCxnSpPr>
            <p:nvPr/>
          </p:nvCxnSpPr>
          <p:spPr>
            <a:xfrm flipV="1">
              <a:off x="1561111" y="4361257"/>
              <a:ext cx="1805594" cy="687441"/>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5" name="直接箭头连接符 24"/>
            <p:cNvCxnSpPr>
              <a:stCxn id="13" idx="6"/>
              <a:endCxn id="12" idx="1"/>
            </p:cNvCxnSpPr>
            <p:nvPr/>
          </p:nvCxnSpPr>
          <p:spPr>
            <a:xfrm>
              <a:off x="3850839" y="2905931"/>
              <a:ext cx="1596888" cy="71210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6" name="直接箭头连接符 25"/>
            <p:cNvCxnSpPr>
              <a:stCxn id="16" idx="7"/>
              <a:endCxn id="40" idx="3"/>
            </p:cNvCxnSpPr>
            <p:nvPr/>
          </p:nvCxnSpPr>
          <p:spPr>
            <a:xfrm flipV="1">
              <a:off x="3798804" y="2790049"/>
              <a:ext cx="1661093" cy="1196028"/>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27" name="椭圆 26"/>
            <p:cNvSpPr/>
            <p:nvPr/>
          </p:nvSpPr>
          <p:spPr>
            <a:xfrm rot="21211288">
              <a:off x="5432426" y="4511362"/>
              <a:ext cx="576168" cy="575961"/>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cxnSp>
          <p:nvCxnSpPr>
            <p:cNvPr id="28" name="直接箭头连接符 27"/>
            <p:cNvCxnSpPr>
              <a:stCxn id="13" idx="5"/>
              <a:endCxn id="27" idx="1"/>
            </p:cNvCxnSpPr>
            <p:nvPr/>
          </p:nvCxnSpPr>
          <p:spPr>
            <a:xfrm>
              <a:off x="3799296" y="3120266"/>
              <a:ext cx="1695828" cy="1499725"/>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0" name="直接箭头连接符 29"/>
            <p:cNvCxnSpPr>
              <a:stCxn id="16" idx="5"/>
              <a:endCxn id="27" idx="2"/>
            </p:cNvCxnSpPr>
            <p:nvPr/>
          </p:nvCxnSpPr>
          <p:spPr>
            <a:xfrm>
              <a:off x="3773216" y="4387182"/>
              <a:ext cx="1661050" cy="444660"/>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31" name="矩形 30"/>
                <p:cNvSpPr/>
                <p:nvPr/>
              </p:nvSpPr>
              <p:spPr>
                <a:xfrm>
                  <a:off x="1619398" y="2235668"/>
                  <a:ext cx="1656763" cy="512973"/>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900" i="1" kern="0" smtClean="0">
                                <a:solidFill>
                                  <a:srgbClr val="FF0000"/>
                                </a:solidFill>
                                <a:latin typeface="Cambria Math" panose="02040503050406030204" pitchFamily="18" charset="0"/>
                                <a:ea typeface="微软雅黑" panose="020B0503020204020204" pitchFamily="34" charset="-122"/>
                              </a:rPr>
                            </m:ctrlPr>
                          </m:sSupPr>
                          <m:e>
                            <m:r>
                              <a:rPr lang="en-US" altLang="zh-CN" sz="900" b="0" i="1" kern="0" smtClean="0">
                                <a:solidFill>
                                  <a:srgbClr val="FF0000"/>
                                </a:solidFill>
                                <a:latin typeface="Cambria Math" panose="02040503050406030204" pitchFamily="18" charset="0"/>
                                <a:ea typeface="微软雅黑" panose="020B0503020204020204" pitchFamily="34" charset="-122"/>
                              </a:rPr>
                              <m:t>𝑊</m:t>
                            </m:r>
                          </m:e>
                          <m:sup>
                            <m:r>
                              <a:rPr lang="en-US" altLang="zh-CN" sz="900" b="0" i="1" kern="0" smtClean="0">
                                <a:solidFill>
                                  <a:srgbClr val="FF0000"/>
                                </a:solidFill>
                                <a:latin typeface="Cambria Math" panose="02040503050406030204" pitchFamily="18" charset="0"/>
                                <a:ea typeface="微软雅黑" panose="020B0503020204020204" pitchFamily="34" charset="-122"/>
                              </a:rPr>
                              <m:t>(1)</m:t>
                            </m:r>
                          </m:sup>
                        </m:sSup>
                        <m:r>
                          <a:rPr lang="en-US" altLang="zh-CN" sz="900" b="0" i="1" kern="0" smtClean="0">
                            <a:solidFill>
                              <a:srgbClr val="FF0000"/>
                            </a:solidFill>
                            <a:latin typeface="Cambria Math" panose="02040503050406030204" pitchFamily="18" charset="0"/>
                            <a:ea typeface="微软雅黑" panose="020B0503020204020204" pitchFamily="34" charset="-122"/>
                          </a:rPr>
                          <m:t>,</m:t>
                        </m:r>
                        <m:sSub>
                          <m:sSubPr>
                            <m:ctrlPr>
                              <a:rPr lang="en-US" altLang="zh-CN" sz="900" b="0" i="1" kern="0" smtClean="0">
                                <a:solidFill>
                                  <a:srgbClr val="FF0000"/>
                                </a:solidFill>
                                <a:latin typeface="Cambria Math" panose="02040503050406030204" pitchFamily="18" charset="0"/>
                                <a:ea typeface="微软雅黑" panose="020B0503020204020204" pitchFamily="34" charset="-122"/>
                              </a:rPr>
                            </m:ctrlPr>
                          </m:sSubPr>
                          <m:e>
                            <m:r>
                              <a:rPr lang="en-US" altLang="zh-CN" sz="900" b="0" i="1" kern="0" smtClean="0">
                                <a:solidFill>
                                  <a:srgbClr val="FF0000"/>
                                </a:solidFill>
                                <a:latin typeface="Cambria Math" panose="02040503050406030204" pitchFamily="18" charset="0"/>
                                <a:ea typeface="微软雅黑" panose="020B0503020204020204" pitchFamily="34" charset="-122"/>
                              </a:rPr>
                              <m:t>𝑏</m:t>
                            </m:r>
                          </m:e>
                          <m:sub>
                            <m:r>
                              <a:rPr lang="en-US" altLang="zh-CN" sz="900" b="0" i="1" kern="0" smtClean="0">
                                <a:solidFill>
                                  <a:srgbClr val="FF0000"/>
                                </a:solidFill>
                                <a:latin typeface="Cambria Math" panose="02040503050406030204" pitchFamily="18" charset="0"/>
                                <a:ea typeface="微软雅黑" panose="020B0503020204020204" pitchFamily="34" charset="-122"/>
                              </a:rPr>
                              <m:t>1</m:t>
                            </m:r>
                          </m:sub>
                        </m:sSub>
                      </m:oMath>
                    </m:oMathPara>
                  </a14:m>
                  <a:endParaRPr lang="en-US" altLang="zh-CN" sz="900" kern="0" dirty="0">
                    <a:solidFill>
                      <a:srgbClr val="FF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27" name="矩形 26"/>
                <p:cNvSpPr>
                  <a:spLocks noRot="1" noChangeAspect="1" noMove="1" noResize="1" noEditPoints="1" noAdjustHandles="1" noChangeArrowheads="1" noChangeShapeType="1" noTextEdit="1"/>
                </p:cNvSpPr>
                <p:nvPr/>
              </p:nvSpPr>
              <p:spPr>
                <a:xfrm>
                  <a:off x="1619398" y="2235668"/>
                  <a:ext cx="1656763" cy="512973"/>
                </a:xfrm>
                <a:prstGeom prst="rect">
                  <a:avLst/>
                </a:prstGeom>
                <a:blipFill rotWithShape="0">
                  <a:blip r:embed="rId5"/>
                  <a:stretch>
                    <a:fillRect/>
                  </a:stretch>
                </a:blipFill>
                <a:ln>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891432" y="1723858"/>
                  <a:ext cx="839775" cy="556119"/>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1050" b="0" i="1" kern="0" smtClean="0">
                            <a:latin typeface="Cambria Math" panose="02040503050406030204" pitchFamily="18" charset="0"/>
                            <a:ea typeface="微软雅黑 Light" panose="020B0502040204020203" pitchFamily="34" charset="-122"/>
                            <a:cs typeface="宋体" panose="02010600030101010101" pitchFamily="2" charset="-122"/>
                          </a:rPr>
                          <m:t>𝑋</m:t>
                        </m:r>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28" name="矩形 27"/>
                <p:cNvSpPr>
                  <a:spLocks noRot="1" noChangeAspect="1" noMove="1" noResize="1" noEditPoints="1" noAdjustHandles="1" noChangeArrowheads="1" noChangeShapeType="1" noTextEdit="1"/>
                </p:cNvSpPr>
                <p:nvPr/>
              </p:nvSpPr>
              <p:spPr>
                <a:xfrm>
                  <a:off x="891432" y="1723858"/>
                  <a:ext cx="839775" cy="556119"/>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3292828" y="2140407"/>
                  <a:ext cx="559885" cy="583499"/>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1050" i="1" kern="0" smtClean="0">
                                <a:solidFill>
                                  <a:schemeClr val="tx1"/>
                                </a:solidFill>
                                <a:latin typeface="Cambria Math" panose="02040503050406030204" pitchFamily="18" charset="0"/>
                                <a:ea typeface="微软雅黑" panose="020B0503020204020204" pitchFamily="34" charset="-122"/>
                              </a:rPr>
                            </m:ctrlPr>
                          </m:sSupPr>
                          <m:e>
                            <m:r>
                              <a:rPr lang="en-US" altLang="zh-CN" sz="1050" b="0" i="1" kern="0" smtClean="0">
                                <a:solidFill>
                                  <a:schemeClr val="tx1"/>
                                </a:solidFill>
                                <a:latin typeface="Cambria Math" panose="02040503050406030204" pitchFamily="18" charset="0"/>
                                <a:ea typeface="微软雅黑" panose="020B0503020204020204" pitchFamily="34" charset="-122"/>
                              </a:rPr>
                              <m:t>𝐻</m:t>
                            </m:r>
                          </m:e>
                          <m:sup>
                            <m:d>
                              <m:dPr>
                                <m:ctrlPr>
                                  <a:rPr lang="en-US" altLang="zh-CN" sz="1050" b="0" i="1" kern="0" smtClean="0">
                                    <a:solidFill>
                                      <a:schemeClr val="tx1"/>
                                    </a:solidFill>
                                    <a:latin typeface="Cambria Math" panose="02040503050406030204" pitchFamily="18" charset="0"/>
                                    <a:ea typeface="微软雅黑" panose="020B0503020204020204" pitchFamily="34" charset="-122"/>
                                  </a:rPr>
                                </m:ctrlPr>
                              </m:dPr>
                              <m:e>
                                <m:r>
                                  <a:rPr lang="en-US" altLang="zh-CN" sz="1050" b="0" i="1" kern="0" smtClean="0">
                                    <a:solidFill>
                                      <a:schemeClr val="tx1"/>
                                    </a:solidFill>
                                    <a:latin typeface="Cambria Math" panose="02040503050406030204" pitchFamily="18" charset="0"/>
                                    <a:ea typeface="微软雅黑" panose="020B0503020204020204" pitchFamily="34" charset="-122"/>
                                  </a:rPr>
                                  <m:t>1</m:t>
                                </m:r>
                              </m:e>
                            </m:d>
                          </m:sup>
                        </m:sSup>
                      </m:oMath>
                    </m:oMathPara>
                  </a14:m>
                  <a:endParaRPr lang="en-US" altLang="zh-CN" sz="1050" kern="0" dirty="0">
                    <a:solidFill>
                      <a:schemeClr val="tx1"/>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29" name="矩形 28"/>
                <p:cNvSpPr>
                  <a:spLocks noRot="1" noChangeAspect="1" noMove="1" noResize="1" noEditPoints="1" noAdjustHandles="1" noChangeArrowheads="1" noChangeShapeType="1" noTextEdit="1"/>
                </p:cNvSpPr>
                <p:nvPr/>
              </p:nvSpPr>
              <p:spPr>
                <a:xfrm>
                  <a:off x="3292828" y="2140407"/>
                  <a:ext cx="559885" cy="583499"/>
                </a:xfrm>
                <a:prstGeom prst="rect">
                  <a:avLst/>
                </a:prstGeom>
                <a:blipFill rotWithShape="0">
                  <a:blip r:embed="rId7"/>
                  <a:stretch>
                    <a:fillRect/>
                  </a:stretch>
                </a:blipFill>
                <a:ln>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4145557" y="2224906"/>
                  <a:ext cx="1265169" cy="512973"/>
                </a:xfrm>
                <a:prstGeom prst="rect">
                  <a:avLst/>
                </a:prstGeom>
              </p:spPr>
              <p:txBody>
                <a:bodyPr wrap="square">
                  <a:spAutoFit/>
                </a:bodyPr>
                <a:lstStyle/>
                <a:p>
                  <a:pPr algn="just">
                    <a:lnSpc>
                      <a:spcPct val="150000"/>
                    </a:lnSpc>
                  </a:pPr>
                  <a14:m>
                    <m:oMath xmlns:m="http://schemas.openxmlformats.org/officeDocument/2006/math">
                      <m:sSup>
                        <m:sSupPr>
                          <m:ctrlPr>
                            <a:rPr lang="en-US" altLang="zh-CN" sz="900" i="1" kern="0" smtClean="0">
                              <a:solidFill>
                                <a:srgbClr val="FF0000"/>
                              </a:solidFill>
                              <a:latin typeface="Cambria Math" panose="02040503050406030204" pitchFamily="18" charset="0"/>
                              <a:ea typeface="微软雅黑" panose="020B0503020204020204" pitchFamily="34" charset="-122"/>
                            </a:rPr>
                          </m:ctrlPr>
                        </m:sSupPr>
                        <m:e>
                          <m:r>
                            <a:rPr lang="en-US" altLang="zh-CN" sz="900" b="0" i="1" kern="0" smtClean="0">
                              <a:solidFill>
                                <a:srgbClr val="FF0000"/>
                              </a:solidFill>
                              <a:latin typeface="Cambria Math" panose="02040503050406030204" pitchFamily="18" charset="0"/>
                              <a:ea typeface="微软雅黑" panose="020B0503020204020204" pitchFamily="34" charset="-122"/>
                            </a:rPr>
                            <m:t>𝑊</m:t>
                          </m:r>
                        </m:e>
                        <m:sup>
                          <m:r>
                            <a:rPr lang="en-US" altLang="zh-CN" sz="900" b="0" i="1" kern="0" smtClean="0">
                              <a:solidFill>
                                <a:srgbClr val="FF0000"/>
                              </a:solidFill>
                              <a:latin typeface="Cambria Math" panose="02040503050406030204" pitchFamily="18" charset="0"/>
                              <a:ea typeface="微软雅黑" panose="020B0503020204020204" pitchFamily="34" charset="-122"/>
                            </a:rPr>
                            <m:t>(2)</m:t>
                          </m:r>
                        </m:sup>
                      </m:sSup>
                    </m:oMath>
                  </a14:m>
                  <a:r>
                    <a:rPr lang="en-US" altLang="zh-CN" sz="900" kern="0" dirty="0">
                      <a:solidFill>
                        <a:srgbClr val="FF0000"/>
                      </a:solidFill>
                      <a:latin typeface="微软雅黑 Light" panose="020B0502040204020203" pitchFamily="34" charset="-122"/>
                      <a:ea typeface="微软雅黑 Light" panose="020B0502040204020203" pitchFamily="34" charset="-122"/>
                      <a:cs typeface="宋体" panose="02010600030101010101" pitchFamily="2" charset="-122"/>
                    </a:rPr>
                    <a:t>,</a:t>
                  </a:r>
                  <a14:m>
                    <m:oMath xmlns:m="http://schemas.openxmlformats.org/officeDocument/2006/math">
                      <m:sSub>
                        <m:sSubPr>
                          <m:ctrlPr>
                            <a:rPr lang="en-US" altLang="zh-CN" sz="900" i="1" kern="0">
                              <a:solidFill>
                                <a:srgbClr val="FF0000"/>
                              </a:solidFill>
                              <a:latin typeface="Cambria Math" panose="02040503050406030204" pitchFamily="18" charset="0"/>
                              <a:ea typeface="微软雅黑" panose="020B0503020204020204" pitchFamily="34" charset="-122"/>
                            </a:rPr>
                          </m:ctrlPr>
                        </m:sSubPr>
                        <m:e>
                          <m:r>
                            <a:rPr lang="en-US" altLang="zh-CN" sz="900" i="1" kern="0">
                              <a:solidFill>
                                <a:srgbClr val="FF0000"/>
                              </a:solidFill>
                              <a:latin typeface="Cambria Math" panose="02040503050406030204" pitchFamily="18" charset="0"/>
                              <a:ea typeface="微软雅黑" panose="020B0503020204020204" pitchFamily="34" charset="-122"/>
                            </a:rPr>
                            <m:t>𝑏</m:t>
                          </m:r>
                        </m:e>
                        <m:sub>
                          <m:r>
                            <a:rPr lang="en-US" altLang="zh-CN" sz="900" b="0" i="1" kern="0" smtClean="0">
                              <a:solidFill>
                                <a:srgbClr val="FF0000"/>
                              </a:solidFill>
                              <a:latin typeface="Cambria Math" panose="02040503050406030204" pitchFamily="18" charset="0"/>
                              <a:ea typeface="微软雅黑" panose="020B0503020204020204" pitchFamily="34" charset="-122"/>
                            </a:rPr>
                            <m:t>2</m:t>
                          </m:r>
                        </m:sub>
                      </m:sSub>
                    </m:oMath>
                  </a14:m>
                  <a:endParaRPr lang="en-US" altLang="zh-CN" sz="900" kern="0" dirty="0">
                    <a:solidFill>
                      <a:srgbClr val="FF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0" name="矩形 29"/>
                <p:cNvSpPr>
                  <a:spLocks noRot="1" noChangeAspect="1" noMove="1" noResize="1" noEditPoints="1" noAdjustHandles="1" noChangeArrowheads="1" noChangeShapeType="1" noTextEdit="1"/>
                </p:cNvSpPr>
                <p:nvPr/>
              </p:nvSpPr>
              <p:spPr>
                <a:xfrm>
                  <a:off x="4145557" y="2224906"/>
                  <a:ext cx="1265169" cy="512973"/>
                </a:xfrm>
                <a:prstGeom prst="rect">
                  <a:avLst/>
                </a:prstGeom>
                <a:blipFill rotWithShape="0">
                  <a:blip r:embed="rId8"/>
                  <a:stretch>
                    <a:fillRect/>
                  </a:stretch>
                </a:blipFill>
              </p:spPr>
              <p:txBody>
                <a:bodyPr/>
                <a:lstStyle/>
                <a:p>
                  <a:r>
                    <a:rPr lang="zh-CN" altLang="en-US">
                      <a:noFill/>
                    </a:rPr>
                    <a:t> </a:t>
                  </a:r>
                </a:p>
              </p:txBody>
            </p:sp>
          </mc:Fallback>
        </mc:AlternateContent>
        <p:sp>
          <p:nvSpPr>
            <p:cNvPr id="36" name="矩形 35"/>
            <p:cNvSpPr/>
            <p:nvPr/>
          </p:nvSpPr>
          <p:spPr>
            <a:xfrm>
              <a:off x="7115508" y="1673589"/>
              <a:ext cx="702159" cy="506048"/>
            </a:xfrm>
            <a:prstGeom prst="rect">
              <a:avLst/>
            </a:prstGeom>
          </p:spPr>
          <p:txBody>
            <a:bodyPr wrap="square">
              <a:spAutoFit/>
            </a:bodyPr>
            <a:lstStyle/>
            <a:p>
              <a:pPr algn="just">
                <a:lnSpc>
                  <a:spcPct val="150000"/>
                </a:lnSpc>
              </a:pPr>
              <a:r>
                <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rPr>
                <a:t>Y</a:t>
              </a:r>
            </a:p>
          </p:txBody>
        </p:sp>
        <p:sp>
          <p:nvSpPr>
            <p:cNvPr id="37" name="椭圆 36"/>
            <p:cNvSpPr/>
            <p:nvPr/>
          </p:nvSpPr>
          <p:spPr>
            <a:xfrm rot="21331008">
              <a:off x="7249743" y="3558667"/>
              <a:ext cx="576065"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sp>
          <p:nvSpPr>
            <p:cNvPr id="38" name="椭圆 37"/>
            <p:cNvSpPr/>
            <p:nvPr/>
          </p:nvSpPr>
          <p:spPr>
            <a:xfrm rot="3884322">
              <a:off x="7264274" y="4716940"/>
              <a:ext cx="576064" cy="576065"/>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sp>
          <p:nvSpPr>
            <p:cNvPr id="39" name="椭圆 38"/>
            <p:cNvSpPr/>
            <p:nvPr/>
          </p:nvSpPr>
          <p:spPr>
            <a:xfrm rot="20281288">
              <a:off x="7166917" y="2169631"/>
              <a:ext cx="576065"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sp>
          <p:nvSpPr>
            <p:cNvPr id="40" name="椭圆 39"/>
            <p:cNvSpPr/>
            <p:nvPr/>
          </p:nvSpPr>
          <p:spPr>
            <a:xfrm rot="942118">
              <a:off x="5423064" y="2361059"/>
              <a:ext cx="576065" cy="57606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cxnSp>
          <p:nvCxnSpPr>
            <p:cNvPr id="41" name="直接箭头连接符 40"/>
            <p:cNvCxnSpPr>
              <a:stCxn id="13" idx="7"/>
              <a:endCxn id="40" idx="2"/>
            </p:cNvCxnSpPr>
            <p:nvPr/>
          </p:nvCxnSpPr>
          <p:spPr>
            <a:xfrm flipV="1">
              <a:off x="3735720" y="2571155"/>
              <a:ext cx="1698092" cy="146763"/>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2" name="直接箭头连接符 41"/>
            <p:cNvCxnSpPr>
              <a:stCxn id="16" idx="6"/>
              <a:endCxn id="12" idx="2"/>
            </p:cNvCxnSpPr>
            <p:nvPr/>
          </p:nvCxnSpPr>
          <p:spPr>
            <a:xfrm flipV="1">
              <a:off x="3870202" y="3834054"/>
              <a:ext cx="1621466" cy="35794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3" name="直接箭头连接符 42"/>
            <p:cNvCxnSpPr>
              <a:stCxn id="40" idx="7"/>
              <a:endCxn id="39" idx="1"/>
            </p:cNvCxnSpPr>
            <p:nvPr/>
          </p:nvCxnSpPr>
          <p:spPr>
            <a:xfrm flipV="1">
              <a:off x="5962294" y="2345007"/>
              <a:ext cx="1227549" cy="163125"/>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44" name="矩形 43"/>
                <p:cNvSpPr/>
                <p:nvPr/>
              </p:nvSpPr>
              <p:spPr>
                <a:xfrm>
                  <a:off x="5437515" y="1876617"/>
                  <a:ext cx="559885" cy="583499"/>
                </a:xfrm>
                <a:prstGeom prst="rect">
                  <a:avLst/>
                </a:prstGeom>
                <a:ln>
                  <a:noFill/>
                  <a:prstDash val="solid"/>
                </a:ln>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1050" i="1" kern="0" smtClean="0">
                                <a:solidFill>
                                  <a:schemeClr val="tx1"/>
                                </a:solidFill>
                                <a:latin typeface="Cambria Math" panose="02040503050406030204" pitchFamily="18" charset="0"/>
                                <a:ea typeface="微软雅黑" panose="020B0503020204020204" pitchFamily="34" charset="-122"/>
                              </a:rPr>
                            </m:ctrlPr>
                          </m:sSupPr>
                          <m:e>
                            <m:r>
                              <a:rPr lang="en-US" altLang="zh-CN" sz="1050" b="0" i="1" kern="0" smtClean="0">
                                <a:solidFill>
                                  <a:schemeClr val="tx1"/>
                                </a:solidFill>
                                <a:latin typeface="Cambria Math" panose="02040503050406030204" pitchFamily="18" charset="0"/>
                                <a:ea typeface="微软雅黑" panose="020B0503020204020204" pitchFamily="34" charset="-122"/>
                              </a:rPr>
                              <m:t>𝐻</m:t>
                            </m:r>
                          </m:e>
                          <m:sup>
                            <m:d>
                              <m:dPr>
                                <m:ctrlPr>
                                  <a:rPr lang="en-US" altLang="zh-CN" sz="1050" b="0" i="1" kern="0" smtClean="0">
                                    <a:solidFill>
                                      <a:schemeClr val="tx1"/>
                                    </a:solidFill>
                                    <a:latin typeface="Cambria Math" panose="02040503050406030204" pitchFamily="18" charset="0"/>
                                    <a:ea typeface="微软雅黑" panose="020B0503020204020204" pitchFamily="34" charset="-122"/>
                                  </a:rPr>
                                </m:ctrlPr>
                              </m:dPr>
                              <m:e>
                                <m:r>
                                  <a:rPr lang="en-US" altLang="zh-CN" sz="1050" b="0" i="1" kern="0" smtClean="0">
                                    <a:solidFill>
                                      <a:schemeClr val="tx1"/>
                                    </a:solidFill>
                                    <a:latin typeface="Cambria Math" panose="02040503050406030204" pitchFamily="18" charset="0"/>
                                    <a:ea typeface="微软雅黑" panose="020B0503020204020204" pitchFamily="34" charset="-122"/>
                                  </a:rPr>
                                  <m:t>2</m:t>
                                </m:r>
                              </m:e>
                            </m:d>
                          </m:sup>
                        </m:sSup>
                      </m:oMath>
                    </m:oMathPara>
                  </a14:m>
                  <a:endParaRPr lang="en-US" altLang="zh-CN" sz="1050" kern="0" dirty="0">
                    <a:solidFill>
                      <a:schemeClr val="tx1"/>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9" name="矩形 38"/>
                <p:cNvSpPr>
                  <a:spLocks noRot="1" noChangeAspect="1" noMove="1" noResize="1" noEditPoints="1" noAdjustHandles="1" noChangeArrowheads="1" noChangeShapeType="1" noTextEdit="1"/>
                </p:cNvSpPr>
                <p:nvPr/>
              </p:nvSpPr>
              <p:spPr>
                <a:xfrm>
                  <a:off x="5437515" y="1876617"/>
                  <a:ext cx="559885" cy="583499"/>
                </a:xfrm>
                <a:prstGeom prst="rect">
                  <a:avLst/>
                </a:prstGeom>
                <a:blipFill rotWithShape="0">
                  <a:blip r:embed="rId9"/>
                  <a:stretch>
                    <a:fillRect/>
                  </a:stretch>
                </a:blipFill>
                <a:ln>
                  <a:noFill/>
                  <a:prstDash val="solid"/>
                </a:ln>
              </p:spPr>
              <p:txBody>
                <a:bodyPr/>
                <a:lstStyle/>
                <a:p>
                  <a:r>
                    <a:rPr lang="zh-CN" altLang="en-US">
                      <a:noFill/>
                    </a:rPr>
                    <a:t> </a:t>
                  </a:r>
                </a:p>
              </p:txBody>
            </p:sp>
          </mc:Fallback>
        </mc:AlternateContent>
        <p:cxnSp>
          <p:nvCxnSpPr>
            <p:cNvPr id="45" name="直接箭头连接符 44"/>
            <p:cNvCxnSpPr>
              <a:stCxn id="40" idx="6"/>
              <a:endCxn id="37" idx="1"/>
            </p:cNvCxnSpPr>
            <p:nvPr/>
          </p:nvCxnSpPr>
          <p:spPr>
            <a:xfrm>
              <a:off x="5988380" y="2727028"/>
              <a:ext cx="1330426" cy="93254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6" name="直接箭头连接符 45"/>
            <p:cNvCxnSpPr>
              <a:stCxn id="40" idx="5"/>
              <a:endCxn id="38" idx="2"/>
            </p:cNvCxnSpPr>
            <p:nvPr/>
          </p:nvCxnSpPr>
          <p:spPr>
            <a:xfrm>
              <a:off x="5852035" y="2900269"/>
              <a:ext cx="1577331" cy="184421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7" name="直接箭头连接符 46"/>
            <p:cNvCxnSpPr>
              <a:stCxn id="27" idx="7"/>
              <a:endCxn id="39" idx="3"/>
            </p:cNvCxnSpPr>
            <p:nvPr/>
          </p:nvCxnSpPr>
          <p:spPr>
            <a:xfrm flipV="1">
              <a:off x="5899935" y="2722741"/>
              <a:ext cx="1442386" cy="185128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8" name="直接箭头连接符 47"/>
            <p:cNvCxnSpPr>
              <a:stCxn id="12" idx="6"/>
              <a:endCxn id="39" idx="2"/>
            </p:cNvCxnSpPr>
            <p:nvPr/>
          </p:nvCxnSpPr>
          <p:spPr>
            <a:xfrm flipV="1">
              <a:off x="5969291" y="2565443"/>
              <a:ext cx="1218560" cy="94660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9" name="直接箭头连接符 48"/>
            <p:cNvCxnSpPr>
              <a:stCxn id="12" idx="5"/>
              <a:endCxn id="37" idx="2"/>
            </p:cNvCxnSpPr>
            <p:nvPr/>
          </p:nvCxnSpPr>
          <p:spPr>
            <a:xfrm>
              <a:off x="6013232" y="3728064"/>
              <a:ext cx="1237392" cy="141145"/>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0" name="直接箭头连接符 49"/>
            <p:cNvCxnSpPr>
              <a:stCxn id="12" idx="4"/>
              <a:endCxn id="38" idx="3"/>
            </p:cNvCxnSpPr>
            <p:nvPr/>
          </p:nvCxnSpPr>
          <p:spPr>
            <a:xfrm>
              <a:off x="5891543" y="3911857"/>
              <a:ext cx="1389640" cy="995823"/>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1" name="直接箭头连接符 50"/>
            <p:cNvCxnSpPr>
              <a:stCxn id="27" idx="6"/>
              <a:endCxn id="37" idx="3"/>
            </p:cNvCxnSpPr>
            <p:nvPr/>
          </p:nvCxnSpPr>
          <p:spPr>
            <a:xfrm flipV="1">
              <a:off x="6006754" y="4065662"/>
              <a:ext cx="1343899" cy="70118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2" name="直接箭头连接符 51"/>
            <p:cNvCxnSpPr>
              <a:stCxn id="27" idx="5"/>
              <a:endCxn id="38" idx="4"/>
            </p:cNvCxnSpPr>
            <p:nvPr/>
          </p:nvCxnSpPr>
          <p:spPr>
            <a:xfrm>
              <a:off x="5945895" y="4978693"/>
              <a:ext cx="1345923" cy="149175"/>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53" name="矩形 52"/>
                <p:cNvSpPr/>
                <p:nvPr/>
              </p:nvSpPr>
              <p:spPr>
                <a:xfrm>
                  <a:off x="6074325" y="2006481"/>
                  <a:ext cx="1265169" cy="466522"/>
                </a:xfrm>
                <a:prstGeom prst="rect">
                  <a:avLst/>
                </a:prstGeom>
              </p:spPr>
              <p:txBody>
                <a:bodyPr wrap="square">
                  <a:spAutoFit/>
                </a:bodyPr>
                <a:lstStyle/>
                <a:p>
                  <a:pPr algn="just">
                    <a:lnSpc>
                      <a:spcPct val="150000"/>
                    </a:lnSpc>
                  </a:pPr>
                  <a14:m>
                    <m:oMath xmlns:m="http://schemas.openxmlformats.org/officeDocument/2006/math">
                      <m:sSup>
                        <m:sSupPr>
                          <m:ctrlPr>
                            <a:rPr lang="en-US" altLang="zh-CN" sz="900" i="1" kern="0" smtClean="0">
                              <a:solidFill>
                                <a:srgbClr val="FF0000"/>
                              </a:solidFill>
                              <a:latin typeface="Cambria Math" panose="02040503050406030204" pitchFamily="18" charset="0"/>
                              <a:ea typeface="微软雅黑" panose="020B0503020204020204" pitchFamily="34" charset="-122"/>
                            </a:rPr>
                          </m:ctrlPr>
                        </m:sSupPr>
                        <m:e>
                          <m:r>
                            <a:rPr lang="en-US" altLang="zh-CN" sz="900" b="0" i="1" kern="0" smtClean="0">
                              <a:solidFill>
                                <a:srgbClr val="FF0000"/>
                              </a:solidFill>
                              <a:latin typeface="Cambria Math" panose="02040503050406030204" pitchFamily="18" charset="0"/>
                              <a:ea typeface="微软雅黑" panose="020B0503020204020204" pitchFamily="34" charset="-122"/>
                            </a:rPr>
                            <m:t>𝑊</m:t>
                          </m:r>
                        </m:e>
                        <m:sup>
                          <m:r>
                            <a:rPr lang="en-US" altLang="zh-CN" sz="900" b="0" i="1" kern="0" smtClean="0">
                              <a:solidFill>
                                <a:srgbClr val="FF0000"/>
                              </a:solidFill>
                              <a:latin typeface="Cambria Math" panose="02040503050406030204" pitchFamily="18" charset="0"/>
                              <a:ea typeface="微软雅黑" panose="020B0503020204020204" pitchFamily="34" charset="-122"/>
                            </a:rPr>
                            <m:t>(3)</m:t>
                          </m:r>
                        </m:sup>
                      </m:sSup>
                    </m:oMath>
                  </a14:m>
                  <a:r>
                    <a:rPr lang="en-US" altLang="zh-CN" sz="900" kern="0" dirty="0">
                      <a:solidFill>
                        <a:srgbClr val="FF0000"/>
                      </a:solidFill>
                      <a:latin typeface="微软雅黑 Light" panose="020B0502040204020203" pitchFamily="34" charset="-122"/>
                      <a:ea typeface="微软雅黑 Light" panose="020B0502040204020203" pitchFamily="34" charset="-122"/>
                      <a:cs typeface="宋体" panose="02010600030101010101" pitchFamily="2" charset="-122"/>
                    </a:rPr>
                    <a:t>,</a:t>
                  </a:r>
                  <a14:m>
                    <m:oMath xmlns:m="http://schemas.openxmlformats.org/officeDocument/2006/math">
                      <m:sSub>
                        <m:sSubPr>
                          <m:ctrlPr>
                            <a:rPr lang="en-US" altLang="zh-CN" sz="900" i="1" kern="0">
                              <a:solidFill>
                                <a:srgbClr val="FF0000"/>
                              </a:solidFill>
                              <a:latin typeface="Cambria Math" panose="02040503050406030204" pitchFamily="18" charset="0"/>
                              <a:ea typeface="微软雅黑" panose="020B0503020204020204" pitchFamily="34" charset="-122"/>
                            </a:rPr>
                          </m:ctrlPr>
                        </m:sSubPr>
                        <m:e>
                          <m:r>
                            <a:rPr lang="en-US" altLang="zh-CN" sz="900" i="1" kern="0">
                              <a:solidFill>
                                <a:srgbClr val="FF0000"/>
                              </a:solidFill>
                              <a:latin typeface="Cambria Math" panose="02040503050406030204" pitchFamily="18" charset="0"/>
                              <a:ea typeface="微软雅黑" panose="020B0503020204020204" pitchFamily="34" charset="-122"/>
                            </a:rPr>
                            <m:t>𝑏</m:t>
                          </m:r>
                        </m:e>
                        <m:sub>
                          <m:r>
                            <a:rPr lang="en-US" altLang="zh-CN" sz="900" b="0" i="1" kern="0" smtClean="0">
                              <a:solidFill>
                                <a:srgbClr val="FF0000"/>
                              </a:solidFill>
                              <a:latin typeface="Cambria Math" panose="02040503050406030204" pitchFamily="18" charset="0"/>
                              <a:ea typeface="微软雅黑" panose="020B0503020204020204" pitchFamily="34" charset="-122"/>
                            </a:rPr>
                            <m:t>3</m:t>
                          </m:r>
                        </m:sub>
                      </m:sSub>
                    </m:oMath>
                  </a14:m>
                  <a:endParaRPr lang="en-US" altLang="zh-CN" sz="900" kern="0" dirty="0">
                    <a:solidFill>
                      <a:srgbClr val="FF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2" name="矩形 51"/>
                <p:cNvSpPr>
                  <a:spLocks noRot="1" noChangeAspect="1" noMove="1" noResize="1" noEditPoints="1" noAdjustHandles="1" noChangeArrowheads="1" noChangeShapeType="1" noTextEdit="1"/>
                </p:cNvSpPr>
                <p:nvPr/>
              </p:nvSpPr>
              <p:spPr>
                <a:xfrm>
                  <a:off x="6074325" y="2006481"/>
                  <a:ext cx="1265169" cy="466522"/>
                </a:xfrm>
                <a:prstGeom prst="rect">
                  <a:avLst/>
                </a:prstGeom>
                <a:blipFill rotWithShape="0">
                  <a:blip r:embed="rId10"/>
                  <a:stretch>
                    <a:fillRect b="-8696"/>
                  </a:stretch>
                </a:blipFill>
              </p:spPr>
              <p:txBody>
                <a:bodyPr/>
                <a:lstStyle/>
                <a:p>
                  <a:r>
                    <a:rPr lang="zh-CN" altLang="en-US">
                      <a:noFill/>
                    </a:rPr>
                    <a:t> </a:t>
                  </a:r>
                </a:p>
              </p:txBody>
            </p:sp>
          </mc:Fallback>
        </mc:AlternateContent>
        <p:sp>
          <p:nvSpPr>
            <p:cNvPr id="54" name="左大括号 53"/>
            <p:cNvSpPr/>
            <p:nvPr/>
          </p:nvSpPr>
          <p:spPr>
            <a:xfrm rot="16200000">
              <a:off x="2353705" y="4606705"/>
              <a:ext cx="304968" cy="1347367"/>
            </a:xfrm>
            <a:prstGeom prst="leftBrace">
              <a:avLst/>
            </a:prstGeom>
            <a:noFill/>
            <a:ln w="15875" cap="flat" cmpd="sng">
              <a:solidFill>
                <a:srgbClr val="FF0000"/>
              </a:solidFill>
              <a:prstDash val="solid"/>
              <a:round/>
              <a:headEnd/>
              <a:tailEnd/>
            </a:ln>
            <a:effectLst/>
          </p:spPr>
          <p:txBody>
            <a:bodyPr rtlCol="0" anchor="ctr"/>
            <a:lstStyle/>
            <a:p>
              <a:pPr algn="ctr"/>
              <a:endParaRPr lang="zh-CN" altLang="en-US" sz="1000"/>
            </a:p>
          </p:txBody>
        </p:sp>
        <p:sp>
          <p:nvSpPr>
            <p:cNvPr id="55" name="矩形 54"/>
            <p:cNvSpPr/>
            <p:nvPr/>
          </p:nvSpPr>
          <p:spPr>
            <a:xfrm>
              <a:off x="2003089" y="4931200"/>
              <a:ext cx="1415611" cy="391201"/>
            </a:xfrm>
            <a:prstGeom prst="rect">
              <a:avLst/>
            </a:prstGeom>
          </p:spPr>
          <p:txBody>
            <a:bodyPr wrap="square">
              <a:spAutoFit/>
            </a:bodyPr>
            <a:lstStyle/>
            <a:p>
              <a:pPr algn="just">
                <a:lnSpc>
                  <a:spcPct val="150000"/>
                </a:lnSpc>
              </a:pPr>
              <a:r>
                <a:rPr lang="zh-CN" altLang="en-US" sz="700" kern="0" dirty="0">
                  <a:latin typeface="微软雅黑 Light" panose="020B0502040204020203" pitchFamily="34" charset="-122"/>
                  <a:ea typeface="微软雅黑 Light" panose="020B0502040204020203" pitchFamily="34" charset="-122"/>
                  <a:cs typeface="宋体" panose="02010600030101010101" pitchFamily="2" charset="-122"/>
                </a:rPr>
                <a:t>第一层参数</a:t>
              </a:r>
              <a:endParaRPr lang="en-US" altLang="zh-CN" sz="7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6" name="左大括号 55"/>
            <p:cNvSpPr/>
            <p:nvPr/>
          </p:nvSpPr>
          <p:spPr>
            <a:xfrm rot="16200000">
              <a:off x="4416987" y="4663046"/>
              <a:ext cx="304968" cy="1347367"/>
            </a:xfrm>
            <a:prstGeom prst="leftBrace">
              <a:avLst/>
            </a:prstGeom>
            <a:noFill/>
            <a:ln w="15875" cap="flat" cmpd="sng">
              <a:solidFill>
                <a:srgbClr val="FF0000"/>
              </a:solidFill>
              <a:prstDash val="solid"/>
              <a:round/>
              <a:headEnd/>
              <a:tailEnd/>
            </a:ln>
            <a:effectLst/>
          </p:spPr>
          <p:txBody>
            <a:bodyPr rtlCol="0" anchor="ctr"/>
            <a:lstStyle/>
            <a:p>
              <a:pPr algn="ctr"/>
              <a:endParaRPr lang="zh-CN" altLang="en-US" sz="1000"/>
            </a:p>
          </p:txBody>
        </p:sp>
        <p:sp>
          <p:nvSpPr>
            <p:cNvPr id="57" name="矩形 56"/>
            <p:cNvSpPr/>
            <p:nvPr/>
          </p:nvSpPr>
          <p:spPr>
            <a:xfrm>
              <a:off x="4056112" y="4955365"/>
              <a:ext cx="1415611" cy="391201"/>
            </a:xfrm>
            <a:prstGeom prst="rect">
              <a:avLst/>
            </a:prstGeom>
          </p:spPr>
          <p:txBody>
            <a:bodyPr wrap="square">
              <a:spAutoFit/>
            </a:bodyPr>
            <a:lstStyle/>
            <a:p>
              <a:pPr algn="just">
                <a:lnSpc>
                  <a:spcPct val="150000"/>
                </a:lnSpc>
              </a:pPr>
              <a:r>
                <a:rPr lang="zh-CN" altLang="en-US" sz="700" kern="0" dirty="0">
                  <a:latin typeface="微软雅黑 Light" panose="020B0502040204020203" pitchFamily="34" charset="-122"/>
                  <a:ea typeface="微软雅黑 Light" panose="020B0502040204020203" pitchFamily="34" charset="-122"/>
                  <a:cs typeface="宋体" panose="02010600030101010101" pitchFamily="2" charset="-122"/>
                </a:rPr>
                <a:t>第二层参数</a:t>
              </a:r>
              <a:endParaRPr lang="en-US" altLang="zh-CN" sz="7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8" name="左大括号 57"/>
            <p:cNvSpPr/>
            <p:nvPr/>
          </p:nvSpPr>
          <p:spPr>
            <a:xfrm rot="16200000">
              <a:off x="6489665" y="4750849"/>
              <a:ext cx="304968" cy="1347367"/>
            </a:xfrm>
            <a:prstGeom prst="leftBrace">
              <a:avLst/>
            </a:prstGeom>
            <a:noFill/>
            <a:ln w="15875" cap="flat" cmpd="sng">
              <a:solidFill>
                <a:srgbClr val="FF0000"/>
              </a:solidFill>
              <a:prstDash val="solid"/>
              <a:round/>
              <a:headEnd/>
              <a:tailEnd/>
            </a:ln>
            <a:effectLst/>
          </p:spPr>
          <p:txBody>
            <a:bodyPr rtlCol="0" anchor="ctr"/>
            <a:lstStyle/>
            <a:p>
              <a:pPr algn="ctr"/>
              <a:endParaRPr lang="zh-CN" altLang="en-US" sz="1000"/>
            </a:p>
          </p:txBody>
        </p:sp>
        <p:sp>
          <p:nvSpPr>
            <p:cNvPr id="59" name="矩形 58"/>
            <p:cNvSpPr/>
            <p:nvPr/>
          </p:nvSpPr>
          <p:spPr>
            <a:xfrm>
              <a:off x="6137460" y="5043349"/>
              <a:ext cx="1415611" cy="391201"/>
            </a:xfrm>
            <a:prstGeom prst="rect">
              <a:avLst/>
            </a:prstGeom>
          </p:spPr>
          <p:txBody>
            <a:bodyPr wrap="square">
              <a:spAutoFit/>
            </a:bodyPr>
            <a:lstStyle/>
            <a:p>
              <a:pPr algn="just">
                <a:lnSpc>
                  <a:spcPct val="150000"/>
                </a:lnSpc>
              </a:pPr>
              <a:r>
                <a:rPr lang="zh-CN" altLang="en-US" sz="700" kern="0" dirty="0">
                  <a:latin typeface="微软雅黑 Light" panose="020B0502040204020203" pitchFamily="34" charset="-122"/>
                  <a:ea typeface="微软雅黑 Light" panose="020B0502040204020203" pitchFamily="34" charset="-122"/>
                  <a:cs typeface="宋体" panose="02010600030101010101" pitchFamily="2" charset="-122"/>
                </a:rPr>
                <a:t>第三层参数</a:t>
              </a:r>
              <a:endParaRPr lang="en-US" altLang="zh-CN" sz="7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60" name="矩形 59"/>
            <p:cNvSpPr/>
            <p:nvPr/>
          </p:nvSpPr>
          <p:spPr>
            <a:xfrm>
              <a:off x="2195736" y="5387816"/>
              <a:ext cx="840920" cy="498589"/>
            </a:xfrm>
            <a:prstGeom prst="rect">
              <a:avLst/>
            </a:prstGeom>
          </p:spPr>
          <p:txBody>
            <a:bodyPr wrap="square">
              <a:spAutoFit/>
            </a:bodyPr>
            <a:lstStyle/>
            <a:p>
              <a:pPr algn="just">
                <a:lnSpc>
                  <a:spcPct val="150000"/>
                </a:lnSpc>
              </a:pPr>
              <a:r>
                <a:rPr lang="en-US" altLang="zh-CN" sz="900" kern="0" dirty="0" err="1">
                  <a:latin typeface="微软雅黑 Light" panose="020B0502040204020203" pitchFamily="34" charset="-122"/>
                  <a:ea typeface="微软雅黑 Light" panose="020B0502040204020203" pitchFamily="34" charset="-122"/>
                  <a:cs typeface="宋体" panose="02010600030101010101" pitchFamily="2" charset="-122"/>
                </a:rPr>
                <a:t>2x3+1</a:t>
              </a:r>
              <a:endParaRPr lang="en-US" altLang="zh-CN" sz="9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61" name="矩形 60"/>
            <p:cNvSpPr/>
            <p:nvPr/>
          </p:nvSpPr>
          <p:spPr>
            <a:xfrm>
              <a:off x="4237607" y="5462640"/>
              <a:ext cx="840920" cy="498589"/>
            </a:xfrm>
            <a:prstGeom prst="rect">
              <a:avLst/>
            </a:prstGeom>
          </p:spPr>
          <p:txBody>
            <a:bodyPr wrap="square">
              <a:spAutoFit/>
            </a:bodyPr>
            <a:lstStyle/>
            <a:p>
              <a:pPr algn="just">
                <a:lnSpc>
                  <a:spcPct val="150000"/>
                </a:lnSpc>
              </a:pPr>
              <a:r>
                <a:rPr lang="en-US" altLang="zh-CN" sz="900" kern="0" dirty="0" err="1">
                  <a:latin typeface="微软雅黑 Light" panose="020B0502040204020203" pitchFamily="34" charset="-122"/>
                  <a:ea typeface="微软雅黑 Light" panose="020B0502040204020203" pitchFamily="34" charset="-122"/>
                  <a:cs typeface="宋体" panose="02010600030101010101" pitchFamily="2" charset="-122"/>
                </a:rPr>
                <a:t>3x2+1</a:t>
              </a:r>
              <a:endParaRPr lang="en-US" altLang="zh-CN" sz="9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62" name="矩形 61"/>
            <p:cNvSpPr/>
            <p:nvPr/>
          </p:nvSpPr>
          <p:spPr>
            <a:xfrm>
              <a:off x="6321958" y="5547803"/>
              <a:ext cx="840920" cy="498589"/>
            </a:xfrm>
            <a:prstGeom prst="rect">
              <a:avLst/>
            </a:prstGeom>
          </p:spPr>
          <p:txBody>
            <a:bodyPr wrap="square">
              <a:spAutoFit/>
            </a:bodyPr>
            <a:lstStyle/>
            <a:p>
              <a:pPr algn="just">
                <a:lnSpc>
                  <a:spcPct val="150000"/>
                </a:lnSpc>
              </a:pPr>
              <a:r>
                <a:rPr lang="en-US" altLang="zh-CN" sz="900" kern="0" dirty="0" err="1">
                  <a:latin typeface="微软雅黑 Light" panose="020B0502040204020203" pitchFamily="34" charset="-122"/>
                  <a:ea typeface="微软雅黑 Light" panose="020B0502040204020203" pitchFamily="34" charset="-122"/>
                  <a:cs typeface="宋体" panose="02010600030101010101" pitchFamily="2" charset="-122"/>
                </a:rPr>
                <a:t>3x3+1</a:t>
              </a:r>
              <a:endParaRPr lang="en-US" altLang="zh-CN" sz="9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grpSp>
      <mc:AlternateContent xmlns:mc="http://schemas.openxmlformats.org/markup-compatibility/2006" xmlns:a14="http://schemas.microsoft.com/office/drawing/2010/main">
        <mc:Choice Requires="a14">
          <p:sp>
            <p:nvSpPr>
              <p:cNvPr id="63" name="矩形 62"/>
              <p:cNvSpPr/>
              <p:nvPr/>
            </p:nvSpPr>
            <p:spPr>
              <a:xfrm>
                <a:off x="5643856" y="1877001"/>
                <a:ext cx="5955659" cy="1015663"/>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000" dirty="0">
                    <a:solidFill>
                      <a:srgbClr val="000000"/>
                    </a:solidFill>
                    <a:latin typeface="微软雅黑 Light" panose="020B0502040204020203" pitchFamily="34" charset="-122"/>
                    <a:ea typeface="微软雅黑 Light" panose="020B0502040204020203" pitchFamily="34" charset="-122"/>
                  </a:rPr>
                  <a:t>模型训练的目的，就是</a:t>
                </a:r>
                <a:r>
                  <a:rPr lang="zh-CN" altLang="en-US" sz="2000" dirty="0">
                    <a:solidFill>
                      <a:srgbClr val="FF0000"/>
                    </a:solidFill>
                    <a:latin typeface="微软雅黑 Light" panose="020B0502040204020203" pitchFamily="34" charset="-122"/>
                    <a:ea typeface="微软雅黑 Light" panose="020B0502040204020203" pitchFamily="34" charset="-122"/>
                  </a:rPr>
                  <a:t>使得参数尽可能的与真实的模型逼近</a:t>
                </a:r>
                <a:r>
                  <a:rPr lang="zh-CN" altLang="en-US" sz="2000" dirty="0">
                    <a:solidFill>
                      <a:srgbClr val="000000"/>
                    </a:solidFill>
                    <a:latin typeface="微软雅黑 Light" panose="020B0502040204020203" pitchFamily="34" charset="-122"/>
                    <a:ea typeface="微软雅黑 Light" panose="020B0502040204020203" pitchFamily="34" charset="-122"/>
                  </a:rPr>
                  <a:t>，模型计算值</a:t>
                </a:r>
                <a14:m>
                  <m:oMath xmlns:m="http://schemas.openxmlformats.org/officeDocument/2006/math">
                    <m:acc>
                      <m:accPr>
                        <m:chr m:val="̂"/>
                        <m:ctrlPr>
                          <a:rPr lang="zh-CN" altLang="en-US" sz="2000" i="1" smtClean="0">
                            <a:solidFill>
                              <a:srgbClr val="000000"/>
                            </a:solidFill>
                            <a:latin typeface="Cambria Math" panose="02040503050406030204" pitchFamily="18" charset="0"/>
                            <a:ea typeface="微软雅黑 Light" panose="020B0502040204020203" pitchFamily="34" charset="-122"/>
                          </a:rPr>
                        </m:ctrlPr>
                      </m:accPr>
                      <m:e>
                        <m:r>
                          <a:rPr lang="en-US" altLang="zh-CN" sz="2000" b="0" i="1" smtClean="0">
                            <a:solidFill>
                              <a:srgbClr val="000000"/>
                            </a:solidFill>
                            <a:latin typeface="Cambria Math" panose="02040503050406030204" pitchFamily="18" charset="0"/>
                            <a:ea typeface="微软雅黑 Light" panose="020B0502040204020203" pitchFamily="34" charset="-122"/>
                          </a:rPr>
                          <m:t>𝑦</m:t>
                        </m:r>
                      </m:e>
                    </m:acc>
                  </m:oMath>
                </a14:m>
                <a:r>
                  <a:rPr lang="zh-CN" altLang="en-US" sz="2000" dirty="0">
                    <a:solidFill>
                      <a:srgbClr val="000000"/>
                    </a:solidFill>
                    <a:latin typeface="微软雅黑 Light" panose="020B0502040204020203" pitchFamily="34" charset="-122"/>
                    <a:ea typeface="微软雅黑 Light" panose="020B0502040204020203" pitchFamily="34" charset="-122"/>
                  </a:rPr>
                  <a:t>与</a:t>
                </a:r>
                <a14:m>
                  <m:oMath xmlns:m="http://schemas.openxmlformats.org/officeDocument/2006/math">
                    <m:r>
                      <a:rPr lang="en-US" altLang="zh-CN" sz="2000" i="1">
                        <a:solidFill>
                          <a:srgbClr val="000000"/>
                        </a:solidFill>
                        <a:latin typeface="Cambria Math" panose="02040503050406030204" pitchFamily="18" charset="0"/>
                        <a:ea typeface="微软雅黑" panose="020B0503020204020204" pitchFamily="34" charset="-122"/>
                      </a:rPr>
                      <m:t>𝑦</m:t>
                    </m:r>
                  </m:oMath>
                </a14:m>
                <a:r>
                  <a:rPr lang="zh-CN" altLang="en-US" sz="2000" dirty="0">
                    <a:solidFill>
                      <a:srgbClr val="000000"/>
                    </a:solidFill>
                    <a:latin typeface="微软雅黑 Light" panose="020B0502040204020203" pitchFamily="34" charset="-122"/>
                    <a:ea typeface="微软雅黑 Light" panose="020B0502040204020203" pitchFamily="34" charset="-122"/>
                  </a:rPr>
                  <a:t>无限接近</a:t>
                </a:r>
                <a:endParaRPr lang="zh-CN" altLang="en-US" sz="2000" dirty="0">
                  <a:latin typeface="微软雅黑 Light" panose="020B0502040204020203" pitchFamily="34" charset="-122"/>
                  <a:ea typeface="微软雅黑 Light" panose="020B0502040204020203" pitchFamily="34" charset="-122"/>
                </a:endParaRPr>
              </a:p>
            </p:txBody>
          </p:sp>
        </mc:Choice>
        <mc:Fallback xmlns="">
          <p:sp>
            <p:nvSpPr>
              <p:cNvPr id="63" name="矩形 62"/>
              <p:cNvSpPr>
                <a:spLocks noRot="1" noChangeAspect="1" noMove="1" noResize="1" noEditPoints="1" noAdjustHandles="1" noChangeArrowheads="1" noChangeShapeType="1" noTextEdit="1"/>
              </p:cNvSpPr>
              <p:nvPr/>
            </p:nvSpPr>
            <p:spPr>
              <a:xfrm>
                <a:off x="5643856" y="1877001"/>
                <a:ext cx="5955659" cy="1015663"/>
              </a:xfrm>
              <a:prstGeom prst="rect">
                <a:avLst/>
              </a:prstGeom>
              <a:blipFill rotWithShape="0">
                <a:blip r:embed="rId11"/>
                <a:stretch>
                  <a:fillRect l="-921" b="-41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p:cNvSpPr/>
              <p:nvPr/>
            </p:nvSpPr>
            <p:spPr>
              <a:xfrm>
                <a:off x="5965471" y="3224956"/>
                <a:ext cx="3225283" cy="1015663"/>
              </a:xfrm>
              <a:prstGeom prst="rect">
                <a:avLst/>
              </a:prstGeom>
            </p:spPr>
            <p:txBody>
              <a:bodyPr wrap="square">
                <a:spAutoFit/>
              </a:bodyPr>
              <a:lstStyle/>
              <a:p>
                <a:pPr algn="just">
                  <a:lnSpc>
                    <a:spcPct val="150000"/>
                  </a:lnSpc>
                </a:pPr>
                <a14:m>
                  <m:oMath xmlns:m="http://schemas.openxmlformats.org/officeDocument/2006/math">
                    <m:acc>
                      <m:accPr>
                        <m:chr m:val="̂"/>
                        <m:ctrlPr>
                          <a:rPr lang="zh-CN" altLang="en-US" sz="2000" i="1">
                            <a:solidFill>
                              <a:srgbClr val="000000"/>
                            </a:solidFill>
                            <a:latin typeface="Cambria Math" panose="02040503050406030204" pitchFamily="18" charset="0"/>
                            <a:ea typeface="微软雅黑 Light" panose="020B0502040204020203" pitchFamily="34" charset="-122"/>
                          </a:rPr>
                        </m:ctrlPr>
                      </m:accPr>
                      <m:e>
                        <m:r>
                          <a:rPr lang="en-US" altLang="zh-CN" sz="2000" i="1">
                            <a:solidFill>
                              <a:srgbClr val="000000"/>
                            </a:solidFill>
                            <a:latin typeface="Cambria Math" panose="02040503050406030204" pitchFamily="18" charset="0"/>
                            <a:ea typeface="微软雅黑 Light" panose="020B0502040204020203" pitchFamily="34" charset="-122"/>
                          </a:rPr>
                          <m:t>𝑦</m:t>
                        </m:r>
                      </m:e>
                    </m:acc>
                    <m:r>
                      <a:rPr lang="en-US" altLang="zh-CN" sz="2000" i="1">
                        <a:solidFill>
                          <a:srgbClr val="000000"/>
                        </a:solidFill>
                        <a:latin typeface="Cambria Math" panose="02040503050406030204" pitchFamily="18" charset="0"/>
                        <a:ea typeface="微软雅黑 Light" panose="020B0502040204020203" pitchFamily="34" charset="-122"/>
                      </a:rPr>
                      <m:t> </m:t>
                    </m:r>
                  </m:oMath>
                </a14:m>
                <a:r>
                  <a:rPr lang="zh-CN" altLang="en-US" sz="2000" dirty="0">
                    <a:solidFill>
                      <a:srgbClr val="000000"/>
                    </a:solidFill>
                    <a:latin typeface="微软雅黑 Light" panose="020B0502040204020203" pitchFamily="34" charset="-122"/>
                    <a:ea typeface="微软雅黑 Light" panose="020B0502040204020203" pitchFamily="34" charset="-122"/>
                  </a:rPr>
                  <a:t>：样本的预测值</a:t>
                </a:r>
                <a:endParaRPr lang="en-US" altLang="zh-CN" sz="2000" dirty="0">
                  <a:solidFill>
                    <a:srgbClr val="000000"/>
                  </a:solidFill>
                  <a:latin typeface="微软雅黑 Light" panose="020B0502040204020203" pitchFamily="34" charset="-122"/>
                  <a:ea typeface="微软雅黑 Light" panose="020B0502040204020203" pitchFamily="34" charset="-122"/>
                </a:endParaRPr>
              </a:p>
              <a:p>
                <a:pPr algn="just">
                  <a:lnSpc>
                    <a:spcPct val="150000"/>
                  </a:lnSpc>
                </a:pPr>
                <a14:m>
                  <m:oMath xmlns:m="http://schemas.openxmlformats.org/officeDocument/2006/math">
                    <m:r>
                      <a:rPr lang="en-US" altLang="zh-CN" sz="2000" i="1">
                        <a:solidFill>
                          <a:srgbClr val="000000"/>
                        </a:solidFill>
                        <a:latin typeface="Cambria Math" panose="02040503050406030204" pitchFamily="18" charset="0"/>
                        <a:ea typeface="微软雅黑" panose="020B0503020204020204" pitchFamily="34" charset="-122"/>
                      </a:rPr>
                      <m:t>𝑦</m:t>
                    </m:r>
                  </m:oMath>
                </a14:m>
                <a:r>
                  <a:rPr lang="zh-CN" altLang="en-US" sz="2000" dirty="0">
                    <a:solidFill>
                      <a:srgbClr val="000000"/>
                    </a:solidFill>
                    <a:latin typeface="微软雅黑 Light" panose="020B0502040204020203" pitchFamily="34" charset="-122"/>
                    <a:ea typeface="微软雅黑 Light" panose="020B0502040204020203" pitchFamily="34" charset="-122"/>
                  </a:rPr>
                  <a:t>：真实值</a:t>
                </a:r>
                <a:endParaRPr lang="en-US" altLang="zh-CN" sz="2000"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64" name="矩形 63"/>
              <p:cNvSpPr>
                <a:spLocks noRot="1" noChangeAspect="1" noMove="1" noResize="1" noEditPoints="1" noAdjustHandles="1" noChangeArrowheads="1" noChangeShapeType="1" noTextEdit="1"/>
              </p:cNvSpPr>
              <p:nvPr/>
            </p:nvSpPr>
            <p:spPr>
              <a:xfrm>
                <a:off x="5965471" y="3224956"/>
                <a:ext cx="3225283" cy="1015663"/>
              </a:xfrm>
              <a:prstGeom prst="rect">
                <a:avLst/>
              </a:prstGeom>
              <a:blipFill rotWithShape="0">
                <a:blip r:embed="rId12"/>
                <a:stretch>
                  <a:fillRect b="-4192"/>
                </a:stretch>
              </a:blipFill>
            </p:spPr>
            <p:txBody>
              <a:bodyPr/>
              <a:lstStyle/>
              <a:p>
                <a:r>
                  <a:rPr lang="zh-CN" altLang="en-US">
                    <a:noFill/>
                  </a:rPr>
                  <a:t> </a:t>
                </a:r>
              </a:p>
            </p:txBody>
          </p:sp>
        </mc:Fallback>
      </mc:AlternateContent>
      <p:cxnSp>
        <p:nvCxnSpPr>
          <p:cNvPr id="65" name="直接箭头连接符 64"/>
          <p:cNvCxnSpPr/>
          <p:nvPr/>
        </p:nvCxnSpPr>
        <p:spPr>
          <a:xfrm flipV="1">
            <a:off x="4893565" y="2109263"/>
            <a:ext cx="343321" cy="7207"/>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66" name="直接箭头连接符 65"/>
          <p:cNvCxnSpPr/>
          <p:nvPr/>
        </p:nvCxnSpPr>
        <p:spPr>
          <a:xfrm flipV="1">
            <a:off x="4945726" y="2960381"/>
            <a:ext cx="343321" cy="7207"/>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67" name="直接箭头连接符 66"/>
          <p:cNvCxnSpPr/>
          <p:nvPr/>
        </p:nvCxnSpPr>
        <p:spPr>
          <a:xfrm flipV="1">
            <a:off x="4947377" y="3667496"/>
            <a:ext cx="343321" cy="7207"/>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68" name="矩形 67">
            <a:extLst>
              <a:ext uri="{FF2B5EF4-FFF2-40B4-BE49-F238E27FC236}">
                <a16:creationId xmlns:a16="http://schemas.microsoft.com/office/drawing/2014/main" id="{291519F3-3A0E-422D-8954-7AC773B6B8A7}"/>
              </a:ext>
            </a:extLst>
          </p:cNvPr>
          <p:cNvSpPr/>
          <p:nvPr/>
        </p:nvSpPr>
        <p:spPr>
          <a:xfrm>
            <a:off x="532955" y="4549384"/>
            <a:ext cx="6281057" cy="65916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C00000"/>
                </a:solidFill>
                <a:highlight>
                  <a:srgbClr val="FFFF00"/>
                </a:highlight>
              </a:rPr>
              <a:t>数据在神经网络中如何进行数据传输？</a:t>
            </a:r>
          </a:p>
        </p:txBody>
      </p:sp>
      <p:sp>
        <p:nvSpPr>
          <p:cNvPr id="69" name="矩形 68">
            <a:extLst>
              <a:ext uri="{FF2B5EF4-FFF2-40B4-BE49-F238E27FC236}">
                <a16:creationId xmlns:a16="http://schemas.microsoft.com/office/drawing/2014/main" id="{6F7E7E28-09BB-4737-BC15-45DD723D05AD}"/>
              </a:ext>
            </a:extLst>
          </p:cNvPr>
          <p:cNvSpPr/>
          <p:nvPr/>
        </p:nvSpPr>
        <p:spPr>
          <a:xfrm>
            <a:off x="4506931" y="5271857"/>
            <a:ext cx="2356379" cy="1200329"/>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400" dirty="0">
                <a:solidFill>
                  <a:srgbClr val="C00000"/>
                </a:solidFill>
                <a:latin typeface="微软雅黑 Light" panose="020B0502040204020203" pitchFamily="34" charset="-122"/>
                <a:ea typeface="微软雅黑 Light" panose="020B0502040204020203" pitchFamily="34" charset="-122"/>
              </a:rPr>
              <a:t>正向计算</a:t>
            </a:r>
            <a:endParaRPr lang="en-US" altLang="zh-CN" sz="2400" dirty="0">
              <a:solidFill>
                <a:srgbClr val="C00000"/>
              </a:solidFill>
              <a:latin typeface="微软雅黑 Light" panose="020B0502040204020203" pitchFamily="34" charset="-122"/>
              <a:ea typeface="微软雅黑 Light" panose="020B0502040204020203" pitchFamily="34" charset="-122"/>
            </a:endParaRPr>
          </a:p>
          <a:p>
            <a:pPr marL="285750" indent="-285750">
              <a:lnSpc>
                <a:spcPct val="150000"/>
              </a:lnSpc>
              <a:buFont typeface="Wingdings" panose="05000000000000000000" pitchFamily="2" charset="2"/>
              <a:buChar char="Ø"/>
            </a:pPr>
            <a:r>
              <a:rPr lang="zh-CN" altLang="en-US" sz="2400" dirty="0">
                <a:solidFill>
                  <a:srgbClr val="C00000"/>
                </a:solidFill>
                <a:latin typeface="微软雅黑 Light" panose="020B0502040204020203" pitchFamily="34" charset="-122"/>
                <a:ea typeface="微软雅黑 Light" panose="020B0502040204020203" pitchFamily="34" charset="-122"/>
              </a:rPr>
              <a:t>反向传播</a:t>
            </a:r>
            <a:endParaRPr lang="en-US" altLang="zh-CN" sz="2400" dirty="0">
              <a:solidFill>
                <a:srgbClr val="C00000"/>
              </a:solidFill>
              <a:latin typeface="微软雅黑 Light" panose="020B0502040204020203" pitchFamily="34" charset="-122"/>
              <a:ea typeface="微软雅黑 Light" panose="020B0502040204020203" pitchFamily="34" charset="-122"/>
            </a:endParaRPr>
          </a:p>
        </p:txBody>
      </p:sp>
      <p:sp>
        <p:nvSpPr>
          <p:cNvPr id="72" name="灯片编号占位符 8">
            <a:extLst>
              <a:ext uri="{FF2B5EF4-FFF2-40B4-BE49-F238E27FC236}">
                <a16:creationId xmlns:a16="http://schemas.microsoft.com/office/drawing/2014/main" id="{956F2715-A195-4A86-9FE8-1D507195871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33</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78262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fade">
                                      <p:cBhvr>
                                        <p:cTn id="10"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正向计算与反向传播</a:t>
            </a:r>
            <a:endParaRPr lang="en-US" altLang="zh-CN" sz="2600" b="1" dirty="0"/>
          </a:p>
        </p:txBody>
      </p:sp>
      <p:sp>
        <p:nvSpPr>
          <p:cNvPr id="8" name="矩形 7"/>
          <p:cNvSpPr/>
          <p:nvPr/>
        </p:nvSpPr>
        <p:spPr>
          <a:xfrm>
            <a:off x="539552" y="1315058"/>
            <a:ext cx="11391257" cy="1477328"/>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000" dirty="0">
                <a:latin typeface="微软雅黑 Light" panose="020B0502040204020203" pitchFamily="34" charset="-122"/>
                <a:ea typeface="微软雅黑 Light" panose="020B0502040204020203" pitchFamily="34" charset="-122"/>
              </a:rPr>
              <a:t>正向计算（前向传播</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正向传播）是根据输入，经过权值、激活函数、隐藏层，将输入的特征向量从低级特征逐步提取为抽象特征，直到得到最后的结果的过程。</a:t>
            </a:r>
          </a:p>
          <a:p>
            <a:pPr>
              <a:lnSpc>
                <a:spcPct val="150000"/>
              </a:lnSpc>
            </a:pPr>
            <a:endParaRPr lang="zh-CN" altLang="en-US" sz="2000" dirty="0">
              <a:latin typeface="微软雅黑 Light" panose="020B0502040204020203" pitchFamily="34" charset="-122"/>
              <a:ea typeface="微软雅黑 Light" panose="020B0502040204020203" pitchFamily="34" charset="-122"/>
            </a:endParaRPr>
          </a:p>
        </p:txBody>
      </p:sp>
      <p:sp>
        <p:nvSpPr>
          <p:cNvPr id="9" name="矩形 8"/>
          <p:cNvSpPr/>
          <p:nvPr/>
        </p:nvSpPr>
        <p:spPr>
          <a:xfrm>
            <a:off x="602738" y="5349935"/>
            <a:ext cx="11115650" cy="963277"/>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000" dirty="0">
                <a:latin typeface="微软雅黑 Light" panose="020B0502040204020203" pitchFamily="34" charset="-122"/>
                <a:ea typeface="微软雅黑 Light" panose="020B0502040204020203" pitchFamily="34" charset="-122"/>
              </a:rPr>
              <a:t>反向传播是根据正向计算的输出结果，经过和期望值进行比较，再经过各种链式求导和迭代算法、最终从网络后端逐步修改权值使输出和期望值的差距变到最小的过程。</a:t>
            </a:r>
          </a:p>
        </p:txBody>
      </p:sp>
      <p:grpSp>
        <p:nvGrpSpPr>
          <p:cNvPr id="10" name="组合 9"/>
          <p:cNvGrpSpPr/>
          <p:nvPr/>
        </p:nvGrpSpPr>
        <p:grpSpPr>
          <a:xfrm>
            <a:off x="2259249" y="2564904"/>
            <a:ext cx="4835972" cy="2631406"/>
            <a:chOff x="2259249" y="2564904"/>
            <a:chExt cx="4835972" cy="2631406"/>
          </a:xfrm>
        </p:grpSpPr>
        <p:grpSp>
          <p:nvGrpSpPr>
            <p:cNvPr id="11" name="组合 10"/>
            <p:cNvGrpSpPr/>
            <p:nvPr/>
          </p:nvGrpSpPr>
          <p:grpSpPr>
            <a:xfrm>
              <a:off x="2259249" y="2657388"/>
              <a:ext cx="3515722" cy="2378185"/>
              <a:chOff x="1969332" y="2162219"/>
              <a:chExt cx="5181989" cy="3609321"/>
            </a:xfrm>
          </p:grpSpPr>
          <p:sp>
            <p:nvSpPr>
              <p:cNvPr id="23" name="椭圆 22"/>
              <p:cNvSpPr/>
              <p:nvPr/>
            </p:nvSpPr>
            <p:spPr>
              <a:xfrm>
                <a:off x="1969332" y="2652053"/>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24" name="椭圆 23"/>
              <p:cNvSpPr/>
              <p:nvPr/>
            </p:nvSpPr>
            <p:spPr>
              <a:xfrm rot="1763759">
                <a:off x="6323280" y="3883627"/>
                <a:ext cx="576064" cy="5760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25" name="椭圆 24"/>
              <p:cNvSpPr/>
              <p:nvPr/>
            </p:nvSpPr>
            <p:spPr>
              <a:xfrm rot="21061334">
                <a:off x="4262588" y="3252770"/>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26" name="椭圆 25"/>
              <p:cNvSpPr/>
              <p:nvPr/>
            </p:nvSpPr>
            <p:spPr>
              <a:xfrm rot="922928">
                <a:off x="1969332" y="3923765"/>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27" name="椭圆 26"/>
              <p:cNvSpPr/>
              <p:nvPr/>
            </p:nvSpPr>
            <p:spPr>
              <a:xfrm rot="218974">
                <a:off x="4279007" y="4479398"/>
                <a:ext cx="576064" cy="56840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28" name="椭圆 27"/>
              <p:cNvSpPr/>
              <p:nvPr/>
            </p:nvSpPr>
            <p:spPr>
              <a:xfrm>
                <a:off x="1969332" y="5195476"/>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cxnSp>
            <p:nvCxnSpPr>
              <p:cNvPr id="30" name="直接箭头连接符 29"/>
              <p:cNvCxnSpPr>
                <a:stCxn id="23" idx="6"/>
                <a:endCxn id="25" idx="1"/>
              </p:cNvCxnSpPr>
              <p:nvPr/>
            </p:nvCxnSpPr>
            <p:spPr>
              <a:xfrm>
                <a:off x="2545396" y="2940085"/>
                <a:ext cx="1772267" cy="43132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1" name="直接箭头连接符 30"/>
              <p:cNvCxnSpPr>
                <a:stCxn id="23" idx="5"/>
                <a:endCxn id="27" idx="1"/>
              </p:cNvCxnSpPr>
              <p:nvPr/>
            </p:nvCxnSpPr>
            <p:spPr>
              <a:xfrm>
                <a:off x="2461033" y="3143754"/>
                <a:ext cx="1915542" cy="140632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2" name="直接箭头连接符 31"/>
              <p:cNvCxnSpPr>
                <a:stCxn id="26" idx="7"/>
                <a:endCxn id="25" idx="2"/>
              </p:cNvCxnSpPr>
              <p:nvPr/>
            </p:nvCxnSpPr>
            <p:spPr>
              <a:xfrm flipV="1">
                <a:off x="2507762" y="3585750"/>
                <a:ext cx="1758355" cy="48369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4" name="直接箭头连接符 33"/>
              <p:cNvCxnSpPr>
                <a:stCxn id="28" idx="7"/>
                <a:endCxn id="25" idx="3"/>
              </p:cNvCxnSpPr>
              <p:nvPr/>
            </p:nvCxnSpPr>
            <p:spPr>
              <a:xfrm flipV="1">
                <a:off x="2461033" y="3773759"/>
                <a:ext cx="1920196" cy="150608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5" name="直接箭头连接符 34"/>
              <p:cNvCxnSpPr>
                <a:stCxn id="26" idx="6"/>
                <a:endCxn id="27" idx="2"/>
              </p:cNvCxnSpPr>
              <p:nvPr/>
            </p:nvCxnSpPr>
            <p:spPr>
              <a:xfrm>
                <a:off x="2535078" y="4288199"/>
                <a:ext cx="1744513" cy="45706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6" name="直接箭头连接符 35"/>
              <p:cNvCxnSpPr>
                <a:stCxn id="28" idx="6"/>
                <a:endCxn id="27" idx="3"/>
              </p:cNvCxnSpPr>
              <p:nvPr/>
            </p:nvCxnSpPr>
            <p:spPr>
              <a:xfrm flipV="1">
                <a:off x="2545396" y="4951190"/>
                <a:ext cx="1805595" cy="53231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7" name="直接箭头连接符 36"/>
              <p:cNvCxnSpPr>
                <a:stCxn id="25" idx="6"/>
                <a:endCxn id="24" idx="2"/>
              </p:cNvCxnSpPr>
              <p:nvPr/>
            </p:nvCxnSpPr>
            <p:spPr>
              <a:xfrm>
                <a:off x="4835124" y="3494521"/>
                <a:ext cx="1525241" cy="531565"/>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8" name="直接箭头连接符 37"/>
              <p:cNvCxnSpPr>
                <a:stCxn id="27" idx="6"/>
                <a:endCxn id="24" idx="3"/>
              </p:cNvCxnSpPr>
              <p:nvPr/>
            </p:nvCxnSpPr>
            <p:spPr>
              <a:xfrm flipV="1">
                <a:off x="4854488" y="4246168"/>
                <a:ext cx="1482289" cy="536311"/>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39" name="矩形 38"/>
                  <p:cNvSpPr/>
                  <p:nvPr/>
                </p:nvSpPr>
                <p:spPr>
                  <a:xfrm>
                    <a:off x="3178359" y="2627471"/>
                    <a:ext cx="417158" cy="578043"/>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1200" i="1" kern="0" smtClean="0">
                                  <a:latin typeface="Cambria Math" panose="02040503050406030204" pitchFamily="18" charset="0"/>
                                  <a:ea typeface="微软雅黑" panose="020B0503020204020204" pitchFamily="34" charset="-122"/>
                                </a:rPr>
                              </m:ctrlPr>
                            </m:sSupPr>
                            <m:e>
                              <m:r>
                                <a:rPr lang="en-US" altLang="zh-CN" sz="1200" b="0" i="1" kern="0" smtClean="0">
                                  <a:latin typeface="Cambria Math" panose="02040503050406030204" pitchFamily="18" charset="0"/>
                                  <a:ea typeface="微软雅黑" panose="020B0503020204020204" pitchFamily="34" charset="-122"/>
                                </a:rPr>
                                <m:t>𝑤</m:t>
                              </m:r>
                            </m:e>
                            <m:sup>
                              <m:r>
                                <a:rPr lang="en-US" altLang="zh-CN" sz="1200" b="0" i="1" kern="0" smtClean="0">
                                  <a:latin typeface="Cambria Math" panose="02040503050406030204" pitchFamily="18" charset="0"/>
                                  <a:ea typeface="微软雅黑" panose="020B0503020204020204" pitchFamily="34" charset="-122"/>
                                </a:rPr>
                                <m:t>(1)</m:t>
                              </m:r>
                            </m:sup>
                          </m:sSup>
                        </m:oMath>
                      </m:oMathPara>
                    </a14:m>
                    <a:endPar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0" name="矩形 29"/>
                  <p:cNvSpPr>
                    <a:spLocks noRot="1" noChangeAspect="1" noMove="1" noResize="1" noEditPoints="1" noAdjustHandles="1" noChangeArrowheads="1" noChangeShapeType="1" noTextEdit="1"/>
                  </p:cNvSpPr>
                  <p:nvPr/>
                </p:nvSpPr>
                <p:spPr>
                  <a:xfrm>
                    <a:off x="3178359" y="2627471"/>
                    <a:ext cx="417158" cy="578043"/>
                  </a:xfrm>
                  <a:prstGeom prst="rect">
                    <a:avLst/>
                  </a:prstGeom>
                  <a:blipFill>
                    <a:blip r:embed="rId5"/>
                    <a:stretch>
                      <a:fillRect r="-468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p:cNvSpPr/>
                  <p:nvPr/>
                </p:nvSpPr>
                <p:spPr>
                  <a:xfrm>
                    <a:off x="5308925" y="3042283"/>
                    <a:ext cx="702159" cy="578043"/>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1200" i="1" kern="0" smtClean="0">
                                  <a:latin typeface="Cambria Math" panose="02040503050406030204" pitchFamily="18" charset="0"/>
                                  <a:ea typeface="微软雅黑" panose="020B0503020204020204" pitchFamily="34" charset="-122"/>
                                </a:rPr>
                              </m:ctrlPr>
                            </m:sSupPr>
                            <m:e>
                              <m:r>
                                <a:rPr lang="en-US" altLang="zh-CN" sz="1200" b="0" i="1" kern="0" smtClean="0">
                                  <a:latin typeface="Cambria Math" panose="02040503050406030204" pitchFamily="18" charset="0"/>
                                  <a:ea typeface="微软雅黑" panose="020B0503020204020204" pitchFamily="34" charset="-122"/>
                                </a:rPr>
                                <m:t>𝑤</m:t>
                              </m:r>
                            </m:e>
                            <m:sup>
                              <m:r>
                                <a:rPr lang="en-US" altLang="zh-CN" sz="1200" b="0" i="1" kern="0" smtClean="0">
                                  <a:latin typeface="Cambria Math" panose="02040503050406030204" pitchFamily="18" charset="0"/>
                                  <a:ea typeface="微软雅黑" panose="020B0503020204020204" pitchFamily="34" charset="-122"/>
                                </a:rPr>
                                <m:t>(2)</m:t>
                              </m:r>
                            </m:sup>
                          </m:sSup>
                        </m:oMath>
                      </m:oMathPara>
                    </a14:m>
                    <a:endPar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31" name="矩形 30"/>
                  <p:cNvSpPr>
                    <a:spLocks noRot="1" noChangeAspect="1" noMove="1" noResize="1" noEditPoints="1" noAdjustHandles="1" noChangeArrowheads="1" noChangeShapeType="1" noTextEdit="1"/>
                  </p:cNvSpPr>
                  <p:nvPr/>
                </p:nvSpPr>
                <p:spPr>
                  <a:xfrm>
                    <a:off x="5308925" y="3042283"/>
                    <a:ext cx="702159" cy="578043"/>
                  </a:xfrm>
                  <a:prstGeom prst="rect">
                    <a:avLst/>
                  </a:prstGeom>
                  <a:blipFill>
                    <a:blip r:embed="rId6"/>
                    <a:stretch>
                      <a:fillRect/>
                    </a:stretch>
                  </a:blipFill>
                </p:spPr>
                <p:txBody>
                  <a:bodyPr/>
                  <a:lstStyle/>
                  <a:p>
                    <a:r>
                      <a:rPr lang="zh-CN" altLang="en-US">
                        <a:noFill/>
                      </a:rPr>
                      <a:t> </a:t>
                    </a:r>
                  </a:p>
                </p:txBody>
              </p:sp>
            </mc:Fallback>
          </mc:AlternateContent>
          <p:sp>
            <p:nvSpPr>
              <p:cNvPr id="41" name="矩形 40"/>
              <p:cNvSpPr/>
              <p:nvPr/>
            </p:nvSpPr>
            <p:spPr>
              <a:xfrm>
                <a:off x="1969332" y="2162219"/>
                <a:ext cx="839776" cy="510508"/>
              </a:xfrm>
              <a:prstGeom prst="rect">
                <a:avLst/>
              </a:prstGeom>
            </p:spPr>
            <p:txBody>
              <a:bodyPr wrap="square">
                <a:spAutoFit/>
              </a:bodyPr>
              <a:lstStyle/>
              <a:p>
                <a:pPr algn="just">
                  <a:lnSpc>
                    <a:spcPct val="150000"/>
                  </a:lnSpc>
                </a:pPr>
                <a:r>
                  <a:rPr lang="en-US" altLang="zh-CN" sz="1200" kern="0" dirty="0">
                    <a:ea typeface="微软雅黑" panose="020B0503020204020204" pitchFamily="34" charset="-122"/>
                  </a:rPr>
                  <a:t>X</a:t>
                </a:r>
                <a:endPar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42" name="矩形 41"/>
              <p:cNvSpPr/>
              <p:nvPr/>
            </p:nvSpPr>
            <p:spPr>
              <a:xfrm>
                <a:off x="4317055" y="2726199"/>
                <a:ext cx="559886" cy="512843"/>
              </a:xfrm>
              <a:prstGeom prst="rect">
                <a:avLst/>
              </a:prstGeom>
            </p:spPr>
            <p:txBody>
              <a:bodyPr wrap="square">
                <a:spAutoFit/>
              </a:bodyPr>
              <a:lstStyle/>
              <a:p>
                <a:pPr algn="just">
                  <a:lnSpc>
                    <a:spcPct val="150000"/>
                  </a:lnSpc>
                </a:pPr>
                <a:r>
                  <a:rPr lang="en-US" altLang="zh-CN" sz="1200" kern="0" dirty="0">
                    <a:solidFill>
                      <a:srgbClr val="C00000"/>
                    </a:solidFill>
                    <a:latin typeface="微软雅黑 Light" panose="020B0502040204020203" pitchFamily="34" charset="-122"/>
                    <a:ea typeface="微软雅黑 Light" panose="020B0502040204020203" pitchFamily="34" charset="-122"/>
                    <a:cs typeface="宋体" panose="02010600030101010101" pitchFamily="2" charset="-122"/>
                  </a:rPr>
                  <a:t>H</a:t>
                </a:r>
              </a:p>
            </p:txBody>
          </p:sp>
          <p:sp>
            <p:nvSpPr>
              <p:cNvPr id="43" name="矩形 42"/>
              <p:cNvSpPr/>
              <p:nvPr/>
            </p:nvSpPr>
            <p:spPr>
              <a:xfrm>
                <a:off x="6449162" y="3299622"/>
                <a:ext cx="702159" cy="560527"/>
              </a:xfrm>
              <a:prstGeom prst="rect">
                <a:avLst/>
              </a:prstGeom>
            </p:spPr>
            <p:txBody>
              <a:bodyPr wrap="square">
                <a:spAutoFit/>
              </a:bodyPr>
              <a:lstStyle/>
              <a:p>
                <a:pPr algn="just">
                  <a:lnSpc>
                    <a:spcPct val="150000"/>
                  </a:lnSpc>
                </a:pPr>
                <a:r>
                  <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rPr>
                  <a:t>Y</a:t>
                </a:r>
              </a:p>
            </p:txBody>
          </p:sp>
        </p:grpSp>
        <p:cxnSp>
          <p:nvCxnSpPr>
            <p:cNvPr id="12" name="直接连接符 11"/>
            <p:cNvCxnSpPr/>
            <p:nvPr/>
          </p:nvCxnSpPr>
          <p:spPr>
            <a:xfrm>
              <a:off x="2690452" y="2592330"/>
              <a:ext cx="16428" cy="2603980"/>
            </a:xfrm>
            <a:prstGeom prst="line">
              <a:avLst/>
            </a:prstGeom>
            <a:noFill/>
            <a:ln w="15875" cap="flat" cmpd="sng">
              <a:solidFill>
                <a:srgbClr val="FFFF00"/>
              </a:solidFill>
              <a:prstDash val="solid"/>
              <a:round/>
              <a:headEnd/>
              <a:tailEnd/>
            </a:ln>
            <a:effectLst/>
          </p:spPr>
        </p:cxnSp>
        <p:cxnSp>
          <p:nvCxnSpPr>
            <p:cNvPr id="13" name="直接连接符 12"/>
            <p:cNvCxnSpPr/>
            <p:nvPr/>
          </p:nvCxnSpPr>
          <p:spPr>
            <a:xfrm>
              <a:off x="5076597" y="2564904"/>
              <a:ext cx="16428" cy="2603980"/>
            </a:xfrm>
            <a:prstGeom prst="line">
              <a:avLst/>
            </a:prstGeom>
            <a:noFill/>
            <a:ln w="15875" cap="flat" cmpd="sng">
              <a:solidFill>
                <a:srgbClr val="FFFF00"/>
              </a:solidFill>
              <a:prstDash val="solid"/>
              <a:round/>
              <a:headEnd/>
              <a:tailEnd/>
            </a:ln>
            <a:effectLst/>
          </p:spPr>
        </p:cxnSp>
        <p:cxnSp>
          <p:nvCxnSpPr>
            <p:cNvPr id="14" name="直接连接符 13"/>
            <p:cNvCxnSpPr/>
            <p:nvPr/>
          </p:nvCxnSpPr>
          <p:spPr>
            <a:xfrm>
              <a:off x="6322658" y="3660572"/>
              <a:ext cx="0" cy="823846"/>
            </a:xfrm>
            <a:prstGeom prst="line">
              <a:avLst/>
            </a:prstGeom>
            <a:noFill/>
            <a:ln w="15875" cap="flat" cmpd="sng">
              <a:solidFill>
                <a:srgbClr val="FFFF00"/>
              </a:solidFill>
              <a:prstDash val="solid"/>
              <a:round/>
              <a:headEnd/>
              <a:tailEnd/>
            </a:ln>
            <a:effectLst/>
          </p:spPr>
        </p:cxnSp>
        <p:sp>
          <p:nvSpPr>
            <p:cNvPr id="16" name="右箭头 15"/>
            <p:cNvSpPr/>
            <p:nvPr/>
          </p:nvSpPr>
          <p:spPr>
            <a:xfrm>
              <a:off x="5652120" y="3929170"/>
              <a:ext cx="259863" cy="129028"/>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矩形 17"/>
                <p:cNvSpPr/>
                <p:nvPr/>
              </p:nvSpPr>
              <p:spPr>
                <a:xfrm>
                  <a:off x="5831878" y="3794298"/>
                  <a:ext cx="476380" cy="369332"/>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acc>
                          <m:accPr>
                            <m:chr m:val="̂"/>
                            <m:ctrlPr>
                              <a:rPr lang="en-US" altLang="zh-CN" sz="1200" i="1" kern="0" smtClean="0">
                                <a:latin typeface="Cambria Math" panose="02040503050406030204" pitchFamily="18" charset="0"/>
                                <a:ea typeface="微软雅黑 Light" panose="020B0502040204020203" pitchFamily="34" charset="-122"/>
                              </a:rPr>
                            </m:ctrlPr>
                          </m:accPr>
                          <m:e>
                            <m:r>
                              <a:rPr lang="en-US" altLang="zh-CN" sz="1200" b="0" i="1" kern="0" smtClean="0">
                                <a:latin typeface="Cambria Math" panose="02040503050406030204" pitchFamily="18" charset="0"/>
                                <a:ea typeface="微软雅黑 Light" panose="020B0502040204020203" pitchFamily="34" charset="-122"/>
                              </a:rPr>
                              <m:t>𝑦</m:t>
                            </m:r>
                          </m:e>
                        </m:acc>
                      </m:oMath>
                    </m:oMathPara>
                  </a14:m>
                  <a:endPar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74" name="矩形 73"/>
                <p:cNvSpPr>
                  <a:spLocks noRot="1" noChangeAspect="1" noMove="1" noResize="1" noEditPoints="1" noAdjustHandles="1" noChangeArrowheads="1" noChangeShapeType="1" noTextEdit="1"/>
                </p:cNvSpPr>
                <p:nvPr/>
              </p:nvSpPr>
              <p:spPr>
                <a:xfrm>
                  <a:off x="5831878" y="3794298"/>
                  <a:ext cx="476380" cy="369332"/>
                </a:xfrm>
                <a:prstGeom prst="rect">
                  <a:avLst/>
                </a:prstGeom>
                <a:blipFill rotWithShape="0">
                  <a:blip r:embed="rId7"/>
                  <a:stretch>
                    <a:fillRect r="-14103"/>
                  </a:stretch>
                </a:blipFill>
              </p:spPr>
              <p:txBody>
                <a:bodyPr/>
                <a:lstStyle/>
                <a:p>
                  <a:r>
                    <a:rPr lang="zh-CN" altLang="en-US">
                      <a:noFill/>
                    </a:rPr>
                    <a:t> </a:t>
                  </a:r>
                </a:p>
              </p:txBody>
            </p:sp>
          </mc:Fallback>
        </mc:AlternateContent>
        <p:sp>
          <p:nvSpPr>
            <p:cNvPr id="19" name="右箭头 18"/>
            <p:cNvSpPr/>
            <p:nvPr/>
          </p:nvSpPr>
          <p:spPr>
            <a:xfrm>
              <a:off x="6171937" y="3940437"/>
              <a:ext cx="272642" cy="117761"/>
            </a:xfrm>
            <a:prstGeom prst="rightArrow">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矩形 19"/>
                <p:cNvSpPr/>
                <p:nvPr/>
              </p:nvSpPr>
              <p:spPr>
                <a:xfrm>
                  <a:off x="6518106" y="3794298"/>
                  <a:ext cx="577115" cy="337657"/>
                </a:xfrm>
                <a:prstGeom prst="rect">
                  <a:avLst/>
                </a:prstGeom>
              </p:spPr>
              <p:txBody>
                <a:bodyPr wrap="square">
                  <a:spAutoFit/>
                </a:bodyPr>
                <a:lstStyle/>
                <a:p>
                  <a:pPr algn="just">
                    <a:lnSpc>
                      <a:spcPct val="150000"/>
                    </a:lnSpc>
                  </a:pPr>
                  <a:r>
                    <a:rPr lang="en-US" altLang="zh-CN" sz="1200" b="0" kern="0" dirty="0">
                      <a:ea typeface="微软雅黑" panose="020B0503020204020204" pitchFamily="34" charset="-122"/>
                      <a:cs typeface="宋体" panose="02010600030101010101" pitchFamily="2" charset="-122"/>
                    </a:rPr>
                    <a:t>L</a:t>
                  </a:r>
                  <a14:m>
                    <m:oMath xmlns:m="http://schemas.openxmlformats.org/officeDocument/2006/math">
                      <m:r>
                        <a:rPr lang="en-US" altLang="zh-CN" sz="1200" b="0" i="1" kern="0" smtClean="0">
                          <a:latin typeface="Cambria Math" panose="02040503050406030204" pitchFamily="18" charset="0"/>
                          <a:ea typeface="微软雅黑" panose="020B0503020204020204" pitchFamily="34" charset="-122"/>
                          <a:cs typeface="宋体" panose="02010600030101010101" pitchFamily="2" charset="-122"/>
                        </a:rPr>
                        <m:t>(</m:t>
                      </m:r>
                      <m:r>
                        <a:rPr lang="en-US" altLang="zh-CN" sz="1200" b="0" i="1" kern="0" smtClean="0">
                          <a:latin typeface="Cambria Math" panose="02040503050406030204" pitchFamily="18" charset="0"/>
                          <a:ea typeface="微软雅黑" panose="020B0503020204020204" pitchFamily="34" charset="-122"/>
                          <a:cs typeface="宋体" panose="02010600030101010101" pitchFamily="2" charset="-122"/>
                        </a:rPr>
                        <m:t>𝑤</m:t>
                      </m:r>
                      <m:r>
                        <a:rPr lang="en-US" altLang="zh-CN" sz="1200" b="0" i="1" kern="0" smtClean="0">
                          <a:latin typeface="Cambria Math" panose="02040503050406030204" pitchFamily="18" charset="0"/>
                          <a:ea typeface="微软雅黑" panose="020B0503020204020204" pitchFamily="34" charset="-122"/>
                          <a:cs typeface="宋体" panose="02010600030101010101" pitchFamily="2" charset="-122"/>
                        </a:rPr>
                        <m:t>)</m:t>
                      </m:r>
                    </m:oMath>
                  </a14:m>
                  <a:endPar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76" name="矩形 75"/>
                <p:cNvSpPr>
                  <a:spLocks noRot="1" noChangeAspect="1" noMove="1" noResize="1" noEditPoints="1" noAdjustHandles="1" noChangeArrowheads="1" noChangeShapeType="1" noTextEdit="1"/>
                </p:cNvSpPr>
                <p:nvPr/>
              </p:nvSpPr>
              <p:spPr>
                <a:xfrm>
                  <a:off x="6518106" y="3794298"/>
                  <a:ext cx="577115" cy="337657"/>
                </a:xfrm>
                <a:prstGeom prst="rect">
                  <a:avLst/>
                </a:prstGeom>
                <a:blipFill>
                  <a:blip r:embed="rId8"/>
                  <a:stretch>
                    <a:fillRect b="-12500"/>
                  </a:stretch>
                </a:blipFill>
              </p:spPr>
              <p:txBody>
                <a:bodyPr/>
                <a:lstStyle/>
                <a:p>
                  <a:r>
                    <a:rPr lang="zh-CN" altLang="en-US">
                      <a:noFill/>
                    </a:rPr>
                    <a:t> </a:t>
                  </a:r>
                </a:p>
              </p:txBody>
            </p:sp>
          </mc:Fallback>
        </mc:AlternateContent>
        <p:cxnSp>
          <p:nvCxnSpPr>
            <p:cNvPr id="21" name="曲线连接符 20"/>
            <p:cNvCxnSpPr>
              <a:cxnSpLocks/>
              <a:stCxn id="20" idx="2"/>
            </p:cNvCxnSpPr>
            <p:nvPr/>
          </p:nvCxnSpPr>
          <p:spPr>
            <a:xfrm rot="5400000">
              <a:off x="5228101" y="3453548"/>
              <a:ext cx="900157" cy="2256970"/>
            </a:xfrm>
            <a:prstGeom prst="curvedConnector2">
              <a:avLst/>
            </a:prstGeom>
            <a:noFill/>
            <a:ln w="15875" cap="flat" cmpd="sng">
              <a:solidFill>
                <a:srgbClr val="C00000"/>
              </a:solidFill>
              <a:prstDash val="solid"/>
              <a:round/>
              <a:headEnd/>
              <a:tailEnd type="triangle"/>
            </a:ln>
            <a:effectLst/>
          </p:spPr>
        </p:cxnSp>
        <p:sp>
          <p:nvSpPr>
            <p:cNvPr id="22" name="文本框 21"/>
            <p:cNvSpPr txBox="1"/>
            <p:nvPr/>
          </p:nvSpPr>
          <p:spPr>
            <a:xfrm>
              <a:off x="4714746" y="4601285"/>
              <a:ext cx="1771911" cy="338554"/>
            </a:xfrm>
            <a:prstGeom prst="rect">
              <a:avLst/>
            </a:prstGeom>
            <a:noFill/>
          </p:spPr>
          <p:txBody>
            <a:bodyPr wrap="square" rtlCol="0">
              <a:spAutoFit/>
            </a:bodyPr>
            <a:lstStyle/>
            <a:p>
              <a:r>
                <a:rPr lang="zh-CN" altLang="en-US" sz="1600" dirty="0">
                  <a:latin typeface="微软雅黑 Light" panose="020B0502040204020203" pitchFamily="34" charset="-122"/>
                  <a:ea typeface="微软雅黑 Light" panose="020B0502040204020203" pitchFamily="34" charset="-122"/>
                </a:rPr>
                <a:t>反向更新权值</a:t>
              </a:r>
            </a:p>
          </p:txBody>
        </p:sp>
      </p:grpSp>
      <p:sp>
        <p:nvSpPr>
          <p:cNvPr id="44" name="矩形 43">
            <a:extLst>
              <a:ext uri="{FF2B5EF4-FFF2-40B4-BE49-F238E27FC236}">
                <a16:creationId xmlns:a16="http://schemas.microsoft.com/office/drawing/2014/main" id="{A65863E0-1F65-4406-B4BF-4BF71D095C93}"/>
              </a:ext>
            </a:extLst>
          </p:cNvPr>
          <p:cNvSpPr/>
          <p:nvPr/>
        </p:nvSpPr>
        <p:spPr>
          <a:xfrm>
            <a:off x="6711538" y="2518910"/>
            <a:ext cx="2432462" cy="634414"/>
          </a:xfrm>
          <a:prstGeom prst="rect">
            <a:avLst/>
          </a:prstGeom>
          <a:solidFill>
            <a:srgbClr val="1C479B"/>
          </a:solidFill>
          <a:ln>
            <a:solidFill>
              <a:srgbClr val="1C4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为便于记忆，将隐层用</a:t>
            </a:r>
            <a:r>
              <a:rPr lang="en-US" altLang="zh-CN" sz="1600" dirty="0"/>
              <a:t>H</a:t>
            </a:r>
            <a:r>
              <a:rPr lang="zh-CN" altLang="en-US" sz="1600" dirty="0"/>
              <a:t>表示，输出层用</a:t>
            </a:r>
            <a:r>
              <a:rPr lang="en-US" altLang="zh-CN" sz="1600" dirty="0"/>
              <a:t>Y</a:t>
            </a:r>
            <a:r>
              <a:rPr lang="zh-CN" altLang="en-US" sz="1600" dirty="0"/>
              <a:t>表示</a:t>
            </a:r>
          </a:p>
        </p:txBody>
      </p:sp>
      <p:cxnSp>
        <p:nvCxnSpPr>
          <p:cNvPr id="45" name="直接连接符 44">
            <a:extLst>
              <a:ext uri="{FF2B5EF4-FFF2-40B4-BE49-F238E27FC236}">
                <a16:creationId xmlns:a16="http://schemas.microsoft.com/office/drawing/2014/main" id="{70417C84-FB26-44C3-B4A6-61917FB8D588}"/>
              </a:ext>
            </a:extLst>
          </p:cNvPr>
          <p:cNvCxnSpPr>
            <a:stCxn id="42" idx="3"/>
          </p:cNvCxnSpPr>
          <p:nvPr/>
        </p:nvCxnSpPr>
        <p:spPr>
          <a:xfrm flipV="1">
            <a:off x="4231917" y="2754086"/>
            <a:ext cx="2479621" cy="443866"/>
          </a:xfrm>
          <a:prstGeom prst="line">
            <a:avLst/>
          </a:prstGeom>
          <a:noFill/>
          <a:ln w="15875" cap="flat" cmpd="sng">
            <a:solidFill>
              <a:srgbClr val="1C479B"/>
            </a:solidFill>
            <a:prstDash val="solid"/>
            <a:round/>
            <a:headEnd/>
            <a:tailEnd/>
          </a:ln>
          <a:effectLst/>
        </p:spPr>
      </p:cxnSp>
      <p:cxnSp>
        <p:nvCxnSpPr>
          <p:cNvPr id="46" name="直接连接符 45">
            <a:extLst>
              <a:ext uri="{FF2B5EF4-FFF2-40B4-BE49-F238E27FC236}">
                <a16:creationId xmlns:a16="http://schemas.microsoft.com/office/drawing/2014/main" id="{4C52AB5A-8193-4DAF-8C90-D2049C402629}"/>
              </a:ext>
            </a:extLst>
          </p:cNvPr>
          <p:cNvCxnSpPr>
            <a:cxnSpLocks/>
            <a:stCxn id="44" idx="1"/>
          </p:cNvCxnSpPr>
          <p:nvPr/>
        </p:nvCxnSpPr>
        <p:spPr>
          <a:xfrm flipH="1">
            <a:off x="5619928" y="2836117"/>
            <a:ext cx="1091610" cy="666226"/>
          </a:xfrm>
          <a:prstGeom prst="line">
            <a:avLst/>
          </a:prstGeom>
          <a:noFill/>
          <a:ln w="15875" cap="flat" cmpd="sng">
            <a:solidFill>
              <a:srgbClr val="1C479B"/>
            </a:solidFill>
            <a:prstDash val="solid"/>
            <a:round/>
            <a:headEnd/>
            <a:tailEnd/>
          </a:ln>
          <a:effectLst/>
        </p:spPr>
      </p:cxnSp>
      <p:sp>
        <p:nvSpPr>
          <p:cNvPr id="49" name="灯片编号占位符 8">
            <a:extLst>
              <a:ext uri="{FF2B5EF4-FFF2-40B4-BE49-F238E27FC236}">
                <a16:creationId xmlns:a16="http://schemas.microsoft.com/office/drawing/2014/main" id="{92950208-9A8F-411E-821E-08CCA595A9DE}"/>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34</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87857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正向计算</a:t>
            </a:r>
            <a:endParaRPr lang="en-US" altLang="zh-CN" sz="2600" b="1" dirty="0"/>
          </a:p>
        </p:txBody>
      </p:sp>
      <mc:AlternateContent xmlns:mc="http://schemas.openxmlformats.org/markup-compatibility/2006" xmlns:a14="http://schemas.microsoft.com/office/drawing/2010/main">
        <mc:Choice Requires="a14">
          <p:sp>
            <p:nvSpPr>
              <p:cNvPr id="8" name="矩形 7"/>
              <p:cNvSpPr/>
              <p:nvPr/>
            </p:nvSpPr>
            <p:spPr>
              <a:xfrm>
                <a:off x="4755869" y="1107547"/>
                <a:ext cx="764569" cy="380873"/>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1200" i="1" kern="0" smtClean="0">
                              <a:latin typeface="Cambria Math" panose="02040503050406030204" pitchFamily="18" charset="0"/>
                              <a:ea typeface="微软雅黑" panose="020B0503020204020204" pitchFamily="34" charset="-122"/>
                            </a:rPr>
                          </m:ctrlPr>
                        </m:sSupPr>
                        <m:e>
                          <m:r>
                            <a:rPr lang="en-US" altLang="zh-CN" sz="1200" b="0" i="1" kern="0" smtClean="0">
                              <a:latin typeface="Cambria Math" panose="02040503050406030204" pitchFamily="18" charset="0"/>
                              <a:ea typeface="微软雅黑" panose="020B0503020204020204" pitchFamily="34" charset="-122"/>
                            </a:rPr>
                            <m:t>(</m:t>
                          </m:r>
                          <m:r>
                            <a:rPr lang="en-US" altLang="zh-CN" sz="1200" b="0" i="1" kern="0" smtClean="0">
                              <a:latin typeface="Cambria Math" panose="02040503050406030204" pitchFamily="18" charset="0"/>
                              <a:ea typeface="微软雅黑" panose="020B0503020204020204" pitchFamily="34" charset="-122"/>
                            </a:rPr>
                            <m:t>𝑤</m:t>
                          </m:r>
                        </m:e>
                        <m:sup>
                          <m:r>
                            <a:rPr lang="en-US" altLang="zh-CN" sz="1200" b="0" i="1" kern="0" smtClean="0">
                              <a:latin typeface="Cambria Math" panose="02040503050406030204" pitchFamily="18" charset="0"/>
                              <a:ea typeface="微软雅黑" panose="020B0503020204020204" pitchFamily="34" charset="-122"/>
                            </a:rPr>
                            <m:t>(1)</m:t>
                          </m:r>
                        </m:sup>
                      </m:sSup>
                      <m:r>
                        <a:rPr lang="en-US" altLang="zh-CN" sz="1200" b="0" i="1" kern="0" smtClean="0">
                          <a:latin typeface="Cambria Math" panose="02040503050406030204" pitchFamily="18" charset="0"/>
                          <a:ea typeface="微软雅黑" panose="020B0503020204020204" pitchFamily="34" charset="-122"/>
                        </a:rPr>
                        <m:t>,</m:t>
                      </m:r>
                      <m:sSub>
                        <m:sSubPr>
                          <m:ctrlPr>
                            <a:rPr lang="en-US" altLang="zh-CN" sz="1200" b="0" i="1" kern="0" smtClean="0">
                              <a:latin typeface="Cambria Math" panose="02040503050406030204" pitchFamily="18" charset="0"/>
                              <a:ea typeface="微软雅黑" panose="020B0503020204020204" pitchFamily="34" charset="-122"/>
                            </a:rPr>
                          </m:ctrlPr>
                        </m:sSubPr>
                        <m:e>
                          <m:r>
                            <a:rPr lang="en-US" altLang="zh-CN" sz="1200" b="0" i="1" kern="0" smtClean="0">
                              <a:latin typeface="Cambria Math" panose="02040503050406030204" pitchFamily="18" charset="0"/>
                              <a:ea typeface="微软雅黑" panose="020B0503020204020204" pitchFamily="34" charset="-122"/>
                            </a:rPr>
                            <m:t>𝑏</m:t>
                          </m:r>
                        </m:e>
                        <m:sub>
                          <m:r>
                            <a:rPr lang="en-US" altLang="zh-CN" sz="1200" b="0" i="1" kern="0" smtClean="0">
                              <a:latin typeface="Cambria Math" panose="02040503050406030204" pitchFamily="18" charset="0"/>
                              <a:ea typeface="微软雅黑" panose="020B0503020204020204" pitchFamily="34" charset="-122"/>
                            </a:rPr>
                            <m:t>1</m:t>
                          </m:r>
                        </m:sub>
                      </m:sSub>
                      <m:r>
                        <a:rPr lang="en-US" altLang="zh-CN" sz="1200" b="0" i="1" kern="0" smtClean="0">
                          <a:latin typeface="Cambria Math" panose="02040503050406030204" pitchFamily="18" charset="0"/>
                          <a:ea typeface="微软雅黑" panose="020B0503020204020204" pitchFamily="34" charset="-122"/>
                        </a:rPr>
                        <m:t>)</m:t>
                      </m:r>
                    </m:oMath>
                  </m:oMathPara>
                </a14:m>
                <a:endPar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4755869" y="1107547"/>
                <a:ext cx="764569" cy="380873"/>
              </a:xfrm>
              <a:prstGeom prst="rect">
                <a:avLst/>
              </a:prstGeom>
              <a:blipFill rotWithShape="0">
                <a:blip r:embed="rId5"/>
                <a:stretch>
                  <a:fillRect r="-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6212054" y="1102293"/>
                <a:ext cx="1009105" cy="345864"/>
              </a:xfrm>
              <a:prstGeom prst="rect">
                <a:avLst/>
              </a:prstGeom>
            </p:spPr>
            <p:txBody>
              <a:bodyPr wrap="square">
                <a:spAutoFit/>
              </a:bodyPr>
              <a:lstStyle/>
              <a:p>
                <a:pPr algn="just">
                  <a:lnSpc>
                    <a:spcPct val="150000"/>
                  </a:lnSpc>
                </a:pPr>
                <a:r>
                  <a:rPr lang="en-US" altLang="zh-CN" sz="1200" kern="0" dirty="0">
                    <a:ea typeface="微软雅黑 Light" panose="020B0502040204020203" pitchFamily="34" charset="-122"/>
                  </a:rPr>
                  <a:t>(</a:t>
                </a:r>
                <a14:m>
                  <m:oMath xmlns:m="http://schemas.openxmlformats.org/officeDocument/2006/math">
                    <m:sSup>
                      <m:sSupPr>
                        <m:ctrlPr>
                          <a:rPr lang="en-US" altLang="zh-CN" sz="1200" i="1" kern="0" smtClean="0">
                            <a:latin typeface="Cambria Math" panose="02040503050406030204" pitchFamily="18" charset="0"/>
                            <a:ea typeface="微软雅黑" panose="020B0503020204020204" pitchFamily="34" charset="-122"/>
                          </a:rPr>
                        </m:ctrlPr>
                      </m:sSupPr>
                      <m:e>
                        <m:r>
                          <a:rPr lang="en-US" altLang="zh-CN" sz="1200" b="0" i="1" kern="0" smtClean="0">
                            <a:latin typeface="Cambria Math" panose="02040503050406030204" pitchFamily="18" charset="0"/>
                            <a:ea typeface="微软雅黑" panose="020B0503020204020204" pitchFamily="34" charset="-122"/>
                          </a:rPr>
                          <m:t>𝑤</m:t>
                        </m:r>
                      </m:e>
                      <m:sup>
                        <m:r>
                          <a:rPr lang="en-US" altLang="zh-CN" sz="1200" b="0" i="1" kern="0" smtClean="0">
                            <a:latin typeface="Cambria Math" panose="02040503050406030204" pitchFamily="18" charset="0"/>
                            <a:ea typeface="微软雅黑" panose="020B0503020204020204" pitchFamily="34" charset="-122"/>
                          </a:rPr>
                          <m:t>(2)</m:t>
                        </m:r>
                      </m:sup>
                    </m:sSup>
                    <m:r>
                      <a:rPr lang="en-US" altLang="zh-CN" sz="1200" b="0" i="1" kern="0" smtClean="0">
                        <a:latin typeface="Cambria Math" panose="02040503050406030204" pitchFamily="18" charset="0"/>
                        <a:ea typeface="微软雅黑" panose="020B0503020204020204" pitchFamily="34" charset="-122"/>
                      </a:rPr>
                      <m:t>,</m:t>
                    </m:r>
                    <m:sSub>
                      <m:sSubPr>
                        <m:ctrlPr>
                          <a:rPr lang="en-US" altLang="zh-CN" sz="1200" i="1" kern="0">
                            <a:latin typeface="Cambria Math" panose="02040503050406030204" pitchFamily="18" charset="0"/>
                            <a:ea typeface="微软雅黑" panose="020B0503020204020204" pitchFamily="34" charset="-122"/>
                          </a:rPr>
                        </m:ctrlPr>
                      </m:sSubPr>
                      <m:e>
                        <m:r>
                          <a:rPr lang="en-US" altLang="zh-CN" sz="1200" i="1" kern="0">
                            <a:latin typeface="Cambria Math" panose="02040503050406030204" pitchFamily="18" charset="0"/>
                            <a:ea typeface="微软雅黑" panose="020B0503020204020204" pitchFamily="34" charset="-122"/>
                          </a:rPr>
                          <m:t>𝑏</m:t>
                        </m:r>
                      </m:e>
                      <m:sub>
                        <m:r>
                          <a:rPr lang="en-US" altLang="zh-CN" sz="1200" b="0" i="1" kern="0" smtClean="0">
                            <a:latin typeface="Cambria Math" panose="02040503050406030204" pitchFamily="18" charset="0"/>
                            <a:ea typeface="微软雅黑" panose="020B0503020204020204" pitchFamily="34" charset="-122"/>
                          </a:rPr>
                          <m:t>2</m:t>
                        </m:r>
                      </m:sub>
                    </m:sSub>
                    <m:r>
                      <a:rPr lang="en-US" altLang="zh-CN" sz="1200" b="0" i="1" kern="0" smtClean="0">
                        <a:latin typeface="Cambria Math" panose="02040503050406030204" pitchFamily="18" charset="0"/>
                        <a:ea typeface="微软雅黑" panose="020B0503020204020204" pitchFamily="34" charset="-122"/>
                      </a:rPr>
                      <m:t>)</m:t>
                    </m:r>
                  </m:oMath>
                </a14:m>
                <a:endPar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6212054" y="1102293"/>
                <a:ext cx="1009105" cy="345864"/>
              </a:xfrm>
              <a:prstGeom prst="rect">
                <a:avLst/>
              </a:prstGeom>
              <a:blipFill rotWithShape="0">
                <a:blip r:embed="rId6"/>
                <a:stretch>
                  <a:fillRect b="-140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707157" y="1107625"/>
                <a:ext cx="839775" cy="369332"/>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1200" i="1" kern="0" smtClean="0">
                          <a:latin typeface="Cambria Math" panose="02040503050406030204" pitchFamily="18" charset="0"/>
                          <a:ea typeface="微软雅黑" panose="020B0503020204020204" pitchFamily="34" charset="-122"/>
                        </a:rPr>
                        <m:t>𝑋</m:t>
                      </m:r>
                    </m:oMath>
                  </m:oMathPara>
                </a14:m>
                <a:endPar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3707157" y="1107625"/>
                <a:ext cx="839775" cy="369332"/>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604103" y="1113910"/>
                <a:ext cx="559885" cy="369332"/>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1200" i="1" kern="0" smtClean="0">
                          <a:solidFill>
                            <a:srgbClr val="C00000"/>
                          </a:solidFill>
                          <a:latin typeface="Cambria Math" panose="02040503050406030204" pitchFamily="18" charset="0"/>
                          <a:ea typeface="微软雅黑" panose="020B0503020204020204" pitchFamily="34" charset="-122"/>
                        </a:rPr>
                        <m:t>𝐻</m:t>
                      </m:r>
                    </m:oMath>
                  </m:oMathPara>
                </a14:m>
                <a:endParaRPr lang="en-US" altLang="zh-CN" sz="1200" kern="0" dirty="0">
                  <a:solidFill>
                    <a:srgbClr val="C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 name="矩形 10"/>
              <p:cNvSpPr>
                <a:spLocks noRot="1" noChangeAspect="1" noMove="1" noResize="1" noEditPoints="1" noAdjustHandles="1" noChangeArrowheads="1" noChangeShapeType="1" noTextEdit="1"/>
              </p:cNvSpPr>
              <p:nvPr/>
            </p:nvSpPr>
            <p:spPr>
              <a:xfrm>
                <a:off x="5604103" y="1113910"/>
                <a:ext cx="559885" cy="369332"/>
              </a:xfrm>
              <a:prstGeom prst="rect">
                <a:avLst/>
              </a:prstGeom>
              <a:blipFill rotWithShape="0">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6834480" y="1102293"/>
                <a:ext cx="702159" cy="369332"/>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1200" b="0" i="1" kern="0" smtClean="0">
                          <a:latin typeface="Cambria Math" panose="02040503050406030204" pitchFamily="18" charset="0"/>
                          <a:ea typeface="微软雅黑" panose="020B0503020204020204" pitchFamily="34" charset="-122"/>
                          <a:cs typeface="宋体" panose="02010600030101010101" pitchFamily="2" charset="-122"/>
                        </a:rPr>
                        <m:t>𝑌</m:t>
                      </m:r>
                    </m:oMath>
                  </m:oMathPara>
                </a14:m>
                <a:endParaRPr lang="en-US" altLang="zh-CN" sz="12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6834480" y="1102293"/>
                <a:ext cx="702159" cy="369332"/>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393839" y="5129820"/>
                <a:ext cx="3384376" cy="12786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(1)</m:t>
                          </m:r>
                        </m:sup>
                      </m:sSup>
                      <m:r>
                        <a:rPr lang="en-US" altLang="zh-CN" b="0" i="1" kern="0" smtClean="0">
                          <a:latin typeface="Cambria Math" panose="02040503050406030204" pitchFamily="18" charset="0"/>
                          <a:ea typeface="微软雅黑" panose="020B0503020204020204" pitchFamily="34" charset="-122"/>
                        </a:rPr>
                        <m:t>=</m:t>
                      </m:r>
                      <m:d>
                        <m:dPr>
                          <m:begChr m:val="["/>
                          <m:endChr m:val="]"/>
                          <m:ctrlPr>
                            <a:rPr lang="en-US" altLang="zh-CN" b="0" i="1" kern="0" smtClea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1</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1</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3</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b="0" i="1" kern="0" smtClean="0">
                                        <a:latin typeface="Cambria Math" panose="02040503050406030204" pitchFamily="18" charset="0"/>
                                        <a:ea typeface="微软雅黑" panose="020B0503020204020204" pitchFamily="34" charset="-122"/>
                                      </a:rPr>
                                      <m:t>3</m:t>
                                    </m:r>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3,3</m:t>
                                    </m:r>
                                  </m:sub>
                                  <m:sup>
                                    <m:r>
                                      <a:rPr lang="en-US" altLang="zh-CN" i="1" kern="0">
                                        <a:latin typeface="Cambria Math" panose="02040503050406030204" pitchFamily="18" charset="0"/>
                                        <a:ea typeface="微软雅黑" panose="020B0503020204020204" pitchFamily="34" charset="-122"/>
                                      </a:rPr>
                                      <m:t>(1)</m:t>
                                    </m:r>
                                  </m:sup>
                                </m:sSubSup>
                              </m:e>
                            </m:mr>
                          </m:m>
                        </m:e>
                      </m:d>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2393839" y="5129820"/>
                <a:ext cx="3384376" cy="1278620"/>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6519038" y="5171897"/>
                <a:ext cx="3384376" cy="126803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sup>
                      </m:sSup>
                      <m:r>
                        <a:rPr lang="en-US" altLang="zh-CN" b="0" i="1" kern="0" smtClea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d>
                                      <m:dPr>
                                        <m:ctrlPr>
                                          <a:rPr lang="en-US" altLang="zh-CN" i="1" kern="0">
                                            <a:latin typeface="Cambria Math" panose="02040503050406030204" pitchFamily="18" charset="0"/>
                                            <a:ea typeface="微软雅黑" panose="020B0503020204020204" pitchFamily="34" charset="-122"/>
                                          </a:rPr>
                                        </m:ctrlPr>
                                      </m:dPr>
                                      <m:e>
                                        <m:r>
                                          <a:rPr lang="en-US" altLang="zh-CN" b="0" i="1" kern="0" smtClea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d>
                                      <m:dPr>
                                        <m:ctrlPr>
                                          <a:rPr lang="en-US" altLang="zh-CN" i="1" kern="0">
                                            <a:latin typeface="Cambria Math" panose="02040503050406030204" pitchFamily="18" charset="0"/>
                                            <a:ea typeface="微软雅黑" panose="020B0503020204020204" pitchFamily="34" charset="-122"/>
                                          </a:rPr>
                                        </m:ctrlPr>
                                      </m:dPr>
                                      <m:e>
                                        <m:r>
                                          <a:rPr lang="en-US" altLang="zh-CN" b="0" i="1" kern="0" smtClean="0">
                                            <a:latin typeface="Cambria Math" panose="02040503050406030204" pitchFamily="18" charset="0"/>
                                            <a:ea typeface="微软雅黑" panose="020B0503020204020204" pitchFamily="34" charset="-122"/>
                                          </a:rPr>
                                          <m:t>2</m:t>
                                        </m:r>
                                      </m:e>
                                    </m:d>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d>
                                      <m:dPr>
                                        <m:ctrlPr>
                                          <a:rPr lang="en-US" altLang="zh-CN" i="1" kern="0">
                                            <a:latin typeface="Cambria Math" panose="02040503050406030204" pitchFamily="18" charset="0"/>
                                            <a:ea typeface="微软雅黑" panose="020B0503020204020204" pitchFamily="34" charset="-122"/>
                                          </a:rPr>
                                        </m:ctrlPr>
                                      </m:dPr>
                                      <m:e>
                                        <m:r>
                                          <a:rPr lang="en-US" altLang="zh-CN" b="0" i="1" kern="0" smtClea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d>
                                      <m:dPr>
                                        <m:ctrlPr>
                                          <a:rPr lang="en-US" altLang="zh-CN" i="1" kern="0">
                                            <a:latin typeface="Cambria Math" panose="02040503050406030204" pitchFamily="18" charset="0"/>
                                            <a:ea typeface="微软雅黑" panose="020B0503020204020204" pitchFamily="34" charset="-122"/>
                                          </a:rPr>
                                        </m:ctrlPr>
                                      </m:dPr>
                                      <m:e>
                                        <m:r>
                                          <a:rPr lang="en-US" altLang="zh-CN" b="0" i="1" kern="0" smtClean="0">
                                            <a:latin typeface="Cambria Math" panose="02040503050406030204" pitchFamily="18" charset="0"/>
                                            <a:ea typeface="微软雅黑" panose="020B0503020204020204" pitchFamily="34" charset="-122"/>
                                          </a:rPr>
                                          <m:t>2</m:t>
                                        </m:r>
                                      </m:e>
                                    </m:d>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d>
                                      <m:dPr>
                                        <m:ctrlPr>
                                          <a:rPr lang="en-US" altLang="zh-CN" i="1" kern="0">
                                            <a:latin typeface="Cambria Math" panose="02040503050406030204" pitchFamily="18" charset="0"/>
                                            <a:ea typeface="微软雅黑" panose="020B0503020204020204" pitchFamily="34" charset="-122"/>
                                          </a:rPr>
                                        </m:ctrlPr>
                                      </m:dPr>
                                      <m:e>
                                        <m:r>
                                          <a:rPr lang="en-US" altLang="zh-CN" b="0" i="1" kern="0" smtClea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d>
                                      <m:dPr>
                                        <m:ctrlPr>
                                          <a:rPr lang="en-US" altLang="zh-CN" i="1" kern="0">
                                            <a:latin typeface="Cambria Math" panose="02040503050406030204" pitchFamily="18" charset="0"/>
                                            <a:ea typeface="微软雅黑" panose="020B0503020204020204" pitchFamily="34" charset="-122"/>
                                          </a:rPr>
                                        </m:ctrlPr>
                                      </m:dPr>
                                      <m:e>
                                        <m:r>
                                          <a:rPr lang="en-US" altLang="zh-CN" b="0" i="1" kern="0" smtClean="0">
                                            <a:latin typeface="Cambria Math" panose="02040503050406030204" pitchFamily="18" charset="0"/>
                                            <a:ea typeface="微软雅黑" panose="020B0503020204020204" pitchFamily="34" charset="-122"/>
                                          </a:rPr>
                                          <m:t>2</m:t>
                                        </m:r>
                                      </m:e>
                                    </m:d>
                                  </m:sup>
                                </m:sSubSup>
                              </m:e>
                            </m:mr>
                          </m:m>
                        </m:e>
                      </m:d>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6519038" y="5171897"/>
                <a:ext cx="3384376" cy="1268039"/>
              </a:xfrm>
              <a:prstGeom prst="rect">
                <a:avLst/>
              </a:prstGeom>
              <a:blipFill rotWithShape="0">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730135" y="4659197"/>
                <a:ext cx="21822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kern="0" smtClean="0">
                          <a:latin typeface="Cambria Math" panose="02040503050406030204" pitchFamily="18" charset="0"/>
                          <a:ea typeface="微软雅黑" panose="020B0503020204020204" pitchFamily="34" charset="-122"/>
                        </a:rPr>
                        <m:t>𝒙</m:t>
                      </m:r>
                      <m:r>
                        <a:rPr lang="en-US" altLang="zh-CN" b="0" i="1" kern="0" smtClean="0">
                          <a:latin typeface="Cambria Math" panose="02040503050406030204" pitchFamily="18" charset="0"/>
                          <a:ea typeface="微软雅黑" panose="020B0503020204020204" pitchFamily="34" charset="-122"/>
                        </a:rPr>
                        <m:t>=</m:t>
                      </m:r>
                      <m:d>
                        <m:dPr>
                          <m:begChr m:val="["/>
                          <m:endChr m:val="]"/>
                          <m:ctrlPr>
                            <a:rPr lang="en-US" altLang="zh-CN" b="0" i="1" kern="0" smtClea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b="0" i="1" kern="0" smtClean="0">
                                  <a:latin typeface="Cambria Math" panose="02040503050406030204" pitchFamily="18" charset="0"/>
                                  <a:ea typeface="微软雅黑" panose="020B0503020204020204" pitchFamily="34" charset="-122"/>
                                </a:rPr>
                              </m:ctrlPr>
                            </m:mP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e>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e>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e>
                            </m:mr>
                          </m:m>
                        </m:e>
                      </m:d>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2730135" y="4659197"/>
                <a:ext cx="2182264" cy="369332"/>
              </a:xfrm>
              <a:prstGeom prst="rect">
                <a:avLst/>
              </a:prstGeom>
              <a:blipFill rotWithShape="0">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6711318" y="4616073"/>
                <a:ext cx="21425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kern="0" smtClean="0">
                          <a:latin typeface="Cambria Math" panose="02040503050406030204" pitchFamily="18" charset="0"/>
                          <a:ea typeface="微软雅黑" panose="020B0503020204020204" pitchFamily="34" charset="-122"/>
                        </a:rPr>
                        <m:t>𝒉</m:t>
                      </m:r>
                      <m:r>
                        <a:rPr lang="en-US" altLang="zh-CN" b="0" i="1" kern="0" smtClean="0">
                          <a:latin typeface="Cambria Math" panose="02040503050406030204" pitchFamily="18" charset="0"/>
                          <a:ea typeface="微软雅黑" panose="020B0503020204020204" pitchFamily="34" charset="-122"/>
                        </a:rPr>
                        <m:t>=</m:t>
                      </m:r>
                      <m:d>
                        <m:dPr>
                          <m:begChr m:val="["/>
                          <m:endChr m:val="]"/>
                          <m:ctrlPr>
                            <a:rPr lang="en-US" altLang="zh-CN" b="0" i="1" kern="0" smtClea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b="0" i="1" kern="0" smtClean="0">
                                  <a:latin typeface="Cambria Math" panose="02040503050406030204" pitchFamily="18" charset="0"/>
                                  <a:ea typeface="微软雅黑" panose="020B0503020204020204" pitchFamily="34" charset="-122"/>
                                </a:rPr>
                              </m:ctrlPr>
                            </m:mP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h</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e>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e>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3</m:t>
                                    </m:r>
                                  </m:sub>
                                </m:sSub>
                              </m:e>
                            </m:mr>
                          </m:m>
                        </m:e>
                      </m:d>
                    </m:oMath>
                  </m:oMathPara>
                </a14:m>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6711318" y="4616073"/>
                <a:ext cx="2142510" cy="369332"/>
              </a:xfrm>
              <a:prstGeom prst="rect">
                <a:avLst/>
              </a:prstGeom>
              <a:blipFill rotWithShape="0">
                <a:blip r:embed="rId13"/>
                <a:stretch>
                  <a:fillRect/>
                </a:stretch>
              </a:blipFill>
            </p:spPr>
            <p:txBody>
              <a:bodyPr/>
              <a:lstStyle/>
              <a:p>
                <a:r>
                  <a:rPr lang="zh-CN" altLang="en-US">
                    <a:noFill/>
                  </a:rPr>
                  <a:t> </a:t>
                </a:r>
              </a:p>
            </p:txBody>
          </p:sp>
        </mc:Fallback>
      </mc:AlternateContent>
      <p:sp>
        <p:nvSpPr>
          <p:cNvPr id="19" name="文本框 18"/>
          <p:cNvSpPr txBox="1"/>
          <p:nvPr/>
        </p:nvSpPr>
        <p:spPr>
          <a:xfrm>
            <a:off x="2113395" y="5616490"/>
            <a:ext cx="604497" cy="338554"/>
          </a:xfrm>
          <a:prstGeom prst="rect">
            <a:avLst/>
          </a:prstGeom>
          <a:noFill/>
        </p:spPr>
        <p:txBody>
          <a:bodyPr wrap="square" rtlCol="0">
            <a:spAutoFit/>
          </a:bodyPr>
          <a:lstStyle/>
          <a:p>
            <a:r>
              <a:rPr lang="zh-CN" altLang="en-US" sz="1600" dirty="0">
                <a:latin typeface="微软雅黑 Light" panose="020B0502040204020203" pitchFamily="34" charset="-122"/>
                <a:ea typeface="微软雅黑 Light" panose="020B0502040204020203" pitchFamily="34" charset="-122"/>
              </a:rPr>
              <a:t>权重</a:t>
            </a:r>
          </a:p>
        </p:txBody>
      </p:sp>
      <p:sp>
        <p:nvSpPr>
          <p:cNvPr id="20" name="文本框 19"/>
          <p:cNvSpPr txBox="1"/>
          <p:nvPr/>
        </p:nvSpPr>
        <p:spPr>
          <a:xfrm>
            <a:off x="2125638" y="4679357"/>
            <a:ext cx="604497" cy="338554"/>
          </a:xfrm>
          <a:prstGeom prst="rect">
            <a:avLst/>
          </a:prstGeom>
          <a:noFill/>
        </p:spPr>
        <p:txBody>
          <a:bodyPr wrap="square" rtlCol="0">
            <a:spAutoFit/>
          </a:bodyPr>
          <a:lstStyle/>
          <a:p>
            <a:r>
              <a:rPr lang="zh-CN" altLang="en-US" sz="1600" dirty="0">
                <a:latin typeface="微软雅黑 Light" panose="020B0502040204020203" pitchFamily="34" charset="-122"/>
                <a:ea typeface="微软雅黑 Light" panose="020B0502040204020203" pitchFamily="34" charset="-122"/>
              </a:rPr>
              <a:t>输入</a:t>
            </a:r>
          </a:p>
        </p:txBody>
      </p:sp>
      <p:sp>
        <p:nvSpPr>
          <p:cNvPr id="21" name="文本框 20"/>
          <p:cNvSpPr txBox="1"/>
          <p:nvPr/>
        </p:nvSpPr>
        <p:spPr>
          <a:xfrm>
            <a:off x="6159298" y="4656066"/>
            <a:ext cx="604497" cy="338554"/>
          </a:xfrm>
          <a:prstGeom prst="rect">
            <a:avLst/>
          </a:prstGeom>
          <a:noFill/>
        </p:spPr>
        <p:txBody>
          <a:bodyPr wrap="square" rtlCol="0">
            <a:spAutoFit/>
          </a:bodyPr>
          <a:lstStyle/>
          <a:p>
            <a:r>
              <a:rPr lang="zh-CN" altLang="en-US" sz="1600" dirty="0">
                <a:latin typeface="微软雅黑 Light" panose="020B0502040204020203" pitchFamily="34" charset="-122"/>
                <a:ea typeface="微软雅黑 Light" panose="020B0502040204020203" pitchFamily="34" charset="-122"/>
              </a:rPr>
              <a:t>输入</a:t>
            </a:r>
          </a:p>
        </p:txBody>
      </p:sp>
      <p:sp>
        <p:nvSpPr>
          <p:cNvPr id="22" name="文本框 21"/>
          <p:cNvSpPr txBox="1"/>
          <p:nvPr/>
        </p:nvSpPr>
        <p:spPr>
          <a:xfrm>
            <a:off x="6320733" y="5626095"/>
            <a:ext cx="604497" cy="338554"/>
          </a:xfrm>
          <a:prstGeom prst="rect">
            <a:avLst/>
          </a:prstGeom>
          <a:noFill/>
        </p:spPr>
        <p:txBody>
          <a:bodyPr wrap="square" rtlCol="0">
            <a:spAutoFit/>
          </a:bodyPr>
          <a:lstStyle/>
          <a:p>
            <a:r>
              <a:rPr lang="zh-CN" altLang="en-US" sz="1600" dirty="0">
                <a:latin typeface="微软雅黑 Light" panose="020B0502040204020203" pitchFamily="34" charset="-122"/>
                <a:ea typeface="微软雅黑 Light" panose="020B0502040204020203" pitchFamily="34" charset="-122"/>
              </a:rPr>
              <a:t>权重</a:t>
            </a:r>
          </a:p>
        </p:txBody>
      </p:sp>
      <p:grpSp>
        <p:nvGrpSpPr>
          <p:cNvPr id="23" name="组合 22"/>
          <p:cNvGrpSpPr/>
          <p:nvPr/>
        </p:nvGrpSpPr>
        <p:grpSpPr>
          <a:xfrm>
            <a:off x="3910149" y="1592037"/>
            <a:ext cx="3939093" cy="2713030"/>
            <a:chOff x="886560" y="2694608"/>
            <a:chExt cx="3939093" cy="2713030"/>
          </a:xfrm>
        </p:grpSpPr>
        <mc:AlternateContent xmlns:mc="http://schemas.openxmlformats.org/markup-compatibility/2006" xmlns:a14="http://schemas.microsoft.com/office/drawing/2010/main">
          <mc:Choice Requires="a14">
            <p:sp>
              <p:nvSpPr>
                <p:cNvPr id="24" name="椭圆 23"/>
                <p:cNvSpPr/>
                <p:nvPr/>
              </p:nvSpPr>
              <p:spPr>
                <a:xfrm>
                  <a:off x="886560" y="2769151"/>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10" name="椭圆 9"/>
                <p:cNvSpPr>
                  <a:spLocks noRot="1" noChangeAspect="1" noMove="1" noResize="1" noEditPoints="1" noAdjustHandles="1" noChangeArrowheads="1" noChangeShapeType="1" noTextEdit="1"/>
                </p:cNvSpPr>
                <p:nvPr/>
              </p:nvSpPr>
              <p:spPr>
                <a:xfrm>
                  <a:off x="886560" y="2769151"/>
                  <a:ext cx="576064" cy="576064"/>
                </a:xfrm>
                <a:prstGeom prst="ellipse">
                  <a:avLst/>
                </a:prstGeom>
                <a:blipFill rotWithShape="0">
                  <a:blip r:embed="rId14"/>
                  <a:stretch>
                    <a:fillRect/>
                  </a:stretch>
                </a:blipFill>
                <a:ln>
                  <a:solidFill>
                    <a:srgbClr val="1E3C85"/>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椭圆 24"/>
                <p:cNvSpPr/>
                <p:nvPr/>
              </p:nvSpPr>
              <p:spPr>
                <a:xfrm>
                  <a:off x="2498632" y="2776920"/>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12" name="椭圆 11"/>
                <p:cNvSpPr>
                  <a:spLocks noRot="1" noChangeAspect="1" noMove="1" noResize="1" noEditPoints="1" noAdjustHandles="1" noChangeArrowheads="1" noChangeShapeType="1" noTextEdit="1"/>
                </p:cNvSpPr>
                <p:nvPr/>
              </p:nvSpPr>
              <p:spPr>
                <a:xfrm>
                  <a:off x="2498632" y="2776920"/>
                  <a:ext cx="576064" cy="576064"/>
                </a:xfrm>
                <a:prstGeom prst="ellipse">
                  <a:avLst/>
                </a:prstGeom>
                <a:blipFill>
                  <a:blip r:embed="rId15"/>
                  <a:stretch>
                    <a:fillRect/>
                  </a:stretch>
                </a:blipFill>
                <a:ln>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椭圆 25"/>
                <p:cNvSpPr/>
                <p:nvPr/>
              </p:nvSpPr>
              <p:spPr>
                <a:xfrm rot="21394478">
                  <a:off x="910014" y="3789445"/>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13" name="椭圆 12"/>
                <p:cNvSpPr>
                  <a:spLocks noRot="1" noChangeAspect="1" noMove="1" noResize="1" noEditPoints="1" noAdjustHandles="1" noChangeArrowheads="1" noChangeShapeType="1" noTextEdit="1"/>
                </p:cNvSpPr>
                <p:nvPr/>
              </p:nvSpPr>
              <p:spPr>
                <a:xfrm rot="21394478">
                  <a:off x="910014" y="3789445"/>
                  <a:ext cx="576064" cy="576064"/>
                </a:xfrm>
                <a:prstGeom prst="ellipse">
                  <a:avLst/>
                </a:prstGeom>
                <a:blipFill rotWithShape="0">
                  <a:blip r:embed="rId16"/>
                  <a:stretch>
                    <a:fillRect/>
                  </a:stretch>
                </a:blipFill>
                <a:ln>
                  <a:solidFill>
                    <a:srgbClr val="1E3C85"/>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椭圆 26"/>
                <p:cNvSpPr/>
                <p:nvPr/>
              </p:nvSpPr>
              <p:spPr>
                <a:xfrm>
                  <a:off x="2496266" y="4805720"/>
                  <a:ext cx="576064" cy="56840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14" name="椭圆 13"/>
                <p:cNvSpPr>
                  <a:spLocks noRot="1" noChangeAspect="1" noMove="1" noResize="1" noEditPoints="1" noAdjustHandles="1" noChangeArrowheads="1" noChangeShapeType="1" noTextEdit="1"/>
                </p:cNvSpPr>
                <p:nvPr/>
              </p:nvSpPr>
              <p:spPr>
                <a:xfrm>
                  <a:off x="2496266" y="4805720"/>
                  <a:ext cx="576064" cy="568405"/>
                </a:xfrm>
                <a:prstGeom prst="ellipse">
                  <a:avLst/>
                </a:prstGeom>
                <a:blipFill>
                  <a:blip r:embed="rId17"/>
                  <a:stretch>
                    <a:fillRect/>
                  </a:stretch>
                </a:blipFill>
                <a:ln>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椭圆 27"/>
                <p:cNvSpPr/>
                <p:nvPr/>
              </p:nvSpPr>
              <p:spPr>
                <a:xfrm>
                  <a:off x="942327" y="4831574"/>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15" name="椭圆 14"/>
                <p:cNvSpPr>
                  <a:spLocks noRot="1" noChangeAspect="1" noMove="1" noResize="1" noEditPoints="1" noAdjustHandles="1" noChangeArrowheads="1" noChangeShapeType="1" noTextEdit="1"/>
                </p:cNvSpPr>
                <p:nvPr/>
              </p:nvSpPr>
              <p:spPr>
                <a:xfrm>
                  <a:off x="942327" y="4831574"/>
                  <a:ext cx="576064" cy="576064"/>
                </a:xfrm>
                <a:prstGeom prst="ellipse">
                  <a:avLst/>
                </a:prstGeom>
                <a:blipFill rotWithShape="0">
                  <a:blip r:embed="rId18"/>
                  <a:stretch>
                    <a:fillRect/>
                  </a:stretch>
                </a:blipFill>
                <a:ln>
                  <a:solidFill>
                    <a:srgbClr val="1E3C85"/>
                  </a:solidFill>
                </a:ln>
              </p:spPr>
              <p:txBody>
                <a:bodyPr/>
                <a:lstStyle/>
                <a:p>
                  <a:r>
                    <a:rPr lang="zh-CN" altLang="en-US">
                      <a:noFill/>
                    </a:rPr>
                    <a:t> </a:t>
                  </a:r>
                </a:p>
              </p:txBody>
            </p:sp>
          </mc:Fallback>
        </mc:AlternateContent>
        <p:cxnSp>
          <p:nvCxnSpPr>
            <p:cNvPr id="30" name="直接箭头连接符 29"/>
            <p:cNvCxnSpPr>
              <a:stCxn id="24" idx="6"/>
              <a:endCxn id="42" idx="2"/>
            </p:cNvCxnSpPr>
            <p:nvPr/>
          </p:nvCxnSpPr>
          <p:spPr>
            <a:xfrm>
              <a:off x="1462624" y="3057183"/>
              <a:ext cx="1060957" cy="982237"/>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1" name="直接箭头连接符 30"/>
            <p:cNvCxnSpPr>
              <a:stCxn id="24" idx="6"/>
              <a:endCxn id="27" idx="2"/>
            </p:cNvCxnSpPr>
            <p:nvPr/>
          </p:nvCxnSpPr>
          <p:spPr>
            <a:xfrm>
              <a:off x="1462624" y="3057183"/>
              <a:ext cx="1033642" cy="203274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2" name="直接箭头连接符 31"/>
            <p:cNvCxnSpPr>
              <a:stCxn id="26" idx="6"/>
              <a:endCxn id="25" idx="2"/>
            </p:cNvCxnSpPr>
            <p:nvPr/>
          </p:nvCxnSpPr>
          <p:spPr>
            <a:xfrm flipV="1">
              <a:off x="1485563" y="3064952"/>
              <a:ext cx="1013069" cy="99531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4" name="直接箭头连接符 33"/>
            <p:cNvCxnSpPr>
              <a:stCxn id="28" idx="6"/>
              <a:endCxn id="25" idx="2"/>
            </p:cNvCxnSpPr>
            <p:nvPr/>
          </p:nvCxnSpPr>
          <p:spPr>
            <a:xfrm flipV="1">
              <a:off x="1518391" y="3064952"/>
              <a:ext cx="980241" cy="205465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5" name="直接箭头连接符 34"/>
            <p:cNvCxnSpPr>
              <a:stCxn id="26" idx="6"/>
              <a:endCxn id="42" idx="2"/>
            </p:cNvCxnSpPr>
            <p:nvPr/>
          </p:nvCxnSpPr>
          <p:spPr>
            <a:xfrm flipV="1">
              <a:off x="1485563" y="4039420"/>
              <a:ext cx="1038018" cy="2084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6" name="直接箭头连接符 35"/>
            <p:cNvCxnSpPr>
              <a:stCxn id="28" idx="6"/>
              <a:endCxn id="27" idx="2"/>
            </p:cNvCxnSpPr>
            <p:nvPr/>
          </p:nvCxnSpPr>
          <p:spPr>
            <a:xfrm flipV="1">
              <a:off x="1518391" y="5089923"/>
              <a:ext cx="977875" cy="29683"/>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7" name="直接箭头连接符 36"/>
            <p:cNvCxnSpPr>
              <a:stCxn id="24" idx="6"/>
              <a:endCxn id="25" idx="2"/>
            </p:cNvCxnSpPr>
            <p:nvPr/>
          </p:nvCxnSpPr>
          <p:spPr>
            <a:xfrm>
              <a:off x="1462624" y="3057183"/>
              <a:ext cx="1036008" cy="776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8" name="直接箭头连接符 37"/>
            <p:cNvCxnSpPr>
              <a:stCxn id="25" idx="6"/>
              <a:endCxn id="39" idx="3"/>
            </p:cNvCxnSpPr>
            <p:nvPr/>
          </p:nvCxnSpPr>
          <p:spPr>
            <a:xfrm>
              <a:off x="3074696" y="3064952"/>
              <a:ext cx="756742" cy="571379"/>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39" name="椭圆 38"/>
            <p:cNvSpPr/>
            <p:nvPr/>
          </p:nvSpPr>
          <p:spPr>
            <a:xfrm rot="2739555">
              <a:off x="3831418" y="3351613"/>
              <a:ext cx="576064" cy="5760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40" name="直接箭头连接符 39"/>
            <p:cNvCxnSpPr>
              <a:stCxn id="26" idx="6"/>
              <a:endCxn id="27" idx="2"/>
            </p:cNvCxnSpPr>
            <p:nvPr/>
          </p:nvCxnSpPr>
          <p:spPr>
            <a:xfrm>
              <a:off x="1485563" y="4060268"/>
              <a:ext cx="1010703" cy="1029655"/>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1" name="直接箭头连接符 40"/>
            <p:cNvCxnSpPr>
              <a:stCxn id="28" idx="6"/>
              <a:endCxn id="42" idx="2"/>
            </p:cNvCxnSpPr>
            <p:nvPr/>
          </p:nvCxnSpPr>
          <p:spPr>
            <a:xfrm flipV="1">
              <a:off x="1518391" y="4039420"/>
              <a:ext cx="1005190" cy="1080186"/>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42" name="椭圆 41"/>
                <p:cNvSpPr/>
                <p:nvPr/>
              </p:nvSpPr>
              <p:spPr>
                <a:xfrm rot="21503492">
                  <a:off x="2523468" y="3743303"/>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35" name="椭圆 34"/>
                <p:cNvSpPr>
                  <a:spLocks noRot="1" noChangeAspect="1" noMove="1" noResize="1" noEditPoints="1" noAdjustHandles="1" noChangeArrowheads="1" noChangeShapeType="1" noTextEdit="1"/>
                </p:cNvSpPr>
                <p:nvPr/>
              </p:nvSpPr>
              <p:spPr>
                <a:xfrm rot="21503492">
                  <a:off x="2523468" y="3743303"/>
                  <a:ext cx="576064" cy="576064"/>
                </a:xfrm>
                <a:prstGeom prst="ellipse">
                  <a:avLst/>
                </a:prstGeom>
                <a:blipFill>
                  <a:blip r:embed="rId19"/>
                  <a:stretch>
                    <a:fillRect/>
                  </a:stretch>
                </a:blipFill>
                <a:ln>
                  <a:solidFill>
                    <a:srgbClr val="C00000"/>
                  </a:solidFill>
                </a:ln>
              </p:spPr>
              <p:txBody>
                <a:bodyPr/>
                <a:lstStyle/>
                <a:p>
                  <a:r>
                    <a:rPr lang="zh-CN" altLang="en-US">
                      <a:noFill/>
                    </a:rPr>
                    <a:t> </a:t>
                  </a:r>
                </a:p>
              </p:txBody>
            </p:sp>
          </mc:Fallback>
        </mc:AlternateContent>
        <p:cxnSp>
          <p:nvCxnSpPr>
            <p:cNvPr id="43" name="直接箭头连接符 42"/>
            <p:cNvCxnSpPr>
              <a:stCxn id="42" idx="6"/>
              <a:endCxn id="39" idx="3"/>
            </p:cNvCxnSpPr>
            <p:nvPr/>
          </p:nvCxnSpPr>
          <p:spPr>
            <a:xfrm flipV="1">
              <a:off x="3099419" y="3636331"/>
              <a:ext cx="732019" cy="38691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4" name="直接箭头连接符 43"/>
            <p:cNvCxnSpPr>
              <a:stCxn id="27" idx="6"/>
              <a:endCxn id="39" idx="3"/>
            </p:cNvCxnSpPr>
            <p:nvPr/>
          </p:nvCxnSpPr>
          <p:spPr>
            <a:xfrm flipV="1">
              <a:off x="3072330" y="3636331"/>
              <a:ext cx="759108" cy="145359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5" name="直接箭头连接符 44"/>
            <p:cNvCxnSpPr/>
            <p:nvPr/>
          </p:nvCxnSpPr>
          <p:spPr>
            <a:xfrm flipV="1">
              <a:off x="4420776" y="3632224"/>
              <a:ext cx="404877" cy="8849"/>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46" name="矩形 45"/>
                <p:cNvSpPr/>
                <p:nvPr/>
              </p:nvSpPr>
              <p:spPr>
                <a:xfrm>
                  <a:off x="1246600" y="2694608"/>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1,1</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78" name="矩形 77"/>
                <p:cNvSpPr>
                  <a:spLocks noRot="1" noChangeAspect="1" noMove="1" noResize="1" noEditPoints="1" noAdjustHandles="1" noChangeArrowheads="1" noChangeShapeType="1" noTextEdit="1"/>
                </p:cNvSpPr>
                <p:nvPr/>
              </p:nvSpPr>
              <p:spPr>
                <a:xfrm>
                  <a:off x="1246600" y="2694608"/>
                  <a:ext cx="792088" cy="414857"/>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p:cNvSpPr/>
                <p:nvPr/>
              </p:nvSpPr>
              <p:spPr>
                <a:xfrm>
                  <a:off x="1179226" y="3569433"/>
                  <a:ext cx="792088" cy="41511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2,1</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79" name="矩形 78"/>
                <p:cNvSpPr>
                  <a:spLocks noRot="1" noChangeAspect="1" noMove="1" noResize="1" noEditPoints="1" noAdjustHandles="1" noChangeArrowheads="1" noChangeShapeType="1" noTextEdit="1"/>
                </p:cNvSpPr>
                <p:nvPr/>
              </p:nvSpPr>
              <p:spPr>
                <a:xfrm>
                  <a:off x="1179226" y="3569433"/>
                  <a:ext cx="792088" cy="415114"/>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p:cNvSpPr/>
                <p:nvPr/>
              </p:nvSpPr>
              <p:spPr>
                <a:xfrm>
                  <a:off x="1140011" y="4561339"/>
                  <a:ext cx="792088" cy="41511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3,1</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0" name="矩形 79"/>
                <p:cNvSpPr>
                  <a:spLocks noRot="1" noChangeAspect="1" noMove="1" noResize="1" noEditPoints="1" noAdjustHandles="1" noChangeArrowheads="1" noChangeShapeType="1" noTextEdit="1"/>
                </p:cNvSpPr>
                <p:nvPr/>
              </p:nvSpPr>
              <p:spPr>
                <a:xfrm>
                  <a:off x="1140011" y="4561339"/>
                  <a:ext cx="792088" cy="415114"/>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p:cNvSpPr/>
                <p:nvPr/>
              </p:nvSpPr>
              <p:spPr>
                <a:xfrm>
                  <a:off x="1393039" y="2942731"/>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1,2</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1" name="矩形 80"/>
                <p:cNvSpPr>
                  <a:spLocks noRot="1" noChangeAspect="1" noMove="1" noResize="1" noEditPoints="1" noAdjustHandles="1" noChangeArrowheads="1" noChangeShapeType="1" noTextEdit="1"/>
                </p:cNvSpPr>
                <p:nvPr/>
              </p:nvSpPr>
              <p:spPr>
                <a:xfrm>
                  <a:off x="1393039" y="2942731"/>
                  <a:ext cx="792088" cy="414857"/>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1359167" y="3765368"/>
                  <a:ext cx="792088" cy="41511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2,2</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2" name="矩形 81"/>
                <p:cNvSpPr>
                  <a:spLocks noRot="1" noChangeAspect="1" noMove="1" noResize="1" noEditPoints="1" noAdjustHandles="1" noChangeArrowheads="1" noChangeShapeType="1" noTextEdit="1"/>
                </p:cNvSpPr>
                <p:nvPr/>
              </p:nvSpPr>
              <p:spPr>
                <a:xfrm>
                  <a:off x="1359167" y="3765368"/>
                  <a:ext cx="792088" cy="415114"/>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p:cNvSpPr/>
                <p:nvPr/>
              </p:nvSpPr>
              <p:spPr>
                <a:xfrm>
                  <a:off x="1390986" y="4704300"/>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3,2</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3" name="矩形 82"/>
                <p:cNvSpPr>
                  <a:spLocks noRot="1" noChangeAspect="1" noMove="1" noResize="1" noEditPoints="1" noAdjustHandles="1" noChangeArrowheads="1" noChangeShapeType="1" noTextEdit="1"/>
                </p:cNvSpPr>
                <p:nvPr/>
              </p:nvSpPr>
              <p:spPr>
                <a:xfrm>
                  <a:off x="1390986" y="4704300"/>
                  <a:ext cx="792088" cy="414857"/>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p:cNvSpPr/>
                <p:nvPr/>
              </p:nvSpPr>
              <p:spPr>
                <a:xfrm>
                  <a:off x="1114538" y="3167653"/>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1,3</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4" name="矩形 83"/>
                <p:cNvSpPr>
                  <a:spLocks noRot="1" noChangeAspect="1" noMove="1" noResize="1" noEditPoints="1" noAdjustHandles="1" noChangeArrowheads="1" noChangeShapeType="1" noTextEdit="1"/>
                </p:cNvSpPr>
                <p:nvPr/>
              </p:nvSpPr>
              <p:spPr>
                <a:xfrm>
                  <a:off x="1114538" y="3167653"/>
                  <a:ext cx="792088" cy="414857"/>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矩形 52"/>
                <p:cNvSpPr/>
                <p:nvPr/>
              </p:nvSpPr>
              <p:spPr>
                <a:xfrm>
                  <a:off x="1242188" y="4026119"/>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2,3</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5" name="矩形 84"/>
                <p:cNvSpPr>
                  <a:spLocks noRot="1" noChangeAspect="1" noMove="1" noResize="1" noEditPoints="1" noAdjustHandles="1" noChangeArrowheads="1" noChangeShapeType="1" noTextEdit="1"/>
                </p:cNvSpPr>
                <p:nvPr/>
              </p:nvSpPr>
              <p:spPr>
                <a:xfrm>
                  <a:off x="1242188" y="4026119"/>
                  <a:ext cx="792088" cy="414857"/>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p:cNvSpPr/>
                <p:nvPr/>
              </p:nvSpPr>
              <p:spPr>
                <a:xfrm>
                  <a:off x="1311374" y="4984617"/>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3,3</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6" name="矩形 85"/>
                <p:cNvSpPr>
                  <a:spLocks noRot="1" noChangeAspect="1" noMove="1" noResize="1" noEditPoints="1" noAdjustHandles="1" noChangeArrowheads="1" noChangeShapeType="1" noTextEdit="1"/>
                </p:cNvSpPr>
                <p:nvPr/>
              </p:nvSpPr>
              <p:spPr>
                <a:xfrm>
                  <a:off x="1311374" y="4984617"/>
                  <a:ext cx="792088" cy="414857"/>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矩形 54"/>
                <p:cNvSpPr/>
                <p:nvPr/>
              </p:nvSpPr>
              <p:spPr>
                <a:xfrm>
                  <a:off x="2938080" y="2824617"/>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1" name="矩形 90"/>
                <p:cNvSpPr>
                  <a:spLocks noRot="1" noChangeAspect="1" noMove="1" noResize="1" noEditPoints="1" noAdjustHandles="1" noChangeArrowheads="1" noChangeShapeType="1" noTextEdit="1"/>
                </p:cNvSpPr>
                <p:nvPr/>
              </p:nvSpPr>
              <p:spPr>
                <a:xfrm>
                  <a:off x="2938080" y="2824617"/>
                  <a:ext cx="792088" cy="414857"/>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矩形 55"/>
                <p:cNvSpPr/>
                <p:nvPr/>
              </p:nvSpPr>
              <p:spPr>
                <a:xfrm>
                  <a:off x="2871667" y="3611262"/>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2" name="矩形 91"/>
                <p:cNvSpPr>
                  <a:spLocks noRot="1" noChangeAspect="1" noMove="1" noResize="1" noEditPoints="1" noAdjustHandles="1" noChangeArrowheads="1" noChangeShapeType="1" noTextEdit="1"/>
                </p:cNvSpPr>
                <p:nvPr/>
              </p:nvSpPr>
              <p:spPr>
                <a:xfrm>
                  <a:off x="2871667" y="3611262"/>
                  <a:ext cx="792088" cy="414857"/>
                </a:xfrm>
                <a:prstGeom prst="rect">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矩形 56"/>
                <p:cNvSpPr/>
                <p:nvPr/>
              </p:nvSpPr>
              <p:spPr>
                <a:xfrm>
                  <a:off x="2754626" y="4540222"/>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3" name="矩形 92"/>
                <p:cNvSpPr>
                  <a:spLocks noRot="1" noChangeAspect="1" noMove="1" noResize="1" noEditPoints="1" noAdjustHandles="1" noChangeArrowheads="1" noChangeShapeType="1" noTextEdit="1"/>
                </p:cNvSpPr>
                <p:nvPr/>
              </p:nvSpPr>
              <p:spPr>
                <a:xfrm>
                  <a:off x="2754626" y="4540222"/>
                  <a:ext cx="792088" cy="414857"/>
                </a:xfrm>
                <a:prstGeom prst="rect">
                  <a:avLst/>
                </a:prstGeom>
                <a:blipFill>
                  <a:blip r:embed="rId3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矩形 57"/>
                <p:cNvSpPr/>
                <p:nvPr/>
              </p:nvSpPr>
              <p:spPr>
                <a:xfrm>
                  <a:off x="3744321" y="3334564"/>
                  <a:ext cx="792088" cy="507831"/>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𝑦</m:t>
                            </m:r>
                          </m:e>
                          <m:sub>
                            <m:r>
                              <a:rPr lang="en-US" altLang="zh-CN" b="0" i="1" kern="0" smtClean="0">
                                <a:latin typeface="Cambria Math" panose="02040503050406030204" pitchFamily="18" charset="0"/>
                                <a:ea typeface="微软雅黑" panose="020B0503020204020204" pitchFamily="34" charset="-122"/>
                              </a:rPr>
                              <m:t>1</m:t>
                            </m:r>
                          </m:sub>
                        </m:sSub>
                      </m:oMath>
                    </m:oMathPara>
                  </a14:m>
                  <a:endParaRPr lang="en-US" altLang="zh-CN"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4" name="矩形 93"/>
                <p:cNvSpPr>
                  <a:spLocks noRot="1" noChangeAspect="1" noMove="1" noResize="1" noEditPoints="1" noAdjustHandles="1" noChangeArrowheads="1" noChangeShapeType="1" noTextEdit="1"/>
                </p:cNvSpPr>
                <p:nvPr/>
              </p:nvSpPr>
              <p:spPr>
                <a:xfrm>
                  <a:off x="3744321" y="3334564"/>
                  <a:ext cx="792088" cy="507831"/>
                </a:xfrm>
                <a:prstGeom prst="rect">
                  <a:avLst/>
                </a:prstGeom>
                <a:blipFill rotWithShape="0">
                  <a:blip r:embed="rId32"/>
                  <a:stretch>
                    <a:fillRect/>
                  </a:stretch>
                </a:blipFill>
              </p:spPr>
              <p:txBody>
                <a:bodyPr/>
                <a:lstStyle/>
                <a:p>
                  <a:r>
                    <a:rPr lang="zh-CN" altLang="en-US">
                      <a:noFill/>
                    </a:rPr>
                    <a:t> </a:t>
                  </a:r>
                </a:p>
              </p:txBody>
            </p:sp>
          </mc:Fallback>
        </mc:AlternateContent>
        <p:sp>
          <p:nvSpPr>
            <p:cNvPr id="59" name="椭圆 58"/>
            <p:cNvSpPr/>
            <p:nvPr/>
          </p:nvSpPr>
          <p:spPr>
            <a:xfrm rot="2739555">
              <a:off x="3834320" y="4149336"/>
              <a:ext cx="576064" cy="5760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60" name="矩形 59"/>
                <p:cNvSpPr/>
                <p:nvPr/>
              </p:nvSpPr>
              <p:spPr>
                <a:xfrm>
                  <a:off x="3746767" y="4133076"/>
                  <a:ext cx="792088" cy="507831"/>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𝑦</m:t>
                            </m:r>
                          </m:e>
                          <m:sub>
                            <m:r>
                              <a:rPr lang="en-US" altLang="zh-CN" b="0" i="1" kern="0" smtClean="0">
                                <a:latin typeface="Cambria Math" panose="02040503050406030204" pitchFamily="18" charset="0"/>
                                <a:ea typeface="微软雅黑" panose="020B0503020204020204" pitchFamily="34" charset="-122"/>
                              </a:rPr>
                              <m:t>2</m:t>
                            </m:r>
                          </m:sub>
                        </m:sSub>
                      </m:oMath>
                    </m:oMathPara>
                  </a14:m>
                  <a:endParaRPr lang="en-US" altLang="zh-CN"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3" name="矩形 52"/>
                <p:cNvSpPr>
                  <a:spLocks noRot="1" noChangeAspect="1" noMove="1" noResize="1" noEditPoints="1" noAdjustHandles="1" noChangeArrowheads="1" noChangeShapeType="1" noTextEdit="1"/>
                </p:cNvSpPr>
                <p:nvPr/>
              </p:nvSpPr>
              <p:spPr>
                <a:xfrm>
                  <a:off x="3746767" y="4133076"/>
                  <a:ext cx="792088" cy="507831"/>
                </a:xfrm>
                <a:prstGeom prst="rect">
                  <a:avLst/>
                </a:prstGeom>
                <a:blipFill rotWithShape="0">
                  <a:blip r:embed="rId33"/>
                  <a:stretch>
                    <a:fillRect/>
                  </a:stretch>
                </a:blipFill>
              </p:spPr>
              <p:txBody>
                <a:bodyPr/>
                <a:lstStyle/>
                <a:p>
                  <a:r>
                    <a:rPr lang="zh-CN" altLang="en-US">
                      <a:noFill/>
                    </a:rPr>
                    <a:t> </a:t>
                  </a:r>
                </a:p>
              </p:txBody>
            </p:sp>
          </mc:Fallback>
        </mc:AlternateContent>
        <p:cxnSp>
          <p:nvCxnSpPr>
            <p:cNvPr id="61" name="直接箭头连接符 60"/>
            <p:cNvCxnSpPr>
              <a:stCxn id="25" idx="6"/>
              <a:endCxn id="59" idx="3"/>
            </p:cNvCxnSpPr>
            <p:nvPr/>
          </p:nvCxnSpPr>
          <p:spPr>
            <a:xfrm>
              <a:off x="3074696" y="3064952"/>
              <a:ext cx="759644" cy="136910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62" name="直接箭头连接符 61"/>
            <p:cNvCxnSpPr>
              <a:stCxn id="42" idx="6"/>
              <a:endCxn id="59" idx="3"/>
            </p:cNvCxnSpPr>
            <p:nvPr/>
          </p:nvCxnSpPr>
          <p:spPr>
            <a:xfrm>
              <a:off x="3099419" y="4023250"/>
              <a:ext cx="734921" cy="41080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63" name="直接箭头连接符 62"/>
            <p:cNvCxnSpPr>
              <a:stCxn id="27" idx="6"/>
              <a:endCxn id="59" idx="3"/>
            </p:cNvCxnSpPr>
            <p:nvPr/>
          </p:nvCxnSpPr>
          <p:spPr>
            <a:xfrm flipV="1">
              <a:off x="3072330" y="4434054"/>
              <a:ext cx="762010" cy="655869"/>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64" name="矩形 63"/>
                <p:cNvSpPr/>
                <p:nvPr/>
              </p:nvSpPr>
              <p:spPr>
                <a:xfrm>
                  <a:off x="2754878" y="3131046"/>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1,2</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67" name="矩形 66"/>
                <p:cNvSpPr>
                  <a:spLocks noRot="1" noChangeAspect="1" noMove="1" noResize="1" noEditPoints="1" noAdjustHandles="1" noChangeArrowheads="1" noChangeShapeType="1" noTextEdit="1"/>
                </p:cNvSpPr>
                <p:nvPr/>
              </p:nvSpPr>
              <p:spPr>
                <a:xfrm>
                  <a:off x="2754878" y="3131046"/>
                  <a:ext cx="792088" cy="414857"/>
                </a:xfrm>
                <a:prstGeom prst="rect">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矩形 64"/>
                <p:cNvSpPr/>
                <p:nvPr/>
              </p:nvSpPr>
              <p:spPr>
                <a:xfrm>
                  <a:off x="2901100" y="3913029"/>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2,2</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68" name="矩形 67"/>
                <p:cNvSpPr>
                  <a:spLocks noRot="1" noChangeAspect="1" noMove="1" noResize="1" noEditPoints="1" noAdjustHandles="1" noChangeArrowheads="1" noChangeShapeType="1" noTextEdit="1"/>
                </p:cNvSpPr>
                <p:nvPr/>
              </p:nvSpPr>
              <p:spPr>
                <a:xfrm>
                  <a:off x="2901100" y="3913029"/>
                  <a:ext cx="792088" cy="414857"/>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矩形 65"/>
                <p:cNvSpPr/>
                <p:nvPr/>
              </p:nvSpPr>
              <p:spPr>
                <a:xfrm>
                  <a:off x="2875542" y="4820112"/>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3,2</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69" name="矩形 68"/>
                <p:cNvSpPr>
                  <a:spLocks noRot="1" noChangeAspect="1" noMove="1" noResize="1" noEditPoints="1" noAdjustHandles="1" noChangeArrowheads="1" noChangeShapeType="1" noTextEdit="1"/>
                </p:cNvSpPr>
                <p:nvPr/>
              </p:nvSpPr>
              <p:spPr>
                <a:xfrm>
                  <a:off x="2875542" y="4820112"/>
                  <a:ext cx="792088" cy="414857"/>
                </a:xfrm>
                <a:prstGeom prst="rect">
                  <a:avLst/>
                </a:prstGeom>
                <a:blipFill>
                  <a:blip r:embed="rId36"/>
                  <a:stretch>
                    <a:fillRect/>
                  </a:stretch>
                </a:blipFill>
              </p:spPr>
              <p:txBody>
                <a:bodyPr/>
                <a:lstStyle/>
                <a:p>
                  <a:r>
                    <a:rPr lang="zh-CN" altLang="en-US">
                      <a:noFill/>
                    </a:rPr>
                    <a:t> </a:t>
                  </a:r>
                </a:p>
              </p:txBody>
            </p:sp>
          </mc:Fallback>
        </mc:AlternateContent>
        <p:cxnSp>
          <p:nvCxnSpPr>
            <p:cNvPr id="67" name="直接箭头连接符 66"/>
            <p:cNvCxnSpPr/>
            <p:nvPr/>
          </p:nvCxnSpPr>
          <p:spPr>
            <a:xfrm flipV="1">
              <a:off x="4416138" y="4440976"/>
              <a:ext cx="404877" cy="8849"/>
            </a:xfrm>
            <a:prstGeom prst="straightConnector1">
              <a:avLst/>
            </a:prstGeom>
            <a:noFill/>
            <a:ln w="15875" cap="flat" cmpd="sng">
              <a:solidFill>
                <a:schemeClr val="tx1">
                  <a:lumMod val="65000"/>
                  <a:lumOff val="35000"/>
                </a:schemeClr>
              </a:solidFill>
              <a:prstDash val="solid"/>
              <a:round/>
              <a:headEnd/>
              <a:tailEnd type="triangle"/>
            </a:ln>
            <a:effectLst/>
          </p:spPr>
        </p:cxnSp>
      </p:grpSp>
      <p:sp>
        <p:nvSpPr>
          <p:cNvPr id="70" name="灯片编号占位符 8">
            <a:extLst>
              <a:ext uri="{FF2B5EF4-FFF2-40B4-BE49-F238E27FC236}">
                <a16:creationId xmlns:a16="http://schemas.microsoft.com/office/drawing/2014/main" id="{153068D0-29BB-4949-99D1-115053ED138B}"/>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35</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337515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正向计算</a:t>
            </a:r>
            <a:endParaRPr lang="en-US" altLang="zh-CN" sz="2600" b="1" dirty="0"/>
          </a:p>
        </p:txBody>
      </p:sp>
      <mc:AlternateContent xmlns:mc="http://schemas.openxmlformats.org/markup-compatibility/2006" xmlns:a14="http://schemas.microsoft.com/office/drawing/2010/main">
        <mc:Choice Requires="a14">
          <p:sp>
            <p:nvSpPr>
              <p:cNvPr id="8" name="矩形 7"/>
              <p:cNvSpPr/>
              <p:nvPr/>
            </p:nvSpPr>
            <p:spPr>
              <a:xfrm>
                <a:off x="6020276" y="1793439"/>
                <a:ext cx="4178800" cy="4697312"/>
              </a:xfrm>
              <a:prstGeom prst="rect">
                <a:avLst/>
              </a:prstGeom>
            </p:spPr>
            <p:txBody>
              <a:bodyPr wrap="square">
                <a:spAutoFit/>
              </a:bodyPr>
              <a:lstStyle/>
              <a:p>
                <a:pPr marL="285750" indent="-285750" latinLnBrk="1">
                  <a:lnSpc>
                    <a:spcPct val="150000"/>
                  </a:lnSpc>
                  <a:buFont typeface="Wingdings" panose="05000000000000000000" pitchFamily="2" charset="2"/>
                  <a:buChar char="l"/>
                </a:pPr>
                <a:r>
                  <a:rPr lang="zh-CN" altLang="en-US" dirty="0">
                    <a:solidFill>
                      <a:srgbClr val="333333"/>
                    </a:solidFill>
                    <a:latin typeface="微软雅黑 Light" panose="020B0502040204020203" pitchFamily="34" charset="-122"/>
                    <a:ea typeface="微软雅黑 Light" panose="020B0502040204020203" pitchFamily="34" charset="-122"/>
                  </a:rPr>
                  <a:t>输入：包含神经元</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Sub>
                    <m:r>
                      <a:rPr lang="zh-CN" altLang="en-US"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a14:m>
                <a:r>
                  <a:rPr lang="zh-CN" altLang="en-US" dirty="0">
                    <a:solidFill>
                      <a:srgbClr val="333333"/>
                    </a:solidFill>
                    <a:latin typeface="微软雅黑 Light" panose="020B0502040204020203" pitchFamily="34" charset="-122"/>
                    <a:ea typeface="微软雅黑 Light" panose="020B0502040204020203" pitchFamily="34" charset="-122"/>
                  </a:rPr>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a14:m>
                <a:endParaRPr lang="en-US" altLang="zh-CN" dirty="0">
                  <a:solidFill>
                    <a:srgbClr val="333333"/>
                  </a:solidFill>
                  <a:latin typeface="微软雅黑 Light" panose="020B0502040204020203" pitchFamily="34" charset="-122"/>
                  <a:ea typeface="微软雅黑 Light" panose="020B0502040204020203" pitchFamily="34" charset="-122"/>
                </a:endParaRPr>
              </a:p>
              <a:p>
                <a:pPr marL="285750" indent="-285750" latinLnBrk="1">
                  <a:lnSpc>
                    <a:spcPct val="150000"/>
                  </a:lnSpc>
                  <a:buFont typeface="Wingdings" panose="05000000000000000000" pitchFamily="2" charset="2"/>
                  <a:buChar char="l"/>
                </a:pPr>
                <a:r>
                  <a:rPr lang="zh-CN" altLang="en-US" dirty="0">
                    <a:solidFill>
                      <a:srgbClr val="333333"/>
                    </a:solidFill>
                    <a:latin typeface="微软雅黑 Light" panose="020B0502040204020203" pitchFamily="34" charset="-122"/>
                    <a:ea typeface="微软雅黑 Light" panose="020B0502040204020203" pitchFamily="34" charset="-122"/>
                  </a:rPr>
                  <a:t>隐含层：包含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b="0" i="1" smtClean="0">
                            <a:latin typeface="Cambria Math" panose="02040503050406030204" pitchFamily="18" charset="0"/>
                          </a:rPr>
                          <m:t>2</m:t>
                        </m:r>
                      </m:sub>
                    </m:sSub>
                  </m:oMath>
                </a14:m>
                <a:r>
                  <a:rPr lang="en-US" altLang="zh-CN" dirty="0">
                    <a:solidFill>
                      <a:srgbClr val="333333"/>
                    </a:solidFill>
                    <a:latin typeface="微软雅黑 Light" panose="020B0502040204020203" pitchFamily="34" charset="-122"/>
                    <a:ea typeface="微软雅黑 Light" panose="020B0502040204020203" pitchFamily="34" charset="-122"/>
                  </a:rPr>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b="0" i="1" smtClean="0">
                            <a:latin typeface="Cambria Math" panose="02040503050406030204" pitchFamily="18" charset="0"/>
                          </a:rPr>
                          <m:t>3</m:t>
                        </m:r>
                      </m:sub>
                    </m:sSub>
                  </m:oMath>
                </a14:m>
                <a:endParaRPr lang="en-US" altLang="zh-CN" dirty="0">
                  <a:solidFill>
                    <a:srgbClr val="333333"/>
                  </a:solidFill>
                  <a:latin typeface="微软雅黑 Light" panose="020B0502040204020203" pitchFamily="34" charset="-122"/>
                  <a:ea typeface="微软雅黑 Light" panose="020B0502040204020203" pitchFamily="34" charset="-122"/>
                </a:endParaRPr>
              </a:p>
              <a:p>
                <a:pPr marL="285750" indent="-285750" latinLnBrk="1">
                  <a:lnSpc>
                    <a:spcPct val="150000"/>
                  </a:lnSpc>
                  <a:buFont typeface="Wingdings" panose="05000000000000000000" pitchFamily="2" charset="2"/>
                  <a:buChar char="l"/>
                </a:pPr>
                <a:r>
                  <a:rPr lang="zh-CN" altLang="en-US" dirty="0">
                    <a:solidFill>
                      <a:srgbClr val="333333"/>
                    </a:solidFill>
                    <a:latin typeface="微软雅黑 Light" panose="020B0502040204020203" pitchFamily="34" charset="-122"/>
                    <a:ea typeface="微软雅黑 Light" panose="020B0502040204020203" pitchFamily="34" charset="-122"/>
                  </a:rPr>
                  <a:t>输出层：包含 </a:t>
                </a:r>
                <a14:m>
                  <m:oMath xmlns:m="http://schemas.openxmlformats.org/officeDocument/2006/math">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1</m:t>
                        </m:r>
                      </m:sub>
                    </m:sSub>
                    <m:r>
                      <a:rPr lang="zh-CN" altLang="en-US" i="1" ker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2</m:t>
                        </m:r>
                      </m:sub>
                    </m:sSub>
                  </m:oMath>
                </a14:m>
                <a:endParaRPr lang="en-US" altLang="zh-CN" dirty="0">
                  <a:solidFill>
                    <a:srgbClr val="333333"/>
                  </a:solidFill>
                  <a:latin typeface="微软雅黑 Light" panose="020B0502040204020203" pitchFamily="34" charset="-122"/>
                  <a:ea typeface="微软雅黑 Light" panose="020B0502040204020203" pitchFamily="34" charset="-122"/>
                </a:endParaRPr>
              </a:p>
              <a:p>
                <a:pPr marL="285750" indent="-285750" latinLnBrk="1">
                  <a:lnSpc>
                    <a:spcPct val="150000"/>
                  </a:lnSpc>
                  <a:buFont typeface="Wingdings" panose="05000000000000000000" pitchFamily="2" charset="2"/>
                  <a:buChar char="l"/>
                </a:pPr>
                <a:endParaRPr lang="en-US" altLang="zh-CN" dirty="0">
                  <a:solidFill>
                    <a:srgbClr val="333333"/>
                  </a:solidFill>
                  <a:latin typeface="微软雅黑 Light" panose="020B0502040204020203" pitchFamily="34" charset="-122"/>
                  <a:ea typeface="微软雅黑 Light" panose="020B0502040204020203" pitchFamily="34" charset="-122"/>
                </a:endParaRPr>
              </a:p>
              <a:p>
                <a:pPr marL="285750" indent="-285750" latinLnBrk="1">
                  <a:lnSpc>
                    <a:spcPct val="150000"/>
                  </a:lnSpc>
                  <a:buFont typeface="Wingdings" panose="05000000000000000000" pitchFamily="2" charset="2"/>
                  <a:buChar char="l"/>
                </a:pPr>
                <a:r>
                  <a:rPr lang="zh-CN" altLang="en-US" dirty="0">
                    <a:solidFill>
                      <a:srgbClr val="333333"/>
                    </a:solidFill>
                    <a:latin typeface="微软雅黑 Light" panose="020B0502040204020203" pitchFamily="34" charset="-122"/>
                    <a:ea typeface="微软雅黑 Light" panose="020B0502040204020203" pitchFamily="34" charset="-122"/>
                  </a:rPr>
                  <a:t>输入和隐层之间</a:t>
                </a:r>
                <a:endParaRPr lang="en-US" altLang="zh-CN" dirty="0">
                  <a:solidFill>
                    <a:srgbClr val="333333"/>
                  </a:solidFill>
                  <a:latin typeface="微软雅黑 Light" panose="020B0502040204020203" pitchFamily="34" charset="-122"/>
                  <a:ea typeface="微软雅黑 Light" panose="020B0502040204020203" pitchFamily="34" charset="-122"/>
                </a:endParaRPr>
              </a:p>
              <a:p>
                <a:pPr latinLnBrk="1">
                  <a:lnSpc>
                    <a:spcPct val="150000"/>
                  </a:lnSpc>
                </a:pPr>
                <a:r>
                  <a:rPr lang="zh-CN" altLang="en-US" dirty="0">
                    <a:solidFill>
                      <a:srgbClr val="333333"/>
                    </a:solidFill>
                    <a:latin typeface="微软雅黑 Light" panose="020B0502040204020203" pitchFamily="34" charset="-122"/>
                    <a:ea typeface="微软雅黑 Light" panose="020B0502040204020203" pitchFamily="34" charset="-122"/>
                  </a:rPr>
                  <a:t>     偏置：</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oMath>
                </a14:m>
                <a:r>
                  <a:rPr lang="zh-CN" altLang="en-US" dirty="0">
                    <a:solidFill>
                      <a:srgbClr val="333333"/>
                    </a:solidFill>
                    <a:latin typeface="微软雅黑 Light" panose="020B0502040204020203" pitchFamily="34" charset="-122"/>
                    <a:ea typeface="微软雅黑 Light" panose="020B0502040204020203" pitchFamily="34" charset="-122"/>
                  </a:rPr>
                  <a:t> </a:t>
                </a:r>
                <a:endParaRPr lang="en-US" altLang="zh-CN" dirty="0">
                  <a:solidFill>
                    <a:srgbClr val="333333"/>
                  </a:solidFill>
                  <a:latin typeface="微软雅黑 Light" panose="020B0502040204020203" pitchFamily="34" charset="-122"/>
                  <a:ea typeface="微软雅黑 Light" panose="020B0502040204020203" pitchFamily="34" charset="-122"/>
                </a:endParaRPr>
              </a:p>
              <a:p>
                <a:pPr latinLnBrk="1">
                  <a:lnSpc>
                    <a:spcPct val="150000"/>
                  </a:lnSpc>
                </a:pPr>
                <a:r>
                  <a:rPr lang="zh-CN" altLang="en-US" dirty="0">
                    <a:solidFill>
                      <a:srgbClr val="333333"/>
                    </a:solidFill>
                    <a:latin typeface="微软雅黑 Light" panose="020B0502040204020203" pitchFamily="34" charset="-122"/>
                    <a:ea typeface="微软雅黑 Light" panose="020B0502040204020203" pitchFamily="34" charset="-122"/>
                  </a:rPr>
                  <a:t>     权重：</a:t>
                </a:r>
                <a14:m>
                  <m:oMath xmlns:m="http://schemas.openxmlformats.org/officeDocument/2006/math">
                    <m:sSup>
                      <m:sSupPr>
                        <m:ctrlPr>
                          <a:rPr lang="en-US" altLang="zh-CN" i="1" kern="0">
                            <a:latin typeface="Cambria Math" panose="02040503050406030204" pitchFamily="18" charset="0"/>
                            <a:ea typeface="微软雅黑" panose="020B0503020204020204" pitchFamily="34" charset="-122"/>
                          </a:rPr>
                        </m:ctrlPr>
                      </m:sSupPr>
                      <m:e>
                        <m:r>
                          <a:rPr lang="en-US" altLang="zh-CN" i="1" ker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(1)</m:t>
                        </m:r>
                      </m:sup>
                    </m:sSup>
                  </m:oMath>
                </a14:m>
                <a:r>
                  <a:rPr lang="en-US" altLang="zh-CN" dirty="0">
                    <a:solidFill>
                      <a:srgbClr val="333333"/>
                    </a:solidFill>
                    <a:latin typeface="微软雅黑 Light" panose="020B0502040204020203" pitchFamily="34" charset="-122"/>
                    <a:ea typeface="微软雅黑 Light" panose="020B0502040204020203" pitchFamily="34" charset="-122"/>
                  </a:rPr>
                  <a:t> </a:t>
                </a:r>
              </a:p>
              <a:p>
                <a:pPr marL="285750" indent="-285750" latinLnBrk="1">
                  <a:lnSpc>
                    <a:spcPct val="150000"/>
                  </a:lnSpc>
                  <a:buFont typeface="Wingdings" panose="05000000000000000000" pitchFamily="2" charset="2"/>
                  <a:buChar char="l"/>
                </a:pPr>
                <a:r>
                  <a:rPr lang="zh-CN" altLang="en-US" dirty="0">
                    <a:solidFill>
                      <a:srgbClr val="333333"/>
                    </a:solidFill>
                    <a:latin typeface="微软雅黑 Light" panose="020B0502040204020203" pitchFamily="34" charset="-122"/>
                    <a:ea typeface="微软雅黑 Light" panose="020B0502040204020203" pitchFamily="34" charset="-122"/>
                  </a:rPr>
                  <a:t>隐层和输出层之间</a:t>
                </a:r>
                <a:endParaRPr lang="en-US" altLang="zh-CN" dirty="0">
                  <a:solidFill>
                    <a:srgbClr val="333333"/>
                  </a:solidFill>
                  <a:latin typeface="微软雅黑 Light" panose="020B0502040204020203" pitchFamily="34" charset="-122"/>
                  <a:ea typeface="微软雅黑 Light" panose="020B0502040204020203" pitchFamily="34" charset="-122"/>
                </a:endParaRPr>
              </a:p>
              <a:p>
                <a:pPr latinLnBrk="1">
                  <a:lnSpc>
                    <a:spcPct val="150000"/>
                  </a:lnSpc>
                </a:pPr>
                <a:r>
                  <a:rPr lang="zh-CN" altLang="en-US" dirty="0">
                    <a:solidFill>
                      <a:srgbClr val="333333"/>
                    </a:solidFill>
                    <a:latin typeface="微软雅黑 Light" panose="020B0502040204020203" pitchFamily="34" charset="-122"/>
                    <a:ea typeface="微软雅黑 Light" panose="020B0502040204020203" pitchFamily="34" charset="-122"/>
                  </a:rPr>
                  <a:t>     偏置：</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oMath>
                </a14:m>
                <a:endParaRPr lang="en-US" altLang="zh-CN" dirty="0">
                  <a:solidFill>
                    <a:srgbClr val="333333"/>
                  </a:solidFill>
                  <a:latin typeface="微软雅黑 Light" panose="020B0502040204020203" pitchFamily="34" charset="-122"/>
                  <a:ea typeface="微软雅黑 Light" panose="020B0502040204020203" pitchFamily="34" charset="-122"/>
                </a:endParaRPr>
              </a:p>
              <a:p>
                <a:pPr latinLnBrk="1">
                  <a:lnSpc>
                    <a:spcPct val="150000"/>
                  </a:lnSpc>
                </a:pPr>
                <a:r>
                  <a:rPr lang="en-US" altLang="zh-CN" dirty="0">
                    <a:solidFill>
                      <a:srgbClr val="333333"/>
                    </a:solidFill>
                    <a:latin typeface="微软雅黑 Light" panose="020B0502040204020203" pitchFamily="34" charset="-122"/>
                    <a:ea typeface="微软雅黑 Light" panose="020B0502040204020203" pitchFamily="34" charset="-122"/>
                  </a:rPr>
                  <a:t>     </a:t>
                </a:r>
                <a:r>
                  <a:rPr lang="zh-CN" altLang="en-US" dirty="0">
                    <a:solidFill>
                      <a:srgbClr val="333333"/>
                    </a:solidFill>
                    <a:latin typeface="微软雅黑 Light" panose="020B0502040204020203" pitchFamily="34" charset="-122"/>
                    <a:ea typeface="微软雅黑 Light" panose="020B0502040204020203" pitchFamily="34" charset="-122"/>
                  </a:rPr>
                  <a:t>权重：</a:t>
                </a:r>
                <a14:m>
                  <m:oMath xmlns:m="http://schemas.openxmlformats.org/officeDocument/2006/math">
                    <m:sSup>
                      <m:sSupPr>
                        <m:ctrlPr>
                          <a:rPr lang="en-US" altLang="zh-CN" i="1" ker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2</m:t>
                        </m:r>
                        <m:r>
                          <a:rPr lang="en-US" altLang="zh-CN" i="1" kern="0">
                            <a:latin typeface="Cambria Math" panose="02040503050406030204" pitchFamily="18" charset="0"/>
                            <a:ea typeface="微软雅黑" panose="020B0503020204020204" pitchFamily="34" charset="-122"/>
                          </a:rPr>
                          <m:t>)</m:t>
                        </m:r>
                      </m:sup>
                    </m:sSup>
                  </m:oMath>
                </a14:m>
                <a:endParaRPr lang="en-US" altLang="zh-CN" dirty="0">
                  <a:solidFill>
                    <a:srgbClr val="333333"/>
                  </a:solidFill>
                  <a:latin typeface="微软雅黑 Light" panose="020B0502040204020203" pitchFamily="34" charset="-122"/>
                  <a:ea typeface="微软雅黑 Light" panose="020B0502040204020203" pitchFamily="34" charset="-122"/>
                </a:endParaRPr>
              </a:p>
              <a:p>
                <a:pPr marL="285750" indent="-285750" latinLnBrk="1">
                  <a:lnSpc>
                    <a:spcPct val="150000"/>
                  </a:lnSpc>
                  <a:buFont typeface="Wingdings" panose="05000000000000000000" pitchFamily="2" charset="2"/>
                  <a:buChar char="l"/>
                </a:pPr>
                <a:endParaRPr lang="en-US" altLang="zh-CN" b="0" i="0" dirty="0">
                  <a:solidFill>
                    <a:srgbClr val="333333"/>
                  </a:solidFill>
                  <a:effectLst/>
                  <a:latin typeface="微软雅黑 Light" panose="020B0502040204020203" pitchFamily="34" charset="-122"/>
                  <a:ea typeface="微软雅黑 Light" panose="020B0502040204020203" pitchFamily="34"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6020276" y="1793439"/>
                <a:ext cx="4178800" cy="4697312"/>
              </a:xfrm>
              <a:prstGeom prst="rect">
                <a:avLst/>
              </a:prstGeom>
              <a:blipFill rotWithShape="0">
                <a:blip r:embed="rId5"/>
                <a:stretch>
                  <a:fillRect l="-1022"/>
                </a:stretch>
              </a:blipFill>
            </p:spPr>
            <p:txBody>
              <a:bodyPr/>
              <a:lstStyle/>
              <a:p>
                <a:r>
                  <a:rPr lang="zh-CN" altLang="en-US">
                    <a:noFill/>
                  </a:rPr>
                  <a:t> </a:t>
                </a:r>
              </a:p>
            </p:txBody>
          </p:sp>
        </mc:Fallback>
      </mc:AlternateContent>
      <p:grpSp>
        <p:nvGrpSpPr>
          <p:cNvPr id="9" name="组合 8"/>
          <p:cNvGrpSpPr/>
          <p:nvPr/>
        </p:nvGrpSpPr>
        <p:grpSpPr>
          <a:xfrm>
            <a:off x="1683022" y="2202185"/>
            <a:ext cx="3939093" cy="3813116"/>
            <a:chOff x="627946" y="2243153"/>
            <a:chExt cx="3939093" cy="3813116"/>
          </a:xfrm>
        </p:grpSpPr>
        <mc:AlternateContent xmlns:mc="http://schemas.openxmlformats.org/markup-compatibility/2006" xmlns:a14="http://schemas.microsoft.com/office/drawing/2010/main">
          <mc:Choice Requires="a14">
            <p:sp>
              <p:nvSpPr>
                <p:cNvPr id="10" name="椭圆 9"/>
                <p:cNvSpPr/>
                <p:nvPr/>
              </p:nvSpPr>
              <p:spPr>
                <a:xfrm>
                  <a:off x="2669507" y="5480205"/>
                  <a:ext cx="576064" cy="576064"/>
                </a:xfrm>
                <a:prstGeom prst="ellipse">
                  <a:avLst/>
                </a:prstGeom>
                <a:noFill/>
                <a:ln w="28575">
                  <a:solidFill>
                    <a:srgbClr val="FFFF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55" name="椭圆 54"/>
                <p:cNvSpPr>
                  <a:spLocks noRot="1" noChangeAspect="1" noMove="1" noResize="1" noEditPoints="1" noAdjustHandles="1" noChangeArrowheads="1" noChangeShapeType="1" noTextEdit="1"/>
                </p:cNvSpPr>
                <p:nvPr/>
              </p:nvSpPr>
              <p:spPr>
                <a:xfrm>
                  <a:off x="2669507" y="5480205"/>
                  <a:ext cx="576064" cy="576064"/>
                </a:xfrm>
                <a:prstGeom prst="ellipse">
                  <a:avLst/>
                </a:prstGeom>
                <a:blipFill rotWithShape="0">
                  <a:blip r:embed="rId6"/>
                  <a:stretch>
                    <a:fillRect/>
                  </a:stretch>
                </a:blipFill>
                <a:ln w="28575">
                  <a:solidFill>
                    <a:srgbClr val="FFFF00"/>
                  </a:solidFill>
                  <a:prstDash val="sysDash"/>
                </a:ln>
              </p:spPr>
              <p:txBody>
                <a:bodyPr/>
                <a:lstStyle/>
                <a:p>
                  <a:r>
                    <a:rPr lang="zh-CN" altLang="en-US">
                      <a:noFill/>
                    </a:rPr>
                    <a:t> </a:t>
                  </a:r>
                </a:p>
              </p:txBody>
            </p:sp>
          </mc:Fallback>
        </mc:AlternateContent>
        <p:cxnSp>
          <p:nvCxnSpPr>
            <p:cNvPr id="11" name="直接箭头连接符 10"/>
            <p:cNvCxnSpPr/>
            <p:nvPr/>
          </p:nvCxnSpPr>
          <p:spPr>
            <a:xfrm flipV="1">
              <a:off x="1628192" y="2594400"/>
              <a:ext cx="585409" cy="2827047"/>
            </a:xfrm>
            <a:prstGeom prst="straightConnector1">
              <a:avLst/>
            </a:prstGeom>
            <a:noFill/>
            <a:ln w="15875" cap="flat" cmpd="sng">
              <a:solidFill>
                <a:schemeClr val="tx1">
                  <a:lumMod val="65000"/>
                  <a:lumOff val="35000"/>
                </a:schemeClr>
              </a:solidFill>
              <a:prstDash val="sysDash"/>
              <a:round/>
              <a:headEnd/>
              <a:tailEnd type="triangle"/>
            </a:ln>
            <a:effectLst/>
          </p:spPr>
        </p:cxnSp>
        <p:cxnSp>
          <p:nvCxnSpPr>
            <p:cNvPr id="12" name="直接箭头连接符 11"/>
            <p:cNvCxnSpPr/>
            <p:nvPr/>
          </p:nvCxnSpPr>
          <p:spPr>
            <a:xfrm flipV="1">
              <a:off x="1613263" y="3612061"/>
              <a:ext cx="610358" cy="1852579"/>
            </a:xfrm>
            <a:prstGeom prst="straightConnector1">
              <a:avLst/>
            </a:prstGeom>
            <a:noFill/>
            <a:ln w="15875" cap="flat" cmpd="sng">
              <a:solidFill>
                <a:schemeClr val="tx1">
                  <a:lumMod val="65000"/>
                  <a:lumOff val="35000"/>
                </a:schemeClr>
              </a:solidFill>
              <a:prstDash val="sysDash"/>
              <a:round/>
              <a:headEnd/>
              <a:tailEnd type="triangle"/>
            </a:ln>
            <a:effectLst/>
          </p:spPr>
        </p:cxnSp>
        <p:cxnSp>
          <p:nvCxnSpPr>
            <p:cNvPr id="13" name="直接箭头连接符 12"/>
            <p:cNvCxnSpPr>
              <a:stCxn id="63" idx="0"/>
              <a:endCxn id="22" idx="2"/>
            </p:cNvCxnSpPr>
            <p:nvPr/>
          </p:nvCxnSpPr>
          <p:spPr>
            <a:xfrm flipV="1">
              <a:off x="1672804" y="4638468"/>
              <a:ext cx="564848" cy="835950"/>
            </a:xfrm>
            <a:prstGeom prst="straightConnector1">
              <a:avLst/>
            </a:prstGeom>
            <a:noFill/>
            <a:ln w="15875" cap="flat" cmpd="sng">
              <a:solidFill>
                <a:schemeClr val="tx1">
                  <a:lumMod val="65000"/>
                  <a:lumOff val="35000"/>
                </a:schemeClr>
              </a:solidFill>
              <a:prstDash val="sysDash"/>
              <a:round/>
              <a:headEnd/>
              <a:tailEnd type="triangle"/>
            </a:ln>
            <a:effectLst/>
          </p:spPr>
        </p:cxnSp>
        <p:cxnSp>
          <p:nvCxnSpPr>
            <p:cNvPr id="14" name="直接箭头连接符 13"/>
            <p:cNvCxnSpPr>
              <a:stCxn id="10" idx="7"/>
              <a:endCxn id="34" idx="3"/>
            </p:cNvCxnSpPr>
            <p:nvPr/>
          </p:nvCxnSpPr>
          <p:spPr>
            <a:xfrm flipV="1">
              <a:off x="3161208" y="3184876"/>
              <a:ext cx="411616" cy="2379692"/>
            </a:xfrm>
            <a:prstGeom prst="straightConnector1">
              <a:avLst/>
            </a:prstGeom>
            <a:noFill/>
            <a:ln w="15875" cap="flat" cmpd="sng">
              <a:solidFill>
                <a:schemeClr val="tx1">
                  <a:lumMod val="65000"/>
                  <a:lumOff val="35000"/>
                </a:schemeClr>
              </a:solidFill>
              <a:prstDash val="sysDash"/>
              <a:round/>
              <a:headEnd/>
              <a:tailEnd type="triangle"/>
            </a:ln>
            <a:effectLst/>
          </p:spPr>
        </p:cxnSp>
        <p:grpSp>
          <p:nvGrpSpPr>
            <p:cNvPr id="16" name="组合 15"/>
            <p:cNvGrpSpPr/>
            <p:nvPr/>
          </p:nvGrpSpPr>
          <p:grpSpPr>
            <a:xfrm>
              <a:off x="627946" y="2243153"/>
              <a:ext cx="3939093" cy="2713030"/>
              <a:chOff x="886560" y="2694608"/>
              <a:chExt cx="3939093" cy="2713030"/>
            </a:xfrm>
          </p:grpSpPr>
          <p:sp>
            <p:nvSpPr>
              <p:cNvPr id="19" name="椭圆 18"/>
              <p:cNvSpPr/>
              <p:nvPr/>
            </p:nvSpPr>
            <p:spPr>
              <a:xfrm>
                <a:off x="886560" y="2769151"/>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0" name="椭圆 19"/>
              <p:cNvSpPr/>
              <p:nvPr/>
            </p:nvSpPr>
            <p:spPr>
              <a:xfrm>
                <a:off x="2498632" y="2776920"/>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1" name="椭圆 20"/>
              <p:cNvSpPr/>
              <p:nvPr/>
            </p:nvSpPr>
            <p:spPr>
              <a:xfrm rot="21394478">
                <a:off x="910014" y="3789445"/>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2" name="椭圆 21"/>
              <p:cNvSpPr/>
              <p:nvPr/>
            </p:nvSpPr>
            <p:spPr>
              <a:xfrm>
                <a:off x="2496266" y="4805720"/>
                <a:ext cx="576064" cy="56840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3" name="椭圆 22"/>
              <p:cNvSpPr/>
              <p:nvPr/>
            </p:nvSpPr>
            <p:spPr>
              <a:xfrm>
                <a:off x="942327" y="4831574"/>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24" name="直接箭头连接符 23"/>
              <p:cNvCxnSpPr>
                <a:stCxn id="19" idx="6"/>
                <a:endCxn id="37" idx="2"/>
              </p:cNvCxnSpPr>
              <p:nvPr/>
            </p:nvCxnSpPr>
            <p:spPr>
              <a:xfrm>
                <a:off x="1462624" y="3057183"/>
                <a:ext cx="1060957" cy="982237"/>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5" name="直接箭头连接符 24"/>
              <p:cNvCxnSpPr>
                <a:stCxn id="19" idx="6"/>
                <a:endCxn id="22" idx="2"/>
              </p:cNvCxnSpPr>
              <p:nvPr/>
            </p:nvCxnSpPr>
            <p:spPr>
              <a:xfrm>
                <a:off x="1462624" y="3057183"/>
                <a:ext cx="1033642" cy="203274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6" name="直接箭头连接符 25"/>
              <p:cNvCxnSpPr>
                <a:stCxn id="21" idx="6"/>
                <a:endCxn id="20" idx="2"/>
              </p:cNvCxnSpPr>
              <p:nvPr/>
            </p:nvCxnSpPr>
            <p:spPr>
              <a:xfrm flipV="1">
                <a:off x="1485563" y="3064952"/>
                <a:ext cx="1013069" cy="99531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7" name="直接箭头连接符 26"/>
              <p:cNvCxnSpPr>
                <a:stCxn id="23" idx="6"/>
                <a:endCxn id="20" idx="2"/>
              </p:cNvCxnSpPr>
              <p:nvPr/>
            </p:nvCxnSpPr>
            <p:spPr>
              <a:xfrm flipV="1">
                <a:off x="1518391" y="3064952"/>
                <a:ext cx="980241" cy="205465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8" name="直接箭头连接符 27"/>
              <p:cNvCxnSpPr>
                <a:stCxn id="21" idx="6"/>
                <a:endCxn id="37" idx="2"/>
              </p:cNvCxnSpPr>
              <p:nvPr/>
            </p:nvCxnSpPr>
            <p:spPr>
              <a:xfrm flipV="1">
                <a:off x="1485563" y="4039420"/>
                <a:ext cx="1038018" cy="2084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0" name="直接箭头连接符 29"/>
              <p:cNvCxnSpPr>
                <a:stCxn id="23" idx="6"/>
                <a:endCxn id="22" idx="2"/>
              </p:cNvCxnSpPr>
              <p:nvPr/>
            </p:nvCxnSpPr>
            <p:spPr>
              <a:xfrm flipV="1">
                <a:off x="1518391" y="5089923"/>
                <a:ext cx="977875" cy="29683"/>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1" name="直接箭头连接符 30"/>
              <p:cNvCxnSpPr>
                <a:stCxn id="19" idx="6"/>
                <a:endCxn id="20" idx="2"/>
              </p:cNvCxnSpPr>
              <p:nvPr/>
            </p:nvCxnSpPr>
            <p:spPr>
              <a:xfrm>
                <a:off x="1462624" y="3057183"/>
                <a:ext cx="1036008" cy="776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2" name="直接箭头连接符 31"/>
              <p:cNvCxnSpPr>
                <a:stCxn id="20" idx="6"/>
                <a:endCxn id="34" idx="3"/>
              </p:cNvCxnSpPr>
              <p:nvPr/>
            </p:nvCxnSpPr>
            <p:spPr>
              <a:xfrm>
                <a:off x="3074696" y="3064952"/>
                <a:ext cx="756742" cy="571379"/>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34" name="椭圆 33"/>
              <p:cNvSpPr/>
              <p:nvPr/>
            </p:nvSpPr>
            <p:spPr>
              <a:xfrm rot="2739555">
                <a:off x="3831418" y="3351613"/>
                <a:ext cx="576064" cy="5760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5" name="直接箭头连接符 34"/>
              <p:cNvCxnSpPr>
                <a:stCxn id="21" idx="6"/>
                <a:endCxn id="22" idx="2"/>
              </p:cNvCxnSpPr>
              <p:nvPr/>
            </p:nvCxnSpPr>
            <p:spPr>
              <a:xfrm>
                <a:off x="1485563" y="4060268"/>
                <a:ext cx="1010703" cy="1029655"/>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6" name="直接箭头连接符 35"/>
              <p:cNvCxnSpPr>
                <a:stCxn id="23" idx="6"/>
                <a:endCxn id="37" idx="2"/>
              </p:cNvCxnSpPr>
              <p:nvPr/>
            </p:nvCxnSpPr>
            <p:spPr>
              <a:xfrm flipV="1">
                <a:off x="1518391" y="4039420"/>
                <a:ext cx="1005190" cy="1080186"/>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37" name="椭圆 36"/>
              <p:cNvSpPr/>
              <p:nvPr/>
            </p:nvSpPr>
            <p:spPr>
              <a:xfrm rot="21503492">
                <a:off x="2523468" y="3743303"/>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38" name="直接箭头连接符 37"/>
              <p:cNvCxnSpPr>
                <a:stCxn id="37" idx="6"/>
                <a:endCxn id="34" idx="3"/>
              </p:cNvCxnSpPr>
              <p:nvPr/>
            </p:nvCxnSpPr>
            <p:spPr>
              <a:xfrm flipV="1">
                <a:off x="3099419" y="3636331"/>
                <a:ext cx="732019" cy="38691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9" name="直接箭头连接符 38"/>
              <p:cNvCxnSpPr>
                <a:stCxn id="22" idx="6"/>
                <a:endCxn id="34" idx="3"/>
              </p:cNvCxnSpPr>
              <p:nvPr/>
            </p:nvCxnSpPr>
            <p:spPr>
              <a:xfrm flipV="1">
                <a:off x="3072330" y="3636331"/>
                <a:ext cx="759108" cy="145359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0" name="直接箭头连接符 39"/>
              <p:cNvCxnSpPr/>
              <p:nvPr/>
            </p:nvCxnSpPr>
            <p:spPr>
              <a:xfrm flipV="1">
                <a:off x="4420776" y="3632224"/>
                <a:ext cx="404877" cy="8849"/>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41" name="矩形 40"/>
                  <p:cNvSpPr/>
                  <p:nvPr/>
                </p:nvSpPr>
                <p:spPr>
                  <a:xfrm>
                    <a:off x="1246600" y="2694608"/>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1,1</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3" name="矩形 102"/>
                  <p:cNvSpPr>
                    <a:spLocks noRot="1" noChangeAspect="1" noMove="1" noResize="1" noEditPoints="1" noAdjustHandles="1" noChangeArrowheads="1" noChangeShapeType="1" noTextEdit="1"/>
                  </p:cNvSpPr>
                  <p:nvPr/>
                </p:nvSpPr>
                <p:spPr>
                  <a:xfrm>
                    <a:off x="1246600" y="2694608"/>
                    <a:ext cx="792088" cy="414857"/>
                  </a:xfrm>
                  <a:prstGeom prst="rect">
                    <a:avLst/>
                  </a:prstGeom>
                  <a:blipFill>
                    <a:blip r:embed="rId3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p:cNvSpPr/>
                  <p:nvPr/>
                </p:nvSpPr>
                <p:spPr>
                  <a:xfrm>
                    <a:off x="1179226" y="3569433"/>
                    <a:ext cx="792088" cy="41511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2,1</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4" name="矩形 103"/>
                  <p:cNvSpPr>
                    <a:spLocks noRot="1" noChangeAspect="1" noMove="1" noResize="1" noEditPoints="1" noAdjustHandles="1" noChangeArrowheads="1" noChangeShapeType="1" noTextEdit="1"/>
                  </p:cNvSpPr>
                  <p:nvPr/>
                </p:nvSpPr>
                <p:spPr>
                  <a:xfrm>
                    <a:off x="1179226" y="3569433"/>
                    <a:ext cx="792088" cy="415114"/>
                  </a:xfrm>
                  <a:prstGeom prst="rect">
                    <a:avLst/>
                  </a:prstGeom>
                  <a:blipFill>
                    <a:blip r:embed="rId3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p:cNvSpPr/>
                  <p:nvPr/>
                </p:nvSpPr>
                <p:spPr>
                  <a:xfrm>
                    <a:off x="1140011" y="4561339"/>
                    <a:ext cx="792088" cy="41511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3,1</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5" name="矩形 104"/>
                  <p:cNvSpPr>
                    <a:spLocks noRot="1" noChangeAspect="1" noMove="1" noResize="1" noEditPoints="1" noAdjustHandles="1" noChangeArrowheads="1" noChangeShapeType="1" noTextEdit="1"/>
                  </p:cNvSpPr>
                  <p:nvPr/>
                </p:nvSpPr>
                <p:spPr>
                  <a:xfrm>
                    <a:off x="1140011" y="4561339"/>
                    <a:ext cx="792088" cy="415114"/>
                  </a:xfrm>
                  <a:prstGeom prst="rect">
                    <a:avLst/>
                  </a:prstGeom>
                  <a:blipFill>
                    <a:blip r:embed="rId3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p:cNvSpPr/>
                  <p:nvPr/>
                </p:nvSpPr>
                <p:spPr>
                  <a:xfrm>
                    <a:off x="1393039" y="2942731"/>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1,2</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6" name="矩形 105"/>
                  <p:cNvSpPr>
                    <a:spLocks noRot="1" noChangeAspect="1" noMove="1" noResize="1" noEditPoints="1" noAdjustHandles="1" noChangeArrowheads="1" noChangeShapeType="1" noTextEdit="1"/>
                  </p:cNvSpPr>
                  <p:nvPr/>
                </p:nvSpPr>
                <p:spPr>
                  <a:xfrm>
                    <a:off x="1393039" y="2942731"/>
                    <a:ext cx="792088" cy="414857"/>
                  </a:xfrm>
                  <a:prstGeom prst="rect">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p:cNvSpPr/>
                  <p:nvPr/>
                </p:nvSpPr>
                <p:spPr>
                  <a:xfrm>
                    <a:off x="1359167" y="3765368"/>
                    <a:ext cx="792088" cy="41511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2,2</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7" name="矩形 106"/>
                  <p:cNvSpPr>
                    <a:spLocks noRot="1" noChangeAspect="1" noMove="1" noResize="1" noEditPoints="1" noAdjustHandles="1" noChangeArrowheads="1" noChangeShapeType="1" noTextEdit="1"/>
                  </p:cNvSpPr>
                  <p:nvPr/>
                </p:nvSpPr>
                <p:spPr>
                  <a:xfrm>
                    <a:off x="1359167" y="3765368"/>
                    <a:ext cx="792088" cy="415114"/>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p:cNvSpPr/>
                  <p:nvPr/>
                </p:nvSpPr>
                <p:spPr>
                  <a:xfrm>
                    <a:off x="1390986" y="4704300"/>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3,2</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8" name="矩形 107"/>
                  <p:cNvSpPr>
                    <a:spLocks noRot="1" noChangeAspect="1" noMove="1" noResize="1" noEditPoints="1" noAdjustHandles="1" noChangeArrowheads="1" noChangeShapeType="1" noTextEdit="1"/>
                  </p:cNvSpPr>
                  <p:nvPr/>
                </p:nvSpPr>
                <p:spPr>
                  <a:xfrm>
                    <a:off x="1390986" y="4704300"/>
                    <a:ext cx="792088" cy="414857"/>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p:cNvSpPr/>
                  <p:nvPr/>
                </p:nvSpPr>
                <p:spPr>
                  <a:xfrm>
                    <a:off x="1114538" y="3167653"/>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1,3</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9" name="矩形 108"/>
                  <p:cNvSpPr>
                    <a:spLocks noRot="1" noChangeAspect="1" noMove="1" noResize="1" noEditPoints="1" noAdjustHandles="1" noChangeArrowheads="1" noChangeShapeType="1" noTextEdit="1"/>
                  </p:cNvSpPr>
                  <p:nvPr/>
                </p:nvSpPr>
                <p:spPr>
                  <a:xfrm>
                    <a:off x="1114538" y="3167653"/>
                    <a:ext cx="792088" cy="414857"/>
                  </a:xfrm>
                  <a:prstGeom prst="rect">
                    <a:avLst/>
                  </a:prstGeom>
                  <a:blipFill>
                    <a:blip r:embed="rId3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p:cNvSpPr/>
                  <p:nvPr/>
                </p:nvSpPr>
                <p:spPr>
                  <a:xfrm>
                    <a:off x="1242188" y="4026119"/>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2,3</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0" name="矩形 109"/>
                  <p:cNvSpPr>
                    <a:spLocks noRot="1" noChangeAspect="1" noMove="1" noResize="1" noEditPoints="1" noAdjustHandles="1" noChangeArrowheads="1" noChangeShapeType="1" noTextEdit="1"/>
                  </p:cNvSpPr>
                  <p:nvPr/>
                </p:nvSpPr>
                <p:spPr>
                  <a:xfrm>
                    <a:off x="1242188" y="4026119"/>
                    <a:ext cx="792088" cy="414857"/>
                  </a:xfrm>
                  <a:prstGeom prst="rect">
                    <a:avLst/>
                  </a:prstGeom>
                  <a:blipFill>
                    <a:blip r:embed="rId3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p:cNvSpPr/>
                  <p:nvPr/>
                </p:nvSpPr>
                <p:spPr>
                  <a:xfrm>
                    <a:off x="1311374" y="4984617"/>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3,3</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1" name="矩形 110"/>
                  <p:cNvSpPr>
                    <a:spLocks noRot="1" noChangeAspect="1" noMove="1" noResize="1" noEditPoints="1" noAdjustHandles="1" noChangeArrowheads="1" noChangeShapeType="1" noTextEdit="1"/>
                  </p:cNvSpPr>
                  <p:nvPr/>
                </p:nvSpPr>
                <p:spPr>
                  <a:xfrm>
                    <a:off x="1311374" y="4984617"/>
                    <a:ext cx="792088" cy="414857"/>
                  </a:xfrm>
                  <a:prstGeom prst="rect">
                    <a:avLst/>
                  </a:prstGeom>
                  <a:blipFill>
                    <a:blip r:embed="rId3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2938080" y="2824617"/>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2" name="矩形 111"/>
                  <p:cNvSpPr>
                    <a:spLocks noRot="1" noChangeAspect="1" noMove="1" noResize="1" noEditPoints="1" noAdjustHandles="1" noChangeArrowheads="1" noChangeShapeType="1" noTextEdit="1"/>
                  </p:cNvSpPr>
                  <p:nvPr/>
                </p:nvSpPr>
                <p:spPr>
                  <a:xfrm>
                    <a:off x="2938080" y="2824617"/>
                    <a:ext cx="792088" cy="414857"/>
                  </a:xfrm>
                  <a:prstGeom prst="rect">
                    <a:avLst/>
                  </a:prstGeom>
                  <a:blipFill>
                    <a:blip r:embed="rId4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p:cNvSpPr/>
                  <p:nvPr/>
                </p:nvSpPr>
                <p:spPr>
                  <a:xfrm>
                    <a:off x="2871667" y="3611262"/>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5" name="矩形 114"/>
                  <p:cNvSpPr>
                    <a:spLocks noRot="1" noChangeAspect="1" noMove="1" noResize="1" noEditPoints="1" noAdjustHandles="1" noChangeArrowheads="1" noChangeShapeType="1" noTextEdit="1"/>
                  </p:cNvSpPr>
                  <p:nvPr/>
                </p:nvSpPr>
                <p:spPr>
                  <a:xfrm>
                    <a:off x="2871667" y="3611262"/>
                    <a:ext cx="792088" cy="414857"/>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p:cNvSpPr/>
                  <p:nvPr/>
                </p:nvSpPr>
                <p:spPr>
                  <a:xfrm>
                    <a:off x="2754626" y="4540222"/>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22" name="矩形 121"/>
                  <p:cNvSpPr>
                    <a:spLocks noRot="1" noChangeAspect="1" noMove="1" noResize="1" noEditPoints="1" noAdjustHandles="1" noChangeArrowheads="1" noChangeShapeType="1" noTextEdit="1"/>
                  </p:cNvSpPr>
                  <p:nvPr/>
                </p:nvSpPr>
                <p:spPr>
                  <a:xfrm>
                    <a:off x="2754626" y="4540222"/>
                    <a:ext cx="792088" cy="414857"/>
                  </a:xfrm>
                  <a:prstGeom prst="rect">
                    <a:avLst/>
                  </a:prstGeom>
                  <a:blipFill>
                    <a:blip r:embed="rId42"/>
                    <a:stretch>
                      <a:fillRect/>
                    </a:stretch>
                  </a:blipFill>
                </p:spPr>
                <p:txBody>
                  <a:bodyPr/>
                  <a:lstStyle/>
                  <a:p>
                    <a:r>
                      <a:rPr lang="zh-CN" altLang="en-US">
                        <a:noFill/>
                      </a:rPr>
                      <a:t> </a:t>
                    </a:r>
                  </a:p>
                </p:txBody>
              </p:sp>
            </mc:Fallback>
          </mc:AlternateContent>
          <p:sp>
            <p:nvSpPr>
              <p:cNvPr id="53" name="矩形 52"/>
              <p:cNvSpPr/>
              <p:nvPr/>
            </p:nvSpPr>
            <p:spPr>
              <a:xfrm>
                <a:off x="3744321" y="3334564"/>
                <a:ext cx="792088" cy="456215"/>
              </a:xfrm>
              <a:prstGeom prst="rect">
                <a:avLst/>
              </a:prstGeom>
            </p:spPr>
            <p:txBody>
              <a:bodyPr wrap="square">
                <a:spAutoFit/>
              </a:bodyPr>
              <a:lstStyle/>
              <a:p>
                <a:pPr algn="just">
                  <a:lnSpc>
                    <a:spcPct val="150000"/>
                  </a:lnSpc>
                </a:pPr>
                <a:endParaRPr lang="en-US" altLang="zh-CN"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54" name="椭圆 53"/>
              <p:cNvSpPr/>
              <p:nvPr/>
            </p:nvSpPr>
            <p:spPr>
              <a:xfrm rot="2739555">
                <a:off x="3834320" y="4149336"/>
                <a:ext cx="576064" cy="5760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矩形 54"/>
              <p:cNvSpPr/>
              <p:nvPr/>
            </p:nvSpPr>
            <p:spPr>
              <a:xfrm>
                <a:off x="3746767" y="4133076"/>
                <a:ext cx="792088" cy="456215"/>
              </a:xfrm>
              <a:prstGeom prst="rect">
                <a:avLst/>
              </a:prstGeom>
            </p:spPr>
            <p:txBody>
              <a:bodyPr wrap="square">
                <a:spAutoFit/>
              </a:bodyPr>
              <a:lstStyle/>
              <a:p>
                <a:pPr algn="just">
                  <a:lnSpc>
                    <a:spcPct val="150000"/>
                  </a:lnSpc>
                </a:pPr>
                <a:endParaRPr lang="en-US" altLang="zh-CN"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p:cxnSp>
            <p:nvCxnSpPr>
              <p:cNvPr id="56" name="直接箭头连接符 55"/>
              <p:cNvCxnSpPr>
                <a:stCxn id="20" idx="6"/>
                <a:endCxn id="54" idx="3"/>
              </p:cNvCxnSpPr>
              <p:nvPr/>
            </p:nvCxnSpPr>
            <p:spPr>
              <a:xfrm>
                <a:off x="3074696" y="3064952"/>
                <a:ext cx="759644" cy="136910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7" name="直接箭头连接符 56"/>
              <p:cNvCxnSpPr>
                <a:stCxn id="37" idx="6"/>
                <a:endCxn id="54" idx="3"/>
              </p:cNvCxnSpPr>
              <p:nvPr/>
            </p:nvCxnSpPr>
            <p:spPr>
              <a:xfrm>
                <a:off x="3099419" y="4023250"/>
                <a:ext cx="734921" cy="41080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58" name="直接箭头连接符 57"/>
              <p:cNvCxnSpPr>
                <a:stCxn id="22" idx="6"/>
                <a:endCxn id="54" idx="3"/>
              </p:cNvCxnSpPr>
              <p:nvPr/>
            </p:nvCxnSpPr>
            <p:spPr>
              <a:xfrm flipV="1">
                <a:off x="3072330" y="4434054"/>
                <a:ext cx="762010" cy="655869"/>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59" name="矩形 58"/>
                  <p:cNvSpPr/>
                  <p:nvPr/>
                </p:nvSpPr>
                <p:spPr>
                  <a:xfrm>
                    <a:off x="2754878" y="3131046"/>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1,2</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29" name="矩形 128"/>
                  <p:cNvSpPr>
                    <a:spLocks noRot="1" noChangeAspect="1" noMove="1" noResize="1" noEditPoints="1" noAdjustHandles="1" noChangeArrowheads="1" noChangeShapeType="1" noTextEdit="1"/>
                  </p:cNvSpPr>
                  <p:nvPr/>
                </p:nvSpPr>
                <p:spPr>
                  <a:xfrm>
                    <a:off x="2754878" y="3131046"/>
                    <a:ext cx="792088" cy="414857"/>
                  </a:xfrm>
                  <a:prstGeom prst="rect">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矩形 59"/>
                  <p:cNvSpPr/>
                  <p:nvPr/>
                </p:nvSpPr>
                <p:spPr>
                  <a:xfrm>
                    <a:off x="2901100" y="3913029"/>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2,2</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30" name="矩形 129"/>
                  <p:cNvSpPr>
                    <a:spLocks noRot="1" noChangeAspect="1" noMove="1" noResize="1" noEditPoints="1" noAdjustHandles="1" noChangeArrowheads="1" noChangeShapeType="1" noTextEdit="1"/>
                  </p:cNvSpPr>
                  <p:nvPr/>
                </p:nvSpPr>
                <p:spPr>
                  <a:xfrm>
                    <a:off x="2901100" y="3913029"/>
                    <a:ext cx="792088" cy="414857"/>
                  </a:xfrm>
                  <a:prstGeom prst="rect">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矩形 60"/>
                  <p:cNvSpPr/>
                  <p:nvPr/>
                </p:nvSpPr>
                <p:spPr>
                  <a:xfrm>
                    <a:off x="2875542" y="4820112"/>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3,2</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31" name="矩形 130"/>
                  <p:cNvSpPr>
                    <a:spLocks noRot="1" noChangeAspect="1" noMove="1" noResize="1" noEditPoints="1" noAdjustHandles="1" noChangeArrowheads="1" noChangeShapeType="1" noTextEdit="1"/>
                  </p:cNvSpPr>
                  <p:nvPr/>
                </p:nvSpPr>
                <p:spPr>
                  <a:xfrm>
                    <a:off x="2875542" y="4820112"/>
                    <a:ext cx="792088" cy="414857"/>
                  </a:xfrm>
                  <a:prstGeom prst="rect">
                    <a:avLst/>
                  </a:prstGeom>
                  <a:blipFill>
                    <a:blip r:embed="rId47"/>
                    <a:stretch>
                      <a:fillRect/>
                    </a:stretch>
                  </a:blipFill>
                </p:spPr>
                <p:txBody>
                  <a:bodyPr/>
                  <a:lstStyle/>
                  <a:p>
                    <a:r>
                      <a:rPr lang="zh-CN" altLang="en-US">
                        <a:noFill/>
                      </a:rPr>
                      <a:t> </a:t>
                    </a:r>
                  </a:p>
                </p:txBody>
              </p:sp>
            </mc:Fallback>
          </mc:AlternateContent>
          <p:cxnSp>
            <p:nvCxnSpPr>
              <p:cNvPr id="62" name="直接箭头连接符 61"/>
              <p:cNvCxnSpPr/>
              <p:nvPr/>
            </p:nvCxnSpPr>
            <p:spPr>
              <a:xfrm flipV="1">
                <a:off x="4416138" y="4440976"/>
                <a:ext cx="404877" cy="8849"/>
              </a:xfrm>
              <a:prstGeom prst="straightConnector1">
                <a:avLst/>
              </a:prstGeom>
              <a:noFill/>
              <a:ln w="15875" cap="flat" cmpd="sng">
                <a:solidFill>
                  <a:schemeClr val="tx1">
                    <a:lumMod val="65000"/>
                    <a:lumOff val="35000"/>
                  </a:schemeClr>
                </a:solidFill>
                <a:prstDash val="solid"/>
                <a:round/>
                <a:headEnd/>
                <a:tailEnd type="triangle"/>
              </a:ln>
              <a:effectLst/>
            </p:spPr>
          </p:cxnSp>
        </p:grpSp>
        <p:cxnSp>
          <p:nvCxnSpPr>
            <p:cNvPr id="18" name="直接箭头连接符 17"/>
            <p:cNvCxnSpPr>
              <a:stCxn id="10" idx="7"/>
              <a:endCxn id="54" idx="3"/>
            </p:cNvCxnSpPr>
            <p:nvPr/>
          </p:nvCxnSpPr>
          <p:spPr>
            <a:xfrm flipV="1">
              <a:off x="3161208" y="3982599"/>
              <a:ext cx="414518" cy="1581969"/>
            </a:xfrm>
            <a:prstGeom prst="straightConnector1">
              <a:avLst/>
            </a:prstGeom>
            <a:noFill/>
            <a:ln w="15875" cap="flat" cmpd="sng">
              <a:solidFill>
                <a:schemeClr val="tx1">
                  <a:lumMod val="65000"/>
                  <a:lumOff val="35000"/>
                </a:schemeClr>
              </a:solidFill>
              <a:prstDash val="sysDash"/>
              <a:round/>
              <a:headEnd/>
              <a:tailEnd type="triangle"/>
            </a:ln>
            <a:effectLst/>
          </p:spPr>
        </p:cxnSp>
      </p:grpSp>
      <mc:AlternateContent xmlns:mc="http://schemas.openxmlformats.org/markup-compatibility/2006" xmlns:a14="http://schemas.microsoft.com/office/drawing/2010/main">
        <mc:Choice Requires="a14">
          <p:sp>
            <p:nvSpPr>
              <p:cNvPr id="63" name="椭圆 62"/>
              <p:cNvSpPr/>
              <p:nvPr/>
            </p:nvSpPr>
            <p:spPr>
              <a:xfrm>
                <a:off x="2439848" y="5433450"/>
                <a:ext cx="576064" cy="576064"/>
              </a:xfrm>
              <a:prstGeom prst="ellipse">
                <a:avLst/>
              </a:prstGeom>
              <a:noFill/>
              <a:ln w="28575">
                <a:solidFill>
                  <a:srgbClr val="FFFF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i="1">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63" name="椭圆 62"/>
              <p:cNvSpPr>
                <a:spLocks noRot="1" noChangeAspect="1" noMove="1" noResize="1" noEditPoints="1" noAdjustHandles="1" noChangeArrowheads="1" noChangeShapeType="1" noTextEdit="1"/>
              </p:cNvSpPr>
              <p:nvPr/>
            </p:nvSpPr>
            <p:spPr>
              <a:xfrm>
                <a:off x="2439848" y="5433450"/>
                <a:ext cx="576064" cy="576064"/>
              </a:xfrm>
              <a:prstGeom prst="ellipse">
                <a:avLst/>
              </a:prstGeom>
              <a:blipFill rotWithShape="0">
                <a:blip r:embed="rId48"/>
                <a:stretch>
                  <a:fillRect/>
                </a:stretch>
              </a:blipFill>
              <a:ln w="28575">
                <a:solidFill>
                  <a:srgbClr val="FFFF00"/>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p:cNvSpPr/>
              <p:nvPr/>
            </p:nvSpPr>
            <p:spPr>
              <a:xfrm>
                <a:off x="1372599" y="2328180"/>
                <a:ext cx="471988"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1</m:t>
                          </m:r>
                        </m:sub>
                      </m:sSub>
                    </m:oMath>
                  </m:oMathPara>
                </a14:m>
                <a:endParaRPr lang="zh-CN" altLang="en-US" dirty="0"/>
              </a:p>
            </p:txBody>
          </p:sp>
        </mc:Choice>
        <mc:Fallback xmlns="">
          <p:sp>
            <p:nvSpPr>
              <p:cNvPr id="64" name="矩形 63"/>
              <p:cNvSpPr>
                <a:spLocks noRot="1" noChangeAspect="1" noMove="1" noResize="1" noEditPoints="1" noAdjustHandles="1" noChangeArrowheads="1" noChangeShapeType="1" noTextEdit="1"/>
              </p:cNvSpPr>
              <p:nvPr/>
            </p:nvSpPr>
            <p:spPr>
              <a:xfrm>
                <a:off x="1372599" y="2328180"/>
                <a:ext cx="471988" cy="369332"/>
              </a:xfrm>
              <a:prstGeom prst="rect">
                <a:avLst/>
              </a:prstGeom>
              <a:blipFill rotWithShape="0">
                <a:blip r:embed="rId4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矩形 64"/>
              <p:cNvSpPr/>
              <p:nvPr/>
            </p:nvSpPr>
            <p:spPr>
              <a:xfrm>
                <a:off x="1369938" y="3383591"/>
                <a:ext cx="477310"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65" name="矩形 64"/>
              <p:cNvSpPr>
                <a:spLocks noRot="1" noChangeAspect="1" noMove="1" noResize="1" noEditPoints="1" noAdjustHandles="1" noChangeArrowheads="1" noChangeShapeType="1" noTextEdit="1"/>
              </p:cNvSpPr>
              <p:nvPr/>
            </p:nvSpPr>
            <p:spPr>
              <a:xfrm>
                <a:off x="1369938" y="3383591"/>
                <a:ext cx="477310" cy="369332"/>
              </a:xfrm>
              <a:prstGeom prst="rect">
                <a:avLst/>
              </a:prstGeom>
              <a:blipFill rotWithShape="0">
                <a:blip r:embed="rId5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矩形 65"/>
              <p:cNvSpPr/>
              <p:nvPr/>
            </p:nvSpPr>
            <p:spPr>
              <a:xfrm>
                <a:off x="1399803" y="4427675"/>
                <a:ext cx="477310"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oMath>
                  </m:oMathPara>
                </a14:m>
                <a:endParaRPr lang="zh-CN" altLang="en-US" dirty="0"/>
              </a:p>
            </p:txBody>
          </p:sp>
        </mc:Choice>
        <mc:Fallback xmlns="">
          <p:sp>
            <p:nvSpPr>
              <p:cNvPr id="66" name="矩形 65"/>
              <p:cNvSpPr>
                <a:spLocks noRot="1" noChangeAspect="1" noMove="1" noResize="1" noEditPoints="1" noAdjustHandles="1" noChangeArrowheads="1" noChangeShapeType="1" noTextEdit="1"/>
              </p:cNvSpPr>
              <p:nvPr/>
            </p:nvSpPr>
            <p:spPr>
              <a:xfrm>
                <a:off x="1399803" y="4427675"/>
                <a:ext cx="477310" cy="369332"/>
              </a:xfrm>
              <a:prstGeom prst="rect">
                <a:avLst/>
              </a:prstGeom>
              <a:blipFill rotWithShape="0">
                <a:blip r:embed="rId5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矩形 66"/>
              <p:cNvSpPr/>
              <p:nvPr/>
            </p:nvSpPr>
            <p:spPr>
              <a:xfrm>
                <a:off x="3428608" y="1938447"/>
                <a:ext cx="479042"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1</m:t>
                          </m:r>
                        </m:sub>
                      </m:sSub>
                    </m:oMath>
                  </m:oMathPara>
                </a14:m>
                <a:endParaRPr lang="zh-CN" altLang="en-US" dirty="0"/>
              </a:p>
            </p:txBody>
          </p:sp>
        </mc:Choice>
        <mc:Fallback xmlns="">
          <p:sp>
            <p:nvSpPr>
              <p:cNvPr id="67" name="矩形 66"/>
              <p:cNvSpPr>
                <a:spLocks noRot="1" noChangeAspect="1" noMove="1" noResize="1" noEditPoints="1" noAdjustHandles="1" noChangeArrowheads="1" noChangeShapeType="1" noTextEdit="1"/>
              </p:cNvSpPr>
              <p:nvPr/>
            </p:nvSpPr>
            <p:spPr>
              <a:xfrm>
                <a:off x="3428608" y="1938447"/>
                <a:ext cx="479042" cy="369332"/>
              </a:xfrm>
              <a:prstGeom prst="rect">
                <a:avLst/>
              </a:prstGeom>
              <a:blipFill rotWithShape="0">
                <a:blip r:embed="rId5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矩形 67"/>
              <p:cNvSpPr/>
              <p:nvPr/>
            </p:nvSpPr>
            <p:spPr>
              <a:xfrm>
                <a:off x="3415362" y="2941393"/>
                <a:ext cx="48436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2</m:t>
                          </m:r>
                        </m:sub>
                      </m:sSub>
                    </m:oMath>
                  </m:oMathPara>
                </a14:m>
                <a:endParaRPr lang="zh-CN" altLang="en-US" dirty="0"/>
              </a:p>
            </p:txBody>
          </p:sp>
        </mc:Choice>
        <mc:Fallback xmlns="">
          <p:sp>
            <p:nvSpPr>
              <p:cNvPr id="68" name="矩形 67"/>
              <p:cNvSpPr>
                <a:spLocks noRot="1" noChangeAspect="1" noMove="1" noResize="1" noEditPoints="1" noAdjustHandles="1" noChangeArrowheads="1" noChangeShapeType="1" noTextEdit="1"/>
              </p:cNvSpPr>
              <p:nvPr/>
            </p:nvSpPr>
            <p:spPr>
              <a:xfrm>
                <a:off x="3415362" y="2941393"/>
                <a:ext cx="484363" cy="369332"/>
              </a:xfrm>
              <a:prstGeom prst="rect">
                <a:avLst/>
              </a:prstGeom>
              <a:blipFill rotWithShape="0">
                <a:blip r:embed="rId5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p:cNvSpPr/>
              <p:nvPr/>
            </p:nvSpPr>
            <p:spPr>
              <a:xfrm>
                <a:off x="3365780" y="3957402"/>
                <a:ext cx="48436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3</m:t>
                          </m:r>
                        </m:sub>
                      </m:sSub>
                    </m:oMath>
                  </m:oMathPara>
                </a14:m>
                <a:endParaRPr lang="zh-CN" altLang="en-US" dirty="0"/>
              </a:p>
            </p:txBody>
          </p:sp>
        </mc:Choice>
        <mc:Fallback xmlns="">
          <p:sp>
            <p:nvSpPr>
              <p:cNvPr id="69" name="矩形 68"/>
              <p:cNvSpPr>
                <a:spLocks noRot="1" noChangeAspect="1" noMove="1" noResize="1" noEditPoints="1" noAdjustHandles="1" noChangeArrowheads="1" noChangeShapeType="1" noTextEdit="1"/>
              </p:cNvSpPr>
              <p:nvPr/>
            </p:nvSpPr>
            <p:spPr>
              <a:xfrm>
                <a:off x="3365780" y="3957402"/>
                <a:ext cx="484363" cy="369332"/>
              </a:xfrm>
              <a:prstGeom prst="rect">
                <a:avLst/>
              </a:prstGeom>
              <a:blipFill rotWithShape="0">
                <a:blip r:embed="rId5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p:cNvSpPr/>
              <p:nvPr/>
            </p:nvSpPr>
            <p:spPr>
              <a:xfrm>
                <a:off x="5128656" y="2774576"/>
                <a:ext cx="47365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1</m:t>
                          </m:r>
                        </m:sub>
                      </m:sSub>
                    </m:oMath>
                  </m:oMathPara>
                </a14:m>
                <a:endParaRPr lang="zh-CN" altLang="en-US" dirty="0"/>
              </a:p>
            </p:txBody>
          </p:sp>
        </mc:Choice>
        <mc:Fallback xmlns="">
          <p:sp>
            <p:nvSpPr>
              <p:cNvPr id="70" name="矩形 69"/>
              <p:cNvSpPr>
                <a:spLocks noRot="1" noChangeAspect="1" noMove="1" noResize="1" noEditPoints="1" noAdjustHandles="1" noChangeArrowheads="1" noChangeShapeType="1" noTextEdit="1"/>
              </p:cNvSpPr>
              <p:nvPr/>
            </p:nvSpPr>
            <p:spPr>
              <a:xfrm>
                <a:off x="5128656" y="2774576"/>
                <a:ext cx="473656" cy="369332"/>
              </a:xfrm>
              <a:prstGeom prst="rect">
                <a:avLst/>
              </a:prstGeom>
              <a:blipFill rotWithShape="0">
                <a:blip r:embed="rId55"/>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矩形 70"/>
              <p:cNvSpPr/>
              <p:nvPr/>
            </p:nvSpPr>
            <p:spPr>
              <a:xfrm>
                <a:off x="5128656" y="3597624"/>
                <a:ext cx="47897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𝑦</m:t>
                          </m:r>
                        </m:e>
                        <m:sub>
                          <m:r>
                            <a:rPr lang="en-US" altLang="zh-CN" b="0" i="1" kern="0" smtClean="0">
                              <a:latin typeface="Cambria Math" panose="02040503050406030204" pitchFamily="18" charset="0"/>
                              <a:ea typeface="微软雅黑" panose="020B0503020204020204" pitchFamily="34" charset="-122"/>
                            </a:rPr>
                            <m:t>2</m:t>
                          </m:r>
                        </m:sub>
                      </m:sSub>
                    </m:oMath>
                  </m:oMathPara>
                </a14:m>
                <a:endParaRPr lang="zh-CN" altLang="en-US" dirty="0"/>
              </a:p>
            </p:txBody>
          </p:sp>
        </mc:Choice>
        <mc:Fallback xmlns="">
          <p:sp>
            <p:nvSpPr>
              <p:cNvPr id="71" name="矩形 70"/>
              <p:cNvSpPr>
                <a:spLocks noRot="1" noChangeAspect="1" noMove="1" noResize="1" noEditPoints="1" noAdjustHandles="1" noChangeArrowheads="1" noChangeShapeType="1" noTextEdit="1"/>
              </p:cNvSpPr>
              <p:nvPr/>
            </p:nvSpPr>
            <p:spPr>
              <a:xfrm>
                <a:off x="5128656" y="3597624"/>
                <a:ext cx="478977" cy="369332"/>
              </a:xfrm>
              <a:prstGeom prst="rect">
                <a:avLst/>
              </a:prstGeom>
              <a:blipFill rotWithShape="0">
                <a:blip r:embed="rId56"/>
                <a:stretch>
                  <a:fillRect b="-6557"/>
                </a:stretch>
              </a:blipFill>
            </p:spPr>
            <p:txBody>
              <a:bodyPr/>
              <a:lstStyle/>
              <a:p>
                <a:r>
                  <a:rPr lang="zh-CN" altLang="en-US">
                    <a:noFill/>
                  </a:rPr>
                  <a:t> </a:t>
                </a:r>
              </a:p>
            </p:txBody>
          </p:sp>
        </mc:Fallback>
      </mc:AlternateContent>
      <p:sp>
        <p:nvSpPr>
          <p:cNvPr id="72" name="文本框 71"/>
          <p:cNvSpPr txBox="1"/>
          <p:nvPr/>
        </p:nvSpPr>
        <p:spPr>
          <a:xfrm>
            <a:off x="1608593" y="1667252"/>
            <a:ext cx="723924" cy="369332"/>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输入</a:t>
            </a:r>
          </a:p>
        </p:txBody>
      </p:sp>
      <p:sp>
        <p:nvSpPr>
          <p:cNvPr id="73" name="文本框 72"/>
          <p:cNvSpPr txBox="1"/>
          <p:nvPr/>
        </p:nvSpPr>
        <p:spPr>
          <a:xfrm>
            <a:off x="3296947" y="1636886"/>
            <a:ext cx="723924" cy="369332"/>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隐层</a:t>
            </a:r>
          </a:p>
        </p:txBody>
      </p:sp>
      <p:sp>
        <p:nvSpPr>
          <p:cNvPr id="74" name="文本框 73"/>
          <p:cNvSpPr txBox="1"/>
          <p:nvPr/>
        </p:nvSpPr>
        <p:spPr>
          <a:xfrm>
            <a:off x="4481635" y="1639562"/>
            <a:ext cx="928710" cy="369332"/>
          </a:xfrm>
          <a:prstGeom prst="rect">
            <a:avLst/>
          </a:prstGeom>
          <a:noFill/>
        </p:spPr>
        <p:txBody>
          <a:bodyPr wrap="square" rtlCol="0">
            <a:spAutoFit/>
          </a:bodyPr>
          <a:lstStyle/>
          <a:p>
            <a:r>
              <a:rPr lang="zh-CN" altLang="en-US" dirty="0">
                <a:latin typeface="微软雅黑 Light" panose="020B0502040204020203" pitchFamily="34" charset="-122"/>
                <a:ea typeface="微软雅黑 Light" panose="020B0502040204020203" pitchFamily="34" charset="-122"/>
              </a:rPr>
              <a:t>输出层</a:t>
            </a:r>
          </a:p>
        </p:txBody>
      </p:sp>
      <p:sp>
        <p:nvSpPr>
          <p:cNvPr id="77" name="灯片编号占位符 8">
            <a:extLst>
              <a:ext uri="{FF2B5EF4-FFF2-40B4-BE49-F238E27FC236}">
                <a16:creationId xmlns:a16="http://schemas.microsoft.com/office/drawing/2014/main" id="{57226441-ECA6-47B5-B5FD-6643E46BFABC}"/>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36</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0596402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正向计算</a:t>
            </a:r>
            <a:endParaRPr lang="en-US" altLang="zh-CN" sz="2600" b="1" dirty="0"/>
          </a:p>
        </p:txBody>
      </p:sp>
      <p:sp>
        <p:nvSpPr>
          <p:cNvPr id="8" name="矩形 7"/>
          <p:cNvSpPr/>
          <p:nvPr/>
        </p:nvSpPr>
        <p:spPr>
          <a:xfrm>
            <a:off x="6006905" y="1632482"/>
            <a:ext cx="4178800" cy="923330"/>
          </a:xfrm>
          <a:prstGeom prst="rect">
            <a:avLst/>
          </a:prstGeom>
        </p:spPr>
        <p:txBody>
          <a:bodyPr wrap="square">
            <a:spAutoFit/>
          </a:bodyPr>
          <a:lstStyle/>
          <a:p>
            <a:pPr marL="285750" indent="-285750" latinLnBrk="1">
              <a:lnSpc>
                <a:spcPct val="150000"/>
              </a:lnSpc>
              <a:buFont typeface="Wingdings" panose="05000000000000000000" pitchFamily="2" charset="2"/>
              <a:buChar char="Ø"/>
            </a:pPr>
            <a:r>
              <a:rPr lang="zh-CN" altLang="en-US" dirty="0">
                <a:solidFill>
                  <a:srgbClr val="333333"/>
                </a:solidFill>
                <a:latin typeface="微软雅黑 Light" panose="020B0502040204020203" pitchFamily="34" charset="-122"/>
                <a:ea typeface="微软雅黑 Light" panose="020B0502040204020203" pitchFamily="34" charset="-122"/>
              </a:rPr>
              <a:t>使用 </a:t>
            </a:r>
            <a:r>
              <a:rPr lang="en-US" altLang="zh-CN" dirty="0">
                <a:solidFill>
                  <a:srgbClr val="333333"/>
                </a:solidFill>
                <a:latin typeface="微软雅黑 Light" panose="020B0502040204020203" pitchFamily="34" charset="-122"/>
                <a:ea typeface="微软雅黑 Light" panose="020B0502040204020203" pitchFamily="34" charset="-122"/>
              </a:rPr>
              <a:t>sigmoid </a:t>
            </a:r>
            <a:r>
              <a:rPr lang="zh-CN" altLang="en-US" dirty="0">
                <a:solidFill>
                  <a:srgbClr val="333333"/>
                </a:solidFill>
                <a:latin typeface="微软雅黑 Light" panose="020B0502040204020203" pitchFamily="34" charset="-122"/>
                <a:ea typeface="微软雅黑 Light" panose="020B0502040204020203" pitchFamily="34" charset="-122"/>
              </a:rPr>
              <a:t>函数作为激活函数</a:t>
            </a:r>
            <a:endParaRPr lang="en-US" altLang="zh-CN" dirty="0">
              <a:solidFill>
                <a:srgbClr val="333333"/>
              </a:solidFill>
              <a:latin typeface="微软雅黑 Light" panose="020B0502040204020203" pitchFamily="34" charset="-122"/>
              <a:ea typeface="微软雅黑 Light" panose="020B0502040204020203" pitchFamily="34" charset="-122"/>
            </a:endParaRPr>
          </a:p>
          <a:p>
            <a:pPr latinLnBrk="1">
              <a:lnSpc>
                <a:spcPct val="150000"/>
              </a:lnSpc>
            </a:pPr>
            <a:r>
              <a:rPr lang="en-US" altLang="zh-CN" dirty="0">
                <a:solidFill>
                  <a:srgbClr val="333333"/>
                </a:solidFill>
                <a:latin typeface="微软雅黑 Light" panose="020B0502040204020203" pitchFamily="34" charset="-122"/>
                <a:ea typeface="微软雅黑 Light" panose="020B0502040204020203" pitchFamily="34" charset="-122"/>
              </a:rPr>
              <a:t>  </a:t>
            </a:r>
          </a:p>
        </p:txBody>
      </p:sp>
      <mc:AlternateContent xmlns:mc="http://schemas.openxmlformats.org/markup-compatibility/2006" xmlns:a14="http://schemas.microsoft.com/office/drawing/2010/main">
        <mc:Choice Requires="a14">
          <p:sp>
            <p:nvSpPr>
              <p:cNvPr id="9" name="文本框 8"/>
              <p:cNvSpPr txBox="1"/>
              <p:nvPr/>
            </p:nvSpPr>
            <p:spPr>
              <a:xfrm>
                <a:off x="6909849" y="2138228"/>
                <a:ext cx="2135927" cy="6173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𝑥</m:t>
                              </m:r>
                            </m:sup>
                          </m:sSup>
                        </m:den>
                      </m:f>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6909849" y="2138228"/>
                <a:ext cx="2135927" cy="617348"/>
              </a:xfrm>
              <a:prstGeom prst="rect">
                <a:avLst/>
              </a:prstGeom>
              <a:blipFill rotWithShape="0">
                <a:blip r:embed="rId5"/>
                <a:stretch>
                  <a:fillRect/>
                </a:stretch>
              </a:blipFill>
            </p:spPr>
            <p:txBody>
              <a:bodyPr/>
              <a:lstStyle/>
              <a:p>
                <a:r>
                  <a:rPr lang="zh-CN" altLang="en-US">
                    <a:noFill/>
                  </a:rPr>
                  <a:t> </a:t>
                </a:r>
              </a:p>
            </p:txBody>
          </p:sp>
        </mc:Fallback>
      </mc:AlternateContent>
      <p:sp>
        <p:nvSpPr>
          <p:cNvPr id="10" name="矩形 9"/>
          <p:cNvSpPr/>
          <p:nvPr/>
        </p:nvSpPr>
        <p:spPr>
          <a:xfrm>
            <a:off x="6189729" y="3071430"/>
            <a:ext cx="2492990" cy="369332"/>
          </a:xfrm>
          <a:prstGeom prst="rect">
            <a:avLst/>
          </a:prstGeom>
        </p:spPr>
        <p:txBody>
          <a:bodyPr wrap="none">
            <a:spAutoFit/>
          </a:bodyPr>
          <a:lstStyle/>
          <a:p>
            <a:pPr latinLnBrk="1"/>
            <a:r>
              <a:rPr lang="zh-CN" altLang="en-US" dirty="0">
                <a:latin typeface="微软雅黑 Light" panose="020B0502040204020203" pitchFamily="34" charset="-122"/>
                <a:ea typeface="微软雅黑 Light" panose="020B0502040204020203" pitchFamily="34" charset="-122"/>
              </a:rPr>
              <a:t>前向传输：输入到隐层</a:t>
            </a:r>
            <a:endParaRPr lang="zh-CN" altLang="en-US" i="0" dirty="0">
              <a:effectLst/>
              <a:latin typeface="微软雅黑 Light" panose="020B0502040204020203" pitchFamily="34" charset="-122"/>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11" name="矩形 10"/>
              <p:cNvSpPr/>
              <p:nvPr/>
            </p:nvSpPr>
            <p:spPr>
              <a:xfrm>
                <a:off x="6181096" y="3465685"/>
                <a:ext cx="3477875" cy="1906035"/>
              </a:xfrm>
              <a:prstGeom prst="rect">
                <a:avLst/>
              </a:prstGeom>
            </p:spPr>
            <p:txBody>
              <a:bodyPr wrap="none">
                <a:spAutoFit/>
              </a:bodyPr>
              <a:lstStyle/>
              <a:p>
                <a:r>
                  <a:rPr lang="en-US" altLang="zh-CN" dirty="0">
                    <a:solidFill>
                      <a:srgbClr val="333333"/>
                    </a:solidFill>
                    <a:latin typeface="微软雅黑 Light" panose="020B0502040204020203" pitchFamily="34" charset="-122"/>
                    <a:ea typeface="微软雅黑 Light" panose="020B0502040204020203" pitchFamily="34" charset="-122"/>
                  </a:rPr>
                  <a:t> </a:t>
                </a:r>
                <a14:m>
                  <m:oMath xmlns:m="http://schemas.openxmlformats.org/officeDocument/2006/math">
                    <m:r>
                      <a:rPr lang="en-US" altLang="zh-CN" b="1" i="1" smtClean="0">
                        <a:latin typeface="Cambria Math" panose="02040503050406030204" pitchFamily="18" charset="0"/>
                      </a:rPr>
                      <m:t>𝒗</m:t>
                    </m:r>
                    <m:r>
                      <a:rPr lang="en-US" altLang="zh-CN" b="0" i="1" smtClean="0">
                        <a:solidFill>
                          <a:srgbClr val="333333"/>
                        </a:solidFill>
                        <a:latin typeface="Cambria Math" panose="02040503050406030204" pitchFamily="18" charset="0"/>
                        <a:ea typeface="微软雅黑" panose="020B0503020204020204" pitchFamily="34" charset="-122"/>
                      </a:rPr>
                      <m:t>=</m:t>
                    </m:r>
                    <m:sSup>
                      <m:sSupPr>
                        <m:ctrlPr>
                          <a:rPr lang="en-US" altLang="zh-CN" i="1" kern="0">
                            <a:latin typeface="Cambria Math" panose="02040503050406030204" pitchFamily="18" charset="0"/>
                            <a:ea typeface="微软雅黑" panose="020B0503020204020204" pitchFamily="34" charset="-122"/>
                          </a:rPr>
                        </m:ctrlPr>
                      </m:sSupPr>
                      <m:e>
                        <m:sSup>
                          <m:sSupPr>
                            <m:ctrlPr>
                              <a:rPr lang="en-US" altLang="zh-CN" i="1" kern="0">
                                <a:latin typeface="Cambria Math" panose="02040503050406030204" pitchFamily="18" charset="0"/>
                                <a:ea typeface="微软雅黑" panose="020B0503020204020204" pitchFamily="34" charset="-122"/>
                              </a:rPr>
                            </m:ctrlPr>
                          </m:sSupPr>
                          <m:e>
                            <m:r>
                              <a:rPr lang="en-US" altLang="zh-CN" i="1" kern="0">
                                <a:latin typeface="Cambria Math" panose="02040503050406030204" pitchFamily="18" charset="0"/>
                                <a:ea typeface="微软雅黑" panose="020B0503020204020204" pitchFamily="34" charset="-122"/>
                              </a:rPr>
                              <m:t>𝑊</m:t>
                            </m:r>
                          </m:e>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1</m:t>
                                </m:r>
                              </m:e>
                            </m:d>
                          </m:sup>
                        </m:sSup>
                      </m:e>
                      <m:sup>
                        <m:r>
                          <a:rPr lang="en-US" altLang="zh-CN" i="1" kern="0">
                            <a:latin typeface="Cambria Math" panose="02040503050406030204" pitchFamily="18" charset="0"/>
                            <a:ea typeface="微软雅黑" panose="020B0503020204020204" pitchFamily="34" charset="-122"/>
                          </a:rPr>
                          <m:t>𝑇</m:t>
                        </m:r>
                      </m:sup>
                    </m:sSup>
                    <m:r>
                      <a:rPr lang="en-US" altLang="zh-CN" b="1" i="1" kern="0">
                        <a:latin typeface="Cambria Math" panose="02040503050406030204" pitchFamily="18" charset="0"/>
                        <a:ea typeface="微软雅黑" panose="020B0503020204020204" pitchFamily="34" charset="-122"/>
                      </a:rPr>
                      <m:t>𝒙</m:t>
                    </m:r>
                  </m:oMath>
                </a14:m>
                <a:r>
                  <a:rPr lang="en-US" altLang="zh-CN" kern="0" dirty="0">
                    <a:latin typeface="微软雅黑 Light" panose="020B0502040204020203" pitchFamily="34" charset="-122"/>
                    <a:ea typeface="微软雅黑 Light" panose="020B0502040204020203" pitchFamily="34" charset="-122"/>
                  </a:rPr>
                  <a:t>+</a:t>
                </a:r>
                <a:r>
                  <a:rPr lang="en-US" altLang="zh-CN" kern="0" dirty="0">
                    <a:ea typeface="微软雅黑" panose="020B0503020204020204" pitchFamily="34" charset="-122"/>
                  </a:rPr>
                  <a:t> </a:t>
                </a:r>
                <a14:m>
                  <m:oMath xmlns:m="http://schemas.openxmlformats.org/officeDocument/2006/math">
                    <m:r>
                      <a:rPr lang="en-US" altLang="zh-CN" i="1" kern="0">
                        <a:latin typeface="Cambria Math" panose="02040503050406030204" pitchFamily="18" charset="0"/>
                        <a:ea typeface="微软雅黑" panose="020B0503020204020204" pitchFamily="34" charset="-122"/>
                      </a:rPr>
                      <m:t>𝑏</m:t>
                    </m:r>
                    <m:r>
                      <a:rPr lang="en-US" altLang="zh-CN" i="1" kern="0" baseline="-25000">
                        <a:latin typeface="Cambria Math" panose="02040503050406030204" pitchFamily="18" charset="0"/>
                        <a:ea typeface="微软雅黑" panose="020B0503020204020204" pitchFamily="34" charset="-122"/>
                      </a:rPr>
                      <m:t>1</m:t>
                    </m:r>
                  </m:oMath>
                </a14:m>
                <a:endParaRPr lang="en-US" altLang="zh-CN" i="1" kern="0" dirty="0">
                  <a:latin typeface="Cambria Math" panose="02040503050406030204" pitchFamily="18" charset="0"/>
                  <a:ea typeface="微软雅黑 Light" panose="020B0502040204020203" pitchFamily="34" charset="-122"/>
                </a:endParaRPr>
              </a:p>
              <a:p>
                <a:r>
                  <a:rPr lang="en-US" altLang="zh-CN" b="0" kern="0" dirty="0">
                    <a:ea typeface="微软雅黑 Light" panose="020B0502040204020203" pitchFamily="34" charset="-122"/>
                  </a:rPr>
                  <a:t>    </a:t>
                </a:r>
                <a14:m>
                  <m:oMath xmlns:m="http://schemas.openxmlformats.org/officeDocument/2006/math">
                    <m:r>
                      <a:rPr lang="en-US" altLang="zh-CN" b="0" i="1" kern="0" smtClea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1,3</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2,3</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3,3</m:t>
                                  </m:r>
                                </m:sub>
                                <m:sup>
                                  <m:r>
                                    <a:rPr lang="en-US" altLang="zh-CN" i="1" kern="0">
                                      <a:latin typeface="Cambria Math" panose="02040503050406030204" pitchFamily="18" charset="0"/>
                                      <a:ea typeface="微软雅黑" panose="020B0503020204020204" pitchFamily="34" charset="-122"/>
                                    </a:rPr>
                                    <m:t>(1)</m:t>
                                  </m:r>
                                </m:sup>
                              </m:sSubSup>
                            </m:e>
                          </m:mr>
                        </m:m>
                      </m:e>
                    </m:d>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smtClean="0">
                                <a:latin typeface="Cambria Math" panose="02040503050406030204" pitchFamily="18" charset="0"/>
                                <a:ea typeface="微软雅黑" panose="020B0503020204020204" pitchFamily="34" charset="-122"/>
                              </a:rPr>
                            </m:ctrlPr>
                          </m:mP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1</m:t>
                                  </m:r>
                                </m:sub>
                              </m:sSub>
                            </m:e>
                          </m:m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m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e>
                          </m:mr>
                        </m:m>
                      </m:e>
                    </m:d>
                  </m:oMath>
                </a14:m>
                <a:r>
                  <a:rPr lang="en-US" altLang="zh-CN" kern="0" dirty="0">
                    <a:latin typeface="微软雅黑 Light" panose="020B0502040204020203" pitchFamily="34" charset="-122"/>
                    <a:ea typeface="微软雅黑 Light" panose="020B0502040204020203" pitchFamily="34" charset="-122"/>
                  </a:rPr>
                  <a:t>+</a:t>
                </a:r>
                <a:r>
                  <a:rPr lang="en-US" altLang="zh-CN" kern="0" dirty="0">
                    <a:ea typeface="微软雅黑" panose="020B0503020204020204" pitchFamily="34" charset="-122"/>
                  </a:rPr>
                  <a:t> </a:t>
                </a:r>
                <a14:m>
                  <m:oMath xmlns:m="http://schemas.openxmlformats.org/officeDocument/2006/math">
                    <m:r>
                      <a:rPr lang="en-US" altLang="zh-CN" b="0" i="1" kern="0" smtClean="0">
                        <a:latin typeface="Cambria Math" panose="02040503050406030204" pitchFamily="18" charset="0"/>
                        <a:ea typeface="微软雅黑" panose="020B0503020204020204" pitchFamily="34" charset="-122"/>
                      </a:rPr>
                      <m:t>𝑏</m:t>
                    </m:r>
                    <m:r>
                      <a:rPr lang="en-US" altLang="zh-CN" b="0" i="1" kern="0" baseline="-25000" smtClean="0">
                        <a:latin typeface="Cambria Math" panose="02040503050406030204" pitchFamily="18" charset="0"/>
                        <a:ea typeface="微软雅黑" panose="020B0503020204020204" pitchFamily="34" charset="-122"/>
                      </a:rPr>
                      <m:t>1</m:t>
                    </m:r>
                  </m:oMath>
                </a14:m>
                <a:endParaRPr lang="en-US" altLang="zh-CN" kern="0" baseline="-25000" dirty="0">
                  <a:latin typeface="微软雅黑 Light" panose="020B0502040204020203" pitchFamily="34" charset="-122"/>
                  <a:ea typeface="微软雅黑 Light" panose="020B0502040204020203" pitchFamily="34" charset="-122"/>
                </a:endParaRPr>
              </a:p>
              <a:p>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1" name="矩形 10"/>
              <p:cNvSpPr>
                <a:spLocks noRot="1" noChangeAspect="1" noMove="1" noResize="1" noEditPoints="1" noAdjustHandles="1" noChangeArrowheads="1" noChangeShapeType="1" noTextEdit="1"/>
              </p:cNvSpPr>
              <p:nvPr/>
            </p:nvSpPr>
            <p:spPr>
              <a:xfrm>
                <a:off x="6181096" y="3465685"/>
                <a:ext cx="3477875" cy="190603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6261777" y="5256428"/>
                <a:ext cx="3600400" cy="778931"/>
              </a:xfrm>
              <a:prstGeom prst="rect">
                <a:avLst/>
              </a:prstGeom>
            </p:spPr>
            <p:txBody>
              <a:bodyPr wrap="square">
                <a:spAutoFit/>
              </a:bodyPr>
              <a:lstStyle/>
              <a:p>
                <a:r>
                  <a:rPr lang="en-US" altLang="zh-CN" dirty="0">
                    <a:solidFill>
                      <a:srgbClr val="333333"/>
                    </a:solidFill>
                    <a:latin typeface="微软雅黑 Light" panose="020B0502040204020203" pitchFamily="34" charset="-122"/>
                    <a:ea typeface="微软雅黑 Light" panose="020B0502040204020203" pitchFamily="34" charset="-122"/>
                  </a:rPr>
                  <a:t> </a:t>
                </a:r>
                <a14:m>
                  <m:oMath xmlns:m="http://schemas.openxmlformats.org/officeDocument/2006/math">
                    <m:r>
                      <a:rPr lang="en-US" altLang="zh-CN" b="1" i="1" smtClean="0">
                        <a:latin typeface="Cambria Math" panose="02040503050406030204" pitchFamily="18" charset="0"/>
                      </a:rPr>
                      <m:t>𝒉</m:t>
                    </m:r>
                    <m:r>
                      <a:rPr lang="en-US" altLang="zh-CN" b="0" i="1" smtClean="0">
                        <a:solidFill>
                          <a:srgbClr val="333333"/>
                        </a:solidFill>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b="1" i="1" smtClean="0">
                                <a:latin typeface="Cambria Math" panose="02040503050406030204" pitchFamily="18" charset="0"/>
                              </a:rPr>
                              <m:t>𝒗</m:t>
                            </m:r>
                          </m:sup>
                        </m:sSup>
                      </m:den>
                    </m:f>
                  </m:oMath>
                </a14:m>
                <a:endParaRPr lang="en-US" altLang="zh-CN" kern="0" dirty="0">
                  <a:latin typeface="微软雅黑 Light" panose="020B0502040204020203" pitchFamily="34" charset="-122"/>
                  <a:ea typeface="微软雅黑 Light" panose="020B0502040204020203" pitchFamily="34" charset="-122"/>
                </a:endParaRPr>
              </a:p>
              <a:p>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6261777" y="5256428"/>
                <a:ext cx="3600400" cy="778931"/>
              </a:xfrm>
              <a:prstGeom prst="rect">
                <a:avLst/>
              </a:prstGeom>
              <a:blipFill rotWithShape="0">
                <a:blip r:embed="rId7"/>
                <a:stretch>
                  <a:fillRect/>
                </a:stretch>
              </a:blipFill>
            </p:spPr>
            <p:txBody>
              <a:bodyPr/>
              <a:lstStyle/>
              <a:p>
                <a:r>
                  <a:rPr lang="zh-CN" altLang="en-US">
                    <a:noFill/>
                  </a:rPr>
                  <a:t> </a:t>
                </a:r>
              </a:p>
            </p:txBody>
          </p:sp>
        </mc:Fallback>
      </mc:AlternateContent>
      <p:grpSp>
        <p:nvGrpSpPr>
          <p:cNvPr id="13" name="组合 12"/>
          <p:cNvGrpSpPr/>
          <p:nvPr/>
        </p:nvGrpSpPr>
        <p:grpSpPr>
          <a:xfrm>
            <a:off x="2062851" y="2060273"/>
            <a:ext cx="3939093" cy="3850143"/>
            <a:chOff x="627946" y="2243153"/>
            <a:chExt cx="3939093" cy="3850143"/>
          </a:xfrm>
        </p:grpSpPr>
        <mc:AlternateContent xmlns:mc="http://schemas.openxmlformats.org/markup-compatibility/2006" xmlns:a14="http://schemas.microsoft.com/office/drawing/2010/main">
          <mc:Choice Requires="a14">
            <p:sp>
              <p:nvSpPr>
                <p:cNvPr id="14" name="椭圆 13"/>
                <p:cNvSpPr/>
                <p:nvPr/>
              </p:nvSpPr>
              <p:spPr>
                <a:xfrm>
                  <a:off x="713737" y="5466242"/>
                  <a:ext cx="576064" cy="576064"/>
                </a:xfrm>
                <a:prstGeom prst="ellipse">
                  <a:avLst/>
                </a:prstGeom>
                <a:noFill/>
                <a:ln w="28575">
                  <a:solidFill>
                    <a:srgbClr val="FFFF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52" name="椭圆 51"/>
                <p:cNvSpPr>
                  <a:spLocks noRot="1" noChangeAspect="1" noMove="1" noResize="1" noEditPoints="1" noAdjustHandles="1" noChangeArrowheads="1" noChangeShapeType="1" noTextEdit="1"/>
                </p:cNvSpPr>
                <p:nvPr/>
              </p:nvSpPr>
              <p:spPr>
                <a:xfrm>
                  <a:off x="713737" y="5466242"/>
                  <a:ext cx="576064" cy="576064"/>
                </a:xfrm>
                <a:prstGeom prst="ellipse">
                  <a:avLst/>
                </a:prstGeom>
                <a:blipFill>
                  <a:blip r:embed="rId21"/>
                  <a:stretch>
                    <a:fillRect/>
                  </a:stretch>
                </a:blipFill>
                <a:ln w="28575">
                  <a:solidFill>
                    <a:srgbClr val="FFFF00"/>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椭圆 15"/>
                <p:cNvSpPr/>
                <p:nvPr/>
              </p:nvSpPr>
              <p:spPr>
                <a:xfrm>
                  <a:off x="2255847" y="5517232"/>
                  <a:ext cx="576064" cy="576064"/>
                </a:xfrm>
                <a:prstGeom prst="ellipse">
                  <a:avLst/>
                </a:prstGeom>
                <a:noFill/>
                <a:ln w="28575">
                  <a:solidFill>
                    <a:srgbClr val="FFFF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57" name="椭圆 56"/>
                <p:cNvSpPr>
                  <a:spLocks noRot="1" noChangeAspect="1" noMove="1" noResize="1" noEditPoints="1" noAdjustHandles="1" noChangeArrowheads="1" noChangeShapeType="1" noTextEdit="1"/>
                </p:cNvSpPr>
                <p:nvPr/>
              </p:nvSpPr>
              <p:spPr>
                <a:xfrm>
                  <a:off x="2255847" y="5517232"/>
                  <a:ext cx="576064" cy="576064"/>
                </a:xfrm>
                <a:prstGeom prst="ellipse">
                  <a:avLst/>
                </a:prstGeom>
                <a:blipFill>
                  <a:blip r:embed="rId22"/>
                  <a:stretch>
                    <a:fillRect/>
                  </a:stretch>
                </a:blipFill>
                <a:ln w="28575">
                  <a:solidFill>
                    <a:srgbClr val="FFFF00"/>
                  </a:solidFill>
                  <a:prstDash val="sysDash"/>
                </a:ln>
              </p:spPr>
              <p:txBody>
                <a:bodyPr/>
                <a:lstStyle/>
                <a:p>
                  <a:r>
                    <a:rPr lang="zh-CN" altLang="en-US">
                      <a:noFill/>
                    </a:rPr>
                    <a:t> </a:t>
                  </a:r>
                </a:p>
              </p:txBody>
            </p:sp>
          </mc:Fallback>
        </mc:AlternateContent>
        <p:cxnSp>
          <p:nvCxnSpPr>
            <p:cNvPr id="18" name="直接箭头连接符 17"/>
            <p:cNvCxnSpPr>
              <a:stCxn id="14" idx="7"/>
            </p:cNvCxnSpPr>
            <p:nvPr/>
          </p:nvCxnSpPr>
          <p:spPr>
            <a:xfrm flipV="1">
              <a:off x="1205438" y="2647371"/>
              <a:ext cx="1052775" cy="2903234"/>
            </a:xfrm>
            <a:prstGeom prst="straightConnector1">
              <a:avLst/>
            </a:prstGeom>
            <a:noFill/>
            <a:ln w="15875" cap="flat" cmpd="sng">
              <a:solidFill>
                <a:schemeClr val="tx1">
                  <a:lumMod val="65000"/>
                  <a:lumOff val="35000"/>
                </a:schemeClr>
              </a:solidFill>
              <a:prstDash val="sysDash"/>
              <a:round/>
              <a:headEnd/>
              <a:tailEnd type="triangle"/>
            </a:ln>
            <a:effectLst/>
          </p:spPr>
        </p:cxnSp>
        <p:cxnSp>
          <p:nvCxnSpPr>
            <p:cNvPr id="19" name="直接箭头连接符 18"/>
            <p:cNvCxnSpPr>
              <a:stCxn id="14" idx="7"/>
            </p:cNvCxnSpPr>
            <p:nvPr/>
          </p:nvCxnSpPr>
          <p:spPr>
            <a:xfrm flipV="1">
              <a:off x="1205438" y="3621839"/>
              <a:ext cx="1077724" cy="1928766"/>
            </a:xfrm>
            <a:prstGeom prst="straightConnector1">
              <a:avLst/>
            </a:prstGeom>
            <a:noFill/>
            <a:ln w="15875" cap="flat" cmpd="sng">
              <a:solidFill>
                <a:schemeClr val="tx1">
                  <a:lumMod val="65000"/>
                  <a:lumOff val="35000"/>
                </a:schemeClr>
              </a:solidFill>
              <a:prstDash val="sysDash"/>
              <a:round/>
              <a:headEnd/>
              <a:tailEnd type="triangle"/>
            </a:ln>
            <a:effectLst/>
          </p:spPr>
        </p:cxnSp>
        <p:cxnSp>
          <p:nvCxnSpPr>
            <p:cNvPr id="20" name="直接箭头连接符 19"/>
            <p:cNvCxnSpPr>
              <a:stCxn id="14" idx="7"/>
            </p:cNvCxnSpPr>
            <p:nvPr/>
          </p:nvCxnSpPr>
          <p:spPr>
            <a:xfrm flipV="1">
              <a:off x="1205438" y="4672342"/>
              <a:ext cx="1050409" cy="878263"/>
            </a:xfrm>
            <a:prstGeom prst="straightConnector1">
              <a:avLst/>
            </a:prstGeom>
            <a:noFill/>
            <a:ln w="15875" cap="flat" cmpd="sng">
              <a:solidFill>
                <a:schemeClr val="tx1">
                  <a:lumMod val="65000"/>
                  <a:lumOff val="35000"/>
                </a:schemeClr>
              </a:solidFill>
              <a:prstDash val="sysDash"/>
              <a:round/>
              <a:headEnd/>
              <a:tailEnd type="triangle"/>
            </a:ln>
            <a:effectLst/>
          </p:spPr>
        </p:cxnSp>
        <p:cxnSp>
          <p:nvCxnSpPr>
            <p:cNvPr id="21" name="直接箭头连接符 20"/>
            <p:cNvCxnSpPr>
              <a:stCxn id="16" idx="7"/>
              <a:endCxn id="39" idx="3"/>
            </p:cNvCxnSpPr>
            <p:nvPr/>
          </p:nvCxnSpPr>
          <p:spPr>
            <a:xfrm flipV="1">
              <a:off x="2747548" y="3184876"/>
              <a:ext cx="825276" cy="2416719"/>
            </a:xfrm>
            <a:prstGeom prst="straightConnector1">
              <a:avLst/>
            </a:prstGeom>
            <a:noFill/>
            <a:ln w="15875" cap="flat" cmpd="sng">
              <a:solidFill>
                <a:schemeClr val="tx1">
                  <a:lumMod val="65000"/>
                  <a:lumOff val="35000"/>
                </a:schemeClr>
              </a:solidFill>
              <a:prstDash val="sysDash"/>
              <a:round/>
              <a:headEnd/>
              <a:tailEnd type="triangle"/>
            </a:ln>
            <a:effectLst/>
          </p:spPr>
        </p:cxnSp>
        <p:grpSp>
          <p:nvGrpSpPr>
            <p:cNvPr id="22" name="组合 21"/>
            <p:cNvGrpSpPr/>
            <p:nvPr/>
          </p:nvGrpSpPr>
          <p:grpSpPr>
            <a:xfrm>
              <a:off x="627946" y="2243153"/>
              <a:ext cx="3939093" cy="2713030"/>
              <a:chOff x="886560" y="2694608"/>
              <a:chExt cx="3939093" cy="2713030"/>
            </a:xfrm>
          </p:grpSpPr>
          <mc:AlternateContent xmlns:mc="http://schemas.openxmlformats.org/markup-compatibility/2006" xmlns:a14="http://schemas.microsoft.com/office/drawing/2010/main">
            <mc:Choice Requires="a14">
              <p:sp>
                <p:nvSpPr>
                  <p:cNvPr id="24" name="椭圆 23"/>
                  <p:cNvSpPr/>
                  <p:nvPr/>
                </p:nvSpPr>
                <p:spPr>
                  <a:xfrm>
                    <a:off x="886560" y="2769151"/>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69" name="椭圆 68"/>
                  <p:cNvSpPr>
                    <a:spLocks noRot="1" noChangeAspect="1" noMove="1" noResize="1" noEditPoints="1" noAdjustHandles="1" noChangeArrowheads="1" noChangeShapeType="1" noTextEdit="1"/>
                  </p:cNvSpPr>
                  <p:nvPr/>
                </p:nvSpPr>
                <p:spPr>
                  <a:xfrm>
                    <a:off x="886560" y="2769151"/>
                    <a:ext cx="576064" cy="576064"/>
                  </a:xfrm>
                  <a:prstGeom prst="ellipse">
                    <a:avLst/>
                  </a:prstGeom>
                  <a:blipFill rotWithShape="0">
                    <a:blip r:embed="rId29"/>
                    <a:stretch>
                      <a:fillRect/>
                    </a:stretch>
                  </a:blipFill>
                  <a:ln>
                    <a:solidFill>
                      <a:srgbClr val="1E3C85"/>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椭圆 24"/>
                  <p:cNvSpPr/>
                  <p:nvPr/>
                </p:nvSpPr>
                <p:spPr>
                  <a:xfrm>
                    <a:off x="2498632" y="2776920"/>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70" name="椭圆 69"/>
                  <p:cNvSpPr>
                    <a:spLocks noRot="1" noChangeAspect="1" noMove="1" noResize="1" noEditPoints="1" noAdjustHandles="1" noChangeArrowheads="1" noChangeShapeType="1" noTextEdit="1"/>
                  </p:cNvSpPr>
                  <p:nvPr/>
                </p:nvSpPr>
                <p:spPr>
                  <a:xfrm>
                    <a:off x="2498632" y="2776920"/>
                    <a:ext cx="576064" cy="576064"/>
                  </a:xfrm>
                  <a:prstGeom prst="ellipse">
                    <a:avLst/>
                  </a:prstGeom>
                  <a:blipFill>
                    <a:blip r:embed="rId31"/>
                    <a:stretch>
                      <a:fillRect/>
                    </a:stretch>
                  </a:blipFill>
                  <a:ln>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椭圆 25"/>
                  <p:cNvSpPr/>
                  <p:nvPr/>
                </p:nvSpPr>
                <p:spPr>
                  <a:xfrm rot="21394478">
                    <a:off x="910014" y="3789445"/>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71" name="椭圆 70"/>
                  <p:cNvSpPr>
                    <a:spLocks noRot="1" noChangeAspect="1" noMove="1" noResize="1" noEditPoints="1" noAdjustHandles="1" noChangeArrowheads="1" noChangeShapeType="1" noTextEdit="1"/>
                  </p:cNvSpPr>
                  <p:nvPr/>
                </p:nvSpPr>
                <p:spPr>
                  <a:xfrm rot="21394478">
                    <a:off x="910014" y="3789445"/>
                    <a:ext cx="576064" cy="576064"/>
                  </a:xfrm>
                  <a:prstGeom prst="ellipse">
                    <a:avLst/>
                  </a:prstGeom>
                  <a:blipFill rotWithShape="0">
                    <a:blip r:embed="rId32"/>
                    <a:stretch>
                      <a:fillRect/>
                    </a:stretch>
                  </a:blipFill>
                  <a:ln>
                    <a:solidFill>
                      <a:srgbClr val="1E3C85"/>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椭圆 26"/>
                  <p:cNvSpPr/>
                  <p:nvPr/>
                </p:nvSpPr>
                <p:spPr>
                  <a:xfrm>
                    <a:off x="2496266" y="4805720"/>
                    <a:ext cx="576064" cy="56840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72" name="椭圆 71"/>
                  <p:cNvSpPr>
                    <a:spLocks noRot="1" noChangeAspect="1" noMove="1" noResize="1" noEditPoints="1" noAdjustHandles="1" noChangeArrowheads="1" noChangeShapeType="1" noTextEdit="1"/>
                  </p:cNvSpPr>
                  <p:nvPr/>
                </p:nvSpPr>
                <p:spPr>
                  <a:xfrm>
                    <a:off x="2496266" y="4805720"/>
                    <a:ext cx="576064" cy="568405"/>
                  </a:xfrm>
                  <a:prstGeom prst="ellipse">
                    <a:avLst/>
                  </a:prstGeom>
                  <a:blipFill>
                    <a:blip r:embed="rId33"/>
                    <a:stretch>
                      <a:fillRect/>
                    </a:stretch>
                  </a:blipFill>
                  <a:ln>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椭圆 27"/>
                  <p:cNvSpPr/>
                  <p:nvPr/>
                </p:nvSpPr>
                <p:spPr>
                  <a:xfrm>
                    <a:off x="942327" y="4831574"/>
                    <a:ext cx="576064" cy="576064"/>
                  </a:xfrm>
                  <a:prstGeom prst="ellipse">
                    <a:avLst/>
                  </a:prstGeom>
                  <a:noFill/>
                  <a:ln>
                    <a:solidFill>
                      <a:srgbClr val="1E3C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𝑥</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73" name="椭圆 72"/>
                  <p:cNvSpPr>
                    <a:spLocks noRot="1" noChangeAspect="1" noMove="1" noResize="1" noEditPoints="1" noAdjustHandles="1" noChangeArrowheads="1" noChangeShapeType="1" noTextEdit="1"/>
                  </p:cNvSpPr>
                  <p:nvPr/>
                </p:nvSpPr>
                <p:spPr>
                  <a:xfrm>
                    <a:off x="942327" y="4831574"/>
                    <a:ext cx="576064" cy="576064"/>
                  </a:xfrm>
                  <a:prstGeom prst="ellipse">
                    <a:avLst/>
                  </a:prstGeom>
                  <a:blipFill rotWithShape="0">
                    <a:blip r:embed="rId34"/>
                    <a:stretch>
                      <a:fillRect/>
                    </a:stretch>
                  </a:blipFill>
                  <a:ln>
                    <a:solidFill>
                      <a:srgbClr val="1E3C85"/>
                    </a:solidFill>
                  </a:ln>
                </p:spPr>
                <p:txBody>
                  <a:bodyPr/>
                  <a:lstStyle/>
                  <a:p>
                    <a:r>
                      <a:rPr lang="zh-CN" altLang="en-US">
                        <a:noFill/>
                      </a:rPr>
                      <a:t> </a:t>
                    </a:r>
                  </a:p>
                </p:txBody>
              </p:sp>
            </mc:Fallback>
          </mc:AlternateContent>
          <p:cxnSp>
            <p:nvCxnSpPr>
              <p:cNvPr id="30" name="直接箭头连接符 29"/>
              <p:cNvCxnSpPr>
                <a:stCxn id="24" idx="6"/>
                <a:endCxn id="42" idx="2"/>
              </p:cNvCxnSpPr>
              <p:nvPr/>
            </p:nvCxnSpPr>
            <p:spPr>
              <a:xfrm>
                <a:off x="1462624" y="3057183"/>
                <a:ext cx="1060957" cy="982237"/>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1" name="直接箭头连接符 30"/>
              <p:cNvCxnSpPr>
                <a:stCxn id="24" idx="6"/>
                <a:endCxn id="27" idx="2"/>
              </p:cNvCxnSpPr>
              <p:nvPr/>
            </p:nvCxnSpPr>
            <p:spPr>
              <a:xfrm>
                <a:off x="1462624" y="3057183"/>
                <a:ext cx="1033642" cy="2032740"/>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2" name="直接箭头连接符 31"/>
              <p:cNvCxnSpPr>
                <a:stCxn id="26" idx="6"/>
                <a:endCxn id="25" idx="2"/>
              </p:cNvCxnSpPr>
              <p:nvPr/>
            </p:nvCxnSpPr>
            <p:spPr>
              <a:xfrm flipV="1">
                <a:off x="1485563" y="3064952"/>
                <a:ext cx="1013069" cy="995316"/>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4" name="直接箭头连接符 33"/>
              <p:cNvCxnSpPr>
                <a:stCxn id="28" idx="6"/>
                <a:endCxn id="25" idx="2"/>
              </p:cNvCxnSpPr>
              <p:nvPr/>
            </p:nvCxnSpPr>
            <p:spPr>
              <a:xfrm flipV="1">
                <a:off x="1518391" y="3064952"/>
                <a:ext cx="980241" cy="205465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5" name="直接箭头连接符 34"/>
              <p:cNvCxnSpPr>
                <a:stCxn id="26" idx="6"/>
                <a:endCxn id="42" idx="2"/>
              </p:cNvCxnSpPr>
              <p:nvPr/>
            </p:nvCxnSpPr>
            <p:spPr>
              <a:xfrm flipV="1">
                <a:off x="1485563" y="4039420"/>
                <a:ext cx="1038018" cy="20848"/>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6" name="直接箭头连接符 35"/>
              <p:cNvCxnSpPr>
                <a:stCxn id="28" idx="6"/>
                <a:endCxn id="27" idx="2"/>
              </p:cNvCxnSpPr>
              <p:nvPr/>
            </p:nvCxnSpPr>
            <p:spPr>
              <a:xfrm flipV="1">
                <a:off x="1518391" y="5089923"/>
                <a:ext cx="977875" cy="29683"/>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7" name="直接箭头连接符 36"/>
              <p:cNvCxnSpPr>
                <a:stCxn id="24" idx="6"/>
                <a:endCxn id="25" idx="2"/>
              </p:cNvCxnSpPr>
              <p:nvPr/>
            </p:nvCxnSpPr>
            <p:spPr>
              <a:xfrm>
                <a:off x="1462624" y="3057183"/>
                <a:ext cx="1036008" cy="776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38" name="直接箭头连接符 37"/>
              <p:cNvCxnSpPr>
                <a:stCxn id="25" idx="6"/>
                <a:endCxn id="39" idx="3"/>
              </p:cNvCxnSpPr>
              <p:nvPr/>
            </p:nvCxnSpPr>
            <p:spPr>
              <a:xfrm>
                <a:off x="3074696" y="3064952"/>
                <a:ext cx="756742" cy="571379"/>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39" name="椭圆 38"/>
              <p:cNvSpPr/>
              <p:nvPr/>
            </p:nvSpPr>
            <p:spPr>
              <a:xfrm rot="2739555">
                <a:off x="3831418" y="3351613"/>
                <a:ext cx="576064" cy="5760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40" name="直接箭头连接符 39"/>
              <p:cNvCxnSpPr>
                <a:stCxn id="26" idx="6"/>
                <a:endCxn id="27" idx="2"/>
              </p:cNvCxnSpPr>
              <p:nvPr/>
            </p:nvCxnSpPr>
            <p:spPr>
              <a:xfrm>
                <a:off x="1485563" y="4060268"/>
                <a:ext cx="1010703" cy="1029655"/>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1" name="直接箭头连接符 40"/>
              <p:cNvCxnSpPr>
                <a:stCxn id="28" idx="6"/>
                <a:endCxn id="42" idx="2"/>
              </p:cNvCxnSpPr>
              <p:nvPr/>
            </p:nvCxnSpPr>
            <p:spPr>
              <a:xfrm flipV="1">
                <a:off x="1518391" y="4039420"/>
                <a:ext cx="1005190" cy="1080186"/>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42" name="椭圆 41"/>
                  <p:cNvSpPr/>
                  <p:nvPr/>
                </p:nvSpPr>
                <p:spPr>
                  <a:xfrm rot="21503492">
                    <a:off x="2523468" y="3743303"/>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98" name="椭圆 97"/>
                  <p:cNvSpPr>
                    <a:spLocks noRot="1" noChangeAspect="1" noMove="1" noResize="1" noEditPoints="1" noAdjustHandles="1" noChangeArrowheads="1" noChangeShapeType="1" noTextEdit="1"/>
                  </p:cNvSpPr>
                  <p:nvPr/>
                </p:nvSpPr>
                <p:spPr>
                  <a:xfrm rot="21503492">
                    <a:off x="2523468" y="3743303"/>
                    <a:ext cx="576064" cy="576064"/>
                  </a:xfrm>
                  <a:prstGeom prst="ellipse">
                    <a:avLst/>
                  </a:prstGeom>
                  <a:blipFill>
                    <a:blip r:embed="rId35"/>
                    <a:stretch>
                      <a:fillRect/>
                    </a:stretch>
                  </a:blipFill>
                  <a:ln>
                    <a:solidFill>
                      <a:srgbClr val="C00000"/>
                    </a:solidFill>
                  </a:ln>
                </p:spPr>
                <p:txBody>
                  <a:bodyPr/>
                  <a:lstStyle/>
                  <a:p>
                    <a:r>
                      <a:rPr lang="zh-CN" altLang="en-US">
                        <a:noFill/>
                      </a:rPr>
                      <a:t> </a:t>
                    </a:r>
                  </a:p>
                </p:txBody>
              </p:sp>
            </mc:Fallback>
          </mc:AlternateContent>
          <p:cxnSp>
            <p:nvCxnSpPr>
              <p:cNvPr id="43" name="直接箭头连接符 42"/>
              <p:cNvCxnSpPr>
                <a:stCxn id="42" idx="6"/>
                <a:endCxn id="39" idx="3"/>
              </p:cNvCxnSpPr>
              <p:nvPr/>
            </p:nvCxnSpPr>
            <p:spPr>
              <a:xfrm flipV="1">
                <a:off x="3099419" y="3636331"/>
                <a:ext cx="732019" cy="386919"/>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4" name="直接箭头连接符 43"/>
              <p:cNvCxnSpPr>
                <a:stCxn id="27" idx="6"/>
                <a:endCxn id="39" idx="3"/>
              </p:cNvCxnSpPr>
              <p:nvPr/>
            </p:nvCxnSpPr>
            <p:spPr>
              <a:xfrm flipV="1">
                <a:off x="3072330" y="3636331"/>
                <a:ext cx="759108" cy="145359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45" name="直接箭头连接符 44"/>
              <p:cNvCxnSpPr/>
              <p:nvPr/>
            </p:nvCxnSpPr>
            <p:spPr>
              <a:xfrm flipV="1">
                <a:off x="4420776" y="3632224"/>
                <a:ext cx="404877" cy="8849"/>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46" name="矩形 45"/>
                  <p:cNvSpPr/>
                  <p:nvPr/>
                </p:nvSpPr>
                <p:spPr>
                  <a:xfrm>
                    <a:off x="1246600" y="2694608"/>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1,1</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2" name="矩形 101"/>
                  <p:cNvSpPr>
                    <a:spLocks noRot="1" noChangeAspect="1" noMove="1" noResize="1" noEditPoints="1" noAdjustHandles="1" noChangeArrowheads="1" noChangeShapeType="1" noTextEdit="1"/>
                  </p:cNvSpPr>
                  <p:nvPr/>
                </p:nvSpPr>
                <p:spPr>
                  <a:xfrm>
                    <a:off x="1246600" y="2694608"/>
                    <a:ext cx="792088" cy="414857"/>
                  </a:xfrm>
                  <a:prstGeom prst="rect">
                    <a:avLst/>
                  </a:prstGeom>
                  <a:blipFill>
                    <a:blip r:embed="rId3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p:cNvSpPr/>
                  <p:nvPr/>
                </p:nvSpPr>
                <p:spPr>
                  <a:xfrm>
                    <a:off x="1179226" y="3569433"/>
                    <a:ext cx="792088" cy="41511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2,1</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3" name="矩形 102"/>
                  <p:cNvSpPr>
                    <a:spLocks noRot="1" noChangeAspect="1" noMove="1" noResize="1" noEditPoints="1" noAdjustHandles="1" noChangeArrowheads="1" noChangeShapeType="1" noTextEdit="1"/>
                  </p:cNvSpPr>
                  <p:nvPr/>
                </p:nvSpPr>
                <p:spPr>
                  <a:xfrm>
                    <a:off x="1179226" y="3569433"/>
                    <a:ext cx="792088" cy="415114"/>
                  </a:xfrm>
                  <a:prstGeom prst="rect">
                    <a:avLst/>
                  </a:prstGeom>
                  <a:blipFill>
                    <a:blip r:embed="rId3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p:cNvSpPr/>
                  <p:nvPr/>
                </p:nvSpPr>
                <p:spPr>
                  <a:xfrm>
                    <a:off x="1140011" y="4561339"/>
                    <a:ext cx="792088" cy="41511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3,1</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4" name="矩形 103"/>
                  <p:cNvSpPr>
                    <a:spLocks noRot="1" noChangeAspect="1" noMove="1" noResize="1" noEditPoints="1" noAdjustHandles="1" noChangeArrowheads="1" noChangeShapeType="1" noTextEdit="1"/>
                  </p:cNvSpPr>
                  <p:nvPr/>
                </p:nvSpPr>
                <p:spPr>
                  <a:xfrm>
                    <a:off x="1140011" y="4561339"/>
                    <a:ext cx="792088" cy="415114"/>
                  </a:xfrm>
                  <a:prstGeom prst="rect">
                    <a:avLst/>
                  </a:prstGeom>
                  <a:blipFill>
                    <a:blip r:embed="rId3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p:cNvSpPr/>
                  <p:nvPr/>
                </p:nvSpPr>
                <p:spPr>
                  <a:xfrm>
                    <a:off x="1393039" y="2942731"/>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1,2</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5" name="矩形 104"/>
                  <p:cNvSpPr>
                    <a:spLocks noRot="1" noChangeAspect="1" noMove="1" noResize="1" noEditPoints="1" noAdjustHandles="1" noChangeArrowheads="1" noChangeShapeType="1" noTextEdit="1"/>
                  </p:cNvSpPr>
                  <p:nvPr/>
                </p:nvSpPr>
                <p:spPr>
                  <a:xfrm>
                    <a:off x="1393039" y="2942731"/>
                    <a:ext cx="792088" cy="414857"/>
                  </a:xfrm>
                  <a:prstGeom prst="rect">
                    <a:avLst/>
                  </a:prstGeom>
                  <a:blipFill>
                    <a:blip r:embed="rId3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1359167" y="3765368"/>
                    <a:ext cx="792088" cy="415114"/>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2,2</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6" name="矩形 105"/>
                  <p:cNvSpPr>
                    <a:spLocks noRot="1" noChangeAspect="1" noMove="1" noResize="1" noEditPoints="1" noAdjustHandles="1" noChangeArrowheads="1" noChangeShapeType="1" noTextEdit="1"/>
                  </p:cNvSpPr>
                  <p:nvPr/>
                </p:nvSpPr>
                <p:spPr>
                  <a:xfrm>
                    <a:off x="1359167" y="3765368"/>
                    <a:ext cx="792088" cy="415114"/>
                  </a:xfrm>
                  <a:prstGeom prst="rect">
                    <a:avLst/>
                  </a:prstGeom>
                  <a:blipFill>
                    <a:blip r:embed="rId4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p:cNvSpPr/>
                  <p:nvPr/>
                </p:nvSpPr>
                <p:spPr>
                  <a:xfrm>
                    <a:off x="1390986" y="4704300"/>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3,2</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7" name="矩形 106"/>
                  <p:cNvSpPr>
                    <a:spLocks noRot="1" noChangeAspect="1" noMove="1" noResize="1" noEditPoints="1" noAdjustHandles="1" noChangeArrowheads="1" noChangeShapeType="1" noTextEdit="1"/>
                  </p:cNvSpPr>
                  <p:nvPr/>
                </p:nvSpPr>
                <p:spPr>
                  <a:xfrm>
                    <a:off x="1390986" y="4704300"/>
                    <a:ext cx="792088" cy="414857"/>
                  </a:xfrm>
                  <a:prstGeom prst="rect">
                    <a:avLst/>
                  </a:prstGeom>
                  <a:blipFill>
                    <a:blip r:embed="rId4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p:cNvSpPr/>
                  <p:nvPr/>
                </p:nvSpPr>
                <p:spPr>
                  <a:xfrm>
                    <a:off x="1114538" y="3167653"/>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1,3</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8" name="矩形 107"/>
                  <p:cNvSpPr>
                    <a:spLocks noRot="1" noChangeAspect="1" noMove="1" noResize="1" noEditPoints="1" noAdjustHandles="1" noChangeArrowheads="1" noChangeShapeType="1" noTextEdit="1"/>
                  </p:cNvSpPr>
                  <p:nvPr/>
                </p:nvSpPr>
                <p:spPr>
                  <a:xfrm>
                    <a:off x="1114538" y="3167653"/>
                    <a:ext cx="792088" cy="414857"/>
                  </a:xfrm>
                  <a:prstGeom prst="rect">
                    <a:avLst/>
                  </a:prstGeom>
                  <a:blipFill>
                    <a:blip r:embed="rId4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矩形 52"/>
                  <p:cNvSpPr/>
                  <p:nvPr/>
                </p:nvSpPr>
                <p:spPr>
                  <a:xfrm>
                    <a:off x="1242188" y="4026119"/>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2,3</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09" name="矩形 108"/>
                  <p:cNvSpPr>
                    <a:spLocks noRot="1" noChangeAspect="1" noMove="1" noResize="1" noEditPoints="1" noAdjustHandles="1" noChangeArrowheads="1" noChangeShapeType="1" noTextEdit="1"/>
                  </p:cNvSpPr>
                  <p:nvPr/>
                </p:nvSpPr>
                <p:spPr>
                  <a:xfrm>
                    <a:off x="1242188" y="4026119"/>
                    <a:ext cx="792088" cy="414857"/>
                  </a:xfrm>
                  <a:prstGeom prst="rect">
                    <a:avLst/>
                  </a:prstGeom>
                  <a:blipFill>
                    <a:blip r:embed="rId4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p:cNvSpPr/>
                  <p:nvPr/>
                </p:nvSpPr>
                <p:spPr>
                  <a:xfrm>
                    <a:off x="1311374" y="4984617"/>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3,3</m:t>
                              </m:r>
                            </m:sub>
                            <m:sup>
                              <m:r>
                                <a:rPr lang="en-US" altLang="zh-CN" sz="1050" b="0" i="1" kern="0" smtClean="0">
                                  <a:latin typeface="Cambria Math" panose="02040503050406030204" pitchFamily="18" charset="0"/>
                                  <a:ea typeface="微软雅黑" panose="020B0503020204020204" pitchFamily="34" charset="-122"/>
                                </a:rPr>
                                <m:t>(1)</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0" name="矩形 109"/>
                  <p:cNvSpPr>
                    <a:spLocks noRot="1" noChangeAspect="1" noMove="1" noResize="1" noEditPoints="1" noAdjustHandles="1" noChangeArrowheads="1" noChangeShapeType="1" noTextEdit="1"/>
                  </p:cNvSpPr>
                  <p:nvPr/>
                </p:nvSpPr>
                <p:spPr>
                  <a:xfrm>
                    <a:off x="1311374" y="4984617"/>
                    <a:ext cx="792088" cy="414857"/>
                  </a:xfrm>
                  <a:prstGeom prst="rect">
                    <a:avLst/>
                  </a:prstGeom>
                  <a:blipFill>
                    <a:blip r:embed="rId4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矩形 54"/>
                  <p:cNvSpPr/>
                  <p:nvPr/>
                </p:nvSpPr>
                <p:spPr>
                  <a:xfrm>
                    <a:off x="2938080" y="2824617"/>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1" name="矩形 110"/>
                  <p:cNvSpPr>
                    <a:spLocks noRot="1" noChangeAspect="1" noMove="1" noResize="1" noEditPoints="1" noAdjustHandles="1" noChangeArrowheads="1" noChangeShapeType="1" noTextEdit="1"/>
                  </p:cNvSpPr>
                  <p:nvPr/>
                </p:nvSpPr>
                <p:spPr>
                  <a:xfrm>
                    <a:off x="2938080" y="2824617"/>
                    <a:ext cx="792088" cy="414857"/>
                  </a:xfrm>
                  <a:prstGeom prst="rect">
                    <a:avLst/>
                  </a:prstGeom>
                  <a:blipFill>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矩形 55"/>
                  <p:cNvSpPr/>
                  <p:nvPr/>
                </p:nvSpPr>
                <p:spPr>
                  <a:xfrm>
                    <a:off x="2871667" y="3611262"/>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2" name="矩形 111"/>
                  <p:cNvSpPr>
                    <a:spLocks noRot="1" noChangeAspect="1" noMove="1" noResize="1" noEditPoints="1" noAdjustHandles="1" noChangeArrowheads="1" noChangeShapeType="1" noTextEdit="1"/>
                  </p:cNvSpPr>
                  <p:nvPr/>
                </p:nvSpPr>
                <p:spPr>
                  <a:xfrm>
                    <a:off x="2871667" y="3611262"/>
                    <a:ext cx="792088" cy="414857"/>
                  </a:xfrm>
                  <a:prstGeom prst="rect">
                    <a:avLst/>
                  </a:prstGeom>
                  <a:blipFill>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矩形 56"/>
                  <p:cNvSpPr/>
                  <p:nvPr/>
                </p:nvSpPr>
                <p:spPr>
                  <a:xfrm>
                    <a:off x="2754626" y="4540222"/>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3" name="矩形 112"/>
                  <p:cNvSpPr>
                    <a:spLocks noRot="1" noChangeAspect="1" noMove="1" noResize="1" noEditPoints="1" noAdjustHandles="1" noChangeArrowheads="1" noChangeShapeType="1" noTextEdit="1"/>
                  </p:cNvSpPr>
                  <p:nvPr/>
                </p:nvSpPr>
                <p:spPr>
                  <a:xfrm>
                    <a:off x="2754626" y="4540222"/>
                    <a:ext cx="792088" cy="414857"/>
                  </a:xfrm>
                  <a:prstGeom prst="rect">
                    <a:avLst/>
                  </a:prstGeom>
                  <a:blipFill>
                    <a:blip r:embed="rId4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矩形 57"/>
                  <p:cNvSpPr/>
                  <p:nvPr/>
                </p:nvSpPr>
                <p:spPr>
                  <a:xfrm>
                    <a:off x="3744321" y="3334564"/>
                    <a:ext cx="792088" cy="507831"/>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𝑜</m:t>
                              </m:r>
                            </m:e>
                            <m:sub>
                              <m:r>
                                <a:rPr lang="en-US" altLang="zh-CN" b="0" i="1" kern="0" smtClean="0">
                                  <a:latin typeface="Cambria Math" panose="02040503050406030204" pitchFamily="18" charset="0"/>
                                  <a:ea typeface="微软雅黑" panose="020B0503020204020204" pitchFamily="34" charset="-122"/>
                                </a:rPr>
                                <m:t>1</m:t>
                              </m:r>
                            </m:sub>
                          </m:sSub>
                        </m:oMath>
                      </m:oMathPara>
                    </a14:m>
                    <a:endParaRPr lang="en-US" altLang="zh-CN"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4" name="矩形 113"/>
                  <p:cNvSpPr>
                    <a:spLocks noRot="1" noChangeAspect="1" noMove="1" noResize="1" noEditPoints="1" noAdjustHandles="1" noChangeArrowheads="1" noChangeShapeType="1" noTextEdit="1"/>
                  </p:cNvSpPr>
                  <p:nvPr/>
                </p:nvSpPr>
                <p:spPr>
                  <a:xfrm>
                    <a:off x="3744321" y="3334564"/>
                    <a:ext cx="792088" cy="507831"/>
                  </a:xfrm>
                  <a:prstGeom prst="rect">
                    <a:avLst/>
                  </a:prstGeom>
                  <a:blipFill>
                    <a:blip r:embed="rId48"/>
                    <a:stretch>
                      <a:fillRect/>
                    </a:stretch>
                  </a:blipFill>
                </p:spPr>
                <p:txBody>
                  <a:bodyPr/>
                  <a:lstStyle/>
                  <a:p>
                    <a:r>
                      <a:rPr lang="zh-CN" altLang="en-US">
                        <a:noFill/>
                      </a:rPr>
                      <a:t> </a:t>
                    </a:r>
                  </a:p>
                </p:txBody>
              </p:sp>
            </mc:Fallback>
          </mc:AlternateContent>
          <p:sp>
            <p:nvSpPr>
              <p:cNvPr id="59" name="椭圆 58"/>
              <p:cNvSpPr/>
              <p:nvPr/>
            </p:nvSpPr>
            <p:spPr>
              <a:xfrm rot="2739555">
                <a:off x="3834320" y="4149336"/>
                <a:ext cx="576064" cy="5760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60" name="矩形 59"/>
                  <p:cNvSpPr/>
                  <p:nvPr/>
                </p:nvSpPr>
                <p:spPr>
                  <a:xfrm>
                    <a:off x="3746767" y="4133076"/>
                    <a:ext cx="792088" cy="507831"/>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𝑜</m:t>
                              </m:r>
                            </m:e>
                            <m:sub>
                              <m:r>
                                <a:rPr lang="en-US" altLang="zh-CN" b="0" i="1" kern="0" smtClean="0">
                                  <a:latin typeface="Cambria Math" panose="02040503050406030204" pitchFamily="18" charset="0"/>
                                  <a:ea typeface="微软雅黑" panose="020B0503020204020204" pitchFamily="34" charset="-122"/>
                                </a:rPr>
                                <m:t>2</m:t>
                              </m:r>
                            </m:sub>
                          </m:sSub>
                        </m:oMath>
                      </m:oMathPara>
                    </a14:m>
                    <a:endParaRPr lang="en-US" altLang="zh-CN"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16" name="矩形 115"/>
                  <p:cNvSpPr>
                    <a:spLocks noRot="1" noChangeAspect="1" noMove="1" noResize="1" noEditPoints="1" noAdjustHandles="1" noChangeArrowheads="1" noChangeShapeType="1" noTextEdit="1"/>
                  </p:cNvSpPr>
                  <p:nvPr/>
                </p:nvSpPr>
                <p:spPr>
                  <a:xfrm>
                    <a:off x="3746767" y="4133076"/>
                    <a:ext cx="792088" cy="507831"/>
                  </a:xfrm>
                  <a:prstGeom prst="rect">
                    <a:avLst/>
                  </a:prstGeom>
                  <a:blipFill>
                    <a:blip r:embed="rId49"/>
                    <a:stretch>
                      <a:fillRect/>
                    </a:stretch>
                  </a:blipFill>
                </p:spPr>
                <p:txBody>
                  <a:bodyPr/>
                  <a:lstStyle/>
                  <a:p>
                    <a:r>
                      <a:rPr lang="zh-CN" altLang="en-US">
                        <a:noFill/>
                      </a:rPr>
                      <a:t> </a:t>
                    </a:r>
                  </a:p>
                </p:txBody>
              </p:sp>
            </mc:Fallback>
          </mc:AlternateContent>
          <p:cxnSp>
            <p:nvCxnSpPr>
              <p:cNvPr id="61" name="直接箭头连接符 60"/>
              <p:cNvCxnSpPr>
                <a:stCxn id="25" idx="6"/>
                <a:endCxn id="59" idx="3"/>
              </p:cNvCxnSpPr>
              <p:nvPr/>
            </p:nvCxnSpPr>
            <p:spPr>
              <a:xfrm>
                <a:off x="3074696" y="3064952"/>
                <a:ext cx="759644" cy="1369102"/>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62" name="直接箭头连接符 61"/>
              <p:cNvCxnSpPr>
                <a:stCxn id="42" idx="6"/>
                <a:endCxn id="59" idx="3"/>
              </p:cNvCxnSpPr>
              <p:nvPr/>
            </p:nvCxnSpPr>
            <p:spPr>
              <a:xfrm>
                <a:off x="3099419" y="4023250"/>
                <a:ext cx="734921" cy="41080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63" name="直接箭头连接符 62"/>
              <p:cNvCxnSpPr>
                <a:stCxn id="27" idx="6"/>
                <a:endCxn id="59" idx="3"/>
              </p:cNvCxnSpPr>
              <p:nvPr/>
            </p:nvCxnSpPr>
            <p:spPr>
              <a:xfrm flipV="1">
                <a:off x="3072330" y="4434054"/>
                <a:ext cx="762010" cy="655869"/>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64" name="矩形 63"/>
                  <p:cNvSpPr/>
                  <p:nvPr/>
                </p:nvSpPr>
                <p:spPr>
                  <a:xfrm>
                    <a:off x="2754878" y="3131046"/>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1,2</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20" name="矩形 119"/>
                  <p:cNvSpPr>
                    <a:spLocks noRot="1" noChangeAspect="1" noMove="1" noResize="1" noEditPoints="1" noAdjustHandles="1" noChangeArrowheads="1" noChangeShapeType="1" noTextEdit="1"/>
                  </p:cNvSpPr>
                  <p:nvPr/>
                </p:nvSpPr>
                <p:spPr>
                  <a:xfrm>
                    <a:off x="2754878" y="3131046"/>
                    <a:ext cx="792088" cy="414857"/>
                  </a:xfrm>
                  <a:prstGeom prst="rect">
                    <a:avLst/>
                  </a:prstGeom>
                  <a:blipFill>
                    <a:blip r:embed="rId5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矩形 64"/>
                  <p:cNvSpPr/>
                  <p:nvPr/>
                </p:nvSpPr>
                <p:spPr>
                  <a:xfrm>
                    <a:off x="2901100" y="3913029"/>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2,2</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21" name="矩形 120"/>
                  <p:cNvSpPr>
                    <a:spLocks noRot="1" noChangeAspect="1" noMove="1" noResize="1" noEditPoints="1" noAdjustHandles="1" noChangeArrowheads="1" noChangeShapeType="1" noTextEdit="1"/>
                  </p:cNvSpPr>
                  <p:nvPr/>
                </p:nvSpPr>
                <p:spPr>
                  <a:xfrm>
                    <a:off x="2901100" y="3913029"/>
                    <a:ext cx="792088" cy="414857"/>
                  </a:xfrm>
                  <a:prstGeom prst="rect">
                    <a:avLst/>
                  </a:prstGeom>
                  <a:blipFill>
                    <a:blip r:embed="rId5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矩形 65"/>
                  <p:cNvSpPr/>
                  <p:nvPr/>
                </p:nvSpPr>
                <p:spPr>
                  <a:xfrm>
                    <a:off x="2875542" y="4820112"/>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3,2</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122" name="矩形 121"/>
                  <p:cNvSpPr>
                    <a:spLocks noRot="1" noChangeAspect="1" noMove="1" noResize="1" noEditPoints="1" noAdjustHandles="1" noChangeArrowheads="1" noChangeShapeType="1" noTextEdit="1"/>
                  </p:cNvSpPr>
                  <p:nvPr/>
                </p:nvSpPr>
                <p:spPr>
                  <a:xfrm>
                    <a:off x="2875542" y="4820112"/>
                    <a:ext cx="792088" cy="414857"/>
                  </a:xfrm>
                  <a:prstGeom prst="rect">
                    <a:avLst/>
                  </a:prstGeom>
                  <a:blipFill>
                    <a:blip r:embed="rId52"/>
                    <a:stretch>
                      <a:fillRect/>
                    </a:stretch>
                  </a:blipFill>
                </p:spPr>
                <p:txBody>
                  <a:bodyPr/>
                  <a:lstStyle/>
                  <a:p>
                    <a:r>
                      <a:rPr lang="zh-CN" altLang="en-US">
                        <a:noFill/>
                      </a:rPr>
                      <a:t> </a:t>
                    </a:r>
                  </a:p>
                </p:txBody>
              </p:sp>
            </mc:Fallback>
          </mc:AlternateContent>
          <p:cxnSp>
            <p:nvCxnSpPr>
              <p:cNvPr id="67" name="直接箭头连接符 66"/>
              <p:cNvCxnSpPr/>
              <p:nvPr/>
            </p:nvCxnSpPr>
            <p:spPr>
              <a:xfrm flipV="1">
                <a:off x="4416138" y="4440976"/>
                <a:ext cx="404877" cy="8849"/>
              </a:xfrm>
              <a:prstGeom prst="straightConnector1">
                <a:avLst/>
              </a:prstGeom>
              <a:noFill/>
              <a:ln w="15875" cap="flat" cmpd="sng">
                <a:solidFill>
                  <a:schemeClr val="tx1">
                    <a:lumMod val="65000"/>
                    <a:lumOff val="35000"/>
                  </a:schemeClr>
                </a:solidFill>
                <a:prstDash val="solid"/>
                <a:round/>
                <a:headEnd/>
                <a:tailEnd type="triangle"/>
              </a:ln>
              <a:effectLst/>
            </p:spPr>
          </p:cxnSp>
        </p:grpSp>
        <p:cxnSp>
          <p:nvCxnSpPr>
            <p:cNvPr id="23" name="直接箭头连接符 22"/>
            <p:cNvCxnSpPr>
              <a:stCxn id="16" idx="7"/>
              <a:endCxn id="59" idx="3"/>
            </p:cNvCxnSpPr>
            <p:nvPr/>
          </p:nvCxnSpPr>
          <p:spPr>
            <a:xfrm flipV="1">
              <a:off x="2747548" y="3982599"/>
              <a:ext cx="828178" cy="1618996"/>
            </a:xfrm>
            <a:prstGeom prst="straightConnector1">
              <a:avLst/>
            </a:prstGeom>
            <a:noFill/>
            <a:ln w="15875" cap="flat" cmpd="sng">
              <a:solidFill>
                <a:schemeClr val="tx1">
                  <a:lumMod val="65000"/>
                  <a:lumOff val="35000"/>
                </a:schemeClr>
              </a:solidFill>
              <a:prstDash val="sysDash"/>
              <a:round/>
              <a:headEnd/>
              <a:tailEnd type="triangle"/>
            </a:ln>
            <a:effectLst/>
          </p:spPr>
        </p:cxnSp>
      </p:grpSp>
      <p:sp>
        <p:nvSpPr>
          <p:cNvPr id="70" name="灯片编号占位符 8">
            <a:extLst>
              <a:ext uri="{FF2B5EF4-FFF2-40B4-BE49-F238E27FC236}">
                <a16:creationId xmlns:a16="http://schemas.microsoft.com/office/drawing/2014/main" id="{A188EA61-7930-4E48-815A-98A7D47782F8}"/>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37</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279861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示例</a:t>
            </a:r>
            <a:endParaRPr lang="en-US" altLang="zh-CN" sz="2600" b="1" dirty="0"/>
          </a:p>
        </p:txBody>
      </p:sp>
      <mc:AlternateContent xmlns:mc="http://schemas.openxmlformats.org/markup-compatibility/2006" xmlns:a14="http://schemas.microsoft.com/office/drawing/2010/main">
        <mc:Choice Requires="a14">
          <p:sp>
            <p:nvSpPr>
              <p:cNvPr id="8" name="矩形 7"/>
              <p:cNvSpPr/>
              <p:nvPr/>
            </p:nvSpPr>
            <p:spPr>
              <a:xfrm>
                <a:off x="1822339" y="1484741"/>
                <a:ext cx="6120680" cy="4264565"/>
              </a:xfrm>
              <a:prstGeom prst="rect">
                <a:avLst/>
              </a:prstGeom>
            </p:spPr>
            <p:txBody>
              <a:bodyPr wrap="square">
                <a:spAutoFit/>
              </a:bodyPr>
              <a:lstStyle/>
              <a:p>
                <a:pPr>
                  <a:lnSpc>
                    <a:spcPct val="150000"/>
                  </a:lnSpc>
                </a:pPr>
                <a:r>
                  <a:rPr lang="zh-CN" altLang="en-US" dirty="0">
                    <a:latin typeface="微软雅黑 Light" panose="020B0502040204020203" pitchFamily="34" charset="-122"/>
                    <a:ea typeface="微软雅黑 Light" panose="020B0502040204020203" pitchFamily="34" charset="-122"/>
                  </a:rPr>
                  <a:t>假定输入数据   </a:t>
                </a:r>
                <a14:m>
                  <m:oMath xmlns:m="http://schemas.openxmlformats.org/officeDocument/2006/math">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0.02</m:t>
                          </m:r>
                        </m:e>
                        <m:e>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2</m:t>
                              </m:r>
                            </m:sub>
                          </m:sSub>
                          <m:r>
                            <a:rPr lang="en-US" altLang="zh-CN" b="0" i="1" smtClean="0">
                              <a:latin typeface="Cambria Math" panose="02040503050406030204" pitchFamily="18" charset="0"/>
                            </a:rPr>
                            <m:t>=0.04</m:t>
                          </m:r>
                        </m:e>
                        <m:e>
                          <m:r>
                            <a:rPr lang="zh-CN" altLang="en-US"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3</m:t>
                              </m:r>
                            </m:sub>
                          </m:sSub>
                          <m:r>
                            <a:rPr lang="en-US" altLang="zh-CN" i="1" smtClean="0">
                              <a:latin typeface="Cambria Math" panose="02040503050406030204" pitchFamily="18" charset="0"/>
                            </a:rPr>
                            <m:t>=</m:t>
                          </m:r>
                          <m:r>
                            <a:rPr lang="en-US" altLang="zh-CN" b="0" i="1" smtClean="0">
                              <a:latin typeface="Cambria Math" panose="02040503050406030204" pitchFamily="18" charset="0"/>
                            </a:rPr>
                            <m:t>0.01</m:t>
                          </m:r>
                        </m:e>
                      </m:mr>
                    </m:m>
                  </m:oMath>
                </a14:m>
                <a:r>
                  <a:rPr lang="en-US" altLang="zh-CN" dirty="0">
                    <a:latin typeface="微软雅黑 Light" panose="020B0502040204020203" pitchFamily="34" charset="-122"/>
                    <a:ea typeface="微软雅黑 Light" panose="020B0502040204020203" pitchFamily="34" charset="-122"/>
                  </a:rPr>
                  <a:t> </a:t>
                </a:r>
              </a:p>
              <a:p>
                <a:pPr>
                  <a:lnSpc>
                    <a:spcPct val="150000"/>
                  </a:lnSpc>
                </a:pPr>
                <a:r>
                  <a:rPr lang="zh-CN" altLang="en-US" dirty="0">
                    <a:latin typeface="微软雅黑 Light" panose="020B0502040204020203" pitchFamily="34" charset="-122"/>
                    <a:ea typeface="微软雅黑 Light" panose="020B0502040204020203" pitchFamily="34" charset="-122"/>
                  </a:rPr>
                  <a:t>截距</a:t>
                </a:r>
                <a:r>
                  <a:rPr lang="en-US" altLang="zh-CN" dirty="0">
                    <a:latin typeface="微软雅黑 Light" panose="020B0502040204020203" pitchFamily="34" charset="-122"/>
                    <a:ea typeface="微软雅黑 Light" panose="020B0502040204020203" pitchFamily="34" charset="-122"/>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en-US" altLang="zh-CN" dirty="0">
                    <a:latin typeface="微软雅黑 Light" panose="020B0502040204020203" pitchFamily="34" charset="-122"/>
                    <a:ea typeface="微软雅黑 Light" panose="020B0502040204020203" pitchFamily="34" charset="-122"/>
                  </a:rPr>
                  <a:t>0.4</a:t>
                </a:r>
                <a:r>
                  <a:rPr lang="zh-CN" altLang="en-US" dirty="0">
                    <a:latin typeface="微软雅黑 Light" panose="020B0502040204020203" pitchFamily="34" charset="-122"/>
                    <a:ea typeface="微软雅黑 Light" panose="020B0502040204020203" pitchFamily="34" charset="-122"/>
                  </a:rPr>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oMath>
                </a14:m>
                <a:r>
                  <a:rPr lang="en-US" altLang="zh-CN" dirty="0">
                    <a:latin typeface="微软雅黑 Light" panose="020B0502040204020203" pitchFamily="34" charset="-122"/>
                    <a:ea typeface="微软雅黑 Light" panose="020B0502040204020203" pitchFamily="34" charset="-122"/>
                  </a:rPr>
                  <a:t>0.7</a:t>
                </a:r>
              </a:p>
              <a:p>
                <a:pPr>
                  <a:lnSpc>
                    <a:spcPct val="150000"/>
                  </a:lnSpc>
                </a:pPr>
                <a:r>
                  <a:rPr lang="zh-CN" altLang="en-US" dirty="0">
                    <a:latin typeface="微软雅黑 Light" panose="020B0502040204020203" pitchFamily="34" charset="-122"/>
                    <a:ea typeface="微软雅黑 Light" panose="020B0502040204020203" pitchFamily="34" charset="-122"/>
                  </a:rPr>
                  <a:t>期望输出</a:t>
                </a:r>
                <a14:m>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1</m:t>
                        </m:r>
                      </m:sub>
                    </m:sSub>
                    <m:r>
                      <a:rPr lang="en-US" altLang="zh-CN" i="1" kern="0" smtClea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0.9</m:t>
                    </m:r>
                    <m:r>
                      <a:rPr lang="zh-CN" altLang="en-US" i="1" ker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b="0" i="1" kern="0" smtClean="0">
                            <a:latin typeface="Cambria Math" panose="02040503050406030204" pitchFamily="18" charset="0"/>
                            <a:ea typeface="微软雅黑" panose="020B0503020204020204" pitchFamily="34" charset="-122"/>
                          </a:rPr>
                          <m:t>2</m:t>
                        </m:r>
                      </m:sub>
                    </m:sSub>
                    <m:r>
                      <a:rPr lang="en-US" altLang="zh-CN" i="1" kern="0">
                        <a:latin typeface="Cambria Math" panose="02040503050406030204" pitchFamily="18" charset="0"/>
                        <a:ea typeface="微软雅黑" panose="020B0503020204020204" pitchFamily="34" charset="-122"/>
                      </a:rPr>
                      <m:t>=0.</m:t>
                    </m:r>
                    <m:r>
                      <a:rPr lang="en-US" altLang="zh-CN" b="0" i="1" kern="0" smtClean="0">
                        <a:latin typeface="Cambria Math" panose="02040503050406030204" pitchFamily="18" charset="0"/>
                        <a:ea typeface="微软雅黑" panose="020B0503020204020204" pitchFamily="34" charset="-122"/>
                      </a:rPr>
                      <m:t>5</m:t>
                    </m:r>
                  </m:oMath>
                </a14:m>
                <a:endParaRPr lang="en-US" altLang="zh-CN" dirty="0">
                  <a:latin typeface="微软雅黑 Light" panose="020B0502040204020203" pitchFamily="34" charset="-122"/>
                  <a:ea typeface="微软雅黑 Light" panose="020B0502040204020203" pitchFamily="34" charset="-122"/>
                </a:endParaRPr>
              </a:p>
              <a:p>
                <a:pPr>
                  <a:lnSpc>
                    <a:spcPct val="150000"/>
                  </a:lnSpc>
                </a:pPr>
                <a:endParaRPr lang="en-US" altLang="zh-CN" dirty="0">
                  <a:latin typeface="微软雅黑 Light" panose="020B0502040204020203" pitchFamily="34" charset="-122"/>
                  <a:ea typeface="微软雅黑 Light" panose="020B0502040204020203" pitchFamily="34" charset="-122"/>
                </a:endParaRPr>
              </a:p>
              <a:p>
                <a:pPr>
                  <a:lnSpc>
                    <a:spcPct val="150000"/>
                  </a:lnSpc>
                </a:pPr>
                <a:endParaRPr lang="en-US" altLang="zh-CN" dirty="0">
                  <a:latin typeface="微软雅黑 Light" panose="020B0502040204020203" pitchFamily="34" charset="-122"/>
                  <a:ea typeface="微软雅黑 Light" panose="020B0502040204020203" pitchFamily="34" charset="-122"/>
                </a:endParaRPr>
              </a:p>
              <a:p>
                <a:pPr>
                  <a:lnSpc>
                    <a:spcPct val="150000"/>
                  </a:lnSpc>
                </a:pPr>
                <a:r>
                  <a:rPr lang="zh-CN" altLang="en-US" dirty="0">
                    <a:latin typeface="微软雅黑 Light" panose="020B0502040204020203" pitchFamily="34" charset="-122"/>
                    <a:ea typeface="微软雅黑 Light" panose="020B0502040204020203" pitchFamily="34" charset="-122"/>
                  </a:rPr>
                  <a:t>未知权重 </a:t>
                </a:r>
                <a:endParaRPr lang="en-US" altLang="zh-CN" dirty="0">
                  <a:latin typeface="微软雅黑 Light" panose="020B0502040204020203" pitchFamily="34" charset="-122"/>
                  <a:ea typeface="微软雅黑 Light" panose="020B0502040204020203" pitchFamily="34" charset="-122"/>
                </a:endParaRPr>
              </a:p>
              <a:p>
                <a:pPr>
                  <a:lnSpc>
                    <a:spcPct val="150000"/>
                  </a:lnSpc>
                </a:pPr>
                <a:endParaRPr lang="en-US" altLang="zh-CN" dirty="0">
                  <a:latin typeface="微软雅黑 Light" panose="020B0502040204020203" pitchFamily="34" charset="-122"/>
                  <a:ea typeface="微软雅黑 Light" panose="020B0502040204020203" pitchFamily="34" charset="-122"/>
                </a:endParaRPr>
              </a:p>
              <a:p>
                <a:pPr>
                  <a:lnSpc>
                    <a:spcPct val="150000"/>
                  </a:lnSpc>
                </a:pPr>
                <a:endParaRPr lang="en-US" altLang="zh-CN" dirty="0">
                  <a:latin typeface="微软雅黑 Light" panose="020B0502040204020203" pitchFamily="34" charset="-122"/>
                  <a:ea typeface="微软雅黑 Light" panose="020B0502040204020203" pitchFamily="34" charset="-122"/>
                </a:endParaRPr>
              </a:p>
              <a:p>
                <a:pPr>
                  <a:lnSpc>
                    <a:spcPct val="150000"/>
                  </a:lnSpc>
                </a:pPr>
                <a:r>
                  <a:rPr lang="zh-CN" altLang="en-US" dirty="0">
                    <a:latin typeface="微软雅黑 Light" panose="020B0502040204020203" pitchFamily="34" charset="-122"/>
                    <a:ea typeface="微软雅黑 Light" panose="020B0502040204020203" pitchFamily="34" charset="-122"/>
                  </a:rPr>
                  <a:t>目的是为了能得到</a:t>
                </a:r>
                <a:r>
                  <a:rPr lang="en-US" altLang="zh-CN" dirty="0">
                    <a:latin typeface="微软雅黑 Light" panose="020B0502040204020203" pitchFamily="34" charset="-122"/>
                    <a:ea typeface="微软雅黑 Light" panose="020B0502040204020203" pitchFamily="34" charset="-122"/>
                  </a:rPr>
                  <a:t> </a:t>
                </a:r>
                <a14:m>
                  <m:oMath xmlns:m="http://schemas.openxmlformats.org/officeDocument/2006/math">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1</m:t>
                        </m:r>
                      </m:sub>
                    </m:sSub>
                    <m:r>
                      <a:rPr lang="en-US" altLang="zh-CN" i="1" kern="0">
                        <a:latin typeface="Cambria Math" panose="02040503050406030204" pitchFamily="18" charset="0"/>
                        <a:ea typeface="微软雅黑" panose="020B0503020204020204" pitchFamily="34" charset="-122"/>
                      </a:rPr>
                      <m:t>=0.9</m:t>
                    </m:r>
                    <m:r>
                      <a:rPr lang="zh-CN" altLang="en-US" i="1" ker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2</m:t>
                        </m:r>
                      </m:sub>
                    </m:sSub>
                    <m:r>
                      <a:rPr lang="en-US" altLang="zh-CN" i="1" kern="0">
                        <a:latin typeface="Cambria Math" panose="02040503050406030204" pitchFamily="18" charset="0"/>
                        <a:ea typeface="微软雅黑" panose="020B0503020204020204" pitchFamily="34" charset="-122"/>
                      </a:rPr>
                      <m:t>=0.5</m:t>
                    </m:r>
                  </m:oMath>
                </a14:m>
                <a:r>
                  <a:rPr lang="zh-CN" altLang="en-US" dirty="0">
                    <a:latin typeface="微软雅黑 Light" panose="020B0502040204020203" pitchFamily="34" charset="-122"/>
                    <a:ea typeface="微软雅黑 Light" panose="020B0502040204020203" pitchFamily="34" charset="-122"/>
                  </a:rPr>
                  <a:t>的期望的值，需计算出合适的 </a:t>
                </a:r>
                <a14:m>
                  <m:oMath xmlns:m="http://schemas.openxmlformats.org/officeDocument/2006/math">
                    <m:sSup>
                      <m:sSupPr>
                        <m:ctrlPr>
                          <a:rPr lang="en-US" altLang="zh-CN" i="1" ker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(1)</m:t>
                        </m:r>
                      </m:sup>
                    </m:sSup>
                  </m:oMath>
                </a14:m>
                <a:r>
                  <a:rPr lang="zh-CN" altLang="en-US" dirty="0">
                    <a:latin typeface="微软雅黑 Light" panose="020B0502040204020203" pitchFamily="34" charset="-122"/>
                    <a:ea typeface="微软雅黑 Light" panose="020B0502040204020203" pitchFamily="34" charset="-122"/>
                  </a:rPr>
                  <a:t>、</a:t>
                </a:r>
                <a14:m>
                  <m:oMath xmlns:m="http://schemas.openxmlformats.org/officeDocument/2006/math">
                    <m:sSup>
                      <m:sSupPr>
                        <m:ctrlPr>
                          <a:rPr lang="en-US" altLang="zh-CN" i="1" ker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(2)</m:t>
                        </m:r>
                      </m:sup>
                    </m:sSup>
                  </m:oMath>
                </a14:m>
                <a:r>
                  <a:rPr lang="zh-CN" altLang="en-US" dirty="0">
                    <a:latin typeface="微软雅黑 Light" panose="020B0502040204020203" pitchFamily="34" charset="-122"/>
                    <a:ea typeface="微软雅黑 Light" panose="020B0502040204020203" pitchFamily="34" charset="-122"/>
                  </a:rPr>
                  <a:t> 的权重值</a:t>
                </a:r>
              </a:p>
            </p:txBody>
          </p:sp>
        </mc:Choice>
        <mc:Fallback xmlns="">
          <p:sp>
            <p:nvSpPr>
              <p:cNvPr id="8" name="矩形 7"/>
              <p:cNvSpPr>
                <a:spLocks noRot="1" noChangeAspect="1" noMove="1" noResize="1" noEditPoints="1" noAdjustHandles="1" noChangeArrowheads="1" noChangeShapeType="1" noTextEdit="1"/>
              </p:cNvSpPr>
              <p:nvPr/>
            </p:nvSpPr>
            <p:spPr>
              <a:xfrm>
                <a:off x="1822339" y="1484741"/>
                <a:ext cx="6120680" cy="4264565"/>
              </a:xfrm>
              <a:prstGeom prst="rect">
                <a:avLst/>
              </a:prstGeom>
              <a:blipFill rotWithShape="0">
                <a:blip r:embed="rId5"/>
                <a:stretch>
                  <a:fillRect l="-896" b="-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675322" y="3043234"/>
                <a:ext cx="7154048" cy="155561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(1)</m:t>
                          </m:r>
                        </m:sup>
                      </m:sSup>
                      <m:r>
                        <a:rPr lang="en-US" altLang="zh-CN" b="0" i="1" kern="0" smtClea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3,3</m:t>
                                    </m:r>
                                  </m:sub>
                                  <m:sup>
                                    <m:r>
                                      <a:rPr lang="en-US" altLang="zh-CN" i="1" kern="0">
                                        <a:latin typeface="Cambria Math" panose="02040503050406030204" pitchFamily="18" charset="0"/>
                                        <a:ea typeface="微软雅黑" panose="020B0503020204020204" pitchFamily="34" charset="-122"/>
                                      </a:rPr>
                                      <m:t>(1)</m:t>
                                    </m:r>
                                  </m:sup>
                                </m:sSubSup>
                              </m:e>
                            </m:mr>
                          </m:m>
                        </m:e>
                      </m:d>
                      <m:r>
                        <a:rPr lang="en-US" altLang="zh-CN" b="0" i="1" kern="0" smtClean="0">
                          <a:latin typeface="Cambria Math" panose="02040503050406030204" pitchFamily="18" charset="0"/>
                          <a:ea typeface="微软雅黑" panose="020B0503020204020204" pitchFamily="34" charset="-122"/>
                        </a:rPr>
                        <m:t>,  </m:t>
                      </m:r>
                      <m:sSup>
                        <m:sSupPr>
                          <m:ctrlPr>
                            <a:rPr lang="en-US" altLang="zh-CN" i="1" ker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(2)</m:t>
                          </m:r>
                        </m:sup>
                      </m:sSup>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
                        </m:e>
                      </m:d>
                    </m:oMath>
                  </m:oMathPara>
                </a14:m>
                <a:endParaRPr lang="zh-CN" altLang="en-US" dirty="0"/>
              </a:p>
              <a:p>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2675322" y="3043234"/>
                <a:ext cx="7154048" cy="1555619"/>
              </a:xfrm>
              <a:prstGeom prst="rect">
                <a:avLst/>
              </a:prstGeom>
              <a:blipFill rotWithShape="0">
                <a:blip r:embed="rId6"/>
                <a:stretch>
                  <a:fillRect/>
                </a:stretch>
              </a:blipFill>
            </p:spPr>
            <p:txBody>
              <a:bodyPr/>
              <a:lstStyle/>
              <a:p>
                <a:r>
                  <a:rPr lang="zh-CN" altLang="en-US">
                    <a:noFill/>
                  </a:rPr>
                  <a:t> </a:t>
                </a:r>
              </a:p>
            </p:txBody>
          </p:sp>
        </mc:Fallback>
      </mc:AlternateContent>
      <p:sp>
        <p:nvSpPr>
          <p:cNvPr id="11" name="灯片编号占位符 8">
            <a:extLst>
              <a:ext uri="{FF2B5EF4-FFF2-40B4-BE49-F238E27FC236}">
                <a16:creationId xmlns:a16="http://schemas.microsoft.com/office/drawing/2014/main" id="{9EA3B13C-AA12-49E3-A067-33D910263ED7}"/>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38</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4111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示例</a:t>
            </a:r>
            <a:endParaRPr lang="en-US" altLang="zh-CN" sz="2600" b="1" dirty="0"/>
          </a:p>
        </p:txBody>
      </p:sp>
      <mc:AlternateContent xmlns:mc="http://schemas.openxmlformats.org/markup-compatibility/2006" xmlns:a14="http://schemas.microsoft.com/office/drawing/2010/main">
        <mc:Choice Requires="a14">
          <p:sp>
            <p:nvSpPr>
              <p:cNvPr id="10" name="矩形 9"/>
              <p:cNvSpPr/>
              <p:nvPr/>
            </p:nvSpPr>
            <p:spPr>
              <a:xfrm>
                <a:off x="1560555" y="1073753"/>
                <a:ext cx="7560840" cy="12786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(1)</m:t>
                          </m:r>
                        </m:sup>
                      </m:sSup>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3,3</m:t>
                                    </m:r>
                                  </m:sub>
                                  <m:sup>
                                    <m:r>
                                      <a:rPr lang="en-US" altLang="zh-CN" i="1" kern="0">
                                        <a:latin typeface="Cambria Math" panose="02040503050406030204" pitchFamily="18" charset="0"/>
                                        <a:ea typeface="微软雅黑" panose="020B0503020204020204" pitchFamily="34" charset="-122"/>
                                      </a:rPr>
                                      <m:t>(1)</m:t>
                                    </m:r>
                                  </m:sup>
                                </m:sSubSup>
                              </m:e>
                            </m:mr>
                          </m:m>
                        </m:e>
                      </m:d>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0.15</m:t>
                                </m:r>
                              </m:e>
                              <m:e>
                                <m:r>
                                  <a:rPr lang="en-US" altLang="zh-CN" b="0" i="1" kern="0" smtClean="0">
                                    <a:latin typeface="Cambria Math" panose="02040503050406030204" pitchFamily="18" charset="0"/>
                                    <a:ea typeface="微软雅黑" panose="020B0503020204020204" pitchFamily="34" charset="-122"/>
                                  </a:rPr>
                                  <m:t>0.30</m:t>
                                </m:r>
                              </m:e>
                            </m:mr>
                            <m:mr>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0.20</m:t>
                                </m:r>
                              </m:e>
                              <m:e>
                                <m:r>
                                  <a:rPr lang="en-US" altLang="zh-CN" b="0" i="1" kern="0" smtClean="0">
                                    <a:latin typeface="Cambria Math" panose="02040503050406030204" pitchFamily="18" charset="0"/>
                                    <a:ea typeface="微软雅黑" panose="020B0503020204020204" pitchFamily="34" charset="-122"/>
                                  </a:rPr>
                                  <m:t>0.35</m:t>
                                </m:r>
                              </m:e>
                            </m:mr>
                            <m:mr>
                              <m:e>
                                <m:r>
                                  <a:rPr lang="en-US" altLang="zh-CN" b="0" i="1" kern="0" smtClean="0">
                                    <a:latin typeface="Cambria Math" panose="02040503050406030204" pitchFamily="18" charset="0"/>
                                    <a:ea typeface="微软雅黑" panose="020B0503020204020204" pitchFamily="34" charset="-122"/>
                                  </a:rPr>
                                  <m:t>0.10</m:t>
                                </m:r>
                              </m:e>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0.15</m:t>
                                </m:r>
                              </m:e>
                            </m:mr>
                          </m:m>
                        </m:e>
                      </m:d>
                    </m:oMath>
                  </m:oMathPara>
                </a14:m>
                <a:endParaRPr lang="en-US" altLang="zh-CN" i="1" kern="0" dirty="0">
                  <a:latin typeface="Cambria Math" panose="02040503050406030204" pitchFamily="18" charset="0"/>
                  <a:ea typeface="微软雅黑 Light" panose="020B0502040204020203" pitchFamily="34"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1560555" y="1073753"/>
                <a:ext cx="7560840" cy="1278620"/>
              </a:xfrm>
              <a:prstGeom prst="rect">
                <a:avLst/>
              </a:prstGeom>
              <a:blipFill>
                <a:blip r:embed="rId5"/>
                <a:stretch>
                  <a:fillRect/>
                </a:stretch>
              </a:blipFill>
            </p:spPr>
            <p:txBody>
              <a:bodyPr/>
              <a:lstStyle/>
              <a:p>
                <a:r>
                  <a:rPr lang="zh-CN" altLang="en-US">
                    <a:noFill/>
                  </a:rPr>
                  <a:t> </a:t>
                </a:r>
              </a:p>
            </p:txBody>
          </p:sp>
        </mc:Fallback>
      </mc:AlternateContent>
      <p:sp>
        <p:nvSpPr>
          <p:cNvPr id="11" name="矩形 10"/>
          <p:cNvSpPr/>
          <p:nvPr/>
        </p:nvSpPr>
        <p:spPr>
          <a:xfrm>
            <a:off x="631455" y="1434905"/>
            <a:ext cx="1858201" cy="460319"/>
          </a:xfrm>
          <a:prstGeom prst="rect">
            <a:avLst/>
          </a:prstGeom>
        </p:spPr>
        <p:txBody>
          <a:bodyPr wrap="none">
            <a:spAutoFit/>
          </a:bodyPr>
          <a:lstStyle/>
          <a:p>
            <a:pPr marL="285750" indent="-285750">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初始化权重值</a:t>
            </a:r>
            <a:endParaRPr lang="en-US" altLang="zh-CN" dirty="0">
              <a:latin typeface="微软雅黑 Light" panose="020B0502040204020203" pitchFamily="34" charset="-122"/>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12" name="矩形 11"/>
              <p:cNvSpPr/>
              <p:nvPr/>
            </p:nvSpPr>
            <p:spPr>
              <a:xfrm>
                <a:off x="2802889" y="2478972"/>
                <a:ext cx="6192688" cy="1268039"/>
              </a:xfrm>
              <a:prstGeom prst="rect">
                <a:avLst/>
              </a:prstGeom>
            </p:spPr>
            <p:txBody>
              <a:bodyPr wrap="square">
                <a:spAutoFit/>
              </a:bodyPr>
              <a:lstStyle/>
              <a:p>
                <a14:m>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(2)</m:t>
                        </m:r>
                      </m:sup>
                    </m:sSup>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
                      </m:e>
                    </m:d>
                  </m:oMath>
                </a14:m>
                <a:r>
                  <a:rPr lang="en-US" altLang="zh-CN" dirty="0"/>
                  <a:t>=</a:t>
                </a:r>
                <a14:m>
                  <m:oMath xmlns:m="http://schemas.openxmlformats.org/officeDocument/2006/math">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i="1" kern="0" smtClean="0">
                                <a:latin typeface="Cambria Math" panose="02040503050406030204" pitchFamily="18" charset="0"/>
                                <a:ea typeface="微软雅黑" panose="020B0503020204020204" pitchFamily="34" charset="-122"/>
                              </a:rPr>
                            </m:ctrlPr>
                          </m:mPr>
                          <m:mr>
                            <m:e>
                              <m:r>
                                <m:rPr>
                                  <m:brk m:alnAt="7"/>
                                </m:rPr>
                                <a:rPr lang="en-US" altLang="zh-CN" b="0" i="1" kern="0" smtClean="0">
                                  <a:latin typeface="Cambria Math" panose="02040503050406030204" pitchFamily="18" charset="0"/>
                                  <a:ea typeface="微软雅黑" panose="020B0503020204020204" pitchFamily="34" charset="-122"/>
                                </a:rPr>
                                <m:t>0</m:t>
                              </m:r>
                              <m:r>
                                <a:rPr lang="en-US" altLang="zh-CN" b="0" i="1" kern="0" smtClean="0">
                                  <a:latin typeface="Cambria Math" panose="02040503050406030204" pitchFamily="18" charset="0"/>
                                  <a:ea typeface="微软雅黑" panose="020B0503020204020204" pitchFamily="34" charset="-122"/>
                                </a:rPr>
                                <m:t>.40</m:t>
                              </m:r>
                            </m:e>
                            <m:e>
                              <m:r>
                                <a:rPr lang="en-US" altLang="zh-CN" b="0" i="1" kern="0" smtClean="0">
                                  <a:latin typeface="Cambria Math" panose="02040503050406030204" pitchFamily="18" charset="0"/>
                                  <a:ea typeface="微软雅黑" panose="020B0503020204020204" pitchFamily="34" charset="-122"/>
                                </a:rPr>
                                <m:t>0.25</m:t>
                              </m:r>
                            </m:e>
                          </m:mr>
                          <m:mr>
                            <m:e>
                              <m:r>
                                <a:rPr lang="en-US" altLang="zh-CN" b="0" i="1" kern="0" smtClean="0">
                                  <a:latin typeface="Cambria Math" panose="02040503050406030204" pitchFamily="18" charset="0"/>
                                  <a:ea typeface="微软雅黑" panose="020B0503020204020204" pitchFamily="34" charset="-122"/>
                                </a:rPr>
                                <m:t>0.35</m:t>
                              </m:r>
                            </m:e>
                            <m:e>
                              <m:r>
                                <a:rPr lang="en-US" altLang="zh-CN" b="0" i="1" kern="0" smtClean="0">
                                  <a:latin typeface="Cambria Math" panose="02040503050406030204" pitchFamily="18" charset="0"/>
                                  <a:ea typeface="微软雅黑" panose="020B0503020204020204" pitchFamily="34" charset="-122"/>
                                </a:rPr>
                                <m:t>0.30</m:t>
                              </m:r>
                            </m:e>
                          </m:mr>
                          <m:mr>
                            <m:e>
                              <m:r>
                                <a:rPr lang="en-US" altLang="zh-CN" b="0" i="1" kern="0" smtClean="0">
                                  <a:latin typeface="Cambria Math" panose="02040503050406030204" pitchFamily="18" charset="0"/>
                                  <a:ea typeface="微软雅黑" panose="020B0503020204020204" pitchFamily="34" charset="-122"/>
                                </a:rPr>
                                <m:t>0.01</m:t>
                              </m:r>
                            </m:e>
                            <m:e>
                              <m:r>
                                <a:rPr lang="en-US" altLang="zh-CN" b="0" i="1" kern="0" smtClean="0">
                                  <a:latin typeface="Cambria Math" panose="02040503050406030204" pitchFamily="18" charset="0"/>
                                  <a:ea typeface="微软雅黑" panose="020B0503020204020204" pitchFamily="34" charset="-122"/>
                                </a:rPr>
                                <m:t>0.35</m:t>
                              </m:r>
                            </m:e>
                          </m:mr>
                        </m:m>
                      </m:e>
                    </m:d>
                  </m:oMath>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2802889" y="2478972"/>
                <a:ext cx="6192688" cy="1268039"/>
              </a:xfrm>
              <a:prstGeom prst="rect">
                <a:avLst/>
              </a:prstGeom>
              <a:blipFill rotWithShape="0">
                <a:blip r:embed="rId6"/>
                <a:stretch>
                  <a:fillRect/>
                </a:stretch>
              </a:blipFill>
            </p:spPr>
            <p:txBody>
              <a:bodyPr/>
              <a:lstStyle/>
              <a:p>
                <a:r>
                  <a:rPr lang="zh-CN" altLang="en-US">
                    <a:noFill/>
                  </a:rPr>
                  <a:t> </a:t>
                </a:r>
              </a:p>
            </p:txBody>
          </p:sp>
        </mc:Fallback>
      </mc:AlternateContent>
      <p:sp>
        <p:nvSpPr>
          <p:cNvPr id="13" name="矩形 12"/>
          <p:cNvSpPr/>
          <p:nvPr/>
        </p:nvSpPr>
        <p:spPr>
          <a:xfrm>
            <a:off x="631455" y="4159477"/>
            <a:ext cx="2851700" cy="369332"/>
          </a:xfrm>
          <a:prstGeom prst="rect">
            <a:avLst/>
          </a:prstGeom>
        </p:spPr>
        <p:txBody>
          <a:bodyPr wrap="square">
            <a:spAutoFit/>
          </a:bodyPr>
          <a:lstStyle/>
          <a:p>
            <a:pPr marL="285750" indent="-285750" latinLnBrk="1">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输入层到隐含层计算</a:t>
            </a:r>
            <a:endParaRPr lang="zh-CN" altLang="en-US" i="0" dirty="0">
              <a:effectLst/>
              <a:latin typeface="微软雅黑 Light" panose="020B0502040204020203" pitchFamily="34" charset="-122"/>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14" name="矩形 13"/>
              <p:cNvSpPr/>
              <p:nvPr/>
            </p:nvSpPr>
            <p:spPr>
              <a:xfrm>
                <a:off x="3334962" y="3915019"/>
                <a:ext cx="7344816" cy="858248"/>
              </a:xfrm>
              <a:prstGeom prst="rect">
                <a:avLst/>
              </a:prstGeom>
            </p:spPr>
            <p:txBody>
              <a:bodyPr wrap="square">
                <a:spAutoFit/>
              </a:bodyPr>
              <a:lstStyle/>
              <a:p>
                <a14:m>
                  <m:oMath xmlns:m="http://schemas.openxmlformats.org/officeDocument/2006/math">
                    <m:r>
                      <a:rPr lang="en-US" altLang="zh-CN" b="1" i="1" kern="0" smtClean="0">
                        <a:latin typeface="Cambria Math" panose="02040503050406030204" pitchFamily="18" charset="0"/>
                        <a:ea typeface="微软雅黑" panose="020B0503020204020204" pitchFamily="34" charset="-122"/>
                      </a:rPr>
                      <m:t>𝒗</m:t>
                    </m:r>
                  </m:oMath>
                </a14:m>
                <a:r>
                  <a:rPr lang="en-US" altLang="zh-CN" kern="0" dirty="0">
                    <a:ea typeface="微软雅黑" panose="020B0503020204020204" pitchFamily="34" charset="-122"/>
                  </a:rPr>
                  <a:t>=</a:t>
                </a:r>
                <a14:m>
                  <m:oMath xmlns:m="http://schemas.openxmlformats.org/officeDocument/2006/math">
                    <m:d>
                      <m:dPr>
                        <m:begChr m:val="["/>
                        <m:endChr m:val="]"/>
                        <m:ctrlPr>
                          <a:rPr lang="en-US" altLang="zh-CN" i="1" kern="0" smtClea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i="1">
                                      <a:latin typeface="Cambria Math" panose="02040503050406030204" pitchFamily="18" charset="0"/>
                                    </a:rPr>
                                    <m:t>1</m:t>
                                  </m:r>
                                </m:sub>
                              </m:sSub>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2</m:t>
                                  </m:r>
                                </m:sub>
                              </m:sSub>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3</m:t>
                                  </m:r>
                                </m:sub>
                              </m:sSub>
                            </m:e>
                          </m:mr>
                        </m:m>
                      </m:e>
                    </m:d>
                    <m:r>
                      <a:rPr lang="en-US" altLang="zh-CN" i="1">
                        <a:solidFill>
                          <a:srgbClr val="333333"/>
                        </a:solidFill>
                        <a:latin typeface="Cambria Math" panose="02040503050406030204" pitchFamily="18" charset="0"/>
                        <a:ea typeface="微软雅黑" panose="020B0503020204020204" pitchFamily="34" charset="-122"/>
                      </a:rPr>
                      <m:t>=</m:t>
                    </m:r>
                    <m:sSup>
                      <m:sSupPr>
                        <m:ctrlPr>
                          <a:rPr lang="en-US" altLang="zh-CN" i="1" kern="0">
                            <a:latin typeface="Cambria Math" panose="02040503050406030204" pitchFamily="18" charset="0"/>
                            <a:ea typeface="微软雅黑" panose="020B0503020204020204" pitchFamily="34" charset="-122"/>
                          </a:rPr>
                        </m:ctrlPr>
                      </m:sSupPr>
                      <m:e>
                        <m:sSup>
                          <m:sSupPr>
                            <m:ctrlPr>
                              <a:rPr lang="en-US" altLang="zh-CN" i="1" kern="0">
                                <a:latin typeface="Cambria Math" panose="02040503050406030204" pitchFamily="18" charset="0"/>
                                <a:ea typeface="微软雅黑" panose="020B0503020204020204" pitchFamily="34" charset="-122"/>
                              </a:rPr>
                            </m:ctrlPr>
                          </m:sSupPr>
                          <m:e>
                            <m:r>
                              <a:rPr lang="en-US" altLang="zh-CN" i="1" kern="0">
                                <a:latin typeface="Cambria Math" panose="02040503050406030204" pitchFamily="18" charset="0"/>
                                <a:ea typeface="微软雅黑" panose="020B0503020204020204" pitchFamily="34" charset="-122"/>
                              </a:rPr>
                              <m:t>𝑊</m:t>
                            </m:r>
                          </m:e>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1</m:t>
                                </m:r>
                              </m:e>
                            </m:d>
                          </m:sup>
                        </m:sSup>
                      </m:e>
                      <m:sup>
                        <m:r>
                          <a:rPr lang="en-US" altLang="zh-CN" i="1" kern="0">
                            <a:latin typeface="Cambria Math" panose="02040503050406030204" pitchFamily="18" charset="0"/>
                            <a:ea typeface="微软雅黑" panose="020B0503020204020204" pitchFamily="34" charset="-122"/>
                          </a:rPr>
                          <m:t>𝑇</m:t>
                        </m:r>
                      </m:sup>
                    </m:sSup>
                    <m:r>
                      <a:rPr lang="en-US" altLang="zh-CN" b="1" i="1" kern="0">
                        <a:latin typeface="Cambria Math" panose="02040503050406030204" pitchFamily="18" charset="0"/>
                        <a:ea typeface="微软雅黑" panose="020B0503020204020204" pitchFamily="34" charset="-122"/>
                      </a:rPr>
                      <m:t>𝒙</m:t>
                    </m:r>
                    <m:r>
                      <a:rPr lang="en-US" altLang="zh-CN" b="0" i="1" kern="0" smtClean="0">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r>
                                <a:rPr lang="en-US" altLang="zh-CN" i="1" kern="0">
                                  <a:latin typeface="Cambria Math" panose="02040503050406030204" pitchFamily="18" charset="0"/>
                                  <a:ea typeface="微软雅黑" panose="020B0503020204020204" pitchFamily="34" charset="-122"/>
                                </a:rPr>
                                <m:t>0.25</m:t>
                              </m:r>
                            </m:e>
                            <m:e>
                              <m:r>
                                <a:rPr lang="en-US" altLang="zh-CN" i="1" kern="0">
                                  <a:latin typeface="Cambria Math" panose="02040503050406030204" pitchFamily="18" charset="0"/>
                                  <a:ea typeface="微软雅黑" panose="020B0503020204020204" pitchFamily="34" charset="-122"/>
                                </a:rPr>
                                <m:t>0.25</m:t>
                              </m:r>
                            </m:e>
                            <m:e>
                              <m:r>
                                <a:rPr lang="en-US" altLang="zh-CN" i="1" kern="0">
                                  <a:latin typeface="Cambria Math" panose="02040503050406030204" pitchFamily="18" charset="0"/>
                                  <a:ea typeface="微软雅黑" panose="020B0503020204020204" pitchFamily="34" charset="-122"/>
                                </a:rPr>
                                <m:t>0.</m:t>
                              </m:r>
                              <m:r>
                                <a:rPr lang="en-US" altLang="zh-CN" b="0" i="1" kern="0" smtClean="0">
                                  <a:latin typeface="Cambria Math" panose="02040503050406030204" pitchFamily="18" charset="0"/>
                                  <a:ea typeface="微软雅黑" panose="020B0503020204020204" pitchFamily="34" charset="-122"/>
                                </a:rPr>
                                <m:t>10</m:t>
                              </m:r>
                            </m:e>
                          </m:mr>
                          <m:mr>
                            <m:e>
                              <m:r>
                                <a:rPr lang="en-US" altLang="zh-CN" i="1" kern="0">
                                  <a:latin typeface="Cambria Math" panose="02040503050406030204" pitchFamily="18" charset="0"/>
                                  <a:ea typeface="微软雅黑" panose="020B0503020204020204" pitchFamily="34" charset="-122"/>
                                </a:rPr>
                                <m:t>0.15</m:t>
                              </m:r>
                            </m:e>
                            <m:e>
                              <m:r>
                                <a:rPr lang="en-US" altLang="zh-CN" i="1" kern="0">
                                  <a:latin typeface="Cambria Math" panose="02040503050406030204" pitchFamily="18" charset="0"/>
                                  <a:ea typeface="微软雅黑" panose="020B0503020204020204" pitchFamily="34" charset="-122"/>
                                </a:rPr>
                                <m:t>0.20</m:t>
                              </m:r>
                            </m:e>
                            <m:e>
                              <m:r>
                                <a:rPr lang="en-US" altLang="zh-CN" i="1" kern="0">
                                  <a:latin typeface="Cambria Math" panose="02040503050406030204" pitchFamily="18" charset="0"/>
                                  <a:ea typeface="微软雅黑" panose="020B0503020204020204" pitchFamily="34" charset="-122"/>
                                </a:rPr>
                                <m:t>0.25</m:t>
                              </m:r>
                            </m:e>
                          </m:mr>
                          <m:mr>
                            <m:e>
                              <m:r>
                                <a:rPr lang="en-US" altLang="zh-CN" i="1" kern="0">
                                  <a:latin typeface="Cambria Math" panose="02040503050406030204" pitchFamily="18" charset="0"/>
                                  <a:ea typeface="微软雅黑" panose="020B0503020204020204" pitchFamily="34" charset="-122"/>
                                </a:rPr>
                                <m:t>0.30</m:t>
                              </m:r>
                            </m:e>
                            <m:e>
                              <m:r>
                                <a:rPr lang="en-US" altLang="zh-CN" i="1" kern="0">
                                  <a:latin typeface="Cambria Math" panose="02040503050406030204" pitchFamily="18" charset="0"/>
                                  <a:ea typeface="微软雅黑" panose="020B0503020204020204" pitchFamily="34" charset="-122"/>
                                </a:rPr>
                                <m:t>0.35</m:t>
                              </m:r>
                            </m:e>
                            <m:e>
                              <m:r>
                                <a:rPr lang="en-US" altLang="zh-CN" i="1" kern="0">
                                  <a:latin typeface="Cambria Math" panose="02040503050406030204" pitchFamily="18" charset="0"/>
                                  <a:ea typeface="微软雅黑" panose="020B0503020204020204" pitchFamily="34" charset="-122"/>
                                </a:rPr>
                                <m:t>0.15</m:t>
                              </m:r>
                            </m:e>
                          </m:mr>
                        </m:m>
                      </m:e>
                    </m:d>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r>
                                <m:rPr>
                                  <m:brk m:alnAt="7"/>
                                </m:rPr>
                                <a:rPr lang="en-US" altLang="zh-CN" b="0" i="1" kern="0" smtClean="0">
                                  <a:latin typeface="Cambria Math" panose="02040503050406030204" pitchFamily="18" charset="0"/>
                                  <a:ea typeface="微软雅黑" panose="020B0503020204020204" pitchFamily="34" charset="-122"/>
                                </a:rPr>
                                <m:t>0</m:t>
                              </m:r>
                              <m:r>
                                <a:rPr lang="en-US" altLang="zh-CN" b="0" i="1" kern="0" smtClean="0">
                                  <a:latin typeface="Cambria Math" panose="02040503050406030204" pitchFamily="18" charset="0"/>
                                  <a:ea typeface="微软雅黑" panose="020B0503020204020204" pitchFamily="34" charset="-122"/>
                                </a:rPr>
                                <m:t>.02</m:t>
                              </m:r>
                            </m:e>
                          </m:mr>
                          <m:mr>
                            <m:e>
                              <m:r>
                                <a:rPr lang="en-US" altLang="zh-CN" b="0" i="1" smtClean="0">
                                  <a:latin typeface="Cambria Math" panose="02040503050406030204" pitchFamily="18" charset="0"/>
                                </a:rPr>
                                <m:t>0.04</m:t>
                              </m:r>
                            </m:e>
                          </m:mr>
                          <m:mr>
                            <m:e>
                              <m:r>
                                <a:rPr lang="en-US" altLang="zh-CN" b="0" i="1" smtClean="0">
                                  <a:latin typeface="Cambria Math" panose="02040503050406030204" pitchFamily="18" charset="0"/>
                                </a:rPr>
                                <m:t>0.01</m:t>
                              </m:r>
                            </m:e>
                          </m:mr>
                        </m:m>
                      </m:e>
                    </m:d>
                  </m:oMath>
                </a14:m>
                <a:r>
                  <a:rPr lang="en-US" altLang="zh-CN" dirty="0"/>
                  <a:t>+</a:t>
                </a:r>
                <a:r>
                  <a:rPr lang="en-US" altLang="zh-CN" kern="0" dirty="0">
                    <a:latin typeface="Cambria Math" panose="02040503050406030204" pitchFamily="18" charset="0"/>
                    <a:ea typeface="微软雅黑 Light" panose="020B0502040204020203" pitchFamily="34" charset="-122"/>
                  </a:rPr>
                  <a:t>0.4</a:t>
                </a:r>
                <a:r>
                  <a:rPr lang="en-US" altLang="zh-CN" dirty="0">
                    <a:solidFill>
                      <a:srgbClr val="333333"/>
                    </a:solidFill>
                    <a:ea typeface="微软雅黑" panose="020B0503020204020204" pitchFamily="34" charset="-122"/>
                  </a:rPr>
                  <a:t> </a:t>
                </a:r>
                <a14:m>
                  <m:oMath xmlns:m="http://schemas.openxmlformats.org/officeDocument/2006/math">
                    <m:r>
                      <a:rPr lang="en-US" altLang="zh-CN" i="1">
                        <a:solidFill>
                          <a:srgbClr val="333333"/>
                        </a:solidFill>
                        <a:latin typeface="Cambria Math" panose="02040503050406030204" pitchFamily="18" charset="0"/>
                        <a:ea typeface="微软雅黑" panose="020B0503020204020204" pitchFamily="34" charset="-122"/>
                      </a:rPr>
                      <m:t>= </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r>
                                <m:rPr>
                                  <m:brk m:alnAt="7"/>
                                </m:rPr>
                                <a:rPr lang="en-US" altLang="zh-CN" b="0" i="1" kern="0" smtClean="0">
                                  <a:latin typeface="Cambria Math" panose="02040503050406030204" pitchFamily="18" charset="0"/>
                                  <a:ea typeface="微软雅黑" panose="020B0503020204020204" pitchFamily="34" charset="-122"/>
                                </a:rPr>
                                <m:t>0</m:t>
                              </m:r>
                              <m:r>
                                <a:rPr lang="en-US" altLang="zh-CN" b="0" i="1" kern="0" smtClean="0">
                                  <a:latin typeface="Cambria Math" panose="02040503050406030204" pitchFamily="18" charset="0"/>
                                  <a:ea typeface="微软雅黑" panose="020B0503020204020204" pitchFamily="34" charset="-122"/>
                                </a:rPr>
                                <m:t>.416</m:t>
                              </m:r>
                            </m:e>
                          </m:mr>
                          <m:mr>
                            <m:e>
                              <m:r>
                                <a:rPr lang="en-US" altLang="zh-CN" b="0" i="1" smtClean="0">
                                  <a:latin typeface="Cambria Math" panose="02040503050406030204" pitchFamily="18" charset="0"/>
                                </a:rPr>
                                <m:t>0.4135</m:t>
                              </m:r>
                            </m:e>
                          </m:mr>
                          <m:mr>
                            <m:e>
                              <m:r>
                                <a:rPr lang="en-US" altLang="zh-CN" b="0" i="1" smtClean="0">
                                  <a:latin typeface="Cambria Math" panose="02040503050406030204" pitchFamily="18" charset="0"/>
                                </a:rPr>
                                <m:t>0.4215</m:t>
                              </m:r>
                            </m:e>
                          </m:mr>
                        </m:m>
                      </m:e>
                    </m:d>
                  </m:oMath>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3334962" y="3915019"/>
                <a:ext cx="7344816" cy="858248"/>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237380" y="4782287"/>
                <a:ext cx="7092200" cy="174701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kern="0" smtClean="0">
                          <a:latin typeface="Cambria Math" panose="02040503050406030204" pitchFamily="18" charset="0"/>
                          <a:ea typeface="微软雅黑" panose="020B0503020204020204" pitchFamily="34" charset="-122"/>
                        </a:rPr>
                        <m:t>𝒉</m:t>
                      </m:r>
                      <m:r>
                        <a:rPr lang="en-US" altLang="zh-CN" b="0" i="1" kern="0" smtClean="0">
                          <a:latin typeface="Cambria Math" panose="02040503050406030204" pitchFamily="18" charset="0"/>
                          <a:ea typeface="微软雅黑" panose="020B0503020204020204" pitchFamily="34" charset="-122"/>
                        </a:rPr>
                        <m:t>=</m:t>
                      </m:r>
                      <m:d>
                        <m:dPr>
                          <m:begChr m:val="["/>
                          <m:endChr m:val="]"/>
                          <m:ctrlPr>
                            <a:rPr lang="en-US" altLang="zh-CN" i="1" kern="0" smtClea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1</m:t>
                                    </m:r>
                                  </m:sub>
                                </m:sSub>
                              </m:e>
                            </m:mr>
                            <m:mr>
                              <m:e>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2</m:t>
                                    </m:r>
                                  </m:sub>
                                </m:sSub>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3</m:t>
                                    </m:r>
                                  </m:sub>
                                </m:sSub>
                              </m:e>
                            </m:mr>
                          </m:m>
                        </m:e>
                      </m:d>
                      <m:r>
                        <a:rPr lang="en-US" altLang="zh-CN" i="1">
                          <a:solidFill>
                            <a:srgbClr val="333333"/>
                          </a:solidFill>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b="1" i="1" smtClean="0">
                                  <a:latin typeface="Cambria Math" panose="02040503050406030204" pitchFamily="18" charset="0"/>
                                </a:rPr>
                                <m:t>𝒗</m:t>
                              </m:r>
                            </m:sup>
                          </m:sSup>
                        </m:den>
                      </m:f>
                      <m:r>
                        <a:rPr lang="en-US" altLang="zh-CN" b="0" i="1" smtClean="0">
                          <a:latin typeface="Cambria Math" panose="02040503050406030204" pitchFamily="18" charset="0"/>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b="0" i="1" smtClean="0">
                                            <a:latin typeface="Cambria Math" panose="02040503050406030204" pitchFamily="18" charset="0"/>
                                          </a:rPr>
                                          <m:t>0.416</m:t>
                                        </m:r>
                                      </m:sup>
                                    </m:sSup>
                                  </m:den>
                                </m:f>
                              </m:e>
                            </m:mr>
                            <m:m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b="0" i="1" smtClean="0">
                                            <a:latin typeface="Cambria Math" panose="02040503050406030204" pitchFamily="18" charset="0"/>
                                          </a:rPr>
                                          <m:t>0.4135</m:t>
                                        </m:r>
                                      </m:sup>
                                    </m:sSup>
                                  </m:den>
                                </m:f>
                              </m:e>
                            </m:mr>
                            <m:m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b="0" i="1" smtClean="0">
                                            <a:latin typeface="Cambria Math" panose="02040503050406030204" pitchFamily="18" charset="0"/>
                                          </a:rPr>
                                          <m:t>0.4215</m:t>
                                        </m:r>
                                      </m:sup>
                                    </m:sSup>
                                  </m:den>
                                </m:f>
                              </m:e>
                            </m:mr>
                          </m:m>
                        </m:e>
                      </m:d>
                      <m:r>
                        <a:rPr lang="en-US" altLang="zh-CN" b="0" i="1" smtClean="0">
                          <a:latin typeface="Cambria Math" panose="02040503050406030204" pitchFamily="18" charset="0"/>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r>
                                  <m:rPr>
                                    <m:brk m:alnAt="7"/>
                                  </m:rPr>
                                  <a:rPr lang="en-US" altLang="zh-CN" b="0" i="1" kern="0" smtClean="0">
                                    <a:latin typeface="Cambria Math" panose="02040503050406030204" pitchFamily="18" charset="0"/>
                                    <a:ea typeface="微软雅黑" panose="020B0503020204020204" pitchFamily="34" charset="-122"/>
                                  </a:rPr>
                                  <m:t>0</m:t>
                                </m:r>
                                <m:r>
                                  <a:rPr lang="en-US" altLang="zh-CN" b="0" i="1" kern="0" smtClean="0">
                                    <a:latin typeface="Cambria Math" panose="02040503050406030204" pitchFamily="18" charset="0"/>
                                    <a:ea typeface="微软雅黑" panose="020B0503020204020204" pitchFamily="34" charset="-122"/>
                                  </a:rPr>
                                  <m:t>.6025</m:t>
                                </m:r>
                              </m:e>
                            </m:mr>
                            <m:mr>
                              <m:e>
                                <m:r>
                                  <a:rPr lang="en-US" altLang="zh-CN" b="0" i="1" smtClean="0">
                                    <a:latin typeface="Cambria Math" panose="02040503050406030204" pitchFamily="18" charset="0"/>
                                  </a:rPr>
                                  <m:t>0.6019</m:t>
                                </m:r>
                              </m:e>
                            </m:mr>
                            <m:mr>
                              <m:e>
                                <m:r>
                                  <a:rPr lang="en-US" altLang="zh-CN" b="0" i="1" smtClean="0">
                                    <a:latin typeface="Cambria Math" panose="02040503050406030204" pitchFamily="18" charset="0"/>
                                  </a:rPr>
                                  <m:t>0.6038</m:t>
                                </m:r>
                              </m:e>
                            </m:mr>
                          </m:m>
                        </m:e>
                      </m:d>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2237380" y="4782287"/>
                <a:ext cx="7092200" cy="1747017"/>
              </a:xfrm>
              <a:prstGeom prst="rect">
                <a:avLst/>
              </a:prstGeom>
              <a:blipFill rotWithShape="0">
                <a:blip r:embed="rId8"/>
                <a:stretch>
                  <a:fillRect/>
                </a:stretch>
              </a:blipFill>
            </p:spPr>
            <p:txBody>
              <a:bodyPr/>
              <a:lstStyle/>
              <a:p>
                <a:r>
                  <a:rPr lang="zh-CN" altLang="en-US">
                    <a:noFill/>
                  </a:rPr>
                  <a:t> </a:t>
                </a:r>
              </a:p>
            </p:txBody>
          </p:sp>
        </mc:Fallback>
      </mc:AlternateContent>
      <p:sp>
        <p:nvSpPr>
          <p:cNvPr id="20" name="灯片编号占位符 8">
            <a:extLst>
              <a:ext uri="{FF2B5EF4-FFF2-40B4-BE49-F238E27FC236}">
                <a16:creationId xmlns:a16="http://schemas.microsoft.com/office/drawing/2014/main" id="{AE8B5E5A-475E-4C48-BC4B-3926752C5874}"/>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39</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837925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示例</a:t>
            </a:r>
            <a:endParaRPr lang="en-US" altLang="zh-CN" sz="2600" b="1" dirty="0"/>
          </a:p>
        </p:txBody>
      </p:sp>
      <p:sp>
        <p:nvSpPr>
          <p:cNvPr id="18" name="矩形 17"/>
          <p:cNvSpPr/>
          <p:nvPr/>
        </p:nvSpPr>
        <p:spPr>
          <a:xfrm>
            <a:off x="689981" y="1475796"/>
            <a:ext cx="2851700" cy="369332"/>
          </a:xfrm>
          <a:prstGeom prst="rect">
            <a:avLst/>
          </a:prstGeom>
        </p:spPr>
        <p:txBody>
          <a:bodyPr wrap="square">
            <a:spAutoFit/>
          </a:bodyPr>
          <a:lstStyle/>
          <a:p>
            <a:pPr marL="285750" indent="-285750" latinLnBrk="1">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隐含层到输出层计算</a:t>
            </a:r>
            <a:endParaRPr lang="zh-CN" altLang="en-US" i="0" dirty="0">
              <a:effectLst/>
              <a:latin typeface="微软雅黑 Light" panose="020B0502040204020203" pitchFamily="34" charset="-122"/>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19" name="矩形 18"/>
              <p:cNvSpPr/>
              <p:nvPr/>
            </p:nvSpPr>
            <p:spPr>
              <a:xfrm>
                <a:off x="2383292" y="1222287"/>
                <a:ext cx="9073008" cy="83048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i="1" kern="0" smtClea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smtClean="0">
                                  <a:latin typeface="Cambria Math" panose="02040503050406030204" pitchFamily="18" charset="0"/>
                                  <a:ea typeface="微软雅黑" panose="020B0503020204020204" pitchFamily="34" charset="-122"/>
                                </a:rPr>
                              </m:ctrlPr>
                            </m:mPr>
                            <m:mr>
                              <m:e>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e>
                            </m:mr>
                            <m:mr>
                              <m:e>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𝑧</m:t>
                                    </m:r>
                                  </m:e>
                                  <m:sub>
                                    <m:r>
                                      <a:rPr lang="en-US" altLang="zh-CN" b="0" i="1" kern="0" smtClean="0">
                                        <a:latin typeface="Cambria Math" panose="02040503050406030204" pitchFamily="18" charset="0"/>
                                        <a:ea typeface="微软雅黑" panose="020B0503020204020204" pitchFamily="34" charset="-122"/>
                                      </a:rPr>
                                      <m:t>2</m:t>
                                    </m:r>
                                  </m:sub>
                                </m:sSub>
                              </m:e>
                            </m:mr>
                          </m:m>
                        </m:e>
                      </m:d>
                      <m:r>
                        <a:rPr lang="en-US" altLang="zh-CN" i="1">
                          <a:solidFill>
                            <a:srgbClr val="333333"/>
                          </a:solidFill>
                          <a:latin typeface="Cambria Math" panose="02040503050406030204" pitchFamily="18" charset="0"/>
                          <a:ea typeface="微软雅黑" panose="020B0503020204020204" pitchFamily="34" charset="-122"/>
                        </a:rPr>
                        <m:t>=</m:t>
                      </m:r>
                      <m:sSup>
                        <m:sSupPr>
                          <m:ctrlPr>
                            <a:rPr lang="en-US" altLang="zh-CN" i="1" kern="0">
                              <a:latin typeface="Cambria Math" panose="02040503050406030204" pitchFamily="18" charset="0"/>
                              <a:ea typeface="微软雅黑" panose="020B0503020204020204" pitchFamily="34" charset="-122"/>
                            </a:rPr>
                          </m:ctrlPr>
                        </m:sSupPr>
                        <m:e>
                          <m:sSup>
                            <m:sSupPr>
                              <m:ctrlPr>
                                <a:rPr lang="en-US" altLang="zh-CN" i="1" kern="0">
                                  <a:latin typeface="Cambria Math" panose="02040503050406030204" pitchFamily="18" charset="0"/>
                                  <a:ea typeface="微软雅黑" panose="020B0503020204020204" pitchFamily="34" charset="-122"/>
                                </a:rPr>
                              </m:ctrlPr>
                            </m:sSupPr>
                            <m:e>
                              <m:r>
                                <a:rPr lang="en-US" altLang="zh-CN" i="1" kern="0">
                                  <a:latin typeface="Cambria Math" panose="02040503050406030204" pitchFamily="18" charset="0"/>
                                  <a:ea typeface="微软雅黑" panose="020B0503020204020204" pitchFamily="34" charset="-122"/>
                                </a:rPr>
                                <m:t>𝑊</m:t>
                              </m:r>
                            </m:e>
                            <m:sup>
                              <m:d>
                                <m:dPr>
                                  <m:ctrlPr>
                                    <a:rPr lang="en-US" altLang="zh-CN" i="1" kern="0">
                                      <a:latin typeface="Cambria Math" panose="02040503050406030204" pitchFamily="18" charset="0"/>
                                      <a:ea typeface="微软雅黑" panose="020B0503020204020204" pitchFamily="34" charset="-122"/>
                                    </a:rPr>
                                  </m:ctrlPr>
                                </m:dPr>
                                <m:e>
                                  <m:r>
                                    <a:rPr lang="en-US" altLang="zh-CN" b="0" i="1" kern="0" smtClean="0">
                                      <a:latin typeface="Cambria Math" panose="02040503050406030204" pitchFamily="18" charset="0"/>
                                      <a:ea typeface="微软雅黑" panose="020B0503020204020204" pitchFamily="34" charset="-122"/>
                                    </a:rPr>
                                    <m:t>2</m:t>
                                  </m:r>
                                </m:e>
                              </m:d>
                            </m:sup>
                          </m:sSup>
                        </m:e>
                        <m:sup>
                          <m:r>
                            <a:rPr lang="en-US" altLang="zh-CN" i="1" kern="0">
                              <a:latin typeface="Cambria Math" panose="02040503050406030204" pitchFamily="18" charset="0"/>
                              <a:ea typeface="微软雅黑" panose="020B0503020204020204" pitchFamily="34" charset="-122"/>
                            </a:rPr>
                            <m:t>𝑇</m:t>
                          </m:r>
                        </m:sup>
                      </m:sSup>
                      <m:r>
                        <a:rPr lang="en-US" altLang="zh-CN" b="1" i="1" kern="0" smtClean="0">
                          <a:latin typeface="Cambria Math" panose="02040503050406030204" pitchFamily="18" charset="0"/>
                          <a:ea typeface="微软雅黑" panose="020B0503020204020204" pitchFamily="34" charset="-122"/>
                        </a:rPr>
                        <m:t>𝒉</m:t>
                      </m:r>
                      <m:r>
                        <a:rPr lang="en-US" altLang="zh-CN" b="0" i="1" kern="0" smtClean="0">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r>
                                  <a:rPr lang="en-US" altLang="zh-CN" i="1" kern="0">
                                    <a:latin typeface="Cambria Math" panose="02040503050406030204" pitchFamily="18" charset="0"/>
                                    <a:ea typeface="微软雅黑" panose="020B0503020204020204" pitchFamily="34" charset="-122"/>
                                  </a:rPr>
                                  <m:t>0.40</m:t>
                                </m:r>
                              </m:e>
                              <m:e>
                                <m:r>
                                  <a:rPr lang="en-US" altLang="zh-CN" i="1" kern="0">
                                    <a:latin typeface="Cambria Math" panose="02040503050406030204" pitchFamily="18" charset="0"/>
                                    <a:ea typeface="微软雅黑" panose="020B0503020204020204" pitchFamily="34" charset="-122"/>
                                  </a:rPr>
                                  <m:t>0.35</m:t>
                                </m:r>
                              </m:e>
                              <m:e>
                                <m:r>
                                  <a:rPr lang="en-US" altLang="zh-CN" i="1" kern="0">
                                    <a:latin typeface="Cambria Math" panose="02040503050406030204" pitchFamily="18" charset="0"/>
                                    <a:ea typeface="微软雅黑" panose="020B0503020204020204" pitchFamily="34" charset="-122"/>
                                  </a:rPr>
                                  <m:t>0.01</m:t>
                                </m:r>
                              </m:e>
                            </m:mr>
                            <m:mr>
                              <m:e>
                                <m:r>
                                  <a:rPr lang="en-US" altLang="zh-CN" i="1" kern="0">
                                    <a:latin typeface="Cambria Math" panose="02040503050406030204" pitchFamily="18" charset="0"/>
                                    <a:ea typeface="微软雅黑" panose="020B0503020204020204" pitchFamily="34" charset="-122"/>
                                  </a:rPr>
                                  <m:t>0.25</m:t>
                                </m:r>
                              </m:e>
                              <m:e>
                                <m:r>
                                  <a:rPr lang="en-US" altLang="zh-CN" i="1" kern="0">
                                    <a:latin typeface="Cambria Math" panose="02040503050406030204" pitchFamily="18" charset="0"/>
                                    <a:ea typeface="微软雅黑" panose="020B0503020204020204" pitchFamily="34" charset="-122"/>
                                  </a:rPr>
                                  <m:t>0.30</m:t>
                                </m:r>
                              </m:e>
                              <m:e>
                                <m:r>
                                  <a:rPr lang="en-US" altLang="zh-CN" i="1" kern="0">
                                    <a:latin typeface="Cambria Math" panose="02040503050406030204" pitchFamily="18" charset="0"/>
                                    <a:ea typeface="微软雅黑" panose="020B0503020204020204" pitchFamily="34" charset="-122"/>
                                  </a:rPr>
                                  <m:t>0.35</m:t>
                                </m:r>
                              </m:e>
                            </m:mr>
                          </m:m>
                        </m:e>
                      </m:d>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r>
                                  <m:rPr>
                                    <m:brk m:alnAt="7"/>
                                  </m:rPr>
                                  <a:rPr lang="en-US" altLang="zh-CN" i="1" kern="0">
                                    <a:latin typeface="Cambria Math" panose="02040503050406030204" pitchFamily="18" charset="0"/>
                                    <a:ea typeface="微软雅黑" panose="020B0503020204020204" pitchFamily="34" charset="-122"/>
                                  </a:rPr>
                                  <m:t>0</m:t>
                                </m:r>
                                <m:r>
                                  <a:rPr lang="en-US" altLang="zh-CN" i="1" kern="0">
                                    <a:latin typeface="Cambria Math" panose="02040503050406030204" pitchFamily="18" charset="0"/>
                                    <a:ea typeface="微软雅黑" panose="020B0503020204020204" pitchFamily="34" charset="-122"/>
                                  </a:rPr>
                                  <m:t>.6025</m:t>
                                </m:r>
                              </m:e>
                            </m:mr>
                            <m:mr>
                              <m:e>
                                <m:r>
                                  <a:rPr lang="en-US" altLang="zh-CN" i="1">
                                    <a:latin typeface="Cambria Math" panose="02040503050406030204" pitchFamily="18" charset="0"/>
                                  </a:rPr>
                                  <m:t>0.6019</m:t>
                                </m:r>
                              </m:e>
                            </m:mr>
                            <m:mr>
                              <m:e>
                                <m:r>
                                  <a:rPr lang="en-US" altLang="zh-CN" i="1">
                                    <a:latin typeface="Cambria Math" panose="02040503050406030204" pitchFamily="18" charset="0"/>
                                  </a:rPr>
                                  <m:t>0.6038</m:t>
                                </m:r>
                              </m:e>
                            </m:mr>
                          </m:m>
                        </m:e>
                      </m:d>
                      <m:r>
                        <a:rPr lang="en-US" altLang="zh-CN" b="0" i="1" smtClean="0">
                          <a:latin typeface="Cambria Math" panose="02040503050406030204" pitchFamily="18" charset="0"/>
                        </a:rPr>
                        <m:t>+0.7=</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r>
                                  <a:rPr lang="en-US" altLang="zh-CN" i="1">
                                    <a:latin typeface="Cambria Math" panose="02040503050406030204" pitchFamily="18" charset="0"/>
                                  </a:rPr>
                                  <m:t>1.</m:t>
                                </m:r>
                                <m:r>
                                  <a:rPr lang="en-US" altLang="zh-CN" b="0" i="1" smtClean="0">
                                    <a:latin typeface="Cambria Math" panose="02040503050406030204" pitchFamily="18" charset="0"/>
                                  </a:rPr>
                                  <m:t>1577</m:t>
                                </m:r>
                                <m:r>
                                  <m:rPr>
                                    <m:nor/>
                                  </m:rPr>
                                  <a:rPr lang="zh-CN" altLang="en-US" dirty="0"/>
                                  <m:t> </m:t>
                                </m:r>
                              </m:e>
                            </m:mr>
                            <m:mr>
                              <m:e>
                                <m:r>
                                  <a:rPr lang="en-US" altLang="zh-CN" b="0" i="1" kern="0" smtClean="0">
                                    <a:latin typeface="Cambria Math" panose="02040503050406030204" pitchFamily="18" charset="0"/>
                                    <a:ea typeface="微软雅黑" panose="020B0503020204020204" pitchFamily="34" charset="-122"/>
                                  </a:rPr>
                                  <m:t>1.2425</m:t>
                                </m:r>
                              </m:e>
                            </m:mr>
                          </m:m>
                        </m:e>
                      </m:d>
                    </m:oMath>
                  </m:oMathPara>
                </a14:m>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2383292" y="1222287"/>
                <a:ext cx="9073008" cy="830484"/>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2109435" y="2133209"/>
                <a:ext cx="7973130" cy="118218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i="1" kern="0" smtClean="0">
                              <a:latin typeface="Cambria Math" panose="02040503050406030204" pitchFamily="18" charset="0"/>
                              <a:ea typeface="微软雅黑" panose="020B0503020204020204" pitchFamily="34" charset="-122"/>
                            </a:rPr>
                          </m:ctrlPr>
                        </m:accPr>
                        <m:e>
                          <m:r>
                            <a:rPr lang="en-US" altLang="zh-CN" b="1" i="1" kern="0" smtClean="0">
                              <a:latin typeface="Cambria Math" panose="02040503050406030204" pitchFamily="18" charset="0"/>
                              <a:ea typeface="微软雅黑" panose="020B0503020204020204" pitchFamily="34" charset="-122"/>
                            </a:rPr>
                            <m:t>𝒚</m:t>
                          </m:r>
                        </m:e>
                      </m:acc>
                      <m:r>
                        <a:rPr lang="en-US" altLang="zh-CN" b="0" i="1" kern="0" smtClean="0">
                          <a:latin typeface="Cambria Math" panose="02040503050406030204" pitchFamily="18" charset="0"/>
                          <a:ea typeface="微软雅黑" panose="020B0503020204020204" pitchFamily="34" charset="-122"/>
                        </a:rPr>
                        <m:t>=</m:t>
                      </m:r>
                      <m:d>
                        <m:dPr>
                          <m:begChr m:val="["/>
                          <m:endChr m:val="]"/>
                          <m:ctrlPr>
                            <a:rPr lang="en-US" altLang="zh-CN" i="1" kern="0" smtClea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smtClean="0">
                                  <a:latin typeface="Cambria Math" panose="02040503050406030204" pitchFamily="18" charset="0"/>
                                  <a:ea typeface="微软雅黑" panose="020B0503020204020204" pitchFamily="34" charset="-122"/>
                                </a:rPr>
                              </m:ctrlPr>
                            </m:mPr>
                            <m:mr>
                              <m:e>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e>
                            </m:mr>
                            <m:mr>
                              <m:e>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b="0" i="1" kern="0" smtClean="0">
                                        <a:latin typeface="Cambria Math" panose="02040503050406030204" pitchFamily="18" charset="0"/>
                                        <a:ea typeface="微软雅黑" panose="020B0503020204020204" pitchFamily="34" charset="-122"/>
                                      </a:rPr>
                                      <m:t>2</m:t>
                                    </m:r>
                                  </m:sub>
                                </m:sSub>
                              </m:e>
                            </m:mr>
                          </m:m>
                        </m:e>
                      </m:d>
                      <m:r>
                        <a:rPr lang="en-US" altLang="zh-CN" i="1">
                          <a:solidFill>
                            <a:srgbClr val="333333"/>
                          </a:solidFill>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smtClean="0">
                                  <a:latin typeface="Cambria Math" panose="02040503050406030204" pitchFamily="18" charset="0"/>
                                </a:rPr>
                                <m:t>𝑧</m:t>
                              </m:r>
                            </m:sup>
                          </m:sSup>
                        </m:den>
                      </m:f>
                      <m:r>
                        <a:rPr lang="en-US" altLang="zh-CN" b="0" i="1" smtClean="0">
                          <a:latin typeface="Cambria Math" panose="02040503050406030204" pitchFamily="18" charset="0"/>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−1.</m:t>
                                        </m:r>
                                        <m:r>
                                          <a:rPr lang="en-US" altLang="zh-CN" b="0" i="1" smtClean="0">
                                            <a:latin typeface="Cambria Math" panose="02040503050406030204" pitchFamily="18" charset="0"/>
                                          </a:rPr>
                                          <m:t>1577</m:t>
                                        </m:r>
                                      </m:sup>
                                    </m:sSup>
                                  </m:den>
                                </m:f>
                              </m:e>
                            </m:mr>
                            <m:m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b="0" i="1" smtClean="0">
                                            <a:latin typeface="Cambria Math" panose="02040503050406030204" pitchFamily="18" charset="0"/>
                                          </a:rPr>
                                          <m:t>1.2425</m:t>
                                        </m:r>
                                      </m:sup>
                                    </m:sSup>
                                  </m:den>
                                </m:f>
                              </m:e>
                            </m:mr>
                          </m:m>
                        </m:e>
                      </m:d>
                      <m:r>
                        <a:rPr lang="en-US" altLang="zh-CN" b="0" i="1" kern="0" smtClea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i="1" kern="0">
                                  <a:latin typeface="Cambria Math" panose="02040503050406030204" pitchFamily="18" charset="0"/>
                                  <a:ea typeface="微软雅黑" panose="020B0503020204020204" pitchFamily="34" charset="-122"/>
                                </a:rPr>
                              </m:ctrlPr>
                            </m:mPr>
                            <m:mr>
                              <m:e>
                                <m:r>
                                  <a:rPr lang="en-US" altLang="zh-CN" i="1" kern="0">
                                    <a:latin typeface="Cambria Math" panose="02040503050406030204" pitchFamily="18" charset="0"/>
                                    <a:ea typeface="微软雅黑" panose="020B0503020204020204" pitchFamily="34" charset="-122"/>
                                  </a:rPr>
                                  <m:t>0.7</m:t>
                                </m:r>
                                <m:r>
                                  <a:rPr lang="en-US" altLang="zh-CN" b="0" i="1" kern="0" smtClean="0">
                                    <a:latin typeface="Cambria Math" panose="02040503050406030204" pitchFamily="18" charset="0"/>
                                    <a:ea typeface="微软雅黑" panose="020B0503020204020204" pitchFamily="34" charset="-122"/>
                                  </a:rPr>
                                  <m:t>609</m:t>
                                </m:r>
                              </m:e>
                            </m:mr>
                            <m:mr>
                              <m:e>
                                <m:r>
                                  <a:rPr lang="en-US" altLang="zh-CN" b="0" i="1" kern="0" smtClean="0">
                                    <a:latin typeface="Cambria Math" panose="02040503050406030204" pitchFamily="18" charset="0"/>
                                    <a:ea typeface="微软雅黑" panose="020B0503020204020204" pitchFamily="34" charset="-122"/>
                                  </a:rPr>
                                  <m:t>0.7760</m:t>
                                </m:r>
                              </m:e>
                            </m:mr>
                          </m:m>
                        </m:e>
                      </m:d>
                    </m:oMath>
                  </m:oMathPara>
                </a14:m>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2109435" y="2133209"/>
                <a:ext cx="7973130" cy="1182183"/>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7695428" y="3190541"/>
                <a:ext cx="3129382" cy="1156407"/>
              </a:xfrm>
              <a:prstGeom prst="rect">
                <a:avLst/>
              </a:prstGeom>
            </p:spPr>
            <p:txBody>
              <a:bodyPr wrap="square">
                <a:spAutoFit/>
              </a:bodyPr>
              <a:lstStyle/>
              <a:p>
                <a:pPr>
                  <a:lnSpc>
                    <a:spcPct val="150000"/>
                  </a:lnSpc>
                </a:pPr>
                <a:r>
                  <a:rPr lang="zh-CN" altLang="en-US" sz="1600" dirty="0">
                    <a:latin typeface="微软雅黑 Light" panose="020B0502040204020203" pitchFamily="34" charset="-122"/>
                    <a:ea typeface="微软雅黑 Light" panose="020B0502040204020203" pitchFamily="34" charset="-122"/>
                  </a:rPr>
                  <a:t>距离期望输出 </a:t>
                </a:r>
                <a14:m>
                  <m:oMath xmlns:m="http://schemas.openxmlformats.org/officeDocument/2006/math">
                    <m:r>
                      <a:rPr lang="en-US" altLang="zh-CN" sz="1600" kern="0">
                        <a:latin typeface="Cambria Math" panose="02040503050406030204" pitchFamily="18" charset="0"/>
                        <a:ea typeface="微软雅黑" panose="020B0503020204020204" pitchFamily="34" charset="-122"/>
                      </a:rPr>
                      <m:t> </m:t>
                    </m:r>
                    <m:sSub>
                      <m:sSubPr>
                        <m:ctrlPr>
                          <a:rPr lang="en-US" altLang="zh-CN" sz="1600" i="1" kern="0">
                            <a:latin typeface="Cambria Math" panose="02040503050406030204" pitchFamily="18" charset="0"/>
                            <a:ea typeface="微软雅黑" panose="020B0503020204020204" pitchFamily="34" charset="-122"/>
                          </a:rPr>
                        </m:ctrlPr>
                      </m:sSubPr>
                      <m:e>
                        <m:r>
                          <a:rPr lang="en-US" altLang="zh-CN" sz="1600" b="0" i="1" kern="0" smtClean="0">
                            <a:latin typeface="Cambria Math" panose="02040503050406030204" pitchFamily="18" charset="0"/>
                            <a:ea typeface="微软雅黑" panose="020B0503020204020204" pitchFamily="34" charset="-122"/>
                          </a:rPr>
                          <m:t>𝑦</m:t>
                        </m:r>
                      </m:e>
                      <m:sub>
                        <m:r>
                          <a:rPr lang="en-US" altLang="zh-CN" sz="1600" i="1" kern="0">
                            <a:latin typeface="Cambria Math" panose="02040503050406030204" pitchFamily="18" charset="0"/>
                            <a:ea typeface="微软雅黑" panose="020B0503020204020204" pitchFamily="34" charset="-122"/>
                          </a:rPr>
                          <m:t>1</m:t>
                        </m:r>
                      </m:sub>
                    </m:sSub>
                    <m:r>
                      <a:rPr lang="en-US" altLang="zh-CN" sz="1600" i="1" kern="0">
                        <a:latin typeface="Cambria Math" panose="02040503050406030204" pitchFamily="18" charset="0"/>
                        <a:ea typeface="微软雅黑" panose="020B0503020204020204" pitchFamily="34" charset="-122"/>
                      </a:rPr>
                      <m:t>=0.9</m:t>
                    </m:r>
                    <m:r>
                      <a:rPr lang="zh-CN" altLang="en-US" sz="1600" i="1" kern="0">
                        <a:latin typeface="Cambria Math" panose="02040503050406030204" pitchFamily="18" charset="0"/>
                        <a:ea typeface="微软雅黑" panose="020B0503020204020204" pitchFamily="34" charset="-122"/>
                      </a:rPr>
                      <m:t>、</m:t>
                    </m:r>
                  </m:oMath>
                </a14:m>
                <a:endParaRPr lang="en-US" altLang="zh-CN" sz="1600" i="1" kern="0" dirty="0">
                  <a:latin typeface="Cambria Math" panose="02040503050406030204" pitchFamily="18" charset="0"/>
                  <a:ea typeface="微软雅黑 Light" panose="020B0502040204020203" pitchFamily="34" charset="-122"/>
                </a:endParaRPr>
              </a:p>
              <a:p>
                <a:pPr>
                  <a:lnSpc>
                    <a:spcPct val="150000"/>
                  </a:lnSpc>
                </a:pPr>
                <a14:m>
                  <m:oMath xmlns:m="http://schemas.openxmlformats.org/officeDocument/2006/math">
                    <m:sSub>
                      <m:sSubPr>
                        <m:ctrlPr>
                          <a:rPr lang="en-US" altLang="zh-CN" sz="1600" i="1" kern="0">
                            <a:latin typeface="Cambria Math" panose="02040503050406030204" pitchFamily="18" charset="0"/>
                            <a:ea typeface="微软雅黑" panose="020B0503020204020204" pitchFamily="34" charset="-122"/>
                          </a:rPr>
                        </m:ctrlPr>
                      </m:sSubPr>
                      <m:e>
                        <m:r>
                          <a:rPr lang="en-US" altLang="zh-CN" sz="1600" b="0" i="1" kern="0" smtClean="0">
                            <a:latin typeface="Cambria Math" panose="02040503050406030204" pitchFamily="18" charset="0"/>
                            <a:ea typeface="微软雅黑" panose="020B0503020204020204" pitchFamily="34" charset="-122"/>
                          </a:rPr>
                          <m:t>𝑦</m:t>
                        </m:r>
                      </m:e>
                      <m:sub>
                        <m:r>
                          <a:rPr lang="en-US" altLang="zh-CN" sz="1600" i="1" kern="0">
                            <a:latin typeface="Cambria Math" panose="02040503050406030204" pitchFamily="18" charset="0"/>
                            <a:ea typeface="微软雅黑" panose="020B0503020204020204" pitchFamily="34" charset="-122"/>
                          </a:rPr>
                          <m:t>2</m:t>
                        </m:r>
                      </m:sub>
                    </m:sSub>
                    <m:r>
                      <a:rPr lang="en-US" altLang="zh-CN" sz="1600" i="1" kern="0">
                        <a:latin typeface="Cambria Math" panose="02040503050406030204" pitchFamily="18" charset="0"/>
                        <a:ea typeface="微软雅黑" panose="020B0503020204020204" pitchFamily="34" charset="-122"/>
                      </a:rPr>
                      <m:t>=0.5</m:t>
                    </m:r>
                  </m:oMath>
                </a14:m>
                <a:r>
                  <a:rPr lang="zh-CN" altLang="en-US" sz="1600" dirty="0">
                    <a:latin typeface="微软雅黑 Light" panose="020B0502040204020203" pitchFamily="34" charset="-122"/>
                    <a:ea typeface="微软雅黑 Light" panose="020B0502040204020203" pitchFamily="34" charset="-122"/>
                  </a:rPr>
                  <a:t> 还有差距，通过反向传播修改权重</a:t>
                </a:r>
                <a:endParaRPr lang="en-US" altLang="zh-CN" sz="1600" dirty="0">
                  <a:latin typeface="微软雅黑 Light" panose="020B0502040204020203" pitchFamily="34" charset="-122"/>
                  <a:ea typeface="微软雅黑 Light" panose="020B0502040204020203" pitchFamily="34" charset="-122"/>
                </a:endParaRPr>
              </a:p>
            </p:txBody>
          </p:sp>
        </mc:Choice>
        <mc:Fallback xmlns="">
          <p:sp>
            <p:nvSpPr>
              <p:cNvPr id="21" name="矩形 20"/>
              <p:cNvSpPr>
                <a:spLocks noRot="1" noChangeAspect="1" noMove="1" noResize="1" noEditPoints="1" noAdjustHandles="1" noChangeArrowheads="1" noChangeShapeType="1" noTextEdit="1"/>
              </p:cNvSpPr>
              <p:nvPr/>
            </p:nvSpPr>
            <p:spPr>
              <a:xfrm>
                <a:off x="7695428" y="3190541"/>
                <a:ext cx="3129382" cy="1156407"/>
              </a:xfrm>
              <a:prstGeom prst="rect">
                <a:avLst/>
              </a:prstGeom>
              <a:blipFill rotWithShape="0">
                <a:blip r:embed="rId7"/>
                <a:stretch>
                  <a:fillRect l="-973" b="-5789"/>
                </a:stretch>
              </a:blipFill>
            </p:spPr>
            <p:txBody>
              <a:bodyPr/>
              <a:lstStyle/>
              <a:p>
                <a:r>
                  <a:rPr lang="zh-CN" altLang="en-US">
                    <a:noFill/>
                  </a:rPr>
                  <a:t> </a:t>
                </a:r>
              </a:p>
            </p:txBody>
          </p:sp>
        </mc:Fallback>
      </mc:AlternateContent>
      <p:cxnSp>
        <p:nvCxnSpPr>
          <p:cNvPr id="22" name="直接箭头连接符 21"/>
          <p:cNvCxnSpPr/>
          <p:nvPr/>
        </p:nvCxnSpPr>
        <p:spPr>
          <a:xfrm flipH="1" flipV="1">
            <a:off x="8009122" y="3006671"/>
            <a:ext cx="550402" cy="308721"/>
          </a:xfrm>
          <a:prstGeom prst="straightConnector1">
            <a:avLst/>
          </a:prstGeom>
          <a:noFill/>
          <a:ln w="38100" cap="flat" cmpd="sng">
            <a:solidFill>
              <a:schemeClr val="tx1"/>
            </a:solidFill>
            <a:prstDash val="solid"/>
            <a:round/>
            <a:headEnd/>
            <a:tailEnd type="triangle"/>
          </a:ln>
          <a:effectLst/>
        </p:spPr>
      </p:cxnSp>
      <mc:AlternateContent xmlns:mc="http://schemas.openxmlformats.org/markup-compatibility/2006" xmlns:a14="http://schemas.microsoft.com/office/drawing/2010/main">
        <mc:Choice Requires="a14">
          <p:sp>
            <p:nvSpPr>
              <p:cNvPr id="23" name="矩形 22"/>
              <p:cNvSpPr/>
              <p:nvPr/>
            </p:nvSpPr>
            <p:spPr>
              <a:xfrm>
                <a:off x="354428" y="3954824"/>
                <a:ext cx="3983849" cy="74962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i="1" kern="0" smtClea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sz="2000" i="1" kern="0">
                                  <a:latin typeface="Cambria Math" panose="02040503050406030204" pitchFamily="18" charset="0"/>
                                  <a:ea typeface="微软雅黑" panose="020B0503020204020204" pitchFamily="34" charset="-122"/>
                                </a:rPr>
                              </m:ctrlPr>
                            </m:mPr>
                            <m:mr>
                              <m:e>
                                <m:sSub>
                                  <m:sSubPr>
                                    <m:ctrlPr>
                                      <a:rPr lang="en-US" altLang="zh-CN" sz="2000" i="1" kern="0">
                                        <a:latin typeface="Cambria Math" panose="02040503050406030204" pitchFamily="18" charset="0"/>
                                        <a:ea typeface="微软雅黑" panose="020B0503020204020204" pitchFamily="34" charset="-122"/>
                                      </a:rPr>
                                    </m:ctrlPr>
                                  </m:sSubPr>
                                  <m:e>
                                    <m:acc>
                                      <m:accPr>
                                        <m:chr m:val="̂"/>
                                        <m:ctrlPr>
                                          <a:rPr lang="en-US" altLang="zh-CN" sz="2000" i="1" kern="0">
                                            <a:latin typeface="Cambria Math" panose="02040503050406030204" pitchFamily="18" charset="0"/>
                                            <a:ea typeface="微软雅黑" panose="020B0503020204020204" pitchFamily="34" charset="-122"/>
                                          </a:rPr>
                                        </m:ctrlPr>
                                      </m:accPr>
                                      <m:e>
                                        <m:r>
                                          <a:rPr lang="en-US" altLang="zh-CN" sz="2000" i="1" kern="0">
                                            <a:latin typeface="Cambria Math" panose="02040503050406030204" pitchFamily="18" charset="0"/>
                                            <a:ea typeface="微软雅黑" panose="020B0503020204020204" pitchFamily="34" charset="-122"/>
                                          </a:rPr>
                                          <m:t>𝑦</m:t>
                                        </m:r>
                                      </m:e>
                                    </m:acc>
                                  </m:e>
                                  <m:sub>
                                    <m:r>
                                      <a:rPr lang="en-US" altLang="zh-CN" sz="2000" i="1" kern="0">
                                        <a:latin typeface="Cambria Math" panose="02040503050406030204" pitchFamily="18" charset="0"/>
                                        <a:ea typeface="微软雅黑" panose="020B0503020204020204" pitchFamily="34" charset="-122"/>
                                      </a:rPr>
                                      <m:t>1</m:t>
                                    </m:r>
                                  </m:sub>
                                </m:sSub>
                              </m:e>
                            </m:mr>
                            <m:mr>
                              <m:e>
                                <m:sSub>
                                  <m:sSubPr>
                                    <m:ctrlPr>
                                      <a:rPr lang="en-US" altLang="zh-CN" sz="2000" i="1" kern="0">
                                        <a:latin typeface="Cambria Math" panose="02040503050406030204" pitchFamily="18" charset="0"/>
                                        <a:ea typeface="微软雅黑" panose="020B0503020204020204" pitchFamily="34" charset="-122"/>
                                      </a:rPr>
                                    </m:ctrlPr>
                                  </m:sSubPr>
                                  <m:e>
                                    <m:acc>
                                      <m:accPr>
                                        <m:chr m:val="̂"/>
                                        <m:ctrlPr>
                                          <a:rPr lang="en-US" altLang="zh-CN" sz="2000" i="1" kern="0">
                                            <a:latin typeface="Cambria Math" panose="02040503050406030204" pitchFamily="18" charset="0"/>
                                            <a:ea typeface="微软雅黑" panose="020B0503020204020204" pitchFamily="34" charset="-122"/>
                                          </a:rPr>
                                        </m:ctrlPr>
                                      </m:accPr>
                                      <m:e>
                                        <m:r>
                                          <a:rPr lang="en-US" altLang="zh-CN" sz="2000" i="1" kern="0">
                                            <a:latin typeface="Cambria Math" panose="02040503050406030204" pitchFamily="18" charset="0"/>
                                            <a:ea typeface="微软雅黑" panose="020B0503020204020204" pitchFamily="34" charset="-122"/>
                                          </a:rPr>
                                          <m:t>𝑦</m:t>
                                        </m:r>
                                      </m:e>
                                    </m:acc>
                                  </m:e>
                                  <m:sub>
                                    <m:r>
                                      <a:rPr lang="en-US" altLang="zh-CN" sz="2000" i="1" kern="0">
                                        <a:latin typeface="Cambria Math" panose="02040503050406030204" pitchFamily="18" charset="0"/>
                                        <a:ea typeface="微软雅黑" panose="020B0503020204020204" pitchFamily="34" charset="-122"/>
                                      </a:rPr>
                                      <m:t>2</m:t>
                                    </m:r>
                                  </m:sub>
                                </m:sSub>
                              </m:e>
                            </m:mr>
                          </m:m>
                        </m:e>
                      </m:d>
                      <m:r>
                        <a:rPr lang="en-US" altLang="zh-CN" sz="2400" b="0" i="1" kern="0" smtClean="0">
                          <a:latin typeface="Cambria Math" panose="02040503050406030204" pitchFamily="18" charset="0"/>
                          <a:ea typeface="微软雅黑" panose="020B0503020204020204" pitchFamily="34" charset="-122"/>
                        </a:rPr>
                        <m:t>=</m:t>
                      </m:r>
                      <m:d>
                        <m:dPr>
                          <m:begChr m:val="["/>
                          <m:endChr m:val="]"/>
                          <m:ctrlPr>
                            <a:rPr lang="en-US" altLang="zh-CN" sz="2400" i="1" kern="0">
                              <a:latin typeface="Cambria Math" panose="02040503050406030204" pitchFamily="18" charset="0"/>
                              <a:ea typeface="微软雅黑" panose="020B0503020204020204" pitchFamily="34" charset="-122"/>
                            </a:rPr>
                          </m:ctrlPr>
                        </m:dPr>
                        <m:e>
                          <m:m>
                            <m:mPr>
                              <m:mcs>
                                <m:mc>
                                  <m:mcPr>
                                    <m:count m:val="1"/>
                                    <m:mcJc m:val="center"/>
                                  </m:mcPr>
                                </m:mc>
                              </m:mcs>
                              <m:ctrlPr>
                                <a:rPr lang="en-US" altLang="zh-CN" sz="2400" i="1" kern="0">
                                  <a:latin typeface="Cambria Math" panose="02040503050406030204" pitchFamily="18" charset="0"/>
                                  <a:ea typeface="微软雅黑" panose="020B0503020204020204" pitchFamily="34" charset="-122"/>
                                </a:rPr>
                              </m:ctrlPr>
                            </m:mPr>
                            <m:mr>
                              <m:e>
                                <m:r>
                                  <a:rPr lang="en-US" altLang="zh-CN" sz="2400" i="1" kern="0">
                                    <a:latin typeface="Cambria Math" panose="02040503050406030204" pitchFamily="18" charset="0"/>
                                    <a:ea typeface="微软雅黑" panose="020B0503020204020204" pitchFamily="34" charset="-122"/>
                                  </a:rPr>
                                  <m:t>0.7</m:t>
                                </m:r>
                                <m:r>
                                  <a:rPr lang="en-US" altLang="zh-CN" sz="2400" b="0" i="1" kern="0" smtClean="0">
                                    <a:latin typeface="Cambria Math" panose="02040503050406030204" pitchFamily="18" charset="0"/>
                                    <a:ea typeface="微软雅黑" panose="020B0503020204020204" pitchFamily="34" charset="-122"/>
                                  </a:rPr>
                                  <m:t>609</m:t>
                                </m:r>
                                <m:r>
                                  <m:rPr>
                                    <m:nor/>
                                  </m:rPr>
                                  <a:rPr lang="zh-CN" altLang="en-US" sz="2400" dirty="0"/>
                                  <m:t> </m:t>
                                </m:r>
                              </m:e>
                            </m:mr>
                            <m:mr>
                              <m:e>
                                <m:r>
                                  <a:rPr lang="en-US" altLang="zh-CN" sz="2400" b="0" i="1" kern="0" smtClean="0">
                                    <a:latin typeface="Cambria Math" panose="02040503050406030204" pitchFamily="18" charset="0"/>
                                    <a:ea typeface="微软雅黑" panose="020B0503020204020204" pitchFamily="34" charset="-122"/>
                                  </a:rPr>
                                  <m:t>0.7760</m:t>
                                </m:r>
                              </m:e>
                            </m:mr>
                          </m:m>
                        </m:e>
                      </m:d>
                    </m:oMath>
                  </m:oMathPara>
                </a14:m>
                <a:endParaRPr lang="zh-CN" altLang="en-US" sz="2000" dirty="0"/>
              </a:p>
            </p:txBody>
          </p:sp>
        </mc:Choice>
        <mc:Fallback xmlns="">
          <p:sp>
            <p:nvSpPr>
              <p:cNvPr id="23" name="矩形 22"/>
              <p:cNvSpPr>
                <a:spLocks noRot="1" noChangeAspect="1" noMove="1" noResize="1" noEditPoints="1" noAdjustHandles="1" noChangeArrowheads="1" noChangeShapeType="1" noTextEdit="1"/>
              </p:cNvSpPr>
              <p:nvPr/>
            </p:nvSpPr>
            <p:spPr>
              <a:xfrm>
                <a:off x="354428" y="3954824"/>
                <a:ext cx="3983849" cy="749629"/>
              </a:xfrm>
              <a:prstGeom prst="rect">
                <a:avLst/>
              </a:prstGeom>
              <a:blipFill rotWithShape="0">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8F43DF6E-AFD8-472B-974D-B2523E2F7FDA}"/>
                  </a:ext>
                </a:extLst>
              </p:cNvPr>
              <p:cNvSpPr/>
              <p:nvPr/>
            </p:nvSpPr>
            <p:spPr>
              <a:xfrm>
                <a:off x="4338277" y="3770483"/>
                <a:ext cx="1992405" cy="1015663"/>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sSub>
                        <m:sSubPr>
                          <m:ctrlPr>
                            <a:rPr lang="en-US" altLang="zh-CN" sz="2000" i="1" kern="0" smtClean="0">
                              <a:latin typeface="Cambria Math" panose="02040503050406030204" pitchFamily="18" charset="0"/>
                              <a:ea typeface="微软雅黑" panose="020B0503020204020204" pitchFamily="34" charset="-122"/>
                            </a:rPr>
                          </m:ctrlPr>
                        </m:sSubPr>
                        <m:e>
                          <m:r>
                            <a:rPr lang="en-US" altLang="zh-CN" sz="2000" b="0" i="1" kern="0" smtClean="0">
                              <a:latin typeface="Cambria Math" panose="02040503050406030204" pitchFamily="18" charset="0"/>
                              <a:ea typeface="微软雅黑" panose="020B0503020204020204" pitchFamily="34" charset="-122"/>
                            </a:rPr>
                            <m:t>𝑦</m:t>
                          </m:r>
                        </m:e>
                        <m:sub>
                          <m:r>
                            <a:rPr lang="en-US" altLang="zh-CN" sz="2000" i="1" kern="0">
                              <a:latin typeface="Cambria Math" panose="02040503050406030204" pitchFamily="18" charset="0"/>
                              <a:ea typeface="微软雅黑" panose="020B0503020204020204" pitchFamily="34" charset="-122"/>
                            </a:rPr>
                            <m:t>1</m:t>
                          </m:r>
                        </m:sub>
                      </m:sSub>
                      <m:r>
                        <a:rPr lang="en-US" altLang="zh-CN" sz="2000" i="1" kern="0">
                          <a:latin typeface="Cambria Math" panose="02040503050406030204" pitchFamily="18" charset="0"/>
                          <a:ea typeface="微软雅黑" panose="020B0503020204020204" pitchFamily="34" charset="-122"/>
                        </a:rPr>
                        <m:t>=0.9</m:t>
                      </m:r>
                    </m:oMath>
                  </m:oMathPara>
                </a14:m>
                <a:endParaRPr lang="en-US" altLang="zh-CN" sz="2000" i="1" kern="0" dirty="0">
                  <a:latin typeface="Cambria Math" panose="02040503050406030204" pitchFamily="18" charset="0"/>
                  <a:ea typeface="微软雅黑 Light" panose="020B0502040204020203" pitchFamily="34" charset="-122"/>
                </a:endParaRPr>
              </a:p>
              <a:p>
                <a:pPr>
                  <a:lnSpc>
                    <a:spcPct val="150000"/>
                  </a:lnSpc>
                </a:pPr>
                <a14:m>
                  <m:oMath xmlns:m="http://schemas.openxmlformats.org/officeDocument/2006/math">
                    <m:sSub>
                      <m:sSubPr>
                        <m:ctrlPr>
                          <a:rPr lang="en-US" altLang="zh-CN" sz="2000" i="1" kern="0">
                            <a:latin typeface="Cambria Math" panose="02040503050406030204" pitchFamily="18" charset="0"/>
                            <a:ea typeface="微软雅黑" panose="020B0503020204020204" pitchFamily="34" charset="-122"/>
                          </a:rPr>
                        </m:ctrlPr>
                      </m:sSubPr>
                      <m:e>
                        <m:r>
                          <a:rPr lang="en-US" altLang="zh-CN" sz="2000" b="0" i="1" kern="0" smtClean="0">
                            <a:latin typeface="Cambria Math" panose="02040503050406030204" pitchFamily="18" charset="0"/>
                            <a:ea typeface="微软雅黑" panose="020B0503020204020204" pitchFamily="34" charset="-122"/>
                          </a:rPr>
                          <m:t>𝑦</m:t>
                        </m:r>
                      </m:e>
                      <m:sub>
                        <m:r>
                          <a:rPr lang="en-US" altLang="zh-CN" sz="2000" i="1" kern="0">
                            <a:latin typeface="Cambria Math" panose="02040503050406030204" pitchFamily="18" charset="0"/>
                            <a:ea typeface="微软雅黑" panose="020B0503020204020204" pitchFamily="34" charset="-122"/>
                          </a:rPr>
                          <m:t>2</m:t>
                        </m:r>
                      </m:sub>
                    </m:sSub>
                    <m:r>
                      <a:rPr lang="en-US" altLang="zh-CN" sz="2000" i="1" kern="0">
                        <a:latin typeface="Cambria Math" panose="02040503050406030204" pitchFamily="18" charset="0"/>
                        <a:ea typeface="微软雅黑" panose="020B0503020204020204" pitchFamily="34" charset="-122"/>
                      </a:rPr>
                      <m:t>=0.5</m:t>
                    </m:r>
                  </m:oMath>
                </a14:m>
                <a:r>
                  <a:rPr lang="zh-CN" altLang="en-US" sz="2000" i="1" dirty="0">
                    <a:latin typeface="微软雅黑 Light" panose="020B0502040204020203" pitchFamily="34" charset="-122"/>
                    <a:ea typeface="微软雅黑 Light" panose="020B0502040204020203" pitchFamily="34" charset="-122"/>
                  </a:rPr>
                  <a:t> </a:t>
                </a:r>
                <a:endParaRPr lang="en-US" altLang="zh-CN" sz="2000" i="1" dirty="0">
                  <a:latin typeface="微软雅黑 Light" panose="020B0502040204020203" pitchFamily="34" charset="-122"/>
                  <a:ea typeface="微软雅黑 Light" panose="020B0502040204020203" pitchFamily="34" charset="-122"/>
                </a:endParaRPr>
              </a:p>
            </p:txBody>
          </p:sp>
        </mc:Choice>
        <mc:Fallback xmlns="">
          <p:sp>
            <p:nvSpPr>
              <p:cNvPr id="24" name="矩形 23">
                <a:extLst>
                  <a:ext uri="{FF2B5EF4-FFF2-40B4-BE49-F238E27FC236}">
                    <a16:creationId xmlns:a16="http://schemas.microsoft.com/office/drawing/2014/main" xmlns:a14="http://schemas.microsoft.com/office/drawing/2010/main" xmlns="" id="{8F43DF6E-AFD8-472B-974D-B2523E2F7FDA}"/>
                  </a:ext>
                </a:extLst>
              </p:cNvPr>
              <p:cNvSpPr>
                <a:spLocks noRot="1" noChangeAspect="1" noMove="1" noResize="1" noEditPoints="1" noAdjustHandles="1" noChangeArrowheads="1" noChangeShapeType="1" noTextEdit="1"/>
              </p:cNvSpPr>
              <p:nvPr/>
            </p:nvSpPr>
            <p:spPr>
              <a:xfrm>
                <a:off x="4338277" y="3770483"/>
                <a:ext cx="1992405" cy="1015663"/>
              </a:xfrm>
              <a:prstGeom prst="rect">
                <a:avLst/>
              </a:prstGeom>
              <a:blipFill rotWithShape="0">
                <a:blip r:embed="rId9"/>
                <a:stretch>
                  <a:fillRect/>
                </a:stretch>
              </a:blipFill>
            </p:spPr>
            <p:txBody>
              <a:bodyPr/>
              <a:lstStyle/>
              <a:p>
                <a:r>
                  <a:rPr lang="zh-CN" altLang="en-US">
                    <a:noFill/>
                  </a:rPr>
                  <a:t> </a:t>
                </a:r>
              </a:p>
            </p:txBody>
          </p:sp>
        </mc:Fallback>
      </mc:AlternateContent>
      <p:sp>
        <p:nvSpPr>
          <p:cNvPr id="25" name="矩形 24">
            <a:extLst>
              <a:ext uri="{FF2B5EF4-FFF2-40B4-BE49-F238E27FC236}">
                <a16:creationId xmlns:a16="http://schemas.microsoft.com/office/drawing/2014/main" id="{8C1A8598-BF90-4D96-9965-B331E4292EE1}"/>
              </a:ext>
            </a:extLst>
          </p:cNvPr>
          <p:cNvSpPr/>
          <p:nvPr/>
        </p:nvSpPr>
        <p:spPr>
          <a:xfrm>
            <a:off x="896409" y="3365004"/>
            <a:ext cx="1569660" cy="460704"/>
          </a:xfrm>
          <a:prstGeom prst="rect">
            <a:avLst/>
          </a:prstGeom>
        </p:spPr>
        <p:txBody>
          <a:bodyPr wrap="none">
            <a:spAutoFit/>
          </a:bodyPr>
          <a:lstStyle/>
          <a:p>
            <a:pPr>
              <a:lnSpc>
                <a:spcPct val="150000"/>
              </a:lnSpc>
            </a:pPr>
            <a:r>
              <a:rPr lang="zh-CN" altLang="en-US" dirty="0">
                <a:latin typeface="微软雅黑 Light" panose="020B0502040204020203" pitchFamily="34" charset="-122"/>
                <a:ea typeface="微软雅黑 Light" panose="020B0502040204020203" pitchFamily="34" charset="-122"/>
              </a:rPr>
              <a:t>模型计算输出</a:t>
            </a:r>
            <a:endParaRPr lang="en-US" altLang="zh-CN" dirty="0">
              <a:latin typeface="微软雅黑 Light" panose="020B0502040204020203" pitchFamily="34" charset="-122"/>
              <a:ea typeface="微软雅黑 Light" panose="020B0502040204020203" pitchFamily="34" charset="-122"/>
            </a:endParaRPr>
          </a:p>
        </p:txBody>
      </p:sp>
      <p:sp>
        <p:nvSpPr>
          <p:cNvPr id="26" name="矩形 25">
            <a:extLst>
              <a:ext uri="{FF2B5EF4-FFF2-40B4-BE49-F238E27FC236}">
                <a16:creationId xmlns:a16="http://schemas.microsoft.com/office/drawing/2014/main" id="{60656C69-592D-4D74-9D51-4DB7D445FCF6}"/>
              </a:ext>
            </a:extLst>
          </p:cNvPr>
          <p:cNvSpPr/>
          <p:nvPr/>
        </p:nvSpPr>
        <p:spPr>
          <a:xfrm>
            <a:off x="4349001" y="3309779"/>
            <a:ext cx="1107996" cy="460704"/>
          </a:xfrm>
          <a:prstGeom prst="rect">
            <a:avLst/>
          </a:prstGeom>
        </p:spPr>
        <p:txBody>
          <a:bodyPr wrap="none">
            <a:spAutoFit/>
          </a:bodyPr>
          <a:lstStyle/>
          <a:p>
            <a:pPr>
              <a:lnSpc>
                <a:spcPct val="150000"/>
              </a:lnSpc>
            </a:pPr>
            <a:r>
              <a:rPr lang="zh-CN" altLang="en-US" dirty="0">
                <a:latin typeface="微软雅黑 Light" panose="020B0502040204020203" pitchFamily="34" charset="-122"/>
                <a:ea typeface="微软雅黑 Light" panose="020B0502040204020203" pitchFamily="34" charset="-122"/>
              </a:rPr>
              <a:t>期望输出</a:t>
            </a:r>
            <a:endParaRPr lang="en-US" altLang="zh-CN" dirty="0">
              <a:latin typeface="微软雅黑 Light" panose="020B0502040204020203" pitchFamily="34" charset="-122"/>
              <a:ea typeface="微软雅黑 Light" panose="020B0502040204020203" pitchFamily="34" charset="-122"/>
            </a:endParaRPr>
          </a:p>
        </p:txBody>
      </p:sp>
      <p:sp>
        <p:nvSpPr>
          <p:cNvPr id="27" name="矩形 26"/>
          <p:cNvSpPr/>
          <p:nvPr/>
        </p:nvSpPr>
        <p:spPr>
          <a:xfrm>
            <a:off x="7991363" y="4745329"/>
            <a:ext cx="4200637" cy="1338828"/>
          </a:xfrm>
          <a:prstGeom prst="rect">
            <a:avLst/>
          </a:prstGeom>
        </p:spPr>
        <p:txBody>
          <a:bodyPr wrap="square">
            <a:spAutoFit/>
          </a:bodyPr>
          <a:lstStyle/>
          <a:p>
            <a:pPr>
              <a:lnSpc>
                <a:spcPct val="150000"/>
              </a:lnSpc>
            </a:pPr>
            <a:r>
              <a:rPr lang="zh-CN" altLang="en-US" dirty="0">
                <a:latin typeface="微软雅黑 Light" panose="020B0502040204020203" pitchFamily="34" charset="-122"/>
                <a:ea typeface="微软雅黑 Light" panose="020B0502040204020203" pitchFamily="34" charset="-122"/>
              </a:rPr>
              <a:t>计算值与真实值之间还有很大的差距，如何缩小计算值与真实值之间的误差？</a:t>
            </a:r>
            <a:endParaRPr lang="en-US" altLang="zh-CN" dirty="0">
              <a:latin typeface="微软雅黑 Light" panose="020B0502040204020203" pitchFamily="34" charset="-122"/>
              <a:ea typeface="微软雅黑 Light" panose="020B0502040204020203" pitchFamily="34" charset="-122"/>
            </a:endParaRPr>
          </a:p>
          <a:p>
            <a:pPr>
              <a:lnSpc>
                <a:spcPct val="150000"/>
              </a:lnSpc>
            </a:pPr>
            <a:r>
              <a:rPr lang="zh-CN" altLang="en-US" dirty="0">
                <a:solidFill>
                  <a:srgbClr val="C00000"/>
                </a:solidFill>
                <a:latin typeface="微软雅黑 Light" panose="020B0502040204020203" pitchFamily="34" charset="-122"/>
                <a:ea typeface="微软雅黑 Light" panose="020B0502040204020203" pitchFamily="34" charset="-122"/>
              </a:rPr>
              <a:t>通过反向传播进行反馈，调节权重值</a:t>
            </a:r>
            <a:endParaRPr lang="en-US" altLang="zh-CN" dirty="0">
              <a:solidFill>
                <a:srgbClr val="C00000"/>
              </a:solidFill>
              <a:latin typeface="微软雅黑 Light" panose="020B0502040204020203" pitchFamily="34" charset="-122"/>
              <a:ea typeface="微软雅黑 Light" panose="020B0502040204020203" pitchFamily="34" charset="-122"/>
            </a:endParaRPr>
          </a:p>
        </p:txBody>
      </p:sp>
      <p:sp>
        <p:nvSpPr>
          <p:cNvPr id="30" name="矩形 29"/>
          <p:cNvSpPr/>
          <p:nvPr/>
        </p:nvSpPr>
        <p:spPr>
          <a:xfrm>
            <a:off x="1132236" y="4815075"/>
            <a:ext cx="2851700" cy="369332"/>
          </a:xfrm>
          <a:prstGeom prst="rect">
            <a:avLst/>
          </a:prstGeom>
        </p:spPr>
        <p:txBody>
          <a:bodyPr wrap="square">
            <a:spAutoFit/>
          </a:bodyPr>
          <a:lstStyle/>
          <a:p>
            <a:pPr marL="285750" indent="-285750" latinLnBrk="1">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计算误差</a:t>
            </a:r>
            <a:endParaRPr lang="zh-CN" altLang="en-US" i="0" dirty="0">
              <a:effectLst/>
              <a:latin typeface="微软雅黑 Light" panose="020B0502040204020203" pitchFamily="34" charset="-122"/>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31" name="矩形 30"/>
              <p:cNvSpPr/>
              <p:nvPr/>
            </p:nvSpPr>
            <p:spPr>
              <a:xfrm>
                <a:off x="1500953" y="5172978"/>
                <a:ext cx="7683279" cy="483530"/>
              </a:xfrm>
              <a:prstGeom prst="rect">
                <a:avLst/>
              </a:prstGeom>
            </p:spPr>
            <p:txBody>
              <a:bodyPr wrap="square">
                <a:spAutoFit/>
              </a:bodyPr>
              <a:lstStyle/>
              <a:p>
                <a14:m>
                  <m:oMath xmlns:m="http://schemas.openxmlformats.org/officeDocument/2006/math">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i="1">
                        <a:solidFill>
                          <a:srgbClr val="333333"/>
                        </a:solidFill>
                        <a:latin typeface="Cambria Math" panose="02040503050406030204" pitchFamily="18" charset="0"/>
                        <a:ea typeface="微软雅黑" panose="020B0503020204020204" pitchFamily="34" charset="-122"/>
                      </a:rPr>
                      <m:t>(</m:t>
                    </m:r>
                    <m:r>
                      <a:rPr lang="en-US" altLang="zh-CN" b="1" i="1">
                        <a:solidFill>
                          <a:srgbClr val="333333"/>
                        </a:solidFill>
                        <a:latin typeface="Cambria Math" panose="02040503050406030204" pitchFamily="18" charset="0"/>
                        <a:ea typeface="微软雅黑" panose="020B0503020204020204" pitchFamily="34" charset="-122"/>
                      </a:rPr>
                      <m:t>𝒘</m:t>
                    </m:r>
                    <m:r>
                      <a:rPr lang="en-US" altLang="zh-CN" i="1">
                        <a:solidFill>
                          <a:srgbClr val="333333"/>
                        </a:solidFill>
                        <a:latin typeface="Cambria Math" panose="02040503050406030204" pitchFamily="18" charset="0"/>
                        <a:ea typeface="微软雅黑" panose="020B0503020204020204" pitchFamily="34" charset="-122"/>
                      </a:rPr>
                      <m:t>) =</m:t>
                    </m:r>
                    <m:sSub>
                      <m:sSubPr>
                        <m:ctrlPr>
                          <a:rPr lang="en-US" altLang="zh-CN" i="1">
                            <a:solidFill>
                              <a:srgbClr val="333333"/>
                            </a:solidFill>
                            <a:latin typeface="Cambria Math" panose="02040503050406030204" pitchFamily="18" charset="0"/>
                            <a:ea typeface="微软雅黑" panose="020B0503020204020204" pitchFamily="34" charset="-122"/>
                          </a:rPr>
                        </m:ctrlPr>
                      </m:sSubPr>
                      <m:e>
                        <m:sSub>
                          <m:sSubPr>
                            <m:ctrlPr>
                              <a:rPr lang="en-US" altLang="zh-CN" i="1">
                                <a:solidFill>
                                  <a:srgbClr val="333333"/>
                                </a:solidFill>
                                <a:latin typeface="Cambria Math" panose="02040503050406030204" pitchFamily="18" charset="0"/>
                                <a:ea typeface="微软雅黑" panose="020B0503020204020204" pitchFamily="34" charset="-122"/>
                              </a:rPr>
                            </m:ctrlPr>
                          </m:sSubPr>
                          <m:e>
                            <m:r>
                              <a:rPr lang="en-US" altLang="zh-CN" b="0" i="1" smtClean="0">
                                <a:solidFill>
                                  <a:srgbClr val="333333"/>
                                </a:solidFill>
                                <a:latin typeface="Cambria Math" panose="02040503050406030204" pitchFamily="18" charset="0"/>
                                <a:ea typeface="微软雅黑" panose="020B0503020204020204" pitchFamily="34" charset="-122"/>
                              </a:rPr>
                              <m:t>𝐿</m:t>
                            </m:r>
                          </m:e>
                          <m:sub>
                            <m:r>
                              <a:rPr lang="en-US" altLang="zh-CN" i="1">
                                <a:solidFill>
                                  <a:srgbClr val="333333"/>
                                </a:solidFill>
                                <a:latin typeface="Cambria Math" panose="02040503050406030204" pitchFamily="18" charset="0"/>
                                <a:ea typeface="微软雅黑" panose="020B0503020204020204" pitchFamily="34" charset="-122"/>
                              </a:rPr>
                              <m:t>1</m:t>
                            </m:r>
                          </m:sub>
                        </m:sSub>
                        <m:r>
                          <m:rPr>
                            <m:nor/>
                          </m:rPr>
                          <a:rPr lang="zh-CN" altLang="en-US" dirty="0"/>
                          <m:t> </m:t>
                        </m:r>
                        <m:r>
                          <a:rPr lang="en-US" altLang="zh-CN" i="1" dirty="0">
                            <a:latin typeface="Cambria Math" panose="02040503050406030204" pitchFamily="18" charset="0"/>
                          </a:rPr>
                          <m:t>+</m:t>
                        </m:r>
                        <m:r>
                          <a:rPr lang="en-US" altLang="zh-CN" b="0" i="1" dirty="0" smtClean="0">
                            <a:latin typeface="Cambria Math" panose="02040503050406030204" pitchFamily="18" charset="0"/>
                          </a:rPr>
                          <m:t>𝐿</m:t>
                        </m:r>
                      </m:e>
                      <m:sub>
                        <m:r>
                          <a:rPr lang="en-US" altLang="zh-CN" i="1">
                            <a:solidFill>
                              <a:srgbClr val="333333"/>
                            </a:solidFill>
                            <a:latin typeface="Cambria Math" panose="02040503050406030204" pitchFamily="18" charset="0"/>
                            <a:ea typeface="微软雅黑" panose="020B0503020204020204" pitchFamily="34" charset="-122"/>
                          </a:rPr>
                          <m:t>2</m:t>
                        </m:r>
                      </m:sub>
                    </m:sSub>
                  </m:oMath>
                </a14:m>
                <a:r>
                  <a:rPr lang="en-US" altLang="zh-CN" dirty="0"/>
                  <a:t>=</a:t>
                </a:r>
                <a14:m>
                  <m:oMath xmlns:m="http://schemas.openxmlformats.org/officeDocument/2006/math">
                    <m:r>
                      <a:rPr lang="en-US" altLang="zh-CN" i="1">
                        <a:solidFill>
                          <a:srgbClr val="333333"/>
                        </a:solidFill>
                        <a:latin typeface="Cambria Math" panose="02040503050406030204" pitchFamily="18" charset="0"/>
                        <a:ea typeface="微软雅黑" panose="020B0503020204020204" pitchFamily="34" charset="-122"/>
                      </a:rPr>
                      <m:t>=</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1</m:t>
                        </m:r>
                      </m:num>
                      <m:den>
                        <m:r>
                          <a:rPr lang="en-US" altLang="zh-CN" i="1">
                            <a:solidFill>
                              <a:srgbClr val="333333"/>
                            </a:solidFill>
                            <a:latin typeface="Cambria Math" panose="02040503050406030204" pitchFamily="18" charset="0"/>
                            <a:ea typeface="微软雅黑" panose="020B0503020204020204" pitchFamily="34" charset="-122"/>
                          </a:rPr>
                          <m:t>  2</m:t>
                        </m:r>
                      </m:den>
                    </m:f>
                    <m:sSup>
                      <m:sSupPr>
                        <m:ctrlPr>
                          <a:rPr lang="en-US" altLang="zh-CN" i="1">
                            <a:solidFill>
                              <a:srgbClr val="333333"/>
                            </a:solidFill>
                            <a:latin typeface="Cambria Math" panose="02040503050406030204" pitchFamily="18" charset="0"/>
                            <a:ea typeface="微软雅黑" panose="020B0503020204020204" pitchFamily="34" charset="-122"/>
                          </a:rPr>
                        </m:ctrlPr>
                      </m:sSupPr>
                      <m:e>
                        <m:r>
                          <a:rPr lang="zh-CN" altLang="en-US"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1</m:t>
                            </m:r>
                          </m:sub>
                        </m:sSub>
                        <m:r>
                          <a:rPr lang="en-US" altLang="zh-CN" i="1" ker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r>
                          <a:rPr lang="zh-CN" altLang="en-US" i="1">
                            <a:solidFill>
                              <a:srgbClr val="333333"/>
                            </a:solidFill>
                            <a:latin typeface="Cambria Math" panose="02040503050406030204" pitchFamily="18" charset="0"/>
                            <a:ea typeface="微软雅黑" panose="020B0503020204020204" pitchFamily="34" charset="-122"/>
                          </a:rPr>
                          <m:t>）</m:t>
                        </m:r>
                      </m:e>
                      <m:sup>
                        <m:r>
                          <a:rPr lang="en-US" altLang="zh-CN" i="1">
                            <a:solidFill>
                              <a:srgbClr val="333333"/>
                            </a:solidFill>
                            <a:latin typeface="Cambria Math" panose="02040503050406030204" pitchFamily="18" charset="0"/>
                            <a:ea typeface="微软雅黑" panose="020B0503020204020204" pitchFamily="34" charset="-122"/>
                          </a:rPr>
                          <m:t>2</m:t>
                        </m:r>
                      </m:sup>
                    </m:sSup>
                  </m:oMath>
                </a14:m>
                <a:r>
                  <a:rPr lang="en-US" altLang="zh-CN" dirty="0"/>
                  <a:t> </a:t>
                </a:r>
                <a14:m>
                  <m:oMath xmlns:m="http://schemas.openxmlformats.org/officeDocument/2006/math">
                    <m:r>
                      <a:rPr lang="en-US" altLang="zh-CN" i="1" dirty="0">
                        <a:latin typeface="Cambria Math" panose="02040503050406030204" pitchFamily="18" charset="0"/>
                      </a:rPr>
                      <m:t>+ </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1</m:t>
                        </m:r>
                      </m:num>
                      <m:den>
                        <m:r>
                          <a:rPr lang="en-US" altLang="zh-CN" i="1">
                            <a:solidFill>
                              <a:srgbClr val="333333"/>
                            </a:solidFill>
                            <a:latin typeface="Cambria Math" panose="02040503050406030204" pitchFamily="18" charset="0"/>
                            <a:ea typeface="微软雅黑" panose="020B0503020204020204" pitchFamily="34" charset="-122"/>
                          </a:rPr>
                          <m:t>2</m:t>
                        </m:r>
                      </m:den>
                    </m:f>
                    <m:sSup>
                      <m:sSupPr>
                        <m:ctrlPr>
                          <a:rPr lang="en-US" altLang="zh-CN" i="1">
                            <a:solidFill>
                              <a:srgbClr val="333333"/>
                            </a:solidFill>
                            <a:latin typeface="Cambria Math" panose="02040503050406030204" pitchFamily="18" charset="0"/>
                            <a:ea typeface="微软雅黑" panose="020B0503020204020204" pitchFamily="34" charset="-122"/>
                          </a:rPr>
                        </m:ctrlPr>
                      </m:sSupPr>
                      <m:e>
                        <m:r>
                          <a:rPr lang="zh-CN" altLang="en-US"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2</m:t>
                            </m:r>
                          </m:sub>
                        </m:sSub>
                        <m:r>
                          <a:rPr lang="en-US" altLang="zh-CN" i="1" ker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2</m:t>
                            </m:r>
                          </m:sub>
                        </m:sSub>
                        <m:r>
                          <a:rPr lang="zh-CN" altLang="en-US" i="1">
                            <a:solidFill>
                              <a:srgbClr val="333333"/>
                            </a:solidFill>
                            <a:latin typeface="Cambria Math" panose="02040503050406030204" pitchFamily="18" charset="0"/>
                            <a:ea typeface="微软雅黑" panose="020B0503020204020204" pitchFamily="34" charset="-122"/>
                          </a:rPr>
                          <m:t>）</m:t>
                        </m:r>
                      </m:e>
                      <m:sup>
                        <m:r>
                          <a:rPr lang="en-US" altLang="zh-CN" i="1">
                            <a:solidFill>
                              <a:srgbClr val="333333"/>
                            </a:solidFill>
                            <a:latin typeface="Cambria Math" panose="02040503050406030204" pitchFamily="18" charset="0"/>
                            <a:ea typeface="微软雅黑" panose="020B0503020204020204" pitchFamily="34" charset="-122"/>
                          </a:rPr>
                          <m:t>2</m:t>
                        </m:r>
                      </m:sup>
                    </m:sSup>
                  </m:oMath>
                </a14:m>
                <a:endParaRPr lang="zh-CN" altLang="en-US" dirty="0"/>
              </a:p>
            </p:txBody>
          </p:sp>
        </mc:Choice>
        <mc:Fallback xmlns="">
          <p:sp>
            <p:nvSpPr>
              <p:cNvPr id="31" name="矩形 30"/>
              <p:cNvSpPr>
                <a:spLocks noRot="1" noChangeAspect="1" noMove="1" noResize="1" noEditPoints="1" noAdjustHandles="1" noChangeArrowheads="1" noChangeShapeType="1" noTextEdit="1"/>
              </p:cNvSpPr>
              <p:nvPr/>
            </p:nvSpPr>
            <p:spPr>
              <a:xfrm>
                <a:off x="1500953" y="5172978"/>
                <a:ext cx="7683279" cy="483530"/>
              </a:xfrm>
              <a:prstGeom prst="rect">
                <a:avLst/>
              </a:prstGeom>
              <a:blipFill rotWithShape="0">
                <a:blip r:embed="rId10"/>
                <a:stretch>
                  <a:fillRect b="-88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1176568" y="5691422"/>
                <a:ext cx="7488832" cy="61093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rgbClr val="333333"/>
                          </a:solidFill>
                          <a:latin typeface="Cambria Math" panose="02040503050406030204" pitchFamily="18" charset="0"/>
                          <a:ea typeface="微软雅黑" panose="020B0503020204020204" pitchFamily="34" charset="-122"/>
                        </a:rPr>
                        <m:t>=</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1</m:t>
                          </m:r>
                        </m:num>
                        <m:den>
                          <m:r>
                            <a:rPr lang="en-US" altLang="zh-CN" i="1">
                              <a:solidFill>
                                <a:srgbClr val="333333"/>
                              </a:solidFill>
                              <a:latin typeface="Cambria Math" panose="02040503050406030204" pitchFamily="18" charset="0"/>
                              <a:ea typeface="微软雅黑" panose="020B0503020204020204" pitchFamily="34" charset="-122"/>
                            </a:rPr>
                            <m:t>2</m:t>
                          </m:r>
                        </m:den>
                      </m:f>
                      <m:sSup>
                        <m:sSupPr>
                          <m:ctrlPr>
                            <a:rPr lang="en-US" altLang="zh-CN" i="1">
                              <a:solidFill>
                                <a:srgbClr val="333333"/>
                              </a:solidFill>
                              <a:latin typeface="Cambria Math" panose="02040503050406030204" pitchFamily="18" charset="0"/>
                              <a:ea typeface="微软雅黑" panose="020B0503020204020204" pitchFamily="34" charset="-122"/>
                            </a:rPr>
                          </m:ctrlPr>
                        </m:sSupPr>
                        <m:e>
                          <m:r>
                            <a:rPr lang="zh-CN" altLang="en-US" i="1">
                              <a:solidFill>
                                <a:srgbClr val="333333"/>
                              </a:solidFill>
                              <a:latin typeface="Cambria Math" panose="02040503050406030204" pitchFamily="18" charset="0"/>
                              <a:ea typeface="微软雅黑" panose="020B0503020204020204" pitchFamily="34" charset="-122"/>
                            </a:rPr>
                            <m:t>（</m:t>
                          </m:r>
                          <m:r>
                            <a:rPr lang="en-US" altLang="zh-CN" i="1">
                              <a:solidFill>
                                <a:srgbClr val="333333"/>
                              </a:solidFill>
                              <a:latin typeface="Cambria Math" panose="02040503050406030204" pitchFamily="18" charset="0"/>
                              <a:ea typeface="微软雅黑" panose="020B0503020204020204" pitchFamily="34" charset="-122"/>
                            </a:rPr>
                            <m:t>0.76</m:t>
                          </m:r>
                          <m:r>
                            <a:rPr lang="en-US" altLang="zh-CN" b="0" i="1" smtClean="0">
                              <a:solidFill>
                                <a:srgbClr val="333333"/>
                              </a:solidFill>
                              <a:latin typeface="Cambria Math" panose="02040503050406030204" pitchFamily="18" charset="0"/>
                              <a:ea typeface="微软雅黑" panose="020B0503020204020204" pitchFamily="34" charset="-122"/>
                            </a:rPr>
                            <m:t>09</m:t>
                          </m:r>
                          <m:r>
                            <a:rPr lang="en-US" altLang="zh-CN" i="1">
                              <a:solidFill>
                                <a:srgbClr val="333333"/>
                              </a:solidFill>
                              <a:latin typeface="Cambria Math" panose="02040503050406030204" pitchFamily="18" charset="0"/>
                              <a:ea typeface="微软雅黑" panose="020B0503020204020204" pitchFamily="34" charset="-122"/>
                            </a:rPr>
                            <m:t>−0.9</m:t>
                          </m:r>
                          <m:r>
                            <a:rPr lang="zh-CN" altLang="en-US" i="1">
                              <a:solidFill>
                                <a:srgbClr val="333333"/>
                              </a:solidFill>
                              <a:latin typeface="Cambria Math" panose="02040503050406030204" pitchFamily="18" charset="0"/>
                              <a:ea typeface="微软雅黑" panose="020B0503020204020204" pitchFamily="34" charset="-122"/>
                            </a:rPr>
                            <m:t>）</m:t>
                          </m:r>
                        </m:e>
                        <m:sup>
                          <m:r>
                            <a:rPr lang="en-US" altLang="zh-CN" i="1">
                              <a:solidFill>
                                <a:srgbClr val="333333"/>
                              </a:solidFill>
                              <a:latin typeface="Cambria Math" panose="02040503050406030204" pitchFamily="18" charset="0"/>
                              <a:ea typeface="微软雅黑" panose="020B0503020204020204" pitchFamily="34" charset="-122"/>
                            </a:rPr>
                            <m:t>2</m:t>
                          </m:r>
                        </m:sup>
                      </m:sSup>
                      <m:r>
                        <a:rPr lang="en-US" altLang="zh-CN" i="1">
                          <a:solidFill>
                            <a:srgbClr val="333333"/>
                          </a:solidFill>
                          <a:latin typeface="Cambria Math" panose="02040503050406030204" pitchFamily="18" charset="0"/>
                          <a:ea typeface="微软雅黑" panose="020B0503020204020204" pitchFamily="34" charset="-122"/>
                        </a:rPr>
                        <m:t>+</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1</m:t>
                          </m:r>
                        </m:num>
                        <m:den>
                          <m:r>
                            <a:rPr lang="en-US" altLang="zh-CN" i="1">
                              <a:solidFill>
                                <a:srgbClr val="333333"/>
                              </a:solidFill>
                              <a:latin typeface="Cambria Math" panose="02040503050406030204" pitchFamily="18" charset="0"/>
                              <a:ea typeface="微软雅黑" panose="020B0503020204020204" pitchFamily="34" charset="-122"/>
                            </a:rPr>
                            <m:t>2</m:t>
                          </m:r>
                        </m:den>
                      </m:f>
                      <m:sSup>
                        <m:sSupPr>
                          <m:ctrlPr>
                            <a:rPr lang="en-US" altLang="zh-CN" i="1">
                              <a:solidFill>
                                <a:srgbClr val="333333"/>
                              </a:solidFill>
                              <a:latin typeface="Cambria Math" panose="02040503050406030204" pitchFamily="18" charset="0"/>
                              <a:ea typeface="微软雅黑" panose="020B0503020204020204" pitchFamily="34" charset="-122"/>
                            </a:rPr>
                          </m:ctrlPr>
                        </m:sSupPr>
                        <m:e>
                          <m:r>
                            <a:rPr lang="zh-CN" altLang="en-US" i="1">
                              <a:solidFill>
                                <a:srgbClr val="333333"/>
                              </a:solidFill>
                              <a:latin typeface="Cambria Math" panose="02040503050406030204" pitchFamily="18" charset="0"/>
                              <a:ea typeface="微软雅黑" panose="020B0503020204020204" pitchFamily="34" charset="-122"/>
                            </a:rPr>
                            <m:t>（</m:t>
                          </m:r>
                          <m:r>
                            <a:rPr lang="en-US" altLang="zh-CN" i="1">
                              <a:solidFill>
                                <a:srgbClr val="333333"/>
                              </a:solidFill>
                              <a:latin typeface="Cambria Math" panose="02040503050406030204" pitchFamily="18" charset="0"/>
                              <a:ea typeface="微软雅黑" panose="020B0503020204020204" pitchFamily="34" charset="-122"/>
                            </a:rPr>
                            <m:t>0.7760−0.</m:t>
                          </m:r>
                          <m:r>
                            <a:rPr lang="en-US" altLang="zh-CN" b="0" i="1" smtClean="0">
                              <a:solidFill>
                                <a:srgbClr val="333333"/>
                              </a:solidFill>
                              <a:latin typeface="Cambria Math" panose="02040503050406030204" pitchFamily="18" charset="0"/>
                              <a:ea typeface="微软雅黑" panose="020B0503020204020204" pitchFamily="34" charset="-122"/>
                            </a:rPr>
                            <m:t>5</m:t>
                          </m:r>
                          <m:r>
                            <a:rPr lang="zh-CN" altLang="en-US" i="1">
                              <a:solidFill>
                                <a:srgbClr val="333333"/>
                              </a:solidFill>
                              <a:latin typeface="Cambria Math" panose="02040503050406030204" pitchFamily="18" charset="0"/>
                              <a:ea typeface="微软雅黑" panose="020B0503020204020204" pitchFamily="34" charset="-122"/>
                            </a:rPr>
                            <m:t>）</m:t>
                          </m:r>
                        </m:e>
                        <m:sup>
                          <m:r>
                            <a:rPr lang="en-US" altLang="zh-CN" i="1">
                              <a:solidFill>
                                <a:srgbClr val="333333"/>
                              </a:solidFill>
                              <a:latin typeface="Cambria Math" panose="02040503050406030204" pitchFamily="18" charset="0"/>
                              <a:ea typeface="微软雅黑" panose="020B0503020204020204" pitchFamily="34" charset="-122"/>
                            </a:rPr>
                            <m:t>2</m:t>
                          </m:r>
                        </m:sup>
                      </m:sSup>
                      <m:r>
                        <a:rPr lang="en-US" altLang="zh-CN" i="1">
                          <a:solidFill>
                            <a:srgbClr val="333333"/>
                          </a:solidFill>
                          <a:latin typeface="Cambria Math" panose="02040503050406030204" pitchFamily="18" charset="0"/>
                          <a:ea typeface="微软雅黑" panose="020B0503020204020204" pitchFamily="34" charset="-122"/>
                        </a:rPr>
                        <m:t>=0.0</m:t>
                      </m:r>
                      <m:r>
                        <a:rPr lang="en-US" altLang="zh-CN" b="0" i="1" smtClean="0">
                          <a:solidFill>
                            <a:srgbClr val="333333"/>
                          </a:solidFill>
                          <a:latin typeface="Cambria Math" panose="02040503050406030204" pitchFamily="18" charset="0"/>
                          <a:ea typeface="微软雅黑" panose="020B0503020204020204" pitchFamily="34" charset="-122"/>
                        </a:rPr>
                        <m:t>47</m:t>
                      </m:r>
                      <m:r>
                        <a:rPr lang="en-US" altLang="zh-CN" i="1">
                          <a:solidFill>
                            <a:srgbClr val="333333"/>
                          </a:solidFill>
                          <a:latin typeface="Cambria Math" panose="02040503050406030204" pitchFamily="18" charset="0"/>
                          <a:ea typeface="微软雅黑" panose="020B0503020204020204" pitchFamily="34" charset="-122"/>
                        </a:rPr>
                        <m:t>8</m:t>
                      </m:r>
                    </m:oMath>
                  </m:oMathPara>
                </a14:m>
                <a:endParaRPr lang="zh-CN" altLang="en-US" dirty="0"/>
              </a:p>
            </p:txBody>
          </p:sp>
        </mc:Choice>
        <mc:Fallback xmlns="">
          <p:sp>
            <p:nvSpPr>
              <p:cNvPr id="32" name="矩形 31"/>
              <p:cNvSpPr>
                <a:spLocks noRot="1" noChangeAspect="1" noMove="1" noResize="1" noEditPoints="1" noAdjustHandles="1" noChangeArrowheads="1" noChangeShapeType="1" noTextEdit="1"/>
              </p:cNvSpPr>
              <p:nvPr/>
            </p:nvSpPr>
            <p:spPr>
              <a:xfrm>
                <a:off x="1176568" y="5691422"/>
                <a:ext cx="7488832" cy="610936"/>
              </a:xfrm>
              <a:prstGeom prst="rect">
                <a:avLst/>
              </a:prstGeom>
              <a:blipFill rotWithShape="0">
                <a:blip r:embed="rId11"/>
                <a:stretch>
                  <a:fillRect/>
                </a:stretch>
              </a:blipFill>
            </p:spPr>
            <p:txBody>
              <a:bodyPr/>
              <a:lstStyle/>
              <a:p>
                <a:r>
                  <a:rPr lang="zh-CN" altLang="en-US">
                    <a:noFill/>
                  </a:rPr>
                  <a:t> </a:t>
                </a:r>
              </a:p>
            </p:txBody>
          </p:sp>
        </mc:Fallback>
      </mc:AlternateContent>
      <p:sp>
        <p:nvSpPr>
          <p:cNvPr id="34" name="矩形: 圆角 5">
            <a:extLst>
              <a:ext uri="{FF2B5EF4-FFF2-40B4-BE49-F238E27FC236}">
                <a16:creationId xmlns:a16="http://schemas.microsoft.com/office/drawing/2014/main" id="{0039A905-44D8-4BAE-8C5F-9FF16F2C0900}"/>
              </a:ext>
            </a:extLst>
          </p:cNvPr>
          <p:cNvSpPr/>
          <p:nvPr/>
        </p:nvSpPr>
        <p:spPr>
          <a:xfrm>
            <a:off x="689982" y="4776794"/>
            <a:ext cx="7131656" cy="1761530"/>
          </a:xfrm>
          <a:prstGeom prst="roundRect">
            <a:avLst/>
          </a:prstGeom>
          <a:noFill/>
          <a:ln>
            <a:solidFill>
              <a:srgbClr val="1C4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下 8">
            <a:extLst>
              <a:ext uri="{FF2B5EF4-FFF2-40B4-BE49-F238E27FC236}">
                <a16:creationId xmlns:a16="http://schemas.microsoft.com/office/drawing/2014/main" id="{A77EF95C-94C7-46AD-B33E-BA9FB37EED21}"/>
              </a:ext>
            </a:extLst>
          </p:cNvPr>
          <p:cNvSpPr/>
          <p:nvPr/>
        </p:nvSpPr>
        <p:spPr>
          <a:xfrm rot="15370414" flipV="1">
            <a:off x="7505596" y="5297104"/>
            <a:ext cx="379663" cy="552670"/>
          </a:xfrm>
          <a:prstGeom prst="downArrow">
            <a:avLst/>
          </a:prstGeom>
          <a:solidFill>
            <a:srgbClr val="1C479B"/>
          </a:solidFill>
          <a:ln>
            <a:solidFill>
              <a:srgbClr val="1C4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灯片编号占位符 8">
            <a:extLst>
              <a:ext uri="{FF2B5EF4-FFF2-40B4-BE49-F238E27FC236}">
                <a16:creationId xmlns:a16="http://schemas.microsoft.com/office/drawing/2014/main" id="{A2DB82AD-D28C-4FE2-A660-72A9BFE5E86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40</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694739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anim calcmode="lin" valueType="num">
                                      <p:cBhvr>
                                        <p:cTn id="22" dur="1000" fill="hold"/>
                                        <p:tgtEl>
                                          <p:spTgt spid="27"/>
                                        </p:tgtEl>
                                        <p:attrNameLst>
                                          <p:attrName>ppt_x</p:attrName>
                                        </p:attrNameLst>
                                      </p:cBhvr>
                                      <p:tavLst>
                                        <p:tav tm="0">
                                          <p:val>
                                            <p:strVal val="#ppt_x"/>
                                          </p:val>
                                        </p:tav>
                                        <p:tav tm="100000">
                                          <p:val>
                                            <p:strVal val="#ppt_x"/>
                                          </p:val>
                                        </p:tav>
                                      </p:tavLst>
                                    </p:anim>
                                    <p:anim calcmode="lin" valueType="num">
                                      <p:cBhvr>
                                        <p:cTn id="23" dur="1000" fill="hold"/>
                                        <p:tgtEl>
                                          <p:spTgt spid="27"/>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1000"/>
                                        <p:tgtEl>
                                          <p:spTgt spid="30"/>
                                        </p:tgtEl>
                                      </p:cBhvr>
                                    </p:animEffect>
                                    <p:anim calcmode="lin" valueType="num">
                                      <p:cBhvr>
                                        <p:cTn id="27" dur="1000" fill="hold"/>
                                        <p:tgtEl>
                                          <p:spTgt spid="30"/>
                                        </p:tgtEl>
                                        <p:attrNameLst>
                                          <p:attrName>ppt_x</p:attrName>
                                        </p:attrNameLst>
                                      </p:cBhvr>
                                      <p:tavLst>
                                        <p:tav tm="0">
                                          <p:val>
                                            <p:strVal val="#ppt_x"/>
                                          </p:val>
                                        </p:tav>
                                        <p:tav tm="100000">
                                          <p:val>
                                            <p:strVal val="#ppt_x"/>
                                          </p:val>
                                        </p:tav>
                                      </p:tavLst>
                                    </p:anim>
                                    <p:anim calcmode="lin" valueType="num">
                                      <p:cBhvr>
                                        <p:cTn id="28" dur="1000" fill="hold"/>
                                        <p:tgtEl>
                                          <p:spTgt spid="30"/>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1000"/>
                                        <p:tgtEl>
                                          <p:spTgt spid="31"/>
                                        </p:tgtEl>
                                      </p:cBhvr>
                                    </p:animEffect>
                                    <p:anim calcmode="lin" valueType="num">
                                      <p:cBhvr>
                                        <p:cTn id="32" dur="1000" fill="hold"/>
                                        <p:tgtEl>
                                          <p:spTgt spid="31"/>
                                        </p:tgtEl>
                                        <p:attrNameLst>
                                          <p:attrName>ppt_x</p:attrName>
                                        </p:attrNameLst>
                                      </p:cBhvr>
                                      <p:tavLst>
                                        <p:tav tm="0">
                                          <p:val>
                                            <p:strVal val="#ppt_x"/>
                                          </p:val>
                                        </p:tav>
                                        <p:tav tm="100000">
                                          <p:val>
                                            <p:strVal val="#ppt_x"/>
                                          </p:val>
                                        </p:tav>
                                      </p:tavLst>
                                    </p:anim>
                                    <p:anim calcmode="lin" valueType="num">
                                      <p:cBhvr>
                                        <p:cTn id="33" dur="1000" fill="hold"/>
                                        <p:tgtEl>
                                          <p:spTgt spid="3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1000"/>
                                        <p:tgtEl>
                                          <p:spTgt spid="32"/>
                                        </p:tgtEl>
                                      </p:cBhvr>
                                    </p:animEffect>
                                    <p:anim calcmode="lin" valueType="num">
                                      <p:cBhvr>
                                        <p:cTn id="37" dur="1000" fill="hold"/>
                                        <p:tgtEl>
                                          <p:spTgt spid="32"/>
                                        </p:tgtEl>
                                        <p:attrNameLst>
                                          <p:attrName>ppt_x</p:attrName>
                                        </p:attrNameLst>
                                      </p:cBhvr>
                                      <p:tavLst>
                                        <p:tav tm="0">
                                          <p:val>
                                            <p:strVal val="#ppt_x"/>
                                          </p:val>
                                        </p:tav>
                                        <p:tav tm="100000">
                                          <p:val>
                                            <p:strVal val="#ppt_x"/>
                                          </p:val>
                                        </p:tav>
                                      </p:tavLst>
                                    </p:anim>
                                    <p:anim calcmode="lin" valueType="num">
                                      <p:cBhvr>
                                        <p:cTn id="38" dur="1000" fill="hold"/>
                                        <p:tgtEl>
                                          <p:spTgt spid="32"/>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1000"/>
                                        <p:tgtEl>
                                          <p:spTgt spid="34"/>
                                        </p:tgtEl>
                                      </p:cBhvr>
                                    </p:animEffect>
                                    <p:anim calcmode="lin" valueType="num">
                                      <p:cBhvr>
                                        <p:cTn id="42" dur="1000" fill="hold"/>
                                        <p:tgtEl>
                                          <p:spTgt spid="34"/>
                                        </p:tgtEl>
                                        <p:attrNameLst>
                                          <p:attrName>ppt_x</p:attrName>
                                        </p:attrNameLst>
                                      </p:cBhvr>
                                      <p:tavLst>
                                        <p:tav tm="0">
                                          <p:val>
                                            <p:strVal val="#ppt_x"/>
                                          </p:val>
                                        </p:tav>
                                        <p:tav tm="100000">
                                          <p:val>
                                            <p:strVal val="#ppt_x"/>
                                          </p:val>
                                        </p:tav>
                                      </p:tavLst>
                                    </p:anim>
                                    <p:anim calcmode="lin" valueType="num">
                                      <p:cBhvr>
                                        <p:cTn id="43" dur="1000" fill="hold"/>
                                        <p:tgtEl>
                                          <p:spTgt spid="34"/>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1000"/>
                                        <p:tgtEl>
                                          <p:spTgt spid="35"/>
                                        </p:tgtEl>
                                      </p:cBhvr>
                                    </p:animEffect>
                                    <p:anim calcmode="lin" valueType="num">
                                      <p:cBhvr>
                                        <p:cTn id="47" dur="1000" fill="hold"/>
                                        <p:tgtEl>
                                          <p:spTgt spid="35"/>
                                        </p:tgtEl>
                                        <p:attrNameLst>
                                          <p:attrName>ppt_x</p:attrName>
                                        </p:attrNameLst>
                                      </p:cBhvr>
                                      <p:tavLst>
                                        <p:tav tm="0">
                                          <p:val>
                                            <p:strVal val="#ppt_x"/>
                                          </p:val>
                                        </p:tav>
                                        <p:tav tm="100000">
                                          <p:val>
                                            <p:strVal val="#ppt_x"/>
                                          </p:val>
                                        </p:tav>
                                      </p:tavLst>
                                    </p:anim>
                                    <p:anim calcmode="lin" valueType="num">
                                      <p:cBhvr>
                                        <p:cTn id="48"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30" grpId="0"/>
      <p:bldP spid="31" grpId="0"/>
      <p:bldP spid="32" grpId="0"/>
      <p:bldP spid="34" grpId="0" animBg="1"/>
      <p:bldP spid="3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反向传播</a:t>
            </a:r>
            <a:endParaRPr lang="en-US" altLang="zh-CN" sz="2600" b="1" dirty="0"/>
          </a:p>
        </p:txBody>
      </p:sp>
      <p:grpSp>
        <p:nvGrpSpPr>
          <p:cNvPr id="8" name="组合 7"/>
          <p:cNvGrpSpPr/>
          <p:nvPr/>
        </p:nvGrpSpPr>
        <p:grpSpPr>
          <a:xfrm>
            <a:off x="819327" y="2065143"/>
            <a:ext cx="2804039" cy="2597205"/>
            <a:chOff x="956487" y="2817955"/>
            <a:chExt cx="2804039" cy="2597205"/>
          </a:xfrm>
        </p:grpSpPr>
        <p:grpSp>
          <p:nvGrpSpPr>
            <p:cNvPr id="9" name="组合 8"/>
            <p:cNvGrpSpPr/>
            <p:nvPr/>
          </p:nvGrpSpPr>
          <p:grpSpPr>
            <a:xfrm>
              <a:off x="956487" y="2817955"/>
              <a:ext cx="2648878" cy="2597205"/>
              <a:chOff x="2496266" y="2776920"/>
              <a:chExt cx="2648878" cy="2597205"/>
            </a:xfrm>
          </p:grpSpPr>
          <mc:AlternateContent xmlns:mc="http://schemas.openxmlformats.org/markup-compatibility/2006" xmlns:a14="http://schemas.microsoft.com/office/drawing/2010/main">
            <mc:Choice Requires="a14">
              <p:sp>
                <p:nvSpPr>
                  <p:cNvPr id="12" name="椭圆 11"/>
                  <p:cNvSpPr/>
                  <p:nvPr/>
                </p:nvSpPr>
                <p:spPr>
                  <a:xfrm>
                    <a:off x="2498632" y="2776920"/>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12" name="椭圆 11"/>
                  <p:cNvSpPr>
                    <a:spLocks noRot="1" noChangeAspect="1" noMove="1" noResize="1" noEditPoints="1" noAdjustHandles="1" noChangeArrowheads="1" noChangeShapeType="1" noTextEdit="1"/>
                  </p:cNvSpPr>
                  <p:nvPr/>
                </p:nvSpPr>
                <p:spPr>
                  <a:xfrm>
                    <a:off x="2498632" y="2776920"/>
                    <a:ext cx="576064" cy="576064"/>
                  </a:xfrm>
                  <a:prstGeom prst="ellipse">
                    <a:avLst/>
                  </a:prstGeom>
                  <a:blipFill rotWithShape="0">
                    <a:blip r:embed="rId5"/>
                    <a:stretch>
                      <a:fillRect/>
                    </a:stretch>
                  </a:blipFill>
                  <a:ln>
                    <a:solidFill>
                      <a:srgbClr val="C0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椭圆 12"/>
                  <p:cNvSpPr/>
                  <p:nvPr/>
                </p:nvSpPr>
                <p:spPr>
                  <a:xfrm>
                    <a:off x="2496266" y="4805720"/>
                    <a:ext cx="576064" cy="56840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14" name="椭圆 13"/>
                  <p:cNvSpPr>
                    <a:spLocks noRot="1" noChangeAspect="1" noMove="1" noResize="1" noEditPoints="1" noAdjustHandles="1" noChangeArrowheads="1" noChangeShapeType="1" noTextEdit="1"/>
                  </p:cNvSpPr>
                  <p:nvPr/>
                </p:nvSpPr>
                <p:spPr>
                  <a:xfrm>
                    <a:off x="2496266" y="4805720"/>
                    <a:ext cx="576064" cy="568405"/>
                  </a:xfrm>
                  <a:prstGeom prst="ellipse">
                    <a:avLst/>
                  </a:prstGeom>
                  <a:blipFill rotWithShape="0">
                    <a:blip r:embed="rId6"/>
                    <a:stretch>
                      <a:fillRect/>
                    </a:stretch>
                  </a:blipFill>
                  <a:ln>
                    <a:solidFill>
                      <a:srgbClr val="C00000"/>
                    </a:solidFill>
                  </a:ln>
                </p:spPr>
                <p:txBody>
                  <a:bodyPr/>
                  <a:lstStyle/>
                  <a:p>
                    <a:r>
                      <a:rPr lang="zh-CN" altLang="en-US">
                        <a:noFill/>
                      </a:rPr>
                      <a:t> </a:t>
                    </a:r>
                  </a:p>
                </p:txBody>
              </p:sp>
            </mc:Fallback>
          </mc:AlternateContent>
          <p:cxnSp>
            <p:nvCxnSpPr>
              <p:cNvPr id="14" name="直接箭头连接符 13"/>
              <p:cNvCxnSpPr>
                <a:stCxn id="12" idx="6"/>
                <a:endCxn id="16" idx="3"/>
              </p:cNvCxnSpPr>
              <p:nvPr/>
            </p:nvCxnSpPr>
            <p:spPr>
              <a:xfrm>
                <a:off x="3074696" y="3064952"/>
                <a:ext cx="717244" cy="950234"/>
              </a:xfrm>
              <a:prstGeom prst="straightConnector1">
                <a:avLst/>
              </a:prstGeom>
              <a:noFill/>
              <a:ln w="15875" cap="flat" cmpd="sng">
                <a:solidFill>
                  <a:schemeClr val="tx1">
                    <a:lumMod val="65000"/>
                    <a:lumOff val="35000"/>
                  </a:schemeClr>
                </a:solidFill>
                <a:prstDash val="solid"/>
                <a:round/>
                <a:headEnd/>
                <a:tailEnd type="triangle"/>
              </a:ln>
              <a:effectLst/>
            </p:spPr>
          </p:cxnSp>
          <p:sp>
            <p:nvSpPr>
              <p:cNvPr id="16" name="椭圆 15"/>
              <p:cNvSpPr/>
              <p:nvPr/>
            </p:nvSpPr>
            <p:spPr>
              <a:xfrm rot="2739555">
                <a:off x="3790454" y="3539673"/>
                <a:ext cx="970786" cy="9650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18" name="椭圆 17"/>
                  <p:cNvSpPr/>
                  <p:nvPr/>
                </p:nvSpPr>
                <p:spPr>
                  <a:xfrm rot="21503492">
                    <a:off x="2523468" y="3743303"/>
                    <a:ext cx="576064" cy="57606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35" name="椭圆 34"/>
                  <p:cNvSpPr>
                    <a:spLocks noRot="1" noChangeAspect="1" noMove="1" noResize="1" noEditPoints="1" noAdjustHandles="1" noChangeArrowheads="1" noChangeShapeType="1" noTextEdit="1"/>
                  </p:cNvSpPr>
                  <p:nvPr/>
                </p:nvSpPr>
                <p:spPr>
                  <a:xfrm rot="21503492">
                    <a:off x="2523468" y="3743303"/>
                    <a:ext cx="576064" cy="576064"/>
                  </a:xfrm>
                  <a:prstGeom prst="ellipse">
                    <a:avLst/>
                  </a:prstGeom>
                  <a:blipFill rotWithShape="0">
                    <a:blip r:embed="rId7"/>
                    <a:stretch>
                      <a:fillRect/>
                    </a:stretch>
                  </a:blipFill>
                  <a:ln>
                    <a:solidFill>
                      <a:srgbClr val="C00000"/>
                    </a:solidFill>
                  </a:ln>
                </p:spPr>
                <p:txBody>
                  <a:bodyPr/>
                  <a:lstStyle/>
                  <a:p>
                    <a:r>
                      <a:rPr lang="zh-CN" altLang="en-US">
                        <a:noFill/>
                      </a:rPr>
                      <a:t> </a:t>
                    </a:r>
                  </a:p>
                </p:txBody>
              </p:sp>
            </mc:Fallback>
          </mc:AlternateContent>
          <p:cxnSp>
            <p:nvCxnSpPr>
              <p:cNvPr id="19" name="直接箭头连接符 18"/>
              <p:cNvCxnSpPr>
                <a:stCxn id="18" idx="6"/>
                <a:endCxn id="16" idx="3"/>
              </p:cNvCxnSpPr>
              <p:nvPr/>
            </p:nvCxnSpPr>
            <p:spPr>
              <a:xfrm flipV="1">
                <a:off x="3099419" y="4015186"/>
                <a:ext cx="692521" cy="8064"/>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0" name="直接箭头连接符 19"/>
              <p:cNvCxnSpPr>
                <a:stCxn id="13" idx="6"/>
                <a:endCxn id="16" idx="3"/>
              </p:cNvCxnSpPr>
              <p:nvPr/>
            </p:nvCxnSpPr>
            <p:spPr>
              <a:xfrm flipV="1">
                <a:off x="3072330" y="4015186"/>
                <a:ext cx="719610" cy="1074737"/>
              </a:xfrm>
              <a:prstGeom prst="straightConnector1">
                <a:avLst/>
              </a:prstGeom>
              <a:noFill/>
              <a:ln w="15875" cap="flat" cmpd="sng">
                <a:solidFill>
                  <a:schemeClr val="tx1">
                    <a:lumMod val="65000"/>
                    <a:lumOff val="35000"/>
                  </a:schemeClr>
                </a:solidFill>
                <a:prstDash val="solid"/>
                <a:round/>
                <a:headEnd/>
                <a:tailEnd type="triangle"/>
              </a:ln>
              <a:effectLst/>
            </p:spPr>
          </p:cxnSp>
          <p:cxnSp>
            <p:nvCxnSpPr>
              <p:cNvPr id="21" name="直接箭头连接符 20"/>
              <p:cNvCxnSpPr/>
              <p:nvPr/>
            </p:nvCxnSpPr>
            <p:spPr>
              <a:xfrm flipV="1">
                <a:off x="4740267" y="4006337"/>
                <a:ext cx="404877" cy="8849"/>
              </a:xfrm>
              <a:prstGeom prst="straightConnector1">
                <a:avLst/>
              </a:prstGeom>
              <a:noFill/>
              <a:ln w="15875" cap="flat" cmpd="sng">
                <a:solidFill>
                  <a:schemeClr val="tx1">
                    <a:lumMod val="65000"/>
                    <a:lumOff val="35000"/>
                  </a:schemeClr>
                </a:solidFill>
                <a:prstDash val="solid"/>
                <a:round/>
                <a:headEnd/>
                <a:tailEnd type="triangle"/>
              </a:ln>
              <a:effectLst/>
            </p:spPr>
          </p:cxnSp>
          <mc:AlternateContent xmlns:mc="http://schemas.openxmlformats.org/markup-compatibility/2006" xmlns:a14="http://schemas.microsoft.com/office/drawing/2010/main">
            <mc:Choice Requires="a14">
              <p:sp>
                <p:nvSpPr>
                  <p:cNvPr id="22" name="矩形 21"/>
                  <p:cNvSpPr/>
                  <p:nvPr/>
                </p:nvSpPr>
                <p:spPr>
                  <a:xfrm>
                    <a:off x="3087220" y="3106035"/>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1,1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1" name="矩形 90"/>
                  <p:cNvSpPr>
                    <a:spLocks noRot="1" noChangeAspect="1" noMove="1" noResize="1" noEditPoints="1" noAdjustHandles="1" noChangeArrowheads="1" noChangeShapeType="1" noTextEdit="1"/>
                  </p:cNvSpPr>
                  <p:nvPr/>
                </p:nvSpPr>
                <p:spPr>
                  <a:xfrm>
                    <a:off x="3087220" y="3106035"/>
                    <a:ext cx="792088" cy="414857"/>
                  </a:xfrm>
                  <a:prstGeom prst="rect">
                    <a:avLst/>
                  </a:prstGeom>
                  <a:blipFill>
                    <a:blip r:embed="rId3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2952313" y="3645501"/>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2,1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2" name="矩形 91"/>
                  <p:cNvSpPr>
                    <a:spLocks noRot="1" noChangeAspect="1" noMove="1" noResize="1" noEditPoints="1" noAdjustHandles="1" noChangeArrowheads="1" noChangeShapeType="1" noTextEdit="1"/>
                  </p:cNvSpPr>
                  <p:nvPr/>
                </p:nvSpPr>
                <p:spPr>
                  <a:xfrm>
                    <a:off x="2952313" y="3645501"/>
                    <a:ext cx="792088" cy="414857"/>
                  </a:xfrm>
                  <a:prstGeom prst="rect">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2842498" y="4393719"/>
                    <a:ext cx="792088" cy="414857"/>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altLang="zh-CN" sz="1050" i="1" kern="0" smtClean="0">
                                  <a:latin typeface="Cambria Math" panose="02040503050406030204" pitchFamily="18" charset="0"/>
                                  <a:ea typeface="微软雅黑" panose="020B0503020204020204" pitchFamily="34" charset="-122"/>
                                </a:rPr>
                              </m:ctrlPr>
                            </m:sSubSupPr>
                            <m:e>
                              <m:r>
                                <a:rPr lang="en-US" altLang="zh-CN" sz="1050" b="0" i="1" kern="0" smtClean="0">
                                  <a:latin typeface="Cambria Math" panose="02040503050406030204" pitchFamily="18" charset="0"/>
                                  <a:ea typeface="微软雅黑" panose="020B0503020204020204" pitchFamily="34" charset="-122"/>
                                </a:rPr>
                                <m:t>𝑤</m:t>
                              </m:r>
                            </m:e>
                            <m:sub>
                              <m:r>
                                <a:rPr lang="en-US" altLang="zh-CN" sz="1050" b="0" i="1" kern="0" smtClean="0">
                                  <a:latin typeface="Cambria Math" panose="02040503050406030204" pitchFamily="18" charset="0"/>
                                  <a:ea typeface="微软雅黑" panose="020B0503020204020204" pitchFamily="34" charset="-122"/>
                                </a:rPr>
                                <m:t>3,1</m:t>
                              </m:r>
                            </m:sub>
                            <m:sup>
                              <m:r>
                                <a:rPr lang="en-US" altLang="zh-CN" sz="1050" b="0" i="1" kern="0" smtClean="0">
                                  <a:latin typeface="Cambria Math" panose="02040503050406030204" pitchFamily="18" charset="0"/>
                                  <a:ea typeface="微软雅黑" panose="020B0503020204020204" pitchFamily="34" charset="-122"/>
                                </a:rPr>
                                <m:t>(2)</m:t>
                              </m:r>
                            </m:sup>
                          </m:sSubSup>
                        </m:oMath>
                      </m:oMathPara>
                    </a14:m>
                    <a:endParaRPr lang="en-US" altLang="zh-CN" sz="105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3" name="矩形 92"/>
                  <p:cNvSpPr>
                    <a:spLocks noRot="1" noChangeAspect="1" noMove="1" noResize="1" noEditPoints="1" noAdjustHandles="1" noChangeArrowheads="1" noChangeShapeType="1" noTextEdit="1"/>
                  </p:cNvSpPr>
                  <p:nvPr/>
                </p:nvSpPr>
                <p:spPr>
                  <a:xfrm>
                    <a:off x="2842498" y="4393719"/>
                    <a:ext cx="792088" cy="414857"/>
                  </a:xfrm>
                  <a:prstGeom prst="rect">
                    <a:avLst/>
                  </a:prstGeom>
                  <a:blipFill>
                    <a:blip r:embed="rId3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3565951" y="3305505"/>
                    <a:ext cx="792088" cy="415498"/>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sz="1400" i="1" kern="0" smtClean="0">
                                  <a:latin typeface="Cambria Math" panose="02040503050406030204" pitchFamily="18" charset="0"/>
                                  <a:ea typeface="微软雅黑" panose="020B0503020204020204" pitchFamily="34" charset="-122"/>
                                </a:rPr>
                              </m:ctrlPr>
                            </m:sSubPr>
                            <m:e>
                              <m:r>
                                <a:rPr lang="en-US" altLang="zh-CN" sz="1400" b="0" i="1" kern="0" smtClean="0">
                                  <a:latin typeface="Cambria Math" panose="02040503050406030204" pitchFamily="18" charset="0"/>
                                  <a:ea typeface="微软雅黑" panose="020B0503020204020204" pitchFamily="34" charset="-122"/>
                                </a:rPr>
                                <m:t>𝑧</m:t>
                              </m:r>
                            </m:e>
                            <m:sub>
                              <m:r>
                                <a:rPr lang="en-US" altLang="zh-CN" sz="1400" b="0" i="1" kern="0" smtClean="0">
                                  <a:latin typeface="Cambria Math" panose="02040503050406030204" pitchFamily="18" charset="0"/>
                                  <a:ea typeface="微软雅黑" panose="020B0503020204020204" pitchFamily="34" charset="-122"/>
                                </a:rPr>
                                <m:t>1</m:t>
                              </m:r>
                            </m:sub>
                          </m:sSub>
                        </m:oMath>
                      </m:oMathPara>
                    </a14:m>
                    <a:endParaRPr lang="en-US" altLang="zh-CN" sz="14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94" name="矩形 93"/>
                  <p:cNvSpPr>
                    <a:spLocks noRot="1" noChangeAspect="1" noMove="1" noResize="1" noEditPoints="1" noAdjustHandles="1" noChangeArrowheads="1" noChangeShapeType="1" noTextEdit="1"/>
                  </p:cNvSpPr>
                  <p:nvPr/>
                </p:nvSpPr>
                <p:spPr>
                  <a:xfrm>
                    <a:off x="3565951" y="3305505"/>
                    <a:ext cx="792088" cy="415498"/>
                  </a:xfrm>
                  <a:prstGeom prst="rect">
                    <a:avLst/>
                  </a:prstGeom>
                  <a:blipFill rotWithShape="0">
                    <a:blip r:embed="rId36"/>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 name="矩形 9"/>
                <p:cNvSpPr/>
                <p:nvPr/>
              </p:nvSpPr>
              <p:spPr>
                <a:xfrm>
                  <a:off x="2968438" y="3656885"/>
                  <a:ext cx="792088" cy="415498"/>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sz="1400" i="1" kern="0">
                                <a:latin typeface="Cambria Math" panose="02040503050406030204" pitchFamily="18" charset="0"/>
                                <a:ea typeface="微软雅黑" panose="020B0503020204020204" pitchFamily="34" charset="-122"/>
                              </a:rPr>
                            </m:ctrlPr>
                          </m:sSubPr>
                          <m:e>
                            <m:acc>
                              <m:accPr>
                                <m:chr m:val="̂"/>
                                <m:ctrlPr>
                                  <a:rPr lang="en-US" altLang="zh-CN" sz="1400" i="1" kern="0">
                                    <a:latin typeface="Cambria Math" panose="02040503050406030204" pitchFamily="18" charset="0"/>
                                    <a:ea typeface="微软雅黑" panose="020B0503020204020204" pitchFamily="34" charset="-122"/>
                                  </a:rPr>
                                </m:ctrlPr>
                              </m:accPr>
                              <m:e>
                                <m:r>
                                  <a:rPr lang="en-US" altLang="zh-CN" sz="1400" i="1" kern="0">
                                    <a:latin typeface="Cambria Math" panose="02040503050406030204" pitchFamily="18" charset="0"/>
                                    <a:ea typeface="微软雅黑" panose="020B0503020204020204" pitchFamily="34" charset="-122"/>
                                  </a:rPr>
                                  <m:t>𝑦</m:t>
                                </m:r>
                              </m:e>
                            </m:acc>
                          </m:e>
                          <m:sub>
                            <m:r>
                              <a:rPr lang="en-US" altLang="zh-CN" sz="1400" i="1" kern="0">
                                <a:latin typeface="Cambria Math" panose="02040503050406030204" pitchFamily="18" charset="0"/>
                                <a:ea typeface="微软雅黑" panose="020B0503020204020204" pitchFamily="34" charset="-122"/>
                              </a:rPr>
                              <m:t>1</m:t>
                            </m:r>
                          </m:sub>
                        </m:sSub>
                      </m:oMath>
                    </m:oMathPara>
                  </a14:m>
                  <a:endParaRPr lang="en-US" altLang="zh-CN" sz="1400" kern="0" dirty="0">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57" name="矩形 56"/>
                <p:cNvSpPr>
                  <a:spLocks noRot="1" noChangeAspect="1" noMove="1" noResize="1" noEditPoints="1" noAdjustHandles="1" noChangeArrowheads="1" noChangeShapeType="1" noTextEdit="1"/>
                </p:cNvSpPr>
                <p:nvPr/>
              </p:nvSpPr>
              <p:spPr>
                <a:xfrm>
                  <a:off x="2968438" y="3656885"/>
                  <a:ext cx="792088" cy="415498"/>
                </a:xfrm>
                <a:prstGeom prst="rect">
                  <a:avLst/>
                </a:prstGeom>
                <a:blipFill rotWithShape="0">
                  <a:blip r:embed="rId37"/>
                  <a:stretch>
                    <a:fillRect/>
                  </a:stretch>
                </a:blipFill>
              </p:spPr>
              <p:txBody>
                <a:bodyPr/>
                <a:lstStyle/>
                <a:p>
                  <a:r>
                    <a:rPr lang="zh-CN" altLang="en-US">
                      <a:noFill/>
                    </a:rPr>
                    <a:t> </a:t>
                  </a:r>
                </a:p>
              </p:txBody>
            </p:sp>
          </mc:Fallback>
        </mc:AlternateContent>
        <p:cxnSp>
          <p:nvCxnSpPr>
            <p:cNvPr id="11" name="直接连接符 10"/>
            <p:cNvCxnSpPr>
              <a:stCxn id="16" idx="1"/>
              <a:endCxn id="16" idx="5"/>
            </p:cNvCxnSpPr>
            <p:nvPr/>
          </p:nvCxnSpPr>
          <p:spPr>
            <a:xfrm flipH="1">
              <a:off x="2731937" y="3579287"/>
              <a:ext cx="8262" cy="967880"/>
            </a:xfrm>
            <a:prstGeom prst="line">
              <a:avLst/>
            </a:prstGeom>
            <a:noFill/>
            <a:ln w="15875" cap="flat" cmpd="sng">
              <a:solidFill>
                <a:schemeClr val="tx1"/>
              </a:solidFill>
              <a:prstDash val="solid"/>
              <a:round/>
              <a:headEnd/>
              <a:tailEnd/>
            </a:ln>
            <a:effectLst/>
          </p:spPr>
        </p:cxnSp>
      </p:grpSp>
      <mc:AlternateContent xmlns:mc="http://schemas.openxmlformats.org/markup-compatibility/2006" xmlns:a14="http://schemas.microsoft.com/office/drawing/2010/main">
        <mc:Choice Requires="a14">
          <p:sp>
            <p:nvSpPr>
              <p:cNvPr id="26" name="矩形 25"/>
              <p:cNvSpPr/>
              <p:nvPr/>
            </p:nvSpPr>
            <p:spPr>
              <a:xfrm>
                <a:off x="613474" y="1431790"/>
                <a:ext cx="3725635" cy="380810"/>
              </a:xfrm>
              <a:prstGeom prst="rect">
                <a:avLst/>
              </a:prstGeom>
            </p:spPr>
            <p:txBody>
              <a:bodyPr wrap="none">
                <a:spAutoFit/>
              </a:bodyPr>
              <a:lstStyle/>
              <a:p>
                <a:pPr marL="285750" indent="-285750" latinLnBrk="1">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隐层到输出层的权值</a:t>
                </a:r>
                <a14:m>
                  <m:oMath xmlns:m="http://schemas.openxmlformats.org/officeDocument/2006/math">
                    <m:sSup>
                      <m:sSupPr>
                        <m:ctrlPr>
                          <a:rPr lang="en-US" altLang="zh-CN" i="1" ker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(2)</m:t>
                        </m:r>
                      </m:sup>
                    </m:sSup>
                  </m:oMath>
                </a14:m>
                <a:r>
                  <a:rPr lang="zh-CN" altLang="en-US" dirty="0">
                    <a:latin typeface="微软雅黑 Light" panose="020B0502040204020203" pitchFamily="34" charset="-122"/>
                    <a:ea typeface="微软雅黑 Light" panose="020B0502040204020203" pitchFamily="34" charset="-122"/>
                  </a:rPr>
                  <a:t>的更新</a:t>
                </a:r>
                <a:endParaRPr lang="zh-CN" altLang="en-US" i="0" dirty="0">
                  <a:effectLst/>
                  <a:latin typeface="微软雅黑 Light" panose="020B0502040204020203" pitchFamily="34" charset="-122"/>
                  <a:ea typeface="微软雅黑 Light" panose="020B0502040204020203" pitchFamily="34" charset="-122"/>
                </a:endParaRPr>
              </a:p>
            </p:txBody>
          </p:sp>
        </mc:Choice>
        <mc:Fallback xmlns="">
          <p:sp>
            <p:nvSpPr>
              <p:cNvPr id="26" name="矩形 25"/>
              <p:cNvSpPr>
                <a:spLocks noRot="1" noChangeAspect="1" noMove="1" noResize="1" noEditPoints="1" noAdjustHandles="1" noChangeArrowheads="1" noChangeShapeType="1" noTextEdit="1"/>
              </p:cNvSpPr>
              <p:nvPr/>
            </p:nvSpPr>
            <p:spPr>
              <a:xfrm>
                <a:off x="613474" y="1431790"/>
                <a:ext cx="3725635" cy="380810"/>
              </a:xfrm>
              <a:prstGeom prst="rect">
                <a:avLst/>
              </a:prstGeom>
              <a:blipFill rotWithShape="0">
                <a:blip r:embed="rId38"/>
                <a:stretch>
                  <a:fillRect l="-1146" t="-6452" r="-818"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2973710" y="3893240"/>
                <a:ext cx="2581403" cy="63478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333333"/>
                              </a:solidFill>
                              <a:latin typeface="Cambria Math" panose="02040503050406030204" pitchFamily="18" charset="0"/>
                              <a:ea typeface="微软雅黑" panose="020B0503020204020204" pitchFamily="34" charset="-122"/>
                            </a:rPr>
                          </m:ctrlPr>
                        </m:sSubPr>
                        <m:e>
                          <m:r>
                            <a:rPr lang="en-US" altLang="zh-CN" b="0" i="1" smtClean="0">
                              <a:solidFill>
                                <a:srgbClr val="333333"/>
                              </a:solidFill>
                              <a:latin typeface="Cambria Math" panose="02040503050406030204" pitchFamily="18" charset="0"/>
                              <a:ea typeface="微软雅黑" panose="020B0503020204020204" pitchFamily="34" charset="-122"/>
                            </a:rPr>
                            <m:t>𝐿</m:t>
                          </m:r>
                        </m:e>
                        <m:sub>
                          <m:r>
                            <a:rPr lang="en-US" altLang="zh-CN" b="0" i="1" smtClean="0">
                              <a:solidFill>
                                <a:srgbClr val="333333"/>
                              </a:solidFill>
                              <a:latin typeface="Cambria Math" panose="02040503050406030204" pitchFamily="18" charset="0"/>
                              <a:ea typeface="微软雅黑" panose="020B0503020204020204" pitchFamily="34" charset="-122"/>
                            </a:rPr>
                            <m:t>1</m:t>
                          </m:r>
                        </m:sub>
                      </m:sSub>
                      <m:r>
                        <a:rPr lang="en-US" altLang="zh-CN" i="1">
                          <a:solidFill>
                            <a:srgbClr val="333333"/>
                          </a:solidFill>
                          <a:latin typeface="Cambria Math" panose="02040503050406030204" pitchFamily="18" charset="0"/>
                          <a:ea typeface="微软雅黑" panose="020B0503020204020204" pitchFamily="34" charset="-122"/>
                        </a:rPr>
                        <m:t>=</m:t>
                      </m:r>
                      <m:f>
                        <m:fPr>
                          <m:ctrlPr>
                            <a:rPr lang="en-US" altLang="zh-CN" i="1" smtClean="0">
                              <a:solidFill>
                                <a:srgbClr val="333333"/>
                              </a:solidFill>
                              <a:latin typeface="Cambria Math" panose="02040503050406030204" pitchFamily="18" charset="0"/>
                              <a:ea typeface="微软雅黑" panose="020B0503020204020204" pitchFamily="34" charset="-122"/>
                            </a:rPr>
                          </m:ctrlPr>
                        </m:fPr>
                        <m:num>
                          <m:r>
                            <a:rPr lang="en-US" altLang="zh-CN" b="0" i="1" smtClean="0">
                              <a:solidFill>
                                <a:srgbClr val="333333"/>
                              </a:solidFill>
                              <a:latin typeface="Cambria Math" panose="02040503050406030204" pitchFamily="18" charset="0"/>
                              <a:ea typeface="微软雅黑" panose="020B0503020204020204" pitchFamily="34" charset="-122"/>
                            </a:rPr>
                            <m:t>1</m:t>
                          </m:r>
                        </m:num>
                        <m:den>
                          <m:r>
                            <a:rPr lang="en-US" altLang="zh-CN" b="0" i="1" smtClean="0">
                              <a:solidFill>
                                <a:srgbClr val="333333"/>
                              </a:solidFill>
                              <a:latin typeface="Cambria Math" panose="02040503050406030204" pitchFamily="18" charset="0"/>
                              <a:ea typeface="微软雅黑" panose="020B0503020204020204" pitchFamily="34" charset="-122"/>
                            </a:rPr>
                            <m:t>2</m:t>
                          </m:r>
                        </m:den>
                      </m:f>
                      <m:sSup>
                        <m:sSupPr>
                          <m:ctrlPr>
                            <a:rPr lang="en-US" altLang="zh-CN" i="1" smtClean="0">
                              <a:solidFill>
                                <a:srgbClr val="333333"/>
                              </a:solidFill>
                              <a:latin typeface="Cambria Math" panose="02040503050406030204" pitchFamily="18" charset="0"/>
                              <a:ea typeface="微软雅黑" panose="020B0503020204020204" pitchFamily="34" charset="-122"/>
                            </a:rPr>
                          </m:ctrlPr>
                        </m:sSupPr>
                        <m:e>
                          <m:r>
                            <a:rPr lang="zh-CN" altLang="en-US"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1</m:t>
                              </m:r>
                            </m:sub>
                          </m:sSub>
                          <m:r>
                            <a:rPr lang="en-US" altLang="zh-CN" b="0" i="1" kern="0" smtClea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r>
                            <a:rPr lang="zh-CN" altLang="en-US" i="1">
                              <a:solidFill>
                                <a:srgbClr val="333333"/>
                              </a:solidFill>
                              <a:latin typeface="Cambria Math" panose="02040503050406030204" pitchFamily="18" charset="0"/>
                              <a:ea typeface="微软雅黑" panose="020B0503020204020204" pitchFamily="34" charset="-122"/>
                            </a:rPr>
                            <m:t>）</m:t>
                          </m:r>
                        </m:e>
                        <m:sup>
                          <m:r>
                            <a:rPr lang="en-US" altLang="zh-CN" b="0" i="1" smtClean="0">
                              <a:solidFill>
                                <a:srgbClr val="333333"/>
                              </a:solidFill>
                              <a:latin typeface="Cambria Math" panose="02040503050406030204" pitchFamily="18" charset="0"/>
                              <a:ea typeface="微软雅黑" panose="020B0503020204020204" pitchFamily="34" charset="-122"/>
                            </a:rPr>
                            <m:t>2</m:t>
                          </m:r>
                        </m:sup>
                      </m:sSup>
                    </m:oMath>
                  </m:oMathPara>
                </a14:m>
                <a:endParaRPr lang="zh-CN" altLang="en-US" dirty="0"/>
              </a:p>
            </p:txBody>
          </p:sp>
        </mc:Choice>
        <mc:Fallback xmlns="">
          <p:sp>
            <p:nvSpPr>
              <p:cNvPr id="27" name="矩形 26"/>
              <p:cNvSpPr>
                <a:spLocks noRot="1" noChangeAspect="1" noMove="1" noResize="1" noEditPoints="1" noAdjustHandles="1" noChangeArrowheads="1" noChangeShapeType="1" noTextEdit="1"/>
              </p:cNvSpPr>
              <p:nvPr/>
            </p:nvSpPr>
            <p:spPr>
              <a:xfrm>
                <a:off x="2973710" y="3893240"/>
                <a:ext cx="2581403" cy="634789"/>
              </a:xfrm>
              <a:prstGeom prst="rect">
                <a:avLst/>
              </a:prstGeom>
              <a:blipFill rotWithShape="0">
                <a:blip r:embed="rId3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3227322" y="4747831"/>
                <a:ext cx="1578574" cy="369332"/>
              </a:xfrm>
              <a:prstGeom prst="rect">
                <a:avLst/>
              </a:prstGeom>
            </p:spPr>
            <p:txBody>
              <a:bodyPr wrap="none">
                <a:spAutoFit/>
              </a:bodyPr>
              <a:lstStyle/>
              <a:p>
                <a14:m>
                  <m:oMath xmlns:m="http://schemas.openxmlformats.org/officeDocument/2006/math">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b="0" i="1" smtClean="0">
                        <a:solidFill>
                          <a:srgbClr val="333333"/>
                        </a:solidFill>
                        <a:latin typeface="Cambria Math" panose="02040503050406030204" pitchFamily="18" charset="0"/>
                        <a:ea typeface="微软雅黑" panose="020B0503020204020204" pitchFamily="34" charset="-122"/>
                      </a:rPr>
                      <m:t>(</m:t>
                    </m:r>
                    <m:r>
                      <a:rPr lang="en-US" altLang="zh-CN" b="1" i="1" smtClean="0">
                        <a:solidFill>
                          <a:srgbClr val="333333"/>
                        </a:solidFill>
                        <a:latin typeface="Cambria Math" panose="02040503050406030204" pitchFamily="18" charset="0"/>
                        <a:ea typeface="微软雅黑" panose="020B0503020204020204" pitchFamily="34" charset="-122"/>
                      </a:rPr>
                      <m:t>𝒘</m:t>
                    </m:r>
                    <m:r>
                      <a:rPr lang="en-US" altLang="zh-CN" b="0" i="1" smtClean="0">
                        <a:solidFill>
                          <a:srgbClr val="333333"/>
                        </a:solidFill>
                        <a:latin typeface="Cambria Math" panose="02040503050406030204" pitchFamily="18" charset="0"/>
                        <a:ea typeface="微软雅黑" panose="020B0503020204020204" pitchFamily="34" charset="-122"/>
                      </a:rPr>
                      <m:t>)</m:t>
                    </m:r>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a:solidFill>
                              <a:srgbClr val="333333"/>
                            </a:solidFill>
                            <a:latin typeface="Cambria Math" panose="02040503050406030204" pitchFamily="18" charset="0"/>
                            <a:ea typeface="微软雅黑" panose="020B0503020204020204" pitchFamily="34" charset="-122"/>
                          </a:rPr>
                        </m:ctrlPr>
                      </m:sSubPr>
                      <m:e>
                        <m:r>
                          <a:rPr lang="en-US" altLang="zh-CN" b="0" i="1" smtClean="0">
                            <a:solidFill>
                              <a:srgbClr val="333333"/>
                            </a:solidFill>
                            <a:latin typeface="Cambria Math" panose="02040503050406030204" pitchFamily="18" charset="0"/>
                            <a:ea typeface="微软雅黑" panose="020B0503020204020204" pitchFamily="34" charset="-122"/>
                          </a:rPr>
                          <m:t>𝐿</m:t>
                        </m:r>
                      </m:e>
                      <m:sub>
                        <m:r>
                          <a:rPr lang="en-US" altLang="zh-CN" i="1">
                            <a:solidFill>
                              <a:srgbClr val="333333"/>
                            </a:solidFill>
                            <a:latin typeface="Cambria Math" panose="02040503050406030204" pitchFamily="18" charset="0"/>
                            <a:ea typeface="微软雅黑" panose="020B0503020204020204" pitchFamily="34" charset="-122"/>
                          </a:rPr>
                          <m:t>1</m:t>
                        </m:r>
                      </m:sub>
                    </m:sSub>
                  </m:oMath>
                </a14:m>
                <a:r>
                  <a:rPr lang="en-US" altLang="zh-CN" dirty="0"/>
                  <a:t>+</a:t>
                </a:r>
                <a14:m>
                  <m:oMath xmlns:m="http://schemas.openxmlformats.org/officeDocument/2006/math">
                    <m:sSub>
                      <m:sSubPr>
                        <m:ctrlPr>
                          <a:rPr lang="en-US" altLang="zh-CN" i="1">
                            <a:solidFill>
                              <a:srgbClr val="333333"/>
                            </a:solidFill>
                            <a:latin typeface="Cambria Math" panose="02040503050406030204" pitchFamily="18" charset="0"/>
                            <a:ea typeface="微软雅黑" panose="020B0503020204020204" pitchFamily="34" charset="-122"/>
                          </a:rPr>
                        </m:ctrlPr>
                      </m:sSubPr>
                      <m:e>
                        <m:r>
                          <a:rPr lang="en-US" altLang="zh-CN" b="0" i="1" smtClean="0">
                            <a:solidFill>
                              <a:srgbClr val="333333"/>
                            </a:solidFill>
                            <a:latin typeface="Cambria Math" panose="02040503050406030204" pitchFamily="18" charset="0"/>
                            <a:ea typeface="微软雅黑" panose="020B0503020204020204" pitchFamily="34" charset="-122"/>
                          </a:rPr>
                          <m:t>𝐿</m:t>
                        </m:r>
                      </m:e>
                      <m:sub>
                        <m:r>
                          <a:rPr lang="en-US" altLang="zh-CN" b="0" i="1" smtClean="0">
                            <a:solidFill>
                              <a:srgbClr val="333333"/>
                            </a:solidFill>
                            <a:latin typeface="Cambria Math" panose="02040503050406030204" pitchFamily="18" charset="0"/>
                            <a:ea typeface="微软雅黑" panose="020B0503020204020204" pitchFamily="34" charset="-122"/>
                          </a:rPr>
                          <m:t>2</m:t>
                        </m:r>
                      </m:sub>
                    </m:sSub>
                  </m:oMath>
                </a14:m>
                <a:endParaRPr lang="zh-CN" altLang="en-US" dirty="0"/>
              </a:p>
            </p:txBody>
          </p:sp>
        </mc:Choice>
        <mc:Fallback xmlns="">
          <p:sp>
            <p:nvSpPr>
              <p:cNvPr id="28" name="矩形 27"/>
              <p:cNvSpPr>
                <a:spLocks noRot="1" noChangeAspect="1" noMove="1" noResize="1" noEditPoints="1" noAdjustHandles="1" noChangeArrowheads="1" noChangeShapeType="1" noTextEdit="1"/>
              </p:cNvSpPr>
              <p:nvPr/>
            </p:nvSpPr>
            <p:spPr>
              <a:xfrm>
                <a:off x="3227322" y="4747831"/>
                <a:ext cx="1578574" cy="369332"/>
              </a:xfrm>
              <a:prstGeom prst="rect">
                <a:avLst/>
              </a:prstGeom>
              <a:blipFill rotWithShape="0">
                <a:blip r:embed="rId40"/>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椭圆 29"/>
              <p:cNvSpPr/>
              <p:nvPr/>
            </p:nvSpPr>
            <p:spPr>
              <a:xfrm>
                <a:off x="1227254" y="4747831"/>
                <a:ext cx="576064" cy="576064"/>
              </a:xfrm>
              <a:prstGeom prst="ellipse">
                <a:avLst/>
              </a:prstGeom>
              <a:noFill/>
              <a:ln w="28575">
                <a:solidFill>
                  <a:srgbClr val="FFFF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30" name="椭圆 29"/>
              <p:cNvSpPr>
                <a:spLocks noRot="1" noChangeAspect="1" noMove="1" noResize="1" noEditPoints="1" noAdjustHandles="1" noChangeArrowheads="1" noChangeShapeType="1" noTextEdit="1"/>
              </p:cNvSpPr>
              <p:nvPr/>
            </p:nvSpPr>
            <p:spPr>
              <a:xfrm>
                <a:off x="1227254" y="4747831"/>
                <a:ext cx="576064" cy="576064"/>
              </a:xfrm>
              <a:prstGeom prst="ellipse">
                <a:avLst/>
              </a:prstGeom>
              <a:blipFill rotWithShape="0">
                <a:blip r:embed="rId41"/>
                <a:stretch>
                  <a:fillRect/>
                </a:stretch>
              </a:blipFill>
              <a:ln w="28575">
                <a:solidFill>
                  <a:srgbClr val="FFFF00"/>
                </a:solidFill>
                <a:prstDash val="sysDash"/>
              </a:ln>
            </p:spPr>
            <p:txBody>
              <a:bodyPr/>
              <a:lstStyle/>
              <a:p>
                <a:r>
                  <a:rPr lang="zh-CN" altLang="en-US">
                    <a:noFill/>
                  </a:rPr>
                  <a:t> </a:t>
                </a:r>
              </a:p>
            </p:txBody>
          </p:sp>
        </mc:Fallback>
      </mc:AlternateContent>
      <p:cxnSp>
        <p:nvCxnSpPr>
          <p:cNvPr id="31" name="直接箭头连接符 30"/>
          <p:cNvCxnSpPr>
            <a:stCxn id="30" idx="7"/>
            <a:endCxn id="16" idx="3"/>
          </p:cNvCxnSpPr>
          <p:nvPr/>
        </p:nvCxnSpPr>
        <p:spPr>
          <a:xfrm flipV="1">
            <a:off x="1718955" y="3303409"/>
            <a:ext cx="396046" cy="1528785"/>
          </a:xfrm>
          <a:prstGeom prst="straightConnector1">
            <a:avLst/>
          </a:prstGeom>
          <a:noFill/>
          <a:ln w="15875" cap="flat" cmpd="sng">
            <a:solidFill>
              <a:schemeClr val="tx1">
                <a:lumMod val="65000"/>
                <a:lumOff val="35000"/>
              </a:schemeClr>
            </a:solidFill>
            <a:prstDash val="sysDash"/>
            <a:round/>
            <a:headEnd/>
            <a:tailEnd type="triangle"/>
          </a:ln>
          <a:effectLst/>
        </p:spPr>
      </p:cxnSp>
      <mc:AlternateContent xmlns:mc="http://schemas.openxmlformats.org/markup-compatibility/2006" xmlns:a14="http://schemas.microsoft.com/office/drawing/2010/main">
        <mc:Choice Requires="a14">
          <p:sp>
            <p:nvSpPr>
              <p:cNvPr id="32" name="矩形 31"/>
              <p:cNvSpPr/>
              <p:nvPr/>
            </p:nvSpPr>
            <p:spPr>
              <a:xfrm>
                <a:off x="613473" y="5187449"/>
                <a:ext cx="5646649" cy="106118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solidFill>
                      <a:srgbClr val="333333"/>
                    </a:solidFill>
                    <a:latin typeface="微软雅黑 Light" panose="020B0502040204020203" pitchFamily="34" charset="-122"/>
                    <a:ea typeface="微软雅黑 Light" panose="020B0502040204020203" pitchFamily="34" charset="-122"/>
                  </a:rPr>
                  <a:t>以 </a:t>
                </a:r>
                <a14:m>
                  <m:oMath xmlns:m="http://schemas.openxmlformats.org/officeDocument/2006/math">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r>
                          <a:rPr lang="en-US" altLang="zh-CN" i="1" kern="0">
                            <a:latin typeface="Cambria Math" panose="02040503050406030204" pitchFamily="18" charset="0"/>
                            <a:ea typeface="微软雅黑" panose="020B0503020204020204" pitchFamily="34" charset="-122"/>
                          </a:rPr>
                          <m:t>(2)</m:t>
                        </m:r>
                      </m:sup>
                    </m:sSubSup>
                  </m:oMath>
                </a14:m>
                <a:r>
                  <a:rPr lang="en-US" altLang="zh-CN" dirty="0">
                    <a:solidFill>
                      <a:srgbClr val="333333"/>
                    </a:solidFill>
                    <a:latin typeface="微软雅黑 Light" panose="020B0502040204020203" pitchFamily="34" charset="-122"/>
                    <a:ea typeface="微软雅黑 Light" panose="020B0502040204020203" pitchFamily="34" charset="-122"/>
                  </a:rPr>
                  <a:t>(</a:t>
                </a:r>
                <a:r>
                  <a:rPr lang="zh-CN" altLang="en-US" dirty="0">
                    <a:solidFill>
                      <a:srgbClr val="333333"/>
                    </a:solidFill>
                    <a:latin typeface="微软雅黑 Light" panose="020B0502040204020203" pitchFamily="34" charset="-122"/>
                    <a:ea typeface="微软雅黑 Light" panose="020B0502040204020203" pitchFamily="34" charset="-122"/>
                  </a:rPr>
                  <a:t>记为 </a:t>
                </a:r>
                <a14:m>
                  <m:oMath xmlns:m="http://schemas.openxmlformats.org/officeDocument/2006/math">
                    <m:r>
                      <a:rPr lang="zh-CN" altLang="en-US" i="1" kern="0" smtClean="0">
                        <a:latin typeface="Cambria Math" panose="02040503050406030204" pitchFamily="18" charset="0"/>
                        <a:ea typeface="微软雅黑" panose="020B0503020204020204" pitchFamily="34" charset="-122"/>
                      </a:rPr>
                      <m:t>𝜔</m:t>
                    </m:r>
                  </m:oMath>
                </a14:m>
                <a:r>
                  <a:rPr lang="en-US" altLang="zh-CN" dirty="0">
                    <a:solidFill>
                      <a:srgbClr val="333333"/>
                    </a:solidFill>
                    <a:latin typeface="微软雅黑 Light" panose="020B0502040204020203" pitchFamily="34" charset="-122"/>
                    <a:ea typeface="微软雅黑 Light" panose="020B0502040204020203" pitchFamily="34" charset="-122"/>
                  </a:rPr>
                  <a:t>)</a:t>
                </a:r>
                <a:r>
                  <a:rPr lang="zh-CN" altLang="en-US" dirty="0">
                    <a:solidFill>
                      <a:srgbClr val="333333"/>
                    </a:solidFill>
                    <a:latin typeface="微软雅黑 Light" panose="020B0502040204020203" pitchFamily="34" charset="-122"/>
                    <a:ea typeface="微软雅黑 Light" panose="020B0502040204020203" pitchFamily="34" charset="-122"/>
                  </a:rPr>
                  <a:t> 参数为例子，计算 </a:t>
                </a:r>
                <a14:m>
                  <m:oMath xmlns:m="http://schemas.openxmlformats.org/officeDocument/2006/math">
                    <m:r>
                      <a:rPr lang="zh-CN" altLang="en-US" i="1" kern="0">
                        <a:latin typeface="Cambria Math" panose="02040503050406030204" pitchFamily="18" charset="0"/>
                        <a:ea typeface="微软雅黑" panose="020B0503020204020204" pitchFamily="34" charset="-122"/>
                      </a:rPr>
                      <m:t>𝜔</m:t>
                    </m:r>
                  </m:oMath>
                </a14:m>
                <a:r>
                  <a:rPr lang="zh-CN" altLang="en-US" dirty="0">
                    <a:solidFill>
                      <a:srgbClr val="333333"/>
                    </a:solidFill>
                    <a:latin typeface="微软雅黑 Light" panose="020B0502040204020203" pitchFamily="34" charset="-122"/>
                    <a:ea typeface="微软雅黑 Light" panose="020B0502040204020203" pitchFamily="34" charset="-122"/>
                  </a:rPr>
                  <a:t> 对整体误差的影响有多大，可以使用整体误差对 </a:t>
                </a:r>
                <a14:m>
                  <m:oMath xmlns:m="http://schemas.openxmlformats.org/officeDocument/2006/math">
                    <m:r>
                      <a:rPr lang="zh-CN" altLang="en-US" i="1" kern="0">
                        <a:latin typeface="Cambria Math" panose="02040503050406030204" pitchFamily="18" charset="0"/>
                        <a:ea typeface="微软雅黑" panose="020B0503020204020204" pitchFamily="34" charset="-122"/>
                      </a:rPr>
                      <m:t>𝜔</m:t>
                    </m:r>
                  </m:oMath>
                </a14:m>
                <a:r>
                  <a:rPr lang="zh-CN" altLang="en-US" dirty="0">
                    <a:solidFill>
                      <a:srgbClr val="333333"/>
                    </a:solidFill>
                    <a:latin typeface="微软雅黑 Light" panose="020B0502040204020203" pitchFamily="34" charset="-122"/>
                    <a:ea typeface="微软雅黑 Light" panose="020B0502040204020203" pitchFamily="34" charset="-122"/>
                  </a:rPr>
                  <a:t> 参数求偏导</a:t>
                </a:r>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32" name="矩形 31"/>
              <p:cNvSpPr>
                <a:spLocks noRot="1" noChangeAspect="1" noMove="1" noResize="1" noEditPoints="1" noAdjustHandles="1" noChangeArrowheads="1" noChangeShapeType="1" noTextEdit="1"/>
              </p:cNvSpPr>
              <p:nvPr/>
            </p:nvSpPr>
            <p:spPr>
              <a:xfrm>
                <a:off x="613473" y="5187449"/>
                <a:ext cx="5646649" cy="1061188"/>
              </a:xfrm>
              <a:prstGeom prst="rect">
                <a:avLst/>
              </a:prstGeom>
              <a:blipFill rotWithShape="0">
                <a:blip r:embed="rId42"/>
                <a:stretch>
                  <a:fillRect l="-756" r="-864" b="-40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5906946" y="1438619"/>
                <a:ext cx="7128792" cy="369332"/>
              </a:xfrm>
              <a:prstGeom prst="rect">
                <a:avLst/>
              </a:prstGeom>
            </p:spPr>
            <p:txBody>
              <a:bodyPr wrap="square">
                <a:spAutoFit/>
              </a:bodyPr>
              <a:lstStyle/>
              <a:p>
                <a:pPr marL="285750" indent="-285750">
                  <a:buFont typeface="Wingdings" panose="05000000000000000000" pitchFamily="2" charset="2"/>
                  <a:buChar char="Ø"/>
                </a:pPr>
                <a:r>
                  <a:rPr lang="zh-CN" altLang="en-US" dirty="0">
                    <a:solidFill>
                      <a:srgbClr val="333333"/>
                    </a:solidFill>
                    <a:latin typeface="微软雅黑 Light" panose="020B0502040204020203" pitchFamily="34" charset="-122"/>
                    <a:ea typeface="微软雅黑 Light" panose="020B0502040204020203" pitchFamily="34" charset="-122"/>
                  </a:rPr>
                  <a:t>根据偏导数的链式法则由</a:t>
                </a:r>
                <a14:m>
                  <m:oMath xmlns:m="http://schemas.openxmlformats.org/officeDocument/2006/math">
                    <m:r>
                      <a:rPr lang="zh-CN" altLang="en-US" i="1" kern="0">
                        <a:latin typeface="Cambria Math" panose="02040503050406030204" pitchFamily="18" charset="0"/>
                        <a:ea typeface="微软雅黑" panose="020B0503020204020204" pitchFamily="34" charset="-122"/>
                      </a:rPr>
                      <m:t>𝜔</m:t>
                    </m:r>
                    <m:r>
                      <a:rPr lang="en-US" altLang="zh-CN" b="0" i="1" kern="0" smtClean="0">
                        <a:latin typeface="Cambria Math" panose="02040503050406030204" pitchFamily="18" charset="0"/>
                        <a:ea typeface="微软雅黑" panose="020B0503020204020204" pitchFamily="34" charset="-122"/>
                      </a:rPr>
                      <m:t> </m:t>
                    </m:r>
                    <m:r>
                      <a:rPr lang="zh-CN" altLang="en-US" i="1" kern="0">
                        <a:latin typeface="Cambria Math" panose="02040503050406030204" pitchFamily="18" charset="0"/>
                        <a:ea typeface="微软雅黑" panose="020B0503020204020204" pitchFamily="34" charset="-122"/>
                      </a:rPr>
                      <m:t>对</m:t>
                    </m:r>
                    <m:r>
                      <a:rPr lang="en-US" altLang="zh-CN" b="0" i="1" kern="0" smtClean="0">
                        <a:latin typeface="Cambria Math" panose="02040503050406030204" pitchFamily="18" charset="0"/>
                        <a:ea typeface="微软雅黑" panose="020B0503020204020204" pitchFamily="34" charset="-122"/>
                      </a:rPr>
                      <m:t> </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oMath>
                </a14:m>
                <a:r>
                  <a:rPr lang="zh-CN" altLang="en-US" dirty="0">
                    <a:latin typeface="微软雅黑 Light" panose="020B0502040204020203" pitchFamily="34" charset="-122"/>
                    <a:ea typeface="微软雅黑 Light" panose="020B0502040204020203" pitchFamily="34" charset="-122"/>
                  </a:rPr>
                  <a:t>的计算公式推导 </a:t>
                </a:r>
              </a:p>
            </p:txBody>
          </p:sp>
        </mc:Choice>
        <mc:Fallback xmlns="">
          <p:sp>
            <p:nvSpPr>
              <p:cNvPr id="34" name="矩形 33"/>
              <p:cNvSpPr>
                <a:spLocks noRot="1" noChangeAspect="1" noMove="1" noResize="1" noEditPoints="1" noAdjustHandles="1" noChangeArrowheads="1" noChangeShapeType="1" noTextEdit="1"/>
              </p:cNvSpPr>
              <p:nvPr/>
            </p:nvSpPr>
            <p:spPr>
              <a:xfrm>
                <a:off x="5906946" y="1438619"/>
                <a:ext cx="7128792" cy="369332"/>
              </a:xfrm>
              <a:prstGeom prst="rect">
                <a:avLst/>
              </a:prstGeom>
              <a:blipFill rotWithShape="0">
                <a:blip r:embed="rId43"/>
                <a:stretch>
                  <a:fillRect l="-599" t="-9836"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5906946" y="1949918"/>
                <a:ext cx="4235774" cy="66582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333333"/>
                              </a:solidFill>
                              <a:latin typeface="Cambria Math" panose="02040503050406030204" pitchFamily="18" charset="0"/>
                              <a:ea typeface="微软雅黑" panose="020B0503020204020204" pitchFamily="34" charset="-122"/>
                            </a:rPr>
                          </m:ctrlPr>
                        </m:fPr>
                        <m:num>
                          <m:r>
                            <a:rPr lang="en-US" altLang="zh-CN" i="1" smtClean="0">
                              <a:solidFill>
                                <a:srgbClr val="333333"/>
                              </a:solidFill>
                              <a:latin typeface="Cambria Math" panose="02040503050406030204" pitchFamily="18" charset="0"/>
                              <a:ea typeface="微软雅黑" panose="020B0503020204020204" pitchFamily="34" charset="-122"/>
                            </a:rPr>
                            <m:t>𝜕</m:t>
                          </m:r>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b="0" i="1" smtClean="0">
                              <a:solidFill>
                                <a:srgbClr val="333333"/>
                              </a:solidFill>
                              <a:latin typeface="Cambria Math" panose="02040503050406030204" pitchFamily="18" charset="0"/>
                              <a:ea typeface="微软雅黑" panose="020B0503020204020204" pitchFamily="34" charset="-122"/>
                            </a:rPr>
                            <m:t>(</m:t>
                          </m:r>
                          <m:r>
                            <a:rPr lang="en-US" altLang="zh-CN" b="1" i="1" smtClean="0">
                              <a:solidFill>
                                <a:srgbClr val="333333"/>
                              </a:solidFill>
                              <a:latin typeface="Cambria Math" panose="02040503050406030204" pitchFamily="18" charset="0"/>
                              <a:ea typeface="微软雅黑" panose="020B0503020204020204" pitchFamily="34" charset="-122"/>
                            </a:rPr>
                            <m:t>𝒘</m:t>
                          </m:r>
                          <m:r>
                            <a:rPr lang="en-US" altLang="zh-CN" b="0" i="1" smtClean="0">
                              <a:solidFill>
                                <a:srgbClr val="333333"/>
                              </a:solidFill>
                              <a:latin typeface="Cambria Math" panose="02040503050406030204" pitchFamily="18" charset="0"/>
                              <a:ea typeface="微软雅黑" panose="020B0503020204020204" pitchFamily="34" charset="-122"/>
                            </a:rPr>
                            <m:t>)</m:t>
                          </m:r>
                        </m:num>
                        <m:den>
                          <m:r>
                            <a:rPr lang="en-US" altLang="zh-CN" i="1" smtClean="0">
                              <a:solidFill>
                                <a:srgbClr val="333333"/>
                              </a:solidFill>
                              <a:latin typeface="Cambria Math" panose="02040503050406030204" pitchFamily="18" charset="0"/>
                              <a:ea typeface="微软雅黑" panose="020B0503020204020204" pitchFamily="34" charset="-122"/>
                            </a:rPr>
                            <m:t>𝜕</m:t>
                          </m:r>
                          <m:r>
                            <a:rPr lang="zh-CN" altLang="en-US" i="1" smtClean="0">
                              <a:solidFill>
                                <a:srgbClr val="333333"/>
                              </a:solidFill>
                              <a:latin typeface="Cambria Math" panose="02040503050406030204" pitchFamily="18" charset="0"/>
                              <a:ea typeface="微软雅黑" panose="020B0503020204020204" pitchFamily="34" charset="-122"/>
                            </a:rPr>
                            <m:t>𝜔</m:t>
                          </m:r>
                        </m:den>
                      </m:f>
                      <m:r>
                        <a:rPr lang="en-US" altLang="zh-CN" i="1">
                          <a:solidFill>
                            <a:srgbClr val="333333"/>
                          </a:solidFill>
                          <a:latin typeface="Cambria Math" panose="02040503050406030204" pitchFamily="18" charset="0"/>
                          <a:ea typeface="微软雅黑" panose="020B0503020204020204" pitchFamily="34" charset="-122"/>
                        </a:rPr>
                        <m:t>=</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b="0" i="1" smtClean="0">
                              <a:solidFill>
                                <a:srgbClr val="333333"/>
                              </a:solidFill>
                              <a:latin typeface="Cambria Math" panose="02040503050406030204" pitchFamily="18" charset="0"/>
                              <a:ea typeface="微软雅黑" panose="020B0503020204020204" pitchFamily="34" charset="-122"/>
                            </a:rPr>
                            <m:t>(</m:t>
                          </m:r>
                          <m:r>
                            <a:rPr lang="en-US" altLang="zh-CN" b="1" i="1" smtClean="0">
                              <a:solidFill>
                                <a:srgbClr val="333333"/>
                              </a:solidFill>
                              <a:latin typeface="Cambria Math" panose="02040503050406030204" pitchFamily="18" charset="0"/>
                              <a:ea typeface="微软雅黑" panose="020B0503020204020204" pitchFamily="34" charset="-122"/>
                            </a:rPr>
                            <m:t>𝒘</m:t>
                          </m:r>
                          <m:r>
                            <a:rPr lang="en-US" altLang="zh-CN" b="0" i="1" smtClean="0">
                              <a:solidFill>
                                <a:srgbClr val="333333"/>
                              </a:solidFill>
                              <a:latin typeface="Cambria Math" panose="02040503050406030204" pitchFamily="18" charset="0"/>
                              <a:ea typeface="微软雅黑" panose="020B0503020204020204" pitchFamily="34" charset="-122"/>
                            </a:rPr>
                            <m:t>)</m:t>
                          </m:r>
                        </m:num>
                        <m:den>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den>
                      </m:f>
                      <m:r>
                        <a:rPr lang="en-US" altLang="zh-CN" b="0" i="1" kern="0" smtClean="0">
                          <a:latin typeface="Cambria Math" panose="02040503050406030204" pitchFamily="18" charset="0"/>
                          <a:ea typeface="微软雅黑" panose="020B0503020204020204" pitchFamily="34" charset="-122"/>
                        </a:rPr>
                        <m:t> </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num>
                        <m:den>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den>
                      </m:f>
                      <m:r>
                        <a:rPr lang="en-US" altLang="zh-CN" b="0" i="1" smtClean="0">
                          <a:solidFill>
                            <a:srgbClr val="333333"/>
                          </a:solidFill>
                          <a:latin typeface="Cambria Math" panose="02040503050406030204" pitchFamily="18" charset="0"/>
                          <a:ea typeface="微软雅黑" panose="020B0503020204020204" pitchFamily="34" charset="-122"/>
                        </a:rPr>
                        <m:t> </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num>
                        <m:den>
                          <m:r>
                            <a:rPr lang="en-US" altLang="zh-CN" i="1">
                              <a:solidFill>
                                <a:srgbClr val="333333"/>
                              </a:solidFill>
                              <a:latin typeface="Cambria Math" panose="02040503050406030204" pitchFamily="18" charset="0"/>
                              <a:ea typeface="微软雅黑" panose="020B0503020204020204" pitchFamily="34" charset="-122"/>
                            </a:rPr>
                            <m:t>𝜕</m:t>
                          </m:r>
                          <m:r>
                            <a:rPr lang="zh-CN" altLang="en-US" i="1">
                              <a:solidFill>
                                <a:srgbClr val="333333"/>
                              </a:solidFill>
                              <a:latin typeface="Cambria Math" panose="02040503050406030204" pitchFamily="18" charset="0"/>
                              <a:ea typeface="微软雅黑" panose="020B0503020204020204" pitchFamily="34" charset="-122"/>
                            </a:rPr>
                            <m:t>𝜔</m:t>
                          </m:r>
                        </m:den>
                      </m:f>
                    </m:oMath>
                  </m:oMathPara>
                </a14:m>
                <a:endParaRPr lang="zh-CN" altLang="en-US" dirty="0"/>
              </a:p>
            </p:txBody>
          </p:sp>
        </mc:Choice>
        <mc:Fallback xmlns="">
          <p:sp>
            <p:nvSpPr>
              <p:cNvPr id="35" name="矩形 34"/>
              <p:cNvSpPr>
                <a:spLocks noRot="1" noChangeAspect="1" noMove="1" noResize="1" noEditPoints="1" noAdjustHandles="1" noChangeArrowheads="1" noChangeShapeType="1" noTextEdit="1"/>
              </p:cNvSpPr>
              <p:nvPr/>
            </p:nvSpPr>
            <p:spPr>
              <a:xfrm>
                <a:off x="5906946" y="1949918"/>
                <a:ext cx="4235774" cy="665823"/>
              </a:xfrm>
              <a:prstGeom prst="rect">
                <a:avLst/>
              </a:prstGeom>
              <a:blipFill rotWithShape="0">
                <a:blip r:embed="rId4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5540329" y="3262210"/>
                <a:ext cx="7495409" cy="66582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b="0" i="1" smtClean="0">
                              <a:solidFill>
                                <a:srgbClr val="333333"/>
                              </a:solidFill>
                              <a:latin typeface="Cambria Math" panose="02040503050406030204" pitchFamily="18" charset="0"/>
                              <a:ea typeface="微软雅黑" panose="020B0503020204020204" pitchFamily="34" charset="-122"/>
                            </a:rPr>
                            <m:t>(</m:t>
                          </m:r>
                          <m:r>
                            <a:rPr lang="en-US" altLang="zh-CN" b="1" i="1" smtClean="0">
                              <a:solidFill>
                                <a:srgbClr val="333333"/>
                              </a:solidFill>
                              <a:latin typeface="Cambria Math" panose="02040503050406030204" pitchFamily="18" charset="0"/>
                              <a:ea typeface="微软雅黑" panose="020B0503020204020204" pitchFamily="34" charset="-122"/>
                            </a:rPr>
                            <m:t>𝒘</m:t>
                          </m:r>
                          <m:r>
                            <a:rPr lang="en-US" altLang="zh-CN" b="0" i="1" smtClean="0">
                              <a:solidFill>
                                <a:srgbClr val="333333"/>
                              </a:solidFill>
                              <a:latin typeface="Cambria Math" panose="02040503050406030204" pitchFamily="18" charset="0"/>
                              <a:ea typeface="微软雅黑" panose="020B0503020204020204" pitchFamily="34" charset="-122"/>
                            </a:rPr>
                            <m:t>)</m:t>
                          </m:r>
                        </m:num>
                        <m:den>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den>
                      </m:f>
                      <m:r>
                        <a:rPr lang="en-US" altLang="zh-CN" i="1" kern="0">
                          <a:latin typeface="Cambria Math" panose="02040503050406030204" pitchFamily="18" charset="0"/>
                          <a:ea typeface="微软雅黑" panose="020B0503020204020204" pitchFamily="34" charset="-122"/>
                        </a:rPr>
                        <m:t>=−</m:t>
                      </m:r>
                      <m:d>
                        <m:dPr>
                          <m:ctrlPr>
                            <a:rPr lang="en-US" altLang="zh-CN" b="0" i="1" kern="0" smtClean="0">
                              <a:latin typeface="Cambria Math" panose="02040503050406030204" pitchFamily="18" charset="0"/>
                              <a:ea typeface="微软雅黑" panose="020B0503020204020204" pitchFamily="34" charset="-122"/>
                            </a:rPr>
                          </m:ctrlPr>
                        </m:dPr>
                        <m:e>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1</m:t>
                              </m:r>
                            </m:sub>
                          </m:sSub>
                          <m:r>
                            <a:rPr lang="en-US" altLang="zh-CN" i="1" ker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e>
                      </m:d>
                      <m:r>
                        <a:rPr lang="en-US" altLang="zh-CN" i="1" kern="0">
                          <a:latin typeface="Cambria Math" panose="02040503050406030204" pitchFamily="18" charset="0"/>
                          <a:ea typeface="微软雅黑" panose="020B0503020204020204" pitchFamily="34" charset="-122"/>
                        </a:rPr>
                        <m:t>=−</m:t>
                      </m:r>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0.9−0.7</m:t>
                          </m:r>
                          <m:r>
                            <a:rPr lang="en-US" altLang="zh-CN" b="0" i="1" kern="0" smtClean="0">
                              <a:latin typeface="Cambria Math" panose="02040503050406030204" pitchFamily="18" charset="0"/>
                              <a:ea typeface="微软雅黑" panose="020B0503020204020204" pitchFamily="34" charset="-122"/>
                            </a:rPr>
                            <m:t>609</m:t>
                          </m:r>
                        </m:e>
                      </m:d>
                      <m:r>
                        <a:rPr lang="en-US" altLang="zh-CN" i="1" kern="0">
                          <a:latin typeface="Cambria Math" panose="02040503050406030204" pitchFamily="18" charset="0"/>
                          <a:ea typeface="微软雅黑" panose="020B0503020204020204" pitchFamily="34" charset="-122"/>
                        </a:rPr>
                        <m:t>=−0.1</m:t>
                      </m:r>
                      <m:r>
                        <a:rPr lang="en-US" altLang="zh-CN" b="0" i="1" kern="0" smtClean="0">
                          <a:latin typeface="Cambria Math" panose="02040503050406030204" pitchFamily="18" charset="0"/>
                          <a:ea typeface="微软雅黑" panose="020B0503020204020204" pitchFamily="34" charset="-122"/>
                        </a:rPr>
                        <m:t>3</m:t>
                      </m:r>
                      <m:r>
                        <a:rPr lang="en-US" altLang="zh-CN" i="1" kern="0">
                          <a:latin typeface="Cambria Math" panose="02040503050406030204" pitchFamily="18" charset="0"/>
                          <a:ea typeface="微软雅黑" panose="020B0503020204020204" pitchFamily="34" charset="-122"/>
                        </a:rPr>
                        <m:t>9</m:t>
                      </m:r>
                      <m:r>
                        <a:rPr lang="en-US" altLang="zh-CN" b="0" i="1" kern="0" smtClean="0">
                          <a:latin typeface="Cambria Math" panose="02040503050406030204" pitchFamily="18" charset="0"/>
                          <a:ea typeface="微软雅黑" panose="020B0503020204020204" pitchFamily="34" charset="-122"/>
                        </a:rPr>
                        <m:t>1</m:t>
                      </m:r>
                    </m:oMath>
                  </m:oMathPara>
                </a14:m>
                <a:endParaRPr lang="zh-CN" altLang="en-US" dirty="0"/>
              </a:p>
            </p:txBody>
          </p:sp>
        </mc:Choice>
        <mc:Fallback xmlns="">
          <p:sp>
            <p:nvSpPr>
              <p:cNvPr id="36" name="矩形 35"/>
              <p:cNvSpPr>
                <a:spLocks noRot="1" noChangeAspect="1" noMove="1" noResize="1" noEditPoints="1" noAdjustHandles="1" noChangeArrowheads="1" noChangeShapeType="1" noTextEdit="1"/>
              </p:cNvSpPr>
              <p:nvPr/>
            </p:nvSpPr>
            <p:spPr>
              <a:xfrm>
                <a:off x="5540329" y="3262210"/>
                <a:ext cx="7495409" cy="665823"/>
              </a:xfrm>
              <a:prstGeom prst="rect">
                <a:avLst/>
              </a:prstGeom>
              <a:blipFill rotWithShape="0">
                <a:blip r:embed="rId4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5793973" y="4729405"/>
                <a:ext cx="7560840" cy="66582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num>
                        <m:den>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den>
                      </m:f>
                      <m:r>
                        <a:rPr lang="en-US" altLang="zh-CN" b="0" i="1" kern="0" smtClea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d>
                        <m:dPr>
                          <m:ctrlPr>
                            <a:rPr lang="en-US" altLang="zh-CN" b="0" i="1" kern="0" smtClean="0">
                              <a:latin typeface="Cambria Math" panose="02040503050406030204" pitchFamily="18" charset="0"/>
                              <a:ea typeface="微软雅黑" panose="020B0503020204020204" pitchFamily="34" charset="-122"/>
                            </a:rPr>
                          </m:ctrlPr>
                        </m:dPr>
                        <m:e>
                          <m:r>
                            <a:rPr lang="en-US" altLang="zh-CN" b="0" i="1" kern="0" smtClean="0">
                              <a:latin typeface="Cambria Math" panose="02040503050406030204" pitchFamily="18" charset="0"/>
                              <a:ea typeface="微软雅黑" panose="020B0503020204020204" pitchFamily="34" charset="-122"/>
                            </a:rPr>
                            <m:t>1−</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e>
                      </m:d>
                      <m:r>
                        <a:rPr lang="en-US" altLang="zh-CN" b="0" i="1" kern="0" smtClean="0">
                          <a:latin typeface="Cambria Math" panose="02040503050406030204" pitchFamily="18" charset="0"/>
                          <a:ea typeface="微软雅黑" panose="020B0503020204020204" pitchFamily="34" charset="-122"/>
                        </a:rPr>
                        <m:t>=</m:t>
                      </m:r>
                      <m:r>
                        <a:rPr lang="en-US" altLang="zh-CN" i="1" kern="0">
                          <a:latin typeface="Cambria Math" panose="02040503050406030204" pitchFamily="18" charset="0"/>
                          <a:ea typeface="微软雅黑" panose="020B0503020204020204" pitchFamily="34" charset="-122"/>
                        </a:rPr>
                        <m:t>0.76</m:t>
                      </m:r>
                      <m:r>
                        <a:rPr lang="en-US" altLang="zh-CN" b="0" i="1" kern="0" smtClean="0">
                          <a:latin typeface="Cambria Math" panose="02040503050406030204" pitchFamily="18" charset="0"/>
                          <a:ea typeface="微软雅黑" panose="020B0503020204020204" pitchFamily="34" charset="-122"/>
                        </a:rPr>
                        <m:t>09∗</m:t>
                      </m:r>
                      <m:d>
                        <m:dPr>
                          <m:ctrlPr>
                            <a:rPr lang="en-US" altLang="zh-CN" b="0" i="1" kern="0" smtClean="0">
                              <a:latin typeface="Cambria Math" panose="02040503050406030204" pitchFamily="18" charset="0"/>
                              <a:ea typeface="微软雅黑" panose="020B0503020204020204" pitchFamily="34" charset="-122"/>
                            </a:rPr>
                          </m:ctrlPr>
                        </m:dPr>
                        <m:e>
                          <m:r>
                            <a:rPr lang="en-US" altLang="zh-CN" b="0" i="1" kern="0" smtClean="0">
                              <a:latin typeface="Cambria Math" panose="02040503050406030204" pitchFamily="18" charset="0"/>
                              <a:ea typeface="微软雅黑" panose="020B0503020204020204" pitchFamily="34" charset="-122"/>
                            </a:rPr>
                            <m:t>1−</m:t>
                          </m:r>
                          <m:r>
                            <a:rPr lang="en-US" altLang="zh-CN" i="1" kern="0">
                              <a:latin typeface="Cambria Math" panose="02040503050406030204" pitchFamily="18" charset="0"/>
                              <a:ea typeface="微软雅黑" panose="020B0503020204020204" pitchFamily="34" charset="-122"/>
                            </a:rPr>
                            <m:t>0.7</m:t>
                          </m:r>
                          <m:r>
                            <a:rPr lang="en-US" altLang="zh-CN" b="0" i="1" kern="0" smtClean="0">
                              <a:latin typeface="Cambria Math" panose="02040503050406030204" pitchFamily="18" charset="0"/>
                              <a:ea typeface="微软雅黑" panose="020B0503020204020204" pitchFamily="34" charset="-122"/>
                            </a:rPr>
                            <m:t>609</m:t>
                          </m:r>
                        </m:e>
                      </m:d>
                      <m:r>
                        <a:rPr lang="en-US" altLang="zh-CN" b="0" i="1" kern="0" smtClean="0">
                          <a:latin typeface="Cambria Math" panose="02040503050406030204" pitchFamily="18" charset="0"/>
                          <a:ea typeface="微软雅黑" panose="020B0503020204020204" pitchFamily="34" charset="-122"/>
                        </a:rPr>
                        <m:t>=0.1819</m:t>
                      </m:r>
                    </m:oMath>
                  </m:oMathPara>
                </a14:m>
                <a:endParaRPr lang="zh-CN" altLang="en-US" dirty="0"/>
              </a:p>
            </p:txBody>
          </p:sp>
        </mc:Choice>
        <mc:Fallback xmlns="">
          <p:sp>
            <p:nvSpPr>
              <p:cNvPr id="37" name="矩形 36"/>
              <p:cNvSpPr>
                <a:spLocks noRot="1" noChangeAspect="1" noMove="1" noResize="1" noEditPoints="1" noAdjustHandles="1" noChangeArrowheads="1" noChangeShapeType="1" noTextEdit="1"/>
              </p:cNvSpPr>
              <p:nvPr/>
            </p:nvSpPr>
            <p:spPr>
              <a:xfrm>
                <a:off x="5793973" y="4729405"/>
                <a:ext cx="7560840" cy="665823"/>
              </a:xfrm>
              <a:prstGeom prst="rect">
                <a:avLst/>
              </a:prstGeom>
              <a:blipFill rotWithShape="0">
                <a:blip r:embed="rId4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p:cNvSpPr/>
              <p:nvPr/>
            </p:nvSpPr>
            <p:spPr>
              <a:xfrm>
                <a:off x="6974093" y="4020045"/>
                <a:ext cx="1610954"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r>
                        <a:rPr lang="en-US" altLang="zh-CN" b="0" i="1" kern="0" smtClean="0">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sup>
                          </m:sSup>
                        </m:den>
                      </m:f>
                    </m:oMath>
                  </m:oMathPara>
                </a14:m>
                <a:endParaRPr lang="zh-CN" altLang="en-US" dirty="0"/>
              </a:p>
            </p:txBody>
          </p:sp>
        </mc:Choice>
        <mc:Fallback xmlns="">
          <p:sp>
            <p:nvSpPr>
              <p:cNvPr id="38" name="矩形 37"/>
              <p:cNvSpPr>
                <a:spLocks noRot="1" noChangeAspect="1" noMove="1" noResize="1" noEditPoints="1" noAdjustHandles="1" noChangeArrowheads="1" noChangeShapeType="1" noTextEdit="1"/>
              </p:cNvSpPr>
              <p:nvPr/>
            </p:nvSpPr>
            <p:spPr>
              <a:xfrm>
                <a:off x="6974093" y="4020045"/>
                <a:ext cx="1610954" cy="617348"/>
              </a:xfrm>
              <a:prstGeom prst="rect">
                <a:avLst/>
              </a:prstGeom>
              <a:blipFill rotWithShape="0">
                <a:blip r:embed="rId47"/>
                <a:stretch>
                  <a:fillRect/>
                </a:stretch>
              </a:blipFill>
            </p:spPr>
            <p:txBody>
              <a:bodyPr/>
              <a:lstStyle/>
              <a:p>
                <a:r>
                  <a:rPr lang="zh-CN" altLang="en-US">
                    <a:noFill/>
                  </a:rPr>
                  <a:t> </a:t>
                </a:r>
              </a:p>
            </p:txBody>
          </p:sp>
        </mc:Fallback>
      </mc:AlternateContent>
      <p:sp>
        <p:nvSpPr>
          <p:cNvPr id="41" name="灯片编号占位符 8">
            <a:extLst>
              <a:ext uri="{FF2B5EF4-FFF2-40B4-BE49-F238E27FC236}">
                <a16:creationId xmlns:a16="http://schemas.microsoft.com/office/drawing/2014/main" id="{921A7417-D0DA-4BF5-977C-3073A2C8F058}"/>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41</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32637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反向传播</a:t>
            </a:r>
            <a:endParaRPr lang="en-US" altLang="zh-CN" sz="2600" b="1" dirty="0"/>
          </a:p>
        </p:txBody>
      </p:sp>
      <mc:AlternateContent xmlns:mc="http://schemas.openxmlformats.org/markup-compatibility/2006" xmlns:a14="http://schemas.microsoft.com/office/drawing/2010/main">
        <mc:Choice Requires="a14">
          <p:sp>
            <p:nvSpPr>
              <p:cNvPr id="8" name="矩形 7"/>
              <p:cNvSpPr/>
              <p:nvPr/>
            </p:nvSpPr>
            <p:spPr>
              <a:xfrm>
                <a:off x="632305" y="1495060"/>
                <a:ext cx="7128792" cy="369332"/>
              </a:xfrm>
              <a:prstGeom prst="rect">
                <a:avLst/>
              </a:prstGeom>
            </p:spPr>
            <p:txBody>
              <a:bodyPr wrap="square">
                <a:spAutoFit/>
              </a:bodyPr>
              <a:lstStyle/>
              <a:p>
                <a:pPr marL="285750" indent="-285750">
                  <a:buFont typeface="Wingdings" panose="05000000000000000000" pitchFamily="2" charset="2"/>
                  <a:buChar char="Ø"/>
                </a:pPr>
                <a:r>
                  <a:rPr lang="zh-CN" altLang="en-US" dirty="0">
                    <a:solidFill>
                      <a:srgbClr val="333333"/>
                    </a:solidFill>
                    <a:latin typeface="微软雅黑 Light" panose="020B0502040204020203" pitchFamily="34" charset="-122"/>
                    <a:ea typeface="微软雅黑 Light" panose="020B0502040204020203" pitchFamily="34" charset="-122"/>
                  </a:rPr>
                  <a:t>根据偏导数的链式法则由</a:t>
                </a:r>
                <a14:m>
                  <m:oMath xmlns:m="http://schemas.openxmlformats.org/officeDocument/2006/math">
                    <m:r>
                      <a:rPr lang="zh-CN" altLang="en-US" i="1" kern="0">
                        <a:latin typeface="Cambria Math" panose="02040503050406030204" pitchFamily="18" charset="0"/>
                        <a:ea typeface="微软雅黑" panose="020B0503020204020204" pitchFamily="34" charset="-122"/>
                      </a:rPr>
                      <m:t>𝜔</m:t>
                    </m:r>
                    <m:r>
                      <a:rPr lang="en-US" altLang="zh-CN" b="0" i="1" kern="0" smtClean="0">
                        <a:latin typeface="Cambria Math" panose="02040503050406030204" pitchFamily="18" charset="0"/>
                        <a:ea typeface="微软雅黑" panose="020B0503020204020204" pitchFamily="34" charset="-122"/>
                      </a:rPr>
                      <m:t> </m:t>
                    </m:r>
                    <m:r>
                      <a:rPr lang="zh-CN" altLang="en-US" i="1" kern="0">
                        <a:latin typeface="Cambria Math" panose="02040503050406030204" pitchFamily="18" charset="0"/>
                        <a:ea typeface="微软雅黑" panose="020B0503020204020204" pitchFamily="34" charset="-122"/>
                      </a:rPr>
                      <m:t>对</m:t>
                    </m:r>
                    <m:r>
                      <a:rPr lang="en-US" altLang="zh-CN" b="0" i="1" kern="0" smtClean="0">
                        <a:latin typeface="Cambria Math" panose="02040503050406030204" pitchFamily="18" charset="0"/>
                        <a:ea typeface="微软雅黑" panose="020B0503020204020204" pitchFamily="34" charset="-122"/>
                      </a:rPr>
                      <m:t> </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oMath>
                </a14:m>
                <a:r>
                  <a:rPr lang="zh-CN" altLang="en-US" dirty="0">
                    <a:latin typeface="微软雅黑 Light" panose="020B0502040204020203" pitchFamily="34" charset="-122"/>
                    <a:ea typeface="微软雅黑 Light" panose="020B0502040204020203" pitchFamily="34" charset="-122"/>
                  </a:rPr>
                  <a:t>的计算公式推导 </a:t>
                </a:r>
              </a:p>
            </p:txBody>
          </p:sp>
        </mc:Choice>
        <mc:Fallback xmlns="">
          <p:sp>
            <p:nvSpPr>
              <p:cNvPr id="8" name="矩形 7"/>
              <p:cNvSpPr>
                <a:spLocks noRot="1" noChangeAspect="1" noMove="1" noResize="1" noEditPoints="1" noAdjustHandles="1" noChangeArrowheads="1" noChangeShapeType="1" noTextEdit="1"/>
              </p:cNvSpPr>
              <p:nvPr/>
            </p:nvSpPr>
            <p:spPr>
              <a:xfrm>
                <a:off x="632305" y="1495060"/>
                <a:ext cx="7128792" cy="369332"/>
              </a:xfrm>
              <a:prstGeom prst="rect">
                <a:avLst/>
              </a:prstGeom>
              <a:blipFill rotWithShape="0">
                <a:blip r:embed="rId5"/>
                <a:stretch>
                  <a:fillRect l="-599"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70640" y="2079087"/>
                <a:ext cx="4235774" cy="66582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i="1">
                              <a:solidFill>
                                <a:srgbClr val="333333"/>
                              </a:solidFill>
                              <a:latin typeface="Cambria Math" panose="02040503050406030204" pitchFamily="18" charset="0"/>
                              <a:ea typeface="微软雅黑" panose="020B0503020204020204" pitchFamily="34" charset="-122"/>
                            </a:rPr>
                            <m:t>(</m:t>
                          </m:r>
                          <m:r>
                            <a:rPr lang="en-US" altLang="zh-CN" b="1" i="1">
                              <a:solidFill>
                                <a:srgbClr val="333333"/>
                              </a:solidFill>
                              <a:latin typeface="Cambria Math" panose="02040503050406030204" pitchFamily="18" charset="0"/>
                              <a:ea typeface="微软雅黑" panose="020B0503020204020204" pitchFamily="34" charset="-122"/>
                            </a:rPr>
                            <m:t>𝒘</m:t>
                          </m:r>
                          <m:r>
                            <a:rPr lang="en-US" altLang="zh-CN" i="1">
                              <a:solidFill>
                                <a:srgbClr val="333333"/>
                              </a:solidFill>
                              <a:latin typeface="Cambria Math" panose="02040503050406030204" pitchFamily="18" charset="0"/>
                              <a:ea typeface="微软雅黑" panose="020B0503020204020204" pitchFamily="34" charset="-122"/>
                            </a:rPr>
                            <m:t>)</m:t>
                          </m:r>
                        </m:num>
                        <m:den>
                          <m:r>
                            <a:rPr lang="en-US" altLang="zh-CN" i="1">
                              <a:solidFill>
                                <a:srgbClr val="333333"/>
                              </a:solidFill>
                              <a:latin typeface="Cambria Math" panose="02040503050406030204" pitchFamily="18" charset="0"/>
                              <a:ea typeface="微软雅黑" panose="020B0503020204020204" pitchFamily="34" charset="-122"/>
                            </a:rPr>
                            <m:t>𝜕</m:t>
                          </m:r>
                          <m:r>
                            <a:rPr lang="zh-CN" altLang="en-US" i="1">
                              <a:solidFill>
                                <a:srgbClr val="333333"/>
                              </a:solidFill>
                              <a:latin typeface="Cambria Math" panose="02040503050406030204" pitchFamily="18" charset="0"/>
                              <a:ea typeface="微软雅黑" panose="020B0503020204020204" pitchFamily="34" charset="-122"/>
                            </a:rPr>
                            <m:t>𝜔</m:t>
                          </m:r>
                        </m:den>
                      </m:f>
                      <m:r>
                        <a:rPr lang="en-US" altLang="zh-CN" i="1">
                          <a:solidFill>
                            <a:srgbClr val="333333"/>
                          </a:solidFill>
                          <a:latin typeface="Cambria Math" panose="02040503050406030204" pitchFamily="18" charset="0"/>
                          <a:ea typeface="微软雅黑" panose="020B0503020204020204" pitchFamily="34" charset="-122"/>
                        </a:rPr>
                        <m:t>=</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i="1">
                              <a:solidFill>
                                <a:srgbClr val="333333"/>
                              </a:solidFill>
                              <a:latin typeface="Cambria Math" panose="02040503050406030204" pitchFamily="18" charset="0"/>
                              <a:ea typeface="微软雅黑" panose="020B0503020204020204" pitchFamily="34" charset="-122"/>
                            </a:rPr>
                            <m:t>(</m:t>
                          </m:r>
                          <m:r>
                            <a:rPr lang="en-US" altLang="zh-CN" b="1" i="1">
                              <a:solidFill>
                                <a:srgbClr val="333333"/>
                              </a:solidFill>
                              <a:latin typeface="Cambria Math" panose="02040503050406030204" pitchFamily="18" charset="0"/>
                              <a:ea typeface="微软雅黑" panose="020B0503020204020204" pitchFamily="34" charset="-122"/>
                            </a:rPr>
                            <m:t>𝒘</m:t>
                          </m:r>
                          <m:r>
                            <a:rPr lang="en-US" altLang="zh-CN" i="1">
                              <a:solidFill>
                                <a:srgbClr val="333333"/>
                              </a:solidFill>
                              <a:latin typeface="Cambria Math" panose="02040503050406030204" pitchFamily="18" charset="0"/>
                              <a:ea typeface="微软雅黑" panose="020B0503020204020204" pitchFamily="34" charset="-122"/>
                            </a:rPr>
                            <m:t>)</m:t>
                          </m:r>
                        </m:num>
                        <m:den>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den>
                      </m:f>
                      <m:r>
                        <a:rPr lang="en-US" altLang="zh-CN" i="1" kern="0">
                          <a:latin typeface="Cambria Math" panose="02040503050406030204" pitchFamily="18" charset="0"/>
                          <a:ea typeface="微软雅黑" panose="020B0503020204020204" pitchFamily="34" charset="-122"/>
                        </a:rPr>
                        <m:t> </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num>
                        <m:den>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den>
                      </m:f>
                      <m:r>
                        <a:rPr lang="en-US" altLang="zh-CN" i="1">
                          <a:solidFill>
                            <a:srgbClr val="333333"/>
                          </a:solidFill>
                          <a:latin typeface="Cambria Math" panose="02040503050406030204" pitchFamily="18" charset="0"/>
                          <a:ea typeface="微软雅黑" panose="020B0503020204020204" pitchFamily="34" charset="-122"/>
                        </a:rPr>
                        <m:t> </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num>
                        <m:den>
                          <m:r>
                            <a:rPr lang="en-US" altLang="zh-CN" i="1">
                              <a:solidFill>
                                <a:srgbClr val="333333"/>
                              </a:solidFill>
                              <a:latin typeface="Cambria Math" panose="02040503050406030204" pitchFamily="18" charset="0"/>
                              <a:ea typeface="微软雅黑" panose="020B0503020204020204" pitchFamily="34" charset="-122"/>
                            </a:rPr>
                            <m:t>𝜕</m:t>
                          </m:r>
                          <m:r>
                            <a:rPr lang="zh-CN" altLang="en-US" i="1">
                              <a:solidFill>
                                <a:srgbClr val="333333"/>
                              </a:solidFill>
                              <a:latin typeface="Cambria Math" panose="02040503050406030204" pitchFamily="18" charset="0"/>
                              <a:ea typeface="微软雅黑" panose="020B0503020204020204" pitchFamily="34" charset="-122"/>
                            </a:rPr>
                            <m:t>𝜔</m:t>
                          </m:r>
                        </m:den>
                      </m:f>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170640" y="2079087"/>
                <a:ext cx="4235774" cy="665823"/>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034654" y="3523563"/>
                <a:ext cx="2119042" cy="6190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num>
                        <m:den>
                          <m:r>
                            <a:rPr lang="en-US" altLang="zh-CN" i="1">
                              <a:solidFill>
                                <a:srgbClr val="333333"/>
                              </a:solidFill>
                              <a:latin typeface="Cambria Math" panose="02040503050406030204" pitchFamily="18" charset="0"/>
                              <a:ea typeface="微软雅黑" panose="020B0503020204020204" pitchFamily="34" charset="-122"/>
                            </a:rPr>
                            <m:t>𝜕</m:t>
                          </m:r>
                          <m:r>
                            <a:rPr lang="zh-CN" altLang="en-US" i="1">
                              <a:solidFill>
                                <a:srgbClr val="333333"/>
                              </a:solidFill>
                              <a:latin typeface="Cambria Math" panose="02040503050406030204" pitchFamily="18" charset="0"/>
                              <a:ea typeface="微软雅黑" panose="020B0503020204020204" pitchFamily="34" charset="-122"/>
                            </a:rPr>
                            <m:t>𝜔</m:t>
                          </m:r>
                        </m:den>
                      </m:f>
                      <m:r>
                        <a:rPr lang="en-US" altLang="zh-CN" b="0" i="1" smtClean="0">
                          <a:solidFill>
                            <a:srgbClr val="333333"/>
                          </a:solidFill>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h</m:t>
                          </m:r>
                        </m:e>
                        <m:sub>
                          <m:r>
                            <a:rPr lang="en-US" altLang="zh-CN" i="1" kern="0">
                              <a:latin typeface="Cambria Math" panose="02040503050406030204" pitchFamily="18" charset="0"/>
                              <a:ea typeface="微软雅黑" panose="020B0503020204020204" pitchFamily="34" charset="-122"/>
                            </a:rPr>
                            <m:t>2</m:t>
                          </m:r>
                        </m:sub>
                      </m:sSub>
                      <m:r>
                        <a:rPr lang="en-US" altLang="zh-CN" b="0" i="1" kern="0" smtClean="0">
                          <a:latin typeface="Cambria Math" panose="02040503050406030204" pitchFamily="18" charset="0"/>
                          <a:ea typeface="微软雅黑" panose="020B0503020204020204" pitchFamily="34" charset="-122"/>
                        </a:rPr>
                        <m:t>=0.6019</m:t>
                      </m:r>
                    </m:oMath>
                  </m:oMathPara>
                </a14:m>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1034654" y="3523563"/>
                <a:ext cx="2119042" cy="619016"/>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47699" y="2845777"/>
                <a:ext cx="5477582" cy="46121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𝑧</m:t>
                          </m:r>
                        </m:e>
                        <m:sub>
                          <m:r>
                            <a:rPr lang="en-US" altLang="zh-CN" i="1" kern="0">
                              <a:latin typeface="Cambria Math" panose="02040503050406030204" pitchFamily="18" charset="0"/>
                              <a:ea typeface="微软雅黑" panose="020B0503020204020204" pitchFamily="34" charset="-122"/>
                            </a:rPr>
                            <m:t>1</m:t>
                          </m:r>
                        </m:sub>
                      </m:sSub>
                      <m:r>
                        <a:rPr lang="en-US" altLang="zh-CN" i="1" kern="0">
                          <a:latin typeface="Cambria Math" panose="02040503050406030204" pitchFamily="18" charset="0"/>
                          <a:ea typeface="微软雅黑" panose="020B0503020204020204" pitchFamily="34" charset="-122"/>
                        </a:rPr>
                        <m:t>=</m:t>
                      </m:r>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(2)</m:t>
                          </m:r>
                        </m:sup>
                      </m:sSubSup>
                      <m:r>
                        <a:rPr lang="en-US" altLang="zh-CN" i="1" kern="0">
                          <a:latin typeface="Cambria Math" panose="02040503050406030204" pitchFamily="18" charset="0"/>
                          <a:ea typeface="Cambria Math" panose="02040503050406030204" pitchFamily="18" charset="0"/>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h</m:t>
                          </m:r>
                        </m:e>
                        <m:sub>
                          <m:r>
                            <a:rPr lang="en-US" altLang="zh-CN" b="0" i="1" kern="0" smtClean="0">
                              <a:latin typeface="Cambria Math" panose="02040503050406030204" pitchFamily="18" charset="0"/>
                              <a:ea typeface="微软雅黑" panose="020B0503020204020204" pitchFamily="34" charset="-122"/>
                            </a:rPr>
                            <m:t>1</m:t>
                          </m:r>
                        </m:sub>
                      </m:sSub>
                      <m:r>
                        <a:rPr lang="en-US" altLang="zh-CN" i="1" kern="0">
                          <a:latin typeface="Cambria Math" panose="02040503050406030204" pitchFamily="18" charset="0"/>
                          <a:ea typeface="微软雅黑" panose="020B0503020204020204" pitchFamily="34" charset="-122"/>
                        </a:rPr>
                        <m:t>+</m:t>
                      </m:r>
                      <m:r>
                        <a:rPr lang="zh-CN" altLang="en-US" i="1" kern="0" smtClean="0">
                          <a:solidFill>
                            <a:srgbClr val="FF0000"/>
                          </a:solidFill>
                          <a:latin typeface="Cambria Math" panose="02040503050406030204" pitchFamily="18" charset="0"/>
                          <a:ea typeface="微软雅黑" panose="020B0503020204020204" pitchFamily="34" charset="-122"/>
                        </a:rPr>
                        <m:t>𝜔</m:t>
                      </m:r>
                      <m:r>
                        <a:rPr lang="en-US" altLang="zh-CN" i="1" kern="0">
                          <a:latin typeface="Cambria Math" panose="02040503050406030204" pitchFamily="18" charset="0"/>
                          <a:ea typeface="Cambria Math" panose="02040503050406030204" pitchFamily="18" charset="0"/>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h</m:t>
                          </m:r>
                        </m:e>
                        <m:sub>
                          <m:r>
                            <a:rPr lang="en-US" altLang="zh-CN" b="0" i="1" kern="0" smtClean="0">
                              <a:latin typeface="Cambria Math" panose="02040503050406030204" pitchFamily="18" charset="0"/>
                              <a:ea typeface="微软雅黑" panose="020B0503020204020204" pitchFamily="34" charset="-122"/>
                            </a:rPr>
                            <m:t>2</m:t>
                          </m:r>
                        </m:sub>
                      </m:sSub>
                      <m:r>
                        <a:rPr lang="en-US" altLang="zh-CN" i="1" kern="0">
                          <a:latin typeface="Cambria Math" panose="02040503050406030204" pitchFamily="18" charset="0"/>
                          <a:ea typeface="微软雅黑" panose="020B0503020204020204" pitchFamily="34" charset="-122"/>
                        </a:rPr>
                        <m:t>+</m:t>
                      </m:r>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r>
                            <a:rPr lang="en-US" altLang="zh-CN" i="1" kern="0">
                              <a:latin typeface="Cambria Math" panose="02040503050406030204" pitchFamily="18" charset="0"/>
                              <a:ea typeface="微软雅黑" panose="020B0503020204020204" pitchFamily="34" charset="-122"/>
                            </a:rPr>
                            <m:t>(2)</m:t>
                          </m:r>
                        </m:sup>
                      </m:sSubSup>
                      <m:r>
                        <a:rPr lang="en-US" altLang="zh-CN" i="1" kern="0">
                          <a:latin typeface="Cambria Math" panose="02040503050406030204" pitchFamily="18" charset="0"/>
                          <a:ea typeface="Cambria Math" panose="02040503050406030204" pitchFamily="18" charset="0"/>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h</m:t>
                          </m:r>
                        </m:e>
                        <m:sub>
                          <m:r>
                            <a:rPr lang="en-US" altLang="zh-CN" b="0" i="1" kern="0" smtClean="0">
                              <a:latin typeface="Cambria Math" panose="02040503050406030204" pitchFamily="18" charset="0"/>
                              <a:ea typeface="微软雅黑" panose="020B0503020204020204" pitchFamily="34" charset="-122"/>
                            </a:rPr>
                            <m:t>3</m:t>
                          </m:r>
                        </m:sub>
                      </m:sSub>
                      <m:r>
                        <a:rPr lang="en-US" altLang="zh-CN" b="0" i="1" kern="0" smtClean="0">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447699" y="2845777"/>
                <a:ext cx="5477582" cy="461217"/>
              </a:xfrm>
              <a:prstGeom prst="rect">
                <a:avLst/>
              </a:prstGeom>
              <a:blipFill rotWithShape="0">
                <a:blip r:embed="rId8"/>
                <a:stretch>
                  <a:fillRect/>
                </a:stretch>
              </a:blipFill>
            </p:spPr>
            <p:txBody>
              <a:bodyPr/>
              <a:lstStyle/>
              <a:p>
                <a:r>
                  <a:rPr lang="zh-CN" altLang="en-US">
                    <a:noFill/>
                  </a:rPr>
                  <a:t> </a:t>
                </a:r>
              </a:p>
            </p:txBody>
          </p:sp>
        </mc:Fallback>
      </mc:AlternateContent>
      <p:sp>
        <p:nvSpPr>
          <p:cNvPr id="12" name="下箭头 11"/>
          <p:cNvSpPr/>
          <p:nvPr/>
        </p:nvSpPr>
        <p:spPr>
          <a:xfrm>
            <a:off x="2578811" y="4279043"/>
            <a:ext cx="216024" cy="263286"/>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25026" y="4465555"/>
            <a:ext cx="6341678" cy="871044"/>
            <a:chOff x="15651" y="4759304"/>
            <a:chExt cx="6341678" cy="871044"/>
          </a:xfrm>
        </p:grpSpPr>
        <mc:AlternateContent xmlns:mc="http://schemas.openxmlformats.org/markup-compatibility/2006" xmlns:a14="http://schemas.microsoft.com/office/drawing/2010/main">
          <mc:Choice Requires="a14">
            <p:sp>
              <p:nvSpPr>
                <p:cNvPr id="14" name="矩形 13"/>
                <p:cNvSpPr/>
                <p:nvPr/>
              </p:nvSpPr>
              <p:spPr>
                <a:xfrm>
                  <a:off x="15651" y="4759304"/>
                  <a:ext cx="6341678" cy="61901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333333"/>
                                </a:solidFill>
                                <a:latin typeface="Cambria Math" panose="02040503050406030204" pitchFamily="18" charset="0"/>
                                <a:ea typeface="微软雅黑" panose="020B0503020204020204" pitchFamily="34" charset="-122"/>
                              </a:rPr>
                            </m:ctrlPr>
                          </m:fPr>
                          <m:num>
                            <m:r>
                              <a:rPr lang="en-US" altLang="zh-CN" i="1" smtClean="0">
                                <a:solidFill>
                                  <a:srgbClr val="333333"/>
                                </a:solidFill>
                                <a:latin typeface="Cambria Math" panose="02040503050406030204" pitchFamily="18" charset="0"/>
                                <a:ea typeface="微软雅黑" panose="020B0503020204020204" pitchFamily="34" charset="-122"/>
                              </a:rPr>
                              <m:t>𝜕</m:t>
                            </m:r>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b="0" i="1" smtClean="0">
                                <a:solidFill>
                                  <a:srgbClr val="333333"/>
                                </a:solidFill>
                                <a:latin typeface="Cambria Math" panose="02040503050406030204" pitchFamily="18" charset="0"/>
                                <a:ea typeface="微软雅黑" panose="020B0503020204020204" pitchFamily="34" charset="-122"/>
                              </a:rPr>
                              <m:t>(</m:t>
                            </m:r>
                            <m:r>
                              <a:rPr lang="en-US" altLang="zh-CN" b="1" i="1" smtClean="0">
                                <a:solidFill>
                                  <a:srgbClr val="333333"/>
                                </a:solidFill>
                                <a:latin typeface="Cambria Math" panose="02040503050406030204" pitchFamily="18" charset="0"/>
                                <a:ea typeface="微软雅黑" panose="020B0503020204020204" pitchFamily="34" charset="-122"/>
                              </a:rPr>
                              <m:t>𝒘</m:t>
                            </m:r>
                            <m:r>
                              <a:rPr lang="en-US" altLang="zh-CN" b="0" i="1" smtClean="0">
                                <a:solidFill>
                                  <a:srgbClr val="333333"/>
                                </a:solidFill>
                                <a:latin typeface="Cambria Math" panose="02040503050406030204" pitchFamily="18" charset="0"/>
                                <a:ea typeface="微软雅黑" panose="020B0503020204020204" pitchFamily="34" charset="-122"/>
                              </a:rPr>
                              <m:t>)</m:t>
                            </m:r>
                          </m:num>
                          <m:den>
                            <m:r>
                              <a:rPr lang="en-US" altLang="zh-CN" i="1" smtClean="0">
                                <a:solidFill>
                                  <a:srgbClr val="333333"/>
                                </a:solidFill>
                                <a:latin typeface="Cambria Math" panose="02040503050406030204" pitchFamily="18" charset="0"/>
                                <a:ea typeface="微软雅黑" panose="020B0503020204020204" pitchFamily="34" charset="-122"/>
                              </a:rPr>
                              <m:t>𝜕</m:t>
                            </m:r>
                            <m:r>
                              <a:rPr lang="zh-CN" altLang="en-US" i="1" smtClean="0">
                                <a:solidFill>
                                  <a:srgbClr val="333333"/>
                                </a:solidFill>
                                <a:latin typeface="Cambria Math" panose="02040503050406030204" pitchFamily="18" charset="0"/>
                                <a:ea typeface="微软雅黑" panose="020B0503020204020204" pitchFamily="34" charset="-122"/>
                              </a:rPr>
                              <m:t>𝜔</m:t>
                            </m:r>
                          </m:den>
                        </m:f>
                        <m:r>
                          <a:rPr lang="en-US" altLang="zh-CN" b="0" i="1" smtClean="0">
                            <a:solidFill>
                              <a:srgbClr val="333333"/>
                            </a:solidFill>
                            <a:latin typeface="Cambria Math" panose="02040503050406030204" pitchFamily="18" charset="0"/>
                            <a:ea typeface="微软雅黑" panose="020B0503020204020204" pitchFamily="34" charset="-122"/>
                          </a:rPr>
                          <m:t>=</m:t>
                        </m:r>
                        <m:r>
                          <a:rPr lang="en-US" altLang="zh-CN" i="1" kern="0">
                            <a:latin typeface="Cambria Math" panose="02040503050406030204" pitchFamily="18" charset="0"/>
                            <a:ea typeface="微软雅黑" panose="020B0503020204020204" pitchFamily="34" charset="-122"/>
                          </a:rPr>
                          <m:t>−</m:t>
                        </m:r>
                        <m:d>
                          <m:dPr>
                            <m:ctrlPr>
                              <a:rPr lang="en-US" altLang="zh-CN" i="1" kern="0">
                                <a:latin typeface="Cambria Math" panose="02040503050406030204" pitchFamily="18" charset="0"/>
                                <a:ea typeface="微软雅黑" panose="020B0503020204020204" pitchFamily="34" charset="-122"/>
                              </a:rPr>
                            </m:ctrlPr>
                          </m:dPr>
                          <m:e>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1</m:t>
                                </m:r>
                              </m:sub>
                            </m:sSub>
                            <m:r>
                              <a:rPr lang="en-US" altLang="zh-CN" i="1" ker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e>
                        </m:d>
                        <m:r>
                          <a:rPr lang="en-US" altLang="zh-CN" i="1" kern="0">
                            <a:latin typeface="Cambria Math" panose="02040503050406030204" pitchFamily="18" charset="0"/>
                            <a:ea typeface="Cambria Math" panose="02040503050406030204" pitchFamily="18" charset="0"/>
                          </a:rPr>
                          <m:t>×</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1−</m:t>
                            </m:r>
                            <m:sSub>
                              <m:sSubPr>
                                <m:ctrlPr>
                                  <a:rPr lang="en-US" altLang="zh-CN" i="1" kern="0">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kern="0">
                                    <a:latin typeface="Cambria Math" panose="02040503050406030204" pitchFamily="18" charset="0"/>
                                    <a:ea typeface="微软雅黑" panose="020B0503020204020204" pitchFamily="34" charset="-122"/>
                                  </a:rPr>
                                  <m:t>1</m:t>
                                </m:r>
                              </m:sub>
                            </m:sSub>
                          </m:e>
                        </m:d>
                        <m:r>
                          <a:rPr lang="en-US" altLang="zh-CN" i="1" kern="0">
                            <a:latin typeface="Cambria Math" panose="02040503050406030204" pitchFamily="18" charset="0"/>
                            <a:ea typeface="Cambria Math" panose="02040503050406030204" pitchFamily="18" charset="0"/>
                          </a:rPr>
                          <m:t>×</m:t>
                        </m:r>
                        <m:sSub>
                          <m:sSubPr>
                            <m:ctrlPr>
                              <a:rPr lang="en-US" altLang="zh-CN" i="1" ker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h</m:t>
                            </m:r>
                          </m:e>
                          <m:sub>
                            <m:r>
                              <a:rPr lang="en-US" altLang="zh-CN" i="1" kern="0">
                                <a:latin typeface="Cambria Math" panose="02040503050406030204" pitchFamily="18" charset="0"/>
                                <a:ea typeface="微软雅黑" panose="020B0503020204020204" pitchFamily="34" charset="-122"/>
                              </a:rPr>
                              <m:t>2</m:t>
                            </m:r>
                          </m:sub>
                        </m:sSub>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15651" y="4759304"/>
                  <a:ext cx="6341678" cy="619016"/>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1592927" y="5261016"/>
                  <a:ext cx="4744194"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kern="0" smtClean="0">
                            <a:latin typeface="Cambria Math" panose="02040503050406030204" pitchFamily="18" charset="0"/>
                            <a:ea typeface="微软雅黑" panose="020B0503020204020204" pitchFamily="34" charset="-122"/>
                          </a:rPr>
                          <m:t>=</m:t>
                        </m:r>
                        <m:r>
                          <a:rPr lang="en-US" altLang="zh-CN" i="1" kern="0">
                            <a:latin typeface="Cambria Math" panose="02040503050406030204" pitchFamily="18" charset="0"/>
                            <a:ea typeface="微软雅黑" panose="020B0503020204020204" pitchFamily="34" charset="-122"/>
                          </a:rPr>
                          <m:t>−0.1</m:t>
                        </m:r>
                        <m:r>
                          <a:rPr lang="en-US" altLang="zh-CN" b="0" i="1" kern="0" smtClean="0">
                            <a:latin typeface="Cambria Math" panose="02040503050406030204" pitchFamily="18" charset="0"/>
                            <a:ea typeface="微软雅黑" panose="020B0503020204020204" pitchFamily="34" charset="-122"/>
                          </a:rPr>
                          <m:t>3</m:t>
                        </m:r>
                        <m:r>
                          <a:rPr lang="en-US" altLang="zh-CN" i="1" kern="0">
                            <a:latin typeface="Cambria Math" panose="02040503050406030204" pitchFamily="18" charset="0"/>
                            <a:ea typeface="微软雅黑" panose="020B0503020204020204" pitchFamily="34" charset="-122"/>
                          </a:rPr>
                          <m:t>9</m:t>
                        </m:r>
                        <m:r>
                          <a:rPr lang="en-US" altLang="zh-CN" b="0" i="1" kern="0" smtClean="0">
                            <a:latin typeface="Cambria Math" panose="02040503050406030204" pitchFamily="18" charset="0"/>
                            <a:ea typeface="微软雅黑" panose="020B0503020204020204" pitchFamily="34" charset="-122"/>
                          </a:rPr>
                          <m:t>1</m:t>
                        </m:r>
                        <m:r>
                          <a:rPr lang="en-US" altLang="zh-CN" i="1" kern="0">
                            <a:latin typeface="Cambria Math" panose="02040503050406030204" pitchFamily="18" charset="0"/>
                            <a:ea typeface="Cambria Math" panose="02040503050406030204" pitchFamily="18" charset="0"/>
                          </a:rPr>
                          <m:t>×</m:t>
                        </m:r>
                        <m:r>
                          <a:rPr lang="en-US" altLang="zh-CN" i="1" kern="0">
                            <a:latin typeface="Cambria Math" panose="02040503050406030204" pitchFamily="18" charset="0"/>
                            <a:ea typeface="微软雅黑" panose="020B0503020204020204" pitchFamily="34" charset="-122"/>
                          </a:rPr>
                          <m:t>0.1</m:t>
                        </m:r>
                        <m:r>
                          <a:rPr lang="en-US" altLang="zh-CN" b="0" i="1" kern="0" smtClean="0">
                            <a:latin typeface="Cambria Math" panose="02040503050406030204" pitchFamily="18" charset="0"/>
                            <a:ea typeface="微软雅黑" panose="020B0503020204020204" pitchFamily="34" charset="-122"/>
                          </a:rPr>
                          <m:t>819</m:t>
                        </m:r>
                        <m:r>
                          <a:rPr lang="en-US" altLang="zh-CN" i="1" kern="0">
                            <a:latin typeface="Cambria Math" panose="02040503050406030204" pitchFamily="18" charset="0"/>
                            <a:ea typeface="Cambria Math" panose="02040503050406030204" pitchFamily="18" charset="0"/>
                          </a:rPr>
                          <m:t>×</m:t>
                        </m:r>
                        <m:r>
                          <a:rPr lang="en-US" altLang="zh-CN" i="1" kern="0">
                            <a:latin typeface="Cambria Math" panose="02040503050406030204" pitchFamily="18" charset="0"/>
                            <a:ea typeface="微软雅黑" panose="020B0503020204020204" pitchFamily="34" charset="-122"/>
                          </a:rPr>
                          <m:t>0.6019=−0.0</m:t>
                        </m:r>
                        <m:r>
                          <a:rPr lang="en-US" altLang="zh-CN" b="0" i="1" kern="0" smtClean="0">
                            <a:latin typeface="Cambria Math" panose="02040503050406030204" pitchFamily="18" charset="0"/>
                            <a:ea typeface="微软雅黑" panose="020B0503020204020204" pitchFamily="34" charset="-122"/>
                          </a:rPr>
                          <m:t>152</m:t>
                        </m:r>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1592927" y="5261016"/>
                  <a:ext cx="4744194" cy="369332"/>
                </a:xfrm>
                <a:prstGeom prst="rect">
                  <a:avLst/>
                </a:prstGeom>
                <a:blipFill rotWithShape="0">
                  <a:blip r:embed="rId10"/>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8" name="矩形 17"/>
              <p:cNvSpPr/>
              <p:nvPr/>
            </p:nvSpPr>
            <p:spPr>
              <a:xfrm>
                <a:off x="6406760" y="1530513"/>
                <a:ext cx="7128792" cy="461217"/>
              </a:xfrm>
              <a:prstGeom prst="rect">
                <a:avLst/>
              </a:prstGeom>
            </p:spPr>
            <p:txBody>
              <a:bodyPr wrap="square">
                <a:spAutoFit/>
              </a:bodyPr>
              <a:lstStyle/>
              <a:p>
                <a:pPr marL="285750" indent="-285750">
                  <a:buFont typeface="Wingdings" panose="05000000000000000000" pitchFamily="2" charset="2"/>
                  <a:buChar char="Ø"/>
                </a:pPr>
                <a:r>
                  <a:rPr lang="zh-CN" altLang="en-US" dirty="0">
                    <a:solidFill>
                      <a:srgbClr val="333333"/>
                    </a:solidFill>
                    <a:latin typeface="微软雅黑 Light" panose="020B0502040204020203" pitchFamily="34" charset="-122"/>
                    <a:ea typeface="微软雅黑 Light" panose="020B0502040204020203" pitchFamily="34" charset="-122"/>
                  </a:rPr>
                  <a:t>更新</a:t>
                </a:r>
                <a14:m>
                  <m:oMath xmlns:m="http://schemas.openxmlformats.org/officeDocument/2006/math">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r>
                          <a:rPr lang="en-US" altLang="zh-CN" i="1" kern="0">
                            <a:latin typeface="Cambria Math" panose="02040503050406030204" pitchFamily="18" charset="0"/>
                            <a:ea typeface="微软雅黑" panose="020B0503020204020204" pitchFamily="34" charset="-122"/>
                          </a:rPr>
                          <m:t>(2)</m:t>
                        </m:r>
                      </m:sup>
                    </m:sSubSup>
                    <m:r>
                      <a:rPr lang="zh-CN" altLang="en-US" i="1" kern="0">
                        <a:latin typeface="Cambria Math" panose="02040503050406030204" pitchFamily="18" charset="0"/>
                        <a:ea typeface="微软雅黑" panose="020B0503020204020204" pitchFamily="34" charset="-122"/>
                      </a:rPr>
                      <m:t>（记为</m:t>
                    </m:r>
                    <m:r>
                      <a:rPr lang="zh-CN" altLang="en-US" i="1" kern="0" smtClean="0">
                        <a:latin typeface="Cambria Math" panose="02040503050406030204" pitchFamily="18" charset="0"/>
                        <a:ea typeface="微软雅黑" panose="020B0503020204020204" pitchFamily="34" charset="-122"/>
                      </a:rPr>
                      <m:t>𝜔</m:t>
                    </m:r>
                    <m:r>
                      <a:rPr lang="zh-CN" altLang="en-US" i="1" kern="0">
                        <a:latin typeface="Cambria Math" panose="02040503050406030204" pitchFamily="18" charset="0"/>
                        <a:ea typeface="微软雅黑" panose="020B0503020204020204" pitchFamily="34" charset="-122"/>
                      </a:rPr>
                      <m:t>）</m:t>
                    </m:r>
                    <m:r>
                      <a:rPr lang="zh-CN" altLang="en-US" i="1" kern="0" dirty="0">
                        <a:solidFill>
                          <a:srgbClr val="333333"/>
                        </a:solidFill>
                        <a:latin typeface="Cambria Math" panose="02040503050406030204" pitchFamily="18" charset="0"/>
                        <a:ea typeface="微软雅黑" panose="020B0503020204020204" pitchFamily="34" charset="-122"/>
                      </a:rPr>
                      <m:t>的权重</m:t>
                    </m:r>
                  </m:oMath>
                </a14:m>
                <a:r>
                  <a:rPr lang="zh-CN" altLang="en-US" dirty="0">
                    <a:latin typeface="微软雅黑 Light" panose="020B0502040204020203" pitchFamily="34" charset="-122"/>
                    <a:ea typeface="微软雅黑 Light" panose="020B0502040204020203" pitchFamily="34" charset="-122"/>
                  </a:rPr>
                  <a:t> </a:t>
                </a:r>
              </a:p>
            </p:txBody>
          </p:sp>
        </mc:Choice>
        <mc:Fallback xmlns="">
          <p:sp>
            <p:nvSpPr>
              <p:cNvPr id="18" name="矩形 17"/>
              <p:cNvSpPr>
                <a:spLocks noRot="1" noChangeAspect="1" noMove="1" noResize="1" noEditPoints="1" noAdjustHandles="1" noChangeArrowheads="1" noChangeShapeType="1" noTextEdit="1"/>
              </p:cNvSpPr>
              <p:nvPr/>
            </p:nvSpPr>
            <p:spPr>
              <a:xfrm>
                <a:off x="6406760" y="1530513"/>
                <a:ext cx="7128792" cy="461217"/>
              </a:xfrm>
              <a:prstGeom prst="rect">
                <a:avLst/>
              </a:prstGeom>
              <a:blipFill rotWithShape="0">
                <a:blip r:embed="rId11"/>
                <a:stretch>
                  <a:fillRect l="-599"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6735455" y="4187291"/>
                <a:ext cx="5264839" cy="6199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kern="0" smtClean="0">
                          <a:latin typeface="Cambria Math" panose="02040503050406030204" pitchFamily="18" charset="0"/>
                          <a:ea typeface="微软雅黑" panose="020B0503020204020204" pitchFamily="34" charset="-122"/>
                        </a:rPr>
                        <m:t>𝜔</m:t>
                      </m:r>
                      <m:r>
                        <a:rPr lang="en-US" altLang="zh-CN" i="1" kern="0">
                          <a:latin typeface="Cambria Math" panose="02040503050406030204" pitchFamily="18" charset="0"/>
                          <a:ea typeface="微软雅黑" panose="020B0503020204020204" pitchFamily="34" charset="-122"/>
                        </a:rPr>
                        <m:t>=</m:t>
                      </m:r>
                      <m:r>
                        <a:rPr lang="zh-CN" altLang="en-US" i="1" kern="0">
                          <a:latin typeface="Cambria Math" panose="02040503050406030204" pitchFamily="18" charset="0"/>
                          <a:ea typeface="微软雅黑" panose="020B0503020204020204" pitchFamily="34" charset="-122"/>
                        </a:rPr>
                        <m:t>𝜔</m:t>
                      </m:r>
                      <m:r>
                        <a:rPr lang="en-US" altLang="zh-CN" b="0" i="1" kern="0" smtClean="0">
                          <a:latin typeface="Cambria Math" panose="02040503050406030204" pitchFamily="18" charset="0"/>
                          <a:ea typeface="微软雅黑" panose="020B0503020204020204" pitchFamily="34" charset="-122"/>
                        </a:rPr>
                        <m:t>−</m:t>
                      </m:r>
                      <m:r>
                        <a:rPr lang="zh-CN" altLang="en-US" b="0" i="1" kern="0" smtClean="0">
                          <a:latin typeface="Cambria Math" panose="02040503050406030204" pitchFamily="18" charset="0"/>
                          <a:ea typeface="微软雅黑" panose="020B0503020204020204" pitchFamily="34" charset="-122"/>
                        </a:rPr>
                        <m:t>𝛼</m:t>
                      </m:r>
                      <m:r>
                        <a:rPr lang="en-US" altLang="zh-CN" i="1" kern="0">
                          <a:latin typeface="Cambria Math" panose="02040503050406030204" pitchFamily="18" charset="0"/>
                          <a:ea typeface="Cambria Math" panose="02040503050406030204" pitchFamily="18" charset="0"/>
                        </a:rPr>
                        <m:t>×</m:t>
                      </m:r>
                      <m:f>
                        <m:fPr>
                          <m:ctrlPr>
                            <a:rPr lang="en-US" altLang="zh-CN" i="1">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i="1">
                              <a:solidFill>
                                <a:srgbClr val="333333"/>
                              </a:solidFill>
                              <a:latin typeface="Cambria Math" panose="02040503050406030204" pitchFamily="18" charset="0"/>
                              <a:ea typeface="微软雅黑" panose="020B0503020204020204" pitchFamily="34" charset="-122"/>
                            </a:rPr>
                            <m:t>(</m:t>
                          </m:r>
                          <m:r>
                            <a:rPr lang="en-US" altLang="zh-CN" b="1" i="1">
                              <a:solidFill>
                                <a:srgbClr val="333333"/>
                              </a:solidFill>
                              <a:latin typeface="Cambria Math" panose="02040503050406030204" pitchFamily="18" charset="0"/>
                              <a:ea typeface="微软雅黑" panose="020B0503020204020204" pitchFamily="34" charset="-122"/>
                            </a:rPr>
                            <m:t>𝒘</m:t>
                          </m:r>
                          <m:r>
                            <a:rPr lang="en-US" altLang="zh-CN" i="1">
                              <a:solidFill>
                                <a:srgbClr val="333333"/>
                              </a:solidFill>
                              <a:latin typeface="Cambria Math" panose="02040503050406030204" pitchFamily="18" charset="0"/>
                              <a:ea typeface="微软雅黑" panose="020B0503020204020204" pitchFamily="34" charset="-122"/>
                            </a:rPr>
                            <m:t>)</m:t>
                          </m:r>
                        </m:num>
                        <m:den>
                          <m:r>
                            <a:rPr lang="en-US" altLang="zh-CN" i="1">
                              <a:solidFill>
                                <a:srgbClr val="333333"/>
                              </a:solidFill>
                              <a:latin typeface="Cambria Math" panose="02040503050406030204" pitchFamily="18" charset="0"/>
                              <a:ea typeface="微软雅黑" panose="020B0503020204020204" pitchFamily="34" charset="-122"/>
                            </a:rPr>
                            <m:t>𝜕</m:t>
                          </m:r>
                          <m:r>
                            <a:rPr lang="zh-CN" altLang="en-US" i="1">
                              <a:solidFill>
                                <a:srgbClr val="333333"/>
                              </a:solidFill>
                              <a:latin typeface="Cambria Math" panose="02040503050406030204" pitchFamily="18" charset="0"/>
                              <a:ea typeface="微软雅黑" panose="020B0503020204020204" pitchFamily="34" charset="-122"/>
                            </a:rPr>
                            <m:t>𝜔</m:t>
                          </m:r>
                        </m:den>
                      </m:f>
                      <m:r>
                        <a:rPr lang="en-US" altLang="zh-CN" b="0" i="1" smtClean="0">
                          <a:solidFill>
                            <a:srgbClr val="333333"/>
                          </a:solidFill>
                          <a:latin typeface="Cambria Math" panose="02040503050406030204" pitchFamily="18" charset="0"/>
                          <a:ea typeface="微软雅黑" panose="020B0503020204020204" pitchFamily="34" charset="-122"/>
                        </a:rPr>
                        <m:t>=0.35−</m:t>
                      </m:r>
                      <m:d>
                        <m:dPr>
                          <m:ctrlPr>
                            <a:rPr lang="en-US" altLang="zh-CN" b="0" i="1" smtClean="0">
                              <a:solidFill>
                                <a:srgbClr val="333333"/>
                              </a:solidFill>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−0.0</m:t>
                          </m:r>
                          <m:r>
                            <a:rPr lang="en-US" altLang="zh-CN" b="0" i="1" kern="0" smtClean="0">
                              <a:latin typeface="Cambria Math" panose="02040503050406030204" pitchFamily="18" charset="0"/>
                              <a:ea typeface="微软雅黑" panose="020B0503020204020204" pitchFamily="34" charset="-122"/>
                            </a:rPr>
                            <m:t>152</m:t>
                          </m:r>
                        </m:e>
                      </m:d>
                      <m:r>
                        <a:rPr lang="en-US" altLang="zh-CN" b="0" i="1" smtClean="0">
                          <a:solidFill>
                            <a:srgbClr val="333333"/>
                          </a:solidFill>
                          <a:latin typeface="Cambria Math" panose="02040503050406030204" pitchFamily="18" charset="0"/>
                          <a:ea typeface="微软雅黑" panose="020B0503020204020204" pitchFamily="34" charset="-122"/>
                        </a:rPr>
                        <m:t>=0.3652</m:t>
                      </m:r>
                    </m:oMath>
                  </m:oMathPara>
                </a14:m>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6735455" y="4187291"/>
                <a:ext cx="5264839" cy="619913"/>
              </a:xfrm>
              <a:prstGeom prst="rect">
                <a:avLst/>
              </a:prstGeom>
              <a:blipFill rotWithShape="0">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5408459" y="2109458"/>
                <a:ext cx="6192688" cy="126803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(2)</m:t>
                          </m:r>
                        </m:sup>
                      </m:sSup>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r>
                              <m:e>
                                <m:sSubSup>
                                  <m:sSubSupPr>
                                    <m:ctrlPr>
                                      <a:rPr lang="en-US" altLang="zh-CN" i="1" kern="0" smtClean="0">
                                        <a:solidFill>
                                          <a:srgbClr val="FF0000"/>
                                        </a:solidFill>
                                        <a:latin typeface="Cambria Math" panose="02040503050406030204" pitchFamily="18" charset="0"/>
                                        <a:ea typeface="微软雅黑" panose="020B0503020204020204" pitchFamily="34" charset="-122"/>
                                      </a:rPr>
                                    </m:ctrlPr>
                                  </m:sSubSupPr>
                                  <m:e>
                                    <m:r>
                                      <a:rPr lang="en-US" altLang="zh-CN" i="1" kern="0">
                                        <a:solidFill>
                                          <a:srgbClr val="FF0000"/>
                                        </a:solidFill>
                                        <a:latin typeface="Cambria Math" panose="02040503050406030204" pitchFamily="18" charset="0"/>
                                        <a:ea typeface="微软雅黑" panose="020B0503020204020204" pitchFamily="34" charset="-122"/>
                                      </a:rPr>
                                      <m:t>𝑤</m:t>
                                    </m:r>
                                  </m:e>
                                  <m:sub>
                                    <m:r>
                                      <a:rPr lang="en-US" altLang="zh-CN" i="1" kern="0">
                                        <a:solidFill>
                                          <a:srgbClr val="FF0000"/>
                                        </a:solidFill>
                                        <a:latin typeface="Cambria Math" panose="02040503050406030204" pitchFamily="18" charset="0"/>
                                        <a:ea typeface="微软雅黑" panose="020B0503020204020204" pitchFamily="34" charset="-122"/>
                                      </a:rPr>
                                      <m:t>2,1</m:t>
                                    </m:r>
                                  </m:sub>
                                  <m:sup>
                                    <m:d>
                                      <m:dPr>
                                        <m:ctrlPr>
                                          <a:rPr lang="en-US" altLang="zh-CN" i="1" kern="0">
                                            <a:solidFill>
                                              <a:srgbClr val="FF0000"/>
                                            </a:solidFill>
                                            <a:latin typeface="Cambria Math" panose="02040503050406030204" pitchFamily="18" charset="0"/>
                                            <a:ea typeface="微软雅黑" panose="020B0503020204020204" pitchFamily="34" charset="-122"/>
                                          </a:rPr>
                                        </m:ctrlPr>
                                      </m:dPr>
                                      <m:e>
                                        <m:r>
                                          <a:rPr lang="en-US" altLang="zh-CN" i="1" kern="0">
                                            <a:solidFill>
                                              <a:srgbClr val="FF0000"/>
                                            </a:solidFill>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
                        </m:e>
                      </m:d>
                      <m:r>
                        <a:rPr lang="en-US" altLang="zh-CN" i="1">
                          <a:solidFill>
                            <a:srgbClr val="333333"/>
                          </a:solidFill>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i="1" kern="0">
                                  <a:latin typeface="Cambria Math" panose="02040503050406030204" pitchFamily="18" charset="0"/>
                                  <a:ea typeface="微软雅黑" panose="020B0503020204020204" pitchFamily="34" charset="-122"/>
                                </a:rPr>
                              </m:ctrlPr>
                            </m:mPr>
                            <m:mr>
                              <m:e>
                                <m:r>
                                  <m:rPr>
                                    <m:brk m:alnAt="7"/>
                                  </m:rPr>
                                  <a:rPr lang="en-US" altLang="zh-CN" i="1" kern="0">
                                    <a:latin typeface="Cambria Math" panose="02040503050406030204" pitchFamily="18" charset="0"/>
                                    <a:ea typeface="微软雅黑" panose="020B0503020204020204" pitchFamily="34" charset="-122"/>
                                  </a:rPr>
                                  <m:t>0</m:t>
                                </m:r>
                                <m:r>
                                  <a:rPr lang="en-US" altLang="zh-CN" i="1" kern="0">
                                    <a:latin typeface="Cambria Math" panose="02040503050406030204" pitchFamily="18" charset="0"/>
                                    <a:ea typeface="微软雅黑" panose="020B0503020204020204" pitchFamily="34" charset="-122"/>
                                  </a:rPr>
                                  <m:t>.40</m:t>
                                </m:r>
                              </m:e>
                              <m:e>
                                <m:r>
                                  <a:rPr lang="en-US" altLang="zh-CN" i="1" kern="0">
                                    <a:latin typeface="Cambria Math" panose="02040503050406030204" pitchFamily="18" charset="0"/>
                                    <a:ea typeface="微软雅黑" panose="020B0503020204020204" pitchFamily="34" charset="-122"/>
                                  </a:rPr>
                                  <m:t>0.25</m:t>
                                </m:r>
                              </m:e>
                            </m:mr>
                            <m:mr>
                              <m:e>
                                <m:r>
                                  <a:rPr lang="en-US" altLang="zh-CN" i="1" kern="0" smtClean="0">
                                    <a:solidFill>
                                      <a:srgbClr val="FF0000"/>
                                    </a:solidFill>
                                    <a:latin typeface="Cambria Math" panose="02040503050406030204" pitchFamily="18" charset="0"/>
                                    <a:ea typeface="微软雅黑" panose="020B0503020204020204" pitchFamily="34" charset="-122"/>
                                  </a:rPr>
                                  <m:t>0.35</m:t>
                                </m:r>
                              </m:e>
                              <m:e>
                                <m:r>
                                  <a:rPr lang="en-US" altLang="zh-CN" i="1" kern="0">
                                    <a:latin typeface="Cambria Math" panose="02040503050406030204" pitchFamily="18" charset="0"/>
                                    <a:ea typeface="微软雅黑" panose="020B0503020204020204" pitchFamily="34" charset="-122"/>
                                  </a:rPr>
                                  <m:t>0.30</m:t>
                                </m:r>
                              </m:e>
                            </m:mr>
                            <m:mr>
                              <m:e>
                                <m:r>
                                  <a:rPr lang="en-US" altLang="zh-CN" i="1" kern="0">
                                    <a:latin typeface="Cambria Math" panose="02040503050406030204" pitchFamily="18" charset="0"/>
                                    <a:ea typeface="微软雅黑" panose="020B0503020204020204" pitchFamily="34" charset="-122"/>
                                  </a:rPr>
                                  <m:t>0.01</m:t>
                                </m:r>
                              </m:e>
                              <m:e>
                                <m:r>
                                  <a:rPr lang="en-US" altLang="zh-CN" i="1" kern="0">
                                    <a:latin typeface="Cambria Math" panose="02040503050406030204" pitchFamily="18" charset="0"/>
                                    <a:ea typeface="微软雅黑" panose="020B0503020204020204" pitchFamily="34" charset="-122"/>
                                  </a:rPr>
                                  <m:t>0.35</m:t>
                                </m:r>
                              </m:e>
                            </m:mr>
                          </m:m>
                        </m:e>
                      </m:d>
                    </m:oMath>
                  </m:oMathPara>
                </a14:m>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5408459" y="2109458"/>
                <a:ext cx="6192688" cy="1268039"/>
              </a:xfrm>
              <a:prstGeom prst="rect">
                <a:avLst/>
              </a:prstGeom>
              <a:blipFill rotWithShape="0">
                <a:blip r:embed="rId13"/>
                <a:stretch>
                  <a:fillRect/>
                </a:stretch>
              </a:blipFill>
            </p:spPr>
            <p:txBody>
              <a:bodyPr/>
              <a:lstStyle/>
              <a:p>
                <a:r>
                  <a:rPr lang="zh-CN" altLang="en-US">
                    <a:noFill/>
                  </a:rPr>
                  <a:t> </a:t>
                </a:r>
              </a:p>
            </p:txBody>
          </p:sp>
        </mc:Fallback>
      </mc:AlternateContent>
      <p:sp>
        <p:nvSpPr>
          <p:cNvPr id="21" name="矩形 20"/>
          <p:cNvSpPr/>
          <p:nvPr/>
        </p:nvSpPr>
        <p:spPr>
          <a:xfrm>
            <a:off x="9727571" y="1866914"/>
            <a:ext cx="1080120" cy="369332"/>
          </a:xfrm>
          <a:prstGeom prst="rect">
            <a:avLst/>
          </a:prstGeom>
        </p:spPr>
        <p:txBody>
          <a:bodyPr wrap="square">
            <a:spAutoFit/>
          </a:bodyPr>
          <a:lstStyle/>
          <a:p>
            <a:r>
              <a:rPr lang="zh-CN" altLang="en-US" dirty="0">
                <a:latin typeface="微软雅黑 Light" panose="020B0502040204020203" pitchFamily="34" charset="-122"/>
                <a:ea typeface="微软雅黑 Light" panose="020B0502040204020203" pitchFamily="34" charset="-122"/>
              </a:rPr>
              <a:t>初始值</a:t>
            </a:r>
          </a:p>
        </p:txBody>
      </p:sp>
      <p:cxnSp>
        <p:nvCxnSpPr>
          <p:cNvPr id="22" name="直接箭头连接符 21"/>
          <p:cNvCxnSpPr/>
          <p:nvPr/>
        </p:nvCxnSpPr>
        <p:spPr>
          <a:xfrm flipH="1">
            <a:off x="9583555" y="2295110"/>
            <a:ext cx="288032" cy="322708"/>
          </a:xfrm>
          <a:prstGeom prst="straightConnector1">
            <a:avLst/>
          </a:prstGeom>
          <a:noFill/>
          <a:ln w="15875" cap="flat" cmpd="sng">
            <a:solidFill>
              <a:schemeClr val="tx1"/>
            </a:solidFill>
            <a:prstDash val="solid"/>
            <a:round/>
            <a:headEnd/>
            <a:tailEnd type="triangle"/>
          </a:ln>
          <a:effectLst/>
        </p:spPr>
      </p:cxnSp>
      <mc:AlternateContent xmlns:mc="http://schemas.openxmlformats.org/markup-compatibility/2006" xmlns:a14="http://schemas.microsoft.com/office/drawing/2010/main">
        <mc:Choice Requires="a14">
          <p:sp>
            <p:nvSpPr>
              <p:cNvPr id="23" name="矩形 22"/>
              <p:cNvSpPr/>
              <p:nvPr/>
            </p:nvSpPr>
            <p:spPr>
              <a:xfrm>
                <a:off x="6544371" y="3377497"/>
                <a:ext cx="2042482" cy="6199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333333"/>
                              </a:solidFill>
                              <a:latin typeface="Cambria Math" panose="02040503050406030204" pitchFamily="18" charset="0"/>
                              <a:ea typeface="微软雅黑" panose="020B0503020204020204" pitchFamily="34" charset="-122"/>
                            </a:rPr>
                          </m:ctrlPr>
                        </m:fPr>
                        <m:num>
                          <m:r>
                            <a:rPr lang="en-US" altLang="zh-CN" i="1">
                              <a:solidFill>
                                <a:srgbClr val="333333"/>
                              </a:solidFill>
                              <a:latin typeface="Cambria Math" panose="02040503050406030204" pitchFamily="18" charset="0"/>
                              <a:ea typeface="微软雅黑" panose="020B0503020204020204" pitchFamily="34" charset="-122"/>
                            </a:rPr>
                            <m:t>𝜕</m:t>
                          </m:r>
                          <m:r>
                            <a:rPr lang="en-US" altLang="zh-CN" b="0" i="1" smtClean="0">
                              <a:solidFill>
                                <a:srgbClr val="333333"/>
                              </a:solidFill>
                              <a:latin typeface="Cambria Math" panose="02040503050406030204" pitchFamily="18" charset="0"/>
                              <a:ea typeface="微软雅黑" panose="020B0503020204020204" pitchFamily="34" charset="-122"/>
                            </a:rPr>
                            <m:t>𝐿</m:t>
                          </m:r>
                          <m:r>
                            <a:rPr lang="en-US" altLang="zh-CN" b="0" i="1" smtClean="0">
                              <a:solidFill>
                                <a:srgbClr val="333333"/>
                              </a:solidFill>
                              <a:latin typeface="Cambria Math" panose="02040503050406030204" pitchFamily="18" charset="0"/>
                              <a:ea typeface="微软雅黑" panose="020B0503020204020204" pitchFamily="34" charset="-122"/>
                            </a:rPr>
                            <m:t>(</m:t>
                          </m:r>
                          <m:r>
                            <a:rPr lang="en-US" altLang="zh-CN" b="1" i="1" smtClean="0">
                              <a:solidFill>
                                <a:srgbClr val="333333"/>
                              </a:solidFill>
                              <a:latin typeface="Cambria Math" panose="02040503050406030204" pitchFamily="18" charset="0"/>
                              <a:ea typeface="微软雅黑" panose="020B0503020204020204" pitchFamily="34" charset="-122"/>
                            </a:rPr>
                            <m:t>𝒘</m:t>
                          </m:r>
                          <m:r>
                            <a:rPr lang="en-US" altLang="zh-CN" b="0" i="1" smtClean="0">
                              <a:solidFill>
                                <a:srgbClr val="333333"/>
                              </a:solidFill>
                              <a:latin typeface="Cambria Math" panose="02040503050406030204" pitchFamily="18" charset="0"/>
                              <a:ea typeface="微软雅黑" panose="020B0503020204020204" pitchFamily="34" charset="-122"/>
                            </a:rPr>
                            <m:t>)</m:t>
                          </m:r>
                        </m:num>
                        <m:den>
                          <m:r>
                            <a:rPr lang="en-US" altLang="zh-CN" i="1">
                              <a:solidFill>
                                <a:srgbClr val="333333"/>
                              </a:solidFill>
                              <a:latin typeface="Cambria Math" panose="02040503050406030204" pitchFamily="18" charset="0"/>
                              <a:ea typeface="微软雅黑" panose="020B0503020204020204" pitchFamily="34" charset="-122"/>
                            </a:rPr>
                            <m:t>𝜕</m:t>
                          </m:r>
                          <m:r>
                            <a:rPr lang="zh-CN" altLang="en-US" i="1">
                              <a:solidFill>
                                <a:srgbClr val="333333"/>
                              </a:solidFill>
                              <a:latin typeface="Cambria Math" panose="02040503050406030204" pitchFamily="18" charset="0"/>
                              <a:ea typeface="微软雅黑" panose="020B0503020204020204" pitchFamily="34" charset="-122"/>
                            </a:rPr>
                            <m:t>𝜔</m:t>
                          </m:r>
                        </m:den>
                      </m:f>
                      <m:r>
                        <a:rPr lang="en-US" altLang="zh-CN" i="1">
                          <a:solidFill>
                            <a:srgbClr val="333333"/>
                          </a:solidFill>
                          <a:latin typeface="Cambria Math" panose="02040503050406030204" pitchFamily="18" charset="0"/>
                          <a:ea typeface="微软雅黑" panose="020B0503020204020204" pitchFamily="34" charset="-122"/>
                        </a:rPr>
                        <m:t>=</m:t>
                      </m:r>
                      <m:r>
                        <a:rPr lang="en-US" altLang="zh-CN" i="1" kern="0">
                          <a:latin typeface="Cambria Math" panose="02040503050406030204" pitchFamily="18" charset="0"/>
                          <a:ea typeface="微软雅黑" panose="020B0503020204020204" pitchFamily="34" charset="-122"/>
                        </a:rPr>
                        <m:t>−0.0</m:t>
                      </m:r>
                      <m:r>
                        <a:rPr lang="en-US" altLang="zh-CN" b="0" i="1" kern="0" smtClean="0">
                          <a:latin typeface="Cambria Math" panose="02040503050406030204" pitchFamily="18" charset="0"/>
                          <a:ea typeface="微软雅黑" panose="020B0503020204020204" pitchFamily="34" charset="-122"/>
                        </a:rPr>
                        <m:t>152</m:t>
                      </m:r>
                    </m:oMath>
                  </m:oMathPara>
                </a14:m>
                <a:endParaRPr lang="zh-CN" altLang="en-US" dirty="0"/>
              </a:p>
            </p:txBody>
          </p:sp>
        </mc:Choice>
        <mc:Fallback xmlns="">
          <p:sp>
            <p:nvSpPr>
              <p:cNvPr id="23" name="矩形 22"/>
              <p:cNvSpPr>
                <a:spLocks noRot="1" noChangeAspect="1" noMove="1" noResize="1" noEditPoints="1" noAdjustHandles="1" noChangeArrowheads="1" noChangeShapeType="1" noTextEdit="1"/>
              </p:cNvSpPr>
              <p:nvPr/>
            </p:nvSpPr>
            <p:spPr>
              <a:xfrm>
                <a:off x="6544371" y="3377497"/>
                <a:ext cx="2042482" cy="619913"/>
              </a:xfrm>
              <a:prstGeom prst="rect">
                <a:avLst/>
              </a:prstGeom>
              <a:blipFill>
                <a:blip r:embed="rId14"/>
                <a:stretch>
                  <a:fillRect/>
                </a:stretch>
              </a:blipFill>
            </p:spPr>
            <p:txBody>
              <a:bodyPr/>
              <a:lstStyle/>
              <a:p>
                <a:r>
                  <a:rPr lang="zh-CN" altLang="en-US">
                    <a:noFill/>
                  </a:rPr>
                  <a:t> </a:t>
                </a:r>
              </a:p>
            </p:txBody>
          </p:sp>
        </mc:Fallback>
      </mc:AlternateContent>
      <p:sp>
        <p:nvSpPr>
          <p:cNvPr id="24" name="矩形 23"/>
          <p:cNvSpPr/>
          <p:nvPr/>
        </p:nvSpPr>
        <p:spPr>
          <a:xfrm>
            <a:off x="2277693" y="5624962"/>
            <a:ext cx="7667380" cy="720080"/>
          </a:xfrm>
          <a:prstGeom prst="rect">
            <a:avLst/>
          </a:prstGeom>
          <a:solidFill>
            <a:srgbClr val="1C479B"/>
          </a:solidFill>
          <a:ln>
            <a:solidFill>
              <a:srgbClr val="1C4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mc:AlternateContent xmlns:mc="http://schemas.openxmlformats.org/markup-compatibility/2006" xmlns:a14="http://schemas.microsoft.com/office/drawing/2010/main">
        <mc:Choice Requires="a14">
          <p:sp>
            <p:nvSpPr>
              <p:cNvPr id="25" name="矩形 24"/>
              <p:cNvSpPr/>
              <p:nvPr/>
            </p:nvSpPr>
            <p:spPr>
              <a:xfrm>
                <a:off x="2246546" y="5770434"/>
                <a:ext cx="7698527" cy="476990"/>
              </a:xfrm>
              <a:prstGeom prst="rect">
                <a:avLst/>
              </a:prstGeom>
            </p:spPr>
            <p:txBody>
              <a:bodyPr wrap="square">
                <a:spAutoFit/>
              </a:bodyPr>
              <a:lstStyle/>
              <a:p>
                <a:pPr marL="285750" indent="-285750">
                  <a:buFont typeface="Wingdings" panose="05000000000000000000" pitchFamily="2" charset="2"/>
                  <a:buChar char="Ø"/>
                </a:pPr>
                <a:r>
                  <a:rPr lang="zh-CN" altLang="en-US" sz="2400" dirty="0">
                    <a:solidFill>
                      <a:schemeClr val="bg1"/>
                    </a:solidFill>
                    <a:latin typeface="微软雅黑 Light" panose="020B0502040204020203" pitchFamily="34" charset="-122"/>
                    <a:ea typeface="微软雅黑 Light" panose="020B0502040204020203" pitchFamily="34" charset="-122"/>
                  </a:rPr>
                  <a:t>同理，可以计算新的</a:t>
                </a:r>
                <a14:m>
                  <m:oMath xmlns:m="http://schemas.openxmlformats.org/officeDocument/2006/math">
                    <m:sSup>
                      <m:sSupPr>
                        <m:ctrlPr>
                          <a:rPr lang="en-US" altLang="zh-CN" sz="2400" i="1" kern="0">
                            <a:solidFill>
                              <a:schemeClr val="bg1"/>
                            </a:solidFill>
                            <a:latin typeface="Cambria Math" panose="02040503050406030204" pitchFamily="18" charset="0"/>
                            <a:ea typeface="微软雅黑" panose="020B0503020204020204" pitchFamily="34" charset="-122"/>
                          </a:rPr>
                        </m:ctrlPr>
                      </m:sSupPr>
                      <m:e>
                        <m:r>
                          <a:rPr lang="en-US" altLang="zh-CN" sz="2400" b="0" i="1" kern="0" smtClean="0">
                            <a:solidFill>
                              <a:schemeClr val="bg1"/>
                            </a:solidFill>
                            <a:latin typeface="Cambria Math" panose="02040503050406030204" pitchFamily="18" charset="0"/>
                            <a:ea typeface="微软雅黑" panose="020B0503020204020204" pitchFamily="34" charset="-122"/>
                          </a:rPr>
                          <m:t>𝑊</m:t>
                        </m:r>
                      </m:e>
                      <m:sup>
                        <m:r>
                          <a:rPr lang="en-US" altLang="zh-CN" sz="2400" i="1" kern="0">
                            <a:solidFill>
                              <a:schemeClr val="bg1"/>
                            </a:solidFill>
                            <a:latin typeface="Cambria Math" panose="02040503050406030204" pitchFamily="18" charset="0"/>
                            <a:ea typeface="微软雅黑" panose="020B0503020204020204" pitchFamily="34" charset="-122"/>
                          </a:rPr>
                          <m:t>(2)</m:t>
                        </m:r>
                      </m:sup>
                    </m:sSup>
                  </m:oMath>
                </a14:m>
                <a:r>
                  <a:rPr lang="zh-CN" altLang="en-US" sz="2400" dirty="0">
                    <a:solidFill>
                      <a:schemeClr val="bg1"/>
                    </a:solidFill>
                    <a:latin typeface="微软雅黑 Light" panose="020B0502040204020203" pitchFamily="34" charset="-122"/>
                    <a:ea typeface="微软雅黑 Light" panose="020B0502040204020203" pitchFamily="34" charset="-122"/>
                  </a:rPr>
                  <a:t>和</a:t>
                </a:r>
                <a14:m>
                  <m:oMath xmlns:m="http://schemas.openxmlformats.org/officeDocument/2006/math">
                    <m:sSup>
                      <m:sSupPr>
                        <m:ctrlPr>
                          <a:rPr lang="en-US" altLang="zh-CN" sz="2400" i="1" kern="0">
                            <a:solidFill>
                              <a:schemeClr val="bg1"/>
                            </a:solidFill>
                            <a:latin typeface="Cambria Math" panose="02040503050406030204" pitchFamily="18" charset="0"/>
                            <a:ea typeface="微软雅黑" panose="020B0503020204020204" pitchFamily="34" charset="-122"/>
                          </a:rPr>
                        </m:ctrlPr>
                      </m:sSupPr>
                      <m:e>
                        <m:r>
                          <a:rPr lang="en-US" altLang="zh-CN" sz="2400" i="1" kern="0">
                            <a:solidFill>
                              <a:schemeClr val="bg1"/>
                            </a:solidFill>
                            <a:latin typeface="Cambria Math" panose="02040503050406030204" pitchFamily="18" charset="0"/>
                            <a:ea typeface="微软雅黑" panose="020B0503020204020204" pitchFamily="34" charset="-122"/>
                          </a:rPr>
                          <m:t>𝑊</m:t>
                        </m:r>
                      </m:e>
                      <m:sup>
                        <m:r>
                          <a:rPr lang="en-US" altLang="zh-CN" sz="2400" i="1" kern="0">
                            <a:solidFill>
                              <a:schemeClr val="bg1"/>
                            </a:solidFill>
                            <a:latin typeface="Cambria Math" panose="02040503050406030204" pitchFamily="18" charset="0"/>
                            <a:ea typeface="微软雅黑" panose="020B0503020204020204" pitchFamily="34" charset="-122"/>
                          </a:rPr>
                          <m:t>(</m:t>
                        </m:r>
                        <m:r>
                          <a:rPr lang="en-US" altLang="zh-CN" sz="2400" b="0" i="1" kern="0" smtClean="0">
                            <a:solidFill>
                              <a:schemeClr val="bg1"/>
                            </a:solidFill>
                            <a:latin typeface="Cambria Math" panose="02040503050406030204" pitchFamily="18" charset="0"/>
                            <a:ea typeface="微软雅黑" panose="020B0503020204020204" pitchFamily="34" charset="-122"/>
                          </a:rPr>
                          <m:t>1</m:t>
                        </m:r>
                        <m:r>
                          <a:rPr lang="en-US" altLang="zh-CN" sz="2400" i="1" kern="0">
                            <a:solidFill>
                              <a:schemeClr val="bg1"/>
                            </a:solidFill>
                            <a:latin typeface="Cambria Math" panose="02040503050406030204" pitchFamily="18" charset="0"/>
                            <a:ea typeface="微软雅黑" panose="020B0503020204020204" pitchFamily="34" charset="-122"/>
                          </a:rPr>
                          <m:t>)</m:t>
                        </m:r>
                      </m:sup>
                    </m:sSup>
                  </m:oMath>
                </a14:m>
                <a:r>
                  <a:rPr lang="zh-CN" altLang="en-US" sz="2400" dirty="0">
                    <a:solidFill>
                      <a:schemeClr val="bg1"/>
                    </a:solidFill>
                    <a:latin typeface="微软雅黑 Light" panose="020B0502040204020203" pitchFamily="34" charset="-122"/>
                    <a:ea typeface="微软雅黑 Light" panose="020B0502040204020203" pitchFamily="34" charset="-122"/>
                  </a:rPr>
                  <a:t>的其他元素的权重值</a:t>
                </a:r>
              </a:p>
            </p:txBody>
          </p:sp>
        </mc:Choice>
        <mc:Fallback xmlns="">
          <p:sp>
            <p:nvSpPr>
              <p:cNvPr id="25" name="矩形 24"/>
              <p:cNvSpPr>
                <a:spLocks noRot="1" noChangeAspect="1" noMove="1" noResize="1" noEditPoints="1" noAdjustHandles="1" noChangeArrowheads="1" noChangeShapeType="1" noTextEdit="1"/>
              </p:cNvSpPr>
              <p:nvPr/>
            </p:nvSpPr>
            <p:spPr>
              <a:xfrm>
                <a:off x="2246546" y="5770434"/>
                <a:ext cx="7698527" cy="476990"/>
              </a:xfrm>
              <a:prstGeom prst="rect">
                <a:avLst/>
              </a:prstGeom>
              <a:blipFill>
                <a:blip r:embed="rId15"/>
                <a:stretch>
                  <a:fillRect l="-1109" t="-7692" b="-28205"/>
                </a:stretch>
              </a:blipFill>
            </p:spPr>
            <p:txBody>
              <a:bodyPr/>
              <a:lstStyle/>
              <a:p>
                <a:r>
                  <a:rPr lang="zh-CN" altLang="en-US">
                    <a:noFill/>
                  </a:rPr>
                  <a:t> </a:t>
                </a:r>
              </a:p>
            </p:txBody>
          </p:sp>
        </mc:Fallback>
      </mc:AlternateContent>
      <p:sp>
        <p:nvSpPr>
          <p:cNvPr id="28" name="灯片编号占位符 8">
            <a:extLst>
              <a:ext uri="{FF2B5EF4-FFF2-40B4-BE49-F238E27FC236}">
                <a16:creationId xmlns:a16="http://schemas.microsoft.com/office/drawing/2014/main" id="{45496B5F-1E27-43E9-81E3-3FC89F60A1EE}"/>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42</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90550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1000"/>
                                        <p:tgtEl>
                                          <p:spTgt spid="24"/>
                                        </p:tgtEl>
                                      </p:cBhvr>
                                    </p:animEffect>
                                    <p:anim calcmode="lin" valueType="num">
                                      <p:cBhvr>
                                        <p:cTn id="28" dur="1000" fill="hold"/>
                                        <p:tgtEl>
                                          <p:spTgt spid="24"/>
                                        </p:tgtEl>
                                        <p:attrNameLst>
                                          <p:attrName>ppt_x</p:attrName>
                                        </p:attrNameLst>
                                      </p:cBhvr>
                                      <p:tavLst>
                                        <p:tav tm="0">
                                          <p:val>
                                            <p:strVal val="#ppt_x"/>
                                          </p:val>
                                        </p:tav>
                                        <p:tav tm="100000">
                                          <p:val>
                                            <p:strVal val="#ppt_x"/>
                                          </p:val>
                                        </p:tav>
                                      </p:tavLst>
                                    </p:anim>
                                    <p:anim calcmode="lin" valueType="num">
                                      <p:cBhvr>
                                        <p:cTn id="29" dur="1000" fill="hold"/>
                                        <p:tgtEl>
                                          <p:spTgt spid="2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1000"/>
                                        <p:tgtEl>
                                          <p:spTgt spid="25"/>
                                        </p:tgtEl>
                                      </p:cBhvr>
                                    </p:animEffect>
                                    <p:anim calcmode="lin" valueType="num">
                                      <p:cBhvr>
                                        <p:cTn id="33" dur="1000" fill="hold"/>
                                        <p:tgtEl>
                                          <p:spTgt spid="25"/>
                                        </p:tgtEl>
                                        <p:attrNameLst>
                                          <p:attrName>ppt_x</p:attrName>
                                        </p:attrNameLst>
                                      </p:cBhvr>
                                      <p:tavLst>
                                        <p:tav tm="0">
                                          <p:val>
                                            <p:strVal val="#ppt_x"/>
                                          </p:val>
                                        </p:tav>
                                        <p:tav tm="100000">
                                          <p:val>
                                            <p:strVal val="#ppt_x"/>
                                          </p:val>
                                        </p:tav>
                                      </p:tavLst>
                                    </p:anim>
                                    <p:anim calcmode="lin" valueType="num">
                                      <p:cBhvr>
                                        <p:cTn id="3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4" grpId="0" animBg="1"/>
      <p:bldP spid="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反向传播</a:t>
            </a:r>
            <a:endParaRPr lang="en-US" altLang="zh-CN" sz="2600" b="1" dirty="0"/>
          </a:p>
        </p:txBody>
      </p:sp>
      <p:sp>
        <p:nvSpPr>
          <p:cNvPr id="8" name="矩形 7">
            <a:extLst>
              <a:ext uri="{FF2B5EF4-FFF2-40B4-BE49-F238E27FC236}">
                <a16:creationId xmlns:a16="http://schemas.microsoft.com/office/drawing/2014/main" id="{0AA4F2AC-BCBE-4ADD-AFC7-1927DBDFEF07}"/>
              </a:ext>
            </a:extLst>
          </p:cNvPr>
          <p:cNvSpPr/>
          <p:nvPr/>
        </p:nvSpPr>
        <p:spPr>
          <a:xfrm>
            <a:off x="656450" y="1561184"/>
            <a:ext cx="10836855" cy="2799484"/>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sz="2400" b="1" dirty="0">
                <a:latin typeface="微软雅黑 Light" panose="020B0502040204020203" pitchFamily="34" charset="-122"/>
                <a:ea typeface="微软雅黑 Light" panose="020B0502040204020203" pitchFamily="34" charset="-122"/>
              </a:rPr>
              <a:t>反向传播的作用是将神经元的输出误差反向传播到神经元的输入端，并以此来更新神经元输入端的权重</a:t>
            </a:r>
            <a:endParaRPr lang="en-US" altLang="zh-CN" sz="2400" b="1" dirty="0">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Ø"/>
            </a:pPr>
            <a:r>
              <a:rPr lang="zh-CN" altLang="en-US" sz="2400" b="1" dirty="0">
                <a:latin typeface="微软雅黑 Light" panose="020B0502040204020203" pitchFamily="34" charset="-122"/>
                <a:ea typeface="微软雅黑 Light" panose="020B0502040204020203" pitchFamily="34" charset="-122"/>
              </a:rPr>
              <a:t>当第一次反向传播法完成后，网络的模型参数得到更新，网络进行下一轮的正向计算过程，如此反复的迭代进行训练，从而不断缩小计算值与真实值之间的误差。</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3393A74-D3CF-4CA1-80E2-B516E32A9E89}"/>
                  </a:ext>
                </a:extLst>
              </p:cNvPr>
              <p:cNvSpPr txBox="1"/>
              <p:nvPr/>
            </p:nvSpPr>
            <p:spPr>
              <a:xfrm>
                <a:off x="2892056" y="5103783"/>
                <a:ext cx="6103088" cy="12786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(1)</m:t>
                          </m:r>
                        </m:sup>
                      </m:sSup>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smtClean="0">
                                        <a:solidFill>
                                          <a:srgbClr val="FF0000"/>
                                        </a:solidFill>
                                        <a:latin typeface="Cambria Math" panose="02040503050406030204" pitchFamily="18" charset="0"/>
                                        <a:ea typeface="微软雅黑" panose="020B0503020204020204" pitchFamily="34" charset="-122"/>
                                      </a:rPr>
                                    </m:ctrlPr>
                                  </m:sSubSupPr>
                                  <m:e>
                                    <m:r>
                                      <a:rPr lang="en-US" altLang="zh-CN" i="1" kern="0">
                                        <a:solidFill>
                                          <a:srgbClr val="FF0000"/>
                                        </a:solidFill>
                                        <a:latin typeface="Cambria Math" panose="02040503050406030204" pitchFamily="18" charset="0"/>
                                        <a:ea typeface="微软雅黑" panose="020B0503020204020204" pitchFamily="34" charset="-122"/>
                                      </a:rPr>
                                      <m:t>𝑤</m:t>
                                    </m:r>
                                  </m:e>
                                  <m:sub>
                                    <m:r>
                                      <a:rPr lang="en-US" altLang="zh-CN" i="1" kern="0">
                                        <a:solidFill>
                                          <a:srgbClr val="FF0000"/>
                                        </a:solidFill>
                                        <a:latin typeface="Cambria Math" panose="02040503050406030204" pitchFamily="18" charset="0"/>
                                        <a:ea typeface="微软雅黑" panose="020B0503020204020204" pitchFamily="34" charset="-122"/>
                                      </a:rPr>
                                      <m:t>2,2</m:t>
                                    </m:r>
                                  </m:sub>
                                  <m:sup>
                                    <m:r>
                                      <a:rPr lang="en-US" altLang="zh-CN" i="1" kern="0">
                                        <a:solidFill>
                                          <a:srgbClr val="FF0000"/>
                                        </a:solidFill>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3,3</m:t>
                                    </m:r>
                                  </m:sub>
                                  <m:sup>
                                    <m:r>
                                      <a:rPr lang="en-US" altLang="zh-CN" i="1" kern="0">
                                        <a:latin typeface="Cambria Math" panose="02040503050406030204" pitchFamily="18" charset="0"/>
                                        <a:ea typeface="微软雅黑" panose="020B0503020204020204" pitchFamily="34" charset="-122"/>
                                      </a:rPr>
                                      <m:t>(1)</m:t>
                                    </m:r>
                                  </m:sup>
                                </m:sSubSup>
                              </m:e>
                            </m:mr>
                          </m:m>
                        </m:e>
                      </m:d>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0.15</m:t>
                                </m:r>
                              </m:e>
                              <m:e>
                                <m:r>
                                  <a:rPr lang="en-US" altLang="zh-CN" b="0" i="1" kern="0" smtClean="0">
                                    <a:latin typeface="Cambria Math" panose="02040503050406030204" pitchFamily="18" charset="0"/>
                                    <a:ea typeface="微软雅黑" panose="020B0503020204020204" pitchFamily="34" charset="-122"/>
                                  </a:rPr>
                                  <m:t>0.30</m:t>
                                </m:r>
                              </m:e>
                            </m:mr>
                            <m:mr>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solidFill>
                                      <a:srgbClr val="FF0000"/>
                                    </a:solidFill>
                                    <a:latin typeface="Cambria Math" panose="02040503050406030204" pitchFamily="18" charset="0"/>
                                    <a:ea typeface="微软雅黑" panose="020B0503020204020204" pitchFamily="34" charset="-122"/>
                                  </a:rPr>
                                  <m:t>0.20</m:t>
                                </m:r>
                              </m:e>
                              <m:e>
                                <m:r>
                                  <a:rPr lang="en-US" altLang="zh-CN" b="0" i="1" kern="0" smtClean="0">
                                    <a:latin typeface="Cambria Math" panose="02040503050406030204" pitchFamily="18" charset="0"/>
                                    <a:ea typeface="微软雅黑" panose="020B0503020204020204" pitchFamily="34" charset="-122"/>
                                  </a:rPr>
                                  <m:t>0.35</m:t>
                                </m:r>
                              </m:e>
                            </m:mr>
                            <m:mr>
                              <m:e>
                                <m:r>
                                  <a:rPr lang="en-US" altLang="zh-CN" b="0" i="1" kern="0" smtClean="0">
                                    <a:latin typeface="Cambria Math" panose="02040503050406030204" pitchFamily="18" charset="0"/>
                                    <a:ea typeface="微软雅黑" panose="020B0503020204020204" pitchFamily="34" charset="-122"/>
                                  </a:rPr>
                                  <m:t>0.10</m:t>
                                </m:r>
                              </m:e>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0.15</m:t>
                                </m:r>
                              </m:e>
                            </m:mr>
                          </m:m>
                        </m:e>
                      </m:d>
                    </m:oMath>
                  </m:oMathPara>
                </a14:m>
                <a:endParaRPr lang="zh-CN" altLang="en-US" dirty="0"/>
              </a:p>
            </p:txBody>
          </p:sp>
        </mc:Choice>
        <mc:Fallback xmlns="">
          <p:sp>
            <p:nvSpPr>
              <p:cNvPr id="12" name="文本框 11">
                <a:extLst>
                  <a:ext uri="{FF2B5EF4-FFF2-40B4-BE49-F238E27FC236}">
                    <a16:creationId xmlns:a16="http://schemas.microsoft.com/office/drawing/2014/main" id="{E3393A74-D3CF-4CA1-80E2-B516E32A9E89}"/>
                  </a:ext>
                </a:extLst>
              </p:cNvPr>
              <p:cNvSpPr txBox="1">
                <a:spLocks noRot="1" noChangeAspect="1" noMove="1" noResize="1" noEditPoints="1" noAdjustHandles="1" noChangeArrowheads="1" noChangeShapeType="1" noTextEdit="1"/>
              </p:cNvSpPr>
              <p:nvPr/>
            </p:nvSpPr>
            <p:spPr>
              <a:xfrm>
                <a:off x="2892056" y="5103783"/>
                <a:ext cx="6103088" cy="1278620"/>
              </a:xfrm>
              <a:prstGeom prst="rect">
                <a:avLst/>
              </a:prstGeom>
              <a:blipFill>
                <a:blip r:embed="rId7"/>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485ED4C8-BBBF-4D7A-91D0-3D3155C573F5}"/>
              </a:ext>
            </a:extLst>
          </p:cNvPr>
          <p:cNvSpPr txBox="1"/>
          <p:nvPr/>
        </p:nvSpPr>
        <p:spPr>
          <a:xfrm>
            <a:off x="1690498" y="5080164"/>
            <a:ext cx="1249679" cy="369332"/>
          </a:xfrm>
          <a:prstGeom prst="rect">
            <a:avLst/>
          </a:prstGeom>
          <a:noFill/>
        </p:spPr>
        <p:txBody>
          <a:bodyPr wrap="square">
            <a:spAutoFit/>
          </a:bodyPr>
          <a:lstStyle/>
          <a:p>
            <a:r>
              <a:rPr lang="zh-CN" altLang="en-US" sz="1800" dirty="0">
                <a:solidFill>
                  <a:srgbClr val="FF0000"/>
                </a:solidFill>
                <a:latin typeface="Times New Roman" panose="02020603050405020304" pitchFamily="18" charset="0"/>
                <a:ea typeface="微软雅黑" panose="020B0503020204020204" pitchFamily="34" charset="-122"/>
              </a:rPr>
              <a:t>作业 </a:t>
            </a:r>
            <a:r>
              <a:rPr lang="en-US" altLang="zh-CN" sz="1800" dirty="0">
                <a:solidFill>
                  <a:srgbClr val="FF0000"/>
                </a:solidFill>
                <a:latin typeface="Times New Roman" panose="02020603050405020304" pitchFamily="18" charset="0"/>
                <a:ea typeface="微软雅黑" panose="020B0503020204020204" pitchFamily="34" charset="-122"/>
              </a:rPr>
              <a:t>2</a:t>
            </a:r>
            <a:r>
              <a:rPr lang="zh-CN" altLang="en-US" sz="1800" dirty="0">
                <a:solidFill>
                  <a:srgbClr val="FF0000"/>
                </a:solidFill>
                <a:latin typeface="Times New Roman" panose="02020603050405020304" pitchFamily="18" charset="0"/>
                <a:ea typeface="微软雅黑" panose="020B0503020204020204" pitchFamily="34" charset="-122"/>
              </a:rPr>
              <a:t>：</a:t>
            </a:r>
            <a:endParaRPr lang="zh-CN" altLang="en-US" dirty="0">
              <a:solidFill>
                <a:srgbClr val="FF0000"/>
              </a:solidFill>
              <a:latin typeface="Times New Roman" panose="02020603050405020304" pitchFamily="18" charset="0"/>
              <a:ea typeface="微软雅黑" panose="020B0503020204020204" pitchFamily="34" charset="-122"/>
            </a:endParaRPr>
          </a:p>
        </p:txBody>
      </p:sp>
      <p:sp>
        <p:nvSpPr>
          <p:cNvPr id="13" name="灯片编号占位符 8">
            <a:extLst>
              <a:ext uri="{FF2B5EF4-FFF2-40B4-BE49-F238E27FC236}">
                <a16:creationId xmlns:a16="http://schemas.microsoft.com/office/drawing/2014/main" id="{7FD85656-0141-4051-BE2C-C9EB2258E2CB}"/>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43</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7972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本章提纲</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1" name="矩形 20"/>
          <p:cNvSpPr/>
          <p:nvPr/>
        </p:nvSpPr>
        <p:spPr>
          <a:xfrm>
            <a:off x="946463" y="697477"/>
            <a:ext cx="10301608" cy="58721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从机器学习到神经网络</a:t>
            </a:r>
          </a:p>
          <a:p>
            <a:pPr marL="45720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正向计算与反向传播</a:t>
            </a:r>
            <a:endParaRPr lang="en-US" altLang="zh-CN" sz="2800" dirty="0">
              <a:solidFill>
                <a:sysClr val="windowText" lastClr="000000"/>
              </a:solidFill>
            </a:endParaRPr>
          </a:p>
          <a:p>
            <a:pPr marL="457200" lvl="0" indent="-457200">
              <a:lnSpc>
                <a:spcPct val="150000"/>
              </a:lnSpc>
              <a:buClr>
                <a:srgbClr val="727CA3"/>
              </a:buClr>
              <a:buFont typeface="Wingdings" panose="05000000000000000000" pitchFamily="2" charset="2"/>
              <a:buChar char="Ø"/>
            </a:pPr>
            <a:r>
              <a:rPr lang="zh-CN" altLang="en-US" sz="2800" u="sng" dirty="0">
                <a:solidFill>
                  <a:sysClr val="windowText" lastClr="000000"/>
                </a:solidFill>
              </a:rPr>
              <a:t>神经网络设计原则</a:t>
            </a:r>
            <a:endParaRPr lang="en-US" altLang="zh-CN" sz="2800" u="sng"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网络的拓扑结构</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激活函数</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损失函数</a:t>
            </a:r>
            <a:endParaRPr lang="en-US" altLang="zh-CN" sz="2800" dirty="0">
              <a:solidFill>
                <a:sysClr val="windowText" lastClr="000000"/>
              </a:solidFill>
            </a:endParaRPr>
          </a:p>
          <a:p>
            <a:pPr marL="45720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过拟合与正则化</a:t>
            </a:r>
            <a:endParaRPr lang="en-US" altLang="zh-CN" sz="2800" dirty="0">
              <a:solidFill>
                <a:sysClr val="windowText" lastClr="000000"/>
              </a:solidFill>
            </a:endParaRPr>
          </a:p>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交叉验证</a:t>
            </a:r>
          </a:p>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小结</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10" name="灯片编号占位符 8">
            <a:extLst>
              <a:ext uri="{FF2B5EF4-FFF2-40B4-BE49-F238E27FC236}">
                <a16:creationId xmlns:a16="http://schemas.microsoft.com/office/drawing/2014/main" id="{C8A2C36D-00DB-492A-AF6B-376BE7F6788A}"/>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44</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781100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神经网络模型训练</a:t>
            </a:r>
            <a:endParaRPr lang="en-US" altLang="zh-CN" sz="2600" b="1" dirty="0"/>
          </a:p>
        </p:txBody>
      </p:sp>
      <p:sp>
        <p:nvSpPr>
          <p:cNvPr id="8" name="矩形 7">
            <a:extLst>
              <a:ext uri="{FF2B5EF4-FFF2-40B4-BE49-F238E27FC236}">
                <a16:creationId xmlns:a16="http://schemas.microsoft.com/office/drawing/2014/main" id="{E0AE6961-245E-4685-B3D1-F205C9FA12DF}"/>
              </a:ext>
            </a:extLst>
          </p:cNvPr>
          <p:cNvSpPr/>
          <p:nvPr/>
        </p:nvSpPr>
        <p:spPr>
          <a:xfrm>
            <a:off x="680864" y="1420838"/>
            <a:ext cx="6226629" cy="65916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C00000"/>
                </a:solidFill>
                <a:highlight>
                  <a:srgbClr val="FFFF00"/>
                </a:highlight>
              </a:rPr>
              <a:t>训练完了结果就是不准，怎么办？</a:t>
            </a:r>
          </a:p>
        </p:txBody>
      </p:sp>
      <p:sp>
        <p:nvSpPr>
          <p:cNvPr id="9" name="矩形 8"/>
          <p:cNvSpPr/>
          <p:nvPr/>
        </p:nvSpPr>
        <p:spPr>
          <a:xfrm>
            <a:off x="7397096" y="883213"/>
            <a:ext cx="4827435" cy="2031325"/>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800" dirty="0">
                <a:solidFill>
                  <a:srgbClr val="C00000"/>
                </a:solidFill>
                <a:latin typeface="微软雅黑 Light" panose="020B0502040204020203" pitchFamily="34" charset="-122"/>
                <a:ea typeface="微软雅黑 Light" panose="020B0502040204020203" pitchFamily="34" charset="-122"/>
              </a:rPr>
              <a:t>调整网络拓扑结构</a:t>
            </a:r>
            <a:endParaRPr lang="en-US" altLang="zh-CN" sz="2800" dirty="0">
              <a:solidFill>
                <a:srgbClr val="C00000"/>
              </a:solidFill>
              <a:latin typeface="微软雅黑 Light" panose="020B0502040204020203" pitchFamily="34" charset="-122"/>
              <a:ea typeface="微软雅黑 Light" panose="020B0502040204020203" pitchFamily="34" charset="-122"/>
            </a:endParaRPr>
          </a:p>
          <a:p>
            <a:pPr marL="285750" indent="-285750">
              <a:lnSpc>
                <a:spcPct val="150000"/>
              </a:lnSpc>
              <a:buFont typeface="Wingdings" panose="05000000000000000000" pitchFamily="2" charset="2"/>
              <a:buChar char="Ø"/>
            </a:pPr>
            <a:r>
              <a:rPr lang="zh-CN" altLang="en-US" sz="2800" dirty="0">
                <a:solidFill>
                  <a:srgbClr val="C00000"/>
                </a:solidFill>
                <a:latin typeface="微软雅黑 Light" panose="020B0502040204020203" pitchFamily="34" charset="-122"/>
                <a:ea typeface="微软雅黑 Light" panose="020B0502040204020203" pitchFamily="34" charset="-122"/>
              </a:rPr>
              <a:t>选择合适的激活函数</a:t>
            </a:r>
            <a:endParaRPr lang="en-US" altLang="zh-CN" sz="2800" dirty="0">
              <a:solidFill>
                <a:srgbClr val="C00000"/>
              </a:solidFill>
              <a:latin typeface="微软雅黑 Light" panose="020B0502040204020203" pitchFamily="34" charset="-122"/>
              <a:ea typeface="微软雅黑 Light" panose="020B0502040204020203" pitchFamily="34" charset="-122"/>
            </a:endParaRPr>
          </a:p>
          <a:p>
            <a:pPr marL="285750" indent="-285750">
              <a:lnSpc>
                <a:spcPct val="150000"/>
              </a:lnSpc>
              <a:buFont typeface="Wingdings" panose="05000000000000000000" pitchFamily="2" charset="2"/>
              <a:buChar char="Ø"/>
            </a:pPr>
            <a:r>
              <a:rPr lang="zh-CN" altLang="en-US" sz="2800" dirty="0">
                <a:solidFill>
                  <a:srgbClr val="C00000"/>
                </a:solidFill>
                <a:latin typeface="微软雅黑 Light" panose="020B0502040204020203" pitchFamily="34" charset="-122"/>
                <a:ea typeface="微软雅黑 Light" panose="020B0502040204020203" pitchFamily="34" charset="-122"/>
              </a:rPr>
              <a:t>选择合适的损失函数</a:t>
            </a:r>
            <a:endParaRPr lang="en-US" altLang="zh-CN" sz="2800" dirty="0">
              <a:solidFill>
                <a:srgbClr val="C00000"/>
              </a:solidFill>
              <a:latin typeface="微软雅黑 Light" panose="020B0502040204020203" pitchFamily="34" charset="-122"/>
              <a:ea typeface="微软雅黑 Light" panose="020B0502040204020203" pitchFamily="34" charset="-122"/>
            </a:endParaRPr>
          </a:p>
        </p:txBody>
      </p:sp>
      <p:sp>
        <p:nvSpPr>
          <p:cNvPr id="10" name="内容占位符 2"/>
          <p:cNvSpPr txBox="1">
            <a:spLocks/>
          </p:cNvSpPr>
          <p:nvPr/>
        </p:nvSpPr>
        <p:spPr>
          <a:xfrm>
            <a:off x="313873" y="280889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神经网络的拓扑调节</a:t>
            </a:r>
            <a:endParaRPr lang="en-US" altLang="zh-CN" sz="2600" b="1" dirty="0"/>
          </a:p>
        </p:txBody>
      </p:sp>
      <p:sp>
        <p:nvSpPr>
          <p:cNvPr id="11" name="矩形 10">
            <a:extLst>
              <a:ext uri="{FF2B5EF4-FFF2-40B4-BE49-F238E27FC236}">
                <a16:creationId xmlns:a16="http://schemas.microsoft.com/office/drawing/2014/main" id="{177BFA58-243B-4906-951C-DEE2F905DF31}"/>
              </a:ext>
            </a:extLst>
          </p:cNvPr>
          <p:cNvSpPr/>
          <p:nvPr/>
        </p:nvSpPr>
        <p:spPr>
          <a:xfrm>
            <a:off x="8136286" y="4154178"/>
            <a:ext cx="3102429" cy="957708"/>
          </a:xfrm>
          <a:prstGeom prst="rect">
            <a:avLst/>
          </a:prstGeom>
          <a:solidFill>
            <a:srgbClr val="1C479B"/>
          </a:solidFill>
          <a:ln>
            <a:solidFill>
              <a:srgbClr val="1C4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5B632013-DE7D-4F41-856D-FC41791878A0}"/>
              </a:ext>
            </a:extLst>
          </p:cNvPr>
          <p:cNvSpPr/>
          <p:nvPr/>
        </p:nvSpPr>
        <p:spPr>
          <a:xfrm>
            <a:off x="3910149" y="4067090"/>
            <a:ext cx="7222190" cy="2400657"/>
          </a:xfrm>
          <a:prstGeom prst="rect">
            <a:avLst/>
          </a:prstGeom>
        </p:spPr>
        <p:txBody>
          <a:bodyPr wrap="square">
            <a:spAutoFit/>
          </a:bodyPr>
          <a:lstStyle/>
          <a:p>
            <a:pPr>
              <a:lnSpc>
                <a:spcPct val="150000"/>
              </a:lnSpc>
            </a:pPr>
            <a:r>
              <a:rPr lang="zh-CN" altLang="en-US" sz="2000" dirty="0">
                <a:solidFill>
                  <a:srgbClr val="333333"/>
                </a:solidFill>
                <a:latin typeface="微软雅黑 Light" panose="020B0502040204020203" pitchFamily="34" charset="-122"/>
                <a:ea typeface="微软雅黑 Light" panose="020B0502040204020203" pitchFamily="34" charset="-122"/>
              </a:rPr>
              <a:t>输入层：神经元个数</a:t>
            </a:r>
            <a:r>
              <a:rPr lang="en-US" altLang="zh-CN" sz="2000" dirty="0">
                <a:solidFill>
                  <a:srgbClr val="333333"/>
                </a:solidFill>
                <a:latin typeface="微软雅黑 Light" panose="020B0502040204020203" pitchFamily="34" charset="-122"/>
                <a:ea typeface="微软雅黑 Light" panose="020B0502040204020203" pitchFamily="34" charset="-122"/>
              </a:rPr>
              <a:t>=feature</a:t>
            </a:r>
            <a:r>
              <a:rPr lang="zh-CN" altLang="en-US" sz="2000" dirty="0">
                <a:solidFill>
                  <a:srgbClr val="333333"/>
                </a:solidFill>
                <a:latin typeface="微软雅黑 Light" panose="020B0502040204020203" pitchFamily="34" charset="-122"/>
                <a:ea typeface="微软雅黑 Light" panose="020B0502040204020203" pitchFamily="34" charset="-122"/>
              </a:rPr>
              <a:t>维度</a:t>
            </a:r>
          </a:p>
          <a:p>
            <a:pPr>
              <a:lnSpc>
                <a:spcPct val="150000"/>
              </a:lnSpc>
            </a:pPr>
            <a:r>
              <a:rPr lang="zh-CN" altLang="en-US" sz="2000" dirty="0">
                <a:solidFill>
                  <a:srgbClr val="333333"/>
                </a:solidFill>
                <a:latin typeface="微软雅黑 Light" panose="020B0502040204020203" pitchFamily="34" charset="-122"/>
                <a:ea typeface="微软雅黑 Light" panose="020B0502040204020203" pitchFamily="34" charset="-122"/>
              </a:rPr>
              <a:t>输出层：神经元个数</a:t>
            </a:r>
            <a:r>
              <a:rPr lang="en-US" altLang="zh-CN" sz="2000" dirty="0">
                <a:solidFill>
                  <a:srgbClr val="333333"/>
                </a:solidFill>
                <a:latin typeface="微软雅黑 Light" panose="020B0502040204020203" pitchFamily="34" charset="-122"/>
                <a:ea typeface="微软雅黑 Light" panose="020B0502040204020203" pitchFamily="34" charset="-122"/>
              </a:rPr>
              <a:t>=</a:t>
            </a:r>
            <a:r>
              <a:rPr lang="zh-CN" altLang="en-US" sz="2000" dirty="0">
                <a:solidFill>
                  <a:srgbClr val="333333"/>
                </a:solidFill>
                <a:latin typeface="微软雅黑 Light" panose="020B0502040204020203" pitchFamily="34" charset="-122"/>
                <a:ea typeface="微软雅黑 Light" panose="020B0502040204020203" pitchFamily="34" charset="-122"/>
              </a:rPr>
              <a:t>分类类别数</a:t>
            </a:r>
          </a:p>
          <a:p>
            <a:pPr>
              <a:lnSpc>
                <a:spcPct val="150000"/>
              </a:lnSpc>
            </a:pPr>
            <a:r>
              <a:rPr lang="zh-CN" altLang="en-US" sz="2000" dirty="0">
                <a:solidFill>
                  <a:srgbClr val="333333"/>
                </a:solidFill>
                <a:latin typeface="微软雅黑 Light" panose="020B0502040204020203" pitchFamily="34" charset="-122"/>
                <a:ea typeface="微软雅黑 Light" panose="020B0502040204020203" pitchFamily="34" charset="-122"/>
              </a:rPr>
              <a:t>隐层： </a:t>
            </a:r>
          </a:p>
          <a:p>
            <a:pPr marL="742950" lvl="1" indent="-285750">
              <a:lnSpc>
                <a:spcPct val="150000"/>
              </a:lnSpc>
              <a:buFont typeface="Arial" panose="020B0604020202020204" pitchFamily="34" charset="0"/>
              <a:buChar char="•"/>
            </a:pPr>
            <a:r>
              <a:rPr lang="zh-CN" altLang="en-US" sz="2000" dirty="0">
                <a:solidFill>
                  <a:srgbClr val="333333"/>
                </a:solidFill>
                <a:latin typeface="微软雅黑 Light" panose="020B0502040204020203" pitchFamily="34" charset="-122"/>
                <a:ea typeface="微软雅黑 Light" panose="020B0502040204020203" pitchFamily="34" charset="-122"/>
              </a:rPr>
              <a:t>隐层的数量 ？ </a:t>
            </a:r>
          </a:p>
          <a:p>
            <a:pPr marL="742950" lvl="1" indent="-285750">
              <a:lnSpc>
                <a:spcPct val="150000"/>
              </a:lnSpc>
              <a:buFont typeface="Arial" panose="020B0604020202020204" pitchFamily="34" charset="0"/>
              <a:buChar char="•"/>
            </a:pPr>
            <a:r>
              <a:rPr lang="zh-CN" altLang="en-US" sz="2000" dirty="0">
                <a:solidFill>
                  <a:srgbClr val="333333"/>
                </a:solidFill>
                <a:latin typeface="微软雅黑 Light" panose="020B0502040204020203" pitchFamily="34" charset="-122"/>
                <a:ea typeface="微软雅黑 Light" panose="020B0502040204020203" pitchFamily="34" charset="-122"/>
              </a:rPr>
              <a:t>隐层神经元的个数 ？</a:t>
            </a:r>
          </a:p>
        </p:txBody>
      </p:sp>
      <p:sp>
        <p:nvSpPr>
          <p:cNvPr id="13" name="矩形 12">
            <a:extLst>
              <a:ext uri="{FF2B5EF4-FFF2-40B4-BE49-F238E27FC236}">
                <a16:creationId xmlns:a16="http://schemas.microsoft.com/office/drawing/2014/main" id="{5C14E201-15DD-422B-9C31-7AFDAA2DD5AD}"/>
              </a:ext>
            </a:extLst>
          </p:cNvPr>
          <p:cNvSpPr/>
          <p:nvPr/>
        </p:nvSpPr>
        <p:spPr>
          <a:xfrm>
            <a:off x="3910149" y="3109382"/>
            <a:ext cx="6477001" cy="501612"/>
          </a:xfrm>
          <a:prstGeom prst="rect">
            <a:avLst/>
          </a:prstGeom>
        </p:spPr>
        <p:txBody>
          <a:bodyPr wrap="square">
            <a:spAutoFit/>
          </a:bodyPr>
          <a:lstStyle/>
          <a:p>
            <a:pPr algn="just">
              <a:lnSpc>
                <a:spcPct val="150000"/>
              </a:lnSpc>
            </a:pPr>
            <a:r>
              <a:rPr lang="zh-CN" altLang="en-US" sz="2000" dirty="0">
                <a:solidFill>
                  <a:srgbClr val="4F4F4F"/>
                </a:solidFill>
                <a:latin typeface="微软雅黑 Light" panose="020B0502040204020203" pitchFamily="34" charset="-122"/>
                <a:ea typeface="微软雅黑 Light" panose="020B0502040204020203" pitchFamily="34" charset="-122"/>
              </a:rPr>
              <a:t>神经网络的结构一般为：输入层</a:t>
            </a:r>
            <a:r>
              <a:rPr lang="en-US" altLang="zh-CN" sz="2000" dirty="0">
                <a:solidFill>
                  <a:srgbClr val="4F4F4F"/>
                </a:solidFill>
                <a:latin typeface="微软雅黑 Light" panose="020B0502040204020203" pitchFamily="34" charset="-122"/>
                <a:ea typeface="微软雅黑 Light" panose="020B0502040204020203" pitchFamily="34" charset="-122"/>
              </a:rPr>
              <a:t>×</a:t>
            </a:r>
            <a:r>
              <a:rPr lang="zh-CN" altLang="en-US" sz="2000" dirty="0">
                <a:solidFill>
                  <a:srgbClr val="4F4F4F"/>
                </a:solidFill>
                <a:latin typeface="微软雅黑 Light" panose="020B0502040204020203" pitchFamily="34" charset="-122"/>
                <a:ea typeface="微软雅黑 Light" panose="020B0502040204020203" pitchFamily="34" charset="-122"/>
              </a:rPr>
              <a:t>隐藏层</a:t>
            </a:r>
            <a:r>
              <a:rPr lang="en-US" altLang="zh-CN" sz="2000" dirty="0">
                <a:solidFill>
                  <a:srgbClr val="4F4F4F"/>
                </a:solidFill>
                <a:latin typeface="微软雅黑 Light" panose="020B0502040204020203" pitchFamily="34" charset="-122"/>
                <a:ea typeface="微软雅黑 Light" panose="020B0502040204020203" pitchFamily="34" charset="-122"/>
              </a:rPr>
              <a:t>×</a:t>
            </a:r>
            <a:r>
              <a:rPr lang="zh-CN" altLang="en-US" sz="2000" dirty="0">
                <a:solidFill>
                  <a:srgbClr val="4F4F4F"/>
                </a:solidFill>
                <a:latin typeface="微软雅黑 Light" panose="020B0502040204020203" pitchFamily="34" charset="-122"/>
                <a:ea typeface="微软雅黑 Light" panose="020B0502040204020203" pitchFamily="34" charset="-122"/>
              </a:rPr>
              <a:t>输出层</a:t>
            </a:r>
          </a:p>
        </p:txBody>
      </p:sp>
      <p:sp>
        <p:nvSpPr>
          <p:cNvPr id="14" name="右大括号 13">
            <a:extLst>
              <a:ext uri="{FF2B5EF4-FFF2-40B4-BE49-F238E27FC236}">
                <a16:creationId xmlns:a16="http://schemas.microsoft.com/office/drawing/2014/main" id="{3D896C03-F23D-4878-91F5-61159FFC747B}"/>
              </a:ext>
            </a:extLst>
          </p:cNvPr>
          <p:cNvSpPr/>
          <p:nvPr/>
        </p:nvSpPr>
        <p:spPr>
          <a:xfrm>
            <a:off x="7850779" y="4306342"/>
            <a:ext cx="293914" cy="599274"/>
          </a:xfrm>
          <a:prstGeom prst="rightBrace">
            <a:avLst/>
          </a:prstGeom>
          <a:noFill/>
          <a:ln w="15875" cap="flat" cmpd="sng">
            <a:solidFill>
              <a:schemeClr val="tx1"/>
            </a:solidFill>
            <a:prstDash val="solid"/>
            <a:round/>
            <a:headEnd/>
            <a:tailEnd/>
          </a:ln>
          <a:effectLst/>
        </p:spPr>
        <p:txBody>
          <a:bodyPr rtlCol="0" anchor="ctr"/>
          <a:lstStyle/>
          <a:p>
            <a:pPr algn="ctr"/>
            <a:endParaRPr lang="zh-CN" altLang="en-US"/>
          </a:p>
        </p:txBody>
      </p:sp>
      <p:sp>
        <p:nvSpPr>
          <p:cNvPr id="16" name="矩形 15">
            <a:extLst>
              <a:ext uri="{FF2B5EF4-FFF2-40B4-BE49-F238E27FC236}">
                <a16:creationId xmlns:a16="http://schemas.microsoft.com/office/drawing/2014/main" id="{6B6959AD-4284-4CC8-ADF3-4D0368CF3E34}"/>
              </a:ext>
            </a:extLst>
          </p:cNvPr>
          <p:cNvSpPr/>
          <p:nvPr/>
        </p:nvSpPr>
        <p:spPr>
          <a:xfrm>
            <a:off x="8310461" y="4168711"/>
            <a:ext cx="2708063" cy="874535"/>
          </a:xfrm>
          <a:prstGeom prst="rect">
            <a:avLst/>
          </a:prstGeom>
        </p:spPr>
        <p:txBody>
          <a:bodyPr wrap="square">
            <a:spAutoFit/>
          </a:bodyPr>
          <a:lstStyle/>
          <a:p>
            <a:pPr algn="just">
              <a:lnSpc>
                <a:spcPct val="150000"/>
              </a:lnSpc>
            </a:pPr>
            <a:r>
              <a:rPr lang="zh-CN" altLang="en-US" dirty="0">
                <a:solidFill>
                  <a:srgbClr val="FFFFFF"/>
                </a:solidFill>
                <a:latin typeface="微软雅黑 Light" panose="020B0502040204020203" pitchFamily="34" charset="-122"/>
                <a:ea typeface="微软雅黑 Light" panose="020B0502040204020203" pitchFamily="34" charset="-122"/>
              </a:rPr>
              <a:t>给定训练样本后，输入层和输出层节点数便已确定</a:t>
            </a:r>
          </a:p>
        </p:txBody>
      </p:sp>
      <p:sp>
        <p:nvSpPr>
          <p:cNvPr id="20" name="灯片编号占位符 8">
            <a:extLst>
              <a:ext uri="{FF2B5EF4-FFF2-40B4-BE49-F238E27FC236}">
                <a16:creationId xmlns:a16="http://schemas.microsoft.com/office/drawing/2014/main" id="{EE907843-D795-45D8-8EE5-B1349B7CD4D8}"/>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45</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436441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13" grpId="0"/>
      <p:bldP spid="14" grpId="0" animBg="1"/>
      <p:bldP spid="1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神经网络的拓扑调节</a:t>
            </a:r>
            <a:endParaRPr lang="en-US" altLang="zh-CN" sz="2600" b="1" dirty="0"/>
          </a:p>
        </p:txBody>
      </p:sp>
      <p:sp>
        <p:nvSpPr>
          <p:cNvPr id="8" name="矩形 7">
            <a:extLst>
              <a:ext uri="{FF2B5EF4-FFF2-40B4-BE49-F238E27FC236}">
                <a16:creationId xmlns:a16="http://schemas.microsoft.com/office/drawing/2014/main" id="{5B632013-DE7D-4F41-856D-FC41791878A0}"/>
              </a:ext>
            </a:extLst>
          </p:cNvPr>
          <p:cNvSpPr/>
          <p:nvPr/>
        </p:nvSpPr>
        <p:spPr>
          <a:xfrm>
            <a:off x="688657" y="1434905"/>
            <a:ext cx="10874985" cy="4468018"/>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t>隐层的设计：</a:t>
            </a:r>
            <a:endParaRPr lang="en-US" altLang="zh-CN" sz="2400" b="1" dirty="0"/>
          </a:p>
          <a:p>
            <a:pPr marL="800100" lvl="1" indent="-342900">
              <a:lnSpc>
                <a:spcPct val="150000"/>
              </a:lnSpc>
              <a:buFont typeface="Wingdings" panose="05000000000000000000" pitchFamily="2" charset="2"/>
              <a:buChar char="Ø"/>
            </a:pPr>
            <a:r>
              <a:rPr lang="zh-CN" altLang="en-US" sz="2400" b="1" dirty="0"/>
              <a:t>隐层节点的作用是提取输入特征中的隐藏规律，每个节点都赋予一定权重</a:t>
            </a:r>
            <a:endParaRPr lang="en-US" altLang="zh-CN" sz="2400" b="1" dirty="0"/>
          </a:p>
          <a:p>
            <a:pPr marL="800100" lvl="1" indent="-342900">
              <a:lnSpc>
                <a:spcPct val="150000"/>
              </a:lnSpc>
              <a:buFont typeface="Wingdings" panose="05000000000000000000" pitchFamily="2" charset="2"/>
              <a:buChar char="Ø"/>
            </a:pPr>
            <a:r>
              <a:rPr lang="zh-CN" altLang="en-US" sz="2400" b="1" dirty="0"/>
              <a:t>隐藏层节点数太少，则网络从样本中获取信息的能力就越差，无法反映数据集的规律；隐藏层节点数太多，则网络的拟合能力过强，可能拟合数据集中的噪声部分，导致模型泛化能力变差。</a:t>
            </a:r>
            <a:endParaRPr lang="en-US" altLang="zh-CN" sz="2400" b="1" dirty="0"/>
          </a:p>
          <a:p>
            <a:pPr marL="800100" lvl="1" indent="-342900">
              <a:lnSpc>
                <a:spcPct val="150000"/>
              </a:lnSpc>
              <a:buFont typeface="Wingdings" panose="05000000000000000000" pitchFamily="2" charset="2"/>
              <a:buChar char="Ø"/>
            </a:pPr>
            <a:r>
              <a:rPr lang="zh-CN" altLang="en-US" sz="2400" b="1" dirty="0"/>
              <a:t>隐藏层的数量、神经元节点的数量应该和真正隐藏的规律数量相当</a:t>
            </a:r>
          </a:p>
          <a:p>
            <a:pPr marL="800100" lvl="1" indent="-342900">
              <a:lnSpc>
                <a:spcPct val="150000"/>
              </a:lnSpc>
              <a:buFont typeface="Wingdings" panose="05000000000000000000" pitchFamily="2" charset="2"/>
              <a:buChar char="Ø"/>
            </a:pPr>
            <a:r>
              <a:rPr lang="zh-CN" altLang="en-US" sz="2400" b="1" dirty="0"/>
              <a:t>通过反复尝试来寻找隐藏层神经元的个数以及隐藏层的层数</a:t>
            </a:r>
          </a:p>
          <a:p>
            <a:pPr marL="800100" lvl="1" indent="-342900">
              <a:lnSpc>
                <a:spcPct val="150000"/>
              </a:lnSpc>
              <a:buFont typeface="Wingdings" panose="05000000000000000000" pitchFamily="2" charset="2"/>
              <a:buChar char="Ø"/>
            </a:pPr>
            <a:r>
              <a:rPr lang="zh-CN" altLang="en-US" sz="2400" b="1" dirty="0"/>
              <a:t>自动机器学习</a:t>
            </a:r>
            <a:r>
              <a:rPr lang="en-US" altLang="zh-CN" sz="2400" b="1" dirty="0" err="1"/>
              <a:t>AutoML</a:t>
            </a:r>
            <a:r>
              <a:rPr lang="zh-CN" altLang="en-US" sz="2400" b="1" dirty="0"/>
              <a:t>，直接自动化调节神经网络的参数</a:t>
            </a:r>
          </a:p>
        </p:txBody>
      </p:sp>
      <p:sp>
        <p:nvSpPr>
          <p:cNvPr id="11" name="灯片编号占位符 8">
            <a:extLst>
              <a:ext uri="{FF2B5EF4-FFF2-40B4-BE49-F238E27FC236}">
                <a16:creationId xmlns:a16="http://schemas.microsoft.com/office/drawing/2014/main" id="{FF7E631F-46CE-44BD-8B66-93D5F0D54E5C}"/>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46</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6975926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选择合适的激活函数</a:t>
            </a:r>
            <a:endParaRPr lang="en-US" altLang="zh-CN" sz="2600" b="1" dirty="0"/>
          </a:p>
        </p:txBody>
      </p:sp>
      <mc:AlternateContent xmlns:mc="http://schemas.openxmlformats.org/markup-compatibility/2006" xmlns:a14="http://schemas.microsoft.com/office/drawing/2010/main">
        <mc:Choice Requires="a14">
          <p:sp>
            <p:nvSpPr>
              <p:cNvPr id="8" name="矩形 7"/>
              <p:cNvSpPr/>
              <p:nvPr/>
            </p:nvSpPr>
            <p:spPr>
              <a:xfrm>
                <a:off x="586809" y="2790758"/>
                <a:ext cx="11061240" cy="646331"/>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在神经元中，输入层的数据通过加权，求和后，还被作用了一个函数</a:t>
                </a:r>
                <a14:m>
                  <m:oMath xmlns:m="http://schemas.openxmlformats.org/officeDocument/2006/math">
                    <m:r>
                      <a:rPr lang="en-US" altLang="zh-CN" i="1" kern="0">
                        <a:latin typeface="Cambria Math" panose="02040503050406030204" pitchFamily="18" charset="0"/>
                        <a:ea typeface="微软雅黑" panose="020B0503020204020204" pitchFamily="34" charset="-122"/>
                      </a:rPr>
                      <m:t>𝐺</m:t>
                    </m:r>
                    <m:r>
                      <a:rPr lang="en-US" altLang="zh-CN" i="1" kern="0">
                        <a:latin typeface="Cambria Math" panose="02040503050406030204" pitchFamily="18" charset="0"/>
                        <a:ea typeface="微软雅黑" panose="020B0503020204020204" pitchFamily="34" charset="-122"/>
                      </a:rPr>
                      <m:t> </m:t>
                    </m:r>
                  </m:oMath>
                </a14:m>
                <a:r>
                  <a:rPr lang="zh-CN" altLang="en-US" dirty="0">
                    <a:latin typeface="微软雅黑 Light" panose="020B0502040204020203" pitchFamily="34" charset="-122"/>
                    <a:ea typeface="微软雅黑 Light" panose="020B0502040204020203" pitchFamily="34" charset="-122"/>
                  </a:rPr>
                  <a:t>，这个函数</a:t>
                </a:r>
                <a14:m>
                  <m:oMath xmlns:m="http://schemas.openxmlformats.org/officeDocument/2006/math">
                    <m:r>
                      <a:rPr lang="en-US" altLang="zh-CN" i="1" kern="0">
                        <a:latin typeface="Cambria Math" panose="02040503050406030204" pitchFamily="18" charset="0"/>
                        <a:ea typeface="微软雅黑" panose="020B0503020204020204" pitchFamily="34" charset="-122"/>
                      </a:rPr>
                      <m:t>𝐺</m:t>
                    </m:r>
                  </m:oMath>
                </a14:m>
                <a:r>
                  <a:rPr lang="zh-CN" altLang="en-US" dirty="0">
                    <a:latin typeface="微软雅黑 Light" panose="020B0502040204020203" pitchFamily="34" charset="-122"/>
                    <a:ea typeface="微软雅黑 Light" panose="020B0502040204020203" pitchFamily="34" charset="-122"/>
                  </a:rPr>
                  <a:t>就是激活函数 </a:t>
                </a:r>
                <a:r>
                  <a:rPr lang="en-US" altLang="zh-CN" dirty="0">
                    <a:latin typeface="微软雅黑 Light" panose="020B0502040204020203" pitchFamily="34" charset="-122"/>
                    <a:ea typeface="微软雅黑 Light" panose="020B0502040204020203" pitchFamily="34" charset="-122"/>
                  </a:rPr>
                  <a:t>Activation Function</a:t>
                </a:r>
                <a:r>
                  <a:rPr lang="zh-CN" altLang="en-US" dirty="0">
                    <a:latin typeface="微软雅黑 Light" panose="020B0502040204020203" pitchFamily="34" charset="-122"/>
                    <a:ea typeface="微软雅黑 Light" panose="020B0502040204020203" pitchFamily="34" charset="-122"/>
                  </a:rPr>
                  <a:t>。</a:t>
                </a:r>
              </a:p>
            </p:txBody>
          </p:sp>
        </mc:Choice>
        <mc:Fallback xmlns="">
          <p:sp>
            <p:nvSpPr>
              <p:cNvPr id="8" name="矩形 7"/>
              <p:cNvSpPr>
                <a:spLocks noRot="1" noChangeAspect="1" noMove="1" noResize="1" noEditPoints="1" noAdjustHandles="1" noChangeArrowheads="1" noChangeShapeType="1" noTextEdit="1"/>
              </p:cNvSpPr>
              <p:nvPr/>
            </p:nvSpPr>
            <p:spPr>
              <a:xfrm>
                <a:off x="586809" y="2790758"/>
                <a:ext cx="11061240" cy="646331"/>
              </a:xfrm>
              <a:prstGeom prst="rect">
                <a:avLst/>
              </a:prstGeom>
              <a:blipFill rotWithShape="0">
                <a:blip r:embed="rId5"/>
                <a:stretch>
                  <a:fillRect l="-331" t="-5660" b="-14151"/>
                </a:stretch>
              </a:blipFill>
            </p:spPr>
            <p:txBody>
              <a:bodyPr/>
              <a:lstStyle/>
              <a:p>
                <a:r>
                  <a:rPr lang="zh-CN" altLang="en-US">
                    <a:noFill/>
                  </a:rPr>
                  <a:t> </a:t>
                </a:r>
              </a:p>
            </p:txBody>
          </p:sp>
        </mc:Fallback>
      </mc:AlternateContent>
      <p:sp>
        <p:nvSpPr>
          <p:cNvPr id="9" name="矩形 8"/>
          <p:cNvSpPr/>
          <p:nvPr/>
        </p:nvSpPr>
        <p:spPr>
          <a:xfrm>
            <a:off x="935448" y="4460236"/>
            <a:ext cx="10515654" cy="2169825"/>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en-US" dirty="0">
                <a:solidFill>
                  <a:srgbClr val="C00000"/>
                </a:solidFill>
                <a:latin typeface="微软雅黑 Light" panose="020B0502040204020203" pitchFamily="34" charset="-122"/>
                <a:ea typeface="微软雅黑 Light" panose="020B0502040204020203" pitchFamily="34" charset="-122"/>
              </a:rPr>
              <a:t>可微性</a:t>
            </a:r>
            <a:r>
              <a:rPr lang="zh-CN" altLang="en-US" dirty="0">
                <a:latin typeface="微软雅黑 Light" panose="020B0502040204020203" pitchFamily="34" charset="-122"/>
                <a:ea typeface="微软雅黑 Light" panose="020B0502040204020203" pitchFamily="34" charset="-122"/>
              </a:rPr>
              <a:t>： 当优化方法是基于梯度的时候，这个性质是必须的。 </a:t>
            </a:r>
            <a:endParaRPr lang="en-US" altLang="zh-CN" dirty="0">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l"/>
            </a:pPr>
            <a:r>
              <a:rPr lang="zh-CN" altLang="en-US" dirty="0">
                <a:solidFill>
                  <a:srgbClr val="C00000"/>
                </a:solidFill>
                <a:latin typeface="微软雅黑 Light" panose="020B0502040204020203" pitchFamily="34" charset="-122"/>
                <a:ea typeface="微软雅黑 Light" panose="020B0502040204020203" pitchFamily="34" charset="-122"/>
              </a:rPr>
              <a:t>单调性</a:t>
            </a:r>
            <a:r>
              <a:rPr lang="zh-CN" altLang="en-US" dirty="0">
                <a:latin typeface="微软雅黑 Light" panose="020B0502040204020203" pitchFamily="34" charset="-122"/>
                <a:ea typeface="微软雅黑 Light" panose="020B0502040204020203" pitchFamily="34" charset="-122"/>
              </a:rPr>
              <a:t>： 当激活函数是单调的时候，单层网络能够保证是凸函数。 </a:t>
            </a:r>
            <a:endParaRPr lang="en-US" altLang="zh-CN" dirty="0">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l"/>
            </a:pPr>
            <a:r>
              <a:rPr lang="zh-CN" altLang="en-US" dirty="0">
                <a:solidFill>
                  <a:srgbClr val="C00000"/>
                </a:solidFill>
                <a:latin typeface="微软雅黑 Light" panose="020B0502040204020203" pitchFamily="34" charset="-122"/>
                <a:ea typeface="微软雅黑 Light" panose="020B0502040204020203" pitchFamily="34" charset="-122"/>
              </a:rPr>
              <a:t>输出值的范围</a:t>
            </a:r>
            <a:r>
              <a:rPr lang="zh-CN" altLang="en-US" dirty="0">
                <a:latin typeface="微软雅黑 Light" panose="020B0502040204020203" pitchFamily="34" charset="-122"/>
                <a:ea typeface="微软雅黑 Light" panose="020B0502040204020203" pitchFamily="34" charset="-122"/>
              </a:rPr>
              <a:t>： 当激活函数输出值是有限的时候，基于梯度的优化方法会更加稳定，因为特征的表示受有限权值的影响更显著</a:t>
            </a:r>
            <a:r>
              <a:rPr lang="en-US" altLang="zh-CN" dirty="0">
                <a:latin typeface="微软雅黑 Light" panose="020B0502040204020203" pitchFamily="34" charset="-122"/>
                <a:ea typeface="微软雅黑 Light" panose="020B0502040204020203" pitchFamily="34" charset="-122"/>
              </a:rPr>
              <a:t>;</a:t>
            </a:r>
            <a:r>
              <a:rPr lang="zh-CN" altLang="en-US" dirty="0">
                <a:latin typeface="微软雅黑 Light" panose="020B0502040204020203" pitchFamily="34" charset="-122"/>
                <a:ea typeface="微软雅黑 Light" panose="020B0502040204020203" pitchFamily="34" charset="-122"/>
              </a:rPr>
              <a:t>当激活函数的输出是无限的时候，模型的训练会更加高效，不过在</a:t>
            </a:r>
            <a:r>
              <a:rPr lang="zh-CN" altLang="en-US">
                <a:latin typeface="微软雅黑 Light" panose="020B0502040204020203" pitchFamily="34" charset="-122"/>
                <a:ea typeface="微软雅黑 Light" panose="020B0502040204020203" pitchFamily="34" charset="-122"/>
              </a:rPr>
              <a:t>这种情况下，</a:t>
            </a:r>
            <a:r>
              <a:rPr lang="zh-CN" altLang="en-US" dirty="0">
                <a:latin typeface="微软雅黑 Light" panose="020B0502040204020203" pitchFamily="34" charset="-122"/>
                <a:ea typeface="微软雅黑 Light" panose="020B0502040204020203" pitchFamily="34" charset="-122"/>
              </a:rPr>
              <a:t>一般需要更小的</a:t>
            </a:r>
            <a:r>
              <a:rPr lang="en-US" altLang="zh-CN" dirty="0">
                <a:latin typeface="微软雅黑 Light" panose="020B0502040204020203" pitchFamily="34" charset="-122"/>
                <a:ea typeface="微软雅黑 Light" panose="020B0502040204020203" pitchFamily="34" charset="-122"/>
              </a:rPr>
              <a:t>learning rate</a:t>
            </a:r>
            <a:endParaRPr lang="zh-CN" altLang="en-US" dirty="0">
              <a:latin typeface="微软雅黑 Light" panose="020B0502040204020203" pitchFamily="34" charset="-122"/>
              <a:ea typeface="微软雅黑 Light" panose="020B0502040204020203" pitchFamily="34" charset="-122"/>
            </a:endParaRPr>
          </a:p>
        </p:txBody>
      </p:sp>
      <p:sp>
        <p:nvSpPr>
          <p:cNvPr id="10" name="矩形 9"/>
          <p:cNvSpPr/>
          <p:nvPr/>
        </p:nvSpPr>
        <p:spPr>
          <a:xfrm>
            <a:off x="586809" y="4090904"/>
            <a:ext cx="2781531"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激活函数需具备的性质</a:t>
            </a:r>
            <a:endParaRPr lang="zh-CN" altLang="en-US" dirty="0"/>
          </a:p>
        </p:txBody>
      </p:sp>
      <p:sp>
        <p:nvSpPr>
          <p:cNvPr id="11" name="矩形 10"/>
          <p:cNvSpPr/>
          <p:nvPr/>
        </p:nvSpPr>
        <p:spPr>
          <a:xfrm>
            <a:off x="586809" y="3396051"/>
            <a:ext cx="11061240" cy="646331"/>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激活函数给神经元引入了非线性因素，使得神经网络可以任意逼近任何非线性函数，因此神经网络可以应用到众多的非线性模型中</a:t>
            </a:r>
          </a:p>
        </p:txBody>
      </p:sp>
      <p:grpSp>
        <p:nvGrpSpPr>
          <p:cNvPr id="12" name="组合 11">
            <a:extLst>
              <a:ext uri="{FF2B5EF4-FFF2-40B4-BE49-F238E27FC236}">
                <a16:creationId xmlns:a16="http://schemas.microsoft.com/office/drawing/2014/main" id="{6EB5FA3E-1FC8-43A5-A3FA-2E78F1774CD2}"/>
              </a:ext>
            </a:extLst>
          </p:cNvPr>
          <p:cNvGrpSpPr/>
          <p:nvPr/>
        </p:nvGrpSpPr>
        <p:grpSpPr>
          <a:xfrm>
            <a:off x="4403812" y="854653"/>
            <a:ext cx="3384376" cy="1981882"/>
            <a:chOff x="2874850" y="1106250"/>
            <a:chExt cx="3384376" cy="1981882"/>
          </a:xfrm>
        </p:grpSpPr>
        <p:grpSp>
          <p:nvGrpSpPr>
            <p:cNvPr id="13" name="组合 12"/>
            <p:cNvGrpSpPr/>
            <p:nvPr/>
          </p:nvGrpSpPr>
          <p:grpSpPr>
            <a:xfrm>
              <a:off x="2874850" y="1106250"/>
              <a:ext cx="3384376" cy="1981882"/>
              <a:chOff x="1835696" y="1916832"/>
              <a:chExt cx="5184576" cy="3350034"/>
            </a:xfrm>
          </p:grpSpPr>
          <p:pic>
            <p:nvPicPr>
              <p:cNvPr id="18" name="图片 17"/>
              <p:cNvPicPr>
                <a:picLocks noChangeAspect="1"/>
              </p:cNvPicPr>
              <p:nvPr/>
            </p:nvPicPr>
            <p:blipFill rotWithShape="1">
              <a:blip r:embed="rId6" cstate="print">
                <a:extLst>
                  <a:ext uri="{28A0092B-C50C-407E-A947-70E740481C1C}">
                    <a14:useLocalDpi xmlns:a14="http://schemas.microsoft.com/office/drawing/2010/main" val="0"/>
                  </a:ext>
                </a:extLst>
              </a:blip>
              <a:srcRect l="9088" t="2358" r="10159" b="4880"/>
              <a:stretch/>
            </p:blipFill>
            <p:spPr>
              <a:xfrm>
                <a:off x="1835696" y="1916832"/>
                <a:ext cx="5184576" cy="3350034"/>
              </a:xfrm>
              <a:prstGeom prst="rect">
                <a:avLst/>
              </a:prstGeom>
            </p:spPr>
          </p:pic>
          <p:sp>
            <p:nvSpPr>
              <p:cNvPr id="19" name="矩形 18"/>
              <p:cNvSpPr/>
              <p:nvPr/>
            </p:nvSpPr>
            <p:spPr>
              <a:xfrm>
                <a:off x="5338344" y="3237573"/>
                <a:ext cx="595818" cy="6480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矩形 13">
              <a:extLst>
                <a:ext uri="{FF2B5EF4-FFF2-40B4-BE49-F238E27FC236}">
                  <a16:creationId xmlns:a16="http://schemas.microsoft.com/office/drawing/2014/main" id="{BBA9EEE6-D727-411E-BC06-0150CB04B418}"/>
                </a:ext>
              </a:extLst>
            </p:cNvPr>
            <p:cNvSpPr/>
            <p:nvPr/>
          </p:nvSpPr>
          <p:spPr>
            <a:xfrm>
              <a:off x="5225142" y="1928163"/>
              <a:ext cx="283029" cy="30227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5C9A689C-F823-4217-A142-EF4B9980950E}"/>
                    </a:ext>
                  </a:extLst>
                </p:cNvPr>
                <p:cNvSpPr/>
                <p:nvPr/>
              </p:nvSpPr>
              <p:spPr>
                <a:xfrm>
                  <a:off x="5181599" y="1901639"/>
                  <a:ext cx="40479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kern="0">
                            <a:latin typeface="Cambria Math" panose="02040503050406030204" pitchFamily="18" charset="0"/>
                            <a:ea typeface="微软雅黑" panose="020B0503020204020204" pitchFamily="34" charset="-122"/>
                          </a:rPr>
                          <m:t>𝐺</m:t>
                        </m:r>
                      </m:oMath>
                    </m:oMathPara>
                  </a14:m>
                  <a:endParaRPr lang="zh-CN" altLang="en-US" dirty="0"/>
                </a:p>
              </p:txBody>
            </p:sp>
          </mc:Choice>
          <mc:Fallback xmlns="">
            <p:sp>
              <p:nvSpPr>
                <p:cNvPr id="8" name="矩形 7">
                  <a:extLst>
                    <a:ext uri="{FF2B5EF4-FFF2-40B4-BE49-F238E27FC236}">
                      <a16:creationId xmlns:a16="http://schemas.microsoft.com/office/drawing/2014/main" id="{5C9A689C-F823-4217-A142-EF4B9980950E}"/>
                    </a:ext>
                  </a:extLst>
                </p:cNvPr>
                <p:cNvSpPr>
                  <a:spLocks noRot="1" noChangeAspect="1" noMove="1" noResize="1" noEditPoints="1" noAdjustHandles="1" noChangeArrowheads="1" noChangeShapeType="1" noTextEdit="1"/>
                </p:cNvSpPr>
                <p:nvPr/>
              </p:nvSpPr>
              <p:spPr>
                <a:xfrm>
                  <a:off x="5181599" y="1901639"/>
                  <a:ext cx="404790" cy="369332"/>
                </a:xfrm>
                <a:prstGeom prst="rect">
                  <a:avLst/>
                </a:prstGeom>
                <a:blipFill>
                  <a:blip r:embed="rId7"/>
                  <a:stretch>
                    <a:fillRect/>
                  </a:stretch>
                </a:blipFill>
              </p:spPr>
              <p:txBody>
                <a:bodyPr/>
                <a:lstStyle/>
                <a:p>
                  <a:r>
                    <a:rPr lang="zh-CN" altLang="en-US">
                      <a:noFill/>
                    </a:rPr>
                    <a:t> </a:t>
                  </a:r>
                </a:p>
              </p:txBody>
            </p:sp>
          </mc:Fallback>
        </mc:AlternateContent>
      </p:grpSp>
      <p:sp>
        <p:nvSpPr>
          <p:cNvPr id="22" name="灯片编号占位符 8">
            <a:extLst>
              <a:ext uri="{FF2B5EF4-FFF2-40B4-BE49-F238E27FC236}">
                <a16:creationId xmlns:a16="http://schemas.microsoft.com/office/drawing/2014/main" id="{6222E1DA-4D92-4857-8573-84F80B7CCC9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47</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385508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600" b="1" dirty="0"/>
              <a:t>Sigmoid</a:t>
            </a:r>
            <a:r>
              <a:rPr lang="zh-CN" altLang="en-US" sz="2600" b="1" dirty="0"/>
              <a:t>函数</a:t>
            </a:r>
            <a:endParaRPr lang="en-US" altLang="zh-CN" sz="2600" b="1" dirty="0"/>
          </a:p>
        </p:txBody>
      </p:sp>
      <mc:AlternateContent xmlns:mc="http://schemas.openxmlformats.org/markup-compatibility/2006" xmlns:a14="http://schemas.microsoft.com/office/drawing/2010/main">
        <mc:Choice Requires="a14">
          <p:sp>
            <p:nvSpPr>
              <p:cNvPr id="9" name="文本框 8"/>
              <p:cNvSpPr txBox="1"/>
              <p:nvPr/>
            </p:nvSpPr>
            <p:spPr>
              <a:xfrm>
                <a:off x="2310130" y="1966742"/>
                <a:ext cx="2135927" cy="6173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𝑥</m:t>
                              </m:r>
                            </m:sup>
                          </m:sSup>
                        </m:den>
                      </m:f>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2310130" y="1966742"/>
                <a:ext cx="2135927" cy="617348"/>
              </a:xfrm>
              <a:prstGeom prst="rect">
                <a:avLst/>
              </a:prstGeom>
              <a:blipFill rotWithShape="0">
                <a:blip r:embed="rId5"/>
                <a:stretch>
                  <a:fillRect/>
                </a:stretch>
              </a:blipFill>
            </p:spPr>
            <p:txBody>
              <a:bodyPr/>
              <a:lstStyle/>
              <a:p>
                <a:r>
                  <a:rPr lang="zh-CN" altLang="en-US">
                    <a:noFill/>
                  </a:rPr>
                  <a:t> </a:t>
                </a:r>
              </a:p>
            </p:txBody>
          </p:sp>
        </mc:Fallback>
      </mc:AlternateContent>
      <p:sp>
        <p:nvSpPr>
          <p:cNvPr id="10" name="矩形 9"/>
          <p:cNvSpPr/>
          <p:nvPr/>
        </p:nvSpPr>
        <p:spPr>
          <a:xfrm>
            <a:off x="6096000" y="3734019"/>
            <a:ext cx="5411372" cy="2585323"/>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神经元会产生非</a:t>
            </a:r>
            <a:r>
              <a:rPr lang="en-US" altLang="zh-CN" dirty="0">
                <a:latin typeface="微软雅黑 Light" panose="020B0502040204020203" pitchFamily="34" charset="-122"/>
                <a:ea typeface="微软雅黑 Light" panose="020B0502040204020203" pitchFamily="34" charset="-122"/>
              </a:rPr>
              <a:t>0</a:t>
            </a:r>
            <a:r>
              <a:rPr lang="zh-CN" altLang="en-US" dirty="0">
                <a:latin typeface="微软雅黑 Light" panose="020B0502040204020203" pitchFamily="34" charset="-122"/>
                <a:ea typeface="微软雅黑 Light" panose="020B0502040204020203" pitchFamily="34" charset="-122"/>
              </a:rPr>
              <a:t>均值的输出（即</a:t>
            </a:r>
            <a:r>
              <a:rPr lang="en-US" altLang="zh-CN" dirty="0">
                <a:latin typeface="微软雅黑 Light" panose="020B0502040204020203" pitchFamily="34" charset="-122"/>
                <a:ea typeface="微软雅黑 Light" panose="020B0502040204020203" pitchFamily="34" charset="-122"/>
              </a:rPr>
              <a:t>zero-centered</a:t>
            </a:r>
            <a:r>
              <a:rPr lang="zh-CN" altLang="en-US" dirty="0">
                <a:latin typeface="微软雅黑 Light" panose="020B0502040204020203" pitchFamily="34" charset="-122"/>
                <a:ea typeface="微软雅黑 Light" panose="020B0502040204020203" pitchFamily="34" charset="-122"/>
              </a:rPr>
              <a:t>），导致</a:t>
            </a:r>
            <a:r>
              <a:rPr lang="en-US" altLang="zh-CN" dirty="0">
                <a:latin typeface="微软雅黑 Light" panose="020B0502040204020203" pitchFamily="34" charset="-122"/>
                <a:ea typeface="微软雅黑 Light" panose="020B0502040204020203" pitchFamily="34" charset="-122"/>
              </a:rPr>
              <a:t>w</a:t>
            </a:r>
            <a:r>
              <a:rPr lang="zh-CN" altLang="en-US" dirty="0">
                <a:latin typeface="微软雅黑 Light" panose="020B0502040204020203" pitchFamily="34" charset="-122"/>
                <a:ea typeface="微软雅黑 Light" panose="020B0502040204020203" pitchFamily="34" charset="-122"/>
              </a:rPr>
              <a:t>计算的梯度始终都是正的</a:t>
            </a:r>
            <a:endParaRPr lang="en-US" altLang="zh-CN" dirty="0">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计算机进行指数运算速度慢</a:t>
            </a:r>
            <a:endParaRPr lang="en-US" altLang="zh-CN" dirty="0">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随着层数的加深，梯度的衰减会非常的大，迅速接近</a:t>
            </a:r>
            <a:r>
              <a:rPr lang="en-US" altLang="zh-CN" dirty="0">
                <a:latin typeface="微软雅黑 Light" panose="020B0502040204020203" pitchFamily="34" charset="-122"/>
                <a:ea typeface="微软雅黑 Light" panose="020B0502040204020203" pitchFamily="34" charset="-122"/>
              </a:rPr>
              <a:t>0</a:t>
            </a:r>
            <a:r>
              <a:rPr lang="zh-CN" altLang="en-US" dirty="0">
                <a:latin typeface="微软雅黑 Light" panose="020B0502040204020203" pitchFamily="34" charset="-122"/>
                <a:ea typeface="微软雅黑 Light" panose="020B0502040204020203" pitchFamily="34" charset="-122"/>
              </a:rPr>
              <a:t>，</a:t>
            </a:r>
            <a:r>
              <a:rPr lang="en-US" altLang="zh-CN" dirty="0">
                <a:latin typeface="微软雅黑 Light" panose="020B0502040204020203" pitchFamily="34" charset="-122"/>
                <a:ea typeface="微软雅黑 Light" panose="020B0502040204020203" pitchFamily="34" charset="-122"/>
              </a:rPr>
              <a:t>sigmoid</a:t>
            </a:r>
            <a:r>
              <a:rPr lang="zh-CN" altLang="en-US" dirty="0">
                <a:latin typeface="微软雅黑 Light" panose="020B0502040204020203" pitchFamily="34" charset="-122"/>
                <a:ea typeface="微软雅黑 Light" panose="020B0502040204020203" pitchFamily="34" charset="-122"/>
              </a:rPr>
              <a:t>出现的这种现象称之为梯度消失，会导致层数比较浅的权重得不到更新</a:t>
            </a:r>
            <a:endParaRPr lang="en-US" altLang="zh-CN" dirty="0">
              <a:latin typeface="微软雅黑 Light" panose="020B0502040204020203" pitchFamily="34" charset="-122"/>
              <a:ea typeface="微软雅黑 Light" panose="020B0502040204020203" pitchFamily="34" charset="-122"/>
            </a:endParaRPr>
          </a:p>
        </p:txBody>
      </p:sp>
      <p:sp>
        <p:nvSpPr>
          <p:cNvPr id="11" name="矩形 10"/>
          <p:cNvSpPr/>
          <p:nvPr/>
        </p:nvSpPr>
        <p:spPr>
          <a:xfrm>
            <a:off x="1517613" y="2733706"/>
            <a:ext cx="4167908" cy="2169825"/>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altLang="zh-CN" dirty="0">
                <a:latin typeface="微软雅黑 Light" panose="020B0502040204020203" pitchFamily="34" charset="-122"/>
                <a:ea typeface="微软雅黑 Light" panose="020B0502040204020203" pitchFamily="34" charset="-122"/>
              </a:rPr>
              <a:t>Sigmoid </a:t>
            </a:r>
            <a:r>
              <a:rPr lang="zh-CN" altLang="en-US" dirty="0">
                <a:latin typeface="微软雅黑 Light" panose="020B0502040204020203" pitchFamily="34" charset="-122"/>
                <a:ea typeface="微软雅黑 Light" panose="020B0502040204020203" pitchFamily="34" charset="-122"/>
              </a:rPr>
              <a:t>是最常见的非线性激活函数</a:t>
            </a:r>
            <a:endParaRPr lang="en-US" altLang="zh-CN" dirty="0">
              <a:latin typeface="微软雅黑 Light" panose="020B0502040204020203" pitchFamily="34" charset="-122"/>
              <a:ea typeface="微软雅黑 Light" panose="020B0502040204020203" pitchFamily="34" charset="-122"/>
            </a:endParaRPr>
          </a:p>
          <a:p>
            <a:pPr marL="285750" indent="-285750">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能够把输入的连续实值变换为</a:t>
            </a:r>
            <a:r>
              <a:rPr lang="en-US" altLang="zh-CN" dirty="0">
                <a:latin typeface="微软雅黑 Light" panose="020B0502040204020203" pitchFamily="34" charset="-122"/>
                <a:ea typeface="微软雅黑 Light" panose="020B0502040204020203" pitchFamily="34" charset="-122"/>
              </a:rPr>
              <a:t>0</a:t>
            </a:r>
            <a:r>
              <a:rPr lang="zh-CN" altLang="en-US" dirty="0">
                <a:latin typeface="微软雅黑 Light" panose="020B0502040204020203" pitchFamily="34" charset="-122"/>
                <a:ea typeface="微软雅黑 Light" panose="020B0502040204020203" pitchFamily="34" charset="-122"/>
              </a:rPr>
              <a:t>和</a:t>
            </a:r>
            <a:r>
              <a:rPr lang="en-US" altLang="zh-CN" dirty="0">
                <a:latin typeface="微软雅黑 Light" panose="020B0502040204020203" pitchFamily="34" charset="-122"/>
                <a:ea typeface="微软雅黑 Light" panose="020B0502040204020203" pitchFamily="34" charset="-122"/>
              </a:rPr>
              <a:t>1</a:t>
            </a:r>
            <a:r>
              <a:rPr lang="zh-CN" altLang="en-US" dirty="0">
                <a:latin typeface="微软雅黑 Light" panose="020B0502040204020203" pitchFamily="34" charset="-122"/>
                <a:ea typeface="微软雅黑 Light" panose="020B0502040204020203" pitchFamily="34" charset="-122"/>
              </a:rPr>
              <a:t>之间的输出；如果是非常大的负数，那么输出就变为</a:t>
            </a:r>
            <a:r>
              <a:rPr lang="en-US" altLang="zh-CN" dirty="0">
                <a:latin typeface="微软雅黑 Light" panose="020B0502040204020203" pitchFamily="34" charset="-122"/>
                <a:ea typeface="微软雅黑 Light" panose="020B0502040204020203" pitchFamily="34" charset="-122"/>
              </a:rPr>
              <a:t>0</a:t>
            </a:r>
            <a:r>
              <a:rPr lang="zh-CN" altLang="en-US" dirty="0">
                <a:latin typeface="微软雅黑 Light" panose="020B0502040204020203" pitchFamily="34" charset="-122"/>
                <a:ea typeface="微软雅黑 Light" panose="020B0502040204020203" pitchFamily="34" charset="-122"/>
              </a:rPr>
              <a:t>；如果是非常大的正数，输出就变为</a:t>
            </a:r>
            <a:r>
              <a:rPr lang="en-US" altLang="zh-CN" dirty="0">
                <a:latin typeface="微软雅黑 Light" panose="020B0502040204020203" pitchFamily="34" charset="-122"/>
                <a:ea typeface="微软雅黑 Light" panose="020B0502040204020203" pitchFamily="34" charset="-122"/>
              </a:rPr>
              <a:t>1</a:t>
            </a:r>
            <a:r>
              <a:rPr lang="zh-CN" altLang="en-US" dirty="0">
                <a:latin typeface="微软雅黑 Light" panose="020B0502040204020203" pitchFamily="34" charset="-122"/>
                <a:ea typeface="微软雅黑 Light" panose="020B0502040204020203" pitchFamily="34" charset="-122"/>
              </a:rPr>
              <a:t>。</a:t>
            </a:r>
          </a:p>
        </p:txBody>
      </p:sp>
      <p:pic>
        <p:nvPicPr>
          <p:cNvPr id="12" name="图片 11"/>
          <p:cNvPicPr>
            <a:picLocks noChangeAspect="1"/>
          </p:cNvPicPr>
          <p:nvPr/>
        </p:nvPicPr>
        <p:blipFill rotWithShape="1">
          <a:blip r:embed="rId6">
            <a:extLst>
              <a:ext uri="{28A0092B-C50C-407E-A947-70E740481C1C}">
                <a14:useLocalDpi xmlns:a14="http://schemas.microsoft.com/office/drawing/2010/main" val="0"/>
              </a:ext>
            </a:extLst>
          </a:blip>
          <a:srcRect l="11731" t="5464" r="49983" b="25818"/>
          <a:stretch/>
        </p:blipFill>
        <p:spPr>
          <a:xfrm>
            <a:off x="6956239" y="1312714"/>
            <a:ext cx="3541691" cy="2542752"/>
          </a:xfrm>
          <a:prstGeom prst="rect">
            <a:avLst/>
          </a:prstGeom>
        </p:spPr>
      </p:pic>
      <p:sp>
        <p:nvSpPr>
          <p:cNvPr id="13" name="矩形 12">
            <a:extLst>
              <a:ext uri="{FF2B5EF4-FFF2-40B4-BE49-F238E27FC236}">
                <a16:creationId xmlns:a16="http://schemas.microsoft.com/office/drawing/2014/main" id="{F8042F2D-2649-4111-AD19-4D0F9CA266C5}"/>
              </a:ext>
            </a:extLst>
          </p:cNvPr>
          <p:cNvSpPr/>
          <p:nvPr/>
        </p:nvSpPr>
        <p:spPr>
          <a:xfrm>
            <a:off x="2708680" y="1432166"/>
            <a:ext cx="1338828" cy="369332"/>
          </a:xfrm>
          <a:prstGeom prst="rect">
            <a:avLst/>
          </a:prstGeom>
        </p:spPr>
        <p:txBody>
          <a:bodyPr wrap="none">
            <a:spAutoFit/>
          </a:bodyPr>
          <a:lstStyle/>
          <a:p>
            <a:r>
              <a:rPr lang="zh-CN" altLang="en-US" dirty="0">
                <a:latin typeface="微软雅黑 Light" panose="020B0502040204020203" pitchFamily="34" charset="-122"/>
                <a:ea typeface="微软雅黑 Light" panose="020B0502040204020203" pitchFamily="34" charset="-122"/>
              </a:rPr>
              <a:t>数学表达式</a:t>
            </a:r>
          </a:p>
        </p:txBody>
      </p:sp>
      <p:sp>
        <p:nvSpPr>
          <p:cNvPr id="14" name="矩形 13">
            <a:extLst>
              <a:ext uri="{FF2B5EF4-FFF2-40B4-BE49-F238E27FC236}">
                <a16:creationId xmlns:a16="http://schemas.microsoft.com/office/drawing/2014/main" id="{188D19E6-57B7-4E0C-9E1F-848AA80A187F}"/>
              </a:ext>
            </a:extLst>
          </p:cNvPr>
          <p:cNvSpPr/>
          <p:nvPr/>
        </p:nvSpPr>
        <p:spPr>
          <a:xfrm>
            <a:off x="6956239" y="963645"/>
            <a:ext cx="1107996" cy="369332"/>
          </a:xfrm>
          <a:prstGeom prst="rect">
            <a:avLst/>
          </a:prstGeom>
        </p:spPr>
        <p:txBody>
          <a:bodyPr wrap="none">
            <a:spAutoFit/>
          </a:bodyPr>
          <a:lstStyle/>
          <a:p>
            <a:r>
              <a:rPr lang="zh-CN" altLang="en-US" dirty="0">
                <a:latin typeface="微软雅黑 Light" panose="020B0502040204020203" pitchFamily="34" charset="-122"/>
                <a:ea typeface="微软雅黑 Light" panose="020B0502040204020203" pitchFamily="34" charset="-122"/>
              </a:rPr>
              <a:t>几何图像</a:t>
            </a:r>
          </a:p>
        </p:txBody>
      </p:sp>
      <p:sp>
        <p:nvSpPr>
          <p:cNvPr id="19" name="灯片编号占位符 8">
            <a:extLst>
              <a:ext uri="{FF2B5EF4-FFF2-40B4-BE49-F238E27FC236}">
                <a16:creationId xmlns:a16="http://schemas.microsoft.com/office/drawing/2014/main" id="{C3FBEDAC-91F8-4618-A5F9-6D9B1D780E58}"/>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48</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0118189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600" b="1" dirty="0" err="1"/>
              <a:t>tanh</a:t>
            </a:r>
            <a:r>
              <a:rPr lang="zh-CN" altLang="en-US" sz="2600" b="1" dirty="0"/>
              <a:t>函数</a:t>
            </a:r>
            <a:endParaRPr lang="en-US" altLang="zh-CN" sz="2600" b="1" dirty="0"/>
          </a:p>
        </p:txBody>
      </p:sp>
      <p:sp>
        <p:nvSpPr>
          <p:cNvPr id="16" name="矩形 15">
            <a:extLst>
              <a:ext uri="{FF2B5EF4-FFF2-40B4-BE49-F238E27FC236}">
                <a16:creationId xmlns:a16="http://schemas.microsoft.com/office/drawing/2014/main" id="{0CA916AC-D0FB-49EA-B1CC-9DF05DFBD608}"/>
              </a:ext>
            </a:extLst>
          </p:cNvPr>
          <p:cNvSpPr/>
          <p:nvPr/>
        </p:nvSpPr>
        <p:spPr>
          <a:xfrm>
            <a:off x="1349988" y="1764310"/>
            <a:ext cx="2623457" cy="3980313"/>
          </a:xfrm>
          <a:prstGeom prst="rect">
            <a:avLst/>
          </a:prstGeom>
          <a:solidFill>
            <a:srgbClr val="1C4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pic>
        <p:nvPicPr>
          <p:cNvPr id="18" name="图片 17"/>
          <p:cNvPicPr>
            <a:picLocks noChangeAspect="1"/>
          </p:cNvPicPr>
          <p:nvPr/>
        </p:nvPicPr>
        <p:blipFill rotWithShape="1">
          <a:blip r:embed="rId5">
            <a:extLst>
              <a:ext uri="{28A0092B-C50C-407E-A947-70E740481C1C}">
                <a14:useLocalDpi xmlns:a14="http://schemas.microsoft.com/office/drawing/2010/main" val="0"/>
              </a:ext>
            </a:extLst>
          </a:blip>
          <a:srcRect l="50981" t="5824" r="9752" b="27912"/>
          <a:stretch/>
        </p:blipFill>
        <p:spPr>
          <a:xfrm>
            <a:off x="5916795" y="2816753"/>
            <a:ext cx="2880321" cy="1944216"/>
          </a:xfrm>
          <a:prstGeom prst="rect">
            <a:avLst/>
          </a:prstGeom>
        </p:spPr>
      </p:pic>
      <p:sp>
        <p:nvSpPr>
          <p:cNvPr id="19" name="矩形 18"/>
          <p:cNvSpPr/>
          <p:nvPr/>
        </p:nvSpPr>
        <p:spPr>
          <a:xfrm>
            <a:off x="5215553" y="5014797"/>
            <a:ext cx="4435931" cy="369332"/>
          </a:xfrm>
          <a:prstGeom prst="rect">
            <a:avLst/>
          </a:prstGeom>
        </p:spPr>
        <p:txBody>
          <a:bodyPr wrap="square">
            <a:spAutoFit/>
          </a:bodyPr>
          <a:lstStyle/>
          <a:p>
            <a:pPr marL="285750" indent="-285750">
              <a:buFont typeface="Wingdings" panose="05000000000000000000" pitchFamily="2" charset="2"/>
              <a:buChar char="Ø"/>
            </a:pPr>
            <a:r>
              <a:rPr lang="zh-CN" altLang="en-US" dirty="0">
                <a:solidFill>
                  <a:srgbClr val="4F4F4F"/>
                </a:solidFill>
                <a:latin typeface="微软雅黑 Light" panose="020B0502040204020203" pitchFamily="34" charset="-122"/>
                <a:ea typeface="微软雅黑 Light" panose="020B0502040204020203" pitchFamily="34" charset="-122"/>
              </a:rPr>
              <a:t>与</a:t>
            </a:r>
            <a:r>
              <a:rPr lang="en-US" altLang="zh-CN" dirty="0">
                <a:solidFill>
                  <a:srgbClr val="4F4F4F"/>
                </a:solidFill>
                <a:latin typeface="微软雅黑 Light" panose="020B0502040204020203" pitchFamily="34" charset="-122"/>
                <a:ea typeface="微软雅黑 Light" panose="020B0502040204020203" pitchFamily="34" charset="-122"/>
              </a:rPr>
              <a:t>sigmoid</a:t>
            </a:r>
            <a:r>
              <a:rPr lang="zh-CN" altLang="en-US" dirty="0">
                <a:solidFill>
                  <a:srgbClr val="4F4F4F"/>
                </a:solidFill>
                <a:latin typeface="微软雅黑 Light" panose="020B0502040204020203" pitchFamily="34" charset="-122"/>
                <a:ea typeface="微软雅黑 Light" panose="020B0502040204020203" pitchFamily="34" charset="-122"/>
              </a:rPr>
              <a:t>相比，</a:t>
            </a:r>
            <a:r>
              <a:rPr lang="en-US" altLang="zh-CN" dirty="0" err="1">
                <a:solidFill>
                  <a:srgbClr val="4F4F4F"/>
                </a:solidFill>
                <a:latin typeface="微软雅黑 Light" panose="020B0502040204020203" pitchFamily="34" charset="-122"/>
                <a:ea typeface="微软雅黑 Light" panose="020B0502040204020203" pitchFamily="34" charset="-122"/>
              </a:rPr>
              <a:t>tanh</a:t>
            </a:r>
            <a:r>
              <a:rPr lang="zh-CN" altLang="en-US" dirty="0">
                <a:solidFill>
                  <a:srgbClr val="4F4F4F"/>
                </a:solidFill>
                <a:latin typeface="微软雅黑 Light" panose="020B0502040204020203" pitchFamily="34" charset="-122"/>
                <a:ea typeface="微软雅黑 Light" panose="020B0502040204020203" pitchFamily="34" charset="-122"/>
              </a:rPr>
              <a:t>是</a:t>
            </a:r>
            <a:r>
              <a:rPr lang="en-US" altLang="zh-CN" dirty="0">
                <a:solidFill>
                  <a:srgbClr val="4F4F4F"/>
                </a:solidFill>
                <a:latin typeface="微软雅黑 Light" panose="020B0502040204020203" pitchFamily="34" charset="-122"/>
                <a:ea typeface="微软雅黑 Light" panose="020B0502040204020203" pitchFamily="34" charset="-122"/>
              </a:rPr>
              <a:t>0</a:t>
            </a:r>
            <a:r>
              <a:rPr lang="zh-CN" altLang="en-US" dirty="0">
                <a:solidFill>
                  <a:srgbClr val="4F4F4F"/>
                </a:solidFill>
                <a:latin typeface="微软雅黑 Light" panose="020B0502040204020203" pitchFamily="34" charset="-122"/>
                <a:ea typeface="微软雅黑 Light" panose="020B0502040204020203" pitchFamily="34" charset="-122"/>
              </a:rPr>
              <a:t>均值的</a:t>
            </a:r>
          </a:p>
        </p:txBody>
      </p:sp>
      <mc:AlternateContent xmlns:mc="http://schemas.openxmlformats.org/markup-compatibility/2006" xmlns:a14="http://schemas.microsoft.com/office/drawing/2010/main">
        <mc:Choice Requires="a14">
          <p:sp>
            <p:nvSpPr>
              <p:cNvPr id="20" name="文本框 19"/>
              <p:cNvSpPr txBox="1"/>
              <p:nvPr/>
            </p:nvSpPr>
            <p:spPr>
              <a:xfrm>
                <a:off x="5689690" y="1547180"/>
                <a:ext cx="3512574" cy="6365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tanh</m:t>
                          </m:r>
                        </m:fName>
                        <m:e>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e>
                      </m:func>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sinh</m:t>
                              </m:r>
                            </m:fName>
                            <m:e>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e>
                          </m:func>
                        </m:num>
                        <m:den>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cosh</m:t>
                              </m:r>
                            </m:fName>
                            <m:e>
                              <m:r>
                                <a:rPr lang="en-US" altLang="zh-CN" b="0" i="1" smtClean="0">
                                  <a:latin typeface="Cambria Math" panose="02040503050406030204" pitchFamily="18" charset="0"/>
                                </a:rPr>
                                <m:t>𝑥</m:t>
                              </m:r>
                            </m:e>
                          </m:func>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p>
                            <m:sSupPr>
                              <m:ctrlPr>
                                <a:rPr lang="en-US" altLang="zh-CN" i="1">
                                  <a:latin typeface="Cambria Math" panose="02040503050406030204" pitchFamily="18" charset="0"/>
                                </a:rPr>
                              </m:ctrlPr>
                            </m:sSupPr>
                            <m:e>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𝑥</m:t>
                                  </m:r>
                                </m:sup>
                              </m:sSup>
                              <m:r>
                                <a:rPr lang="en-US" altLang="zh-CN" b="0" i="1" smtClean="0">
                                  <a:latin typeface="Cambria Math" panose="02040503050406030204" pitchFamily="18" charset="0"/>
                                </a:rPr>
                                <m:t>−</m:t>
                              </m:r>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𝑥</m:t>
                              </m:r>
                            </m:sup>
                          </m:sSup>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𝑥</m:t>
                              </m:r>
                            </m:sup>
                          </m:sSup>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m:t>
                              </m:r>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𝑥</m:t>
                              </m:r>
                            </m:sup>
                          </m:sSup>
                        </m:den>
                      </m:f>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5689690" y="1547180"/>
                <a:ext cx="3512574" cy="636585"/>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5672260" y="2331511"/>
                <a:ext cx="35125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tanh</m:t>
                          </m:r>
                        </m:fName>
                        <m:e>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e>
                      </m:func>
                      <m:r>
                        <a:rPr lang="en-US" altLang="zh-CN" b="0" i="1" smtClean="0">
                          <a:latin typeface="Cambria Math" panose="02040503050406030204" pitchFamily="18" charset="0"/>
                        </a:rPr>
                        <m:t>=2</m:t>
                      </m:r>
                      <m:r>
                        <a:rPr lang="en-US" altLang="zh-CN" b="0" i="1" smtClean="0">
                          <a:solidFill>
                            <a:srgbClr val="FF0000"/>
                          </a:solidFill>
                          <a:latin typeface="Cambria Math" panose="02040503050406030204" pitchFamily="18" charset="0"/>
                        </a:rPr>
                        <m:t>𝑠𝑖𝑔𝑚𝑜𝑖𝑑</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r>
                            <a:rPr lang="en-US" altLang="zh-CN" b="0" i="1" smtClean="0">
                              <a:latin typeface="Cambria Math" panose="02040503050406030204" pitchFamily="18" charset="0"/>
                            </a:rPr>
                            <m:t>𝑥</m:t>
                          </m:r>
                        </m:e>
                      </m:d>
                      <m:r>
                        <a:rPr lang="en-US" altLang="zh-CN" b="0" i="1" smtClean="0">
                          <a:latin typeface="Cambria Math" panose="02040503050406030204" pitchFamily="18" charset="0"/>
                        </a:rPr>
                        <m:t>−1</m:t>
                      </m:r>
                    </m:oMath>
                  </m:oMathPara>
                </a14:m>
                <a:endParaRPr lang="zh-CN" altLang="en-US" dirty="0"/>
              </a:p>
            </p:txBody>
          </p:sp>
        </mc:Choice>
        <mc:Fallback xmlns="">
          <p:sp>
            <p:nvSpPr>
              <p:cNvPr id="21" name="文本框 20"/>
              <p:cNvSpPr txBox="1">
                <a:spLocks noRot="1" noChangeAspect="1" noMove="1" noResize="1" noEditPoints="1" noAdjustHandles="1" noChangeArrowheads="1" noChangeShapeType="1" noTextEdit="1"/>
              </p:cNvSpPr>
              <p:nvPr/>
            </p:nvSpPr>
            <p:spPr>
              <a:xfrm>
                <a:off x="5672260" y="2331511"/>
                <a:ext cx="3512574" cy="369332"/>
              </a:xfrm>
              <a:prstGeom prst="rect">
                <a:avLst/>
              </a:prstGeom>
              <a:blipFill rotWithShape="0">
                <a:blip r:embed="rId7"/>
                <a:stretch>
                  <a:fillRect b="-13115"/>
                </a:stretch>
              </a:blipFill>
            </p:spPr>
            <p:txBody>
              <a:bodyPr/>
              <a:lstStyle/>
              <a:p>
                <a:r>
                  <a:rPr lang="zh-CN" altLang="en-US">
                    <a:noFill/>
                  </a:rPr>
                  <a:t> </a:t>
                </a:r>
              </a:p>
            </p:txBody>
          </p:sp>
        </mc:Fallback>
      </mc:AlternateContent>
      <p:sp>
        <p:nvSpPr>
          <p:cNvPr id="22" name="矩形 21"/>
          <p:cNvSpPr/>
          <p:nvPr/>
        </p:nvSpPr>
        <p:spPr>
          <a:xfrm>
            <a:off x="5213067" y="5424686"/>
            <a:ext cx="4430959" cy="876202"/>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solidFill>
                  <a:srgbClr val="4F4F4F"/>
                </a:solidFill>
                <a:latin typeface="微软雅黑 Light" panose="020B0502040204020203" pitchFamily="34" charset="-122"/>
                <a:ea typeface="微软雅黑 Light" panose="020B0502040204020203" pitchFamily="34" charset="-122"/>
              </a:rPr>
              <a:t>在输入很大或是很小的时候，输出几乎平滑，梯度很小，不利于权重更新</a:t>
            </a:r>
          </a:p>
        </p:txBody>
      </p:sp>
      <p:sp>
        <p:nvSpPr>
          <p:cNvPr id="23" name="矩形 22">
            <a:extLst>
              <a:ext uri="{FF2B5EF4-FFF2-40B4-BE49-F238E27FC236}">
                <a16:creationId xmlns:a16="http://schemas.microsoft.com/office/drawing/2014/main" id="{36F74B03-94FB-42BC-B09A-F11148076EC6}"/>
              </a:ext>
            </a:extLst>
          </p:cNvPr>
          <p:cNvSpPr/>
          <p:nvPr/>
        </p:nvSpPr>
        <p:spPr>
          <a:xfrm>
            <a:off x="1601276" y="2632087"/>
            <a:ext cx="2176334" cy="2245038"/>
          </a:xfrm>
          <a:prstGeom prst="rect">
            <a:avLst/>
          </a:prstGeom>
        </p:spPr>
        <p:txBody>
          <a:bodyPr wrap="square">
            <a:spAutoFit/>
          </a:bodyPr>
          <a:lstStyle/>
          <a:p>
            <a:pPr>
              <a:lnSpc>
                <a:spcPct val="150000"/>
              </a:lnSpc>
            </a:pPr>
            <a:r>
              <a:rPr lang="en-US" altLang="zh-CN" sz="2400" dirty="0">
                <a:solidFill>
                  <a:srgbClr val="FFFFFF"/>
                </a:solidFill>
                <a:latin typeface="微软雅黑 Light" panose="020B0502040204020203" pitchFamily="34" charset="-122"/>
                <a:ea typeface="微软雅黑 Light" panose="020B0502040204020203" pitchFamily="34" charset="-122"/>
              </a:rPr>
              <a:t>Sigmoid</a:t>
            </a:r>
            <a:r>
              <a:rPr lang="zh-CN" altLang="en-US" sz="2400" dirty="0">
                <a:solidFill>
                  <a:srgbClr val="FFFFFF"/>
                </a:solidFill>
                <a:latin typeface="微软雅黑 Light" panose="020B0502040204020203" pitchFamily="34" charset="-122"/>
                <a:ea typeface="微软雅黑 Light" panose="020B0502040204020203" pitchFamily="34" charset="-122"/>
              </a:rPr>
              <a:t>函数存在神经元会产生非</a:t>
            </a:r>
            <a:r>
              <a:rPr lang="en-US" altLang="zh-CN" sz="2400" dirty="0">
                <a:solidFill>
                  <a:srgbClr val="FFFFFF"/>
                </a:solidFill>
                <a:latin typeface="微软雅黑 Light" panose="020B0502040204020203" pitchFamily="34" charset="-122"/>
                <a:ea typeface="微软雅黑 Light" panose="020B0502040204020203" pitchFamily="34" charset="-122"/>
              </a:rPr>
              <a:t>0</a:t>
            </a:r>
            <a:r>
              <a:rPr lang="zh-CN" altLang="en-US" sz="2400" dirty="0">
                <a:solidFill>
                  <a:srgbClr val="FFFFFF"/>
                </a:solidFill>
                <a:latin typeface="微软雅黑 Light" panose="020B0502040204020203" pitchFamily="34" charset="-122"/>
                <a:ea typeface="微软雅黑 Light" panose="020B0502040204020203" pitchFamily="34" charset="-122"/>
              </a:rPr>
              <a:t>均值的输出的问题</a:t>
            </a:r>
            <a:endParaRPr lang="zh-CN" altLang="en-US" sz="2400" dirty="0">
              <a:solidFill>
                <a:srgbClr val="FFFFFF"/>
              </a:solidFill>
            </a:endParaRPr>
          </a:p>
        </p:txBody>
      </p:sp>
      <p:sp>
        <p:nvSpPr>
          <p:cNvPr id="24" name="箭头: 右 9">
            <a:extLst>
              <a:ext uri="{FF2B5EF4-FFF2-40B4-BE49-F238E27FC236}">
                <a16:creationId xmlns:a16="http://schemas.microsoft.com/office/drawing/2014/main" id="{5ECECA00-2EF4-4D38-88E8-AB2800F0E9BF}"/>
              </a:ext>
            </a:extLst>
          </p:cNvPr>
          <p:cNvSpPr/>
          <p:nvPr/>
        </p:nvSpPr>
        <p:spPr>
          <a:xfrm>
            <a:off x="3982943" y="3367457"/>
            <a:ext cx="1353983" cy="47600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9EDFC0ED-039C-4A66-B220-C0C30BB17ABC}"/>
              </a:ext>
            </a:extLst>
          </p:cNvPr>
          <p:cNvSpPr/>
          <p:nvPr/>
        </p:nvSpPr>
        <p:spPr>
          <a:xfrm>
            <a:off x="4118209" y="2850188"/>
            <a:ext cx="1013025" cy="646331"/>
          </a:xfrm>
          <a:prstGeom prst="rect">
            <a:avLst/>
          </a:prstGeom>
        </p:spPr>
        <p:txBody>
          <a:bodyPr wrap="square">
            <a:spAutoFit/>
          </a:bodyPr>
          <a:lstStyle/>
          <a:p>
            <a:r>
              <a:rPr lang="zh-CN" altLang="en-US" dirty="0">
                <a:solidFill>
                  <a:srgbClr val="4F4F4F"/>
                </a:solidFill>
                <a:latin typeface="微软雅黑 Light" panose="020B0502040204020203" pitchFamily="34" charset="-122"/>
                <a:ea typeface="微软雅黑 Light" panose="020B0502040204020203" pitchFamily="34" charset="-122"/>
              </a:rPr>
              <a:t>寻找解决办法</a:t>
            </a:r>
            <a:endParaRPr lang="zh-CN" altLang="en-US" dirty="0"/>
          </a:p>
        </p:txBody>
      </p:sp>
      <p:sp>
        <p:nvSpPr>
          <p:cNvPr id="28" name="灯片编号占位符 8">
            <a:extLst>
              <a:ext uri="{FF2B5EF4-FFF2-40B4-BE49-F238E27FC236}">
                <a16:creationId xmlns:a16="http://schemas.microsoft.com/office/drawing/2014/main" id="{86BB62AA-7BD1-4FD0-8691-3FA77345EB86}"/>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49</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9891060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600" b="1" dirty="0" err="1"/>
              <a:t>ReLU</a:t>
            </a:r>
            <a:r>
              <a:rPr lang="zh-CN" altLang="en-US" sz="2600" b="1" dirty="0"/>
              <a:t>函数</a:t>
            </a:r>
            <a:endParaRPr lang="en-US" altLang="zh-CN" sz="2600" b="1" dirty="0"/>
          </a:p>
        </p:txBody>
      </p:sp>
      <mc:AlternateContent xmlns:mc="http://schemas.openxmlformats.org/markup-compatibility/2006" xmlns:a14="http://schemas.microsoft.com/office/drawing/2010/main">
        <mc:Choice Requires="a14">
          <p:sp>
            <p:nvSpPr>
              <p:cNvPr id="8" name="文本框 7"/>
              <p:cNvSpPr txBox="1"/>
              <p:nvPr/>
            </p:nvSpPr>
            <p:spPr>
              <a:xfrm>
                <a:off x="6112709" y="967187"/>
                <a:ext cx="213592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max</m:t>
                      </m:r>
                      <m:r>
                        <a:rPr lang="en-US" altLang="zh-CN" b="0" i="1" smtClean="0">
                          <a:latin typeface="Cambria Math" panose="02040503050406030204" pitchFamily="18" charset="0"/>
                        </a:rPr>
                        <m:t>⁡(0,</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6112709" y="967187"/>
                <a:ext cx="2135927" cy="369332"/>
              </a:xfrm>
              <a:prstGeom prst="rect">
                <a:avLst/>
              </a:prstGeom>
              <a:blipFill rotWithShape="0">
                <a:blip r:embed="rId5"/>
                <a:stretch>
                  <a:fillRect b="-13333"/>
                </a:stretch>
              </a:blipFill>
            </p:spPr>
            <p:txBody>
              <a:bodyPr/>
              <a:lstStyle/>
              <a:p>
                <a:r>
                  <a:rPr lang="zh-CN" altLang="en-US">
                    <a:noFill/>
                  </a:rPr>
                  <a:t> </a:t>
                </a:r>
              </a:p>
            </p:txBody>
          </p:sp>
        </mc:Fallback>
      </mc:AlternateContent>
      <p:sp>
        <p:nvSpPr>
          <p:cNvPr id="9" name="矩形 8"/>
          <p:cNvSpPr/>
          <p:nvPr/>
        </p:nvSpPr>
        <p:spPr>
          <a:xfrm>
            <a:off x="4997917" y="3112947"/>
            <a:ext cx="5202196" cy="3369192"/>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US" altLang="zh-CN" dirty="0" err="1">
                <a:solidFill>
                  <a:srgbClr val="4F4F4F"/>
                </a:solidFill>
                <a:latin typeface="微软雅黑 Light" panose="020B0502040204020203" pitchFamily="34" charset="-122"/>
                <a:ea typeface="微软雅黑 Light" panose="020B0502040204020203" pitchFamily="34" charset="-122"/>
              </a:rPr>
              <a:t>ReLU</a:t>
            </a:r>
            <a:r>
              <a:rPr lang="en-US" altLang="zh-CN" dirty="0">
                <a:solidFill>
                  <a:srgbClr val="4F4F4F"/>
                </a:solidFill>
                <a:latin typeface="微软雅黑 Light" panose="020B0502040204020203" pitchFamily="34" charset="-122"/>
                <a:ea typeface="微软雅黑 Light" panose="020B0502040204020203" pitchFamily="34" charset="-122"/>
              </a:rPr>
              <a:t> </a:t>
            </a:r>
            <a:r>
              <a:rPr lang="zh-CN" altLang="en-US" dirty="0">
                <a:solidFill>
                  <a:srgbClr val="4F4F4F"/>
                </a:solidFill>
                <a:latin typeface="微软雅黑 Light" panose="020B0502040204020203" pitchFamily="34" charset="-122"/>
                <a:ea typeface="微软雅黑 Light" panose="020B0502040204020203" pitchFamily="34" charset="-122"/>
              </a:rPr>
              <a:t>能够在</a:t>
            </a:r>
            <a:r>
              <a:rPr lang="en-US" altLang="zh-CN" dirty="0">
                <a:solidFill>
                  <a:srgbClr val="4F4F4F"/>
                </a:solidFill>
                <a:latin typeface="微软雅黑 Light" panose="020B0502040204020203" pitchFamily="34" charset="-122"/>
                <a:ea typeface="微软雅黑 Light" panose="020B0502040204020203" pitchFamily="34" charset="-122"/>
              </a:rPr>
              <a:t>x&gt;0</a:t>
            </a:r>
            <a:r>
              <a:rPr lang="zh-CN" altLang="en-US" dirty="0">
                <a:solidFill>
                  <a:srgbClr val="4F4F4F"/>
                </a:solidFill>
                <a:latin typeface="微软雅黑 Light" panose="020B0502040204020203" pitchFamily="34" charset="-122"/>
                <a:ea typeface="微软雅黑 Light" panose="020B0502040204020203" pitchFamily="34" charset="-122"/>
              </a:rPr>
              <a:t>时保持梯度不衰减，从而缓解梯度消失问题</a:t>
            </a:r>
            <a:endParaRPr lang="en-US" altLang="zh-CN" dirty="0">
              <a:solidFill>
                <a:srgbClr val="4F4F4F"/>
              </a:solidFill>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Ø"/>
            </a:pPr>
            <a:r>
              <a:rPr lang="zh-CN" altLang="en-US" dirty="0">
                <a:solidFill>
                  <a:srgbClr val="4F4F4F"/>
                </a:solidFill>
                <a:latin typeface="微软雅黑 Light" panose="020B0502040204020203" pitchFamily="34" charset="-122"/>
                <a:ea typeface="微软雅黑 Light" panose="020B0502040204020203" pitchFamily="34" charset="-122"/>
              </a:rPr>
              <a:t>如果</a:t>
            </a:r>
            <a:r>
              <a:rPr lang="en-US" altLang="zh-CN" dirty="0">
                <a:solidFill>
                  <a:srgbClr val="4F4F4F"/>
                </a:solidFill>
                <a:latin typeface="微软雅黑 Light" panose="020B0502040204020203" pitchFamily="34" charset="-122"/>
                <a:ea typeface="微软雅黑 Light" panose="020B0502040204020203" pitchFamily="34" charset="-122"/>
              </a:rPr>
              <a:t>learning rate</a:t>
            </a:r>
            <a:r>
              <a:rPr lang="zh-CN" altLang="en-US" dirty="0">
                <a:solidFill>
                  <a:srgbClr val="4F4F4F"/>
                </a:solidFill>
                <a:latin typeface="微软雅黑 Light" panose="020B0502040204020203" pitchFamily="34" charset="-122"/>
                <a:ea typeface="微软雅黑 Light" panose="020B0502040204020203" pitchFamily="34" charset="-122"/>
              </a:rPr>
              <a:t>很大，神经元容易死掉，一个非常大的梯度流过一个 </a:t>
            </a:r>
            <a:r>
              <a:rPr lang="en-US" altLang="zh-CN" dirty="0" err="1">
                <a:solidFill>
                  <a:srgbClr val="4F4F4F"/>
                </a:solidFill>
                <a:latin typeface="微软雅黑 Light" panose="020B0502040204020203" pitchFamily="34" charset="-122"/>
                <a:ea typeface="微软雅黑 Light" panose="020B0502040204020203" pitchFamily="34" charset="-122"/>
              </a:rPr>
              <a:t>ReLU</a:t>
            </a:r>
            <a:r>
              <a:rPr lang="en-US" altLang="zh-CN" dirty="0">
                <a:solidFill>
                  <a:srgbClr val="4F4F4F"/>
                </a:solidFill>
                <a:latin typeface="微软雅黑 Light" panose="020B0502040204020203" pitchFamily="34" charset="-122"/>
                <a:ea typeface="微软雅黑 Light" panose="020B0502040204020203" pitchFamily="34" charset="-122"/>
              </a:rPr>
              <a:t> </a:t>
            </a:r>
            <a:r>
              <a:rPr lang="zh-CN" altLang="en-US" dirty="0">
                <a:solidFill>
                  <a:srgbClr val="4F4F4F"/>
                </a:solidFill>
                <a:latin typeface="微软雅黑 Light" panose="020B0502040204020203" pitchFamily="34" charset="-122"/>
                <a:ea typeface="微软雅黑 Light" panose="020B0502040204020203" pitchFamily="34" charset="-122"/>
              </a:rPr>
              <a:t>神经元，更新过参数之后，这个神经元再也不会对任何数据有激活现象了。</a:t>
            </a:r>
          </a:p>
          <a:p>
            <a:pPr marL="285750" indent="-285750" algn="just">
              <a:lnSpc>
                <a:spcPct val="150000"/>
              </a:lnSpc>
              <a:buFont typeface="Wingdings" panose="05000000000000000000" pitchFamily="2" charset="2"/>
              <a:buChar char="Ø"/>
            </a:pPr>
            <a:r>
              <a:rPr lang="zh-CN" altLang="en-US" dirty="0">
                <a:solidFill>
                  <a:srgbClr val="4F4F4F"/>
                </a:solidFill>
                <a:latin typeface="微软雅黑 Light" panose="020B0502040204020203" pitchFamily="34" charset="-122"/>
                <a:ea typeface="微软雅黑 Light" panose="020B0502040204020203" pitchFamily="34" charset="-122"/>
              </a:rPr>
              <a:t>当输入是负数的时候，</a:t>
            </a:r>
            <a:r>
              <a:rPr lang="en-US" altLang="zh-CN" dirty="0" err="1">
                <a:solidFill>
                  <a:srgbClr val="4F4F4F"/>
                </a:solidFill>
                <a:latin typeface="微软雅黑 Light" panose="020B0502040204020203" pitchFamily="34" charset="-122"/>
                <a:ea typeface="微软雅黑 Light" panose="020B0502040204020203" pitchFamily="34" charset="-122"/>
              </a:rPr>
              <a:t>ReLU</a:t>
            </a:r>
            <a:r>
              <a:rPr lang="zh-CN" altLang="en-US" dirty="0">
                <a:solidFill>
                  <a:srgbClr val="4F4F4F"/>
                </a:solidFill>
                <a:latin typeface="微软雅黑 Light" panose="020B0502040204020203" pitchFamily="34" charset="-122"/>
                <a:ea typeface="微软雅黑 Light" panose="020B0502040204020203" pitchFamily="34" charset="-122"/>
              </a:rPr>
              <a:t>是完全不被激活的，这就表明一旦输入到了负数，</a:t>
            </a:r>
            <a:r>
              <a:rPr lang="en-US" altLang="zh-CN" dirty="0" err="1">
                <a:solidFill>
                  <a:srgbClr val="4F4F4F"/>
                </a:solidFill>
                <a:latin typeface="微软雅黑 Light" panose="020B0502040204020203" pitchFamily="34" charset="-122"/>
                <a:ea typeface="微软雅黑 Light" panose="020B0502040204020203" pitchFamily="34" charset="-122"/>
              </a:rPr>
              <a:t>ReLU</a:t>
            </a:r>
            <a:r>
              <a:rPr lang="zh-CN" altLang="en-US" dirty="0">
                <a:solidFill>
                  <a:srgbClr val="4F4F4F"/>
                </a:solidFill>
                <a:latin typeface="微软雅黑 Light" panose="020B0502040204020203" pitchFamily="34" charset="-122"/>
                <a:ea typeface="微软雅黑 Light" panose="020B0502040204020203" pitchFamily="34" charset="-122"/>
              </a:rPr>
              <a:t>就会死掉</a:t>
            </a:r>
          </a:p>
        </p:txBody>
      </p:sp>
      <p:grpSp>
        <p:nvGrpSpPr>
          <p:cNvPr id="10" name="组合 9"/>
          <p:cNvGrpSpPr/>
          <p:nvPr/>
        </p:nvGrpSpPr>
        <p:grpSpPr>
          <a:xfrm>
            <a:off x="5295148" y="1282393"/>
            <a:ext cx="4027714" cy="1847176"/>
            <a:chOff x="819271" y="2348880"/>
            <a:chExt cx="2880320" cy="1971489"/>
          </a:xfrm>
        </p:grpSpPr>
        <p:pic>
          <p:nvPicPr>
            <p:cNvPr id="11" name="图片 10"/>
            <p:cNvPicPr>
              <a:picLocks noChangeAspect="1"/>
            </p:cNvPicPr>
            <p:nvPr/>
          </p:nvPicPr>
          <p:blipFill rotWithShape="1">
            <a:blip r:embed="rId6">
              <a:extLst>
                <a:ext uri="{28A0092B-C50C-407E-A947-70E740481C1C}">
                  <a14:useLocalDpi xmlns:a14="http://schemas.microsoft.com/office/drawing/2010/main" val="0"/>
                </a:ext>
              </a:extLst>
            </a:blip>
            <a:srcRect l="11210" t="17540" r="49766" b="30725"/>
            <a:stretch/>
          </p:blipFill>
          <p:spPr>
            <a:xfrm>
              <a:off x="819271" y="2438202"/>
              <a:ext cx="2880320" cy="1882167"/>
            </a:xfrm>
            <a:prstGeom prst="rect">
              <a:avLst/>
            </a:prstGeom>
          </p:spPr>
        </p:pic>
        <p:cxnSp>
          <p:nvCxnSpPr>
            <p:cNvPr id="12" name="直接连接符 11"/>
            <p:cNvCxnSpPr/>
            <p:nvPr/>
          </p:nvCxnSpPr>
          <p:spPr>
            <a:xfrm>
              <a:off x="891279" y="3974621"/>
              <a:ext cx="1368152" cy="0"/>
            </a:xfrm>
            <a:prstGeom prst="line">
              <a:avLst/>
            </a:prstGeom>
            <a:noFill/>
            <a:ln w="15875" cap="flat" cmpd="sng">
              <a:solidFill>
                <a:srgbClr val="686299"/>
              </a:solidFill>
              <a:prstDash val="solid"/>
              <a:round/>
              <a:headEnd/>
              <a:tailEnd/>
            </a:ln>
            <a:effectLst/>
          </p:spPr>
        </p:cxnSp>
        <p:cxnSp>
          <p:nvCxnSpPr>
            <p:cNvPr id="13" name="直接连接符 12"/>
            <p:cNvCxnSpPr/>
            <p:nvPr/>
          </p:nvCxnSpPr>
          <p:spPr>
            <a:xfrm flipV="1">
              <a:off x="2267744" y="2348880"/>
              <a:ext cx="1296144" cy="1629649"/>
            </a:xfrm>
            <a:prstGeom prst="line">
              <a:avLst/>
            </a:prstGeom>
            <a:noFill/>
            <a:ln w="15875" cap="flat" cmpd="sng">
              <a:solidFill>
                <a:srgbClr val="686299"/>
              </a:solidFill>
              <a:prstDash val="solid"/>
              <a:round/>
              <a:headEnd/>
              <a:tailEnd/>
            </a:ln>
            <a:effectLst/>
          </p:spPr>
        </p:cxnSp>
      </p:grpSp>
      <p:sp>
        <p:nvSpPr>
          <p:cNvPr id="14" name="矩形 13">
            <a:extLst>
              <a:ext uri="{FF2B5EF4-FFF2-40B4-BE49-F238E27FC236}">
                <a16:creationId xmlns:a16="http://schemas.microsoft.com/office/drawing/2014/main" id="{2CCD2B1A-0E81-4D4E-92BB-0CCFC439FFAB}"/>
              </a:ext>
            </a:extLst>
          </p:cNvPr>
          <p:cNvSpPr/>
          <p:nvPr/>
        </p:nvSpPr>
        <p:spPr>
          <a:xfrm>
            <a:off x="1247874" y="1784256"/>
            <a:ext cx="2623457" cy="3980313"/>
          </a:xfrm>
          <a:prstGeom prst="rect">
            <a:avLst/>
          </a:prstGeom>
          <a:solidFill>
            <a:srgbClr val="1C4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6" name="矩形 15">
            <a:extLst>
              <a:ext uri="{FF2B5EF4-FFF2-40B4-BE49-F238E27FC236}">
                <a16:creationId xmlns:a16="http://schemas.microsoft.com/office/drawing/2014/main" id="{34AFDA73-1E98-4FF4-9F62-5352510FD8E8}"/>
              </a:ext>
            </a:extLst>
          </p:cNvPr>
          <p:cNvSpPr/>
          <p:nvPr/>
        </p:nvSpPr>
        <p:spPr>
          <a:xfrm>
            <a:off x="1391667" y="2027579"/>
            <a:ext cx="2314166" cy="3353034"/>
          </a:xfrm>
          <a:prstGeom prst="rect">
            <a:avLst/>
          </a:prstGeom>
        </p:spPr>
        <p:txBody>
          <a:bodyPr wrap="square">
            <a:spAutoFit/>
          </a:bodyPr>
          <a:lstStyle/>
          <a:p>
            <a:pPr algn="just">
              <a:lnSpc>
                <a:spcPct val="150000"/>
              </a:lnSpc>
            </a:pPr>
            <a:r>
              <a:rPr lang="en-US" altLang="zh-CN" sz="2400" dirty="0">
                <a:solidFill>
                  <a:srgbClr val="FFFFFF"/>
                </a:solidFill>
                <a:latin typeface="微软雅黑 Light" panose="020B0502040204020203" pitchFamily="34" charset="-122"/>
                <a:ea typeface="微软雅黑 Light" panose="020B0502040204020203" pitchFamily="34" charset="-122"/>
              </a:rPr>
              <a:t>tanh</a:t>
            </a:r>
            <a:r>
              <a:rPr lang="zh-CN" altLang="en-US" sz="2400" dirty="0">
                <a:solidFill>
                  <a:srgbClr val="FFFFFF"/>
                </a:solidFill>
                <a:latin typeface="微软雅黑 Light" panose="020B0502040204020203" pitchFamily="34" charset="-122"/>
                <a:ea typeface="微软雅黑 Light" panose="020B0502040204020203" pitchFamily="34" charset="-122"/>
              </a:rPr>
              <a:t>函数虽然解决了</a:t>
            </a:r>
            <a:r>
              <a:rPr lang="en-US" altLang="zh-CN" sz="2400" dirty="0">
                <a:solidFill>
                  <a:srgbClr val="FFFFFF"/>
                </a:solidFill>
                <a:latin typeface="微软雅黑 Light" panose="020B0502040204020203" pitchFamily="34" charset="-122"/>
                <a:ea typeface="微软雅黑 Light" panose="020B0502040204020203" pitchFamily="34" charset="-122"/>
              </a:rPr>
              <a:t>sigmoid</a:t>
            </a:r>
            <a:r>
              <a:rPr lang="zh-CN" altLang="en-US" sz="2400" dirty="0">
                <a:solidFill>
                  <a:srgbClr val="FFFFFF"/>
                </a:solidFill>
                <a:latin typeface="微软雅黑 Light" panose="020B0502040204020203" pitchFamily="34" charset="-122"/>
                <a:ea typeface="微软雅黑 Light" panose="020B0502040204020203" pitchFamily="34" charset="-122"/>
              </a:rPr>
              <a:t>函数存在非</a:t>
            </a:r>
            <a:r>
              <a:rPr lang="en-US" altLang="zh-CN" sz="2400" dirty="0">
                <a:solidFill>
                  <a:srgbClr val="FFFFFF"/>
                </a:solidFill>
                <a:latin typeface="微软雅黑 Light" panose="020B0502040204020203" pitchFamily="34" charset="-122"/>
                <a:ea typeface="微软雅黑 Light" panose="020B0502040204020203" pitchFamily="34" charset="-122"/>
              </a:rPr>
              <a:t>0</a:t>
            </a:r>
            <a:r>
              <a:rPr lang="zh-CN" altLang="en-US" sz="2400" dirty="0">
                <a:solidFill>
                  <a:srgbClr val="FFFFFF"/>
                </a:solidFill>
                <a:latin typeface="微软雅黑 Light" panose="020B0502040204020203" pitchFamily="34" charset="-122"/>
                <a:ea typeface="微软雅黑 Light" panose="020B0502040204020203" pitchFamily="34" charset="-122"/>
              </a:rPr>
              <a:t>均值输出的问题，但仍然没改变梯度消失问题</a:t>
            </a:r>
            <a:endParaRPr lang="zh-CN" altLang="en-US" sz="2400" dirty="0">
              <a:solidFill>
                <a:srgbClr val="FFFFFF"/>
              </a:solidFill>
            </a:endParaRPr>
          </a:p>
        </p:txBody>
      </p:sp>
      <p:sp>
        <p:nvSpPr>
          <p:cNvPr id="18" name="箭头: 右 17">
            <a:extLst>
              <a:ext uri="{FF2B5EF4-FFF2-40B4-BE49-F238E27FC236}">
                <a16:creationId xmlns:a16="http://schemas.microsoft.com/office/drawing/2014/main" id="{3AB6808A-5AAB-4BB9-981C-B02CA5F54D3A}"/>
              </a:ext>
            </a:extLst>
          </p:cNvPr>
          <p:cNvSpPr/>
          <p:nvPr/>
        </p:nvSpPr>
        <p:spPr>
          <a:xfrm>
            <a:off x="3849626" y="3378105"/>
            <a:ext cx="1353983" cy="47600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6D3E1B92-C05E-4831-A1AF-3AF66B04B25E}"/>
              </a:ext>
            </a:extLst>
          </p:cNvPr>
          <p:cNvSpPr/>
          <p:nvPr/>
        </p:nvSpPr>
        <p:spPr>
          <a:xfrm>
            <a:off x="3984892" y="2860836"/>
            <a:ext cx="1013025" cy="646331"/>
          </a:xfrm>
          <a:prstGeom prst="rect">
            <a:avLst/>
          </a:prstGeom>
        </p:spPr>
        <p:txBody>
          <a:bodyPr wrap="square">
            <a:spAutoFit/>
          </a:bodyPr>
          <a:lstStyle/>
          <a:p>
            <a:r>
              <a:rPr lang="zh-CN" altLang="en-US" dirty="0">
                <a:solidFill>
                  <a:srgbClr val="4F4F4F"/>
                </a:solidFill>
                <a:latin typeface="微软雅黑 Light" panose="020B0502040204020203" pitchFamily="34" charset="-122"/>
                <a:ea typeface="微软雅黑 Light" panose="020B0502040204020203" pitchFamily="34" charset="-122"/>
              </a:rPr>
              <a:t>寻找解决办法</a:t>
            </a:r>
            <a:endParaRPr lang="zh-CN" altLang="en-US" dirty="0"/>
          </a:p>
        </p:txBody>
      </p:sp>
      <p:sp>
        <p:nvSpPr>
          <p:cNvPr id="22" name="灯片编号占位符 8">
            <a:extLst>
              <a:ext uri="{FF2B5EF4-FFF2-40B4-BE49-F238E27FC236}">
                <a16:creationId xmlns:a16="http://schemas.microsoft.com/office/drawing/2014/main" id="{5DDF982F-7A43-4B51-B2A4-70E80FE60EF7}"/>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50</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94956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600" b="1" dirty="0" err="1"/>
              <a:t>PReLU</a:t>
            </a:r>
            <a:r>
              <a:rPr lang="en-US" altLang="zh-CN" sz="2600" b="1" dirty="0"/>
              <a:t>/Leaky </a:t>
            </a:r>
            <a:r>
              <a:rPr lang="en-US" altLang="zh-CN" sz="2600" b="1" dirty="0" err="1"/>
              <a:t>ReLU</a:t>
            </a:r>
            <a:r>
              <a:rPr lang="zh-CN" altLang="en-US" sz="2600" b="1" dirty="0"/>
              <a:t>函数</a:t>
            </a:r>
            <a:endParaRPr lang="en-US" altLang="zh-CN" sz="2600" b="1" dirty="0"/>
          </a:p>
        </p:txBody>
      </p:sp>
      <mc:AlternateContent xmlns:mc="http://schemas.openxmlformats.org/markup-compatibility/2006" xmlns:a14="http://schemas.microsoft.com/office/drawing/2010/main">
        <mc:Choice Requires="a14">
          <p:sp>
            <p:nvSpPr>
              <p:cNvPr id="8" name="文本框 7"/>
              <p:cNvSpPr txBox="1"/>
              <p:nvPr/>
            </p:nvSpPr>
            <p:spPr>
              <a:xfrm>
                <a:off x="5660070" y="3327304"/>
                <a:ext cx="417646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𝑓</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𝑥</m:t>
                          </m:r>
                        </m:e>
                      </m:d>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max</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𝛼</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m:t>
                      </m:r>
                      <m:r>
                        <a:rPr lang="zh-CN" altLang="en-US" sz="2000" i="1" smtClean="0">
                          <a:latin typeface="Cambria Math" panose="02040503050406030204" pitchFamily="18" charset="0"/>
                        </a:rPr>
                        <m:t>𝛼</m:t>
                      </m:r>
                      <m:r>
                        <a:rPr lang="zh-CN" altLang="en-US" sz="2000" i="1" smtClean="0">
                          <a:latin typeface="Cambria Math" panose="02040503050406030204" pitchFamily="18" charset="0"/>
                        </a:rPr>
                        <m:t>∈(0,1)</m:t>
                      </m:r>
                    </m:oMath>
                  </m:oMathPara>
                </a14:m>
                <a:endParaRPr lang="zh-CN" altLang="en-US" sz="2000" dirty="0"/>
              </a:p>
            </p:txBody>
          </p:sp>
        </mc:Choice>
        <mc:Fallback xmlns="">
          <p:sp>
            <p:nvSpPr>
              <p:cNvPr id="8" name="文本框 7"/>
              <p:cNvSpPr txBox="1">
                <a:spLocks noRot="1" noChangeAspect="1" noMove="1" noResize="1" noEditPoints="1" noAdjustHandles="1" noChangeArrowheads="1" noChangeShapeType="1" noTextEdit="1"/>
              </p:cNvSpPr>
              <p:nvPr/>
            </p:nvSpPr>
            <p:spPr>
              <a:xfrm>
                <a:off x="5660070" y="3327304"/>
                <a:ext cx="4176464" cy="400110"/>
              </a:xfrm>
              <a:prstGeom prst="rect">
                <a:avLst/>
              </a:prstGeom>
              <a:blipFill rotWithShape="0">
                <a:blip r:embed="rId5"/>
                <a:stretch>
                  <a:fillRect b="-15385"/>
                </a:stretch>
              </a:blipFill>
            </p:spPr>
            <p:txBody>
              <a:bodyPr/>
              <a:lstStyle/>
              <a:p>
                <a:r>
                  <a:rPr lang="zh-CN" altLang="en-US">
                    <a:noFill/>
                  </a:rPr>
                  <a:t> </a:t>
                </a:r>
              </a:p>
            </p:txBody>
          </p:sp>
        </mc:Fallback>
      </mc:AlternateContent>
      <p:grpSp>
        <p:nvGrpSpPr>
          <p:cNvPr id="9" name="组合 8"/>
          <p:cNvGrpSpPr/>
          <p:nvPr/>
        </p:nvGrpSpPr>
        <p:grpSpPr>
          <a:xfrm>
            <a:off x="2189550" y="3794602"/>
            <a:ext cx="3252961" cy="2257143"/>
            <a:chOff x="899592" y="2306502"/>
            <a:chExt cx="3252961" cy="2257143"/>
          </a:xfrm>
        </p:grpSpPr>
        <p:pic>
          <p:nvPicPr>
            <p:cNvPr id="10" name="图片 9"/>
            <p:cNvPicPr>
              <a:picLocks noChangeAspect="1"/>
            </p:cNvPicPr>
            <p:nvPr/>
          </p:nvPicPr>
          <p:blipFill rotWithShape="1">
            <a:blip r:embed="rId6">
              <a:extLst>
                <a:ext uri="{28A0092B-C50C-407E-A947-70E740481C1C}">
                  <a14:useLocalDpi xmlns:a14="http://schemas.microsoft.com/office/drawing/2010/main" val="0"/>
                </a:ext>
              </a:extLst>
            </a:blip>
            <a:srcRect r="48868"/>
            <a:stretch/>
          </p:blipFill>
          <p:spPr>
            <a:xfrm>
              <a:off x="899592" y="2306502"/>
              <a:ext cx="3252961" cy="2257143"/>
            </a:xfrm>
            <a:prstGeom prst="rect">
              <a:avLst/>
            </a:prstGeom>
          </p:spPr>
        </p:pic>
        <p:pic>
          <p:nvPicPr>
            <p:cNvPr id="11" name="图片 10"/>
            <p:cNvPicPr>
              <a:picLocks noChangeAspect="1"/>
            </p:cNvPicPr>
            <p:nvPr/>
          </p:nvPicPr>
          <p:blipFill>
            <a:blip r:embed="rId7"/>
            <a:stretch>
              <a:fillRect/>
            </a:stretch>
          </p:blipFill>
          <p:spPr>
            <a:xfrm>
              <a:off x="3347864" y="2586403"/>
              <a:ext cx="638150" cy="342900"/>
            </a:xfrm>
            <a:prstGeom prst="rect">
              <a:avLst/>
            </a:prstGeom>
          </p:spPr>
        </p:pic>
        <p:pic>
          <p:nvPicPr>
            <p:cNvPr id="12" name="图片 11"/>
            <p:cNvPicPr>
              <a:picLocks noChangeAspect="1"/>
            </p:cNvPicPr>
            <p:nvPr/>
          </p:nvPicPr>
          <p:blipFill>
            <a:blip r:embed="rId7"/>
            <a:stretch>
              <a:fillRect/>
            </a:stretch>
          </p:blipFill>
          <p:spPr>
            <a:xfrm>
              <a:off x="2529677" y="2328991"/>
              <a:ext cx="386139" cy="342900"/>
            </a:xfrm>
            <a:prstGeom prst="rect">
              <a:avLst/>
            </a:prstGeom>
          </p:spPr>
        </p:pic>
        <p:pic>
          <p:nvPicPr>
            <p:cNvPr id="13" name="图片 12"/>
            <p:cNvPicPr>
              <a:picLocks noChangeAspect="1"/>
            </p:cNvPicPr>
            <p:nvPr/>
          </p:nvPicPr>
          <p:blipFill>
            <a:blip r:embed="rId7"/>
            <a:stretch>
              <a:fillRect/>
            </a:stretch>
          </p:blipFill>
          <p:spPr>
            <a:xfrm>
              <a:off x="1555977" y="3803479"/>
              <a:ext cx="792088" cy="201585"/>
            </a:xfrm>
            <a:prstGeom prst="rect">
              <a:avLst/>
            </a:prstGeom>
          </p:spPr>
        </p:pic>
        <mc:AlternateContent xmlns:mc="http://schemas.openxmlformats.org/markup-compatibility/2006" xmlns:a14="http://schemas.microsoft.com/office/drawing/2010/main">
          <mc:Choice Requires="a14">
            <p:sp>
              <p:nvSpPr>
                <p:cNvPr id="14" name="矩形 13"/>
                <p:cNvSpPr/>
                <p:nvPr/>
              </p:nvSpPr>
              <p:spPr>
                <a:xfrm>
                  <a:off x="1771645" y="2341567"/>
                  <a:ext cx="70416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𝑥</m:t>
                            </m:r>
                          </m:e>
                        </m:d>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1771645" y="2341567"/>
                  <a:ext cx="704167" cy="369332"/>
                </a:xfrm>
                <a:prstGeom prst="rect">
                  <a:avLst/>
                </a:prstGeom>
                <a:blipFill>
                  <a:blip r:embed="rId8"/>
                  <a:stretch>
                    <a:fillRect b="-13115"/>
                  </a:stretch>
                </a:blipFill>
              </p:spPr>
              <p:txBody>
                <a:bodyPr/>
                <a:lstStyle/>
                <a:p>
                  <a:r>
                    <a:rPr lang="zh-CN" altLang="en-US">
                      <a:noFill/>
                    </a:rPr>
                    <a:t> </a:t>
                  </a:r>
                </a:p>
              </p:txBody>
            </p:sp>
          </mc:Fallback>
        </mc:AlternateContent>
      </p:grpSp>
      <p:sp>
        <p:nvSpPr>
          <p:cNvPr id="16" name="矩形 15"/>
          <p:cNvSpPr/>
          <p:nvPr/>
        </p:nvSpPr>
        <p:spPr>
          <a:xfrm>
            <a:off x="6086295" y="3987047"/>
            <a:ext cx="3947049" cy="1707199"/>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solidFill>
                  <a:srgbClr val="4F4F4F"/>
                </a:solidFill>
                <a:latin typeface="微软雅黑 Light" panose="020B0502040204020203" pitchFamily="34" charset="-122"/>
                <a:ea typeface="微软雅黑 Light" panose="020B0502040204020203" pitchFamily="34" charset="-122"/>
              </a:rPr>
              <a:t>负数区域内，</a:t>
            </a:r>
            <a:r>
              <a:rPr lang="en-US" altLang="zh-CN" dirty="0" err="1">
                <a:solidFill>
                  <a:srgbClr val="4F4F4F"/>
                </a:solidFill>
                <a:latin typeface="微软雅黑 Light" panose="020B0502040204020203" pitchFamily="34" charset="-122"/>
                <a:ea typeface="微软雅黑 Light" panose="020B0502040204020203" pitchFamily="34" charset="-122"/>
              </a:rPr>
              <a:t>PReLU</a:t>
            </a:r>
            <a:r>
              <a:rPr lang="zh-CN" altLang="en-US" dirty="0">
                <a:solidFill>
                  <a:srgbClr val="4F4F4F"/>
                </a:solidFill>
                <a:latin typeface="微软雅黑 Light" panose="020B0502040204020203" pitchFamily="34" charset="-122"/>
                <a:ea typeface="微软雅黑 Light" panose="020B0502040204020203" pitchFamily="34" charset="-122"/>
              </a:rPr>
              <a:t>有一个很小的斜率，可以避免</a:t>
            </a:r>
            <a:r>
              <a:rPr lang="en-US" altLang="zh-CN" dirty="0" err="1">
                <a:solidFill>
                  <a:srgbClr val="4F4F4F"/>
                </a:solidFill>
                <a:latin typeface="微软雅黑 Light" panose="020B0502040204020203" pitchFamily="34" charset="-122"/>
                <a:ea typeface="微软雅黑 Light" panose="020B0502040204020203" pitchFamily="34" charset="-122"/>
              </a:rPr>
              <a:t>ReLU</a:t>
            </a:r>
            <a:r>
              <a:rPr lang="zh-CN" altLang="en-US" dirty="0">
                <a:solidFill>
                  <a:srgbClr val="4F4F4F"/>
                </a:solidFill>
                <a:latin typeface="微软雅黑 Light" panose="020B0502040204020203" pitchFamily="34" charset="-122"/>
                <a:ea typeface="微软雅黑 Light" panose="020B0502040204020203" pitchFamily="34" charset="-122"/>
              </a:rPr>
              <a:t>死掉的问题</a:t>
            </a:r>
            <a:endParaRPr lang="en-US" altLang="zh-CN" dirty="0">
              <a:solidFill>
                <a:srgbClr val="4F4F4F"/>
              </a:solidFill>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Ø"/>
            </a:pPr>
            <a:r>
              <a:rPr lang="zh-CN" altLang="en-US" dirty="0">
                <a:solidFill>
                  <a:srgbClr val="4F4F4F"/>
                </a:solidFill>
                <a:latin typeface="微软雅黑 Light" panose="020B0502040204020203" pitchFamily="34" charset="-122"/>
                <a:ea typeface="微软雅黑 Light" panose="020B0502040204020203" pitchFamily="34" charset="-122"/>
              </a:rPr>
              <a:t>当</a:t>
            </a:r>
            <a:r>
              <a:rPr lang="en-US" altLang="zh-CN" dirty="0">
                <a:solidFill>
                  <a:srgbClr val="4F4F4F"/>
                </a:solidFill>
                <a:latin typeface="微软雅黑 Light" panose="020B0502040204020203" pitchFamily="34" charset="-122"/>
                <a:ea typeface="微软雅黑 Light" panose="020B0502040204020203" pitchFamily="34" charset="-122"/>
              </a:rPr>
              <a:t>α=0.01</a:t>
            </a:r>
            <a:r>
              <a:rPr lang="zh-CN" altLang="en-US" dirty="0">
                <a:solidFill>
                  <a:srgbClr val="4F4F4F"/>
                </a:solidFill>
                <a:latin typeface="微软雅黑 Light" panose="020B0502040204020203" pitchFamily="34" charset="-122"/>
                <a:ea typeface="微软雅黑 Light" panose="020B0502040204020203" pitchFamily="34" charset="-122"/>
              </a:rPr>
              <a:t>时，称</a:t>
            </a:r>
            <a:r>
              <a:rPr lang="en-US" altLang="zh-CN" dirty="0" err="1">
                <a:solidFill>
                  <a:srgbClr val="4F4F4F"/>
                </a:solidFill>
                <a:latin typeface="微软雅黑 Light" panose="020B0502040204020203" pitchFamily="34" charset="-122"/>
                <a:ea typeface="微软雅黑 Light" panose="020B0502040204020203" pitchFamily="34" charset="-122"/>
              </a:rPr>
              <a:t>PReLU</a:t>
            </a:r>
            <a:r>
              <a:rPr lang="zh-CN" altLang="en-US" dirty="0">
                <a:solidFill>
                  <a:srgbClr val="4F4F4F"/>
                </a:solidFill>
                <a:latin typeface="微软雅黑 Light" panose="020B0502040204020203" pitchFamily="34" charset="-122"/>
                <a:ea typeface="微软雅黑 Light" panose="020B0502040204020203" pitchFamily="34" charset="-122"/>
              </a:rPr>
              <a:t>为</a:t>
            </a:r>
            <a:r>
              <a:rPr lang="en-US" altLang="zh-CN" dirty="0">
                <a:solidFill>
                  <a:srgbClr val="4F4F4F"/>
                </a:solidFill>
                <a:latin typeface="微软雅黑 Light" panose="020B0502040204020203" pitchFamily="34" charset="-122"/>
                <a:ea typeface="微软雅黑 Light" panose="020B0502040204020203" pitchFamily="34" charset="-122"/>
              </a:rPr>
              <a:t>Leaky </a:t>
            </a:r>
            <a:r>
              <a:rPr lang="en-US" altLang="zh-CN" dirty="0" err="1">
                <a:solidFill>
                  <a:srgbClr val="4F4F4F"/>
                </a:solidFill>
                <a:latin typeface="微软雅黑 Light" panose="020B0502040204020203" pitchFamily="34" charset="-122"/>
                <a:ea typeface="微软雅黑 Light" panose="020B0502040204020203" pitchFamily="34" charset="-122"/>
              </a:rPr>
              <a:t>ReLU</a:t>
            </a:r>
            <a:r>
              <a:rPr lang="zh-CN" altLang="en-US" dirty="0">
                <a:solidFill>
                  <a:srgbClr val="4F4F4F"/>
                </a:solidFill>
                <a:latin typeface="微软雅黑 Light" panose="020B0502040204020203" pitchFamily="34" charset="-122"/>
                <a:ea typeface="微软雅黑 Light" panose="020B0502040204020203" pitchFamily="34" charset="-122"/>
              </a:rPr>
              <a:t>，是</a:t>
            </a:r>
            <a:r>
              <a:rPr lang="en-US" altLang="zh-CN" dirty="0" err="1">
                <a:solidFill>
                  <a:srgbClr val="4F4F4F"/>
                </a:solidFill>
                <a:latin typeface="微软雅黑 Light" panose="020B0502040204020203" pitchFamily="34" charset="-122"/>
                <a:ea typeface="微软雅黑 Light" panose="020B0502040204020203" pitchFamily="34" charset="-122"/>
              </a:rPr>
              <a:t>PReLU</a:t>
            </a:r>
            <a:r>
              <a:rPr lang="zh-CN" altLang="en-US" dirty="0">
                <a:solidFill>
                  <a:srgbClr val="4F4F4F"/>
                </a:solidFill>
                <a:latin typeface="微软雅黑 Light" panose="020B0502040204020203" pitchFamily="34" charset="-122"/>
                <a:ea typeface="微软雅黑 Light" panose="020B0502040204020203" pitchFamily="34" charset="-122"/>
              </a:rPr>
              <a:t>的一种特殊情况</a:t>
            </a:r>
            <a:endParaRPr lang="zh-CN" altLang="en-US" dirty="0">
              <a:latin typeface="微软雅黑 Light" panose="020B0502040204020203" pitchFamily="34" charset="-122"/>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18" name="文本框 17"/>
              <p:cNvSpPr txBox="1"/>
              <p:nvPr/>
            </p:nvSpPr>
            <p:spPr>
              <a:xfrm>
                <a:off x="5730482" y="5932251"/>
                <a:ext cx="465867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𝐿𝑒𝑎𝑘𝑦𝑅𝑒𝐿𝑈</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r>
                        <m:rPr>
                          <m:sty m:val="p"/>
                        </m:rPr>
                        <a:rPr lang="en-US" altLang="zh-CN" sz="2000" b="0" i="0" smtClean="0">
                          <a:latin typeface="Cambria Math" panose="02040503050406030204" pitchFamily="18" charset="0"/>
                        </a:rPr>
                        <m:t>max</m:t>
                      </m:r>
                      <m:r>
                        <a:rPr lang="en-US" altLang="zh-CN" sz="2000" b="0" i="1" smtClean="0">
                          <a:latin typeface="Cambria Math" panose="02040503050406030204" pitchFamily="18" charset="0"/>
                        </a:rPr>
                        <m:t>⁡(0.01</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oMath>
                  </m:oMathPara>
                </a14:m>
                <a:endParaRPr lang="zh-CN" altLang="en-US" sz="2000" dirty="0"/>
              </a:p>
            </p:txBody>
          </p:sp>
        </mc:Choice>
        <mc:Fallback xmlns="">
          <p:sp>
            <p:nvSpPr>
              <p:cNvPr id="18" name="文本框 17"/>
              <p:cNvSpPr txBox="1">
                <a:spLocks noRot="1" noChangeAspect="1" noMove="1" noResize="1" noEditPoints="1" noAdjustHandles="1" noChangeArrowheads="1" noChangeShapeType="1" noTextEdit="1"/>
              </p:cNvSpPr>
              <p:nvPr/>
            </p:nvSpPr>
            <p:spPr>
              <a:xfrm>
                <a:off x="5730482" y="5932251"/>
                <a:ext cx="4658673" cy="400110"/>
              </a:xfrm>
              <a:prstGeom prst="rect">
                <a:avLst/>
              </a:prstGeom>
              <a:blipFill rotWithShape="0">
                <a:blip r:embed="rId9"/>
                <a:stretch>
                  <a:fillRect b="-15152"/>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1CF373FC-D1DC-4D05-9555-6B03868DD364}"/>
              </a:ext>
            </a:extLst>
          </p:cNvPr>
          <p:cNvSpPr/>
          <p:nvPr/>
        </p:nvSpPr>
        <p:spPr>
          <a:xfrm>
            <a:off x="6100467" y="1861107"/>
            <a:ext cx="3195057" cy="962892"/>
          </a:xfrm>
          <a:prstGeom prst="rect">
            <a:avLst/>
          </a:prstGeom>
        </p:spPr>
        <p:txBody>
          <a:bodyPr wrap="square">
            <a:spAutoFit/>
          </a:bodyPr>
          <a:lstStyle/>
          <a:p>
            <a:pPr>
              <a:lnSpc>
                <a:spcPct val="150000"/>
              </a:lnSpc>
            </a:pPr>
            <a:r>
              <a:rPr lang="zh-CN" altLang="en-US" sz="2000" dirty="0">
                <a:solidFill>
                  <a:srgbClr val="4F4F4F"/>
                </a:solidFill>
                <a:latin typeface="微软雅黑 Light" panose="020B0502040204020203" pitchFamily="34" charset="-122"/>
                <a:ea typeface="微软雅黑 Light" panose="020B0502040204020203" pitchFamily="34" charset="-122"/>
              </a:rPr>
              <a:t>出现了</a:t>
            </a:r>
            <a:r>
              <a:rPr lang="en-US" altLang="zh-CN" sz="2000" dirty="0" err="1">
                <a:solidFill>
                  <a:srgbClr val="4F4F4F"/>
                </a:solidFill>
                <a:latin typeface="微软雅黑 Light" panose="020B0502040204020203" pitchFamily="34" charset="-122"/>
                <a:ea typeface="微软雅黑 Light" panose="020B0502040204020203" pitchFamily="34" charset="-122"/>
              </a:rPr>
              <a:t>ReLU</a:t>
            </a:r>
            <a:r>
              <a:rPr lang="zh-CN" altLang="en-US" sz="2000" dirty="0">
                <a:solidFill>
                  <a:srgbClr val="4F4F4F"/>
                </a:solidFill>
                <a:latin typeface="微软雅黑 Light" panose="020B0502040204020203" pitchFamily="34" charset="-122"/>
                <a:ea typeface="微软雅黑 Light" panose="020B0502040204020203" pitchFamily="34" charset="-122"/>
              </a:rPr>
              <a:t>的改进版本：</a:t>
            </a:r>
            <a:r>
              <a:rPr lang="en-US" altLang="zh-CN" sz="2000" dirty="0" err="1">
                <a:solidFill>
                  <a:srgbClr val="4F4F4F"/>
                </a:solidFill>
                <a:latin typeface="微软雅黑 Light" panose="020B0502040204020203" pitchFamily="34" charset="-122"/>
                <a:ea typeface="微软雅黑 Light" panose="020B0502040204020203" pitchFamily="34" charset="-122"/>
              </a:rPr>
              <a:t>PReLU</a:t>
            </a:r>
            <a:r>
              <a:rPr lang="en-US" altLang="zh-CN" sz="2000" dirty="0">
                <a:solidFill>
                  <a:srgbClr val="4F4F4F"/>
                </a:solidFill>
                <a:latin typeface="微软雅黑 Light" panose="020B0502040204020203" pitchFamily="34" charset="-122"/>
                <a:ea typeface="微软雅黑 Light" panose="020B0502040204020203" pitchFamily="34" charset="-122"/>
              </a:rPr>
              <a:t>/Leaky </a:t>
            </a:r>
            <a:r>
              <a:rPr lang="en-US" altLang="zh-CN" sz="2000" dirty="0" err="1">
                <a:solidFill>
                  <a:srgbClr val="4F4F4F"/>
                </a:solidFill>
                <a:latin typeface="微软雅黑 Light" panose="020B0502040204020203" pitchFamily="34" charset="-122"/>
                <a:ea typeface="微软雅黑 Light" panose="020B0502040204020203" pitchFamily="34" charset="-122"/>
              </a:rPr>
              <a:t>ReLU</a:t>
            </a:r>
            <a:r>
              <a:rPr lang="en-US" altLang="zh-CN" sz="2000" dirty="0">
                <a:solidFill>
                  <a:srgbClr val="4F4F4F"/>
                </a:solidFill>
                <a:latin typeface="微软雅黑 Light" panose="020B0502040204020203" pitchFamily="34" charset="-122"/>
                <a:ea typeface="微软雅黑 Light" panose="020B0502040204020203" pitchFamily="34" charset="-122"/>
              </a:rPr>
              <a:t> </a:t>
            </a:r>
            <a:endParaRPr lang="zh-CN" altLang="en-US" sz="2000" dirty="0"/>
          </a:p>
        </p:txBody>
      </p:sp>
      <p:grpSp>
        <p:nvGrpSpPr>
          <p:cNvPr id="20" name="组合 19">
            <a:extLst>
              <a:ext uri="{FF2B5EF4-FFF2-40B4-BE49-F238E27FC236}">
                <a16:creationId xmlns:a16="http://schemas.microsoft.com/office/drawing/2014/main" id="{327624D9-49D6-4620-95F6-A7A124F0B974}"/>
              </a:ext>
            </a:extLst>
          </p:cNvPr>
          <p:cNvGrpSpPr/>
          <p:nvPr/>
        </p:nvGrpSpPr>
        <p:grpSpPr>
          <a:xfrm>
            <a:off x="1673672" y="1640867"/>
            <a:ext cx="2642016" cy="1517138"/>
            <a:chOff x="-1380415" y="1687286"/>
            <a:chExt cx="2642016" cy="1517138"/>
          </a:xfrm>
        </p:grpSpPr>
        <p:sp>
          <p:nvSpPr>
            <p:cNvPr id="21" name="矩形 20">
              <a:extLst>
                <a:ext uri="{FF2B5EF4-FFF2-40B4-BE49-F238E27FC236}">
                  <a16:creationId xmlns:a16="http://schemas.microsoft.com/office/drawing/2014/main" id="{1F42E256-102F-4BA2-957A-27FFCA49703A}"/>
                </a:ext>
              </a:extLst>
            </p:cNvPr>
            <p:cNvSpPr/>
            <p:nvPr/>
          </p:nvSpPr>
          <p:spPr>
            <a:xfrm>
              <a:off x="-1380415" y="1687286"/>
              <a:ext cx="2623457" cy="1517138"/>
            </a:xfrm>
            <a:prstGeom prst="rect">
              <a:avLst/>
            </a:prstGeom>
            <a:solidFill>
              <a:srgbClr val="1C4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22" name="矩形 21">
              <a:extLst>
                <a:ext uri="{FF2B5EF4-FFF2-40B4-BE49-F238E27FC236}">
                  <a16:creationId xmlns:a16="http://schemas.microsoft.com/office/drawing/2014/main" id="{ED549D4B-F45E-46F3-B582-962BE5D2BDD1}"/>
                </a:ext>
              </a:extLst>
            </p:cNvPr>
            <p:cNvSpPr/>
            <p:nvPr/>
          </p:nvSpPr>
          <p:spPr>
            <a:xfrm>
              <a:off x="-1246569" y="1884881"/>
              <a:ext cx="2508170" cy="963277"/>
            </a:xfrm>
            <a:prstGeom prst="rect">
              <a:avLst/>
            </a:prstGeom>
          </p:spPr>
          <p:txBody>
            <a:bodyPr wrap="square">
              <a:spAutoFit/>
            </a:bodyPr>
            <a:lstStyle/>
            <a:p>
              <a:pPr algn="just">
                <a:lnSpc>
                  <a:spcPct val="150000"/>
                </a:lnSpc>
              </a:pPr>
              <a:r>
                <a:rPr lang="en-US" altLang="zh-CN" sz="2000" dirty="0" err="1">
                  <a:solidFill>
                    <a:srgbClr val="FFFFFF"/>
                  </a:solidFill>
                  <a:latin typeface="微软雅黑 Light" panose="020B0502040204020203" pitchFamily="34" charset="-122"/>
                  <a:ea typeface="微软雅黑 Light" panose="020B0502040204020203" pitchFamily="34" charset="-122"/>
                </a:rPr>
                <a:t>ReLU</a:t>
              </a:r>
              <a:r>
                <a:rPr lang="en-US" altLang="zh-CN" sz="2000" dirty="0">
                  <a:solidFill>
                    <a:srgbClr val="FFFFFF"/>
                  </a:solidFill>
                  <a:latin typeface="微软雅黑 Light" panose="020B0502040204020203" pitchFamily="34" charset="-122"/>
                  <a:ea typeface="微软雅黑 Light" panose="020B0502040204020203" pitchFamily="34" charset="-122"/>
                </a:rPr>
                <a:t> </a:t>
              </a:r>
              <a:r>
                <a:rPr lang="zh-CN" altLang="en-US" sz="2000" dirty="0">
                  <a:solidFill>
                    <a:srgbClr val="FFFFFF"/>
                  </a:solidFill>
                  <a:latin typeface="微软雅黑 Light" panose="020B0502040204020203" pitchFamily="34" charset="-122"/>
                  <a:ea typeface="微软雅黑 Light" panose="020B0502040204020203" pitchFamily="34" charset="-122"/>
                </a:rPr>
                <a:t>在</a:t>
              </a:r>
              <a:r>
                <a:rPr lang="en-US" altLang="zh-CN" sz="2000" dirty="0">
                  <a:solidFill>
                    <a:srgbClr val="FFFFFF"/>
                  </a:solidFill>
                  <a:latin typeface="微软雅黑 Light" panose="020B0502040204020203" pitchFamily="34" charset="-122"/>
                  <a:ea typeface="微软雅黑 Light" panose="020B0502040204020203" pitchFamily="34" charset="-122"/>
                </a:rPr>
                <a:t>x&lt;0 </a:t>
              </a:r>
              <a:r>
                <a:rPr lang="zh-CN" altLang="en-US" sz="2000" dirty="0">
                  <a:solidFill>
                    <a:srgbClr val="FFFFFF"/>
                  </a:solidFill>
                  <a:latin typeface="微软雅黑 Light" panose="020B0502040204020203" pitchFamily="34" charset="-122"/>
                  <a:ea typeface="微软雅黑 Light" panose="020B0502040204020203" pitchFamily="34" charset="-122"/>
                </a:rPr>
                <a:t>时，</a:t>
              </a:r>
              <a:r>
                <a:rPr lang="en-US" altLang="zh-CN" sz="2000" dirty="0" err="1">
                  <a:solidFill>
                    <a:srgbClr val="FFFFFF"/>
                  </a:solidFill>
                  <a:latin typeface="微软雅黑 Light" panose="020B0502040204020203" pitchFamily="34" charset="-122"/>
                  <a:ea typeface="微软雅黑 Light" panose="020B0502040204020203" pitchFamily="34" charset="-122"/>
                </a:rPr>
                <a:t>ReLU</a:t>
              </a:r>
              <a:r>
                <a:rPr lang="zh-CN" altLang="en-US" sz="2000" dirty="0">
                  <a:solidFill>
                    <a:srgbClr val="FFFFFF"/>
                  </a:solidFill>
                  <a:latin typeface="微软雅黑 Light" panose="020B0502040204020203" pitchFamily="34" charset="-122"/>
                  <a:ea typeface="微软雅黑 Light" panose="020B0502040204020203" pitchFamily="34" charset="-122"/>
                </a:rPr>
                <a:t>完全不被激活</a:t>
              </a:r>
            </a:p>
          </p:txBody>
        </p:sp>
      </p:grpSp>
      <p:sp>
        <p:nvSpPr>
          <p:cNvPr id="23" name="箭头: 右 18">
            <a:extLst>
              <a:ext uri="{FF2B5EF4-FFF2-40B4-BE49-F238E27FC236}">
                <a16:creationId xmlns:a16="http://schemas.microsoft.com/office/drawing/2014/main" id="{379EE3CE-674A-446F-99F9-0D8C39BEE857}"/>
              </a:ext>
            </a:extLst>
          </p:cNvPr>
          <p:cNvSpPr/>
          <p:nvPr/>
        </p:nvSpPr>
        <p:spPr>
          <a:xfrm>
            <a:off x="4396568" y="2138606"/>
            <a:ext cx="1353983" cy="47600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279EC7C4-4143-480F-A539-9D514D298C11}"/>
              </a:ext>
            </a:extLst>
          </p:cNvPr>
          <p:cNvSpPr/>
          <p:nvPr/>
        </p:nvSpPr>
        <p:spPr>
          <a:xfrm>
            <a:off x="4647045" y="1861107"/>
            <a:ext cx="1013025" cy="369332"/>
          </a:xfrm>
          <a:prstGeom prst="rect">
            <a:avLst/>
          </a:prstGeom>
        </p:spPr>
        <p:txBody>
          <a:bodyPr wrap="square">
            <a:spAutoFit/>
          </a:bodyPr>
          <a:lstStyle/>
          <a:p>
            <a:r>
              <a:rPr lang="zh-CN" altLang="en-US" dirty="0">
                <a:solidFill>
                  <a:srgbClr val="4F4F4F"/>
                </a:solidFill>
                <a:latin typeface="微软雅黑 Light" panose="020B0502040204020203" pitchFamily="34" charset="-122"/>
                <a:ea typeface="微软雅黑 Light" panose="020B0502040204020203" pitchFamily="34" charset="-122"/>
              </a:rPr>
              <a:t>改进</a:t>
            </a:r>
            <a:endParaRPr lang="zh-CN" altLang="en-US" dirty="0"/>
          </a:p>
        </p:txBody>
      </p:sp>
      <p:sp>
        <p:nvSpPr>
          <p:cNvPr id="27" name="灯片编号占位符 8">
            <a:extLst>
              <a:ext uri="{FF2B5EF4-FFF2-40B4-BE49-F238E27FC236}">
                <a16:creationId xmlns:a16="http://schemas.microsoft.com/office/drawing/2014/main" id="{B5B7C1FD-AAF5-4ACC-B995-981124817565}"/>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51</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4724595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600" b="1" dirty="0"/>
              <a:t>ELU</a:t>
            </a:r>
            <a:r>
              <a:rPr lang="zh-CN" altLang="en-US" sz="2600" b="1" dirty="0"/>
              <a:t>函数（</a:t>
            </a:r>
            <a:r>
              <a:rPr lang="en-US" altLang="zh-CN" sz="2600" b="1" dirty="0"/>
              <a:t>Exponential Linear Unit</a:t>
            </a:r>
            <a:r>
              <a:rPr lang="zh-CN" altLang="en-US" sz="2600" b="1" dirty="0"/>
              <a:t>）</a:t>
            </a:r>
            <a:endParaRPr lang="en-US" altLang="zh-CN" sz="2600" b="1" dirty="0"/>
          </a:p>
        </p:txBody>
      </p:sp>
      <mc:AlternateContent xmlns:mc="http://schemas.openxmlformats.org/markup-compatibility/2006" xmlns:a14="http://schemas.microsoft.com/office/drawing/2010/main">
        <mc:Choice Requires="a14">
          <p:sp>
            <p:nvSpPr>
              <p:cNvPr id="8" name="文本框 7"/>
              <p:cNvSpPr txBox="1"/>
              <p:nvPr/>
            </p:nvSpPr>
            <p:spPr>
              <a:xfrm>
                <a:off x="5896566" y="1901918"/>
                <a:ext cx="4162731" cy="916148"/>
              </a:xfrm>
              <a:prstGeom prst="rect">
                <a:avLst/>
              </a:prstGeom>
              <a:noFill/>
            </p:spPr>
            <p:txBody>
              <a:bodyPr wrap="square" rtlCol="0">
                <a:spAutoFit/>
              </a:bodyPr>
              <a:lstStyle/>
              <a:p>
                <a:r>
                  <a:rPr lang="en-US" altLang="zh-CN" sz="2400" b="0" dirty="0"/>
                  <a:t>f</a:t>
                </a:r>
                <a14:m>
                  <m:oMath xmlns:m="http://schemas.openxmlformats.org/officeDocument/2006/math">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ea typeface="Cambria Math" panose="02040503050406030204" pitchFamily="18" charset="0"/>
                              </a:rPr>
                              <m:t>&gt;0</m:t>
                            </m:r>
                            <m:r>
                              <a:rPr lang="en-US" altLang="zh-CN" sz="2400" b="0" i="1" smtClean="0">
                                <a:latin typeface="Cambria Math" panose="02040503050406030204" pitchFamily="18" charset="0"/>
                              </a:rPr>
                              <m:t>    </m:t>
                            </m:r>
                          </m:e>
                          <m:e>
                            <m:r>
                              <a:rPr lang="zh-CN" altLang="en-US" sz="2400" b="0" i="1" smtClean="0">
                                <a:latin typeface="Cambria Math" panose="02040503050406030204" pitchFamily="18" charset="0"/>
                              </a:rPr>
                              <m:t>𝛼</m:t>
                            </m:r>
                            <m:d>
                              <m:dPr>
                                <m:ctrlPr>
                                  <a:rPr lang="en-US" altLang="zh-CN" sz="2400" b="0" i="1" smtClean="0">
                                    <a:latin typeface="Cambria Math" panose="02040503050406030204" pitchFamily="18" charset="0"/>
                                  </a:rPr>
                                </m:ctrlPr>
                              </m:dPr>
                              <m:e>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𝑥</m:t>
                                    </m:r>
                                  </m:sup>
                                </m:sSup>
                                <m:r>
                                  <a:rPr lang="en-US" altLang="zh-CN" sz="2400" b="0" i="1" smtClean="0">
                                    <a:latin typeface="Cambria Math" panose="02040503050406030204" pitchFamily="18" charset="0"/>
                                  </a:rPr>
                                  <m:t>−1</m:t>
                                </m:r>
                              </m:e>
                            </m:d>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0</m:t>
                            </m:r>
                          </m:e>
                        </m:eqArr>
                      </m:e>
                    </m:d>
                  </m:oMath>
                </a14:m>
                <a:endParaRPr lang="zh-CN" altLang="en-US" sz="2400" dirty="0"/>
              </a:p>
            </p:txBody>
          </p:sp>
        </mc:Choice>
        <mc:Fallback xmlns="">
          <p:sp>
            <p:nvSpPr>
              <p:cNvPr id="8" name="文本框 7"/>
              <p:cNvSpPr txBox="1">
                <a:spLocks noRot="1" noChangeAspect="1" noMove="1" noResize="1" noEditPoints="1" noAdjustHandles="1" noChangeArrowheads="1" noChangeShapeType="1" noTextEdit="1"/>
              </p:cNvSpPr>
              <p:nvPr/>
            </p:nvSpPr>
            <p:spPr>
              <a:xfrm>
                <a:off x="5896566" y="1901918"/>
                <a:ext cx="4162731" cy="916148"/>
              </a:xfrm>
              <a:prstGeom prst="rect">
                <a:avLst/>
              </a:prstGeom>
              <a:blipFill rotWithShape="0">
                <a:blip r:embed="rId5"/>
                <a:stretch>
                  <a:fillRect l="-2196"/>
                </a:stretch>
              </a:blipFill>
            </p:spPr>
            <p:txBody>
              <a:bodyPr/>
              <a:lstStyle/>
              <a:p>
                <a:r>
                  <a:rPr lang="zh-CN" altLang="en-US">
                    <a:noFill/>
                  </a:rPr>
                  <a:t> </a:t>
                </a:r>
              </a:p>
            </p:txBody>
          </p:sp>
        </mc:Fallback>
      </mc:AlternateContent>
      <p:grpSp>
        <p:nvGrpSpPr>
          <p:cNvPr id="9" name="组合 8"/>
          <p:cNvGrpSpPr/>
          <p:nvPr/>
        </p:nvGrpSpPr>
        <p:grpSpPr>
          <a:xfrm>
            <a:off x="2007608" y="3703211"/>
            <a:ext cx="3361955" cy="2383619"/>
            <a:chOff x="588429" y="2838787"/>
            <a:chExt cx="3361955" cy="2383619"/>
          </a:xfrm>
        </p:grpSpPr>
        <p:pic>
          <p:nvPicPr>
            <p:cNvPr id="10" name="图片 9"/>
            <p:cNvPicPr>
              <a:picLocks noChangeAspect="1"/>
            </p:cNvPicPr>
            <p:nvPr/>
          </p:nvPicPr>
          <p:blipFill rotWithShape="1">
            <a:blip r:embed="rId6">
              <a:extLst>
                <a:ext uri="{28A0092B-C50C-407E-A947-70E740481C1C}">
                  <a14:useLocalDpi xmlns:a14="http://schemas.microsoft.com/office/drawing/2010/main" val="0"/>
                </a:ext>
              </a:extLst>
            </a:blip>
            <a:srcRect b="5669"/>
            <a:stretch/>
          </p:blipFill>
          <p:spPr>
            <a:xfrm>
              <a:off x="588429" y="2838787"/>
              <a:ext cx="3361955" cy="2246397"/>
            </a:xfrm>
            <a:prstGeom prst="rect">
              <a:avLst/>
            </a:prstGeom>
          </p:spPr>
        </p:pic>
        <p:pic>
          <p:nvPicPr>
            <p:cNvPr id="11" name="图片 10"/>
            <p:cNvPicPr>
              <a:picLocks noChangeAspect="1"/>
            </p:cNvPicPr>
            <p:nvPr/>
          </p:nvPicPr>
          <p:blipFill>
            <a:blip r:embed="rId7"/>
            <a:stretch>
              <a:fillRect/>
            </a:stretch>
          </p:blipFill>
          <p:spPr>
            <a:xfrm>
              <a:off x="1115616" y="3140968"/>
              <a:ext cx="864096" cy="314325"/>
            </a:xfrm>
            <a:prstGeom prst="rect">
              <a:avLst/>
            </a:prstGeom>
          </p:spPr>
        </p:pic>
        <p:pic>
          <p:nvPicPr>
            <p:cNvPr id="12" name="图片 11"/>
            <p:cNvPicPr>
              <a:picLocks noChangeAspect="1"/>
            </p:cNvPicPr>
            <p:nvPr/>
          </p:nvPicPr>
          <p:blipFill>
            <a:blip r:embed="rId7"/>
            <a:stretch>
              <a:fillRect/>
            </a:stretch>
          </p:blipFill>
          <p:spPr>
            <a:xfrm>
              <a:off x="595861" y="3645024"/>
              <a:ext cx="231724" cy="314325"/>
            </a:xfrm>
            <a:prstGeom prst="rect">
              <a:avLst/>
            </a:prstGeom>
          </p:spPr>
        </p:pic>
        <p:pic>
          <p:nvPicPr>
            <p:cNvPr id="13" name="图片 12"/>
            <p:cNvPicPr>
              <a:picLocks noChangeAspect="1"/>
            </p:cNvPicPr>
            <p:nvPr/>
          </p:nvPicPr>
          <p:blipFill>
            <a:blip r:embed="rId7"/>
            <a:stretch>
              <a:fillRect/>
            </a:stretch>
          </p:blipFill>
          <p:spPr>
            <a:xfrm>
              <a:off x="588430" y="5046428"/>
              <a:ext cx="3361954" cy="175978"/>
            </a:xfrm>
            <a:prstGeom prst="rect">
              <a:avLst/>
            </a:prstGeom>
          </p:spPr>
        </p:pic>
      </p:grpSp>
      <p:sp>
        <p:nvSpPr>
          <p:cNvPr id="14" name="矩形 13"/>
          <p:cNvSpPr/>
          <p:nvPr/>
        </p:nvSpPr>
        <p:spPr>
          <a:xfrm>
            <a:off x="5781688" y="3112947"/>
            <a:ext cx="4392488" cy="3369192"/>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US" altLang="zh-CN" dirty="0">
                <a:solidFill>
                  <a:srgbClr val="4F4F4F"/>
                </a:solidFill>
                <a:latin typeface="微软雅黑 Light" panose="020B0502040204020203" pitchFamily="34" charset="-122"/>
                <a:ea typeface="微软雅黑 Light" panose="020B0502040204020203" pitchFamily="34" charset="-122"/>
              </a:rPr>
              <a:t>α</a:t>
            </a:r>
            <a:r>
              <a:rPr lang="zh-CN" altLang="en-US" dirty="0">
                <a:solidFill>
                  <a:srgbClr val="4F4F4F"/>
                </a:solidFill>
                <a:latin typeface="微软雅黑 Light" panose="020B0502040204020203" pitchFamily="34" charset="-122"/>
                <a:ea typeface="微软雅黑 Light" panose="020B0502040204020203" pitchFamily="34" charset="-122"/>
              </a:rPr>
              <a:t>是可调参数，控制着</a:t>
            </a:r>
            <a:r>
              <a:rPr lang="en-US" altLang="zh-CN" dirty="0">
                <a:solidFill>
                  <a:srgbClr val="4F4F4F"/>
                </a:solidFill>
                <a:latin typeface="微软雅黑 Light" panose="020B0502040204020203" pitchFamily="34" charset="-122"/>
                <a:ea typeface="微软雅黑 Light" panose="020B0502040204020203" pitchFamily="34" charset="-122"/>
              </a:rPr>
              <a:t>ELU</a:t>
            </a:r>
            <a:r>
              <a:rPr lang="zh-CN" altLang="en-US" dirty="0">
                <a:solidFill>
                  <a:srgbClr val="4F4F4F"/>
                </a:solidFill>
                <a:latin typeface="微软雅黑 Light" panose="020B0502040204020203" pitchFamily="34" charset="-122"/>
                <a:ea typeface="微软雅黑 Light" panose="020B0502040204020203" pitchFamily="34" charset="-122"/>
              </a:rPr>
              <a:t>负值部分饱和的位置</a:t>
            </a:r>
            <a:endParaRPr lang="en-US" altLang="zh-CN" dirty="0">
              <a:solidFill>
                <a:srgbClr val="4F4F4F"/>
              </a:solidFill>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Ø"/>
            </a:pPr>
            <a:r>
              <a:rPr lang="en-US" altLang="zh-CN" dirty="0">
                <a:solidFill>
                  <a:srgbClr val="4F4F4F"/>
                </a:solidFill>
                <a:latin typeface="微软雅黑 Light" panose="020B0502040204020203" pitchFamily="34" charset="-122"/>
                <a:ea typeface="微软雅黑 Light" panose="020B0502040204020203" pitchFamily="34" charset="-122"/>
              </a:rPr>
              <a:t>ELU</a:t>
            </a:r>
            <a:r>
              <a:rPr lang="zh-CN" altLang="en-US" dirty="0">
                <a:solidFill>
                  <a:srgbClr val="4F4F4F"/>
                </a:solidFill>
                <a:latin typeface="微软雅黑 Light" panose="020B0502040204020203" pitchFamily="34" charset="-122"/>
                <a:ea typeface="微软雅黑 Light" panose="020B0502040204020203" pitchFamily="34" charset="-122"/>
              </a:rPr>
              <a:t>的输出均值接近于零，所以收敛速度更快</a:t>
            </a:r>
            <a:endParaRPr lang="en-US" altLang="zh-CN" dirty="0">
              <a:solidFill>
                <a:srgbClr val="4F4F4F"/>
              </a:solidFill>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Ø"/>
            </a:pPr>
            <a:r>
              <a:rPr lang="zh-CN" altLang="en-US" dirty="0">
                <a:solidFill>
                  <a:srgbClr val="4F4F4F"/>
                </a:solidFill>
                <a:latin typeface="微软雅黑 Light" panose="020B0502040204020203" pitchFamily="34" charset="-122"/>
                <a:ea typeface="微软雅黑 Light" panose="020B0502040204020203" pitchFamily="34" charset="-122"/>
              </a:rPr>
              <a:t>右侧线性部分使得</a:t>
            </a:r>
            <a:r>
              <a:rPr lang="en-US" altLang="zh-CN" dirty="0">
                <a:solidFill>
                  <a:srgbClr val="4F4F4F"/>
                </a:solidFill>
                <a:latin typeface="微软雅黑 Light" panose="020B0502040204020203" pitchFamily="34" charset="-122"/>
                <a:ea typeface="微软雅黑 Light" panose="020B0502040204020203" pitchFamily="34" charset="-122"/>
              </a:rPr>
              <a:t>ELU</a:t>
            </a:r>
            <a:r>
              <a:rPr lang="zh-CN" altLang="en-US" dirty="0">
                <a:solidFill>
                  <a:srgbClr val="4F4F4F"/>
                </a:solidFill>
                <a:latin typeface="微软雅黑 Light" panose="020B0502040204020203" pitchFamily="34" charset="-122"/>
                <a:ea typeface="微软雅黑 Light" panose="020B0502040204020203" pitchFamily="34" charset="-122"/>
              </a:rPr>
              <a:t>能够缓解梯度消失，而左侧软饱能够让</a:t>
            </a:r>
            <a:r>
              <a:rPr lang="en-US" altLang="zh-CN" dirty="0">
                <a:solidFill>
                  <a:srgbClr val="4F4F4F"/>
                </a:solidFill>
                <a:latin typeface="微软雅黑 Light" panose="020B0502040204020203" pitchFamily="34" charset="-122"/>
                <a:ea typeface="微软雅黑 Light" panose="020B0502040204020203" pitchFamily="34" charset="-122"/>
              </a:rPr>
              <a:t>ELU</a:t>
            </a:r>
            <a:r>
              <a:rPr lang="zh-CN" altLang="en-US" dirty="0">
                <a:solidFill>
                  <a:srgbClr val="4F4F4F"/>
                </a:solidFill>
                <a:latin typeface="微软雅黑 Light" panose="020B0502040204020203" pitchFamily="34" charset="-122"/>
                <a:ea typeface="微软雅黑 Light" panose="020B0502040204020203" pitchFamily="34" charset="-122"/>
              </a:rPr>
              <a:t>对输入变化或噪声更鲁棒</a:t>
            </a:r>
            <a:endParaRPr lang="zh-CN" altLang="en-US" dirty="0">
              <a:latin typeface="微软雅黑 Light" panose="020B0502040204020203" pitchFamily="34" charset="-122"/>
              <a:ea typeface="微软雅黑 Light" panose="020B0502040204020203" pitchFamily="34" charset="-122"/>
            </a:endParaRPr>
          </a:p>
          <a:p>
            <a:pPr marL="285750" indent="-285750" algn="just">
              <a:lnSpc>
                <a:spcPct val="150000"/>
              </a:lnSpc>
              <a:buFont typeface="Wingdings" panose="05000000000000000000" pitchFamily="2" charset="2"/>
              <a:buChar char="Ø"/>
            </a:pPr>
            <a:endParaRPr lang="zh-CN" altLang="en-US" dirty="0">
              <a:latin typeface="微软雅黑 Light" panose="020B0502040204020203" pitchFamily="34" charset="-122"/>
              <a:ea typeface="微软雅黑 Light" panose="020B0502040204020203" pitchFamily="34" charset="-122"/>
            </a:endParaRPr>
          </a:p>
        </p:txBody>
      </p:sp>
      <p:grpSp>
        <p:nvGrpSpPr>
          <p:cNvPr id="16" name="组合 15">
            <a:extLst>
              <a:ext uri="{FF2B5EF4-FFF2-40B4-BE49-F238E27FC236}">
                <a16:creationId xmlns:a16="http://schemas.microsoft.com/office/drawing/2014/main" id="{28FBFFF8-A2C2-4655-A948-4DB4DFB05541}"/>
              </a:ext>
            </a:extLst>
          </p:cNvPr>
          <p:cNvGrpSpPr/>
          <p:nvPr/>
        </p:nvGrpSpPr>
        <p:grpSpPr>
          <a:xfrm>
            <a:off x="1589265" y="1722448"/>
            <a:ext cx="2888184" cy="1195865"/>
            <a:chOff x="-1380415" y="1687286"/>
            <a:chExt cx="2888184" cy="1195865"/>
          </a:xfrm>
        </p:grpSpPr>
        <p:sp>
          <p:nvSpPr>
            <p:cNvPr id="18" name="矩形 17">
              <a:extLst>
                <a:ext uri="{FF2B5EF4-FFF2-40B4-BE49-F238E27FC236}">
                  <a16:creationId xmlns:a16="http://schemas.microsoft.com/office/drawing/2014/main" id="{D5C50B43-483E-4357-B291-11CD1A5BB152}"/>
                </a:ext>
              </a:extLst>
            </p:cNvPr>
            <p:cNvSpPr/>
            <p:nvPr/>
          </p:nvSpPr>
          <p:spPr>
            <a:xfrm>
              <a:off x="-1380415" y="1687286"/>
              <a:ext cx="2623457" cy="1195865"/>
            </a:xfrm>
            <a:prstGeom prst="rect">
              <a:avLst/>
            </a:prstGeom>
            <a:solidFill>
              <a:srgbClr val="1C4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9" name="矩形 18">
              <a:extLst>
                <a:ext uri="{FF2B5EF4-FFF2-40B4-BE49-F238E27FC236}">
                  <a16:creationId xmlns:a16="http://schemas.microsoft.com/office/drawing/2014/main" id="{1259CD19-13BA-4A78-B0B4-55639F751910}"/>
                </a:ext>
              </a:extLst>
            </p:cNvPr>
            <p:cNvSpPr/>
            <p:nvPr/>
          </p:nvSpPr>
          <p:spPr>
            <a:xfrm>
              <a:off x="-1330569" y="1915134"/>
              <a:ext cx="2838338" cy="501612"/>
            </a:xfrm>
            <a:prstGeom prst="rect">
              <a:avLst/>
            </a:prstGeom>
          </p:spPr>
          <p:txBody>
            <a:bodyPr wrap="square">
              <a:spAutoFit/>
            </a:bodyPr>
            <a:lstStyle/>
            <a:p>
              <a:pPr algn="just">
                <a:lnSpc>
                  <a:spcPct val="150000"/>
                </a:lnSpc>
              </a:pPr>
              <a:r>
                <a:rPr lang="zh-CN" altLang="en-US" sz="2000" dirty="0">
                  <a:solidFill>
                    <a:srgbClr val="FFFFFF"/>
                  </a:solidFill>
                  <a:latin typeface="微软雅黑 Light" panose="020B0502040204020203" pitchFamily="34" charset="-122"/>
                  <a:ea typeface="微软雅黑 Light" panose="020B0502040204020203" pitchFamily="34" charset="-122"/>
                </a:rPr>
                <a:t>融合</a:t>
              </a:r>
              <a:r>
                <a:rPr lang="en-US" altLang="zh-CN" sz="2000" dirty="0">
                  <a:solidFill>
                    <a:srgbClr val="FFFFFF"/>
                  </a:solidFill>
                  <a:latin typeface="微软雅黑 Light" panose="020B0502040204020203" pitchFamily="34" charset="-122"/>
                  <a:ea typeface="微软雅黑 Light" panose="020B0502040204020203" pitchFamily="34" charset="-122"/>
                </a:rPr>
                <a:t>sigmoid</a:t>
              </a:r>
              <a:r>
                <a:rPr lang="zh-CN" altLang="en-US" sz="2000" dirty="0">
                  <a:solidFill>
                    <a:srgbClr val="FFFFFF"/>
                  </a:solidFill>
                  <a:latin typeface="微软雅黑 Light" panose="020B0502040204020203" pitchFamily="34" charset="-122"/>
                  <a:ea typeface="微软雅黑 Light" panose="020B0502040204020203" pitchFamily="34" charset="-122"/>
                </a:rPr>
                <a:t>和</a:t>
              </a:r>
              <a:r>
                <a:rPr lang="en-US" altLang="zh-CN" sz="2000" dirty="0" err="1">
                  <a:solidFill>
                    <a:srgbClr val="FFFFFF"/>
                  </a:solidFill>
                  <a:latin typeface="微软雅黑 Light" panose="020B0502040204020203" pitchFamily="34" charset="-122"/>
                  <a:ea typeface="微软雅黑 Light" panose="020B0502040204020203" pitchFamily="34" charset="-122"/>
                </a:rPr>
                <a:t>ReLU</a:t>
              </a:r>
              <a:endParaRPr lang="zh-CN" altLang="en-US" sz="2000" dirty="0">
                <a:solidFill>
                  <a:srgbClr val="FFFFFF"/>
                </a:solidFill>
                <a:latin typeface="微软雅黑 Light" panose="020B0502040204020203" pitchFamily="34" charset="-122"/>
                <a:ea typeface="微软雅黑 Light" panose="020B0502040204020203" pitchFamily="34" charset="-122"/>
              </a:endParaRPr>
            </a:p>
          </p:txBody>
        </p:sp>
      </p:grpSp>
      <p:sp>
        <p:nvSpPr>
          <p:cNvPr id="20" name="箭头: 右 16">
            <a:extLst>
              <a:ext uri="{FF2B5EF4-FFF2-40B4-BE49-F238E27FC236}">
                <a16:creationId xmlns:a16="http://schemas.microsoft.com/office/drawing/2014/main" id="{2E57131E-BCE9-4C9C-843C-A146F5C2565D}"/>
              </a:ext>
            </a:extLst>
          </p:cNvPr>
          <p:cNvSpPr/>
          <p:nvPr/>
        </p:nvSpPr>
        <p:spPr>
          <a:xfrm>
            <a:off x="4254153" y="2121989"/>
            <a:ext cx="786267" cy="47600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FA78462-06A3-4590-859F-1F2F5FF2EB92}"/>
              </a:ext>
            </a:extLst>
          </p:cNvPr>
          <p:cNvSpPr/>
          <p:nvPr/>
        </p:nvSpPr>
        <p:spPr>
          <a:xfrm>
            <a:off x="5137666" y="2159937"/>
            <a:ext cx="811569" cy="461665"/>
          </a:xfrm>
          <a:prstGeom prst="rect">
            <a:avLst/>
          </a:prstGeom>
        </p:spPr>
        <p:txBody>
          <a:bodyPr wrap="none">
            <a:spAutoFit/>
          </a:bodyPr>
          <a:lstStyle/>
          <a:p>
            <a:r>
              <a:rPr lang="en-US" altLang="zh-CN" sz="2400" dirty="0">
                <a:latin typeface="微软雅黑" panose="020B0503020204020204" pitchFamily="34" charset="-122"/>
                <a:ea typeface="微软雅黑" panose="020B0503020204020204" pitchFamily="34" charset="-122"/>
              </a:rPr>
              <a:t>ELU:</a:t>
            </a:r>
            <a:endParaRPr lang="zh-CN" altLang="en-US" sz="2400" dirty="0"/>
          </a:p>
        </p:txBody>
      </p:sp>
      <p:sp>
        <p:nvSpPr>
          <p:cNvPr id="24" name="灯片编号占位符 8">
            <a:extLst>
              <a:ext uri="{FF2B5EF4-FFF2-40B4-BE49-F238E27FC236}">
                <a16:creationId xmlns:a16="http://schemas.microsoft.com/office/drawing/2014/main" id="{8F35B093-AC14-4DB7-BC66-D035E317C00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52</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7355026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选择合适的损失函数</a:t>
            </a:r>
            <a:endParaRPr lang="en-US" altLang="zh-CN" sz="2600" b="1" dirty="0"/>
          </a:p>
        </p:txBody>
      </p:sp>
      <mc:AlternateContent xmlns:mc="http://schemas.openxmlformats.org/markup-compatibility/2006" xmlns:a14="http://schemas.microsoft.com/office/drawing/2010/main">
        <mc:Choice Requires="a14">
          <p:sp>
            <p:nvSpPr>
              <p:cNvPr id="8" name="矩形 7"/>
              <p:cNvSpPr/>
              <p:nvPr/>
            </p:nvSpPr>
            <p:spPr>
              <a:xfrm>
                <a:off x="732932" y="1356938"/>
                <a:ext cx="10886981" cy="1200329"/>
              </a:xfrm>
              <a:prstGeom prst="rect">
                <a:avLst/>
              </a:prstGeom>
            </p:spPr>
            <p:txBody>
              <a:bodyPr wrap="square">
                <a:spAutoFit/>
              </a:bodyPr>
              <a:lstStyle/>
              <a:p>
                <a:pPr>
                  <a:lnSpc>
                    <a:spcPct val="150000"/>
                  </a:lnSpc>
                </a:pPr>
                <a:r>
                  <a:rPr lang="zh-CN" altLang="en-US" sz="2400" dirty="0">
                    <a:solidFill>
                      <a:schemeClr val="tx1"/>
                    </a:solidFill>
                    <a:latin typeface="微软雅黑 Light" panose="020B0502040204020203" pitchFamily="34" charset="-122"/>
                    <a:ea typeface="微软雅黑 Light" panose="020B0502040204020203" pitchFamily="34" charset="-122"/>
                  </a:rPr>
                  <a:t>损失函数 </a:t>
                </a:r>
                <a14:m>
                  <m:oMath xmlns:m="http://schemas.openxmlformats.org/officeDocument/2006/math">
                    <m:r>
                      <a:rPr lang="en-US" altLang="zh-CN" sz="2400" b="0" i="1" smtClean="0">
                        <a:solidFill>
                          <a:schemeClr val="tx1"/>
                        </a:solidFill>
                        <a:latin typeface="Cambria Math" panose="02040503050406030204" pitchFamily="18" charset="0"/>
                        <a:ea typeface="微软雅黑 Light" panose="020B0502040204020203" pitchFamily="34" charset="-122"/>
                      </a:rPr>
                      <m:t>𝐿</m:t>
                    </m:r>
                    <m:r>
                      <a:rPr lang="en-US" altLang="zh-CN" sz="2400" i="1" smtClean="0">
                        <a:solidFill>
                          <a:schemeClr val="tx1"/>
                        </a:solidFill>
                        <a:latin typeface="Cambria Math" panose="02040503050406030204" pitchFamily="18" charset="0"/>
                        <a:ea typeface="微软雅黑 Light" panose="020B0502040204020203" pitchFamily="34" charset="-122"/>
                      </a:rPr>
                      <m:t>=</m:t>
                    </m:r>
                    <m:r>
                      <a:rPr lang="en-US" altLang="zh-CN" sz="2400" b="0" i="1" smtClean="0">
                        <a:solidFill>
                          <a:schemeClr val="tx1"/>
                        </a:solidFill>
                        <a:latin typeface="Cambria Math" panose="02040503050406030204" pitchFamily="18" charset="0"/>
                        <a:ea typeface="微软雅黑 Light" panose="020B0502040204020203" pitchFamily="34" charset="-122"/>
                      </a:rPr>
                      <m:t>𝑓</m:t>
                    </m:r>
                    <m:r>
                      <a:rPr lang="en-US" altLang="zh-CN" sz="2400" b="0" i="1" smtClean="0">
                        <a:solidFill>
                          <a:schemeClr val="tx1"/>
                        </a:solidFill>
                        <a:latin typeface="Cambria Math" panose="02040503050406030204" pitchFamily="18" charset="0"/>
                        <a:ea typeface="微软雅黑 Light" panose="020B0502040204020203" pitchFamily="34" charset="-122"/>
                      </a:rPr>
                      <m:t>(</m:t>
                    </m:r>
                    <m:acc>
                      <m:accPr>
                        <m:chr m:val="̂"/>
                        <m:ctrlPr>
                          <a:rPr lang="en-US" altLang="zh-CN" sz="2400" i="1" kern="0">
                            <a:latin typeface="Cambria Math" panose="02040503050406030204" pitchFamily="18" charset="0"/>
                            <a:ea typeface="微软雅黑" panose="020B0503020204020204" pitchFamily="34" charset="-122"/>
                          </a:rPr>
                        </m:ctrlPr>
                      </m:accPr>
                      <m:e>
                        <m:r>
                          <a:rPr lang="en-US" altLang="zh-CN" sz="2400" i="1" kern="0">
                            <a:latin typeface="Cambria Math" panose="02040503050406030204" pitchFamily="18" charset="0"/>
                            <a:ea typeface="微软雅黑" panose="020B0503020204020204" pitchFamily="34" charset="-122"/>
                          </a:rPr>
                          <m:t>𝑦</m:t>
                        </m:r>
                      </m:e>
                    </m:acc>
                    <m:r>
                      <a:rPr lang="en-US" altLang="zh-CN" sz="2400" b="0" i="1" kern="0" smtClean="0">
                        <a:latin typeface="Cambria Math" panose="02040503050406030204" pitchFamily="18" charset="0"/>
                        <a:ea typeface="微软雅黑" panose="020B0503020204020204" pitchFamily="34" charset="-122"/>
                      </a:rPr>
                      <m:t>,</m:t>
                    </m:r>
                    <m:r>
                      <a:rPr lang="en-US" altLang="zh-CN" sz="2400" i="1" kern="0">
                        <a:latin typeface="Cambria Math" panose="02040503050406030204" pitchFamily="18" charset="0"/>
                        <a:ea typeface="微软雅黑" panose="020B0503020204020204" pitchFamily="34" charset="-122"/>
                      </a:rPr>
                      <m:t>𝑦</m:t>
                    </m:r>
                    <m:r>
                      <a:rPr lang="en-US" altLang="zh-CN" sz="2400" b="0" i="1" kern="0" smtClean="0">
                        <a:latin typeface="Cambria Math" panose="02040503050406030204" pitchFamily="18" charset="0"/>
                        <a:ea typeface="微软雅黑" panose="020B0503020204020204" pitchFamily="34" charset="-122"/>
                      </a:rPr>
                      <m:t>) </m:t>
                    </m:r>
                  </m:oMath>
                </a14:m>
                <a:r>
                  <a:rPr lang="zh-CN" altLang="en-US" sz="2400" dirty="0">
                    <a:solidFill>
                      <a:schemeClr val="tx1"/>
                    </a:solidFill>
                    <a:latin typeface="微软雅黑 Light" panose="020B0502040204020203" pitchFamily="34" charset="-122"/>
                    <a:ea typeface="微软雅黑 Light" panose="020B0502040204020203" pitchFamily="34" charset="-122"/>
                  </a:rPr>
                  <a:t>，</a:t>
                </a:r>
                <a14:m>
                  <m:oMath xmlns:m="http://schemas.openxmlformats.org/officeDocument/2006/math">
                    <m:acc>
                      <m:accPr>
                        <m:chr m:val="̂"/>
                        <m:ctrlPr>
                          <a:rPr lang="en-US" altLang="zh-CN" sz="2400" i="1" kern="0">
                            <a:latin typeface="Cambria Math" panose="02040503050406030204" pitchFamily="18" charset="0"/>
                            <a:ea typeface="微软雅黑" panose="020B0503020204020204" pitchFamily="34" charset="-122"/>
                          </a:rPr>
                        </m:ctrlPr>
                      </m:accPr>
                      <m:e>
                        <m:r>
                          <a:rPr lang="en-US" altLang="zh-CN" sz="2400" i="1" kern="0">
                            <a:latin typeface="Cambria Math" panose="02040503050406030204" pitchFamily="18" charset="0"/>
                            <a:ea typeface="微软雅黑" panose="020B0503020204020204" pitchFamily="34" charset="-122"/>
                          </a:rPr>
                          <m:t>𝑦</m:t>
                        </m:r>
                      </m:e>
                    </m:acc>
                  </m:oMath>
                </a14:m>
                <a:r>
                  <a:rPr lang="zh-CN" altLang="en-US" sz="2400" dirty="0">
                    <a:solidFill>
                      <a:schemeClr val="tx1"/>
                    </a:solidFill>
                    <a:latin typeface="微软雅黑 Light" panose="020B0502040204020203" pitchFamily="34" charset="-122"/>
                    <a:ea typeface="微软雅黑 Light" panose="020B0502040204020203" pitchFamily="34" charset="-122"/>
                  </a:rPr>
                  <a:t>是模型预测值，是神经网络模型参数 </a:t>
                </a:r>
                <a14:m>
                  <m:oMath xmlns:m="http://schemas.openxmlformats.org/officeDocument/2006/math">
                    <m:r>
                      <a:rPr lang="en-US" altLang="zh-CN" sz="2400" b="0" i="1" smtClean="0">
                        <a:latin typeface="Cambria Math" panose="02040503050406030204" pitchFamily="18" charset="0"/>
                        <a:ea typeface="微软雅黑 Light" panose="020B0502040204020203" pitchFamily="34" charset="-122"/>
                      </a:rPr>
                      <m:t>𝑊</m:t>
                    </m:r>
                  </m:oMath>
                </a14:m>
                <a:r>
                  <a:rPr lang="zh-CN" altLang="en-US" sz="2400" dirty="0">
                    <a:solidFill>
                      <a:schemeClr val="tx1"/>
                    </a:solidFill>
                    <a:latin typeface="微软雅黑 Light" panose="020B0502040204020203" pitchFamily="34" charset="-122"/>
                    <a:ea typeface="微软雅黑 Light" panose="020B0502040204020203" pitchFamily="34" charset="-122"/>
                  </a:rPr>
                  <a:t>的函数，记作 </a:t>
                </a:r>
                <a14:m>
                  <m:oMath xmlns:m="http://schemas.openxmlformats.org/officeDocument/2006/math">
                    <m:acc>
                      <m:accPr>
                        <m:chr m:val="̂"/>
                        <m:ctrlPr>
                          <a:rPr lang="en-US" altLang="zh-CN" sz="2400" i="1" kern="0">
                            <a:latin typeface="Cambria Math" panose="02040503050406030204" pitchFamily="18" charset="0"/>
                            <a:ea typeface="微软雅黑" panose="020B0503020204020204" pitchFamily="34" charset="-122"/>
                          </a:rPr>
                        </m:ctrlPr>
                      </m:accPr>
                      <m:e>
                        <m:r>
                          <a:rPr lang="en-US" altLang="zh-CN" sz="2400" i="1" kern="0">
                            <a:latin typeface="Cambria Math" panose="02040503050406030204" pitchFamily="18" charset="0"/>
                            <a:ea typeface="微软雅黑" panose="020B0503020204020204" pitchFamily="34" charset="-122"/>
                          </a:rPr>
                          <m:t>𝑦</m:t>
                        </m:r>
                      </m:e>
                    </m:acc>
                    <m:r>
                      <a:rPr lang="en-US" altLang="zh-CN" sz="2400" b="0" i="1" kern="0" smtClean="0">
                        <a:latin typeface="Cambria Math" panose="02040503050406030204" pitchFamily="18" charset="0"/>
                        <a:ea typeface="微软雅黑" panose="020B0503020204020204" pitchFamily="34" charset="-122"/>
                      </a:rPr>
                      <m:t>=</m:t>
                    </m:r>
                    <m:sSub>
                      <m:sSubPr>
                        <m:ctrlPr>
                          <a:rPr lang="en-US" altLang="zh-CN" sz="2400" i="1" dirty="0">
                            <a:latin typeface="Cambria Math" panose="02040503050406030204" pitchFamily="18" charset="0"/>
                            <a:ea typeface="微软雅黑 Light" panose="020B0502040204020203" pitchFamily="34" charset="-122"/>
                          </a:rPr>
                        </m:ctrlPr>
                      </m:sSubPr>
                      <m:e>
                        <m:r>
                          <a:rPr lang="en-US" altLang="zh-CN" sz="2400" i="1" dirty="0">
                            <a:latin typeface="Cambria Math" panose="02040503050406030204" pitchFamily="18" charset="0"/>
                            <a:ea typeface="微软雅黑 Light" panose="020B0502040204020203" pitchFamily="34" charset="-122"/>
                          </a:rPr>
                          <m:t>h</m:t>
                        </m:r>
                      </m:e>
                      <m:sub>
                        <m:r>
                          <a:rPr lang="en-US" altLang="zh-CN" sz="2400" i="1" dirty="0">
                            <a:latin typeface="Cambria Math" panose="02040503050406030204" pitchFamily="18" charset="0"/>
                            <a:ea typeface="微软雅黑 Light" panose="020B0502040204020203" pitchFamily="34" charset="-122"/>
                          </a:rPr>
                          <m:t>𝑤</m:t>
                        </m:r>
                      </m:sub>
                    </m:sSub>
                    <m:r>
                      <a:rPr lang="en-US" altLang="zh-CN" sz="2400" b="0" i="1" dirty="0" smtClean="0">
                        <a:latin typeface="Cambria Math" panose="02040503050406030204" pitchFamily="18" charset="0"/>
                        <a:ea typeface="微软雅黑 Light" panose="020B0502040204020203" pitchFamily="34" charset="-122"/>
                      </a:rPr>
                      <m:t>(</m:t>
                    </m:r>
                    <m:r>
                      <a:rPr lang="en-US" altLang="zh-CN" sz="2400" b="0" i="1" kern="0" smtClean="0">
                        <a:latin typeface="Cambria Math" panose="02040503050406030204" pitchFamily="18" charset="0"/>
                        <a:ea typeface="微软雅黑" panose="020B0503020204020204" pitchFamily="34" charset="-122"/>
                      </a:rPr>
                      <m:t>𝑥</m:t>
                    </m:r>
                    <m:r>
                      <a:rPr lang="en-US" altLang="zh-CN" sz="2400" b="0" i="1" kern="0" smtClean="0">
                        <a:latin typeface="Cambria Math" panose="02040503050406030204" pitchFamily="18" charset="0"/>
                        <a:ea typeface="微软雅黑" panose="020B0503020204020204" pitchFamily="34" charset="-122"/>
                      </a:rPr>
                      <m:t>) </m:t>
                    </m:r>
                  </m:oMath>
                </a14:m>
                <a:r>
                  <a:rPr lang="zh-CN" altLang="en-US" sz="2400" dirty="0">
                    <a:solidFill>
                      <a:schemeClr val="tx1"/>
                    </a:solidFill>
                    <a:latin typeface="微软雅黑 Light" panose="020B0502040204020203" pitchFamily="34" charset="-122"/>
                    <a:ea typeface="微软雅黑 Light" panose="020B0502040204020203" pitchFamily="34" charset="-122"/>
                  </a:rPr>
                  <a:t>，损失函数记为 </a:t>
                </a:r>
                <a14:m>
                  <m:oMath xmlns:m="http://schemas.openxmlformats.org/officeDocument/2006/math">
                    <m:r>
                      <a:rPr lang="en-US" altLang="zh-CN" sz="2400" b="0" i="1" dirty="0" smtClean="0">
                        <a:solidFill>
                          <a:schemeClr val="tx1"/>
                        </a:solidFill>
                        <a:latin typeface="Cambria Math" panose="02040503050406030204" pitchFamily="18" charset="0"/>
                        <a:ea typeface="微软雅黑" panose="020B0503020204020204" pitchFamily="34" charset="-122"/>
                      </a:rPr>
                      <m:t>𝐿</m:t>
                    </m:r>
                    <m:d>
                      <m:dPr>
                        <m:ctrlPr>
                          <a:rPr lang="en-US" altLang="zh-CN" sz="2400" b="0" i="1" dirty="0" smtClean="0">
                            <a:solidFill>
                              <a:schemeClr val="tx1"/>
                            </a:solidFill>
                            <a:latin typeface="Cambria Math" panose="02040503050406030204" pitchFamily="18" charset="0"/>
                            <a:ea typeface="微软雅黑" panose="020B0503020204020204" pitchFamily="34" charset="-122"/>
                          </a:rPr>
                        </m:ctrlPr>
                      </m:dPr>
                      <m:e>
                        <m:r>
                          <a:rPr lang="en-US" altLang="zh-CN" sz="2400" b="1" i="1" dirty="0" smtClean="0">
                            <a:solidFill>
                              <a:schemeClr val="tx1"/>
                            </a:solidFill>
                            <a:latin typeface="Cambria Math" panose="02040503050406030204" pitchFamily="18" charset="0"/>
                            <a:ea typeface="微软雅黑" panose="020B0503020204020204" pitchFamily="34" charset="-122"/>
                          </a:rPr>
                          <m:t>𝒘</m:t>
                        </m:r>
                      </m:e>
                    </m:d>
                    <m:r>
                      <a:rPr lang="en-US" altLang="zh-CN" sz="2400" b="0" i="1" dirty="0" smtClean="0">
                        <a:solidFill>
                          <a:schemeClr val="tx1"/>
                        </a:solidFill>
                        <a:latin typeface="Cambria Math" panose="02040503050406030204" pitchFamily="18" charset="0"/>
                        <a:ea typeface="微软雅黑" panose="020B0503020204020204" pitchFamily="34" charset="-122"/>
                      </a:rPr>
                      <m:t>=</m:t>
                    </m:r>
                    <m:r>
                      <a:rPr lang="en-US" altLang="zh-CN" sz="2400" b="0" i="1" dirty="0" smtClean="0">
                        <a:solidFill>
                          <a:schemeClr val="tx1"/>
                        </a:solidFill>
                        <a:latin typeface="Cambria Math" panose="02040503050406030204" pitchFamily="18" charset="0"/>
                        <a:ea typeface="微软雅黑" panose="020B0503020204020204" pitchFamily="34" charset="-122"/>
                      </a:rPr>
                      <m:t>𝑓</m:t>
                    </m:r>
                    <m:r>
                      <a:rPr lang="en-US" altLang="zh-CN" sz="2400" b="0" i="1" dirty="0" smtClean="0">
                        <a:solidFill>
                          <a:schemeClr val="tx1"/>
                        </a:solidFill>
                        <a:latin typeface="Cambria Math" panose="02040503050406030204" pitchFamily="18" charset="0"/>
                        <a:ea typeface="微软雅黑" panose="020B0503020204020204" pitchFamily="34" charset="-122"/>
                      </a:rPr>
                      <m:t>(</m:t>
                    </m:r>
                    <m:sSub>
                      <m:sSubPr>
                        <m:ctrlPr>
                          <a:rPr lang="en-US" altLang="zh-CN" sz="2400" i="1" dirty="0">
                            <a:latin typeface="Cambria Math" panose="02040503050406030204" pitchFamily="18" charset="0"/>
                            <a:ea typeface="微软雅黑 Light" panose="020B0502040204020203" pitchFamily="34" charset="-122"/>
                          </a:rPr>
                        </m:ctrlPr>
                      </m:sSubPr>
                      <m:e>
                        <m:r>
                          <a:rPr lang="en-US" altLang="zh-CN" sz="2400" i="1" dirty="0">
                            <a:latin typeface="Cambria Math" panose="02040503050406030204" pitchFamily="18" charset="0"/>
                            <a:ea typeface="微软雅黑 Light" panose="020B0502040204020203" pitchFamily="34" charset="-122"/>
                          </a:rPr>
                          <m:t>h</m:t>
                        </m:r>
                      </m:e>
                      <m:sub>
                        <m:r>
                          <a:rPr lang="en-US" altLang="zh-CN" sz="2400" i="1" dirty="0">
                            <a:latin typeface="Cambria Math" panose="02040503050406030204" pitchFamily="18" charset="0"/>
                            <a:ea typeface="微软雅黑 Light" panose="020B0502040204020203" pitchFamily="34" charset="-122"/>
                          </a:rPr>
                          <m:t>𝑤</m:t>
                        </m:r>
                      </m:sub>
                    </m:sSub>
                    <m:d>
                      <m:dPr>
                        <m:ctrlPr>
                          <a:rPr lang="en-US" altLang="zh-CN" sz="2400" i="1" dirty="0">
                            <a:latin typeface="Cambria Math" panose="02040503050406030204" pitchFamily="18" charset="0"/>
                            <a:ea typeface="微软雅黑 Light" panose="020B0502040204020203" pitchFamily="34" charset="-122"/>
                          </a:rPr>
                        </m:ctrlPr>
                      </m:dPr>
                      <m:e>
                        <m:r>
                          <a:rPr lang="en-US" altLang="zh-CN" sz="2400" b="0" i="1" kern="0">
                            <a:latin typeface="Cambria Math" panose="02040503050406030204" pitchFamily="18" charset="0"/>
                            <a:ea typeface="微软雅黑" panose="020B0503020204020204" pitchFamily="34" charset="-122"/>
                          </a:rPr>
                          <m:t>𝑥</m:t>
                        </m:r>
                      </m:e>
                    </m:d>
                    <m:r>
                      <a:rPr lang="en-US" altLang="zh-CN" sz="2400" b="0" i="1" kern="0" smtClean="0">
                        <a:latin typeface="Cambria Math" panose="02040503050406030204" pitchFamily="18" charset="0"/>
                        <a:ea typeface="微软雅黑" panose="020B0503020204020204" pitchFamily="34" charset="-122"/>
                      </a:rPr>
                      <m:t>,</m:t>
                    </m:r>
                    <m:r>
                      <a:rPr lang="en-US" altLang="zh-CN" sz="2400" b="0" i="1" dirty="0" smtClean="0">
                        <a:solidFill>
                          <a:schemeClr val="tx1"/>
                        </a:solidFill>
                        <a:latin typeface="Cambria Math" panose="02040503050406030204" pitchFamily="18" charset="0"/>
                        <a:ea typeface="微软雅黑" panose="020B0503020204020204" pitchFamily="34" charset="-122"/>
                      </a:rPr>
                      <m:t>𝑦</m:t>
                    </m:r>
                    <m:r>
                      <a:rPr lang="en-US" altLang="zh-CN" sz="2400" b="0" i="1" dirty="0" smtClean="0">
                        <a:solidFill>
                          <a:schemeClr val="tx1"/>
                        </a:solidFill>
                        <a:latin typeface="Cambria Math" panose="02040503050406030204" pitchFamily="18" charset="0"/>
                        <a:ea typeface="微软雅黑" panose="020B0503020204020204" pitchFamily="34" charset="-122"/>
                      </a:rPr>
                      <m:t>)</m:t>
                    </m:r>
                  </m:oMath>
                </a14:m>
                <a:endParaRPr lang="zh-CN" altLang="en-US" sz="2400" dirty="0">
                  <a:solidFill>
                    <a:schemeClr val="tx1"/>
                  </a:solidFill>
                  <a:latin typeface="微软雅黑 Light" panose="020B0502040204020203" pitchFamily="34" charset="-122"/>
                  <a:ea typeface="微软雅黑 Light" panose="020B0502040204020203" pitchFamily="34"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732932" y="1356938"/>
                <a:ext cx="10886981" cy="1200329"/>
              </a:xfrm>
              <a:prstGeom prst="rect">
                <a:avLst/>
              </a:prstGeom>
              <a:blipFill rotWithShape="0">
                <a:blip r:embed="rId5"/>
                <a:stretch>
                  <a:fillRect l="-840" b="-6122"/>
                </a:stretch>
              </a:blipFill>
            </p:spPr>
            <p:txBody>
              <a:bodyPr/>
              <a:lstStyle/>
              <a:p>
                <a:r>
                  <a:rPr lang="zh-CN" altLang="en-US">
                    <a:noFill/>
                  </a:rPr>
                  <a:t> </a:t>
                </a:r>
              </a:p>
            </p:txBody>
          </p:sp>
        </mc:Fallback>
      </mc:AlternateContent>
      <p:sp>
        <p:nvSpPr>
          <p:cNvPr id="9" name="内容占位符 2"/>
          <p:cNvSpPr txBox="1">
            <a:spLocks/>
          </p:cNvSpPr>
          <p:nvPr/>
        </p:nvSpPr>
        <p:spPr>
          <a:xfrm>
            <a:off x="313873" y="2557267"/>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损失函数与参数</a:t>
            </a:r>
            <a:endParaRPr lang="en-US" altLang="zh-CN" sz="2600" b="1" dirty="0"/>
          </a:p>
        </p:txBody>
      </p:sp>
      <mc:AlternateContent xmlns:mc="http://schemas.openxmlformats.org/markup-compatibility/2006" xmlns:a14="http://schemas.microsoft.com/office/drawing/2010/main">
        <mc:Choice Requires="a14">
          <p:sp>
            <p:nvSpPr>
              <p:cNvPr id="10" name="矩形 9"/>
              <p:cNvSpPr/>
              <p:nvPr/>
            </p:nvSpPr>
            <p:spPr>
              <a:xfrm>
                <a:off x="732932" y="3356463"/>
                <a:ext cx="6486127" cy="1137491"/>
              </a:xfrm>
              <a:prstGeom prst="rect">
                <a:avLst/>
              </a:prstGeom>
            </p:spPr>
            <p:txBody>
              <a:bodyPr wrap="square">
                <a:spAutoFit/>
              </a:bodyPr>
              <a:lstStyle/>
              <a:p>
                <a:pPr algn="just">
                  <a:lnSpc>
                    <a:spcPct val="150000"/>
                  </a:lnSpc>
                </a:pPr>
                <a:r>
                  <a:rPr lang="zh-CN" altLang="en-US" sz="2400" dirty="0">
                    <a:latin typeface="微软雅黑 Light" panose="020B0502040204020203" pitchFamily="34" charset="-122"/>
                    <a:ea typeface="微软雅黑 Light" panose="020B0502040204020203" pitchFamily="34" charset="-122"/>
                  </a:rPr>
                  <a:t>参数</a:t>
                </a:r>
                <a14:m>
                  <m:oMath xmlns:m="http://schemas.openxmlformats.org/officeDocument/2006/math">
                    <m:r>
                      <a:rPr lang="en-US" altLang="zh-CN" sz="2400">
                        <a:latin typeface="Cambria Math" panose="02040503050406030204" pitchFamily="18" charset="0"/>
                        <a:ea typeface="微软雅黑 Light" panose="020B0502040204020203" pitchFamily="34" charset="-122"/>
                      </a:rPr>
                      <m:t>𝑤</m:t>
                    </m:r>
                  </m:oMath>
                </a14:m>
                <a:r>
                  <a:rPr lang="zh-CN" altLang="en-US" sz="2400" dirty="0">
                    <a:latin typeface="微软雅黑 Light" panose="020B0502040204020203" pitchFamily="34" charset="-122"/>
                    <a:ea typeface="微软雅黑 Light" panose="020B0502040204020203" pitchFamily="34" charset="-122"/>
                  </a:rPr>
                  <a:t>决定了</a:t>
                </a:r>
                <a14:m>
                  <m:oMath xmlns:m="http://schemas.openxmlformats.org/officeDocument/2006/math">
                    <m:r>
                      <a:rPr lang="en-US" altLang="zh-CN" sz="2400">
                        <a:latin typeface="Cambria Math" panose="02040503050406030204" pitchFamily="18" charset="0"/>
                        <a:ea typeface="微软雅黑 Light" panose="020B0502040204020203" pitchFamily="34" charset="-122"/>
                      </a:rPr>
                      <m:t>𝐿</m:t>
                    </m:r>
                    <m:r>
                      <a:rPr lang="en-US" altLang="zh-CN" sz="2400">
                        <a:latin typeface="Cambria Math" panose="02040503050406030204" pitchFamily="18" charset="0"/>
                        <a:ea typeface="微软雅黑 Light" panose="020B0502040204020203" pitchFamily="34" charset="-122"/>
                      </a:rPr>
                      <m:t>(</m:t>
                    </m:r>
                    <m:r>
                      <a:rPr lang="en-US" altLang="zh-CN" sz="2400">
                        <a:latin typeface="Cambria Math" panose="02040503050406030204" pitchFamily="18" charset="0"/>
                        <a:ea typeface="微软雅黑 Light" panose="020B0502040204020203" pitchFamily="34" charset="-122"/>
                      </a:rPr>
                      <m:t>𝑤</m:t>
                    </m:r>
                    <m:r>
                      <a:rPr lang="en-US" altLang="zh-CN" sz="2400">
                        <a:latin typeface="Cambria Math" panose="02040503050406030204" pitchFamily="18" charset="0"/>
                        <a:ea typeface="微软雅黑 Light" panose="020B0502040204020203" pitchFamily="34" charset="-122"/>
                      </a:rPr>
                      <m:t>)</m:t>
                    </m:r>
                  </m:oMath>
                </a14:m>
                <a:r>
                  <a:rPr lang="zh-CN" altLang="en-US" sz="2400" dirty="0">
                    <a:latin typeface="微软雅黑 Light" panose="020B0502040204020203" pitchFamily="34" charset="-122"/>
                    <a:ea typeface="微软雅黑 Light" panose="020B0502040204020203" pitchFamily="34" charset="-122"/>
                  </a:rPr>
                  <a:t>的改变，进而影响了</a:t>
                </a:r>
                <a14:m>
                  <m:oMath xmlns:m="http://schemas.openxmlformats.org/officeDocument/2006/math">
                    <m:r>
                      <a:rPr lang="en-US" altLang="zh-CN" sz="2400">
                        <a:latin typeface="Cambria Math" panose="02040503050406030204" pitchFamily="18" charset="0"/>
                        <a:ea typeface="微软雅黑 Light" panose="020B0502040204020203" pitchFamily="34" charset="-122"/>
                      </a:rPr>
                      <m:t>𝐿</m:t>
                    </m:r>
                    <m:r>
                      <a:rPr lang="en-US" altLang="zh-CN" sz="2400">
                        <a:latin typeface="Cambria Math" panose="02040503050406030204" pitchFamily="18" charset="0"/>
                        <a:ea typeface="微软雅黑 Light" panose="020B0502040204020203" pitchFamily="34" charset="-122"/>
                      </a:rPr>
                      <m:t>(</m:t>
                    </m:r>
                    <m:r>
                      <a:rPr lang="en-US" altLang="zh-CN" sz="2400">
                        <a:latin typeface="Cambria Math" panose="02040503050406030204" pitchFamily="18" charset="0"/>
                        <a:ea typeface="微软雅黑 Light" panose="020B0502040204020203" pitchFamily="34" charset="-122"/>
                      </a:rPr>
                      <m:t>𝑤</m:t>
                    </m:r>
                    <m:r>
                      <a:rPr lang="en-US" altLang="zh-CN" sz="2400">
                        <a:latin typeface="Cambria Math" panose="02040503050406030204" pitchFamily="18" charset="0"/>
                        <a:ea typeface="微软雅黑 Light" panose="020B0502040204020203" pitchFamily="34" charset="-122"/>
                      </a:rPr>
                      <m:t>)</m:t>
                    </m:r>
                  </m:oMath>
                </a14:m>
                <a:r>
                  <a:rPr lang="zh-CN" altLang="en-US" sz="2400" dirty="0">
                    <a:latin typeface="微软雅黑 Light" panose="020B0502040204020203" pitchFamily="34" charset="-122"/>
                    <a:ea typeface="微软雅黑 Light" panose="020B0502040204020203" pitchFamily="34" charset="-122"/>
                  </a:rPr>
                  <a:t>的取值，因此可以通过分析</a:t>
                </a:r>
                <a14:m>
                  <m:oMath xmlns:m="http://schemas.openxmlformats.org/officeDocument/2006/math">
                    <m:r>
                      <a:rPr lang="en-US" altLang="zh-CN" sz="2400">
                        <a:latin typeface="Cambria Math" panose="02040503050406030204" pitchFamily="18" charset="0"/>
                        <a:ea typeface="微软雅黑 Light" panose="020B0502040204020203" pitchFamily="34" charset="-122"/>
                      </a:rPr>
                      <m:t>𝐿</m:t>
                    </m:r>
                    <m:r>
                      <a:rPr lang="en-US" altLang="zh-CN" sz="2400">
                        <a:latin typeface="Cambria Math" panose="02040503050406030204" pitchFamily="18" charset="0"/>
                        <a:ea typeface="微软雅黑 Light" panose="020B0502040204020203" pitchFamily="34" charset="-122"/>
                      </a:rPr>
                      <m:t>(</m:t>
                    </m:r>
                    <m:r>
                      <a:rPr lang="en-US" altLang="zh-CN" sz="2400">
                        <a:latin typeface="Cambria Math" panose="02040503050406030204" pitchFamily="18" charset="0"/>
                        <a:ea typeface="微软雅黑 Light" panose="020B0502040204020203" pitchFamily="34" charset="-122"/>
                      </a:rPr>
                      <m:t>𝑤</m:t>
                    </m:r>
                    <m:r>
                      <a:rPr lang="en-US" altLang="zh-CN" sz="2400">
                        <a:latin typeface="Cambria Math" panose="02040503050406030204" pitchFamily="18" charset="0"/>
                        <a:ea typeface="微软雅黑 Light" panose="020B0502040204020203" pitchFamily="34" charset="-122"/>
                      </a:rPr>
                      <m:t>)</m:t>
                    </m:r>
                  </m:oMath>
                </a14:m>
                <a:r>
                  <a:rPr lang="zh-CN" altLang="en-US" sz="2400" dirty="0">
                    <a:latin typeface="微软雅黑 Light" panose="020B0502040204020203" pitchFamily="34" charset="-122"/>
                    <a:ea typeface="微软雅黑 Light" panose="020B0502040204020203" pitchFamily="34" charset="-122"/>
                  </a:rPr>
                  <a:t>来指导参数优化</a:t>
                </a:r>
              </a:p>
            </p:txBody>
          </p:sp>
        </mc:Choice>
        <mc:Fallback xmlns="">
          <p:sp>
            <p:nvSpPr>
              <p:cNvPr id="10" name="矩形 9"/>
              <p:cNvSpPr>
                <a:spLocks noRot="1" noChangeAspect="1" noMove="1" noResize="1" noEditPoints="1" noAdjustHandles="1" noChangeArrowheads="1" noChangeShapeType="1" noTextEdit="1"/>
              </p:cNvSpPr>
              <p:nvPr/>
            </p:nvSpPr>
            <p:spPr>
              <a:xfrm>
                <a:off x="732932" y="3356463"/>
                <a:ext cx="6486127" cy="1137491"/>
              </a:xfrm>
              <a:prstGeom prst="rect">
                <a:avLst/>
              </a:prstGeom>
              <a:blipFill rotWithShape="0">
                <a:blip r:embed="rId6"/>
                <a:stretch>
                  <a:fillRect l="-1410" r="-1504" b="-11828"/>
                </a:stretch>
              </a:blipFill>
            </p:spPr>
            <p:txBody>
              <a:bodyPr/>
              <a:lstStyle/>
              <a:p>
                <a:r>
                  <a:rPr lang="zh-CN" altLang="en-US">
                    <a:noFill/>
                  </a:rPr>
                  <a:t> </a:t>
                </a:r>
              </a:p>
            </p:txBody>
          </p:sp>
        </mc:Fallback>
      </mc:AlternateContent>
      <p:grpSp>
        <p:nvGrpSpPr>
          <p:cNvPr id="11" name="组合 10"/>
          <p:cNvGrpSpPr/>
          <p:nvPr/>
        </p:nvGrpSpPr>
        <p:grpSpPr>
          <a:xfrm>
            <a:off x="7236964" y="3345463"/>
            <a:ext cx="4171933" cy="3069249"/>
            <a:chOff x="2195736" y="2705423"/>
            <a:chExt cx="4171933" cy="3069249"/>
          </a:xfrm>
        </p:grpSpPr>
        <p:cxnSp>
          <p:nvCxnSpPr>
            <p:cNvPr id="12" name="直接连接符 11"/>
            <p:cNvCxnSpPr/>
            <p:nvPr/>
          </p:nvCxnSpPr>
          <p:spPr>
            <a:xfrm flipV="1">
              <a:off x="2195736" y="5574107"/>
              <a:ext cx="4171933" cy="9558"/>
            </a:xfrm>
            <a:prstGeom prst="line">
              <a:avLst/>
            </a:prstGeom>
            <a:noFill/>
            <a:ln w="15875" cap="flat" cmpd="sng">
              <a:solidFill>
                <a:srgbClr val="1D3982"/>
              </a:solidFill>
              <a:prstDash val="solid"/>
              <a:round/>
              <a:headEnd type="none" w="med" len="med"/>
              <a:tailEnd type="triangle" w="med" len="med"/>
            </a:ln>
            <a:effectLst/>
          </p:spPr>
        </p:cxnSp>
        <p:cxnSp>
          <p:nvCxnSpPr>
            <p:cNvPr id="13" name="直接连接符 12"/>
            <p:cNvCxnSpPr/>
            <p:nvPr/>
          </p:nvCxnSpPr>
          <p:spPr>
            <a:xfrm flipV="1">
              <a:off x="2411760" y="2705423"/>
              <a:ext cx="8313" cy="3069249"/>
            </a:xfrm>
            <a:prstGeom prst="line">
              <a:avLst/>
            </a:prstGeom>
            <a:noFill/>
            <a:ln w="15875" cap="flat" cmpd="sng">
              <a:solidFill>
                <a:srgbClr val="1D3982"/>
              </a:solidFill>
              <a:prstDash val="solid"/>
              <a:round/>
              <a:headEnd type="none" w="med" len="med"/>
              <a:tailEnd type="triangle" w="med" len="med"/>
            </a:ln>
            <a:effectLst/>
          </p:spPr>
        </p:cxnSp>
        <p:cxnSp>
          <p:nvCxnSpPr>
            <p:cNvPr id="14" name="直接连接符 13"/>
            <p:cNvCxnSpPr/>
            <p:nvPr/>
          </p:nvCxnSpPr>
          <p:spPr>
            <a:xfrm flipV="1">
              <a:off x="2420073" y="2921447"/>
              <a:ext cx="2651452" cy="2652660"/>
            </a:xfrm>
            <a:prstGeom prst="line">
              <a:avLst/>
            </a:prstGeom>
            <a:noFill/>
            <a:ln w="15875" cap="flat" cmpd="sng">
              <a:solidFill>
                <a:srgbClr val="92D050"/>
              </a:solidFill>
              <a:prstDash val="solid"/>
              <a:round/>
              <a:headEnd type="none" w="med" len="med"/>
              <a:tailEnd type="none" w="med" len="med"/>
            </a:ln>
            <a:effectLst/>
          </p:spPr>
        </p:cxnSp>
        <p:cxnSp>
          <p:nvCxnSpPr>
            <p:cNvPr id="16" name="直接连接符 15"/>
            <p:cNvCxnSpPr/>
            <p:nvPr/>
          </p:nvCxnSpPr>
          <p:spPr>
            <a:xfrm flipV="1">
              <a:off x="2411832" y="4217591"/>
              <a:ext cx="3523789" cy="1356798"/>
            </a:xfrm>
            <a:prstGeom prst="line">
              <a:avLst/>
            </a:prstGeom>
            <a:noFill/>
            <a:ln w="15875" cap="flat" cmpd="sng">
              <a:solidFill>
                <a:srgbClr val="C00000"/>
              </a:solidFill>
              <a:prstDash val="solid"/>
              <a:round/>
              <a:headEnd type="none" w="med" len="med"/>
              <a:tailEnd type="none" w="med" len="med"/>
            </a:ln>
            <a:effectLst/>
          </p:spPr>
        </p:cxnSp>
        <p:cxnSp>
          <p:nvCxnSpPr>
            <p:cNvPr id="18" name="直接连接符 17"/>
            <p:cNvCxnSpPr/>
            <p:nvPr/>
          </p:nvCxnSpPr>
          <p:spPr>
            <a:xfrm flipV="1">
              <a:off x="2413794" y="5225703"/>
              <a:ext cx="3665843" cy="340713"/>
            </a:xfrm>
            <a:prstGeom prst="line">
              <a:avLst/>
            </a:prstGeom>
            <a:noFill/>
            <a:ln w="15875" cap="flat" cmpd="sng">
              <a:solidFill>
                <a:srgbClr val="FFC000"/>
              </a:solidFill>
              <a:prstDash val="solid"/>
              <a:round/>
              <a:headEnd type="none" w="med" len="med"/>
              <a:tailEnd type="none" w="med" len="med"/>
            </a:ln>
            <a:effectLst/>
          </p:spPr>
        </p:cxnSp>
        <p:sp>
          <p:nvSpPr>
            <p:cNvPr id="19" name="文本框 18"/>
            <p:cNvSpPr txBox="1"/>
            <p:nvPr/>
          </p:nvSpPr>
          <p:spPr>
            <a:xfrm rot="21228747">
              <a:off x="2451548" y="5251122"/>
              <a:ext cx="386770" cy="253916"/>
            </a:xfrm>
            <a:prstGeom prst="rect">
              <a:avLst/>
            </a:prstGeom>
            <a:noFill/>
          </p:spPr>
          <p:txBody>
            <a:bodyPr wrap="square" rtlCol="0">
              <a:spAutoFit/>
            </a:bodyPr>
            <a:lstStyle/>
            <a:p>
              <a:r>
                <a:rPr lang="en-US" altLang="zh-CN" sz="1050" dirty="0">
                  <a:solidFill>
                    <a:srgbClr val="C00000"/>
                  </a:solidFill>
                  <a:latin typeface="微软雅黑 Light" panose="020B0502040204020203" pitchFamily="34" charset="-122"/>
                  <a:ea typeface="微软雅黑 Light" panose="020B0502040204020203" pitchFamily="34" charset="-122"/>
                </a:rPr>
                <a:t>x</a:t>
              </a:r>
              <a:endParaRPr lang="zh-CN" altLang="en-US" sz="1050" dirty="0">
                <a:solidFill>
                  <a:srgbClr val="C00000"/>
                </a:solidFill>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rot="21228747">
              <a:off x="3709386" y="4010647"/>
              <a:ext cx="386770" cy="253916"/>
            </a:xfrm>
            <a:prstGeom prst="rect">
              <a:avLst/>
            </a:prstGeom>
            <a:noFill/>
          </p:spPr>
          <p:txBody>
            <a:bodyPr wrap="square" rtlCol="0">
              <a:spAutoFit/>
            </a:bodyPr>
            <a:lstStyle/>
            <a:p>
              <a:r>
                <a:rPr lang="en-US" altLang="zh-CN" sz="1050" dirty="0">
                  <a:solidFill>
                    <a:srgbClr val="C00000"/>
                  </a:solidFill>
                  <a:latin typeface="微软雅黑 Light" panose="020B0502040204020203" pitchFamily="34" charset="-122"/>
                  <a:ea typeface="微软雅黑 Light" panose="020B0502040204020203" pitchFamily="34" charset="-122"/>
                </a:rPr>
                <a:t>x</a:t>
              </a:r>
              <a:endParaRPr lang="zh-CN" altLang="en-US" sz="1050" dirty="0">
                <a:solidFill>
                  <a:srgbClr val="C00000"/>
                </a:solidFill>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rot="21228747">
              <a:off x="4448333" y="3263884"/>
              <a:ext cx="386770" cy="253916"/>
            </a:xfrm>
            <a:prstGeom prst="rect">
              <a:avLst/>
            </a:prstGeom>
            <a:noFill/>
          </p:spPr>
          <p:txBody>
            <a:bodyPr wrap="square" rtlCol="0">
              <a:spAutoFit/>
            </a:bodyPr>
            <a:lstStyle/>
            <a:p>
              <a:r>
                <a:rPr lang="en-US" altLang="zh-CN" sz="1050" dirty="0">
                  <a:solidFill>
                    <a:srgbClr val="C00000"/>
                  </a:solidFill>
                  <a:latin typeface="微软雅黑 Light" panose="020B0502040204020203" pitchFamily="34" charset="-122"/>
                  <a:ea typeface="微软雅黑 Light" panose="020B0502040204020203" pitchFamily="34" charset="-122"/>
                </a:rPr>
                <a:t>x</a:t>
              </a:r>
              <a:endParaRPr lang="zh-CN" altLang="en-US" sz="1050" dirty="0">
                <a:solidFill>
                  <a:srgbClr val="C00000"/>
                </a:solidFill>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rot="21228747">
              <a:off x="2987536" y="4720966"/>
              <a:ext cx="386770" cy="253916"/>
            </a:xfrm>
            <a:prstGeom prst="rect">
              <a:avLst/>
            </a:prstGeom>
            <a:noFill/>
          </p:spPr>
          <p:txBody>
            <a:bodyPr wrap="square" rtlCol="0">
              <a:spAutoFit/>
            </a:bodyPr>
            <a:lstStyle/>
            <a:p>
              <a:r>
                <a:rPr lang="en-US" altLang="zh-CN" sz="1050" dirty="0">
                  <a:solidFill>
                    <a:srgbClr val="C00000"/>
                  </a:solidFill>
                  <a:latin typeface="微软雅黑 Light" panose="020B0502040204020203" pitchFamily="34" charset="-122"/>
                  <a:ea typeface="微软雅黑 Light" panose="020B0502040204020203" pitchFamily="34" charset="-122"/>
                </a:rPr>
                <a:t>x</a:t>
              </a:r>
              <a:endParaRPr lang="zh-CN" altLang="en-US" sz="1050" dirty="0">
                <a:solidFill>
                  <a:srgbClr val="C00000"/>
                </a:solidFill>
                <a:latin typeface="微软雅黑 Light" panose="020B0502040204020203" pitchFamily="34" charset="-122"/>
                <a:ea typeface="微软雅黑 Light" panose="020B0502040204020203" pitchFamily="34" charset="-122"/>
              </a:endParaRPr>
            </a:p>
          </p:txBody>
        </p:sp>
        <p:cxnSp>
          <p:nvCxnSpPr>
            <p:cNvPr id="23" name="直接连接符 22"/>
            <p:cNvCxnSpPr/>
            <p:nvPr/>
          </p:nvCxnSpPr>
          <p:spPr>
            <a:xfrm>
              <a:off x="2593606" y="3493782"/>
              <a:ext cx="202941" cy="3729"/>
            </a:xfrm>
            <a:prstGeom prst="line">
              <a:avLst/>
            </a:prstGeom>
            <a:noFill/>
            <a:ln w="15875" cap="flat" cmpd="sng">
              <a:solidFill>
                <a:srgbClr val="92D050"/>
              </a:solidFill>
              <a:prstDash val="solid"/>
              <a:round/>
              <a:headEnd type="none" w="med" len="med"/>
              <a:tailEnd type="none" w="med" len="med"/>
            </a:ln>
            <a:effectLst/>
          </p:spPr>
        </p:cxnSp>
        <p:sp>
          <p:nvSpPr>
            <p:cNvPr id="24" name="矩形 23"/>
            <p:cNvSpPr/>
            <p:nvPr/>
          </p:nvSpPr>
          <p:spPr>
            <a:xfrm>
              <a:off x="2541078" y="3154716"/>
              <a:ext cx="1246625" cy="702835"/>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2593606" y="3627671"/>
              <a:ext cx="202941" cy="4619"/>
            </a:xfrm>
            <a:prstGeom prst="line">
              <a:avLst/>
            </a:prstGeom>
            <a:noFill/>
            <a:ln w="15875" cap="flat" cmpd="sng">
              <a:solidFill>
                <a:srgbClr val="C00000"/>
              </a:solidFill>
              <a:prstDash val="solid"/>
              <a:round/>
              <a:headEnd type="none" w="med" len="med"/>
              <a:tailEnd type="none" w="med" len="med"/>
            </a:ln>
            <a:effectLst/>
          </p:spPr>
        </p:cxnSp>
        <p:cxnSp>
          <p:nvCxnSpPr>
            <p:cNvPr id="26" name="直接连接符 25"/>
            <p:cNvCxnSpPr/>
            <p:nvPr/>
          </p:nvCxnSpPr>
          <p:spPr>
            <a:xfrm flipV="1">
              <a:off x="2593606" y="3766178"/>
              <a:ext cx="214567" cy="2739"/>
            </a:xfrm>
            <a:prstGeom prst="line">
              <a:avLst/>
            </a:prstGeom>
            <a:noFill/>
            <a:ln w="15875" cap="flat" cmpd="sng">
              <a:solidFill>
                <a:srgbClr val="FFC000"/>
              </a:solidFill>
              <a:prstDash val="solid"/>
              <a:round/>
              <a:headEnd type="none" w="med" len="med"/>
              <a:tailEnd type="none" w="med" len="med"/>
            </a:ln>
            <a:effectLst/>
          </p:spPr>
        </p:cxnSp>
        <p:sp>
          <p:nvSpPr>
            <p:cNvPr id="27" name="矩形 26"/>
            <p:cNvSpPr/>
            <p:nvPr/>
          </p:nvSpPr>
          <p:spPr>
            <a:xfrm>
              <a:off x="2936924" y="3184241"/>
              <a:ext cx="410940" cy="215444"/>
            </a:xfrm>
            <a:prstGeom prst="rect">
              <a:avLst/>
            </a:prstGeom>
          </p:spPr>
          <p:txBody>
            <a:bodyPr wrap="square">
              <a:spAutoFit/>
            </a:bodyPr>
            <a:lstStyle/>
            <a:p>
              <a:r>
                <a:rPr lang="en-US" altLang="zh-CN" sz="800" dirty="0">
                  <a:solidFill>
                    <a:srgbClr val="4F4F4F"/>
                  </a:solidFill>
                  <a:latin typeface="微软雅黑 Light" panose="020B0502040204020203" pitchFamily="34" charset="-122"/>
                  <a:ea typeface="微软雅黑 Light" panose="020B0502040204020203" pitchFamily="34" charset="-122"/>
                </a:rPr>
                <a:t>y</a:t>
              </a:r>
              <a:endParaRPr lang="zh-CN" altLang="en-US" sz="800" dirty="0">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2573212" y="3171587"/>
              <a:ext cx="386770" cy="253916"/>
            </a:xfrm>
            <a:prstGeom prst="rect">
              <a:avLst/>
            </a:prstGeom>
            <a:noFill/>
          </p:spPr>
          <p:txBody>
            <a:bodyPr wrap="square" rtlCol="0">
              <a:spAutoFit/>
            </a:bodyPr>
            <a:lstStyle/>
            <a:p>
              <a:r>
                <a:rPr lang="en-US" altLang="zh-CN" sz="1050" dirty="0">
                  <a:solidFill>
                    <a:srgbClr val="C00000"/>
                  </a:solidFill>
                  <a:latin typeface="微软雅黑 Light" panose="020B0502040204020203" pitchFamily="34" charset="-122"/>
                  <a:ea typeface="微软雅黑 Light" panose="020B0502040204020203" pitchFamily="34" charset="-122"/>
                </a:rPr>
                <a:t>x</a:t>
              </a:r>
              <a:endParaRPr lang="zh-CN" altLang="en-US" sz="1050" dirty="0">
                <a:solidFill>
                  <a:srgbClr val="C00000"/>
                </a:solidFill>
                <a:latin typeface="微软雅黑 Light" panose="020B0502040204020203" pitchFamily="34" charset="-122"/>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30" name="矩形 29"/>
                <p:cNvSpPr/>
                <p:nvPr/>
              </p:nvSpPr>
              <p:spPr>
                <a:xfrm>
                  <a:off x="2921313" y="3386060"/>
                  <a:ext cx="1195714" cy="215444"/>
                </a:xfrm>
                <a:prstGeom prst="rect">
                  <a:avLst/>
                </a:prstGeom>
              </p:spPr>
              <p:txBody>
                <a:bodyPr wrap="square">
                  <a:spAutoFit/>
                </a:bodyPr>
                <a:lstStyle/>
                <a:p>
                  <a:r>
                    <a:rPr lang="en-US" altLang="zh-CN" sz="800" dirty="0">
                      <a:solidFill>
                        <a:srgbClr val="4F4F4F"/>
                      </a:solidFill>
                      <a:latin typeface="微软雅黑 Light" panose="020B0502040204020203" pitchFamily="34" charset="-122"/>
                      <a:ea typeface="微软雅黑 Light" panose="020B0502040204020203" pitchFamily="34" charset="-122"/>
                    </a:rPr>
                    <a:t>H1, w</a:t>
                  </a:r>
                  <a14:m>
                    <m:oMath xmlns:m="http://schemas.openxmlformats.org/officeDocument/2006/math">
                      <m:r>
                        <a:rPr lang="en-US" altLang="zh-CN" sz="800" b="0" i="1" smtClean="0">
                          <a:solidFill>
                            <a:srgbClr val="4F4F4F"/>
                          </a:solidFill>
                          <a:latin typeface="Cambria Math" panose="02040503050406030204" pitchFamily="18" charset="0"/>
                          <a:ea typeface="微软雅黑" panose="020B0503020204020204" pitchFamily="34" charset="-122"/>
                        </a:rPr>
                        <m:t>=1</m:t>
                      </m:r>
                    </m:oMath>
                  </a14:m>
                  <a:endParaRPr lang="zh-CN" altLang="en-US" sz="800" dirty="0">
                    <a:latin typeface="微软雅黑 Light" panose="020B0502040204020203" pitchFamily="34" charset="-122"/>
                    <a:ea typeface="微软雅黑 Light" panose="020B0502040204020203" pitchFamily="34" charset="-122"/>
                  </a:endParaRPr>
                </a:p>
              </p:txBody>
            </p:sp>
          </mc:Choice>
          <mc:Fallback xmlns="">
            <p:sp>
              <p:nvSpPr>
                <p:cNvPr id="58" name="矩形 57"/>
                <p:cNvSpPr>
                  <a:spLocks noRot="1" noChangeAspect="1" noMove="1" noResize="1" noEditPoints="1" noAdjustHandles="1" noChangeArrowheads="1" noChangeShapeType="1" noTextEdit="1"/>
                </p:cNvSpPr>
                <p:nvPr/>
              </p:nvSpPr>
              <p:spPr>
                <a:xfrm>
                  <a:off x="2921313" y="3386060"/>
                  <a:ext cx="1195714" cy="215444"/>
                </a:xfrm>
                <a:prstGeom prst="rect">
                  <a:avLst/>
                </a:prstGeom>
                <a:blipFill>
                  <a:blip r:embed="rId7"/>
                  <a:stretch>
                    <a:fillRect b="-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2933531" y="3522625"/>
                  <a:ext cx="854172" cy="338554"/>
                </a:xfrm>
                <a:prstGeom prst="rect">
                  <a:avLst/>
                </a:prstGeom>
              </p:spPr>
              <p:txBody>
                <a:bodyPr wrap="square">
                  <a:spAutoFit/>
                </a:bodyPr>
                <a:lstStyle/>
                <a:p>
                  <a:r>
                    <a:rPr lang="en-US" altLang="zh-CN" sz="800" dirty="0">
                      <a:solidFill>
                        <a:srgbClr val="4F4F4F"/>
                      </a:solidFill>
                      <a:latin typeface="微软雅黑 Light" panose="020B0502040204020203" pitchFamily="34" charset="-122"/>
                      <a:ea typeface="微软雅黑 Light" panose="020B0502040204020203" pitchFamily="34" charset="-122"/>
                    </a:rPr>
                    <a:t>H2,</a:t>
                  </a:r>
                  <a14:m>
                    <m:oMath xmlns:m="http://schemas.openxmlformats.org/officeDocument/2006/math">
                      <m:r>
                        <a:rPr lang="en-US" altLang="zh-CN" sz="800" b="0" i="1" smtClean="0">
                          <a:solidFill>
                            <a:srgbClr val="4F4F4F"/>
                          </a:solidFill>
                          <a:latin typeface="Cambria Math" panose="02040503050406030204" pitchFamily="18" charset="0"/>
                          <a:ea typeface="微软雅黑" panose="020B0503020204020204" pitchFamily="34" charset="-122"/>
                        </a:rPr>
                        <m:t>𝑤</m:t>
                      </m:r>
                      <m:r>
                        <a:rPr lang="en-US" altLang="zh-CN" sz="800" i="1">
                          <a:solidFill>
                            <a:srgbClr val="4F4F4F"/>
                          </a:solidFill>
                          <a:latin typeface="Cambria Math" panose="02040503050406030204" pitchFamily="18" charset="0"/>
                          <a:ea typeface="微软雅黑" panose="020B0503020204020204" pitchFamily="34" charset="-122"/>
                        </a:rPr>
                        <m:t>=</m:t>
                      </m:r>
                      <m:r>
                        <a:rPr lang="en-US" altLang="zh-CN" sz="800" b="0" i="1" smtClean="0">
                          <a:solidFill>
                            <a:srgbClr val="4F4F4F"/>
                          </a:solidFill>
                          <a:latin typeface="Cambria Math" panose="02040503050406030204" pitchFamily="18" charset="0"/>
                          <a:ea typeface="微软雅黑" panose="020B0503020204020204" pitchFamily="34" charset="-122"/>
                        </a:rPr>
                        <m:t>0.5</m:t>
                      </m:r>
                    </m:oMath>
                  </a14:m>
                  <a:endParaRPr lang="zh-CN" altLang="en-US" sz="800" dirty="0">
                    <a:latin typeface="微软雅黑 Light" panose="020B0502040204020203" pitchFamily="34" charset="-122"/>
                    <a:ea typeface="微软雅黑 Light" panose="020B0502040204020203" pitchFamily="34" charset="-122"/>
                  </a:endParaRPr>
                </a:p>
                <a:p>
                  <a:endParaRPr lang="zh-CN" altLang="en-US" sz="800" dirty="0">
                    <a:latin typeface="微软雅黑 Light" panose="020B0502040204020203" pitchFamily="34" charset="-122"/>
                    <a:ea typeface="微软雅黑 Light" panose="020B0502040204020203" pitchFamily="34" charset="-122"/>
                  </a:endParaRPr>
                </a:p>
              </p:txBody>
            </p:sp>
          </mc:Choice>
          <mc:Fallback xmlns="">
            <p:sp>
              <p:nvSpPr>
                <p:cNvPr id="59" name="矩形 58"/>
                <p:cNvSpPr>
                  <a:spLocks noRot="1" noChangeAspect="1" noMove="1" noResize="1" noEditPoints="1" noAdjustHandles="1" noChangeArrowheads="1" noChangeShapeType="1" noTextEdit="1"/>
                </p:cNvSpPr>
                <p:nvPr/>
              </p:nvSpPr>
              <p:spPr>
                <a:xfrm>
                  <a:off x="2933531" y="3522625"/>
                  <a:ext cx="854172" cy="33855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2927956" y="3658456"/>
                  <a:ext cx="867987" cy="338554"/>
                </a:xfrm>
                <a:prstGeom prst="rect">
                  <a:avLst/>
                </a:prstGeom>
              </p:spPr>
              <p:txBody>
                <a:bodyPr wrap="square">
                  <a:spAutoFit/>
                </a:bodyPr>
                <a:lstStyle/>
                <a:p>
                  <a:r>
                    <a:rPr lang="en-US" altLang="zh-CN" sz="800" dirty="0">
                      <a:solidFill>
                        <a:srgbClr val="4F4F4F"/>
                      </a:solidFill>
                      <a:latin typeface="微软雅黑 Light" panose="020B0502040204020203" pitchFamily="34" charset="-122"/>
                      <a:ea typeface="微软雅黑 Light" panose="020B0502040204020203" pitchFamily="34" charset="-122"/>
                    </a:rPr>
                    <a:t>H3,w</a:t>
                  </a:r>
                  <a14:m>
                    <m:oMath xmlns:m="http://schemas.openxmlformats.org/officeDocument/2006/math">
                      <m:r>
                        <a:rPr lang="en-US" altLang="zh-CN" sz="800" i="1">
                          <a:solidFill>
                            <a:srgbClr val="4F4F4F"/>
                          </a:solidFill>
                          <a:latin typeface="Cambria Math" panose="02040503050406030204" pitchFamily="18" charset="0"/>
                          <a:ea typeface="微软雅黑" panose="020B0503020204020204" pitchFamily="34" charset="-122"/>
                        </a:rPr>
                        <m:t>=</m:t>
                      </m:r>
                      <m:r>
                        <a:rPr lang="en-US" altLang="zh-CN" sz="800" b="0" i="1" smtClean="0">
                          <a:solidFill>
                            <a:srgbClr val="4F4F4F"/>
                          </a:solidFill>
                          <a:latin typeface="Cambria Math" panose="02040503050406030204" pitchFamily="18" charset="0"/>
                          <a:ea typeface="微软雅黑" panose="020B0503020204020204" pitchFamily="34" charset="-122"/>
                        </a:rPr>
                        <m:t>0.2</m:t>
                      </m:r>
                    </m:oMath>
                  </a14:m>
                  <a:endParaRPr lang="zh-CN" altLang="en-US" sz="800" dirty="0">
                    <a:latin typeface="微软雅黑 Light" panose="020B0502040204020203" pitchFamily="34" charset="-122"/>
                    <a:ea typeface="微软雅黑 Light" panose="020B0502040204020203" pitchFamily="34" charset="-122"/>
                  </a:endParaRPr>
                </a:p>
                <a:p>
                  <a:endParaRPr lang="zh-CN" altLang="en-US" sz="800" dirty="0">
                    <a:latin typeface="微软雅黑 Light" panose="020B0502040204020203" pitchFamily="34" charset="-122"/>
                    <a:ea typeface="微软雅黑 Light" panose="020B0502040204020203" pitchFamily="34" charset="-122"/>
                  </a:endParaRPr>
                </a:p>
              </p:txBody>
            </p:sp>
          </mc:Choice>
          <mc:Fallback xmlns="">
            <p:sp>
              <p:nvSpPr>
                <p:cNvPr id="60" name="矩形 59"/>
                <p:cNvSpPr>
                  <a:spLocks noRot="1" noChangeAspect="1" noMove="1" noResize="1" noEditPoints="1" noAdjustHandles="1" noChangeArrowheads="1" noChangeShapeType="1" noTextEdit="1"/>
                </p:cNvSpPr>
                <p:nvPr/>
              </p:nvSpPr>
              <p:spPr>
                <a:xfrm>
                  <a:off x="2927956" y="3658456"/>
                  <a:ext cx="867987" cy="338554"/>
                </a:xfrm>
                <a:prstGeom prst="rect">
                  <a:avLst/>
                </a:prstGeom>
                <a:blipFill>
                  <a:blip r:embed="rId9"/>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4" name="矩形 33"/>
              <p:cNvSpPr/>
              <p:nvPr/>
            </p:nvSpPr>
            <p:spPr>
              <a:xfrm>
                <a:off x="761067" y="4681174"/>
                <a:ext cx="6075289" cy="1754326"/>
              </a:xfrm>
              <a:prstGeom prst="rect">
                <a:avLst/>
              </a:prstGeom>
            </p:spPr>
            <p:txBody>
              <a:bodyPr wrap="square">
                <a:spAutoFit/>
              </a:bodyPr>
              <a:lstStyle/>
              <a:p>
                <a:pPr algn="just">
                  <a:lnSpc>
                    <a:spcPct val="150000"/>
                  </a:lnSpc>
                </a:pPr>
                <a:r>
                  <a:rPr lang="zh-CN" altLang="en-US" sz="2400" dirty="0">
                    <a:solidFill>
                      <a:schemeClr val="tx1"/>
                    </a:solidFill>
                    <a:latin typeface="微软雅黑 Light" panose="020B0502040204020203" pitchFamily="34" charset="-122"/>
                    <a:ea typeface="微软雅黑 Light" panose="020B0502040204020203" pitchFamily="34" charset="-122"/>
                  </a:rPr>
                  <a:t>示例：有训练样本</a:t>
                </a:r>
                <a:r>
                  <a:rPr lang="en-US" altLang="zh-CN" sz="2400" dirty="0">
                    <a:solidFill>
                      <a:schemeClr val="tx1"/>
                    </a:solidFill>
                    <a:latin typeface="微软雅黑 Light" panose="020B0502040204020203" pitchFamily="34" charset="-122"/>
                    <a:ea typeface="微软雅黑 Light" panose="020B0502040204020203" pitchFamily="34" charset="-122"/>
                  </a:rPr>
                  <a:t>(</a:t>
                </a:r>
                <a:r>
                  <a:rPr lang="en-US" altLang="zh-CN" sz="2400" dirty="0" err="1">
                    <a:solidFill>
                      <a:schemeClr val="tx1"/>
                    </a:solidFill>
                    <a:latin typeface="微软雅黑 Light" panose="020B0502040204020203" pitchFamily="34" charset="-122"/>
                    <a:ea typeface="微软雅黑 Light" panose="020B0502040204020203" pitchFamily="34" charset="-122"/>
                  </a:rPr>
                  <a:t>x,y</a:t>
                </a:r>
                <a:r>
                  <a:rPr lang="en-US" altLang="zh-CN" sz="2400" dirty="0">
                    <a:solidFill>
                      <a:schemeClr val="tx1"/>
                    </a:solidFill>
                    <a:latin typeface="微软雅黑 Light" panose="020B0502040204020203" pitchFamily="34" charset="-122"/>
                    <a:ea typeface="微软雅黑 Light" panose="020B0502040204020203" pitchFamily="34" charset="-122"/>
                  </a:rPr>
                  <a:t>): {(1, 1), (2, 2), (3, 3), (4, 4)}</a:t>
                </a:r>
                <a:r>
                  <a:rPr lang="zh-CN" altLang="en-US" sz="2400" dirty="0">
                    <a:solidFill>
                      <a:schemeClr val="tx1"/>
                    </a:solidFill>
                    <a:latin typeface="微软雅黑 Light" panose="020B0502040204020203" pitchFamily="34" charset="-122"/>
                    <a:ea typeface="微软雅黑 Light" panose="020B0502040204020203" pitchFamily="34" charset="-122"/>
                  </a:rPr>
                  <a:t>，真实值是</a:t>
                </a:r>
                <a:r>
                  <a:rPr lang="en-US" altLang="zh-CN" sz="2400" dirty="0">
                    <a:solidFill>
                      <a:schemeClr val="tx1"/>
                    </a:solidFill>
                    <a:latin typeface="微软雅黑 Light" panose="020B0502040204020203" pitchFamily="34" charset="-122"/>
                    <a:ea typeface="微软雅黑 Light" panose="020B0502040204020203" pitchFamily="34" charset="-122"/>
                  </a:rPr>
                  <a:t>y=x</a:t>
                </a:r>
                <a:r>
                  <a:rPr lang="zh-CN" altLang="en-US" sz="2400" dirty="0">
                    <a:solidFill>
                      <a:schemeClr val="tx1"/>
                    </a:solidFill>
                    <a:latin typeface="微软雅黑 Light" panose="020B0502040204020203" pitchFamily="34" charset="-122"/>
                    <a:ea typeface="微软雅黑 Light" panose="020B0502040204020203" pitchFamily="34" charset="-122"/>
                  </a:rPr>
                  <a:t>这条直线上的点，右图表示了不同参数</a:t>
                </a:r>
                <a14:m>
                  <m:oMath xmlns:m="http://schemas.openxmlformats.org/officeDocument/2006/math">
                    <m:r>
                      <a:rPr lang="en-US" altLang="zh-CN" sz="2400" b="0" i="1" dirty="0" smtClean="0">
                        <a:solidFill>
                          <a:schemeClr val="tx1"/>
                        </a:solidFill>
                        <a:latin typeface="Cambria Math" panose="02040503050406030204" pitchFamily="18" charset="0"/>
                        <a:ea typeface="微软雅黑" panose="020B0503020204020204" pitchFamily="34" charset="-122"/>
                      </a:rPr>
                      <m:t>𝑤</m:t>
                    </m:r>
                  </m:oMath>
                </a14:m>
                <a:r>
                  <a:rPr lang="zh-CN" altLang="en-US" sz="2400" dirty="0">
                    <a:solidFill>
                      <a:schemeClr val="tx1"/>
                    </a:solidFill>
                    <a:latin typeface="微软雅黑 Light" panose="020B0502040204020203" pitchFamily="34" charset="-122"/>
                    <a:ea typeface="微软雅黑 Light" panose="020B0502040204020203" pitchFamily="34" charset="-122"/>
                  </a:rPr>
                  <a:t>下的拟合情况。</a:t>
                </a:r>
              </a:p>
            </p:txBody>
          </p:sp>
        </mc:Choice>
        <mc:Fallback xmlns="">
          <p:sp>
            <p:nvSpPr>
              <p:cNvPr id="34" name="矩形 33"/>
              <p:cNvSpPr>
                <a:spLocks noRot="1" noChangeAspect="1" noMove="1" noResize="1" noEditPoints="1" noAdjustHandles="1" noChangeArrowheads="1" noChangeShapeType="1" noTextEdit="1"/>
              </p:cNvSpPr>
              <p:nvPr/>
            </p:nvSpPr>
            <p:spPr>
              <a:xfrm>
                <a:off x="761067" y="4681174"/>
                <a:ext cx="6075289" cy="1754326"/>
              </a:xfrm>
              <a:prstGeom prst="rect">
                <a:avLst/>
              </a:prstGeom>
              <a:blipFill rotWithShape="0">
                <a:blip r:embed="rId10"/>
                <a:stretch>
                  <a:fillRect l="-1606" r="-1506" b="-3472"/>
                </a:stretch>
              </a:blipFill>
            </p:spPr>
            <p:txBody>
              <a:bodyPr/>
              <a:lstStyle/>
              <a:p>
                <a:r>
                  <a:rPr lang="zh-CN" altLang="en-US">
                    <a:noFill/>
                  </a:rPr>
                  <a:t> </a:t>
                </a:r>
              </a:p>
            </p:txBody>
          </p:sp>
        </mc:Fallback>
      </mc:AlternateContent>
      <p:sp>
        <p:nvSpPr>
          <p:cNvPr id="37" name="灯片编号占位符 8">
            <a:extLst>
              <a:ext uri="{FF2B5EF4-FFF2-40B4-BE49-F238E27FC236}">
                <a16:creationId xmlns:a16="http://schemas.microsoft.com/office/drawing/2014/main" id="{8D487ADB-8694-44C2-8563-01C89AC57380}"/>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53</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8483897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损失函数与梯度</a:t>
            </a:r>
            <a:endParaRPr lang="en-US" altLang="zh-CN" sz="2600" b="1" dirty="0"/>
          </a:p>
        </p:txBody>
      </p:sp>
      <p:sp>
        <p:nvSpPr>
          <p:cNvPr id="8" name="矩形 7"/>
          <p:cNvSpPr/>
          <p:nvPr/>
        </p:nvSpPr>
        <p:spPr>
          <a:xfrm>
            <a:off x="671620" y="1419501"/>
            <a:ext cx="6750496" cy="501612"/>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000" b="1" dirty="0">
                <a:solidFill>
                  <a:srgbClr val="4F4F4F"/>
                </a:solidFill>
                <a:latin typeface="微软雅黑 Light" panose="020B0502040204020203" pitchFamily="34" charset="-122"/>
                <a:ea typeface="微软雅黑 Light" panose="020B0502040204020203" pitchFamily="34" charset="-122"/>
              </a:rPr>
              <a:t>梯度下降中的梯度指的是损失函数对各个参数的偏导数</a:t>
            </a:r>
            <a:endParaRPr lang="zh-CN" altLang="en-US" sz="2000" b="1" dirty="0">
              <a:latin typeface="微软雅黑 Light" panose="020B0502040204020203" pitchFamily="34" charset="-122"/>
              <a:ea typeface="微软雅黑 Light" panose="020B0502040204020203" pitchFamily="34" charset="-122"/>
            </a:endParaRPr>
          </a:p>
        </p:txBody>
      </p:sp>
      <p:pic>
        <p:nvPicPr>
          <p:cNvPr id="9" name="图片 8"/>
          <p:cNvPicPr>
            <a:picLocks noChangeAspect="1"/>
          </p:cNvPicPr>
          <p:nvPr/>
        </p:nvPicPr>
        <p:blipFill>
          <a:blip r:embed="rId5"/>
          <a:stretch>
            <a:fillRect/>
          </a:stretch>
        </p:blipFill>
        <p:spPr>
          <a:xfrm>
            <a:off x="3648568" y="4508725"/>
            <a:ext cx="1898603" cy="1708227"/>
          </a:xfrm>
          <a:prstGeom prst="rect">
            <a:avLst/>
          </a:prstGeom>
        </p:spPr>
      </p:pic>
      <p:pic>
        <p:nvPicPr>
          <p:cNvPr id="10" name="图片 9"/>
          <p:cNvPicPr>
            <a:picLocks noChangeAspect="1"/>
          </p:cNvPicPr>
          <p:nvPr/>
        </p:nvPicPr>
        <p:blipFill>
          <a:blip r:embed="rId6"/>
          <a:stretch>
            <a:fillRect/>
          </a:stretch>
        </p:blipFill>
        <p:spPr>
          <a:xfrm>
            <a:off x="5716422" y="4508725"/>
            <a:ext cx="1862121" cy="1708227"/>
          </a:xfrm>
          <a:prstGeom prst="rect">
            <a:avLst/>
          </a:prstGeom>
        </p:spPr>
      </p:pic>
      <p:pic>
        <p:nvPicPr>
          <p:cNvPr id="11" name="图片 10"/>
          <p:cNvPicPr>
            <a:picLocks noChangeAspect="1"/>
          </p:cNvPicPr>
          <p:nvPr/>
        </p:nvPicPr>
        <p:blipFill>
          <a:blip r:embed="rId7"/>
          <a:stretch>
            <a:fillRect/>
          </a:stretch>
        </p:blipFill>
        <p:spPr>
          <a:xfrm>
            <a:off x="7799532" y="4508725"/>
            <a:ext cx="1870137" cy="1678069"/>
          </a:xfrm>
          <a:prstGeom prst="rect">
            <a:avLst/>
          </a:prstGeom>
        </p:spPr>
      </p:pic>
      <p:pic>
        <p:nvPicPr>
          <p:cNvPr id="12" name="图片 11"/>
          <p:cNvPicPr>
            <a:picLocks noChangeAspect="1"/>
          </p:cNvPicPr>
          <p:nvPr/>
        </p:nvPicPr>
        <p:blipFill>
          <a:blip r:embed="rId8"/>
          <a:stretch>
            <a:fillRect/>
          </a:stretch>
        </p:blipFill>
        <p:spPr>
          <a:xfrm>
            <a:off x="1605463" y="2458621"/>
            <a:ext cx="1934193" cy="1705145"/>
          </a:xfrm>
          <a:prstGeom prst="rect">
            <a:avLst/>
          </a:prstGeom>
        </p:spPr>
      </p:pic>
      <p:pic>
        <p:nvPicPr>
          <p:cNvPr id="13" name="图片 12"/>
          <p:cNvPicPr>
            <a:picLocks noChangeAspect="1"/>
          </p:cNvPicPr>
          <p:nvPr/>
        </p:nvPicPr>
        <p:blipFill>
          <a:blip r:embed="rId9"/>
          <a:stretch>
            <a:fillRect/>
          </a:stretch>
        </p:blipFill>
        <p:spPr>
          <a:xfrm>
            <a:off x="1620536" y="4508725"/>
            <a:ext cx="1919120" cy="1708227"/>
          </a:xfrm>
          <a:prstGeom prst="rect">
            <a:avLst/>
          </a:prstGeom>
        </p:spPr>
      </p:pic>
      <p:pic>
        <p:nvPicPr>
          <p:cNvPr id="14" name="图片 13"/>
          <p:cNvPicPr>
            <a:picLocks noChangeAspect="1"/>
          </p:cNvPicPr>
          <p:nvPr/>
        </p:nvPicPr>
        <p:blipFill>
          <a:blip r:embed="rId10"/>
          <a:stretch>
            <a:fillRect/>
          </a:stretch>
        </p:blipFill>
        <p:spPr>
          <a:xfrm>
            <a:off x="3623357" y="2458621"/>
            <a:ext cx="1898082" cy="1705145"/>
          </a:xfrm>
          <a:prstGeom prst="rect">
            <a:avLst/>
          </a:prstGeom>
        </p:spPr>
      </p:pic>
      <p:pic>
        <p:nvPicPr>
          <p:cNvPr id="16" name="图片 15"/>
          <p:cNvPicPr>
            <a:picLocks noChangeAspect="1"/>
          </p:cNvPicPr>
          <p:nvPr/>
        </p:nvPicPr>
        <p:blipFill>
          <a:blip r:embed="rId11"/>
          <a:stretch>
            <a:fillRect/>
          </a:stretch>
        </p:blipFill>
        <p:spPr>
          <a:xfrm>
            <a:off x="5612740" y="2458620"/>
            <a:ext cx="1965804" cy="1705145"/>
          </a:xfrm>
          <a:prstGeom prst="rect">
            <a:avLst/>
          </a:prstGeom>
        </p:spPr>
      </p:pic>
      <p:pic>
        <p:nvPicPr>
          <p:cNvPr id="18" name="图片 17"/>
          <p:cNvPicPr>
            <a:picLocks noChangeAspect="1"/>
          </p:cNvPicPr>
          <p:nvPr/>
        </p:nvPicPr>
        <p:blipFill>
          <a:blip r:embed="rId12"/>
          <a:stretch>
            <a:fillRect/>
          </a:stretch>
        </p:blipFill>
        <p:spPr>
          <a:xfrm>
            <a:off x="7726576" y="2458620"/>
            <a:ext cx="1925051" cy="1721038"/>
          </a:xfrm>
          <a:prstGeom prst="rect">
            <a:avLst/>
          </a:prstGeom>
        </p:spPr>
      </p:pic>
      <p:cxnSp>
        <p:nvCxnSpPr>
          <p:cNvPr id="19" name="直接连接符 18"/>
          <p:cNvCxnSpPr/>
          <p:nvPr/>
        </p:nvCxnSpPr>
        <p:spPr>
          <a:xfrm>
            <a:off x="8596446" y="2067075"/>
            <a:ext cx="432048" cy="2169823"/>
          </a:xfrm>
          <a:prstGeom prst="line">
            <a:avLst/>
          </a:prstGeom>
          <a:noFill/>
          <a:ln w="15875" cap="flat" cmpd="sng">
            <a:solidFill>
              <a:schemeClr val="tx1"/>
            </a:solidFill>
            <a:prstDash val="solid"/>
            <a:round/>
            <a:headEnd/>
            <a:tailEnd/>
          </a:ln>
          <a:effectLst/>
        </p:spPr>
      </p:cxnSp>
      <p:sp>
        <p:nvSpPr>
          <p:cNvPr id="20" name="矩形 19"/>
          <p:cNvSpPr/>
          <p:nvPr/>
        </p:nvSpPr>
        <p:spPr>
          <a:xfrm>
            <a:off x="7754184" y="2160486"/>
            <a:ext cx="2045475" cy="337913"/>
          </a:xfrm>
          <a:prstGeom prst="rect">
            <a:avLst/>
          </a:prstGeom>
        </p:spPr>
        <p:txBody>
          <a:bodyPr wrap="square">
            <a:spAutoFit/>
          </a:bodyPr>
          <a:lstStyle/>
          <a:p>
            <a:pPr>
              <a:lnSpc>
                <a:spcPct val="150000"/>
              </a:lnSpc>
            </a:pPr>
            <a:r>
              <a:rPr lang="zh-CN" altLang="en-US" sz="1200" dirty="0">
                <a:solidFill>
                  <a:srgbClr val="4F4F4F"/>
                </a:solidFill>
                <a:latin typeface="微软雅黑 Light" panose="020B0502040204020203" pitchFamily="34" charset="-122"/>
                <a:ea typeface="微软雅黑 Light" panose="020B0502040204020203" pitchFamily="34" charset="-122"/>
              </a:rPr>
              <a:t>沿着该方向</a:t>
            </a:r>
            <a:r>
              <a:rPr lang="en-US" altLang="zh-CN" sz="1200" dirty="0">
                <a:solidFill>
                  <a:srgbClr val="4F4F4F"/>
                </a:solidFill>
                <a:latin typeface="微软雅黑 Light" panose="020B0502040204020203" pitchFamily="34" charset="-122"/>
                <a:ea typeface="微软雅黑 Light" panose="020B0502040204020203" pitchFamily="34" charset="-122"/>
              </a:rPr>
              <a:t>  </a:t>
            </a:r>
            <a:r>
              <a:rPr lang="zh-CN" altLang="en-US" sz="1200" dirty="0">
                <a:solidFill>
                  <a:srgbClr val="4F4F4F"/>
                </a:solidFill>
                <a:latin typeface="微软雅黑 Light" panose="020B0502040204020203" pitchFamily="34" charset="-122"/>
                <a:ea typeface="微软雅黑 Light" panose="020B0502040204020203" pitchFamily="34" charset="-122"/>
              </a:rPr>
              <a:t>梯度下降最快</a:t>
            </a:r>
            <a:endParaRPr lang="zh-CN" altLang="en-US" sz="1200" dirty="0">
              <a:latin typeface="微软雅黑 Light" panose="020B0502040204020203" pitchFamily="34" charset="-122"/>
              <a:ea typeface="微软雅黑 Light" panose="020B0502040204020203" pitchFamily="34" charset="-122"/>
            </a:endParaRPr>
          </a:p>
        </p:txBody>
      </p:sp>
      <p:cxnSp>
        <p:nvCxnSpPr>
          <p:cNvPr id="21" name="直接箭头连接符 20"/>
          <p:cNvCxnSpPr/>
          <p:nvPr/>
        </p:nvCxnSpPr>
        <p:spPr>
          <a:xfrm flipV="1">
            <a:off x="2586530" y="2178572"/>
            <a:ext cx="0" cy="2194122"/>
          </a:xfrm>
          <a:prstGeom prst="straightConnector1">
            <a:avLst/>
          </a:prstGeom>
          <a:noFill/>
          <a:ln w="15875" cap="flat" cmpd="sng">
            <a:solidFill>
              <a:schemeClr val="tx1"/>
            </a:solidFill>
            <a:prstDash val="solid"/>
            <a:round/>
            <a:headEnd/>
            <a:tailEnd type="triangle"/>
          </a:ln>
          <a:effectLst/>
        </p:spPr>
      </p:cxnSp>
      <mc:AlternateContent xmlns:mc="http://schemas.openxmlformats.org/markup-compatibility/2006" xmlns:a14="http://schemas.microsoft.com/office/drawing/2010/main">
        <mc:Choice Requires="a14">
          <p:sp>
            <p:nvSpPr>
              <p:cNvPr id="22" name="矩形 21"/>
              <p:cNvSpPr/>
              <p:nvPr/>
            </p:nvSpPr>
            <p:spPr>
              <a:xfrm>
                <a:off x="2572559" y="2076926"/>
                <a:ext cx="74045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dirty="0" smtClean="0">
                          <a:solidFill>
                            <a:srgbClr val="4F4F4F"/>
                          </a:solidFill>
                          <a:latin typeface="Cambria Math" panose="02040503050406030204" pitchFamily="18" charset="0"/>
                          <a:ea typeface="微软雅黑" panose="020B0503020204020204" pitchFamily="34" charset="-122"/>
                        </a:rPr>
                        <m:t>L</m:t>
                      </m:r>
                      <m:d>
                        <m:dPr>
                          <m:ctrlPr>
                            <a:rPr lang="en-US" altLang="zh-CN" i="1" dirty="0">
                              <a:solidFill>
                                <a:srgbClr val="4F4F4F"/>
                              </a:solidFill>
                              <a:latin typeface="Cambria Math" panose="02040503050406030204" pitchFamily="18" charset="0"/>
                              <a:ea typeface="微软雅黑" panose="020B0503020204020204" pitchFamily="34" charset="-122"/>
                            </a:rPr>
                          </m:ctrlPr>
                        </m:dPr>
                        <m:e>
                          <m:r>
                            <a:rPr lang="en-US" altLang="zh-CN" b="0" i="1" dirty="0" smtClean="0">
                              <a:solidFill>
                                <a:srgbClr val="4F4F4F"/>
                              </a:solidFill>
                              <a:latin typeface="Cambria Math" panose="02040503050406030204" pitchFamily="18" charset="0"/>
                              <a:ea typeface="微软雅黑" panose="020B0503020204020204" pitchFamily="34" charset="-122"/>
                            </a:rPr>
                            <m:t>𝑤</m:t>
                          </m:r>
                        </m:e>
                      </m:d>
                    </m:oMath>
                  </m:oMathPara>
                </a14:m>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2572559" y="2076926"/>
                <a:ext cx="740459" cy="369332"/>
              </a:xfrm>
              <a:prstGeom prst="rect">
                <a:avLst/>
              </a:prstGeom>
              <a:blipFill rotWithShape="0">
                <a:blip r:embed="rId13"/>
                <a:stretch>
                  <a:fillRect/>
                </a:stretch>
              </a:blipFill>
            </p:spPr>
            <p:txBody>
              <a:bodyPr/>
              <a:lstStyle/>
              <a:p>
                <a:r>
                  <a:rPr lang="zh-CN" altLang="en-US">
                    <a:noFill/>
                  </a:rPr>
                  <a:t> </a:t>
                </a:r>
              </a:p>
            </p:txBody>
          </p:sp>
        </mc:Fallback>
      </mc:AlternateContent>
      <p:sp>
        <p:nvSpPr>
          <p:cNvPr id="25" name="灯片编号占位符 8">
            <a:extLst>
              <a:ext uri="{FF2B5EF4-FFF2-40B4-BE49-F238E27FC236}">
                <a16:creationId xmlns:a16="http://schemas.microsoft.com/office/drawing/2014/main" id="{0116688E-17BB-4081-928D-133530A6CE4B}"/>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54</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2596616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常用的损失函数</a:t>
            </a:r>
            <a:r>
              <a:rPr lang="en-US" altLang="zh-CN" sz="2600" b="1" dirty="0"/>
              <a:t>——</a:t>
            </a:r>
            <a:r>
              <a:rPr lang="zh-CN" altLang="en-US" sz="2600" b="1" dirty="0"/>
              <a:t>均方差损失函数</a:t>
            </a:r>
            <a:endParaRPr lang="en-US" altLang="zh-CN" sz="2600" b="1" dirty="0"/>
          </a:p>
        </p:txBody>
      </p:sp>
      <p:sp>
        <p:nvSpPr>
          <p:cNvPr id="8" name="矩形 7"/>
          <p:cNvSpPr/>
          <p:nvPr/>
        </p:nvSpPr>
        <p:spPr>
          <a:xfrm>
            <a:off x="843507" y="1645583"/>
            <a:ext cx="7344816" cy="460704"/>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dirty="0">
                <a:latin typeface="微软雅黑 Light" panose="020B0502040204020203" pitchFamily="34" charset="-122"/>
                <a:ea typeface="微软雅黑 Light" panose="020B0502040204020203" pitchFamily="34" charset="-122"/>
              </a:rPr>
              <a:t>均方差损失函数是神经网络优化常用的损失函数</a:t>
            </a:r>
          </a:p>
        </p:txBody>
      </p:sp>
      <mc:AlternateContent xmlns:mc="http://schemas.openxmlformats.org/markup-compatibility/2006" xmlns:a14="http://schemas.microsoft.com/office/drawing/2010/main">
        <mc:Choice Requires="a14">
          <p:sp>
            <p:nvSpPr>
              <p:cNvPr id="9" name="矩形 8"/>
              <p:cNvSpPr/>
              <p:nvPr/>
            </p:nvSpPr>
            <p:spPr>
              <a:xfrm>
                <a:off x="684772" y="1939740"/>
                <a:ext cx="3831143" cy="87023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ea typeface="微软雅黑" panose="020B0503020204020204" pitchFamily="34" charset="-122"/>
                        </a:rPr>
                        <m:t>𝐿</m:t>
                      </m:r>
                      <m:r>
                        <a:rPr lang="en-US" altLang="zh-CN" i="1" smtClean="0">
                          <a:solidFill>
                            <a:srgbClr val="000000"/>
                          </a:solidFill>
                          <a:latin typeface="Cambria Math" panose="02040503050406030204" pitchFamily="18" charset="0"/>
                          <a:ea typeface="微软雅黑" panose="020B0503020204020204" pitchFamily="34" charset="-122"/>
                        </a:rPr>
                        <m:t>=</m:t>
                      </m:r>
                      <m:f>
                        <m:fPr>
                          <m:ctrlPr>
                            <a:rPr lang="en-US" altLang="zh-CN" i="1" smtClean="0">
                              <a:solidFill>
                                <a:srgbClr val="000000"/>
                              </a:solidFill>
                              <a:latin typeface="Cambria Math" panose="02040503050406030204" pitchFamily="18" charset="0"/>
                              <a:ea typeface="微软雅黑" panose="020B0503020204020204" pitchFamily="34" charset="-122"/>
                            </a:rPr>
                          </m:ctrlPr>
                        </m:fPr>
                        <m:num>
                          <m:r>
                            <a:rPr lang="en-US" altLang="zh-CN" b="0" i="1" smtClean="0">
                              <a:solidFill>
                                <a:srgbClr val="000000"/>
                              </a:solidFill>
                              <a:latin typeface="Cambria Math" panose="02040503050406030204" pitchFamily="18" charset="0"/>
                              <a:ea typeface="微软雅黑" panose="020B0503020204020204" pitchFamily="34" charset="-122"/>
                            </a:rPr>
                            <m:t>1</m:t>
                          </m:r>
                        </m:num>
                        <m:den>
                          <m:r>
                            <a:rPr lang="en-US" altLang="zh-CN" b="0" i="1" smtClean="0">
                              <a:solidFill>
                                <a:srgbClr val="000000"/>
                              </a:solidFill>
                              <a:latin typeface="Cambria Math" panose="02040503050406030204" pitchFamily="18" charset="0"/>
                              <a:ea typeface="微软雅黑" panose="020B0503020204020204" pitchFamily="34" charset="-122"/>
                            </a:rPr>
                            <m:t>2</m:t>
                          </m:r>
                        </m:den>
                      </m:f>
                      <m:r>
                        <a:rPr lang="en-US" altLang="zh-CN" b="0"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𝑦</m:t>
                      </m:r>
                      <m:r>
                        <a:rPr lang="en-US" altLang="zh-CN" i="1" smtClean="0">
                          <a:solidFill>
                            <a:srgbClr val="000000"/>
                          </a:solidFill>
                          <a:latin typeface="Cambria Math" panose="02040503050406030204" pitchFamily="18" charset="0"/>
                          <a:ea typeface="微软雅黑" panose="020B0503020204020204" pitchFamily="34" charset="-122"/>
                        </a:rPr>
                        <m:t>−</m:t>
                      </m:r>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sSup>
                        <m:sSupPr>
                          <m:ctrlPr>
                            <a:rPr lang="en-US" altLang="zh-CN" b="0" i="1" smtClean="0">
                              <a:solidFill>
                                <a:srgbClr val="000000"/>
                              </a:solidFill>
                              <a:latin typeface="Cambria Math" panose="02040503050406030204" pitchFamily="18" charset="0"/>
                              <a:ea typeface="微软雅黑" panose="020B0503020204020204" pitchFamily="34" charset="-122"/>
                            </a:rPr>
                          </m:ctrlPr>
                        </m:sSupPr>
                        <m:e>
                          <m:r>
                            <a:rPr lang="en-US" altLang="zh-CN" b="0" i="1" smtClean="0">
                              <a:solidFill>
                                <a:srgbClr val="000000"/>
                              </a:solidFill>
                              <a:latin typeface="Cambria Math" panose="02040503050406030204" pitchFamily="18" charset="0"/>
                              <a:ea typeface="微软雅黑" panose="020B0503020204020204" pitchFamily="34" charset="-122"/>
                            </a:rPr>
                            <m:t>)</m:t>
                          </m:r>
                        </m:e>
                        <m:sup>
                          <m:r>
                            <a:rPr lang="en-US" altLang="zh-CN" b="0" i="1" smtClean="0">
                              <a:solidFill>
                                <a:srgbClr val="000000"/>
                              </a:solidFill>
                              <a:latin typeface="Cambria Math" panose="02040503050406030204" pitchFamily="18" charset="0"/>
                              <a:ea typeface="微软雅黑" panose="020B0503020204020204" pitchFamily="34" charset="-122"/>
                            </a:rPr>
                            <m:t>2</m:t>
                          </m:r>
                        </m:sup>
                      </m:sSup>
                    </m:oMath>
                  </m:oMathPara>
                </a14:m>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684772" y="1939740"/>
                <a:ext cx="3831143" cy="870238"/>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966714" y="2812630"/>
                <a:ext cx="8642252" cy="50783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dirty="0">
                    <a:solidFill>
                      <a:srgbClr val="000000"/>
                    </a:solidFill>
                    <a:latin typeface="微软雅黑 Light" panose="020B0502040204020203" pitchFamily="34" charset="-122"/>
                    <a:ea typeface="微软雅黑 Light" panose="020B0502040204020203" pitchFamily="34" charset="-122"/>
                  </a:rPr>
                  <a:t>假设使用</a:t>
                </a:r>
                <a:r>
                  <a:rPr lang="en-US" altLang="zh-CN" dirty="0">
                    <a:solidFill>
                      <a:srgbClr val="000000"/>
                    </a:solidFill>
                    <a:latin typeface="微软雅黑 Light" panose="020B0502040204020203" pitchFamily="34" charset="-122"/>
                    <a:ea typeface="微软雅黑 Light" panose="020B0502040204020203" pitchFamily="34" charset="-122"/>
                  </a:rPr>
                  <a:t>sigmoid</a:t>
                </a:r>
                <a:r>
                  <a:rPr lang="zh-CN" altLang="en-US" dirty="0">
                    <a:solidFill>
                      <a:srgbClr val="000000"/>
                    </a:solidFill>
                    <a:latin typeface="微软雅黑 Light" panose="020B0502040204020203" pitchFamily="34" charset="-122"/>
                    <a:ea typeface="微软雅黑 Light" panose="020B0502040204020203" pitchFamily="34" charset="-122"/>
                  </a:rPr>
                  <a:t>函数作为激活函数，则</a:t>
                </a:r>
                <a14:m>
                  <m:oMath xmlns:m="http://schemas.openxmlformats.org/officeDocument/2006/math">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r>
                      <a:rPr lang="en-US" altLang="zh-CN" b="0" i="1" smtClean="0">
                        <a:solidFill>
                          <a:srgbClr val="000000"/>
                        </a:solidFill>
                        <a:latin typeface="Cambria Math" panose="02040503050406030204" pitchFamily="18" charset="0"/>
                        <a:ea typeface="微软雅黑" panose="020B0503020204020204" pitchFamily="34" charset="-122"/>
                      </a:rPr>
                      <m:t>=</m:t>
                    </m:r>
                    <m:r>
                      <a:rPr lang="zh-CN" altLang="en-US" b="0" i="1" smtClean="0">
                        <a:solidFill>
                          <a:srgbClr val="000000"/>
                        </a:solidFill>
                        <a:latin typeface="Cambria Math" panose="02040503050406030204" pitchFamily="18" charset="0"/>
                        <a:ea typeface="微软雅黑" panose="020B0503020204020204" pitchFamily="34" charset="-122"/>
                      </a:rPr>
                      <m:t>𝜎</m:t>
                    </m:r>
                    <m:d>
                      <m:dPr>
                        <m:ctrlPr>
                          <a:rPr lang="en-US" altLang="zh-CN" b="0" i="1" smtClean="0">
                            <a:solidFill>
                              <a:srgbClr val="000000"/>
                            </a:solidFill>
                            <a:latin typeface="Cambria Math" panose="02040503050406030204" pitchFamily="18" charset="0"/>
                            <a:ea typeface="微软雅黑" panose="020B0503020204020204" pitchFamily="34" charset="-122"/>
                          </a:rPr>
                        </m:ctrlPr>
                      </m:dPr>
                      <m:e>
                        <m:r>
                          <a:rPr lang="en-US" altLang="zh-CN" b="0" i="1" smtClean="0">
                            <a:solidFill>
                              <a:srgbClr val="000000"/>
                            </a:solidFill>
                            <a:latin typeface="Cambria Math" panose="02040503050406030204" pitchFamily="18" charset="0"/>
                            <a:ea typeface="微软雅黑" panose="020B0503020204020204" pitchFamily="34" charset="-122"/>
                          </a:rPr>
                          <m:t>𝑧</m:t>
                        </m:r>
                      </m:e>
                    </m:d>
                  </m:oMath>
                </a14:m>
                <a:r>
                  <a:rPr lang="zh-CN" altLang="en-US" dirty="0">
                    <a:solidFill>
                      <a:srgbClr val="000000"/>
                    </a:solidFill>
                    <a:latin typeface="微软雅黑 Light" panose="020B0502040204020203" pitchFamily="34" charset="-122"/>
                    <a:ea typeface="微软雅黑 Light" panose="020B0502040204020203" pitchFamily="34" charset="-122"/>
                  </a:rPr>
                  <a:t>，其中</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rPr>
                      <m:t>𝑧</m:t>
                    </m:r>
                    <m:r>
                      <a:rPr lang="en-US" altLang="zh-CN" i="1">
                        <a:solidFill>
                          <a:srgbClr val="000000"/>
                        </a:solidFill>
                        <a:latin typeface="Cambria Math" panose="02040503050406030204" pitchFamily="18" charset="0"/>
                        <a:ea typeface="微软雅黑" panose="020B0503020204020204" pitchFamily="34" charset="-122"/>
                      </a:rPr>
                      <m:t>=</m:t>
                    </m:r>
                    <m:r>
                      <a:rPr lang="en-US" altLang="zh-CN" i="1" smtClean="0">
                        <a:solidFill>
                          <a:srgbClr val="000000"/>
                        </a:solidFill>
                        <a:latin typeface="Cambria Math" panose="02040503050406030204" pitchFamily="18" charset="0"/>
                        <a:ea typeface="微软雅黑" panose="020B0503020204020204" pitchFamily="34" charset="-122"/>
                      </a:rPr>
                      <m:t>𝑤</m:t>
                    </m:r>
                    <m:r>
                      <a:rPr lang="en-US" altLang="zh-CN" i="1">
                        <a:solidFill>
                          <a:srgbClr val="000000"/>
                        </a:solidFill>
                        <a:latin typeface="Cambria Math" panose="02040503050406030204" pitchFamily="18" charset="0"/>
                        <a:ea typeface="微软雅黑" panose="020B0503020204020204" pitchFamily="34" charset="-122"/>
                      </a:rPr>
                      <m:t>𝑥</m:t>
                    </m:r>
                    <m:r>
                      <a:rPr lang="en-US" altLang="zh-CN" i="1">
                        <a:solidFill>
                          <a:srgbClr val="000000"/>
                        </a:solidFill>
                        <a:latin typeface="Cambria Math" panose="02040503050406030204" pitchFamily="18" charset="0"/>
                        <a:ea typeface="微软雅黑" panose="020B0503020204020204" pitchFamily="34" charset="-122"/>
                      </a:rPr>
                      <m:t>+</m:t>
                    </m:r>
                    <m:r>
                      <a:rPr lang="en-US" altLang="zh-CN" i="1">
                        <a:solidFill>
                          <a:srgbClr val="000000"/>
                        </a:solidFill>
                        <a:latin typeface="Cambria Math" panose="02040503050406030204" pitchFamily="18" charset="0"/>
                        <a:ea typeface="微软雅黑" panose="020B0503020204020204" pitchFamily="34" charset="-122"/>
                      </a:rPr>
                      <m:t>𝑏</m:t>
                    </m:r>
                  </m:oMath>
                </a14:m>
                <a:r>
                  <a:rPr lang="zh-CN" altLang="en-US" dirty="0">
                    <a:solidFill>
                      <a:srgbClr val="000000"/>
                    </a:solidFill>
                    <a:latin typeface="微软雅黑 Light" panose="020B0502040204020203" pitchFamily="34" charset="-122"/>
                    <a:ea typeface="微软雅黑 Light" panose="020B0502040204020203" pitchFamily="34" charset="-122"/>
                  </a:rPr>
                  <a:t>，</a:t>
                </a:r>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966714" y="2812630"/>
                <a:ext cx="8642252" cy="507831"/>
              </a:xfrm>
              <a:prstGeom prst="rect">
                <a:avLst/>
              </a:prstGeom>
              <a:blipFill rotWithShape="0">
                <a:blip r:embed="rId6"/>
                <a:stretch>
                  <a:fillRect l="-635"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252816" y="3142306"/>
                <a:ext cx="3831143" cy="88235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14:m>
                  <m:oMathPara xmlns:m="http://schemas.openxmlformats.org/officeDocument/2006/math">
                    <m:oMathParaPr>
                      <m:jc m:val="centerGroup"/>
                    </m:oMathParaPr>
                    <m:oMath xmlns:m="http://schemas.openxmlformats.org/officeDocument/2006/math">
                      <m:f>
                        <m:fPr>
                          <m:ctrlPr>
                            <a:rPr lang="en-US" altLang="zh-CN" i="1" smtClean="0">
                              <a:solidFill>
                                <a:srgbClr val="000000"/>
                              </a:solidFill>
                              <a:latin typeface="Cambria Math" panose="02040503050406030204" pitchFamily="18" charset="0"/>
                              <a:ea typeface="微软雅黑" panose="020B0503020204020204" pitchFamily="34" charset="-122"/>
                            </a:rPr>
                          </m:ctrlPr>
                        </m:fPr>
                        <m:num>
                          <m:r>
                            <a:rPr lang="en-US" altLang="zh-CN"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𝐿</m:t>
                          </m:r>
                        </m:num>
                        <m:den>
                          <m:r>
                            <a:rPr lang="en-US" altLang="zh-CN"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𝑤</m:t>
                          </m:r>
                        </m:den>
                      </m:f>
                      <m:r>
                        <a:rPr lang="en-US" altLang="zh-CN" i="1" smtClean="0">
                          <a:solidFill>
                            <a:srgbClr val="000000"/>
                          </a:solidFill>
                          <a:latin typeface="Cambria Math" panose="02040503050406030204" pitchFamily="18" charset="0"/>
                          <a:ea typeface="微软雅黑" panose="020B0503020204020204" pitchFamily="34" charset="-122"/>
                        </a:rPr>
                        <m:t>=</m:t>
                      </m:r>
                      <m:d>
                        <m:dPr>
                          <m:ctrlPr>
                            <a:rPr lang="en-US" altLang="zh-CN" b="0" i="1" smtClean="0">
                              <a:solidFill>
                                <a:srgbClr val="000000"/>
                              </a:solidFill>
                              <a:latin typeface="Cambria Math" panose="02040503050406030204" pitchFamily="18" charset="0"/>
                              <a:ea typeface="微软雅黑" panose="020B0503020204020204" pitchFamily="34" charset="-122"/>
                            </a:rPr>
                          </m:ctrlPr>
                        </m:dPr>
                        <m:e>
                          <m:r>
                            <a:rPr lang="en-US" altLang="zh-CN" b="0" i="1" smtClean="0">
                              <a:solidFill>
                                <a:srgbClr val="000000"/>
                              </a:solidFill>
                              <a:latin typeface="Cambria Math" panose="02040503050406030204" pitchFamily="18" charset="0"/>
                              <a:ea typeface="微软雅黑" panose="020B0503020204020204" pitchFamily="34" charset="-122"/>
                            </a:rPr>
                            <m:t>𝑦</m:t>
                          </m:r>
                          <m:r>
                            <a:rPr lang="en-US" altLang="zh-CN" b="0" i="1" smtClean="0">
                              <a:solidFill>
                                <a:srgbClr val="000000"/>
                              </a:solidFill>
                              <a:latin typeface="Cambria Math" panose="02040503050406030204" pitchFamily="18" charset="0"/>
                              <a:ea typeface="微软雅黑" panose="020B0503020204020204" pitchFamily="34" charset="-122"/>
                            </a:rPr>
                            <m:t>−</m:t>
                          </m:r>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d>
                      <m:sSup>
                        <m:sSupPr>
                          <m:ctrlPr>
                            <a:rPr lang="en-US" altLang="zh-CN" b="0" i="1" smtClean="0">
                              <a:solidFill>
                                <a:srgbClr val="C00000"/>
                              </a:solidFill>
                              <a:latin typeface="Cambria Math" panose="02040503050406030204" pitchFamily="18" charset="0"/>
                              <a:ea typeface="微软雅黑" panose="020B0503020204020204" pitchFamily="34" charset="-122"/>
                            </a:rPr>
                          </m:ctrlPr>
                        </m:sSupPr>
                        <m:e>
                          <m:r>
                            <a:rPr lang="zh-CN" altLang="en-US" b="0" i="1" smtClean="0">
                              <a:solidFill>
                                <a:srgbClr val="C00000"/>
                              </a:solidFill>
                              <a:latin typeface="Cambria Math" panose="02040503050406030204" pitchFamily="18" charset="0"/>
                              <a:ea typeface="微软雅黑" panose="020B0503020204020204" pitchFamily="34" charset="-122"/>
                            </a:rPr>
                            <m:t>𝜎</m:t>
                          </m:r>
                        </m:e>
                        <m:sup>
                          <m:r>
                            <a:rPr lang="en-US" altLang="zh-CN" b="0" i="1" smtClean="0">
                              <a:solidFill>
                                <a:srgbClr val="C00000"/>
                              </a:solidFill>
                              <a:latin typeface="Cambria Math" panose="02040503050406030204" pitchFamily="18" charset="0"/>
                              <a:ea typeface="微软雅黑" panose="020B0503020204020204" pitchFamily="34" charset="-122"/>
                            </a:rPr>
                            <m:t>′</m:t>
                          </m:r>
                        </m:sup>
                      </m:sSup>
                      <m:d>
                        <m:dPr>
                          <m:ctrlPr>
                            <a:rPr lang="en-US" altLang="zh-CN" b="0" i="1" smtClean="0">
                              <a:solidFill>
                                <a:srgbClr val="C00000"/>
                              </a:solidFill>
                              <a:latin typeface="Cambria Math" panose="02040503050406030204" pitchFamily="18" charset="0"/>
                              <a:ea typeface="微软雅黑" panose="020B0503020204020204" pitchFamily="34" charset="-122"/>
                            </a:rPr>
                          </m:ctrlPr>
                        </m:dPr>
                        <m:e>
                          <m:r>
                            <a:rPr lang="en-US" altLang="zh-CN" b="0" i="1" smtClean="0">
                              <a:solidFill>
                                <a:srgbClr val="C00000"/>
                              </a:solidFill>
                              <a:latin typeface="Cambria Math" panose="02040503050406030204" pitchFamily="18" charset="0"/>
                              <a:ea typeface="微软雅黑" panose="020B0503020204020204" pitchFamily="34" charset="-122"/>
                            </a:rPr>
                            <m:t>𝑧</m:t>
                          </m:r>
                        </m:e>
                      </m:d>
                      <m:r>
                        <a:rPr lang="en-US" altLang="zh-CN" b="0" i="1" smtClean="0">
                          <a:solidFill>
                            <a:srgbClr val="000000"/>
                          </a:solidFill>
                          <a:latin typeface="Cambria Math" panose="02040503050406030204" pitchFamily="18" charset="0"/>
                          <a:ea typeface="微软雅黑" panose="020B0503020204020204" pitchFamily="34" charset="-122"/>
                        </a:rPr>
                        <m:t>𝑥</m:t>
                      </m:r>
                    </m:oMath>
                  </m:oMathPara>
                </a14:m>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11" name="矩形 10"/>
              <p:cNvSpPr>
                <a:spLocks noRot="1" noChangeAspect="1" noMove="1" noResize="1" noEditPoints="1" noAdjustHandles="1" noChangeArrowheads="1" noChangeShapeType="1" noTextEdit="1"/>
              </p:cNvSpPr>
              <p:nvPr/>
            </p:nvSpPr>
            <p:spPr>
              <a:xfrm>
                <a:off x="1252816" y="3142306"/>
                <a:ext cx="3831143" cy="882357"/>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130178" y="3915317"/>
                <a:ext cx="3831143" cy="88235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14:m>
                  <m:oMathPara xmlns:m="http://schemas.openxmlformats.org/officeDocument/2006/math">
                    <m:oMathParaPr>
                      <m:jc m:val="centerGroup"/>
                    </m:oMathParaPr>
                    <m:oMath xmlns:m="http://schemas.openxmlformats.org/officeDocument/2006/math">
                      <m:f>
                        <m:fPr>
                          <m:ctrlPr>
                            <a:rPr lang="en-US" altLang="zh-CN" i="1" smtClean="0">
                              <a:solidFill>
                                <a:srgbClr val="000000"/>
                              </a:solidFill>
                              <a:latin typeface="Cambria Math" panose="02040503050406030204" pitchFamily="18" charset="0"/>
                              <a:ea typeface="微软雅黑" panose="020B0503020204020204" pitchFamily="34" charset="-122"/>
                            </a:rPr>
                          </m:ctrlPr>
                        </m:fPr>
                        <m:num>
                          <m:r>
                            <a:rPr lang="en-US" altLang="zh-CN"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𝐿</m:t>
                          </m:r>
                        </m:num>
                        <m:den>
                          <m:r>
                            <a:rPr lang="en-US" altLang="zh-CN"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𝑏</m:t>
                          </m:r>
                        </m:den>
                      </m:f>
                      <m:r>
                        <a:rPr lang="en-US" altLang="zh-CN"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𝑦</m:t>
                      </m:r>
                      <m:r>
                        <a:rPr lang="en-US" altLang="zh-CN" b="0" i="1" smtClean="0">
                          <a:solidFill>
                            <a:srgbClr val="000000"/>
                          </a:solidFill>
                          <a:latin typeface="Cambria Math" panose="02040503050406030204" pitchFamily="18" charset="0"/>
                          <a:ea typeface="微软雅黑" panose="020B0503020204020204" pitchFamily="34" charset="-122"/>
                        </a:rPr>
                        <m:t>−</m:t>
                      </m:r>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r>
                        <a:rPr lang="en-US" altLang="zh-CN" b="0" i="1" smtClean="0">
                          <a:solidFill>
                            <a:srgbClr val="000000"/>
                          </a:solidFill>
                          <a:latin typeface="Cambria Math" panose="02040503050406030204" pitchFamily="18" charset="0"/>
                          <a:ea typeface="微软雅黑" panose="020B0503020204020204" pitchFamily="34" charset="-122"/>
                        </a:rPr>
                        <m:t>)</m:t>
                      </m:r>
                      <m:sSup>
                        <m:sSupPr>
                          <m:ctrlPr>
                            <a:rPr lang="en-US" altLang="zh-CN" b="0" i="1" smtClean="0">
                              <a:solidFill>
                                <a:srgbClr val="C00000"/>
                              </a:solidFill>
                              <a:latin typeface="Cambria Math" panose="02040503050406030204" pitchFamily="18" charset="0"/>
                              <a:ea typeface="微软雅黑" panose="020B0503020204020204" pitchFamily="34" charset="-122"/>
                            </a:rPr>
                          </m:ctrlPr>
                        </m:sSupPr>
                        <m:e>
                          <m:r>
                            <a:rPr lang="zh-CN" altLang="en-US" b="0" i="1" smtClean="0">
                              <a:solidFill>
                                <a:srgbClr val="C00000"/>
                              </a:solidFill>
                              <a:latin typeface="Cambria Math" panose="02040503050406030204" pitchFamily="18" charset="0"/>
                              <a:ea typeface="微软雅黑" panose="020B0503020204020204" pitchFamily="34" charset="-122"/>
                            </a:rPr>
                            <m:t>𝜎</m:t>
                          </m:r>
                        </m:e>
                        <m:sup>
                          <m:r>
                            <a:rPr lang="en-US" altLang="zh-CN" b="0" i="1" smtClean="0">
                              <a:solidFill>
                                <a:srgbClr val="C00000"/>
                              </a:solidFill>
                              <a:latin typeface="Cambria Math" panose="02040503050406030204" pitchFamily="18" charset="0"/>
                              <a:ea typeface="微软雅黑" panose="020B0503020204020204" pitchFamily="34" charset="-122"/>
                            </a:rPr>
                            <m:t>′</m:t>
                          </m:r>
                        </m:sup>
                      </m:sSup>
                      <m:r>
                        <a:rPr lang="en-US" altLang="zh-CN" b="0" i="1" smtClean="0">
                          <a:solidFill>
                            <a:srgbClr val="C00000"/>
                          </a:solidFill>
                          <a:latin typeface="Cambria Math" panose="02040503050406030204" pitchFamily="18" charset="0"/>
                          <a:ea typeface="微软雅黑" panose="020B0503020204020204" pitchFamily="34" charset="-122"/>
                        </a:rPr>
                        <m:t>(</m:t>
                      </m:r>
                      <m:r>
                        <a:rPr lang="en-US" altLang="zh-CN" b="0" i="1" smtClean="0">
                          <a:solidFill>
                            <a:srgbClr val="C00000"/>
                          </a:solidFill>
                          <a:latin typeface="Cambria Math" panose="02040503050406030204" pitchFamily="18" charset="0"/>
                          <a:ea typeface="微软雅黑" panose="020B0503020204020204" pitchFamily="34" charset="-122"/>
                        </a:rPr>
                        <m:t>𝑧</m:t>
                      </m:r>
                      <m:r>
                        <a:rPr lang="en-US" altLang="zh-CN" b="0" i="1" smtClean="0">
                          <a:solidFill>
                            <a:srgbClr val="C00000"/>
                          </a:solidFill>
                          <a:latin typeface="Cambria Math" panose="02040503050406030204" pitchFamily="18" charset="0"/>
                          <a:ea typeface="微软雅黑" panose="020B0503020204020204" pitchFamily="34" charset="-122"/>
                        </a:rPr>
                        <m:t>)</m:t>
                      </m:r>
                    </m:oMath>
                  </m:oMathPara>
                </a14:m>
                <a:endParaRPr lang="en-US" altLang="zh-CN" dirty="0">
                  <a:solidFill>
                    <a:srgbClr val="C00000"/>
                  </a:solidFill>
                  <a:latin typeface="微软雅黑 Light" panose="020B0502040204020203" pitchFamily="34" charset="-122"/>
                  <a:ea typeface="微软雅黑 Light" panose="020B0502040204020203" pitchFamily="34"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1130178" y="3915317"/>
                <a:ext cx="3831143" cy="882357"/>
              </a:xfrm>
              <a:prstGeom prst="rect">
                <a:avLst/>
              </a:prstGeom>
              <a:blipFill rotWithShape="0">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966713" y="4797674"/>
                <a:ext cx="10238315" cy="111870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dirty="0">
                    <a:solidFill>
                      <a:srgbClr val="000000"/>
                    </a:solidFill>
                    <a:latin typeface="微软雅黑 Light" panose="020B0502040204020203" pitchFamily="34" charset="-122"/>
                    <a:ea typeface="微软雅黑 Light" panose="020B0502040204020203" pitchFamily="34" charset="-122"/>
                  </a:rPr>
                  <a:t>所求的与 </a:t>
                </a:r>
                <a14:m>
                  <m:oMath xmlns:m="http://schemas.openxmlformats.org/officeDocument/2006/math">
                    <m:f>
                      <m:fPr>
                        <m:ctrlPr>
                          <a:rPr lang="en-US" altLang="zh-CN" i="1">
                            <a:solidFill>
                              <a:srgbClr val="000000"/>
                            </a:solidFill>
                            <a:latin typeface="Cambria Math" panose="02040503050406030204" pitchFamily="18" charset="0"/>
                            <a:ea typeface="微软雅黑" panose="020B0503020204020204" pitchFamily="34" charset="-122"/>
                          </a:rPr>
                        </m:ctrlPr>
                      </m:fPr>
                      <m:num>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𝐿</m:t>
                        </m:r>
                      </m:num>
                      <m:den>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𝑤</m:t>
                        </m:r>
                      </m:den>
                    </m:f>
                  </m:oMath>
                </a14:m>
                <a:r>
                  <a:rPr lang="zh-CN" altLang="en-US" dirty="0">
                    <a:solidFill>
                      <a:srgbClr val="000000"/>
                    </a:solidFill>
                    <a:latin typeface="微软雅黑 Light" panose="020B0502040204020203" pitchFamily="34" charset="-122"/>
                    <a:ea typeface="微软雅黑 Light" panose="020B0502040204020203" pitchFamily="34" charset="-122"/>
                  </a:rPr>
                  <a:t> 和 </a:t>
                </a:r>
                <a14:m>
                  <m:oMath xmlns:m="http://schemas.openxmlformats.org/officeDocument/2006/math">
                    <m:f>
                      <m:fPr>
                        <m:ctrlPr>
                          <a:rPr lang="en-US" altLang="zh-CN" i="1">
                            <a:solidFill>
                              <a:srgbClr val="000000"/>
                            </a:solidFill>
                            <a:latin typeface="Cambria Math" panose="02040503050406030204" pitchFamily="18" charset="0"/>
                            <a:ea typeface="微软雅黑" panose="020B0503020204020204" pitchFamily="34" charset="-122"/>
                          </a:rPr>
                        </m:ctrlPr>
                      </m:fPr>
                      <m:num>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𝐿</m:t>
                        </m:r>
                      </m:num>
                      <m:den>
                        <m:r>
                          <a:rPr lang="en-US" altLang="zh-CN" i="1">
                            <a:solidFill>
                              <a:srgbClr val="000000"/>
                            </a:solidFill>
                            <a:latin typeface="Cambria Math" panose="02040503050406030204" pitchFamily="18" charset="0"/>
                            <a:ea typeface="微软雅黑" panose="020B0503020204020204" pitchFamily="34" charset="-122"/>
                          </a:rPr>
                          <m:t>𝜕</m:t>
                        </m:r>
                        <m:r>
                          <a:rPr lang="en-US" altLang="zh-CN" i="1">
                            <a:solidFill>
                              <a:srgbClr val="000000"/>
                            </a:solidFill>
                            <a:latin typeface="Cambria Math" panose="02040503050406030204" pitchFamily="18" charset="0"/>
                            <a:ea typeface="微软雅黑" panose="020B0503020204020204" pitchFamily="34" charset="-122"/>
                          </a:rPr>
                          <m:t>𝑏</m:t>
                        </m:r>
                      </m:den>
                    </m:f>
                  </m:oMath>
                </a14:m>
                <a:r>
                  <a:rPr lang="zh-CN" altLang="en-US" dirty="0">
                    <a:solidFill>
                      <a:srgbClr val="000000"/>
                    </a:solidFill>
                    <a:latin typeface="微软雅黑 Light" panose="020B0502040204020203" pitchFamily="34" charset="-122"/>
                    <a:ea typeface="微软雅黑 Light" panose="020B0502040204020203" pitchFamily="34" charset="-122"/>
                  </a:rPr>
                  <a:t> 梯度中都含有</a:t>
                </a:r>
                <a14:m>
                  <m:oMath xmlns:m="http://schemas.openxmlformats.org/officeDocument/2006/math">
                    <m:sSup>
                      <m:sSupPr>
                        <m:ctrlPr>
                          <a:rPr lang="en-US" altLang="zh-CN" i="1" smtClean="0">
                            <a:solidFill>
                              <a:schemeClr val="tx1"/>
                            </a:solidFill>
                            <a:latin typeface="Cambria Math" panose="02040503050406030204" pitchFamily="18" charset="0"/>
                            <a:ea typeface="微软雅黑" panose="020B0503020204020204" pitchFamily="34" charset="-122"/>
                          </a:rPr>
                        </m:ctrlPr>
                      </m:sSupPr>
                      <m:e>
                        <m:r>
                          <a:rPr lang="zh-CN" altLang="en-US" i="1">
                            <a:solidFill>
                              <a:schemeClr val="tx1"/>
                            </a:solidFill>
                            <a:latin typeface="Cambria Math" panose="02040503050406030204" pitchFamily="18" charset="0"/>
                            <a:ea typeface="微软雅黑" panose="020B0503020204020204" pitchFamily="34" charset="-122"/>
                          </a:rPr>
                          <m:t>𝜎</m:t>
                        </m:r>
                      </m:e>
                      <m:sup>
                        <m:r>
                          <a:rPr lang="en-US" altLang="zh-CN" i="1">
                            <a:solidFill>
                              <a:schemeClr val="tx1"/>
                            </a:solidFill>
                            <a:latin typeface="Cambria Math" panose="02040503050406030204" pitchFamily="18" charset="0"/>
                            <a:ea typeface="微软雅黑" panose="020B0503020204020204" pitchFamily="34" charset="-122"/>
                          </a:rPr>
                          <m:t>′</m:t>
                        </m:r>
                      </m:sup>
                    </m:sSup>
                    <m:r>
                      <a:rPr lang="en-US" altLang="zh-CN" i="1">
                        <a:solidFill>
                          <a:schemeClr val="tx1"/>
                        </a:solidFill>
                        <a:latin typeface="Cambria Math" panose="02040503050406030204" pitchFamily="18" charset="0"/>
                        <a:ea typeface="微软雅黑" panose="020B0503020204020204" pitchFamily="34" charset="-122"/>
                      </a:rPr>
                      <m:t>(</m:t>
                    </m:r>
                    <m:r>
                      <a:rPr lang="en-US" altLang="zh-CN" i="1">
                        <a:solidFill>
                          <a:schemeClr val="tx1"/>
                        </a:solidFill>
                        <a:latin typeface="Cambria Math" panose="02040503050406030204" pitchFamily="18" charset="0"/>
                        <a:ea typeface="微软雅黑" panose="020B0503020204020204" pitchFamily="34" charset="-122"/>
                      </a:rPr>
                      <m:t>𝑧</m:t>
                    </m:r>
                    <m:r>
                      <a:rPr lang="en-US" altLang="zh-CN" i="1">
                        <a:solidFill>
                          <a:schemeClr val="tx1"/>
                        </a:solidFill>
                        <a:latin typeface="Cambria Math" panose="02040503050406030204" pitchFamily="18" charset="0"/>
                        <a:ea typeface="微软雅黑" panose="020B0503020204020204" pitchFamily="34" charset="-122"/>
                      </a:rPr>
                      <m:t>)</m:t>
                    </m:r>
                  </m:oMath>
                </a14:m>
                <a:r>
                  <a:rPr lang="zh-CN" altLang="en-US" dirty="0">
                    <a:solidFill>
                      <a:srgbClr val="000000"/>
                    </a:solidFill>
                    <a:latin typeface="微软雅黑 Light" panose="020B0502040204020203" pitchFamily="34" charset="-122"/>
                    <a:ea typeface="微软雅黑 Light" panose="020B0502040204020203" pitchFamily="34" charset="-122"/>
                  </a:rPr>
                  <a:t>，当神经元输出接近</a:t>
                </a:r>
                <a:r>
                  <a:rPr lang="en-US" altLang="zh-CN" dirty="0">
                    <a:solidFill>
                      <a:srgbClr val="000000"/>
                    </a:solidFill>
                    <a:latin typeface="微软雅黑 Light" panose="020B0502040204020203" pitchFamily="34" charset="-122"/>
                    <a:ea typeface="微软雅黑 Light" panose="020B0502040204020203" pitchFamily="34" charset="-122"/>
                  </a:rPr>
                  <a:t>1</a:t>
                </a:r>
                <a:r>
                  <a:rPr lang="zh-CN" altLang="en-US" dirty="0">
                    <a:solidFill>
                      <a:srgbClr val="000000"/>
                    </a:solidFill>
                    <a:latin typeface="微软雅黑 Light" panose="020B0502040204020203" pitchFamily="34" charset="-122"/>
                    <a:ea typeface="微软雅黑 Light" panose="020B0502040204020203" pitchFamily="34" charset="-122"/>
                  </a:rPr>
                  <a:t>时，梯度将趋于</a:t>
                </a:r>
                <a:r>
                  <a:rPr lang="en-US" altLang="zh-CN" dirty="0">
                    <a:solidFill>
                      <a:srgbClr val="000000"/>
                    </a:solidFill>
                    <a:latin typeface="微软雅黑 Light" panose="020B0502040204020203" pitchFamily="34" charset="-122"/>
                    <a:ea typeface="微软雅黑 Light" panose="020B0502040204020203" pitchFamily="34" charset="-122"/>
                  </a:rPr>
                  <a:t>0,</a:t>
                </a:r>
                <a:r>
                  <a:rPr lang="zh-CN" altLang="en-US" dirty="0">
                    <a:solidFill>
                      <a:srgbClr val="000000"/>
                    </a:solidFill>
                    <a:latin typeface="微软雅黑 Light" panose="020B0502040204020203" pitchFamily="34" charset="-122"/>
                    <a:ea typeface="微软雅黑 Light" panose="020B0502040204020203" pitchFamily="34" charset="-122"/>
                  </a:rPr>
                  <a:t>，出现梯度消失，导致神经网络反向传播时参数更新缓慢，学习率下降。</a:t>
                </a:r>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966713" y="4797674"/>
                <a:ext cx="10238315" cy="1118704"/>
              </a:xfrm>
              <a:prstGeom prst="rect">
                <a:avLst/>
              </a:prstGeom>
              <a:blipFill rotWithShape="0">
                <a:blip r:embed="rId9"/>
                <a:stretch>
                  <a:fillRect l="-536" r="-476" b="-3261"/>
                </a:stretch>
              </a:blipFill>
            </p:spPr>
            <p:txBody>
              <a:bodyPr/>
              <a:lstStyle/>
              <a:p>
                <a:r>
                  <a:rPr lang="zh-CN" altLang="en-US">
                    <a:noFill/>
                  </a:rPr>
                  <a:t> </a:t>
                </a:r>
              </a:p>
            </p:txBody>
          </p:sp>
        </mc:Fallback>
      </mc:AlternateContent>
      <p:sp>
        <p:nvSpPr>
          <p:cNvPr id="14" name="矩形 13"/>
          <p:cNvSpPr/>
          <p:nvPr/>
        </p:nvSpPr>
        <p:spPr>
          <a:xfrm>
            <a:off x="3948706" y="2296517"/>
            <a:ext cx="3877985" cy="369332"/>
          </a:xfrm>
          <a:prstGeom prst="rect">
            <a:avLst/>
          </a:prstGeom>
        </p:spPr>
        <p:txBody>
          <a:bodyPr wrap="none">
            <a:spAutoFit/>
          </a:bodyPr>
          <a:lstStyle/>
          <a:p>
            <a:r>
              <a:rPr lang="zh-CN" altLang="en-US" dirty="0">
                <a:solidFill>
                  <a:srgbClr val="1A1A1A"/>
                </a:solidFill>
                <a:latin typeface="微软雅黑 Light" panose="020B0502040204020203" pitchFamily="34" charset="-122"/>
                <a:ea typeface="微软雅黑 Light" panose="020B0502040204020203" pitchFamily="34" charset="-122"/>
              </a:rPr>
              <a:t>以一个神经元的均方差损失函数为例</a:t>
            </a:r>
            <a:endParaRPr lang="zh-CN" altLang="en-US" dirty="0">
              <a:latin typeface="微软雅黑 Light" panose="020B0502040204020203" pitchFamily="34" charset="-122"/>
              <a:ea typeface="微软雅黑 Light" panose="020B0502040204020203" pitchFamily="34" charset="-122"/>
            </a:endParaRPr>
          </a:p>
        </p:txBody>
      </p:sp>
      <p:cxnSp>
        <p:nvCxnSpPr>
          <p:cNvPr id="16" name="直接箭头连接符 15"/>
          <p:cNvCxnSpPr>
            <a:stCxn id="14" idx="1"/>
          </p:cNvCxnSpPr>
          <p:nvPr/>
        </p:nvCxnSpPr>
        <p:spPr>
          <a:xfrm flipH="1">
            <a:off x="3471149" y="2481183"/>
            <a:ext cx="477557" cy="0"/>
          </a:xfrm>
          <a:prstGeom prst="straightConnector1">
            <a:avLst/>
          </a:prstGeom>
          <a:noFill/>
          <a:ln w="15875" cap="flat" cmpd="sng">
            <a:solidFill>
              <a:srgbClr val="1C479B"/>
            </a:solidFill>
            <a:prstDash val="solid"/>
            <a:round/>
            <a:headEnd/>
            <a:tailEnd type="triangle"/>
          </a:ln>
          <a:effectLst/>
        </p:spPr>
      </p:cxnSp>
      <mc:AlternateContent xmlns:mc="http://schemas.openxmlformats.org/markup-compatibility/2006" xmlns:a14="http://schemas.microsoft.com/office/drawing/2010/main">
        <mc:Choice Requires="a14">
          <p:sp>
            <p:nvSpPr>
              <p:cNvPr id="18" name="矩形 17"/>
              <p:cNvSpPr/>
              <p:nvPr/>
            </p:nvSpPr>
            <p:spPr>
              <a:xfrm>
                <a:off x="5176447" y="3356206"/>
                <a:ext cx="2756332" cy="561308"/>
              </a:xfrm>
              <a:prstGeom prst="rect">
                <a:avLst/>
              </a:prstGeom>
            </p:spPr>
            <p:txBody>
              <a:bodyPr wrap="non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i="1">
                              <a:solidFill>
                                <a:srgbClr val="000000"/>
                              </a:solidFill>
                              <a:latin typeface="Cambria Math" panose="02040503050406030204" pitchFamily="18" charset="0"/>
                              <a:ea typeface="微软雅黑" panose="020B0503020204020204" pitchFamily="34" charset="-122"/>
                            </a:rPr>
                          </m:ctrlPr>
                        </m:sSupPr>
                        <m:e>
                          <m:r>
                            <a:rPr lang="zh-CN" altLang="en-US" i="1">
                              <a:solidFill>
                                <a:srgbClr val="000000"/>
                              </a:solidFill>
                              <a:latin typeface="Cambria Math" panose="02040503050406030204" pitchFamily="18" charset="0"/>
                              <a:ea typeface="微软雅黑" panose="020B0503020204020204" pitchFamily="34" charset="-122"/>
                            </a:rPr>
                            <m:t>𝜎</m:t>
                          </m:r>
                        </m:e>
                        <m:sup>
                          <m:r>
                            <a:rPr lang="en-US" altLang="zh-CN" i="1">
                              <a:solidFill>
                                <a:srgbClr val="000000"/>
                              </a:solidFill>
                              <a:latin typeface="Cambria Math" panose="02040503050406030204" pitchFamily="18" charset="0"/>
                              <a:ea typeface="微软雅黑" panose="020B0503020204020204" pitchFamily="34" charset="-122"/>
                            </a:rPr>
                            <m:t>′</m:t>
                          </m:r>
                        </m:sup>
                      </m:sSup>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i="1">
                              <a:solidFill>
                                <a:srgbClr val="000000"/>
                              </a:solidFill>
                              <a:latin typeface="Cambria Math" panose="02040503050406030204" pitchFamily="18" charset="0"/>
                              <a:ea typeface="微软雅黑" panose="020B0503020204020204" pitchFamily="34" charset="-122"/>
                            </a:rPr>
                            <m:t>𝑧</m:t>
                          </m:r>
                        </m:e>
                      </m:d>
                      <m:r>
                        <a:rPr lang="en-US" altLang="zh-CN" i="1">
                          <a:solidFill>
                            <a:srgbClr val="000000"/>
                          </a:solidFill>
                          <a:latin typeface="Cambria Math" panose="02040503050406030204" pitchFamily="18" charset="0"/>
                          <a:ea typeface="微软雅黑" panose="020B0503020204020204" pitchFamily="34" charset="-122"/>
                        </a:rPr>
                        <m:t>=</m:t>
                      </m:r>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i="1">
                              <a:solidFill>
                                <a:srgbClr val="000000"/>
                              </a:solidFill>
                              <a:latin typeface="Cambria Math" panose="02040503050406030204" pitchFamily="18" charset="0"/>
                              <a:ea typeface="微软雅黑" panose="020B0503020204020204" pitchFamily="34" charset="-122"/>
                            </a:rPr>
                            <m:t>1−</m:t>
                          </m:r>
                          <m:r>
                            <a:rPr lang="zh-CN" altLang="en-US" i="1">
                              <a:solidFill>
                                <a:srgbClr val="000000"/>
                              </a:solidFill>
                              <a:latin typeface="Cambria Math" panose="02040503050406030204" pitchFamily="18" charset="0"/>
                              <a:ea typeface="微软雅黑" panose="020B0503020204020204" pitchFamily="34" charset="-122"/>
                            </a:rPr>
                            <m:t>𝜎</m:t>
                          </m:r>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i="1">
                                  <a:solidFill>
                                    <a:srgbClr val="000000"/>
                                  </a:solidFill>
                                  <a:latin typeface="Cambria Math" panose="02040503050406030204" pitchFamily="18" charset="0"/>
                                  <a:ea typeface="微软雅黑" panose="020B0503020204020204" pitchFamily="34" charset="-122"/>
                                </a:rPr>
                                <m:t>𝑧</m:t>
                              </m:r>
                            </m:e>
                          </m:d>
                        </m:e>
                      </m:d>
                      <m:r>
                        <a:rPr lang="en-US" altLang="zh-CN" i="1" smtClean="0">
                          <a:solidFill>
                            <a:srgbClr val="000000"/>
                          </a:solidFill>
                          <a:latin typeface="Cambria Math" panose="02040503050406030204" pitchFamily="18" charset="0"/>
                          <a:ea typeface="Cambria Math" panose="02040503050406030204" pitchFamily="18" charset="0"/>
                        </a:rPr>
                        <m:t>∙</m:t>
                      </m:r>
                      <m:r>
                        <a:rPr lang="zh-CN" altLang="en-US" i="1">
                          <a:solidFill>
                            <a:srgbClr val="000000"/>
                          </a:solidFill>
                          <a:latin typeface="Cambria Math" panose="02040503050406030204" pitchFamily="18" charset="0"/>
                          <a:ea typeface="微软雅黑" panose="020B0503020204020204" pitchFamily="34" charset="-122"/>
                        </a:rPr>
                        <m:t>𝜎</m:t>
                      </m:r>
                      <m:r>
                        <a:rPr lang="en-US" altLang="zh-CN" i="1">
                          <a:solidFill>
                            <a:srgbClr val="000000"/>
                          </a:solidFill>
                          <a:latin typeface="Cambria Math" panose="02040503050406030204" pitchFamily="18" charset="0"/>
                          <a:ea typeface="微软雅黑" panose="020B0503020204020204" pitchFamily="34" charset="-122"/>
                        </a:rPr>
                        <m:t>(</m:t>
                      </m:r>
                      <m:r>
                        <a:rPr lang="en-US" altLang="zh-CN" i="1">
                          <a:solidFill>
                            <a:srgbClr val="000000"/>
                          </a:solidFill>
                          <a:latin typeface="Cambria Math" panose="02040503050406030204" pitchFamily="18" charset="0"/>
                          <a:ea typeface="微软雅黑" panose="020B0503020204020204" pitchFamily="34" charset="-122"/>
                        </a:rPr>
                        <m:t>𝑧</m:t>
                      </m:r>
                      <m:r>
                        <a:rPr lang="en-US" altLang="zh-CN" i="1">
                          <a:solidFill>
                            <a:srgbClr val="000000"/>
                          </a:solidFill>
                          <a:latin typeface="Cambria Math" panose="02040503050406030204" pitchFamily="18" charset="0"/>
                          <a:ea typeface="微软雅黑" panose="020B0503020204020204" pitchFamily="34" charset="-122"/>
                        </a:rPr>
                        <m:t>)</m:t>
                      </m:r>
                    </m:oMath>
                  </m:oMathPara>
                </a14:m>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18" name="矩形 17"/>
              <p:cNvSpPr>
                <a:spLocks noRot="1" noChangeAspect="1" noMove="1" noResize="1" noEditPoints="1" noAdjustHandles="1" noChangeArrowheads="1" noChangeShapeType="1" noTextEdit="1"/>
              </p:cNvSpPr>
              <p:nvPr/>
            </p:nvSpPr>
            <p:spPr>
              <a:xfrm>
                <a:off x="5176447" y="3356206"/>
                <a:ext cx="2756332" cy="561308"/>
              </a:xfrm>
              <a:prstGeom prst="rect">
                <a:avLst/>
              </a:prstGeom>
              <a:blipFill rotWithShape="0">
                <a:blip r:embed="rId10"/>
                <a:stretch>
                  <a:fillRect/>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E0AE6961-245E-4685-B3D1-F205C9FA12DF}"/>
              </a:ext>
            </a:extLst>
          </p:cNvPr>
          <p:cNvSpPr/>
          <p:nvPr/>
        </p:nvSpPr>
        <p:spPr>
          <a:xfrm>
            <a:off x="1009102" y="6012359"/>
            <a:ext cx="9155575" cy="51694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rgbClr val="C00000"/>
                </a:solidFill>
                <a:highlight>
                  <a:srgbClr val="FFFF00"/>
                </a:highlight>
              </a:rPr>
              <a:t>均方差损失函数</a:t>
            </a:r>
            <a:r>
              <a:rPr lang="en-US" altLang="zh-CN" sz="2400" dirty="0">
                <a:solidFill>
                  <a:srgbClr val="C00000"/>
                </a:solidFill>
                <a:highlight>
                  <a:srgbClr val="FFFF00"/>
                </a:highlight>
              </a:rPr>
              <a:t>+Sigmoid</a:t>
            </a:r>
            <a:r>
              <a:rPr lang="zh-CN" altLang="en-US" sz="2400" dirty="0">
                <a:solidFill>
                  <a:srgbClr val="C00000"/>
                </a:solidFill>
                <a:highlight>
                  <a:srgbClr val="FFFF00"/>
                </a:highlight>
              </a:rPr>
              <a:t>激活函数出现问题</a:t>
            </a:r>
            <a:r>
              <a:rPr lang="en-US" altLang="zh-CN" sz="2400" dirty="0">
                <a:solidFill>
                  <a:srgbClr val="C00000"/>
                </a:solidFill>
                <a:highlight>
                  <a:srgbClr val="FFFF00"/>
                </a:highlight>
              </a:rPr>
              <a:t>—&gt;</a:t>
            </a:r>
            <a:r>
              <a:rPr lang="zh-CN" altLang="en-US" sz="2400" dirty="0">
                <a:solidFill>
                  <a:srgbClr val="C00000"/>
                </a:solidFill>
                <a:highlight>
                  <a:srgbClr val="FFFF00"/>
                </a:highlight>
              </a:rPr>
              <a:t>如何解决？</a:t>
            </a:r>
          </a:p>
        </p:txBody>
      </p:sp>
      <p:sp>
        <p:nvSpPr>
          <p:cNvPr id="22" name="灯片编号占位符 8">
            <a:extLst>
              <a:ext uri="{FF2B5EF4-FFF2-40B4-BE49-F238E27FC236}">
                <a16:creationId xmlns:a16="http://schemas.microsoft.com/office/drawing/2014/main" id="{9590900D-F2DC-4BF6-BA68-F45770657974}"/>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55</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8087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交叉熵损失函数</a:t>
            </a:r>
            <a:endParaRPr lang="en-US" altLang="zh-CN" sz="2600" b="1" dirty="0"/>
          </a:p>
        </p:txBody>
      </p:sp>
      <p:sp>
        <p:nvSpPr>
          <p:cNvPr id="8" name="矩形 7"/>
          <p:cNvSpPr/>
          <p:nvPr/>
        </p:nvSpPr>
        <p:spPr>
          <a:xfrm>
            <a:off x="650986" y="1307014"/>
            <a:ext cx="11095536" cy="553998"/>
          </a:xfrm>
          <a:prstGeom prst="rect">
            <a:avLst/>
          </a:prstGeom>
        </p:spPr>
        <p:txBody>
          <a:bodyPr wrap="square">
            <a:spAutoFit/>
          </a:bodyPr>
          <a:lstStyle/>
          <a:p>
            <a:pPr>
              <a:lnSpc>
                <a:spcPct val="150000"/>
              </a:lnSpc>
            </a:pPr>
            <a:r>
              <a:rPr lang="zh-CN" altLang="en-US" sz="2000" dirty="0">
                <a:solidFill>
                  <a:srgbClr val="1A1A1A"/>
                </a:solidFill>
                <a:latin typeface="微软雅黑 Light" panose="020B0502040204020203" pitchFamily="34" charset="-122"/>
                <a:ea typeface="微软雅黑 Light" panose="020B0502040204020203" pitchFamily="34" charset="-122"/>
              </a:rPr>
              <a:t>交叉熵损失</a:t>
            </a:r>
            <a:r>
              <a:rPr lang="en-US" altLang="zh-CN" sz="2000" dirty="0">
                <a:solidFill>
                  <a:srgbClr val="1A1A1A"/>
                </a:solidFill>
                <a:latin typeface="微软雅黑 Light" panose="020B0502040204020203" pitchFamily="34" charset="-122"/>
                <a:ea typeface="微软雅黑 Light" panose="020B0502040204020203" pitchFamily="34" charset="-122"/>
              </a:rPr>
              <a:t>+Sigmoid</a:t>
            </a:r>
            <a:r>
              <a:rPr lang="zh-CN" altLang="en-US" sz="2000" dirty="0">
                <a:solidFill>
                  <a:srgbClr val="1A1A1A"/>
                </a:solidFill>
                <a:latin typeface="微软雅黑 Light" panose="020B0502040204020203" pitchFamily="34" charset="-122"/>
                <a:ea typeface="微软雅黑 Light" panose="020B0502040204020203" pitchFamily="34" charset="-122"/>
              </a:rPr>
              <a:t>激活函数可以解决输出层神经元学习率缓慢的问题。</a:t>
            </a:r>
            <a:endParaRPr lang="zh-CN" altLang="en-US" sz="2000" dirty="0">
              <a:latin typeface="微软雅黑 Light" panose="020B0502040204020203" pitchFamily="34" charset="-122"/>
              <a:ea typeface="微软雅黑 Light" panose="020B0502040204020203" pitchFamily="34" charset="-122"/>
            </a:endParaRPr>
          </a:p>
        </p:txBody>
      </p:sp>
      <p:sp>
        <p:nvSpPr>
          <p:cNvPr id="9" name="矩形 8"/>
          <p:cNvSpPr/>
          <p:nvPr/>
        </p:nvSpPr>
        <p:spPr>
          <a:xfrm>
            <a:off x="650986" y="2130020"/>
            <a:ext cx="7344816" cy="876202"/>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solidFill>
                  <a:srgbClr val="555555"/>
                </a:solidFill>
                <a:latin typeface="微软雅黑 Light" panose="020B0502040204020203" pitchFamily="34" charset="-122"/>
                <a:ea typeface="微软雅黑 Light" panose="020B0502040204020203" pitchFamily="34" charset="-122"/>
              </a:rPr>
              <a:t>交叉熵损失函数能够有效克服使用</a:t>
            </a:r>
            <a:r>
              <a:rPr lang="en-US" altLang="zh-CN" dirty="0">
                <a:solidFill>
                  <a:srgbClr val="555555"/>
                </a:solidFill>
                <a:latin typeface="微软雅黑 Light" panose="020B0502040204020203" pitchFamily="34" charset="-122"/>
                <a:ea typeface="微软雅黑 Light" panose="020B0502040204020203" pitchFamily="34" charset="-122"/>
              </a:rPr>
              <a:t>sigmoid</a:t>
            </a:r>
            <a:r>
              <a:rPr lang="zh-CN" altLang="en-US" dirty="0">
                <a:solidFill>
                  <a:srgbClr val="555555"/>
                </a:solidFill>
                <a:latin typeface="微软雅黑 Light" panose="020B0502040204020203" pitchFamily="34" charset="-122"/>
                <a:ea typeface="微软雅黑 Light" panose="020B0502040204020203" pitchFamily="34" charset="-122"/>
              </a:rPr>
              <a:t>函数时，均方差损失函数出现的参数更新慢的问题</a:t>
            </a:r>
            <a:endParaRPr lang="zh-CN" altLang="en-US" dirty="0">
              <a:latin typeface="微软雅黑 Light" panose="020B0502040204020203" pitchFamily="34" charset="-122"/>
              <a:ea typeface="微软雅黑 Light" panose="020B0502040204020203" pitchFamily="34" charset="-122"/>
            </a:endParaRPr>
          </a:p>
        </p:txBody>
      </p:sp>
      <p:sp>
        <p:nvSpPr>
          <p:cNvPr id="10" name="矩形 9"/>
          <p:cNvSpPr/>
          <p:nvPr/>
        </p:nvSpPr>
        <p:spPr>
          <a:xfrm>
            <a:off x="1033092" y="3181440"/>
            <a:ext cx="2031325" cy="369332"/>
          </a:xfrm>
          <a:prstGeom prst="rect">
            <a:avLst/>
          </a:prstGeom>
        </p:spPr>
        <p:txBody>
          <a:bodyPr wrap="none">
            <a:spAutoFit/>
          </a:bodyPr>
          <a:lstStyle/>
          <a:p>
            <a:r>
              <a:rPr lang="zh-CN" altLang="en-US" dirty="0">
                <a:solidFill>
                  <a:srgbClr val="555555"/>
                </a:solidFill>
                <a:latin typeface="微软雅黑 Light" panose="020B0502040204020203" pitchFamily="34" charset="-122"/>
                <a:ea typeface="微软雅黑 Light" panose="020B0502040204020203" pitchFamily="34" charset="-122"/>
              </a:rPr>
              <a:t>交叉熵损失函数：</a:t>
            </a:r>
          </a:p>
        </p:txBody>
      </p:sp>
      <p:sp>
        <p:nvSpPr>
          <p:cNvPr id="11" name="矩形 10"/>
          <p:cNvSpPr/>
          <p:nvPr/>
        </p:nvSpPr>
        <p:spPr>
          <a:xfrm>
            <a:off x="650986" y="4533553"/>
            <a:ext cx="7093609" cy="369332"/>
          </a:xfrm>
          <a:prstGeom prst="rect">
            <a:avLst/>
          </a:prstGeom>
        </p:spPr>
        <p:txBody>
          <a:bodyPr wrap="none">
            <a:spAutoFit/>
          </a:bodyPr>
          <a:lstStyle/>
          <a:p>
            <a:pPr marL="285750" indent="-285750">
              <a:buFont typeface="Wingdings" panose="05000000000000000000" pitchFamily="2" charset="2"/>
              <a:buChar char="Ø"/>
            </a:pPr>
            <a:r>
              <a:rPr lang="zh-CN" altLang="en-US" dirty="0">
                <a:solidFill>
                  <a:srgbClr val="555555"/>
                </a:solidFill>
                <a:latin typeface="微软雅黑 Light" panose="020B0502040204020203" pitchFamily="34" charset="-122"/>
                <a:ea typeface="微软雅黑 Light" panose="020B0502040204020203" pitchFamily="34" charset="-122"/>
              </a:rPr>
              <a:t>以二分类为例，则使用</a:t>
            </a:r>
            <a:r>
              <a:rPr lang="en-US" altLang="zh-CN" dirty="0">
                <a:solidFill>
                  <a:srgbClr val="555555"/>
                </a:solidFill>
                <a:latin typeface="微软雅黑 Light" panose="020B0502040204020203" pitchFamily="34" charset="-122"/>
                <a:ea typeface="微软雅黑 Light" panose="020B0502040204020203" pitchFamily="34" charset="-122"/>
              </a:rPr>
              <a:t>Sigmoid</a:t>
            </a:r>
            <a:r>
              <a:rPr lang="zh-CN" altLang="en-US" dirty="0">
                <a:solidFill>
                  <a:srgbClr val="555555"/>
                </a:solidFill>
                <a:latin typeface="微软雅黑 Light" panose="020B0502040204020203" pitchFamily="34" charset="-122"/>
                <a:ea typeface="微软雅黑 Light" panose="020B0502040204020203" pitchFamily="34" charset="-122"/>
              </a:rPr>
              <a:t>激活函数时的交叉熵损失函数为：</a:t>
            </a:r>
          </a:p>
        </p:txBody>
      </p:sp>
      <mc:AlternateContent xmlns:mc="http://schemas.openxmlformats.org/markup-compatibility/2006" xmlns:a14="http://schemas.microsoft.com/office/drawing/2010/main">
        <mc:Choice Requires="a14">
          <p:sp>
            <p:nvSpPr>
              <p:cNvPr id="12" name="矩形 11"/>
              <p:cNvSpPr/>
              <p:nvPr/>
            </p:nvSpPr>
            <p:spPr>
              <a:xfrm>
                <a:off x="2430126" y="2686864"/>
                <a:ext cx="5722496" cy="110068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ea typeface="微软雅黑" panose="020B0503020204020204" pitchFamily="34" charset="-122"/>
                        </a:rPr>
                        <m:t>𝐿</m:t>
                      </m:r>
                      <m:r>
                        <a:rPr lang="en-US" altLang="zh-CN" i="1" smtClean="0">
                          <a:solidFill>
                            <a:srgbClr val="000000"/>
                          </a:solidFill>
                          <a:latin typeface="Cambria Math" panose="02040503050406030204" pitchFamily="18" charset="0"/>
                          <a:ea typeface="微软雅黑" panose="020B0503020204020204" pitchFamily="34" charset="-122"/>
                        </a:rPr>
                        <m:t>=−</m:t>
                      </m:r>
                      <m:f>
                        <m:fPr>
                          <m:ctrlPr>
                            <a:rPr lang="en-US" altLang="zh-CN" b="0" i="1" smtClean="0">
                              <a:solidFill>
                                <a:srgbClr val="000000"/>
                              </a:solidFill>
                              <a:latin typeface="Cambria Math" panose="02040503050406030204" pitchFamily="18" charset="0"/>
                              <a:ea typeface="微软雅黑" panose="020B0503020204020204" pitchFamily="34" charset="-122"/>
                            </a:rPr>
                          </m:ctrlPr>
                        </m:fPr>
                        <m:num>
                          <m:r>
                            <a:rPr lang="en-US" altLang="zh-CN" b="0" i="1" smtClean="0">
                              <a:solidFill>
                                <a:srgbClr val="000000"/>
                              </a:solidFill>
                              <a:latin typeface="Cambria Math" panose="02040503050406030204" pitchFamily="18" charset="0"/>
                              <a:ea typeface="微软雅黑" panose="020B0503020204020204" pitchFamily="34" charset="-122"/>
                            </a:rPr>
                            <m:t>1</m:t>
                          </m:r>
                        </m:num>
                        <m:den>
                          <m:r>
                            <a:rPr lang="en-US" altLang="zh-CN" b="0" i="1" smtClean="0">
                              <a:solidFill>
                                <a:srgbClr val="000000"/>
                              </a:solidFill>
                              <a:latin typeface="Cambria Math" panose="02040503050406030204" pitchFamily="18" charset="0"/>
                              <a:ea typeface="微软雅黑" panose="020B0503020204020204" pitchFamily="34" charset="-122"/>
                            </a:rPr>
                            <m:t>𝑚</m:t>
                          </m:r>
                        </m:den>
                      </m:f>
                      <m:nary>
                        <m:naryPr>
                          <m:chr m:val="∑"/>
                          <m:supHide m:val="on"/>
                          <m:ctrlPr>
                            <a:rPr lang="en-US" altLang="zh-CN" b="0" i="1" smtClean="0">
                              <a:solidFill>
                                <a:srgbClr val="000000"/>
                              </a:solidFill>
                              <a:latin typeface="Cambria Math" panose="02040503050406030204" pitchFamily="18" charset="0"/>
                              <a:ea typeface="微软雅黑" panose="020B0503020204020204" pitchFamily="34" charset="-122"/>
                            </a:rPr>
                          </m:ctrlPr>
                        </m:naryPr>
                        <m:sub>
                          <m:r>
                            <a:rPr lang="en-US" altLang="zh-CN" b="1" i="1" smtClean="0">
                              <a:solidFill>
                                <a:srgbClr val="000000"/>
                              </a:solidFill>
                              <a:latin typeface="Cambria Math" panose="02040503050406030204" pitchFamily="18" charset="0"/>
                              <a:ea typeface="微软雅黑" panose="020B0503020204020204" pitchFamily="34" charset="-122"/>
                            </a:rPr>
                            <m:t>𝒙</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𝐷</m:t>
                          </m:r>
                        </m:sub>
                        <m:sup/>
                        <m:e>
                          <m:nary>
                            <m:naryPr>
                              <m:chr m:val="∑"/>
                              <m:supHide m:val="on"/>
                              <m:ctrlPr>
                                <a:rPr lang="en-US" altLang="zh-CN" i="1">
                                  <a:solidFill>
                                    <a:srgbClr val="000000"/>
                                  </a:solidFill>
                                  <a:latin typeface="Cambria Math" panose="02040503050406030204" pitchFamily="18" charset="0"/>
                                  <a:ea typeface="微软雅黑" panose="020B0503020204020204" pitchFamily="34" charset="-122"/>
                                </a:rPr>
                              </m:ctrlPr>
                            </m:naryPr>
                            <m:sub>
                              <m:r>
                                <m:rPr>
                                  <m:brk m:alnAt="7"/>
                                </m:rPr>
                                <a:rPr lang="en-US" altLang="zh-CN" i="1">
                                  <a:solidFill>
                                    <a:srgbClr val="000000"/>
                                  </a:solidFill>
                                  <a:latin typeface="Cambria Math" panose="02040503050406030204" pitchFamily="18" charset="0"/>
                                  <a:ea typeface="微软雅黑" panose="020B0503020204020204" pitchFamily="34" charset="-122"/>
                                </a:rPr>
                                <m:t>𝑖</m:t>
                              </m:r>
                            </m:sub>
                            <m:sup/>
                            <m:e>
                              <m:sSub>
                                <m:sSubPr>
                                  <m:ctrlPr>
                                    <a:rPr lang="en-US" altLang="zh-CN" i="1">
                                      <a:solidFill>
                                        <a:srgbClr val="000000"/>
                                      </a:solidFill>
                                      <a:latin typeface="Cambria Math" panose="02040503050406030204" pitchFamily="18" charset="0"/>
                                      <a:ea typeface="微软雅黑" panose="020B0503020204020204" pitchFamily="34" charset="-122"/>
                                    </a:rPr>
                                  </m:ctrlPr>
                                </m:sSubPr>
                                <m:e>
                                  <m:r>
                                    <a:rPr lang="en-US" altLang="zh-CN" i="1">
                                      <a:solidFill>
                                        <a:srgbClr val="000000"/>
                                      </a:solidFill>
                                      <a:latin typeface="Cambria Math" panose="02040503050406030204" pitchFamily="18" charset="0"/>
                                      <a:ea typeface="微软雅黑" panose="020B0503020204020204" pitchFamily="34" charset="-122"/>
                                    </a:rPr>
                                    <m:t>𝑦</m:t>
                                  </m:r>
                                </m:e>
                                <m:sub>
                                  <m:r>
                                    <a:rPr lang="en-US" altLang="zh-CN" i="1">
                                      <a:solidFill>
                                        <a:srgbClr val="000000"/>
                                      </a:solidFill>
                                      <a:latin typeface="Cambria Math" panose="02040503050406030204" pitchFamily="18" charset="0"/>
                                      <a:ea typeface="微软雅黑" panose="020B0503020204020204" pitchFamily="34" charset="-122"/>
                                    </a:rPr>
                                    <m:t>𝑖</m:t>
                                  </m:r>
                                </m:sub>
                              </m:sSub>
                              <m:func>
                                <m:funcPr>
                                  <m:ctrlPr>
                                    <a:rPr lang="en-US" altLang="zh-CN" i="1">
                                      <a:solidFill>
                                        <a:srgbClr val="000000"/>
                                      </a:solidFill>
                                      <a:latin typeface="Cambria Math" panose="02040503050406030204" pitchFamily="18" charset="0"/>
                                      <a:ea typeface="微软雅黑" panose="020B0503020204020204" pitchFamily="34" charset="-122"/>
                                    </a:rPr>
                                  </m:ctrlPr>
                                </m:funcPr>
                                <m:fName>
                                  <m:r>
                                    <m:rPr>
                                      <m:sty m:val="p"/>
                                    </m:rPr>
                                    <a:rPr lang="en-US" altLang="zh-CN">
                                      <a:solidFill>
                                        <a:srgbClr val="000000"/>
                                      </a:solidFill>
                                      <a:latin typeface="Cambria Math" panose="02040503050406030204" pitchFamily="18" charset="0"/>
                                      <a:ea typeface="微软雅黑" panose="020B0503020204020204" pitchFamily="34" charset="-122"/>
                                    </a:rPr>
                                    <m:t>l</m:t>
                                  </m:r>
                                  <m:r>
                                    <m:rPr>
                                      <m:sty m:val="p"/>
                                    </m:rPr>
                                    <a:rPr lang="en-US" altLang="zh-CN" i="1">
                                      <a:solidFill>
                                        <a:srgbClr val="000000"/>
                                      </a:solidFill>
                                      <a:latin typeface="Cambria Math" panose="02040503050406030204" pitchFamily="18" charset="0"/>
                                      <a:ea typeface="微软雅黑" panose="020B0503020204020204" pitchFamily="34" charset="-122"/>
                                    </a:rPr>
                                    <m:t>n</m:t>
                                  </m:r>
                                </m:fName>
                                <m:e>
                                  <m:d>
                                    <m:dPr>
                                      <m:ctrlPr>
                                        <a:rPr lang="en-US" altLang="zh-CN" i="1">
                                          <a:solidFill>
                                            <a:srgbClr val="000000"/>
                                          </a:solidFill>
                                          <a:latin typeface="Cambria Math" panose="02040503050406030204" pitchFamily="18" charset="0"/>
                                          <a:ea typeface="微软雅黑" panose="020B0503020204020204" pitchFamily="34" charset="-122"/>
                                        </a:rPr>
                                      </m:ctrlPr>
                                    </m:dPr>
                                    <m:e>
                                      <m:sSub>
                                        <m:sSubPr>
                                          <m:ctrlPr>
                                            <a:rPr lang="en-US" altLang="zh-CN" i="1">
                                              <a:solidFill>
                                                <a:srgbClr val="000000"/>
                                              </a:solidFill>
                                              <a:latin typeface="Cambria Math" panose="02040503050406030204" pitchFamily="18" charset="0"/>
                                              <a:ea typeface="微软雅黑" panose="020B0503020204020204" pitchFamily="34" charset="-122"/>
                                            </a:rPr>
                                          </m:ctrlPr>
                                        </m:sSub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sub>
                                          <m:r>
                                            <a:rPr lang="en-US" altLang="zh-CN" i="1">
                                              <a:solidFill>
                                                <a:srgbClr val="000000"/>
                                              </a:solidFill>
                                              <a:latin typeface="Cambria Math" panose="02040503050406030204" pitchFamily="18" charset="0"/>
                                              <a:ea typeface="微软雅黑" panose="020B0503020204020204" pitchFamily="34" charset="-122"/>
                                            </a:rPr>
                                            <m:t>𝑖</m:t>
                                          </m:r>
                                        </m:sub>
                                      </m:sSub>
                                    </m:e>
                                  </m:d>
                                </m:e>
                              </m:func>
                            </m:e>
                          </m:nary>
                        </m:e>
                      </m:nary>
                    </m:oMath>
                  </m:oMathPara>
                </a14:m>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2430126" y="2686864"/>
                <a:ext cx="5722496" cy="1100686"/>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804388" y="3833516"/>
                <a:ext cx="5348233" cy="370935"/>
              </a:xfrm>
              <a:prstGeom prst="rect">
                <a:avLst/>
              </a:prstGeom>
            </p:spPr>
            <p:txBody>
              <a:bodyPr wrap="square">
                <a:spAutoFit/>
              </a:bodyPr>
              <a:lstStyle/>
              <a:p>
                <a:r>
                  <a:rPr lang="zh-CN" altLang="en-US" dirty="0">
                    <a:solidFill>
                      <a:srgbClr val="555555"/>
                    </a:solidFill>
                    <a:ea typeface="微软雅黑 Light" panose="020B0502040204020203" pitchFamily="34" charset="-122"/>
                  </a:rPr>
                  <a:t>其中，</a:t>
                </a:r>
                <a:r>
                  <a:rPr lang="en-US" altLang="zh-CN" dirty="0">
                    <a:solidFill>
                      <a:srgbClr val="000000"/>
                    </a:solidFill>
                    <a:ea typeface="微软雅黑" panose="020B0503020204020204" pitchFamily="34" charset="-122"/>
                  </a:rPr>
                  <a:t> </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rPr>
                      <m:t>𝑚</m:t>
                    </m:r>
                  </m:oMath>
                </a14:m>
                <a:r>
                  <a:rPr lang="en-US" altLang="zh-CN" b="0" dirty="0">
                    <a:solidFill>
                      <a:srgbClr val="555555"/>
                    </a:solidFill>
                    <a:ea typeface="微软雅黑 Light" panose="020B0502040204020203" pitchFamily="34" charset="-122"/>
                  </a:rPr>
                  <a:t> </a:t>
                </a:r>
                <a:r>
                  <a:rPr lang="zh-CN" altLang="en-US" dirty="0">
                    <a:solidFill>
                      <a:srgbClr val="555555"/>
                    </a:solidFill>
                    <a:ea typeface="微软雅黑 Light" panose="020B0502040204020203" pitchFamily="34" charset="-122"/>
                  </a:rPr>
                  <a:t>为</a:t>
                </a:r>
                <a14:m>
                  <m:oMath xmlns:m="http://schemas.openxmlformats.org/officeDocument/2006/math">
                    <m:r>
                      <a:rPr lang="zh-CN" altLang="en-US" i="1" dirty="0">
                        <a:solidFill>
                          <a:srgbClr val="555555"/>
                        </a:solidFill>
                        <a:latin typeface="Cambria Math" panose="02040503050406030204" pitchFamily="18" charset="0"/>
                        <a:ea typeface="微软雅黑" panose="020B0503020204020204" pitchFamily="34" charset="-122"/>
                      </a:rPr>
                      <m:t>训练</m:t>
                    </m:r>
                    <m:r>
                      <a:rPr lang="zh-CN" altLang="en-US" i="1">
                        <a:solidFill>
                          <a:srgbClr val="555555"/>
                        </a:solidFill>
                        <a:latin typeface="Cambria Math" panose="02040503050406030204" pitchFamily="18" charset="0"/>
                        <a:ea typeface="微软雅黑" panose="020B0503020204020204" pitchFamily="34" charset="-122"/>
                      </a:rPr>
                      <m:t>样本</m:t>
                    </m:r>
                    <m:r>
                      <a:rPr lang="zh-CN" altLang="en-US" b="0" i="1" smtClean="0">
                        <a:solidFill>
                          <a:srgbClr val="555555"/>
                        </a:solidFill>
                        <a:latin typeface="Cambria Math" panose="02040503050406030204" pitchFamily="18" charset="0"/>
                        <a:ea typeface="微软雅黑" panose="020B0503020204020204" pitchFamily="34" charset="-122"/>
                      </a:rPr>
                      <m:t>的总</m:t>
                    </m:r>
                    <m:r>
                      <a:rPr lang="zh-CN" altLang="en-US" i="1" smtClean="0">
                        <a:solidFill>
                          <a:srgbClr val="555555"/>
                        </a:solidFill>
                        <a:latin typeface="Cambria Math" panose="02040503050406030204" pitchFamily="18" charset="0"/>
                        <a:ea typeface="微软雅黑" panose="020B0503020204020204" pitchFamily="34" charset="-122"/>
                      </a:rPr>
                      <m:t>数量</m:t>
                    </m:r>
                    <m:r>
                      <a:rPr lang="zh-CN" altLang="en-US" b="0" i="1" smtClean="0">
                        <a:solidFill>
                          <a:srgbClr val="555555"/>
                        </a:solidFill>
                        <a:latin typeface="Cambria Math" panose="02040503050406030204" pitchFamily="18" charset="0"/>
                        <a:ea typeface="微软雅黑" panose="020B0503020204020204" pitchFamily="34" charset="-122"/>
                      </a:rPr>
                      <m:t>，</m:t>
                    </m:r>
                    <m:r>
                      <a:rPr lang="en-US" altLang="zh-CN" b="0" i="1" smtClean="0">
                        <a:solidFill>
                          <a:srgbClr val="555555"/>
                        </a:solidFill>
                        <a:latin typeface="Cambria Math" panose="02040503050406030204" pitchFamily="18" charset="0"/>
                        <a:ea typeface="微软雅黑" panose="020B0503020204020204" pitchFamily="34" charset="-122"/>
                      </a:rPr>
                      <m:t>𝑖</m:t>
                    </m:r>
                    <m:r>
                      <a:rPr lang="en-US" altLang="zh-CN" b="0" i="1" smtClean="0">
                        <a:solidFill>
                          <a:srgbClr val="555555"/>
                        </a:solidFill>
                        <a:latin typeface="Cambria Math" panose="02040503050406030204" pitchFamily="18" charset="0"/>
                        <a:ea typeface="微软雅黑" panose="020B0503020204020204" pitchFamily="34" charset="-122"/>
                      </a:rPr>
                      <m:t> </m:t>
                    </m:r>
                  </m:oMath>
                </a14:m>
                <a:r>
                  <a:rPr lang="zh-CN" altLang="en-US" dirty="0">
                    <a:solidFill>
                      <a:srgbClr val="555555"/>
                    </a:solidFill>
                    <a:latin typeface="微软雅黑 Light" panose="020B0502040204020203" pitchFamily="34" charset="-122"/>
                    <a:ea typeface="微软雅黑 Light" panose="020B0502040204020203" pitchFamily="34" charset="-122"/>
                  </a:rPr>
                  <a:t>为分类类别</a:t>
                </a:r>
              </a:p>
            </p:txBody>
          </p:sp>
        </mc:Choice>
        <mc:Fallback xmlns="">
          <p:sp>
            <p:nvSpPr>
              <p:cNvPr id="13" name="矩形 12"/>
              <p:cNvSpPr>
                <a:spLocks noRot="1" noChangeAspect="1" noMove="1" noResize="1" noEditPoints="1" noAdjustHandles="1" noChangeArrowheads="1" noChangeShapeType="1" noTextEdit="1"/>
              </p:cNvSpPr>
              <p:nvPr/>
            </p:nvSpPr>
            <p:spPr>
              <a:xfrm>
                <a:off x="2804388" y="3833516"/>
                <a:ext cx="5348233" cy="370935"/>
              </a:xfrm>
              <a:prstGeom prst="rect">
                <a:avLst/>
              </a:prstGeom>
              <a:blipFill rotWithShape="0">
                <a:blip r:embed="rId6"/>
                <a:stretch>
                  <a:fillRect l="-912" t="-9836"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534885" y="4652613"/>
                <a:ext cx="5577015" cy="110062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ea typeface="微软雅黑" panose="020B0503020204020204" pitchFamily="34" charset="-122"/>
                        </a:rPr>
                        <m:t>𝐿</m:t>
                      </m:r>
                      <m:r>
                        <a:rPr lang="en-US" altLang="zh-CN" i="1" smtClean="0">
                          <a:solidFill>
                            <a:srgbClr val="000000"/>
                          </a:solidFill>
                          <a:latin typeface="Cambria Math" panose="02040503050406030204" pitchFamily="18" charset="0"/>
                          <a:ea typeface="微软雅黑" panose="020B0503020204020204" pitchFamily="34" charset="-122"/>
                        </a:rPr>
                        <m:t>=−</m:t>
                      </m:r>
                      <m:f>
                        <m:fPr>
                          <m:ctrlPr>
                            <a:rPr lang="en-US" altLang="zh-CN" b="0" i="1" smtClean="0">
                              <a:solidFill>
                                <a:srgbClr val="000000"/>
                              </a:solidFill>
                              <a:latin typeface="Cambria Math" panose="02040503050406030204" pitchFamily="18" charset="0"/>
                              <a:ea typeface="微软雅黑" panose="020B0503020204020204" pitchFamily="34" charset="-122"/>
                            </a:rPr>
                          </m:ctrlPr>
                        </m:fPr>
                        <m:num>
                          <m:r>
                            <a:rPr lang="en-US" altLang="zh-CN" b="0" i="1" smtClean="0">
                              <a:solidFill>
                                <a:srgbClr val="000000"/>
                              </a:solidFill>
                              <a:latin typeface="Cambria Math" panose="02040503050406030204" pitchFamily="18" charset="0"/>
                              <a:ea typeface="微软雅黑" panose="020B0503020204020204" pitchFamily="34" charset="-122"/>
                            </a:rPr>
                            <m:t>1</m:t>
                          </m:r>
                        </m:num>
                        <m:den>
                          <m:r>
                            <a:rPr lang="en-US" altLang="zh-CN" b="0" i="1" smtClean="0">
                              <a:solidFill>
                                <a:srgbClr val="000000"/>
                              </a:solidFill>
                              <a:latin typeface="Cambria Math" panose="02040503050406030204" pitchFamily="18" charset="0"/>
                              <a:ea typeface="微软雅黑" panose="020B0503020204020204" pitchFamily="34" charset="-122"/>
                            </a:rPr>
                            <m:t>𝑚</m:t>
                          </m:r>
                        </m:den>
                      </m:f>
                      <m:nary>
                        <m:naryPr>
                          <m:chr m:val="∑"/>
                          <m:supHide m:val="on"/>
                          <m:ctrlPr>
                            <a:rPr lang="en-US" altLang="zh-CN" b="0" i="1" smtClean="0">
                              <a:solidFill>
                                <a:srgbClr val="000000"/>
                              </a:solidFill>
                              <a:latin typeface="Cambria Math" panose="02040503050406030204" pitchFamily="18" charset="0"/>
                              <a:ea typeface="微软雅黑" panose="020B0503020204020204" pitchFamily="34" charset="-122"/>
                            </a:rPr>
                          </m:ctrlPr>
                        </m:naryPr>
                        <m:sub>
                          <m:r>
                            <a:rPr lang="en-US" altLang="zh-CN" b="1" i="1">
                              <a:solidFill>
                                <a:srgbClr val="000000"/>
                              </a:solidFill>
                              <a:latin typeface="Cambria Math" panose="02040503050406030204" pitchFamily="18" charset="0"/>
                              <a:ea typeface="微软雅黑" panose="020B0503020204020204" pitchFamily="34" charset="-122"/>
                            </a:rPr>
                            <m:t>𝒙</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𝐷</m:t>
                          </m:r>
                        </m:sub>
                        <m:sup/>
                        <m:e>
                          <m:r>
                            <a:rPr lang="en-US" altLang="zh-CN" b="0"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𝑦</m:t>
                          </m:r>
                          <m:func>
                            <m:funcPr>
                              <m:ctrlPr>
                                <a:rPr lang="en-US" altLang="zh-CN" i="1">
                                  <a:solidFill>
                                    <a:srgbClr val="000000"/>
                                  </a:solidFill>
                                  <a:latin typeface="Cambria Math" panose="02040503050406030204" pitchFamily="18" charset="0"/>
                                  <a:ea typeface="微软雅黑" panose="020B0503020204020204" pitchFamily="34" charset="-122"/>
                                </a:rPr>
                              </m:ctrlPr>
                            </m:funcPr>
                            <m:fName>
                              <m:r>
                                <m:rPr>
                                  <m:sty m:val="p"/>
                                </m:rPr>
                                <a:rPr lang="en-US" altLang="zh-CN">
                                  <a:solidFill>
                                    <a:srgbClr val="000000"/>
                                  </a:solidFill>
                                  <a:latin typeface="Cambria Math" panose="02040503050406030204" pitchFamily="18" charset="0"/>
                                  <a:ea typeface="微软雅黑" panose="020B0503020204020204" pitchFamily="34" charset="-122"/>
                                </a:rPr>
                                <m:t>l</m:t>
                              </m:r>
                              <m:r>
                                <m:rPr>
                                  <m:sty m:val="p"/>
                                </m:rPr>
                                <a:rPr lang="en-US" altLang="zh-CN" i="1">
                                  <a:solidFill>
                                    <a:srgbClr val="000000"/>
                                  </a:solidFill>
                                  <a:latin typeface="Cambria Math" panose="02040503050406030204" pitchFamily="18" charset="0"/>
                                  <a:ea typeface="微软雅黑" panose="020B0503020204020204" pitchFamily="34" charset="-122"/>
                                </a:rPr>
                                <m:t>n</m:t>
                              </m:r>
                            </m:fName>
                            <m:e>
                              <m:d>
                                <m:dPr>
                                  <m:ctrlPr>
                                    <a:rPr lang="en-US" altLang="zh-CN" i="1">
                                      <a:solidFill>
                                        <a:srgbClr val="000000"/>
                                      </a:solidFill>
                                      <a:latin typeface="Cambria Math" panose="02040503050406030204" pitchFamily="18" charset="0"/>
                                      <a:ea typeface="微软雅黑" panose="020B0503020204020204" pitchFamily="34" charset="-122"/>
                                    </a:rPr>
                                  </m:ctrlPr>
                                </m:d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d>
                            </m:e>
                          </m:func>
                        </m:e>
                      </m:nary>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(1−</m:t>
                      </m:r>
                      <m:r>
                        <a:rPr lang="en-US" altLang="zh-CN" i="1">
                          <a:solidFill>
                            <a:srgbClr val="000000"/>
                          </a:solidFill>
                          <a:latin typeface="Cambria Math" panose="02040503050406030204" pitchFamily="18" charset="0"/>
                          <a:ea typeface="微软雅黑" panose="020B0503020204020204" pitchFamily="34" charset="-122"/>
                        </a:rPr>
                        <m:t>𝑦</m:t>
                      </m:r>
                      <m:r>
                        <a:rPr lang="en-US" altLang="zh-CN" b="0" i="1" smtClean="0">
                          <a:solidFill>
                            <a:srgbClr val="000000"/>
                          </a:solidFill>
                          <a:latin typeface="Cambria Math" panose="02040503050406030204" pitchFamily="18" charset="0"/>
                          <a:ea typeface="微软雅黑" panose="020B0503020204020204" pitchFamily="34" charset="-122"/>
                        </a:rPr>
                        <m:t>)</m:t>
                      </m:r>
                      <m:func>
                        <m:funcPr>
                          <m:ctrlPr>
                            <a:rPr lang="en-US" altLang="zh-CN" i="1">
                              <a:solidFill>
                                <a:srgbClr val="000000"/>
                              </a:solidFill>
                              <a:latin typeface="Cambria Math" panose="02040503050406030204" pitchFamily="18" charset="0"/>
                              <a:ea typeface="微软雅黑" panose="020B0503020204020204" pitchFamily="34" charset="-122"/>
                            </a:rPr>
                          </m:ctrlPr>
                        </m:funcPr>
                        <m:fName>
                          <m:r>
                            <m:rPr>
                              <m:sty m:val="p"/>
                            </m:rPr>
                            <a:rPr lang="en-US" altLang="zh-CN">
                              <a:solidFill>
                                <a:srgbClr val="000000"/>
                              </a:solidFill>
                              <a:latin typeface="Cambria Math" panose="02040503050406030204" pitchFamily="18" charset="0"/>
                              <a:ea typeface="微软雅黑" panose="020B0503020204020204" pitchFamily="34" charset="-122"/>
                            </a:rPr>
                            <m:t>l</m:t>
                          </m:r>
                          <m:r>
                            <m:rPr>
                              <m:sty m:val="p"/>
                            </m:rPr>
                            <a:rPr lang="en-US" altLang="zh-CN" i="1">
                              <a:solidFill>
                                <a:srgbClr val="000000"/>
                              </a:solidFill>
                              <a:latin typeface="Cambria Math" panose="02040503050406030204" pitchFamily="18" charset="0"/>
                              <a:ea typeface="微软雅黑" panose="020B0503020204020204" pitchFamily="34" charset="-122"/>
                            </a:rPr>
                            <m:t>n</m:t>
                          </m:r>
                        </m:fName>
                        <m:e>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b="0" i="1" smtClean="0">
                                  <a:solidFill>
                                    <a:srgbClr val="000000"/>
                                  </a:solidFill>
                                  <a:latin typeface="Cambria Math" panose="02040503050406030204" pitchFamily="18" charset="0"/>
                                  <a:ea typeface="微软雅黑" panose="020B0503020204020204" pitchFamily="34" charset="-122"/>
                                </a:rPr>
                                <m:t>1−</m:t>
                              </m:r>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d>
                        </m:e>
                      </m:func>
                      <m:r>
                        <a:rPr lang="en-US" altLang="zh-CN" b="0" i="1" smtClean="0">
                          <a:solidFill>
                            <a:srgbClr val="000000"/>
                          </a:solidFill>
                          <a:latin typeface="Cambria Math" panose="02040503050406030204" pitchFamily="18" charset="0"/>
                          <a:ea typeface="微软雅黑" panose="020B0503020204020204" pitchFamily="34" charset="-122"/>
                        </a:rPr>
                        <m:t>)</m:t>
                      </m:r>
                    </m:oMath>
                  </m:oMathPara>
                </a14:m>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14" name="矩形 13"/>
              <p:cNvSpPr>
                <a:spLocks noRot="1" noChangeAspect="1" noMove="1" noResize="1" noEditPoints="1" noAdjustHandles="1" noChangeArrowheads="1" noChangeShapeType="1" noTextEdit="1"/>
              </p:cNvSpPr>
              <p:nvPr/>
            </p:nvSpPr>
            <p:spPr>
              <a:xfrm>
                <a:off x="1534885" y="4652613"/>
                <a:ext cx="5577015" cy="1100622"/>
              </a:xfrm>
              <a:prstGeom prst="rect">
                <a:avLst/>
              </a:prstGeom>
              <a:blipFill rotWithShape="0">
                <a:blip r:embed="rId7"/>
                <a:stretch>
                  <a:fillRect/>
                </a:stretch>
              </a:blipFill>
            </p:spPr>
            <p:txBody>
              <a:bodyPr/>
              <a:lstStyle/>
              <a:p>
                <a:r>
                  <a:rPr lang="zh-CN" altLang="en-US">
                    <a:noFill/>
                  </a:rPr>
                  <a:t> </a:t>
                </a:r>
              </a:p>
            </p:txBody>
          </p:sp>
        </mc:Fallback>
      </mc:AlternateContent>
      <p:sp>
        <p:nvSpPr>
          <p:cNvPr id="19" name="灯片编号占位符 8">
            <a:extLst>
              <a:ext uri="{FF2B5EF4-FFF2-40B4-BE49-F238E27FC236}">
                <a16:creationId xmlns:a16="http://schemas.microsoft.com/office/drawing/2014/main" id="{FF081484-1EB1-4C9F-BAD5-F100D84FBC95}"/>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56</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2888289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交叉熵损失函数</a:t>
            </a:r>
            <a:endParaRPr lang="en-US" altLang="zh-CN" sz="2600" b="1" dirty="0"/>
          </a:p>
        </p:txBody>
      </p:sp>
      <p:sp>
        <p:nvSpPr>
          <p:cNvPr id="8" name="矩形 7"/>
          <p:cNvSpPr/>
          <p:nvPr/>
        </p:nvSpPr>
        <p:spPr>
          <a:xfrm>
            <a:off x="1298379" y="1377099"/>
            <a:ext cx="7093609" cy="369332"/>
          </a:xfrm>
          <a:prstGeom prst="rect">
            <a:avLst/>
          </a:prstGeom>
        </p:spPr>
        <p:txBody>
          <a:bodyPr wrap="none">
            <a:spAutoFit/>
          </a:bodyPr>
          <a:lstStyle/>
          <a:p>
            <a:pPr marL="285750" indent="-285750">
              <a:buFont typeface="Wingdings" panose="05000000000000000000" pitchFamily="2" charset="2"/>
              <a:buChar char="Ø"/>
            </a:pPr>
            <a:r>
              <a:rPr lang="zh-CN" altLang="en-US" dirty="0">
                <a:solidFill>
                  <a:srgbClr val="555555"/>
                </a:solidFill>
                <a:latin typeface="微软雅黑 Light" panose="020B0502040204020203" pitchFamily="34" charset="-122"/>
                <a:ea typeface="微软雅黑 Light" panose="020B0502040204020203" pitchFamily="34" charset="-122"/>
              </a:rPr>
              <a:t>以二分类为例，则使用</a:t>
            </a:r>
            <a:r>
              <a:rPr lang="en-US" altLang="zh-CN" dirty="0">
                <a:solidFill>
                  <a:srgbClr val="555555"/>
                </a:solidFill>
                <a:latin typeface="微软雅黑 Light" panose="020B0502040204020203" pitchFamily="34" charset="-122"/>
                <a:ea typeface="微软雅黑 Light" panose="020B0502040204020203" pitchFamily="34" charset="-122"/>
              </a:rPr>
              <a:t>Sigmoid</a:t>
            </a:r>
            <a:r>
              <a:rPr lang="zh-CN" altLang="en-US" dirty="0">
                <a:solidFill>
                  <a:srgbClr val="555555"/>
                </a:solidFill>
                <a:latin typeface="微软雅黑 Light" panose="020B0502040204020203" pitchFamily="34" charset="-122"/>
                <a:ea typeface="微软雅黑 Light" panose="020B0502040204020203" pitchFamily="34" charset="-122"/>
              </a:rPr>
              <a:t>激活函数时的交叉熵损失函数为：</a:t>
            </a:r>
          </a:p>
        </p:txBody>
      </p:sp>
      <mc:AlternateContent xmlns:mc="http://schemas.openxmlformats.org/markup-compatibility/2006" xmlns:a14="http://schemas.microsoft.com/office/drawing/2010/main">
        <mc:Choice Requires="a14">
          <p:sp>
            <p:nvSpPr>
              <p:cNvPr id="9" name="矩形 8"/>
              <p:cNvSpPr/>
              <p:nvPr/>
            </p:nvSpPr>
            <p:spPr>
              <a:xfrm>
                <a:off x="2240151" y="1561765"/>
                <a:ext cx="5577015" cy="110062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ea typeface="微软雅黑" panose="020B0503020204020204" pitchFamily="34" charset="-122"/>
                        </a:rPr>
                        <m:t>𝐿</m:t>
                      </m:r>
                      <m:r>
                        <a:rPr lang="en-US" altLang="zh-CN" i="1" smtClean="0">
                          <a:solidFill>
                            <a:srgbClr val="000000"/>
                          </a:solidFill>
                          <a:latin typeface="Cambria Math" panose="02040503050406030204" pitchFamily="18" charset="0"/>
                          <a:ea typeface="微软雅黑" panose="020B0503020204020204" pitchFamily="34" charset="-122"/>
                        </a:rPr>
                        <m:t>=−</m:t>
                      </m:r>
                      <m:f>
                        <m:fPr>
                          <m:ctrlPr>
                            <a:rPr lang="en-US" altLang="zh-CN" b="0" i="1" smtClean="0">
                              <a:solidFill>
                                <a:srgbClr val="000000"/>
                              </a:solidFill>
                              <a:latin typeface="Cambria Math" panose="02040503050406030204" pitchFamily="18" charset="0"/>
                              <a:ea typeface="微软雅黑" panose="020B0503020204020204" pitchFamily="34" charset="-122"/>
                            </a:rPr>
                          </m:ctrlPr>
                        </m:fPr>
                        <m:num>
                          <m:r>
                            <a:rPr lang="en-US" altLang="zh-CN" b="0" i="1" smtClean="0">
                              <a:solidFill>
                                <a:srgbClr val="000000"/>
                              </a:solidFill>
                              <a:latin typeface="Cambria Math" panose="02040503050406030204" pitchFamily="18" charset="0"/>
                              <a:ea typeface="微软雅黑" panose="020B0503020204020204" pitchFamily="34" charset="-122"/>
                            </a:rPr>
                            <m:t>1</m:t>
                          </m:r>
                        </m:num>
                        <m:den>
                          <m:r>
                            <a:rPr lang="en-US" altLang="zh-CN" b="0" i="1" smtClean="0">
                              <a:solidFill>
                                <a:srgbClr val="000000"/>
                              </a:solidFill>
                              <a:latin typeface="Cambria Math" panose="02040503050406030204" pitchFamily="18" charset="0"/>
                              <a:ea typeface="微软雅黑" panose="020B0503020204020204" pitchFamily="34" charset="-122"/>
                            </a:rPr>
                            <m:t>𝑚</m:t>
                          </m:r>
                        </m:den>
                      </m:f>
                      <m:nary>
                        <m:naryPr>
                          <m:chr m:val="∑"/>
                          <m:supHide m:val="on"/>
                          <m:ctrlPr>
                            <a:rPr lang="en-US" altLang="zh-CN" b="0" i="1" smtClean="0">
                              <a:solidFill>
                                <a:srgbClr val="000000"/>
                              </a:solidFill>
                              <a:latin typeface="Cambria Math" panose="02040503050406030204" pitchFamily="18" charset="0"/>
                              <a:ea typeface="微软雅黑" panose="020B0503020204020204" pitchFamily="34" charset="-122"/>
                            </a:rPr>
                          </m:ctrlPr>
                        </m:naryPr>
                        <m:sub>
                          <m:r>
                            <a:rPr lang="en-US" altLang="zh-CN" b="1" i="1">
                              <a:solidFill>
                                <a:srgbClr val="000000"/>
                              </a:solidFill>
                              <a:latin typeface="Cambria Math" panose="02040503050406030204" pitchFamily="18" charset="0"/>
                              <a:ea typeface="微软雅黑" panose="020B0503020204020204" pitchFamily="34" charset="-122"/>
                            </a:rPr>
                            <m:t>𝒙</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𝐷</m:t>
                          </m:r>
                        </m:sub>
                        <m:sup/>
                        <m:e>
                          <m:r>
                            <a:rPr lang="en-US" altLang="zh-CN" b="0"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𝑦</m:t>
                          </m:r>
                          <m:func>
                            <m:funcPr>
                              <m:ctrlPr>
                                <a:rPr lang="en-US" altLang="zh-CN" i="1">
                                  <a:solidFill>
                                    <a:srgbClr val="000000"/>
                                  </a:solidFill>
                                  <a:latin typeface="Cambria Math" panose="02040503050406030204" pitchFamily="18" charset="0"/>
                                  <a:ea typeface="微软雅黑" panose="020B0503020204020204" pitchFamily="34" charset="-122"/>
                                </a:rPr>
                              </m:ctrlPr>
                            </m:funcPr>
                            <m:fName>
                              <m:r>
                                <m:rPr>
                                  <m:sty m:val="p"/>
                                </m:rPr>
                                <a:rPr lang="en-US" altLang="zh-CN">
                                  <a:solidFill>
                                    <a:srgbClr val="000000"/>
                                  </a:solidFill>
                                  <a:latin typeface="Cambria Math" panose="02040503050406030204" pitchFamily="18" charset="0"/>
                                  <a:ea typeface="微软雅黑" panose="020B0503020204020204" pitchFamily="34" charset="-122"/>
                                </a:rPr>
                                <m:t>l</m:t>
                              </m:r>
                              <m:r>
                                <m:rPr>
                                  <m:sty m:val="p"/>
                                </m:rPr>
                                <a:rPr lang="en-US" altLang="zh-CN" i="1">
                                  <a:solidFill>
                                    <a:srgbClr val="000000"/>
                                  </a:solidFill>
                                  <a:latin typeface="Cambria Math" panose="02040503050406030204" pitchFamily="18" charset="0"/>
                                  <a:ea typeface="微软雅黑" panose="020B0503020204020204" pitchFamily="34" charset="-122"/>
                                </a:rPr>
                                <m:t>n</m:t>
                              </m:r>
                            </m:fName>
                            <m:e>
                              <m:d>
                                <m:dPr>
                                  <m:ctrlPr>
                                    <a:rPr lang="en-US" altLang="zh-CN" i="1">
                                      <a:solidFill>
                                        <a:srgbClr val="000000"/>
                                      </a:solidFill>
                                      <a:latin typeface="Cambria Math" panose="02040503050406030204" pitchFamily="18" charset="0"/>
                                      <a:ea typeface="微软雅黑" panose="020B0503020204020204" pitchFamily="34" charset="-122"/>
                                    </a:rPr>
                                  </m:ctrlPr>
                                </m:dPr>
                                <m:e>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d>
                            </m:e>
                          </m:func>
                        </m:e>
                      </m:nary>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(1−</m:t>
                      </m:r>
                      <m:r>
                        <a:rPr lang="en-US" altLang="zh-CN" i="1">
                          <a:solidFill>
                            <a:srgbClr val="000000"/>
                          </a:solidFill>
                          <a:latin typeface="Cambria Math" panose="02040503050406030204" pitchFamily="18" charset="0"/>
                          <a:ea typeface="微软雅黑" panose="020B0503020204020204" pitchFamily="34" charset="-122"/>
                        </a:rPr>
                        <m:t>𝑦</m:t>
                      </m:r>
                      <m:r>
                        <a:rPr lang="en-US" altLang="zh-CN" b="0" i="1" smtClean="0">
                          <a:solidFill>
                            <a:srgbClr val="000000"/>
                          </a:solidFill>
                          <a:latin typeface="Cambria Math" panose="02040503050406030204" pitchFamily="18" charset="0"/>
                          <a:ea typeface="微软雅黑" panose="020B0503020204020204" pitchFamily="34" charset="-122"/>
                        </a:rPr>
                        <m:t>)</m:t>
                      </m:r>
                      <m:func>
                        <m:funcPr>
                          <m:ctrlPr>
                            <a:rPr lang="en-US" altLang="zh-CN" i="1">
                              <a:solidFill>
                                <a:srgbClr val="000000"/>
                              </a:solidFill>
                              <a:latin typeface="Cambria Math" panose="02040503050406030204" pitchFamily="18" charset="0"/>
                              <a:ea typeface="微软雅黑" panose="020B0503020204020204" pitchFamily="34" charset="-122"/>
                            </a:rPr>
                          </m:ctrlPr>
                        </m:funcPr>
                        <m:fName>
                          <m:r>
                            <m:rPr>
                              <m:sty m:val="p"/>
                            </m:rPr>
                            <a:rPr lang="en-US" altLang="zh-CN">
                              <a:solidFill>
                                <a:srgbClr val="000000"/>
                              </a:solidFill>
                              <a:latin typeface="Cambria Math" panose="02040503050406030204" pitchFamily="18" charset="0"/>
                              <a:ea typeface="微软雅黑" panose="020B0503020204020204" pitchFamily="34" charset="-122"/>
                            </a:rPr>
                            <m:t>l</m:t>
                          </m:r>
                          <m:r>
                            <m:rPr>
                              <m:sty m:val="p"/>
                            </m:rPr>
                            <a:rPr lang="en-US" altLang="zh-CN" i="1">
                              <a:solidFill>
                                <a:srgbClr val="000000"/>
                              </a:solidFill>
                              <a:latin typeface="Cambria Math" panose="02040503050406030204" pitchFamily="18" charset="0"/>
                              <a:ea typeface="微软雅黑" panose="020B0503020204020204" pitchFamily="34" charset="-122"/>
                            </a:rPr>
                            <m:t>n</m:t>
                          </m:r>
                        </m:fName>
                        <m:e>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b="0" i="1" smtClean="0">
                                  <a:solidFill>
                                    <a:srgbClr val="000000"/>
                                  </a:solidFill>
                                  <a:latin typeface="Cambria Math" panose="02040503050406030204" pitchFamily="18" charset="0"/>
                                  <a:ea typeface="微软雅黑" panose="020B0503020204020204" pitchFamily="34" charset="-122"/>
                                </a:rPr>
                                <m:t>1−</m:t>
                              </m:r>
                              <m:acc>
                                <m:accPr>
                                  <m:chr m:val="̂"/>
                                  <m:ctrlPr>
                                    <a:rPr lang="en-US" altLang="zh-CN" i="1" ker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e>
                          </m:d>
                        </m:e>
                      </m:func>
                      <m:r>
                        <a:rPr lang="en-US" altLang="zh-CN" b="0" i="1" smtClean="0">
                          <a:solidFill>
                            <a:srgbClr val="000000"/>
                          </a:solidFill>
                          <a:latin typeface="Cambria Math" panose="02040503050406030204" pitchFamily="18" charset="0"/>
                          <a:ea typeface="微软雅黑" panose="020B0503020204020204" pitchFamily="34" charset="-122"/>
                        </a:rPr>
                        <m:t>)</m:t>
                      </m:r>
                    </m:oMath>
                  </m:oMathPara>
                </a14:m>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2240151" y="1561765"/>
                <a:ext cx="5577015" cy="1100622"/>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961153" y="2303441"/>
                <a:ext cx="5577015" cy="92275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14:m>
                  <m:oMathPara xmlns:m="http://schemas.openxmlformats.org/officeDocument/2006/math">
                    <m:oMathParaPr>
                      <m:jc m:val="centerGroup"/>
                    </m:oMathParaPr>
                    <m:oMath xmlns:m="http://schemas.openxmlformats.org/officeDocument/2006/math">
                      <m:acc>
                        <m:accPr>
                          <m:chr m:val="̂"/>
                          <m:ctrlPr>
                            <a:rPr lang="en-US" altLang="zh-CN" i="1" kern="0" smtClean="0">
                              <a:latin typeface="Cambria Math" panose="02040503050406030204" pitchFamily="18" charset="0"/>
                              <a:ea typeface="微软雅黑" panose="020B0503020204020204" pitchFamily="34" charset="-122"/>
                            </a:rPr>
                          </m:ctrlPr>
                        </m:accPr>
                        <m:e>
                          <m:r>
                            <a:rPr lang="en-US" altLang="zh-CN" i="1" kern="0">
                              <a:latin typeface="Cambria Math" panose="02040503050406030204" pitchFamily="18" charset="0"/>
                              <a:ea typeface="微软雅黑" panose="020B0503020204020204" pitchFamily="34" charset="-122"/>
                            </a:rPr>
                            <m:t>𝑦</m:t>
                          </m:r>
                        </m:e>
                      </m:acc>
                      <m:r>
                        <a:rPr lang="en-US" altLang="zh-CN" i="1" smtClean="0">
                          <a:solidFill>
                            <a:srgbClr val="000000"/>
                          </a:solidFill>
                          <a:latin typeface="Cambria Math" panose="02040503050406030204" pitchFamily="18" charset="0"/>
                          <a:ea typeface="微软雅黑" panose="020B0503020204020204" pitchFamily="34" charset="-122"/>
                        </a:rPr>
                        <m:t>=</m:t>
                      </m:r>
                      <m:r>
                        <a:rPr lang="zh-CN" altLang="en-US" i="1">
                          <a:solidFill>
                            <a:srgbClr val="000000"/>
                          </a:solidFill>
                          <a:latin typeface="Cambria Math" panose="02040503050406030204" pitchFamily="18" charset="0"/>
                          <a:ea typeface="微软雅黑" panose="020B0503020204020204" pitchFamily="34" charset="-122"/>
                        </a:rPr>
                        <m:t>𝜎</m:t>
                      </m:r>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i="1">
                              <a:solidFill>
                                <a:srgbClr val="000000"/>
                              </a:solidFill>
                              <a:latin typeface="Cambria Math" panose="02040503050406030204" pitchFamily="18" charset="0"/>
                              <a:ea typeface="微软雅黑" panose="020B0503020204020204" pitchFamily="34" charset="-122"/>
                            </a:rPr>
                            <m:t>𝑧</m:t>
                          </m:r>
                        </m:e>
                      </m:d>
                      <m:r>
                        <a:rPr lang="en-US" altLang="zh-CN" b="0" i="1" smtClean="0">
                          <a:solidFill>
                            <a:srgbClr val="000000"/>
                          </a:solidFill>
                          <a:latin typeface="Cambria Math" panose="02040503050406030204" pitchFamily="18" charset="0"/>
                          <a:ea typeface="微软雅黑" panose="020B0503020204020204" pitchFamily="34" charset="-122"/>
                        </a:rPr>
                        <m:t>=</m:t>
                      </m:r>
                      <m:f>
                        <m:fPr>
                          <m:ctrlPr>
                            <a:rPr lang="en-US" altLang="zh-CN" b="0" i="1" smtClean="0">
                              <a:solidFill>
                                <a:srgbClr val="000000"/>
                              </a:solidFill>
                              <a:latin typeface="Cambria Math" panose="02040503050406030204" pitchFamily="18" charset="0"/>
                              <a:ea typeface="微软雅黑" panose="020B0503020204020204" pitchFamily="34" charset="-122"/>
                            </a:rPr>
                          </m:ctrlPr>
                        </m:fPr>
                        <m:num>
                          <m:r>
                            <a:rPr lang="en-US" altLang="zh-CN" b="0" i="1" smtClean="0">
                              <a:solidFill>
                                <a:srgbClr val="000000"/>
                              </a:solidFill>
                              <a:latin typeface="Cambria Math" panose="02040503050406030204" pitchFamily="18" charset="0"/>
                              <a:ea typeface="微软雅黑" panose="020B0503020204020204" pitchFamily="34" charset="-122"/>
                            </a:rPr>
                            <m:t>1</m:t>
                          </m:r>
                        </m:num>
                        <m:den>
                          <m:r>
                            <a:rPr lang="en-US" altLang="zh-CN" b="0" i="1" smtClean="0">
                              <a:solidFill>
                                <a:srgbClr val="000000"/>
                              </a:solidFill>
                              <a:latin typeface="Cambria Math" panose="02040503050406030204" pitchFamily="18" charset="0"/>
                              <a:ea typeface="微软雅黑" panose="020B0503020204020204" pitchFamily="34" charset="-122"/>
                            </a:rPr>
                            <m:t>1+</m:t>
                          </m:r>
                          <m:sSup>
                            <m:sSupPr>
                              <m:ctrlPr>
                                <a:rPr lang="en-US" altLang="zh-CN" b="0" i="1" smtClean="0">
                                  <a:solidFill>
                                    <a:srgbClr val="000000"/>
                                  </a:solidFill>
                                  <a:latin typeface="Cambria Math" panose="02040503050406030204" pitchFamily="18" charset="0"/>
                                  <a:ea typeface="微软雅黑" panose="020B0503020204020204" pitchFamily="34" charset="-122"/>
                                </a:rPr>
                              </m:ctrlPr>
                            </m:sSupPr>
                            <m:e>
                              <m:r>
                                <a:rPr lang="en-US" altLang="zh-CN" b="0" i="1" smtClean="0">
                                  <a:solidFill>
                                    <a:srgbClr val="000000"/>
                                  </a:solidFill>
                                  <a:latin typeface="Cambria Math" panose="02040503050406030204" pitchFamily="18" charset="0"/>
                                  <a:ea typeface="微软雅黑" panose="020B0503020204020204" pitchFamily="34" charset="-122"/>
                                </a:rPr>
                                <m:t>𝑒</m:t>
                              </m:r>
                            </m:e>
                            <m:sup>
                              <m:r>
                                <a:rPr lang="en-US" altLang="zh-CN" b="0"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𝑧</m:t>
                              </m:r>
                            </m:sup>
                          </m:sSup>
                        </m:den>
                      </m:f>
                      <m:r>
                        <a:rPr lang="en-US" altLang="zh-CN" b="0" i="1" smtClean="0">
                          <a:solidFill>
                            <a:srgbClr val="000000"/>
                          </a:solidFill>
                          <a:latin typeface="Cambria Math" panose="02040503050406030204" pitchFamily="18" charset="0"/>
                          <a:ea typeface="微软雅黑" panose="020B0503020204020204" pitchFamily="34" charset="-122"/>
                        </a:rPr>
                        <m:t>=</m:t>
                      </m:r>
                      <m:f>
                        <m:fPr>
                          <m:ctrlPr>
                            <a:rPr lang="en-US" altLang="zh-CN" i="1">
                              <a:solidFill>
                                <a:srgbClr val="000000"/>
                              </a:solidFill>
                              <a:latin typeface="Cambria Math" panose="02040503050406030204" pitchFamily="18" charset="0"/>
                              <a:ea typeface="微软雅黑" panose="020B0503020204020204" pitchFamily="34" charset="-122"/>
                            </a:rPr>
                          </m:ctrlPr>
                        </m:fPr>
                        <m:num>
                          <m:r>
                            <a:rPr lang="en-US" altLang="zh-CN" i="1">
                              <a:solidFill>
                                <a:srgbClr val="000000"/>
                              </a:solidFill>
                              <a:latin typeface="Cambria Math" panose="02040503050406030204" pitchFamily="18" charset="0"/>
                              <a:ea typeface="微软雅黑" panose="020B0503020204020204" pitchFamily="34" charset="-122"/>
                            </a:rPr>
                            <m:t>1</m:t>
                          </m:r>
                        </m:num>
                        <m:den>
                          <m:r>
                            <a:rPr lang="en-US" altLang="zh-CN" i="1">
                              <a:solidFill>
                                <a:srgbClr val="000000"/>
                              </a:solidFill>
                              <a:latin typeface="Cambria Math" panose="02040503050406030204" pitchFamily="18" charset="0"/>
                              <a:ea typeface="微软雅黑" panose="020B0503020204020204" pitchFamily="34" charset="-122"/>
                            </a:rPr>
                            <m:t>1+</m:t>
                          </m:r>
                          <m:sSup>
                            <m:sSupPr>
                              <m:ctrlPr>
                                <a:rPr lang="en-US" altLang="zh-CN" i="1">
                                  <a:solidFill>
                                    <a:srgbClr val="000000"/>
                                  </a:solidFill>
                                  <a:latin typeface="Cambria Math" panose="02040503050406030204" pitchFamily="18" charset="0"/>
                                  <a:ea typeface="微软雅黑" panose="020B0503020204020204" pitchFamily="34" charset="-122"/>
                                </a:rPr>
                              </m:ctrlPr>
                            </m:sSupPr>
                            <m:e>
                              <m:r>
                                <a:rPr lang="en-US" altLang="zh-CN" i="1">
                                  <a:solidFill>
                                    <a:srgbClr val="000000"/>
                                  </a:solidFill>
                                  <a:latin typeface="Cambria Math" panose="02040503050406030204" pitchFamily="18" charset="0"/>
                                  <a:ea typeface="微软雅黑" panose="020B0503020204020204" pitchFamily="34" charset="-122"/>
                                </a:rPr>
                                <m:t>𝑒</m:t>
                              </m:r>
                            </m:e>
                            <m:sup>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m:t>
                              </m:r>
                              <m:sSup>
                                <m:sSupPr>
                                  <m:ctrlPr>
                                    <a:rPr lang="en-US" altLang="zh-CN" i="1">
                                      <a:solidFill>
                                        <a:srgbClr val="000000"/>
                                      </a:solidFill>
                                      <a:latin typeface="Cambria Math" panose="02040503050406030204" pitchFamily="18" charset="0"/>
                                      <a:ea typeface="微软雅黑" panose="020B0503020204020204" pitchFamily="34" charset="-122"/>
                                    </a:rPr>
                                  </m:ctrlPr>
                                </m:sSupPr>
                                <m:e>
                                  <m:r>
                                    <a:rPr lang="en-US" altLang="zh-CN" b="1" i="1">
                                      <a:solidFill>
                                        <a:srgbClr val="000000"/>
                                      </a:solidFill>
                                      <a:latin typeface="Cambria Math" panose="02040503050406030204" pitchFamily="18" charset="0"/>
                                      <a:ea typeface="微软雅黑" panose="020B0503020204020204" pitchFamily="34" charset="-122"/>
                                    </a:rPr>
                                    <m:t>𝒘</m:t>
                                  </m:r>
                                </m:e>
                                <m:sup>
                                  <m:r>
                                    <a:rPr lang="en-US" altLang="zh-CN" i="1">
                                      <a:solidFill>
                                        <a:srgbClr val="000000"/>
                                      </a:solidFill>
                                      <a:latin typeface="Cambria Math" panose="02040503050406030204" pitchFamily="18" charset="0"/>
                                      <a:ea typeface="微软雅黑" panose="020B0503020204020204" pitchFamily="34" charset="-122"/>
                                    </a:rPr>
                                    <m:t>𝑇</m:t>
                                  </m:r>
                                </m:sup>
                              </m:sSup>
                              <m:r>
                                <a:rPr lang="en-US" altLang="zh-CN" b="1" i="1" smtClean="0">
                                  <a:solidFill>
                                    <a:srgbClr val="000000"/>
                                  </a:solidFill>
                                  <a:latin typeface="Cambria Math" panose="02040503050406030204" pitchFamily="18" charset="0"/>
                                  <a:ea typeface="微软雅黑" panose="020B0503020204020204" pitchFamily="34" charset="-122"/>
                                </a:rPr>
                                <m:t>𝒙</m:t>
                              </m:r>
                              <m:r>
                                <a:rPr lang="en-US" altLang="zh-CN" b="0" i="1" smtClean="0">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𝑏</m:t>
                              </m:r>
                              <m:r>
                                <a:rPr lang="en-US" altLang="zh-CN" b="0" i="1" smtClean="0">
                                  <a:solidFill>
                                    <a:srgbClr val="000000"/>
                                  </a:solidFill>
                                  <a:latin typeface="Cambria Math" panose="02040503050406030204" pitchFamily="18" charset="0"/>
                                  <a:ea typeface="微软雅黑" panose="020B0503020204020204" pitchFamily="34" charset="-122"/>
                                </a:rPr>
                                <m:t>)</m:t>
                              </m:r>
                            </m:sup>
                          </m:sSup>
                        </m:den>
                      </m:f>
                    </m:oMath>
                  </m:oMathPara>
                </a14:m>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1961153" y="2303441"/>
                <a:ext cx="5577015" cy="922753"/>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417525" y="4137429"/>
                <a:ext cx="2756332" cy="561308"/>
              </a:xfrm>
              <a:prstGeom prst="rect">
                <a:avLst/>
              </a:prstGeom>
            </p:spPr>
            <p:txBody>
              <a:bodyPr wrap="none">
                <a:spAutoFit/>
              </a:body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i="1">
                              <a:solidFill>
                                <a:srgbClr val="000000"/>
                              </a:solidFill>
                              <a:latin typeface="Cambria Math" panose="02040503050406030204" pitchFamily="18" charset="0"/>
                              <a:ea typeface="微软雅黑" panose="020B0503020204020204" pitchFamily="34" charset="-122"/>
                            </a:rPr>
                          </m:ctrlPr>
                        </m:sSupPr>
                        <m:e>
                          <m:r>
                            <a:rPr lang="zh-CN" altLang="en-US" i="1">
                              <a:solidFill>
                                <a:srgbClr val="000000"/>
                              </a:solidFill>
                              <a:latin typeface="Cambria Math" panose="02040503050406030204" pitchFamily="18" charset="0"/>
                              <a:ea typeface="微软雅黑" panose="020B0503020204020204" pitchFamily="34" charset="-122"/>
                            </a:rPr>
                            <m:t>𝜎</m:t>
                          </m:r>
                        </m:e>
                        <m:sup>
                          <m:r>
                            <a:rPr lang="en-US" altLang="zh-CN" i="1">
                              <a:solidFill>
                                <a:srgbClr val="000000"/>
                              </a:solidFill>
                              <a:latin typeface="Cambria Math" panose="02040503050406030204" pitchFamily="18" charset="0"/>
                              <a:ea typeface="微软雅黑" panose="020B0503020204020204" pitchFamily="34" charset="-122"/>
                            </a:rPr>
                            <m:t>′</m:t>
                          </m:r>
                        </m:sup>
                      </m:sSup>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i="1">
                              <a:solidFill>
                                <a:srgbClr val="000000"/>
                              </a:solidFill>
                              <a:latin typeface="Cambria Math" panose="02040503050406030204" pitchFamily="18" charset="0"/>
                              <a:ea typeface="微软雅黑" panose="020B0503020204020204" pitchFamily="34" charset="-122"/>
                            </a:rPr>
                            <m:t>𝑧</m:t>
                          </m:r>
                        </m:e>
                      </m:d>
                      <m:r>
                        <a:rPr lang="en-US" altLang="zh-CN" i="1">
                          <a:solidFill>
                            <a:srgbClr val="000000"/>
                          </a:solidFill>
                          <a:latin typeface="Cambria Math" panose="02040503050406030204" pitchFamily="18" charset="0"/>
                          <a:ea typeface="微软雅黑" panose="020B0503020204020204" pitchFamily="34" charset="-122"/>
                        </a:rPr>
                        <m:t>=</m:t>
                      </m:r>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i="1">
                              <a:solidFill>
                                <a:srgbClr val="000000"/>
                              </a:solidFill>
                              <a:latin typeface="Cambria Math" panose="02040503050406030204" pitchFamily="18" charset="0"/>
                              <a:ea typeface="微软雅黑" panose="020B0503020204020204" pitchFamily="34" charset="-122"/>
                            </a:rPr>
                            <m:t>1−</m:t>
                          </m:r>
                          <m:r>
                            <a:rPr lang="zh-CN" altLang="en-US" i="1">
                              <a:solidFill>
                                <a:srgbClr val="000000"/>
                              </a:solidFill>
                              <a:latin typeface="Cambria Math" panose="02040503050406030204" pitchFamily="18" charset="0"/>
                              <a:ea typeface="微软雅黑" panose="020B0503020204020204" pitchFamily="34" charset="-122"/>
                            </a:rPr>
                            <m:t>𝜎</m:t>
                          </m:r>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i="1">
                                  <a:solidFill>
                                    <a:srgbClr val="000000"/>
                                  </a:solidFill>
                                  <a:latin typeface="Cambria Math" panose="02040503050406030204" pitchFamily="18" charset="0"/>
                                  <a:ea typeface="微软雅黑" panose="020B0503020204020204" pitchFamily="34" charset="-122"/>
                                </a:rPr>
                                <m:t>𝑧</m:t>
                              </m:r>
                            </m:e>
                          </m:d>
                        </m:e>
                      </m:d>
                      <m:r>
                        <a:rPr lang="en-US" altLang="zh-CN" i="1" smtClean="0">
                          <a:solidFill>
                            <a:srgbClr val="000000"/>
                          </a:solidFill>
                          <a:latin typeface="Cambria Math" panose="02040503050406030204" pitchFamily="18" charset="0"/>
                          <a:ea typeface="Cambria Math" panose="02040503050406030204" pitchFamily="18" charset="0"/>
                        </a:rPr>
                        <m:t>∙</m:t>
                      </m:r>
                      <m:r>
                        <a:rPr lang="zh-CN" altLang="en-US" i="1">
                          <a:solidFill>
                            <a:srgbClr val="000000"/>
                          </a:solidFill>
                          <a:latin typeface="Cambria Math" panose="02040503050406030204" pitchFamily="18" charset="0"/>
                          <a:ea typeface="微软雅黑" panose="020B0503020204020204" pitchFamily="34" charset="-122"/>
                        </a:rPr>
                        <m:t>𝜎</m:t>
                      </m:r>
                      <m:r>
                        <a:rPr lang="en-US" altLang="zh-CN" i="1">
                          <a:solidFill>
                            <a:srgbClr val="000000"/>
                          </a:solidFill>
                          <a:latin typeface="Cambria Math" panose="02040503050406030204" pitchFamily="18" charset="0"/>
                          <a:ea typeface="微软雅黑" panose="020B0503020204020204" pitchFamily="34" charset="-122"/>
                        </a:rPr>
                        <m:t>(</m:t>
                      </m:r>
                      <m:r>
                        <a:rPr lang="en-US" altLang="zh-CN" i="1">
                          <a:solidFill>
                            <a:srgbClr val="000000"/>
                          </a:solidFill>
                          <a:latin typeface="Cambria Math" panose="02040503050406030204" pitchFamily="18" charset="0"/>
                          <a:ea typeface="微软雅黑" panose="020B0503020204020204" pitchFamily="34" charset="-122"/>
                        </a:rPr>
                        <m:t>𝑧</m:t>
                      </m:r>
                      <m:r>
                        <a:rPr lang="en-US" altLang="zh-CN" i="1">
                          <a:solidFill>
                            <a:srgbClr val="000000"/>
                          </a:solidFill>
                          <a:latin typeface="Cambria Math" panose="02040503050406030204" pitchFamily="18" charset="0"/>
                          <a:ea typeface="微软雅黑" panose="020B0503020204020204" pitchFamily="34" charset="-122"/>
                        </a:rPr>
                        <m:t>)</m:t>
                      </m:r>
                    </m:oMath>
                  </m:oMathPara>
                </a14:m>
                <a:endParaRPr lang="en-US" altLang="zh-CN"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11" name="矩形 10"/>
              <p:cNvSpPr>
                <a:spLocks noRot="1" noChangeAspect="1" noMove="1" noResize="1" noEditPoints="1" noAdjustHandles="1" noChangeArrowheads="1" noChangeShapeType="1" noTextEdit="1"/>
              </p:cNvSpPr>
              <p:nvPr/>
            </p:nvSpPr>
            <p:spPr>
              <a:xfrm>
                <a:off x="4417525" y="4137429"/>
                <a:ext cx="2756332" cy="561308"/>
              </a:xfrm>
              <a:prstGeom prst="rect">
                <a:avLst/>
              </a:prstGeom>
              <a:blipFill rotWithShape="0">
                <a:blip r:embed="rId7"/>
                <a:stretch>
                  <a:fillRect/>
                </a:stretch>
              </a:blipFill>
            </p:spPr>
            <p:txBody>
              <a:bodyPr/>
              <a:lstStyle/>
              <a:p>
                <a:r>
                  <a:rPr lang="zh-CN" altLang="en-US">
                    <a:noFill/>
                  </a:rPr>
                  <a:t> </a:t>
                </a:r>
              </a:p>
            </p:txBody>
          </p:sp>
        </mc:Fallback>
      </mc:AlternateContent>
      <p:sp>
        <p:nvSpPr>
          <p:cNvPr id="12" name="矩形 11"/>
          <p:cNvSpPr/>
          <p:nvPr/>
        </p:nvSpPr>
        <p:spPr>
          <a:xfrm>
            <a:off x="2240151" y="5912020"/>
            <a:ext cx="1107996" cy="369332"/>
          </a:xfrm>
          <a:prstGeom prst="rect">
            <a:avLst/>
          </a:prstGeom>
        </p:spPr>
        <p:txBody>
          <a:bodyPr wrap="none">
            <a:spAutoFit/>
          </a:bodyPr>
          <a:lstStyle/>
          <a:p>
            <a:r>
              <a:rPr lang="zh-CN" altLang="en-US" dirty="0">
                <a:solidFill>
                  <a:srgbClr val="555555"/>
                </a:solidFill>
                <a:latin typeface="微软雅黑 Light" panose="020B0502040204020203" pitchFamily="34" charset="-122"/>
                <a:ea typeface="微软雅黑 Light" panose="020B0502040204020203" pitchFamily="34" charset="-122"/>
              </a:rPr>
              <a:t>同理得：</a:t>
            </a:r>
            <a:endParaRPr lang="zh-CN" altLang="en-US" dirty="0"/>
          </a:p>
        </p:txBody>
      </p:sp>
      <mc:AlternateContent xmlns:mc="http://schemas.openxmlformats.org/markup-compatibility/2006" xmlns:a14="http://schemas.microsoft.com/office/drawing/2010/main">
        <mc:Choice Requires="a14">
          <p:sp>
            <p:nvSpPr>
              <p:cNvPr id="13" name="矩形 12"/>
              <p:cNvSpPr/>
              <p:nvPr/>
            </p:nvSpPr>
            <p:spPr>
              <a:xfrm>
                <a:off x="603023" y="3086606"/>
                <a:ext cx="9244361" cy="88197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14:m>
                  <m:oMathPara xmlns:m="http://schemas.openxmlformats.org/officeDocument/2006/math">
                    <m:oMathParaPr>
                      <m:jc m:val="centerGroup"/>
                    </m:oMathParaPr>
                    <m:oMath xmlns:m="http://schemas.openxmlformats.org/officeDocument/2006/math">
                      <m:f>
                        <m:fPr>
                          <m:ctrlPr>
                            <a:rPr lang="en-US" altLang="zh-CN" sz="1400" i="1" smtClean="0">
                              <a:solidFill>
                                <a:srgbClr val="000000"/>
                              </a:solidFill>
                              <a:latin typeface="Cambria Math" panose="02040503050406030204" pitchFamily="18" charset="0"/>
                              <a:ea typeface="微软雅黑" panose="020B0503020204020204" pitchFamily="34" charset="-122"/>
                            </a:rPr>
                          </m:ctrlPr>
                        </m:fPr>
                        <m:num>
                          <m:r>
                            <a:rPr lang="en-US" altLang="zh-CN" sz="1400" i="1" smtClean="0">
                              <a:solidFill>
                                <a:srgbClr val="000000"/>
                              </a:solidFill>
                              <a:latin typeface="Cambria Math" panose="02040503050406030204" pitchFamily="18" charset="0"/>
                              <a:ea typeface="微软雅黑" panose="020B0503020204020204" pitchFamily="34" charset="-122"/>
                            </a:rPr>
                            <m:t>𝜕</m:t>
                          </m:r>
                          <m:r>
                            <a:rPr lang="en-US" altLang="zh-CN" sz="1400" b="0" i="1" smtClean="0">
                              <a:solidFill>
                                <a:srgbClr val="000000"/>
                              </a:solidFill>
                              <a:latin typeface="Cambria Math" panose="02040503050406030204" pitchFamily="18" charset="0"/>
                              <a:ea typeface="微软雅黑" panose="020B0503020204020204" pitchFamily="34" charset="-122"/>
                            </a:rPr>
                            <m:t>𝐿</m:t>
                          </m:r>
                        </m:num>
                        <m:den>
                          <m:r>
                            <a:rPr lang="en-US" altLang="zh-CN" sz="1400" i="1" smtClean="0">
                              <a:solidFill>
                                <a:srgbClr val="000000"/>
                              </a:solidFill>
                              <a:latin typeface="Cambria Math" panose="02040503050406030204" pitchFamily="18" charset="0"/>
                              <a:ea typeface="微软雅黑" panose="020B0503020204020204" pitchFamily="34" charset="-122"/>
                            </a:rPr>
                            <m:t>𝜕</m:t>
                          </m:r>
                          <m:r>
                            <a:rPr lang="en-US" altLang="zh-CN" sz="1400" b="1" i="1" smtClean="0">
                              <a:solidFill>
                                <a:srgbClr val="000000"/>
                              </a:solidFill>
                              <a:latin typeface="Cambria Math" panose="02040503050406030204" pitchFamily="18" charset="0"/>
                              <a:ea typeface="微软雅黑" panose="020B0503020204020204" pitchFamily="34" charset="-122"/>
                            </a:rPr>
                            <m:t>𝒘</m:t>
                          </m:r>
                        </m:den>
                      </m:f>
                      <m:r>
                        <a:rPr lang="en-US" altLang="zh-CN" sz="1400" i="1" smtClean="0">
                          <a:solidFill>
                            <a:srgbClr val="000000"/>
                          </a:solidFill>
                          <a:latin typeface="Cambria Math" panose="02040503050406030204" pitchFamily="18" charset="0"/>
                          <a:ea typeface="微软雅黑" panose="020B0503020204020204" pitchFamily="34" charset="-122"/>
                        </a:rPr>
                        <m:t>=</m:t>
                      </m:r>
                      <m:r>
                        <a:rPr lang="en-US" altLang="zh-CN" sz="1400" i="1">
                          <a:solidFill>
                            <a:srgbClr val="000000"/>
                          </a:solidFill>
                          <a:latin typeface="Cambria Math" panose="02040503050406030204" pitchFamily="18" charset="0"/>
                          <a:ea typeface="微软雅黑" panose="020B0503020204020204" pitchFamily="34" charset="-122"/>
                        </a:rPr>
                        <m:t>−</m:t>
                      </m:r>
                      <m:f>
                        <m:fPr>
                          <m:ctrlPr>
                            <a:rPr lang="en-US" altLang="zh-CN" sz="1400" i="1">
                              <a:solidFill>
                                <a:srgbClr val="000000"/>
                              </a:solidFill>
                              <a:latin typeface="Cambria Math" panose="02040503050406030204" pitchFamily="18" charset="0"/>
                              <a:ea typeface="微软雅黑" panose="020B0503020204020204" pitchFamily="34" charset="-122"/>
                            </a:rPr>
                          </m:ctrlPr>
                        </m:fPr>
                        <m:num>
                          <m:r>
                            <a:rPr lang="en-US" altLang="zh-CN" sz="1400" i="1">
                              <a:solidFill>
                                <a:srgbClr val="000000"/>
                              </a:solidFill>
                              <a:latin typeface="Cambria Math" panose="02040503050406030204" pitchFamily="18" charset="0"/>
                              <a:ea typeface="微软雅黑" panose="020B0503020204020204" pitchFamily="34" charset="-122"/>
                            </a:rPr>
                            <m:t>1</m:t>
                          </m:r>
                        </m:num>
                        <m:den>
                          <m:r>
                            <a:rPr lang="en-US" altLang="zh-CN" sz="1400" b="0" i="1" smtClean="0">
                              <a:solidFill>
                                <a:srgbClr val="000000"/>
                              </a:solidFill>
                              <a:latin typeface="Cambria Math" panose="02040503050406030204" pitchFamily="18" charset="0"/>
                              <a:ea typeface="微软雅黑" panose="020B0503020204020204" pitchFamily="34" charset="-122"/>
                            </a:rPr>
                            <m:t>𝑚</m:t>
                          </m:r>
                        </m:den>
                      </m:f>
                      <m:nary>
                        <m:naryPr>
                          <m:chr m:val="∑"/>
                          <m:supHide m:val="on"/>
                          <m:ctrlPr>
                            <a:rPr lang="en-US" altLang="zh-CN" sz="1400" i="1">
                              <a:solidFill>
                                <a:srgbClr val="000000"/>
                              </a:solidFill>
                              <a:latin typeface="Cambria Math" panose="02040503050406030204" pitchFamily="18" charset="0"/>
                              <a:ea typeface="微软雅黑" panose="020B0503020204020204" pitchFamily="34" charset="-122"/>
                            </a:rPr>
                          </m:ctrlPr>
                        </m:naryPr>
                        <m:sub>
                          <m:r>
                            <a:rPr lang="en-US" altLang="zh-CN" sz="1400" b="1" i="1">
                              <a:solidFill>
                                <a:srgbClr val="000000"/>
                              </a:solidFill>
                              <a:latin typeface="Cambria Math" panose="02040503050406030204" pitchFamily="18" charset="0"/>
                              <a:ea typeface="微软雅黑" panose="020B0503020204020204" pitchFamily="34" charset="-122"/>
                            </a:rPr>
                            <m:t>𝒙</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ea typeface="Cambria Math" panose="02040503050406030204" pitchFamily="18" charset="0"/>
                            </a:rPr>
                            <m:t>𝐷</m:t>
                          </m:r>
                        </m:sub>
                        <m:sup/>
                        <m:e>
                          <m:d>
                            <m:dPr>
                              <m:begChr m:val="["/>
                              <m:endChr m:val="]"/>
                              <m:ctrlPr>
                                <a:rPr lang="en-US" altLang="zh-CN" sz="1400" b="0" i="1" smtClean="0">
                                  <a:solidFill>
                                    <a:srgbClr val="000000"/>
                                  </a:solidFill>
                                  <a:latin typeface="Cambria Math" panose="02040503050406030204" pitchFamily="18" charset="0"/>
                                  <a:ea typeface="微软雅黑" panose="020B0503020204020204" pitchFamily="34" charset="-122"/>
                                </a:rPr>
                              </m:ctrlPr>
                            </m:dPr>
                            <m:e>
                              <m:f>
                                <m:fPr>
                                  <m:ctrlPr>
                                    <a:rPr lang="en-US" altLang="zh-CN" sz="1400" i="1">
                                      <a:solidFill>
                                        <a:srgbClr val="000000"/>
                                      </a:solidFill>
                                      <a:latin typeface="Cambria Math" panose="02040503050406030204" pitchFamily="18" charset="0"/>
                                      <a:ea typeface="微软雅黑" panose="020B0503020204020204" pitchFamily="34" charset="-122"/>
                                    </a:rPr>
                                  </m:ctrlPr>
                                </m:fPr>
                                <m:num>
                                  <m:r>
                                    <a:rPr lang="en-US" altLang="zh-CN" sz="1400" b="0" i="1" smtClean="0">
                                      <a:solidFill>
                                        <a:srgbClr val="000000"/>
                                      </a:solidFill>
                                      <a:latin typeface="Cambria Math" panose="02040503050406030204" pitchFamily="18" charset="0"/>
                                      <a:ea typeface="微软雅黑" panose="020B0503020204020204" pitchFamily="34" charset="-122"/>
                                    </a:rPr>
                                    <m:t>𝑦</m:t>
                                  </m:r>
                                </m:num>
                                <m:den>
                                  <m:r>
                                    <a:rPr lang="zh-CN" altLang="en-US" sz="1400" i="1">
                                      <a:solidFill>
                                        <a:srgbClr val="000000"/>
                                      </a:solidFill>
                                      <a:latin typeface="Cambria Math" panose="02040503050406030204" pitchFamily="18" charset="0"/>
                                      <a:ea typeface="微软雅黑" panose="020B0503020204020204" pitchFamily="34" charset="-122"/>
                                    </a:rPr>
                                    <m:t>𝜎</m:t>
                                  </m:r>
                                  <m:d>
                                    <m:dPr>
                                      <m:ctrlPr>
                                        <a:rPr lang="en-US" altLang="zh-CN" sz="1400" i="1">
                                          <a:solidFill>
                                            <a:srgbClr val="000000"/>
                                          </a:solidFill>
                                          <a:latin typeface="Cambria Math" panose="02040503050406030204" pitchFamily="18" charset="0"/>
                                          <a:ea typeface="微软雅黑" panose="020B0503020204020204" pitchFamily="34" charset="-122"/>
                                        </a:rPr>
                                      </m:ctrlPr>
                                    </m:dPr>
                                    <m:e>
                                      <m:r>
                                        <a:rPr lang="en-US" altLang="zh-CN" sz="1400" i="1">
                                          <a:solidFill>
                                            <a:srgbClr val="000000"/>
                                          </a:solidFill>
                                          <a:latin typeface="Cambria Math" panose="02040503050406030204" pitchFamily="18" charset="0"/>
                                          <a:ea typeface="微软雅黑" panose="020B0503020204020204" pitchFamily="34" charset="-122"/>
                                        </a:rPr>
                                        <m:t>𝑧</m:t>
                                      </m:r>
                                    </m:e>
                                  </m:d>
                                </m:den>
                              </m:f>
                              <m:r>
                                <a:rPr lang="en-US" altLang="zh-CN" sz="1400" b="0" i="1" smtClean="0">
                                  <a:solidFill>
                                    <a:srgbClr val="000000"/>
                                  </a:solidFill>
                                  <a:latin typeface="Cambria Math" panose="02040503050406030204" pitchFamily="18" charset="0"/>
                                  <a:ea typeface="微软雅黑" panose="020B0503020204020204" pitchFamily="34" charset="-122"/>
                                </a:rPr>
                                <m:t>−</m:t>
                              </m:r>
                              <m:f>
                                <m:fPr>
                                  <m:ctrlPr>
                                    <a:rPr lang="en-US" altLang="zh-CN" sz="1400" i="1">
                                      <a:solidFill>
                                        <a:srgbClr val="000000"/>
                                      </a:solidFill>
                                      <a:latin typeface="Cambria Math" panose="02040503050406030204" pitchFamily="18" charset="0"/>
                                      <a:ea typeface="微软雅黑" panose="020B0503020204020204" pitchFamily="34" charset="-122"/>
                                    </a:rPr>
                                  </m:ctrlPr>
                                </m:fPr>
                                <m:num>
                                  <m:r>
                                    <a:rPr lang="en-US" altLang="zh-CN" sz="1400" b="0" i="1" smtClean="0">
                                      <a:solidFill>
                                        <a:srgbClr val="000000"/>
                                      </a:solidFill>
                                      <a:latin typeface="Cambria Math" panose="02040503050406030204" pitchFamily="18" charset="0"/>
                                      <a:ea typeface="微软雅黑" panose="020B0503020204020204" pitchFamily="34" charset="-122"/>
                                    </a:rPr>
                                    <m:t>1−</m:t>
                                  </m:r>
                                  <m:r>
                                    <a:rPr lang="en-US" altLang="zh-CN" sz="1400" i="1">
                                      <a:solidFill>
                                        <a:srgbClr val="000000"/>
                                      </a:solidFill>
                                      <a:latin typeface="Cambria Math" panose="02040503050406030204" pitchFamily="18" charset="0"/>
                                      <a:ea typeface="微软雅黑" panose="020B0503020204020204" pitchFamily="34" charset="-122"/>
                                    </a:rPr>
                                    <m:t>𝑦</m:t>
                                  </m:r>
                                </m:num>
                                <m:den>
                                  <m:r>
                                    <a:rPr lang="en-US" altLang="zh-CN" sz="1400" b="0" i="1" smtClean="0">
                                      <a:solidFill>
                                        <a:srgbClr val="000000"/>
                                      </a:solidFill>
                                      <a:latin typeface="Cambria Math" panose="02040503050406030204" pitchFamily="18" charset="0"/>
                                      <a:ea typeface="微软雅黑" panose="020B0503020204020204" pitchFamily="34" charset="-122"/>
                                    </a:rPr>
                                    <m:t>1−</m:t>
                                  </m:r>
                                  <m:r>
                                    <a:rPr lang="zh-CN" altLang="en-US" sz="1400" i="1">
                                      <a:solidFill>
                                        <a:srgbClr val="000000"/>
                                      </a:solidFill>
                                      <a:latin typeface="Cambria Math" panose="02040503050406030204" pitchFamily="18" charset="0"/>
                                      <a:ea typeface="微软雅黑" panose="020B0503020204020204" pitchFamily="34" charset="-122"/>
                                    </a:rPr>
                                    <m:t>𝜎</m:t>
                                  </m:r>
                                  <m:d>
                                    <m:dPr>
                                      <m:ctrlPr>
                                        <a:rPr lang="en-US" altLang="zh-CN" sz="1400" i="1">
                                          <a:solidFill>
                                            <a:srgbClr val="000000"/>
                                          </a:solidFill>
                                          <a:latin typeface="Cambria Math" panose="02040503050406030204" pitchFamily="18" charset="0"/>
                                          <a:ea typeface="微软雅黑" panose="020B0503020204020204" pitchFamily="34" charset="-122"/>
                                        </a:rPr>
                                      </m:ctrlPr>
                                    </m:dPr>
                                    <m:e>
                                      <m:r>
                                        <a:rPr lang="en-US" altLang="zh-CN" sz="1400" i="1">
                                          <a:solidFill>
                                            <a:srgbClr val="000000"/>
                                          </a:solidFill>
                                          <a:latin typeface="Cambria Math" panose="02040503050406030204" pitchFamily="18" charset="0"/>
                                          <a:ea typeface="微软雅黑" panose="020B0503020204020204" pitchFamily="34" charset="-122"/>
                                        </a:rPr>
                                        <m:t>𝑧</m:t>
                                      </m:r>
                                    </m:e>
                                  </m:d>
                                </m:den>
                              </m:f>
                            </m:e>
                          </m:d>
                        </m:e>
                      </m:nary>
                      <m:r>
                        <a:rPr lang="en-US" altLang="zh-CN" sz="1400" i="1" smtClean="0">
                          <a:solidFill>
                            <a:srgbClr val="000000"/>
                          </a:solidFill>
                          <a:latin typeface="Cambria Math" panose="02040503050406030204" pitchFamily="18" charset="0"/>
                          <a:ea typeface="Cambria Math" panose="02040503050406030204" pitchFamily="18" charset="0"/>
                        </a:rPr>
                        <m:t>∙</m:t>
                      </m:r>
                      <m:f>
                        <m:fPr>
                          <m:ctrlPr>
                            <a:rPr lang="en-US" altLang="zh-CN" sz="1400" i="1">
                              <a:solidFill>
                                <a:srgbClr val="000000"/>
                              </a:solidFill>
                              <a:latin typeface="Cambria Math" panose="02040503050406030204" pitchFamily="18" charset="0"/>
                              <a:ea typeface="微软雅黑" panose="020B0503020204020204" pitchFamily="34" charset="-122"/>
                            </a:rPr>
                          </m:ctrlPr>
                        </m:fPr>
                        <m:num>
                          <m:r>
                            <a:rPr lang="en-US" altLang="zh-CN" sz="1400" i="1">
                              <a:solidFill>
                                <a:srgbClr val="000000"/>
                              </a:solidFill>
                              <a:latin typeface="Cambria Math" panose="02040503050406030204" pitchFamily="18" charset="0"/>
                              <a:ea typeface="微软雅黑" panose="020B0503020204020204" pitchFamily="34" charset="-122"/>
                            </a:rPr>
                            <m:t>𝜕</m:t>
                          </m:r>
                          <m:r>
                            <a:rPr lang="zh-CN" altLang="en-US" sz="1400" i="1">
                              <a:solidFill>
                                <a:srgbClr val="000000"/>
                              </a:solidFill>
                              <a:latin typeface="Cambria Math" panose="02040503050406030204" pitchFamily="18" charset="0"/>
                              <a:ea typeface="微软雅黑" panose="020B0503020204020204" pitchFamily="34" charset="-122"/>
                            </a:rPr>
                            <m:t>𝜎</m:t>
                          </m:r>
                          <m:d>
                            <m:dPr>
                              <m:ctrlPr>
                                <a:rPr lang="en-US" altLang="zh-CN" sz="1400" i="1">
                                  <a:solidFill>
                                    <a:srgbClr val="000000"/>
                                  </a:solidFill>
                                  <a:latin typeface="Cambria Math" panose="02040503050406030204" pitchFamily="18" charset="0"/>
                                  <a:ea typeface="微软雅黑" panose="020B0503020204020204" pitchFamily="34" charset="-122"/>
                                </a:rPr>
                              </m:ctrlPr>
                            </m:dPr>
                            <m:e>
                              <m:r>
                                <a:rPr lang="en-US" altLang="zh-CN" sz="1400" i="1">
                                  <a:solidFill>
                                    <a:srgbClr val="000000"/>
                                  </a:solidFill>
                                  <a:latin typeface="Cambria Math" panose="02040503050406030204" pitchFamily="18" charset="0"/>
                                  <a:ea typeface="微软雅黑" panose="020B0503020204020204" pitchFamily="34" charset="-122"/>
                                </a:rPr>
                                <m:t>𝑧</m:t>
                              </m:r>
                            </m:e>
                          </m:d>
                        </m:num>
                        <m:den>
                          <m:r>
                            <a:rPr lang="en-US" altLang="zh-CN" sz="1400" i="1">
                              <a:solidFill>
                                <a:srgbClr val="000000"/>
                              </a:solidFill>
                              <a:latin typeface="Cambria Math" panose="02040503050406030204" pitchFamily="18" charset="0"/>
                              <a:ea typeface="微软雅黑" panose="020B0503020204020204" pitchFamily="34" charset="-122"/>
                            </a:rPr>
                            <m:t>𝜕</m:t>
                          </m:r>
                          <m:r>
                            <a:rPr lang="en-US" altLang="zh-CN" sz="1400" b="1" i="1">
                              <a:solidFill>
                                <a:srgbClr val="000000"/>
                              </a:solidFill>
                              <a:latin typeface="Cambria Math" panose="02040503050406030204" pitchFamily="18" charset="0"/>
                              <a:ea typeface="微软雅黑" panose="020B0503020204020204" pitchFamily="34" charset="-122"/>
                            </a:rPr>
                            <m:t>𝒘</m:t>
                          </m:r>
                        </m:den>
                      </m:f>
                      <m:r>
                        <a:rPr lang="en-US" altLang="zh-CN" sz="1400" b="0" i="1" smtClean="0">
                          <a:solidFill>
                            <a:srgbClr val="000000"/>
                          </a:solidFill>
                          <a:latin typeface="Cambria Math" panose="02040503050406030204" pitchFamily="18" charset="0"/>
                          <a:ea typeface="微软雅黑" panose="020B0503020204020204" pitchFamily="34" charset="-122"/>
                        </a:rPr>
                        <m:t>=</m:t>
                      </m:r>
                      <m:r>
                        <a:rPr lang="en-US" altLang="zh-CN" sz="1400" i="1">
                          <a:solidFill>
                            <a:srgbClr val="000000"/>
                          </a:solidFill>
                          <a:latin typeface="Cambria Math" panose="02040503050406030204" pitchFamily="18" charset="0"/>
                          <a:ea typeface="微软雅黑" panose="020B0503020204020204" pitchFamily="34" charset="-122"/>
                        </a:rPr>
                        <m:t>−</m:t>
                      </m:r>
                      <m:f>
                        <m:fPr>
                          <m:ctrlPr>
                            <a:rPr lang="en-US" altLang="zh-CN" sz="1400" i="1">
                              <a:solidFill>
                                <a:srgbClr val="000000"/>
                              </a:solidFill>
                              <a:latin typeface="Cambria Math" panose="02040503050406030204" pitchFamily="18" charset="0"/>
                              <a:ea typeface="微软雅黑" panose="020B0503020204020204" pitchFamily="34" charset="-122"/>
                            </a:rPr>
                          </m:ctrlPr>
                        </m:fPr>
                        <m:num>
                          <m:r>
                            <a:rPr lang="en-US" altLang="zh-CN" sz="1400" i="1">
                              <a:solidFill>
                                <a:srgbClr val="000000"/>
                              </a:solidFill>
                              <a:latin typeface="Cambria Math" panose="02040503050406030204" pitchFamily="18" charset="0"/>
                              <a:ea typeface="微软雅黑" panose="020B0503020204020204" pitchFamily="34" charset="-122"/>
                            </a:rPr>
                            <m:t>1</m:t>
                          </m:r>
                        </m:num>
                        <m:den>
                          <m:r>
                            <a:rPr lang="en-US" altLang="zh-CN" sz="1400" b="0" i="1" smtClean="0">
                              <a:solidFill>
                                <a:srgbClr val="000000"/>
                              </a:solidFill>
                              <a:latin typeface="Cambria Math" panose="02040503050406030204" pitchFamily="18" charset="0"/>
                              <a:ea typeface="微软雅黑" panose="020B0503020204020204" pitchFamily="34" charset="-122"/>
                            </a:rPr>
                            <m:t>𝑚</m:t>
                          </m:r>
                        </m:den>
                      </m:f>
                      <m:nary>
                        <m:naryPr>
                          <m:chr m:val="∑"/>
                          <m:supHide m:val="on"/>
                          <m:ctrlPr>
                            <a:rPr lang="en-US" altLang="zh-CN" sz="1400" i="1">
                              <a:solidFill>
                                <a:srgbClr val="000000"/>
                              </a:solidFill>
                              <a:latin typeface="Cambria Math" panose="02040503050406030204" pitchFamily="18" charset="0"/>
                              <a:ea typeface="微软雅黑" panose="020B0503020204020204" pitchFamily="34" charset="-122"/>
                            </a:rPr>
                          </m:ctrlPr>
                        </m:naryPr>
                        <m:sub>
                          <m:r>
                            <a:rPr lang="en-US" altLang="zh-CN" sz="1400" b="1" i="1">
                              <a:solidFill>
                                <a:srgbClr val="000000"/>
                              </a:solidFill>
                              <a:latin typeface="Cambria Math" panose="02040503050406030204" pitchFamily="18" charset="0"/>
                              <a:ea typeface="微软雅黑" panose="020B0503020204020204" pitchFamily="34" charset="-122"/>
                            </a:rPr>
                            <m:t>𝒙</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ea typeface="Cambria Math" panose="02040503050406030204" pitchFamily="18" charset="0"/>
                            </a:rPr>
                            <m:t>𝐷</m:t>
                          </m:r>
                        </m:sub>
                        <m:sup/>
                        <m:e>
                          <m:d>
                            <m:dPr>
                              <m:begChr m:val="["/>
                              <m:endChr m:val="]"/>
                              <m:ctrlPr>
                                <a:rPr lang="en-US" altLang="zh-CN" sz="1400" i="1">
                                  <a:solidFill>
                                    <a:srgbClr val="000000"/>
                                  </a:solidFill>
                                  <a:latin typeface="Cambria Math" panose="02040503050406030204" pitchFamily="18" charset="0"/>
                                  <a:ea typeface="微软雅黑" panose="020B0503020204020204" pitchFamily="34" charset="-122"/>
                                </a:rPr>
                              </m:ctrlPr>
                            </m:dPr>
                            <m:e>
                              <m:f>
                                <m:fPr>
                                  <m:ctrlPr>
                                    <a:rPr lang="en-US" altLang="zh-CN" sz="1400" i="1">
                                      <a:solidFill>
                                        <a:srgbClr val="000000"/>
                                      </a:solidFill>
                                      <a:latin typeface="Cambria Math" panose="02040503050406030204" pitchFamily="18" charset="0"/>
                                      <a:ea typeface="微软雅黑" panose="020B0503020204020204" pitchFamily="34" charset="-122"/>
                                    </a:rPr>
                                  </m:ctrlPr>
                                </m:fPr>
                                <m:num>
                                  <m:r>
                                    <a:rPr lang="en-US" altLang="zh-CN" sz="1400" i="1">
                                      <a:solidFill>
                                        <a:srgbClr val="000000"/>
                                      </a:solidFill>
                                      <a:latin typeface="Cambria Math" panose="02040503050406030204" pitchFamily="18" charset="0"/>
                                      <a:ea typeface="微软雅黑" panose="020B0503020204020204" pitchFamily="34" charset="-122"/>
                                    </a:rPr>
                                    <m:t>𝑦</m:t>
                                  </m:r>
                                </m:num>
                                <m:den>
                                  <m:r>
                                    <a:rPr lang="zh-CN" altLang="en-US" sz="1400" i="1">
                                      <a:solidFill>
                                        <a:srgbClr val="000000"/>
                                      </a:solidFill>
                                      <a:latin typeface="Cambria Math" panose="02040503050406030204" pitchFamily="18" charset="0"/>
                                      <a:ea typeface="微软雅黑" panose="020B0503020204020204" pitchFamily="34" charset="-122"/>
                                    </a:rPr>
                                    <m:t>𝜎</m:t>
                                  </m:r>
                                  <m:d>
                                    <m:dPr>
                                      <m:ctrlPr>
                                        <a:rPr lang="en-US" altLang="zh-CN" sz="1400" i="1">
                                          <a:solidFill>
                                            <a:srgbClr val="000000"/>
                                          </a:solidFill>
                                          <a:latin typeface="Cambria Math" panose="02040503050406030204" pitchFamily="18" charset="0"/>
                                          <a:ea typeface="微软雅黑" panose="020B0503020204020204" pitchFamily="34" charset="-122"/>
                                        </a:rPr>
                                      </m:ctrlPr>
                                    </m:dPr>
                                    <m:e>
                                      <m:r>
                                        <a:rPr lang="en-US" altLang="zh-CN" sz="1400" i="1">
                                          <a:solidFill>
                                            <a:srgbClr val="000000"/>
                                          </a:solidFill>
                                          <a:latin typeface="Cambria Math" panose="02040503050406030204" pitchFamily="18" charset="0"/>
                                          <a:ea typeface="微软雅黑" panose="020B0503020204020204" pitchFamily="34" charset="-122"/>
                                        </a:rPr>
                                        <m:t>𝑧</m:t>
                                      </m:r>
                                    </m:e>
                                  </m:d>
                                </m:den>
                              </m:f>
                              <m:r>
                                <a:rPr lang="en-US" altLang="zh-CN" sz="1400" i="1">
                                  <a:solidFill>
                                    <a:srgbClr val="000000"/>
                                  </a:solidFill>
                                  <a:latin typeface="Cambria Math" panose="02040503050406030204" pitchFamily="18" charset="0"/>
                                  <a:ea typeface="微软雅黑" panose="020B0503020204020204" pitchFamily="34" charset="-122"/>
                                </a:rPr>
                                <m:t>−</m:t>
                              </m:r>
                              <m:f>
                                <m:fPr>
                                  <m:ctrlPr>
                                    <a:rPr lang="en-US" altLang="zh-CN" sz="1400" i="1">
                                      <a:solidFill>
                                        <a:srgbClr val="000000"/>
                                      </a:solidFill>
                                      <a:latin typeface="Cambria Math" panose="02040503050406030204" pitchFamily="18" charset="0"/>
                                      <a:ea typeface="微软雅黑" panose="020B0503020204020204" pitchFamily="34" charset="-122"/>
                                    </a:rPr>
                                  </m:ctrlPr>
                                </m:fPr>
                                <m:num>
                                  <m:r>
                                    <a:rPr lang="en-US" altLang="zh-CN" sz="1400" i="1">
                                      <a:solidFill>
                                        <a:srgbClr val="000000"/>
                                      </a:solidFill>
                                      <a:latin typeface="Cambria Math" panose="02040503050406030204" pitchFamily="18" charset="0"/>
                                      <a:ea typeface="微软雅黑" panose="020B0503020204020204" pitchFamily="34" charset="-122"/>
                                    </a:rPr>
                                    <m:t>1−</m:t>
                                  </m:r>
                                  <m:r>
                                    <a:rPr lang="en-US" altLang="zh-CN" sz="1400" i="1">
                                      <a:solidFill>
                                        <a:srgbClr val="000000"/>
                                      </a:solidFill>
                                      <a:latin typeface="Cambria Math" panose="02040503050406030204" pitchFamily="18" charset="0"/>
                                      <a:ea typeface="微软雅黑" panose="020B0503020204020204" pitchFamily="34" charset="-122"/>
                                    </a:rPr>
                                    <m:t>𝑦</m:t>
                                  </m:r>
                                </m:num>
                                <m:den>
                                  <m:r>
                                    <a:rPr lang="en-US" altLang="zh-CN" sz="1400" i="1">
                                      <a:solidFill>
                                        <a:srgbClr val="000000"/>
                                      </a:solidFill>
                                      <a:latin typeface="Cambria Math" panose="02040503050406030204" pitchFamily="18" charset="0"/>
                                      <a:ea typeface="微软雅黑" panose="020B0503020204020204" pitchFamily="34" charset="-122"/>
                                    </a:rPr>
                                    <m:t>1−</m:t>
                                  </m:r>
                                  <m:r>
                                    <a:rPr lang="zh-CN" altLang="en-US" sz="1400" i="1">
                                      <a:solidFill>
                                        <a:srgbClr val="000000"/>
                                      </a:solidFill>
                                      <a:latin typeface="Cambria Math" panose="02040503050406030204" pitchFamily="18" charset="0"/>
                                      <a:ea typeface="微软雅黑" panose="020B0503020204020204" pitchFamily="34" charset="-122"/>
                                    </a:rPr>
                                    <m:t>𝜎</m:t>
                                  </m:r>
                                  <m:d>
                                    <m:dPr>
                                      <m:ctrlPr>
                                        <a:rPr lang="en-US" altLang="zh-CN" sz="1400" i="1">
                                          <a:solidFill>
                                            <a:srgbClr val="000000"/>
                                          </a:solidFill>
                                          <a:latin typeface="Cambria Math" panose="02040503050406030204" pitchFamily="18" charset="0"/>
                                          <a:ea typeface="微软雅黑" panose="020B0503020204020204" pitchFamily="34" charset="-122"/>
                                        </a:rPr>
                                      </m:ctrlPr>
                                    </m:dPr>
                                    <m:e>
                                      <m:r>
                                        <a:rPr lang="en-US" altLang="zh-CN" sz="1400" i="1">
                                          <a:solidFill>
                                            <a:srgbClr val="000000"/>
                                          </a:solidFill>
                                          <a:latin typeface="Cambria Math" panose="02040503050406030204" pitchFamily="18" charset="0"/>
                                          <a:ea typeface="微软雅黑" panose="020B0503020204020204" pitchFamily="34" charset="-122"/>
                                        </a:rPr>
                                        <m:t>𝑧</m:t>
                                      </m:r>
                                    </m:e>
                                  </m:d>
                                </m:den>
                              </m:f>
                            </m:e>
                          </m:d>
                        </m:e>
                      </m:nary>
                      <m:r>
                        <a:rPr lang="en-US" altLang="zh-CN" sz="1400" i="1">
                          <a:solidFill>
                            <a:srgbClr val="000000"/>
                          </a:solidFill>
                          <a:latin typeface="Cambria Math" panose="02040503050406030204" pitchFamily="18" charset="0"/>
                          <a:ea typeface="Cambria Math" panose="02040503050406030204" pitchFamily="18" charset="0"/>
                        </a:rPr>
                        <m:t>∙</m:t>
                      </m:r>
                      <m:sSup>
                        <m:sSupPr>
                          <m:ctrlPr>
                            <a:rPr lang="en-US" altLang="zh-CN" sz="1400" i="1" smtClean="0">
                              <a:solidFill>
                                <a:schemeClr val="tx1"/>
                              </a:solidFill>
                              <a:latin typeface="Cambria Math" panose="02040503050406030204" pitchFamily="18" charset="0"/>
                              <a:ea typeface="微软雅黑" panose="020B0503020204020204" pitchFamily="34" charset="-122"/>
                            </a:rPr>
                          </m:ctrlPr>
                        </m:sSupPr>
                        <m:e>
                          <m:r>
                            <a:rPr lang="zh-CN" altLang="en-US" sz="1400" i="1">
                              <a:solidFill>
                                <a:schemeClr val="tx1"/>
                              </a:solidFill>
                              <a:latin typeface="Cambria Math" panose="02040503050406030204" pitchFamily="18" charset="0"/>
                              <a:ea typeface="微软雅黑" panose="020B0503020204020204" pitchFamily="34" charset="-122"/>
                            </a:rPr>
                            <m:t>𝜎</m:t>
                          </m:r>
                        </m:e>
                        <m:sup>
                          <m:r>
                            <a:rPr lang="en-US" altLang="zh-CN" sz="1400" i="1">
                              <a:solidFill>
                                <a:schemeClr val="tx1"/>
                              </a:solidFill>
                              <a:latin typeface="Cambria Math" panose="02040503050406030204" pitchFamily="18" charset="0"/>
                              <a:ea typeface="微软雅黑" panose="020B0503020204020204" pitchFamily="34" charset="-122"/>
                            </a:rPr>
                            <m:t>′</m:t>
                          </m:r>
                        </m:sup>
                      </m:sSup>
                      <m:d>
                        <m:dPr>
                          <m:ctrlPr>
                            <a:rPr lang="en-US" altLang="zh-CN" sz="1400" i="1">
                              <a:solidFill>
                                <a:schemeClr val="tx1"/>
                              </a:solidFill>
                              <a:latin typeface="Cambria Math" panose="02040503050406030204" pitchFamily="18" charset="0"/>
                              <a:ea typeface="微软雅黑" panose="020B0503020204020204" pitchFamily="34" charset="-122"/>
                            </a:rPr>
                          </m:ctrlPr>
                        </m:dPr>
                        <m:e>
                          <m:r>
                            <a:rPr lang="en-US" altLang="zh-CN" sz="1400" i="1">
                              <a:solidFill>
                                <a:schemeClr val="tx1"/>
                              </a:solidFill>
                              <a:latin typeface="Cambria Math" panose="02040503050406030204" pitchFamily="18" charset="0"/>
                              <a:ea typeface="微软雅黑" panose="020B0503020204020204" pitchFamily="34" charset="-122"/>
                            </a:rPr>
                            <m:t>𝑧</m:t>
                          </m:r>
                        </m:e>
                      </m:d>
                      <m:r>
                        <a:rPr lang="en-US" altLang="zh-CN" sz="1400" i="1" smtClean="0">
                          <a:solidFill>
                            <a:schemeClr val="tx1"/>
                          </a:solidFill>
                          <a:latin typeface="Cambria Math" panose="02040503050406030204" pitchFamily="18" charset="0"/>
                          <a:ea typeface="Cambria Math" panose="02040503050406030204" pitchFamily="18" charset="0"/>
                        </a:rPr>
                        <m:t>∙</m:t>
                      </m:r>
                      <m:r>
                        <a:rPr lang="en-US" altLang="zh-CN" sz="1400" b="1" i="1">
                          <a:solidFill>
                            <a:srgbClr val="000000"/>
                          </a:solidFill>
                          <a:latin typeface="Cambria Math" panose="02040503050406030204" pitchFamily="18" charset="0"/>
                          <a:ea typeface="微软雅黑" panose="020B0503020204020204" pitchFamily="34" charset="-122"/>
                        </a:rPr>
                        <m:t>𝒙</m:t>
                      </m:r>
                      <m:r>
                        <a:rPr lang="en-US" altLang="zh-CN" sz="1400" b="0" i="1" smtClean="0">
                          <a:solidFill>
                            <a:srgbClr val="000000"/>
                          </a:solidFill>
                          <a:latin typeface="Cambria Math" panose="02040503050406030204" pitchFamily="18" charset="0"/>
                          <a:ea typeface="微软雅黑" panose="020B0503020204020204" pitchFamily="34" charset="-122"/>
                        </a:rPr>
                        <m:t>=</m:t>
                      </m:r>
                      <m:f>
                        <m:fPr>
                          <m:ctrlPr>
                            <a:rPr lang="en-US" altLang="zh-CN" sz="1400" i="1">
                              <a:solidFill>
                                <a:srgbClr val="000000"/>
                              </a:solidFill>
                              <a:latin typeface="Cambria Math" panose="02040503050406030204" pitchFamily="18" charset="0"/>
                              <a:ea typeface="微软雅黑" panose="020B0503020204020204" pitchFamily="34" charset="-122"/>
                            </a:rPr>
                          </m:ctrlPr>
                        </m:fPr>
                        <m:num>
                          <m:r>
                            <a:rPr lang="en-US" altLang="zh-CN" sz="1400" i="1">
                              <a:solidFill>
                                <a:srgbClr val="000000"/>
                              </a:solidFill>
                              <a:latin typeface="Cambria Math" panose="02040503050406030204" pitchFamily="18" charset="0"/>
                              <a:ea typeface="微软雅黑" panose="020B0503020204020204" pitchFamily="34" charset="-122"/>
                            </a:rPr>
                            <m:t>1</m:t>
                          </m:r>
                        </m:num>
                        <m:den>
                          <m:r>
                            <a:rPr lang="en-US" altLang="zh-CN" sz="1400" b="0" i="1" smtClean="0">
                              <a:solidFill>
                                <a:srgbClr val="000000"/>
                              </a:solidFill>
                              <a:latin typeface="Cambria Math" panose="02040503050406030204" pitchFamily="18" charset="0"/>
                              <a:ea typeface="微软雅黑" panose="020B0503020204020204" pitchFamily="34" charset="-122"/>
                            </a:rPr>
                            <m:t>𝑚</m:t>
                          </m:r>
                        </m:den>
                      </m:f>
                      <m:nary>
                        <m:naryPr>
                          <m:chr m:val="∑"/>
                          <m:supHide m:val="on"/>
                          <m:ctrlPr>
                            <a:rPr lang="en-US" altLang="zh-CN" sz="1400" i="1" smtClean="0">
                              <a:solidFill>
                                <a:srgbClr val="000000"/>
                              </a:solidFill>
                              <a:latin typeface="Cambria Math" panose="02040503050406030204" pitchFamily="18" charset="0"/>
                              <a:ea typeface="微软雅黑" panose="020B0503020204020204" pitchFamily="34" charset="-122"/>
                            </a:rPr>
                          </m:ctrlPr>
                        </m:naryPr>
                        <m:sub>
                          <m:r>
                            <a:rPr lang="en-US" altLang="zh-CN" sz="1400" b="1" i="1">
                              <a:solidFill>
                                <a:srgbClr val="000000"/>
                              </a:solidFill>
                              <a:latin typeface="Cambria Math" panose="02040503050406030204" pitchFamily="18" charset="0"/>
                              <a:ea typeface="微软雅黑" panose="020B0503020204020204" pitchFamily="34" charset="-122"/>
                            </a:rPr>
                            <m:t>𝒙</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ea typeface="Cambria Math" panose="02040503050406030204" pitchFamily="18" charset="0"/>
                            </a:rPr>
                            <m:t>𝐷</m:t>
                          </m:r>
                        </m:sub>
                        <m:sup/>
                        <m:e>
                          <m:f>
                            <m:fPr>
                              <m:ctrlPr>
                                <a:rPr lang="en-US" altLang="zh-CN" sz="1400" i="1">
                                  <a:solidFill>
                                    <a:srgbClr val="000000"/>
                                  </a:solidFill>
                                  <a:latin typeface="Cambria Math" panose="02040503050406030204" pitchFamily="18" charset="0"/>
                                  <a:ea typeface="微软雅黑" panose="020B0503020204020204" pitchFamily="34" charset="-122"/>
                                </a:rPr>
                              </m:ctrlPr>
                            </m:fPr>
                            <m:num>
                              <m:sSup>
                                <m:sSupPr>
                                  <m:ctrlPr>
                                    <a:rPr lang="en-US" altLang="zh-CN" sz="1400" i="1">
                                      <a:latin typeface="Cambria Math" panose="02040503050406030204" pitchFamily="18" charset="0"/>
                                      <a:ea typeface="微软雅黑" panose="020B0503020204020204" pitchFamily="34" charset="-122"/>
                                    </a:rPr>
                                  </m:ctrlPr>
                                </m:sSupPr>
                                <m:e>
                                  <m:r>
                                    <a:rPr lang="zh-CN" altLang="en-US" sz="1400" i="1">
                                      <a:latin typeface="Cambria Math" panose="02040503050406030204" pitchFamily="18" charset="0"/>
                                      <a:ea typeface="微软雅黑" panose="020B0503020204020204" pitchFamily="34" charset="-122"/>
                                    </a:rPr>
                                    <m:t>𝜎</m:t>
                                  </m:r>
                                </m:e>
                                <m:sup>
                                  <m:r>
                                    <a:rPr lang="en-US" altLang="zh-CN" sz="1400" i="1">
                                      <a:latin typeface="Cambria Math" panose="02040503050406030204" pitchFamily="18" charset="0"/>
                                      <a:ea typeface="微软雅黑" panose="020B0503020204020204" pitchFamily="34" charset="-122"/>
                                    </a:rPr>
                                    <m:t>′</m:t>
                                  </m:r>
                                </m:sup>
                              </m:sSup>
                              <m:d>
                                <m:dPr>
                                  <m:ctrlPr>
                                    <a:rPr lang="en-US" altLang="zh-CN" sz="1400" i="1">
                                      <a:latin typeface="Cambria Math" panose="02040503050406030204" pitchFamily="18" charset="0"/>
                                      <a:ea typeface="微软雅黑" panose="020B0503020204020204" pitchFamily="34" charset="-122"/>
                                    </a:rPr>
                                  </m:ctrlPr>
                                </m:dPr>
                                <m:e>
                                  <m:r>
                                    <a:rPr lang="en-US" altLang="zh-CN" sz="1400" i="1">
                                      <a:latin typeface="Cambria Math" panose="02040503050406030204" pitchFamily="18" charset="0"/>
                                      <a:ea typeface="微软雅黑" panose="020B0503020204020204" pitchFamily="34" charset="-122"/>
                                    </a:rPr>
                                    <m:t>𝑧</m:t>
                                  </m:r>
                                </m:e>
                              </m:d>
                              <m:r>
                                <a:rPr lang="en-US" altLang="zh-CN" sz="1400" i="1">
                                  <a:latin typeface="Cambria Math" panose="02040503050406030204" pitchFamily="18" charset="0"/>
                                  <a:ea typeface="Cambria Math" panose="02040503050406030204" pitchFamily="18" charset="0"/>
                                </a:rPr>
                                <m:t>∙</m:t>
                              </m:r>
                              <m:r>
                                <a:rPr lang="en-US" altLang="zh-CN" sz="1400" b="1" i="1">
                                  <a:solidFill>
                                    <a:srgbClr val="000000"/>
                                  </a:solidFill>
                                  <a:latin typeface="Cambria Math" panose="02040503050406030204" pitchFamily="18" charset="0"/>
                                  <a:ea typeface="微软雅黑" panose="020B0503020204020204" pitchFamily="34" charset="-122"/>
                                </a:rPr>
                                <m:t>𝒙</m:t>
                              </m:r>
                            </m:num>
                            <m:den>
                              <m:r>
                                <a:rPr lang="zh-CN" altLang="en-US" sz="1400" i="1">
                                  <a:solidFill>
                                    <a:srgbClr val="000000"/>
                                  </a:solidFill>
                                  <a:latin typeface="Cambria Math" panose="02040503050406030204" pitchFamily="18" charset="0"/>
                                  <a:ea typeface="微软雅黑" panose="020B0503020204020204" pitchFamily="34" charset="-122"/>
                                </a:rPr>
                                <m:t>𝜎</m:t>
                              </m:r>
                              <m:d>
                                <m:dPr>
                                  <m:ctrlPr>
                                    <a:rPr lang="en-US" altLang="zh-CN" sz="1400" i="1">
                                      <a:solidFill>
                                        <a:srgbClr val="000000"/>
                                      </a:solidFill>
                                      <a:latin typeface="Cambria Math" panose="02040503050406030204" pitchFamily="18" charset="0"/>
                                      <a:ea typeface="微软雅黑" panose="020B0503020204020204" pitchFamily="34" charset="-122"/>
                                    </a:rPr>
                                  </m:ctrlPr>
                                </m:dPr>
                                <m:e>
                                  <m:r>
                                    <a:rPr lang="en-US" altLang="zh-CN" sz="1400" i="1">
                                      <a:solidFill>
                                        <a:srgbClr val="000000"/>
                                      </a:solidFill>
                                      <a:latin typeface="Cambria Math" panose="02040503050406030204" pitchFamily="18" charset="0"/>
                                      <a:ea typeface="微软雅黑" panose="020B0503020204020204" pitchFamily="34" charset="-122"/>
                                    </a:rPr>
                                    <m:t>𝑧</m:t>
                                  </m:r>
                                </m:e>
                              </m:d>
                              <m:r>
                                <a:rPr lang="en-US" altLang="zh-CN" sz="1400" b="0" i="1" smtClean="0">
                                  <a:solidFill>
                                    <a:srgbClr val="000000"/>
                                  </a:solidFill>
                                  <a:latin typeface="Cambria Math" panose="02040503050406030204" pitchFamily="18" charset="0"/>
                                  <a:ea typeface="微软雅黑" panose="020B0503020204020204" pitchFamily="34" charset="-122"/>
                                </a:rPr>
                                <m:t>(</m:t>
                              </m:r>
                              <m:r>
                                <a:rPr lang="en-US" altLang="zh-CN" sz="1400" i="1">
                                  <a:solidFill>
                                    <a:srgbClr val="000000"/>
                                  </a:solidFill>
                                  <a:latin typeface="Cambria Math" panose="02040503050406030204" pitchFamily="18" charset="0"/>
                                  <a:ea typeface="微软雅黑" panose="020B0503020204020204" pitchFamily="34" charset="-122"/>
                                </a:rPr>
                                <m:t>1−</m:t>
                              </m:r>
                              <m:r>
                                <a:rPr lang="zh-CN" altLang="en-US" sz="1400" i="1">
                                  <a:solidFill>
                                    <a:srgbClr val="000000"/>
                                  </a:solidFill>
                                  <a:latin typeface="Cambria Math" panose="02040503050406030204" pitchFamily="18" charset="0"/>
                                  <a:ea typeface="微软雅黑" panose="020B0503020204020204" pitchFamily="34" charset="-122"/>
                                </a:rPr>
                                <m:t>𝜎</m:t>
                              </m:r>
                              <m:d>
                                <m:dPr>
                                  <m:ctrlPr>
                                    <a:rPr lang="en-US" altLang="zh-CN" sz="1400" i="1">
                                      <a:solidFill>
                                        <a:srgbClr val="000000"/>
                                      </a:solidFill>
                                      <a:latin typeface="Cambria Math" panose="02040503050406030204" pitchFamily="18" charset="0"/>
                                      <a:ea typeface="微软雅黑" panose="020B0503020204020204" pitchFamily="34" charset="-122"/>
                                    </a:rPr>
                                  </m:ctrlPr>
                                </m:dPr>
                                <m:e>
                                  <m:r>
                                    <a:rPr lang="en-US" altLang="zh-CN" sz="1400" i="1">
                                      <a:solidFill>
                                        <a:srgbClr val="000000"/>
                                      </a:solidFill>
                                      <a:latin typeface="Cambria Math" panose="02040503050406030204" pitchFamily="18" charset="0"/>
                                      <a:ea typeface="微软雅黑" panose="020B0503020204020204" pitchFamily="34" charset="-122"/>
                                    </a:rPr>
                                    <m:t>𝑧</m:t>
                                  </m:r>
                                </m:e>
                              </m:d>
                              <m:r>
                                <a:rPr lang="en-US" altLang="zh-CN" sz="1400" b="0" i="1" smtClean="0">
                                  <a:solidFill>
                                    <a:srgbClr val="000000"/>
                                  </a:solidFill>
                                  <a:latin typeface="Cambria Math" panose="02040503050406030204" pitchFamily="18" charset="0"/>
                                  <a:ea typeface="微软雅黑" panose="020B0503020204020204" pitchFamily="34" charset="-122"/>
                                </a:rPr>
                                <m:t>)</m:t>
                              </m:r>
                            </m:den>
                          </m:f>
                          <m:r>
                            <a:rPr lang="en-US" altLang="zh-CN" sz="1400" i="1">
                              <a:solidFill>
                                <a:srgbClr val="000000"/>
                              </a:solidFill>
                              <a:latin typeface="Cambria Math" panose="02040503050406030204" pitchFamily="18" charset="0"/>
                              <a:ea typeface="Cambria Math" panose="02040503050406030204" pitchFamily="18" charset="0"/>
                            </a:rPr>
                            <m:t>∙</m:t>
                          </m:r>
                          <m:r>
                            <a:rPr lang="en-US" altLang="zh-CN" sz="1400" b="0" i="1" smtClean="0">
                              <a:solidFill>
                                <a:srgbClr val="000000"/>
                              </a:solidFill>
                              <a:latin typeface="Cambria Math" panose="02040503050406030204" pitchFamily="18" charset="0"/>
                              <a:ea typeface="Cambria Math" panose="02040503050406030204" pitchFamily="18" charset="0"/>
                            </a:rPr>
                            <m:t>(</m:t>
                          </m:r>
                          <m:r>
                            <a:rPr lang="zh-CN" altLang="en-US" sz="1400" i="1">
                              <a:solidFill>
                                <a:srgbClr val="000000"/>
                              </a:solidFill>
                              <a:latin typeface="Cambria Math" panose="02040503050406030204" pitchFamily="18" charset="0"/>
                              <a:ea typeface="微软雅黑" panose="020B0503020204020204" pitchFamily="34" charset="-122"/>
                            </a:rPr>
                            <m:t>𝜎</m:t>
                          </m:r>
                          <m:d>
                            <m:dPr>
                              <m:ctrlPr>
                                <a:rPr lang="en-US" altLang="zh-CN" sz="1400" i="1">
                                  <a:solidFill>
                                    <a:srgbClr val="000000"/>
                                  </a:solidFill>
                                  <a:latin typeface="Cambria Math" panose="02040503050406030204" pitchFamily="18" charset="0"/>
                                  <a:ea typeface="微软雅黑" panose="020B0503020204020204" pitchFamily="34" charset="-122"/>
                                </a:rPr>
                              </m:ctrlPr>
                            </m:dPr>
                            <m:e>
                              <m:r>
                                <a:rPr lang="en-US" altLang="zh-CN" sz="1400" i="1">
                                  <a:solidFill>
                                    <a:srgbClr val="000000"/>
                                  </a:solidFill>
                                  <a:latin typeface="Cambria Math" panose="02040503050406030204" pitchFamily="18" charset="0"/>
                                  <a:ea typeface="微软雅黑" panose="020B0503020204020204" pitchFamily="34" charset="-122"/>
                                </a:rPr>
                                <m:t>𝑧</m:t>
                              </m:r>
                            </m:e>
                          </m:d>
                          <m:r>
                            <a:rPr lang="en-US" altLang="zh-CN" sz="1400" b="0" i="1" smtClean="0">
                              <a:solidFill>
                                <a:srgbClr val="000000"/>
                              </a:solidFill>
                              <a:latin typeface="Cambria Math" panose="02040503050406030204" pitchFamily="18" charset="0"/>
                              <a:ea typeface="微软雅黑" panose="020B0503020204020204" pitchFamily="34" charset="-122"/>
                            </a:rPr>
                            <m:t>−</m:t>
                          </m:r>
                          <m:r>
                            <a:rPr lang="en-US" altLang="zh-CN" sz="1400" b="0" i="1" smtClean="0">
                              <a:solidFill>
                                <a:srgbClr val="000000"/>
                              </a:solidFill>
                              <a:latin typeface="Cambria Math" panose="02040503050406030204" pitchFamily="18" charset="0"/>
                              <a:ea typeface="微软雅黑" panose="020B0503020204020204" pitchFamily="34" charset="-122"/>
                            </a:rPr>
                            <m:t>𝑦</m:t>
                          </m:r>
                          <m:r>
                            <a:rPr lang="en-US" altLang="zh-CN" sz="1400" b="0" i="1" smtClean="0">
                              <a:solidFill>
                                <a:srgbClr val="000000"/>
                              </a:solidFill>
                              <a:latin typeface="Cambria Math" panose="02040503050406030204" pitchFamily="18" charset="0"/>
                              <a:ea typeface="Cambria Math" panose="02040503050406030204" pitchFamily="18" charset="0"/>
                            </a:rPr>
                            <m:t>)</m:t>
                          </m:r>
                        </m:e>
                      </m:nary>
                    </m:oMath>
                  </m:oMathPara>
                </a14:m>
                <a:endParaRPr lang="en-US" altLang="zh-CN" sz="1400" dirty="0">
                  <a:solidFill>
                    <a:srgbClr val="000000"/>
                  </a:solidFill>
                  <a:latin typeface="微软雅黑 Light" panose="020B0502040204020203" pitchFamily="34" charset="-122"/>
                  <a:ea typeface="微软雅黑 Light" panose="020B0502040204020203" pitchFamily="34"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603023" y="3086606"/>
                <a:ext cx="9244361" cy="881973"/>
              </a:xfrm>
              <a:prstGeom prst="rect">
                <a:avLst/>
              </a:prstGeom>
              <a:blipFill rotWithShape="0">
                <a:blip r:embed="rId8"/>
                <a:stretch>
                  <a:fillRect/>
                </a:stretch>
              </a:blipFill>
            </p:spPr>
            <p:txBody>
              <a:bodyPr/>
              <a:lstStyle/>
              <a:p>
                <a:r>
                  <a:rPr lang="zh-CN" altLang="en-US">
                    <a:noFill/>
                  </a:rPr>
                  <a:t> </a:t>
                </a:r>
              </a:p>
            </p:txBody>
          </p:sp>
        </mc:Fallback>
      </mc:AlternateContent>
      <p:sp>
        <p:nvSpPr>
          <p:cNvPr id="14" name="下箭头 13"/>
          <p:cNvSpPr/>
          <p:nvPr/>
        </p:nvSpPr>
        <p:spPr>
          <a:xfrm>
            <a:off x="3857552" y="4067846"/>
            <a:ext cx="304800" cy="514350"/>
          </a:xfrm>
          <a:prstGeom prst="downArrow">
            <a:avLst/>
          </a:prstGeom>
          <a:solidFill>
            <a:srgbClr val="1C479B"/>
          </a:solidFill>
          <a:ln>
            <a:solidFill>
              <a:srgbClr val="EAEAE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 name="矩形 15"/>
              <p:cNvSpPr/>
              <p:nvPr/>
            </p:nvSpPr>
            <p:spPr>
              <a:xfrm>
                <a:off x="3237900" y="4953026"/>
                <a:ext cx="3175613" cy="7645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000000"/>
                              </a:solidFill>
                              <a:latin typeface="Cambria Math" panose="02040503050406030204" pitchFamily="18" charset="0"/>
                              <a:ea typeface="微软雅黑" panose="020B0503020204020204" pitchFamily="34" charset="-122"/>
                            </a:rPr>
                          </m:ctrlPr>
                        </m:fPr>
                        <m:num>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𝐿</m:t>
                          </m:r>
                        </m:num>
                        <m:den>
                          <m:r>
                            <a:rPr lang="en-US" altLang="zh-CN" i="1">
                              <a:solidFill>
                                <a:srgbClr val="000000"/>
                              </a:solidFill>
                              <a:latin typeface="Cambria Math" panose="02040503050406030204" pitchFamily="18" charset="0"/>
                              <a:ea typeface="微软雅黑" panose="020B0503020204020204" pitchFamily="34" charset="-122"/>
                            </a:rPr>
                            <m:t>𝜕</m:t>
                          </m:r>
                          <m:r>
                            <a:rPr lang="en-US" altLang="zh-CN" b="1" i="1">
                              <a:solidFill>
                                <a:srgbClr val="000000"/>
                              </a:solidFill>
                              <a:latin typeface="Cambria Math" panose="02040503050406030204" pitchFamily="18" charset="0"/>
                              <a:ea typeface="微软雅黑" panose="020B0503020204020204" pitchFamily="34" charset="-122"/>
                            </a:rPr>
                            <m:t>𝒘</m:t>
                          </m:r>
                        </m:den>
                      </m:f>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m:t>
                      </m:r>
                      <m:f>
                        <m:fPr>
                          <m:ctrlPr>
                            <a:rPr lang="en-US" altLang="zh-CN" i="1">
                              <a:solidFill>
                                <a:srgbClr val="000000"/>
                              </a:solidFill>
                              <a:latin typeface="Cambria Math" panose="02040503050406030204" pitchFamily="18" charset="0"/>
                              <a:ea typeface="微软雅黑" panose="020B0503020204020204" pitchFamily="34" charset="-122"/>
                            </a:rPr>
                          </m:ctrlPr>
                        </m:fPr>
                        <m:num>
                          <m:r>
                            <a:rPr lang="en-US" altLang="zh-CN" i="1">
                              <a:solidFill>
                                <a:srgbClr val="000000"/>
                              </a:solidFill>
                              <a:latin typeface="Cambria Math" panose="02040503050406030204" pitchFamily="18" charset="0"/>
                              <a:ea typeface="微软雅黑" panose="020B0503020204020204" pitchFamily="34" charset="-122"/>
                            </a:rPr>
                            <m:t>1</m:t>
                          </m:r>
                        </m:num>
                        <m:den>
                          <m:r>
                            <a:rPr lang="en-US" altLang="zh-CN" b="0" i="1" smtClean="0">
                              <a:solidFill>
                                <a:srgbClr val="000000"/>
                              </a:solidFill>
                              <a:latin typeface="Cambria Math" panose="02040503050406030204" pitchFamily="18" charset="0"/>
                              <a:ea typeface="微软雅黑" panose="020B0503020204020204" pitchFamily="34" charset="-122"/>
                            </a:rPr>
                            <m:t>𝑚</m:t>
                          </m:r>
                        </m:den>
                      </m:f>
                      <m:nary>
                        <m:naryPr>
                          <m:chr m:val="∑"/>
                          <m:supHide m:val="on"/>
                          <m:ctrlPr>
                            <a:rPr lang="en-US" altLang="zh-CN" i="1">
                              <a:solidFill>
                                <a:srgbClr val="000000"/>
                              </a:solidFill>
                              <a:latin typeface="Cambria Math" panose="02040503050406030204" pitchFamily="18" charset="0"/>
                              <a:ea typeface="微软雅黑" panose="020B0503020204020204" pitchFamily="34" charset="-122"/>
                            </a:rPr>
                          </m:ctrlPr>
                        </m:naryPr>
                        <m:sub>
                          <m:r>
                            <a:rPr lang="en-US" altLang="zh-CN" b="1" i="1">
                              <a:solidFill>
                                <a:srgbClr val="000000"/>
                              </a:solidFill>
                              <a:latin typeface="Cambria Math" panose="02040503050406030204" pitchFamily="18" charset="0"/>
                              <a:ea typeface="微软雅黑" panose="020B0503020204020204" pitchFamily="34" charset="-122"/>
                            </a:rPr>
                            <m:t>𝒙</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𝐷</m:t>
                          </m:r>
                        </m:sub>
                        <m:sup/>
                        <m:e>
                          <m:r>
                            <a:rPr lang="en-US" altLang="zh-CN" i="1" smtClean="0">
                              <a:solidFill>
                                <a:srgbClr val="000000"/>
                              </a:solidFill>
                              <a:latin typeface="Cambria Math" panose="02040503050406030204" pitchFamily="18" charset="0"/>
                              <a:ea typeface="微软雅黑" panose="020B0503020204020204" pitchFamily="34" charset="-122"/>
                            </a:rPr>
                            <m:t> </m:t>
                          </m:r>
                          <m:r>
                            <a:rPr lang="en-US" altLang="zh-CN" i="1">
                              <a:solidFill>
                                <a:srgbClr val="000000"/>
                              </a:solidFill>
                              <a:latin typeface="Cambria Math" panose="02040503050406030204" pitchFamily="18" charset="0"/>
                              <a:ea typeface="Cambria Math" panose="02040503050406030204" pitchFamily="18" charset="0"/>
                            </a:rPr>
                            <m:t>(</m:t>
                          </m:r>
                          <m:r>
                            <a:rPr lang="zh-CN" altLang="en-US" i="1">
                              <a:solidFill>
                                <a:srgbClr val="000000"/>
                              </a:solidFill>
                              <a:latin typeface="Cambria Math" panose="02040503050406030204" pitchFamily="18" charset="0"/>
                              <a:ea typeface="微软雅黑" panose="020B0503020204020204" pitchFamily="34" charset="-122"/>
                            </a:rPr>
                            <m:t>𝜎</m:t>
                          </m:r>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i="1">
                                  <a:solidFill>
                                    <a:srgbClr val="000000"/>
                                  </a:solidFill>
                                  <a:latin typeface="Cambria Math" panose="02040503050406030204" pitchFamily="18" charset="0"/>
                                  <a:ea typeface="微软雅黑" panose="020B0503020204020204" pitchFamily="34" charset="-122"/>
                                </a:rPr>
                                <m:t>𝑧</m:t>
                              </m:r>
                            </m:e>
                          </m:d>
                          <m:r>
                            <a:rPr lang="en-US" altLang="zh-CN" i="1">
                              <a:solidFill>
                                <a:srgbClr val="000000"/>
                              </a:solidFill>
                              <a:latin typeface="Cambria Math" panose="02040503050406030204" pitchFamily="18" charset="0"/>
                              <a:ea typeface="微软雅黑" panose="020B0503020204020204" pitchFamily="34" charset="-122"/>
                            </a:rPr>
                            <m:t>−</m:t>
                          </m:r>
                          <m:r>
                            <a:rPr lang="en-US" altLang="zh-CN" i="1">
                              <a:solidFill>
                                <a:srgbClr val="000000"/>
                              </a:solidFill>
                              <a:latin typeface="Cambria Math" panose="02040503050406030204" pitchFamily="18" charset="0"/>
                              <a:ea typeface="微软雅黑" panose="020B0503020204020204" pitchFamily="34" charset="-122"/>
                            </a:rPr>
                            <m:t>𝑦</m:t>
                          </m:r>
                          <m:r>
                            <a:rPr lang="en-US" altLang="zh-CN" i="1">
                              <a:solidFill>
                                <a:srgbClr val="000000"/>
                              </a:solidFill>
                              <a:latin typeface="Cambria Math" panose="02040503050406030204" pitchFamily="18" charset="0"/>
                              <a:ea typeface="Cambria Math" panose="02040503050406030204" pitchFamily="18" charset="0"/>
                            </a:rPr>
                            <m:t>)</m:t>
                          </m:r>
                          <m:r>
                            <a:rPr lang="en-US" altLang="zh-CN" i="1" smtClean="0">
                              <a:solidFill>
                                <a:srgbClr val="000000"/>
                              </a:solidFill>
                              <a:latin typeface="Cambria Math" panose="02040503050406030204" pitchFamily="18" charset="0"/>
                              <a:ea typeface="Cambria Math" panose="02040503050406030204" pitchFamily="18" charset="0"/>
                            </a:rPr>
                            <m:t>∙</m:t>
                          </m:r>
                          <m:r>
                            <a:rPr lang="en-US" altLang="zh-CN" b="1" i="1" smtClean="0">
                              <a:solidFill>
                                <a:srgbClr val="000000"/>
                              </a:solidFill>
                              <a:latin typeface="Cambria Math" panose="02040503050406030204" pitchFamily="18" charset="0"/>
                              <a:ea typeface="Cambria Math" panose="02040503050406030204" pitchFamily="18" charset="0"/>
                            </a:rPr>
                            <m:t>𝒙</m:t>
                          </m:r>
                        </m:e>
                      </m:nary>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3237900" y="4953026"/>
                <a:ext cx="3175613" cy="764505"/>
              </a:xfrm>
              <a:prstGeom prst="rect">
                <a:avLst/>
              </a:prstGeom>
              <a:blipFill rotWithShape="0">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294524" y="5731831"/>
                <a:ext cx="2722540" cy="7643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i="1" smtClean="0">
                              <a:solidFill>
                                <a:srgbClr val="000000"/>
                              </a:solidFill>
                              <a:latin typeface="Cambria Math" panose="02040503050406030204" pitchFamily="18" charset="0"/>
                              <a:ea typeface="微软雅黑" panose="020B0503020204020204" pitchFamily="34" charset="-122"/>
                            </a:rPr>
                          </m:ctrlPr>
                        </m:fPr>
                        <m:num>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𝐿</m:t>
                          </m:r>
                        </m:num>
                        <m:den>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𝑏</m:t>
                          </m:r>
                        </m:den>
                      </m:f>
                      <m:r>
                        <a:rPr lang="en-US" altLang="zh-CN" i="1">
                          <a:solidFill>
                            <a:srgbClr val="000000"/>
                          </a:solidFill>
                          <a:latin typeface="Cambria Math" panose="02040503050406030204" pitchFamily="18" charset="0"/>
                          <a:ea typeface="微软雅黑" panose="020B0503020204020204" pitchFamily="34" charset="-122"/>
                        </a:rPr>
                        <m:t>=</m:t>
                      </m:r>
                      <m:r>
                        <a:rPr lang="en-US" altLang="zh-CN" b="0" i="1" smtClean="0">
                          <a:solidFill>
                            <a:srgbClr val="000000"/>
                          </a:solidFill>
                          <a:latin typeface="Cambria Math" panose="02040503050406030204" pitchFamily="18" charset="0"/>
                          <a:ea typeface="微软雅黑" panose="020B0503020204020204" pitchFamily="34" charset="-122"/>
                        </a:rPr>
                        <m:t>−</m:t>
                      </m:r>
                      <m:f>
                        <m:fPr>
                          <m:ctrlPr>
                            <a:rPr lang="en-US" altLang="zh-CN" i="1">
                              <a:solidFill>
                                <a:srgbClr val="000000"/>
                              </a:solidFill>
                              <a:latin typeface="Cambria Math" panose="02040503050406030204" pitchFamily="18" charset="0"/>
                              <a:ea typeface="微软雅黑" panose="020B0503020204020204" pitchFamily="34" charset="-122"/>
                            </a:rPr>
                          </m:ctrlPr>
                        </m:fPr>
                        <m:num>
                          <m:r>
                            <a:rPr lang="en-US" altLang="zh-CN" i="1">
                              <a:solidFill>
                                <a:srgbClr val="000000"/>
                              </a:solidFill>
                              <a:latin typeface="Cambria Math" panose="02040503050406030204" pitchFamily="18" charset="0"/>
                              <a:ea typeface="微软雅黑" panose="020B0503020204020204" pitchFamily="34" charset="-122"/>
                            </a:rPr>
                            <m:t>1</m:t>
                          </m:r>
                        </m:num>
                        <m:den>
                          <m:r>
                            <a:rPr lang="en-US" altLang="zh-CN" b="0" i="1" smtClean="0">
                              <a:solidFill>
                                <a:srgbClr val="000000"/>
                              </a:solidFill>
                              <a:latin typeface="Cambria Math" panose="02040503050406030204" pitchFamily="18" charset="0"/>
                              <a:ea typeface="微软雅黑" panose="020B0503020204020204" pitchFamily="34" charset="-122"/>
                            </a:rPr>
                            <m:t>𝑚</m:t>
                          </m:r>
                        </m:den>
                      </m:f>
                      <m:nary>
                        <m:naryPr>
                          <m:chr m:val="∑"/>
                          <m:supHide m:val="on"/>
                          <m:ctrlPr>
                            <a:rPr lang="en-US" altLang="zh-CN" i="1">
                              <a:solidFill>
                                <a:srgbClr val="000000"/>
                              </a:solidFill>
                              <a:latin typeface="Cambria Math" panose="02040503050406030204" pitchFamily="18" charset="0"/>
                              <a:ea typeface="微软雅黑" panose="020B0503020204020204" pitchFamily="34" charset="-122"/>
                            </a:rPr>
                          </m:ctrlPr>
                        </m:naryPr>
                        <m:sub>
                          <m:r>
                            <a:rPr lang="en-US" altLang="zh-CN" b="1" i="1">
                              <a:solidFill>
                                <a:srgbClr val="000000"/>
                              </a:solidFill>
                              <a:latin typeface="Cambria Math" panose="02040503050406030204" pitchFamily="18" charset="0"/>
                              <a:ea typeface="微软雅黑" panose="020B0503020204020204" pitchFamily="34" charset="-122"/>
                            </a:rPr>
                            <m:t>𝒙</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𝐷</m:t>
                          </m:r>
                        </m:sub>
                        <m:sup/>
                        <m:e>
                          <m:r>
                            <a:rPr lang="en-US" altLang="zh-CN" i="1" smtClean="0">
                              <a:solidFill>
                                <a:srgbClr val="000000"/>
                              </a:solidFill>
                              <a:latin typeface="Cambria Math" panose="02040503050406030204" pitchFamily="18" charset="0"/>
                              <a:ea typeface="微软雅黑" panose="020B0503020204020204" pitchFamily="34" charset="-122"/>
                            </a:rPr>
                            <m:t> </m:t>
                          </m:r>
                          <m:r>
                            <a:rPr lang="en-US" altLang="zh-CN" i="1">
                              <a:solidFill>
                                <a:srgbClr val="000000"/>
                              </a:solidFill>
                              <a:latin typeface="Cambria Math" panose="02040503050406030204" pitchFamily="18" charset="0"/>
                              <a:ea typeface="Cambria Math" panose="02040503050406030204" pitchFamily="18" charset="0"/>
                            </a:rPr>
                            <m:t>(</m:t>
                          </m:r>
                          <m:r>
                            <a:rPr lang="zh-CN" altLang="en-US" i="1">
                              <a:solidFill>
                                <a:srgbClr val="000000"/>
                              </a:solidFill>
                              <a:latin typeface="Cambria Math" panose="02040503050406030204" pitchFamily="18" charset="0"/>
                              <a:ea typeface="微软雅黑" panose="020B0503020204020204" pitchFamily="34" charset="-122"/>
                            </a:rPr>
                            <m:t>𝜎</m:t>
                          </m:r>
                          <m:d>
                            <m:dPr>
                              <m:ctrlPr>
                                <a:rPr lang="en-US" altLang="zh-CN" i="1">
                                  <a:solidFill>
                                    <a:srgbClr val="000000"/>
                                  </a:solidFill>
                                  <a:latin typeface="Cambria Math" panose="02040503050406030204" pitchFamily="18" charset="0"/>
                                  <a:ea typeface="微软雅黑" panose="020B0503020204020204" pitchFamily="34" charset="-122"/>
                                </a:rPr>
                              </m:ctrlPr>
                            </m:dPr>
                            <m:e>
                              <m:r>
                                <a:rPr lang="en-US" altLang="zh-CN" i="1">
                                  <a:solidFill>
                                    <a:srgbClr val="000000"/>
                                  </a:solidFill>
                                  <a:latin typeface="Cambria Math" panose="02040503050406030204" pitchFamily="18" charset="0"/>
                                  <a:ea typeface="微软雅黑" panose="020B0503020204020204" pitchFamily="34" charset="-122"/>
                                </a:rPr>
                                <m:t>𝑧</m:t>
                              </m:r>
                            </m:e>
                          </m:d>
                          <m:r>
                            <a:rPr lang="en-US" altLang="zh-CN" i="1">
                              <a:solidFill>
                                <a:srgbClr val="000000"/>
                              </a:solidFill>
                              <a:latin typeface="Cambria Math" panose="02040503050406030204" pitchFamily="18" charset="0"/>
                              <a:ea typeface="微软雅黑" panose="020B0503020204020204" pitchFamily="34" charset="-122"/>
                            </a:rPr>
                            <m:t>−</m:t>
                          </m:r>
                          <m:r>
                            <a:rPr lang="en-US" altLang="zh-CN" i="1">
                              <a:solidFill>
                                <a:srgbClr val="000000"/>
                              </a:solidFill>
                              <a:latin typeface="Cambria Math" panose="02040503050406030204" pitchFamily="18" charset="0"/>
                              <a:ea typeface="微软雅黑" panose="020B0503020204020204" pitchFamily="34" charset="-122"/>
                            </a:rPr>
                            <m:t>𝑦</m:t>
                          </m:r>
                          <m:r>
                            <a:rPr lang="en-US" altLang="zh-CN" i="1">
                              <a:solidFill>
                                <a:srgbClr val="000000"/>
                              </a:solidFill>
                              <a:latin typeface="Cambria Math" panose="02040503050406030204" pitchFamily="18" charset="0"/>
                              <a:ea typeface="Cambria Math" panose="02040503050406030204" pitchFamily="18" charset="0"/>
                            </a:rPr>
                            <m:t>)</m:t>
                          </m:r>
                        </m:e>
                      </m:nary>
                    </m:oMath>
                  </m:oMathPara>
                </a14:m>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3294524" y="5731831"/>
                <a:ext cx="2722540" cy="764376"/>
              </a:xfrm>
              <a:prstGeom prst="rect">
                <a:avLst/>
              </a:prstGeom>
              <a:blipFill rotWithShape="0">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Rectangle 1"/>
              <p:cNvSpPr>
                <a:spLocks noChangeArrowheads="1"/>
              </p:cNvSpPr>
              <p:nvPr/>
            </p:nvSpPr>
            <p:spPr bwMode="auto">
              <a:xfrm>
                <a:off x="6715053" y="5335278"/>
                <a:ext cx="2569887" cy="923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kumimoji="0" lang="zh-CN" altLang="zh-CN" b="0" i="0" u="none" strike="noStrike" cap="none" normalizeH="0" baseline="0" dirty="0">
                    <a:ln>
                      <a:noFill/>
                    </a:ln>
                    <a:solidFill>
                      <a:srgbClr val="333333"/>
                    </a:solidFill>
                    <a:effectLst/>
                    <a:latin typeface="微软雅黑 Light" panose="020B0502040204020203" pitchFamily="34" charset="-122"/>
                    <a:ea typeface="微软雅黑 Light" panose="020B0502040204020203" pitchFamily="34" charset="-122"/>
                  </a:rPr>
                  <a:t>sigmoid的导数被约掉，这样最后一层的梯度中就没有</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zh-CN" altLang="en-US" i="1">
                            <a:latin typeface="Cambria Math" panose="02040503050406030204" pitchFamily="18" charset="0"/>
                            <a:ea typeface="微软雅黑" panose="020B0503020204020204" pitchFamily="34" charset="-122"/>
                          </a:rPr>
                          <m:t>𝜎</m:t>
                        </m:r>
                      </m:e>
                      <m:sup>
                        <m:r>
                          <a:rPr lang="en-US" altLang="zh-CN" i="1">
                            <a:latin typeface="Cambria Math" panose="02040503050406030204" pitchFamily="18" charset="0"/>
                            <a:ea typeface="微软雅黑" panose="020B0503020204020204" pitchFamily="34" charset="-122"/>
                          </a:rPr>
                          <m:t>′</m:t>
                        </m:r>
                      </m:sup>
                    </m:sSup>
                    <m:d>
                      <m:dPr>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𝑧</m:t>
                        </m:r>
                      </m:e>
                    </m:d>
                  </m:oMath>
                </a14:m>
                <a:r>
                  <a:rPr kumimoji="0" lang="zh-CN" altLang="zh-CN"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   </a:t>
                </a:r>
              </a:p>
            </p:txBody>
          </p:sp>
        </mc:Choice>
        <mc:Fallback xmlns="">
          <p:sp>
            <p:nvSpPr>
              <p:cNvPr id="19" name="Rectangle 1"/>
              <p:cNvSpPr>
                <a:spLocks noRot="1" noChangeAspect="1" noMove="1" noResize="1" noEditPoints="1" noAdjustHandles="1" noChangeArrowheads="1" noChangeShapeType="1" noTextEdit="1"/>
              </p:cNvSpPr>
              <p:nvPr/>
            </p:nvSpPr>
            <p:spPr bwMode="auto">
              <a:xfrm>
                <a:off x="6715053" y="5335278"/>
                <a:ext cx="2569887" cy="923330"/>
              </a:xfrm>
              <a:prstGeom prst="rect">
                <a:avLst/>
              </a:prstGeom>
              <a:blipFill rotWithShape="0">
                <a:blip r:embed="rId11"/>
                <a:stretch>
                  <a:fillRect l="-2138" t="-3289" r="-1900" b="-986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cxnSp>
        <p:nvCxnSpPr>
          <p:cNvPr id="20" name="直接连接符 19"/>
          <p:cNvCxnSpPr/>
          <p:nvPr/>
        </p:nvCxnSpPr>
        <p:spPr>
          <a:xfrm>
            <a:off x="6261420" y="5439446"/>
            <a:ext cx="434582" cy="249510"/>
          </a:xfrm>
          <a:prstGeom prst="line">
            <a:avLst/>
          </a:prstGeom>
          <a:noFill/>
          <a:ln w="15875" cap="flat" cmpd="sng">
            <a:solidFill>
              <a:srgbClr val="1C479B"/>
            </a:solidFill>
            <a:prstDash val="solid"/>
            <a:round/>
            <a:headEnd/>
            <a:tailEnd/>
          </a:ln>
          <a:effectLst/>
        </p:spPr>
      </p:cxnSp>
      <p:cxnSp>
        <p:nvCxnSpPr>
          <p:cNvPr id="21" name="直接连接符 20"/>
          <p:cNvCxnSpPr/>
          <p:nvPr/>
        </p:nvCxnSpPr>
        <p:spPr>
          <a:xfrm flipH="1">
            <a:off x="6057827" y="5682991"/>
            <a:ext cx="638175" cy="405370"/>
          </a:xfrm>
          <a:prstGeom prst="line">
            <a:avLst/>
          </a:prstGeom>
          <a:noFill/>
          <a:ln w="15875" cap="flat" cmpd="sng">
            <a:solidFill>
              <a:srgbClr val="1C479B"/>
            </a:solidFill>
            <a:prstDash val="solid"/>
            <a:round/>
            <a:headEnd/>
            <a:tailEnd/>
          </a:ln>
          <a:effectLst/>
        </p:spPr>
      </p:cxnSp>
      <p:sp>
        <p:nvSpPr>
          <p:cNvPr id="24" name="灯片编号占位符 8">
            <a:extLst>
              <a:ext uri="{FF2B5EF4-FFF2-40B4-BE49-F238E27FC236}">
                <a16:creationId xmlns:a16="http://schemas.microsoft.com/office/drawing/2014/main" id="{4D31610E-F078-4B3E-B1D3-2974C874F064}"/>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57</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5104702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神经网络中损失函数的特性</a:t>
            </a:r>
            <a:endParaRPr lang="en-US" altLang="zh-CN" sz="2600" b="1" dirty="0"/>
          </a:p>
        </p:txBody>
      </p:sp>
      <p:sp>
        <p:nvSpPr>
          <p:cNvPr id="22" name="矩形 21"/>
          <p:cNvSpPr/>
          <p:nvPr/>
        </p:nvSpPr>
        <p:spPr>
          <a:xfrm>
            <a:off x="689495" y="1475621"/>
            <a:ext cx="10297373" cy="3631763"/>
          </a:xfrm>
          <a:prstGeom prst="rect">
            <a:avLst/>
          </a:prstGeom>
        </p:spPr>
        <p:txBody>
          <a:bodyPr wrap="square">
            <a:spAutoFit/>
          </a:bodyPr>
          <a:lstStyle/>
          <a:p>
            <a:pPr marL="285750" indent="-285750" latinLnBrk="1">
              <a:lnSpc>
                <a:spcPct val="200000"/>
              </a:lnSpc>
              <a:buFont typeface="Wingdings" panose="05000000000000000000" pitchFamily="2" charset="2"/>
              <a:buChar char="Ø"/>
            </a:pPr>
            <a:r>
              <a:rPr lang="zh-CN" altLang="en-US" sz="2000" dirty="0">
                <a:latin typeface="微软雅黑 Light" panose="020B0502040204020203" pitchFamily="34" charset="-122"/>
                <a:ea typeface="微软雅黑 Light" panose="020B0502040204020203" pitchFamily="34" charset="-122"/>
              </a:rPr>
              <a:t>同一个算法的损失函数不是唯一的</a:t>
            </a:r>
          </a:p>
          <a:p>
            <a:pPr marL="285750" indent="-285750" latinLnBrk="1">
              <a:lnSpc>
                <a:spcPct val="200000"/>
              </a:lnSpc>
              <a:buFont typeface="Wingdings" panose="05000000000000000000" pitchFamily="2" charset="2"/>
              <a:buChar char="Ø"/>
            </a:pPr>
            <a:r>
              <a:rPr lang="zh-CN" altLang="en-US" sz="2000" dirty="0">
                <a:latin typeface="微软雅黑 Light" panose="020B0502040204020203" pitchFamily="34" charset="-122"/>
                <a:ea typeface="微软雅黑 Light" panose="020B0502040204020203" pitchFamily="34" charset="-122"/>
              </a:rPr>
              <a:t>损失函数是参数</a:t>
            </a:r>
            <a:r>
              <a:rPr lang="en-US" altLang="zh-CN" sz="2000" dirty="0">
                <a:latin typeface="微软雅黑 Light" panose="020B0502040204020203" pitchFamily="34" charset="-122"/>
                <a:ea typeface="微软雅黑 Light" panose="020B0502040204020203" pitchFamily="34" charset="-122"/>
              </a:rPr>
              <a:t>(</a:t>
            </a:r>
            <a:r>
              <a:rPr lang="en-US" altLang="zh-CN" sz="2000" dirty="0" err="1">
                <a:latin typeface="微软雅黑 Light" panose="020B0502040204020203" pitchFamily="34" charset="-122"/>
                <a:ea typeface="微软雅黑 Light" panose="020B0502040204020203" pitchFamily="34" charset="-122"/>
              </a:rPr>
              <a:t>w,b</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的函数</a:t>
            </a:r>
          </a:p>
          <a:p>
            <a:pPr marL="285750" indent="-285750" latinLnBrk="1">
              <a:lnSpc>
                <a:spcPct val="150000"/>
              </a:lnSpc>
              <a:buFont typeface="Wingdings" panose="05000000000000000000" pitchFamily="2" charset="2"/>
              <a:buChar char="Ø"/>
            </a:pPr>
            <a:r>
              <a:rPr lang="zh-CN" altLang="en-US" sz="2000" dirty="0">
                <a:latin typeface="微软雅黑 Light" panose="020B0502040204020203" pitchFamily="34" charset="-122"/>
                <a:ea typeface="微软雅黑 Light" panose="020B0502040204020203" pitchFamily="34" charset="-122"/>
              </a:rPr>
              <a:t>损失函数可以评价网络模型的好坏，损失函数越小说明模型和参数越符合训练样本</a:t>
            </a:r>
            <a:r>
              <a:rPr lang="en-US" altLang="zh-CN" sz="2000" dirty="0">
                <a:latin typeface="微软雅黑 Light" panose="020B0502040204020203" pitchFamily="34" charset="-122"/>
                <a:ea typeface="微软雅黑 Light" panose="020B0502040204020203" pitchFamily="34" charset="-122"/>
              </a:rPr>
              <a:t>(x, y)</a:t>
            </a:r>
            <a:endParaRPr lang="zh-CN" altLang="en-US" sz="2000" dirty="0">
              <a:latin typeface="微软雅黑 Light" panose="020B0502040204020203" pitchFamily="34" charset="-122"/>
              <a:ea typeface="微软雅黑 Light" panose="020B0502040204020203" pitchFamily="34" charset="-122"/>
            </a:endParaRPr>
          </a:p>
          <a:p>
            <a:pPr marL="285750" indent="-285750" latinLnBrk="1">
              <a:lnSpc>
                <a:spcPct val="200000"/>
              </a:lnSpc>
              <a:buFont typeface="Wingdings" panose="05000000000000000000" pitchFamily="2" charset="2"/>
              <a:buChar char="Ø"/>
            </a:pPr>
            <a:r>
              <a:rPr lang="zh-CN" altLang="en-US" sz="2000" dirty="0">
                <a:latin typeface="微软雅黑 Light" panose="020B0502040204020203" pitchFamily="34" charset="-122"/>
                <a:ea typeface="微软雅黑 Light" panose="020B0502040204020203" pitchFamily="34" charset="-122"/>
              </a:rPr>
              <a:t>损失函数是一个标量</a:t>
            </a:r>
            <a:endParaRPr lang="en-US" altLang="zh-CN" sz="2000" dirty="0">
              <a:latin typeface="微软雅黑 Light" panose="020B0502040204020203" pitchFamily="34" charset="-122"/>
              <a:ea typeface="微软雅黑 Light" panose="020B0502040204020203" pitchFamily="34" charset="-122"/>
            </a:endParaRPr>
          </a:p>
          <a:p>
            <a:pPr marL="285750" indent="-285750" latinLnBrk="1">
              <a:lnSpc>
                <a:spcPct val="200000"/>
              </a:lnSpc>
              <a:buFont typeface="Wingdings" panose="05000000000000000000" pitchFamily="2" charset="2"/>
              <a:buChar char="Ø"/>
            </a:pPr>
            <a:r>
              <a:rPr lang="zh-CN" altLang="en-US" sz="2000" dirty="0">
                <a:latin typeface="微软雅黑 Light" panose="020B0502040204020203" pitchFamily="34" charset="-122"/>
                <a:ea typeface="微软雅黑 Light" panose="020B0502040204020203" pitchFamily="34" charset="-122"/>
              </a:rPr>
              <a:t>选择损失函数时，挑选对参数</a:t>
            </a:r>
            <a:r>
              <a:rPr lang="en-US" altLang="zh-CN" sz="2000" dirty="0">
                <a:latin typeface="微软雅黑 Light" panose="020B0502040204020203" pitchFamily="34" charset="-122"/>
                <a:ea typeface="微软雅黑 Light" panose="020B0502040204020203" pitchFamily="34" charset="-122"/>
              </a:rPr>
              <a:t>(</a:t>
            </a:r>
            <a:r>
              <a:rPr lang="en-US" altLang="zh-CN" sz="2000" dirty="0" err="1">
                <a:latin typeface="微软雅黑 Light" panose="020B0502040204020203" pitchFamily="34" charset="-122"/>
                <a:ea typeface="微软雅黑 Light" panose="020B0502040204020203" pitchFamily="34" charset="-122"/>
              </a:rPr>
              <a:t>w,b</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可微的函数（全微分存在，偏导数一定存在）</a:t>
            </a:r>
            <a:endParaRPr lang="en-US" altLang="zh-CN" sz="2000" dirty="0">
              <a:latin typeface="微软雅黑 Light" panose="020B0502040204020203" pitchFamily="34" charset="-122"/>
              <a:ea typeface="微软雅黑 Light" panose="020B0502040204020203" pitchFamily="34" charset="-122"/>
            </a:endParaRPr>
          </a:p>
          <a:p>
            <a:pPr marL="285750" indent="-285750" latinLnBrk="1">
              <a:lnSpc>
                <a:spcPct val="200000"/>
              </a:lnSpc>
              <a:buFont typeface="Wingdings" panose="05000000000000000000" pitchFamily="2" charset="2"/>
              <a:buChar char="Ø"/>
            </a:pPr>
            <a:r>
              <a:rPr lang="zh-CN" altLang="en-US" sz="2000" b="0" i="0" dirty="0">
                <a:effectLst/>
                <a:latin typeface="微软雅黑 Light" panose="020B0502040204020203" pitchFamily="34" charset="-122"/>
                <a:ea typeface="微软雅黑 Light" panose="020B0502040204020203" pitchFamily="34" charset="-122"/>
              </a:rPr>
              <a:t>损失函数又称为代价函数、目标函数</a:t>
            </a:r>
          </a:p>
        </p:txBody>
      </p:sp>
      <p:sp>
        <p:nvSpPr>
          <p:cNvPr id="11" name="灯片编号占位符 8">
            <a:extLst>
              <a:ext uri="{FF2B5EF4-FFF2-40B4-BE49-F238E27FC236}">
                <a16:creationId xmlns:a16="http://schemas.microsoft.com/office/drawing/2014/main" id="{2AE4C70E-5AA7-417F-B266-7FCBED5BBE45}"/>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58</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3112394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本章提纲</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1" name="矩形 20"/>
          <p:cNvSpPr/>
          <p:nvPr/>
        </p:nvSpPr>
        <p:spPr>
          <a:xfrm>
            <a:off x="946463" y="697477"/>
            <a:ext cx="10301608" cy="58721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从机器学习到神经网络</a:t>
            </a:r>
          </a:p>
          <a:p>
            <a:pPr marL="45720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正向计算与反向传播</a:t>
            </a:r>
            <a:endParaRPr lang="en-US" altLang="zh-CN" sz="2800" dirty="0">
              <a:solidFill>
                <a:sysClr val="windowText" lastClr="000000"/>
              </a:solidFill>
            </a:endParaRPr>
          </a:p>
          <a:p>
            <a:pPr marL="457200" lvl="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神经网络设计原则</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网络的拓扑结构</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激活函数</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损失函数</a:t>
            </a:r>
            <a:endParaRPr lang="en-US" altLang="zh-CN" sz="2800" dirty="0">
              <a:solidFill>
                <a:sysClr val="windowText" lastClr="000000"/>
              </a:solidFill>
            </a:endParaRPr>
          </a:p>
          <a:p>
            <a:pPr marL="457200" indent="-457200">
              <a:lnSpc>
                <a:spcPct val="150000"/>
              </a:lnSpc>
              <a:buClr>
                <a:srgbClr val="727CA3"/>
              </a:buClr>
              <a:buFont typeface="Wingdings" panose="05000000000000000000" pitchFamily="2" charset="2"/>
              <a:buChar char="Ø"/>
            </a:pPr>
            <a:r>
              <a:rPr lang="zh-CN" altLang="en-US" sz="2800" u="sng" dirty="0">
                <a:solidFill>
                  <a:sysClr val="windowText" lastClr="000000"/>
                </a:solidFill>
              </a:rPr>
              <a:t>过拟合与正则化</a:t>
            </a:r>
            <a:endParaRPr lang="en-US" altLang="zh-CN" sz="2800" u="sng" dirty="0">
              <a:solidFill>
                <a:sysClr val="windowText" lastClr="000000"/>
              </a:solidFill>
            </a:endParaRPr>
          </a:p>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交叉验证</a:t>
            </a:r>
          </a:p>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小结</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10" name="灯片编号占位符 8">
            <a:extLst>
              <a:ext uri="{FF2B5EF4-FFF2-40B4-BE49-F238E27FC236}">
                <a16:creationId xmlns:a16="http://schemas.microsoft.com/office/drawing/2014/main" id="{1EE167AC-129F-425D-962F-472E089D3729}"/>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59</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3426462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相关定义</a:t>
            </a:r>
            <a:endParaRPr lang="en-US" altLang="zh-CN" sz="2600" b="1" dirty="0"/>
          </a:p>
        </p:txBody>
      </p:sp>
      <p:sp>
        <p:nvSpPr>
          <p:cNvPr id="8" name="矩形 7"/>
          <p:cNvSpPr/>
          <p:nvPr/>
        </p:nvSpPr>
        <p:spPr>
          <a:xfrm>
            <a:off x="779094" y="1406172"/>
            <a:ext cx="10592561" cy="1558247"/>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sz="2200" dirty="0">
                <a:solidFill>
                  <a:srgbClr val="4F4F4F"/>
                </a:solidFill>
                <a:latin typeface="微软雅黑 Light" panose="020B0502040204020203" pitchFamily="34" charset="-122"/>
                <a:ea typeface="微软雅黑 Light" panose="020B0502040204020203" pitchFamily="34" charset="-122"/>
              </a:rPr>
              <a:t>机器学习不仅要求数据在训练集上求得一个较小的误差，在测试集上也要表现好。因为模型最终是要部署到没有见过训练数据的真实场景。提升模型在测试集上的预测效果叫做</a:t>
            </a:r>
            <a:r>
              <a:rPr lang="zh-CN" altLang="en-US" sz="2200" dirty="0">
                <a:solidFill>
                  <a:srgbClr val="C00000"/>
                </a:solidFill>
                <a:latin typeface="微软雅黑 Light" panose="020B0502040204020203" pitchFamily="34" charset="-122"/>
                <a:ea typeface="微软雅黑 Light" panose="020B0502040204020203" pitchFamily="34" charset="-122"/>
              </a:rPr>
              <a:t>泛化</a:t>
            </a:r>
            <a:r>
              <a:rPr lang="zh-CN" altLang="en-US" sz="2200" dirty="0">
                <a:solidFill>
                  <a:srgbClr val="4F4F4F"/>
                </a:solidFill>
                <a:latin typeface="微软雅黑 Light" panose="020B0502040204020203" pitchFamily="34" charset="-122"/>
                <a:ea typeface="微软雅黑 Light" panose="020B0502040204020203" pitchFamily="34" charset="-122"/>
              </a:rPr>
              <a:t>。</a:t>
            </a:r>
          </a:p>
        </p:txBody>
      </p:sp>
      <p:sp>
        <p:nvSpPr>
          <p:cNvPr id="9" name="矩形 8"/>
          <p:cNvSpPr/>
          <p:nvPr/>
        </p:nvSpPr>
        <p:spPr>
          <a:xfrm>
            <a:off x="789128" y="4149997"/>
            <a:ext cx="10592561" cy="1050416"/>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sz="2200" dirty="0">
                <a:solidFill>
                  <a:srgbClr val="4F4F4F"/>
                </a:solidFill>
                <a:latin typeface="微软雅黑 Light" panose="020B0502040204020203" pitchFamily="34" charset="-122"/>
                <a:ea typeface="微软雅黑 Light" panose="020B0502040204020203" pitchFamily="34" charset="-122"/>
              </a:rPr>
              <a:t>神经网络的层数增加，参数也跟着增加，表示能力大幅度增强，极容易出现过拟合现象。</a:t>
            </a:r>
          </a:p>
        </p:txBody>
      </p:sp>
      <p:sp>
        <p:nvSpPr>
          <p:cNvPr id="10" name="矩形 9"/>
          <p:cNvSpPr/>
          <p:nvPr/>
        </p:nvSpPr>
        <p:spPr>
          <a:xfrm>
            <a:off x="789129" y="5202230"/>
            <a:ext cx="10570503" cy="1050416"/>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sz="2200" dirty="0">
                <a:solidFill>
                  <a:srgbClr val="C00000"/>
                </a:solidFill>
                <a:latin typeface="微软雅黑 Light" panose="020B0502040204020203" pitchFamily="34" charset="-122"/>
                <a:ea typeface="微软雅黑 Light" panose="020B0502040204020203" pitchFamily="34" charset="-122"/>
              </a:rPr>
              <a:t>提前终止、数据集扩增、正则化（</a:t>
            </a:r>
            <a:r>
              <a:rPr lang="en-US" altLang="zh-CN" sz="2200" dirty="0">
                <a:solidFill>
                  <a:srgbClr val="C00000"/>
                </a:solidFill>
                <a:latin typeface="微软雅黑 Light" panose="020B0502040204020203" pitchFamily="34" charset="-122"/>
                <a:ea typeface="微软雅黑 Light" panose="020B0502040204020203" pitchFamily="34" charset="-122"/>
              </a:rPr>
              <a:t>Regularization</a:t>
            </a:r>
            <a:r>
              <a:rPr lang="zh-CN" altLang="en-US" sz="2200" dirty="0">
                <a:solidFill>
                  <a:srgbClr val="C00000"/>
                </a:solidFill>
                <a:latin typeface="微软雅黑 Light" panose="020B0502040204020203" pitchFamily="34" charset="-122"/>
                <a:ea typeface="微软雅黑 Light" panose="020B0502040204020203" pitchFamily="34" charset="-122"/>
              </a:rPr>
              <a:t>）、</a:t>
            </a:r>
            <a:r>
              <a:rPr lang="en-US" altLang="zh-CN" sz="2200" dirty="0">
                <a:solidFill>
                  <a:srgbClr val="C00000"/>
                </a:solidFill>
                <a:latin typeface="微软雅黑 Light" panose="020B0502040204020203" pitchFamily="34" charset="-122"/>
                <a:ea typeface="微软雅黑 Light" panose="020B0502040204020203" pitchFamily="34" charset="-122"/>
              </a:rPr>
              <a:t>dropout</a:t>
            </a:r>
            <a:r>
              <a:rPr lang="en-US" altLang="zh-CN" sz="2200" dirty="0">
                <a:solidFill>
                  <a:srgbClr val="4F4F4F"/>
                </a:solidFill>
                <a:latin typeface="微软雅黑 Light" panose="020B0502040204020203" pitchFamily="34" charset="-122"/>
                <a:ea typeface="微软雅黑 Light" panose="020B0502040204020203" pitchFamily="34" charset="-122"/>
              </a:rPr>
              <a:t> </a:t>
            </a:r>
            <a:r>
              <a:rPr lang="zh-CN" altLang="en-US" sz="2200" dirty="0">
                <a:solidFill>
                  <a:srgbClr val="4F4F4F"/>
                </a:solidFill>
                <a:latin typeface="微软雅黑 Light" panose="020B0502040204020203" pitchFamily="34" charset="-122"/>
                <a:ea typeface="微软雅黑 Light" panose="020B0502040204020203" pitchFamily="34" charset="-122"/>
              </a:rPr>
              <a:t>等方法可以使网络中节点随机失活，降低参数对网络的依赖，有效抑制过拟合</a:t>
            </a:r>
          </a:p>
        </p:txBody>
      </p:sp>
      <p:sp>
        <p:nvSpPr>
          <p:cNvPr id="11" name="矩形 10"/>
          <p:cNvSpPr/>
          <p:nvPr/>
        </p:nvSpPr>
        <p:spPr>
          <a:xfrm>
            <a:off x="774133" y="3006182"/>
            <a:ext cx="10592561" cy="1050416"/>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sz="2200" dirty="0">
                <a:solidFill>
                  <a:srgbClr val="C00000"/>
                </a:solidFill>
                <a:latin typeface="微软雅黑 Light" panose="020B0502040204020203" pitchFamily="34" charset="-122"/>
                <a:ea typeface="微软雅黑 Light" panose="020B0502040204020203" pitchFamily="34" charset="-122"/>
              </a:rPr>
              <a:t>过拟合（</a:t>
            </a:r>
            <a:r>
              <a:rPr lang="en-US" altLang="zh-CN" sz="2200" dirty="0">
                <a:solidFill>
                  <a:srgbClr val="C00000"/>
                </a:solidFill>
                <a:latin typeface="微软雅黑 Light" panose="020B0502040204020203" pitchFamily="34" charset="-122"/>
                <a:ea typeface="微软雅黑 Light" panose="020B0502040204020203" pitchFamily="34" charset="-122"/>
              </a:rPr>
              <a:t>overfitting</a:t>
            </a:r>
            <a:r>
              <a:rPr lang="zh-CN" altLang="en-US" sz="2200" dirty="0">
                <a:solidFill>
                  <a:srgbClr val="C00000"/>
                </a:solidFill>
                <a:latin typeface="微软雅黑 Light" panose="020B0502040204020203" pitchFamily="34" charset="-122"/>
                <a:ea typeface="微软雅黑 Light" panose="020B0502040204020203" pitchFamily="34" charset="-122"/>
              </a:rPr>
              <a:t>）</a:t>
            </a:r>
            <a:r>
              <a:rPr lang="zh-CN" altLang="en-US" sz="2200" dirty="0">
                <a:solidFill>
                  <a:srgbClr val="4F4F4F"/>
                </a:solidFill>
                <a:latin typeface="微软雅黑 Light" panose="020B0502040204020203" pitchFamily="34" charset="-122"/>
                <a:ea typeface="微软雅黑 Light" panose="020B0502040204020203" pitchFamily="34" charset="-122"/>
              </a:rPr>
              <a:t>指模型过度接近训练的数据，模型的泛化能力不足。具体表现为在训练数据集上测试的误差很低，但在验证数据集上的误差很大。</a:t>
            </a:r>
          </a:p>
        </p:txBody>
      </p:sp>
      <p:sp>
        <p:nvSpPr>
          <p:cNvPr id="14" name="灯片编号占位符 8">
            <a:extLst>
              <a:ext uri="{FF2B5EF4-FFF2-40B4-BE49-F238E27FC236}">
                <a16:creationId xmlns:a16="http://schemas.microsoft.com/office/drawing/2014/main" id="{55C86F25-F299-4576-90BF-9AEFDAF72DB3}"/>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60</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9120075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欠拟合和过拟合</a:t>
            </a:r>
            <a:endParaRPr lang="en-US" altLang="zh-CN" sz="2600" b="1" dirty="0"/>
          </a:p>
        </p:txBody>
      </p:sp>
      <p:grpSp>
        <p:nvGrpSpPr>
          <p:cNvPr id="8" name="组合 7"/>
          <p:cNvGrpSpPr/>
          <p:nvPr/>
        </p:nvGrpSpPr>
        <p:grpSpPr>
          <a:xfrm>
            <a:off x="1401998" y="1591337"/>
            <a:ext cx="3689152" cy="2230953"/>
            <a:chOff x="529801" y="1867493"/>
            <a:chExt cx="3689152" cy="2230953"/>
          </a:xfrm>
        </p:grpSpPr>
        <p:grpSp>
          <p:nvGrpSpPr>
            <p:cNvPr id="9" name="组合 8"/>
            <p:cNvGrpSpPr/>
            <p:nvPr/>
          </p:nvGrpSpPr>
          <p:grpSpPr>
            <a:xfrm>
              <a:off x="529801" y="1988218"/>
              <a:ext cx="3689152" cy="2110228"/>
              <a:chOff x="4771280" y="3385241"/>
              <a:chExt cx="3689152" cy="2110228"/>
            </a:xfrm>
          </p:grpSpPr>
          <p:grpSp>
            <p:nvGrpSpPr>
              <p:cNvPr id="57" name="组合 56"/>
              <p:cNvGrpSpPr/>
              <p:nvPr/>
            </p:nvGrpSpPr>
            <p:grpSpPr>
              <a:xfrm>
                <a:off x="4771280" y="3385241"/>
                <a:ext cx="3689152" cy="2110228"/>
                <a:chOff x="4086241" y="2727574"/>
                <a:chExt cx="3689152" cy="2110228"/>
              </a:xfrm>
            </p:grpSpPr>
            <p:cxnSp>
              <p:nvCxnSpPr>
                <p:cNvPr id="59" name="直接箭头连接符 58"/>
                <p:cNvCxnSpPr/>
                <p:nvPr/>
              </p:nvCxnSpPr>
              <p:spPr>
                <a:xfrm flipV="1">
                  <a:off x="4397841" y="4653136"/>
                  <a:ext cx="2960757" cy="24940"/>
                </a:xfrm>
                <a:prstGeom prst="straightConnector1">
                  <a:avLst/>
                </a:prstGeom>
                <a:noFill/>
                <a:ln w="28575" cap="flat" cmpd="sng">
                  <a:solidFill>
                    <a:schemeClr val="tx1"/>
                  </a:solidFill>
                  <a:prstDash val="solid"/>
                  <a:round/>
                  <a:headEnd/>
                  <a:tailEnd type="triangle"/>
                </a:ln>
                <a:effectLst/>
              </p:spPr>
            </p:cxnSp>
            <p:cxnSp>
              <p:nvCxnSpPr>
                <p:cNvPr id="60" name="直接箭头连接符 59"/>
                <p:cNvCxnSpPr/>
                <p:nvPr/>
              </p:nvCxnSpPr>
              <p:spPr>
                <a:xfrm flipV="1">
                  <a:off x="4397841" y="2727574"/>
                  <a:ext cx="0" cy="1961566"/>
                </a:xfrm>
                <a:prstGeom prst="straightConnector1">
                  <a:avLst/>
                </a:prstGeom>
                <a:noFill/>
                <a:ln w="28575" cap="flat" cmpd="sng">
                  <a:solidFill>
                    <a:schemeClr val="tx1"/>
                  </a:solidFill>
                  <a:prstDash val="solid"/>
                  <a:round/>
                  <a:headEnd/>
                  <a:tailEnd type="triangle"/>
                </a:ln>
                <a:effectLst/>
              </p:spPr>
            </p:cxnSp>
            <p:sp>
              <p:nvSpPr>
                <p:cNvPr id="61" name="乘号 60"/>
                <p:cNvSpPr/>
                <p:nvPr/>
              </p:nvSpPr>
              <p:spPr>
                <a:xfrm>
                  <a:off x="4727376" y="3013678"/>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乘号 61"/>
                <p:cNvSpPr/>
                <p:nvPr/>
              </p:nvSpPr>
              <p:spPr>
                <a:xfrm>
                  <a:off x="5228722" y="3102759"/>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乘号 62"/>
                <p:cNvSpPr/>
                <p:nvPr/>
              </p:nvSpPr>
              <p:spPr>
                <a:xfrm>
                  <a:off x="5232581" y="3732877"/>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乘号 63"/>
                <p:cNvSpPr/>
                <p:nvPr/>
              </p:nvSpPr>
              <p:spPr>
                <a:xfrm>
                  <a:off x="6149517" y="4194799"/>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乘号 64"/>
                <p:cNvSpPr/>
                <p:nvPr/>
              </p:nvSpPr>
              <p:spPr>
                <a:xfrm>
                  <a:off x="6994382" y="3834523"/>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7271337" y="4468470"/>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67" name="文本框 66"/>
                <p:cNvSpPr txBox="1"/>
                <p:nvPr/>
              </p:nvSpPr>
              <p:spPr>
                <a:xfrm>
                  <a:off x="4086241" y="2727574"/>
                  <a:ext cx="345910" cy="369332"/>
                </a:xfrm>
                <a:prstGeom prst="rect">
                  <a:avLst/>
                </a:prstGeom>
                <a:noFill/>
              </p:spPr>
              <p:txBody>
                <a:bodyPr wrap="square" rtlCol="0">
                  <a:spAutoFit/>
                </a:bodyPr>
                <a:lstStyle/>
                <a:p>
                  <a:r>
                    <a:rPr lang="en-US" altLang="zh-CN" dirty="0"/>
                    <a:t>y</a:t>
                  </a:r>
                  <a:endParaRPr lang="zh-CN" altLang="en-US" dirty="0"/>
                </a:p>
              </p:txBody>
            </p:sp>
          </p:grpSp>
          <p:sp>
            <p:nvSpPr>
              <p:cNvPr id="58" name="椭圆 57"/>
              <p:cNvSpPr/>
              <p:nvPr/>
            </p:nvSpPr>
            <p:spPr>
              <a:xfrm>
                <a:off x="7214287" y="4678565"/>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p:nvSpPr>
          <p:spPr>
            <a:xfrm>
              <a:off x="3493588" y="197450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973261" y="254925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802261" y="2784973"/>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002167" y="295387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214595" y="310595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795588" y="207827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574359" y="195565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175631" y="20755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328031" y="22279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2184221" y="2403330"/>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2732683" y="232041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2585746" y="251314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2240001" y="289433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3090031" y="29899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3242431" y="31423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2263923" y="261111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2665923" y="268933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818323" y="284173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乘号 30"/>
            <p:cNvSpPr/>
            <p:nvPr/>
          </p:nvSpPr>
          <p:spPr>
            <a:xfrm>
              <a:off x="2728664" y="3021485"/>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乘号 31"/>
            <p:cNvSpPr/>
            <p:nvPr/>
          </p:nvSpPr>
          <p:spPr>
            <a:xfrm>
              <a:off x="2181806" y="3629612"/>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乘号 33"/>
            <p:cNvSpPr/>
            <p:nvPr/>
          </p:nvSpPr>
          <p:spPr>
            <a:xfrm>
              <a:off x="1435319" y="2601860"/>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乘号 34"/>
            <p:cNvSpPr/>
            <p:nvPr/>
          </p:nvSpPr>
          <p:spPr>
            <a:xfrm>
              <a:off x="962376" y="2439214"/>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乘号 35"/>
            <p:cNvSpPr/>
            <p:nvPr/>
          </p:nvSpPr>
          <p:spPr>
            <a:xfrm>
              <a:off x="1268557" y="1867493"/>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乘号 36"/>
            <p:cNvSpPr/>
            <p:nvPr/>
          </p:nvSpPr>
          <p:spPr>
            <a:xfrm>
              <a:off x="1948252" y="3206972"/>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乘号 37"/>
            <p:cNvSpPr/>
            <p:nvPr/>
          </p:nvSpPr>
          <p:spPr>
            <a:xfrm>
              <a:off x="1821130" y="3514174"/>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乘号 38"/>
            <p:cNvSpPr/>
            <p:nvPr/>
          </p:nvSpPr>
          <p:spPr>
            <a:xfrm>
              <a:off x="1114016" y="2932226"/>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乘号 39"/>
            <p:cNvSpPr/>
            <p:nvPr/>
          </p:nvSpPr>
          <p:spPr>
            <a:xfrm>
              <a:off x="988736" y="3302098"/>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乘号 40"/>
            <p:cNvSpPr/>
            <p:nvPr/>
          </p:nvSpPr>
          <p:spPr>
            <a:xfrm>
              <a:off x="1477812" y="3169707"/>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乘号 41"/>
            <p:cNvSpPr/>
            <p:nvPr/>
          </p:nvSpPr>
          <p:spPr>
            <a:xfrm>
              <a:off x="1291303" y="3622546"/>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任意多边形 42"/>
            <p:cNvSpPr/>
            <p:nvPr/>
          </p:nvSpPr>
          <p:spPr>
            <a:xfrm>
              <a:off x="1113904" y="2019992"/>
              <a:ext cx="2520575" cy="1890585"/>
            </a:xfrm>
            <a:custGeom>
              <a:avLst/>
              <a:gdLst>
                <a:gd name="connsiteX0" fmla="*/ 0 w 2236124"/>
                <a:gd name="connsiteY0" fmla="*/ 0 h 1712422"/>
                <a:gd name="connsiteX1" fmla="*/ 41564 w 2236124"/>
                <a:gd name="connsiteY1" fmla="*/ 8312 h 1712422"/>
                <a:gd name="connsiteX2" fmla="*/ 91440 w 2236124"/>
                <a:gd name="connsiteY2" fmla="*/ 91440 h 1712422"/>
                <a:gd name="connsiteX3" fmla="*/ 108066 w 2236124"/>
                <a:gd name="connsiteY3" fmla="*/ 108065 h 1712422"/>
                <a:gd name="connsiteX4" fmla="*/ 141317 w 2236124"/>
                <a:gd name="connsiteY4" fmla="*/ 157942 h 1712422"/>
                <a:gd name="connsiteX5" fmla="*/ 157942 w 2236124"/>
                <a:gd name="connsiteY5" fmla="*/ 182880 h 1712422"/>
                <a:gd name="connsiteX6" fmla="*/ 182880 w 2236124"/>
                <a:gd name="connsiteY6" fmla="*/ 199505 h 1712422"/>
                <a:gd name="connsiteX7" fmla="*/ 216131 w 2236124"/>
                <a:gd name="connsiteY7" fmla="*/ 241069 h 1712422"/>
                <a:gd name="connsiteX8" fmla="*/ 241070 w 2236124"/>
                <a:gd name="connsiteY8" fmla="*/ 274320 h 1712422"/>
                <a:gd name="connsiteX9" fmla="*/ 266008 w 2236124"/>
                <a:gd name="connsiteY9" fmla="*/ 299258 h 1712422"/>
                <a:gd name="connsiteX10" fmla="*/ 282633 w 2236124"/>
                <a:gd name="connsiteY10" fmla="*/ 324196 h 1712422"/>
                <a:gd name="connsiteX11" fmla="*/ 324197 w 2236124"/>
                <a:gd name="connsiteY11" fmla="*/ 357447 h 1712422"/>
                <a:gd name="connsiteX12" fmla="*/ 407324 w 2236124"/>
                <a:gd name="connsiteY12" fmla="*/ 415636 h 1712422"/>
                <a:gd name="connsiteX13" fmla="*/ 432262 w 2236124"/>
                <a:gd name="connsiteY13" fmla="*/ 432262 h 1712422"/>
                <a:gd name="connsiteX14" fmla="*/ 473826 w 2236124"/>
                <a:gd name="connsiteY14" fmla="*/ 482138 h 1712422"/>
                <a:gd name="connsiteX15" fmla="*/ 515390 w 2236124"/>
                <a:gd name="connsiteY15" fmla="*/ 515389 h 1712422"/>
                <a:gd name="connsiteX16" fmla="*/ 615142 w 2236124"/>
                <a:gd name="connsiteY16" fmla="*/ 590203 h 1712422"/>
                <a:gd name="connsiteX17" fmla="*/ 706582 w 2236124"/>
                <a:gd name="connsiteY17" fmla="*/ 673331 h 1712422"/>
                <a:gd name="connsiteX18" fmla="*/ 748146 w 2236124"/>
                <a:gd name="connsiteY18" fmla="*/ 714894 h 1712422"/>
                <a:gd name="connsiteX19" fmla="*/ 798022 w 2236124"/>
                <a:gd name="connsiteY19" fmla="*/ 764771 h 1712422"/>
                <a:gd name="connsiteX20" fmla="*/ 814648 w 2236124"/>
                <a:gd name="connsiteY20" fmla="*/ 781396 h 1712422"/>
                <a:gd name="connsiteX21" fmla="*/ 847899 w 2236124"/>
                <a:gd name="connsiteY21" fmla="*/ 806334 h 1712422"/>
                <a:gd name="connsiteX22" fmla="*/ 914400 w 2236124"/>
                <a:gd name="connsiteY22" fmla="*/ 847898 h 1712422"/>
                <a:gd name="connsiteX23" fmla="*/ 939339 w 2236124"/>
                <a:gd name="connsiteY23" fmla="*/ 872836 h 1712422"/>
                <a:gd name="connsiteX24" fmla="*/ 980902 w 2236124"/>
                <a:gd name="connsiteY24" fmla="*/ 897774 h 1712422"/>
                <a:gd name="connsiteX25" fmla="*/ 1064030 w 2236124"/>
                <a:gd name="connsiteY25" fmla="*/ 947651 h 1712422"/>
                <a:gd name="connsiteX26" fmla="*/ 1097280 w 2236124"/>
                <a:gd name="connsiteY26" fmla="*/ 955963 h 1712422"/>
                <a:gd name="connsiteX27" fmla="*/ 1147157 w 2236124"/>
                <a:gd name="connsiteY27" fmla="*/ 989214 h 1712422"/>
                <a:gd name="connsiteX28" fmla="*/ 1163782 w 2236124"/>
                <a:gd name="connsiteY28" fmla="*/ 1005840 h 1712422"/>
                <a:gd name="connsiteX29" fmla="*/ 1197033 w 2236124"/>
                <a:gd name="connsiteY29" fmla="*/ 1022465 h 1712422"/>
                <a:gd name="connsiteX30" fmla="*/ 1263535 w 2236124"/>
                <a:gd name="connsiteY30" fmla="*/ 1072342 h 1712422"/>
                <a:gd name="connsiteX31" fmla="*/ 1313411 w 2236124"/>
                <a:gd name="connsiteY31" fmla="*/ 1097280 h 1712422"/>
                <a:gd name="connsiteX32" fmla="*/ 1371600 w 2236124"/>
                <a:gd name="connsiteY32" fmla="*/ 1147156 h 1712422"/>
                <a:gd name="connsiteX33" fmla="*/ 1421477 w 2236124"/>
                <a:gd name="connsiteY33" fmla="*/ 1163782 h 1712422"/>
                <a:gd name="connsiteX34" fmla="*/ 1512917 w 2236124"/>
                <a:gd name="connsiteY34" fmla="*/ 1221971 h 1712422"/>
                <a:gd name="connsiteX35" fmla="*/ 1562793 w 2236124"/>
                <a:gd name="connsiteY35" fmla="*/ 1246909 h 1712422"/>
                <a:gd name="connsiteX36" fmla="*/ 1596044 w 2236124"/>
                <a:gd name="connsiteY36" fmla="*/ 1280160 h 1712422"/>
                <a:gd name="connsiteX37" fmla="*/ 1645920 w 2236124"/>
                <a:gd name="connsiteY37" fmla="*/ 1313411 h 1712422"/>
                <a:gd name="connsiteX38" fmla="*/ 1687484 w 2236124"/>
                <a:gd name="connsiteY38" fmla="*/ 1338349 h 1712422"/>
                <a:gd name="connsiteX39" fmla="*/ 1704110 w 2236124"/>
                <a:gd name="connsiteY39" fmla="*/ 1354974 h 1712422"/>
                <a:gd name="connsiteX40" fmla="*/ 1753986 w 2236124"/>
                <a:gd name="connsiteY40" fmla="*/ 1388225 h 1712422"/>
                <a:gd name="connsiteX41" fmla="*/ 1820488 w 2236124"/>
                <a:gd name="connsiteY41" fmla="*/ 1438102 h 1712422"/>
                <a:gd name="connsiteX42" fmla="*/ 1845426 w 2236124"/>
                <a:gd name="connsiteY42" fmla="*/ 1454727 h 1712422"/>
                <a:gd name="connsiteX43" fmla="*/ 1886990 w 2236124"/>
                <a:gd name="connsiteY43" fmla="*/ 1496291 h 1712422"/>
                <a:gd name="connsiteX44" fmla="*/ 1911928 w 2236124"/>
                <a:gd name="connsiteY44" fmla="*/ 1504603 h 1712422"/>
                <a:gd name="connsiteX45" fmla="*/ 1936866 w 2236124"/>
                <a:gd name="connsiteY45" fmla="*/ 1521229 h 1712422"/>
                <a:gd name="connsiteX46" fmla="*/ 1961804 w 2236124"/>
                <a:gd name="connsiteY46" fmla="*/ 1546167 h 1712422"/>
                <a:gd name="connsiteX47" fmla="*/ 1986742 w 2236124"/>
                <a:gd name="connsiteY47" fmla="*/ 1554480 h 1712422"/>
                <a:gd name="connsiteX48" fmla="*/ 2061557 w 2236124"/>
                <a:gd name="connsiteY48" fmla="*/ 1596043 h 1712422"/>
                <a:gd name="connsiteX49" fmla="*/ 2136371 w 2236124"/>
                <a:gd name="connsiteY49" fmla="*/ 1637607 h 1712422"/>
                <a:gd name="connsiteX50" fmla="*/ 2186248 w 2236124"/>
                <a:gd name="connsiteY50" fmla="*/ 1679171 h 1712422"/>
                <a:gd name="connsiteX51" fmla="*/ 2211186 w 2236124"/>
                <a:gd name="connsiteY51" fmla="*/ 1687483 h 1712422"/>
                <a:gd name="connsiteX52" fmla="*/ 2236124 w 2236124"/>
                <a:gd name="connsiteY52" fmla="*/ 1712422 h 171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236124" h="1712422">
                  <a:moveTo>
                    <a:pt x="0" y="0"/>
                  </a:moveTo>
                  <a:cubicBezTo>
                    <a:pt x="13855" y="2771"/>
                    <a:pt x="30411" y="-362"/>
                    <a:pt x="41564" y="8312"/>
                  </a:cubicBezTo>
                  <a:cubicBezTo>
                    <a:pt x="70101" y="30507"/>
                    <a:pt x="73065" y="63878"/>
                    <a:pt x="91440" y="91440"/>
                  </a:cubicBezTo>
                  <a:cubicBezTo>
                    <a:pt x="95787" y="97961"/>
                    <a:pt x="103364" y="101795"/>
                    <a:pt x="108066" y="108065"/>
                  </a:cubicBezTo>
                  <a:cubicBezTo>
                    <a:pt x="120055" y="124050"/>
                    <a:pt x="130233" y="141316"/>
                    <a:pt x="141317" y="157942"/>
                  </a:cubicBezTo>
                  <a:cubicBezTo>
                    <a:pt x="146859" y="166255"/>
                    <a:pt x="149629" y="177338"/>
                    <a:pt x="157942" y="182880"/>
                  </a:cubicBezTo>
                  <a:lnTo>
                    <a:pt x="182880" y="199505"/>
                  </a:lnTo>
                  <a:cubicBezTo>
                    <a:pt x="223984" y="261159"/>
                    <a:pt x="176650" y="193691"/>
                    <a:pt x="216131" y="241069"/>
                  </a:cubicBezTo>
                  <a:cubicBezTo>
                    <a:pt x="225001" y="251713"/>
                    <a:pt x="232053" y="263801"/>
                    <a:pt x="241070" y="274320"/>
                  </a:cubicBezTo>
                  <a:cubicBezTo>
                    <a:pt x="248721" y="283246"/>
                    <a:pt x="258482" y="290227"/>
                    <a:pt x="266008" y="299258"/>
                  </a:cubicBezTo>
                  <a:cubicBezTo>
                    <a:pt x="272404" y="306933"/>
                    <a:pt x="276392" y="316395"/>
                    <a:pt x="282633" y="324196"/>
                  </a:cubicBezTo>
                  <a:cubicBezTo>
                    <a:pt x="297462" y="342732"/>
                    <a:pt x="304034" y="343045"/>
                    <a:pt x="324197" y="357447"/>
                  </a:cubicBezTo>
                  <a:cubicBezTo>
                    <a:pt x="410386" y="419010"/>
                    <a:pt x="292626" y="339169"/>
                    <a:pt x="407324" y="415636"/>
                  </a:cubicBezTo>
                  <a:lnTo>
                    <a:pt x="432262" y="432262"/>
                  </a:lnTo>
                  <a:cubicBezTo>
                    <a:pt x="449969" y="458822"/>
                    <a:pt x="448225" y="459737"/>
                    <a:pt x="473826" y="482138"/>
                  </a:cubicBezTo>
                  <a:cubicBezTo>
                    <a:pt x="487179" y="493822"/>
                    <a:pt x="502311" y="503400"/>
                    <a:pt x="515390" y="515389"/>
                  </a:cubicBezTo>
                  <a:cubicBezTo>
                    <a:pt x="595218" y="588564"/>
                    <a:pt x="542079" y="560978"/>
                    <a:pt x="615142" y="590203"/>
                  </a:cubicBezTo>
                  <a:cubicBezTo>
                    <a:pt x="688708" y="663769"/>
                    <a:pt x="655560" y="639315"/>
                    <a:pt x="706582" y="673331"/>
                  </a:cubicBezTo>
                  <a:cubicBezTo>
                    <a:pt x="738603" y="721361"/>
                    <a:pt x="705042" y="677948"/>
                    <a:pt x="748146" y="714894"/>
                  </a:cubicBezTo>
                  <a:cubicBezTo>
                    <a:pt x="748169" y="714914"/>
                    <a:pt x="789698" y="756447"/>
                    <a:pt x="798022" y="764771"/>
                  </a:cubicBezTo>
                  <a:cubicBezTo>
                    <a:pt x="803564" y="770313"/>
                    <a:pt x="808378" y="776694"/>
                    <a:pt x="814648" y="781396"/>
                  </a:cubicBezTo>
                  <a:cubicBezTo>
                    <a:pt x="825732" y="789709"/>
                    <a:pt x="836371" y="798649"/>
                    <a:pt x="847899" y="806334"/>
                  </a:cubicBezTo>
                  <a:cubicBezTo>
                    <a:pt x="856020" y="811748"/>
                    <a:pt x="901995" y="837561"/>
                    <a:pt x="914400" y="847898"/>
                  </a:cubicBezTo>
                  <a:cubicBezTo>
                    <a:pt x="923431" y="855424"/>
                    <a:pt x="929934" y="865782"/>
                    <a:pt x="939339" y="872836"/>
                  </a:cubicBezTo>
                  <a:cubicBezTo>
                    <a:pt x="952265" y="882530"/>
                    <a:pt x="967271" y="889100"/>
                    <a:pt x="980902" y="897774"/>
                  </a:cubicBezTo>
                  <a:cubicBezTo>
                    <a:pt x="1008638" y="915424"/>
                    <a:pt x="1033033" y="936027"/>
                    <a:pt x="1064030" y="947651"/>
                  </a:cubicBezTo>
                  <a:cubicBezTo>
                    <a:pt x="1074727" y="951662"/>
                    <a:pt x="1086197" y="953192"/>
                    <a:pt x="1097280" y="955963"/>
                  </a:cubicBezTo>
                  <a:cubicBezTo>
                    <a:pt x="1160702" y="1019385"/>
                    <a:pt x="1087002" y="953121"/>
                    <a:pt x="1147157" y="989214"/>
                  </a:cubicBezTo>
                  <a:cubicBezTo>
                    <a:pt x="1153877" y="993246"/>
                    <a:pt x="1157261" y="1001493"/>
                    <a:pt x="1163782" y="1005840"/>
                  </a:cubicBezTo>
                  <a:cubicBezTo>
                    <a:pt x="1174093" y="1012714"/>
                    <a:pt x="1185949" y="1016923"/>
                    <a:pt x="1197033" y="1022465"/>
                  </a:cubicBezTo>
                  <a:cubicBezTo>
                    <a:pt x="1227787" y="1053219"/>
                    <a:pt x="1207139" y="1034745"/>
                    <a:pt x="1263535" y="1072342"/>
                  </a:cubicBezTo>
                  <a:cubicBezTo>
                    <a:pt x="1295762" y="1093827"/>
                    <a:pt x="1278996" y="1085808"/>
                    <a:pt x="1313411" y="1097280"/>
                  </a:cubicBezTo>
                  <a:cubicBezTo>
                    <a:pt x="1329892" y="1113761"/>
                    <a:pt x="1348811" y="1137028"/>
                    <a:pt x="1371600" y="1147156"/>
                  </a:cubicBezTo>
                  <a:cubicBezTo>
                    <a:pt x="1387615" y="1154274"/>
                    <a:pt x="1405802" y="1155945"/>
                    <a:pt x="1421477" y="1163782"/>
                  </a:cubicBezTo>
                  <a:cubicBezTo>
                    <a:pt x="1572108" y="1239097"/>
                    <a:pt x="1437314" y="1179968"/>
                    <a:pt x="1512917" y="1221971"/>
                  </a:cubicBezTo>
                  <a:cubicBezTo>
                    <a:pt x="1529166" y="1230998"/>
                    <a:pt x="1547565" y="1236250"/>
                    <a:pt x="1562793" y="1246909"/>
                  </a:cubicBezTo>
                  <a:cubicBezTo>
                    <a:pt x="1575634" y="1255898"/>
                    <a:pt x="1583002" y="1271465"/>
                    <a:pt x="1596044" y="1280160"/>
                  </a:cubicBezTo>
                  <a:cubicBezTo>
                    <a:pt x="1612669" y="1291244"/>
                    <a:pt x="1628786" y="1303131"/>
                    <a:pt x="1645920" y="1313411"/>
                  </a:cubicBezTo>
                  <a:cubicBezTo>
                    <a:pt x="1659775" y="1321724"/>
                    <a:pt x="1674336" y="1328958"/>
                    <a:pt x="1687484" y="1338349"/>
                  </a:cubicBezTo>
                  <a:cubicBezTo>
                    <a:pt x="1693862" y="1342904"/>
                    <a:pt x="1697840" y="1350272"/>
                    <a:pt x="1704110" y="1354974"/>
                  </a:cubicBezTo>
                  <a:cubicBezTo>
                    <a:pt x="1720095" y="1366963"/>
                    <a:pt x="1739858" y="1374096"/>
                    <a:pt x="1753986" y="1388225"/>
                  </a:cubicBezTo>
                  <a:cubicBezTo>
                    <a:pt x="1784739" y="1418980"/>
                    <a:pt x="1764090" y="1400504"/>
                    <a:pt x="1820488" y="1438102"/>
                  </a:cubicBezTo>
                  <a:cubicBezTo>
                    <a:pt x="1828801" y="1443644"/>
                    <a:pt x="1838362" y="1447663"/>
                    <a:pt x="1845426" y="1454727"/>
                  </a:cubicBezTo>
                  <a:cubicBezTo>
                    <a:pt x="1859281" y="1468582"/>
                    <a:pt x="1868402" y="1490095"/>
                    <a:pt x="1886990" y="1496291"/>
                  </a:cubicBezTo>
                  <a:lnTo>
                    <a:pt x="1911928" y="1504603"/>
                  </a:lnTo>
                  <a:cubicBezTo>
                    <a:pt x="1920241" y="1510145"/>
                    <a:pt x="1929191" y="1514833"/>
                    <a:pt x="1936866" y="1521229"/>
                  </a:cubicBezTo>
                  <a:cubicBezTo>
                    <a:pt x="1945897" y="1528755"/>
                    <a:pt x="1952023" y="1539646"/>
                    <a:pt x="1961804" y="1546167"/>
                  </a:cubicBezTo>
                  <a:cubicBezTo>
                    <a:pt x="1969095" y="1551028"/>
                    <a:pt x="1979082" y="1550225"/>
                    <a:pt x="1986742" y="1554480"/>
                  </a:cubicBezTo>
                  <a:cubicBezTo>
                    <a:pt x="2072488" y="1602117"/>
                    <a:pt x="2005131" y="1577236"/>
                    <a:pt x="2061557" y="1596043"/>
                  </a:cubicBezTo>
                  <a:cubicBezTo>
                    <a:pt x="2118724" y="1634155"/>
                    <a:pt x="2092477" y="1622975"/>
                    <a:pt x="2136371" y="1637607"/>
                  </a:cubicBezTo>
                  <a:cubicBezTo>
                    <a:pt x="2154753" y="1655988"/>
                    <a:pt x="2163104" y="1667599"/>
                    <a:pt x="2186248" y="1679171"/>
                  </a:cubicBezTo>
                  <a:cubicBezTo>
                    <a:pt x="2194085" y="1683090"/>
                    <a:pt x="2202873" y="1684712"/>
                    <a:pt x="2211186" y="1687483"/>
                  </a:cubicBezTo>
                  <a:lnTo>
                    <a:pt x="2236124" y="1712422"/>
                  </a:lnTo>
                </a:path>
              </a:pathLst>
            </a:cu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2475608" y="283717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2575660" y="309269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2923411" y="2553420"/>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3075811" y="194726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3228211" y="209966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912251" y="205805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3140013" y="229396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3140013" y="229396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292413" y="244636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195467" y="261282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810837" y="268933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593989" y="2425613"/>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427770" y="283602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8" name="组合 67"/>
          <p:cNvGrpSpPr/>
          <p:nvPr/>
        </p:nvGrpSpPr>
        <p:grpSpPr>
          <a:xfrm>
            <a:off x="1385472" y="3992416"/>
            <a:ext cx="3689152" cy="2230953"/>
            <a:chOff x="529801" y="1867493"/>
            <a:chExt cx="3689152" cy="2230953"/>
          </a:xfrm>
        </p:grpSpPr>
        <p:grpSp>
          <p:nvGrpSpPr>
            <p:cNvPr id="69" name="组合 68"/>
            <p:cNvGrpSpPr/>
            <p:nvPr/>
          </p:nvGrpSpPr>
          <p:grpSpPr>
            <a:xfrm>
              <a:off x="529801" y="1988218"/>
              <a:ext cx="3689152" cy="2110228"/>
              <a:chOff x="4771280" y="3385241"/>
              <a:chExt cx="3689152" cy="2110228"/>
            </a:xfrm>
          </p:grpSpPr>
          <p:grpSp>
            <p:nvGrpSpPr>
              <p:cNvPr id="113" name="组合 112"/>
              <p:cNvGrpSpPr/>
              <p:nvPr/>
            </p:nvGrpSpPr>
            <p:grpSpPr>
              <a:xfrm>
                <a:off x="4771280" y="3385241"/>
                <a:ext cx="3689152" cy="2110228"/>
                <a:chOff x="4086241" y="2727574"/>
                <a:chExt cx="3689152" cy="2110228"/>
              </a:xfrm>
            </p:grpSpPr>
            <p:cxnSp>
              <p:nvCxnSpPr>
                <p:cNvPr id="115" name="直接箭头连接符 114"/>
                <p:cNvCxnSpPr/>
                <p:nvPr/>
              </p:nvCxnSpPr>
              <p:spPr>
                <a:xfrm flipV="1">
                  <a:off x="4397841" y="4653136"/>
                  <a:ext cx="2960757" cy="24940"/>
                </a:xfrm>
                <a:prstGeom prst="straightConnector1">
                  <a:avLst/>
                </a:prstGeom>
                <a:noFill/>
                <a:ln w="28575" cap="flat" cmpd="sng">
                  <a:solidFill>
                    <a:schemeClr val="tx1"/>
                  </a:solidFill>
                  <a:prstDash val="solid"/>
                  <a:round/>
                  <a:headEnd/>
                  <a:tailEnd type="triangle"/>
                </a:ln>
                <a:effectLst/>
              </p:spPr>
            </p:cxnSp>
            <p:cxnSp>
              <p:nvCxnSpPr>
                <p:cNvPr id="116" name="直接箭头连接符 115"/>
                <p:cNvCxnSpPr/>
                <p:nvPr/>
              </p:nvCxnSpPr>
              <p:spPr>
                <a:xfrm flipV="1">
                  <a:off x="4397841" y="2727574"/>
                  <a:ext cx="0" cy="1961566"/>
                </a:xfrm>
                <a:prstGeom prst="straightConnector1">
                  <a:avLst/>
                </a:prstGeom>
                <a:noFill/>
                <a:ln w="28575" cap="flat" cmpd="sng">
                  <a:solidFill>
                    <a:schemeClr val="tx1"/>
                  </a:solidFill>
                  <a:prstDash val="solid"/>
                  <a:round/>
                  <a:headEnd/>
                  <a:tailEnd type="triangle"/>
                </a:ln>
                <a:effectLst/>
              </p:spPr>
            </p:cxnSp>
            <p:sp>
              <p:nvSpPr>
                <p:cNvPr id="117" name="乘号 116"/>
                <p:cNvSpPr/>
                <p:nvPr/>
              </p:nvSpPr>
              <p:spPr>
                <a:xfrm>
                  <a:off x="4727376" y="3013678"/>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乘号 117"/>
                <p:cNvSpPr/>
                <p:nvPr/>
              </p:nvSpPr>
              <p:spPr>
                <a:xfrm>
                  <a:off x="5228722" y="3102759"/>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乘号 118"/>
                <p:cNvSpPr/>
                <p:nvPr/>
              </p:nvSpPr>
              <p:spPr>
                <a:xfrm>
                  <a:off x="5232581" y="3732877"/>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乘号 119"/>
                <p:cNvSpPr/>
                <p:nvPr/>
              </p:nvSpPr>
              <p:spPr>
                <a:xfrm>
                  <a:off x="6149517" y="4194799"/>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乘号 120"/>
                <p:cNvSpPr/>
                <p:nvPr/>
              </p:nvSpPr>
              <p:spPr>
                <a:xfrm>
                  <a:off x="6994382" y="3834523"/>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文本框 121"/>
                <p:cNvSpPr txBox="1"/>
                <p:nvPr/>
              </p:nvSpPr>
              <p:spPr>
                <a:xfrm>
                  <a:off x="7271337" y="4468470"/>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123" name="文本框 122"/>
                <p:cNvSpPr txBox="1"/>
                <p:nvPr/>
              </p:nvSpPr>
              <p:spPr>
                <a:xfrm>
                  <a:off x="4086241" y="2727574"/>
                  <a:ext cx="345910" cy="369332"/>
                </a:xfrm>
                <a:prstGeom prst="rect">
                  <a:avLst/>
                </a:prstGeom>
                <a:noFill/>
              </p:spPr>
              <p:txBody>
                <a:bodyPr wrap="square" rtlCol="0">
                  <a:spAutoFit/>
                </a:bodyPr>
                <a:lstStyle/>
                <a:p>
                  <a:r>
                    <a:rPr lang="en-US" altLang="zh-CN" dirty="0"/>
                    <a:t>y</a:t>
                  </a:r>
                  <a:endParaRPr lang="zh-CN" altLang="en-US" dirty="0"/>
                </a:p>
              </p:txBody>
            </p:sp>
          </p:grpSp>
          <p:sp>
            <p:nvSpPr>
              <p:cNvPr id="114" name="椭圆 113"/>
              <p:cNvSpPr/>
              <p:nvPr/>
            </p:nvSpPr>
            <p:spPr>
              <a:xfrm>
                <a:off x="7214287" y="4678565"/>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0" name="椭圆 69"/>
            <p:cNvSpPr/>
            <p:nvPr/>
          </p:nvSpPr>
          <p:spPr>
            <a:xfrm>
              <a:off x="3493588" y="197450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1973261" y="254925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1802261" y="2784973"/>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2002167" y="295387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2214595" y="310595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1795588" y="207827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2574359" y="195565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2175631" y="20755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2328031" y="22279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2184221" y="2403330"/>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2732683" y="232041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2585746" y="251314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2240001" y="289433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3090031" y="29899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3242431" y="31423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2263923" y="261111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2665923" y="268933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2818323" y="284173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乘号 87"/>
            <p:cNvSpPr/>
            <p:nvPr/>
          </p:nvSpPr>
          <p:spPr>
            <a:xfrm>
              <a:off x="2728664" y="3021485"/>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乘号 88"/>
            <p:cNvSpPr/>
            <p:nvPr/>
          </p:nvSpPr>
          <p:spPr>
            <a:xfrm>
              <a:off x="2181806" y="3629612"/>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乘号 89"/>
            <p:cNvSpPr/>
            <p:nvPr/>
          </p:nvSpPr>
          <p:spPr>
            <a:xfrm>
              <a:off x="1435319" y="2601860"/>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乘号 90"/>
            <p:cNvSpPr/>
            <p:nvPr/>
          </p:nvSpPr>
          <p:spPr>
            <a:xfrm>
              <a:off x="962376" y="2439214"/>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乘号 91"/>
            <p:cNvSpPr/>
            <p:nvPr/>
          </p:nvSpPr>
          <p:spPr>
            <a:xfrm>
              <a:off x="1268557" y="1867493"/>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乘号 92"/>
            <p:cNvSpPr/>
            <p:nvPr/>
          </p:nvSpPr>
          <p:spPr>
            <a:xfrm>
              <a:off x="1948252" y="3206972"/>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乘号 93"/>
            <p:cNvSpPr/>
            <p:nvPr/>
          </p:nvSpPr>
          <p:spPr>
            <a:xfrm>
              <a:off x="1821130" y="3514174"/>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乘号 94"/>
            <p:cNvSpPr/>
            <p:nvPr/>
          </p:nvSpPr>
          <p:spPr>
            <a:xfrm>
              <a:off x="1114016" y="2932226"/>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乘号 95"/>
            <p:cNvSpPr/>
            <p:nvPr/>
          </p:nvSpPr>
          <p:spPr>
            <a:xfrm>
              <a:off x="988736" y="3302098"/>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乘号 96"/>
            <p:cNvSpPr/>
            <p:nvPr/>
          </p:nvSpPr>
          <p:spPr>
            <a:xfrm>
              <a:off x="1477812" y="3169707"/>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乘号 97"/>
            <p:cNvSpPr/>
            <p:nvPr/>
          </p:nvSpPr>
          <p:spPr>
            <a:xfrm>
              <a:off x="1291303" y="3622546"/>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2475608" y="283717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p:cNvSpPr/>
            <p:nvPr/>
          </p:nvSpPr>
          <p:spPr>
            <a:xfrm>
              <a:off x="2575660" y="309269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2923411" y="2553420"/>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3075811" y="194726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3228211" y="209966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2912251" y="205805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3140013" y="229396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3140013" y="229396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3292413" y="244636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a:off x="3195467" y="261282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a:off x="3810837" y="268933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a:off x="3593989" y="2425613"/>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p:nvSpPr>
          <p:spPr>
            <a:xfrm>
              <a:off x="3427770" y="283602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任意多边形 111"/>
            <p:cNvSpPr/>
            <p:nvPr/>
          </p:nvSpPr>
          <p:spPr>
            <a:xfrm>
              <a:off x="1590691" y="1928553"/>
              <a:ext cx="2582298" cy="1487978"/>
            </a:xfrm>
            <a:custGeom>
              <a:avLst/>
              <a:gdLst>
                <a:gd name="connsiteX0" fmla="*/ 163294 w 2582298"/>
                <a:gd name="connsiteY0" fmla="*/ 0 h 1487978"/>
                <a:gd name="connsiteX1" fmla="*/ 88480 w 2582298"/>
                <a:gd name="connsiteY1" fmla="*/ 58189 h 1487978"/>
                <a:gd name="connsiteX2" fmla="*/ 71854 w 2582298"/>
                <a:gd name="connsiteY2" fmla="*/ 74814 h 1487978"/>
                <a:gd name="connsiteX3" fmla="*/ 55229 w 2582298"/>
                <a:gd name="connsiteY3" fmla="*/ 91440 h 1487978"/>
                <a:gd name="connsiteX4" fmla="*/ 46916 w 2582298"/>
                <a:gd name="connsiteY4" fmla="*/ 116378 h 1487978"/>
                <a:gd name="connsiteX5" fmla="*/ 13665 w 2582298"/>
                <a:gd name="connsiteY5" fmla="*/ 174567 h 1487978"/>
                <a:gd name="connsiteX6" fmla="*/ 13665 w 2582298"/>
                <a:gd name="connsiteY6" fmla="*/ 282632 h 1487978"/>
                <a:gd name="connsiteX7" fmla="*/ 46916 w 2582298"/>
                <a:gd name="connsiteY7" fmla="*/ 290945 h 1487978"/>
                <a:gd name="connsiteX8" fmla="*/ 71854 w 2582298"/>
                <a:gd name="connsiteY8" fmla="*/ 315883 h 1487978"/>
                <a:gd name="connsiteX9" fmla="*/ 105105 w 2582298"/>
                <a:gd name="connsiteY9" fmla="*/ 324196 h 1487978"/>
                <a:gd name="connsiteX10" fmla="*/ 138356 w 2582298"/>
                <a:gd name="connsiteY10" fmla="*/ 340822 h 1487978"/>
                <a:gd name="connsiteX11" fmla="*/ 188233 w 2582298"/>
                <a:gd name="connsiteY11" fmla="*/ 357447 h 1487978"/>
                <a:gd name="connsiteX12" fmla="*/ 213171 w 2582298"/>
                <a:gd name="connsiteY12" fmla="*/ 365760 h 1487978"/>
                <a:gd name="connsiteX13" fmla="*/ 263047 w 2582298"/>
                <a:gd name="connsiteY13" fmla="*/ 390698 h 1487978"/>
                <a:gd name="connsiteX14" fmla="*/ 304611 w 2582298"/>
                <a:gd name="connsiteY14" fmla="*/ 423949 h 1487978"/>
                <a:gd name="connsiteX15" fmla="*/ 329549 w 2582298"/>
                <a:gd name="connsiteY15" fmla="*/ 440574 h 1487978"/>
                <a:gd name="connsiteX16" fmla="*/ 337862 w 2582298"/>
                <a:gd name="connsiteY16" fmla="*/ 465512 h 1487978"/>
                <a:gd name="connsiteX17" fmla="*/ 354487 w 2582298"/>
                <a:gd name="connsiteY17" fmla="*/ 482138 h 1487978"/>
                <a:gd name="connsiteX18" fmla="*/ 362800 w 2582298"/>
                <a:gd name="connsiteY18" fmla="*/ 532014 h 1487978"/>
                <a:gd name="connsiteX19" fmla="*/ 337862 w 2582298"/>
                <a:gd name="connsiteY19" fmla="*/ 698269 h 1487978"/>
                <a:gd name="connsiteX20" fmla="*/ 287985 w 2582298"/>
                <a:gd name="connsiteY20" fmla="*/ 739832 h 1487978"/>
                <a:gd name="connsiteX21" fmla="*/ 254734 w 2582298"/>
                <a:gd name="connsiteY21" fmla="*/ 773083 h 1487978"/>
                <a:gd name="connsiteX22" fmla="*/ 238109 w 2582298"/>
                <a:gd name="connsiteY22" fmla="*/ 789709 h 1487978"/>
                <a:gd name="connsiteX23" fmla="*/ 213171 w 2582298"/>
                <a:gd name="connsiteY23" fmla="*/ 847898 h 1487978"/>
                <a:gd name="connsiteX24" fmla="*/ 196545 w 2582298"/>
                <a:gd name="connsiteY24" fmla="*/ 897774 h 1487978"/>
                <a:gd name="connsiteX25" fmla="*/ 188233 w 2582298"/>
                <a:gd name="connsiteY25" fmla="*/ 922712 h 1487978"/>
                <a:gd name="connsiteX26" fmla="*/ 179920 w 2582298"/>
                <a:gd name="connsiteY26" fmla="*/ 947651 h 1487978"/>
                <a:gd name="connsiteX27" fmla="*/ 188233 w 2582298"/>
                <a:gd name="connsiteY27" fmla="*/ 1039091 h 1487978"/>
                <a:gd name="connsiteX28" fmla="*/ 196545 w 2582298"/>
                <a:gd name="connsiteY28" fmla="*/ 1072342 h 1487978"/>
                <a:gd name="connsiteX29" fmla="*/ 238109 w 2582298"/>
                <a:gd name="connsiteY29" fmla="*/ 1113905 h 1487978"/>
                <a:gd name="connsiteX30" fmla="*/ 287985 w 2582298"/>
                <a:gd name="connsiteY30" fmla="*/ 1138843 h 1487978"/>
                <a:gd name="connsiteX31" fmla="*/ 304611 w 2582298"/>
                <a:gd name="connsiteY31" fmla="*/ 1155469 h 1487978"/>
                <a:gd name="connsiteX32" fmla="*/ 329549 w 2582298"/>
                <a:gd name="connsiteY32" fmla="*/ 1163782 h 1487978"/>
                <a:gd name="connsiteX33" fmla="*/ 362800 w 2582298"/>
                <a:gd name="connsiteY33" fmla="*/ 1180407 h 1487978"/>
                <a:gd name="connsiteX34" fmla="*/ 387738 w 2582298"/>
                <a:gd name="connsiteY34" fmla="*/ 1188720 h 1487978"/>
                <a:gd name="connsiteX35" fmla="*/ 420989 w 2582298"/>
                <a:gd name="connsiteY35" fmla="*/ 1205345 h 1487978"/>
                <a:gd name="connsiteX36" fmla="*/ 479178 w 2582298"/>
                <a:gd name="connsiteY36" fmla="*/ 1221971 h 1487978"/>
                <a:gd name="connsiteX37" fmla="*/ 570618 w 2582298"/>
                <a:gd name="connsiteY37" fmla="*/ 1263534 h 1487978"/>
                <a:gd name="connsiteX38" fmla="*/ 587244 w 2582298"/>
                <a:gd name="connsiteY38" fmla="*/ 1280160 h 1487978"/>
                <a:gd name="connsiteX39" fmla="*/ 645433 w 2582298"/>
                <a:gd name="connsiteY39" fmla="*/ 1296785 h 1487978"/>
                <a:gd name="connsiteX40" fmla="*/ 670371 w 2582298"/>
                <a:gd name="connsiteY40" fmla="*/ 1305098 h 1487978"/>
                <a:gd name="connsiteX41" fmla="*/ 803374 w 2582298"/>
                <a:gd name="connsiteY41" fmla="*/ 1321723 h 1487978"/>
                <a:gd name="connsiteX42" fmla="*/ 844938 w 2582298"/>
                <a:gd name="connsiteY42" fmla="*/ 1330036 h 1487978"/>
                <a:gd name="connsiteX43" fmla="*/ 911440 w 2582298"/>
                <a:gd name="connsiteY43" fmla="*/ 1346662 h 1487978"/>
                <a:gd name="connsiteX44" fmla="*/ 944691 w 2582298"/>
                <a:gd name="connsiteY44" fmla="*/ 1354974 h 1487978"/>
                <a:gd name="connsiteX45" fmla="*/ 986254 w 2582298"/>
                <a:gd name="connsiteY45" fmla="*/ 1363287 h 1487978"/>
                <a:gd name="connsiteX46" fmla="*/ 1127571 w 2582298"/>
                <a:gd name="connsiteY46" fmla="*/ 1354974 h 1487978"/>
                <a:gd name="connsiteX47" fmla="*/ 1152509 w 2582298"/>
                <a:gd name="connsiteY47" fmla="*/ 1338349 h 1487978"/>
                <a:gd name="connsiteX48" fmla="*/ 1177447 w 2582298"/>
                <a:gd name="connsiteY48" fmla="*/ 1330036 h 1487978"/>
                <a:gd name="connsiteX49" fmla="*/ 1194073 w 2582298"/>
                <a:gd name="connsiteY49" fmla="*/ 1313411 h 1487978"/>
                <a:gd name="connsiteX50" fmla="*/ 1185760 w 2582298"/>
                <a:gd name="connsiteY50" fmla="*/ 1255222 h 1487978"/>
                <a:gd name="connsiteX51" fmla="*/ 1152509 w 2582298"/>
                <a:gd name="connsiteY51" fmla="*/ 1172094 h 1487978"/>
                <a:gd name="connsiteX52" fmla="*/ 1160822 w 2582298"/>
                <a:gd name="connsiteY52" fmla="*/ 1097280 h 1487978"/>
                <a:gd name="connsiteX53" fmla="*/ 1210698 w 2582298"/>
                <a:gd name="connsiteY53" fmla="*/ 1080654 h 1487978"/>
                <a:gd name="connsiteX54" fmla="*/ 1235636 w 2582298"/>
                <a:gd name="connsiteY54" fmla="*/ 1072342 h 1487978"/>
                <a:gd name="connsiteX55" fmla="*/ 1376953 w 2582298"/>
                <a:gd name="connsiteY55" fmla="*/ 1080654 h 1487978"/>
                <a:gd name="connsiteX56" fmla="*/ 1385265 w 2582298"/>
                <a:gd name="connsiteY56" fmla="*/ 1113905 h 1487978"/>
                <a:gd name="connsiteX57" fmla="*/ 1368640 w 2582298"/>
                <a:gd name="connsiteY57" fmla="*/ 1421476 h 1487978"/>
                <a:gd name="connsiteX58" fmla="*/ 1385265 w 2582298"/>
                <a:gd name="connsiteY58" fmla="*/ 1471352 h 1487978"/>
                <a:gd name="connsiteX59" fmla="*/ 1418516 w 2582298"/>
                <a:gd name="connsiteY59" fmla="*/ 1479665 h 1487978"/>
                <a:gd name="connsiteX60" fmla="*/ 1509956 w 2582298"/>
                <a:gd name="connsiteY60" fmla="*/ 1487978 h 1487978"/>
                <a:gd name="connsiteX61" fmla="*/ 1726087 w 2582298"/>
                <a:gd name="connsiteY61" fmla="*/ 1471352 h 1487978"/>
                <a:gd name="connsiteX62" fmla="*/ 1751025 w 2582298"/>
                <a:gd name="connsiteY62" fmla="*/ 1463040 h 1487978"/>
                <a:gd name="connsiteX63" fmla="*/ 1775964 w 2582298"/>
                <a:gd name="connsiteY63" fmla="*/ 1446414 h 1487978"/>
                <a:gd name="connsiteX64" fmla="*/ 1792589 w 2582298"/>
                <a:gd name="connsiteY64" fmla="*/ 1421476 h 1487978"/>
                <a:gd name="connsiteX65" fmla="*/ 1809214 w 2582298"/>
                <a:gd name="connsiteY65" fmla="*/ 1263534 h 1487978"/>
                <a:gd name="connsiteX66" fmla="*/ 1834153 w 2582298"/>
                <a:gd name="connsiteY66" fmla="*/ 1221971 h 1487978"/>
                <a:gd name="connsiteX67" fmla="*/ 1850778 w 2582298"/>
                <a:gd name="connsiteY67" fmla="*/ 1197032 h 1487978"/>
                <a:gd name="connsiteX68" fmla="*/ 1875716 w 2582298"/>
                <a:gd name="connsiteY68" fmla="*/ 1180407 h 1487978"/>
                <a:gd name="connsiteX69" fmla="*/ 1900654 w 2582298"/>
                <a:gd name="connsiteY69" fmla="*/ 1155469 h 1487978"/>
                <a:gd name="connsiteX70" fmla="*/ 1958844 w 2582298"/>
                <a:gd name="connsiteY70" fmla="*/ 1130531 h 1487978"/>
                <a:gd name="connsiteX71" fmla="*/ 2008720 w 2582298"/>
                <a:gd name="connsiteY71" fmla="*/ 1097280 h 1487978"/>
                <a:gd name="connsiteX72" fmla="*/ 2066909 w 2582298"/>
                <a:gd name="connsiteY72" fmla="*/ 1080654 h 1487978"/>
                <a:gd name="connsiteX73" fmla="*/ 2116785 w 2582298"/>
                <a:gd name="connsiteY73" fmla="*/ 1064029 h 1487978"/>
                <a:gd name="connsiteX74" fmla="*/ 2158349 w 2582298"/>
                <a:gd name="connsiteY74" fmla="*/ 1047403 h 1487978"/>
                <a:gd name="connsiteX75" fmla="*/ 2199913 w 2582298"/>
                <a:gd name="connsiteY75" fmla="*/ 1039091 h 1487978"/>
                <a:gd name="connsiteX76" fmla="*/ 2224851 w 2582298"/>
                <a:gd name="connsiteY76" fmla="*/ 1030778 h 1487978"/>
                <a:gd name="connsiteX77" fmla="*/ 2291353 w 2582298"/>
                <a:gd name="connsiteY77" fmla="*/ 1014152 h 1487978"/>
                <a:gd name="connsiteX78" fmla="*/ 2357854 w 2582298"/>
                <a:gd name="connsiteY78" fmla="*/ 989214 h 1487978"/>
                <a:gd name="connsiteX79" fmla="*/ 2432669 w 2582298"/>
                <a:gd name="connsiteY79" fmla="*/ 980902 h 1487978"/>
                <a:gd name="connsiteX80" fmla="*/ 2499171 w 2582298"/>
                <a:gd name="connsiteY80" fmla="*/ 972589 h 1487978"/>
                <a:gd name="connsiteX81" fmla="*/ 2582298 w 2582298"/>
                <a:gd name="connsiteY81" fmla="*/ 964276 h 1487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2582298" h="1487978">
                  <a:moveTo>
                    <a:pt x="163294" y="0"/>
                  </a:moveTo>
                  <a:cubicBezTo>
                    <a:pt x="108288" y="33004"/>
                    <a:pt x="133158" y="13512"/>
                    <a:pt x="88480" y="58189"/>
                  </a:cubicBezTo>
                  <a:lnTo>
                    <a:pt x="71854" y="74814"/>
                  </a:lnTo>
                  <a:lnTo>
                    <a:pt x="55229" y="91440"/>
                  </a:lnTo>
                  <a:cubicBezTo>
                    <a:pt x="52458" y="99753"/>
                    <a:pt x="50368" y="108324"/>
                    <a:pt x="46916" y="116378"/>
                  </a:cubicBezTo>
                  <a:cubicBezTo>
                    <a:pt x="34258" y="145913"/>
                    <a:pt x="30364" y="149519"/>
                    <a:pt x="13665" y="174567"/>
                  </a:cubicBezTo>
                  <a:cubicBezTo>
                    <a:pt x="882" y="212918"/>
                    <a:pt x="-9295" y="232119"/>
                    <a:pt x="13665" y="282632"/>
                  </a:cubicBezTo>
                  <a:cubicBezTo>
                    <a:pt x="18393" y="293033"/>
                    <a:pt x="35832" y="288174"/>
                    <a:pt x="46916" y="290945"/>
                  </a:cubicBezTo>
                  <a:cubicBezTo>
                    <a:pt x="55229" y="299258"/>
                    <a:pt x="61647" y="310050"/>
                    <a:pt x="71854" y="315883"/>
                  </a:cubicBezTo>
                  <a:cubicBezTo>
                    <a:pt x="81773" y="321551"/>
                    <a:pt x="94408" y="320184"/>
                    <a:pt x="105105" y="324196"/>
                  </a:cubicBezTo>
                  <a:cubicBezTo>
                    <a:pt x="116708" y="328547"/>
                    <a:pt x="126850" y="336220"/>
                    <a:pt x="138356" y="340822"/>
                  </a:cubicBezTo>
                  <a:cubicBezTo>
                    <a:pt x="154627" y="347331"/>
                    <a:pt x="171607" y="351905"/>
                    <a:pt x="188233" y="357447"/>
                  </a:cubicBezTo>
                  <a:cubicBezTo>
                    <a:pt x="196546" y="360218"/>
                    <a:pt x="205880" y="360900"/>
                    <a:pt x="213171" y="365760"/>
                  </a:cubicBezTo>
                  <a:cubicBezTo>
                    <a:pt x="284639" y="413405"/>
                    <a:pt x="194215" y="356282"/>
                    <a:pt x="263047" y="390698"/>
                  </a:cubicBezTo>
                  <a:cubicBezTo>
                    <a:pt x="297163" y="407756"/>
                    <a:pt x="278837" y="403330"/>
                    <a:pt x="304611" y="423949"/>
                  </a:cubicBezTo>
                  <a:cubicBezTo>
                    <a:pt x="312412" y="430190"/>
                    <a:pt x="321236" y="435032"/>
                    <a:pt x="329549" y="440574"/>
                  </a:cubicBezTo>
                  <a:cubicBezTo>
                    <a:pt x="332320" y="448887"/>
                    <a:pt x="333354" y="457998"/>
                    <a:pt x="337862" y="465512"/>
                  </a:cubicBezTo>
                  <a:cubicBezTo>
                    <a:pt x="341894" y="472232"/>
                    <a:pt x="351735" y="474800"/>
                    <a:pt x="354487" y="482138"/>
                  </a:cubicBezTo>
                  <a:cubicBezTo>
                    <a:pt x="360405" y="497920"/>
                    <a:pt x="360029" y="515389"/>
                    <a:pt x="362800" y="532014"/>
                  </a:cubicBezTo>
                  <a:cubicBezTo>
                    <a:pt x="357739" y="618049"/>
                    <a:pt x="379849" y="647885"/>
                    <a:pt x="337862" y="698269"/>
                  </a:cubicBezTo>
                  <a:cubicBezTo>
                    <a:pt x="301829" y="741509"/>
                    <a:pt x="326131" y="707136"/>
                    <a:pt x="287985" y="739832"/>
                  </a:cubicBezTo>
                  <a:cubicBezTo>
                    <a:pt x="276084" y="750033"/>
                    <a:pt x="265818" y="761999"/>
                    <a:pt x="254734" y="773083"/>
                  </a:cubicBezTo>
                  <a:lnTo>
                    <a:pt x="238109" y="789709"/>
                  </a:lnTo>
                  <a:cubicBezTo>
                    <a:pt x="216119" y="877665"/>
                    <a:pt x="245974" y="774092"/>
                    <a:pt x="213171" y="847898"/>
                  </a:cubicBezTo>
                  <a:cubicBezTo>
                    <a:pt x="206053" y="863912"/>
                    <a:pt x="202087" y="881149"/>
                    <a:pt x="196545" y="897774"/>
                  </a:cubicBezTo>
                  <a:lnTo>
                    <a:pt x="188233" y="922712"/>
                  </a:lnTo>
                  <a:lnTo>
                    <a:pt x="179920" y="947651"/>
                  </a:lnTo>
                  <a:cubicBezTo>
                    <a:pt x="182691" y="978131"/>
                    <a:pt x="184188" y="1008754"/>
                    <a:pt x="188233" y="1039091"/>
                  </a:cubicBezTo>
                  <a:cubicBezTo>
                    <a:pt x="189743" y="1050416"/>
                    <a:pt x="190208" y="1062836"/>
                    <a:pt x="196545" y="1072342"/>
                  </a:cubicBezTo>
                  <a:cubicBezTo>
                    <a:pt x="207413" y="1088645"/>
                    <a:pt x="224254" y="1100050"/>
                    <a:pt x="238109" y="1113905"/>
                  </a:cubicBezTo>
                  <a:cubicBezTo>
                    <a:pt x="262814" y="1138610"/>
                    <a:pt x="247128" y="1128630"/>
                    <a:pt x="287985" y="1138843"/>
                  </a:cubicBezTo>
                  <a:cubicBezTo>
                    <a:pt x="293527" y="1144385"/>
                    <a:pt x="297890" y="1151437"/>
                    <a:pt x="304611" y="1155469"/>
                  </a:cubicBezTo>
                  <a:cubicBezTo>
                    <a:pt x="312125" y="1159977"/>
                    <a:pt x="321495" y="1160330"/>
                    <a:pt x="329549" y="1163782"/>
                  </a:cubicBezTo>
                  <a:cubicBezTo>
                    <a:pt x="340939" y="1168663"/>
                    <a:pt x="351410" y="1175526"/>
                    <a:pt x="362800" y="1180407"/>
                  </a:cubicBezTo>
                  <a:cubicBezTo>
                    <a:pt x="370854" y="1183859"/>
                    <a:pt x="379684" y="1185268"/>
                    <a:pt x="387738" y="1188720"/>
                  </a:cubicBezTo>
                  <a:cubicBezTo>
                    <a:pt x="399128" y="1193601"/>
                    <a:pt x="409386" y="1200994"/>
                    <a:pt x="420989" y="1205345"/>
                  </a:cubicBezTo>
                  <a:cubicBezTo>
                    <a:pt x="457269" y="1218950"/>
                    <a:pt x="447598" y="1207616"/>
                    <a:pt x="479178" y="1221971"/>
                  </a:cubicBezTo>
                  <a:cubicBezTo>
                    <a:pt x="581385" y="1268429"/>
                    <a:pt x="512315" y="1244101"/>
                    <a:pt x="570618" y="1263534"/>
                  </a:cubicBezTo>
                  <a:cubicBezTo>
                    <a:pt x="576160" y="1269076"/>
                    <a:pt x="580523" y="1276128"/>
                    <a:pt x="587244" y="1280160"/>
                  </a:cubicBezTo>
                  <a:cubicBezTo>
                    <a:pt x="596300" y="1285594"/>
                    <a:pt x="638521" y="1294810"/>
                    <a:pt x="645433" y="1296785"/>
                  </a:cubicBezTo>
                  <a:cubicBezTo>
                    <a:pt x="653858" y="1299192"/>
                    <a:pt x="661716" y="1303731"/>
                    <a:pt x="670371" y="1305098"/>
                  </a:cubicBezTo>
                  <a:cubicBezTo>
                    <a:pt x="714504" y="1312066"/>
                    <a:pt x="759562" y="1312960"/>
                    <a:pt x="803374" y="1321723"/>
                  </a:cubicBezTo>
                  <a:cubicBezTo>
                    <a:pt x="817229" y="1324494"/>
                    <a:pt x="831171" y="1326859"/>
                    <a:pt x="844938" y="1330036"/>
                  </a:cubicBezTo>
                  <a:cubicBezTo>
                    <a:pt x="867202" y="1335174"/>
                    <a:pt x="889273" y="1341120"/>
                    <a:pt x="911440" y="1346662"/>
                  </a:cubicBezTo>
                  <a:cubicBezTo>
                    <a:pt x="922524" y="1349433"/>
                    <a:pt x="933488" y="1352733"/>
                    <a:pt x="944691" y="1354974"/>
                  </a:cubicBezTo>
                  <a:lnTo>
                    <a:pt x="986254" y="1363287"/>
                  </a:lnTo>
                  <a:cubicBezTo>
                    <a:pt x="1033360" y="1360516"/>
                    <a:pt x="1080906" y="1361974"/>
                    <a:pt x="1127571" y="1354974"/>
                  </a:cubicBezTo>
                  <a:cubicBezTo>
                    <a:pt x="1137451" y="1353492"/>
                    <a:pt x="1143573" y="1342817"/>
                    <a:pt x="1152509" y="1338349"/>
                  </a:cubicBezTo>
                  <a:cubicBezTo>
                    <a:pt x="1160346" y="1334430"/>
                    <a:pt x="1169134" y="1332807"/>
                    <a:pt x="1177447" y="1330036"/>
                  </a:cubicBezTo>
                  <a:cubicBezTo>
                    <a:pt x="1182989" y="1324494"/>
                    <a:pt x="1193207" y="1321200"/>
                    <a:pt x="1194073" y="1313411"/>
                  </a:cubicBezTo>
                  <a:cubicBezTo>
                    <a:pt x="1196237" y="1293938"/>
                    <a:pt x="1190166" y="1274313"/>
                    <a:pt x="1185760" y="1255222"/>
                  </a:cubicBezTo>
                  <a:cubicBezTo>
                    <a:pt x="1176956" y="1217070"/>
                    <a:pt x="1168670" y="1204417"/>
                    <a:pt x="1152509" y="1172094"/>
                  </a:cubicBezTo>
                  <a:cubicBezTo>
                    <a:pt x="1155280" y="1147156"/>
                    <a:pt x="1147351" y="1118449"/>
                    <a:pt x="1160822" y="1097280"/>
                  </a:cubicBezTo>
                  <a:cubicBezTo>
                    <a:pt x="1170231" y="1082495"/>
                    <a:pt x="1194073" y="1086196"/>
                    <a:pt x="1210698" y="1080654"/>
                  </a:cubicBezTo>
                  <a:lnTo>
                    <a:pt x="1235636" y="1072342"/>
                  </a:lnTo>
                  <a:cubicBezTo>
                    <a:pt x="1282742" y="1075113"/>
                    <a:pt x="1331487" y="1068025"/>
                    <a:pt x="1376953" y="1080654"/>
                  </a:cubicBezTo>
                  <a:cubicBezTo>
                    <a:pt x="1387961" y="1083712"/>
                    <a:pt x="1385265" y="1102480"/>
                    <a:pt x="1385265" y="1113905"/>
                  </a:cubicBezTo>
                  <a:cubicBezTo>
                    <a:pt x="1385265" y="1272755"/>
                    <a:pt x="1380928" y="1298604"/>
                    <a:pt x="1368640" y="1421476"/>
                  </a:cubicBezTo>
                  <a:cubicBezTo>
                    <a:pt x="1374182" y="1438101"/>
                    <a:pt x="1373860" y="1458046"/>
                    <a:pt x="1385265" y="1471352"/>
                  </a:cubicBezTo>
                  <a:cubicBezTo>
                    <a:pt x="1392700" y="1480026"/>
                    <a:pt x="1407191" y="1478155"/>
                    <a:pt x="1418516" y="1479665"/>
                  </a:cubicBezTo>
                  <a:cubicBezTo>
                    <a:pt x="1448853" y="1483710"/>
                    <a:pt x="1479476" y="1485207"/>
                    <a:pt x="1509956" y="1487978"/>
                  </a:cubicBezTo>
                  <a:cubicBezTo>
                    <a:pt x="1582000" y="1482436"/>
                    <a:pt x="1654214" y="1478787"/>
                    <a:pt x="1726087" y="1471352"/>
                  </a:cubicBezTo>
                  <a:cubicBezTo>
                    <a:pt x="1734803" y="1470450"/>
                    <a:pt x="1743188" y="1466959"/>
                    <a:pt x="1751025" y="1463040"/>
                  </a:cubicBezTo>
                  <a:cubicBezTo>
                    <a:pt x="1759961" y="1458572"/>
                    <a:pt x="1767651" y="1451956"/>
                    <a:pt x="1775964" y="1446414"/>
                  </a:cubicBezTo>
                  <a:cubicBezTo>
                    <a:pt x="1781506" y="1438101"/>
                    <a:pt x="1788121" y="1430412"/>
                    <a:pt x="1792589" y="1421476"/>
                  </a:cubicBezTo>
                  <a:cubicBezTo>
                    <a:pt x="1813483" y="1379687"/>
                    <a:pt x="1807789" y="1277071"/>
                    <a:pt x="1809214" y="1263534"/>
                  </a:cubicBezTo>
                  <a:cubicBezTo>
                    <a:pt x="1812276" y="1234442"/>
                    <a:pt x="1818244" y="1241857"/>
                    <a:pt x="1834153" y="1221971"/>
                  </a:cubicBezTo>
                  <a:cubicBezTo>
                    <a:pt x="1840394" y="1214169"/>
                    <a:pt x="1843714" y="1204097"/>
                    <a:pt x="1850778" y="1197032"/>
                  </a:cubicBezTo>
                  <a:cubicBezTo>
                    <a:pt x="1857842" y="1189968"/>
                    <a:pt x="1868041" y="1186803"/>
                    <a:pt x="1875716" y="1180407"/>
                  </a:cubicBezTo>
                  <a:cubicBezTo>
                    <a:pt x="1884747" y="1172881"/>
                    <a:pt x="1891088" y="1162302"/>
                    <a:pt x="1900654" y="1155469"/>
                  </a:cubicBezTo>
                  <a:cubicBezTo>
                    <a:pt x="1918634" y="1142626"/>
                    <a:pt x="1938489" y="1137315"/>
                    <a:pt x="1958844" y="1130531"/>
                  </a:cubicBezTo>
                  <a:cubicBezTo>
                    <a:pt x="1975469" y="1119447"/>
                    <a:pt x="1989764" y="1103599"/>
                    <a:pt x="2008720" y="1097280"/>
                  </a:cubicBezTo>
                  <a:cubicBezTo>
                    <a:pt x="2092500" y="1069352"/>
                    <a:pt x="1962568" y="1111956"/>
                    <a:pt x="2066909" y="1080654"/>
                  </a:cubicBezTo>
                  <a:cubicBezTo>
                    <a:pt x="2083695" y="1075618"/>
                    <a:pt x="2100315" y="1070018"/>
                    <a:pt x="2116785" y="1064029"/>
                  </a:cubicBezTo>
                  <a:cubicBezTo>
                    <a:pt x="2130809" y="1058930"/>
                    <a:pt x="2144056" y="1051691"/>
                    <a:pt x="2158349" y="1047403"/>
                  </a:cubicBezTo>
                  <a:cubicBezTo>
                    <a:pt x="2171882" y="1043343"/>
                    <a:pt x="2186206" y="1042518"/>
                    <a:pt x="2199913" y="1039091"/>
                  </a:cubicBezTo>
                  <a:cubicBezTo>
                    <a:pt x="2208414" y="1036966"/>
                    <a:pt x="2216397" y="1033084"/>
                    <a:pt x="2224851" y="1030778"/>
                  </a:cubicBezTo>
                  <a:cubicBezTo>
                    <a:pt x="2246895" y="1024766"/>
                    <a:pt x="2270138" y="1022638"/>
                    <a:pt x="2291353" y="1014152"/>
                  </a:cubicBezTo>
                  <a:cubicBezTo>
                    <a:pt x="2293494" y="1013296"/>
                    <a:pt x="2346687" y="991075"/>
                    <a:pt x="2357854" y="989214"/>
                  </a:cubicBezTo>
                  <a:cubicBezTo>
                    <a:pt x="2382604" y="985089"/>
                    <a:pt x="2407749" y="983834"/>
                    <a:pt x="2432669" y="980902"/>
                  </a:cubicBezTo>
                  <a:lnTo>
                    <a:pt x="2499171" y="972589"/>
                  </a:lnTo>
                  <a:cubicBezTo>
                    <a:pt x="2526848" y="969514"/>
                    <a:pt x="2582298" y="964276"/>
                    <a:pt x="2582298" y="964276"/>
                  </a:cubicBezTo>
                </a:path>
              </a:pathLst>
            </a:cu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4" name="组合 123"/>
          <p:cNvGrpSpPr/>
          <p:nvPr/>
        </p:nvGrpSpPr>
        <p:grpSpPr>
          <a:xfrm>
            <a:off x="5891205" y="1630230"/>
            <a:ext cx="3689152" cy="2230953"/>
            <a:chOff x="529801" y="1867493"/>
            <a:chExt cx="3689152" cy="2230953"/>
          </a:xfrm>
        </p:grpSpPr>
        <p:grpSp>
          <p:nvGrpSpPr>
            <p:cNvPr id="125" name="组合 124"/>
            <p:cNvGrpSpPr/>
            <p:nvPr/>
          </p:nvGrpSpPr>
          <p:grpSpPr>
            <a:xfrm>
              <a:off x="529801" y="1988218"/>
              <a:ext cx="3689152" cy="2110228"/>
              <a:chOff x="4771280" y="3385241"/>
              <a:chExt cx="3689152" cy="2110228"/>
            </a:xfrm>
          </p:grpSpPr>
          <p:grpSp>
            <p:nvGrpSpPr>
              <p:cNvPr id="169" name="组合 168"/>
              <p:cNvGrpSpPr/>
              <p:nvPr/>
            </p:nvGrpSpPr>
            <p:grpSpPr>
              <a:xfrm>
                <a:off x="4771280" y="3385241"/>
                <a:ext cx="3689152" cy="2110228"/>
                <a:chOff x="4086241" y="2727574"/>
                <a:chExt cx="3689152" cy="2110228"/>
              </a:xfrm>
            </p:grpSpPr>
            <p:cxnSp>
              <p:nvCxnSpPr>
                <p:cNvPr id="171" name="直接箭头连接符 170"/>
                <p:cNvCxnSpPr/>
                <p:nvPr/>
              </p:nvCxnSpPr>
              <p:spPr>
                <a:xfrm flipV="1">
                  <a:off x="4397841" y="4653136"/>
                  <a:ext cx="2960757" cy="24940"/>
                </a:xfrm>
                <a:prstGeom prst="straightConnector1">
                  <a:avLst/>
                </a:prstGeom>
                <a:noFill/>
                <a:ln w="28575" cap="flat" cmpd="sng">
                  <a:solidFill>
                    <a:schemeClr val="tx1"/>
                  </a:solidFill>
                  <a:prstDash val="solid"/>
                  <a:round/>
                  <a:headEnd/>
                  <a:tailEnd type="triangle"/>
                </a:ln>
                <a:effectLst/>
              </p:spPr>
            </p:cxnSp>
            <p:cxnSp>
              <p:nvCxnSpPr>
                <p:cNvPr id="172" name="直接箭头连接符 171"/>
                <p:cNvCxnSpPr/>
                <p:nvPr/>
              </p:nvCxnSpPr>
              <p:spPr>
                <a:xfrm flipV="1">
                  <a:off x="4397841" y="2727574"/>
                  <a:ext cx="0" cy="1961566"/>
                </a:xfrm>
                <a:prstGeom prst="straightConnector1">
                  <a:avLst/>
                </a:prstGeom>
                <a:noFill/>
                <a:ln w="28575" cap="flat" cmpd="sng">
                  <a:solidFill>
                    <a:schemeClr val="tx1"/>
                  </a:solidFill>
                  <a:prstDash val="solid"/>
                  <a:round/>
                  <a:headEnd/>
                  <a:tailEnd type="triangle"/>
                </a:ln>
                <a:effectLst/>
              </p:spPr>
            </p:cxnSp>
            <p:sp>
              <p:nvSpPr>
                <p:cNvPr id="173" name="乘号 172"/>
                <p:cNvSpPr/>
                <p:nvPr/>
              </p:nvSpPr>
              <p:spPr>
                <a:xfrm>
                  <a:off x="4727376" y="3013678"/>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乘号 173"/>
                <p:cNvSpPr/>
                <p:nvPr/>
              </p:nvSpPr>
              <p:spPr>
                <a:xfrm>
                  <a:off x="5228722" y="3102759"/>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乘号 174"/>
                <p:cNvSpPr/>
                <p:nvPr/>
              </p:nvSpPr>
              <p:spPr>
                <a:xfrm>
                  <a:off x="5232581" y="3732877"/>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乘号 175"/>
                <p:cNvSpPr/>
                <p:nvPr/>
              </p:nvSpPr>
              <p:spPr>
                <a:xfrm>
                  <a:off x="6149517" y="4194799"/>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乘号 176"/>
                <p:cNvSpPr/>
                <p:nvPr/>
              </p:nvSpPr>
              <p:spPr>
                <a:xfrm>
                  <a:off x="6994382" y="3834523"/>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文本框 177"/>
                <p:cNvSpPr txBox="1"/>
                <p:nvPr/>
              </p:nvSpPr>
              <p:spPr>
                <a:xfrm>
                  <a:off x="7271337" y="4468470"/>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179" name="文本框 178"/>
                <p:cNvSpPr txBox="1"/>
                <p:nvPr/>
              </p:nvSpPr>
              <p:spPr>
                <a:xfrm>
                  <a:off x="4086241" y="2727574"/>
                  <a:ext cx="345910" cy="369332"/>
                </a:xfrm>
                <a:prstGeom prst="rect">
                  <a:avLst/>
                </a:prstGeom>
                <a:noFill/>
              </p:spPr>
              <p:txBody>
                <a:bodyPr wrap="square" rtlCol="0">
                  <a:spAutoFit/>
                </a:bodyPr>
                <a:lstStyle/>
                <a:p>
                  <a:r>
                    <a:rPr lang="en-US" altLang="zh-CN" dirty="0"/>
                    <a:t>y</a:t>
                  </a:r>
                  <a:endParaRPr lang="zh-CN" altLang="en-US" dirty="0"/>
                </a:p>
              </p:txBody>
            </p:sp>
          </p:grpSp>
          <p:sp>
            <p:nvSpPr>
              <p:cNvPr id="170" name="椭圆 169"/>
              <p:cNvSpPr/>
              <p:nvPr/>
            </p:nvSpPr>
            <p:spPr>
              <a:xfrm>
                <a:off x="7214287" y="4678565"/>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6" name="椭圆 125"/>
            <p:cNvSpPr/>
            <p:nvPr/>
          </p:nvSpPr>
          <p:spPr>
            <a:xfrm>
              <a:off x="3493588" y="197450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nvSpPr>
          <p:spPr>
            <a:xfrm>
              <a:off x="1973261" y="254925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1802261" y="2784973"/>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2002167" y="295387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nvSpPr>
          <p:spPr>
            <a:xfrm>
              <a:off x="2214595" y="310595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p:nvSpPr>
          <p:spPr>
            <a:xfrm>
              <a:off x="1795588" y="207827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nvSpPr>
          <p:spPr>
            <a:xfrm>
              <a:off x="2574359" y="195565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nvSpPr>
          <p:spPr>
            <a:xfrm>
              <a:off x="2175631" y="20755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nvSpPr>
          <p:spPr>
            <a:xfrm>
              <a:off x="2328031" y="22279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p:nvSpPr>
          <p:spPr>
            <a:xfrm>
              <a:off x="2184221" y="2403330"/>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nvSpPr>
          <p:spPr>
            <a:xfrm>
              <a:off x="2732683" y="232041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nvSpPr>
          <p:spPr>
            <a:xfrm>
              <a:off x="2585746" y="251314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nvSpPr>
          <p:spPr>
            <a:xfrm>
              <a:off x="2240001" y="289433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p:cNvSpPr/>
            <p:nvPr/>
          </p:nvSpPr>
          <p:spPr>
            <a:xfrm>
              <a:off x="3090031" y="29899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nvSpPr>
          <p:spPr>
            <a:xfrm>
              <a:off x="3242431" y="3142371"/>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nvSpPr>
          <p:spPr>
            <a:xfrm>
              <a:off x="2263923" y="261111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nvSpPr>
          <p:spPr>
            <a:xfrm>
              <a:off x="2665923" y="268933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椭圆 142"/>
            <p:cNvSpPr/>
            <p:nvPr/>
          </p:nvSpPr>
          <p:spPr>
            <a:xfrm>
              <a:off x="2818323" y="284173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乘号 143"/>
            <p:cNvSpPr/>
            <p:nvPr/>
          </p:nvSpPr>
          <p:spPr>
            <a:xfrm>
              <a:off x="2728664" y="3021485"/>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乘号 144"/>
            <p:cNvSpPr/>
            <p:nvPr/>
          </p:nvSpPr>
          <p:spPr>
            <a:xfrm>
              <a:off x="2181806" y="3629612"/>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乘号 145"/>
            <p:cNvSpPr/>
            <p:nvPr/>
          </p:nvSpPr>
          <p:spPr>
            <a:xfrm>
              <a:off x="1435319" y="2601860"/>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乘号 146"/>
            <p:cNvSpPr/>
            <p:nvPr/>
          </p:nvSpPr>
          <p:spPr>
            <a:xfrm>
              <a:off x="962376" y="2439214"/>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乘号 147"/>
            <p:cNvSpPr/>
            <p:nvPr/>
          </p:nvSpPr>
          <p:spPr>
            <a:xfrm>
              <a:off x="1268557" y="1867493"/>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乘号 148"/>
            <p:cNvSpPr/>
            <p:nvPr/>
          </p:nvSpPr>
          <p:spPr>
            <a:xfrm>
              <a:off x="1948252" y="3206972"/>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乘号 149"/>
            <p:cNvSpPr/>
            <p:nvPr/>
          </p:nvSpPr>
          <p:spPr>
            <a:xfrm>
              <a:off x="1821130" y="3514174"/>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乘号 150"/>
            <p:cNvSpPr/>
            <p:nvPr/>
          </p:nvSpPr>
          <p:spPr>
            <a:xfrm>
              <a:off x="1114016" y="2932226"/>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乘号 151"/>
            <p:cNvSpPr/>
            <p:nvPr/>
          </p:nvSpPr>
          <p:spPr>
            <a:xfrm>
              <a:off x="988736" y="3302098"/>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乘号 152"/>
            <p:cNvSpPr/>
            <p:nvPr/>
          </p:nvSpPr>
          <p:spPr>
            <a:xfrm>
              <a:off x="1477812" y="3169707"/>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乘号 153"/>
            <p:cNvSpPr/>
            <p:nvPr/>
          </p:nvSpPr>
          <p:spPr>
            <a:xfrm>
              <a:off x="1291303" y="3622546"/>
              <a:ext cx="288032" cy="288032"/>
            </a:xfrm>
            <a:prstGeom prst="mathMultiply">
              <a:avLst/>
            </a:prstGeom>
            <a:solidFill>
              <a:srgbClr val="2B66F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nvSpPr>
          <p:spPr>
            <a:xfrm>
              <a:off x="2475608" y="283717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nvSpPr>
          <p:spPr>
            <a:xfrm>
              <a:off x="2575660" y="309269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nvSpPr>
          <p:spPr>
            <a:xfrm>
              <a:off x="2923411" y="2553420"/>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a:off x="3075811" y="194726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p:cNvSpPr/>
            <p:nvPr/>
          </p:nvSpPr>
          <p:spPr>
            <a:xfrm>
              <a:off x="3228211" y="209966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nvSpPr>
          <p:spPr>
            <a:xfrm>
              <a:off x="2912251" y="205805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nvSpPr>
          <p:spPr>
            <a:xfrm>
              <a:off x="3140013" y="229396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椭圆 161"/>
            <p:cNvSpPr/>
            <p:nvPr/>
          </p:nvSpPr>
          <p:spPr>
            <a:xfrm>
              <a:off x="3140013" y="229396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椭圆 162"/>
            <p:cNvSpPr/>
            <p:nvPr/>
          </p:nvSpPr>
          <p:spPr>
            <a:xfrm>
              <a:off x="3292413" y="2446362"/>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nvSpPr>
          <p:spPr>
            <a:xfrm>
              <a:off x="3195467" y="2612828"/>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nvSpPr>
          <p:spPr>
            <a:xfrm>
              <a:off x="3810837" y="268933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nvSpPr>
          <p:spPr>
            <a:xfrm>
              <a:off x="3593989" y="2425613"/>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椭圆 166"/>
            <p:cNvSpPr/>
            <p:nvPr/>
          </p:nvSpPr>
          <p:spPr>
            <a:xfrm>
              <a:off x="3427770" y="283602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任意多边形 167"/>
            <p:cNvSpPr/>
            <p:nvPr/>
          </p:nvSpPr>
          <p:spPr>
            <a:xfrm>
              <a:off x="1662545" y="1903615"/>
              <a:ext cx="2236124" cy="1592408"/>
            </a:xfrm>
            <a:custGeom>
              <a:avLst/>
              <a:gdLst>
                <a:gd name="connsiteX0" fmla="*/ 58190 w 2236124"/>
                <a:gd name="connsiteY0" fmla="*/ 0 h 1592408"/>
                <a:gd name="connsiteX1" fmla="*/ 33251 w 2236124"/>
                <a:gd name="connsiteY1" fmla="*/ 91440 h 1592408"/>
                <a:gd name="connsiteX2" fmla="*/ 16626 w 2236124"/>
                <a:gd name="connsiteY2" fmla="*/ 157941 h 1592408"/>
                <a:gd name="connsiteX3" fmla="*/ 8313 w 2236124"/>
                <a:gd name="connsiteY3" fmla="*/ 191192 h 1592408"/>
                <a:gd name="connsiteX4" fmla="*/ 0 w 2236124"/>
                <a:gd name="connsiteY4" fmla="*/ 241069 h 1592408"/>
                <a:gd name="connsiteX5" fmla="*/ 8313 w 2236124"/>
                <a:gd name="connsiteY5" fmla="*/ 615141 h 1592408"/>
                <a:gd name="connsiteX6" fmla="*/ 24939 w 2236124"/>
                <a:gd name="connsiteY6" fmla="*/ 665018 h 1592408"/>
                <a:gd name="connsiteX7" fmla="*/ 49877 w 2236124"/>
                <a:gd name="connsiteY7" fmla="*/ 764770 h 1592408"/>
                <a:gd name="connsiteX8" fmla="*/ 58190 w 2236124"/>
                <a:gd name="connsiteY8" fmla="*/ 798021 h 1592408"/>
                <a:gd name="connsiteX9" fmla="*/ 83128 w 2236124"/>
                <a:gd name="connsiteY9" fmla="*/ 839585 h 1592408"/>
                <a:gd name="connsiteX10" fmla="*/ 108066 w 2236124"/>
                <a:gd name="connsiteY10" fmla="*/ 889461 h 1592408"/>
                <a:gd name="connsiteX11" fmla="*/ 116379 w 2236124"/>
                <a:gd name="connsiteY11" fmla="*/ 914400 h 1592408"/>
                <a:gd name="connsiteX12" fmla="*/ 133004 w 2236124"/>
                <a:gd name="connsiteY12" fmla="*/ 939338 h 1592408"/>
                <a:gd name="connsiteX13" fmla="*/ 166255 w 2236124"/>
                <a:gd name="connsiteY13" fmla="*/ 1005840 h 1592408"/>
                <a:gd name="connsiteX14" fmla="*/ 191193 w 2236124"/>
                <a:gd name="connsiteY14" fmla="*/ 1055716 h 1592408"/>
                <a:gd name="connsiteX15" fmla="*/ 199506 w 2236124"/>
                <a:gd name="connsiteY15" fmla="*/ 1080654 h 1592408"/>
                <a:gd name="connsiteX16" fmla="*/ 216131 w 2236124"/>
                <a:gd name="connsiteY16" fmla="*/ 1097280 h 1592408"/>
                <a:gd name="connsiteX17" fmla="*/ 257695 w 2236124"/>
                <a:gd name="connsiteY17" fmla="*/ 1155469 h 1592408"/>
                <a:gd name="connsiteX18" fmla="*/ 299259 w 2236124"/>
                <a:gd name="connsiteY18" fmla="*/ 1197032 h 1592408"/>
                <a:gd name="connsiteX19" fmla="*/ 315884 w 2236124"/>
                <a:gd name="connsiteY19" fmla="*/ 1213658 h 1592408"/>
                <a:gd name="connsiteX20" fmla="*/ 374073 w 2236124"/>
                <a:gd name="connsiteY20" fmla="*/ 1271847 h 1592408"/>
                <a:gd name="connsiteX21" fmla="*/ 390699 w 2236124"/>
                <a:gd name="connsiteY21" fmla="*/ 1288472 h 1592408"/>
                <a:gd name="connsiteX22" fmla="*/ 415637 w 2236124"/>
                <a:gd name="connsiteY22" fmla="*/ 1296785 h 1592408"/>
                <a:gd name="connsiteX23" fmla="*/ 440575 w 2236124"/>
                <a:gd name="connsiteY23" fmla="*/ 1321723 h 1592408"/>
                <a:gd name="connsiteX24" fmla="*/ 473826 w 2236124"/>
                <a:gd name="connsiteY24" fmla="*/ 1330036 h 1592408"/>
                <a:gd name="connsiteX25" fmla="*/ 498764 w 2236124"/>
                <a:gd name="connsiteY25" fmla="*/ 1338349 h 1592408"/>
                <a:gd name="connsiteX26" fmla="*/ 540328 w 2236124"/>
                <a:gd name="connsiteY26" fmla="*/ 1354974 h 1592408"/>
                <a:gd name="connsiteX27" fmla="*/ 565266 w 2236124"/>
                <a:gd name="connsiteY27" fmla="*/ 1371600 h 1592408"/>
                <a:gd name="connsiteX28" fmla="*/ 615142 w 2236124"/>
                <a:gd name="connsiteY28" fmla="*/ 1388225 h 1592408"/>
                <a:gd name="connsiteX29" fmla="*/ 648393 w 2236124"/>
                <a:gd name="connsiteY29" fmla="*/ 1404850 h 1592408"/>
                <a:gd name="connsiteX30" fmla="*/ 731520 w 2236124"/>
                <a:gd name="connsiteY30" fmla="*/ 1421476 h 1592408"/>
                <a:gd name="connsiteX31" fmla="*/ 756459 w 2236124"/>
                <a:gd name="connsiteY31" fmla="*/ 1438101 h 1592408"/>
                <a:gd name="connsiteX32" fmla="*/ 839586 w 2236124"/>
                <a:gd name="connsiteY32" fmla="*/ 1454727 h 1592408"/>
                <a:gd name="connsiteX33" fmla="*/ 931026 w 2236124"/>
                <a:gd name="connsiteY33" fmla="*/ 1471352 h 1592408"/>
                <a:gd name="connsiteX34" fmla="*/ 1014153 w 2236124"/>
                <a:gd name="connsiteY34" fmla="*/ 1487978 h 1592408"/>
                <a:gd name="connsiteX35" fmla="*/ 1072342 w 2236124"/>
                <a:gd name="connsiteY35" fmla="*/ 1504603 h 1592408"/>
                <a:gd name="connsiteX36" fmla="*/ 1305099 w 2236124"/>
                <a:gd name="connsiteY36" fmla="*/ 1512916 h 1592408"/>
                <a:gd name="connsiteX37" fmla="*/ 1354975 w 2236124"/>
                <a:gd name="connsiteY37" fmla="*/ 1521229 h 1592408"/>
                <a:gd name="connsiteX38" fmla="*/ 1438102 w 2236124"/>
                <a:gd name="connsiteY38" fmla="*/ 1529541 h 1592408"/>
                <a:gd name="connsiteX39" fmla="*/ 1537855 w 2236124"/>
                <a:gd name="connsiteY39" fmla="*/ 1546167 h 1592408"/>
                <a:gd name="connsiteX40" fmla="*/ 1737360 w 2236124"/>
                <a:gd name="connsiteY40" fmla="*/ 1554480 h 1592408"/>
                <a:gd name="connsiteX41" fmla="*/ 1837113 w 2236124"/>
                <a:gd name="connsiteY41" fmla="*/ 1571105 h 1592408"/>
                <a:gd name="connsiteX42" fmla="*/ 1920240 w 2236124"/>
                <a:gd name="connsiteY42" fmla="*/ 1587730 h 1592408"/>
                <a:gd name="connsiteX43" fmla="*/ 2219499 w 2236124"/>
                <a:gd name="connsiteY43" fmla="*/ 1571105 h 1592408"/>
                <a:gd name="connsiteX44" fmla="*/ 2236124 w 2236124"/>
                <a:gd name="connsiteY44" fmla="*/ 1562792 h 159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236124" h="1592408">
                  <a:moveTo>
                    <a:pt x="58190" y="0"/>
                  </a:moveTo>
                  <a:cubicBezTo>
                    <a:pt x="29440" y="71873"/>
                    <a:pt x="50641" y="10285"/>
                    <a:pt x="33251" y="91440"/>
                  </a:cubicBezTo>
                  <a:cubicBezTo>
                    <a:pt x="28463" y="113782"/>
                    <a:pt x="22168" y="135774"/>
                    <a:pt x="16626" y="157941"/>
                  </a:cubicBezTo>
                  <a:cubicBezTo>
                    <a:pt x="13855" y="169025"/>
                    <a:pt x="10191" y="179923"/>
                    <a:pt x="8313" y="191192"/>
                  </a:cubicBezTo>
                  <a:lnTo>
                    <a:pt x="0" y="241069"/>
                  </a:lnTo>
                  <a:cubicBezTo>
                    <a:pt x="2771" y="365760"/>
                    <a:pt x="989" y="490635"/>
                    <a:pt x="8313" y="615141"/>
                  </a:cubicBezTo>
                  <a:cubicBezTo>
                    <a:pt x="9342" y="632636"/>
                    <a:pt x="21137" y="647910"/>
                    <a:pt x="24939" y="665018"/>
                  </a:cubicBezTo>
                  <a:cubicBezTo>
                    <a:pt x="67355" y="855892"/>
                    <a:pt x="25291" y="678722"/>
                    <a:pt x="49877" y="764770"/>
                  </a:cubicBezTo>
                  <a:cubicBezTo>
                    <a:pt x="53016" y="775755"/>
                    <a:pt x="53550" y="787581"/>
                    <a:pt x="58190" y="798021"/>
                  </a:cubicBezTo>
                  <a:cubicBezTo>
                    <a:pt x="64752" y="812786"/>
                    <a:pt x="75902" y="825134"/>
                    <a:pt x="83128" y="839585"/>
                  </a:cubicBezTo>
                  <a:cubicBezTo>
                    <a:pt x="117540" y="908411"/>
                    <a:pt x="60422" y="817998"/>
                    <a:pt x="108066" y="889461"/>
                  </a:cubicBezTo>
                  <a:cubicBezTo>
                    <a:pt x="110837" y="897774"/>
                    <a:pt x="112460" y="906562"/>
                    <a:pt x="116379" y="914400"/>
                  </a:cubicBezTo>
                  <a:cubicBezTo>
                    <a:pt x="120847" y="923336"/>
                    <a:pt x="128946" y="930209"/>
                    <a:pt x="133004" y="939338"/>
                  </a:cubicBezTo>
                  <a:cubicBezTo>
                    <a:pt x="163570" y="1008112"/>
                    <a:pt x="132113" y="971696"/>
                    <a:pt x="166255" y="1005840"/>
                  </a:cubicBezTo>
                  <a:cubicBezTo>
                    <a:pt x="187150" y="1068523"/>
                    <a:pt x="158964" y="991258"/>
                    <a:pt x="191193" y="1055716"/>
                  </a:cubicBezTo>
                  <a:cubicBezTo>
                    <a:pt x="195112" y="1063553"/>
                    <a:pt x="194998" y="1073140"/>
                    <a:pt x="199506" y="1080654"/>
                  </a:cubicBezTo>
                  <a:cubicBezTo>
                    <a:pt x="203538" y="1087374"/>
                    <a:pt x="211235" y="1091160"/>
                    <a:pt x="216131" y="1097280"/>
                  </a:cubicBezTo>
                  <a:cubicBezTo>
                    <a:pt x="251869" y="1141953"/>
                    <a:pt x="210916" y="1102843"/>
                    <a:pt x="257695" y="1155469"/>
                  </a:cubicBezTo>
                  <a:cubicBezTo>
                    <a:pt x="270712" y="1170113"/>
                    <a:pt x="285404" y="1183177"/>
                    <a:pt x="299259" y="1197032"/>
                  </a:cubicBezTo>
                  <a:lnTo>
                    <a:pt x="315884" y="1213658"/>
                  </a:lnTo>
                  <a:lnTo>
                    <a:pt x="374073" y="1271847"/>
                  </a:lnTo>
                  <a:cubicBezTo>
                    <a:pt x="379615" y="1277389"/>
                    <a:pt x="383264" y="1285994"/>
                    <a:pt x="390699" y="1288472"/>
                  </a:cubicBezTo>
                  <a:lnTo>
                    <a:pt x="415637" y="1296785"/>
                  </a:lnTo>
                  <a:cubicBezTo>
                    <a:pt x="423950" y="1305098"/>
                    <a:pt x="430368" y="1315890"/>
                    <a:pt x="440575" y="1321723"/>
                  </a:cubicBezTo>
                  <a:cubicBezTo>
                    <a:pt x="450494" y="1327391"/>
                    <a:pt x="462841" y="1326897"/>
                    <a:pt x="473826" y="1330036"/>
                  </a:cubicBezTo>
                  <a:cubicBezTo>
                    <a:pt x="482251" y="1332443"/>
                    <a:pt x="490560" y="1335272"/>
                    <a:pt x="498764" y="1338349"/>
                  </a:cubicBezTo>
                  <a:cubicBezTo>
                    <a:pt x="512736" y="1343588"/>
                    <a:pt x="526981" y="1348301"/>
                    <a:pt x="540328" y="1354974"/>
                  </a:cubicBezTo>
                  <a:cubicBezTo>
                    <a:pt x="549264" y="1359442"/>
                    <a:pt x="556136" y="1367542"/>
                    <a:pt x="565266" y="1371600"/>
                  </a:cubicBezTo>
                  <a:cubicBezTo>
                    <a:pt x="581280" y="1378717"/>
                    <a:pt x="599467" y="1380388"/>
                    <a:pt x="615142" y="1388225"/>
                  </a:cubicBezTo>
                  <a:cubicBezTo>
                    <a:pt x="626226" y="1393767"/>
                    <a:pt x="636478" y="1401446"/>
                    <a:pt x="648393" y="1404850"/>
                  </a:cubicBezTo>
                  <a:cubicBezTo>
                    <a:pt x="675564" y="1412613"/>
                    <a:pt x="731520" y="1421476"/>
                    <a:pt x="731520" y="1421476"/>
                  </a:cubicBezTo>
                  <a:cubicBezTo>
                    <a:pt x="739833" y="1427018"/>
                    <a:pt x="747276" y="1434166"/>
                    <a:pt x="756459" y="1438101"/>
                  </a:cubicBezTo>
                  <a:cubicBezTo>
                    <a:pt x="773355" y="1445342"/>
                    <a:pt x="826691" y="1452148"/>
                    <a:pt x="839586" y="1454727"/>
                  </a:cubicBezTo>
                  <a:cubicBezTo>
                    <a:pt x="958101" y="1478431"/>
                    <a:pt x="747901" y="1443180"/>
                    <a:pt x="931026" y="1471352"/>
                  </a:cubicBezTo>
                  <a:cubicBezTo>
                    <a:pt x="971588" y="1477592"/>
                    <a:pt x="978503" y="1478255"/>
                    <a:pt x="1014153" y="1487978"/>
                  </a:cubicBezTo>
                  <a:cubicBezTo>
                    <a:pt x="1033615" y="1493286"/>
                    <a:pt x="1052243" y="1502880"/>
                    <a:pt x="1072342" y="1504603"/>
                  </a:cubicBezTo>
                  <a:cubicBezTo>
                    <a:pt x="1149694" y="1511233"/>
                    <a:pt x="1227513" y="1510145"/>
                    <a:pt x="1305099" y="1512916"/>
                  </a:cubicBezTo>
                  <a:cubicBezTo>
                    <a:pt x="1321724" y="1515687"/>
                    <a:pt x="1338250" y="1519138"/>
                    <a:pt x="1354975" y="1521229"/>
                  </a:cubicBezTo>
                  <a:cubicBezTo>
                    <a:pt x="1382607" y="1524683"/>
                    <a:pt x="1410535" y="1525603"/>
                    <a:pt x="1438102" y="1529541"/>
                  </a:cubicBezTo>
                  <a:cubicBezTo>
                    <a:pt x="1535306" y="1543427"/>
                    <a:pt x="1377342" y="1536135"/>
                    <a:pt x="1537855" y="1546167"/>
                  </a:cubicBezTo>
                  <a:cubicBezTo>
                    <a:pt x="1604285" y="1550319"/>
                    <a:pt x="1670858" y="1551709"/>
                    <a:pt x="1737360" y="1554480"/>
                  </a:cubicBezTo>
                  <a:cubicBezTo>
                    <a:pt x="1789345" y="1571806"/>
                    <a:pt x="1744308" y="1558731"/>
                    <a:pt x="1837113" y="1571105"/>
                  </a:cubicBezTo>
                  <a:cubicBezTo>
                    <a:pt x="1880786" y="1576928"/>
                    <a:pt x="1882481" y="1578291"/>
                    <a:pt x="1920240" y="1587730"/>
                  </a:cubicBezTo>
                  <a:cubicBezTo>
                    <a:pt x="1992957" y="1585527"/>
                    <a:pt x="2127922" y="1607737"/>
                    <a:pt x="2219499" y="1571105"/>
                  </a:cubicBezTo>
                  <a:cubicBezTo>
                    <a:pt x="2225252" y="1568804"/>
                    <a:pt x="2230582" y="1565563"/>
                    <a:pt x="2236124" y="1562792"/>
                  </a:cubicBezTo>
                </a:path>
              </a:pathLst>
            </a:cu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0" name="矩形 179"/>
          <p:cNvSpPr/>
          <p:nvPr/>
        </p:nvSpPr>
        <p:spPr>
          <a:xfrm>
            <a:off x="2692953" y="3605516"/>
            <a:ext cx="782486" cy="378565"/>
          </a:xfrm>
          <a:prstGeom prst="rect">
            <a:avLst/>
          </a:prstGeom>
        </p:spPr>
        <p:txBody>
          <a:bodyPr wrap="square">
            <a:spAutoFit/>
          </a:bodyPr>
          <a:lstStyle/>
          <a:p>
            <a:pPr algn="just">
              <a:lnSpc>
                <a:spcPct val="150000"/>
              </a:lnSpc>
            </a:pPr>
            <a:r>
              <a:rPr lang="zh-CN" altLang="en-US" sz="1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欠拟合</a:t>
            </a:r>
            <a:endParaRPr lang="en-US" altLang="zh-CN" sz="1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181" name="矩形 180"/>
          <p:cNvSpPr/>
          <p:nvPr/>
        </p:nvSpPr>
        <p:spPr>
          <a:xfrm>
            <a:off x="7410535" y="3609476"/>
            <a:ext cx="1134828" cy="378886"/>
          </a:xfrm>
          <a:prstGeom prst="rect">
            <a:avLst/>
          </a:prstGeom>
        </p:spPr>
        <p:txBody>
          <a:bodyPr wrap="square">
            <a:spAutoFit/>
          </a:bodyPr>
          <a:lstStyle/>
          <a:p>
            <a:pPr algn="just">
              <a:lnSpc>
                <a:spcPct val="150000"/>
              </a:lnSpc>
            </a:pPr>
            <a:r>
              <a:rPr lang="zh-CN" altLang="en-US" sz="1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合适拟合</a:t>
            </a:r>
            <a:endParaRPr lang="en-US" altLang="zh-CN" sz="1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182" name="矩形 181"/>
          <p:cNvSpPr/>
          <p:nvPr/>
        </p:nvSpPr>
        <p:spPr>
          <a:xfrm>
            <a:off x="2836370" y="6003006"/>
            <a:ext cx="782486" cy="378886"/>
          </a:xfrm>
          <a:prstGeom prst="rect">
            <a:avLst/>
          </a:prstGeom>
        </p:spPr>
        <p:txBody>
          <a:bodyPr wrap="square">
            <a:spAutoFit/>
          </a:bodyPr>
          <a:lstStyle/>
          <a:p>
            <a:pPr algn="just">
              <a:lnSpc>
                <a:spcPct val="150000"/>
              </a:lnSpc>
            </a:pPr>
            <a:r>
              <a:rPr lang="zh-CN" altLang="en-US" sz="1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rPr>
              <a:t>过拟合</a:t>
            </a:r>
            <a:endParaRPr lang="en-US" altLang="zh-CN" sz="14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sp>
        <p:nvSpPr>
          <p:cNvPr id="183" name="矩形 182"/>
          <p:cNvSpPr/>
          <p:nvPr/>
        </p:nvSpPr>
        <p:spPr>
          <a:xfrm>
            <a:off x="6111155" y="4170686"/>
            <a:ext cx="3653522" cy="1938992"/>
          </a:xfrm>
          <a:prstGeom prst="rect">
            <a:avLst/>
          </a:prstGeom>
        </p:spPr>
        <p:txBody>
          <a:bodyPr wrap="square">
            <a:spAutoFit/>
          </a:bodyPr>
          <a:lstStyle/>
          <a:p>
            <a:pPr algn="just" fontAlgn="base">
              <a:lnSpc>
                <a:spcPct val="150000"/>
              </a:lnSpc>
            </a:pPr>
            <a:r>
              <a:rPr lang="zh-CN" altLang="en-US" sz="1600" b="1" dirty="0">
                <a:solidFill>
                  <a:srgbClr val="CC0000"/>
                </a:solidFill>
                <a:latin typeface="微软雅黑 Light" panose="020B0502040204020203" pitchFamily="34" charset="-122"/>
                <a:ea typeface="微软雅黑 Light" panose="020B0502040204020203" pitchFamily="34" charset="-122"/>
              </a:rPr>
              <a:t>欠拟合</a:t>
            </a:r>
            <a:r>
              <a:rPr lang="zh-CN" altLang="en-US" sz="1600" dirty="0">
                <a:solidFill>
                  <a:srgbClr val="333333"/>
                </a:solidFill>
                <a:latin typeface="微软雅黑 Light" panose="020B0502040204020203" pitchFamily="34" charset="-122"/>
                <a:ea typeface="微软雅黑 Light" panose="020B0502040204020203" pitchFamily="34" charset="-122"/>
              </a:rPr>
              <a:t>：本质原因是训练的特征少，拟合函数无法满足训练集，误差较大</a:t>
            </a:r>
            <a:r>
              <a:rPr lang="zh-CN" altLang="en-US" sz="1600" b="1" dirty="0">
                <a:solidFill>
                  <a:srgbClr val="333333"/>
                </a:solidFill>
                <a:latin typeface="微软雅黑 Light" panose="020B0502040204020203" pitchFamily="34" charset="-122"/>
                <a:ea typeface="微软雅黑 Light" panose="020B0502040204020203" pitchFamily="34" charset="-122"/>
              </a:rPr>
              <a:t>。</a:t>
            </a:r>
            <a:endParaRPr lang="zh-CN" altLang="en-US" sz="1600" dirty="0">
              <a:latin typeface="微软雅黑 Light" panose="020B0502040204020203" pitchFamily="34" charset="-122"/>
              <a:ea typeface="微软雅黑 Light" panose="020B0502040204020203" pitchFamily="34" charset="-122"/>
            </a:endParaRPr>
          </a:p>
          <a:p>
            <a:pPr algn="just" fontAlgn="base">
              <a:lnSpc>
                <a:spcPct val="150000"/>
              </a:lnSpc>
            </a:pPr>
            <a:r>
              <a:rPr lang="zh-CN" altLang="en-US" sz="1600" b="1" dirty="0">
                <a:solidFill>
                  <a:srgbClr val="CC0000"/>
                </a:solidFill>
                <a:latin typeface="微软雅黑 Light" panose="020B0502040204020203" pitchFamily="34" charset="-122"/>
                <a:ea typeface="微软雅黑 Light" panose="020B0502040204020203" pitchFamily="34" charset="-122"/>
              </a:rPr>
              <a:t>过拟合</a:t>
            </a:r>
            <a:r>
              <a:rPr lang="zh-CN" altLang="en-US" sz="1600" dirty="0">
                <a:solidFill>
                  <a:srgbClr val="333333"/>
                </a:solidFill>
                <a:latin typeface="微软雅黑 Light" panose="020B0502040204020203" pitchFamily="34" charset="-122"/>
                <a:ea typeface="微软雅黑 Light" panose="020B0502040204020203" pitchFamily="34" charset="-122"/>
              </a:rPr>
              <a:t>，训练的特征维度多，使得拟合的函数很完美的接近训练数据集，但泛化能力差，对新数据预测能力不足。</a:t>
            </a:r>
            <a:endParaRPr lang="zh-CN" altLang="en-US" sz="1600" dirty="0">
              <a:latin typeface="微软雅黑 Light" panose="020B0502040204020203" pitchFamily="34" charset="-122"/>
              <a:ea typeface="微软雅黑 Light" panose="020B0502040204020203" pitchFamily="34" charset="-122"/>
            </a:endParaRPr>
          </a:p>
        </p:txBody>
      </p:sp>
      <p:sp>
        <p:nvSpPr>
          <p:cNvPr id="186" name="灯片编号占位符 8">
            <a:extLst>
              <a:ext uri="{FF2B5EF4-FFF2-40B4-BE49-F238E27FC236}">
                <a16:creationId xmlns:a16="http://schemas.microsoft.com/office/drawing/2014/main" id="{A246AADF-933B-49DA-927E-2FADBF9B51EC}"/>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61</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7325396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神经网络存在的问题及解决方法</a:t>
            </a:r>
            <a:endParaRPr lang="en-US" altLang="zh-CN" sz="2600" b="1" dirty="0"/>
          </a:p>
        </p:txBody>
      </p:sp>
      <p:sp>
        <p:nvSpPr>
          <p:cNvPr id="8" name="矩形 7"/>
          <p:cNvSpPr/>
          <p:nvPr/>
        </p:nvSpPr>
        <p:spPr>
          <a:xfrm>
            <a:off x="1442736" y="1758994"/>
            <a:ext cx="7321436" cy="2677656"/>
          </a:xfrm>
          <a:prstGeom prst="rect">
            <a:avLst/>
          </a:prstGeom>
        </p:spPr>
        <p:txBody>
          <a:bodyPr wrap="square">
            <a:spAutoFit/>
          </a:bodyPr>
          <a:lstStyle/>
          <a:p>
            <a:pPr>
              <a:lnSpc>
                <a:spcPct val="150000"/>
              </a:lnSpc>
            </a:pPr>
            <a:r>
              <a:rPr lang="zh-CN" altLang="en-US" sz="2800" dirty="0">
                <a:latin typeface="微软雅黑 Light" panose="020B0502040204020203" pitchFamily="34" charset="-122"/>
                <a:ea typeface="微软雅黑 Light" panose="020B0502040204020203" pitchFamily="34" charset="-122"/>
              </a:rPr>
              <a:t>随着神经网络层数的不断加深，多层神经网络会出现一个致命问题：</a:t>
            </a:r>
            <a:endParaRPr lang="en-US" altLang="zh-CN" sz="2800" dirty="0">
              <a:latin typeface="微软雅黑 Light" panose="020B0502040204020203" pitchFamily="34" charset="-122"/>
              <a:ea typeface="微软雅黑 Light" panose="020B0502040204020203" pitchFamily="34" charset="-122"/>
            </a:endParaRPr>
          </a:p>
          <a:p>
            <a:pPr>
              <a:lnSpc>
                <a:spcPct val="150000"/>
              </a:lnSpc>
            </a:pPr>
            <a:r>
              <a:rPr lang="en-US" altLang="zh-CN" sz="2800" dirty="0">
                <a:solidFill>
                  <a:srgbClr val="C00000"/>
                </a:solidFill>
                <a:latin typeface="微软雅黑 Light" panose="020B0502040204020203" pitchFamily="34" charset="-122"/>
                <a:ea typeface="微软雅黑 Light" panose="020B0502040204020203" pitchFamily="34" charset="-122"/>
              </a:rPr>
              <a:t>              </a:t>
            </a:r>
            <a:r>
              <a:rPr lang="zh-CN" altLang="en-US" sz="2800" dirty="0">
                <a:solidFill>
                  <a:srgbClr val="C00000"/>
                </a:solidFill>
                <a:latin typeface="微软雅黑 Light" panose="020B0502040204020203" pitchFamily="34" charset="-122"/>
                <a:ea typeface="微软雅黑 Light" panose="020B0502040204020203" pitchFamily="34" charset="-122"/>
              </a:rPr>
              <a:t>过拟合，泛化能力差</a:t>
            </a:r>
            <a:endParaRPr lang="en-US" altLang="zh-CN" sz="2800" dirty="0">
              <a:solidFill>
                <a:srgbClr val="C00000"/>
              </a:solidFill>
              <a:latin typeface="微软雅黑 Light" panose="020B0502040204020203" pitchFamily="34" charset="-122"/>
              <a:ea typeface="微软雅黑 Light" panose="020B0502040204020203" pitchFamily="34" charset="-122"/>
            </a:endParaRPr>
          </a:p>
          <a:p>
            <a:pPr>
              <a:lnSpc>
                <a:spcPct val="150000"/>
              </a:lnSpc>
            </a:pPr>
            <a:endParaRPr lang="en-US" altLang="zh-CN" sz="2800" dirty="0">
              <a:solidFill>
                <a:srgbClr val="C00000"/>
              </a:solidFill>
              <a:latin typeface="微软雅黑 Light" panose="020B0502040204020203" pitchFamily="34" charset="-122"/>
              <a:ea typeface="微软雅黑 Light" panose="020B0502040204020203" pitchFamily="34" charset="-122"/>
            </a:endParaRPr>
          </a:p>
        </p:txBody>
      </p:sp>
      <p:sp>
        <p:nvSpPr>
          <p:cNvPr id="9" name="箭头: 下 4">
            <a:extLst>
              <a:ext uri="{FF2B5EF4-FFF2-40B4-BE49-F238E27FC236}">
                <a16:creationId xmlns:a16="http://schemas.microsoft.com/office/drawing/2014/main" id="{9A787681-F67A-429D-BA28-0A236B5D94E7}"/>
              </a:ext>
            </a:extLst>
          </p:cNvPr>
          <p:cNvSpPr/>
          <p:nvPr/>
        </p:nvSpPr>
        <p:spPr>
          <a:xfrm>
            <a:off x="4267200" y="3719972"/>
            <a:ext cx="391885" cy="451317"/>
          </a:xfrm>
          <a:prstGeom prst="downArrow">
            <a:avLst/>
          </a:prstGeom>
          <a:solidFill>
            <a:srgbClr val="1C479B"/>
          </a:solidFill>
          <a:ln>
            <a:solidFill>
              <a:srgbClr val="1C4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C65EA80-E75B-4A83-8B32-D6CE7F37CF90}"/>
              </a:ext>
            </a:extLst>
          </p:cNvPr>
          <p:cNvSpPr/>
          <p:nvPr/>
        </p:nvSpPr>
        <p:spPr>
          <a:xfrm>
            <a:off x="2699044" y="4290531"/>
            <a:ext cx="3570135" cy="665375"/>
          </a:xfrm>
          <a:prstGeom prst="rect">
            <a:avLst/>
          </a:prstGeom>
        </p:spPr>
        <p:txBody>
          <a:bodyPr wrap="square">
            <a:spAutoFit/>
          </a:bodyPr>
          <a:lstStyle/>
          <a:p>
            <a:pPr algn="ctr">
              <a:lnSpc>
                <a:spcPct val="150000"/>
              </a:lnSpc>
            </a:pPr>
            <a:r>
              <a:rPr lang="zh-CN" altLang="en-US" sz="2800" dirty="0">
                <a:latin typeface="微软雅黑 Light" panose="020B0502040204020203" pitchFamily="34" charset="-122"/>
                <a:ea typeface="微软雅黑 Light" panose="020B0502040204020203" pitchFamily="34" charset="-122"/>
              </a:rPr>
              <a:t>正则化</a:t>
            </a:r>
            <a:endParaRPr lang="en-US" altLang="zh-CN" sz="2800" dirty="0">
              <a:latin typeface="微软雅黑 Light" panose="020B0502040204020203" pitchFamily="34" charset="-122"/>
              <a:ea typeface="微软雅黑 Light" panose="020B0502040204020203" pitchFamily="34" charset="-122"/>
            </a:endParaRPr>
          </a:p>
        </p:txBody>
      </p:sp>
      <p:sp>
        <p:nvSpPr>
          <p:cNvPr id="13" name="灯片编号占位符 8">
            <a:extLst>
              <a:ext uri="{FF2B5EF4-FFF2-40B4-BE49-F238E27FC236}">
                <a16:creationId xmlns:a16="http://schemas.microsoft.com/office/drawing/2014/main" id="{DB99A97A-BAEA-44FA-9EB3-49786D4261C4}"/>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62</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038387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正则化思路</a:t>
            </a:r>
            <a:endParaRPr lang="en-US" altLang="zh-CN" sz="2600" b="1" dirty="0"/>
          </a:p>
        </p:txBody>
      </p:sp>
      <p:sp>
        <p:nvSpPr>
          <p:cNvPr id="8" name="矩形 7"/>
          <p:cNvSpPr/>
          <p:nvPr/>
        </p:nvSpPr>
        <p:spPr>
          <a:xfrm>
            <a:off x="6088113" y="5306915"/>
            <a:ext cx="3680614" cy="576064"/>
          </a:xfrm>
          <a:prstGeom prst="rect">
            <a:avLst/>
          </a:prstGeom>
          <a:solidFill>
            <a:srgbClr val="0D70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975119" y="1875263"/>
            <a:ext cx="3689152" cy="2110228"/>
            <a:chOff x="666824" y="1852930"/>
            <a:chExt cx="3689152" cy="2110228"/>
          </a:xfrm>
        </p:grpSpPr>
        <p:grpSp>
          <p:nvGrpSpPr>
            <p:cNvPr id="10" name="组合 9"/>
            <p:cNvGrpSpPr/>
            <p:nvPr/>
          </p:nvGrpSpPr>
          <p:grpSpPr>
            <a:xfrm>
              <a:off x="666824" y="1852930"/>
              <a:ext cx="3689152" cy="2110228"/>
              <a:chOff x="4771280" y="3385241"/>
              <a:chExt cx="3689152" cy="2110228"/>
            </a:xfrm>
          </p:grpSpPr>
          <p:grpSp>
            <p:nvGrpSpPr>
              <p:cNvPr id="19" name="组合 18"/>
              <p:cNvGrpSpPr/>
              <p:nvPr/>
            </p:nvGrpSpPr>
            <p:grpSpPr>
              <a:xfrm>
                <a:off x="4771280" y="3385241"/>
                <a:ext cx="3689152" cy="2110228"/>
                <a:chOff x="4086241" y="2727574"/>
                <a:chExt cx="3689152" cy="2110228"/>
              </a:xfrm>
            </p:grpSpPr>
            <p:cxnSp>
              <p:nvCxnSpPr>
                <p:cNvPr id="21" name="直接箭头连接符 20"/>
                <p:cNvCxnSpPr/>
                <p:nvPr/>
              </p:nvCxnSpPr>
              <p:spPr>
                <a:xfrm flipV="1">
                  <a:off x="4397841" y="4653136"/>
                  <a:ext cx="2960757" cy="24940"/>
                </a:xfrm>
                <a:prstGeom prst="straightConnector1">
                  <a:avLst/>
                </a:prstGeom>
                <a:noFill/>
                <a:ln w="28575" cap="flat" cmpd="sng">
                  <a:solidFill>
                    <a:schemeClr val="tx1"/>
                  </a:solidFill>
                  <a:prstDash val="solid"/>
                  <a:round/>
                  <a:headEnd/>
                  <a:tailEnd type="triangle"/>
                </a:ln>
                <a:effectLst/>
              </p:spPr>
            </p:cxnSp>
            <p:cxnSp>
              <p:nvCxnSpPr>
                <p:cNvPr id="22" name="直接箭头连接符 21"/>
                <p:cNvCxnSpPr/>
                <p:nvPr/>
              </p:nvCxnSpPr>
              <p:spPr>
                <a:xfrm flipV="1">
                  <a:off x="4397841" y="2727574"/>
                  <a:ext cx="0" cy="1961566"/>
                </a:xfrm>
                <a:prstGeom prst="straightConnector1">
                  <a:avLst/>
                </a:prstGeom>
                <a:noFill/>
                <a:ln w="28575" cap="flat" cmpd="sng">
                  <a:solidFill>
                    <a:schemeClr val="tx1"/>
                  </a:solidFill>
                  <a:prstDash val="solid"/>
                  <a:round/>
                  <a:headEnd/>
                  <a:tailEnd type="triangle"/>
                </a:ln>
                <a:effectLst/>
              </p:spPr>
            </p:cxnSp>
            <p:sp>
              <p:nvSpPr>
                <p:cNvPr id="23" name="文本框 22"/>
                <p:cNvSpPr txBox="1"/>
                <p:nvPr/>
              </p:nvSpPr>
              <p:spPr>
                <a:xfrm>
                  <a:off x="7271337" y="4468470"/>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4086241" y="2727574"/>
                  <a:ext cx="345910" cy="369332"/>
                </a:xfrm>
                <a:prstGeom prst="rect">
                  <a:avLst/>
                </a:prstGeom>
                <a:noFill/>
              </p:spPr>
              <p:txBody>
                <a:bodyPr wrap="square" rtlCol="0">
                  <a:spAutoFit/>
                </a:bodyPr>
                <a:lstStyle/>
                <a:p>
                  <a:r>
                    <a:rPr lang="en-US" altLang="zh-CN" dirty="0"/>
                    <a:t>y</a:t>
                  </a:r>
                  <a:endParaRPr lang="zh-CN" altLang="en-US" dirty="0"/>
                </a:p>
              </p:txBody>
            </p:sp>
          </p:grpSp>
          <p:sp>
            <p:nvSpPr>
              <p:cNvPr id="20" name="椭圆 19"/>
              <p:cNvSpPr/>
              <p:nvPr/>
            </p:nvSpPr>
            <p:spPr>
              <a:xfrm>
                <a:off x="5868144" y="452170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 10"/>
            <p:cNvSpPr/>
            <p:nvPr/>
          </p:nvSpPr>
          <p:spPr>
            <a:xfrm>
              <a:off x="3059832" y="203759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463423" y="219389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669760" y="3419674"/>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979712" y="2445033"/>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a:off x="1324334" y="1978429"/>
              <a:ext cx="2083884" cy="1738603"/>
            </a:xfrm>
            <a:custGeom>
              <a:avLst/>
              <a:gdLst>
                <a:gd name="connsiteX0" fmla="*/ 0 w 2011680"/>
                <a:gd name="connsiteY0" fmla="*/ 1562793 h 1562793"/>
                <a:gd name="connsiteX1" fmla="*/ 399011 w 2011680"/>
                <a:gd name="connsiteY1" fmla="*/ 856211 h 1562793"/>
                <a:gd name="connsiteX2" fmla="*/ 1172095 w 2011680"/>
                <a:gd name="connsiteY2" fmla="*/ 216131 h 1562793"/>
                <a:gd name="connsiteX3" fmla="*/ 2011680 w 2011680"/>
                <a:gd name="connsiteY3" fmla="*/ 0 h 1562793"/>
                <a:gd name="connsiteX4" fmla="*/ 2011680 w 2011680"/>
                <a:gd name="connsiteY4" fmla="*/ 0 h 1562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1680" h="1562793">
                  <a:moveTo>
                    <a:pt x="0" y="1562793"/>
                  </a:moveTo>
                  <a:cubicBezTo>
                    <a:pt x="101831" y="1321724"/>
                    <a:pt x="203662" y="1080655"/>
                    <a:pt x="399011" y="856211"/>
                  </a:cubicBezTo>
                  <a:cubicBezTo>
                    <a:pt x="594360" y="631767"/>
                    <a:pt x="903317" y="358833"/>
                    <a:pt x="1172095" y="216131"/>
                  </a:cubicBezTo>
                  <a:cubicBezTo>
                    <a:pt x="1440873" y="73429"/>
                    <a:pt x="2011680" y="0"/>
                    <a:pt x="2011680" y="0"/>
                  </a:cubicBezTo>
                  <a:lnTo>
                    <a:pt x="201168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748232" y="1967064"/>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5" name="矩形 24"/>
              <p:cNvSpPr/>
              <p:nvPr/>
            </p:nvSpPr>
            <p:spPr>
              <a:xfrm>
                <a:off x="1524331" y="3940448"/>
                <a:ext cx="3769978" cy="418961"/>
              </a:xfrm>
              <a:prstGeom prst="rect">
                <a:avLst/>
              </a:prstGeom>
            </p:spPr>
            <p:txBody>
              <a:bodyPr wrap="square">
                <a:spAutoFit/>
              </a:bodyPr>
              <a:lstStyle/>
              <a:p>
                <a:pPr algn="just">
                  <a:lnSpc>
                    <a:spcPct val="150000"/>
                  </a:lnSpc>
                </a:pPr>
                <a:r>
                  <a:rPr lang="zh-CN" altLang="en-US" sz="1600" kern="0" dirty="0">
                    <a:solidFill>
                      <a:srgbClr val="000000"/>
                    </a:solidFill>
                    <a:ea typeface="微软雅黑 Light" panose="020B0502040204020203" pitchFamily="34" charset="-122"/>
                  </a:rPr>
                  <a:t>拟合函数        </a:t>
                </a:r>
                <a14:m>
                  <m:oMath xmlns:m="http://schemas.openxmlformats.org/officeDocument/2006/math">
                    <m:r>
                      <a:rPr lang="zh-CN" altLang="en-US" sz="1600" i="1" kern="0">
                        <a:solidFill>
                          <a:srgbClr val="000000"/>
                        </a:solidFill>
                        <a:latin typeface="Cambria Math" panose="02040503050406030204" pitchFamily="18" charset="0"/>
                        <a:ea typeface="微软雅黑" panose="020B0503020204020204" pitchFamily="34" charset="-122"/>
                      </a:rPr>
                      <m:t> </m:t>
                    </m:r>
                    <m:sSub>
                      <m:sSubPr>
                        <m:ctrlPr>
                          <a:rPr lang="en-US" altLang="zh-CN" sz="1600" i="1" kern="0" smtClea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0</m:t>
                        </m:r>
                      </m:sub>
                    </m:sSub>
                    <m:r>
                      <a:rPr lang="en-US" altLang="zh-CN" sz="1600" i="1" ker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1</m:t>
                        </m:r>
                      </m:sub>
                    </m:sSub>
                    <m:r>
                      <a:rPr lang="en-US" altLang="zh-CN" sz="1600" b="0" i="1" kern="0" smtClean="0">
                        <a:solidFill>
                          <a:srgbClr val="000000"/>
                        </a:solidFill>
                        <a:latin typeface="Cambria Math" panose="02040503050406030204" pitchFamily="18" charset="0"/>
                        <a:ea typeface="微软雅黑" panose="020B0503020204020204" pitchFamily="34" charset="-122"/>
                      </a:rPr>
                      <m:t>𝑥</m:t>
                    </m:r>
                    <m:r>
                      <a:rPr lang="en-US" altLang="zh-CN" sz="1600" i="1" kern="0" smtClea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2</m:t>
                        </m:r>
                      </m:sub>
                    </m:sSub>
                    <m:sSup>
                      <m:sSupPr>
                        <m:ctrlPr>
                          <a:rPr lang="en-US" altLang="zh-CN" sz="1600" i="1" kern="0" smtClean="0">
                            <a:solidFill>
                              <a:srgbClr val="000000"/>
                            </a:solidFill>
                            <a:latin typeface="Cambria Math" panose="02040503050406030204" pitchFamily="18" charset="0"/>
                            <a:ea typeface="微软雅黑" panose="020B0503020204020204" pitchFamily="34" charset="-122"/>
                          </a:rPr>
                        </m:ctrlPr>
                      </m:sSupPr>
                      <m:e>
                        <m:r>
                          <a:rPr lang="en-US" altLang="zh-CN" sz="1600" b="0" i="1" kern="0" smtClean="0">
                            <a:solidFill>
                              <a:srgbClr val="000000"/>
                            </a:solidFill>
                            <a:latin typeface="Cambria Math" panose="02040503050406030204" pitchFamily="18" charset="0"/>
                            <a:ea typeface="微软雅黑" panose="020B0503020204020204" pitchFamily="34" charset="-122"/>
                          </a:rPr>
                          <m:t>𝑥</m:t>
                        </m:r>
                      </m:e>
                      <m:sup>
                        <m:r>
                          <a:rPr lang="en-US" altLang="zh-CN" sz="1600" b="0" i="1" kern="0" smtClean="0">
                            <a:solidFill>
                              <a:srgbClr val="000000"/>
                            </a:solidFill>
                            <a:latin typeface="Cambria Math" panose="02040503050406030204" pitchFamily="18" charset="0"/>
                            <a:ea typeface="微软雅黑" panose="020B0503020204020204" pitchFamily="34" charset="-122"/>
                          </a:rPr>
                          <m:t>2</m:t>
                        </m:r>
                      </m:sup>
                    </m:sSup>
                  </m:oMath>
                </a14:m>
                <a:endParaRPr lang="en-US" altLang="zh-CN"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25" name="矩形 24"/>
              <p:cNvSpPr>
                <a:spLocks noRot="1" noChangeAspect="1" noMove="1" noResize="1" noEditPoints="1" noAdjustHandles="1" noChangeArrowheads="1" noChangeShapeType="1" noTextEdit="1"/>
              </p:cNvSpPr>
              <p:nvPr/>
            </p:nvSpPr>
            <p:spPr>
              <a:xfrm>
                <a:off x="1524331" y="3940448"/>
                <a:ext cx="3769978" cy="418961"/>
              </a:xfrm>
              <a:prstGeom prst="rect">
                <a:avLst/>
              </a:prstGeom>
              <a:blipFill rotWithShape="0">
                <a:blip r:embed="rId5"/>
                <a:stretch>
                  <a:fillRect l="-809" b="-173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5445494" y="3989157"/>
                <a:ext cx="4155741" cy="461665"/>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sz="1600" i="1" kern="0" smtClea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0</m:t>
                          </m:r>
                        </m:sub>
                      </m:sSub>
                      <m:r>
                        <a:rPr lang="en-US" altLang="zh-CN" sz="1600" i="1" ker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1</m:t>
                          </m:r>
                        </m:sub>
                      </m:sSub>
                      <m:r>
                        <a:rPr lang="en-US" altLang="zh-CN" sz="1600" b="0" i="1" kern="0" smtClean="0">
                          <a:solidFill>
                            <a:srgbClr val="000000"/>
                          </a:solidFill>
                          <a:latin typeface="Cambria Math" panose="02040503050406030204" pitchFamily="18" charset="0"/>
                          <a:ea typeface="微软雅黑" panose="020B0503020204020204" pitchFamily="34" charset="-122"/>
                        </a:rPr>
                        <m:t>𝑥</m:t>
                      </m:r>
                      <m:r>
                        <a:rPr lang="en-US" altLang="zh-CN" sz="1600" i="1" kern="0" smtClea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2</m:t>
                          </m:r>
                        </m:sub>
                      </m:sSub>
                      <m:sSup>
                        <m:sSupPr>
                          <m:ctrlPr>
                            <a:rPr lang="en-US" altLang="zh-CN" sz="1600" i="1" kern="0" smtClean="0">
                              <a:solidFill>
                                <a:srgbClr val="000000"/>
                              </a:solidFill>
                              <a:latin typeface="Cambria Math" panose="02040503050406030204" pitchFamily="18" charset="0"/>
                              <a:ea typeface="微软雅黑" panose="020B0503020204020204" pitchFamily="34" charset="-122"/>
                            </a:rPr>
                          </m:ctrlPr>
                        </m:sSupPr>
                        <m:e>
                          <m:r>
                            <a:rPr lang="en-US" altLang="zh-CN" sz="1600" b="0" i="1" kern="0" smtClean="0">
                              <a:solidFill>
                                <a:srgbClr val="000000"/>
                              </a:solidFill>
                              <a:latin typeface="Cambria Math" panose="02040503050406030204" pitchFamily="18" charset="0"/>
                              <a:ea typeface="微软雅黑" panose="020B0503020204020204" pitchFamily="34" charset="-122"/>
                            </a:rPr>
                            <m:t>𝑥</m:t>
                          </m:r>
                        </m:e>
                        <m:sup>
                          <m:r>
                            <a:rPr lang="en-US" altLang="zh-CN" sz="1600" b="0" i="1" kern="0" smtClean="0">
                              <a:solidFill>
                                <a:srgbClr val="000000"/>
                              </a:solidFill>
                              <a:latin typeface="Cambria Math" panose="02040503050406030204" pitchFamily="18" charset="0"/>
                              <a:ea typeface="微软雅黑" panose="020B0503020204020204" pitchFamily="34" charset="-122"/>
                            </a:rPr>
                            <m:t>2</m:t>
                          </m:r>
                        </m:sup>
                      </m:sSup>
                      <m:r>
                        <a:rPr lang="en-US" altLang="zh-CN" sz="1600" i="1" ker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3</m:t>
                          </m:r>
                        </m:sub>
                      </m:sSub>
                      <m:sSup>
                        <m:sSupPr>
                          <m:ctrlPr>
                            <a:rPr lang="en-US" altLang="zh-CN" sz="1600" i="1" kern="0">
                              <a:solidFill>
                                <a:srgbClr val="000000"/>
                              </a:solidFill>
                              <a:latin typeface="Cambria Math" panose="02040503050406030204" pitchFamily="18" charset="0"/>
                              <a:ea typeface="微软雅黑" panose="020B0503020204020204" pitchFamily="34" charset="-122"/>
                            </a:rPr>
                          </m:ctrlPr>
                        </m:sSupPr>
                        <m:e>
                          <m:r>
                            <a:rPr lang="en-US" altLang="zh-CN" sz="1600" i="1" kern="0">
                              <a:solidFill>
                                <a:srgbClr val="000000"/>
                              </a:solidFill>
                              <a:latin typeface="Cambria Math" panose="02040503050406030204" pitchFamily="18" charset="0"/>
                              <a:ea typeface="微软雅黑" panose="020B0503020204020204" pitchFamily="34" charset="-122"/>
                            </a:rPr>
                            <m:t>𝑥</m:t>
                          </m:r>
                        </m:e>
                        <m:sup>
                          <m:r>
                            <a:rPr lang="en-US" altLang="zh-CN" sz="1600" b="0" i="1" kern="0" smtClean="0">
                              <a:solidFill>
                                <a:srgbClr val="000000"/>
                              </a:solidFill>
                              <a:latin typeface="Cambria Math" panose="02040503050406030204" pitchFamily="18" charset="0"/>
                              <a:ea typeface="微软雅黑" panose="020B0503020204020204" pitchFamily="34" charset="-122"/>
                            </a:rPr>
                            <m:t>3</m:t>
                          </m:r>
                        </m:sup>
                      </m:sSup>
                      <m:r>
                        <a:rPr lang="en-US" altLang="zh-CN" sz="1600" i="1" kern="0" smtClea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4</m:t>
                          </m:r>
                        </m:sub>
                      </m:sSub>
                      <m:sSup>
                        <m:sSupPr>
                          <m:ctrlPr>
                            <a:rPr lang="en-US" altLang="zh-CN" sz="1600" i="1" kern="0">
                              <a:solidFill>
                                <a:srgbClr val="000000"/>
                              </a:solidFill>
                              <a:latin typeface="Cambria Math" panose="02040503050406030204" pitchFamily="18" charset="0"/>
                              <a:ea typeface="微软雅黑" panose="020B0503020204020204" pitchFamily="34" charset="-122"/>
                            </a:rPr>
                          </m:ctrlPr>
                        </m:sSupPr>
                        <m:e>
                          <m:r>
                            <a:rPr lang="en-US" altLang="zh-CN" sz="1600" i="1" kern="0">
                              <a:solidFill>
                                <a:srgbClr val="000000"/>
                              </a:solidFill>
                              <a:latin typeface="Cambria Math" panose="02040503050406030204" pitchFamily="18" charset="0"/>
                              <a:ea typeface="微软雅黑" panose="020B0503020204020204" pitchFamily="34" charset="-122"/>
                            </a:rPr>
                            <m:t>𝑥</m:t>
                          </m:r>
                        </m:e>
                        <m:sup>
                          <m:r>
                            <a:rPr lang="en-US" altLang="zh-CN" sz="1600" b="0" i="1" kern="0" smtClean="0">
                              <a:solidFill>
                                <a:srgbClr val="000000"/>
                              </a:solidFill>
                              <a:latin typeface="Cambria Math" panose="02040503050406030204" pitchFamily="18" charset="0"/>
                              <a:ea typeface="微软雅黑" panose="020B0503020204020204" pitchFamily="34" charset="-122"/>
                            </a:rPr>
                            <m:t>4</m:t>
                          </m:r>
                        </m:sup>
                      </m:sSup>
                    </m:oMath>
                  </m:oMathPara>
                </a14:m>
                <a:endParaRPr lang="en-US" altLang="zh-CN"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26" name="矩形 25"/>
              <p:cNvSpPr>
                <a:spLocks noRot="1" noChangeAspect="1" noMove="1" noResize="1" noEditPoints="1" noAdjustHandles="1" noChangeArrowheads="1" noChangeShapeType="1" noTextEdit="1"/>
              </p:cNvSpPr>
              <p:nvPr/>
            </p:nvSpPr>
            <p:spPr>
              <a:xfrm>
                <a:off x="5445494" y="3989157"/>
                <a:ext cx="4155741" cy="461665"/>
              </a:xfrm>
              <a:prstGeom prst="rect">
                <a:avLst/>
              </a:prstGeom>
              <a:blipFill rotWithShape="0">
                <a:blip r:embed="rId6"/>
                <a:stretch>
                  <a:fillRect/>
                </a:stretch>
              </a:blipFill>
            </p:spPr>
            <p:txBody>
              <a:bodyPr/>
              <a:lstStyle/>
              <a:p>
                <a:r>
                  <a:rPr lang="zh-CN" altLang="en-US">
                    <a:noFill/>
                  </a:rPr>
                  <a:t> </a:t>
                </a:r>
              </a:p>
            </p:txBody>
          </p:sp>
        </mc:Fallback>
      </mc:AlternateContent>
      <p:sp>
        <p:nvSpPr>
          <p:cNvPr id="27" name="下箭头 26"/>
          <p:cNvSpPr/>
          <p:nvPr/>
        </p:nvSpPr>
        <p:spPr>
          <a:xfrm>
            <a:off x="7436465" y="4511460"/>
            <a:ext cx="284809" cy="647623"/>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a:off x="5592902" y="1879076"/>
            <a:ext cx="3801978" cy="2110228"/>
            <a:chOff x="4284607" y="1856743"/>
            <a:chExt cx="3801978" cy="2110228"/>
          </a:xfrm>
        </p:grpSpPr>
        <p:grpSp>
          <p:nvGrpSpPr>
            <p:cNvPr id="30" name="组合 29"/>
            <p:cNvGrpSpPr/>
            <p:nvPr/>
          </p:nvGrpSpPr>
          <p:grpSpPr>
            <a:xfrm>
              <a:off x="4284607" y="1856743"/>
              <a:ext cx="3689152" cy="2110228"/>
              <a:chOff x="666824" y="1852930"/>
              <a:chExt cx="3689152" cy="2110228"/>
            </a:xfrm>
          </p:grpSpPr>
          <p:grpSp>
            <p:nvGrpSpPr>
              <p:cNvPr id="34" name="组合 33"/>
              <p:cNvGrpSpPr/>
              <p:nvPr/>
            </p:nvGrpSpPr>
            <p:grpSpPr>
              <a:xfrm>
                <a:off x="666824" y="1852930"/>
                <a:ext cx="3689152" cy="2110228"/>
                <a:chOff x="4771280" y="3385241"/>
                <a:chExt cx="3689152" cy="2110228"/>
              </a:xfrm>
            </p:grpSpPr>
            <p:grpSp>
              <p:nvGrpSpPr>
                <p:cNvPr id="40" name="组合 39"/>
                <p:cNvGrpSpPr/>
                <p:nvPr/>
              </p:nvGrpSpPr>
              <p:grpSpPr>
                <a:xfrm>
                  <a:off x="4771280" y="3385241"/>
                  <a:ext cx="3689152" cy="2110228"/>
                  <a:chOff x="4086241" y="2727574"/>
                  <a:chExt cx="3689152" cy="2110228"/>
                </a:xfrm>
              </p:grpSpPr>
              <p:cxnSp>
                <p:nvCxnSpPr>
                  <p:cNvPr id="42" name="直接箭头连接符 41"/>
                  <p:cNvCxnSpPr/>
                  <p:nvPr/>
                </p:nvCxnSpPr>
                <p:spPr>
                  <a:xfrm flipV="1">
                    <a:off x="4397841" y="4653136"/>
                    <a:ext cx="2960757" cy="24940"/>
                  </a:xfrm>
                  <a:prstGeom prst="straightConnector1">
                    <a:avLst/>
                  </a:prstGeom>
                  <a:noFill/>
                  <a:ln w="28575" cap="flat" cmpd="sng">
                    <a:solidFill>
                      <a:schemeClr val="tx1"/>
                    </a:solidFill>
                    <a:prstDash val="solid"/>
                    <a:round/>
                    <a:headEnd/>
                    <a:tailEnd type="triangle"/>
                  </a:ln>
                  <a:effectLst/>
                </p:spPr>
              </p:cxnSp>
              <p:cxnSp>
                <p:nvCxnSpPr>
                  <p:cNvPr id="43" name="直接箭头连接符 42"/>
                  <p:cNvCxnSpPr/>
                  <p:nvPr/>
                </p:nvCxnSpPr>
                <p:spPr>
                  <a:xfrm flipV="1">
                    <a:off x="4397841" y="2727574"/>
                    <a:ext cx="0" cy="1961566"/>
                  </a:xfrm>
                  <a:prstGeom prst="straightConnector1">
                    <a:avLst/>
                  </a:prstGeom>
                  <a:noFill/>
                  <a:ln w="28575" cap="flat" cmpd="sng">
                    <a:solidFill>
                      <a:schemeClr val="tx1"/>
                    </a:solidFill>
                    <a:prstDash val="solid"/>
                    <a:round/>
                    <a:headEnd/>
                    <a:tailEnd type="triangle"/>
                  </a:ln>
                  <a:effectLst/>
                </p:spPr>
              </p:cxnSp>
              <p:sp>
                <p:nvSpPr>
                  <p:cNvPr id="44" name="文本框 43"/>
                  <p:cNvSpPr txBox="1"/>
                  <p:nvPr/>
                </p:nvSpPr>
                <p:spPr>
                  <a:xfrm>
                    <a:off x="7271337" y="4468470"/>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45" name="文本框 44"/>
                  <p:cNvSpPr txBox="1"/>
                  <p:nvPr/>
                </p:nvSpPr>
                <p:spPr>
                  <a:xfrm>
                    <a:off x="4086241" y="2727574"/>
                    <a:ext cx="345910" cy="369332"/>
                  </a:xfrm>
                  <a:prstGeom prst="rect">
                    <a:avLst/>
                  </a:prstGeom>
                  <a:noFill/>
                </p:spPr>
                <p:txBody>
                  <a:bodyPr wrap="square" rtlCol="0">
                    <a:spAutoFit/>
                  </a:bodyPr>
                  <a:lstStyle/>
                  <a:p>
                    <a:r>
                      <a:rPr lang="en-US" altLang="zh-CN" dirty="0"/>
                      <a:t>y</a:t>
                    </a:r>
                    <a:endParaRPr lang="zh-CN" altLang="en-US" dirty="0"/>
                  </a:p>
                </p:txBody>
              </p:sp>
            </p:grpSp>
            <p:sp>
              <p:nvSpPr>
                <p:cNvPr id="41" name="椭圆 40"/>
                <p:cNvSpPr/>
                <p:nvPr/>
              </p:nvSpPr>
              <p:spPr>
                <a:xfrm>
                  <a:off x="5868144" y="452170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椭圆 34"/>
              <p:cNvSpPr/>
              <p:nvPr/>
            </p:nvSpPr>
            <p:spPr>
              <a:xfrm>
                <a:off x="3059832" y="203759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2463423" y="219389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669760" y="3419674"/>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979712" y="2445033"/>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2748232" y="1967064"/>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任意多边形 30"/>
            <p:cNvSpPr/>
            <p:nvPr/>
          </p:nvSpPr>
          <p:spPr>
            <a:xfrm>
              <a:off x="4779818" y="1985613"/>
              <a:ext cx="2508380" cy="1608439"/>
            </a:xfrm>
            <a:custGeom>
              <a:avLst/>
              <a:gdLst>
                <a:gd name="connsiteX0" fmla="*/ 0 w 2508380"/>
                <a:gd name="connsiteY0" fmla="*/ 1214787 h 1608439"/>
                <a:gd name="connsiteX1" fmla="*/ 839586 w 2508380"/>
                <a:gd name="connsiteY1" fmla="*/ 1605485 h 1608439"/>
                <a:gd name="connsiteX2" fmla="*/ 656706 w 2508380"/>
                <a:gd name="connsiteY2" fmla="*/ 1031907 h 1608439"/>
                <a:gd name="connsiteX3" fmla="*/ 640080 w 2508380"/>
                <a:gd name="connsiteY3" fmla="*/ 574707 h 1608439"/>
                <a:gd name="connsiteX4" fmla="*/ 1346662 w 2508380"/>
                <a:gd name="connsiteY4" fmla="*/ 441703 h 1608439"/>
                <a:gd name="connsiteX5" fmla="*/ 1354975 w 2508380"/>
                <a:gd name="connsiteY5" fmla="*/ 258823 h 1608439"/>
                <a:gd name="connsiteX6" fmla="*/ 1645920 w 2508380"/>
                <a:gd name="connsiteY6" fmla="*/ 1129 h 1608439"/>
                <a:gd name="connsiteX7" fmla="*/ 2419004 w 2508380"/>
                <a:gd name="connsiteY7" fmla="*/ 366889 h 1608439"/>
                <a:gd name="connsiteX8" fmla="*/ 2460567 w 2508380"/>
                <a:gd name="connsiteY8" fmla="*/ 383514 h 160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380" h="1608439">
                  <a:moveTo>
                    <a:pt x="0" y="1214787"/>
                  </a:moveTo>
                  <a:cubicBezTo>
                    <a:pt x="365067" y="1425376"/>
                    <a:pt x="730135" y="1635965"/>
                    <a:pt x="839586" y="1605485"/>
                  </a:cubicBezTo>
                  <a:cubicBezTo>
                    <a:pt x="949037" y="1575005"/>
                    <a:pt x="689957" y="1203703"/>
                    <a:pt x="656706" y="1031907"/>
                  </a:cubicBezTo>
                  <a:cubicBezTo>
                    <a:pt x="623455" y="860111"/>
                    <a:pt x="525087" y="673074"/>
                    <a:pt x="640080" y="574707"/>
                  </a:cubicBezTo>
                  <a:cubicBezTo>
                    <a:pt x="755073" y="476340"/>
                    <a:pt x="1227513" y="494350"/>
                    <a:pt x="1346662" y="441703"/>
                  </a:cubicBezTo>
                  <a:cubicBezTo>
                    <a:pt x="1465811" y="389056"/>
                    <a:pt x="1305099" y="332252"/>
                    <a:pt x="1354975" y="258823"/>
                  </a:cubicBezTo>
                  <a:cubicBezTo>
                    <a:pt x="1404851" y="185394"/>
                    <a:pt x="1468582" y="-16882"/>
                    <a:pt x="1645920" y="1129"/>
                  </a:cubicBezTo>
                  <a:cubicBezTo>
                    <a:pt x="1823258" y="19140"/>
                    <a:pt x="2283230" y="303158"/>
                    <a:pt x="2419004" y="366889"/>
                  </a:cubicBezTo>
                  <a:cubicBezTo>
                    <a:pt x="2554778" y="430620"/>
                    <a:pt x="2507672" y="407067"/>
                    <a:pt x="2460567" y="38351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7209422" y="2352292"/>
              <a:ext cx="877163" cy="369332"/>
            </a:xfrm>
            <a:prstGeom prst="rect">
              <a:avLst/>
            </a:prstGeom>
          </p:spPr>
          <p:txBody>
            <a:bodyPr wrap="none">
              <a:spAutoFit/>
            </a:bodyPr>
            <a:lstStyle/>
            <a:p>
              <a:r>
                <a:rPr lang="zh-CN" altLang="en-US" kern="0" dirty="0">
                  <a:solidFill>
                    <a:srgbClr val="000000"/>
                  </a:solidFill>
                  <a:ea typeface="微软雅黑 Light" panose="020B0502040204020203" pitchFamily="34" charset="-122"/>
                </a:rPr>
                <a:t>过拟合</a:t>
              </a:r>
              <a:endParaRPr lang="zh-CN" altLang="en-US" dirty="0"/>
            </a:p>
          </p:txBody>
        </p:sp>
      </p:grpSp>
      <mc:AlternateContent xmlns:mc="http://schemas.openxmlformats.org/markup-compatibility/2006" xmlns:a14="http://schemas.microsoft.com/office/drawing/2010/main">
        <mc:Choice Requires="a14">
          <p:sp>
            <p:nvSpPr>
              <p:cNvPr id="46" name="矩形 45"/>
              <p:cNvSpPr/>
              <p:nvPr/>
            </p:nvSpPr>
            <p:spPr>
              <a:xfrm>
                <a:off x="6242711" y="5384770"/>
                <a:ext cx="3602205" cy="400110"/>
              </a:xfrm>
              <a:prstGeom prst="rect">
                <a:avLst/>
              </a:prstGeom>
            </p:spPr>
            <p:txBody>
              <a:bodyPr wrap="none">
                <a:spAutoFit/>
              </a:bodyPr>
              <a:lstStyle/>
              <a:p>
                <a:r>
                  <a:rPr lang="zh-CN" altLang="en-US" sz="2000" kern="0" dirty="0">
                    <a:solidFill>
                      <a:schemeClr val="bg1"/>
                    </a:solidFill>
                    <a:ea typeface="微软雅黑 Light" panose="020B0502040204020203" pitchFamily="34" charset="-122"/>
                  </a:rPr>
                  <a:t>加上惩罚项使</a:t>
                </a:r>
                <a14:m>
                  <m:oMath xmlns:m="http://schemas.openxmlformats.org/officeDocument/2006/math">
                    <m:sSub>
                      <m:sSubPr>
                        <m:ctrlPr>
                          <a:rPr lang="en-US" altLang="zh-CN" sz="2000" i="1" kern="0">
                            <a:solidFill>
                              <a:schemeClr val="bg1"/>
                            </a:solidFill>
                            <a:latin typeface="Cambria Math" panose="02040503050406030204" pitchFamily="18" charset="0"/>
                            <a:ea typeface="微软雅黑" panose="020B0503020204020204" pitchFamily="34" charset="-122"/>
                          </a:rPr>
                        </m:ctrlPr>
                      </m:sSubPr>
                      <m:e>
                        <m:r>
                          <a:rPr lang="en-US" altLang="zh-CN" sz="2000" b="0" i="1" kern="0" smtClean="0">
                            <a:solidFill>
                              <a:schemeClr val="bg1"/>
                            </a:solidFill>
                            <a:latin typeface="Cambria Math" panose="02040503050406030204" pitchFamily="18" charset="0"/>
                            <a:ea typeface="微软雅黑" panose="020B0503020204020204" pitchFamily="34" charset="-122"/>
                          </a:rPr>
                          <m:t> </m:t>
                        </m:r>
                        <m:r>
                          <a:rPr lang="en-US" altLang="zh-CN" sz="2000" b="0" i="1" kern="0" smtClean="0">
                            <a:solidFill>
                              <a:schemeClr val="bg1"/>
                            </a:solidFill>
                            <a:latin typeface="Cambria Math" panose="02040503050406030204" pitchFamily="18" charset="0"/>
                            <a:ea typeface="微软雅黑" panose="020B0503020204020204" pitchFamily="34" charset="-122"/>
                          </a:rPr>
                          <m:t>𝑤</m:t>
                        </m:r>
                      </m:e>
                      <m:sub>
                        <m:r>
                          <a:rPr lang="en-US" altLang="zh-CN" sz="2000" i="1" kern="0">
                            <a:solidFill>
                              <a:schemeClr val="bg1"/>
                            </a:solidFill>
                            <a:latin typeface="Cambria Math" panose="02040503050406030204" pitchFamily="18" charset="0"/>
                            <a:ea typeface="微软雅黑" panose="020B0503020204020204" pitchFamily="34" charset="-122"/>
                          </a:rPr>
                          <m:t>3</m:t>
                        </m:r>
                      </m:sub>
                    </m:sSub>
                  </m:oMath>
                </a14:m>
                <a:r>
                  <a:rPr lang="zh-CN" altLang="en-US" sz="2000" kern="0" dirty="0">
                    <a:solidFill>
                      <a:schemeClr val="bg1"/>
                    </a:solidFill>
                    <a:ea typeface="微软雅黑 Light" panose="020B0502040204020203" pitchFamily="34" charset="-122"/>
                  </a:rPr>
                  <a:t>、</a:t>
                </a:r>
                <a14:m>
                  <m:oMath xmlns:m="http://schemas.openxmlformats.org/officeDocument/2006/math">
                    <m:sSub>
                      <m:sSubPr>
                        <m:ctrlPr>
                          <a:rPr lang="en-US" altLang="zh-CN" sz="2000" i="1" kern="0">
                            <a:solidFill>
                              <a:schemeClr val="bg1"/>
                            </a:solidFill>
                            <a:latin typeface="Cambria Math" panose="02040503050406030204" pitchFamily="18" charset="0"/>
                            <a:ea typeface="微软雅黑" panose="020B0503020204020204" pitchFamily="34" charset="-122"/>
                          </a:rPr>
                        </m:ctrlPr>
                      </m:sSubPr>
                      <m:e>
                        <m:r>
                          <a:rPr lang="en-US" altLang="zh-CN" sz="2000" b="0" i="1" kern="0" smtClean="0">
                            <a:solidFill>
                              <a:schemeClr val="bg1"/>
                            </a:solidFill>
                            <a:latin typeface="Cambria Math" panose="02040503050406030204" pitchFamily="18" charset="0"/>
                            <a:ea typeface="微软雅黑" panose="020B0503020204020204" pitchFamily="34" charset="-122"/>
                          </a:rPr>
                          <m:t>𝑤</m:t>
                        </m:r>
                      </m:e>
                      <m:sub>
                        <m:r>
                          <a:rPr lang="en-US" altLang="zh-CN" sz="2000" b="0" i="1" kern="0" smtClean="0">
                            <a:solidFill>
                              <a:schemeClr val="bg1"/>
                            </a:solidFill>
                            <a:latin typeface="Cambria Math" panose="02040503050406030204" pitchFamily="18" charset="0"/>
                            <a:ea typeface="微软雅黑" panose="020B0503020204020204" pitchFamily="34" charset="-122"/>
                          </a:rPr>
                          <m:t>4</m:t>
                        </m:r>
                      </m:sub>
                    </m:sSub>
                  </m:oMath>
                </a14:m>
                <a:r>
                  <a:rPr lang="zh-CN" altLang="en-US" sz="2000" kern="0" dirty="0">
                    <a:solidFill>
                      <a:schemeClr val="bg1"/>
                    </a:solidFill>
                    <a:ea typeface="微软雅黑 Light" panose="020B0502040204020203" pitchFamily="34" charset="-122"/>
                  </a:rPr>
                  <a:t>足够小  </a:t>
                </a:r>
                <a:endParaRPr lang="zh-CN" altLang="en-US" sz="2000" dirty="0">
                  <a:solidFill>
                    <a:schemeClr val="bg1"/>
                  </a:solidFill>
                </a:endParaRPr>
              </a:p>
            </p:txBody>
          </p:sp>
        </mc:Choice>
        <mc:Fallback xmlns="">
          <p:sp>
            <p:nvSpPr>
              <p:cNvPr id="46" name="矩形 45"/>
              <p:cNvSpPr>
                <a:spLocks noRot="1" noChangeAspect="1" noMove="1" noResize="1" noEditPoints="1" noAdjustHandles="1" noChangeArrowheads="1" noChangeShapeType="1" noTextEdit="1"/>
              </p:cNvSpPr>
              <p:nvPr/>
            </p:nvSpPr>
            <p:spPr>
              <a:xfrm>
                <a:off x="6242711" y="5384770"/>
                <a:ext cx="3602205" cy="400110"/>
              </a:xfrm>
              <a:prstGeom prst="rect">
                <a:avLst/>
              </a:prstGeom>
              <a:blipFill rotWithShape="0">
                <a:blip r:embed="rId7"/>
                <a:stretch>
                  <a:fillRect l="-1692" t="-9091" b="-242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p:cNvSpPr txBox="1"/>
              <p:nvPr/>
            </p:nvSpPr>
            <p:spPr>
              <a:xfrm>
                <a:off x="1041675" y="5250746"/>
                <a:ext cx="4248472" cy="847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panose="02040503050406030204" pitchFamily="18" charset="0"/>
                        </a:rPr>
                        <m:t>𝐿</m:t>
                      </m:r>
                      <m:d>
                        <m:dPr>
                          <m:ctrlPr>
                            <a:rPr lang="en-US" altLang="zh-CN" b="1" i="1" smtClean="0">
                              <a:solidFill>
                                <a:srgbClr val="FF0000"/>
                              </a:solidFill>
                              <a:latin typeface="Cambria Math" panose="02040503050406030204" pitchFamily="18" charset="0"/>
                            </a:rPr>
                          </m:ctrlPr>
                        </m:dPr>
                        <m:e>
                          <m:r>
                            <a:rPr lang="en-US" altLang="zh-CN" b="1" i="1" smtClean="0">
                              <a:solidFill>
                                <a:srgbClr val="FF0000"/>
                              </a:solidFill>
                              <a:latin typeface="Cambria Math" panose="02040503050406030204" pitchFamily="18" charset="0"/>
                            </a:rPr>
                            <m:t>𝒘</m:t>
                          </m:r>
                        </m:e>
                      </m:d>
                      <m:r>
                        <a:rPr lang="en-US" altLang="zh-CN" b="1" i="1" smtClean="0">
                          <a:solidFill>
                            <a:srgbClr val="FF0000"/>
                          </a:solidFill>
                          <a:latin typeface="Cambria Math" panose="02040503050406030204" pitchFamily="18" charset="0"/>
                        </a:rPr>
                        <m:t>=</m:t>
                      </m:r>
                      <m:f>
                        <m:fPr>
                          <m:ctrlPr>
                            <a:rPr lang="en-US" altLang="zh-CN" i="1" smtClean="0">
                              <a:solidFill>
                                <a:srgbClr val="FF0000"/>
                              </a:solidFill>
                              <a:latin typeface="Cambria Math" panose="02040503050406030204" pitchFamily="18" charset="0"/>
                            </a:rPr>
                          </m:ctrlPr>
                        </m:fPr>
                        <m:num>
                          <m:r>
                            <a:rPr lang="en-US" altLang="zh-CN" b="0" i="1" smtClean="0">
                              <a:solidFill>
                                <a:srgbClr val="FF0000"/>
                              </a:solidFill>
                              <a:latin typeface="Cambria Math" panose="02040503050406030204" pitchFamily="18" charset="0"/>
                            </a:rPr>
                            <m:t>1</m:t>
                          </m:r>
                        </m:num>
                        <m:den>
                          <m:r>
                            <a:rPr lang="en-US" altLang="zh-CN" b="0" i="1" smtClean="0">
                              <a:solidFill>
                                <a:srgbClr val="FF0000"/>
                              </a:solidFill>
                              <a:latin typeface="Cambria Math" panose="02040503050406030204" pitchFamily="18" charset="0"/>
                            </a:rPr>
                            <m:t>2</m:t>
                          </m:r>
                          <m:r>
                            <a:rPr lang="en-US" altLang="zh-CN" b="0" i="1" smtClean="0">
                              <a:solidFill>
                                <a:srgbClr val="FF0000"/>
                              </a:solidFill>
                              <a:latin typeface="Cambria Math" panose="02040503050406030204" pitchFamily="18" charset="0"/>
                            </a:rPr>
                            <m:t>𝑚</m:t>
                          </m:r>
                        </m:den>
                      </m:f>
                      <m:nary>
                        <m:naryPr>
                          <m:chr m:val="∑"/>
                          <m:ctrlPr>
                            <a:rPr lang="en-US" altLang="zh-CN" b="1" i="1" smtClean="0">
                              <a:solidFill>
                                <a:srgbClr val="FF0000"/>
                              </a:solidFill>
                              <a:latin typeface="Cambria Math" panose="02040503050406030204" pitchFamily="18" charset="0"/>
                            </a:rPr>
                          </m:ctrlPr>
                        </m:naryPr>
                        <m:sub>
                          <m:r>
                            <m:rPr>
                              <m:brk m:alnAt="23"/>
                            </m:rPr>
                            <a:rPr lang="en-US" altLang="zh-CN" b="1" i="1" smtClean="0">
                              <a:solidFill>
                                <a:srgbClr val="FF0000"/>
                              </a:solidFill>
                              <a:latin typeface="Cambria Math" panose="02040503050406030204" pitchFamily="18" charset="0"/>
                            </a:rPr>
                            <m:t>𝒊</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𝟏</m:t>
                          </m:r>
                        </m:sub>
                        <m:sup>
                          <m:r>
                            <a:rPr lang="en-US" altLang="zh-CN" b="1" i="1" smtClean="0">
                              <a:solidFill>
                                <a:srgbClr val="FF0000"/>
                              </a:solidFill>
                              <a:latin typeface="Cambria Math" panose="02040503050406030204" pitchFamily="18" charset="0"/>
                            </a:rPr>
                            <m:t>𝒎</m:t>
                          </m:r>
                        </m:sup>
                        <m:e>
                          <m:sSup>
                            <m:sSupPr>
                              <m:ctrlPr>
                                <a:rPr lang="en-US" altLang="zh-CN" b="1" i="1" smtClean="0">
                                  <a:solidFill>
                                    <a:srgbClr val="FF0000"/>
                                  </a:solidFill>
                                  <a:latin typeface="Cambria Math" panose="02040503050406030204" pitchFamily="18" charset="0"/>
                                </a:rPr>
                              </m:ctrlPr>
                            </m:sSupPr>
                            <m:e>
                              <m:r>
                                <a:rPr lang="en-US" altLang="zh-CN" b="1" i="1" smtClean="0">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𝒚</m:t>
                                  </m:r>
                                </m:e>
                                <m:sub>
                                  <m:r>
                                    <a:rPr lang="en-US" altLang="zh-CN" i="1">
                                      <a:solidFill>
                                        <a:srgbClr val="FF0000"/>
                                      </a:solidFill>
                                      <a:latin typeface="Cambria Math" panose="02040503050406030204" pitchFamily="18" charset="0"/>
                                    </a:rPr>
                                    <m:t>𝑖</m:t>
                                  </m:r>
                                </m:sub>
                              </m:sSub>
                              <m:r>
                                <a:rPr lang="en-US" altLang="zh-CN" b="1" i="1">
                                  <a:solidFill>
                                    <a:srgbClr val="FF0000"/>
                                  </a:solidFill>
                                  <a:latin typeface="Cambria Math" panose="02040503050406030204" pitchFamily="18" charset="0"/>
                                </a:rPr>
                                <m:t>−</m:t>
                              </m:r>
                              <m:sSub>
                                <m:sSubPr>
                                  <m:ctrlPr>
                                    <a:rPr lang="en-US" altLang="zh-CN" i="1">
                                      <a:solidFill>
                                        <a:srgbClr val="FF0000"/>
                                      </a:solidFill>
                                      <a:latin typeface="Cambria Math" panose="02040503050406030204" pitchFamily="18" charset="0"/>
                                    </a:rPr>
                                  </m:ctrlPr>
                                </m:sSubPr>
                                <m:e>
                                  <m:acc>
                                    <m:accPr>
                                      <m:chr m:val="̂"/>
                                      <m:ctrlPr>
                                        <a:rPr lang="en-US" altLang="zh-CN" i="1">
                                          <a:solidFill>
                                            <a:srgbClr val="FF0000"/>
                                          </a:solidFill>
                                          <a:latin typeface="Cambria Math" panose="02040503050406030204" pitchFamily="18" charset="0"/>
                                        </a:rPr>
                                      </m:ctrlPr>
                                    </m:accPr>
                                    <m:e>
                                      <m:r>
                                        <a:rPr lang="en-US" altLang="zh-CN" b="1" i="1">
                                          <a:solidFill>
                                            <a:srgbClr val="FF0000"/>
                                          </a:solidFill>
                                          <a:latin typeface="Cambria Math" panose="02040503050406030204" pitchFamily="18" charset="0"/>
                                        </a:rPr>
                                        <m:t>𝒚</m:t>
                                      </m:r>
                                    </m:e>
                                  </m:acc>
                                </m:e>
                                <m:sub>
                                  <m:r>
                                    <a:rPr lang="en-US" altLang="zh-CN" i="1">
                                      <a:solidFill>
                                        <a:srgbClr val="FF0000"/>
                                      </a:solidFill>
                                      <a:latin typeface="Cambria Math" panose="02040503050406030204" pitchFamily="18" charset="0"/>
                                    </a:rPr>
                                    <m:t>𝑖</m:t>
                                  </m:r>
                                </m:sub>
                              </m:sSub>
                              <m:r>
                                <a:rPr lang="en-US" altLang="zh-CN" b="1" i="1" smtClean="0">
                                  <a:solidFill>
                                    <a:srgbClr val="FF0000"/>
                                  </a:solidFill>
                                  <a:latin typeface="Cambria Math" panose="02040503050406030204" pitchFamily="18" charset="0"/>
                                </a:rPr>
                                <m:t>||</m:t>
                              </m:r>
                            </m:e>
                            <m:sup>
                              <m:r>
                                <a:rPr lang="en-US" altLang="zh-CN" b="1" i="1" smtClean="0">
                                  <a:solidFill>
                                    <a:srgbClr val="FF0000"/>
                                  </a:solidFill>
                                  <a:latin typeface="Cambria Math" panose="02040503050406030204" pitchFamily="18" charset="0"/>
                                </a:rPr>
                                <m:t>𝟐</m:t>
                              </m:r>
                            </m:sup>
                          </m:sSup>
                        </m:e>
                      </m:nary>
                    </m:oMath>
                  </m:oMathPara>
                </a14:m>
                <a:endParaRPr lang="zh-CN" altLang="en-US" dirty="0">
                  <a:solidFill>
                    <a:srgbClr val="FF0000"/>
                  </a:solidFill>
                </a:endParaRPr>
              </a:p>
            </p:txBody>
          </p:sp>
        </mc:Choice>
        <mc:Fallback xmlns="">
          <p:sp>
            <p:nvSpPr>
              <p:cNvPr id="47" name="文本框 46"/>
              <p:cNvSpPr txBox="1">
                <a:spLocks noRot="1" noChangeAspect="1" noMove="1" noResize="1" noEditPoints="1" noAdjustHandles="1" noChangeArrowheads="1" noChangeShapeType="1" noTextEdit="1"/>
              </p:cNvSpPr>
              <p:nvPr/>
            </p:nvSpPr>
            <p:spPr>
              <a:xfrm>
                <a:off x="1041675" y="5250746"/>
                <a:ext cx="4248472" cy="847220"/>
              </a:xfrm>
              <a:prstGeom prst="rect">
                <a:avLst/>
              </a:prstGeom>
              <a:blipFill rotWithShape="0">
                <a:blip r:embed="rId8"/>
                <a:stretch>
                  <a:fillRect/>
                </a:stretch>
              </a:blipFill>
            </p:spPr>
            <p:txBody>
              <a:bodyPr/>
              <a:lstStyle/>
              <a:p>
                <a:r>
                  <a:rPr lang="zh-CN" altLang="en-US">
                    <a:noFill/>
                  </a:rPr>
                  <a:t> </a:t>
                </a:r>
              </a:p>
            </p:txBody>
          </p:sp>
        </mc:Fallback>
      </mc:AlternateContent>
      <p:sp>
        <p:nvSpPr>
          <p:cNvPr id="48" name="下箭头 47"/>
          <p:cNvSpPr/>
          <p:nvPr/>
        </p:nvSpPr>
        <p:spPr>
          <a:xfrm rot="5400000">
            <a:off x="5350424" y="5146038"/>
            <a:ext cx="284809" cy="103597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4970128" y="5213285"/>
            <a:ext cx="1172116" cy="369332"/>
          </a:xfrm>
          <a:prstGeom prst="rect">
            <a:avLst/>
          </a:prstGeom>
        </p:spPr>
        <p:txBody>
          <a:bodyPr wrap="none">
            <a:spAutoFit/>
          </a:bodyPr>
          <a:lstStyle/>
          <a:p>
            <a:r>
              <a:rPr lang="zh-CN" altLang="en-US" kern="0" dirty="0">
                <a:solidFill>
                  <a:srgbClr val="000000"/>
                </a:solidFill>
                <a:ea typeface="微软雅黑 Light" panose="020B0502040204020203" pitchFamily="34" charset="-122"/>
              </a:rPr>
              <a:t>目标函数 </a:t>
            </a:r>
            <a:endParaRPr lang="zh-CN" altLang="en-US" dirty="0"/>
          </a:p>
        </p:txBody>
      </p:sp>
      <p:sp>
        <p:nvSpPr>
          <p:cNvPr id="52" name="灯片编号占位符 8">
            <a:extLst>
              <a:ext uri="{FF2B5EF4-FFF2-40B4-BE49-F238E27FC236}">
                <a16:creationId xmlns:a16="http://schemas.microsoft.com/office/drawing/2014/main" id="{0ADFCE85-42C3-4761-A65A-8A9E95C0127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63</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6744478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正则化思路</a:t>
            </a:r>
            <a:endParaRPr lang="en-US" altLang="zh-CN" sz="2600" b="1" dirty="0"/>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D89F9F3F-696D-4EED-A85E-E4CF2C995CE2}"/>
                  </a:ext>
                </a:extLst>
              </p:cNvPr>
              <p:cNvSpPr/>
              <p:nvPr/>
            </p:nvSpPr>
            <p:spPr>
              <a:xfrm>
                <a:off x="6158783" y="4003984"/>
                <a:ext cx="4155741" cy="461665"/>
              </a:xfrm>
              <a:prstGeom prst="rect">
                <a:avLst/>
              </a:prstGeom>
            </p:spPr>
            <p:txBody>
              <a:bodyPr wrap="square">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sz="1600" i="1" kern="0" smtClea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0</m:t>
                          </m:r>
                        </m:sub>
                      </m:sSub>
                      <m:r>
                        <a:rPr lang="en-US" altLang="zh-CN" sz="1600" i="1" ker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1</m:t>
                          </m:r>
                        </m:sub>
                      </m:sSub>
                      <m:r>
                        <a:rPr lang="en-US" altLang="zh-CN" sz="1600" b="0" i="1" kern="0" smtClean="0">
                          <a:solidFill>
                            <a:srgbClr val="000000"/>
                          </a:solidFill>
                          <a:latin typeface="Cambria Math" panose="02040503050406030204" pitchFamily="18" charset="0"/>
                          <a:ea typeface="微软雅黑" panose="020B0503020204020204" pitchFamily="34" charset="-122"/>
                        </a:rPr>
                        <m:t>𝑥</m:t>
                      </m:r>
                      <m:r>
                        <a:rPr lang="en-US" altLang="zh-CN" sz="1600" i="1" kern="0" smtClea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2</m:t>
                          </m:r>
                        </m:sub>
                      </m:sSub>
                      <m:sSup>
                        <m:sSupPr>
                          <m:ctrlPr>
                            <a:rPr lang="en-US" altLang="zh-CN" sz="1600" i="1" kern="0" smtClean="0">
                              <a:solidFill>
                                <a:srgbClr val="000000"/>
                              </a:solidFill>
                              <a:latin typeface="Cambria Math" panose="02040503050406030204" pitchFamily="18" charset="0"/>
                              <a:ea typeface="微软雅黑" panose="020B0503020204020204" pitchFamily="34" charset="-122"/>
                            </a:rPr>
                          </m:ctrlPr>
                        </m:sSupPr>
                        <m:e>
                          <m:r>
                            <a:rPr lang="en-US" altLang="zh-CN" sz="1600" b="0" i="1" kern="0" smtClean="0">
                              <a:solidFill>
                                <a:srgbClr val="000000"/>
                              </a:solidFill>
                              <a:latin typeface="Cambria Math" panose="02040503050406030204" pitchFamily="18" charset="0"/>
                              <a:ea typeface="微软雅黑" panose="020B0503020204020204" pitchFamily="34" charset="-122"/>
                            </a:rPr>
                            <m:t>𝑥</m:t>
                          </m:r>
                        </m:e>
                        <m:sup>
                          <m:r>
                            <a:rPr lang="en-US" altLang="zh-CN" sz="1600" b="0" i="1" kern="0" smtClean="0">
                              <a:solidFill>
                                <a:srgbClr val="000000"/>
                              </a:solidFill>
                              <a:latin typeface="Cambria Math" panose="02040503050406030204" pitchFamily="18" charset="0"/>
                              <a:ea typeface="微软雅黑" panose="020B0503020204020204" pitchFamily="34" charset="-122"/>
                            </a:rPr>
                            <m:t>2</m:t>
                          </m:r>
                        </m:sup>
                      </m:sSup>
                      <m:r>
                        <a:rPr lang="en-US" altLang="zh-CN" sz="1600" i="1" ker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3</m:t>
                          </m:r>
                        </m:sub>
                      </m:sSub>
                      <m:sSup>
                        <m:sSupPr>
                          <m:ctrlPr>
                            <a:rPr lang="en-US" altLang="zh-CN" sz="1600" i="1" kern="0">
                              <a:solidFill>
                                <a:srgbClr val="000000"/>
                              </a:solidFill>
                              <a:latin typeface="Cambria Math" panose="02040503050406030204" pitchFamily="18" charset="0"/>
                              <a:ea typeface="微软雅黑" panose="020B0503020204020204" pitchFamily="34" charset="-122"/>
                            </a:rPr>
                          </m:ctrlPr>
                        </m:sSupPr>
                        <m:e>
                          <m:r>
                            <a:rPr lang="en-US" altLang="zh-CN" sz="1600" i="1" kern="0">
                              <a:solidFill>
                                <a:srgbClr val="000000"/>
                              </a:solidFill>
                              <a:latin typeface="Cambria Math" panose="02040503050406030204" pitchFamily="18" charset="0"/>
                              <a:ea typeface="微软雅黑" panose="020B0503020204020204" pitchFamily="34" charset="-122"/>
                            </a:rPr>
                            <m:t>𝑥</m:t>
                          </m:r>
                        </m:e>
                        <m:sup>
                          <m:r>
                            <a:rPr lang="en-US" altLang="zh-CN" sz="1600" b="0" i="1" kern="0" smtClean="0">
                              <a:solidFill>
                                <a:srgbClr val="000000"/>
                              </a:solidFill>
                              <a:latin typeface="Cambria Math" panose="02040503050406030204" pitchFamily="18" charset="0"/>
                              <a:ea typeface="微软雅黑" panose="020B0503020204020204" pitchFamily="34" charset="-122"/>
                            </a:rPr>
                            <m:t>3</m:t>
                          </m:r>
                        </m:sup>
                      </m:sSup>
                      <m:r>
                        <a:rPr lang="en-US" altLang="zh-CN" sz="1600" i="1" kern="0" smtClean="0">
                          <a:solidFill>
                            <a:srgbClr val="000000"/>
                          </a:solidFill>
                          <a:latin typeface="Cambria Math" panose="02040503050406030204" pitchFamily="18" charset="0"/>
                          <a:ea typeface="微软雅黑" panose="020B0503020204020204" pitchFamily="34" charset="-122"/>
                        </a:rPr>
                        <m:t>+</m:t>
                      </m:r>
                      <m:sSub>
                        <m:sSubPr>
                          <m:ctrlPr>
                            <a:rPr lang="en-US" altLang="zh-CN" sz="1600" i="1" kern="0">
                              <a:solidFill>
                                <a:srgbClr val="000000"/>
                              </a:solidFill>
                              <a:latin typeface="Cambria Math" panose="02040503050406030204" pitchFamily="18" charset="0"/>
                              <a:ea typeface="微软雅黑" panose="020B0503020204020204" pitchFamily="34" charset="-122"/>
                            </a:rPr>
                          </m:ctrlPr>
                        </m:sSubPr>
                        <m:e>
                          <m:r>
                            <a:rPr lang="en-US" altLang="zh-CN" sz="1600" b="0" i="1" kern="0" smtClean="0">
                              <a:solidFill>
                                <a:srgbClr val="000000"/>
                              </a:solidFill>
                              <a:latin typeface="Cambria Math" panose="02040503050406030204" pitchFamily="18" charset="0"/>
                              <a:ea typeface="微软雅黑" panose="020B0503020204020204" pitchFamily="34" charset="-122"/>
                            </a:rPr>
                            <m:t>𝑤</m:t>
                          </m:r>
                        </m:e>
                        <m:sub>
                          <m:r>
                            <a:rPr lang="en-US" altLang="zh-CN" sz="1600" b="0" i="1" kern="0" smtClean="0">
                              <a:solidFill>
                                <a:srgbClr val="000000"/>
                              </a:solidFill>
                              <a:latin typeface="Cambria Math" panose="02040503050406030204" pitchFamily="18" charset="0"/>
                              <a:ea typeface="微软雅黑" panose="020B0503020204020204" pitchFamily="34" charset="-122"/>
                            </a:rPr>
                            <m:t>4</m:t>
                          </m:r>
                        </m:sub>
                      </m:sSub>
                      <m:sSup>
                        <m:sSupPr>
                          <m:ctrlPr>
                            <a:rPr lang="en-US" altLang="zh-CN" sz="1600" i="1" kern="0">
                              <a:solidFill>
                                <a:srgbClr val="000000"/>
                              </a:solidFill>
                              <a:latin typeface="Cambria Math" panose="02040503050406030204" pitchFamily="18" charset="0"/>
                              <a:ea typeface="微软雅黑" panose="020B0503020204020204" pitchFamily="34" charset="-122"/>
                            </a:rPr>
                          </m:ctrlPr>
                        </m:sSupPr>
                        <m:e>
                          <m:r>
                            <a:rPr lang="en-US" altLang="zh-CN" sz="1600" i="1" kern="0">
                              <a:solidFill>
                                <a:srgbClr val="000000"/>
                              </a:solidFill>
                              <a:latin typeface="Cambria Math" panose="02040503050406030204" pitchFamily="18" charset="0"/>
                              <a:ea typeface="微软雅黑" panose="020B0503020204020204" pitchFamily="34" charset="-122"/>
                            </a:rPr>
                            <m:t>𝑥</m:t>
                          </m:r>
                        </m:e>
                        <m:sup>
                          <m:r>
                            <a:rPr lang="en-US" altLang="zh-CN" sz="1600" b="0" i="1" kern="0" smtClean="0">
                              <a:solidFill>
                                <a:srgbClr val="000000"/>
                              </a:solidFill>
                              <a:latin typeface="Cambria Math" panose="02040503050406030204" pitchFamily="18" charset="0"/>
                              <a:ea typeface="微软雅黑" panose="020B0503020204020204" pitchFamily="34" charset="-122"/>
                            </a:rPr>
                            <m:t>4</m:t>
                          </m:r>
                        </m:sup>
                      </m:sSup>
                    </m:oMath>
                  </m:oMathPara>
                </a14:m>
                <a:endParaRPr lang="en-US" altLang="zh-CN" sz="1600" kern="0" dirty="0">
                  <a:solidFill>
                    <a:srgbClr val="000000"/>
                  </a:solidFill>
                  <a:latin typeface="微软雅黑 Light" panose="020B0502040204020203" pitchFamily="34" charset="-122"/>
                  <a:ea typeface="微软雅黑 Light" panose="020B0502040204020203" pitchFamily="34" charset="-122"/>
                  <a:cs typeface="宋体" panose="02010600030101010101" pitchFamily="2" charset="-122"/>
                </a:endParaRPr>
              </a:p>
            </p:txBody>
          </p:sp>
        </mc:Choice>
        <mc:Fallback xmlns="">
          <p:sp>
            <p:nvSpPr>
              <p:cNvPr id="8" name="矩形 7">
                <a:extLst>
                  <a:ext uri="{FF2B5EF4-FFF2-40B4-BE49-F238E27FC236}">
                    <a16:creationId xmlns:a16="http://schemas.microsoft.com/office/drawing/2014/main" xmlns:a14="http://schemas.microsoft.com/office/drawing/2010/main" xmlns="" id="{D89F9F3F-696D-4EED-A85E-E4CF2C995CE2}"/>
                  </a:ext>
                </a:extLst>
              </p:cNvPr>
              <p:cNvSpPr>
                <a:spLocks noRot="1" noChangeAspect="1" noMove="1" noResize="1" noEditPoints="1" noAdjustHandles="1" noChangeArrowheads="1" noChangeShapeType="1" noTextEdit="1"/>
              </p:cNvSpPr>
              <p:nvPr/>
            </p:nvSpPr>
            <p:spPr>
              <a:xfrm>
                <a:off x="6158783" y="4003984"/>
                <a:ext cx="4155741" cy="461665"/>
              </a:xfrm>
              <a:prstGeom prst="rect">
                <a:avLst/>
              </a:prstGeom>
              <a:blipFill rotWithShape="0">
                <a:blip r:embed="rId5"/>
                <a:stretch>
                  <a:fillRect/>
                </a:stretch>
              </a:blipFill>
            </p:spPr>
            <p:txBody>
              <a:bodyPr/>
              <a:lstStyle/>
              <a:p>
                <a:r>
                  <a:rPr lang="zh-CN" altLang="en-US">
                    <a:noFill/>
                  </a:rPr>
                  <a:t> </a:t>
                </a:r>
              </a:p>
            </p:txBody>
          </p:sp>
        </mc:Fallback>
      </mc:AlternateContent>
      <p:grpSp>
        <p:nvGrpSpPr>
          <p:cNvPr id="9" name="组合 8"/>
          <p:cNvGrpSpPr/>
          <p:nvPr/>
        </p:nvGrpSpPr>
        <p:grpSpPr>
          <a:xfrm>
            <a:off x="6294255" y="1944398"/>
            <a:ext cx="3710938" cy="2110228"/>
            <a:chOff x="4284607" y="1856743"/>
            <a:chExt cx="3710938" cy="2110228"/>
          </a:xfrm>
        </p:grpSpPr>
        <p:grpSp>
          <p:nvGrpSpPr>
            <p:cNvPr id="10" name="组合 9"/>
            <p:cNvGrpSpPr/>
            <p:nvPr/>
          </p:nvGrpSpPr>
          <p:grpSpPr>
            <a:xfrm>
              <a:off x="4284607" y="1856743"/>
              <a:ext cx="3689152" cy="2110228"/>
              <a:chOff x="666824" y="1852930"/>
              <a:chExt cx="3689152" cy="2110228"/>
            </a:xfrm>
          </p:grpSpPr>
          <p:grpSp>
            <p:nvGrpSpPr>
              <p:cNvPr id="13" name="组合 12"/>
              <p:cNvGrpSpPr/>
              <p:nvPr/>
            </p:nvGrpSpPr>
            <p:grpSpPr>
              <a:xfrm>
                <a:off x="666824" y="1852930"/>
                <a:ext cx="3689152" cy="2110228"/>
                <a:chOff x="4771280" y="3385241"/>
                <a:chExt cx="3689152" cy="2110228"/>
              </a:xfrm>
            </p:grpSpPr>
            <p:grpSp>
              <p:nvGrpSpPr>
                <p:cNvPr id="21" name="组合 20"/>
                <p:cNvGrpSpPr/>
                <p:nvPr/>
              </p:nvGrpSpPr>
              <p:grpSpPr>
                <a:xfrm>
                  <a:off x="4771280" y="3385241"/>
                  <a:ext cx="3689152" cy="2110228"/>
                  <a:chOff x="4086241" y="2727574"/>
                  <a:chExt cx="3689152" cy="2110228"/>
                </a:xfrm>
              </p:grpSpPr>
              <p:cxnSp>
                <p:nvCxnSpPr>
                  <p:cNvPr id="23" name="直接箭头连接符 22"/>
                  <p:cNvCxnSpPr/>
                  <p:nvPr/>
                </p:nvCxnSpPr>
                <p:spPr>
                  <a:xfrm flipV="1">
                    <a:off x="4397841" y="4653136"/>
                    <a:ext cx="2960757" cy="24940"/>
                  </a:xfrm>
                  <a:prstGeom prst="straightConnector1">
                    <a:avLst/>
                  </a:prstGeom>
                  <a:noFill/>
                  <a:ln w="28575" cap="flat" cmpd="sng">
                    <a:solidFill>
                      <a:schemeClr val="tx1"/>
                    </a:solidFill>
                    <a:prstDash val="solid"/>
                    <a:round/>
                    <a:headEnd/>
                    <a:tailEnd type="triangle"/>
                  </a:ln>
                  <a:effectLst/>
                </p:spPr>
              </p:cxnSp>
              <p:cxnSp>
                <p:nvCxnSpPr>
                  <p:cNvPr id="24" name="直接箭头连接符 23"/>
                  <p:cNvCxnSpPr/>
                  <p:nvPr/>
                </p:nvCxnSpPr>
                <p:spPr>
                  <a:xfrm flipV="1">
                    <a:off x="4397841" y="2727574"/>
                    <a:ext cx="0" cy="1961566"/>
                  </a:xfrm>
                  <a:prstGeom prst="straightConnector1">
                    <a:avLst/>
                  </a:prstGeom>
                  <a:noFill/>
                  <a:ln w="28575" cap="flat" cmpd="sng">
                    <a:solidFill>
                      <a:schemeClr val="tx1"/>
                    </a:solidFill>
                    <a:prstDash val="solid"/>
                    <a:round/>
                    <a:headEnd/>
                    <a:tailEnd type="triangle"/>
                  </a:ln>
                  <a:effectLst/>
                </p:spPr>
              </p:cxnSp>
              <p:sp>
                <p:nvSpPr>
                  <p:cNvPr id="25" name="文本框 24"/>
                  <p:cNvSpPr txBox="1"/>
                  <p:nvPr/>
                </p:nvSpPr>
                <p:spPr>
                  <a:xfrm>
                    <a:off x="7271337" y="4468470"/>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26" name="文本框 25"/>
                  <p:cNvSpPr txBox="1"/>
                  <p:nvPr/>
                </p:nvSpPr>
                <p:spPr>
                  <a:xfrm>
                    <a:off x="4086241" y="2727574"/>
                    <a:ext cx="345910" cy="369332"/>
                  </a:xfrm>
                  <a:prstGeom prst="rect">
                    <a:avLst/>
                  </a:prstGeom>
                  <a:noFill/>
                </p:spPr>
                <p:txBody>
                  <a:bodyPr wrap="square" rtlCol="0">
                    <a:spAutoFit/>
                  </a:bodyPr>
                  <a:lstStyle/>
                  <a:p>
                    <a:r>
                      <a:rPr lang="en-US" altLang="zh-CN" dirty="0"/>
                      <a:t>y</a:t>
                    </a:r>
                    <a:endParaRPr lang="zh-CN" altLang="en-US" dirty="0"/>
                  </a:p>
                </p:txBody>
              </p:sp>
            </p:grpSp>
            <p:sp>
              <p:nvSpPr>
                <p:cNvPr id="22" name="椭圆 21"/>
                <p:cNvSpPr/>
                <p:nvPr/>
              </p:nvSpPr>
              <p:spPr>
                <a:xfrm>
                  <a:off x="5868144" y="4521709"/>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椭圆 13"/>
              <p:cNvSpPr/>
              <p:nvPr/>
            </p:nvSpPr>
            <p:spPr>
              <a:xfrm>
                <a:off x="3059832" y="2037596"/>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463423" y="2193897"/>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669760" y="3419674"/>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979712" y="2445033"/>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748232" y="1967064"/>
                <a:ext cx="93928" cy="10519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任意多边形 10"/>
            <p:cNvSpPr/>
            <p:nvPr/>
          </p:nvSpPr>
          <p:spPr>
            <a:xfrm>
              <a:off x="4779818" y="1985613"/>
              <a:ext cx="2508380" cy="1608439"/>
            </a:xfrm>
            <a:custGeom>
              <a:avLst/>
              <a:gdLst>
                <a:gd name="connsiteX0" fmla="*/ 0 w 2508380"/>
                <a:gd name="connsiteY0" fmla="*/ 1214787 h 1608439"/>
                <a:gd name="connsiteX1" fmla="*/ 839586 w 2508380"/>
                <a:gd name="connsiteY1" fmla="*/ 1605485 h 1608439"/>
                <a:gd name="connsiteX2" fmla="*/ 656706 w 2508380"/>
                <a:gd name="connsiteY2" fmla="*/ 1031907 h 1608439"/>
                <a:gd name="connsiteX3" fmla="*/ 640080 w 2508380"/>
                <a:gd name="connsiteY3" fmla="*/ 574707 h 1608439"/>
                <a:gd name="connsiteX4" fmla="*/ 1346662 w 2508380"/>
                <a:gd name="connsiteY4" fmla="*/ 441703 h 1608439"/>
                <a:gd name="connsiteX5" fmla="*/ 1354975 w 2508380"/>
                <a:gd name="connsiteY5" fmla="*/ 258823 h 1608439"/>
                <a:gd name="connsiteX6" fmla="*/ 1645920 w 2508380"/>
                <a:gd name="connsiteY6" fmla="*/ 1129 h 1608439"/>
                <a:gd name="connsiteX7" fmla="*/ 2419004 w 2508380"/>
                <a:gd name="connsiteY7" fmla="*/ 366889 h 1608439"/>
                <a:gd name="connsiteX8" fmla="*/ 2460567 w 2508380"/>
                <a:gd name="connsiteY8" fmla="*/ 383514 h 160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380" h="1608439">
                  <a:moveTo>
                    <a:pt x="0" y="1214787"/>
                  </a:moveTo>
                  <a:cubicBezTo>
                    <a:pt x="365067" y="1425376"/>
                    <a:pt x="730135" y="1635965"/>
                    <a:pt x="839586" y="1605485"/>
                  </a:cubicBezTo>
                  <a:cubicBezTo>
                    <a:pt x="949037" y="1575005"/>
                    <a:pt x="689957" y="1203703"/>
                    <a:pt x="656706" y="1031907"/>
                  </a:cubicBezTo>
                  <a:cubicBezTo>
                    <a:pt x="623455" y="860111"/>
                    <a:pt x="525087" y="673074"/>
                    <a:pt x="640080" y="574707"/>
                  </a:cubicBezTo>
                  <a:cubicBezTo>
                    <a:pt x="755073" y="476340"/>
                    <a:pt x="1227513" y="494350"/>
                    <a:pt x="1346662" y="441703"/>
                  </a:cubicBezTo>
                  <a:cubicBezTo>
                    <a:pt x="1465811" y="389056"/>
                    <a:pt x="1305099" y="332252"/>
                    <a:pt x="1354975" y="258823"/>
                  </a:cubicBezTo>
                  <a:cubicBezTo>
                    <a:pt x="1404851" y="185394"/>
                    <a:pt x="1468582" y="-16882"/>
                    <a:pt x="1645920" y="1129"/>
                  </a:cubicBezTo>
                  <a:cubicBezTo>
                    <a:pt x="1823258" y="19140"/>
                    <a:pt x="2283230" y="303158"/>
                    <a:pt x="2419004" y="366889"/>
                  </a:cubicBezTo>
                  <a:cubicBezTo>
                    <a:pt x="2554778" y="430620"/>
                    <a:pt x="2507672" y="407067"/>
                    <a:pt x="2460567" y="38351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118382" y="2349025"/>
              <a:ext cx="877163" cy="369332"/>
            </a:xfrm>
            <a:prstGeom prst="rect">
              <a:avLst/>
            </a:prstGeom>
          </p:spPr>
          <p:txBody>
            <a:bodyPr wrap="none">
              <a:spAutoFit/>
            </a:bodyPr>
            <a:lstStyle/>
            <a:p>
              <a:r>
                <a:rPr lang="zh-CN" altLang="en-US" kern="0" dirty="0">
                  <a:solidFill>
                    <a:srgbClr val="000000"/>
                  </a:solidFill>
                  <a:ea typeface="微软雅黑 Light" panose="020B0502040204020203" pitchFamily="34" charset="-122"/>
                </a:rPr>
                <a:t>过拟合</a:t>
              </a:r>
              <a:endParaRPr lang="zh-CN" altLang="en-US" dirty="0"/>
            </a:p>
          </p:txBody>
        </p:sp>
      </p:grpSp>
      <mc:AlternateContent xmlns:mc="http://schemas.openxmlformats.org/markup-compatibility/2006" xmlns:a14="http://schemas.microsoft.com/office/drawing/2010/main">
        <mc:Choice Requires="a14">
          <p:sp>
            <p:nvSpPr>
              <p:cNvPr id="27" name="文本框 26"/>
              <p:cNvSpPr txBox="1"/>
              <p:nvPr/>
            </p:nvSpPr>
            <p:spPr>
              <a:xfrm>
                <a:off x="1084555" y="2146184"/>
                <a:ext cx="4248472" cy="847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𝐿</m:t>
                      </m:r>
                      <m:d>
                        <m:dPr>
                          <m:ctrlPr>
                            <a:rPr lang="en-US" altLang="zh-CN" b="1"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𝒘</m:t>
                          </m:r>
                        </m:e>
                      </m:d>
                      <m:r>
                        <a:rPr lang="en-US" altLang="zh-CN" b="1" i="1">
                          <a:solidFill>
                            <a:schemeClr val="tx1"/>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rPr>
                            <m:t>1</m:t>
                          </m:r>
                        </m:num>
                        <m:den>
                          <m:r>
                            <a:rPr lang="en-US" altLang="zh-CN" b="0" i="1">
                              <a:solidFill>
                                <a:schemeClr val="tx1"/>
                              </a:solidFill>
                              <a:latin typeface="Cambria Math" panose="02040503050406030204" pitchFamily="18" charset="0"/>
                            </a:rPr>
                            <m:t>2</m:t>
                          </m:r>
                          <m:r>
                            <a:rPr lang="en-US" altLang="zh-CN" b="0" i="1" smtClean="0">
                              <a:solidFill>
                                <a:schemeClr val="tx1"/>
                              </a:solidFill>
                              <a:latin typeface="Cambria Math" panose="02040503050406030204" pitchFamily="18" charset="0"/>
                            </a:rPr>
                            <m:t>𝑚</m:t>
                          </m:r>
                        </m:den>
                      </m:f>
                      <m:nary>
                        <m:naryPr>
                          <m:chr m:val="∑"/>
                          <m:ctrlPr>
                            <a:rPr lang="en-US" altLang="zh-CN" b="1" i="1">
                              <a:solidFill>
                                <a:schemeClr val="tx1"/>
                              </a:solidFill>
                              <a:latin typeface="Cambria Math" panose="02040503050406030204" pitchFamily="18" charset="0"/>
                            </a:rPr>
                          </m:ctrlPr>
                        </m:naryPr>
                        <m:sub>
                          <m:r>
                            <m:rPr>
                              <m:brk m:alnAt="23"/>
                            </m:rPr>
                            <a:rPr lang="en-US" altLang="zh-CN" b="0" i="1">
                              <a:solidFill>
                                <a:schemeClr val="tx1"/>
                              </a:solidFill>
                              <a:latin typeface="Cambria Math" panose="02040503050406030204" pitchFamily="18" charset="0"/>
                            </a:rPr>
                            <m:t>𝑖</m:t>
                          </m:r>
                          <m:r>
                            <a:rPr lang="en-US" altLang="zh-CN" b="0" i="1">
                              <a:solidFill>
                                <a:schemeClr val="tx1"/>
                              </a:solidFill>
                              <a:latin typeface="Cambria Math" panose="02040503050406030204" pitchFamily="18" charset="0"/>
                            </a:rPr>
                            <m:t>=1</m:t>
                          </m:r>
                        </m:sub>
                        <m:sup>
                          <m:r>
                            <a:rPr lang="en-US" altLang="zh-CN" b="0" i="1" smtClean="0">
                              <a:solidFill>
                                <a:schemeClr val="tx1"/>
                              </a:solidFill>
                              <a:latin typeface="Cambria Math" panose="02040503050406030204" pitchFamily="18" charset="0"/>
                            </a:rPr>
                            <m:t>𝑚</m:t>
                          </m:r>
                        </m:sup>
                        <m:e>
                          <m:sSup>
                            <m:sSupPr>
                              <m:ctrlPr>
                                <a:rPr lang="en-US" altLang="zh-CN" b="1" i="1" smtClean="0">
                                  <a:solidFill>
                                    <a:schemeClr val="tx1"/>
                                  </a:solidFill>
                                  <a:latin typeface="Cambria Math" panose="02040503050406030204" pitchFamily="18" charset="0"/>
                                </a:rPr>
                              </m:ctrlPr>
                            </m:sSupPr>
                            <m:e>
                              <m:r>
                                <a:rPr lang="en-US" altLang="zh-CN" b="1"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𝒚</m:t>
                                  </m:r>
                                </m:e>
                                <m:sub>
                                  <m:r>
                                    <a:rPr lang="en-US" altLang="zh-CN" i="1">
                                      <a:solidFill>
                                        <a:schemeClr val="tx1"/>
                                      </a:solidFill>
                                      <a:latin typeface="Cambria Math" panose="02040503050406030204" pitchFamily="18" charset="0"/>
                                    </a:rPr>
                                    <m:t>𝑖</m:t>
                                  </m:r>
                                </m:sub>
                              </m:sSub>
                              <m:r>
                                <a:rPr lang="en-US" altLang="zh-CN" b="1"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b="1" i="1">
                                          <a:solidFill>
                                            <a:schemeClr val="tx1"/>
                                          </a:solidFill>
                                          <a:latin typeface="Cambria Math" panose="02040503050406030204" pitchFamily="18" charset="0"/>
                                        </a:rPr>
                                        <m:t>𝒚</m:t>
                                      </m:r>
                                    </m:e>
                                  </m:acc>
                                </m:e>
                                <m:sub>
                                  <m:r>
                                    <a:rPr lang="en-US" altLang="zh-CN" i="1">
                                      <a:solidFill>
                                        <a:schemeClr val="tx1"/>
                                      </a:solidFill>
                                      <a:latin typeface="Cambria Math" panose="02040503050406030204" pitchFamily="18" charset="0"/>
                                    </a:rPr>
                                    <m:t>𝑖</m:t>
                                  </m:r>
                                </m:sub>
                              </m:sSub>
                              <m:r>
                                <a:rPr lang="en-US" altLang="zh-CN" b="1" i="1">
                                  <a:solidFill>
                                    <a:schemeClr val="tx1"/>
                                  </a:solidFill>
                                  <a:latin typeface="Cambria Math" panose="02040503050406030204" pitchFamily="18" charset="0"/>
                                </a:rPr>
                                <m:t>||</m:t>
                              </m:r>
                            </m:e>
                            <m:sup>
                              <m:r>
                                <a:rPr lang="en-US" altLang="zh-CN" b="1" i="1">
                                  <a:solidFill>
                                    <a:schemeClr val="tx1"/>
                                  </a:solidFill>
                                  <a:latin typeface="Cambria Math" panose="02040503050406030204" pitchFamily="18" charset="0"/>
                                </a:rPr>
                                <m:t>𝟐</m:t>
                              </m:r>
                            </m:sup>
                          </m:sSup>
                        </m:e>
                      </m:nary>
                    </m:oMath>
                  </m:oMathPara>
                </a14:m>
                <a:endParaRPr lang="zh-CN" altLang="en-US" b="1" dirty="0">
                  <a:solidFill>
                    <a:schemeClr val="tx1"/>
                  </a:solidFill>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1084555" y="2146184"/>
                <a:ext cx="4248472" cy="847220"/>
              </a:xfrm>
              <a:prstGeom prst="rect">
                <a:avLst/>
              </a:prstGeom>
              <a:blipFill rotWithShape="0">
                <a:blip r:embed="rId6"/>
                <a:stretch>
                  <a:fillRect/>
                </a:stretch>
              </a:blipFill>
            </p:spPr>
            <p:txBody>
              <a:bodyPr/>
              <a:lstStyle/>
              <a:p>
                <a:r>
                  <a:rPr lang="zh-CN" altLang="en-US">
                    <a:noFill/>
                  </a:rPr>
                  <a:t> </a:t>
                </a:r>
              </a:p>
            </p:txBody>
          </p:sp>
        </mc:Fallback>
      </mc:AlternateContent>
      <p:sp>
        <p:nvSpPr>
          <p:cNvPr id="28" name="下箭头 27"/>
          <p:cNvSpPr/>
          <p:nvPr/>
        </p:nvSpPr>
        <p:spPr>
          <a:xfrm>
            <a:off x="3113889" y="3056925"/>
            <a:ext cx="284809" cy="45421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0" name="文本框 29"/>
              <p:cNvSpPr txBox="1"/>
              <p:nvPr/>
            </p:nvSpPr>
            <p:spPr>
              <a:xfrm>
                <a:off x="1266092" y="4630235"/>
                <a:ext cx="5433125" cy="847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1" i="1" smtClean="0">
                              <a:latin typeface="Cambria Math" panose="02040503050406030204" pitchFamily="18" charset="0"/>
                            </a:rPr>
                          </m:ctrlPr>
                        </m:funcPr>
                        <m:fName>
                          <m:limLow>
                            <m:limLowPr>
                              <m:ctrlPr>
                                <a:rPr lang="en-US" altLang="zh-CN" b="1" i="1" smtClean="0">
                                  <a:latin typeface="Cambria Math" panose="02040503050406030204" pitchFamily="18" charset="0"/>
                                </a:rPr>
                              </m:ctrlPr>
                            </m:limLowPr>
                            <m:e>
                              <m:r>
                                <m:rPr>
                                  <m:sty m:val="p"/>
                                </m:rPr>
                                <a:rPr lang="en-US" altLang="zh-CN" b="0" i="0" smtClean="0">
                                  <a:latin typeface="Cambria Math" panose="02040503050406030204" pitchFamily="18" charset="0"/>
                                </a:rPr>
                                <m:t>min</m:t>
                              </m:r>
                            </m:e>
                            <m:lim>
                              <m:r>
                                <a:rPr lang="en-US" altLang="zh-CN" b="1" i="1" smtClean="0">
                                  <a:latin typeface="Cambria Math" panose="02040503050406030204" pitchFamily="18" charset="0"/>
                                </a:rPr>
                                <m:t>𝒘</m:t>
                              </m:r>
                            </m:lim>
                          </m:limLow>
                        </m:fName>
                        <m:e>
                          <m:f>
                            <m:fPr>
                              <m:ctrlPr>
                                <a:rPr lang="en-US" altLang="zh-CN" i="1">
                                  <a:latin typeface="Cambria Math" panose="02040503050406030204" pitchFamily="18" charset="0"/>
                                </a:rPr>
                              </m:ctrlPr>
                            </m:fPr>
                            <m:num>
                              <m:r>
                                <a:rPr lang="en-US" altLang="zh-CN" b="0" i="1">
                                  <a:latin typeface="Cambria Math" panose="02040503050406030204" pitchFamily="18" charset="0"/>
                                </a:rPr>
                                <m:t>1</m:t>
                              </m:r>
                            </m:num>
                            <m:den>
                              <m:r>
                                <a:rPr lang="en-US" altLang="zh-CN" b="0" i="1">
                                  <a:latin typeface="Cambria Math" panose="02040503050406030204" pitchFamily="18" charset="0"/>
                                </a:rPr>
                                <m:t>2</m:t>
                              </m:r>
                              <m:r>
                                <a:rPr lang="en-US" altLang="zh-CN" b="0" i="1" smtClean="0">
                                  <a:latin typeface="Cambria Math" panose="02040503050406030204" pitchFamily="18" charset="0"/>
                                </a:rPr>
                                <m:t>𝑚</m:t>
                              </m:r>
                            </m:den>
                          </m:f>
                          <m:nary>
                            <m:naryPr>
                              <m:chr m:val="∑"/>
                              <m:ctrlPr>
                                <a:rPr lang="en-US" altLang="zh-CN" i="1">
                                  <a:latin typeface="Cambria Math" panose="02040503050406030204" pitchFamily="18" charset="0"/>
                                </a:rPr>
                              </m:ctrlPr>
                            </m:naryPr>
                            <m:sub>
                              <m:r>
                                <m:rPr>
                                  <m:brk m:alnAt="23"/>
                                </m:rPr>
                                <a:rPr lang="en-US" altLang="zh-CN" b="0" i="1">
                                  <a:latin typeface="Cambria Math" panose="02040503050406030204" pitchFamily="18" charset="0"/>
                                </a:rPr>
                                <m:t>𝑖</m:t>
                              </m:r>
                              <m:r>
                                <a:rPr lang="en-US" altLang="zh-CN" b="0" i="1">
                                  <a:latin typeface="Cambria Math" panose="02040503050406030204" pitchFamily="18" charset="0"/>
                                </a:rPr>
                                <m:t>=1</m:t>
                              </m:r>
                            </m:sub>
                            <m:sup>
                              <m:r>
                                <a:rPr lang="en-US" altLang="zh-CN" b="0" i="1" smtClean="0">
                                  <a:latin typeface="Cambria Math" panose="02040503050406030204" pitchFamily="18" charset="0"/>
                                </a:rPr>
                                <m:t>𝑚</m:t>
                              </m:r>
                            </m:sup>
                            <m:e>
                              <m:sSup>
                                <m:sSupPr>
                                  <m:ctrlPr>
                                    <a:rPr lang="en-US" altLang="zh-CN" b="1" i="1" smtClean="0">
                                      <a:solidFill>
                                        <a:schemeClr val="tx1"/>
                                      </a:solidFill>
                                      <a:latin typeface="Cambria Math" panose="02040503050406030204" pitchFamily="18" charset="0"/>
                                    </a:rPr>
                                  </m:ctrlPr>
                                </m:sSupPr>
                                <m:e>
                                  <m:r>
                                    <a:rPr lang="en-US" altLang="zh-CN" b="1"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𝒚</m:t>
                                      </m:r>
                                    </m:e>
                                    <m:sub>
                                      <m:r>
                                        <a:rPr lang="en-US" altLang="zh-CN" i="1">
                                          <a:solidFill>
                                            <a:schemeClr val="tx1"/>
                                          </a:solidFill>
                                          <a:latin typeface="Cambria Math" panose="02040503050406030204" pitchFamily="18" charset="0"/>
                                        </a:rPr>
                                        <m:t>𝑖</m:t>
                                      </m:r>
                                    </m:sub>
                                  </m:sSub>
                                  <m:r>
                                    <a:rPr lang="en-US" altLang="zh-CN" b="1"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b="1" i="1">
                                              <a:solidFill>
                                                <a:schemeClr val="tx1"/>
                                              </a:solidFill>
                                              <a:latin typeface="Cambria Math" panose="02040503050406030204" pitchFamily="18" charset="0"/>
                                            </a:rPr>
                                            <m:t>𝒚</m:t>
                                          </m:r>
                                        </m:e>
                                      </m:acc>
                                    </m:e>
                                    <m:sub>
                                      <m:r>
                                        <a:rPr lang="en-US" altLang="zh-CN" i="1">
                                          <a:solidFill>
                                            <a:schemeClr val="tx1"/>
                                          </a:solidFill>
                                          <a:latin typeface="Cambria Math" panose="02040503050406030204" pitchFamily="18" charset="0"/>
                                        </a:rPr>
                                        <m:t>𝑖</m:t>
                                      </m:r>
                                    </m:sub>
                                  </m:sSub>
                                  <m:r>
                                    <a:rPr lang="en-US" altLang="zh-CN" b="1" i="1">
                                      <a:solidFill>
                                        <a:schemeClr val="tx1"/>
                                      </a:solidFill>
                                      <a:latin typeface="Cambria Math" panose="02040503050406030204" pitchFamily="18" charset="0"/>
                                    </a:rPr>
                                    <m:t>||</m:t>
                                  </m:r>
                                </m:e>
                                <m:sup>
                                  <m:r>
                                    <a:rPr lang="en-US" altLang="zh-CN" b="1" i="1">
                                      <a:solidFill>
                                        <a:schemeClr val="tx1"/>
                                      </a:solidFill>
                                      <a:latin typeface="Cambria Math" panose="02040503050406030204" pitchFamily="18" charset="0"/>
                                    </a:rPr>
                                    <m:t>𝟐</m:t>
                                  </m:r>
                                </m:sup>
                              </m:sSup>
                            </m:e>
                          </m:nary>
                          <m:r>
                            <a:rPr lang="en-US" altLang="zh-CN" b="0" i="1">
                              <a:latin typeface="Cambria Math" panose="02040503050406030204" pitchFamily="18" charset="0"/>
                            </a:rPr>
                            <m:t>+</m:t>
                          </m:r>
                          <m:r>
                            <a:rPr lang="en-US" altLang="zh-CN" b="0" i="1" smtClean="0">
                              <a:latin typeface="Cambria Math" panose="02040503050406030204" pitchFamily="18" charset="0"/>
                            </a:rPr>
                            <m:t>10</m:t>
                          </m:r>
                          <m:r>
                            <m:rPr>
                              <m:nor/>
                            </m:rPr>
                            <a:rPr lang="en-US" altLang="zh-CN" i="0" smtClean="0">
                              <a:latin typeface="Cambria Math" panose="02040503050406030204" pitchFamily="18" charset="0"/>
                            </a:rPr>
                            <m:t>00</m:t>
                          </m:r>
                          <m:r>
                            <m:rPr>
                              <m:nor/>
                            </m:rPr>
                            <a:rPr lang="zh-CN" altLang="en-US" dirty="0"/>
                            <m:t> </m:t>
                          </m:r>
                          <m:sSubSup>
                            <m:sSubSupPr>
                              <m:ctrlPr>
                                <a:rPr lang="en-US" altLang="zh-CN" i="1" dirty="0" smtClean="0">
                                  <a:latin typeface="Cambria Math" panose="02040503050406030204" pitchFamily="18" charset="0"/>
                                </a:rPr>
                              </m:ctrlPr>
                            </m:sSubSup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2</m:t>
                              </m:r>
                            </m:sup>
                          </m:sSubSup>
                          <m:r>
                            <a:rPr lang="en-US" altLang="zh-CN" b="0" i="1" dirty="0" smtClean="0">
                              <a:latin typeface="Cambria Math" panose="02040503050406030204" pitchFamily="18" charset="0"/>
                            </a:rPr>
                            <m:t>+10</m:t>
                          </m:r>
                          <m:r>
                            <m:rPr>
                              <m:nor/>
                            </m:rPr>
                            <a:rPr lang="en-US" altLang="zh-CN" i="0" dirty="0" smtClean="0">
                              <a:latin typeface="Cambria Math" panose="02040503050406030204" pitchFamily="18" charset="0"/>
                            </a:rPr>
                            <m:t>00</m:t>
                          </m:r>
                          <m:r>
                            <m:rPr>
                              <m:nor/>
                            </m:rPr>
                            <a:rPr lang="zh-CN" altLang="en-US" dirty="0"/>
                            <m:t> </m:t>
                          </m:r>
                          <m:sSubSup>
                            <m:sSubSupPr>
                              <m:ctrlPr>
                                <a:rPr lang="en-US" altLang="zh-CN" i="1" dirty="0">
                                  <a:latin typeface="Cambria Math" panose="02040503050406030204" pitchFamily="18" charset="0"/>
                                </a:rPr>
                              </m:ctrlPr>
                            </m:sSubSup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4</m:t>
                              </m:r>
                            </m:sub>
                            <m:sup>
                              <m:r>
                                <a:rPr lang="en-US" altLang="zh-CN" b="0" i="1" dirty="0">
                                  <a:latin typeface="Cambria Math" panose="02040503050406030204" pitchFamily="18" charset="0"/>
                                </a:rPr>
                                <m:t>2</m:t>
                              </m:r>
                            </m:sup>
                          </m:sSubSup>
                        </m:e>
                      </m:func>
                    </m:oMath>
                  </m:oMathPara>
                </a14:m>
                <a:endParaRPr lang="zh-CN" altLang="en-US" b="1" dirty="0">
                  <a:solidFill>
                    <a:schemeClr val="tx1"/>
                  </a:solidFill>
                </a:endParaRPr>
              </a:p>
            </p:txBody>
          </p:sp>
        </mc:Choice>
        <mc:Fallback xmlns="">
          <p:sp>
            <p:nvSpPr>
              <p:cNvPr id="30" name="文本框 29"/>
              <p:cNvSpPr txBox="1">
                <a:spLocks noRot="1" noChangeAspect="1" noMove="1" noResize="1" noEditPoints="1" noAdjustHandles="1" noChangeArrowheads="1" noChangeShapeType="1" noTextEdit="1"/>
              </p:cNvSpPr>
              <p:nvPr/>
            </p:nvSpPr>
            <p:spPr>
              <a:xfrm>
                <a:off x="1266092" y="4630235"/>
                <a:ext cx="5433125" cy="847220"/>
              </a:xfrm>
              <a:prstGeom prst="rect">
                <a:avLst/>
              </a:prstGeom>
              <a:blipFill>
                <a:blip r:embed="rId7"/>
                <a:stretch>
                  <a:fillRect/>
                </a:stretch>
              </a:blipFill>
            </p:spPr>
            <p:txBody>
              <a:bodyPr/>
              <a:lstStyle/>
              <a:p>
                <a:r>
                  <a:rPr lang="zh-CN" altLang="en-US">
                    <a:noFill/>
                  </a:rPr>
                  <a:t> </a:t>
                </a:r>
              </a:p>
            </p:txBody>
          </p:sp>
        </mc:Fallback>
      </mc:AlternateContent>
      <p:cxnSp>
        <p:nvCxnSpPr>
          <p:cNvPr id="31" name="直接箭头连接符 30"/>
          <p:cNvCxnSpPr/>
          <p:nvPr/>
        </p:nvCxnSpPr>
        <p:spPr>
          <a:xfrm flipV="1">
            <a:off x="4685964" y="4020711"/>
            <a:ext cx="0" cy="184811"/>
          </a:xfrm>
          <a:prstGeom prst="straightConnector1">
            <a:avLst/>
          </a:prstGeom>
          <a:noFill/>
          <a:ln w="15875" cap="flat" cmpd="sng">
            <a:solidFill>
              <a:srgbClr val="FF0000"/>
            </a:solidFill>
            <a:prstDash val="solid"/>
            <a:round/>
            <a:headEnd/>
            <a:tailEnd type="triangle"/>
          </a:ln>
          <a:effectLst/>
        </p:spPr>
      </p:cxnSp>
      <p:cxnSp>
        <p:nvCxnSpPr>
          <p:cNvPr id="32" name="直接箭头连接符 31"/>
          <p:cNvCxnSpPr/>
          <p:nvPr/>
        </p:nvCxnSpPr>
        <p:spPr>
          <a:xfrm flipV="1">
            <a:off x="5550060" y="4020711"/>
            <a:ext cx="0" cy="184811"/>
          </a:xfrm>
          <a:prstGeom prst="straightConnector1">
            <a:avLst/>
          </a:prstGeom>
          <a:noFill/>
          <a:ln w="15875" cap="flat" cmpd="sng">
            <a:solidFill>
              <a:srgbClr val="FF0000"/>
            </a:solidFill>
            <a:prstDash val="solid"/>
            <a:round/>
            <a:headEnd/>
            <a:tailEnd type="triangle"/>
          </a:ln>
          <a:effectLst/>
        </p:spPr>
      </p:cxnSp>
      <mc:AlternateContent xmlns:mc="http://schemas.openxmlformats.org/markup-compatibility/2006" xmlns:a14="http://schemas.microsoft.com/office/drawing/2010/main">
        <mc:Choice Requires="a14">
          <p:sp>
            <p:nvSpPr>
              <p:cNvPr id="34" name="矩形 33"/>
              <p:cNvSpPr/>
              <p:nvPr/>
            </p:nvSpPr>
            <p:spPr>
              <a:xfrm>
                <a:off x="3208791" y="4221600"/>
                <a:ext cx="3397064" cy="369332"/>
              </a:xfrm>
              <a:prstGeom prst="rect">
                <a:avLst/>
              </a:prstGeom>
            </p:spPr>
            <p:txBody>
              <a:bodyPr wrap="square">
                <a:spAutoFit/>
              </a:bodyPr>
              <a:lstStyle/>
              <a:p>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rPr>
                        </m:ctrlPr>
                      </m:sSubPr>
                      <m:e>
                        <m:r>
                          <m:rPr>
                            <m:sty m:val="p"/>
                          </m:rPr>
                          <a:rPr lang="en-US" altLang="zh-CN" i="1">
                            <a:latin typeface="Cambria Math" panose="02040503050406030204" pitchFamily="18" charset="0"/>
                            <a:ea typeface="微软雅黑" panose="020B0503020204020204" pitchFamily="34" charset="-122"/>
                          </a:rPr>
                          <m:t>C</m:t>
                        </m:r>
                      </m:e>
                      <m:sub>
                        <m:r>
                          <a:rPr lang="en-US" altLang="zh-CN" b="0" i="1" smtClean="0">
                            <a:latin typeface="Cambria Math" panose="02040503050406030204" pitchFamily="18" charset="0"/>
                            <a:ea typeface="微软雅黑" panose="020B0503020204020204" pitchFamily="34" charset="-122"/>
                          </a:rPr>
                          <m:t>1</m:t>
                        </m:r>
                      </m:sub>
                    </m:sSub>
                    <m:r>
                      <a:rPr lang="zh-CN" altLang="en-US"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m:rPr>
                            <m:sty m:val="p"/>
                          </m:rPr>
                          <a:rPr lang="en-US" altLang="zh-CN" i="1">
                            <a:latin typeface="Cambria Math" panose="02040503050406030204" pitchFamily="18" charset="0"/>
                            <a:ea typeface="微软雅黑" panose="020B0503020204020204" pitchFamily="34" charset="-122"/>
                          </a:rPr>
                          <m:t>C</m:t>
                        </m:r>
                      </m:e>
                      <m:sub>
                        <m:r>
                          <a:rPr lang="en-US" altLang="zh-CN" b="0" i="1" smtClean="0">
                            <a:latin typeface="Cambria Math" panose="02040503050406030204" pitchFamily="18" charset="0"/>
                            <a:ea typeface="微软雅黑" panose="020B0503020204020204" pitchFamily="34" charset="-122"/>
                          </a:rPr>
                          <m:t>2</m:t>
                        </m:r>
                      </m:sub>
                    </m:sSub>
                  </m:oMath>
                </a14:m>
                <a:r>
                  <a:rPr lang="zh-CN" altLang="en-US" dirty="0">
                    <a:latin typeface="微软雅黑 Light" panose="020B0502040204020203" pitchFamily="34" charset="-122"/>
                    <a:ea typeface="微软雅黑 Light" panose="020B0502040204020203" pitchFamily="34" charset="-122"/>
                  </a:rPr>
                  <a:t>可取常数，如取</a:t>
                </a:r>
                <a:r>
                  <a:rPr lang="en-US" altLang="zh-CN" dirty="0">
                    <a:latin typeface="微软雅黑 Light" panose="020B0502040204020203" pitchFamily="34" charset="-122"/>
                    <a:ea typeface="微软雅黑 Light" panose="020B0502040204020203" pitchFamily="34" charset="-122"/>
                  </a:rPr>
                  <a:t>1000</a:t>
                </a:r>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34" name="矩形 33"/>
              <p:cNvSpPr>
                <a:spLocks noRot="1" noChangeAspect="1" noMove="1" noResize="1" noEditPoints="1" noAdjustHandles="1" noChangeArrowheads="1" noChangeShapeType="1" noTextEdit="1"/>
              </p:cNvSpPr>
              <p:nvPr/>
            </p:nvSpPr>
            <p:spPr>
              <a:xfrm>
                <a:off x="3208791" y="4221600"/>
                <a:ext cx="3397064" cy="369332"/>
              </a:xfrm>
              <a:prstGeom prst="rect">
                <a:avLst/>
              </a:prstGeom>
              <a:blipFill>
                <a:blip r:embed="rId8"/>
                <a:stretch>
                  <a:fillRect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a:off x="1157572" y="3372639"/>
                <a:ext cx="5433125" cy="847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1" i="1" smtClean="0">
                              <a:latin typeface="Cambria Math" panose="02040503050406030204" pitchFamily="18" charset="0"/>
                            </a:rPr>
                          </m:ctrlPr>
                        </m:funcPr>
                        <m:fName>
                          <m:limLow>
                            <m:limLowPr>
                              <m:ctrlPr>
                                <a:rPr lang="en-US" altLang="zh-CN" b="1" i="1" smtClean="0">
                                  <a:latin typeface="Cambria Math" panose="02040503050406030204" pitchFamily="18" charset="0"/>
                                </a:rPr>
                              </m:ctrlPr>
                            </m:limLowPr>
                            <m:e>
                              <m:r>
                                <m:rPr>
                                  <m:sty m:val="p"/>
                                </m:rPr>
                                <a:rPr lang="en-US" altLang="zh-CN" b="0" i="0" smtClean="0">
                                  <a:latin typeface="Cambria Math" panose="02040503050406030204" pitchFamily="18" charset="0"/>
                                </a:rPr>
                                <m:t>min</m:t>
                              </m:r>
                            </m:e>
                            <m:lim>
                              <m:r>
                                <a:rPr lang="en-US" altLang="zh-CN" b="1" i="1" smtClean="0">
                                  <a:latin typeface="Cambria Math" panose="02040503050406030204" pitchFamily="18" charset="0"/>
                                </a:rPr>
                                <m:t>𝒘</m:t>
                              </m:r>
                            </m:lim>
                          </m:limLow>
                        </m:fName>
                        <m:e>
                          <m:f>
                            <m:fPr>
                              <m:ctrlPr>
                                <a:rPr lang="en-US" altLang="zh-CN" i="1">
                                  <a:latin typeface="Cambria Math" panose="02040503050406030204" pitchFamily="18" charset="0"/>
                                </a:rPr>
                              </m:ctrlPr>
                            </m:fPr>
                            <m:num>
                              <m:r>
                                <a:rPr lang="en-US" altLang="zh-CN" b="0" i="1">
                                  <a:latin typeface="Cambria Math" panose="02040503050406030204" pitchFamily="18" charset="0"/>
                                </a:rPr>
                                <m:t>1</m:t>
                              </m:r>
                            </m:num>
                            <m:den>
                              <m:r>
                                <a:rPr lang="en-US" altLang="zh-CN" b="0" i="1">
                                  <a:latin typeface="Cambria Math" panose="02040503050406030204" pitchFamily="18" charset="0"/>
                                </a:rPr>
                                <m:t>2</m:t>
                              </m:r>
                              <m:r>
                                <a:rPr lang="en-US" altLang="zh-CN" b="0" i="1" smtClean="0">
                                  <a:latin typeface="Cambria Math" panose="02040503050406030204" pitchFamily="18" charset="0"/>
                                </a:rPr>
                                <m:t>𝑚</m:t>
                              </m:r>
                            </m:den>
                          </m:f>
                          <m:nary>
                            <m:naryPr>
                              <m:chr m:val="∑"/>
                              <m:ctrlPr>
                                <a:rPr lang="en-US" altLang="zh-CN" b="1" i="1" smtClean="0">
                                  <a:solidFill>
                                    <a:schemeClr val="tx1"/>
                                  </a:solidFill>
                                  <a:latin typeface="Cambria Math" panose="02040503050406030204" pitchFamily="18" charset="0"/>
                                </a:rPr>
                              </m:ctrlPr>
                            </m:naryPr>
                            <m:sub>
                              <m:r>
                                <m:rPr>
                                  <m:brk m:alnAt="23"/>
                                </m:rPr>
                                <a:rPr lang="en-US" altLang="zh-CN" b="0" i="1">
                                  <a:solidFill>
                                    <a:schemeClr val="tx1"/>
                                  </a:solidFill>
                                  <a:latin typeface="Cambria Math" panose="02040503050406030204" pitchFamily="18" charset="0"/>
                                </a:rPr>
                                <m:t>𝑖</m:t>
                              </m:r>
                              <m:r>
                                <a:rPr lang="en-US" altLang="zh-CN" b="0" i="1">
                                  <a:solidFill>
                                    <a:schemeClr val="tx1"/>
                                  </a:solidFill>
                                  <a:latin typeface="Cambria Math" panose="02040503050406030204" pitchFamily="18" charset="0"/>
                                </a:rPr>
                                <m:t>=1</m:t>
                              </m:r>
                            </m:sub>
                            <m:sup>
                              <m:r>
                                <a:rPr lang="en-US" altLang="zh-CN" b="0" i="1" smtClean="0">
                                  <a:solidFill>
                                    <a:schemeClr val="tx1"/>
                                  </a:solidFill>
                                  <a:latin typeface="Cambria Math" panose="02040503050406030204" pitchFamily="18" charset="0"/>
                                </a:rPr>
                                <m:t>𝑚</m:t>
                              </m:r>
                            </m:sup>
                            <m:e>
                              <m:sSup>
                                <m:sSupPr>
                                  <m:ctrlPr>
                                    <a:rPr lang="en-US" altLang="zh-CN" b="1" i="1">
                                      <a:solidFill>
                                        <a:schemeClr val="tx1"/>
                                      </a:solidFill>
                                      <a:latin typeface="Cambria Math" panose="02040503050406030204" pitchFamily="18" charset="0"/>
                                    </a:rPr>
                                  </m:ctrlPr>
                                </m:sSupPr>
                                <m:e>
                                  <m:r>
                                    <a:rPr lang="en-US" altLang="zh-CN" b="1"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𝒚</m:t>
                                      </m:r>
                                    </m:e>
                                    <m:sub>
                                      <m:r>
                                        <a:rPr lang="en-US" altLang="zh-CN" i="1">
                                          <a:solidFill>
                                            <a:schemeClr val="tx1"/>
                                          </a:solidFill>
                                          <a:latin typeface="Cambria Math" panose="02040503050406030204" pitchFamily="18" charset="0"/>
                                        </a:rPr>
                                        <m:t>𝑖</m:t>
                                      </m:r>
                                    </m:sub>
                                  </m:sSub>
                                  <m:r>
                                    <a:rPr lang="en-US" altLang="zh-CN" b="1"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b="1" i="1">
                                              <a:solidFill>
                                                <a:schemeClr val="tx1"/>
                                              </a:solidFill>
                                              <a:latin typeface="Cambria Math" panose="02040503050406030204" pitchFamily="18" charset="0"/>
                                            </a:rPr>
                                            <m:t>𝒚</m:t>
                                          </m:r>
                                        </m:e>
                                      </m:acc>
                                    </m:e>
                                    <m:sub>
                                      <m:r>
                                        <a:rPr lang="en-US" altLang="zh-CN" i="1">
                                          <a:solidFill>
                                            <a:schemeClr val="tx1"/>
                                          </a:solidFill>
                                          <a:latin typeface="Cambria Math" panose="02040503050406030204" pitchFamily="18" charset="0"/>
                                        </a:rPr>
                                        <m:t>𝑖</m:t>
                                      </m:r>
                                    </m:sub>
                                  </m:sSub>
                                  <m:r>
                                    <a:rPr lang="en-US" altLang="zh-CN" b="1" i="1">
                                      <a:solidFill>
                                        <a:schemeClr val="tx1"/>
                                      </a:solidFill>
                                      <a:latin typeface="Cambria Math" panose="02040503050406030204" pitchFamily="18" charset="0"/>
                                    </a:rPr>
                                    <m:t>||</m:t>
                                  </m:r>
                                </m:e>
                                <m:sup>
                                  <m:r>
                                    <a:rPr lang="en-US" altLang="zh-CN" b="1" i="1">
                                      <a:solidFill>
                                        <a:schemeClr val="tx1"/>
                                      </a:solidFill>
                                      <a:latin typeface="Cambria Math" panose="02040503050406030204" pitchFamily="18" charset="0"/>
                                    </a:rPr>
                                    <m:t>𝟐</m:t>
                                  </m:r>
                                </m:sup>
                              </m:sSup>
                            </m:e>
                          </m:nary>
                          <m:r>
                            <a:rPr lang="en-US" altLang="zh-CN" b="0"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1</m:t>
                              </m:r>
                            </m:sub>
                          </m:sSub>
                          <m:r>
                            <m:rPr>
                              <m:nor/>
                            </m:rPr>
                            <a:rPr lang="en-US" altLang="zh-CN" i="0" smtClean="0">
                              <a:latin typeface="Cambria Math" panose="02040503050406030204" pitchFamily="18" charset="0"/>
                            </a:rPr>
                            <m:t>∗</m:t>
                          </m:r>
                          <m:r>
                            <m:rPr>
                              <m:nor/>
                            </m:rPr>
                            <a:rPr lang="zh-CN" altLang="en-US" dirty="0"/>
                            <m:t> </m:t>
                          </m:r>
                          <m:sSubSup>
                            <m:sSubSupPr>
                              <m:ctrlPr>
                                <a:rPr lang="en-US" altLang="zh-CN" i="1" dirty="0" smtClean="0">
                                  <a:latin typeface="Cambria Math" panose="02040503050406030204" pitchFamily="18" charset="0"/>
                                </a:rPr>
                              </m:ctrlPr>
                            </m:sSubSup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2</m:t>
                              </m:r>
                            </m:sup>
                          </m:sSubSup>
                          <m:r>
                            <a:rPr lang="en-US" altLang="zh-CN" b="0"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𝐶</m:t>
                              </m:r>
                            </m:e>
                            <m:sub>
                              <m:r>
                                <a:rPr lang="en-US" altLang="zh-CN" b="0" i="1" dirty="0" smtClean="0">
                                  <a:latin typeface="Cambria Math" panose="02040503050406030204" pitchFamily="18" charset="0"/>
                                </a:rPr>
                                <m:t>2</m:t>
                              </m:r>
                            </m:sub>
                          </m:sSub>
                          <m:r>
                            <m:rPr>
                              <m:nor/>
                            </m:rPr>
                            <a:rPr lang="en-US" altLang="zh-CN">
                              <a:latin typeface="Cambria Math" panose="02040503050406030204" pitchFamily="18" charset="0"/>
                            </a:rPr>
                            <m:t>∗</m:t>
                          </m:r>
                          <m:r>
                            <m:rPr>
                              <m:nor/>
                            </m:rPr>
                            <a:rPr lang="zh-CN" altLang="en-US" dirty="0"/>
                            <m:t> </m:t>
                          </m:r>
                          <m:sSubSup>
                            <m:sSubSupPr>
                              <m:ctrlPr>
                                <a:rPr lang="en-US" altLang="zh-CN" i="1" dirty="0">
                                  <a:latin typeface="Cambria Math" panose="02040503050406030204" pitchFamily="18" charset="0"/>
                                </a:rPr>
                              </m:ctrlPr>
                            </m:sSubSup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4</m:t>
                              </m:r>
                            </m:sub>
                            <m:sup>
                              <m:r>
                                <a:rPr lang="en-US" altLang="zh-CN" b="0" i="1" dirty="0">
                                  <a:latin typeface="Cambria Math" panose="02040503050406030204" pitchFamily="18" charset="0"/>
                                </a:rPr>
                                <m:t>2</m:t>
                              </m:r>
                            </m:sup>
                          </m:sSubSup>
                        </m:e>
                      </m:func>
                    </m:oMath>
                  </m:oMathPara>
                </a14:m>
                <a:endParaRPr lang="zh-CN" altLang="en-US" b="1" dirty="0">
                  <a:solidFill>
                    <a:schemeClr val="tx1"/>
                  </a:solidFill>
                </a:endParaRPr>
              </a:p>
            </p:txBody>
          </p:sp>
        </mc:Choice>
        <mc:Fallback xmlns="">
          <p:sp>
            <p:nvSpPr>
              <p:cNvPr id="35" name="文本框 34"/>
              <p:cNvSpPr txBox="1">
                <a:spLocks noRot="1" noChangeAspect="1" noMove="1" noResize="1" noEditPoints="1" noAdjustHandles="1" noChangeArrowheads="1" noChangeShapeType="1" noTextEdit="1"/>
              </p:cNvSpPr>
              <p:nvPr/>
            </p:nvSpPr>
            <p:spPr>
              <a:xfrm>
                <a:off x="1157572" y="3372639"/>
                <a:ext cx="5433125" cy="847220"/>
              </a:xfrm>
              <a:prstGeom prst="rect">
                <a:avLst/>
              </a:prstGeom>
              <a:blipFill rotWithShape="0">
                <a:blip r:embed="rId9"/>
                <a:stretch>
                  <a:fillRect/>
                </a:stretch>
              </a:blipFill>
            </p:spPr>
            <p:txBody>
              <a:bodyPr/>
              <a:lstStyle/>
              <a:p>
                <a:r>
                  <a:rPr lang="zh-CN" altLang="en-US">
                    <a:noFill/>
                  </a:rPr>
                  <a:t> </a:t>
                </a:r>
              </a:p>
            </p:txBody>
          </p:sp>
        </mc:Fallback>
      </mc:AlternateContent>
      <p:sp>
        <p:nvSpPr>
          <p:cNvPr id="36" name="下箭头 35"/>
          <p:cNvSpPr/>
          <p:nvPr/>
        </p:nvSpPr>
        <p:spPr>
          <a:xfrm>
            <a:off x="4622514" y="4588409"/>
            <a:ext cx="284809" cy="280755"/>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7" name="矩形 36"/>
              <p:cNvSpPr/>
              <p:nvPr/>
            </p:nvSpPr>
            <p:spPr>
              <a:xfrm>
                <a:off x="3923536" y="5422456"/>
                <a:ext cx="5374310" cy="369332"/>
              </a:xfrm>
              <a:prstGeom prst="rect">
                <a:avLst/>
              </a:prstGeom>
            </p:spPr>
            <p:txBody>
              <a:bodyPr wrap="square">
                <a:spAutoFit/>
              </a:bodyPr>
              <a:lstStyle/>
              <a:p>
                <a:r>
                  <a:rPr lang="zh-CN" altLang="en-US" dirty="0">
                    <a:ea typeface="微软雅黑 Light" panose="020B0502040204020203" pitchFamily="34" charset="-122"/>
                  </a:rPr>
                  <a:t>要使目标函数最小，则应有</a:t>
                </a:r>
                <a14:m>
                  <m:oMath xmlns:m="http://schemas.openxmlformats.org/officeDocument/2006/math">
                    <m:r>
                      <a:rPr lang="en-US" altLang="zh-CN" b="0" i="0" smtClean="0">
                        <a:latin typeface="Cambria Math" panose="02040503050406030204" pitchFamily="18" charset="0"/>
                        <a:ea typeface="微软雅黑" panose="020B0503020204020204" pitchFamily="34" charset="-122"/>
                      </a:rPr>
                      <m:t> </m:t>
                    </m:r>
                    <m:sSub>
                      <m:sSubPr>
                        <m:ctrlPr>
                          <a:rPr lang="en-US" altLang="zh-CN"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𝑤</m:t>
                        </m:r>
                      </m:e>
                      <m:sub>
                        <m:r>
                          <a:rPr lang="en-US" altLang="zh-CN" b="0" i="1" smtClean="0">
                            <a:latin typeface="Cambria Math" panose="02040503050406030204" pitchFamily="18" charset="0"/>
                            <a:ea typeface="微软雅黑" panose="020B0503020204020204" pitchFamily="34" charset="-122"/>
                          </a:rPr>
                          <m:t>3</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r>
                      <a:rPr lang="zh-CN" altLang="en-US"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𝑤</m:t>
                        </m:r>
                      </m:e>
                      <m:sub>
                        <m:r>
                          <a:rPr lang="en-US" altLang="zh-CN" b="0" i="1" smtClean="0">
                            <a:latin typeface="Cambria Math" panose="02040503050406030204" pitchFamily="18" charset="0"/>
                            <a:ea typeface="微软雅黑" panose="020B0503020204020204" pitchFamily="34" charset="-122"/>
                          </a:rPr>
                          <m:t>4</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oMath>
                </a14:m>
                <a:endParaRPr lang="zh-CN" altLang="en-US" dirty="0">
                  <a:latin typeface="微软雅黑 Light" panose="020B0502040204020203" pitchFamily="34" charset="-122"/>
                  <a:ea typeface="微软雅黑 Light" panose="020B0502040204020203" pitchFamily="34" charset="-122"/>
                </a:endParaRPr>
              </a:p>
            </p:txBody>
          </p:sp>
        </mc:Choice>
        <mc:Fallback xmlns="">
          <p:sp>
            <p:nvSpPr>
              <p:cNvPr id="37" name="矩形 36"/>
              <p:cNvSpPr>
                <a:spLocks noRot="1" noChangeAspect="1" noMove="1" noResize="1" noEditPoints="1" noAdjustHandles="1" noChangeArrowheads="1" noChangeShapeType="1" noTextEdit="1"/>
              </p:cNvSpPr>
              <p:nvPr/>
            </p:nvSpPr>
            <p:spPr>
              <a:xfrm>
                <a:off x="3923536" y="5422456"/>
                <a:ext cx="5374310" cy="369332"/>
              </a:xfrm>
              <a:prstGeom prst="rect">
                <a:avLst/>
              </a:prstGeom>
              <a:blipFill rotWithShape="0">
                <a:blip r:embed="rId10"/>
                <a:stretch>
                  <a:fillRect l="-1022" t="-10000" b="-26667"/>
                </a:stretch>
              </a:blipFill>
            </p:spPr>
            <p:txBody>
              <a:bodyPr/>
              <a:lstStyle/>
              <a:p>
                <a:r>
                  <a:rPr lang="zh-CN" altLang="en-US">
                    <a:noFill/>
                  </a:rPr>
                  <a:t> </a:t>
                </a:r>
              </a:p>
            </p:txBody>
          </p:sp>
        </mc:Fallback>
      </mc:AlternateContent>
      <p:sp>
        <p:nvSpPr>
          <p:cNvPr id="38" name="任意多边形 37"/>
          <p:cNvSpPr/>
          <p:nvPr/>
        </p:nvSpPr>
        <p:spPr>
          <a:xfrm>
            <a:off x="7005224" y="2096722"/>
            <a:ext cx="2083884" cy="1738603"/>
          </a:xfrm>
          <a:custGeom>
            <a:avLst/>
            <a:gdLst>
              <a:gd name="connsiteX0" fmla="*/ 0 w 2011680"/>
              <a:gd name="connsiteY0" fmla="*/ 1562793 h 1562793"/>
              <a:gd name="connsiteX1" fmla="*/ 399011 w 2011680"/>
              <a:gd name="connsiteY1" fmla="*/ 856211 h 1562793"/>
              <a:gd name="connsiteX2" fmla="*/ 1172095 w 2011680"/>
              <a:gd name="connsiteY2" fmla="*/ 216131 h 1562793"/>
              <a:gd name="connsiteX3" fmla="*/ 2011680 w 2011680"/>
              <a:gd name="connsiteY3" fmla="*/ 0 h 1562793"/>
              <a:gd name="connsiteX4" fmla="*/ 2011680 w 2011680"/>
              <a:gd name="connsiteY4" fmla="*/ 0 h 1562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1680" h="1562793">
                <a:moveTo>
                  <a:pt x="0" y="1562793"/>
                </a:moveTo>
                <a:cubicBezTo>
                  <a:pt x="101831" y="1321724"/>
                  <a:pt x="203662" y="1080655"/>
                  <a:pt x="399011" y="856211"/>
                </a:cubicBezTo>
                <a:cubicBezTo>
                  <a:pt x="594360" y="631767"/>
                  <a:pt x="903317" y="358833"/>
                  <a:pt x="1172095" y="216131"/>
                </a:cubicBezTo>
                <a:cubicBezTo>
                  <a:pt x="1440873" y="73429"/>
                  <a:pt x="2011680" y="0"/>
                  <a:pt x="2011680" y="0"/>
                </a:cubicBezTo>
                <a:lnTo>
                  <a:pt x="2011680" y="0"/>
                </a:lnTo>
              </a:path>
            </a:pathLst>
          </a:custGeom>
          <a:no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p:cNvCxnSpPr/>
          <p:nvPr/>
        </p:nvCxnSpPr>
        <p:spPr>
          <a:xfrm>
            <a:off x="8440911" y="4014447"/>
            <a:ext cx="464845" cy="533930"/>
          </a:xfrm>
          <a:prstGeom prst="line">
            <a:avLst/>
          </a:prstGeom>
          <a:noFill/>
          <a:ln w="28575" cap="flat" cmpd="sng">
            <a:solidFill>
              <a:srgbClr val="92D050"/>
            </a:solidFill>
            <a:prstDash val="solid"/>
            <a:round/>
            <a:headEnd/>
            <a:tailEnd/>
          </a:ln>
          <a:effectLst/>
        </p:spPr>
      </p:cxnSp>
      <p:cxnSp>
        <p:nvCxnSpPr>
          <p:cNvPr id="40" name="直接连接符 39"/>
          <p:cNvCxnSpPr/>
          <p:nvPr/>
        </p:nvCxnSpPr>
        <p:spPr>
          <a:xfrm flipH="1">
            <a:off x="8456069" y="4039534"/>
            <a:ext cx="428692" cy="522980"/>
          </a:xfrm>
          <a:prstGeom prst="line">
            <a:avLst/>
          </a:prstGeom>
          <a:noFill/>
          <a:ln w="28575" cap="flat" cmpd="sng">
            <a:solidFill>
              <a:srgbClr val="92D050"/>
            </a:solidFill>
            <a:prstDash val="solid"/>
            <a:round/>
            <a:headEnd/>
            <a:tailEnd/>
          </a:ln>
          <a:effectLst/>
        </p:spPr>
      </p:cxnSp>
      <p:cxnSp>
        <p:nvCxnSpPr>
          <p:cNvPr id="41" name="直接连接符 40"/>
          <p:cNvCxnSpPr/>
          <p:nvPr/>
        </p:nvCxnSpPr>
        <p:spPr>
          <a:xfrm>
            <a:off x="9084903" y="4002003"/>
            <a:ext cx="464845" cy="533930"/>
          </a:xfrm>
          <a:prstGeom prst="line">
            <a:avLst/>
          </a:prstGeom>
          <a:noFill/>
          <a:ln w="28575" cap="flat" cmpd="sng">
            <a:solidFill>
              <a:srgbClr val="92D050"/>
            </a:solidFill>
            <a:prstDash val="solid"/>
            <a:round/>
            <a:headEnd/>
            <a:tailEnd/>
          </a:ln>
          <a:effectLst/>
        </p:spPr>
      </p:cxnSp>
      <p:cxnSp>
        <p:nvCxnSpPr>
          <p:cNvPr id="42" name="直接连接符 41"/>
          <p:cNvCxnSpPr/>
          <p:nvPr/>
        </p:nvCxnSpPr>
        <p:spPr>
          <a:xfrm flipH="1">
            <a:off x="9100061" y="4027090"/>
            <a:ext cx="428692" cy="522980"/>
          </a:xfrm>
          <a:prstGeom prst="line">
            <a:avLst/>
          </a:prstGeom>
          <a:noFill/>
          <a:ln w="28575" cap="flat" cmpd="sng">
            <a:solidFill>
              <a:srgbClr val="92D050"/>
            </a:solidFill>
            <a:prstDash val="solid"/>
            <a:round/>
            <a:headEnd/>
            <a:tailEnd/>
          </a:ln>
          <a:effectLst/>
        </p:spPr>
      </p:cxnSp>
      <p:sp>
        <p:nvSpPr>
          <p:cNvPr id="45" name="灯片编号占位符 8">
            <a:extLst>
              <a:ext uri="{FF2B5EF4-FFF2-40B4-BE49-F238E27FC236}">
                <a16:creationId xmlns:a16="http://schemas.microsoft.com/office/drawing/2014/main" id="{4DFA801E-2598-4CD3-986B-27AF161E5477}"/>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64</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41466595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正则化思路</a:t>
            </a:r>
            <a:endParaRPr lang="en-US" altLang="zh-CN" sz="2600" b="1" dirty="0"/>
          </a:p>
        </p:txBody>
      </p:sp>
      <mc:AlternateContent xmlns:mc="http://schemas.openxmlformats.org/markup-compatibility/2006" xmlns:a14="http://schemas.microsoft.com/office/drawing/2010/main">
        <mc:Choice Requires="a14">
          <p:sp>
            <p:nvSpPr>
              <p:cNvPr id="8" name="文本框 7"/>
              <p:cNvSpPr txBox="1"/>
              <p:nvPr/>
            </p:nvSpPr>
            <p:spPr>
              <a:xfrm>
                <a:off x="3505009" y="3514217"/>
                <a:ext cx="5433125" cy="9081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1" i="1" smtClean="0">
                              <a:latin typeface="Cambria Math" panose="02040503050406030204" pitchFamily="18" charset="0"/>
                            </a:rPr>
                          </m:ctrlPr>
                        </m:funcPr>
                        <m:fName>
                          <m:limLow>
                            <m:limLowPr>
                              <m:ctrlPr>
                                <a:rPr lang="en-US" altLang="zh-CN" b="1" i="1" smtClean="0">
                                  <a:latin typeface="Cambria Math" panose="02040503050406030204" pitchFamily="18" charset="0"/>
                                </a:rPr>
                              </m:ctrlPr>
                            </m:limLowPr>
                            <m:e>
                              <m:r>
                                <m:rPr>
                                  <m:sty m:val="p"/>
                                </m:rPr>
                                <a:rPr lang="en-US" altLang="zh-CN" b="0" i="0" smtClean="0">
                                  <a:latin typeface="Cambria Math" panose="02040503050406030204" pitchFamily="18" charset="0"/>
                                </a:rPr>
                                <m:t>min</m:t>
                              </m:r>
                            </m:e>
                            <m:lim>
                              <m:r>
                                <a:rPr lang="en-US" altLang="zh-CN" b="1" i="1" smtClean="0">
                                  <a:latin typeface="Cambria Math" panose="02040503050406030204" pitchFamily="18" charset="0"/>
                                </a:rPr>
                                <m:t>𝒘</m:t>
                              </m:r>
                            </m:lim>
                          </m:limLow>
                        </m:fName>
                        <m:e>
                          <m:f>
                            <m:fPr>
                              <m:ctrlPr>
                                <a:rPr lang="en-US" altLang="zh-CN" i="1">
                                  <a:latin typeface="Cambria Math" panose="02040503050406030204" pitchFamily="18" charset="0"/>
                                </a:rPr>
                              </m:ctrlPr>
                            </m:fPr>
                            <m:num>
                              <m:r>
                                <a:rPr lang="en-US" altLang="zh-CN" b="0" i="1">
                                  <a:latin typeface="Cambria Math" panose="02040503050406030204" pitchFamily="18" charset="0"/>
                                </a:rPr>
                                <m:t>1</m:t>
                              </m:r>
                            </m:num>
                            <m:den>
                              <m:r>
                                <a:rPr lang="en-US" altLang="zh-CN" b="0" i="1">
                                  <a:latin typeface="Cambria Math" panose="02040503050406030204" pitchFamily="18" charset="0"/>
                                </a:rPr>
                                <m:t>2</m:t>
                              </m:r>
                              <m:r>
                                <a:rPr lang="en-US" altLang="zh-CN" b="0" i="1" smtClean="0">
                                  <a:latin typeface="Cambria Math" panose="02040503050406030204" pitchFamily="18" charset="0"/>
                                </a:rPr>
                                <m:t>𝑚</m:t>
                              </m:r>
                            </m:den>
                          </m:f>
                          <m:nary>
                            <m:naryPr>
                              <m:chr m:val="∑"/>
                              <m:ctrlPr>
                                <a:rPr lang="en-US" altLang="zh-CN" i="1">
                                  <a:latin typeface="Cambria Math" panose="02040503050406030204" pitchFamily="18" charset="0"/>
                                </a:rPr>
                              </m:ctrlPr>
                            </m:naryPr>
                            <m:sub>
                              <m:r>
                                <m:rPr>
                                  <m:brk m:alnAt="23"/>
                                </m:rPr>
                                <a:rPr lang="en-US" altLang="zh-CN" b="0" i="1">
                                  <a:latin typeface="Cambria Math" panose="02040503050406030204" pitchFamily="18" charset="0"/>
                                </a:rPr>
                                <m:t>𝑖</m:t>
                              </m:r>
                              <m:r>
                                <a:rPr lang="en-US" altLang="zh-CN" b="0" i="1">
                                  <a:latin typeface="Cambria Math" panose="02040503050406030204" pitchFamily="18" charset="0"/>
                                </a:rPr>
                                <m:t>=1</m:t>
                              </m:r>
                            </m:sub>
                            <m:sup>
                              <m:r>
                                <a:rPr lang="en-US" altLang="zh-CN" b="0" i="1" smtClean="0">
                                  <a:latin typeface="Cambria Math" panose="02040503050406030204" pitchFamily="18" charset="0"/>
                                </a:rPr>
                                <m:t>𝑚</m:t>
                              </m:r>
                            </m:sup>
                            <m:e>
                              <m:sSup>
                                <m:sSupPr>
                                  <m:ctrlPr>
                                    <a:rPr lang="en-US" altLang="zh-CN" b="1" i="1">
                                      <a:latin typeface="Cambria Math" panose="02040503050406030204" pitchFamily="18" charset="0"/>
                                    </a:rPr>
                                  </m:ctrlPr>
                                </m:sSupPr>
                                <m:e>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𝒚</m:t>
                                      </m:r>
                                    </m:e>
                                    <m:sub>
                                      <m:r>
                                        <a:rPr lang="en-US" altLang="zh-CN" i="1">
                                          <a:latin typeface="Cambria Math" panose="02040503050406030204" pitchFamily="18" charset="0"/>
                                        </a:rPr>
                                        <m:t>𝑖</m:t>
                                      </m:r>
                                    </m:sub>
                                  </m:sSub>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b="1" i="1">
                                              <a:latin typeface="Cambria Math" panose="02040503050406030204" pitchFamily="18" charset="0"/>
                                            </a:rPr>
                                            <m:t>𝒚</m:t>
                                          </m:r>
                                        </m:e>
                                      </m:acc>
                                    </m:e>
                                    <m:sub>
                                      <m:r>
                                        <a:rPr lang="en-US" altLang="zh-CN" i="1">
                                          <a:latin typeface="Cambria Math" panose="02040503050406030204" pitchFamily="18" charset="0"/>
                                        </a:rPr>
                                        <m:t>𝑖</m:t>
                                      </m:r>
                                    </m:sub>
                                  </m:sSub>
                                  <m:r>
                                    <a:rPr lang="en-US" altLang="zh-CN" b="1" i="1">
                                      <a:latin typeface="Cambria Math" panose="02040503050406030204" pitchFamily="18" charset="0"/>
                                    </a:rPr>
                                    <m:t>||</m:t>
                                  </m:r>
                                </m:e>
                                <m:sup>
                                  <m:r>
                                    <a:rPr lang="en-US" altLang="zh-CN" b="1" i="1">
                                      <a:latin typeface="Cambria Math" panose="02040503050406030204" pitchFamily="18" charset="0"/>
                                    </a:rPr>
                                    <m:t>𝟐</m:t>
                                  </m:r>
                                </m:sup>
                              </m:sSup>
                            </m:e>
                          </m:nary>
                          <m:r>
                            <a:rPr lang="en-US" altLang="zh-CN" b="1" i="1">
                              <a:latin typeface="Cambria Math" panose="02040503050406030204" pitchFamily="18" charset="0"/>
                            </a:rPr>
                            <m:t>+</m:t>
                          </m:r>
                          <m:r>
                            <a:rPr lang="zh-CN" altLang="en-US" i="1">
                              <a:solidFill>
                                <a:srgbClr val="FF0000"/>
                              </a:solidFill>
                              <a:latin typeface="Cambria Math" panose="02040503050406030204" pitchFamily="18" charset="0"/>
                            </a:rPr>
                            <m:t>𝛼</m:t>
                          </m:r>
                          <m:nary>
                            <m:naryPr>
                              <m:chr m:val="∑"/>
                              <m:ctrlPr>
                                <a:rPr lang="zh-CN" altLang="en-US" i="1" smtClean="0">
                                  <a:solidFill>
                                    <a:srgbClr val="FF0000"/>
                                  </a:solidFill>
                                  <a:latin typeface="Cambria Math" panose="02040503050406030204" pitchFamily="18" charset="0"/>
                                </a:rPr>
                              </m:ctrlPr>
                            </m:naryPr>
                            <m:sub>
                              <m:r>
                                <m:rPr>
                                  <m:brk m:alnAt="23"/>
                                </m:rPr>
                                <a:rPr lang="en-US" altLang="zh-CN" b="0" i="1" smtClean="0">
                                  <a:solidFill>
                                    <a:srgbClr val="FF0000"/>
                                  </a:solidFill>
                                  <a:latin typeface="Cambria Math" panose="02040503050406030204" pitchFamily="18" charset="0"/>
                                </a:rPr>
                                <m:t>𝑗</m:t>
                              </m:r>
                              <m:r>
                                <a:rPr lang="en-US" altLang="zh-CN" b="0" i="1" smtClean="0">
                                  <a:solidFill>
                                    <a:srgbClr val="FF0000"/>
                                  </a:solidFill>
                                  <a:latin typeface="Cambria Math" panose="02040503050406030204" pitchFamily="18" charset="0"/>
                                </a:rPr>
                                <m:t>=1</m:t>
                              </m:r>
                            </m:sub>
                            <m:sup>
                              <m:r>
                                <a:rPr lang="en-US" altLang="zh-CN" b="0" i="1" smtClean="0">
                                  <a:solidFill>
                                    <a:srgbClr val="FF0000"/>
                                  </a:solidFill>
                                  <a:latin typeface="Cambria Math" panose="02040503050406030204" pitchFamily="18" charset="0"/>
                                </a:rPr>
                                <m:t>𝑘</m:t>
                              </m:r>
                            </m:sup>
                            <m:e>
                              <m:sSubSup>
                                <m:sSubSupPr>
                                  <m:ctrlPr>
                                    <a:rPr lang="en-US" altLang="zh-CN" i="1" smtClean="0">
                                      <a:solidFill>
                                        <a:srgbClr val="FF0000"/>
                                      </a:solidFill>
                                      <a:latin typeface="Cambria Math" panose="02040503050406030204" pitchFamily="18" charset="0"/>
                                    </a:rPr>
                                  </m:ctrlPr>
                                </m:sSubSupPr>
                                <m:e>
                                  <m:r>
                                    <a:rPr lang="en-US" altLang="zh-CN" b="0" i="1" smtClean="0">
                                      <a:solidFill>
                                        <a:srgbClr val="FF0000"/>
                                      </a:solidFill>
                                      <a:latin typeface="Cambria Math" panose="02040503050406030204" pitchFamily="18" charset="0"/>
                                    </a:rPr>
                                    <m:t>𝑤</m:t>
                                  </m:r>
                                </m:e>
                                <m:sub>
                                  <m:r>
                                    <a:rPr lang="en-US" altLang="zh-CN" b="0" i="1" smtClean="0">
                                      <a:solidFill>
                                        <a:srgbClr val="FF0000"/>
                                      </a:solidFill>
                                      <a:latin typeface="Cambria Math" panose="02040503050406030204" pitchFamily="18" charset="0"/>
                                    </a:rPr>
                                    <m:t>𝑗</m:t>
                                  </m:r>
                                </m:sub>
                                <m:sup>
                                  <m:r>
                                    <a:rPr lang="en-US" altLang="zh-CN" b="0" i="1" smtClean="0">
                                      <a:solidFill>
                                        <a:srgbClr val="FF0000"/>
                                      </a:solidFill>
                                      <a:latin typeface="Cambria Math" panose="02040503050406030204" pitchFamily="18" charset="0"/>
                                    </a:rPr>
                                    <m:t>2</m:t>
                                  </m:r>
                                </m:sup>
                              </m:sSubSup>
                            </m:e>
                          </m:nary>
                        </m:e>
                      </m:func>
                    </m:oMath>
                  </m:oMathPara>
                </a14:m>
                <a:endParaRPr lang="zh-CN" altLang="en-US" b="1" dirty="0">
                  <a:solidFill>
                    <a:schemeClr val="tx1"/>
                  </a:solidFill>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3505009" y="3514217"/>
                <a:ext cx="5433125" cy="908197"/>
              </a:xfrm>
              <a:prstGeom prst="rect">
                <a:avLst/>
              </a:prstGeom>
              <a:blipFill rotWithShape="0">
                <a:blip r:embed="rId5"/>
                <a:stretch>
                  <a:fillRect/>
                </a:stretch>
              </a:blipFill>
            </p:spPr>
            <p:txBody>
              <a:bodyPr/>
              <a:lstStyle/>
              <a:p>
                <a:r>
                  <a:rPr lang="zh-CN" altLang="en-US">
                    <a:noFill/>
                  </a:rPr>
                  <a:t> </a:t>
                </a:r>
              </a:p>
            </p:txBody>
          </p:sp>
        </mc:Fallback>
      </mc:AlternateContent>
      <p:sp>
        <p:nvSpPr>
          <p:cNvPr id="9" name="下箭头 8"/>
          <p:cNvSpPr/>
          <p:nvPr/>
        </p:nvSpPr>
        <p:spPr>
          <a:xfrm>
            <a:off x="5184352" y="2300772"/>
            <a:ext cx="284809" cy="61586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矩形 9"/>
              <p:cNvSpPr/>
              <p:nvPr/>
            </p:nvSpPr>
            <p:spPr>
              <a:xfrm>
                <a:off x="1693740" y="4653664"/>
                <a:ext cx="8208912" cy="647741"/>
              </a:xfrm>
              <a:prstGeom prst="rect">
                <a:avLst/>
              </a:prstGeom>
            </p:spPr>
            <p:txBody>
              <a:bodyPr wrap="square">
                <a:spAutoFit/>
              </a:bodyPr>
              <a:lstStyle/>
              <a:p>
                <a14:m>
                  <m:oMath xmlns:m="http://schemas.openxmlformats.org/officeDocument/2006/math">
                    <m:r>
                      <a:rPr lang="zh-CN" altLang="en-US" i="1" smtClean="0">
                        <a:latin typeface="Cambria Math" panose="02040503050406030204" pitchFamily="18" charset="0"/>
                        <a:ea typeface="微软雅黑" panose="020B0503020204020204" pitchFamily="34" charset="-122"/>
                      </a:rPr>
                      <m:t>𝛼</m:t>
                    </m:r>
                  </m:oMath>
                </a14:m>
                <a:r>
                  <a:rPr lang="zh-CN" altLang="en-US" dirty="0">
                    <a:latin typeface="微软雅黑 Light" panose="020B0502040204020203" pitchFamily="34" charset="-122"/>
                    <a:ea typeface="微软雅黑 Light" panose="020B0502040204020203" pitchFamily="34" charset="-122"/>
                  </a:rPr>
                  <a:t> 为正则化参数，神经网络中的参数包括权重</a:t>
                </a:r>
                <a14:m>
                  <m:oMath xmlns:m="http://schemas.openxmlformats.org/officeDocument/2006/math">
                    <m:r>
                      <a:rPr lang="en-US" altLang="zh-CN" b="0" i="0" smtClean="0">
                        <a:latin typeface="Cambria Math" panose="02040503050406030204" pitchFamily="18" charset="0"/>
                        <a:ea typeface="微软雅黑" panose="020B0503020204020204" pitchFamily="34" charset="-122"/>
                      </a:rPr>
                      <m:t> </m:t>
                    </m:r>
                    <m:r>
                      <a:rPr lang="en-US" altLang="zh-CN" b="1" i="1" smtClean="0">
                        <a:latin typeface="Cambria Math" panose="02040503050406030204" pitchFamily="18" charset="0"/>
                        <a:ea typeface="微软雅黑" panose="020B0503020204020204" pitchFamily="34" charset="-122"/>
                      </a:rPr>
                      <m:t>𝒘</m:t>
                    </m:r>
                    <m:r>
                      <a:rPr lang="en-US" altLang="zh-CN" b="0" i="1" smtClean="0">
                        <a:latin typeface="Cambria Math" panose="02040503050406030204" pitchFamily="18" charset="0"/>
                        <a:ea typeface="微软雅黑" panose="020B0503020204020204" pitchFamily="34" charset="-122"/>
                      </a:rPr>
                      <m:t> </m:t>
                    </m:r>
                    <m:r>
                      <a:rPr lang="zh-CN" altLang="en-US" i="1">
                        <a:latin typeface="Cambria Math" panose="02040503050406030204" pitchFamily="18" charset="0"/>
                        <a:ea typeface="微软雅黑" panose="020B0503020204020204" pitchFamily="34" charset="-122"/>
                      </a:rPr>
                      <m:t>和</m:t>
                    </m:r>
                    <m:r>
                      <a:rPr lang="zh-CN" altLang="en-US" i="1" smtClean="0">
                        <a:latin typeface="Cambria Math" panose="02040503050406030204" pitchFamily="18" charset="0"/>
                        <a:ea typeface="微软雅黑" panose="020B0503020204020204" pitchFamily="34" charset="-122"/>
                      </a:rPr>
                      <m:t>偏置</m:t>
                    </m:r>
                    <m:r>
                      <a:rPr lang="en-US" altLang="zh-CN" b="0" i="1" smtClean="0">
                        <a:latin typeface="Cambria Math" panose="02040503050406030204" pitchFamily="18" charset="0"/>
                        <a:ea typeface="微软雅黑" panose="020B0503020204020204" pitchFamily="34" charset="-122"/>
                      </a:rPr>
                      <m:t> </m:t>
                    </m:r>
                    <m:r>
                      <m:rPr>
                        <m:sty m:val="p"/>
                      </m:rPr>
                      <a:rPr lang="en-US" altLang="zh-CN" i="1">
                        <a:latin typeface="Cambria Math" panose="02040503050406030204" pitchFamily="18" charset="0"/>
                        <a:ea typeface="微软雅黑" panose="020B0503020204020204" pitchFamily="34" charset="-122"/>
                      </a:rPr>
                      <m:t>b</m:t>
                    </m:r>
                  </m:oMath>
                </a14:m>
                <a:r>
                  <a:rPr lang="zh-CN" altLang="en-US" dirty="0">
                    <a:latin typeface="微软雅黑 Light" panose="020B0502040204020203" pitchFamily="34" charset="-122"/>
                    <a:ea typeface="微软雅黑 Light" panose="020B0502040204020203" pitchFamily="34" charset="-122"/>
                  </a:rPr>
                  <a:t>，正则化过程仅对权重 </a:t>
                </a:r>
                <a:r>
                  <a:rPr lang="en-US" altLang="zh-CN" b="1" dirty="0">
                    <a:latin typeface="微软雅黑 Light" panose="020B0502040204020203" pitchFamily="34" charset="-122"/>
                    <a:ea typeface="微软雅黑 Light" panose="020B0502040204020203" pitchFamily="34" charset="-122"/>
                  </a:rPr>
                  <a:t>w</a:t>
                </a:r>
                <a:r>
                  <a:rPr lang="en-US" altLang="zh-CN" dirty="0">
                    <a:latin typeface="微软雅黑 Light" panose="020B0502040204020203" pitchFamily="34" charset="-122"/>
                    <a:ea typeface="微软雅黑 Light" panose="020B0502040204020203" pitchFamily="34" charset="-122"/>
                  </a:rPr>
                  <a:t> </a:t>
                </a:r>
                <a:r>
                  <a:rPr lang="zh-CN" altLang="en-US" dirty="0">
                    <a:latin typeface="微软雅黑 Light" panose="020B0502040204020203" pitchFamily="34" charset="-122"/>
                    <a:ea typeface="微软雅黑 Light" panose="020B0502040204020203" pitchFamily="34" charset="-122"/>
                  </a:rPr>
                  <a:t>进行惩罚，正则化项记为  </a:t>
                </a:r>
              </a:p>
            </p:txBody>
          </p:sp>
        </mc:Choice>
        <mc:Fallback xmlns="">
          <p:sp>
            <p:nvSpPr>
              <p:cNvPr id="10" name="矩形 9"/>
              <p:cNvSpPr>
                <a:spLocks noRot="1" noChangeAspect="1" noMove="1" noResize="1" noEditPoints="1" noAdjustHandles="1" noChangeArrowheads="1" noChangeShapeType="1" noTextEdit="1"/>
              </p:cNvSpPr>
              <p:nvPr/>
            </p:nvSpPr>
            <p:spPr>
              <a:xfrm>
                <a:off x="1693740" y="4653664"/>
                <a:ext cx="8208912" cy="647741"/>
              </a:xfrm>
              <a:prstGeom prst="rect">
                <a:avLst/>
              </a:prstGeom>
              <a:blipFill rotWithShape="0">
                <a:blip r:embed="rId6"/>
                <a:stretch>
                  <a:fillRect l="-669" t="-4673" r="-446" b="-13084"/>
                </a:stretch>
              </a:blipFill>
            </p:spPr>
            <p:txBody>
              <a:bodyPr/>
              <a:lstStyle/>
              <a:p>
                <a:r>
                  <a:rPr lang="zh-CN" altLang="en-US">
                    <a:noFill/>
                  </a:rPr>
                  <a:t> </a:t>
                </a:r>
              </a:p>
            </p:txBody>
          </p:sp>
        </mc:Fallback>
      </mc:AlternateContent>
      <p:sp>
        <p:nvSpPr>
          <p:cNvPr id="11" name="椭圆 10"/>
          <p:cNvSpPr/>
          <p:nvPr/>
        </p:nvSpPr>
        <p:spPr>
          <a:xfrm>
            <a:off x="7009984" y="3376931"/>
            <a:ext cx="1008112" cy="122413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159981" y="2950896"/>
            <a:ext cx="6618359" cy="369332"/>
          </a:xfrm>
          <a:prstGeom prst="rect">
            <a:avLst/>
          </a:prstGeom>
        </p:spPr>
        <p:txBody>
          <a:bodyPr wrap="square">
            <a:spAutoFit/>
          </a:bodyPr>
          <a:lstStyle/>
          <a:p>
            <a:r>
              <a:rPr lang="zh-CN" altLang="en-US" dirty="0">
                <a:ea typeface="微软雅黑 Light" panose="020B0502040204020203" pitchFamily="34" charset="-122"/>
              </a:rPr>
              <a:t>在代价函数中增加一个惩罚项，惩罚高阶参数，使其趋近于</a:t>
            </a:r>
            <a:r>
              <a:rPr lang="en-US" altLang="zh-CN" dirty="0">
                <a:ea typeface="微软雅黑 Light" panose="020B0502040204020203" pitchFamily="34" charset="-122"/>
              </a:rPr>
              <a:t>0</a:t>
            </a:r>
            <a:endParaRPr lang="zh-CN" altLang="en-US" dirty="0">
              <a:latin typeface="微软雅黑 Light" panose="020B0502040204020203" pitchFamily="34" charset="-122"/>
              <a:ea typeface="微软雅黑 Light" panose="020B0502040204020203" pitchFamily="34" charset="-122"/>
            </a:endParaRPr>
          </a:p>
        </p:txBody>
      </p:sp>
      <p:sp>
        <p:nvSpPr>
          <p:cNvPr id="13" name="矩形 12"/>
          <p:cNvSpPr/>
          <p:nvPr/>
        </p:nvSpPr>
        <p:spPr>
          <a:xfrm>
            <a:off x="8293959" y="3770922"/>
            <a:ext cx="1864613" cy="369332"/>
          </a:xfrm>
          <a:prstGeom prst="rect">
            <a:avLst/>
          </a:prstGeom>
        </p:spPr>
        <p:txBody>
          <a:bodyPr wrap="none">
            <a:spAutoFit/>
          </a:bodyPr>
          <a:lstStyle/>
          <a:p>
            <a:r>
              <a:rPr lang="zh-CN" altLang="en-US" dirty="0">
                <a:ea typeface="微软雅黑 Light" panose="020B0502040204020203" pitchFamily="34" charset="-122"/>
              </a:rPr>
              <a:t>正则化项</a:t>
            </a:r>
            <a:r>
              <a:rPr lang="en-US" altLang="zh-CN" dirty="0">
                <a:ea typeface="微软雅黑 Light" panose="020B0502040204020203" pitchFamily="34" charset="-122"/>
              </a:rPr>
              <a:t>/</a:t>
            </a:r>
            <a:r>
              <a:rPr lang="zh-CN" altLang="en-US" dirty="0">
                <a:ea typeface="微软雅黑 Light" panose="020B0502040204020203" pitchFamily="34" charset="-122"/>
              </a:rPr>
              <a:t>惩罚项</a:t>
            </a:r>
            <a:endParaRPr lang="zh-CN" altLang="en-US" dirty="0"/>
          </a:p>
        </p:txBody>
      </p:sp>
      <mc:AlternateContent xmlns:mc="http://schemas.openxmlformats.org/markup-compatibility/2006" xmlns:a14="http://schemas.microsoft.com/office/drawing/2010/main">
        <mc:Choice Requires="a14">
          <p:sp>
            <p:nvSpPr>
              <p:cNvPr id="14" name="文本框 13"/>
              <p:cNvSpPr txBox="1"/>
              <p:nvPr/>
            </p:nvSpPr>
            <p:spPr>
              <a:xfrm>
                <a:off x="2777209" y="5320052"/>
                <a:ext cx="54331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CN" altLang="en-US" b="0" i="1" smtClean="0">
                          <a:solidFill>
                            <a:schemeClr val="tx1"/>
                          </a:solidFill>
                          <a:latin typeface="Cambria Math" panose="02040503050406030204" pitchFamily="18" charset="0"/>
                        </a:rPr>
                        <m:t>𝛼</m:t>
                      </m:r>
                      <m:r>
                        <m:rPr>
                          <m:sty m:val="p"/>
                        </m:rPr>
                        <a:rPr lang="zh-CN" altLang="en-US" b="0" i="0" smtClean="0">
                          <a:solidFill>
                            <a:schemeClr val="tx1"/>
                          </a:solidFill>
                          <a:latin typeface="Cambria Math" panose="02040503050406030204" pitchFamily="18" charset="0"/>
                        </a:rPr>
                        <m:t>Ω</m:t>
                      </m:r>
                      <m:r>
                        <a:rPr lang="en-US" altLang="zh-CN" b="0"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𝒘</m:t>
                      </m:r>
                      <m:r>
                        <a:rPr lang="en-US" altLang="zh-CN" b="0" i="1" smtClean="0">
                          <a:solidFill>
                            <a:schemeClr val="tx1"/>
                          </a:solidFill>
                          <a:latin typeface="Cambria Math" panose="02040503050406030204" pitchFamily="18" charset="0"/>
                        </a:rPr>
                        <m:t>)</m:t>
                      </m:r>
                    </m:oMath>
                  </m:oMathPara>
                </a14:m>
                <a:endParaRPr lang="zh-CN" altLang="en-US" dirty="0">
                  <a:solidFill>
                    <a:schemeClr val="tx1"/>
                  </a:solidFill>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2777209" y="5320052"/>
                <a:ext cx="5433125" cy="369332"/>
              </a:xfrm>
              <a:prstGeom prst="rect">
                <a:avLst/>
              </a:prstGeom>
              <a:blipFill rotWithShape="0">
                <a:blip r:embed="rId7"/>
                <a:stretch>
                  <a:fillRect b="-13333"/>
                </a:stretch>
              </a:blipFill>
            </p:spPr>
            <p:txBody>
              <a:bodyPr/>
              <a:lstStyle/>
              <a:p>
                <a:r>
                  <a:rPr lang="zh-CN" altLang="en-US">
                    <a:noFill/>
                  </a:rPr>
                  <a:t> </a:t>
                </a:r>
              </a:p>
            </p:txBody>
          </p:sp>
        </mc:Fallback>
      </mc:AlternateContent>
      <p:sp>
        <p:nvSpPr>
          <p:cNvPr id="16" name="矩形 15"/>
          <p:cNvSpPr/>
          <p:nvPr/>
        </p:nvSpPr>
        <p:spPr>
          <a:xfrm>
            <a:off x="1693740" y="5559277"/>
            <a:ext cx="2723823" cy="369332"/>
          </a:xfrm>
          <a:prstGeom prst="rect">
            <a:avLst/>
          </a:prstGeom>
        </p:spPr>
        <p:txBody>
          <a:bodyPr wrap="none">
            <a:spAutoFit/>
          </a:bodyPr>
          <a:lstStyle/>
          <a:p>
            <a:r>
              <a:rPr lang="zh-CN" altLang="en-US" dirty="0">
                <a:latin typeface="微软雅黑 Light" panose="020B0502040204020203" pitchFamily="34" charset="-122"/>
                <a:ea typeface="微软雅黑 Light" panose="020B0502040204020203" pitchFamily="34" charset="-122"/>
              </a:rPr>
              <a:t>正则化后的目标函数记为</a:t>
            </a:r>
            <a:endParaRPr lang="zh-CN" altLang="en-US" dirty="0"/>
          </a:p>
        </p:txBody>
      </p:sp>
      <mc:AlternateContent xmlns:mc="http://schemas.openxmlformats.org/markup-compatibility/2006" xmlns:a14="http://schemas.microsoft.com/office/drawing/2010/main">
        <mc:Choice Requires="a14">
          <p:sp>
            <p:nvSpPr>
              <p:cNvPr id="18" name="文本框 17"/>
              <p:cNvSpPr txBox="1"/>
              <p:nvPr/>
            </p:nvSpPr>
            <p:spPr>
              <a:xfrm>
                <a:off x="2870570" y="5993230"/>
                <a:ext cx="5433125"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b="1" i="1" smtClean="0">
                              <a:solidFill>
                                <a:schemeClr val="tx1"/>
                              </a:solidFill>
                              <a:latin typeface="Cambria Math" panose="02040503050406030204" pitchFamily="18" charset="0"/>
                            </a:rPr>
                          </m:ctrlPr>
                        </m:accPr>
                        <m:e>
                          <m:r>
                            <a:rPr lang="en-US" altLang="zh-CN" b="0" i="1" smtClean="0">
                              <a:solidFill>
                                <a:schemeClr val="tx1"/>
                              </a:solidFill>
                              <a:latin typeface="Cambria Math" panose="02040503050406030204" pitchFamily="18" charset="0"/>
                            </a:rPr>
                            <m:t>𝐿</m:t>
                          </m:r>
                        </m:e>
                      </m:acc>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𝑳</m:t>
                      </m:r>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r>
                        <a:rPr lang="zh-CN" altLang="en-US" b="0" i="1" smtClean="0">
                          <a:solidFill>
                            <a:schemeClr val="tx1"/>
                          </a:solidFill>
                          <a:latin typeface="Cambria Math" panose="02040503050406030204" pitchFamily="18" charset="0"/>
                        </a:rPr>
                        <m:t>𝛼</m:t>
                      </m:r>
                      <m:r>
                        <m:rPr>
                          <m:sty m:val="p"/>
                        </m:rPr>
                        <a:rPr lang="zh-CN" altLang="en-US" b="0" i="0" smtClean="0">
                          <a:solidFill>
                            <a:schemeClr val="tx1"/>
                          </a:solidFill>
                          <a:latin typeface="Cambria Math" panose="02040503050406030204" pitchFamily="18" charset="0"/>
                        </a:rPr>
                        <m:t>Ω</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oMath>
                  </m:oMathPara>
                </a14:m>
                <a:endParaRPr lang="zh-CN" altLang="en-US" b="1" dirty="0">
                  <a:solidFill>
                    <a:schemeClr val="tx1"/>
                  </a:solidFill>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2870570" y="5993230"/>
                <a:ext cx="5433125" cy="374270"/>
              </a:xfrm>
              <a:prstGeom prst="rect">
                <a:avLst/>
              </a:prstGeom>
              <a:blipFill rotWithShape="0">
                <a:blip r:embed="rId8"/>
                <a:stretch>
                  <a:fillRect t="-4839" b="-129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114C7FB-58CE-4945-9C56-8DADDF6DAE69}"/>
                  </a:ext>
                </a:extLst>
              </p:cNvPr>
              <p:cNvSpPr txBox="1"/>
              <p:nvPr/>
            </p:nvSpPr>
            <p:spPr>
              <a:xfrm>
                <a:off x="2535543" y="1434905"/>
                <a:ext cx="5433125" cy="847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altLang="zh-CN" b="1" i="1" smtClean="0">
                              <a:latin typeface="Cambria Math" panose="02040503050406030204" pitchFamily="18" charset="0"/>
                            </a:rPr>
                          </m:ctrlPr>
                        </m:funcPr>
                        <m:fName>
                          <m:limLow>
                            <m:limLowPr>
                              <m:ctrlPr>
                                <a:rPr lang="en-US" altLang="zh-CN" b="1" i="1" smtClean="0">
                                  <a:latin typeface="Cambria Math" panose="02040503050406030204" pitchFamily="18" charset="0"/>
                                </a:rPr>
                              </m:ctrlPr>
                            </m:limLowPr>
                            <m:e>
                              <m:r>
                                <m:rPr>
                                  <m:sty m:val="p"/>
                                </m:rPr>
                                <a:rPr lang="en-US" altLang="zh-CN" b="0" i="0" smtClean="0">
                                  <a:latin typeface="Cambria Math" panose="02040503050406030204" pitchFamily="18" charset="0"/>
                                </a:rPr>
                                <m:t>min</m:t>
                              </m:r>
                            </m:e>
                            <m:lim>
                              <m:r>
                                <a:rPr lang="en-US" altLang="zh-CN" b="1" i="1" smtClean="0">
                                  <a:latin typeface="Cambria Math" panose="02040503050406030204" pitchFamily="18" charset="0"/>
                                </a:rPr>
                                <m:t>𝒘</m:t>
                              </m:r>
                            </m:lim>
                          </m:limLow>
                        </m:fName>
                        <m:e>
                          <m:f>
                            <m:fPr>
                              <m:ctrlPr>
                                <a:rPr lang="en-US" altLang="zh-CN" i="1">
                                  <a:latin typeface="Cambria Math" panose="02040503050406030204" pitchFamily="18" charset="0"/>
                                </a:rPr>
                              </m:ctrlPr>
                            </m:fPr>
                            <m:num>
                              <m:r>
                                <a:rPr lang="en-US" altLang="zh-CN" b="0" i="1">
                                  <a:latin typeface="Cambria Math" panose="02040503050406030204" pitchFamily="18" charset="0"/>
                                </a:rPr>
                                <m:t>1</m:t>
                              </m:r>
                            </m:num>
                            <m:den>
                              <m:r>
                                <a:rPr lang="en-US" altLang="zh-CN" b="0" i="1">
                                  <a:latin typeface="Cambria Math" panose="02040503050406030204" pitchFamily="18" charset="0"/>
                                </a:rPr>
                                <m:t>2</m:t>
                              </m:r>
                              <m:r>
                                <a:rPr lang="en-US" altLang="zh-CN" b="0" i="1" smtClean="0">
                                  <a:latin typeface="Cambria Math" panose="02040503050406030204" pitchFamily="18" charset="0"/>
                                </a:rPr>
                                <m:t>𝑚</m:t>
                              </m:r>
                            </m:den>
                          </m:f>
                          <m:nary>
                            <m:naryPr>
                              <m:chr m:val="∑"/>
                              <m:ctrlPr>
                                <a:rPr lang="en-US" altLang="zh-CN" i="1">
                                  <a:latin typeface="Cambria Math" panose="02040503050406030204" pitchFamily="18" charset="0"/>
                                </a:rPr>
                              </m:ctrlPr>
                            </m:naryPr>
                            <m:sub>
                              <m:r>
                                <m:rPr>
                                  <m:brk m:alnAt="23"/>
                                </m:rPr>
                                <a:rPr lang="en-US" altLang="zh-CN" b="0" i="1">
                                  <a:latin typeface="Cambria Math" panose="02040503050406030204" pitchFamily="18" charset="0"/>
                                </a:rPr>
                                <m:t>𝑖</m:t>
                              </m:r>
                              <m:r>
                                <a:rPr lang="en-US" altLang="zh-CN" b="0" i="1">
                                  <a:latin typeface="Cambria Math" panose="02040503050406030204" pitchFamily="18" charset="0"/>
                                </a:rPr>
                                <m:t>=1</m:t>
                              </m:r>
                            </m:sub>
                            <m:sup>
                              <m:r>
                                <a:rPr lang="en-US" altLang="zh-CN" b="0" i="1" smtClean="0">
                                  <a:latin typeface="Cambria Math" panose="02040503050406030204" pitchFamily="18" charset="0"/>
                                </a:rPr>
                                <m:t>𝑚</m:t>
                              </m:r>
                            </m:sup>
                            <m:e>
                              <m:sSup>
                                <m:sSupPr>
                                  <m:ctrlPr>
                                    <a:rPr lang="en-US" altLang="zh-CN" b="1" i="1">
                                      <a:latin typeface="Cambria Math" panose="02040503050406030204" pitchFamily="18" charset="0"/>
                                    </a:rPr>
                                  </m:ctrlPr>
                                </m:sSupPr>
                                <m:e>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𝒚</m:t>
                                      </m:r>
                                    </m:e>
                                    <m:sub>
                                      <m:r>
                                        <a:rPr lang="en-US" altLang="zh-CN" i="1">
                                          <a:latin typeface="Cambria Math" panose="02040503050406030204" pitchFamily="18" charset="0"/>
                                        </a:rPr>
                                        <m:t>𝑖</m:t>
                                      </m:r>
                                    </m:sub>
                                  </m:sSub>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b="1" i="1">
                                              <a:latin typeface="Cambria Math" panose="02040503050406030204" pitchFamily="18" charset="0"/>
                                            </a:rPr>
                                            <m:t>𝒚</m:t>
                                          </m:r>
                                        </m:e>
                                      </m:acc>
                                    </m:e>
                                    <m:sub>
                                      <m:r>
                                        <a:rPr lang="en-US" altLang="zh-CN" i="1">
                                          <a:latin typeface="Cambria Math" panose="02040503050406030204" pitchFamily="18" charset="0"/>
                                        </a:rPr>
                                        <m:t>𝑖</m:t>
                                      </m:r>
                                    </m:sub>
                                  </m:sSub>
                                  <m:r>
                                    <a:rPr lang="en-US" altLang="zh-CN" b="1" i="1">
                                      <a:latin typeface="Cambria Math" panose="02040503050406030204" pitchFamily="18" charset="0"/>
                                    </a:rPr>
                                    <m:t>||</m:t>
                                  </m:r>
                                </m:e>
                                <m:sup>
                                  <m:r>
                                    <a:rPr lang="en-US" altLang="zh-CN" b="1" i="1">
                                      <a:latin typeface="Cambria Math" panose="02040503050406030204" pitchFamily="18" charset="0"/>
                                    </a:rPr>
                                    <m:t>𝟐</m:t>
                                  </m:r>
                                </m:sup>
                              </m:sSup>
                            </m:e>
                          </m:nary>
                          <m:r>
                            <a:rPr lang="en-US" altLang="zh-CN" b="1"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1</m:t>
                              </m:r>
                            </m:sub>
                          </m:sSub>
                          <m:r>
                            <m:rPr>
                              <m:nor/>
                            </m:rPr>
                            <a:rPr lang="en-US" altLang="zh-CN" i="0" smtClean="0">
                              <a:latin typeface="Cambria Math" panose="02040503050406030204" pitchFamily="18" charset="0"/>
                            </a:rPr>
                            <m:t>∗</m:t>
                          </m:r>
                          <m:r>
                            <m:rPr>
                              <m:nor/>
                            </m:rPr>
                            <a:rPr lang="zh-CN" altLang="en-US" dirty="0"/>
                            <m:t> </m:t>
                          </m:r>
                          <m:sSubSup>
                            <m:sSubSupPr>
                              <m:ctrlPr>
                                <a:rPr lang="en-US" altLang="zh-CN" i="1" dirty="0" smtClean="0">
                                  <a:latin typeface="Cambria Math" panose="02040503050406030204" pitchFamily="18" charset="0"/>
                                </a:rPr>
                              </m:ctrlPr>
                            </m:sSubSup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2</m:t>
                              </m:r>
                            </m:sup>
                          </m:sSubSup>
                          <m:r>
                            <a:rPr lang="en-US" altLang="zh-CN" b="0"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𝐶</m:t>
                              </m:r>
                            </m:e>
                            <m:sub>
                              <m:r>
                                <a:rPr lang="en-US" altLang="zh-CN" b="0" i="1" dirty="0" smtClean="0">
                                  <a:latin typeface="Cambria Math" panose="02040503050406030204" pitchFamily="18" charset="0"/>
                                </a:rPr>
                                <m:t>2</m:t>
                              </m:r>
                            </m:sub>
                          </m:sSub>
                          <m:r>
                            <m:rPr>
                              <m:nor/>
                            </m:rPr>
                            <a:rPr lang="en-US" altLang="zh-CN">
                              <a:latin typeface="Cambria Math" panose="02040503050406030204" pitchFamily="18" charset="0"/>
                            </a:rPr>
                            <m:t>∗</m:t>
                          </m:r>
                          <m:r>
                            <m:rPr>
                              <m:nor/>
                            </m:rPr>
                            <a:rPr lang="zh-CN" altLang="en-US" dirty="0"/>
                            <m:t> </m:t>
                          </m:r>
                          <m:sSubSup>
                            <m:sSubSupPr>
                              <m:ctrlPr>
                                <a:rPr lang="en-US" altLang="zh-CN" i="1" dirty="0">
                                  <a:latin typeface="Cambria Math" panose="02040503050406030204" pitchFamily="18" charset="0"/>
                                </a:rPr>
                              </m:ctrlPr>
                            </m:sSubSup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4</m:t>
                              </m:r>
                            </m:sub>
                            <m:sup>
                              <m:r>
                                <a:rPr lang="en-US" altLang="zh-CN" b="0" i="1" dirty="0">
                                  <a:latin typeface="Cambria Math" panose="02040503050406030204" pitchFamily="18" charset="0"/>
                                </a:rPr>
                                <m:t>2</m:t>
                              </m:r>
                            </m:sup>
                          </m:sSubSup>
                        </m:e>
                      </m:func>
                    </m:oMath>
                  </m:oMathPara>
                </a14:m>
                <a:endParaRPr lang="zh-CN" altLang="en-US" b="1" dirty="0">
                  <a:solidFill>
                    <a:schemeClr val="tx1"/>
                  </a:solidFill>
                </a:endParaRPr>
              </a:p>
            </p:txBody>
          </p:sp>
        </mc:Choice>
        <mc:Fallback xmlns="">
          <p:sp>
            <p:nvSpPr>
              <p:cNvPr id="19" name="文本框 18">
                <a:extLst>
                  <a:ext uri="{FF2B5EF4-FFF2-40B4-BE49-F238E27FC236}">
                    <a16:creationId xmlns:a16="http://schemas.microsoft.com/office/drawing/2014/main" xmlns:a14="http://schemas.microsoft.com/office/drawing/2010/main" xmlns="" id="{7114C7FB-58CE-4945-9C56-8DADDF6DAE69}"/>
                  </a:ext>
                </a:extLst>
              </p:cNvPr>
              <p:cNvSpPr txBox="1">
                <a:spLocks noRot="1" noChangeAspect="1" noMove="1" noResize="1" noEditPoints="1" noAdjustHandles="1" noChangeArrowheads="1" noChangeShapeType="1" noTextEdit="1"/>
              </p:cNvSpPr>
              <p:nvPr/>
            </p:nvSpPr>
            <p:spPr>
              <a:xfrm>
                <a:off x="2535543" y="1434905"/>
                <a:ext cx="5433125" cy="847220"/>
              </a:xfrm>
              <a:prstGeom prst="rect">
                <a:avLst/>
              </a:prstGeom>
              <a:blipFill rotWithShape="0">
                <a:blip r:embed="rId9"/>
                <a:stretch>
                  <a:fillRect/>
                </a:stretch>
              </a:blipFill>
            </p:spPr>
            <p:txBody>
              <a:bodyPr/>
              <a:lstStyle/>
              <a:p>
                <a:r>
                  <a:rPr lang="zh-CN" altLang="en-US">
                    <a:noFill/>
                  </a:rPr>
                  <a:t> </a:t>
                </a:r>
              </a:p>
            </p:txBody>
          </p:sp>
        </mc:Fallback>
      </mc:AlternateContent>
      <p:pic>
        <p:nvPicPr>
          <p:cNvPr id="21" name="图片 20"/>
          <p:cNvPicPr>
            <a:picLocks noChangeAspect="1"/>
          </p:cNvPicPr>
          <p:nvPr/>
        </p:nvPicPr>
        <p:blipFill>
          <a:blip r:embed="rId10"/>
          <a:stretch>
            <a:fillRect/>
          </a:stretch>
        </p:blipFill>
        <p:spPr>
          <a:xfrm>
            <a:off x="1690498" y="6538325"/>
            <a:ext cx="8810625" cy="319676"/>
          </a:xfrm>
          <a:prstGeom prst="rect">
            <a:avLst/>
          </a:prstGeom>
        </p:spPr>
      </p:pic>
      <p:sp>
        <p:nvSpPr>
          <p:cNvPr id="22" name="灯片编号占位符 8">
            <a:extLst>
              <a:ext uri="{FF2B5EF4-FFF2-40B4-BE49-F238E27FC236}">
                <a16:creationId xmlns:a16="http://schemas.microsoft.com/office/drawing/2014/main" id="{6A034B50-EC3B-40B7-8C14-C03941646E93}"/>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65</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9941804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mc:AlternateContent xmlns:mc="http://schemas.openxmlformats.org/markup-compatibility/2006" xmlns:a14="http://schemas.microsoft.com/office/drawing/2010/main">
        <mc:Choice Requires="a14">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14:m>
                  <m:oMath xmlns:m="http://schemas.openxmlformats.org/officeDocument/2006/math">
                    <m:sSup>
                      <m:sSupPr>
                        <m:ctrlPr>
                          <a:rPr lang="en-US" altLang="zh-CN" sz="2600" i="1" smtClean="0">
                            <a:solidFill>
                              <a:schemeClr val="tx1"/>
                            </a:solidFill>
                            <a:latin typeface="Cambria Math" panose="02040503050406030204" pitchFamily="18" charset="0"/>
                          </a:rPr>
                        </m:ctrlPr>
                      </m:sSupPr>
                      <m:e>
                        <m:r>
                          <a:rPr lang="en-US" altLang="zh-CN" sz="2600" i="1">
                            <a:solidFill>
                              <a:schemeClr val="tx1"/>
                            </a:solidFill>
                            <a:latin typeface="Cambria Math" panose="02040503050406030204" pitchFamily="18" charset="0"/>
                          </a:rPr>
                          <m:t>𝐿</m:t>
                        </m:r>
                      </m:e>
                      <m:sup>
                        <m:r>
                          <a:rPr lang="en-US" altLang="zh-CN" sz="2600" i="1">
                            <a:solidFill>
                              <a:schemeClr val="tx1"/>
                            </a:solidFill>
                            <a:latin typeface="Cambria Math" panose="02040503050406030204" pitchFamily="18" charset="0"/>
                          </a:rPr>
                          <m:t>2</m:t>
                        </m:r>
                      </m:sup>
                    </m:sSup>
                  </m:oMath>
                </a14:m>
                <a:r>
                  <a:rPr lang="zh-CN" altLang="en-US" sz="2600" dirty="0">
                    <a:solidFill>
                      <a:schemeClr val="tx1"/>
                    </a:solidFill>
                    <a:latin typeface="微软雅黑" panose="020B0503020204020204" pitchFamily="34" charset="-122"/>
                    <a:ea typeface="微软雅黑" panose="020B0503020204020204" pitchFamily="34" charset="-122"/>
                  </a:rPr>
                  <a:t>正则化</a:t>
                </a:r>
                <a:endParaRPr lang="en-US" altLang="zh-CN" sz="2600" b="1" dirty="0">
                  <a:solidFill>
                    <a:schemeClr val="tx1"/>
                  </a:solidFill>
                </a:endParaRPr>
              </a:p>
            </p:txBody>
          </p:sp>
        </mc:Choice>
        <mc:Fallback xmlns="">
          <p:sp>
            <p:nvSpPr>
              <p:cNvPr id="33" name="内容占位符 2"/>
              <p:cNvSpPr txBox="1">
                <a:spLocks noRot="1" noChangeAspect="1" noMove="1" noResize="1" noEditPoints="1" noAdjustHandles="1" noChangeArrowheads="1" noChangeShapeType="1" noTextEdit="1"/>
              </p:cNvSpPr>
              <p:nvPr/>
            </p:nvSpPr>
            <p:spPr>
              <a:xfrm>
                <a:off x="293722" y="691951"/>
                <a:ext cx="11637087" cy="742954"/>
              </a:xfrm>
              <a:prstGeom prst="rect">
                <a:avLst/>
              </a:prstGeom>
              <a:blipFill rotWithShape="0">
                <a:blip r:embed="rId5"/>
                <a:stretch>
                  <a:fillRect l="-786" b="-41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2101575" y="1581176"/>
                <a:ext cx="3128868"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zh-CN" altLang="en-US" b="0" i="0" smtClean="0">
                          <a:solidFill>
                            <a:schemeClr val="tx1"/>
                          </a:solidFill>
                          <a:latin typeface="Cambria Math" panose="02040503050406030204" pitchFamily="18" charset="0"/>
                        </a:rPr>
                        <m:t>Ω</m:t>
                      </m:r>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e>
                      </m:d>
                      <m:r>
                        <a:rPr lang="en-US" altLang="zh-CN" b="1" i="1" smtClean="0">
                          <a:solidFill>
                            <a:schemeClr val="tx1"/>
                          </a:solidFill>
                          <a:latin typeface="Cambria Math" panose="02040503050406030204" pitchFamily="18" charset="0"/>
                        </a:rPr>
                        <m:t>=</m:t>
                      </m:r>
                      <m:f>
                        <m:fPr>
                          <m:ctrlPr>
                            <a:rPr lang="en-US" altLang="zh-CN" i="1" smtClean="0">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1</m:t>
                          </m:r>
                        </m:num>
                        <m:den>
                          <m:r>
                            <a:rPr lang="en-US" altLang="zh-CN" b="0" i="1" smtClean="0">
                              <a:solidFill>
                                <a:schemeClr val="tx1"/>
                              </a:solidFill>
                              <a:latin typeface="Cambria Math" panose="02040503050406030204" pitchFamily="18" charset="0"/>
                            </a:rPr>
                            <m:t>2</m:t>
                          </m:r>
                        </m:den>
                      </m:f>
                      <m:sSubSup>
                        <m:sSubSupPr>
                          <m:ctrlPr>
                            <a:rPr lang="en-US" altLang="zh-CN" b="1" i="1" smtClean="0">
                              <a:solidFill>
                                <a:schemeClr val="tx1"/>
                              </a:solidFill>
                              <a:latin typeface="Cambria Math" panose="02040503050406030204" pitchFamily="18" charset="0"/>
                            </a:rPr>
                          </m:ctrlPr>
                        </m:sSubSupPr>
                        <m:e>
                          <m:d>
                            <m:dPr>
                              <m:begChr m:val="‖"/>
                              <m:endChr m:val="‖"/>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e>
                          </m:d>
                        </m:e>
                        <m:sub>
                          <m:r>
                            <a:rPr lang="en-US" altLang="zh-CN" b="1" i="1" smtClean="0">
                              <a:solidFill>
                                <a:schemeClr val="tx1"/>
                              </a:solidFill>
                              <a:latin typeface="Cambria Math" panose="02040503050406030204" pitchFamily="18" charset="0"/>
                            </a:rPr>
                            <m:t>𝟐</m:t>
                          </m:r>
                        </m:sub>
                        <m:sup>
                          <m:r>
                            <a:rPr lang="en-US" altLang="zh-CN" b="1" i="1" smtClean="0">
                              <a:solidFill>
                                <a:schemeClr val="tx1"/>
                              </a:solidFill>
                              <a:latin typeface="Cambria Math" panose="02040503050406030204" pitchFamily="18" charset="0"/>
                            </a:rPr>
                            <m:t>𝟐</m:t>
                          </m:r>
                        </m:sup>
                      </m:sSubSup>
                    </m:oMath>
                  </m:oMathPara>
                </a14:m>
                <a:endParaRPr lang="zh-CN" altLang="en-US" b="1" dirty="0">
                  <a:solidFill>
                    <a:schemeClr val="tx1"/>
                  </a:solidFill>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2101575" y="1581176"/>
                <a:ext cx="3128868" cy="634789"/>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2263647" y="2262584"/>
                <a:ext cx="4064973" cy="5688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b="1" i="1" smtClean="0">
                              <a:solidFill>
                                <a:schemeClr val="tx1"/>
                              </a:solidFill>
                              <a:latin typeface="Cambria Math" panose="02040503050406030204" pitchFamily="18" charset="0"/>
                            </a:rPr>
                          </m:ctrlPr>
                        </m:accPr>
                        <m:e>
                          <m:r>
                            <a:rPr lang="en-US" altLang="zh-CN" b="0" i="1" smtClean="0">
                              <a:solidFill>
                                <a:schemeClr val="tx1"/>
                              </a:solidFill>
                              <a:latin typeface="Cambria Math" panose="02040503050406030204" pitchFamily="18" charset="0"/>
                            </a:rPr>
                            <m:t>𝐿</m:t>
                          </m:r>
                        </m:e>
                      </m:acc>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𝐿</m:t>
                      </m:r>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f>
                        <m:fPr>
                          <m:ctrlPr>
                            <a:rPr lang="en-US" altLang="zh-CN" i="1">
                              <a:latin typeface="Cambria Math" panose="02040503050406030204" pitchFamily="18" charset="0"/>
                            </a:rPr>
                          </m:ctrlPr>
                        </m:fPr>
                        <m:num>
                          <m:r>
                            <a:rPr lang="zh-CN" altLang="en-US" b="0" i="1">
                              <a:latin typeface="Cambria Math" panose="02040503050406030204" pitchFamily="18" charset="0"/>
                            </a:rPr>
                            <m:t>𝛼</m:t>
                          </m:r>
                        </m:num>
                        <m:den>
                          <m:r>
                            <a:rPr lang="en-US" altLang="zh-CN" b="0" i="1">
                              <a:latin typeface="Cambria Math" panose="02040503050406030204" pitchFamily="18" charset="0"/>
                            </a:rPr>
                            <m:t>2</m:t>
                          </m:r>
                        </m:den>
                      </m:f>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𝒘</m:t>
                              </m:r>
                            </m:e>
                          </m:d>
                          <m:r>
                            <a:rPr lang="en-US" altLang="zh-CN" b="1" i="1" smtClean="0">
                              <a:latin typeface="Cambria Math" panose="02040503050406030204" pitchFamily="18" charset="0"/>
                            </a:rPr>
                            <m:t>|</m:t>
                          </m:r>
                        </m:e>
                        <m:sup>
                          <m:r>
                            <a:rPr lang="en-US" altLang="zh-CN" b="1" i="1" smtClean="0">
                              <a:latin typeface="Cambria Math" panose="02040503050406030204" pitchFamily="18" charset="0"/>
                            </a:rPr>
                            <m:t>𝟐</m:t>
                          </m:r>
                        </m:sup>
                      </m:sSup>
                    </m:oMath>
                  </m:oMathPara>
                </a14:m>
                <a:endParaRPr lang="zh-CN" altLang="en-US" b="1" dirty="0">
                  <a:solidFill>
                    <a:schemeClr val="tx1"/>
                  </a:solidFill>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2263647" y="2262584"/>
                <a:ext cx="4064973" cy="568874"/>
              </a:xfrm>
              <a:prstGeom prst="rect">
                <a:avLst/>
              </a:prstGeom>
              <a:blipFill rotWithShape="0">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1155651" y="1713905"/>
                <a:ext cx="1325491" cy="369332"/>
              </a:xfrm>
              <a:prstGeom prst="rect">
                <a:avLst/>
              </a:prstGeom>
            </p:spPr>
            <p:txBody>
              <a:bodyPr wrap="none">
                <a:spAutoFit/>
              </a:bodyPr>
              <a:lstStyle/>
              <a:p>
                <a14:m>
                  <m:oMath xmlns:m="http://schemas.openxmlformats.org/officeDocument/2006/math">
                    <m:sSup>
                      <m:sSupPr>
                        <m:ctrlPr>
                          <a:rPr lang="en-US" altLang="zh-CN" i="1">
                            <a:solidFill>
                              <a:srgbClr val="FF0000"/>
                            </a:solidFill>
                            <a:latin typeface="Cambria Math" panose="02040503050406030204" pitchFamily="18" charset="0"/>
                            <a:ea typeface="微软雅黑" panose="020B0503020204020204" pitchFamily="34" charset="-122"/>
                          </a:rPr>
                        </m:ctrlPr>
                      </m:sSupPr>
                      <m:e>
                        <m:r>
                          <a:rPr lang="en-US" altLang="zh-CN" i="1">
                            <a:solidFill>
                              <a:srgbClr val="FF0000"/>
                            </a:solidFill>
                            <a:latin typeface="Cambria Math" panose="02040503050406030204" pitchFamily="18" charset="0"/>
                            <a:ea typeface="微软雅黑" panose="020B0503020204020204" pitchFamily="34" charset="-122"/>
                          </a:rPr>
                          <m:t>𝐿</m:t>
                        </m:r>
                      </m:e>
                      <m:sup>
                        <m:r>
                          <a:rPr lang="en-US" altLang="zh-CN" i="1">
                            <a:solidFill>
                              <a:srgbClr val="FF0000"/>
                            </a:solidFill>
                            <a:latin typeface="Cambria Math" panose="02040503050406030204" pitchFamily="18" charset="0"/>
                            <a:ea typeface="微软雅黑" panose="020B0503020204020204" pitchFamily="34" charset="-122"/>
                          </a:rPr>
                          <m:t>2</m:t>
                        </m:r>
                      </m:sup>
                    </m:sSup>
                  </m:oMath>
                </a14:m>
                <a:r>
                  <a:rPr lang="zh-CN" altLang="en-US" dirty="0">
                    <a:ea typeface="微软雅黑 Light" panose="020B0502040204020203" pitchFamily="34" charset="-122"/>
                  </a:rPr>
                  <a:t>正则化项</a:t>
                </a:r>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1155651" y="1713905"/>
                <a:ext cx="1325491" cy="369332"/>
              </a:xfrm>
              <a:prstGeom prst="rect">
                <a:avLst/>
              </a:prstGeom>
              <a:blipFill rotWithShape="0">
                <a:blip r:embed="rId8"/>
                <a:stretch>
                  <a:fillRect t="-9836" r="-3687" b="-22951"/>
                </a:stretch>
              </a:blipFill>
            </p:spPr>
            <p:txBody>
              <a:bodyPr/>
              <a:lstStyle/>
              <a:p>
                <a:r>
                  <a:rPr lang="zh-CN" altLang="en-US">
                    <a:noFill/>
                  </a:rPr>
                  <a:t> </a:t>
                </a:r>
              </a:p>
            </p:txBody>
          </p:sp>
        </mc:Fallback>
      </mc:AlternateContent>
      <p:sp>
        <p:nvSpPr>
          <p:cNvPr id="23" name="矩形 22"/>
          <p:cNvSpPr/>
          <p:nvPr/>
        </p:nvSpPr>
        <p:spPr>
          <a:xfrm>
            <a:off x="1143997" y="2362355"/>
            <a:ext cx="1107996" cy="369332"/>
          </a:xfrm>
          <a:prstGeom prst="rect">
            <a:avLst/>
          </a:prstGeom>
        </p:spPr>
        <p:txBody>
          <a:bodyPr wrap="none">
            <a:spAutoFit/>
          </a:bodyPr>
          <a:lstStyle/>
          <a:p>
            <a:r>
              <a:rPr lang="zh-CN" altLang="en-US" dirty="0">
                <a:ea typeface="微软雅黑 Light" panose="020B0502040204020203" pitchFamily="34" charset="-122"/>
              </a:rPr>
              <a:t>目标函数</a:t>
            </a:r>
            <a:endParaRPr lang="zh-CN" altLang="en-US" dirty="0"/>
          </a:p>
        </p:txBody>
      </p:sp>
      <mc:AlternateContent xmlns:mc="http://schemas.openxmlformats.org/markup-compatibility/2006" xmlns:a14="http://schemas.microsoft.com/office/drawing/2010/main">
        <mc:Choice Requires="a14">
          <p:sp>
            <p:nvSpPr>
              <p:cNvPr id="24" name="矩形 23"/>
              <p:cNvSpPr/>
              <p:nvPr/>
            </p:nvSpPr>
            <p:spPr>
              <a:xfrm>
                <a:off x="1136853" y="3104589"/>
                <a:ext cx="3475182" cy="369332"/>
              </a:xfrm>
              <a:prstGeom prst="rect">
                <a:avLst/>
              </a:prstGeom>
            </p:spPr>
            <p:txBody>
              <a:bodyPr wrap="none">
                <a:spAutoFit/>
              </a:bodyPr>
              <a:lstStyle/>
              <a:p>
                <a14:m>
                  <m:oMath xmlns:m="http://schemas.openxmlformats.org/officeDocument/2006/math">
                    <m:sSup>
                      <m:sSupPr>
                        <m:ctrlPr>
                          <a:rPr lang="en-US" altLang="zh-CN" i="1">
                            <a:solidFill>
                              <a:srgbClr val="FF0000"/>
                            </a:solidFill>
                            <a:latin typeface="Cambria Math" panose="02040503050406030204" pitchFamily="18" charset="0"/>
                            <a:ea typeface="微软雅黑" panose="020B0503020204020204" pitchFamily="34" charset="-122"/>
                          </a:rPr>
                        </m:ctrlPr>
                      </m:sSupPr>
                      <m:e>
                        <m:r>
                          <a:rPr lang="en-US" altLang="zh-CN" i="1">
                            <a:solidFill>
                              <a:srgbClr val="FF0000"/>
                            </a:solidFill>
                            <a:latin typeface="Cambria Math" panose="02040503050406030204" pitchFamily="18" charset="0"/>
                            <a:ea typeface="微软雅黑" panose="020B0503020204020204" pitchFamily="34" charset="-122"/>
                          </a:rPr>
                          <m:t>𝐿</m:t>
                        </m:r>
                      </m:e>
                      <m:sup>
                        <m:r>
                          <a:rPr lang="en-US" altLang="zh-CN" i="1">
                            <a:solidFill>
                              <a:srgbClr val="FF0000"/>
                            </a:solidFill>
                            <a:latin typeface="Cambria Math" panose="02040503050406030204" pitchFamily="18" charset="0"/>
                            <a:ea typeface="微软雅黑" panose="020B0503020204020204" pitchFamily="34" charset="-122"/>
                          </a:rPr>
                          <m:t>2</m:t>
                        </m:r>
                      </m:sup>
                    </m:sSup>
                  </m:oMath>
                </a14:m>
                <a:r>
                  <a:rPr lang="zh-CN" altLang="en-US" dirty="0">
                    <a:latin typeface="微软雅黑 Light" panose="020B0502040204020203" pitchFamily="34" charset="-122"/>
                    <a:ea typeface="微软雅黑 Light" panose="020B0502040204020203" pitchFamily="34" charset="-122"/>
                  </a:rPr>
                  <a:t> 正则化如何避免</a:t>
                </a:r>
                <a:r>
                  <a:rPr lang="en-US" altLang="zh-CN" dirty="0">
                    <a:latin typeface="微软雅黑 Light" panose="020B0502040204020203" pitchFamily="34" charset="-122"/>
                    <a:ea typeface="微软雅黑 Light" panose="020B0502040204020203" pitchFamily="34" charset="-122"/>
                  </a:rPr>
                  <a:t>overfitting</a:t>
                </a:r>
                <a:r>
                  <a:rPr lang="zh-CN" altLang="en-US" dirty="0">
                    <a:latin typeface="微软雅黑 Light" panose="020B0502040204020203" pitchFamily="34" charset="-122"/>
                    <a:ea typeface="微软雅黑 Light" panose="020B0502040204020203" pitchFamily="34" charset="-122"/>
                  </a:rPr>
                  <a:t>？</a:t>
                </a:r>
              </a:p>
            </p:txBody>
          </p:sp>
        </mc:Choice>
        <mc:Fallback xmlns="">
          <p:sp>
            <p:nvSpPr>
              <p:cNvPr id="24" name="矩形 23"/>
              <p:cNvSpPr>
                <a:spLocks noRot="1" noChangeAspect="1" noMove="1" noResize="1" noEditPoints="1" noAdjustHandles="1" noChangeArrowheads="1" noChangeShapeType="1" noTextEdit="1"/>
              </p:cNvSpPr>
              <p:nvPr/>
            </p:nvSpPr>
            <p:spPr>
              <a:xfrm>
                <a:off x="1136853" y="3104589"/>
                <a:ext cx="3475182" cy="369332"/>
              </a:xfrm>
              <a:prstGeom prst="rect">
                <a:avLst/>
              </a:prstGeom>
              <a:blipFill rotWithShape="0">
                <a:blip r:embed="rId9"/>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1972053" y="3552024"/>
                <a:ext cx="4064973"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m:t>
                          </m:r>
                        </m:e>
                        <m:sub>
                          <m:r>
                            <a:rPr lang="en-US" altLang="zh-CN" b="1" i="1" smtClean="0">
                              <a:solidFill>
                                <a:schemeClr val="tx1"/>
                              </a:solidFill>
                              <a:latin typeface="Cambria Math" panose="02040503050406030204" pitchFamily="18" charset="0"/>
                            </a:rPr>
                            <m:t>𝒘</m:t>
                          </m:r>
                        </m:sub>
                      </m:sSub>
                      <m:acc>
                        <m:accPr>
                          <m:chr m:val="̃"/>
                          <m:ctrlPr>
                            <a:rPr lang="zh-CN" altLang="en-US" b="1" i="1" smtClean="0">
                              <a:solidFill>
                                <a:schemeClr val="tx1"/>
                              </a:solidFill>
                              <a:latin typeface="Cambria Math" panose="02040503050406030204" pitchFamily="18" charset="0"/>
                            </a:rPr>
                          </m:ctrlPr>
                        </m:accPr>
                        <m:e>
                          <m:r>
                            <a:rPr lang="en-US" altLang="zh-CN" b="0" i="1" smtClean="0">
                              <a:solidFill>
                                <a:schemeClr val="tx1"/>
                              </a:solidFill>
                              <a:latin typeface="Cambria Math" panose="02040503050406030204" pitchFamily="18" charset="0"/>
                            </a:rPr>
                            <m:t>𝐿</m:t>
                          </m:r>
                        </m:e>
                      </m:acc>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sSub>
                        <m:sSubPr>
                          <m:ctrlPr>
                            <a:rPr lang="en-US" altLang="zh-CN" b="1" i="1">
                              <a:latin typeface="Cambria Math" panose="02040503050406030204" pitchFamily="18" charset="0"/>
                            </a:rPr>
                          </m:ctrlPr>
                        </m:sSubPr>
                        <m:e>
                          <m:r>
                            <a:rPr lang="zh-CN" altLang="en-US" b="1" i="1">
                              <a:latin typeface="Cambria Math" panose="02040503050406030204" pitchFamily="18" charset="0"/>
                            </a:rPr>
                            <m:t>𝛁</m:t>
                          </m:r>
                        </m:e>
                        <m:sub>
                          <m:r>
                            <a:rPr lang="en-US" altLang="zh-CN" b="1" i="1">
                              <a:latin typeface="Cambria Math" panose="02040503050406030204" pitchFamily="18" charset="0"/>
                            </a:rPr>
                            <m:t>𝒘</m:t>
                          </m:r>
                        </m:sub>
                      </m:sSub>
                      <m:r>
                        <a:rPr lang="en-US" altLang="zh-CN" b="0" i="1" smtClean="0">
                          <a:latin typeface="Cambria Math" panose="02040503050406030204" pitchFamily="18" charset="0"/>
                        </a:rPr>
                        <m:t>𝐿</m:t>
                      </m:r>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r>
                        <a:rPr lang="zh-CN" altLang="en-US" i="1">
                          <a:latin typeface="Cambria Math" panose="02040503050406030204" pitchFamily="18" charset="0"/>
                        </a:rPr>
                        <m:t>𝛼</m:t>
                      </m:r>
                      <m:r>
                        <a:rPr lang="en-US" altLang="zh-CN" b="1" i="1" smtClean="0">
                          <a:solidFill>
                            <a:srgbClr val="FF0000"/>
                          </a:solidFill>
                          <a:latin typeface="Cambria Math" panose="02040503050406030204" pitchFamily="18" charset="0"/>
                        </a:rPr>
                        <m:t>𝒘</m:t>
                      </m:r>
                    </m:oMath>
                  </m:oMathPara>
                </a14:m>
                <a:endParaRPr lang="zh-CN" altLang="en-US" b="1" dirty="0">
                  <a:solidFill>
                    <a:schemeClr val="tx1"/>
                  </a:solidFill>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1972053" y="3552024"/>
                <a:ext cx="4064973" cy="374270"/>
              </a:xfrm>
              <a:prstGeom prst="rect">
                <a:avLst/>
              </a:prstGeom>
              <a:blipFill>
                <a:blip r:embed="rId10"/>
                <a:stretch>
                  <a:fillRect t="-4918" b="-6557"/>
                </a:stretch>
              </a:blipFill>
            </p:spPr>
            <p:txBody>
              <a:bodyPr/>
              <a:lstStyle/>
              <a:p>
                <a:r>
                  <a:rPr lang="zh-CN" altLang="en-US">
                    <a:noFill/>
                  </a:rPr>
                  <a:t> </a:t>
                </a:r>
              </a:p>
            </p:txBody>
          </p:sp>
        </mc:Fallback>
      </mc:AlternateContent>
      <p:sp>
        <p:nvSpPr>
          <p:cNvPr id="26" name="矩形 25"/>
          <p:cNvSpPr/>
          <p:nvPr/>
        </p:nvSpPr>
        <p:spPr>
          <a:xfrm>
            <a:off x="1136853" y="4116384"/>
            <a:ext cx="2095445" cy="369332"/>
          </a:xfrm>
          <a:prstGeom prst="rect">
            <a:avLst/>
          </a:prstGeom>
        </p:spPr>
        <p:txBody>
          <a:bodyPr wrap="none">
            <a:spAutoFit/>
          </a:bodyPr>
          <a:lstStyle/>
          <a:p>
            <a:r>
              <a:rPr lang="zh-CN" altLang="en-US" dirty="0">
                <a:ea typeface="微软雅黑 Light" panose="020B0502040204020203" pitchFamily="34" charset="-122"/>
              </a:rPr>
              <a:t>单步梯度更新权重 </a:t>
            </a:r>
            <a:endParaRPr lang="zh-CN" altLang="en-US" dirty="0"/>
          </a:p>
        </p:txBody>
      </p:sp>
      <mc:AlternateContent xmlns:mc="http://schemas.openxmlformats.org/markup-compatibility/2006" xmlns:a14="http://schemas.microsoft.com/office/drawing/2010/main">
        <mc:Choice Requires="a14">
          <p:sp>
            <p:nvSpPr>
              <p:cNvPr id="27" name="文本框 26"/>
              <p:cNvSpPr txBox="1"/>
              <p:nvPr/>
            </p:nvSpPr>
            <p:spPr>
              <a:xfrm>
                <a:off x="2737956" y="4076101"/>
                <a:ext cx="40649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𝒘</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𝒘</m:t>
                      </m:r>
                      <m:r>
                        <a:rPr lang="en-US" altLang="zh-CN" b="1" i="1" smtClean="0">
                          <a:latin typeface="Cambria Math" panose="02040503050406030204" pitchFamily="18" charset="0"/>
                          <a:ea typeface="Cambria Math" panose="02040503050406030204" pitchFamily="18" charset="0"/>
                        </a:rPr>
                        <m:t>−</m:t>
                      </m:r>
                      <m:r>
                        <a:rPr lang="zh-CN" altLang="en-US" b="0" i="1">
                          <a:latin typeface="Cambria Math" panose="02040503050406030204" pitchFamily="18" charset="0"/>
                        </a:rPr>
                        <m:t>𝜂</m:t>
                      </m:r>
                      <m:r>
                        <a:rPr lang="en-US" altLang="zh-CN" b="1" i="1" smtClean="0">
                          <a:latin typeface="Cambria Math" panose="02040503050406030204" pitchFamily="18" charset="0"/>
                        </a:rPr>
                        <m:t>(</m:t>
                      </m:r>
                      <m:sSub>
                        <m:sSubPr>
                          <m:ctrlPr>
                            <a:rPr lang="en-US" altLang="zh-CN" b="1" i="1">
                              <a:latin typeface="Cambria Math" panose="02040503050406030204" pitchFamily="18" charset="0"/>
                            </a:rPr>
                          </m:ctrlPr>
                        </m:sSubPr>
                        <m:e>
                          <m:r>
                            <a:rPr lang="zh-CN" altLang="en-US" b="1" i="1">
                              <a:latin typeface="Cambria Math" panose="02040503050406030204" pitchFamily="18" charset="0"/>
                            </a:rPr>
                            <m:t>𝛁</m:t>
                          </m:r>
                        </m:e>
                        <m:sub>
                          <m:r>
                            <a:rPr lang="en-US" altLang="zh-CN" b="1" i="1">
                              <a:latin typeface="Cambria Math" panose="02040503050406030204" pitchFamily="18" charset="0"/>
                            </a:rPr>
                            <m:t>𝒘</m:t>
                          </m:r>
                        </m:sub>
                      </m:sSub>
                      <m:r>
                        <a:rPr lang="en-US" altLang="zh-CN" b="0" i="1" smtClean="0">
                          <a:latin typeface="Cambria Math" panose="02040503050406030204" pitchFamily="18" charset="0"/>
                        </a:rPr>
                        <m:t>𝐿</m:t>
                      </m:r>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r>
                        <a:rPr lang="zh-CN" altLang="en-US" i="1">
                          <a:latin typeface="Cambria Math" panose="02040503050406030204" pitchFamily="18" charset="0"/>
                        </a:rPr>
                        <m:t>𝛼</m:t>
                      </m:r>
                      <m:r>
                        <a:rPr lang="en-US" altLang="zh-CN" b="1" i="1" smtClean="0">
                          <a:solidFill>
                            <a:srgbClr val="FF0000"/>
                          </a:solidFill>
                          <a:latin typeface="Cambria Math" panose="02040503050406030204" pitchFamily="18" charset="0"/>
                        </a:rPr>
                        <m:t>𝒘</m:t>
                      </m:r>
                      <m:r>
                        <a:rPr lang="en-US" altLang="zh-CN" b="1" i="1" smtClean="0">
                          <a:latin typeface="Cambria Math" panose="02040503050406030204" pitchFamily="18" charset="0"/>
                        </a:rPr>
                        <m:t>)</m:t>
                      </m:r>
                    </m:oMath>
                  </m:oMathPara>
                </a14:m>
                <a:endParaRPr lang="zh-CN" altLang="en-US" b="1" dirty="0">
                  <a:solidFill>
                    <a:schemeClr val="tx1"/>
                  </a:solidFill>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2737956" y="4076101"/>
                <a:ext cx="4064973" cy="369332"/>
              </a:xfrm>
              <a:prstGeom prst="rect">
                <a:avLst/>
              </a:prstGeom>
              <a:blipFill>
                <a:blip r:embed="rId11"/>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p:cNvSpPr txBox="1"/>
              <p:nvPr/>
            </p:nvSpPr>
            <p:spPr>
              <a:xfrm>
                <a:off x="2737956" y="4646889"/>
                <a:ext cx="40649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𝒘</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𝟏</m:t>
                      </m:r>
                      <m:r>
                        <a:rPr lang="en-US" altLang="zh-CN" b="1" i="1" smtClean="0">
                          <a:latin typeface="Cambria Math" panose="02040503050406030204" pitchFamily="18" charset="0"/>
                          <a:ea typeface="Cambria Math" panose="02040503050406030204" pitchFamily="18" charset="0"/>
                        </a:rPr>
                        <m:t>−</m:t>
                      </m:r>
                      <m:r>
                        <a:rPr lang="zh-CN" altLang="en-US" i="1">
                          <a:latin typeface="Cambria Math" panose="02040503050406030204" pitchFamily="18" charset="0"/>
                        </a:rPr>
                        <m:t>𝜂𝛼</m:t>
                      </m:r>
                      <m:r>
                        <a:rPr lang="en-US" altLang="zh-CN" b="1" i="1" smtClean="0">
                          <a:latin typeface="Cambria Math" panose="02040503050406030204" pitchFamily="18" charset="0"/>
                          <a:ea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𝒘</m:t>
                      </m:r>
                      <m:r>
                        <a:rPr lang="en-US" altLang="zh-CN" b="1" i="1" smtClean="0">
                          <a:latin typeface="Cambria Math" panose="02040503050406030204" pitchFamily="18" charset="0"/>
                          <a:ea typeface="Cambria Math" panose="02040503050406030204" pitchFamily="18" charset="0"/>
                        </a:rPr>
                        <m:t>−</m:t>
                      </m:r>
                      <m:sSub>
                        <m:sSubPr>
                          <m:ctrlPr>
                            <a:rPr lang="en-US" altLang="zh-CN" b="1" i="1">
                              <a:latin typeface="Cambria Math" panose="02040503050406030204" pitchFamily="18" charset="0"/>
                            </a:rPr>
                          </m:ctrlPr>
                        </m:sSubPr>
                        <m:e>
                          <m:r>
                            <a:rPr lang="zh-CN" altLang="en-US" b="0" i="1">
                              <a:latin typeface="Cambria Math" panose="02040503050406030204" pitchFamily="18" charset="0"/>
                            </a:rPr>
                            <m:t>𝜂</m:t>
                          </m:r>
                          <m:r>
                            <a:rPr lang="zh-CN" altLang="en-US" b="1" i="1">
                              <a:latin typeface="Cambria Math" panose="02040503050406030204" pitchFamily="18" charset="0"/>
                            </a:rPr>
                            <m:t>𝛁</m:t>
                          </m:r>
                        </m:e>
                        <m:sub>
                          <m:r>
                            <a:rPr lang="en-US" altLang="zh-CN" b="1" i="1">
                              <a:latin typeface="Cambria Math" panose="02040503050406030204" pitchFamily="18" charset="0"/>
                            </a:rPr>
                            <m:t>𝒘</m:t>
                          </m:r>
                        </m:sub>
                      </m:sSub>
                      <m:r>
                        <a:rPr lang="en-US" altLang="zh-CN" b="0" i="1" smtClean="0">
                          <a:latin typeface="Cambria Math" panose="02040503050406030204" pitchFamily="18" charset="0"/>
                        </a:rPr>
                        <m:t>𝐿</m:t>
                      </m:r>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oMath>
                  </m:oMathPara>
                </a14:m>
                <a:endParaRPr lang="zh-CN" altLang="en-US" b="1" dirty="0">
                  <a:solidFill>
                    <a:schemeClr val="tx1"/>
                  </a:solidFill>
                </a:endParaRPr>
              </a:p>
            </p:txBody>
          </p:sp>
        </mc:Choice>
        <mc:Fallback xmlns="">
          <p:sp>
            <p:nvSpPr>
              <p:cNvPr id="28" name="文本框 27"/>
              <p:cNvSpPr txBox="1">
                <a:spLocks noRot="1" noChangeAspect="1" noMove="1" noResize="1" noEditPoints="1" noAdjustHandles="1" noChangeArrowheads="1" noChangeShapeType="1" noTextEdit="1"/>
              </p:cNvSpPr>
              <p:nvPr/>
            </p:nvSpPr>
            <p:spPr>
              <a:xfrm>
                <a:off x="2737956" y="4646889"/>
                <a:ext cx="4064973" cy="369332"/>
              </a:xfrm>
              <a:prstGeom prst="rect">
                <a:avLst/>
              </a:prstGeom>
              <a:blipFill>
                <a:blip r:embed="rId12"/>
                <a:stretch>
                  <a:fillRect b="-13115"/>
                </a:stretch>
              </a:blipFill>
            </p:spPr>
            <p:txBody>
              <a:bodyPr/>
              <a:lstStyle/>
              <a:p>
                <a:r>
                  <a:rPr lang="zh-CN" altLang="en-US">
                    <a:noFill/>
                  </a:rPr>
                  <a:t> </a:t>
                </a:r>
              </a:p>
            </p:txBody>
          </p:sp>
        </mc:Fallback>
      </mc:AlternateContent>
      <p:grpSp>
        <p:nvGrpSpPr>
          <p:cNvPr id="30" name="组合 29"/>
          <p:cNvGrpSpPr/>
          <p:nvPr/>
        </p:nvGrpSpPr>
        <p:grpSpPr>
          <a:xfrm>
            <a:off x="5880106" y="1046290"/>
            <a:ext cx="3689152" cy="2110228"/>
            <a:chOff x="4284607" y="1856743"/>
            <a:chExt cx="3689152" cy="2110228"/>
          </a:xfrm>
        </p:grpSpPr>
        <p:grpSp>
          <p:nvGrpSpPr>
            <p:cNvPr id="31" name="组合 30"/>
            <p:cNvGrpSpPr/>
            <p:nvPr/>
          </p:nvGrpSpPr>
          <p:grpSpPr>
            <a:xfrm>
              <a:off x="4284607" y="1856743"/>
              <a:ext cx="3689152" cy="2110228"/>
              <a:chOff x="666824" y="1852930"/>
              <a:chExt cx="3689152" cy="2110228"/>
            </a:xfrm>
          </p:grpSpPr>
          <p:grpSp>
            <p:nvGrpSpPr>
              <p:cNvPr id="35" name="组合 34"/>
              <p:cNvGrpSpPr/>
              <p:nvPr/>
            </p:nvGrpSpPr>
            <p:grpSpPr>
              <a:xfrm>
                <a:off x="666824" y="1852930"/>
                <a:ext cx="3689152" cy="2110228"/>
                <a:chOff x="4771280" y="3385241"/>
                <a:chExt cx="3689152" cy="2110228"/>
              </a:xfrm>
            </p:grpSpPr>
            <p:grpSp>
              <p:nvGrpSpPr>
                <p:cNvPr id="41" name="组合 40"/>
                <p:cNvGrpSpPr/>
                <p:nvPr/>
              </p:nvGrpSpPr>
              <p:grpSpPr>
                <a:xfrm>
                  <a:off x="4771280" y="3385241"/>
                  <a:ext cx="3689152" cy="2110228"/>
                  <a:chOff x="4086241" y="2727574"/>
                  <a:chExt cx="3689152" cy="2110228"/>
                </a:xfrm>
              </p:grpSpPr>
              <p:cxnSp>
                <p:nvCxnSpPr>
                  <p:cNvPr id="43" name="直接箭头连接符 42"/>
                  <p:cNvCxnSpPr/>
                  <p:nvPr/>
                </p:nvCxnSpPr>
                <p:spPr>
                  <a:xfrm flipV="1">
                    <a:off x="4397841" y="4653136"/>
                    <a:ext cx="2960757" cy="24940"/>
                  </a:xfrm>
                  <a:prstGeom prst="straightConnector1">
                    <a:avLst/>
                  </a:prstGeom>
                  <a:noFill/>
                  <a:ln w="28575" cap="flat" cmpd="sng">
                    <a:solidFill>
                      <a:schemeClr val="tx1"/>
                    </a:solidFill>
                    <a:prstDash val="solid"/>
                    <a:round/>
                    <a:headEnd/>
                    <a:tailEnd type="triangle"/>
                  </a:ln>
                  <a:effectLst/>
                </p:spPr>
              </p:cxnSp>
              <p:cxnSp>
                <p:nvCxnSpPr>
                  <p:cNvPr id="44" name="直接箭头连接符 43"/>
                  <p:cNvCxnSpPr/>
                  <p:nvPr/>
                </p:nvCxnSpPr>
                <p:spPr>
                  <a:xfrm flipV="1">
                    <a:off x="4397841" y="2727574"/>
                    <a:ext cx="0" cy="1961566"/>
                  </a:xfrm>
                  <a:prstGeom prst="straightConnector1">
                    <a:avLst/>
                  </a:prstGeom>
                  <a:noFill/>
                  <a:ln w="28575" cap="flat" cmpd="sng">
                    <a:solidFill>
                      <a:schemeClr val="tx1"/>
                    </a:solidFill>
                    <a:prstDash val="solid"/>
                    <a:round/>
                    <a:headEnd/>
                    <a:tailEnd type="triangle"/>
                  </a:ln>
                  <a:effectLst/>
                </p:spPr>
              </p:cxnSp>
              <p:sp>
                <p:nvSpPr>
                  <p:cNvPr id="45" name="文本框 44"/>
                  <p:cNvSpPr txBox="1"/>
                  <p:nvPr/>
                </p:nvSpPr>
                <p:spPr>
                  <a:xfrm>
                    <a:off x="7271337" y="4468470"/>
                    <a:ext cx="504056" cy="369332"/>
                  </a:xfrm>
                  <a:prstGeom prst="rect">
                    <a:avLst/>
                  </a:prstGeom>
                  <a:noFill/>
                </p:spPr>
                <p:txBody>
                  <a:bodyPr wrap="square" rtlCol="0">
                    <a:spAutoFit/>
                  </a:bodyPr>
                  <a:lstStyle/>
                  <a:p>
                    <a:r>
                      <a:rPr lang="en-US" altLang="zh-CN" dirty="0">
                        <a:latin typeface="微软雅黑 Light" panose="020B0502040204020203" pitchFamily="34" charset="-122"/>
                        <a:ea typeface="微软雅黑 Light" panose="020B0502040204020203" pitchFamily="34" charset="-122"/>
                      </a:rPr>
                      <a:t>x1</a:t>
                    </a:r>
                    <a:endParaRPr lang="zh-CN" altLang="en-US" dirty="0">
                      <a:latin typeface="微软雅黑 Light" panose="020B0502040204020203" pitchFamily="34" charset="-122"/>
                      <a:ea typeface="微软雅黑 Light" panose="020B0502040204020203" pitchFamily="34" charset="-122"/>
                    </a:endParaRPr>
                  </a:p>
                </p:txBody>
              </p:sp>
              <p:sp>
                <p:nvSpPr>
                  <p:cNvPr id="46" name="文本框 45"/>
                  <p:cNvSpPr txBox="1"/>
                  <p:nvPr/>
                </p:nvSpPr>
                <p:spPr>
                  <a:xfrm>
                    <a:off x="4086241" y="2727574"/>
                    <a:ext cx="345910" cy="369332"/>
                  </a:xfrm>
                  <a:prstGeom prst="rect">
                    <a:avLst/>
                  </a:prstGeom>
                  <a:noFill/>
                </p:spPr>
                <p:txBody>
                  <a:bodyPr wrap="square" rtlCol="0">
                    <a:spAutoFit/>
                  </a:bodyPr>
                  <a:lstStyle/>
                  <a:p>
                    <a:r>
                      <a:rPr lang="en-US" altLang="zh-CN" dirty="0"/>
                      <a:t>y</a:t>
                    </a:r>
                    <a:endParaRPr lang="zh-CN" altLang="en-US" dirty="0"/>
                  </a:p>
                </p:txBody>
              </p:sp>
            </p:grpSp>
            <p:sp>
              <p:nvSpPr>
                <p:cNvPr id="42" name="椭圆 41"/>
                <p:cNvSpPr/>
                <p:nvPr/>
              </p:nvSpPr>
              <p:spPr>
                <a:xfrm>
                  <a:off x="5868144" y="4521709"/>
                  <a:ext cx="93928" cy="10519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椭圆 35"/>
              <p:cNvSpPr/>
              <p:nvPr/>
            </p:nvSpPr>
            <p:spPr>
              <a:xfrm>
                <a:off x="3059832" y="2037596"/>
                <a:ext cx="93928" cy="10519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2463423" y="2193897"/>
                <a:ext cx="93928" cy="10519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669760" y="3419674"/>
                <a:ext cx="93928" cy="10519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979712" y="2445033"/>
                <a:ext cx="93928" cy="10519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2748232" y="1967064"/>
                <a:ext cx="93928" cy="105196"/>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任意多边形 31"/>
            <p:cNvSpPr/>
            <p:nvPr/>
          </p:nvSpPr>
          <p:spPr>
            <a:xfrm>
              <a:off x="4779818" y="1985613"/>
              <a:ext cx="2508380" cy="1608439"/>
            </a:xfrm>
            <a:custGeom>
              <a:avLst/>
              <a:gdLst>
                <a:gd name="connsiteX0" fmla="*/ 0 w 2508380"/>
                <a:gd name="connsiteY0" fmla="*/ 1214787 h 1608439"/>
                <a:gd name="connsiteX1" fmla="*/ 839586 w 2508380"/>
                <a:gd name="connsiteY1" fmla="*/ 1605485 h 1608439"/>
                <a:gd name="connsiteX2" fmla="*/ 656706 w 2508380"/>
                <a:gd name="connsiteY2" fmla="*/ 1031907 h 1608439"/>
                <a:gd name="connsiteX3" fmla="*/ 640080 w 2508380"/>
                <a:gd name="connsiteY3" fmla="*/ 574707 h 1608439"/>
                <a:gd name="connsiteX4" fmla="*/ 1346662 w 2508380"/>
                <a:gd name="connsiteY4" fmla="*/ 441703 h 1608439"/>
                <a:gd name="connsiteX5" fmla="*/ 1354975 w 2508380"/>
                <a:gd name="connsiteY5" fmla="*/ 258823 h 1608439"/>
                <a:gd name="connsiteX6" fmla="*/ 1645920 w 2508380"/>
                <a:gd name="connsiteY6" fmla="*/ 1129 h 1608439"/>
                <a:gd name="connsiteX7" fmla="*/ 2419004 w 2508380"/>
                <a:gd name="connsiteY7" fmla="*/ 366889 h 1608439"/>
                <a:gd name="connsiteX8" fmla="*/ 2460567 w 2508380"/>
                <a:gd name="connsiteY8" fmla="*/ 383514 h 160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380" h="1608439">
                  <a:moveTo>
                    <a:pt x="0" y="1214787"/>
                  </a:moveTo>
                  <a:cubicBezTo>
                    <a:pt x="365067" y="1425376"/>
                    <a:pt x="730135" y="1635965"/>
                    <a:pt x="839586" y="1605485"/>
                  </a:cubicBezTo>
                  <a:cubicBezTo>
                    <a:pt x="949037" y="1575005"/>
                    <a:pt x="689957" y="1203703"/>
                    <a:pt x="656706" y="1031907"/>
                  </a:cubicBezTo>
                  <a:cubicBezTo>
                    <a:pt x="623455" y="860111"/>
                    <a:pt x="525087" y="673074"/>
                    <a:pt x="640080" y="574707"/>
                  </a:cubicBezTo>
                  <a:cubicBezTo>
                    <a:pt x="755073" y="476340"/>
                    <a:pt x="1227513" y="494350"/>
                    <a:pt x="1346662" y="441703"/>
                  </a:cubicBezTo>
                  <a:cubicBezTo>
                    <a:pt x="1465811" y="389056"/>
                    <a:pt x="1305099" y="332252"/>
                    <a:pt x="1354975" y="258823"/>
                  </a:cubicBezTo>
                  <a:cubicBezTo>
                    <a:pt x="1404851" y="185394"/>
                    <a:pt x="1468582" y="-16882"/>
                    <a:pt x="1645920" y="1129"/>
                  </a:cubicBezTo>
                  <a:cubicBezTo>
                    <a:pt x="1823258" y="19140"/>
                    <a:pt x="2283230" y="303158"/>
                    <a:pt x="2419004" y="366889"/>
                  </a:cubicBezTo>
                  <a:cubicBezTo>
                    <a:pt x="2554778" y="430620"/>
                    <a:pt x="2507672" y="407067"/>
                    <a:pt x="2460567" y="38351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5767449" y="2703395"/>
              <a:ext cx="1399943" cy="415498"/>
            </a:xfrm>
            <a:prstGeom prst="rect">
              <a:avLst/>
            </a:prstGeom>
          </p:spPr>
          <p:txBody>
            <a:bodyPr wrap="square">
              <a:spAutoFit/>
            </a:bodyPr>
            <a:lstStyle/>
            <a:p>
              <a:r>
                <a:rPr lang="zh-CN" altLang="en-US" sz="1050" kern="0" dirty="0">
                  <a:solidFill>
                    <a:srgbClr val="000000"/>
                  </a:solidFill>
                  <a:ea typeface="微软雅黑 Light" panose="020B0502040204020203" pitchFamily="34" charset="-122"/>
                </a:rPr>
                <a:t>过拟合时某些区间里面的导数值非常大</a:t>
              </a:r>
              <a:endParaRPr lang="zh-CN" altLang="en-US" sz="1050" dirty="0"/>
            </a:p>
          </p:txBody>
        </p:sp>
      </p:grpSp>
      <p:cxnSp>
        <p:nvCxnSpPr>
          <p:cNvPr id="47" name="直接连接符 46"/>
          <p:cNvCxnSpPr/>
          <p:nvPr/>
        </p:nvCxnSpPr>
        <p:spPr>
          <a:xfrm flipH="1">
            <a:off x="6903792" y="1637711"/>
            <a:ext cx="94615" cy="373818"/>
          </a:xfrm>
          <a:prstGeom prst="line">
            <a:avLst/>
          </a:prstGeom>
          <a:noFill/>
          <a:ln w="15875" cap="flat" cmpd="sng">
            <a:solidFill>
              <a:srgbClr val="FF0000"/>
            </a:solidFill>
            <a:prstDash val="solid"/>
            <a:round/>
            <a:headEnd/>
            <a:tailEnd/>
          </a:ln>
          <a:effectLst/>
        </p:spPr>
      </p:cxnSp>
      <p:cxnSp>
        <p:nvCxnSpPr>
          <p:cNvPr id="48" name="直接连接符 47"/>
          <p:cNvCxnSpPr/>
          <p:nvPr/>
        </p:nvCxnSpPr>
        <p:spPr>
          <a:xfrm>
            <a:off x="6551720" y="2547665"/>
            <a:ext cx="820972" cy="372730"/>
          </a:xfrm>
          <a:prstGeom prst="line">
            <a:avLst/>
          </a:prstGeom>
          <a:noFill/>
          <a:ln w="15875" cap="flat" cmpd="sng">
            <a:solidFill>
              <a:srgbClr val="FF0000"/>
            </a:solidFill>
            <a:prstDash val="solid"/>
            <a:round/>
            <a:headEnd/>
            <a:tailEnd/>
          </a:ln>
          <a:effectLst/>
        </p:spPr>
      </p:cxnSp>
      <p:cxnSp>
        <p:nvCxnSpPr>
          <p:cNvPr id="49" name="直接连接符 48"/>
          <p:cNvCxnSpPr/>
          <p:nvPr/>
        </p:nvCxnSpPr>
        <p:spPr>
          <a:xfrm flipH="1">
            <a:off x="7691313" y="1005112"/>
            <a:ext cx="371607" cy="371856"/>
          </a:xfrm>
          <a:prstGeom prst="line">
            <a:avLst/>
          </a:prstGeom>
          <a:noFill/>
          <a:ln w="15875" cap="flat" cmpd="sng">
            <a:solidFill>
              <a:srgbClr val="FF0000"/>
            </a:solidFill>
            <a:prstDash val="solid"/>
            <a:round/>
            <a:headEnd/>
            <a:tailEnd/>
          </a:ln>
          <a:effectLst/>
        </p:spPr>
      </p:cxnSp>
      <p:sp>
        <p:nvSpPr>
          <p:cNvPr id="50" name="下箭头 49"/>
          <p:cNvSpPr/>
          <p:nvPr/>
        </p:nvSpPr>
        <p:spPr>
          <a:xfrm>
            <a:off x="7826576" y="3254848"/>
            <a:ext cx="284809" cy="349697"/>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1" name="矩形 50"/>
              <p:cNvSpPr/>
              <p:nvPr/>
            </p:nvSpPr>
            <p:spPr>
              <a:xfrm>
                <a:off x="6836719" y="3921359"/>
                <a:ext cx="2499772" cy="1200329"/>
              </a:xfrm>
              <a:prstGeom prst="rect">
                <a:avLst/>
              </a:prstGeom>
            </p:spPr>
            <p:txBody>
              <a:bodyPr wrap="square">
                <a:spAutoFit/>
              </a:bodyPr>
              <a:lstStyle/>
              <a:p>
                <a:pPr>
                  <a:lnSpc>
                    <a:spcPct val="150000"/>
                  </a:lnSpc>
                </a:pPr>
                <a:r>
                  <a:rPr lang="zh-CN" altLang="en-US" sz="1600" dirty="0">
                    <a:latin typeface="微软雅黑 Light" panose="020B0502040204020203" pitchFamily="34" charset="-122"/>
                    <a:ea typeface="微软雅黑 Light" panose="020B0502040204020203" pitchFamily="34" charset="-122"/>
                  </a:rPr>
                  <a:t>通过</a:t>
                </a:r>
                <a14:m>
                  <m:oMath xmlns:m="http://schemas.openxmlformats.org/officeDocument/2006/math">
                    <m:sSup>
                      <m:sSupPr>
                        <m:ctrlPr>
                          <a:rPr lang="en-US" altLang="zh-CN" sz="1600" i="1">
                            <a:solidFill>
                              <a:srgbClr val="FF0000"/>
                            </a:solidFill>
                            <a:latin typeface="Cambria Math" panose="02040503050406030204" pitchFamily="18" charset="0"/>
                            <a:ea typeface="微软雅黑" panose="020B0503020204020204" pitchFamily="34" charset="-122"/>
                          </a:rPr>
                        </m:ctrlPr>
                      </m:sSupPr>
                      <m:e>
                        <m:r>
                          <a:rPr lang="en-US" altLang="zh-CN" sz="1600" i="1">
                            <a:solidFill>
                              <a:srgbClr val="FF0000"/>
                            </a:solidFill>
                            <a:latin typeface="Cambria Math" panose="02040503050406030204" pitchFamily="18" charset="0"/>
                            <a:ea typeface="微软雅黑" panose="020B0503020204020204" pitchFamily="34" charset="-122"/>
                          </a:rPr>
                          <m:t>𝐿</m:t>
                        </m:r>
                      </m:e>
                      <m:sup>
                        <m:r>
                          <a:rPr lang="en-US" altLang="zh-CN" sz="1600" i="1">
                            <a:solidFill>
                              <a:srgbClr val="FF0000"/>
                            </a:solidFill>
                            <a:latin typeface="Cambria Math" panose="02040503050406030204" pitchFamily="18" charset="0"/>
                            <a:ea typeface="微软雅黑" panose="020B0503020204020204" pitchFamily="34" charset="-122"/>
                          </a:rPr>
                          <m:t>2</m:t>
                        </m:r>
                      </m:sup>
                    </m:sSup>
                  </m:oMath>
                </a14:m>
                <a:r>
                  <a:rPr lang="zh-CN" altLang="en-US" sz="1600" dirty="0">
                    <a:latin typeface="微软雅黑 Light" panose="020B0502040204020203" pitchFamily="34" charset="-122"/>
                    <a:ea typeface="微软雅黑 Light" panose="020B0502040204020203" pitchFamily="34" charset="-122"/>
                  </a:rPr>
                  <a:t>正则化后，</a:t>
                </a:r>
                <a:r>
                  <a:rPr lang="en-US" altLang="zh-CN" sz="1600" dirty="0">
                    <a:latin typeface="微软雅黑 Light" panose="020B0502040204020203" pitchFamily="34" charset="-122"/>
                    <a:ea typeface="微软雅黑 Light" panose="020B0502040204020203" pitchFamily="34" charset="-122"/>
                  </a:rPr>
                  <a:t>w</a:t>
                </a:r>
                <a:r>
                  <a:rPr lang="zh-CN" altLang="en-US" sz="1600" dirty="0">
                    <a:latin typeface="微软雅黑 Light" panose="020B0502040204020203" pitchFamily="34" charset="-122"/>
                    <a:ea typeface="微软雅黑 Light" panose="020B0502040204020203" pitchFamily="34" charset="-122"/>
                  </a:rPr>
                  <a:t>权重值变小，网络的复杂度降低，对数据拟合的也更好。</a:t>
                </a:r>
              </a:p>
            </p:txBody>
          </p:sp>
        </mc:Choice>
        <mc:Fallback xmlns="">
          <p:sp>
            <p:nvSpPr>
              <p:cNvPr id="51" name="矩形 50"/>
              <p:cNvSpPr>
                <a:spLocks noRot="1" noChangeAspect="1" noMove="1" noResize="1" noEditPoints="1" noAdjustHandles="1" noChangeArrowheads="1" noChangeShapeType="1" noTextEdit="1"/>
              </p:cNvSpPr>
              <p:nvPr/>
            </p:nvSpPr>
            <p:spPr>
              <a:xfrm>
                <a:off x="6836719" y="3921359"/>
                <a:ext cx="2499772" cy="1200329"/>
              </a:xfrm>
              <a:prstGeom prst="rect">
                <a:avLst/>
              </a:prstGeom>
              <a:blipFill rotWithShape="0">
                <a:blip r:embed="rId13"/>
                <a:stretch>
                  <a:fillRect l="-1463" r="-6098" b="-2030"/>
                </a:stretch>
              </a:blipFill>
            </p:spPr>
            <p:txBody>
              <a:bodyPr/>
              <a:lstStyle/>
              <a:p>
                <a:r>
                  <a:rPr lang="zh-CN" altLang="en-US">
                    <a:noFill/>
                  </a:rPr>
                  <a:t> </a:t>
                </a:r>
              </a:p>
            </p:txBody>
          </p:sp>
        </mc:Fallback>
      </mc:AlternateContent>
      <p:sp>
        <p:nvSpPr>
          <p:cNvPr id="2" name="矩形 1"/>
          <p:cNvSpPr/>
          <p:nvPr/>
        </p:nvSpPr>
        <p:spPr>
          <a:xfrm>
            <a:off x="468453" y="5192967"/>
            <a:ext cx="11431360" cy="1200329"/>
          </a:xfrm>
          <a:prstGeom prst="rect">
            <a:avLst/>
          </a:prstGeom>
        </p:spPr>
        <p:txBody>
          <a:bodyPr wrap="square">
            <a:spAutoFit/>
          </a:bodyPr>
          <a:lstStyle/>
          <a:p>
            <a:pPr>
              <a:defRPr/>
            </a:pPr>
            <a:r>
              <a:rPr lang="zh-CN" altLang="zh-CN" dirty="0"/>
              <a:t>我们希望避免有些情况，过拟合的时候某些区间里面的导数值非常大，特别不平滑。这个扭的特别厉害，我们觉得不够光滑，觉得这种可能不太好。我们可以加一加</a:t>
            </a:r>
            <a:r>
              <a:rPr lang="en-US" altLang="zh-CN" dirty="0"/>
              <a:t>L2</a:t>
            </a:r>
            <a:r>
              <a:rPr lang="zh-CN" altLang="zh-CN" dirty="0"/>
              <a:t>正则化的项，实际上就是</a:t>
            </a:r>
            <a:r>
              <a:rPr lang="en-US" altLang="zh-CN" dirty="0"/>
              <a:t>w</a:t>
            </a:r>
            <a:r>
              <a:rPr lang="zh-CN" altLang="zh-CN" dirty="0"/>
              <a:t>平方的和，ω这个东西，就是</a:t>
            </a:r>
            <a:r>
              <a:rPr lang="en-US" altLang="zh-CN" dirty="0"/>
              <a:t>w</a:t>
            </a:r>
            <a:r>
              <a:rPr lang="zh-CN" altLang="zh-CN" dirty="0"/>
              <a:t>平方的和。把这个东西加进去就可以很好的避免一些过拟合。因为像这个里面当我们去算梯度的时候，</a:t>
            </a:r>
            <a:r>
              <a:rPr lang="en-US" altLang="zh-CN" dirty="0"/>
              <a:t>w</a:t>
            </a:r>
            <a:r>
              <a:rPr lang="zh-CN" altLang="zh-CN" dirty="0"/>
              <a:t>就会变成我们梯度的一部分，我们希望这个</a:t>
            </a:r>
            <a:r>
              <a:rPr lang="en-US" altLang="zh-CN" dirty="0"/>
              <a:t>w</a:t>
            </a:r>
            <a:r>
              <a:rPr lang="zh-CN" altLang="zh-CN" dirty="0"/>
              <a:t>比较小，这样我们每个</a:t>
            </a:r>
            <a:r>
              <a:rPr lang="en-US" altLang="zh-CN" dirty="0"/>
              <a:t>w</a:t>
            </a:r>
            <a:r>
              <a:rPr lang="zh-CN" altLang="zh-CN" dirty="0"/>
              <a:t>都会变小，拐弯的幅度也会变小。</a:t>
            </a:r>
            <a:endParaRPr lang="zh-CN" altLang="en-US" dirty="0"/>
          </a:p>
        </p:txBody>
      </p:sp>
      <p:pic>
        <p:nvPicPr>
          <p:cNvPr id="53" name="图片 52"/>
          <p:cNvPicPr>
            <a:picLocks noChangeAspect="1"/>
          </p:cNvPicPr>
          <p:nvPr/>
        </p:nvPicPr>
        <p:blipFill>
          <a:blip r:embed="rId14"/>
          <a:stretch>
            <a:fillRect/>
          </a:stretch>
        </p:blipFill>
        <p:spPr>
          <a:xfrm>
            <a:off x="1690498" y="6538325"/>
            <a:ext cx="8810625" cy="319676"/>
          </a:xfrm>
          <a:prstGeom prst="rect">
            <a:avLst/>
          </a:prstGeom>
        </p:spPr>
      </p:pic>
      <p:sp>
        <p:nvSpPr>
          <p:cNvPr id="54" name="灯片编号占位符 8">
            <a:extLst>
              <a:ext uri="{FF2B5EF4-FFF2-40B4-BE49-F238E27FC236}">
                <a16:creationId xmlns:a16="http://schemas.microsoft.com/office/drawing/2014/main" id="{DF481712-FCA4-4A41-857F-98495D6E3E87}"/>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66</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0574750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mc:AlternateContent xmlns:mc="http://schemas.openxmlformats.org/markup-compatibility/2006" xmlns:a14="http://schemas.microsoft.com/office/drawing/2010/main">
        <mc:Choice Requires="a14">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14:m>
                  <m:oMath xmlns:m="http://schemas.openxmlformats.org/officeDocument/2006/math">
                    <m:sSup>
                      <m:sSupPr>
                        <m:ctrlPr>
                          <a:rPr lang="en-US" altLang="zh-CN" sz="2600" i="1" smtClean="0">
                            <a:solidFill>
                              <a:schemeClr val="tx1"/>
                            </a:solidFill>
                            <a:latin typeface="Cambria Math" panose="02040503050406030204" pitchFamily="18" charset="0"/>
                          </a:rPr>
                        </m:ctrlPr>
                      </m:sSupPr>
                      <m:e>
                        <m:r>
                          <a:rPr lang="en-US" altLang="zh-CN" sz="2600" i="1">
                            <a:solidFill>
                              <a:schemeClr val="tx1"/>
                            </a:solidFill>
                            <a:latin typeface="Cambria Math" panose="02040503050406030204" pitchFamily="18" charset="0"/>
                          </a:rPr>
                          <m:t>𝐿</m:t>
                        </m:r>
                      </m:e>
                      <m:sup>
                        <m:r>
                          <a:rPr lang="en-US" altLang="zh-CN" sz="2600" b="0" i="1" smtClean="0">
                            <a:solidFill>
                              <a:schemeClr val="tx1"/>
                            </a:solidFill>
                            <a:latin typeface="Cambria Math" panose="02040503050406030204" pitchFamily="18" charset="0"/>
                          </a:rPr>
                          <m:t>1</m:t>
                        </m:r>
                      </m:sup>
                    </m:sSup>
                  </m:oMath>
                </a14:m>
                <a:r>
                  <a:rPr lang="zh-CN" altLang="en-US" sz="2600" dirty="0">
                    <a:solidFill>
                      <a:schemeClr val="tx1"/>
                    </a:solidFill>
                    <a:latin typeface="微软雅黑" panose="020B0503020204020204" pitchFamily="34" charset="-122"/>
                    <a:ea typeface="微软雅黑" panose="020B0503020204020204" pitchFamily="34" charset="-122"/>
                  </a:rPr>
                  <a:t>正则化</a:t>
                </a:r>
                <a:endParaRPr lang="en-US" altLang="zh-CN" sz="2600" b="1" dirty="0">
                  <a:solidFill>
                    <a:schemeClr val="tx1"/>
                  </a:solidFill>
                </a:endParaRPr>
              </a:p>
            </p:txBody>
          </p:sp>
        </mc:Choice>
        <mc:Fallback xmlns="">
          <p:sp>
            <p:nvSpPr>
              <p:cNvPr id="33" name="内容占位符 2"/>
              <p:cNvSpPr txBox="1">
                <a:spLocks noRot="1" noChangeAspect="1" noMove="1" noResize="1" noEditPoints="1" noAdjustHandles="1" noChangeArrowheads="1" noChangeShapeType="1" noTextEdit="1"/>
              </p:cNvSpPr>
              <p:nvPr/>
            </p:nvSpPr>
            <p:spPr>
              <a:xfrm>
                <a:off x="293722" y="691951"/>
                <a:ext cx="11637087" cy="742954"/>
              </a:xfrm>
              <a:prstGeom prst="rect">
                <a:avLst/>
              </a:prstGeom>
              <a:blipFill rotWithShape="0">
                <a:blip r:embed="rId5"/>
                <a:stretch>
                  <a:fillRect l="-786" b="-41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p:cNvSpPr txBox="1"/>
              <p:nvPr/>
            </p:nvSpPr>
            <p:spPr>
              <a:xfrm>
                <a:off x="2996164" y="2119269"/>
                <a:ext cx="3128868" cy="7693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CN" altLang="en-US" b="1" i="1" smtClean="0">
                          <a:solidFill>
                            <a:schemeClr val="tx1"/>
                          </a:solidFill>
                          <a:latin typeface="Cambria Math" panose="02040503050406030204" pitchFamily="18" charset="0"/>
                        </a:rPr>
                        <m:t>𝛀</m:t>
                      </m:r>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e>
                      </m:d>
                      <m:r>
                        <a:rPr lang="en-US" altLang="zh-CN" b="1" i="1" smtClean="0">
                          <a:solidFill>
                            <a:schemeClr val="tx1"/>
                          </a:solidFill>
                          <a:latin typeface="Cambria Math" panose="02040503050406030204" pitchFamily="18" charset="0"/>
                        </a:rPr>
                        <m:t>=</m:t>
                      </m:r>
                      <m:sSub>
                        <m:sSubPr>
                          <m:ctrlPr>
                            <a:rPr lang="en-US" altLang="zh-CN" b="1" i="1" smtClean="0">
                              <a:solidFill>
                                <a:schemeClr val="tx1"/>
                              </a:solidFill>
                              <a:latin typeface="Cambria Math" panose="02040503050406030204" pitchFamily="18" charset="0"/>
                            </a:rPr>
                          </m:ctrlPr>
                        </m:sSubPr>
                        <m:e>
                          <m:d>
                            <m:dPr>
                              <m:begChr m:val="‖"/>
                              <m:endChr m:val="‖"/>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e>
                          </m:d>
                        </m:e>
                        <m:sub>
                          <m:r>
                            <a:rPr lang="en-US" altLang="zh-CN" b="1" i="1" smtClean="0">
                              <a:solidFill>
                                <a:schemeClr val="tx1"/>
                              </a:solidFill>
                              <a:latin typeface="Cambria Math" panose="02040503050406030204" pitchFamily="18" charset="0"/>
                            </a:rPr>
                            <m:t>𝟏</m:t>
                          </m:r>
                        </m:sub>
                      </m:sSub>
                      <m:r>
                        <a:rPr lang="en-US" altLang="zh-CN" b="1" i="1" smtClean="0">
                          <a:solidFill>
                            <a:schemeClr val="tx1"/>
                          </a:solidFill>
                          <a:latin typeface="Cambria Math" panose="02040503050406030204" pitchFamily="18" charset="0"/>
                        </a:rPr>
                        <m:t>=</m:t>
                      </m:r>
                      <m:nary>
                        <m:naryPr>
                          <m:chr m:val="∑"/>
                          <m:supHide m:val="on"/>
                          <m:ctrlPr>
                            <a:rPr lang="en-US" altLang="zh-CN" b="1" i="1" smtClean="0">
                              <a:solidFill>
                                <a:schemeClr val="tx1"/>
                              </a:solidFill>
                              <a:latin typeface="Cambria Math" panose="02040503050406030204" pitchFamily="18" charset="0"/>
                            </a:rPr>
                          </m:ctrlPr>
                        </m:naryPr>
                        <m:sub>
                          <m:r>
                            <m:rPr>
                              <m:brk m:alnAt="7"/>
                            </m:rPr>
                            <a:rPr lang="en-US" altLang="zh-CN" b="1" i="1" smtClean="0">
                              <a:solidFill>
                                <a:schemeClr val="tx1"/>
                              </a:solidFill>
                              <a:latin typeface="Cambria Math" panose="02040503050406030204" pitchFamily="18" charset="0"/>
                            </a:rPr>
                            <m:t>𝒊</m:t>
                          </m:r>
                        </m:sub>
                        <m:sup/>
                        <m:e>
                          <m:d>
                            <m:dPr>
                              <m:begChr m:val="|"/>
                              <m:endChr m:val="|"/>
                              <m:ctrlPr>
                                <a:rPr lang="en-US" altLang="zh-CN" b="1" i="1" smtClean="0">
                                  <a:solidFill>
                                    <a:schemeClr val="tx1"/>
                                  </a:solidFill>
                                  <a:latin typeface="Cambria Math" panose="02040503050406030204" pitchFamily="18" charset="0"/>
                                </a:rPr>
                              </m:ctrlPr>
                            </m:dPr>
                            <m:e>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𝒘</m:t>
                                  </m:r>
                                </m:e>
                                <m:sub>
                                  <m:r>
                                    <a:rPr lang="en-US" altLang="zh-CN" b="1" i="1" smtClean="0">
                                      <a:solidFill>
                                        <a:schemeClr val="tx1"/>
                                      </a:solidFill>
                                      <a:latin typeface="Cambria Math" panose="02040503050406030204" pitchFamily="18" charset="0"/>
                                    </a:rPr>
                                    <m:t>𝒊</m:t>
                                  </m:r>
                                </m:sub>
                              </m:sSub>
                            </m:e>
                          </m:d>
                        </m:e>
                      </m:nary>
                    </m:oMath>
                  </m:oMathPara>
                </a14:m>
                <a:endParaRPr lang="zh-CN" altLang="en-US" b="1" dirty="0">
                  <a:solidFill>
                    <a:schemeClr val="tx1"/>
                  </a:solidFill>
                </a:endParaRPr>
              </a:p>
            </p:txBody>
          </p:sp>
        </mc:Choice>
        <mc:Fallback xmlns="">
          <p:sp>
            <p:nvSpPr>
              <p:cNvPr id="52" name="文本框 51"/>
              <p:cNvSpPr txBox="1">
                <a:spLocks noRot="1" noChangeAspect="1" noMove="1" noResize="1" noEditPoints="1" noAdjustHandles="1" noChangeArrowheads="1" noChangeShapeType="1" noTextEdit="1"/>
              </p:cNvSpPr>
              <p:nvPr/>
            </p:nvSpPr>
            <p:spPr>
              <a:xfrm>
                <a:off x="2996164" y="2119269"/>
                <a:ext cx="3128868" cy="769313"/>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p:cNvSpPr txBox="1"/>
              <p:nvPr/>
            </p:nvSpPr>
            <p:spPr>
              <a:xfrm>
                <a:off x="2675654" y="3084799"/>
                <a:ext cx="4064973"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b="1" i="1" smtClean="0">
                              <a:solidFill>
                                <a:schemeClr val="tx1"/>
                              </a:solidFill>
                              <a:latin typeface="Cambria Math" panose="02040503050406030204" pitchFamily="18" charset="0"/>
                            </a:rPr>
                          </m:ctrlPr>
                        </m:accPr>
                        <m:e>
                          <m:r>
                            <a:rPr lang="en-US" altLang="zh-CN" b="0" i="1" smtClean="0">
                              <a:solidFill>
                                <a:schemeClr val="tx1"/>
                              </a:solidFill>
                              <a:latin typeface="Cambria Math" panose="02040503050406030204" pitchFamily="18" charset="0"/>
                            </a:rPr>
                            <m:t>𝐿</m:t>
                          </m:r>
                        </m:e>
                      </m:acc>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𝐿</m:t>
                      </m:r>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r>
                        <a:rPr lang="zh-CN" altLang="en-US" i="1">
                          <a:latin typeface="Cambria Math" panose="02040503050406030204" pitchFamily="18" charset="0"/>
                        </a:rPr>
                        <m:t>𝛼</m:t>
                      </m:r>
                      <m:sSub>
                        <m:sSubPr>
                          <m:ctrlPr>
                            <a:rPr lang="en-US" altLang="zh-CN" b="1" i="1">
                              <a:latin typeface="Cambria Math" panose="02040503050406030204" pitchFamily="18" charset="0"/>
                            </a:rPr>
                          </m:ctrlPr>
                        </m:sSubPr>
                        <m:e>
                          <m:d>
                            <m:dPr>
                              <m:begChr m:val="‖"/>
                              <m:endChr m:val="‖"/>
                              <m:ctrlPr>
                                <a:rPr lang="en-US" altLang="zh-CN" b="1" i="1">
                                  <a:latin typeface="Cambria Math" panose="02040503050406030204" pitchFamily="18" charset="0"/>
                                </a:rPr>
                              </m:ctrlPr>
                            </m:dPr>
                            <m:e>
                              <m:r>
                                <a:rPr lang="en-US" altLang="zh-CN" b="1" i="1">
                                  <a:latin typeface="Cambria Math" panose="02040503050406030204" pitchFamily="18" charset="0"/>
                                </a:rPr>
                                <m:t>𝒘</m:t>
                              </m:r>
                            </m:e>
                          </m:d>
                        </m:e>
                        <m:sub>
                          <m:r>
                            <a:rPr lang="en-US" altLang="zh-CN" b="1" i="1">
                              <a:latin typeface="Cambria Math" panose="02040503050406030204" pitchFamily="18" charset="0"/>
                            </a:rPr>
                            <m:t>𝟏</m:t>
                          </m:r>
                        </m:sub>
                      </m:sSub>
                    </m:oMath>
                  </m:oMathPara>
                </a14:m>
                <a:endParaRPr lang="zh-CN" altLang="en-US" b="1" dirty="0">
                  <a:solidFill>
                    <a:schemeClr val="tx1"/>
                  </a:solidFill>
                </a:endParaRPr>
              </a:p>
            </p:txBody>
          </p:sp>
        </mc:Choice>
        <mc:Fallback xmlns="">
          <p:sp>
            <p:nvSpPr>
              <p:cNvPr id="53" name="文本框 52"/>
              <p:cNvSpPr txBox="1">
                <a:spLocks noRot="1" noChangeAspect="1" noMove="1" noResize="1" noEditPoints="1" noAdjustHandles="1" noChangeArrowheads="1" noChangeShapeType="1" noTextEdit="1"/>
              </p:cNvSpPr>
              <p:nvPr/>
            </p:nvSpPr>
            <p:spPr>
              <a:xfrm>
                <a:off x="2675654" y="3084799"/>
                <a:ext cx="4064973" cy="374270"/>
              </a:xfrm>
              <a:prstGeom prst="rect">
                <a:avLst/>
              </a:prstGeom>
              <a:blipFill rotWithShape="0">
                <a:blip r:embed="rId7"/>
                <a:stretch>
                  <a:fillRect t="-4918"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p:cNvSpPr/>
              <p:nvPr/>
            </p:nvSpPr>
            <p:spPr>
              <a:xfrm>
                <a:off x="1687928" y="1774337"/>
                <a:ext cx="3859711" cy="369332"/>
              </a:xfrm>
              <a:prstGeom prst="rect">
                <a:avLst/>
              </a:prstGeom>
            </p:spPr>
            <p:txBody>
              <a:bodyPr wrap="none">
                <a:spAutoFit/>
              </a:bodyPr>
              <a:lstStyle/>
              <a:p>
                <a14:m>
                  <m:oMath xmlns:m="http://schemas.openxmlformats.org/officeDocument/2006/math">
                    <m:sSup>
                      <m:sSupPr>
                        <m:ctrlPr>
                          <a:rPr lang="en-US" altLang="zh-CN" i="1" smtClean="0">
                            <a:solidFill>
                              <a:srgbClr val="FF0000"/>
                            </a:solidFill>
                            <a:latin typeface="Cambria Math" panose="02040503050406030204" pitchFamily="18" charset="0"/>
                            <a:ea typeface="微软雅黑" panose="020B0503020204020204" pitchFamily="34" charset="-122"/>
                          </a:rPr>
                        </m:ctrlPr>
                      </m:sSupPr>
                      <m:e>
                        <m:r>
                          <a:rPr lang="en-US" altLang="zh-CN" i="1">
                            <a:solidFill>
                              <a:srgbClr val="FF0000"/>
                            </a:solidFill>
                            <a:latin typeface="Cambria Math" panose="02040503050406030204" pitchFamily="18" charset="0"/>
                            <a:ea typeface="微软雅黑" panose="020B0503020204020204" pitchFamily="34" charset="-122"/>
                          </a:rPr>
                          <m:t>𝐿</m:t>
                        </m:r>
                      </m:e>
                      <m:sup>
                        <m:r>
                          <a:rPr lang="en-US" altLang="zh-CN" b="0" i="1" smtClean="0">
                            <a:solidFill>
                              <a:srgbClr val="FF0000"/>
                            </a:solidFill>
                            <a:latin typeface="Cambria Math" panose="02040503050406030204" pitchFamily="18" charset="0"/>
                            <a:ea typeface="微软雅黑" panose="020B0503020204020204" pitchFamily="34" charset="-122"/>
                          </a:rPr>
                          <m:t>1</m:t>
                        </m:r>
                      </m:sup>
                    </m:sSup>
                  </m:oMath>
                </a14:m>
                <a:r>
                  <a:rPr lang="zh-CN" altLang="en-US" dirty="0">
                    <a:ea typeface="微软雅黑 Light" panose="020B0502040204020203" pitchFamily="34" charset="-122"/>
                  </a:rPr>
                  <a:t>正则化项是各个参数的绝对值之和</a:t>
                </a:r>
                <a:endParaRPr lang="zh-CN" altLang="en-US" dirty="0"/>
              </a:p>
            </p:txBody>
          </p:sp>
        </mc:Choice>
        <mc:Fallback xmlns="">
          <p:sp>
            <p:nvSpPr>
              <p:cNvPr id="54" name="矩形 53"/>
              <p:cNvSpPr>
                <a:spLocks noRot="1" noChangeAspect="1" noMove="1" noResize="1" noEditPoints="1" noAdjustHandles="1" noChangeArrowheads="1" noChangeShapeType="1" noTextEdit="1"/>
              </p:cNvSpPr>
              <p:nvPr/>
            </p:nvSpPr>
            <p:spPr>
              <a:xfrm>
                <a:off x="1687928" y="1774337"/>
                <a:ext cx="3859711" cy="369332"/>
              </a:xfrm>
              <a:prstGeom prst="rect">
                <a:avLst/>
              </a:prstGeom>
              <a:blipFill rotWithShape="0">
                <a:blip r:embed="rId8"/>
                <a:stretch>
                  <a:fillRect t="-9836" r="-790" b="-22951"/>
                </a:stretch>
              </a:blipFill>
            </p:spPr>
            <p:txBody>
              <a:bodyPr/>
              <a:lstStyle/>
              <a:p>
                <a:r>
                  <a:rPr lang="zh-CN" altLang="en-US">
                    <a:noFill/>
                  </a:rPr>
                  <a:t> </a:t>
                </a:r>
              </a:p>
            </p:txBody>
          </p:sp>
        </mc:Fallback>
      </mc:AlternateContent>
      <p:sp>
        <p:nvSpPr>
          <p:cNvPr id="55" name="矩形 54"/>
          <p:cNvSpPr/>
          <p:nvPr/>
        </p:nvSpPr>
        <p:spPr>
          <a:xfrm>
            <a:off x="1567658" y="3096700"/>
            <a:ext cx="1107996" cy="369332"/>
          </a:xfrm>
          <a:prstGeom prst="rect">
            <a:avLst/>
          </a:prstGeom>
        </p:spPr>
        <p:txBody>
          <a:bodyPr wrap="none">
            <a:spAutoFit/>
          </a:bodyPr>
          <a:lstStyle/>
          <a:p>
            <a:r>
              <a:rPr lang="zh-CN" altLang="en-US" dirty="0">
                <a:ea typeface="微软雅黑 Light" panose="020B0502040204020203" pitchFamily="34" charset="-122"/>
              </a:rPr>
              <a:t>目标函数</a:t>
            </a:r>
            <a:endParaRPr lang="zh-CN" altLang="en-US" dirty="0"/>
          </a:p>
        </p:txBody>
      </p:sp>
      <mc:AlternateContent xmlns:mc="http://schemas.openxmlformats.org/markup-compatibility/2006" xmlns:a14="http://schemas.microsoft.com/office/drawing/2010/main">
        <mc:Choice Requires="a14">
          <p:sp>
            <p:nvSpPr>
              <p:cNvPr id="56" name="文本框 55"/>
              <p:cNvSpPr txBox="1"/>
              <p:nvPr/>
            </p:nvSpPr>
            <p:spPr>
              <a:xfrm>
                <a:off x="2708132" y="3745946"/>
                <a:ext cx="489654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m:t>
                          </m:r>
                        </m:e>
                        <m:sub>
                          <m:r>
                            <a:rPr lang="en-US" altLang="zh-CN" b="1" i="1" smtClean="0">
                              <a:solidFill>
                                <a:schemeClr val="tx1"/>
                              </a:solidFill>
                              <a:latin typeface="Cambria Math" panose="02040503050406030204" pitchFamily="18" charset="0"/>
                            </a:rPr>
                            <m:t>𝒘</m:t>
                          </m:r>
                        </m:sub>
                      </m:sSub>
                      <m:acc>
                        <m:accPr>
                          <m:chr m:val="̃"/>
                          <m:ctrlPr>
                            <a:rPr lang="zh-CN" altLang="en-US" b="1" i="1" smtClean="0">
                              <a:solidFill>
                                <a:schemeClr val="tx1"/>
                              </a:solidFill>
                              <a:latin typeface="Cambria Math" panose="02040503050406030204" pitchFamily="18" charset="0"/>
                            </a:rPr>
                          </m:ctrlPr>
                        </m:accPr>
                        <m:e>
                          <m:r>
                            <a:rPr lang="en-US" altLang="zh-CN" b="0" i="1" smtClean="0">
                              <a:solidFill>
                                <a:schemeClr val="tx1"/>
                              </a:solidFill>
                              <a:latin typeface="Cambria Math" panose="02040503050406030204" pitchFamily="18" charset="0"/>
                            </a:rPr>
                            <m:t>𝐿</m:t>
                          </m:r>
                        </m:e>
                      </m:acc>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sSub>
                        <m:sSubPr>
                          <m:ctrlPr>
                            <a:rPr lang="en-US" altLang="zh-CN" b="1" i="1">
                              <a:latin typeface="Cambria Math" panose="02040503050406030204" pitchFamily="18" charset="0"/>
                            </a:rPr>
                          </m:ctrlPr>
                        </m:sSubPr>
                        <m:e>
                          <m:r>
                            <a:rPr lang="zh-CN" altLang="en-US" b="1" i="1">
                              <a:latin typeface="Cambria Math" panose="02040503050406030204" pitchFamily="18" charset="0"/>
                            </a:rPr>
                            <m:t>𝛁</m:t>
                          </m:r>
                        </m:e>
                        <m:sub>
                          <m:r>
                            <a:rPr lang="en-US" altLang="zh-CN" b="1" i="1">
                              <a:latin typeface="Cambria Math" panose="02040503050406030204" pitchFamily="18" charset="0"/>
                            </a:rPr>
                            <m:t>𝒘</m:t>
                          </m:r>
                        </m:sub>
                      </m:sSub>
                      <m:r>
                        <a:rPr lang="en-US" altLang="zh-CN" b="0" i="1" smtClean="0">
                          <a:latin typeface="Cambria Math" panose="02040503050406030204" pitchFamily="18" charset="0"/>
                        </a:rPr>
                        <m:t>𝐿</m:t>
                      </m:r>
                      <m:d>
                        <m:dPr>
                          <m:ctrlPr>
                            <a:rPr lang="en-US" altLang="zh-CN" b="1"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𝒘</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𝑿</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𝒚</m:t>
                          </m:r>
                        </m:e>
                      </m:d>
                      <m:r>
                        <a:rPr lang="en-US" altLang="zh-CN" b="1" i="1" smtClean="0">
                          <a:solidFill>
                            <a:schemeClr val="tx1"/>
                          </a:solidFill>
                          <a:latin typeface="Cambria Math" panose="02040503050406030204" pitchFamily="18" charset="0"/>
                        </a:rPr>
                        <m:t>+</m:t>
                      </m:r>
                      <m:r>
                        <a:rPr lang="zh-CN" altLang="en-US" i="1">
                          <a:solidFill>
                            <a:srgbClr val="FF0000"/>
                          </a:solidFill>
                          <a:latin typeface="Cambria Math" panose="02040503050406030204" pitchFamily="18" charset="0"/>
                        </a:rPr>
                        <m:t>𝛼</m:t>
                      </m:r>
                      <m:r>
                        <a:rPr lang="en-US" altLang="zh-CN" b="0" i="1" smtClean="0">
                          <a:solidFill>
                            <a:srgbClr val="FF0000"/>
                          </a:solidFill>
                          <a:latin typeface="Cambria Math" panose="02040503050406030204" pitchFamily="18" charset="0"/>
                        </a:rPr>
                        <m:t>𝑠𝑖𝑔𝑛</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𝒘</m:t>
                      </m:r>
                      <m:r>
                        <a:rPr lang="en-US" altLang="zh-CN" b="1" i="1" smtClean="0">
                          <a:solidFill>
                            <a:srgbClr val="FF0000"/>
                          </a:solidFill>
                          <a:latin typeface="Cambria Math" panose="02040503050406030204" pitchFamily="18" charset="0"/>
                        </a:rPr>
                        <m:t>)</m:t>
                      </m:r>
                    </m:oMath>
                  </m:oMathPara>
                </a14:m>
                <a:endParaRPr lang="zh-CN" altLang="en-US" b="1" dirty="0">
                  <a:solidFill>
                    <a:srgbClr val="FF0000"/>
                  </a:solidFill>
                </a:endParaRPr>
              </a:p>
            </p:txBody>
          </p:sp>
        </mc:Choice>
        <mc:Fallback xmlns="">
          <p:sp>
            <p:nvSpPr>
              <p:cNvPr id="56" name="文本框 55"/>
              <p:cNvSpPr txBox="1">
                <a:spLocks noRot="1" noChangeAspect="1" noMove="1" noResize="1" noEditPoints="1" noAdjustHandles="1" noChangeArrowheads="1" noChangeShapeType="1" noTextEdit="1"/>
              </p:cNvSpPr>
              <p:nvPr/>
            </p:nvSpPr>
            <p:spPr>
              <a:xfrm>
                <a:off x="2708132" y="3745946"/>
                <a:ext cx="4896544" cy="374270"/>
              </a:xfrm>
              <a:prstGeom prst="rect">
                <a:avLst/>
              </a:prstGeom>
              <a:blipFill rotWithShape="0">
                <a:blip r:embed="rId9"/>
                <a:stretch>
                  <a:fillRect t="-4839" b="-129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矩形 56"/>
              <p:cNvSpPr/>
              <p:nvPr/>
            </p:nvSpPr>
            <p:spPr>
              <a:xfrm>
                <a:off x="7028613" y="1690129"/>
                <a:ext cx="2376264" cy="1754326"/>
              </a:xfrm>
              <a:prstGeom prst="rect">
                <a:avLst/>
              </a:prstGeom>
            </p:spPr>
            <p:txBody>
              <a:bodyPr wrap="square">
                <a:spAutoFit/>
              </a:bodyPr>
              <a:lstStyle/>
              <a:p>
                <a:pPr>
                  <a:lnSpc>
                    <a:spcPct val="150000"/>
                  </a:lnSpc>
                </a:pPr>
                <a14:m>
                  <m:oMath xmlns:m="http://schemas.openxmlformats.org/officeDocument/2006/math">
                    <m:sSup>
                      <m:sSupPr>
                        <m:ctrlPr>
                          <a:rPr lang="en-US" altLang="zh-CN" i="1" smtClean="0">
                            <a:solidFill>
                              <a:schemeClr val="tx1"/>
                            </a:solidFill>
                            <a:latin typeface="Cambria Math" panose="02040503050406030204" pitchFamily="18" charset="0"/>
                            <a:ea typeface="微软雅黑" panose="020B0503020204020204" pitchFamily="34" charset="-122"/>
                          </a:rPr>
                        </m:ctrlPr>
                      </m:sSupPr>
                      <m:e>
                        <m:r>
                          <a:rPr lang="en-US" altLang="zh-CN" i="1">
                            <a:solidFill>
                              <a:schemeClr val="tx1"/>
                            </a:solidFill>
                            <a:latin typeface="Cambria Math" panose="02040503050406030204" pitchFamily="18" charset="0"/>
                            <a:ea typeface="微软雅黑" panose="020B0503020204020204" pitchFamily="34" charset="-122"/>
                          </a:rPr>
                          <m:t>𝐿</m:t>
                        </m:r>
                      </m:e>
                      <m:sup>
                        <m:r>
                          <a:rPr lang="en-US" altLang="zh-CN" i="1">
                            <a:solidFill>
                              <a:schemeClr val="tx1"/>
                            </a:solidFill>
                            <a:latin typeface="Cambria Math" panose="02040503050406030204" pitchFamily="18" charset="0"/>
                            <a:ea typeface="微软雅黑" panose="020B0503020204020204" pitchFamily="34" charset="-122"/>
                          </a:rPr>
                          <m:t>1</m:t>
                        </m:r>
                      </m:sup>
                    </m:sSup>
                  </m:oMath>
                </a14:m>
                <a:r>
                  <a:rPr lang="zh-CN" altLang="en-US" dirty="0">
                    <a:ea typeface="微软雅黑 Light" panose="020B0502040204020203" pitchFamily="34" charset="-122"/>
                  </a:rPr>
                  <a:t>正则化添加了一项符号函数</a:t>
                </a:r>
                <a14:m>
                  <m:oMath xmlns:m="http://schemas.openxmlformats.org/officeDocument/2006/math">
                    <m:r>
                      <a:rPr lang="en-US" altLang="zh-CN" b="0" i="1">
                        <a:solidFill>
                          <a:srgbClr val="FF0000"/>
                        </a:solidFill>
                        <a:latin typeface="Cambria Math" panose="02040503050406030204" pitchFamily="18" charset="0"/>
                      </a:rPr>
                      <m:t>𝑠𝑖𝑔𝑛</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𝒘</m:t>
                    </m:r>
                    <m:r>
                      <a:rPr lang="en-US" altLang="zh-CN" b="1" i="1">
                        <a:solidFill>
                          <a:srgbClr val="FF0000"/>
                        </a:solidFill>
                        <a:latin typeface="Cambria Math" panose="02040503050406030204" pitchFamily="18" charset="0"/>
                      </a:rPr>
                      <m:t>)</m:t>
                    </m:r>
                  </m:oMath>
                </a14:m>
                <a:r>
                  <a:rPr lang="zh-CN" altLang="en-US" dirty="0">
                    <a:ea typeface="微软雅黑 Light" panose="020B0502040204020203" pitchFamily="34" charset="-122"/>
                  </a:rPr>
                  <a:t>来影响梯度</a:t>
                </a:r>
              </a:p>
              <a:p>
                <a:pPr>
                  <a:lnSpc>
                    <a:spcPct val="150000"/>
                  </a:lnSpc>
                </a:pPr>
                <a:r>
                  <a:rPr lang="zh-CN" altLang="en-US" dirty="0">
                    <a:ea typeface="微软雅黑 Light" panose="020B0502040204020203" pitchFamily="34" charset="-122"/>
                  </a:rPr>
                  <a:t> </a:t>
                </a:r>
                <a:endParaRPr lang="zh-CN" altLang="en-US" dirty="0"/>
              </a:p>
            </p:txBody>
          </p:sp>
        </mc:Choice>
        <mc:Fallback xmlns="">
          <p:sp>
            <p:nvSpPr>
              <p:cNvPr id="57" name="矩形 56"/>
              <p:cNvSpPr>
                <a:spLocks noRot="1" noChangeAspect="1" noMove="1" noResize="1" noEditPoints="1" noAdjustHandles="1" noChangeArrowheads="1" noChangeShapeType="1" noTextEdit="1"/>
              </p:cNvSpPr>
              <p:nvPr/>
            </p:nvSpPr>
            <p:spPr>
              <a:xfrm>
                <a:off x="7028613" y="1690129"/>
                <a:ext cx="2376264" cy="1754326"/>
              </a:xfrm>
              <a:prstGeom prst="rect">
                <a:avLst/>
              </a:prstGeom>
              <a:blipFill rotWithShape="0">
                <a:blip r:embed="rId10"/>
                <a:stretch>
                  <a:fillRect l="-2308"/>
                </a:stretch>
              </a:blipFill>
            </p:spPr>
            <p:txBody>
              <a:bodyPr/>
              <a:lstStyle/>
              <a:p>
                <a:r>
                  <a:rPr lang="zh-CN" altLang="en-US">
                    <a:noFill/>
                  </a:rPr>
                  <a:t> </a:t>
                </a:r>
              </a:p>
            </p:txBody>
          </p:sp>
        </mc:Fallback>
      </mc:AlternateContent>
      <p:cxnSp>
        <p:nvCxnSpPr>
          <p:cNvPr id="58" name="直接箭头连接符 57"/>
          <p:cNvCxnSpPr/>
          <p:nvPr/>
        </p:nvCxnSpPr>
        <p:spPr>
          <a:xfrm flipH="1">
            <a:off x="6704894" y="2665081"/>
            <a:ext cx="323718" cy="1069057"/>
          </a:xfrm>
          <a:prstGeom prst="straightConnector1">
            <a:avLst/>
          </a:prstGeom>
          <a:noFill/>
          <a:ln w="15875" cap="flat" cmpd="sng">
            <a:solidFill>
              <a:schemeClr val="tx1"/>
            </a:solidFill>
            <a:prstDash val="solid"/>
            <a:round/>
            <a:headEnd/>
            <a:tailEnd type="triangle"/>
          </a:ln>
          <a:effectLst/>
        </p:spPr>
      </p:cxnSp>
      <mc:AlternateContent xmlns:mc="http://schemas.openxmlformats.org/markup-compatibility/2006" xmlns:a14="http://schemas.microsoft.com/office/drawing/2010/main">
        <mc:Choice Requires="a14">
          <p:sp>
            <p:nvSpPr>
              <p:cNvPr id="59" name="矩形 58"/>
              <p:cNvSpPr/>
              <p:nvPr/>
            </p:nvSpPr>
            <p:spPr>
              <a:xfrm>
                <a:off x="1687928" y="4675268"/>
                <a:ext cx="7500924" cy="1338828"/>
              </a:xfrm>
              <a:prstGeom prst="rect">
                <a:avLst/>
              </a:prstGeom>
            </p:spPr>
            <p:txBody>
              <a:bodyPr wrap="square">
                <a:spAutoFit/>
              </a:bodyPr>
              <a:lstStyle/>
              <a:p>
                <a:pPr algn="just">
                  <a:lnSpc>
                    <a:spcPct val="150000"/>
                  </a:lnSpc>
                </a:pPr>
                <a14:m>
                  <m:oMath xmlns:m="http://schemas.openxmlformats.org/officeDocument/2006/math">
                    <m:sSup>
                      <m:sSupPr>
                        <m:ctrlPr>
                          <a:rPr lang="en-US" altLang="zh-CN" i="1" smtClean="0">
                            <a:solidFill>
                              <a:schemeClr val="tx1"/>
                            </a:solidFill>
                            <a:latin typeface="Cambria Math" panose="02040503050406030204" pitchFamily="18" charset="0"/>
                            <a:ea typeface="微软雅黑" panose="020B0503020204020204" pitchFamily="34" charset="-122"/>
                          </a:rPr>
                        </m:ctrlPr>
                      </m:sSupPr>
                      <m:e>
                        <m:r>
                          <a:rPr lang="en-US" altLang="zh-CN" i="1">
                            <a:solidFill>
                              <a:schemeClr val="tx1"/>
                            </a:solidFill>
                            <a:latin typeface="Cambria Math" panose="02040503050406030204" pitchFamily="18" charset="0"/>
                            <a:ea typeface="微软雅黑" panose="020B0503020204020204" pitchFamily="34" charset="-122"/>
                          </a:rPr>
                          <m:t>𝐿</m:t>
                        </m:r>
                      </m:e>
                      <m:sup>
                        <m:r>
                          <a:rPr lang="en-US" altLang="zh-CN" i="1">
                            <a:solidFill>
                              <a:schemeClr val="tx1"/>
                            </a:solidFill>
                            <a:latin typeface="Cambria Math" panose="02040503050406030204" pitchFamily="18" charset="0"/>
                            <a:ea typeface="微软雅黑" panose="020B0503020204020204" pitchFamily="34" charset="-122"/>
                          </a:rPr>
                          <m:t>1</m:t>
                        </m:r>
                      </m:sup>
                    </m:sSup>
                  </m:oMath>
                </a14:m>
                <a:r>
                  <a:rPr lang="zh-CN" altLang="en-US" dirty="0">
                    <a:solidFill>
                      <a:schemeClr val="tx1"/>
                    </a:solidFill>
                    <a:latin typeface="微软雅黑 Light" panose="020B0502040204020203" pitchFamily="34" charset="-122"/>
                    <a:ea typeface="微软雅黑 Light" panose="020B0502040204020203" pitchFamily="34" charset="-122"/>
                  </a:rPr>
                  <a:t>正</a:t>
                </a:r>
                <a:r>
                  <a:rPr lang="zh-CN" altLang="en-US" dirty="0">
                    <a:latin typeface="微软雅黑 Light" panose="020B0502040204020203" pitchFamily="34" charset="-122"/>
                    <a:ea typeface="微软雅黑 Light" panose="020B0502040204020203" pitchFamily="34" charset="-122"/>
                  </a:rPr>
                  <a:t>则化通过加入一个符号函数，使得当</a:t>
                </a:r>
                <a:r>
                  <a:rPr lang="en-US" altLang="zh-CN" dirty="0">
                    <a:latin typeface="微软雅黑 Light" panose="020B0502040204020203" pitchFamily="34" charset="-122"/>
                    <a:ea typeface="微软雅黑 Light" panose="020B0502040204020203" pitchFamily="34" charset="-122"/>
                  </a:rPr>
                  <a:t>w</a:t>
                </a:r>
                <a:r>
                  <a:rPr lang="zh-CN" altLang="en-US" dirty="0">
                    <a:latin typeface="微软雅黑 Light" panose="020B0502040204020203" pitchFamily="34" charset="-122"/>
                    <a:ea typeface="微软雅黑 Light" panose="020B0502040204020203" pitchFamily="34" charset="-122"/>
                  </a:rPr>
                  <a:t>为正时，更新后的</a:t>
                </a:r>
                <a:r>
                  <a:rPr lang="en-US" altLang="zh-CN" dirty="0">
                    <a:latin typeface="微软雅黑 Light" panose="020B0502040204020203" pitchFamily="34" charset="-122"/>
                    <a:ea typeface="微软雅黑 Light" panose="020B0502040204020203" pitchFamily="34" charset="-122"/>
                  </a:rPr>
                  <a:t>w</a:t>
                </a:r>
                <a:r>
                  <a:rPr lang="zh-CN" altLang="en-US" dirty="0">
                    <a:latin typeface="微软雅黑 Light" panose="020B0502040204020203" pitchFamily="34" charset="-122"/>
                    <a:ea typeface="微软雅黑 Light" panose="020B0502040204020203" pitchFamily="34" charset="-122"/>
                  </a:rPr>
                  <a:t>变小，当</a:t>
                </a:r>
                <a:r>
                  <a:rPr lang="en-US" altLang="zh-CN" dirty="0">
                    <a:latin typeface="微软雅黑 Light" panose="020B0502040204020203" pitchFamily="34" charset="-122"/>
                    <a:ea typeface="微软雅黑 Light" panose="020B0502040204020203" pitchFamily="34" charset="-122"/>
                  </a:rPr>
                  <a:t>w</a:t>
                </a:r>
                <a:r>
                  <a:rPr lang="zh-CN" altLang="en-US" dirty="0">
                    <a:latin typeface="微软雅黑 Light" panose="020B0502040204020203" pitchFamily="34" charset="-122"/>
                    <a:ea typeface="微软雅黑 Light" panose="020B0502040204020203" pitchFamily="34" charset="-122"/>
                  </a:rPr>
                  <a:t>为负时，更新后的</a:t>
                </a:r>
                <a:r>
                  <a:rPr lang="en-US" altLang="zh-CN" dirty="0">
                    <a:latin typeface="微软雅黑 Light" panose="020B0502040204020203" pitchFamily="34" charset="-122"/>
                    <a:ea typeface="微软雅黑 Light" panose="020B0502040204020203" pitchFamily="34" charset="-122"/>
                  </a:rPr>
                  <a:t>w</a:t>
                </a:r>
                <a:r>
                  <a:rPr lang="zh-CN" altLang="en-US" dirty="0">
                    <a:latin typeface="微软雅黑 Light" panose="020B0502040204020203" pitchFamily="34" charset="-122"/>
                    <a:ea typeface="微软雅黑 Light" panose="020B0502040204020203" pitchFamily="34" charset="-122"/>
                  </a:rPr>
                  <a:t>变大，因此正则化后的效果就是让</a:t>
                </a:r>
                <a:r>
                  <a:rPr lang="en-US" altLang="zh-CN" dirty="0">
                    <a:latin typeface="微软雅黑 Light" panose="020B0502040204020203" pitchFamily="34" charset="-122"/>
                    <a:ea typeface="微软雅黑 Light" panose="020B0502040204020203" pitchFamily="34" charset="-122"/>
                  </a:rPr>
                  <a:t>w</a:t>
                </a:r>
                <a:r>
                  <a:rPr lang="zh-CN" altLang="en-US" dirty="0">
                    <a:latin typeface="微软雅黑 Light" panose="020B0502040204020203" pitchFamily="34" charset="-122"/>
                    <a:ea typeface="微软雅黑 Light" panose="020B0502040204020203" pitchFamily="34" charset="-122"/>
                  </a:rPr>
                  <a:t>接近</a:t>
                </a:r>
                <a:r>
                  <a:rPr lang="en-US" altLang="zh-CN" dirty="0">
                    <a:latin typeface="微软雅黑 Light" panose="020B0502040204020203" pitchFamily="34" charset="-122"/>
                    <a:ea typeface="微软雅黑 Light" panose="020B0502040204020203" pitchFamily="34" charset="-122"/>
                  </a:rPr>
                  <a:t>0</a:t>
                </a:r>
                <a:r>
                  <a:rPr lang="zh-CN" altLang="en-US" dirty="0">
                    <a:latin typeface="微软雅黑 Light" panose="020B0502040204020203" pitchFamily="34" charset="-122"/>
                    <a:ea typeface="微软雅黑 Light" panose="020B0502040204020203" pitchFamily="34" charset="-122"/>
                  </a:rPr>
                  <a:t>，这样网络中的权重就会接近</a:t>
                </a:r>
                <a:r>
                  <a:rPr lang="en-US" altLang="zh-CN" dirty="0">
                    <a:latin typeface="微软雅黑 Light" panose="020B0502040204020203" pitchFamily="34" charset="-122"/>
                    <a:ea typeface="微软雅黑 Light" panose="020B0502040204020203" pitchFamily="34" charset="-122"/>
                  </a:rPr>
                  <a:t>0</a:t>
                </a:r>
                <a:r>
                  <a:rPr lang="zh-CN" altLang="en-US" dirty="0">
                    <a:latin typeface="微软雅黑 Light" panose="020B0502040204020203" pitchFamily="34" charset="-122"/>
                    <a:ea typeface="微软雅黑 Light" panose="020B0502040204020203" pitchFamily="34" charset="-122"/>
                  </a:rPr>
                  <a:t>，从而也就减小了网络复杂度，防止了过拟合。</a:t>
                </a:r>
              </a:p>
            </p:txBody>
          </p:sp>
        </mc:Choice>
        <mc:Fallback xmlns="">
          <p:sp>
            <p:nvSpPr>
              <p:cNvPr id="59" name="矩形 58"/>
              <p:cNvSpPr>
                <a:spLocks noRot="1" noChangeAspect="1" noMove="1" noResize="1" noEditPoints="1" noAdjustHandles="1" noChangeArrowheads="1" noChangeShapeType="1" noTextEdit="1"/>
              </p:cNvSpPr>
              <p:nvPr/>
            </p:nvSpPr>
            <p:spPr>
              <a:xfrm>
                <a:off x="1687928" y="4675268"/>
                <a:ext cx="7500924" cy="1338828"/>
              </a:xfrm>
              <a:prstGeom prst="rect">
                <a:avLst/>
              </a:prstGeom>
              <a:blipFill rotWithShape="0">
                <a:blip r:embed="rId11"/>
                <a:stretch>
                  <a:fillRect l="-732" r="-650" b="-2727"/>
                </a:stretch>
              </a:blipFill>
            </p:spPr>
            <p:txBody>
              <a:bodyPr/>
              <a:lstStyle/>
              <a:p>
                <a:r>
                  <a:rPr lang="zh-CN" altLang="en-US">
                    <a:noFill/>
                  </a:rPr>
                  <a:t> </a:t>
                </a:r>
              </a:p>
            </p:txBody>
          </p:sp>
        </mc:Fallback>
      </mc:AlternateContent>
      <p:pic>
        <p:nvPicPr>
          <p:cNvPr id="18" name="图片 17"/>
          <p:cNvPicPr>
            <a:picLocks noChangeAspect="1"/>
          </p:cNvPicPr>
          <p:nvPr/>
        </p:nvPicPr>
        <p:blipFill>
          <a:blip r:embed="rId12"/>
          <a:stretch>
            <a:fillRect/>
          </a:stretch>
        </p:blipFill>
        <p:spPr>
          <a:xfrm>
            <a:off x="1690498" y="6538325"/>
            <a:ext cx="8810625" cy="319676"/>
          </a:xfrm>
          <a:prstGeom prst="rect">
            <a:avLst/>
          </a:prstGeom>
        </p:spPr>
      </p:pic>
      <p:sp>
        <p:nvSpPr>
          <p:cNvPr id="19" name="灯片编号占位符 8">
            <a:extLst>
              <a:ext uri="{FF2B5EF4-FFF2-40B4-BE49-F238E27FC236}">
                <a16:creationId xmlns:a16="http://schemas.microsoft.com/office/drawing/2014/main" id="{D2AC4EE2-060C-400D-8DE9-AA857DFC7534}"/>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67</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6874326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600" b="1" dirty="0"/>
              <a:t>Bagging</a:t>
            </a:r>
            <a:r>
              <a:rPr lang="zh-CN" altLang="en-US" sz="2600" b="1" dirty="0"/>
              <a:t>（</a:t>
            </a:r>
            <a:r>
              <a:rPr lang="en-US" altLang="zh-CN" sz="2600" b="1" dirty="0"/>
              <a:t>Bootstrap aggregating</a:t>
            </a:r>
            <a:r>
              <a:rPr lang="zh-CN" altLang="en-US" sz="2600" b="1" dirty="0"/>
              <a:t>）集成方法</a:t>
            </a:r>
            <a:endParaRPr lang="en-US" altLang="zh-CN" sz="2600" b="1" dirty="0"/>
          </a:p>
        </p:txBody>
      </p:sp>
      <p:sp>
        <p:nvSpPr>
          <p:cNvPr id="9" name="矩形 8"/>
          <p:cNvSpPr/>
          <p:nvPr/>
        </p:nvSpPr>
        <p:spPr>
          <a:xfrm>
            <a:off x="688374" y="1634602"/>
            <a:ext cx="10559695" cy="1200329"/>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altLang="zh-CN" sz="2400" dirty="0">
                <a:latin typeface="微软雅黑 Light" panose="020B0502040204020203" pitchFamily="34" charset="-122"/>
                <a:ea typeface="微软雅黑 Light" panose="020B0502040204020203" pitchFamily="34" charset="-122"/>
              </a:rPr>
              <a:t>Bagging </a:t>
            </a:r>
            <a:r>
              <a:rPr lang="zh-CN" altLang="en-US" sz="2400" dirty="0">
                <a:latin typeface="微软雅黑 Light" panose="020B0502040204020203" pitchFamily="34" charset="-122"/>
                <a:ea typeface="微软雅黑 Light" panose="020B0502040204020203" pitchFamily="34" charset="-122"/>
              </a:rPr>
              <a:t>训练不同的模型来共同决策测试样列的输出，不同的模型即使在同一个训练数据集上也会产生不同的误差。</a:t>
            </a:r>
            <a:endParaRPr lang="zh-CN" altLang="en-US" sz="2400" dirty="0">
              <a:solidFill>
                <a:schemeClr val="tx1"/>
              </a:solidFill>
              <a:latin typeface="微软雅黑 Light" panose="020B0502040204020203" pitchFamily="34" charset="-122"/>
              <a:ea typeface="微软雅黑 Light" panose="020B0502040204020203" pitchFamily="34" charset="-122"/>
            </a:endParaRPr>
          </a:p>
        </p:txBody>
      </p:sp>
      <p:sp>
        <p:nvSpPr>
          <p:cNvPr id="10" name="矩形 9"/>
          <p:cNvSpPr/>
          <p:nvPr/>
        </p:nvSpPr>
        <p:spPr>
          <a:xfrm>
            <a:off x="688374" y="2976035"/>
            <a:ext cx="10559695" cy="646331"/>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altLang="zh-CN" sz="2400" dirty="0">
                <a:latin typeface="微软雅黑 Light" panose="020B0502040204020203" pitchFamily="34" charset="-122"/>
                <a:ea typeface="微软雅黑 Light" panose="020B0502040204020203" pitchFamily="34" charset="-122"/>
              </a:rPr>
              <a:t>Bagging</a:t>
            </a:r>
            <a:r>
              <a:rPr lang="zh-CN" altLang="en-US" sz="2400" dirty="0">
                <a:latin typeface="微软雅黑 Light" panose="020B0502040204020203" pitchFamily="34" charset="-122"/>
                <a:ea typeface="微软雅黑 Light" panose="020B0502040204020203" pitchFamily="34" charset="-122"/>
              </a:rPr>
              <a:t>可以多次重复使用同一个模型、训练算法和目标函数进行训练。</a:t>
            </a:r>
          </a:p>
        </p:txBody>
      </p:sp>
      <p:sp>
        <p:nvSpPr>
          <p:cNvPr id="11" name="矩形 10"/>
          <p:cNvSpPr/>
          <p:nvPr/>
        </p:nvSpPr>
        <p:spPr>
          <a:xfrm>
            <a:off x="688374" y="3839686"/>
            <a:ext cx="10559695" cy="1200329"/>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altLang="zh-CN" sz="2400" dirty="0">
                <a:latin typeface="微软雅黑 Light" panose="020B0502040204020203" pitchFamily="34" charset="-122"/>
                <a:ea typeface="微软雅黑 Light" panose="020B0502040204020203" pitchFamily="34" charset="-122"/>
              </a:rPr>
              <a:t>Bagging</a:t>
            </a:r>
            <a:r>
              <a:rPr lang="zh-CN" altLang="en-US" sz="2400" dirty="0">
                <a:latin typeface="微软雅黑 Light" panose="020B0502040204020203" pitchFamily="34" charset="-122"/>
                <a:ea typeface="微软雅黑 Light" panose="020B0502040204020203" pitchFamily="34" charset="-122"/>
              </a:rPr>
              <a:t>的数据集从原始数据集中重复采样获取，数据集大小与原始数据集保持一致。</a:t>
            </a:r>
          </a:p>
        </p:txBody>
      </p:sp>
      <p:sp>
        <p:nvSpPr>
          <p:cNvPr id="12" name="内容占位符 2"/>
          <p:cNvSpPr txBox="1">
            <a:spLocks/>
          </p:cNvSpPr>
          <p:nvPr/>
        </p:nvSpPr>
        <p:spPr>
          <a:xfrm>
            <a:off x="4056308" y="5420311"/>
            <a:ext cx="4700234"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600" b="1" dirty="0">
                <a:solidFill>
                  <a:srgbClr val="FF0000"/>
                </a:solidFill>
              </a:rPr>
              <a:t>“三个臭皮匠，顶个诸葛亮”</a:t>
            </a:r>
            <a:endParaRPr lang="en-US" altLang="zh-CN" sz="2600" b="1" dirty="0">
              <a:solidFill>
                <a:srgbClr val="FF0000"/>
              </a:solidFill>
            </a:endParaRPr>
          </a:p>
        </p:txBody>
      </p:sp>
      <p:pic>
        <p:nvPicPr>
          <p:cNvPr id="14" name="图片 13"/>
          <p:cNvPicPr>
            <a:picLocks noChangeAspect="1"/>
          </p:cNvPicPr>
          <p:nvPr/>
        </p:nvPicPr>
        <p:blipFill>
          <a:blip r:embed="rId5"/>
          <a:stretch>
            <a:fillRect/>
          </a:stretch>
        </p:blipFill>
        <p:spPr>
          <a:xfrm>
            <a:off x="1690498" y="6538325"/>
            <a:ext cx="8810625" cy="319676"/>
          </a:xfrm>
          <a:prstGeom prst="rect">
            <a:avLst/>
          </a:prstGeom>
        </p:spPr>
      </p:pic>
      <p:sp>
        <p:nvSpPr>
          <p:cNvPr id="16" name="灯片编号占位符 8">
            <a:extLst>
              <a:ext uri="{FF2B5EF4-FFF2-40B4-BE49-F238E27FC236}">
                <a16:creationId xmlns:a16="http://schemas.microsoft.com/office/drawing/2014/main" id="{54C4F471-1C85-4AC4-826A-E5B94F13A8A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68</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4099519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600" b="1" dirty="0"/>
              <a:t>Bagging</a:t>
            </a:r>
            <a:r>
              <a:rPr lang="zh-CN" altLang="en-US" sz="2600" b="1" dirty="0"/>
              <a:t>（</a:t>
            </a:r>
            <a:r>
              <a:rPr lang="en-US" altLang="zh-CN" sz="2600" b="1" dirty="0"/>
              <a:t>Bootstrap aggregating</a:t>
            </a:r>
            <a:r>
              <a:rPr lang="zh-CN" altLang="en-US" sz="2600" b="1" dirty="0"/>
              <a:t>）集成方法</a:t>
            </a:r>
            <a:endParaRPr lang="en-US" altLang="zh-CN" sz="2600" b="1" dirty="0"/>
          </a:p>
        </p:txBody>
      </p:sp>
      <p:sp>
        <p:nvSpPr>
          <p:cNvPr id="12" name="矩形 11"/>
          <p:cNvSpPr/>
          <p:nvPr/>
        </p:nvSpPr>
        <p:spPr>
          <a:xfrm>
            <a:off x="741030" y="1685804"/>
            <a:ext cx="2880320" cy="460704"/>
          </a:xfrm>
          <a:prstGeom prst="rect">
            <a:avLst/>
          </a:prstGeom>
        </p:spPr>
        <p:txBody>
          <a:bodyPr wrap="square">
            <a:spAutoFit/>
          </a:bodyPr>
          <a:lstStyle/>
          <a:p>
            <a:pPr>
              <a:lnSpc>
                <a:spcPct val="150000"/>
              </a:lnSpc>
            </a:pPr>
            <a:r>
              <a:rPr lang="zh-CN" altLang="en-US" dirty="0">
                <a:latin typeface="微软雅黑 Light" panose="020B0502040204020203" pitchFamily="34" charset="-122"/>
                <a:ea typeface="微软雅黑 Light" panose="020B0502040204020203" pitchFamily="34" charset="-122"/>
              </a:rPr>
              <a:t>假设集成</a:t>
            </a:r>
            <a:r>
              <a:rPr lang="en-US" altLang="zh-CN" dirty="0">
                <a:latin typeface="微软雅黑 Light" panose="020B0502040204020203" pitchFamily="34" charset="-122"/>
                <a:ea typeface="微软雅黑 Light" panose="020B0502040204020203" pitchFamily="34" charset="-122"/>
              </a:rPr>
              <a:t>k=3</a:t>
            </a:r>
            <a:r>
              <a:rPr lang="zh-CN" altLang="en-US" dirty="0">
                <a:latin typeface="微软雅黑 Light" panose="020B0502040204020203" pitchFamily="34" charset="-122"/>
                <a:ea typeface="微软雅黑 Light" panose="020B0502040204020203" pitchFamily="34" charset="-122"/>
              </a:rPr>
              <a:t>个网络模型</a:t>
            </a:r>
          </a:p>
        </p:txBody>
      </p:sp>
      <p:grpSp>
        <p:nvGrpSpPr>
          <p:cNvPr id="13" name="组合 12"/>
          <p:cNvGrpSpPr/>
          <p:nvPr/>
        </p:nvGrpSpPr>
        <p:grpSpPr>
          <a:xfrm>
            <a:off x="822001" y="2507218"/>
            <a:ext cx="7893031" cy="2328941"/>
            <a:chOff x="539552" y="2614879"/>
            <a:chExt cx="7893031" cy="2328941"/>
          </a:xfrm>
        </p:grpSpPr>
        <p:sp>
          <p:nvSpPr>
            <p:cNvPr id="14" name="圆角矩形 13"/>
            <p:cNvSpPr/>
            <p:nvPr/>
          </p:nvSpPr>
          <p:spPr>
            <a:xfrm>
              <a:off x="4391980" y="3284983"/>
              <a:ext cx="828092" cy="418191"/>
            </a:xfrm>
            <a:prstGeom prst="roundRect">
              <a:avLst>
                <a:gd name="adj" fmla="val 5000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725708" y="2700433"/>
              <a:ext cx="360040" cy="288032"/>
            </a:xfrm>
            <a:prstGeom prst="rect">
              <a:avLst/>
            </a:prstGeom>
            <a:solidFill>
              <a:srgbClr val="0D7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1</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18" name="矩形 17"/>
            <p:cNvSpPr/>
            <p:nvPr/>
          </p:nvSpPr>
          <p:spPr>
            <a:xfrm>
              <a:off x="2312532" y="2700433"/>
              <a:ext cx="360040" cy="28803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2</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19" name="矩形 18"/>
            <p:cNvSpPr/>
            <p:nvPr/>
          </p:nvSpPr>
          <p:spPr>
            <a:xfrm>
              <a:off x="2856906" y="2700433"/>
              <a:ext cx="360040" cy="28803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3</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20" name="矩形 19"/>
            <p:cNvSpPr/>
            <p:nvPr/>
          </p:nvSpPr>
          <p:spPr>
            <a:xfrm>
              <a:off x="611560" y="2614879"/>
              <a:ext cx="1440160" cy="378565"/>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原始数据集</a:t>
              </a:r>
            </a:p>
          </p:txBody>
        </p:sp>
        <p:sp>
          <p:nvSpPr>
            <p:cNvPr id="21" name="矩形 20"/>
            <p:cNvSpPr/>
            <p:nvPr/>
          </p:nvSpPr>
          <p:spPr>
            <a:xfrm>
              <a:off x="1725708" y="3363763"/>
              <a:ext cx="360040" cy="288032"/>
            </a:xfrm>
            <a:prstGeom prst="rect">
              <a:avLst/>
            </a:prstGeom>
            <a:solidFill>
              <a:srgbClr val="0D7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1</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22" name="矩形 21"/>
            <p:cNvSpPr/>
            <p:nvPr/>
          </p:nvSpPr>
          <p:spPr>
            <a:xfrm>
              <a:off x="2864677" y="3377772"/>
              <a:ext cx="360040" cy="28803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2</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23" name="矩形 22"/>
            <p:cNvSpPr/>
            <p:nvPr/>
          </p:nvSpPr>
          <p:spPr>
            <a:xfrm>
              <a:off x="539552" y="3276512"/>
              <a:ext cx="1584176"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采样数据集</a:t>
              </a:r>
              <a:r>
                <a:rPr lang="en-US" altLang="zh-CN" sz="1400" dirty="0">
                  <a:latin typeface="微软雅黑 Light" panose="020B0502040204020203" pitchFamily="34" charset="-122"/>
                  <a:ea typeface="微软雅黑 Light" panose="020B0502040204020203" pitchFamily="34" charset="-122"/>
                </a:rPr>
                <a:t>1</a:t>
              </a:r>
              <a:endParaRPr lang="zh-CN" altLang="en-US" sz="1400" dirty="0">
                <a:latin typeface="微软雅黑 Light" panose="020B0502040204020203" pitchFamily="34" charset="-122"/>
                <a:ea typeface="微软雅黑 Light" panose="020B0502040204020203" pitchFamily="34" charset="-122"/>
              </a:endParaRPr>
            </a:p>
          </p:txBody>
        </p:sp>
        <p:sp>
          <p:nvSpPr>
            <p:cNvPr id="24" name="矩形 23"/>
            <p:cNvSpPr/>
            <p:nvPr/>
          </p:nvSpPr>
          <p:spPr>
            <a:xfrm>
              <a:off x="2312532" y="4009430"/>
              <a:ext cx="360040" cy="28803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2</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25" name="矩形 24"/>
            <p:cNvSpPr/>
            <p:nvPr/>
          </p:nvSpPr>
          <p:spPr>
            <a:xfrm>
              <a:off x="539552" y="3925773"/>
              <a:ext cx="1584176"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采样数据集</a:t>
              </a:r>
              <a:r>
                <a:rPr lang="en-US" altLang="zh-CN" sz="1400" dirty="0">
                  <a:latin typeface="微软雅黑 Light" panose="020B0502040204020203" pitchFamily="34" charset="-122"/>
                  <a:ea typeface="微软雅黑 Light" panose="020B0502040204020203" pitchFamily="34" charset="-122"/>
                </a:rPr>
                <a:t>2</a:t>
              </a:r>
              <a:endParaRPr lang="zh-CN" altLang="en-US" sz="1400" dirty="0">
                <a:latin typeface="微软雅黑 Light" panose="020B0502040204020203" pitchFamily="34" charset="-122"/>
                <a:ea typeface="微软雅黑 Light" panose="020B0502040204020203" pitchFamily="34" charset="-122"/>
              </a:endParaRPr>
            </a:p>
          </p:txBody>
        </p:sp>
        <p:sp>
          <p:nvSpPr>
            <p:cNvPr id="26" name="矩形 25"/>
            <p:cNvSpPr/>
            <p:nvPr/>
          </p:nvSpPr>
          <p:spPr>
            <a:xfrm>
              <a:off x="2312532" y="3377772"/>
              <a:ext cx="360040" cy="288032"/>
            </a:xfrm>
            <a:prstGeom prst="rect">
              <a:avLst/>
            </a:prstGeom>
            <a:solidFill>
              <a:srgbClr val="0D7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1</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27" name="矩形 26"/>
            <p:cNvSpPr/>
            <p:nvPr/>
          </p:nvSpPr>
          <p:spPr>
            <a:xfrm>
              <a:off x="1725708" y="4601689"/>
              <a:ext cx="360040" cy="28803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2</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28" name="矩形 27"/>
            <p:cNvSpPr/>
            <p:nvPr/>
          </p:nvSpPr>
          <p:spPr>
            <a:xfrm>
              <a:off x="2868747" y="4601808"/>
              <a:ext cx="360040" cy="28803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3</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30" name="矩形 29"/>
            <p:cNvSpPr/>
            <p:nvPr/>
          </p:nvSpPr>
          <p:spPr>
            <a:xfrm>
              <a:off x="2313413" y="4601689"/>
              <a:ext cx="360040" cy="28803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3</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31" name="矩形 30"/>
            <p:cNvSpPr/>
            <p:nvPr/>
          </p:nvSpPr>
          <p:spPr>
            <a:xfrm>
              <a:off x="2856906" y="4009430"/>
              <a:ext cx="360040" cy="28803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2</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32" name="矩形 31"/>
            <p:cNvSpPr/>
            <p:nvPr/>
          </p:nvSpPr>
          <p:spPr>
            <a:xfrm>
              <a:off x="1725708" y="4009430"/>
              <a:ext cx="360040" cy="288032"/>
            </a:xfrm>
            <a:prstGeom prst="rect">
              <a:avLst/>
            </a:prstGeom>
            <a:solidFill>
              <a:srgbClr val="0D73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1</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34" name="矩形 33"/>
            <p:cNvSpPr/>
            <p:nvPr/>
          </p:nvSpPr>
          <p:spPr>
            <a:xfrm>
              <a:off x="539552" y="4536794"/>
              <a:ext cx="1584176"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采样数据集</a:t>
              </a:r>
              <a:r>
                <a:rPr lang="en-US" altLang="zh-CN" sz="1400" dirty="0">
                  <a:latin typeface="微软雅黑 Light" panose="020B0502040204020203" pitchFamily="34" charset="-122"/>
                  <a:ea typeface="微软雅黑 Light" panose="020B0502040204020203" pitchFamily="34" charset="-122"/>
                </a:rPr>
                <a:t>3</a:t>
              </a:r>
              <a:endParaRPr lang="zh-CN" altLang="en-US" sz="1400" dirty="0">
                <a:latin typeface="微软雅黑 Light" panose="020B0502040204020203" pitchFamily="34" charset="-122"/>
                <a:ea typeface="微软雅黑 Light" panose="020B0502040204020203" pitchFamily="34" charset="-122"/>
              </a:endParaRPr>
            </a:p>
          </p:txBody>
        </p:sp>
        <p:cxnSp>
          <p:nvCxnSpPr>
            <p:cNvPr id="35" name="直接箭头连接符 34"/>
            <p:cNvCxnSpPr/>
            <p:nvPr/>
          </p:nvCxnSpPr>
          <p:spPr>
            <a:xfrm>
              <a:off x="3678726" y="4725144"/>
              <a:ext cx="648072" cy="0"/>
            </a:xfrm>
            <a:prstGeom prst="straightConnector1">
              <a:avLst/>
            </a:prstGeom>
            <a:noFill/>
            <a:ln w="15875" cap="flat" cmpd="sng">
              <a:solidFill>
                <a:schemeClr val="tx1"/>
              </a:solidFill>
              <a:prstDash val="solid"/>
              <a:round/>
              <a:headEnd/>
              <a:tailEnd type="triangle"/>
            </a:ln>
            <a:effectLst/>
          </p:spPr>
        </p:cxnSp>
        <p:cxnSp>
          <p:nvCxnSpPr>
            <p:cNvPr id="36" name="直接箭头连接符 35"/>
            <p:cNvCxnSpPr/>
            <p:nvPr/>
          </p:nvCxnSpPr>
          <p:spPr>
            <a:xfrm>
              <a:off x="3678726" y="3501008"/>
              <a:ext cx="648072" cy="0"/>
            </a:xfrm>
            <a:prstGeom prst="straightConnector1">
              <a:avLst/>
            </a:prstGeom>
            <a:noFill/>
            <a:ln w="15875" cap="flat" cmpd="sng">
              <a:solidFill>
                <a:schemeClr val="tx1"/>
              </a:solidFill>
              <a:prstDash val="solid"/>
              <a:round/>
              <a:headEnd/>
              <a:tailEnd type="triangle"/>
            </a:ln>
            <a:effectLst/>
          </p:spPr>
        </p:cxnSp>
        <p:cxnSp>
          <p:nvCxnSpPr>
            <p:cNvPr id="37" name="直接箭头连接符 36"/>
            <p:cNvCxnSpPr/>
            <p:nvPr/>
          </p:nvCxnSpPr>
          <p:spPr>
            <a:xfrm>
              <a:off x="3678726" y="4149080"/>
              <a:ext cx="648072" cy="0"/>
            </a:xfrm>
            <a:prstGeom prst="straightConnector1">
              <a:avLst/>
            </a:prstGeom>
            <a:noFill/>
            <a:ln w="15875" cap="flat" cmpd="sng">
              <a:solidFill>
                <a:schemeClr val="tx1"/>
              </a:solidFill>
              <a:prstDash val="solid"/>
              <a:round/>
              <a:headEnd/>
              <a:tailEnd type="triangle"/>
            </a:ln>
            <a:effectLst/>
          </p:spPr>
        </p:cxnSp>
        <p:sp>
          <p:nvSpPr>
            <p:cNvPr id="38" name="矩形 37"/>
            <p:cNvSpPr/>
            <p:nvPr/>
          </p:nvSpPr>
          <p:spPr>
            <a:xfrm>
              <a:off x="4481908" y="3272097"/>
              <a:ext cx="797049"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模型</a:t>
              </a:r>
              <a:r>
                <a:rPr lang="en-US" altLang="zh-CN" sz="1400" dirty="0">
                  <a:latin typeface="微软雅黑 Light" panose="020B0502040204020203" pitchFamily="34" charset="-122"/>
                  <a:ea typeface="微软雅黑 Light" panose="020B0502040204020203" pitchFamily="34" charset="-122"/>
                </a:rPr>
                <a:t>1</a:t>
              </a:r>
              <a:endParaRPr lang="zh-CN" altLang="en-US" sz="1400" dirty="0">
                <a:latin typeface="微软雅黑 Light" panose="020B0502040204020203" pitchFamily="34" charset="-122"/>
                <a:ea typeface="微软雅黑 Light" panose="020B0502040204020203" pitchFamily="34" charset="-122"/>
              </a:endParaRPr>
            </a:p>
          </p:txBody>
        </p:sp>
        <p:sp>
          <p:nvSpPr>
            <p:cNvPr id="39" name="圆角矩形 38"/>
            <p:cNvSpPr/>
            <p:nvPr/>
          </p:nvSpPr>
          <p:spPr>
            <a:xfrm>
              <a:off x="4400309" y="3922614"/>
              <a:ext cx="819763" cy="418191"/>
            </a:xfrm>
            <a:prstGeom prst="roundRect">
              <a:avLst>
                <a:gd name="adj" fmla="val 5000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4481907" y="3915760"/>
              <a:ext cx="797049"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模型</a:t>
              </a:r>
              <a:r>
                <a:rPr lang="en-US" altLang="zh-CN" sz="1400" dirty="0">
                  <a:latin typeface="微软雅黑 Light" panose="020B0502040204020203" pitchFamily="34" charset="-122"/>
                  <a:ea typeface="微软雅黑 Light" panose="020B0502040204020203" pitchFamily="34" charset="-122"/>
                </a:rPr>
                <a:t>2</a:t>
              </a:r>
              <a:endParaRPr lang="zh-CN" altLang="en-US" sz="1400" dirty="0">
                <a:latin typeface="微软雅黑 Light" panose="020B0502040204020203" pitchFamily="34" charset="-122"/>
                <a:ea typeface="微软雅黑 Light" panose="020B0502040204020203" pitchFamily="34" charset="-122"/>
              </a:endParaRPr>
            </a:p>
          </p:txBody>
        </p:sp>
        <p:sp>
          <p:nvSpPr>
            <p:cNvPr id="41" name="圆角矩形 40"/>
            <p:cNvSpPr/>
            <p:nvPr/>
          </p:nvSpPr>
          <p:spPr>
            <a:xfrm>
              <a:off x="4391980" y="4525629"/>
              <a:ext cx="828092" cy="418191"/>
            </a:xfrm>
            <a:prstGeom prst="roundRect">
              <a:avLst>
                <a:gd name="adj" fmla="val 5000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481906" y="4512139"/>
              <a:ext cx="797049"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模型</a:t>
              </a:r>
              <a:r>
                <a:rPr lang="en-US" altLang="zh-CN" sz="1400" dirty="0">
                  <a:latin typeface="微软雅黑 Light" panose="020B0502040204020203" pitchFamily="34" charset="-122"/>
                  <a:ea typeface="微软雅黑 Light" panose="020B0502040204020203" pitchFamily="34" charset="-122"/>
                </a:rPr>
                <a:t>3</a:t>
              </a:r>
              <a:endParaRPr lang="zh-CN" altLang="en-US" sz="1400" dirty="0">
                <a:latin typeface="微软雅黑 Light" panose="020B0502040204020203" pitchFamily="34" charset="-122"/>
                <a:ea typeface="微软雅黑 Light" panose="020B0502040204020203" pitchFamily="34" charset="-122"/>
              </a:endParaRPr>
            </a:p>
          </p:txBody>
        </p:sp>
        <p:cxnSp>
          <p:nvCxnSpPr>
            <p:cNvPr id="43" name="直接箭头连接符 42"/>
            <p:cNvCxnSpPr/>
            <p:nvPr/>
          </p:nvCxnSpPr>
          <p:spPr>
            <a:xfrm flipV="1">
              <a:off x="5278955" y="4745705"/>
              <a:ext cx="733205" cy="381"/>
            </a:xfrm>
            <a:prstGeom prst="straightConnector1">
              <a:avLst/>
            </a:prstGeom>
            <a:noFill/>
            <a:ln w="15875" cap="flat" cmpd="sng">
              <a:solidFill>
                <a:schemeClr val="tx1"/>
              </a:solidFill>
              <a:prstDash val="solid"/>
              <a:round/>
              <a:headEnd/>
              <a:tailEnd type="triangle"/>
            </a:ln>
            <a:effectLst/>
          </p:spPr>
        </p:cxnSp>
        <p:cxnSp>
          <p:nvCxnSpPr>
            <p:cNvPr id="44" name="直接箭头连接符 43"/>
            <p:cNvCxnSpPr/>
            <p:nvPr/>
          </p:nvCxnSpPr>
          <p:spPr>
            <a:xfrm flipV="1">
              <a:off x="5278955" y="3521788"/>
              <a:ext cx="733205" cy="162"/>
            </a:xfrm>
            <a:prstGeom prst="straightConnector1">
              <a:avLst/>
            </a:prstGeom>
            <a:noFill/>
            <a:ln w="15875" cap="flat" cmpd="sng">
              <a:solidFill>
                <a:schemeClr val="tx1"/>
              </a:solidFill>
              <a:prstDash val="solid"/>
              <a:round/>
              <a:headEnd/>
              <a:tailEnd type="triangle"/>
            </a:ln>
            <a:effectLst/>
          </p:spPr>
        </p:cxnSp>
        <p:cxnSp>
          <p:nvCxnSpPr>
            <p:cNvPr id="45" name="直接箭头连接符 44"/>
            <p:cNvCxnSpPr/>
            <p:nvPr/>
          </p:nvCxnSpPr>
          <p:spPr>
            <a:xfrm>
              <a:off x="5278955" y="4170022"/>
              <a:ext cx="733205" cy="2120"/>
            </a:xfrm>
            <a:prstGeom prst="straightConnector1">
              <a:avLst/>
            </a:prstGeom>
            <a:noFill/>
            <a:ln w="15875" cap="flat" cmpd="sng">
              <a:solidFill>
                <a:schemeClr val="tx1"/>
              </a:solidFill>
              <a:prstDash val="solid"/>
              <a:round/>
              <a:headEnd/>
              <a:tailEnd type="triangle"/>
            </a:ln>
            <a:effectLst/>
          </p:spPr>
        </p:cxnSp>
        <p:pic>
          <p:nvPicPr>
            <p:cNvPr id="46" name="图片 45"/>
            <p:cNvPicPr>
              <a:picLocks noChangeAspect="1"/>
            </p:cNvPicPr>
            <p:nvPr/>
          </p:nvPicPr>
          <p:blipFill rotWithShape="1">
            <a:blip r:embed="rId5" cstate="print">
              <a:extLst>
                <a:ext uri="{28A0092B-C50C-407E-A947-70E740481C1C}">
                  <a14:useLocalDpi xmlns:a14="http://schemas.microsoft.com/office/drawing/2010/main" val="0"/>
                </a:ext>
              </a:extLst>
            </a:blip>
            <a:srcRect l="23423" r="18107"/>
            <a:stretch/>
          </p:blipFill>
          <p:spPr>
            <a:xfrm>
              <a:off x="5382169" y="2900066"/>
              <a:ext cx="504056" cy="480868"/>
            </a:xfrm>
            <a:prstGeom prst="rect">
              <a:avLst/>
            </a:prstGeom>
          </p:spPr>
        </p:pic>
        <p:sp>
          <p:nvSpPr>
            <p:cNvPr id="47" name="矩形 46"/>
            <p:cNvSpPr/>
            <p:nvPr/>
          </p:nvSpPr>
          <p:spPr>
            <a:xfrm>
              <a:off x="5886225" y="3314039"/>
              <a:ext cx="980892"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a:t>
              </a:r>
              <a:r>
                <a:rPr lang="en-US" altLang="zh-CN" sz="1400" dirty="0">
                  <a:latin typeface="微软雅黑 Light" panose="020B0502040204020203" pitchFamily="34" charset="-122"/>
                  <a:ea typeface="微软雅黑 Light" panose="020B0502040204020203" pitchFamily="34" charset="-122"/>
                </a:rPr>
                <a:t>Cat</a:t>
              </a:r>
              <a:r>
                <a:rPr lang="zh-CN" altLang="en-US" sz="1400" dirty="0">
                  <a:latin typeface="微软雅黑 Light" panose="020B0502040204020203" pitchFamily="34" charset="-122"/>
                  <a:ea typeface="微软雅黑 Light" panose="020B0502040204020203" pitchFamily="34" charset="-122"/>
                </a:rPr>
                <a:t>”</a:t>
              </a:r>
            </a:p>
          </p:txBody>
        </p:sp>
        <p:sp>
          <p:nvSpPr>
            <p:cNvPr id="48" name="矩形 47"/>
            <p:cNvSpPr/>
            <p:nvPr/>
          </p:nvSpPr>
          <p:spPr>
            <a:xfrm>
              <a:off x="5906282" y="3924177"/>
              <a:ext cx="980892"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a:t>
              </a:r>
              <a:r>
                <a:rPr lang="en-US" altLang="zh-CN" sz="1400" dirty="0">
                  <a:latin typeface="微软雅黑 Light" panose="020B0502040204020203" pitchFamily="34" charset="-122"/>
                  <a:ea typeface="微软雅黑 Light" panose="020B0502040204020203" pitchFamily="34" charset="-122"/>
                </a:rPr>
                <a:t>Cat</a:t>
              </a:r>
              <a:r>
                <a:rPr lang="zh-CN" altLang="en-US" sz="1400" dirty="0">
                  <a:latin typeface="微软雅黑 Light" panose="020B0502040204020203" pitchFamily="34" charset="-122"/>
                  <a:ea typeface="微软雅黑 Light" panose="020B0502040204020203" pitchFamily="34" charset="-122"/>
                </a:rPr>
                <a:t>”</a:t>
              </a:r>
            </a:p>
          </p:txBody>
        </p:sp>
        <p:sp>
          <p:nvSpPr>
            <p:cNvPr id="49" name="矩形 48"/>
            <p:cNvSpPr/>
            <p:nvPr/>
          </p:nvSpPr>
          <p:spPr>
            <a:xfrm>
              <a:off x="5883847" y="4492764"/>
              <a:ext cx="980892"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a:t>
              </a:r>
              <a:r>
                <a:rPr lang="en-US" altLang="zh-CN" sz="1400" dirty="0">
                  <a:latin typeface="微软雅黑 Light" panose="020B0502040204020203" pitchFamily="34" charset="-122"/>
                  <a:ea typeface="微软雅黑 Light" panose="020B0502040204020203" pitchFamily="34" charset="-122"/>
                </a:rPr>
                <a:t>Dog</a:t>
              </a:r>
              <a:r>
                <a:rPr lang="zh-CN" altLang="en-US" sz="1400" dirty="0">
                  <a:latin typeface="微软雅黑 Light" panose="020B0502040204020203" pitchFamily="34" charset="-122"/>
                  <a:ea typeface="微软雅黑 Light" panose="020B0502040204020203" pitchFamily="34" charset="-122"/>
                </a:rPr>
                <a:t>”</a:t>
              </a:r>
            </a:p>
          </p:txBody>
        </p:sp>
        <p:sp>
          <p:nvSpPr>
            <p:cNvPr id="50" name="右箭头 49"/>
            <p:cNvSpPr/>
            <p:nvPr/>
          </p:nvSpPr>
          <p:spPr>
            <a:xfrm>
              <a:off x="6719919" y="4065729"/>
              <a:ext cx="733204" cy="227441"/>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7451691" y="3959374"/>
              <a:ext cx="980892"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a:t>
              </a:r>
              <a:r>
                <a:rPr lang="en-US" altLang="zh-CN" sz="1400" dirty="0">
                  <a:latin typeface="微软雅黑 Light" panose="020B0502040204020203" pitchFamily="34" charset="-122"/>
                  <a:ea typeface="微软雅黑 Light" panose="020B0502040204020203" pitchFamily="34" charset="-122"/>
                </a:rPr>
                <a:t>Cat</a:t>
              </a:r>
              <a:r>
                <a:rPr lang="zh-CN" altLang="en-US" sz="1400" dirty="0">
                  <a:latin typeface="微软雅黑 Light" panose="020B0502040204020203" pitchFamily="34" charset="-122"/>
                  <a:ea typeface="微软雅黑 Light" panose="020B0502040204020203" pitchFamily="34" charset="-122"/>
                </a:rPr>
                <a:t>”</a:t>
              </a:r>
            </a:p>
          </p:txBody>
        </p:sp>
        <p:sp>
          <p:nvSpPr>
            <p:cNvPr id="52" name="矩形 51"/>
            <p:cNvSpPr/>
            <p:nvPr/>
          </p:nvSpPr>
          <p:spPr>
            <a:xfrm>
              <a:off x="6698370" y="3765394"/>
              <a:ext cx="736068"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取平均</a:t>
              </a:r>
            </a:p>
          </p:txBody>
        </p:sp>
      </p:grpSp>
      <p:sp>
        <p:nvSpPr>
          <p:cNvPr id="53" name="矩形 52"/>
          <p:cNvSpPr/>
          <p:nvPr/>
        </p:nvSpPr>
        <p:spPr>
          <a:xfrm>
            <a:off x="822536" y="5332880"/>
            <a:ext cx="5129106" cy="458908"/>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模型平均是减小泛化误差的一种可靠方法</a:t>
            </a:r>
          </a:p>
        </p:txBody>
      </p:sp>
      <p:pic>
        <p:nvPicPr>
          <p:cNvPr id="55" name="图片 54"/>
          <p:cNvPicPr>
            <a:picLocks noChangeAspect="1"/>
          </p:cNvPicPr>
          <p:nvPr/>
        </p:nvPicPr>
        <p:blipFill>
          <a:blip r:embed="rId6"/>
          <a:stretch>
            <a:fillRect/>
          </a:stretch>
        </p:blipFill>
        <p:spPr>
          <a:xfrm>
            <a:off x="1690498" y="6538325"/>
            <a:ext cx="8810625" cy="319676"/>
          </a:xfrm>
          <a:prstGeom prst="rect">
            <a:avLst/>
          </a:prstGeom>
        </p:spPr>
      </p:pic>
      <p:sp>
        <p:nvSpPr>
          <p:cNvPr id="56" name="灯片编号占位符 8">
            <a:extLst>
              <a:ext uri="{FF2B5EF4-FFF2-40B4-BE49-F238E27FC236}">
                <a16:creationId xmlns:a16="http://schemas.microsoft.com/office/drawing/2014/main" id="{5B7BCF9B-78AD-46AC-8DE7-0F77C99F3D95}"/>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69</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9945842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600" b="1" dirty="0"/>
              <a:t>Dropout</a:t>
            </a:r>
            <a:r>
              <a:rPr lang="zh-CN" altLang="en-US" sz="2600" b="1" dirty="0"/>
              <a:t>正则化</a:t>
            </a:r>
            <a:endParaRPr lang="en-US" altLang="zh-CN" sz="2600" b="1" dirty="0"/>
          </a:p>
        </p:txBody>
      </p:sp>
      <mc:AlternateContent xmlns:mc="http://schemas.openxmlformats.org/markup-compatibility/2006" xmlns:a14="http://schemas.microsoft.com/office/drawing/2010/main">
        <mc:Choice Requires="a14">
          <p:sp>
            <p:nvSpPr>
              <p:cNvPr id="8" name="矩形 7"/>
              <p:cNvSpPr/>
              <p:nvPr/>
            </p:nvSpPr>
            <p:spPr>
              <a:xfrm>
                <a:off x="1394847" y="1434905"/>
                <a:ext cx="9562455" cy="923330"/>
              </a:xfrm>
              <a:prstGeom prst="rect">
                <a:avLst/>
              </a:prstGeom>
            </p:spPr>
            <p:txBody>
              <a:bodyPr wrap="square">
                <a:spAutoFit/>
              </a:bodyPr>
              <a:lstStyle/>
              <a:p>
                <a:pPr marL="285750" indent="-285750">
                  <a:lnSpc>
                    <a:spcPct val="150000"/>
                  </a:lnSpc>
                  <a:buFont typeface="Wingdings" panose="05000000000000000000" pitchFamily="2" charset="2"/>
                  <a:buChar char="Ø"/>
                </a:pPr>
                <a14:m>
                  <m:oMath xmlns:m="http://schemas.openxmlformats.org/officeDocument/2006/math">
                    <m:sSup>
                      <m:sSupPr>
                        <m:ctrlPr>
                          <a:rPr lang="en-US" altLang="zh-CN" i="1" smtClean="0">
                            <a:solidFill>
                              <a:schemeClr val="tx1"/>
                            </a:solidFill>
                            <a:latin typeface="Cambria Math" panose="02040503050406030204" pitchFamily="18" charset="0"/>
                            <a:ea typeface="微软雅黑" panose="020B0503020204020204" pitchFamily="34" charset="-122"/>
                          </a:rPr>
                        </m:ctrlPr>
                      </m:sSupPr>
                      <m:e>
                        <m:r>
                          <a:rPr lang="en-US" altLang="zh-CN" i="1">
                            <a:solidFill>
                              <a:schemeClr val="tx1"/>
                            </a:solidFill>
                            <a:latin typeface="Cambria Math" panose="02040503050406030204" pitchFamily="18" charset="0"/>
                            <a:ea typeface="微软雅黑" panose="020B0503020204020204" pitchFamily="34" charset="-122"/>
                          </a:rPr>
                          <m:t>𝐿</m:t>
                        </m:r>
                      </m:e>
                      <m:sup>
                        <m:r>
                          <a:rPr lang="en-US" altLang="zh-CN" b="0" i="1" smtClean="0">
                            <a:solidFill>
                              <a:schemeClr val="tx1"/>
                            </a:solidFill>
                            <a:latin typeface="Cambria Math" panose="02040503050406030204" pitchFamily="18" charset="0"/>
                            <a:ea typeface="微软雅黑" panose="020B0503020204020204" pitchFamily="34" charset="-122"/>
                          </a:rPr>
                          <m:t>2</m:t>
                        </m:r>
                      </m:sup>
                    </m:sSup>
                    <m:r>
                      <a:rPr lang="en-US" altLang="zh-CN" b="0" i="1" smtClean="0">
                        <a:solidFill>
                          <a:schemeClr val="tx1"/>
                        </a:solidFill>
                        <a:latin typeface="Cambria Math" panose="02040503050406030204" pitchFamily="18" charset="0"/>
                        <a:ea typeface="微软雅黑" panose="020B0503020204020204" pitchFamily="34" charset="-122"/>
                      </a:rPr>
                      <m:t> </m:t>
                    </m:r>
                    <m:r>
                      <a:rPr lang="zh-CN" altLang="en-US" i="1" smtClean="0">
                        <a:latin typeface="Cambria Math" panose="02040503050406030204" pitchFamily="18" charset="0"/>
                        <a:ea typeface="微软雅黑" panose="020B0503020204020204" pitchFamily="34" charset="-122"/>
                      </a:rPr>
                      <m:t>和</m:t>
                    </m:r>
                    <m:r>
                      <a:rPr lang="en-US" altLang="zh-CN" b="0" i="1" smtClean="0">
                        <a:latin typeface="Cambria Math" panose="02040503050406030204" pitchFamily="18" charset="0"/>
                        <a:ea typeface="微软雅黑" panose="020B0503020204020204" pitchFamily="34" charset="-122"/>
                      </a:rPr>
                      <m:t> </m:t>
                    </m:r>
                    <m:sSup>
                      <m:sSupPr>
                        <m:ctrlPr>
                          <a:rPr lang="en-US" altLang="zh-CN" i="1" smtClean="0">
                            <a:solidFill>
                              <a:schemeClr val="tx1"/>
                            </a:solidFill>
                            <a:latin typeface="Cambria Math" panose="02040503050406030204" pitchFamily="18" charset="0"/>
                            <a:ea typeface="微软雅黑" panose="020B0503020204020204" pitchFamily="34" charset="-122"/>
                          </a:rPr>
                        </m:ctrlPr>
                      </m:sSupPr>
                      <m:e>
                        <m:r>
                          <a:rPr lang="en-US" altLang="zh-CN" i="1">
                            <a:solidFill>
                              <a:schemeClr val="tx1"/>
                            </a:solidFill>
                            <a:latin typeface="Cambria Math" panose="02040503050406030204" pitchFamily="18" charset="0"/>
                            <a:ea typeface="微软雅黑" panose="020B0503020204020204" pitchFamily="34" charset="-122"/>
                          </a:rPr>
                          <m:t>𝐿</m:t>
                        </m:r>
                      </m:e>
                      <m:sup>
                        <m:r>
                          <a:rPr lang="en-US" altLang="zh-CN" i="1">
                            <a:solidFill>
                              <a:schemeClr val="tx1"/>
                            </a:solidFill>
                            <a:latin typeface="Cambria Math" panose="02040503050406030204" pitchFamily="18" charset="0"/>
                            <a:ea typeface="微软雅黑" panose="020B0503020204020204" pitchFamily="34" charset="-122"/>
                          </a:rPr>
                          <m:t>1</m:t>
                        </m:r>
                      </m:sup>
                    </m:sSup>
                  </m:oMath>
                </a14:m>
                <a:r>
                  <a:rPr lang="zh-CN" altLang="en-US" dirty="0">
                    <a:solidFill>
                      <a:schemeClr val="tx1"/>
                    </a:solidFill>
                    <a:latin typeface="微软雅黑 Light" panose="020B0502040204020203" pitchFamily="34" charset="-122"/>
                    <a:ea typeface="微软雅黑 Light" panose="020B0502040204020203" pitchFamily="34" charset="-122"/>
                  </a:rPr>
                  <a:t>正则化是通过在目标函数中增加一项惩罚项，</a:t>
                </a:r>
                <a:r>
                  <a:rPr lang="en-US" altLang="zh-CN" dirty="0">
                    <a:solidFill>
                      <a:schemeClr val="tx1"/>
                    </a:solidFill>
                    <a:latin typeface="微软雅黑 Light" panose="020B0502040204020203" pitchFamily="34" charset="-122"/>
                    <a:ea typeface="微软雅黑 Light" panose="020B0502040204020203" pitchFamily="34" charset="-122"/>
                  </a:rPr>
                  <a:t>Dropout</a:t>
                </a:r>
                <a:r>
                  <a:rPr lang="zh-CN" altLang="en-US" dirty="0">
                    <a:solidFill>
                      <a:schemeClr val="tx1"/>
                    </a:solidFill>
                    <a:latin typeface="微软雅黑 Light" panose="020B0502040204020203" pitchFamily="34" charset="-122"/>
                    <a:ea typeface="微软雅黑 Light" panose="020B0502040204020203" pitchFamily="34" charset="-122"/>
                  </a:rPr>
                  <a:t>正则化（</a:t>
                </a:r>
                <a:r>
                  <a:rPr lang="en-US" altLang="zh-CN" dirty="0"/>
                  <a:t>Srivastava et al., 2014</a:t>
                </a:r>
                <a:r>
                  <a:rPr lang="zh-CN" altLang="en-US" dirty="0"/>
                  <a:t>）</a:t>
                </a:r>
                <a:r>
                  <a:rPr lang="zh-CN" altLang="en-US" dirty="0">
                    <a:solidFill>
                      <a:schemeClr val="tx1"/>
                    </a:solidFill>
                    <a:latin typeface="微软雅黑 Light" panose="020B0502040204020203" pitchFamily="34" charset="-122"/>
                    <a:ea typeface="微软雅黑 Light" panose="020B0502040204020203" pitchFamily="34" charset="-122"/>
                  </a:rPr>
                  <a:t>是通过在训练时暂时修改神经网络来实现的。</a:t>
                </a:r>
              </a:p>
            </p:txBody>
          </p:sp>
        </mc:Choice>
        <mc:Fallback xmlns="">
          <p:sp>
            <p:nvSpPr>
              <p:cNvPr id="8" name="矩形 7"/>
              <p:cNvSpPr>
                <a:spLocks noRot="1" noChangeAspect="1" noMove="1" noResize="1" noEditPoints="1" noAdjustHandles="1" noChangeArrowheads="1" noChangeShapeType="1" noTextEdit="1"/>
              </p:cNvSpPr>
              <p:nvPr/>
            </p:nvSpPr>
            <p:spPr>
              <a:xfrm>
                <a:off x="1394847" y="1434905"/>
                <a:ext cx="9562455" cy="923330"/>
              </a:xfrm>
              <a:prstGeom prst="rect">
                <a:avLst/>
              </a:prstGeom>
              <a:blipFill rotWithShape="0">
                <a:blip r:embed="rId5"/>
                <a:stretch>
                  <a:fillRect l="-446" b="-4605"/>
                </a:stretch>
              </a:blipFill>
            </p:spPr>
            <p:txBody>
              <a:bodyPr/>
              <a:lstStyle/>
              <a:p>
                <a:r>
                  <a:rPr lang="zh-CN" altLang="en-US">
                    <a:noFill/>
                  </a:rPr>
                  <a:t> </a:t>
                </a:r>
              </a:p>
            </p:txBody>
          </p:sp>
        </mc:Fallback>
      </mc:AlternateContent>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48833" y="3183612"/>
            <a:ext cx="2952750" cy="3086100"/>
          </a:xfrm>
          <a:prstGeom prst="rect">
            <a:avLst/>
          </a:prstGeom>
        </p:spPr>
      </p:pic>
      <p:pic>
        <p:nvPicPr>
          <p:cNvPr id="10" name="图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55454" y="3199111"/>
            <a:ext cx="2952750" cy="3086100"/>
          </a:xfrm>
          <a:prstGeom prst="rect">
            <a:avLst/>
          </a:prstGeom>
        </p:spPr>
      </p:pic>
      <p:sp>
        <p:nvSpPr>
          <p:cNvPr id="11" name="右箭头 10"/>
          <p:cNvSpPr/>
          <p:nvPr/>
        </p:nvSpPr>
        <p:spPr>
          <a:xfrm>
            <a:off x="5461201" y="4482500"/>
            <a:ext cx="380394" cy="32812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394847" y="2306597"/>
            <a:ext cx="9329980" cy="507831"/>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altLang="zh-CN" dirty="0">
                <a:latin typeface="微软雅黑 Light" panose="020B0502040204020203" pitchFamily="34" charset="-122"/>
                <a:ea typeface="微软雅黑 Light" panose="020B0502040204020203" pitchFamily="34" charset="-122"/>
              </a:rPr>
              <a:t>Dropout</a:t>
            </a:r>
            <a:r>
              <a:rPr lang="zh-CN" altLang="en-US" dirty="0">
                <a:latin typeface="微软雅黑 Light" panose="020B0502040204020203" pitchFamily="34" charset="-122"/>
                <a:ea typeface="微软雅黑 Light" panose="020B0502040204020203" pitchFamily="34" charset="-122"/>
              </a:rPr>
              <a:t>正则化思路：在训练过程中随机地“删除”一些隐层单元，在计算时无视这些连接。</a:t>
            </a:r>
          </a:p>
        </p:txBody>
      </p:sp>
      <p:pic>
        <p:nvPicPr>
          <p:cNvPr id="14" name="图片 13"/>
          <p:cNvPicPr>
            <a:picLocks noChangeAspect="1"/>
          </p:cNvPicPr>
          <p:nvPr/>
        </p:nvPicPr>
        <p:blipFill>
          <a:blip r:embed="rId8"/>
          <a:stretch>
            <a:fillRect/>
          </a:stretch>
        </p:blipFill>
        <p:spPr>
          <a:xfrm>
            <a:off x="1690498" y="6538325"/>
            <a:ext cx="8810625" cy="319676"/>
          </a:xfrm>
          <a:prstGeom prst="rect">
            <a:avLst/>
          </a:prstGeom>
        </p:spPr>
      </p:pic>
      <p:sp>
        <p:nvSpPr>
          <p:cNvPr id="16" name="灯片编号占位符 8">
            <a:extLst>
              <a:ext uri="{FF2B5EF4-FFF2-40B4-BE49-F238E27FC236}">
                <a16:creationId xmlns:a16="http://schemas.microsoft.com/office/drawing/2014/main" id="{48BB179E-8EE0-4278-B851-057E8D0DEC7B}"/>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70</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4127368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乘零的</a:t>
            </a:r>
            <a:r>
              <a:rPr lang="en-US" altLang="zh-CN" sz="2600" b="1" dirty="0"/>
              <a:t>Dropout</a:t>
            </a:r>
            <a:r>
              <a:rPr lang="zh-CN" altLang="en-US" sz="2600" b="1" dirty="0"/>
              <a:t>算法</a:t>
            </a:r>
            <a:endParaRPr lang="en-US" altLang="zh-CN" sz="2600" b="1" dirty="0"/>
          </a:p>
        </p:txBody>
      </p:sp>
      <p:pic>
        <p:nvPicPr>
          <p:cNvPr id="8" name="图片 7"/>
          <p:cNvPicPr>
            <a:picLocks noChangeAspect="1"/>
          </p:cNvPicPr>
          <p:nvPr/>
        </p:nvPicPr>
        <p:blipFill rotWithShape="1">
          <a:blip r:embed="rId5">
            <a:extLst>
              <a:ext uri="{28A0092B-C50C-407E-A947-70E740481C1C}">
                <a14:useLocalDpi xmlns:a14="http://schemas.microsoft.com/office/drawing/2010/main" val="0"/>
              </a:ext>
            </a:extLst>
          </a:blip>
          <a:srcRect l="37384" r="2983" b="5258"/>
          <a:stretch/>
        </p:blipFill>
        <p:spPr>
          <a:xfrm>
            <a:off x="5837378" y="1198498"/>
            <a:ext cx="3101305" cy="4593290"/>
          </a:xfrm>
          <a:prstGeom prst="rect">
            <a:avLst/>
          </a:prstGeom>
        </p:spPr>
      </p:pic>
      <p:grpSp>
        <p:nvGrpSpPr>
          <p:cNvPr id="9" name="组合 8"/>
          <p:cNvGrpSpPr/>
          <p:nvPr/>
        </p:nvGrpSpPr>
        <p:grpSpPr>
          <a:xfrm>
            <a:off x="1838197" y="2366580"/>
            <a:ext cx="1368152" cy="1944217"/>
            <a:chOff x="1187624" y="2636912"/>
            <a:chExt cx="1368152" cy="1944217"/>
          </a:xfrm>
        </p:grpSpPr>
        <p:pic>
          <p:nvPicPr>
            <p:cNvPr id="10" name="图片 9"/>
            <p:cNvPicPr>
              <a:picLocks noChangeAspect="1"/>
            </p:cNvPicPr>
            <p:nvPr/>
          </p:nvPicPr>
          <p:blipFill rotWithShape="1">
            <a:blip r:embed="rId5">
              <a:extLst>
                <a:ext uri="{28A0092B-C50C-407E-A947-70E740481C1C}">
                  <a14:useLocalDpi xmlns:a14="http://schemas.microsoft.com/office/drawing/2010/main" val="0"/>
                </a:ext>
              </a:extLst>
            </a:blip>
            <a:srcRect l="2770" t="20045" r="70924" b="39853"/>
            <a:stretch/>
          </p:blipFill>
          <p:spPr>
            <a:xfrm>
              <a:off x="1187624" y="2636912"/>
              <a:ext cx="1368152" cy="1944217"/>
            </a:xfrm>
            <a:prstGeom prst="rect">
              <a:avLst/>
            </a:prstGeom>
          </p:spPr>
        </p:pic>
        <p:pic>
          <p:nvPicPr>
            <p:cNvPr id="11" name="图片 10"/>
            <p:cNvPicPr>
              <a:picLocks noChangeAspect="1"/>
            </p:cNvPicPr>
            <p:nvPr/>
          </p:nvPicPr>
          <p:blipFill>
            <a:blip r:embed="rId6"/>
            <a:stretch>
              <a:fillRect/>
            </a:stretch>
          </p:blipFill>
          <p:spPr>
            <a:xfrm>
              <a:off x="2432465" y="3861047"/>
              <a:ext cx="123311" cy="216025"/>
            </a:xfrm>
            <a:prstGeom prst="rect">
              <a:avLst/>
            </a:prstGeom>
          </p:spPr>
        </p:pic>
      </p:grpSp>
      <p:sp>
        <p:nvSpPr>
          <p:cNvPr id="12" name="矩形 11"/>
          <p:cNvSpPr/>
          <p:nvPr/>
        </p:nvSpPr>
        <p:spPr>
          <a:xfrm>
            <a:off x="2020954" y="4300258"/>
            <a:ext cx="1291995" cy="460319"/>
          </a:xfrm>
          <a:prstGeom prst="rect">
            <a:avLst/>
          </a:prstGeom>
        </p:spPr>
        <p:txBody>
          <a:bodyPr wrap="square">
            <a:spAutoFit/>
          </a:bodyPr>
          <a:lstStyle/>
          <a:p>
            <a:pPr>
              <a:lnSpc>
                <a:spcPct val="150000"/>
              </a:lnSpc>
            </a:pPr>
            <a:r>
              <a:rPr lang="zh-CN" altLang="en-US" dirty="0">
                <a:latin typeface="微软雅黑 Light" panose="020B0502040204020203" pitchFamily="34" charset="-122"/>
                <a:ea typeface="微软雅黑 Light" panose="020B0502040204020203" pitchFamily="34" charset="-122"/>
              </a:rPr>
              <a:t>基础网络</a:t>
            </a:r>
          </a:p>
        </p:txBody>
      </p:sp>
      <p:sp>
        <p:nvSpPr>
          <p:cNvPr id="13" name="矩形 12"/>
          <p:cNvSpPr/>
          <p:nvPr/>
        </p:nvSpPr>
        <p:spPr>
          <a:xfrm>
            <a:off x="6773482" y="5788013"/>
            <a:ext cx="1588282" cy="460319"/>
          </a:xfrm>
          <a:prstGeom prst="rect">
            <a:avLst/>
          </a:prstGeom>
        </p:spPr>
        <p:txBody>
          <a:bodyPr wrap="square">
            <a:spAutoFit/>
          </a:bodyPr>
          <a:lstStyle/>
          <a:p>
            <a:pPr>
              <a:lnSpc>
                <a:spcPct val="150000"/>
              </a:lnSpc>
            </a:pPr>
            <a:r>
              <a:rPr lang="zh-CN" altLang="en-US" dirty="0">
                <a:latin typeface="微软雅黑 Light" panose="020B0502040204020203" pitchFamily="34" charset="-122"/>
                <a:ea typeface="微软雅黑 Light" panose="020B0502040204020203" pitchFamily="34" charset="-122"/>
              </a:rPr>
              <a:t>子网络集成</a:t>
            </a:r>
          </a:p>
        </p:txBody>
      </p:sp>
      <p:sp>
        <p:nvSpPr>
          <p:cNvPr id="14" name="右箭头 13"/>
          <p:cNvSpPr/>
          <p:nvPr/>
        </p:nvSpPr>
        <p:spPr>
          <a:xfrm>
            <a:off x="3567373" y="3703555"/>
            <a:ext cx="2016224" cy="27361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783397" y="2641569"/>
            <a:ext cx="1765949" cy="1156855"/>
          </a:xfrm>
          <a:prstGeom prst="rect">
            <a:avLst/>
          </a:prstGeom>
        </p:spPr>
        <p:txBody>
          <a:bodyPr wrap="square">
            <a:spAutoFit/>
          </a:bodyPr>
          <a:lstStyle/>
          <a:p>
            <a:pPr>
              <a:lnSpc>
                <a:spcPct val="150000"/>
              </a:lnSpc>
            </a:pPr>
            <a:r>
              <a:rPr lang="zh-CN" altLang="en-US" sz="1600" dirty="0">
                <a:latin typeface="微软雅黑 Light" panose="020B0502040204020203" pitchFamily="34" charset="-122"/>
                <a:ea typeface="微软雅黑 Light" panose="020B0502040204020203" pitchFamily="34" charset="-122"/>
              </a:rPr>
              <a:t>从基础网络中丢弃不同的单元子集形成子网络</a:t>
            </a:r>
          </a:p>
        </p:txBody>
      </p:sp>
      <p:pic>
        <p:nvPicPr>
          <p:cNvPr id="19" name="图片 18"/>
          <p:cNvPicPr>
            <a:picLocks noChangeAspect="1"/>
          </p:cNvPicPr>
          <p:nvPr/>
        </p:nvPicPr>
        <p:blipFill>
          <a:blip r:embed="rId7"/>
          <a:stretch>
            <a:fillRect/>
          </a:stretch>
        </p:blipFill>
        <p:spPr>
          <a:xfrm>
            <a:off x="1690498" y="6538325"/>
            <a:ext cx="8810625" cy="319676"/>
          </a:xfrm>
          <a:prstGeom prst="rect">
            <a:avLst/>
          </a:prstGeom>
        </p:spPr>
      </p:pic>
      <p:sp>
        <p:nvSpPr>
          <p:cNvPr id="20" name="灯片编号占位符 8">
            <a:extLst>
              <a:ext uri="{FF2B5EF4-FFF2-40B4-BE49-F238E27FC236}">
                <a16:creationId xmlns:a16="http://schemas.microsoft.com/office/drawing/2014/main" id="{F7FFBCDE-F0AB-4992-88AC-B3480B683C22}"/>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71</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64877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乘零的</a:t>
            </a:r>
            <a:r>
              <a:rPr lang="en-US" altLang="zh-CN" sz="2600" b="1" dirty="0"/>
              <a:t>Dropout</a:t>
            </a:r>
            <a:r>
              <a:rPr lang="zh-CN" altLang="en-US" sz="2600" b="1" dirty="0"/>
              <a:t>算法</a:t>
            </a:r>
            <a:endParaRPr lang="en-US" altLang="zh-CN" sz="2600" b="1" dirty="0"/>
          </a:p>
        </p:txBody>
      </p:sp>
      <p:grpSp>
        <p:nvGrpSpPr>
          <p:cNvPr id="18" name="组合 17"/>
          <p:cNvGrpSpPr/>
          <p:nvPr/>
        </p:nvGrpSpPr>
        <p:grpSpPr>
          <a:xfrm>
            <a:off x="2686025" y="1688281"/>
            <a:ext cx="1368152" cy="1944217"/>
            <a:chOff x="1187624" y="2636912"/>
            <a:chExt cx="1368152" cy="1944217"/>
          </a:xfrm>
        </p:grpSpPr>
        <p:pic>
          <p:nvPicPr>
            <p:cNvPr id="19" name="图片 18"/>
            <p:cNvPicPr>
              <a:picLocks noChangeAspect="1"/>
            </p:cNvPicPr>
            <p:nvPr/>
          </p:nvPicPr>
          <p:blipFill rotWithShape="1">
            <a:blip r:embed="rId5">
              <a:extLst>
                <a:ext uri="{28A0092B-C50C-407E-A947-70E740481C1C}">
                  <a14:useLocalDpi xmlns:a14="http://schemas.microsoft.com/office/drawing/2010/main" val="0"/>
                </a:ext>
              </a:extLst>
            </a:blip>
            <a:srcRect l="2770" t="20045" r="70924" b="39853"/>
            <a:stretch/>
          </p:blipFill>
          <p:spPr>
            <a:xfrm>
              <a:off x="1187624" y="2636912"/>
              <a:ext cx="1368152" cy="1944217"/>
            </a:xfrm>
            <a:prstGeom prst="rect">
              <a:avLst/>
            </a:prstGeom>
          </p:spPr>
        </p:pic>
        <p:pic>
          <p:nvPicPr>
            <p:cNvPr id="20" name="图片 19"/>
            <p:cNvPicPr>
              <a:picLocks noChangeAspect="1"/>
            </p:cNvPicPr>
            <p:nvPr/>
          </p:nvPicPr>
          <p:blipFill>
            <a:blip r:embed="rId6"/>
            <a:stretch>
              <a:fillRect/>
            </a:stretch>
          </p:blipFill>
          <p:spPr>
            <a:xfrm>
              <a:off x="2432465" y="3861047"/>
              <a:ext cx="123311" cy="216025"/>
            </a:xfrm>
            <a:prstGeom prst="rect">
              <a:avLst/>
            </a:prstGeom>
          </p:spPr>
        </p:pic>
      </p:grpSp>
      <p:sp>
        <p:nvSpPr>
          <p:cNvPr id="21" name="矩形 20"/>
          <p:cNvSpPr/>
          <p:nvPr/>
        </p:nvSpPr>
        <p:spPr>
          <a:xfrm>
            <a:off x="2928207" y="3748038"/>
            <a:ext cx="1291995" cy="460319"/>
          </a:xfrm>
          <a:prstGeom prst="rect">
            <a:avLst/>
          </a:prstGeom>
        </p:spPr>
        <p:txBody>
          <a:bodyPr wrap="square">
            <a:spAutoFit/>
          </a:bodyPr>
          <a:lstStyle/>
          <a:p>
            <a:pPr>
              <a:lnSpc>
                <a:spcPct val="150000"/>
              </a:lnSpc>
            </a:pPr>
            <a:r>
              <a:rPr lang="zh-CN" altLang="en-US" dirty="0">
                <a:latin typeface="微软雅黑 Light" panose="020B0502040204020203" pitchFamily="34" charset="-122"/>
                <a:ea typeface="微软雅黑 Light" panose="020B0502040204020203" pitchFamily="34" charset="-122"/>
              </a:rPr>
              <a:t>基础网络</a:t>
            </a:r>
          </a:p>
        </p:txBody>
      </p:sp>
      <p:pic>
        <p:nvPicPr>
          <p:cNvPr id="22" name="图片 21"/>
          <p:cNvPicPr>
            <a:picLocks noChangeAspect="1"/>
          </p:cNvPicPr>
          <p:nvPr/>
        </p:nvPicPr>
        <p:blipFill rotWithShape="1">
          <a:blip r:embed="rId7">
            <a:extLst>
              <a:ext uri="{28A0092B-C50C-407E-A947-70E740481C1C}">
                <a14:useLocalDpi xmlns:a14="http://schemas.microsoft.com/office/drawing/2010/main" val="0"/>
              </a:ext>
            </a:extLst>
          </a:blip>
          <a:srcRect l="20017" r="7364"/>
          <a:stretch/>
        </p:blipFill>
        <p:spPr>
          <a:xfrm>
            <a:off x="5888403" y="1139810"/>
            <a:ext cx="2880320" cy="3653690"/>
          </a:xfrm>
          <a:prstGeom prst="rect">
            <a:avLst/>
          </a:prstGeom>
        </p:spPr>
      </p:pic>
      <mc:AlternateContent xmlns:mc="http://schemas.openxmlformats.org/markup-compatibility/2006" xmlns:a14="http://schemas.microsoft.com/office/drawing/2010/main">
        <mc:Choice Requires="a14">
          <p:sp>
            <p:nvSpPr>
              <p:cNvPr id="23" name="矩形 22"/>
              <p:cNvSpPr/>
              <p:nvPr/>
            </p:nvSpPr>
            <p:spPr>
              <a:xfrm>
                <a:off x="1999971" y="4748054"/>
                <a:ext cx="7272808" cy="133882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随机对掩码</a:t>
                </a:r>
                <a14:m>
                  <m:oMath xmlns:m="http://schemas.openxmlformats.org/officeDocument/2006/math">
                    <m:r>
                      <a:rPr lang="zh-CN" altLang="en-US" i="1" smtClean="0">
                        <a:latin typeface="Cambria Math" panose="02040503050406030204" pitchFamily="18" charset="0"/>
                        <a:ea typeface="微软雅黑" panose="020B0503020204020204" pitchFamily="34" charset="-122"/>
                      </a:rPr>
                      <m:t>𝜇</m:t>
                    </m:r>
                  </m:oMath>
                </a14:m>
                <a:r>
                  <a:rPr lang="zh-CN" altLang="en-US" dirty="0">
                    <a:latin typeface="微软雅黑 Light" panose="020B0502040204020203" pitchFamily="34" charset="-122"/>
                    <a:ea typeface="微软雅黑 Light" panose="020B0502040204020203" pitchFamily="34" charset="-122"/>
                  </a:rPr>
                  <a:t>进行采样，输入单元的采样概率为</a:t>
                </a:r>
                <a:r>
                  <a:rPr lang="en-US" altLang="zh-CN" dirty="0">
                    <a:latin typeface="微软雅黑 Light" panose="020B0502040204020203" pitchFamily="34" charset="-122"/>
                    <a:ea typeface="微软雅黑 Light" panose="020B0502040204020203" pitchFamily="34" charset="-122"/>
                  </a:rPr>
                  <a:t>0.8</a:t>
                </a:r>
                <a:r>
                  <a:rPr lang="zh-CN" altLang="en-US" dirty="0">
                    <a:latin typeface="微软雅黑 Light" panose="020B0502040204020203" pitchFamily="34" charset="-122"/>
                    <a:ea typeface="微软雅黑 Light" panose="020B0502040204020203" pitchFamily="34" charset="-122"/>
                  </a:rPr>
                  <a:t>，隐藏单元的采样概率为</a:t>
                </a:r>
                <a:r>
                  <a:rPr lang="en-US" altLang="zh-CN" dirty="0">
                    <a:latin typeface="微软雅黑 Light" panose="020B0502040204020203" pitchFamily="34" charset="-122"/>
                    <a:ea typeface="微软雅黑 Light" panose="020B0502040204020203" pitchFamily="34" charset="-122"/>
                  </a:rPr>
                  <a:t>0.5 </a:t>
                </a:r>
                <a:r>
                  <a:rPr lang="zh-CN" altLang="en-US" dirty="0">
                    <a:latin typeface="微软雅黑 Light" panose="020B0502040204020203" pitchFamily="34" charset="-122"/>
                    <a:ea typeface="微软雅黑 Light" panose="020B0502040204020203" pitchFamily="34" charset="-122"/>
                  </a:rPr>
                  <a:t>。网络中的每个单元乘以相应的掩码后沿着网络的其余部分继续向前传播</a:t>
                </a:r>
              </a:p>
            </p:txBody>
          </p:sp>
        </mc:Choice>
        <mc:Fallback xmlns="">
          <p:sp>
            <p:nvSpPr>
              <p:cNvPr id="23" name="矩形 22"/>
              <p:cNvSpPr>
                <a:spLocks noRot="1" noChangeAspect="1" noMove="1" noResize="1" noEditPoints="1" noAdjustHandles="1" noChangeArrowheads="1" noChangeShapeType="1" noTextEdit="1"/>
              </p:cNvSpPr>
              <p:nvPr/>
            </p:nvSpPr>
            <p:spPr>
              <a:xfrm>
                <a:off x="1999971" y="4748054"/>
                <a:ext cx="7272808" cy="1338828"/>
              </a:xfrm>
              <a:prstGeom prst="rect">
                <a:avLst/>
              </a:prstGeom>
              <a:blipFill rotWithShape="0">
                <a:blip r:embed="rId8"/>
                <a:stretch>
                  <a:fillRect l="-503" r="-754" b="-2727"/>
                </a:stretch>
              </a:blipFill>
            </p:spPr>
            <p:txBody>
              <a:bodyPr/>
              <a:lstStyle/>
              <a:p>
                <a:r>
                  <a:rPr lang="zh-CN" altLang="en-US">
                    <a:noFill/>
                  </a:rPr>
                  <a:t> </a:t>
                </a:r>
              </a:p>
            </p:txBody>
          </p:sp>
        </mc:Fallback>
      </mc:AlternateContent>
      <p:pic>
        <p:nvPicPr>
          <p:cNvPr id="16" name="图片 15"/>
          <p:cNvPicPr>
            <a:picLocks noChangeAspect="1"/>
          </p:cNvPicPr>
          <p:nvPr/>
        </p:nvPicPr>
        <p:blipFill>
          <a:blip r:embed="rId9"/>
          <a:stretch>
            <a:fillRect/>
          </a:stretch>
        </p:blipFill>
        <p:spPr>
          <a:xfrm>
            <a:off x="1690498" y="6538325"/>
            <a:ext cx="8810625" cy="319676"/>
          </a:xfrm>
          <a:prstGeom prst="rect">
            <a:avLst/>
          </a:prstGeom>
        </p:spPr>
      </p:pic>
      <p:sp>
        <p:nvSpPr>
          <p:cNvPr id="24" name="灯片编号占位符 8">
            <a:extLst>
              <a:ext uri="{FF2B5EF4-FFF2-40B4-BE49-F238E27FC236}">
                <a16:creationId xmlns:a16="http://schemas.microsoft.com/office/drawing/2014/main" id="{23AB7A8C-2F1A-4725-BE4B-9985112DF415}"/>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72</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3634823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神经网络</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其他正则化方法</a:t>
            </a:r>
            <a:endParaRPr lang="en-US" altLang="zh-CN" sz="2600" b="1" dirty="0"/>
          </a:p>
        </p:txBody>
      </p:sp>
      <p:sp>
        <p:nvSpPr>
          <p:cNvPr id="8" name="矩形 7"/>
          <p:cNvSpPr/>
          <p:nvPr/>
        </p:nvSpPr>
        <p:spPr>
          <a:xfrm>
            <a:off x="760240" y="1434905"/>
            <a:ext cx="7272808" cy="45890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提前终止</a:t>
            </a:r>
          </a:p>
        </p:txBody>
      </p:sp>
      <p:sp>
        <p:nvSpPr>
          <p:cNvPr id="9" name="矩形 8"/>
          <p:cNvSpPr/>
          <p:nvPr/>
        </p:nvSpPr>
        <p:spPr>
          <a:xfrm>
            <a:off x="1026940" y="4748037"/>
            <a:ext cx="6641331" cy="738664"/>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强迫两个模型（监督模式下的训练模型和无监督模式下的训练模型）的某些参数相等，使其共享唯一的一组参数。</a:t>
            </a:r>
          </a:p>
        </p:txBody>
      </p:sp>
      <p:sp>
        <p:nvSpPr>
          <p:cNvPr id="10" name="矩形 9"/>
          <p:cNvSpPr/>
          <p:nvPr/>
        </p:nvSpPr>
        <p:spPr>
          <a:xfrm>
            <a:off x="760240" y="2832434"/>
            <a:ext cx="7272808" cy="460704"/>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多任务学习</a:t>
            </a:r>
          </a:p>
        </p:txBody>
      </p:sp>
      <p:sp>
        <p:nvSpPr>
          <p:cNvPr id="11" name="矩形 10"/>
          <p:cNvSpPr/>
          <p:nvPr/>
        </p:nvSpPr>
        <p:spPr>
          <a:xfrm>
            <a:off x="760240" y="3585428"/>
            <a:ext cx="7272808" cy="460704"/>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数据集增强</a:t>
            </a:r>
          </a:p>
        </p:txBody>
      </p:sp>
      <p:sp>
        <p:nvSpPr>
          <p:cNvPr id="12" name="矩形 11"/>
          <p:cNvSpPr/>
          <p:nvPr/>
        </p:nvSpPr>
        <p:spPr>
          <a:xfrm>
            <a:off x="741190" y="4301810"/>
            <a:ext cx="7272808" cy="507831"/>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参数共享</a:t>
            </a:r>
          </a:p>
        </p:txBody>
      </p:sp>
      <p:sp>
        <p:nvSpPr>
          <p:cNvPr id="13" name="矩形 12"/>
          <p:cNvSpPr/>
          <p:nvPr/>
        </p:nvSpPr>
        <p:spPr>
          <a:xfrm>
            <a:off x="760240" y="5425097"/>
            <a:ext cx="7272808" cy="45890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dirty="0">
                <a:latin typeface="微软雅黑 Light" panose="020B0502040204020203" pitchFamily="34" charset="-122"/>
                <a:ea typeface="微软雅黑 Light" panose="020B0502040204020203" pitchFamily="34" charset="-122"/>
              </a:rPr>
              <a:t>稀疏表示</a:t>
            </a:r>
          </a:p>
        </p:txBody>
      </p:sp>
      <p:sp>
        <p:nvSpPr>
          <p:cNvPr id="14" name="矩形 13"/>
          <p:cNvSpPr/>
          <p:nvPr/>
        </p:nvSpPr>
        <p:spPr>
          <a:xfrm>
            <a:off x="1026940" y="5822402"/>
            <a:ext cx="7848872"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惩罚神经网络中的激活单元，稀疏化激活单元。</a:t>
            </a:r>
          </a:p>
        </p:txBody>
      </p:sp>
      <p:sp>
        <p:nvSpPr>
          <p:cNvPr id="16" name="矩形 15"/>
          <p:cNvSpPr/>
          <p:nvPr/>
        </p:nvSpPr>
        <p:spPr>
          <a:xfrm>
            <a:off x="1026940" y="3984528"/>
            <a:ext cx="7704856" cy="378886"/>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使用更多的数据进行训练，可对原数据集进行变换形成新数据集添加到训练数据中。</a:t>
            </a:r>
          </a:p>
        </p:txBody>
      </p:sp>
      <p:sp>
        <p:nvSpPr>
          <p:cNvPr id="18" name="矩形 17"/>
          <p:cNvSpPr/>
          <p:nvPr/>
        </p:nvSpPr>
        <p:spPr>
          <a:xfrm>
            <a:off x="1026940" y="3231534"/>
            <a:ext cx="7704856" cy="415498"/>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多任务学习通过合并多个任务的样例来减少神经网络的泛化误差。</a:t>
            </a:r>
          </a:p>
        </p:txBody>
      </p:sp>
      <p:sp>
        <p:nvSpPr>
          <p:cNvPr id="19" name="矩形 18"/>
          <p:cNvSpPr/>
          <p:nvPr/>
        </p:nvSpPr>
        <p:spPr>
          <a:xfrm>
            <a:off x="1026940" y="1832209"/>
            <a:ext cx="6793731" cy="1061829"/>
          </a:xfrm>
          <a:prstGeom prst="rect">
            <a:avLst/>
          </a:prstGeom>
        </p:spPr>
        <p:txBody>
          <a:bodyPr wrap="square">
            <a:spAutoFit/>
          </a:bodyPr>
          <a:lstStyle/>
          <a:p>
            <a:pPr>
              <a:lnSpc>
                <a:spcPct val="150000"/>
              </a:lnSpc>
            </a:pPr>
            <a:r>
              <a:rPr lang="zh-CN" altLang="en-US" sz="1400" dirty="0">
                <a:latin typeface="微软雅黑 Light" panose="020B0502040204020203" pitchFamily="34" charset="-122"/>
                <a:ea typeface="微软雅黑 Light" panose="020B0502040204020203" pitchFamily="34" charset="-122"/>
              </a:rPr>
              <a:t>当训练较大的网络模型时，能够观察到训练误差会随着时间的推移降低但验证集的误差会再次上升。因此，在训练过程中返回验证误差达最低的参数设置，就可以获得验证集误差更低的模型，这种策略称之为提前终止。</a:t>
            </a:r>
          </a:p>
        </p:txBody>
      </p:sp>
      <p:pic>
        <p:nvPicPr>
          <p:cNvPr id="21" name="图片 20"/>
          <p:cNvPicPr>
            <a:picLocks noChangeAspect="1"/>
          </p:cNvPicPr>
          <p:nvPr/>
        </p:nvPicPr>
        <p:blipFill>
          <a:blip r:embed="rId5"/>
          <a:stretch>
            <a:fillRect/>
          </a:stretch>
        </p:blipFill>
        <p:spPr>
          <a:xfrm>
            <a:off x="1690498" y="6538325"/>
            <a:ext cx="8810625" cy="319676"/>
          </a:xfrm>
          <a:prstGeom prst="rect">
            <a:avLst/>
          </a:prstGeom>
        </p:spPr>
      </p:pic>
      <p:sp>
        <p:nvSpPr>
          <p:cNvPr id="22" name="灯片编号占位符 8">
            <a:extLst>
              <a:ext uri="{FF2B5EF4-FFF2-40B4-BE49-F238E27FC236}">
                <a16:creationId xmlns:a16="http://schemas.microsoft.com/office/drawing/2014/main" id="{7F902258-09DA-4CEC-BF29-63AE8AEC827C}"/>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73</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2946832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本章提纲</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1" name="矩形 20"/>
          <p:cNvSpPr/>
          <p:nvPr/>
        </p:nvSpPr>
        <p:spPr>
          <a:xfrm>
            <a:off x="946463" y="697477"/>
            <a:ext cx="10301608" cy="58721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从机器学习到神经网络</a:t>
            </a:r>
          </a:p>
          <a:p>
            <a:pPr marL="45720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正向计算与反向传播</a:t>
            </a:r>
            <a:endParaRPr lang="en-US" altLang="zh-CN" sz="2800" dirty="0">
              <a:solidFill>
                <a:sysClr val="windowText" lastClr="000000"/>
              </a:solidFill>
            </a:endParaRPr>
          </a:p>
          <a:p>
            <a:pPr marL="457200" lvl="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神经网络设计原则</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网络的拓扑结构</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激活函数</a:t>
            </a:r>
            <a:endParaRPr lang="en-US" altLang="zh-CN" sz="2800" dirty="0">
              <a:solidFill>
                <a:sysClr val="windowText" lastClr="000000"/>
              </a:solidFill>
            </a:endParaRPr>
          </a:p>
          <a:p>
            <a:pPr marL="914400" lvl="1"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损失函数</a:t>
            </a:r>
            <a:endParaRPr lang="en-US" altLang="zh-CN" sz="2800" dirty="0">
              <a:solidFill>
                <a:sysClr val="windowText" lastClr="000000"/>
              </a:solidFill>
            </a:endParaRPr>
          </a:p>
          <a:p>
            <a:pPr marL="457200" indent="-457200">
              <a:lnSpc>
                <a:spcPct val="150000"/>
              </a:lnSpc>
              <a:buClr>
                <a:srgbClr val="727CA3"/>
              </a:buClr>
              <a:buFont typeface="Wingdings" panose="05000000000000000000" pitchFamily="2" charset="2"/>
              <a:buChar char="Ø"/>
            </a:pPr>
            <a:r>
              <a:rPr lang="zh-CN" altLang="en-US" sz="2800" dirty="0">
                <a:solidFill>
                  <a:sysClr val="windowText" lastClr="000000"/>
                </a:solidFill>
              </a:rPr>
              <a:t>过拟合与正则化</a:t>
            </a:r>
            <a:endParaRPr lang="en-US" altLang="zh-CN" sz="2800" dirty="0">
              <a:solidFill>
                <a:sysClr val="windowText" lastClr="000000"/>
              </a:solidFill>
            </a:endParaRPr>
          </a:p>
          <a:p>
            <a:pPr marL="457200" lvl="0" indent="-457200">
              <a:lnSpc>
                <a:spcPct val="150000"/>
              </a:lnSpc>
              <a:buClr>
                <a:srgbClr val="727CA3"/>
              </a:buClr>
              <a:buFont typeface="Wingdings" panose="05000000000000000000" pitchFamily="2" charset="2"/>
              <a:buChar char="Ø"/>
              <a:defRPr/>
            </a:pPr>
            <a:r>
              <a:rPr lang="zh-CN" altLang="en-US" sz="2800" u="sng" dirty="0">
                <a:solidFill>
                  <a:sysClr val="windowText" lastClr="000000"/>
                </a:solidFill>
              </a:rPr>
              <a:t>交叉验证</a:t>
            </a:r>
          </a:p>
          <a:p>
            <a:pPr marL="457200" lvl="0" indent="-457200">
              <a:lnSpc>
                <a:spcPct val="150000"/>
              </a:lnSpc>
              <a:buClr>
                <a:srgbClr val="727CA3"/>
              </a:buClr>
              <a:buFont typeface="Wingdings" panose="05000000000000000000" pitchFamily="2" charset="2"/>
              <a:buChar char="Ø"/>
              <a:defRPr/>
            </a:pPr>
            <a:r>
              <a:rPr lang="zh-CN" altLang="en-US" sz="2800" dirty="0">
                <a:solidFill>
                  <a:sysClr val="windowText" lastClr="000000"/>
                </a:solidFill>
              </a:rPr>
              <a:t>小结</a:t>
            </a:r>
            <a:endParaRPr lang="en-US" altLang="zh-CN" sz="2800" dirty="0">
              <a:solidFill>
                <a:schemeClr val="tx1"/>
              </a:solidFill>
              <a:latin typeface="微软雅黑" panose="020B0503020204020204" pitchFamily="34" charset="-122"/>
              <a:ea typeface="微软雅黑" panose="020B0503020204020204" pitchFamily="34" charset="-122"/>
            </a:endParaRPr>
          </a:p>
        </p:txBody>
      </p:sp>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pic>
        <p:nvPicPr>
          <p:cNvPr id="9" name="图片 8"/>
          <p:cNvPicPr>
            <a:picLocks noChangeAspect="1"/>
          </p:cNvPicPr>
          <p:nvPr/>
        </p:nvPicPr>
        <p:blipFill>
          <a:blip r:embed="rId5"/>
          <a:stretch>
            <a:fillRect/>
          </a:stretch>
        </p:blipFill>
        <p:spPr>
          <a:xfrm>
            <a:off x="1690498" y="6538325"/>
            <a:ext cx="8810625" cy="319676"/>
          </a:xfrm>
          <a:prstGeom prst="rect">
            <a:avLst/>
          </a:prstGeom>
        </p:spPr>
      </p:pic>
      <p:sp>
        <p:nvSpPr>
          <p:cNvPr id="10" name="灯片编号占位符 8">
            <a:extLst>
              <a:ext uri="{FF2B5EF4-FFF2-40B4-BE49-F238E27FC236}">
                <a16:creationId xmlns:a16="http://schemas.microsoft.com/office/drawing/2014/main" id="{E3220DCA-BE33-4F21-8C15-3BE11C0E8084}"/>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74</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1250264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交叉验证</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交叉验证</a:t>
            </a:r>
            <a:endParaRPr lang="en-US" altLang="zh-CN" sz="2600" b="1" dirty="0"/>
          </a:p>
        </p:txBody>
      </p:sp>
      <p:sp>
        <p:nvSpPr>
          <p:cNvPr id="8" name="矩形 7"/>
          <p:cNvSpPr/>
          <p:nvPr/>
        </p:nvSpPr>
        <p:spPr>
          <a:xfrm>
            <a:off x="647710" y="1709398"/>
            <a:ext cx="10494355" cy="1200329"/>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sz="2400" dirty="0">
                <a:solidFill>
                  <a:srgbClr val="4F4F4F"/>
                </a:solidFill>
                <a:latin typeface="微软雅黑 Light" panose="020B0502040204020203" pitchFamily="34" charset="-122"/>
                <a:ea typeface="微软雅黑 Light" panose="020B0502040204020203" pitchFamily="34" charset="-122"/>
              </a:rPr>
              <a:t>交叉验证的方式给每个样本作为测试集和训练集的机会，充分利用样本信息，保证了鲁棒性，防止过度拟合。</a:t>
            </a:r>
            <a:endParaRPr lang="zh-CN" altLang="en-US" sz="2400" dirty="0">
              <a:latin typeface="微软雅黑 Light" panose="020B0502040204020203" pitchFamily="34" charset="-122"/>
              <a:ea typeface="微软雅黑 Light" panose="020B0502040204020203" pitchFamily="34" charset="-122"/>
            </a:endParaRPr>
          </a:p>
        </p:txBody>
      </p:sp>
      <p:sp>
        <p:nvSpPr>
          <p:cNvPr id="9" name="矩形 8"/>
          <p:cNvSpPr/>
          <p:nvPr/>
        </p:nvSpPr>
        <p:spPr>
          <a:xfrm>
            <a:off x="647710" y="2833940"/>
            <a:ext cx="10600359" cy="646331"/>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400" dirty="0">
                <a:solidFill>
                  <a:srgbClr val="4F4F4F"/>
                </a:solidFill>
                <a:latin typeface="微软雅黑 Light" panose="020B0502040204020203" pitchFamily="34" charset="-122"/>
                <a:ea typeface="微软雅黑 Light" panose="020B0502040204020203" pitchFamily="34" charset="-122"/>
              </a:rPr>
              <a:t>选择多种模型进行训练时，使用交叉验证能够评判各模型的鲁棒性。</a:t>
            </a:r>
          </a:p>
        </p:txBody>
      </p:sp>
      <p:sp>
        <p:nvSpPr>
          <p:cNvPr id="10" name="矩形 9"/>
          <p:cNvSpPr/>
          <p:nvPr/>
        </p:nvSpPr>
        <p:spPr>
          <a:xfrm>
            <a:off x="652094" y="3635610"/>
            <a:ext cx="10600359" cy="646331"/>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2400" dirty="0">
                <a:solidFill>
                  <a:srgbClr val="4F4F4F"/>
                </a:solidFill>
                <a:latin typeface="微软雅黑 Light" panose="020B0502040204020203" pitchFamily="34" charset="-122"/>
                <a:ea typeface="微软雅黑 Light" panose="020B0502040204020203" pitchFamily="34" charset="-122"/>
              </a:rPr>
              <a:t>选择同一模型的不同参数时，使用交叉验证评价各参数组合下的模型稳定性</a:t>
            </a:r>
          </a:p>
        </p:txBody>
      </p:sp>
      <p:pic>
        <p:nvPicPr>
          <p:cNvPr id="12" name="图片 11"/>
          <p:cNvPicPr>
            <a:picLocks noChangeAspect="1"/>
          </p:cNvPicPr>
          <p:nvPr/>
        </p:nvPicPr>
        <p:blipFill>
          <a:blip r:embed="rId5"/>
          <a:stretch>
            <a:fillRect/>
          </a:stretch>
        </p:blipFill>
        <p:spPr>
          <a:xfrm>
            <a:off x="1690498" y="6538325"/>
            <a:ext cx="8810625" cy="319676"/>
          </a:xfrm>
          <a:prstGeom prst="rect">
            <a:avLst/>
          </a:prstGeom>
        </p:spPr>
      </p:pic>
      <p:sp>
        <p:nvSpPr>
          <p:cNvPr id="13" name="灯片编号占位符 8">
            <a:extLst>
              <a:ext uri="{FF2B5EF4-FFF2-40B4-BE49-F238E27FC236}">
                <a16:creationId xmlns:a16="http://schemas.microsoft.com/office/drawing/2014/main" id="{8F5D9412-7488-4F9C-BC0D-A07070A742EB}"/>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75</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25787169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交叉验证</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最简单的验证方式</a:t>
            </a:r>
            <a:endParaRPr lang="en-US" altLang="zh-CN" sz="2600" b="1" dirty="0"/>
          </a:p>
        </p:txBody>
      </p:sp>
      <p:sp>
        <p:nvSpPr>
          <p:cNvPr id="8" name="矩形 7"/>
          <p:cNvSpPr/>
          <p:nvPr/>
        </p:nvSpPr>
        <p:spPr>
          <a:xfrm>
            <a:off x="1985162" y="5427078"/>
            <a:ext cx="8217974" cy="923330"/>
          </a:xfrm>
          <a:prstGeom prst="rect">
            <a:avLst/>
          </a:prstGeom>
        </p:spPr>
        <p:txBody>
          <a:bodyPr wrap="square">
            <a:spAutoFit/>
          </a:bodyPr>
          <a:lstStyle/>
          <a:p>
            <a:pPr>
              <a:lnSpc>
                <a:spcPct val="150000"/>
              </a:lnSpc>
            </a:pPr>
            <a:r>
              <a:rPr lang="zh-CN" altLang="en-US" dirty="0">
                <a:solidFill>
                  <a:srgbClr val="1A1A1A"/>
                </a:solidFill>
                <a:latin typeface="微软雅黑 Light" panose="020B0502040204020203" pitchFamily="34" charset="-122"/>
                <a:ea typeface="微软雅黑 Light" panose="020B0502040204020203" pitchFamily="34" charset="-122"/>
              </a:rPr>
              <a:t>缺点：最终模型与参数的选取将极大程度依赖于你对训练集和测试集的划分方法</a:t>
            </a:r>
            <a:endParaRPr lang="en-US" altLang="zh-CN" dirty="0">
              <a:solidFill>
                <a:srgbClr val="1A1A1A"/>
              </a:solidFill>
              <a:latin typeface="微软雅黑 Light" panose="020B0502040204020203" pitchFamily="34" charset="-122"/>
              <a:ea typeface="微软雅黑 Light" panose="020B0502040204020203" pitchFamily="34" charset="-122"/>
            </a:endParaRPr>
          </a:p>
          <a:p>
            <a:pPr>
              <a:lnSpc>
                <a:spcPct val="150000"/>
              </a:lnSpc>
            </a:pPr>
            <a:r>
              <a:rPr lang="zh-CN" altLang="en-US" dirty="0">
                <a:latin typeface="微软雅黑 Light" panose="020B0502040204020203" pitchFamily="34" charset="-122"/>
                <a:ea typeface="微软雅黑 Light" panose="020B0502040204020203" pitchFamily="34" charset="-122"/>
              </a:rPr>
              <a:t>         </a:t>
            </a:r>
            <a:r>
              <a:rPr lang="en-US" altLang="zh-CN" dirty="0">
                <a:latin typeface="微软雅黑 Light" panose="020B0502040204020203" pitchFamily="34" charset="-122"/>
                <a:ea typeface="微软雅黑 Light" panose="020B0502040204020203" pitchFamily="34" charset="-122"/>
              </a:rPr>
              <a:t> </a:t>
            </a:r>
            <a:r>
              <a:rPr lang="zh-CN" altLang="en-US" dirty="0">
                <a:latin typeface="微软雅黑 Light" panose="020B0502040204020203" pitchFamily="34" charset="-122"/>
                <a:ea typeface="微软雅黑 Light" panose="020B0502040204020203" pitchFamily="34" charset="-122"/>
              </a:rPr>
              <a:t>只有部分数据参与了模型的训练</a:t>
            </a:r>
          </a:p>
        </p:txBody>
      </p:sp>
      <p:sp>
        <p:nvSpPr>
          <p:cNvPr id="9" name="矩形 8"/>
          <p:cNvSpPr/>
          <p:nvPr/>
        </p:nvSpPr>
        <p:spPr>
          <a:xfrm>
            <a:off x="2385737" y="2030799"/>
            <a:ext cx="7416824" cy="432048"/>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ndParaRPr>
          </a:p>
        </p:txBody>
      </p:sp>
      <p:sp>
        <p:nvSpPr>
          <p:cNvPr id="10" name="矩形 9"/>
          <p:cNvSpPr/>
          <p:nvPr/>
        </p:nvSpPr>
        <p:spPr>
          <a:xfrm>
            <a:off x="3897905"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191501"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253694" y="2027248"/>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958316"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574269"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858572"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354432"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722597" y="2032576"/>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3628685" y="2027248"/>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4352247"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335951"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777786"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607797" y="2023551"/>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5842121" y="3106273"/>
            <a:ext cx="3960440"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ndParaRPr>
          </a:p>
        </p:txBody>
      </p:sp>
      <p:sp>
        <p:nvSpPr>
          <p:cNvPr id="26" name="矩形 25"/>
          <p:cNvSpPr/>
          <p:nvPr/>
        </p:nvSpPr>
        <p:spPr>
          <a:xfrm>
            <a:off x="2379027" y="3110919"/>
            <a:ext cx="3715122"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2963209" y="2018223"/>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549755"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6315690"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3171477"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4144920" y="2030799"/>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5591925" y="2034350"/>
            <a:ext cx="166875"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5" name="矩形 34"/>
          <p:cNvSpPr/>
          <p:nvPr/>
        </p:nvSpPr>
        <p:spPr>
          <a:xfrm>
            <a:off x="5043899" y="2027248"/>
            <a:ext cx="166875"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6" name="矩形 35"/>
          <p:cNvSpPr/>
          <p:nvPr/>
        </p:nvSpPr>
        <p:spPr>
          <a:xfrm>
            <a:off x="6849247" y="2018223"/>
            <a:ext cx="166875"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7" name="矩形 36"/>
          <p:cNvSpPr/>
          <p:nvPr/>
        </p:nvSpPr>
        <p:spPr>
          <a:xfrm>
            <a:off x="3417931" y="2040817"/>
            <a:ext cx="166875"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8" name="矩形 37"/>
          <p:cNvSpPr/>
          <p:nvPr/>
        </p:nvSpPr>
        <p:spPr>
          <a:xfrm>
            <a:off x="9486878" y="2040218"/>
            <a:ext cx="166875"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矩形 38"/>
          <p:cNvSpPr/>
          <p:nvPr/>
        </p:nvSpPr>
        <p:spPr>
          <a:xfrm>
            <a:off x="9149401" y="2017451"/>
            <a:ext cx="166875"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0" name="矩形 39"/>
          <p:cNvSpPr/>
          <p:nvPr/>
        </p:nvSpPr>
        <p:spPr>
          <a:xfrm>
            <a:off x="8606339" y="2020781"/>
            <a:ext cx="166875"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1" name="矩形 40"/>
          <p:cNvSpPr/>
          <p:nvPr/>
        </p:nvSpPr>
        <p:spPr>
          <a:xfrm>
            <a:off x="7763857" y="2030063"/>
            <a:ext cx="166875"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2" name="矩形 41"/>
          <p:cNvSpPr/>
          <p:nvPr/>
        </p:nvSpPr>
        <p:spPr>
          <a:xfrm>
            <a:off x="8344183" y="2016852"/>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8462365" y="2034350"/>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8972256" y="2040218"/>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7465842" y="2018237"/>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8040949" y="2022493"/>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9385053" y="2017451"/>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8867728" y="2034350"/>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9733724" y="2027248"/>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164877" y="2016852"/>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450475" y="2044746"/>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7604415" y="2023551"/>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7121709" y="2016852"/>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5484358" y="2016852"/>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4033488" y="2020431"/>
            <a:ext cx="45719"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1458472" y="2079568"/>
            <a:ext cx="734496" cy="276999"/>
          </a:xfrm>
          <a:prstGeom prst="rect">
            <a:avLst/>
          </a:prstGeom>
        </p:spPr>
        <p:txBody>
          <a:bodyPr wrap="none">
            <a:spAutoFit/>
          </a:bodyPr>
          <a:lstStyle/>
          <a:p>
            <a:r>
              <a:rPr lang="zh-CN" altLang="en-US" sz="1200" dirty="0">
                <a:latin typeface="微软雅黑 Light" panose="020B0502040204020203" pitchFamily="34" charset="-122"/>
                <a:ea typeface="微软雅黑 Light" panose="020B0502040204020203" pitchFamily="34" charset="-122"/>
              </a:rPr>
              <a:t>数据集</a:t>
            </a:r>
            <a:r>
              <a:rPr lang="en-US" altLang="zh-CN" sz="1200" dirty="0">
                <a:latin typeface="微软雅黑 Light" panose="020B0502040204020203" pitchFamily="34" charset="-122"/>
                <a:ea typeface="微软雅黑 Light" panose="020B0502040204020203" pitchFamily="34" charset="-122"/>
              </a:rPr>
              <a:t>S</a:t>
            </a:r>
            <a:endParaRPr lang="zh-CN" altLang="en-US" sz="1200" dirty="0">
              <a:latin typeface="微软雅黑 Light" panose="020B0502040204020203" pitchFamily="34" charset="-122"/>
              <a:ea typeface="微软雅黑 Light" panose="020B0502040204020203" pitchFamily="34" charset="-122"/>
            </a:endParaRPr>
          </a:p>
        </p:txBody>
      </p:sp>
      <p:sp>
        <p:nvSpPr>
          <p:cNvPr id="57" name="矩形 56"/>
          <p:cNvSpPr/>
          <p:nvPr/>
        </p:nvSpPr>
        <p:spPr>
          <a:xfrm>
            <a:off x="3984999" y="2822887"/>
            <a:ext cx="873573" cy="276999"/>
          </a:xfrm>
          <a:prstGeom prst="rect">
            <a:avLst/>
          </a:prstGeom>
        </p:spPr>
        <p:txBody>
          <a:bodyPr wrap="square">
            <a:spAutoFit/>
          </a:bodyPr>
          <a:lstStyle/>
          <a:p>
            <a:r>
              <a:rPr lang="en-US" altLang="zh-CN" sz="1200" dirty="0">
                <a:latin typeface="微软雅黑 Light" panose="020B0502040204020203" pitchFamily="34" charset="-122"/>
                <a:ea typeface="微软雅黑 Light" panose="020B0502040204020203" pitchFamily="34" charset="-122"/>
              </a:rPr>
              <a:t>S1</a:t>
            </a:r>
            <a:r>
              <a:rPr lang="zh-CN" altLang="en-US" sz="1200" dirty="0">
                <a:solidFill>
                  <a:srgbClr val="4F4F4F"/>
                </a:solidFill>
                <a:latin typeface="微软雅黑 Light" panose="020B0502040204020203" pitchFamily="34" charset="-122"/>
                <a:ea typeface="微软雅黑 Light" panose="020B0502040204020203" pitchFamily="34" charset="-122"/>
              </a:rPr>
              <a:t>测试集</a:t>
            </a:r>
            <a:endParaRPr lang="zh-CN" altLang="en-US" sz="1200" dirty="0">
              <a:latin typeface="微软雅黑 Light" panose="020B0502040204020203" pitchFamily="34" charset="-122"/>
              <a:ea typeface="微软雅黑 Light" panose="020B0502040204020203" pitchFamily="34" charset="-122"/>
            </a:endParaRPr>
          </a:p>
        </p:txBody>
      </p:sp>
      <p:sp>
        <p:nvSpPr>
          <p:cNvPr id="58" name="矩形 57"/>
          <p:cNvSpPr/>
          <p:nvPr/>
        </p:nvSpPr>
        <p:spPr>
          <a:xfrm>
            <a:off x="7755104" y="2822887"/>
            <a:ext cx="1018110" cy="276999"/>
          </a:xfrm>
          <a:prstGeom prst="rect">
            <a:avLst/>
          </a:prstGeom>
        </p:spPr>
        <p:txBody>
          <a:bodyPr wrap="square">
            <a:spAutoFit/>
          </a:bodyPr>
          <a:lstStyle/>
          <a:p>
            <a:r>
              <a:rPr lang="en-US" altLang="zh-CN" sz="1200" dirty="0">
                <a:latin typeface="微软雅黑 Light" panose="020B0502040204020203" pitchFamily="34" charset="-122"/>
                <a:ea typeface="微软雅黑 Light" panose="020B0502040204020203" pitchFamily="34" charset="-122"/>
              </a:rPr>
              <a:t>S2</a:t>
            </a:r>
            <a:r>
              <a:rPr lang="zh-CN" altLang="en-US" sz="1200" dirty="0">
                <a:solidFill>
                  <a:srgbClr val="4F4F4F"/>
                </a:solidFill>
                <a:latin typeface="微软雅黑 Light" panose="020B0502040204020203" pitchFamily="34" charset="-122"/>
                <a:ea typeface="微软雅黑 Light" panose="020B0502040204020203" pitchFamily="34" charset="-122"/>
              </a:rPr>
              <a:t>训练集</a:t>
            </a:r>
            <a:endParaRPr lang="zh-CN" altLang="en-US" sz="1200" dirty="0">
              <a:latin typeface="微软雅黑 Light" panose="020B0502040204020203" pitchFamily="34" charset="-122"/>
              <a:ea typeface="微软雅黑 Light" panose="020B0502040204020203" pitchFamily="34" charset="-122"/>
            </a:endParaRPr>
          </a:p>
        </p:txBody>
      </p:sp>
      <p:sp>
        <p:nvSpPr>
          <p:cNvPr id="59" name="下箭头 58"/>
          <p:cNvSpPr/>
          <p:nvPr/>
        </p:nvSpPr>
        <p:spPr>
          <a:xfrm>
            <a:off x="5842121" y="2534254"/>
            <a:ext cx="220555" cy="437295"/>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6020861" y="2534855"/>
            <a:ext cx="2321469" cy="276999"/>
          </a:xfrm>
          <a:prstGeom prst="rect">
            <a:avLst/>
          </a:prstGeom>
        </p:spPr>
        <p:txBody>
          <a:bodyPr wrap="none">
            <a:spAutoFit/>
          </a:bodyPr>
          <a:lstStyle/>
          <a:p>
            <a:r>
              <a:rPr lang="zh-CN" altLang="en-US" sz="1200" dirty="0">
                <a:latin typeface="微软雅黑 Light" panose="020B0502040204020203" pitchFamily="34" charset="-122"/>
                <a:ea typeface="微软雅黑 Light" panose="020B0502040204020203" pitchFamily="34" charset="-122"/>
              </a:rPr>
              <a:t>将数据集</a:t>
            </a:r>
            <a:r>
              <a:rPr lang="en-US" altLang="zh-CN" sz="1200" dirty="0">
                <a:latin typeface="微软雅黑 Light" panose="020B0502040204020203" pitchFamily="34" charset="-122"/>
                <a:ea typeface="微软雅黑 Light" panose="020B0502040204020203" pitchFamily="34" charset="-122"/>
              </a:rPr>
              <a:t>S</a:t>
            </a:r>
            <a:r>
              <a:rPr lang="zh-CN" altLang="en-US" sz="1200" dirty="0">
                <a:latin typeface="微软雅黑 Light" panose="020B0502040204020203" pitchFamily="34" charset="-122"/>
                <a:ea typeface="微软雅黑 Light" panose="020B0502040204020203" pitchFamily="34" charset="-122"/>
              </a:rPr>
              <a:t>分成两部分</a:t>
            </a:r>
            <a:r>
              <a:rPr lang="en-US" altLang="zh-CN" sz="1200" dirty="0">
                <a:latin typeface="微软雅黑 Light" panose="020B0502040204020203" pitchFamily="34" charset="-122"/>
                <a:ea typeface="微软雅黑 Light" panose="020B0502040204020203" pitchFamily="34" charset="-122"/>
              </a:rPr>
              <a:t>S1</a:t>
            </a:r>
            <a:r>
              <a:rPr lang="zh-CN" altLang="en-US" sz="1200" dirty="0">
                <a:latin typeface="微软雅黑 Light" panose="020B0502040204020203" pitchFamily="34" charset="-122"/>
                <a:ea typeface="微软雅黑 Light" panose="020B0502040204020203" pitchFamily="34" charset="-122"/>
              </a:rPr>
              <a:t>，和</a:t>
            </a:r>
            <a:r>
              <a:rPr lang="en-US" altLang="zh-CN" sz="1200" dirty="0">
                <a:latin typeface="微软雅黑 Light" panose="020B0502040204020203" pitchFamily="34" charset="-122"/>
                <a:ea typeface="微软雅黑 Light" panose="020B0502040204020203" pitchFamily="34" charset="-122"/>
              </a:rPr>
              <a:t>S2</a:t>
            </a:r>
            <a:endParaRPr lang="zh-CN" altLang="en-US" sz="1200" dirty="0">
              <a:latin typeface="微软雅黑 Light" panose="020B0502040204020203" pitchFamily="34" charset="-122"/>
              <a:ea typeface="微软雅黑 Light" panose="020B0502040204020203" pitchFamily="34" charset="-122"/>
            </a:endParaRPr>
          </a:p>
        </p:txBody>
      </p:sp>
      <p:sp>
        <p:nvSpPr>
          <p:cNvPr id="61" name="矩形 60"/>
          <p:cNvSpPr/>
          <p:nvPr/>
        </p:nvSpPr>
        <p:spPr>
          <a:xfrm>
            <a:off x="1508108" y="3215445"/>
            <a:ext cx="889987" cy="276999"/>
          </a:xfrm>
          <a:prstGeom prst="rect">
            <a:avLst/>
          </a:prstGeom>
        </p:spPr>
        <p:txBody>
          <a:bodyPr wrap="none">
            <a:spAutoFit/>
          </a:bodyPr>
          <a:lstStyle/>
          <a:p>
            <a:r>
              <a:rPr lang="zh-CN" altLang="en-US" sz="1200" dirty="0">
                <a:latin typeface="微软雅黑 Light" panose="020B0502040204020203" pitchFamily="34" charset="-122"/>
                <a:ea typeface="微软雅黑 Light" panose="020B0502040204020203" pitchFamily="34" charset="-122"/>
              </a:rPr>
              <a:t>第</a:t>
            </a:r>
            <a:r>
              <a:rPr lang="en-US" altLang="zh-CN" sz="1200" dirty="0">
                <a:latin typeface="微软雅黑 Light" panose="020B0502040204020203" pitchFamily="34" charset="-122"/>
                <a:ea typeface="微软雅黑 Light" panose="020B0502040204020203" pitchFamily="34" charset="-122"/>
              </a:rPr>
              <a:t>1</a:t>
            </a:r>
            <a:r>
              <a:rPr lang="zh-CN" altLang="en-US" sz="1200" dirty="0">
                <a:latin typeface="微软雅黑 Light" panose="020B0502040204020203" pitchFamily="34" charset="-122"/>
                <a:ea typeface="微软雅黑 Light" panose="020B0502040204020203" pitchFamily="34" charset="-122"/>
              </a:rPr>
              <a:t>种划分</a:t>
            </a:r>
          </a:p>
        </p:txBody>
      </p:sp>
      <p:sp>
        <p:nvSpPr>
          <p:cNvPr id="62" name="矩形 61"/>
          <p:cNvSpPr/>
          <p:nvPr/>
        </p:nvSpPr>
        <p:spPr>
          <a:xfrm>
            <a:off x="1493647" y="3765520"/>
            <a:ext cx="889987" cy="276999"/>
          </a:xfrm>
          <a:prstGeom prst="rect">
            <a:avLst/>
          </a:prstGeom>
        </p:spPr>
        <p:txBody>
          <a:bodyPr wrap="none">
            <a:spAutoFit/>
          </a:bodyPr>
          <a:lstStyle/>
          <a:p>
            <a:r>
              <a:rPr lang="zh-CN" altLang="en-US" sz="1200" dirty="0">
                <a:latin typeface="微软雅黑 Light" panose="020B0502040204020203" pitchFamily="34" charset="-122"/>
                <a:ea typeface="微软雅黑 Light" panose="020B0502040204020203" pitchFamily="34" charset="-122"/>
              </a:rPr>
              <a:t>第</a:t>
            </a:r>
            <a:r>
              <a:rPr lang="en-US" altLang="zh-CN" sz="1200" dirty="0">
                <a:latin typeface="微软雅黑 Light" panose="020B0502040204020203" pitchFamily="34" charset="-122"/>
                <a:ea typeface="微软雅黑 Light" panose="020B0502040204020203" pitchFamily="34" charset="-122"/>
              </a:rPr>
              <a:t>2</a:t>
            </a:r>
            <a:r>
              <a:rPr lang="zh-CN" altLang="en-US" sz="1200" dirty="0">
                <a:latin typeface="微软雅黑 Light" panose="020B0502040204020203" pitchFamily="34" charset="-122"/>
                <a:ea typeface="微软雅黑 Light" panose="020B0502040204020203" pitchFamily="34" charset="-122"/>
              </a:rPr>
              <a:t>种划分</a:t>
            </a:r>
          </a:p>
        </p:txBody>
      </p:sp>
      <p:sp>
        <p:nvSpPr>
          <p:cNvPr id="63" name="矩形 62"/>
          <p:cNvSpPr/>
          <p:nvPr/>
        </p:nvSpPr>
        <p:spPr>
          <a:xfrm>
            <a:off x="6110005" y="3680865"/>
            <a:ext cx="3708412"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ndParaRPr>
          </a:p>
        </p:txBody>
      </p:sp>
      <p:sp>
        <p:nvSpPr>
          <p:cNvPr id="64" name="矩形 63"/>
          <p:cNvSpPr/>
          <p:nvPr/>
        </p:nvSpPr>
        <p:spPr>
          <a:xfrm>
            <a:off x="2394883" y="3685511"/>
            <a:ext cx="5209532"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4858572" y="4233529"/>
            <a:ext cx="4968597"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ndParaRPr>
          </a:p>
        </p:txBody>
      </p:sp>
      <p:sp>
        <p:nvSpPr>
          <p:cNvPr id="66" name="矩形 65"/>
          <p:cNvSpPr/>
          <p:nvPr/>
        </p:nvSpPr>
        <p:spPr>
          <a:xfrm>
            <a:off x="2403635" y="4238175"/>
            <a:ext cx="2454937"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1493647" y="4340112"/>
            <a:ext cx="889987" cy="276999"/>
          </a:xfrm>
          <a:prstGeom prst="rect">
            <a:avLst/>
          </a:prstGeom>
        </p:spPr>
        <p:txBody>
          <a:bodyPr wrap="none">
            <a:spAutoFit/>
          </a:bodyPr>
          <a:lstStyle/>
          <a:p>
            <a:r>
              <a:rPr lang="zh-CN" altLang="en-US" sz="1200" dirty="0">
                <a:latin typeface="微软雅黑 Light" panose="020B0502040204020203" pitchFamily="34" charset="-122"/>
                <a:ea typeface="微软雅黑 Light" panose="020B0502040204020203" pitchFamily="34" charset="-122"/>
              </a:rPr>
              <a:t>第</a:t>
            </a:r>
            <a:r>
              <a:rPr lang="en-US" altLang="zh-CN" sz="1200" dirty="0">
                <a:latin typeface="微软雅黑 Light" panose="020B0502040204020203" pitchFamily="34" charset="-122"/>
                <a:ea typeface="微软雅黑 Light" panose="020B0502040204020203" pitchFamily="34" charset="-122"/>
              </a:rPr>
              <a:t>3</a:t>
            </a:r>
            <a:r>
              <a:rPr lang="zh-CN" altLang="en-US" sz="1200" dirty="0">
                <a:latin typeface="微软雅黑 Light" panose="020B0502040204020203" pitchFamily="34" charset="-122"/>
                <a:ea typeface="微软雅黑 Light" panose="020B0502040204020203" pitchFamily="34" charset="-122"/>
              </a:rPr>
              <a:t>种划分</a:t>
            </a:r>
          </a:p>
        </p:txBody>
      </p:sp>
      <p:sp>
        <p:nvSpPr>
          <p:cNvPr id="68" name="矩形 67"/>
          <p:cNvSpPr/>
          <p:nvPr/>
        </p:nvSpPr>
        <p:spPr>
          <a:xfrm>
            <a:off x="1929797" y="4847840"/>
            <a:ext cx="7557081" cy="460704"/>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solidFill>
                  <a:srgbClr val="1A1A1A"/>
                </a:solidFill>
                <a:latin typeface="微软雅黑 Light" panose="020B0502040204020203" pitchFamily="34" charset="-122"/>
                <a:ea typeface="微软雅黑 Light" panose="020B0502040204020203" pitchFamily="34" charset="-122"/>
              </a:rPr>
              <a:t>不同划分方式下，得到的</a:t>
            </a:r>
            <a:r>
              <a:rPr lang="en-US" altLang="zh-CN" dirty="0">
                <a:solidFill>
                  <a:srgbClr val="1A1A1A"/>
                </a:solidFill>
                <a:latin typeface="微软雅黑 Light" panose="020B0502040204020203" pitchFamily="34" charset="-122"/>
                <a:ea typeface="微软雅黑 Light" panose="020B0502040204020203" pitchFamily="34" charset="-122"/>
              </a:rPr>
              <a:t>MSE(Mean Squared Error)</a:t>
            </a:r>
            <a:r>
              <a:rPr lang="zh-CN" altLang="en-US" dirty="0">
                <a:solidFill>
                  <a:srgbClr val="1A1A1A"/>
                </a:solidFill>
                <a:latin typeface="微软雅黑 Light" panose="020B0502040204020203" pitchFamily="34" charset="-122"/>
                <a:ea typeface="微软雅黑 Light" panose="020B0502040204020203" pitchFamily="34" charset="-122"/>
              </a:rPr>
              <a:t>变动较大</a:t>
            </a:r>
            <a:endParaRPr lang="zh-CN" altLang="en-US" dirty="0">
              <a:latin typeface="微软雅黑 Light" panose="020B0502040204020203" pitchFamily="34" charset="-122"/>
              <a:ea typeface="微软雅黑 Light" panose="020B0502040204020203" pitchFamily="34" charset="-122"/>
            </a:endParaRPr>
          </a:p>
        </p:txBody>
      </p:sp>
      <p:sp>
        <p:nvSpPr>
          <p:cNvPr id="69" name="矩形 68"/>
          <p:cNvSpPr/>
          <p:nvPr/>
        </p:nvSpPr>
        <p:spPr>
          <a:xfrm>
            <a:off x="5344075" y="1207644"/>
            <a:ext cx="1800493" cy="369332"/>
          </a:xfrm>
          <a:prstGeom prst="rect">
            <a:avLst/>
          </a:prstGeom>
        </p:spPr>
        <p:txBody>
          <a:bodyPr wrap="none">
            <a:spAutoFit/>
          </a:bodyPr>
          <a:lstStyle/>
          <a:p>
            <a:r>
              <a:rPr lang="zh-CN" altLang="en-US" dirty="0">
                <a:solidFill>
                  <a:srgbClr val="4F4F4F"/>
                </a:solidFill>
                <a:latin typeface="微软雅黑 Light" panose="020B0502040204020203" pitchFamily="34" charset="-122"/>
                <a:ea typeface="微软雅黑 Light" panose="020B0502040204020203" pitchFamily="34" charset="-122"/>
              </a:rPr>
              <a:t>测试集和训练集</a:t>
            </a:r>
            <a:endParaRPr lang="zh-CN" altLang="en-US" dirty="0"/>
          </a:p>
        </p:txBody>
      </p:sp>
      <p:pic>
        <p:nvPicPr>
          <p:cNvPr id="71" name="图片 70"/>
          <p:cNvPicPr>
            <a:picLocks noChangeAspect="1"/>
          </p:cNvPicPr>
          <p:nvPr/>
        </p:nvPicPr>
        <p:blipFill>
          <a:blip r:embed="rId5"/>
          <a:stretch>
            <a:fillRect/>
          </a:stretch>
        </p:blipFill>
        <p:spPr>
          <a:xfrm>
            <a:off x="1690498" y="6538325"/>
            <a:ext cx="8810625" cy="319676"/>
          </a:xfrm>
          <a:prstGeom prst="rect">
            <a:avLst/>
          </a:prstGeom>
        </p:spPr>
      </p:pic>
      <p:sp>
        <p:nvSpPr>
          <p:cNvPr id="72" name="灯片编号占位符 8">
            <a:extLst>
              <a:ext uri="{FF2B5EF4-FFF2-40B4-BE49-F238E27FC236}">
                <a16:creationId xmlns:a16="http://schemas.microsoft.com/office/drawing/2014/main" id="{E4585DEF-721C-47CF-B9AC-920D7DC2F5C3}"/>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76</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6629499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交叉验证</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zh-CN" altLang="en-US" sz="2600" b="1" dirty="0"/>
              <a:t>留一交叉验证</a:t>
            </a:r>
            <a:endParaRPr lang="en-US" altLang="zh-CN" sz="2600" b="1" dirty="0"/>
          </a:p>
        </p:txBody>
      </p:sp>
      <p:sp>
        <p:nvSpPr>
          <p:cNvPr id="8" name="矩形 7"/>
          <p:cNvSpPr/>
          <p:nvPr/>
        </p:nvSpPr>
        <p:spPr>
          <a:xfrm>
            <a:off x="2004538" y="1602630"/>
            <a:ext cx="7416824"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rPr>
              <a:t>1  2  3                                                                                                      n</a:t>
            </a:r>
            <a:endParaRPr lang="zh-CN" altLang="en-US" dirty="0">
              <a:solidFill>
                <a:schemeClr val="tx1"/>
              </a:solidFill>
            </a:endParaRPr>
          </a:p>
        </p:txBody>
      </p:sp>
      <p:sp>
        <p:nvSpPr>
          <p:cNvPr id="9" name="矩形 8"/>
          <p:cNvSpPr/>
          <p:nvPr/>
        </p:nvSpPr>
        <p:spPr>
          <a:xfrm>
            <a:off x="2004538" y="2452243"/>
            <a:ext cx="7416824"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rPr>
              <a:t>1  2  3                                                                                                      n</a:t>
            </a:r>
            <a:endParaRPr lang="zh-CN" altLang="en-US" dirty="0">
              <a:solidFill>
                <a:schemeClr val="tx1"/>
              </a:solidFill>
            </a:endParaRPr>
          </a:p>
        </p:txBody>
      </p:sp>
      <p:sp>
        <p:nvSpPr>
          <p:cNvPr id="10" name="下箭头 9"/>
          <p:cNvSpPr/>
          <p:nvPr/>
        </p:nvSpPr>
        <p:spPr>
          <a:xfrm>
            <a:off x="5244898" y="2085404"/>
            <a:ext cx="220555" cy="327113"/>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004538" y="2453593"/>
            <a:ext cx="276994"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12" name="矩形 11"/>
          <p:cNvSpPr/>
          <p:nvPr/>
        </p:nvSpPr>
        <p:spPr>
          <a:xfrm>
            <a:off x="2004538" y="3002613"/>
            <a:ext cx="7416824"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rPr>
              <a:t>1  2  3                                                                                                      n</a:t>
            </a:r>
            <a:endParaRPr lang="zh-CN" altLang="en-US" dirty="0">
              <a:solidFill>
                <a:schemeClr val="tx1"/>
              </a:solidFill>
            </a:endParaRPr>
          </a:p>
        </p:txBody>
      </p:sp>
      <p:sp>
        <p:nvSpPr>
          <p:cNvPr id="13" name="矩形 12"/>
          <p:cNvSpPr/>
          <p:nvPr/>
        </p:nvSpPr>
        <p:spPr>
          <a:xfrm>
            <a:off x="2253814" y="3003963"/>
            <a:ext cx="276994"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14" name="矩形 13"/>
          <p:cNvSpPr/>
          <p:nvPr/>
        </p:nvSpPr>
        <p:spPr>
          <a:xfrm>
            <a:off x="2004538" y="3517880"/>
            <a:ext cx="7416824"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rPr>
              <a:t>1  2  3                                                                                                      n</a:t>
            </a:r>
            <a:endParaRPr lang="zh-CN" altLang="en-US" dirty="0">
              <a:solidFill>
                <a:schemeClr val="tx1"/>
              </a:solidFill>
            </a:endParaRPr>
          </a:p>
        </p:txBody>
      </p:sp>
      <p:sp>
        <p:nvSpPr>
          <p:cNvPr id="16" name="矩形 15"/>
          <p:cNvSpPr/>
          <p:nvPr/>
        </p:nvSpPr>
        <p:spPr>
          <a:xfrm>
            <a:off x="2527945" y="3519230"/>
            <a:ext cx="276994"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18" name="矩形 17"/>
          <p:cNvSpPr/>
          <p:nvPr/>
        </p:nvSpPr>
        <p:spPr>
          <a:xfrm>
            <a:off x="2004538" y="4351785"/>
            <a:ext cx="7416824"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rPr>
              <a:t>1  2  3                                                                                                      n</a:t>
            </a:r>
            <a:endParaRPr lang="zh-CN" altLang="en-US" dirty="0">
              <a:solidFill>
                <a:schemeClr val="tx1"/>
              </a:solidFill>
            </a:endParaRPr>
          </a:p>
        </p:txBody>
      </p:sp>
      <p:sp>
        <p:nvSpPr>
          <p:cNvPr id="19" name="矩形 18"/>
          <p:cNvSpPr/>
          <p:nvPr/>
        </p:nvSpPr>
        <p:spPr>
          <a:xfrm>
            <a:off x="9144368" y="4351785"/>
            <a:ext cx="276994"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n</a:t>
            </a:r>
            <a:endParaRPr lang="zh-CN" altLang="en-US" dirty="0">
              <a:solidFill>
                <a:schemeClr val="tx1"/>
              </a:solidFill>
            </a:endParaRPr>
          </a:p>
        </p:txBody>
      </p:sp>
      <p:sp>
        <p:nvSpPr>
          <p:cNvPr id="20" name="文本框 19"/>
          <p:cNvSpPr txBox="1"/>
          <p:nvPr/>
        </p:nvSpPr>
        <p:spPr>
          <a:xfrm>
            <a:off x="5234620" y="4031797"/>
            <a:ext cx="461665" cy="401857"/>
          </a:xfrm>
          <a:prstGeom prst="rect">
            <a:avLst/>
          </a:prstGeom>
          <a:noFill/>
        </p:spPr>
        <p:txBody>
          <a:bodyPr vert="eaVert" wrap="square" rtlCol="0">
            <a:spAutoFit/>
          </a:bodyPr>
          <a:lstStyle/>
          <a:p>
            <a:r>
              <a:rPr lang="en-US" altLang="zh-CN" dirty="0"/>
              <a:t>…</a:t>
            </a:r>
            <a:endParaRPr lang="zh-CN" altLang="en-US" dirty="0"/>
          </a:p>
        </p:txBody>
      </p:sp>
      <p:sp>
        <p:nvSpPr>
          <p:cNvPr id="21" name="矩形 20"/>
          <p:cNvSpPr/>
          <p:nvPr/>
        </p:nvSpPr>
        <p:spPr>
          <a:xfrm>
            <a:off x="1134923" y="1584027"/>
            <a:ext cx="1008112" cy="461665"/>
          </a:xfrm>
          <a:prstGeom prst="rect">
            <a:avLst/>
          </a:prstGeom>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数据集</a:t>
            </a:r>
            <a:r>
              <a:rPr lang="en-US" altLang="zh-CN" sz="1200" dirty="0">
                <a:latin typeface="微软雅黑 Light" panose="020B0502040204020203" pitchFamily="34" charset="-122"/>
                <a:ea typeface="微软雅黑 Light" panose="020B0502040204020203" pitchFamily="34" charset="-122"/>
              </a:rPr>
              <a:t>S</a:t>
            </a:r>
            <a:r>
              <a:rPr lang="zh-CN" altLang="en-US" sz="1200" dirty="0">
                <a:latin typeface="微软雅黑 Light" panose="020B0502040204020203" pitchFamily="34" charset="-122"/>
                <a:ea typeface="微软雅黑 Light" panose="020B0502040204020203" pitchFamily="34" charset="-122"/>
              </a:rPr>
              <a:t>包含</a:t>
            </a:r>
            <a:r>
              <a:rPr lang="en-US" altLang="zh-CN" sz="1200" dirty="0">
                <a:latin typeface="微软雅黑 Light" panose="020B0502040204020203" pitchFamily="34" charset="-122"/>
                <a:ea typeface="微软雅黑 Light" panose="020B0502040204020203" pitchFamily="34" charset="-122"/>
              </a:rPr>
              <a:t>n</a:t>
            </a:r>
            <a:r>
              <a:rPr lang="zh-CN" altLang="en-US" sz="1200" dirty="0">
                <a:latin typeface="微软雅黑 Light" panose="020B0502040204020203" pitchFamily="34" charset="-122"/>
                <a:ea typeface="微软雅黑 Light" panose="020B0502040204020203" pitchFamily="34" charset="-122"/>
              </a:rPr>
              <a:t>个数据</a:t>
            </a:r>
          </a:p>
        </p:txBody>
      </p:sp>
      <p:sp>
        <p:nvSpPr>
          <p:cNvPr id="22" name="矩形 21"/>
          <p:cNvSpPr/>
          <p:nvPr/>
        </p:nvSpPr>
        <p:spPr>
          <a:xfrm>
            <a:off x="2004537" y="4942871"/>
            <a:ext cx="7278327" cy="702052"/>
          </a:xfrm>
          <a:prstGeom prst="rect">
            <a:avLst/>
          </a:prstGeom>
        </p:spPr>
        <p:txBody>
          <a:bodyPr wrap="square">
            <a:spAutoFit/>
          </a:bodyPr>
          <a:lstStyle/>
          <a:p>
            <a:pPr>
              <a:lnSpc>
                <a:spcPct val="150000"/>
              </a:lnSpc>
            </a:pPr>
            <a:r>
              <a:rPr lang="zh-CN" altLang="en-US" sz="1400" dirty="0">
                <a:solidFill>
                  <a:srgbClr val="1A1A1A"/>
                </a:solidFill>
                <a:latin typeface="微软雅黑 Light" panose="020B0502040204020203" pitchFamily="34" charset="-122"/>
                <a:ea typeface="微软雅黑 Light" panose="020B0502040204020203" pitchFamily="34" charset="-122"/>
              </a:rPr>
              <a:t>每次取出一个数据作为测试集的唯一元素，而其他</a:t>
            </a:r>
            <a:r>
              <a:rPr lang="en-US" altLang="zh-CN" sz="1400" dirty="0">
                <a:solidFill>
                  <a:srgbClr val="1A1A1A"/>
                </a:solidFill>
                <a:latin typeface="微软雅黑 Light" panose="020B0502040204020203" pitchFamily="34" charset="-122"/>
                <a:ea typeface="微软雅黑 Light" panose="020B0502040204020203" pitchFamily="34" charset="-122"/>
              </a:rPr>
              <a:t>n-1</a:t>
            </a:r>
            <a:r>
              <a:rPr lang="zh-CN" altLang="en-US" sz="1400" dirty="0">
                <a:solidFill>
                  <a:srgbClr val="1A1A1A"/>
                </a:solidFill>
                <a:latin typeface="微软雅黑 Light" panose="020B0502040204020203" pitchFamily="34" charset="-122"/>
                <a:ea typeface="微软雅黑 Light" panose="020B0502040204020203" pitchFamily="34" charset="-122"/>
              </a:rPr>
              <a:t>个数据都作为训练集用于训练模型和调参。最终训练出</a:t>
            </a:r>
            <a:r>
              <a:rPr lang="en-US" altLang="zh-CN" sz="1400" dirty="0">
                <a:solidFill>
                  <a:srgbClr val="1A1A1A"/>
                </a:solidFill>
                <a:latin typeface="微软雅黑 Light" panose="020B0502040204020203" pitchFamily="34" charset="-122"/>
                <a:ea typeface="微软雅黑 Light" panose="020B0502040204020203" pitchFamily="34" charset="-122"/>
              </a:rPr>
              <a:t>n</a:t>
            </a:r>
            <a:r>
              <a:rPr lang="zh-CN" altLang="en-US" sz="1400" dirty="0">
                <a:solidFill>
                  <a:srgbClr val="1A1A1A"/>
                </a:solidFill>
                <a:latin typeface="微软雅黑 Light" panose="020B0502040204020203" pitchFamily="34" charset="-122"/>
                <a:ea typeface="微软雅黑 Light" panose="020B0502040204020203" pitchFamily="34" charset="-122"/>
              </a:rPr>
              <a:t>个模型，得到</a:t>
            </a:r>
            <a:r>
              <a:rPr lang="en-US" altLang="zh-CN" sz="1400" dirty="0">
                <a:solidFill>
                  <a:srgbClr val="1A1A1A"/>
                </a:solidFill>
                <a:latin typeface="微软雅黑 Light" panose="020B0502040204020203" pitchFamily="34" charset="-122"/>
                <a:ea typeface="微软雅黑 Light" panose="020B0502040204020203" pitchFamily="34" charset="-122"/>
              </a:rPr>
              <a:t>n</a:t>
            </a:r>
            <a:r>
              <a:rPr lang="zh-CN" altLang="en-US" sz="1400" dirty="0">
                <a:solidFill>
                  <a:srgbClr val="1A1A1A"/>
                </a:solidFill>
                <a:latin typeface="微软雅黑 Light" panose="020B0502040204020203" pitchFamily="34" charset="-122"/>
                <a:ea typeface="微软雅黑 Light" panose="020B0502040204020203" pitchFamily="34" charset="-122"/>
              </a:rPr>
              <a:t>个</a:t>
            </a:r>
            <a:r>
              <a:rPr lang="en-US" altLang="zh-CN" sz="1400" dirty="0">
                <a:solidFill>
                  <a:srgbClr val="1A1A1A"/>
                </a:solidFill>
                <a:latin typeface="微软雅黑 Light" panose="020B0502040204020203" pitchFamily="34" charset="-122"/>
                <a:ea typeface="微软雅黑 Light" panose="020B0502040204020203" pitchFamily="34" charset="-122"/>
              </a:rPr>
              <a:t>MSE</a:t>
            </a:r>
            <a:r>
              <a:rPr lang="zh-CN" altLang="en-US" sz="1400" dirty="0">
                <a:solidFill>
                  <a:srgbClr val="1A1A1A"/>
                </a:solidFill>
                <a:latin typeface="微软雅黑 Light" panose="020B0502040204020203" pitchFamily="34" charset="-122"/>
                <a:ea typeface="微软雅黑 Light" panose="020B0502040204020203" pitchFamily="34" charset="-122"/>
              </a:rPr>
              <a:t>。将这</a:t>
            </a:r>
            <a:r>
              <a:rPr lang="en-US" altLang="zh-CN" sz="1400" dirty="0">
                <a:solidFill>
                  <a:srgbClr val="1A1A1A"/>
                </a:solidFill>
                <a:latin typeface="微软雅黑 Light" panose="020B0502040204020203" pitchFamily="34" charset="-122"/>
                <a:ea typeface="微软雅黑 Light" panose="020B0502040204020203" pitchFamily="34" charset="-122"/>
              </a:rPr>
              <a:t>n</a:t>
            </a:r>
            <a:r>
              <a:rPr lang="zh-CN" altLang="en-US" sz="1400" dirty="0">
                <a:solidFill>
                  <a:srgbClr val="1A1A1A"/>
                </a:solidFill>
                <a:latin typeface="微软雅黑 Light" panose="020B0502040204020203" pitchFamily="34" charset="-122"/>
                <a:ea typeface="微软雅黑 Light" panose="020B0502040204020203" pitchFamily="34" charset="-122"/>
              </a:rPr>
              <a:t>个</a:t>
            </a:r>
            <a:r>
              <a:rPr lang="en-US" altLang="zh-CN" sz="1400" dirty="0">
                <a:solidFill>
                  <a:srgbClr val="1A1A1A"/>
                </a:solidFill>
                <a:latin typeface="微软雅黑 Light" panose="020B0502040204020203" pitchFamily="34" charset="-122"/>
                <a:ea typeface="微软雅黑 Light" panose="020B0502040204020203" pitchFamily="34" charset="-122"/>
              </a:rPr>
              <a:t>MSE</a:t>
            </a:r>
            <a:r>
              <a:rPr lang="zh-CN" altLang="en-US" sz="1400" dirty="0">
                <a:solidFill>
                  <a:srgbClr val="1A1A1A"/>
                </a:solidFill>
                <a:latin typeface="微软雅黑 Light" panose="020B0502040204020203" pitchFamily="34" charset="-122"/>
                <a:ea typeface="微软雅黑 Light" panose="020B0502040204020203" pitchFamily="34" charset="-122"/>
              </a:rPr>
              <a:t>取平均得到最终的</a:t>
            </a:r>
            <a:r>
              <a:rPr lang="en-US" altLang="zh-CN" sz="1400" dirty="0">
                <a:solidFill>
                  <a:srgbClr val="1A1A1A"/>
                </a:solidFill>
                <a:latin typeface="微软雅黑 Light" panose="020B0502040204020203" pitchFamily="34" charset="-122"/>
                <a:ea typeface="微软雅黑 Light" panose="020B0502040204020203" pitchFamily="34" charset="-122"/>
              </a:rPr>
              <a:t>test MSE</a:t>
            </a:r>
            <a:r>
              <a:rPr lang="zh-CN" altLang="en-US" sz="1400" dirty="0">
                <a:solidFill>
                  <a:srgbClr val="1A1A1A"/>
                </a:solidFill>
                <a:latin typeface="微软雅黑 Light" panose="020B0502040204020203" pitchFamily="34" charset="-122"/>
                <a:ea typeface="微软雅黑 Light" panose="020B0502040204020203" pitchFamily="34" charset="-122"/>
              </a:rPr>
              <a:t>。</a:t>
            </a:r>
            <a:endParaRPr lang="zh-CN" altLang="en-US" sz="1400" dirty="0">
              <a:latin typeface="微软雅黑 Light" panose="020B0502040204020203" pitchFamily="34" charset="-122"/>
              <a:ea typeface="微软雅黑 Light" panose="020B0502040204020203" pitchFamily="34" charset="-122"/>
            </a:endParaRPr>
          </a:p>
        </p:txBody>
      </p:sp>
      <p:sp>
        <p:nvSpPr>
          <p:cNvPr id="23" name="矩形 22"/>
          <p:cNvSpPr/>
          <p:nvPr/>
        </p:nvSpPr>
        <p:spPr>
          <a:xfrm>
            <a:off x="1886368" y="5679431"/>
            <a:ext cx="7258000" cy="460319"/>
          </a:xfrm>
          <a:prstGeom prst="rect">
            <a:avLst/>
          </a:prstGeom>
        </p:spPr>
        <p:txBody>
          <a:bodyPr wrap="square">
            <a:spAutoFit/>
          </a:bodyPr>
          <a:lstStyle/>
          <a:p>
            <a:pPr>
              <a:lnSpc>
                <a:spcPct val="150000"/>
              </a:lnSpc>
            </a:pPr>
            <a:r>
              <a:rPr lang="zh-CN" altLang="en-US" dirty="0">
                <a:solidFill>
                  <a:srgbClr val="1A1A1A"/>
                </a:solidFill>
                <a:latin typeface="微软雅黑 Light" panose="020B0502040204020203" pitchFamily="34" charset="-122"/>
                <a:ea typeface="微软雅黑 Light" panose="020B0502040204020203" pitchFamily="34" charset="-122"/>
              </a:rPr>
              <a:t>缺点：计算量过大，耗费时间长</a:t>
            </a:r>
            <a:endParaRPr lang="zh-CN" altLang="en-US" dirty="0">
              <a:latin typeface="微软雅黑 Light" panose="020B0502040204020203" pitchFamily="34" charset="-122"/>
              <a:ea typeface="微软雅黑 Light" panose="020B0502040204020203" pitchFamily="34" charset="-122"/>
            </a:endParaRPr>
          </a:p>
        </p:txBody>
      </p:sp>
      <p:pic>
        <p:nvPicPr>
          <p:cNvPr id="25" name="图片 24"/>
          <p:cNvPicPr>
            <a:picLocks noChangeAspect="1"/>
          </p:cNvPicPr>
          <p:nvPr/>
        </p:nvPicPr>
        <p:blipFill>
          <a:blip r:embed="rId5"/>
          <a:stretch>
            <a:fillRect/>
          </a:stretch>
        </p:blipFill>
        <p:spPr>
          <a:xfrm>
            <a:off x="1690498" y="6538325"/>
            <a:ext cx="8810625" cy="319676"/>
          </a:xfrm>
          <a:prstGeom prst="rect">
            <a:avLst/>
          </a:prstGeom>
        </p:spPr>
      </p:pic>
      <p:sp>
        <p:nvSpPr>
          <p:cNvPr id="26" name="灯片编号占位符 8">
            <a:extLst>
              <a:ext uri="{FF2B5EF4-FFF2-40B4-BE49-F238E27FC236}">
                <a16:creationId xmlns:a16="http://schemas.microsoft.com/office/drawing/2014/main" id="{0476BFAF-43C6-4BD6-94A0-91920B6D2101}"/>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77</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8540300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交叉验证</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33" name="内容占位符 2"/>
          <p:cNvSpPr txBox="1">
            <a:spLocks/>
          </p:cNvSpPr>
          <p:nvPr/>
        </p:nvSpPr>
        <p:spPr>
          <a:xfrm>
            <a:off x="293722" y="691951"/>
            <a:ext cx="11637087" cy="7429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Wingdings" panose="05000000000000000000" pitchFamily="2" charset="2"/>
              <a:buChar char="ü"/>
            </a:pPr>
            <a:r>
              <a:rPr lang="en-US" altLang="zh-CN" sz="2600" b="1" dirty="0"/>
              <a:t>K-</a:t>
            </a:r>
            <a:r>
              <a:rPr lang="zh-CN" altLang="en-US" sz="2600" b="1" dirty="0"/>
              <a:t>折交叉验证（</a:t>
            </a:r>
            <a:r>
              <a:rPr lang="en-US" altLang="zh-CN" sz="2600" b="1" dirty="0"/>
              <a:t>K-fold cross validation</a:t>
            </a:r>
            <a:r>
              <a:rPr lang="zh-CN" altLang="en-US" sz="2600" b="1" dirty="0"/>
              <a:t>）</a:t>
            </a:r>
            <a:endParaRPr lang="en-US" altLang="zh-CN" sz="2600" b="1" dirty="0"/>
          </a:p>
        </p:txBody>
      </p:sp>
      <p:sp>
        <p:nvSpPr>
          <p:cNvPr id="8" name="矩形 7"/>
          <p:cNvSpPr/>
          <p:nvPr/>
        </p:nvSpPr>
        <p:spPr>
          <a:xfrm>
            <a:off x="1895584" y="5709320"/>
            <a:ext cx="7636136" cy="646331"/>
          </a:xfrm>
          <a:prstGeom prst="rect">
            <a:avLst/>
          </a:prstGeom>
        </p:spPr>
        <p:txBody>
          <a:bodyPr wrap="square">
            <a:spAutoFit/>
          </a:bodyPr>
          <a:lstStyle/>
          <a:p>
            <a:pPr latinLnBrk="1"/>
            <a:r>
              <a:rPr lang="zh-CN" altLang="en-US" dirty="0">
                <a:solidFill>
                  <a:srgbClr val="FF0000"/>
                </a:solidFill>
                <a:latin typeface="微软雅黑 Light" panose="020B0502040204020203" pitchFamily="34" charset="-122"/>
                <a:ea typeface="微软雅黑 Light" panose="020B0502040204020203" pitchFamily="34" charset="-122"/>
              </a:rPr>
              <a:t>优点</a:t>
            </a:r>
            <a:r>
              <a:rPr lang="zh-CN" altLang="en-US" dirty="0">
                <a:solidFill>
                  <a:srgbClr val="4F4F4F"/>
                </a:solidFill>
                <a:latin typeface="微软雅黑 Light" panose="020B0502040204020203" pitchFamily="34" charset="-122"/>
                <a:ea typeface="微软雅黑 Light" panose="020B0502040204020203" pitchFamily="34" charset="-122"/>
              </a:rPr>
              <a:t>：所有的样本都被作为了训练集和测试集，每个样本都被验证一次，相比</a:t>
            </a:r>
            <a:r>
              <a:rPr lang="en-US" altLang="zh-CN" dirty="0">
                <a:solidFill>
                  <a:srgbClr val="4F4F4F"/>
                </a:solidFill>
                <a:latin typeface="微软雅黑 Light" panose="020B0502040204020203" pitchFamily="34" charset="-122"/>
                <a:ea typeface="微软雅黑 Light" panose="020B0502040204020203" pitchFamily="34" charset="-122"/>
              </a:rPr>
              <a:t>Leave-one-out cross-validation</a:t>
            </a:r>
            <a:r>
              <a:rPr lang="zh-CN" altLang="en-US" dirty="0">
                <a:solidFill>
                  <a:srgbClr val="4F4F4F"/>
                </a:solidFill>
                <a:latin typeface="微软雅黑 Light" panose="020B0502040204020203" pitchFamily="34" charset="-122"/>
                <a:ea typeface="微软雅黑 Light" panose="020B0502040204020203" pitchFamily="34" charset="-122"/>
              </a:rPr>
              <a:t>，计算成本降低，耗时减少</a:t>
            </a:r>
            <a:endParaRPr lang="zh-CN" altLang="en-US" b="0" i="0" dirty="0">
              <a:solidFill>
                <a:srgbClr val="4F4F4F"/>
              </a:solidFill>
              <a:effectLst/>
              <a:latin typeface="微软雅黑 Light" panose="020B0502040204020203" pitchFamily="34" charset="-122"/>
              <a:ea typeface="微软雅黑 Light" panose="020B0502040204020203" pitchFamily="34" charset="-122"/>
            </a:endParaRPr>
          </a:p>
        </p:txBody>
      </p:sp>
      <p:sp>
        <p:nvSpPr>
          <p:cNvPr id="9" name="矩形 8"/>
          <p:cNvSpPr/>
          <p:nvPr/>
        </p:nvSpPr>
        <p:spPr>
          <a:xfrm>
            <a:off x="2474936" y="1936677"/>
            <a:ext cx="7416824"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ndParaRPr>
          </a:p>
        </p:txBody>
      </p:sp>
      <p:sp>
        <p:nvSpPr>
          <p:cNvPr id="10" name="矩形 9"/>
          <p:cNvSpPr/>
          <p:nvPr/>
        </p:nvSpPr>
        <p:spPr>
          <a:xfrm>
            <a:off x="2465313" y="1617577"/>
            <a:ext cx="7416824" cy="369332"/>
          </a:xfrm>
          <a:prstGeom prst="rect">
            <a:avLst/>
          </a:prstGeom>
        </p:spPr>
        <p:txBody>
          <a:bodyPr wrap="square">
            <a:spAutoFit/>
          </a:bodyPr>
          <a:lstStyle/>
          <a:p>
            <a:r>
              <a:rPr lang="en-US" altLang="zh-CN" dirty="0"/>
              <a:t>1  2  3                                                                                                      n</a:t>
            </a:r>
            <a:endParaRPr lang="zh-CN" altLang="en-US" dirty="0"/>
          </a:p>
        </p:txBody>
      </p:sp>
      <p:sp>
        <p:nvSpPr>
          <p:cNvPr id="11" name="矩形 10"/>
          <p:cNvSpPr/>
          <p:nvPr/>
        </p:nvSpPr>
        <p:spPr>
          <a:xfrm>
            <a:off x="1657909" y="1649737"/>
            <a:ext cx="1008112" cy="461665"/>
          </a:xfrm>
          <a:prstGeom prst="rect">
            <a:avLst/>
          </a:prstGeom>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数据集</a:t>
            </a:r>
            <a:r>
              <a:rPr lang="en-US" altLang="zh-CN" sz="1200" dirty="0">
                <a:latin typeface="微软雅黑 Light" panose="020B0502040204020203" pitchFamily="34" charset="-122"/>
                <a:ea typeface="微软雅黑 Light" panose="020B0502040204020203" pitchFamily="34" charset="-122"/>
              </a:rPr>
              <a:t>S</a:t>
            </a:r>
            <a:r>
              <a:rPr lang="zh-CN" altLang="en-US" sz="1200" dirty="0">
                <a:latin typeface="微软雅黑 Light" panose="020B0502040204020203" pitchFamily="34" charset="-122"/>
                <a:ea typeface="微软雅黑 Light" panose="020B0502040204020203" pitchFamily="34" charset="-122"/>
              </a:rPr>
              <a:t>包含</a:t>
            </a:r>
            <a:r>
              <a:rPr lang="en-US" altLang="zh-CN" sz="1200" dirty="0">
                <a:latin typeface="微软雅黑 Light" panose="020B0502040204020203" pitchFamily="34" charset="-122"/>
                <a:ea typeface="微软雅黑 Light" panose="020B0502040204020203" pitchFamily="34" charset="-122"/>
              </a:rPr>
              <a:t>n</a:t>
            </a:r>
            <a:r>
              <a:rPr lang="zh-CN" altLang="en-US" sz="1200" dirty="0">
                <a:latin typeface="微软雅黑 Light" panose="020B0502040204020203" pitchFamily="34" charset="-122"/>
                <a:ea typeface="微软雅黑 Light" panose="020B0502040204020203" pitchFamily="34" charset="-122"/>
              </a:rPr>
              <a:t>个数据</a:t>
            </a:r>
          </a:p>
        </p:txBody>
      </p:sp>
      <p:sp>
        <p:nvSpPr>
          <p:cNvPr id="12" name="矩形 11"/>
          <p:cNvSpPr/>
          <p:nvPr/>
        </p:nvSpPr>
        <p:spPr>
          <a:xfrm>
            <a:off x="1644085" y="2060414"/>
            <a:ext cx="969348" cy="276999"/>
          </a:xfrm>
          <a:prstGeom prst="rect">
            <a:avLst/>
          </a:prstGeom>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分成</a:t>
            </a:r>
            <a:r>
              <a:rPr lang="en-US" altLang="zh-CN" sz="1200" dirty="0">
                <a:latin typeface="微软雅黑 Light" panose="020B0502040204020203" pitchFamily="34" charset="-122"/>
                <a:ea typeface="微软雅黑 Light" panose="020B0502040204020203" pitchFamily="34" charset="-122"/>
              </a:rPr>
              <a:t>K=5</a:t>
            </a:r>
            <a:r>
              <a:rPr lang="zh-CN" altLang="en-US" sz="1200" dirty="0">
                <a:latin typeface="微软雅黑 Light" panose="020B0502040204020203" pitchFamily="34" charset="-122"/>
                <a:ea typeface="微软雅黑 Light" panose="020B0502040204020203" pitchFamily="34" charset="-122"/>
              </a:rPr>
              <a:t>份</a:t>
            </a:r>
          </a:p>
        </p:txBody>
      </p:sp>
      <p:sp>
        <p:nvSpPr>
          <p:cNvPr id="13" name="矩形 12"/>
          <p:cNvSpPr/>
          <p:nvPr/>
        </p:nvSpPr>
        <p:spPr>
          <a:xfrm>
            <a:off x="2474936" y="2664368"/>
            <a:ext cx="7416824" cy="43204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tx1"/>
              </a:solidFill>
            </a:endParaRPr>
          </a:p>
        </p:txBody>
      </p:sp>
      <p:sp>
        <p:nvSpPr>
          <p:cNvPr id="14" name="下箭头 13"/>
          <p:cNvSpPr/>
          <p:nvPr/>
        </p:nvSpPr>
        <p:spPr>
          <a:xfrm>
            <a:off x="5455992" y="2392089"/>
            <a:ext cx="220555" cy="2464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634732" y="2394601"/>
            <a:ext cx="1051891" cy="276999"/>
          </a:xfrm>
          <a:prstGeom prst="rect">
            <a:avLst/>
          </a:prstGeom>
        </p:spPr>
        <p:txBody>
          <a:bodyPr wrap="none">
            <a:spAutoFit/>
          </a:bodyPr>
          <a:lstStyle/>
          <a:p>
            <a:r>
              <a:rPr lang="zh-CN" altLang="en-US" sz="1200" dirty="0">
                <a:latin typeface="微软雅黑 Light" panose="020B0502040204020203" pitchFamily="34" charset="-122"/>
                <a:ea typeface="微软雅黑 Light" panose="020B0502040204020203" pitchFamily="34" charset="-122"/>
              </a:rPr>
              <a:t>将数据集</a:t>
            </a:r>
            <a:r>
              <a:rPr lang="en-US" altLang="zh-CN" sz="1200" dirty="0">
                <a:latin typeface="微软雅黑 Light" panose="020B0502040204020203" pitchFamily="34" charset="-122"/>
                <a:ea typeface="微软雅黑 Light" panose="020B0502040204020203" pitchFamily="34" charset="-122"/>
              </a:rPr>
              <a:t>K</a:t>
            </a:r>
            <a:r>
              <a:rPr lang="zh-CN" altLang="en-US" sz="1200" dirty="0">
                <a:latin typeface="微软雅黑 Light" panose="020B0502040204020203" pitchFamily="34" charset="-122"/>
                <a:ea typeface="微软雅黑 Light" panose="020B0502040204020203" pitchFamily="34" charset="-122"/>
              </a:rPr>
              <a:t>份</a:t>
            </a:r>
          </a:p>
        </p:txBody>
      </p:sp>
      <p:sp>
        <p:nvSpPr>
          <p:cNvPr id="18" name="矩形 17"/>
          <p:cNvSpPr/>
          <p:nvPr/>
        </p:nvSpPr>
        <p:spPr>
          <a:xfrm>
            <a:off x="2480842" y="2666506"/>
            <a:ext cx="1650278" cy="432048"/>
          </a:xfrm>
          <a:prstGeom prst="rect">
            <a:avLst/>
          </a:prstGeom>
          <a:solidFill>
            <a:srgbClr val="0584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a:t>
            </a:r>
            <a:endParaRPr lang="zh-CN" altLang="en-US" dirty="0">
              <a:solidFill>
                <a:schemeClr val="tx1"/>
              </a:solidFill>
            </a:endParaRPr>
          </a:p>
        </p:txBody>
      </p:sp>
      <p:sp>
        <p:nvSpPr>
          <p:cNvPr id="19" name="矩形 18"/>
          <p:cNvSpPr/>
          <p:nvPr/>
        </p:nvSpPr>
        <p:spPr>
          <a:xfrm>
            <a:off x="4131120" y="2670064"/>
            <a:ext cx="1296144" cy="43204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2</a:t>
            </a:r>
            <a:endParaRPr lang="zh-CN" altLang="en-US" dirty="0">
              <a:solidFill>
                <a:schemeClr val="tx1"/>
              </a:solidFill>
            </a:endParaRPr>
          </a:p>
        </p:txBody>
      </p:sp>
      <p:sp>
        <p:nvSpPr>
          <p:cNvPr id="20" name="矩形 19"/>
          <p:cNvSpPr/>
          <p:nvPr/>
        </p:nvSpPr>
        <p:spPr>
          <a:xfrm>
            <a:off x="8235576" y="2664368"/>
            <a:ext cx="1656184" cy="43204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K</a:t>
            </a:r>
            <a:endParaRPr lang="zh-CN" altLang="en-US" dirty="0">
              <a:solidFill>
                <a:schemeClr val="tx1"/>
              </a:solidFill>
            </a:endParaRPr>
          </a:p>
        </p:txBody>
      </p:sp>
      <p:sp>
        <p:nvSpPr>
          <p:cNvPr id="21" name="矩形 20"/>
          <p:cNvSpPr/>
          <p:nvPr/>
        </p:nvSpPr>
        <p:spPr>
          <a:xfrm>
            <a:off x="6579392" y="2670068"/>
            <a:ext cx="1656184" cy="432048"/>
          </a:xfrm>
          <a:prstGeom prst="rect">
            <a:avLst/>
          </a:prstGeom>
          <a:solidFill>
            <a:srgbClr val="A68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K-1</a:t>
            </a:r>
            <a:endParaRPr lang="zh-CN" altLang="en-US" dirty="0">
              <a:solidFill>
                <a:schemeClr val="tx1"/>
              </a:solidFill>
            </a:endParaRPr>
          </a:p>
        </p:txBody>
      </p:sp>
      <p:sp>
        <p:nvSpPr>
          <p:cNvPr id="22" name="矩形 21"/>
          <p:cNvSpPr/>
          <p:nvPr/>
        </p:nvSpPr>
        <p:spPr>
          <a:xfrm>
            <a:off x="5803637" y="2636651"/>
            <a:ext cx="504056" cy="369332"/>
          </a:xfrm>
          <a:prstGeom prst="rect">
            <a:avLst/>
          </a:prstGeom>
        </p:spPr>
        <p:txBody>
          <a:bodyPr wrap="square">
            <a:spAutoFit/>
          </a:bodyPr>
          <a:lstStyle/>
          <a:p>
            <a:r>
              <a:rPr lang="en-US" altLang="zh-CN" dirty="0"/>
              <a:t>…</a:t>
            </a:r>
            <a:endParaRPr lang="zh-CN" altLang="en-US" dirty="0"/>
          </a:p>
        </p:txBody>
      </p:sp>
      <mc:AlternateContent xmlns:mc="http://schemas.openxmlformats.org/markup-compatibility/2006" xmlns:a14="http://schemas.microsoft.com/office/drawing/2010/main">
        <mc:Choice Requires="a14">
          <p:sp>
            <p:nvSpPr>
              <p:cNvPr id="23" name="矩形 22"/>
              <p:cNvSpPr/>
              <p:nvPr/>
            </p:nvSpPr>
            <p:spPr>
              <a:xfrm>
                <a:off x="2330920" y="3425433"/>
                <a:ext cx="7848872" cy="646331"/>
              </a:xfrm>
              <a:prstGeom prst="rect">
                <a:avLst/>
              </a:prstGeom>
            </p:spPr>
            <p:txBody>
              <a:bodyPr wrap="square">
                <a:spAutoFit/>
              </a:bodyPr>
              <a:lstStyle/>
              <a:p>
                <a:pPr algn="just"/>
                <a:r>
                  <a:rPr lang="zh-CN" altLang="en-US" dirty="0">
                    <a:solidFill>
                      <a:srgbClr val="4F4F4F"/>
                    </a:solidFill>
                    <a:latin typeface="微软雅黑 Light" panose="020B0502040204020203" pitchFamily="34" charset="-122"/>
                    <a:ea typeface="微软雅黑 Light" panose="020B0502040204020203" pitchFamily="34" charset="-122"/>
                  </a:rPr>
                  <a:t>不重复地每次取其中一份做测试集，用其他</a:t>
                </a:r>
                <a:r>
                  <a:rPr lang="en-US" altLang="zh-CN" dirty="0">
                    <a:solidFill>
                      <a:srgbClr val="4F4F4F"/>
                    </a:solidFill>
                    <a:latin typeface="微软雅黑 Light" panose="020B0502040204020203" pitchFamily="34" charset="-122"/>
                    <a:ea typeface="微软雅黑 Light" panose="020B0502040204020203" pitchFamily="34" charset="-122"/>
                  </a:rPr>
                  <a:t>K-1</a:t>
                </a:r>
                <a:r>
                  <a:rPr lang="zh-CN" altLang="en-US" dirty="0">
                    <a:solidFill>
                      <a:srgbClr val="4F4F4F"/>
                    </a:solidFill>
                    <a:latin typeface="微软雅黑 Light" panose="020B0502040204020203" pitchFamily="34" charset="-122"/>
                    <a:ea typeface="微软雅黑 Light" panose="020B0502040204020203" pitchFamily="34" charset="-122"/>
                  </a:rPr>
                  <a:t>份做训练集训练模型，之后计算该模型在测试集上的</a:t>
                </a:r>
                <a14:m>
                  <m:oMath xmlns:m="http://schemas.openxmlformats.org/officeDocument/2006/math">
                    <m:r>
                      <a:rPr lang="en-US" altLang="zh-CN" dirty="0">
                        <a:solidFill>
                          <a:srgbClr val="4F4F4F"/>
                        </a:solidFill>
                        <a:latin typeface="Cambria Math" panose="02040503050406030204" pitchFamily="18" charset="0"/>
                        <a:ea typeface="微软雅黑" panose="020B0503020204020204" pitchFamily="34" charset="-122"/>
                      </a:rPr>
                      <m:t>𝑀𝑆</m:t>
                    </m:r>
                    <m:sSub>
                      <m:sSubPr>
                        <m:ctrlPr>
                          <a:rPr lang="en-US" altLang="zh-CN" i="1" dirty="0">
                            <a:solidFill>
                              <a:srgbClr val="4F4F4F"/>
                            </a:solidFill>
                            <a:latin typeface="Cambria Math" panose="02040503050406030204" pitchFamily="18" charset="0"/>
                            <a:ea typeface="微软雅黑" panose="020B0503020204020204" pitchFamily="34" charset="-122"/>
                          </a:rPr>
                        </m:ctrlPr>
                      </m:sSubPr>
                      <m:e>
                        <m:r>
                          <m:rPr>
                            <m:sty m:val="p"/>
                          </m:rPr>
                          <a:rPr lang="en-US" altLang="zh-CN" dirty="0">
                            <a:solidFill>
                              <a:srgbClr val="4F4F4F"/>
                            </a:solidFill>
                            <a:latin typeface="Cambria Math" panose="02040503050406030204" pitchFamily="18" charset="0"/>
                            <a:ea typeface="微软雅黑" panose="020B0503020204020204" pitchFamily="34" charset="-122"/>
                          </a:rPr>
                          <m:t>E</m:t>
                        </m:r>
                      </m:e>
                      <m:sub>
                        <m:r>
                          <a:rPr lang="en-US" altLang="zh-CN" dirty="0">
                            <a:solidFill>
                              <a:srgbClr val="4F4F4F"/>
                            </a:solidFill>
                            <a:latin typeface="Cambria Math" panose="02040503050406030204" pitchFamily="18" charset="0"/>
                            <a:ea typeface="微软雅黑" panose="020B0503020204020204" pitchFamily="34" charset="-122"/>
                          </a:rPr>
                          <m:t>𝑖</m:t>
                        </m:r>
                      </m:sub>
                    </m:sSub>
                    <m:r>
                      <a:rPr lang="zh-CN" altLang="en-US" dirty="0">
                        <a:solidFill>
                          <a:srgbClr val="4F4F4F"/>
                        </a:solidFill>
                        <a:latin typeface="Cambria Math" panose="02040503050406030204" pitchFamily="18" charset="0"/>
                        <a:ea typeface="微软雅黑" panose="020B0503020204020204" pitchFamily="34" charset="-122"/>
                      </a:rPr>
                      <m:t>，</m:t>
                    </m:r>
                  </m:oMath>
                </a14:m>
                <a:r>
                  <a:rPr lang="zh-CN" altLang="en-US" dirty="0">
                    <a:solidFill>
                      <a:srgbClr val="4F4F4F"/>
                    </a:solidFill>
                    <a:latin typeface="微软雅黑 Light" panose="020B0502040204020203" pitchFamily="34" charset="-122"/>
                    <a:ea typeface="微软雅黑 Light" panose="020B0502040204020203" pitchFamily="34" charset="-122"/>
                  </a:rPr>
                  <a:t>最后再将</a:t>
                </a:r>
                <a:r>
                  <a:rPr lang="en-US" altLang="zh-CN" dirty="0">
                    <a:solidFill>
                      <a:srgbClr val="4F4F4F"/>
                    </a:solidFill>
                    <a:latin typeface="微软雅黑 Light" panose="020B0502040204020203" pitchFamily="34" charset="-122"/>
                    <a:ea typeface="微软雅黑 Light" panose="020B0502040204020203" pitchFamily="34" charset="-122"/>
                  </a:rPr>
                  <a:t>K</a:t>
                </a:r>
                <a:r>
                  <a:rPr lang="zh-CN" altLang="en-US" dirty="0">
                    <a:solidFill>
                      <a:srgbClr val="4F4F4F"/>
                    </a:solidFill>
                    <a:latin typeface="微软雅黑 Light" panose="020B0502040204020203" pitchFamily="34" charset="-122"/>
                    <a:ea typeface="微软雅黑 Light" panose="020B0502040204020203" pitchFamily="34" charset="-122"/>
                  </a:rPr>
                  <a:t>次的</a:t>
                </a:r>
                <a14:m>
                  <m:oMath xmlns:m="http://schemas.openxmlformats.org/officeDocument/2006/math">
                    <m:r>
                      <a:rPr lang="en-US" altLang="zh-CN" dirty="0">
                        <a:solidFill>
                          <a:srgbClr val="4F4F4F"/>
                        </a:solidFill>
                        <a:latin typeface="Cambria Math" panose="02040503050406030204" pitchFamily="18" charset="0"/>
                        <a:ea typeface="微软雅黑" panose="020B0503020204020204" pitchFamily="34" charset="-122"/>
                      </a:rPr>
                      <m:t>𝑀𝑆</m:t>
                    </m:r>
                    <m:sSub>
                      <m:sSubPr>
                        <m:ctrlPr>
                          <a:rPr lang="en-US" altLang="zh-CN" i="1" dirty="0">
                            <a:solidFill>
                              <a:srgbClr val="4F4F4F"/>
                            </a:solidFill>
                            <a:latin typeface="Cambria Math" panose="02040503050406030204" pitchFamily="18" charset="0"/>
                            <a:ea typeface="微软雅黑" panose="020B0503020204020204" pitchFamily="34" charset="-122"/>
                          </a:rPr>
                        </m:ctrlPr>
                      </m:sSubPr>
                      <m:e>
                        <m:r>
                          <m:rPr>
                            <m:sty m:val="p"/>
                          </m:rPr>
                          <a:rPr lang="en-US" altLang="zh-CN" dirty="0">
                            <a:solidFill>
                              <a:srgbClr val="4F4F4F"/>
                            </a:solidFill>
                            <a:latin typeface="Cambria Math" panose="02040503050406030204" pitchFamily="18" charset="0"/>
                            <a:ea typeface="微软雅黑" panose="020B0503020204020204" pitchFamily="34" charset="-122"/>
                          </a:rPr>
                          <m:t>E</m:t>
                        </m:r>
                      </m:e>
                      <m:sub>
                        <m:r>
                          <a:rPr lang="en-US" altLang="zh-CN" dirty="0">
                            <a:solidFill>
                              <a:srgbClr val="4F4F4F"/>
                            </a:solidFill>
                            <a:latin typeface="Cambria Math" panose="02040503050406030204" pitchFamily="18" charset="0"/>
                            <a:ea typeface="微软雅黑" panose="020B0503020204020204" pitchFamily="34" charset="-122"/>
                          </a:rPr>
                          <m:t>𝑖</m:t>
                        </m:r>
                      </m:sub>
                    </m:sSub>
                  </m:oMath>
                </a14:m>
                <a:r>
                  <a:rPr lang="zh-CN" altLang="en-US" dirty="0">
                    <a:solidFill>
                      <a:srgbClr val="4F4F4F"/>
                    </a:solidFill>
                    <a:latin typeface="微软雅黑 Light" panose="020B0502040204020203" pitchFamily="34" charset="-122"/>
                    <a:ea typeface="微软雅黑 Light" panose="020B0502040204020203" pitchFamily="34" charset="-122"/>
                  </a:rPr>
                  <a:t>取平均得到最后的</a:t>
                </a:r>
                <a:r>
                  <a:rPr lang="en-US" altLang="zh-CN" dirty="0">
                    <a:solidFill>
                      <a:srgbClr val="4F4F4F"/>
                    </a:solidFill>
                    <a:latin typeface="微软雅黑 Light" panose="020B0502040204020203" pitchFamily="34" charset="-122"/>
                    <a:ea typeface="微软雅黑 Light" panose="020B0502040204020203" pitchFamily="34" charset="-122"/>
                  </a:rPr>
                  <a:t>MSE</a:t>
                </a:r>
                <a:endParaRPr lang="zh-CN" altLang="en-US" dirty="0">
                  <a:solidFill>
                    <a:srgbClr val="4F4F4F"/>
                  </a:solidFill>
                  <a:latin typeface="微软雅黑 Light" panose="020B0502040204020203" pitchFamily="34" charset="-122"/>
                  <a:ea typeface="微软雅黑 Light" panose="020B0502040204020203" pitchFamily="34" charset="-122"/>
                </a:endParaRPr>
              </a:p>
            </p:txBody>
          </p:sp>
        </mc:Choice>
        <mc:Fallback xmlns="">
          <p:sp>
            <p:nvSpPr>
              <p:cNvPr id="23" name="矩形 22"/>
              <p:cNvSpPr>
                <a:spLocks noRot="1" noChangeAspect="1" noMove="1" noResize="1" noEditPoints="1" noAdjustHandles="1" noChangeArrowheads="1" noChangeShapeType="1" noTextEdit="1"/>
              </p:cNvSpPr>
              <p:nvPr/>
            </p:nvSpPr>
            <p:spPr>
              <a:xfrm>
                <a:off x="2330920" y="3425433"/>
                <a:ext cx="7848872" cy="646331"/>
              </a:xfrm>
              <a:prstGeom prst="rect">
                <a:avLst/>
              </a:prstGeom>
              <a:blipFill rotWithShape="0">
                <a:blip r:embed="rId5"/>
                <a:stretch>
                  <a:fillRect l="-621" t="-5660" r="-621" b="-14151"/>
                </a:stretch>
              </a:blipFill>
            </p:spPr>
            <p:txBody>
              <a:bodyPr/>
              <a:lstStyle/>
              <a:p>
                <a:r>
                  <a:rPr lang="zh-CN" altLang="en-US">
                    <a:noFill/>
                  </a:rPr>
                  <a:t> </a:t>
                </a:r>
              </a:p>
            </p:txBody>
          </p:sp>
        </mc:Fallback>
      </mc:AlternateContent>
      <p:sp>
        <p:nvSpPr>
          <p:cNvPr id="24" name="矩形 23"/>
          <p:cNvSpPr/>
          <p:nvPr/>
        </p:nvSpPr>
        <p:spPr>
          <a:xfrm>
            <a:off x="1895584" y="5349015"/>
            <a:ext cx="8863560" cy="369332"/>
          </a:xfrm>
          <a:prstGeom prst="rect">
            <a:avLst/>
          </a:prstGeom>
        </p:spPr>
        <p:txBody>
          <a:bodyPr wrap="square">
            <a:spAutoFit/>
          </a:bodyPr>
          <a:lstStyle/>
          <a:p>
            <a:r>
              <a:rPr lang="en-US" altLang="zh-CN" dirty="0">
                <a:solidFill>
                  <a:srgbClr val="4F4F4F"/>
                </a:solidFill>
                <a:latin typeface="微软雅黑 Light" panose="020B0502040204020203" pitchFamily="34" charset="-122"/>
                <a:ea typeface="微软雅黑 Light" panose="020B0502040204020203" pitchFamily="34" charset="-122"/>
              </a:rPr>
              <a:t>Leave-one-out cross-validation</a:t>
            </a:r>
            <a:r>
              <a:rPr lang="zh-CN" altLang="en-US" dirty="0">
                <a:solidFill>
                  <a:srgbClr val="4F4F4F"/>
                </a:solidFill>
                <a:latin typeface="微软雅黑 Light" panose="020B0502040204020203" pitchFamily="34" charset="-122"/>
                <a:ea typeface="微软雅黑 Light" panose="020B0502040204020203" pitchFamily="34" charset="-122"/>
              </a:rPr>
              <a:t>是一种特殊的</a:t>
            </a:r>
            <a:r>
              <a:rPr lang="en-US" altLang="zh-CN" dirty="0">
                <a:solidFill>
                  <a:srgbClr val="4F4F4F"/>
                </a:solidFill>
                <a:latin typeface="微软雅黑 Light" panose="020B0502040204020203" pitchFamily="34" charset="-122"/>
                <a:ea typeface="微软雅黑 Light" panose="020B0502040204020203" pitchFamily="34" charset="-122"/>
              </a:rPr>
              <a:t>K-fold Cross Validation</a:t>
            </a:r>
            <a:r>
              <a:rPr lang="zh-CN" altLang="en-US" dirty="0">
                <a:solidFill>
                  <a:srgbClr val="4F4F4F"/>
                </a:solidFill>
                <a:latin typeface="微软雅黑 Light" panose="020B0502040204020203" pitchFamily="34" charset="-122"/>
                <a:ea typeface="微软雅黑 Light" panose="020B0502040204020203" pitchFamily="34" charset="-122"/>
              </a:rPr>
              <a:t>（</a:t>
            </a:r>
            <a:r>
              <a:rPr lang="en-US" altLang="zh-CN" dirty="0">
                <a:solidFill>
                  <a:srgbClr val="4F4F4F"/>
                </a:solidFill>
                <a:latin typeface="微软雅黑 Light" panose="020B0502040204020203" pitchFamily="34" charset="-122"/>
                <a:ea typeface="微软雅黑 Light" panose="020B0502040204020203" pitchFamily="34" charset="-122"/>
              </a:rPr>
              <a:t>K=n</a:t>
            </a:r>
            <a:r>
              <a:rPr lang="zh-CN" altLang="en-US" dirty="0">
                <a:solidFill>
                  <a:srgbClr val="4F4F4F"/>
                </a:solidFill>
                <a:latin typeface="微软雅黑 Light" panose="020B0502040204020203" pitchFamily="34" charset="-122"/>
                <a:ea typeface="微软雅黑 Light" panose="020B0502040204020203" pitchFamily="34" charset="-122"/>
              </a:rPr>
              <a:t>）</a:t>
            </a:r>
          </a:p>
        </p:txBody>
      </p:sp>
      <mc:AlternateContent xmlns:mc="http://schemas.openxmlformats.org/markup-compatibility/2006" xmlns:a14="http://schemas.microsoft.com/office/drawing/2010/main">
        <mc:Choice Requires="a14">
          <p:sp>
            <p:nvSpPr>
              <p:cNvPr id="25" name="矩形 24"/>
              <p:cNvSpPr/>
              <p:nvPr/>
            </p:nvSpPr>
            <p:spPr>
              <a:xfrm>
                <a:off x="4576888" y="4097921"/>
                <a:ext cx="2957554" cy="9003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latin typeface="Cambria Math" panose="02040503050406030204" pitchFamily="18" charset="0"/>
                        </a:rPr>
                        <m:t>MSE</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𝐾</m:t>
                          </m:r>
                        </m:den>
                      </m:f>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𝐾</m:t>
                          </m:r>
                        </m:sup>
                        <m:e>
                          <m:r>
                            <a:rPr lang="en-US" altLang="zh-CN" b="0" i="1" smtClean="0">
                              <a:latin typeface="Cambria Math" panose="02040503050406030204" pitchFamily="18" charset="0"/>
                            </a:rPr>
                            <m:t>𝑀𝑆</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𝑖</m:t>
                              </m:r>
                            </m:sub>
                          </m:sSub>
                        </m:e>
                      </m:nary>
                    </m:oMath>
                  </m:oMathPara>
                </a14:m>
                <a:endParaRPr lang="zh-CN"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4576888" y="4097921"/>
                <a:ext cx="2957554" cy="900375"/>
              </a:xfrm>
              <a:prstGeom prst="rect">
                <a:avLst/>
              </a:prstGeom>
              <a:blipFill rotWithShape="0">
                <a:blip r:embed="rId6"/>
                <a:stretch>
                  <a:fillRect/>
                </a:stretch>
              </a:blipFill>
            </p:spPr>
            <p:txBody>
              <a:bodyPr/>
              <a:lstStyle/>
              <a:p>
                <a:r>
                  <a:rPr lang="zh-CN" altLang="en-US">
                    <a:noFill/>
                  </a:rPr>
                  <a:t> </a:t>
                </a:r>
              </a:p>
            </p:txBody>
          </p:sp>
        </mc:Fallback>
      </mc:AlternateContent>
      <p:pic>
        <p:nvPicPr>
          <p:cNvPr id="27" name="图片 26"/>
          <p:cNvPicPr>
            <a:picLocks noChangeAspect="1"/>
          </p:cNvPicPr>
          <p:nvPr/>
        </p:nvPicPr>
        <p:blipFill>
          <a:blip r:embed="rId7"/>
          <a:stretch>
            <a:fillRect/>
          </a:stretch>
        </p:blipFill>
        <p:spPr>
          <a:xfrm>
            <a:off x="1690498" y="6538325"/>
            <a:ext cx="8810625" cy="319676"/>
          </a:xfrm>
          <a:prstGeom prst="rect">
            <a:avLst/>
          </a:prstGeom>
        </p:spPr>
      </p:pic>
      <p:sp>
        <p:nvSpPr>
          <p:cNvPr id="28" name="灯片编号占位符 8">
            <a:extLst>
              <a:ext uri="{FF2B5EF4-FFF2-40B4-BE49-F238E27FC236}">
                <a16:creationId xmlns:a16="http://schemas.microsoft.com/office/drawing/2014/main" id="{2145FF73-CEAA-4087-900A-BE2EB5B833F6}"/>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78</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1372167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本章总结</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8" name="内容占位符 2"/>
          <p:cNvSpPr txBox="1">
            <a:spLocks/>
          </p:cNvSpPr>
          <p:nvPr/>
        </p:nvSpPr>
        <p:spPr>
          <a:xfrm>
            <a:off x="663832" y="825065"/>
            <a:ext cx="10959898" cy="565707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buFont typeface="Wingdings" panose="05000000000000000000" pitchFamily="2" charset="2"/>
              <a:buChar char="Ø"/>
            </a:pPr>
            <a:r>
              <a:rPr lang="zh-CN" altLang="en-US" sz="2200" dirty="0"/>
              <a:t>从机器学习到神经网络</a:t>
            </a:r>
            <a:endParaRPr lang="en-US" altLang="zh-CN" sz="2200" dirty="0"/>
          </a:p>
          <a:p>
            <a:pPr marL="274320" lvl="1" algn="just">
              <a:lnSpc>
                <a:spcPct val="100000"/>
              </a:lnSpc>
            </a:pPr>
            <a:r>
              <a:rPr lang="zh-CN" altLang="en-US" sz="2200" dirty="0"/>
              <a:t>掌握单变量线性回归、多变量线性回归、感知机、神经元、激活函数、偏置等的概念和相关用法</a:t>
            </a:r>
          </a:p>
          <a:p>
            <a:pPr algn="just">
              <a:lnSpc>
                <a:spcPct val="100000"/>
              </a:lnSpc>
              <a:buFont typeface="Wingdings" panose="05000000000000000000" pitchFamily="2" charset="2"/>
              <a:buChar char="Ø"/>
            </a:pPr>
            <a:r>
              <a:rPr lang="zh-CN" altLang="en-US" sz="2200" dirty="0"/>
              <a:t>正向计算、反向传播</a:t>
            </a:r>
            <a:endParaRPr lang="en-US" altLang="zh-CN" sz="2200" dirty="0"/>
          </a:p>
          <a:p>
            <a:pPr marL="274320" lvl="1" algn="just">
              <a:lnSpc>
                <a:spcPct val="100000"/>
              </a:lnSpc>
            </a:pPr>
            <a:r>
              <a:rPr lang="zh-CN" altLang="en-US" sz="2200" dirty="0"/>
              <a:t>了解数据正向计算和反向传播的过程。</a:t>
            </a:r>
            <a:endParaRPr lang="en-US" altLang="zh-CN" sz="2200" dirty="0"/>
          </a:p>
          <a:p>
            <a:pPr algn="just">
              <a:lnSpc>
                <a:spcPct val="100000"/>
              </a:lnSpc>
              <a:buFont typeface="Wingdings" panose="05000000000000000000" pitchFamily="2" charset="2"/>
              <a:buChar char="Ø"/>
            </a:pPr>
            <a:r>
              <a:rPr lang="zh-CN" altLang="en-US" sz="2200" dirty="0"/>
              <a:t>激活函数</a:t>
            </a:r>
            <a:endParaRPr lang="en-US" altLang="zh-CN" sz="2200" dirty="0"/>
          </a:p>
          <a:p>
            <a:pPr marL="274320" lvl="1" algn="just">
              <a:lnSpc>
                <a:spcPct val="100000"/>
              </a:lnSpc>
            </a:pPr>
            <a:r>
              <a:rPr lang="zh-CN" altLang="en-US" sz="2200" dirty="0"/>
              <a:t>了解常用激活函数的优缺点</a:t>
            </a:r>
            <a:endParaRPr lang="en-US" altLang="zh-CN" sz="2200" dirty="0"/>
          </a:p>
          <a:p>
            <a:pPr algn="just">
              <a:lnSpc>
                <a:spcPct val="100000"/>
              </a:lnSpc>
              <a:buFont typeface="Wingdings" panose="05000000000000000000" pitchFamily="2" charset="2"/>
              <a:buChar char="Ø"/>
            </a:pPr>
            <a:r>
              <a:rPr lang="zh-CN" altLang="en-US" sz="2200" dirty="0"/>
              <a:t>损失函数</a:t>
            </a:r>
            <a:endParaRPr lang="en-US" altLang="zh-CN" sz="2200" dirty="0"/>
          </a:p>
          <a:p>
            <a:pPr marL="274320" lvl="1" algn="just">
              <a:lnSpc>
                <a:spcPct val="100000"/>
              </a:lnSpc>
            </a:pPr>
            <a:r>
              <a:rPr lang="zh-CN" altLang="en-US" sz="2200" dirty="0"/>
              <a:t>了解损失函数的作用和种类、掌握至少一种验证方式。</a:t>
            </a:r>
          </a:p>
          <a:p>
            <a:pPr algn="just">
              <a:lnSpc>
                <a:spcPct val="100000"/>
              </a:lnSpc>
              <a:buFont typeface="Wingdings" panose="05000000000000000000" pitchFamily="2" charset="2"/>
              <a:buChar char="Ø"/>
            </a:pPr>
            <a:r>
              <a:rPr lang="zh-CN" altLang="en-US" sz="2200" dirty="0"/>
              <a:t>过拟合与正则化</a:t>
            </a:r>
            <a:endParaRPr lang="en-US" altLang="zh-CN" sz="2200" dirty="0"/>
          </a:p>
          <a:p>
            <a:pPr marL="274320" lvl="1" algn="just">
              <a:lnSpc>
                <a:spcPct val="100000"/>
              </a:lnSpc>
            </a:pPr>
            <a:r>
              <a:rPr lang="zh-CN" altLang="en-US" sz="2200" dirty="0"/>
              <a:t>了解过拟合出现的原因并掌握防止过拟合的正则化方法</a:t>
            </a:r>
            <a:endParaRPr lang="en-US" altLang="zh-CN" sz="2200" dirty="0"/>
          </a:p>
          <a:p>
            <a:pPr indent="-182880" algn="just">
              <a:lnSpc>
                <a:spcPct val="100000"/>
              </a:lnSpc>
              <a:spcBef>
                <a:spcPts val="600"/>
              </a:spcBef>
              <a:buClr>
                <a:schemeClr val="accent1"/>
              </a:buClr>
              <a:buFont typeface="Wingdings" panose="05000000000000000000" pitchFamily="2" charset="2"/>
              <a:buChar char="Ø"/>
            </a:pPr>
            <a:r>
              <a:rPr lang="zh-CN" altLang="en-US" sz="2200" dirty="0"/>
              <a:t>交叉验证</a:t>
            </a:r>
            <a:endParaRPr lang="en-US" altLang="zh-CN" sz="2200" dirty="0"/>
          </a:p>
          <a:p>
            <a:pPr marL="274320" lvl="1" algn="just">
              <a:lnSpc>
                <a:spcPct val="100000"/>
              </a:lnSpc>
            </a:pPr>
            <a:r>
              <a:rPr lang="zh-CN" altLang="en-US" sz="2200" dirty="0"/>
              <a:t>掌握至少一种交叉验证的原理和方法</a:t>
            </a:r>
          </a:p>
          <a:p>
            <a:pPr marL="274320" lvl="1" algn="just">
              <a:lnSpc>
                <a:spcPct val="100000"/>
              </a:lnSpc>
            </a:pPr>
            <a:endParaRPr lang="en-US" altLang="zh-CN" sz="2200" dirty="0"/>
          </a:p>
          <a:p>
            <a:pPr algn="just">
              <a:lnSpc>
                <a:spcPct val="100000"/>
              </a:lnSpc>
            </a:pPr>
            <a:endParaRPr lang="en-US" altLang="zh-CN" sz="2200" dirty="0"/>
          </a:p>
        </p:txBody>
      </p:sp>
      <p:pic>
        <p:nvPicPr>
          <p:cNvPr id="10" name="图片 9"/>
          <p:cNvPicPr>
            <a:picLocks noChangeAspect="1"/>
          </p:cNvPicPr>
          <p:nvPr/>
        </p:nvPicPr>
        <p:blipFill>
          <a:blip r:embed="rId5"/>
          <a:stretch>
            <a:fillRect/>
          </a:stretch>
        </p:blipFill>
        <p:spPr>
          <a:xfrm>
            <a:off x="1690498" y="6538325"/>
            <a:ext cx="8810625" cy="319676"/>
          </a:xfrm>
          <a:prstGeom prst="rect">
            <a:avLst/>
          </a:prstGeom>
        </p:spPr>
      </p:pic>
      <p:sp>
        <p:nvSpPr>
          <p:cNvPr id="11" name="灯片编号占位符 8">
            <a:extLst>
              <a:ext uri="{FF2B5EF4-FFF2-40B4-BE49-F238E27FC236}">
                <a16:creationId xmlns:a16="http://schemas.microsoft.com/office/drawing/2014/main" id="{F4ACC2B5-29DB-443B-8F1F-540FAC13D28A}"/>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79</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5140795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15" name="矩形 14"/>
          <p:cNvSpPr/>
          <p:nvPr/>
        </p:nvSpPr>
        <p:spPr>
          <a:xfrm>
            <a:off x="3910149" y="117984"/>
            <a:ext cx="7294880" cy="523220"/>
          </a:xfrm>
          <a:prstGeom prst="rect">
            <a:avLst/>
          </a:prstGeom>
        </p:spPr>
        <p:txBody>
          <a:bodyPr wrap="square">
            <a:spAutoFit/>
          </a:bodyPr>
          <a:lstStyle/>
          <a:p>
            <a:pPr lvl="0" algn="r"/>
            <a:r>
              <a:rPr lang="zh-CN" altLang="en-US" sz="2800" dirty="0">
                <a:solidFill>
                  <a:schemeClr val="bg1"/>
                </a:solidFill>
                <a:latin typeface="微软雅黑" panose="020B0503020204020204" pitchFamily="34" charset="-122"/>
                <a:ea typeface="微软雅黑" panose="020B0503020204020204" pitchFamily="34" charset="-122"/>
              </a:rPr>
              <a:t>本章总结</a:t>
            </a:r>
            <a:r>
              <a:rPr lang="en-US" altLang="zh-CN" sz="2800" dirty="0">
                <a:solidFill>
                  <a:schemeClr val="bg1"/>
                </a:solidFill>
                <a:latin typeface="微软雅黑" panose="020B0503020204020204" pitchFamily="34" charset="-122"/>
                <a:ea typeface="微软雅黑" panose="020B0503020204020204" pitchFamily="34" charset="-122"/>
              </a:rPr>
              <a:t> </a:t>
            </a:r>
            <a:endParaRPr lang="zh-HK" altLang="zh-HK" sz="2800" dirty="0">
              <a:solidFill>
                <a:schemeClr val="bg1">
                  <a:lumMod val="75000"/>
                </a:schemeClr>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48070" y="-5501"/>
            <a:ext cx="702890" cy="702890"/>
          </a:xfrm>
          <a:prstGeom prst="rect">
            <a:avLst/>
          </a:prstGeom>
        </p:spPr>
      </p:pic>
      <p:sp>
        <p:nvSpPr>
          <p:cNvPr id="29" name="矩形 28"/>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pic>
        <p:nvPicPr>
          <p:cNvPr id="10" name="图片 9"/>
          <p:cNvPicPr>
            <a:picLocks noChangeAspect="1"/>
          </p:cNvPicPr>
          <p:nvPr/>
        </p:nvPicPr>
        <p:blipFill>
          <a:blip r:embed="rId5"/>
          <a:stretch>
            <a:fillRect/>
          </a:stretch>
        </p:blipFill>
        <p:spPr>
          <a:xfrm>
            <a:off x="1690498" y="6538325"/>
            <a:ext cx="8810625" cy="319676"/>
          </a:xfrm>
          <a:prstGeom prst="rect">
            <a:avLst/>
          </a:prstGeom>
        </p:spPr>
      </p:pic>
      <p:sp>
        <p:nvSpPr>
          <p:cNvPr id="11" name="灯片编号占位符 8">
            <a:extLst>
              <a:ext uri="{FF2B5EF4-FFF2-40B4-BE49-F238E27FC236}">
                <a16:creationId xmlns:a16="http://schemas.microsoft.com/office/drawing/2014/main" id="{F4ACC2B5-29DB-443B-8F1F-540FAC13D28A}"/>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80</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
        <p:nvSpPr>
          <p:cNvPr id="12" name="文本框 11">
            <a:extLst>
              <a:ext uri="{FF2B5EF4-FFF2-40B4-BE49-F238E27FC236}">
                <a16:creationId xmlns:a16="http://schemas.microsoft.com/office/drawing/2014/main" id="{A7AAE90B-5299-4E4A-8831-F1023395D35E}"/>
              </a:ext>
            </a:extLst>
          </p:cNvPr>
          <p:cNvSpPr txBox="1"/>
          <p:nvPr/>
        </p:nvSpPr>
        <p:spPr>
          <a:xfrm>
            <a:off x="2371060" y="1331990"/>
            <a:ext cx="6060518" cy="1200329"/>
          </a:xfrm>
          <a:prstGeom prst="rect">
            <a:avLst/>
          </a:prstGeom>
          <a:noFill/>
        </p:spPr>
        <p:txBody>
          <a:bodyPr wrap="square">
            <a:spAutoFit/>
          </a:bodyPr>
          <a:lstStyle/>
          <a:p>
            <a:r>
              <a:rPr lang="zh-CN" altLang="en-US" sz="1800" dirty="0">
                <a:solidFill>
                  <a:srgbClr val="FF0000"/>
                </a:solidFill>
                <a:latin typeface="Times New Roman" panose="02020603050405020304" pitchFamily="18" charset="0"/>
                <a:ea typeface="微软雅黑" panose="020B0503020204020204" pitchFamily="34" charset="-122"/>
              </a:rPr>
              <a:t>作业 </a:t>
            </a:r>
            <a:r>
              <a:rPr lang="en-US" altLang="zh-CN" sz="1800" dirty="0">
                <a:solidFill>
                  <a:srgbClr val="FF0000"/>
                </a:solidFill>
                <a:latin typeface="Times New Roman" panose="02020603050405020304" pitchFamily="18" charset="0"/>
                <a:ea typeface="微软雅黑" panose="020B0503020204020204" pitchFamily="34" charset="-122"/>
              </a:rPr>
              <a:t>1</a:t>
            </a:r>
            <a:r>
              <a:rPr lang="zh-CN" altLang="en-US" sz="1800" dirty="0">
                <a:solidFill>
                  <a:srgbClr val="FF0000"/>
                </a:solidFill>
                <a:latin typeface="Times New Roman" panose="02020603050405020304" pitchFamily="18" charset="0"/>
                <a:ea typeface="微软雅黑" panose="020B0503020204020204" pitchFamily="34" charset="-122"/>
              </a:rPr>
              <a:t>：</a:t>
            </a:r>
            <a:endParaRPr lang="en-US" altLang="zh-CN" sz="1800" dirty="0">
              <a:solidFill>
                <a:srgbClr val="FF0000"/>
              </a:solidFill>
              <a:latin typeface="Times New Roman" panose="02020603050405020304" pitchFamily="18" charset="0"/>
              <a:ea typeface="微软雅黑" panose="020B0503020204020204" pitchFamily="34" charset="-122"/>
            </a:endParaRPr>
          </a:p>
          <a:p>
            <a:r>
              <a:rPr lang="zh-CN" altLang="en-US" dirty="0">
                <a:solidFill>
                  <a:srgbClr val="FF0000"/>
                </a:solidFill>
                <a:latin typeface="Times New Roman" panose="02020603050405020304" pitchFamily="18" charset="0"/>
                <a:ea typeface="微软雅黑" panose="020B0503020204020204" pitchFamily="34" charset="-122"/>
              </a:rPr>
              <a:t>假设只有一个隐层的多层感知机，其输入、隐层、输出层的神经元个数分别为</a:t>
            </a:r>
            <a:r>
              <a:rPr lang="en-US" altLang="zh-CN" dirty="0">
                <a:solidFill>
                  <a:srgbClr val="FF0000"/>
                </a:solidFill>
                <a:latin typeface="Times New Roman" panose="02020603050405020304" pitchFamily="18" charset="0"/>
                <a:ea typeface="微软雅黑" panose="020B0503020204020204" pitchFamily="34" charset="-122"/>
              </a:rPr>
              <a:t>33</a:t>
            </a:r>
            <a:r>
              <a:rPr lang="zh-CN" altLang="en-US" dirty="0">
                <a:solidFill>
                  <a:srgbClr val="FF0000"/>
                </a:solidFill>
                <a:latin typeface="Times New Roman" panose="02020603050405020304" pitchFamily="18" charset="0"/>
                <a:ea typeface="微软雅黑" panose="020B0503020204020204" pitchFamily="34" charset="-122"/>
              </a:rPr>
              <a:t>、</a:t>
            </a:r>
            <a:r>
              <a:rPr lang="en-US" altLang="zh-CN" dirty="0">
                <a:solidFill>
                  <a:srgbClr val="FF0000"/>
                </a:solidFill>
                <a:latin typeface="Times New Roman" panose="02020603050405020304" pitchFamily="18" charset="0"/>
                <a:ea typeface="微软雅黑" panose="020B0503020204020204" pitchFamily="34" charset="-122"/>
              </a:rPr>
              <a:t>512</a:t>
            </a:r>
            <a:r>
              <a:rPr lang="zh-CN" altLang="en-US" dirty="0">
                <a:solidFill>
                  <a:srgbClr val="FF0000"/>
                </a:solidFill>
                <a:latin typeface="Times New Roman" panose="02020603050405020304" pitchFamily="18" charset="0"/>
                <a:ea typeface="微软雅黑" panose="020B0503020204020204" pitchFamily="34" charset="-122"/>
              </a:rPr>
              <a:t>、</a:t>
            </a:r>
            <a:r>
              <a:rPr lang="en-US" altLang="zh-CN" dirty="0">
                <a:solidFill>
                  <a:srgbClr val="FF0000"/>
                </a:solidFill>
                <a:latin typeface="Times New Roman" panose="02020603050405020304" pitchFamily="18" charset="0"/>
                <a:ea typeface="微软雅黑" panose="020B0503020204020204" pitchFamily="34" charset="-122"/>
              </a:rPr>
              <a:t>10</a:t>
            </a:r>
            <a:r>
              <a:rPr lang="zh-CN" altLang="en-US" dirty="0">
                <a:solidFill>
                  <a:srgbClr val="FF0000"/>
                </a:solidFill>
                <a:latin typeface="Times New Roman" panose="02020603050405020304" pitchFamily="18" charset="0"/>
                <a:ea typeface="微软雅黑" panose="020B0503020204020204" pitchFamily="34" charset="-122"/>
              </a:rPr>
              <a:t>，那么这个多层感知机总共有多少个参数是可以被训练的？</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E75D936-0206-42B6-8C98-E3B8478B9B04}"/>
                  </a:ext>
                </a:extLst>
              </p:cNvPr>
              <p:cNvSpPr txBox="1"/>
              <p:nvPr/>
            </p:nvSpPr>
            <p:spPr>
              <a:xfrm>
                <a:off x="3572618" y="2650316"/>
                <a:ext cx="6103088" cy="12786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(1)</m:t>
                          </m:r>
                        </m:sup>
                      </m:sSup>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smtClean="0">
                                        <a:solidFill>
                                          <a:srgbClr val="FF0000"/>
                                        </a:solidFill>
                                        <a:latin typeface="Cambria Math" panose="02040503050406030204" pitchFamily="18" charset="0"/>
                                        <a:ea typeface="微软雅黑" panose="020B0503020204020204" pitchFamily="34" charset="-122"/>
                                      </a:rPr>
                                    </m:ctrlPr>
                                  </m:sSubSupPr>
                                  <m:e>
                                    <m:r>
                                      <a:rPr lang="en-US" altLang="zh-CN" i="1" kern="0">
                                        <a:solidFill>
                                          <a:srgbClr val="FF0000"/>
                                        </a:solidFill>
                                        <a:latin typeface="Cambria Math" panose="02040503050406030204" pitchFamily="18" charset="0"/>
                                        <a:ea typeface="微软雅黑" panose="020B0503020204020204" pitchFamily="34" charset="-122"/>
                                      </a:rPr>
                                      <m:t>𝑤</m:t>
                                    </m:r>
                                  </m:e>
                                  <m:sub>
                                    <m:r>
                                      <a:rPr lang="en-US" altLang="zh-CN" i="1" kern="0">
                                        <a:solidFill>
                                          <a:srgbClr val="FF0000"/>
                                        </a:solidFill>
                                        <a:latin typeface="Cambria Math" panose="02040503050406030204" pitchFamily="18" charset="0"/>
                                        <a:ea typeface="微软雅黑" panose="020B0503020204020204" pitchFamily="34" charset="-122"/>
                                      </a:rPr>
                                      <m:t>2,2</m:t>
                                    </m:r>
                                  </m:sub>
                                  <m:sup>
                                    <m:r>
                                      <a:rPr lang="en-US" altLang="zh-CN" i="1" kern="0">
                                        <a:solidFill>
                                          <a:srgbClr val="FF0000"/>
                                        </a:solidFill>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3,3</m:t>
                                    </m:r>
                                  </m:sub>
                                  <m:sup>
                                    <m:r>
                                      <a:rPr lang="en-US" altLang="zh-CN" i="1" kern="0">
                                        <a:latin typeface="Cambria Math" panose="02040503050406030204" pitchFamily="18" charset="0"/>
                                        <a:ea typeface="微软雅黑" panose="020B0503020204020204" pitchFamily="34" charset="-122"/>
                                      </a:rPr>
                                      <m:t>(1)</m:t>
                                    </m:r>
                                  </m:sup>
                                </m:sSubSup>
                              </m:e>
                            </m:mr>
                          </m:m>
                        </m:e>
                      </m:d>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0.15</m:t>
                                </m:r>
                              </m:e>
                              <m:e>
                                <m:r>
                                  <a:rPr lang="en-US" altLang="zh-CN" b="0" i="1" kern="0" smtClean="0">
                                    <a:latin typeface="Cambria Math" panose="02040503050406030204" pitchFamily="18" charset="0"/>
                                    <a:ea typeface="微软雅黑" panose="020B0503020204020204" pitchFamily="34" charset="-122"/>
                                  </a:rPr>
                                  <m:t>0.30</m:t>
                                </m:r>
                              </m:e>
                            </m:mr>
                            <m:mr>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solidFill>
                                      <a:srgbClr val="FF0000"/>
                                    </a:solidFill>
                                    <a:latin typeface="Cambria Math" panose="02040503050406030204" pitchFamily="18" charset="0"/>
                                    <a:ea typeface="微软雅黑" panose="020B0503020204020204" pitchFamily="34" charset="-122"/>
                                  </a:rPr>
                                  <m:t>0.20</m:t>
                                </m:r>
                              </m:e>
                              <m:e>
                                <m:r>
                                  <a:rPr lang="en-US" altLang="zh-CN" b="0" i="1" kern="0" smtClean="0">
                                    <a:latin typeface="Cambria Math" panose="02040503050406030204" pitchFamily="18" charset="0"/>
                                    <a:ea typeface="微软雅黑" panose="020B0503020204020204" pitchFamily="34" charset="-122"/>
                                  </a:rPr>
                                  <m:t>0.35</m:t>
                                </m:r>
                              </m:e>
                            </m:mr>
                            <m:mr>
                              <m:e>
                                <m:r>
                                  <a:rPr lang="en-US" altLang="zh-CN" b="0" i="1" kern="0" smtClean="0">
                                    <a:latin typeface="Cambria Math" panose="02040503050406030204" pitchFamily="18" charset="0"/>
                                    <a:ea typeface="微软雅黑" panose="020B0503020204020204" pitchFamily="34" charset="-122"/>
                                  </a:rPr>
                                  <m:t>0.10</m:t>
                                </m:r>
                              </m:e>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0.15</m:t>
                                </m:r>
                              </m:e>
                            </m:mr>
                          </m:m>
                        </m:e>
                      </m:d>
                    </m:oMath>
                  </m:oMathPara>
                </a14:m>
                <a:endParaRPr lang="zh-CN" altLang="en-US" dirty="0"/>
              </a:p>
            </p:txBody>
          </p:sp>
        </mc:Choice>
        <mc:Fallback xmlns="">
          <p:sp>
            <p:nvSpPr>
              <p:cNvPr id="13" name="文本框 12">
                <a:extLst>
                  <a:ext uri="{FF2B5EF4-FFF2-40B4-BE49-F238E27FC236}">
                    <a16:creationId xmlns:a16="http://schemas.microsoft.com/office/drawing/2014/main" id="{6E75D936-0206-42B6-8C98-E3B8478B9B04}"/>
                  </a:ext>
                </a:extLst>
              </p:cNvPr>
              <p:cNvSpPr txBox="1">
                <a:spLocks noRot="1" noChangeAspect="1" noMove="1" noResize="1" noEditPoints="1" noAdjustHandles="1" noChangeArrowheads="1" noChangeShapeType="1" noTextEdit="1"/>
              </p:cNvSpPr>
              <p:nvPr/>
            </p:nvSpPr>
            <p:spPr>
              <a:xfrm>
                <a:off x="3572618" y="2650316"/>
                <a:ext cx="6103088" cy="1278620"/>
              </a:xfrm>
              <a:prstGeom prst="rect">
                <a:avLst/>
              </a:prstGeom>
              <a:blipFill>
                <a:blip r:embed="rId7"/>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D34A94DF-36B8-4EED-93B7-2F7D93AD5820}"/>
              </a:ext>
            </a:extLst>
          </p:cNvPr>
          <p:cNvSpPr txBox="1"/>
          <p:nvPr/>
        </p:nvSpPr>
        <p:spPr>
          <a:xfrm>
            <a:off x="2371060" y="2626697"/>
            <a:ext cx="1249679" cy="369332"/>
          </a:xfrm>
          <a:prstGeom prst="rect">
            <a:avLst/>
          </a:prstGeom>
          <a:noFill/>
        </p:spPr>
        <p:txBody>
          <a:bodyPr wrap="square">
            <a:spAutoFit/>
          </a:bodyPr>
          <a:lstStyle/>
          <a:p>
            <a:r>
              <a:rPr lang="zh-CN" altLang="en-US" sz="1800" dirty="0">
                <a:solidFill>
                  <a:srgbClr val="FF0000"/>
                </a:solidFill>
                <a:latin typeface="Times New Roman" panose="02020603050405020304" pitchFamily="18" charset="0"/>
                <a:ea typeface="微软雅黑" panose="020B0503020204020204" pitchFamily="34" charset="-122"/>
              </a:rPr>
              <a:t>作业 </a:t>
            </a:r>
            <a:r>
              <a:rPr lang="en-US" altLang="zh-CN" sz="1800" dirty="0">
                <a:solidFill>
                  <a:srgbClr val="FF0000"/>
                </a:solidFill>
                <a:latin typeface="Times New Roman" panose="02020603050405020304" pitchFamily="18" charset="0"/>
                <a:ea typeface="微软雅黑" panose="020B0503020204020204" pitchFamily="34" charset="-122"/>
              </a:rPr>
              <a:t>2</a:t>
            </a:r>
            <a:r>
              <a:rPr lang="zh-CN" altLang="en-US" sz="1800" dirty="0">
                <a:solidFill>
                  <a:srgbClr val="FF0000"/>
                </a:solidFill>
                <a:latin typeface="Times New Roman" panose="02020603050405020304" pitchFamily="18" charset="0"/>
                <a:ea typeface="微软雅黑" panose="020B0503020204020204" pitchFamily="34" charset="-122"/>
              </a:rPr>
              <a:t>：</a:t>
            </a:r>
            <a:endParaRPr lang="zh-CN" altLang="en-US" dirty="0">
              <a:solidFill>
                <a:srgbClr val="FF0000"/>
              </a:solidFill>
              <a:latin typeface="Times New Roman" panose="02020603050405020304" pitchFamily="18"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5B1F3787-D738-4E5F-A67D-44DF45284FF2}"/>
                  </a:ext>
                </a:extLst>
              </p:cNvPr>
              <p:cNvSpPr/>
              <p:nvPr/>
            </p:nvSpPr>
            <p:spPr>
              <a:xfrm>
                <a:off x="2661717" y="3861972"/>
                <a:ext cx="6120680" cy="1291700"/>
              </a:xfrm>
              <a:prstGeom prst="rect">
                <a:avLst/>
              </a:prstGeom>
            </p:spPr>
            <p:txBody>
              <a:bodyPr wrap="square">
                <a:spAutoFit/>
              </a:bodyPr>
              <a:lstStyle/>
              <a:p>
                <a:pPr>
                  <a:lnSpc>
                    <a:spcPct val="150000"/>
                  </a:lnSpc>
                </a:pPr>
                <a:r>
                  <a:rPr lang="zh-CN" altLang="en-US" dirty="0">
                    <a:latin typeface="微软雅黑 Light" panose="020B0502040204020203" pitchFamily="34" charset="-122"/>
                    <a:ea typeface="微软雅黑 Light" panose="020B0502040204020203" pitchFamily="34" charset="-122"/>
                  </a:rPr>
                  <a:t>假定输入数据   </a:t>
                </a:r>
                <a14:m>
                  <m:oMath xmlns:m="http://schemas.openxmlformats.org/officeDocument/2006/math">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0.02</m:t>
                          </m:r>
                        </m:e>
                        <m:e>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2</m:t>
                              </m:r>
                            </m:sub>
                          </m:sSub>
                          <m:r>
                            <a:rPr lang="en-US" altLang="zh-CN" b="0" i="1" smtClean="0">
                              <a:latin typeface="Cambria Math" panose="02040503050406030204" pitchFamily="18" charset="0"/>
                            </a:rPr>
                            <m:t>=0.04</m:t>
                          </m:r>
                        </m:e>
                        <m:e>
                          <m:r>
                            <a:rPr lang="zh-CN" altLang="en-US"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i="1">
                                  <a:latin typeface="Cambria Math" panose="02040503050406030204" pitchFamily="18" charset="0"/>
                                </a:rPr>
                                <m:t>3</m:t>
                              </m:r>
                            </m:sub>
                          </m:sSub>
                          <m:r>
                            <a:rPr lang="en-US" altLang="zh-CN" i="1" smtClean="0">
                              <a:latin typeface="Cambria Math" panose="02040503050406030204" pitchFamily="18" charset="0"/>
                            </a:rPr>
                            <m:t>=</m:t>
                          </m:r>
                          <m:r>
                            <a:rPr lang="en-US" altLang="zh-CN" b="0" i="1" smtClean="0">
                              <a:latin typeface="Cambria Math" panose="02040503050406030204" pitchFamily="18" charset="0"/>
                            </a:rPr>
                            <m:t>0.01</m:t>
                          </m:r>
                        </m:e>
                      </m:mr>
                    </m:m>
                  </m:oMath>
                </a14:m>
                <a:r>
                  <a:rPr lang="en-US" altLang="zh-CN" dirty="0">
                    <a:latin typeface="微软雅黑 Light" panose="020B0502040204020203" pitchFamily="34" charset="-122"/>
                    <a:ea typeface="微软雅黑 Light" panose="020B0502040204020203" pitchFamily="34" charset="-122"/>
                  </a:rPr>
                  <a:t> </a:t>
                </a:r>
              </a:p>
              <a:p>
                <a:pPr>
                  <a:lnSpc>
                    <a:spcPct val="150000"/>
                  </a:lnSpc>
                </a:pPr>
                <a:r>
                  <a:rPr lang="zh-CN" altLang="en-US" dirty="0">
                    <a:latin typeface="微软雅黑 Light" panose="020B0502040204020203" pitchFamily="34" charset="-122"/>
                    <a:ea typeface="微软雅黑 Light" panose="020B0502040204020203" pitchFamily="34" charset="-122"/>
                  </a:rPr>
                  <a:t>截距</a:t>
                </a:r>
                <a:r>
                  <a:rPr lang="en-US" altLang="zh-CN" dirty="0">
                    <a:latin typeface="微软雅黑 Light" panose="020B0502040204020203" pitchFamily="34" charset="-122"/>
                    <a:ea typeface="微软雅黑 Light" panose="020B0502040204020203" pitchFamily="34" charset="-122"/>
                  </a:rPr>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en-US" altLang="zh-CN" dirty="0">
                    <a:latin typeface="微软雅黑 Light" panose="020B0502040204020203" pitchFamily="34" charset="-122"/>
                    <a:ea typeface="微软雅黑 Light" panose="020B0502040204020203" pitchFamily="34" charset="-122"/>
                  </a:rPr>
                  <a:t>0.4</a:t>
                </a:r>
                <a:r>
                  <a:rPr lang="zh-CN" altLang="en-US" dirty="0">
                    <a:latin typeface="微软雅黑 Light" panose="020B0502040204020203" pitchFamily="34" charset="-122"/>
                    <a:ea typeface="微软雅黑 Light" panose="020B0502040204020203" pitchFamily="34" charset="-122"/>
                  </a:rPr>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oMath>
                </a14:m>
                <a:r>
                  <a:rPr lang="en-US" altLang="zh-CN" dirty="0">
                    <a:latin typeface="微软雅黑 Light" panose="020B0502040204020203" pitchFamily="34" charset="-122"/>
                    <a:ea typeface="微软雅黑 Light" panose="020B0502040204020203" pitchFamily="34" charset="-122"/>
                  </a:rPr>
                  <a:t>0.7</a:t>
                </a:r>
              </a:p>
              <a:p>
                <a:pPr>
                  <a:lnSpc>
                    <a:spcPct val="150000"/>
                  </a:lnSpc>
                </a:pPr>
                <a:r>
                  <a:rPr lang="zh-CN" altLang="en-US" dirty="0">
                    <a:latin typeface="微软雅黑 Light" panose="020B0502040204020203" pitchFamily="34" charset="-122"/>
                    <a:ea typeface="微软雅黑 Light" panose="020B0502040204020203" pitchFamily="34" charset="-122"/>
                  </a:rPr>
                  <a:t>期望输出</a:t>
                </a:r>
                <a14:m>
                  <m:oMath xmlns:m="http://schemas.openxmlformats.org/officeDocument/2006/math">
                    <m:sSub>
                      <m:sSubPr>
                        <m:ctrlPr>
                          <a:rPr lang="en-US" altLang="zh-CN" i="1" kern="0" smtClean="0">
                            <a:latin typeface="Cambria Math" panose="02040503050406030204" pitchFamily="18" charset="0"/>
                            <a:ea typeface="微软雅黑" panose="020B0503020204020204" pitchFamily="34" charset="-122"/>
                          </a:rPr>
                        </m:ctrlPr>
                      </m:sSubPr>
                      <m:e>
                        <m:r>
                          <a:rPr lang="en-US" altLang="zh-CN" b="0" i="1" kern="0" smtClean="0">
                            <a:latin typeface="Cambria Math" panose="02040503050406030204" pitchFamily="18" charset="0"/>
                            <a:ea typeface="微软雅黑" panose="020B0503020204020204" pitchFamily="34" charset="-122"/>
                          </a:rPr>
                          <m:t>𝑦</m:t>
                        </m:r>
                      </m:e>
                      <m:sub>
                        <m:r>
                          <a:rPr lang="en-US" altLang="zh-CN" i="1" kern="0">
                            <a:latin typeface="Cambria Math" panose="02040503050406030204" pitchFamily="18" charset="0"/>
                            <a:ea typeface="微软雅黑" panose="020B0503020204020204" pitchFamily="34" charset="-122"/>
                          </a:rPr>
                          <m:t>1</m:t>
                        </m:r>
                      </m:sub>
                    </m:sSub>
                    <m:r>
                      <a:rPr lang="en-US" altLang="zh-CN" i="1" kern="0" smtClean="0">
                        <a:latin typeface="Cambria Math" panose="02040503050406030204" pitchFamily="18" charset="0"/>
                        <a:ea typeface="微软雅黑" panose="020B0503020204020204" pitchFamily="34" charset="-122"/>
                      </a:rPr>
                      <m:t>=</m:t>
                    </m:r>
                    <m:r>
                      <a:rPr lang="en-US" altLang="zh-CN" b="0" i="1" kern="0" smtClean="0">
                        <a:latin typeface="Cambria Math" panose="02040503050406030204" pitchFamily="18" charset="0"/>
                        <a:ea typeface="微软雅黑" panose="020B0503020204020204" pitchFamily="34" charset="-122"/>
                      </a:rPr>
                      <m:t>0.9</m:t>
                    </m:r>
                    <m:r>
                      <a:rPr lang="zh-CN" altLang="en-US" i="1" kern="0">
                        <a:latin typeface="Cambria Math" panose="02040503050406030204" pitchFamily="18" charset="0"/>
                        <a:ea typeface="微软雅黑" panose="020B0503020204020204" pitchFamily="34" charset="-122"/>
                      </a:rPr>
                      <m:t>、</m:t>
                    </m:r>
                    <m:sSub>
                      <m:sSubPr>
                        <m:ctrlPr>
                          <a:rPr lang="en-US" altLang="zh-CN" i="1" kern="0">
                            <a:latin typeface="Cambria Math" panose="02040503050406030204" pitchFamily="18" charset="0"/>
                            <a:ea typeface="微软雅黑" panose="020B0503020204020204" pitchFamily="34" charset="-122"/>
                          </a:rPr>
                        </m:ctrlPr>
                      </m:sSubPr>
                      <m:e>
                        <m:r>
                          <a:rPr lang="en-US" altLang="zh-CN" i="1" kern="0">
                            <a:latin typeface="Cambria Math" panose="02040503050406030204" pitchFamily="18" charset="0"/>
                            <a:ea typeface="微软雅黑" panose="020B0503020204020204" pitchFamily="34" charset="-122"/>
                          </a:rPr>
                          <m:t>𝑦</m:t>
                        </m:r>
                      </m:e>
                      <m:sub>
                        <m:r>
                          <a:rPr lang="en-US" altLang="zh-CN" b="0" i="1" kern="0" smtClean="0">
                            <a:latin typeface="Cambria Math" panose="02040503050406030204" pitchFamily="18" charset="0"/>
                            <a:ea typeface="微软雅黑" panose="020B0503020204020204" pitchFamily="34" charset="-122"/>
                          </a:rPr>
                          <m:t>2</m:t>
                        </m:r>
                      </m:sub>
                    </m:sSub>
                    <m:r>
                      <a:rPr lang="en-US" altLang="zh-CN" i="1" kern="0">
                        <a:latin typeface="Cambria Math" panose="02040503050406030204" pitchFamily="18" charset="0"/>
                        <a:ea typeface="微软雅黑" panose="020B0503020204020204" pitchFamily="34" charset="-122"/>
                      </a:rPr>
                      <m:t>=0.</m:t>
                    </m:r>
                    <m:r>
                      <a:rPr lang="en-US" altLang="zh-CN" b="0" i="1" kern="0" smtClean="0">
                        <a:latin typeface="Cambria Math" panose="02040503050406030204" pitchFamily="18" charset="0"/>
                        <a:ea typeface="微软雅黑" panose="020B0503020204020204" pitchFamily="34" charset="-122"/>
                      </a:rPr>
                      <m:t>5</m:t>
                    </m:r>
                  </m:oMath>
                </a14:m>
                <a:endParaRPr lang="en-US" altLang="zh-CN" dirty="0">
                  <a:latin typeface="微软雅黑 Light" panose="020B0502040204020203" pitchFamily="34" charset="-122"/>
                  <a:ea typeface="微软雅黑 Light" panose="020B0502040204020203" pitchFamily="34" charset="-122"/>
                </a:endParaRPr>
              </a:p>
            </p:txBody>
          </p:sp>
        </mc:Choice>
        <mc:Fallback xmlns="">
          <p:sp>
            <p:nvSpPr>
              <p:cNvPr id="16" name="矩形 15">
                <a:extLst>
                  <a:ext uri="{FF2B5EF4-FFF2-40B4-BE49-F238E27FC236}">
                    <a16:creationId xmlns:a16="http://schemas.microsoft.com/office/drawing/2014/main" id="{5B1F3787-D738-4E5F-A67D-44DF45284FF2}"/>
                  </a:ext>
                </a:extLst>
              </p:cNvPr>
              <p:cNvSpPr>
                <a:spLocks noRot="1" noChangeAspect="1" noMove="1" noResize="1" noEditPoints="1" noAdjustHandles="1" noChangeArrowheads="1" noChangeShapeType="1" noTextEdit="1"/>
              </p:cNvSpPr>
              <p:nvPr/>
            </p:nvSpPr>
            <p:spPr>
              <a:xfrm>
                <a:off x="2661717" y="3861972"/>
                <a:ext cx="6120680" cy="1291700"/>
              </a:xfrm>
              <a:prstGeom prst="rect">
                <a:avLst/>
              </a:prstGeom>
              <a:blipFill>
                <a:blip r:embed="rId8"/>
                <a:stretch>
                  <a:fillRect l="-896" b="-71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A1472BAD-8903-4480-A623-B3CE18EC23C8}"/>
                  </a:ext>
                </a:extLst>
              </p:cNvPr>
              <p:cNvSpPr/>
              <p:nvPr/>
            </p:nvSpPr>
            <p:spPr>
              <a:xfrm>
                <a:off x="778480" y="5159594"/>
                <a:ext cx="7560840" cy="12786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(1)</m:t>
                          </m:r>
                        </m:sup>
                      </m:sSup>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2,3</m:t>
                                    </m:r>
                                  </m:sub>
                                  <m:sup>
                                    <m:r>
                                      <a:rPr lang="en-US" altLang="zh-CN" i="1" kern="0">
                                        <a:latin typeface="Cambria Math" panose="02040503050406030204" pitchFamily="18" charset="0"/>
                                        <a:ea typeface="微软雅黑" panose="020B0503020204020204" pitchFamily="34" charset="-122"/>
                                      </a:rPr>
                                      <m:t>(1)</m:t>
                                    </m:r>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r>
                                      <a:rPr lang="en-US" altLang="zh-CN" i="1" kern="0">
                                        <a:latin typeface="Cambria Math" panose="02040503050406030204" pitchFamily="18" charset="0"/>
                                        <a:ea typeface="微软雅黑" panose="020B0503020204020204" pitchFamily="34" charset="-122"/>
                                      </a:rPr>
                                      <m:t>(1)</m:t>
                                    </m:r>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3,3</m:t>
                                    </m:r>
                                  </m:sub>
                                  <m:sup>
                                    <m:r>
                                      <a:rPr lang="en-US" altLang="zh-CN" i="1" kern="0">
                                        <a:latin typeface="Cambria Math" panose="02040503050406030204" pitchFamily="18" charset="0"/>
                                        <a:ea typeface="微软雅黑" panose="020B0503020204020204" pitchFamily="34" charset="-122"/>
                                      </a:rPr>
                                      <m:t>(1)</m:t>
                                    </m:r>
                                  </m:sup>
                                </m:sSubSup>
                              </m:e>
                            </m:mr>
                          </m:m>
                        </m:e>
                      </m:d>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3"/>
                                    <m:mcJc m:val="center"/>
                                  </m:mcPr>
                                </m:mc>
                              </m:mcs>
                              <m:ctrlPr>
                                <a:rPr lang="en-US" altLang="zh-CN" i="1" kern="0">
                                  <a:latin typeface="Cambria Math" panose="02040503050406030204" pitchFamily="18" charset="0"/>
                                  <a:ea typeface="微软雅黑" panose="020B0503020204020204" pitchFamily="34" charset="-122"/>
                                </a:rPr>
                              </m:ctrlPr>
                            </m:mPr>
                            <m:mr>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0.15</m:t>
                                </m:r>
                              </m:e>
                              <m:e>
                                <m:r>
                                  <a:rPr lang="en-US" altLang="zh-CN" b="0" i="1" kern="0" smtClean="0">
                                    <a:latin typeface="Cambria Math" panose="02040503050406030204" pitchFamily="18" charset="0"/>
                                    <a:ea typeface="微软雅黑" panose="020B0503020204020204" pitchFamily="34" charset="-122"/>
                                  </a:rPr>
                                  <m:t>0.30</m:t>
                                </m:r>
                              </m:e>
                            </m:mr>
                            <m:mr>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0.20</m:t>
                                </m:r>
                              </m:e>
                              <m:e>
                                <m:r>
                                  <a:rPr lang="en-US" altLang="zh-CN" b="0" i="1" kern="0" smtClean="0">
                                    <a:latin typeface="Cambria Math" panose="02040503050406030204" pitchFamily="18" charset="0"/>
                                    <a:ea typeface="微软雅黑" panose="020B0503020204020204" pitchFamily="34" charset="-122"/>
                                  </a:rPr>
                                  <m:t>0.35</m:t>
                                </m:r>
                              </m:e>
                            </m:mr>
                            <m:mr>
                              <m:e>
                                <m:r>
                                  <a:rPr lang="en-US" altLang="zh-CN" b="0" i="1" kern="0" smtClean="0">
                                    <a:latin typeface="Cambria Math" panose="02040503050406030204" pitchFamily="18" charset="0"/>
                                    <a:ea typeface="微软雅黑" panose="020B0503020204020204" pitchFamily="34" charset="-122"/>
                                  </a:rPr>
                                  <m:t>0.10</m:t>
                                </m:r>
                              </m:e>
                              <m:e>
                                <m:r>
                                  <a:rPr lang="en-US" altLang="zh-CN" b="0" i="1" kern="0" smtClean="0">
                                    <a:latin typeface="Cambria Math" panose="02040503050406030204" pitchFamily="18" charset="0"/>
                                    <a:ea typeface="微软雅黑" panose="020B0503020204020204" pitchFamily="34" charset="-122"/>
                                  </a:rPr>
                                  <m:t>0.25</m:t>
                                </m:r>
                              </m:e>
                              <m:e>
                                <m:r>
                                  <a:rPr lang="en-US" altLang="zh-CN" b="0" i="1" kern="0" smtClean="0">
                                    <a:latin typeface="Cambria Math" panose="02040503050406030204" pitchFamily="18" charset="0"/>
                                    <a:ea typeface="微软雅黑" panose="020B0503020204020204" pitchFamily="34" charset="-122"/>
                                  </a:rPr>
                                  <m:t>0.15</m:t>
                                </m:r>
                              </m:e>
                            </m:mr>
                          </m:m>
                        </m:e>
                      </m:d>
                    </m:oMath>
                  </m:oMathPara>
                </a14:m>
                <a:endParaRPr lang="en-US" altLang="zh-CN" i="1" kern="0" dirty="0">
                  <a:latin typeface="Cambria Math" panose="02040503050406030204" pitchFamily="18" charset="0"/>
                  <a:ea typeface="微软雅黑 Light" panose="020B0502040204020203" pitchFamily="34" charset="-122"/>
                </a:endParaRPr>
              </a:p>
            </p:txBody>
          </p:sp>
        </mc:Choice>
        <mc:Fallback xmlns="">
          <p:sp>
            <p:nvSpPr>
              <p:cNvPr id="18" name="矩形 17">
                <a:extLst>
                  <a:ext uri="{FF2B5EF4-FFF2-40B4-BE49-F238E27FC236}">
                    <a16:creationId xmlns:a16="http://schemas.microsoft.com/office/drawing/2014/main" id="{A1472BAD-8903-4480-A623-B3CE18EC23C8}"/>
                  </a:ext>
                </a:extLst>
              </p:cNvPr>
              <p:cNvSpPr>
                <a:spLocks noRot="1" noChangeAspect="1" noMove="1" noResize="1" noEditPoints="1" noAdjustHandles="1" noChangeArrowheads="1" noChangeShapeType="1" noTextEdit="1"/>
              </p:cNvSpPr>
              <p:nvPr/>
            </p:nvSpPr>
            <p:spPr>
              <a:xfrm>
                <a:off x="778480" y="5159594"/>
                <a:ext cx="7560840" cy="127862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8543F109-BBB7-4C93-B7ED-ECC1DECB8182}"/>
                  </a:ext>
                </a:extLst>
              </p:cNvPr>
              <p:cNvSpPr/>
              <p:nvPr/>
            </p:nvSpPr>
            <p:spPr>
              <a:xfrm>
                <a:off x="7404779" y="5090464"/>
                <a:ext cx="6192688" cy="1268039"/>
              </a:xfrm>
              <a:prstGeom prst="rect">
                <a:avLst/>
              </a:prstGeom>
            </p:spPr>
            <p:txBody>
              <a:bodyPr wrap="square">
                <a:spAutoFit/>
              </a:bodyPr>
              <a:lstStyle/>
              <a:p>
                <a14:m>
                  <m:oMath xmlns:m="http://schemas.openxmlformats.org/officeDocument/2006/math">
                    <m:sSup>
                      <m:sSupPr>
                        <m:ctrlPr>
                          <a:rPr lang="en-US" altLang="zh-CN" i="1" kern="0" smtClean="0">
                            <a:latin typeface="Cambria Math" panose="02040503050406030204" pitchFamily="18" charset="0"/>
                            <a:ea typeface="微软雅黑" panose="020B0503020204020204" pitchFamily="34" charset="-122"/>
                          </a:rPr>
                        </m:ctrlPr>
                      </m:sSupPr>
                      <m:e>
                        <m:r>
                          <a:rPr lang="en-US" altLang="zh-CN" b="0" i="1" kern="0" smtClean="0">
                            <a:latin typeface="Cambria Math" panose="02040503050406030204" pitchFamily="18" charset="0"/>
                            <a:ea typeface="微软雅黑" panose="020B0503020204020204" pitchFamily="34" charset="-122"/>
                          </a:rPr>
                          <m:t>𝑊</m:t>
                        </m:r>
                      </m:e>
                      <m:sup>
                        <m:r>
                          <a:rPr lang="en-US" altLang="zh-CN" i="1" kern="0">
                            <a:latin typeface="Cambria Math" panose="02040503050406030204" pitchFamily="18" charset="0"/>
                            <a:ea typeface="微软雅黑" panose="020B0503020204020204" pitchFamily="34" charset="-122"/>
                          </a:rPr>
                          <m:t>(2)</m:t>
                        </m:r>
                      </m:sup>
                    </m:sSup>
                    <m:r>
                      <a:rPr lang="en-US" altLang="zh-CN" i="1" kern="0">
                        <a:latin typeface="Cambria Math" panose="02040503050406030204" pitchFamily="18" charset="0"/>
                        <a:ea typeface="微软雅黑" panose="020B0503020204020204" pitchFamily="34" charset="-122"/>
                      </a:rPr>
                      <m:t>=</m:t>
                    </m:r>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i="1" kern="0">
                                <a:latin typeface="Cambria Math" panose="02040503050406030204" pitchFamily="18" charset="0"/>
                                <a:ea typeface="微软雅黑" panose="020B0503020204020204" pitchFamily="34" charset="-122"/>
                              </a:rPr>
                            </m:ctrlPr>
                          </m:mP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1,2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2,2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r>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3,1</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e>
                              <m:sSubSup>
                                <m:sSubSupPr>
                                  <m:ctrlPr>
                                    <a:rPr lang="en-US" altLang="zh-CN" i="1" kern="0">
                                      <a:latin typeface="Cambria Math" panose="02040503050406030204" pitchFamily="18" charset="0"/>
                                      <a:ea typeface="微软雅黑" panose="020B0503020204020204" pitchFamily="34" charset="-122"/>
                                    </a:rPr>
                                  </m:ctrlPr>
                                </m:sSubSupPr>
                                <m:e>
                                  <m:r>
                                    <a:rPr lang="en-US" altLang="zh-CN" i="1" kern="0">
                                      <a:latin typeface="Cambria Math" panose="02040503050406030204" pitchFamily="18" charset="0"/>
                                      <a:ea typeface="微软雅黑" panose="020B0503020204020204" pitchFamily="34" charset="-122"/>
                                    </a:rPr>
                                    <m:t>𝑤</m:t>
                                  </m:r>
                                </m:e>
                                <m:sub>
                                  <m:r>
                                    <a:rPr lang="en-US" altLang="zh-CN" i="1" kern="0">
                                      <a:latin typeface="Cambria Math" panose="02040503050406030204" pitchFamily="18" charset="0"/>
                                      <a:ea typeface="微软雅黑" panose="020B0503020204020204" pitchFamily="34" charset="-122"/>
                                    </a:rPr>
                                    <m:t>3,2</m:t>
                                  </m:r>
                                </m:sub>
                                <m:sup>
                                  <m:d>
                                    <m:dPr>
                                      <m:ctrlPr>
                                        <a:rPr lang="en-US" altLang="zh-CN" i="1" kern="0">
                                          <a:latin typeface="Cambria Math" panose="02040503050406030204" pitchFamily="18" charset="0"/>
                                          <a:ea typeface="微软雅黑" panose="020B0503020204020204" pitchFamily="34" charset="-122"/>
                                        </a:rPr>
                                      </m:ctrlPr>
                                    </m:dPr>
                                    <m:e>
                                      <m:r>
                                        <a:rPr lang="en-US" altLang="zh-CN" i="1" kern="0">
                                          <a:latin typeface="Cambria Math" panose="02040503050406030204" pitchFamily="18" charset="0"/>
                                          <a:ea typeface="微软雅黑" panose="020B0503020204020204" pitchFamily="34" charset="-122"/>
                                        </a:rPr>
                                        <m:t>2</m:t>
                                      </m:r>
                                    </m:e>
                                  </m:d>
                                </m:sup>
                              </m:sSubSup>
                            </m:e>
                          </m:mr>
                        </m:m>
                      </m:e>
                    </m:d>
                  </m:oMath>
                </a14:m>
                <a:r>
                  <a:rPr lang="en-US" altLang="zh-CN" dirty="0"/>
                  <a:t>=</a:t>
                </a:r>
                <a14:m>
                  <m:oMath xmlns:m="http://schemas.openxmlformats.org/officeDocument/2006/math">
                    <m:d>
                      <m:dPr>
                        <m:begChr m:val="["/>
                        <m:endChr m:val="]"/>
                        <m:ctrlPr>
                          <a:rPr lang="en-US" altLang="zh-CN" i="1" kern="0">
                            <a:latin typeface="Cambria Math" panose="02040503050406030204" pitchFamily="18" charset="0"/>
                            <a:ea typeface="微软雅黑" panose="020B0503020204020204" pitchFamily="34" charset="-122"/>
                          </a:rPr>
                        </m:ctrlPr>
                      </m:dPr>
                      <m:e>
                        <m:m>
                          <m:mPr>
                            <m:mcs>
                              <m:mc>
                                <m:mcPr>
                                  <m:count m:val="2"/>
                                  <m:mcJc m:val="center"/>
                                </m:mcPr>
                              </m:mc>
                            </m:mcs>
                            <m:ctrlPr>
                              <a:rPr lang="en-US" altLang="zh-CN" i="1" kern="0" smtClean="0">
                                <a:latin typeface="Cambria Math" panose="02040503050406030204" pitchFamily="18" charset="0"/>
                                <a:ea typeface="微软雅黑" panose="020B0503020204020204" pitchFamily="34" charset="-122"/>
                              </a:rPr>
                            </m:ctrlPr>
                          </m:mPr>
                          <m:mr>
                            <m:e>
                              <m:r>
                                <m:rPr>
                                  <m:brk m:alnAt="7"/>
                                </m:rPr>
                                <a:rPr lang="en-US" altLang="zh-CN" b="0" i="1" kern="0" smtClean="0">
                                  <a:latin typeface="Cambria Math" panose="02040503050406030204" pitchFamily="18" charset="0"/>
                                  <a:ea typeface="微软雅黑" panose="020B0503020204020204" pitchFamily="34" charset="-122"/>
                                </a:rPr>
                                <m:t>0</m:t>
                              </m:r>
                              <m:r>
                                <a:rPr lang="en-US" altLang="zh-CN" b="0" i="1" kern="0" smtClean="0">
                                  <a:latin typeface="Cambria Math" panose="02040503050406030204" pitchFamily="18" charset="0"/>
                                  <a:ea typeface="微软雅黑" panose="020B0503020204020204" pitchFamily="34" charset="-122"/>
                                </a:rPr>
                                <m:t>.40</m:t>
                              </m:r>
                            </m:e>
                            <m:e>
                              <m:r>
                                <a:rPr lang="en-US" altLang="zh-CN" b="0" i="1" kern="0" smtClean="0">
                                  <a:latin typeface="Cambria Math" panose="02040503050406030204" pitchFamily="18" charset="0"/>
                                  <a:ea typeface="微软雅黑" panose="020B0503020204020204" pitchFamily="34" charset="-122"/>
                                </a:rPr>
                                <m:t>0.25</m:t>
                              </m:r>
                            </m:e>
                          </m:mr>
                          <m:mr>
                            <m:e>
                              <m:r>
                                <a:rPr lang="en-US" altLang="zh-CN" b="0" i="1" kern="0" smtClean="0">
                                  <a:latin typeface="Cambria Math" panose="02040503050406030204" pitchFamily="18" charset="0"/>
                                  <a:ea typeface="微软雅黑" panose="020B0503020204020204" pitchFamily="34" charset="-122"/>
                                </a:rPr>
                                <m:t>0.35</m:t>
                              </m:r>
                            </m:e>
                            <m:e>
                              <m:r>
                                <a:rPr lang="en-US" altLang="zh-CN" b="0" i="1" kern="0" smtClean="0">
                                  <a:latin typeface="Cambria Math" panose="02040503050406030204" pitchFamily="18" charset="0"/>
                                  <a:ea typeface="微软雅黑" panose="020B0503020204020204" pitchFamily="34" charset="-122"/>
                                </a:rPr>
                                <m:t>0.30</m:t>
                              </m:r>
                            </m:e>
                          </m:mr>
                          <m:mr>
                            <m:e>
                              <m:r>
                                <a:rPr lang="en-US" altLang="zh-CN" b="0" i="1" kern="0" smtClean="0">
                                  <a:latin typeface="Cambria Math" panose="02040503050406030204" pitchFamily="18" charset="0"/>
                                  <a:ea typeface="微软雅黑" panose="020B0503020204020204" pitchFamily="34" charset="-122"/>
                                </a:rPr>
                                <m:t>0.01</m:t>
                              </m:r>
                            </m:e>
                            <m:e>
                              <m:r>
                                <a:rPr lang="en-US" altLang="zh-CN" b="0" i="1" kern="0" smtClean="0">
                                  <a:latin typeface="Cambria Math" panose="02040503050406030204" pitchFamily="18" charset="0"/>
                                  <a:ea typeface="微软雅黑" panose="020B0503020204020204" pitchFamily="34" charset="-122"/>
                                </a:rPr>
                                <m:t>0.35</m:t>
                              </m:r>
                            </m:e>
                          </m:mr>
                        </m:m>
                      </m:e>
                    </m:d>
                  </m:oMath>
                </a14:m>
                <a:endParaRPr lang="zh-CN" altLang="en-US" dirty="0"/>
              </a:p>
            </p:txBody>
          </p:sp>
        </mc:Choice>
        <mc:Fallback xmlns="">
          <p:sp>
            <p:nvSpPr>
              <p:cNvPr id="19" name="矩形 18">
                <a:extLst>
                  <a:ext uri="{FF2B5EF4-FFF2-40B4-BE49-F238E27FC236}">
                    <a16:creationId xmlns:a16="http://schemas.microsoft.com/office/drawing/2014/main" id="{8543F109-BBB7-4C93-B7ED-ECC1DECB8182}"/>
                  </a:ext>
                </a:extLst>
              </p:cNvPr>
              <p:cNvSpPr>
                <a:spLocks noRot="1" noChangeAspect="1" noMove="1" noResize="1" noEditPoints="1" noAdjustHandles="1" noChangeArrowheads="1" noChangeShapeType="1" noTextEdit="1"/>
              </p:cNvSpPr>
              <p:nvPr/>
            </p:nvSpPr>
            <p:spPr>
              <a:xfrm>
                <a:off x="7404779" y="5090464"/>
                <a:ext cx="6192688" cy="1268039"/>
              </a:xfrm>
              <a:prstGeom prst="rect">
                <a:avLst/>
              </a:prstGeom>
              <a:blipFill>
                <a:blip r:embed="rId10"/>
                <a:stretch>
                  <a:fillRect/>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D3D125E9-5C79-46F7-870B-A92EE1A70AB2}"/>
              </a:ext>
            </a:extLst>
          </p:cNvPr>
          <p:cNvSpPr txBox="1"/>
          <p:nvPr/>
        </p:nvSpPr>
        <p:spPr>
          <a:xfrm>
            <a:off x="2360331" y="741314"/>
            <a:ext cx="4720598" cy="584775"/>
          </a:xfrm>
          <a:prstGeom prst="rect">
            <a:avLst/>
          </a:prstGeom>
          <a:noFill/>
        </p:spPr>
        <p:txBody>
          <a:bodyPr wrap="square">
            <a:spAutoFit/>
          </a:bodyPr>
          <a:lstStyle/>
          <a:p>
            <a:r>
              <a:rPr lang="zh-CN" altLang="en-US" sz="1600" b="1" i="0" dirty="0">
                <a:solidFill>
                  <a:srgbClr val="FF0000"/>
                </a:solidFill>
                <a:effectLst/>
                <a:latin typeface="Microsoft YaHei" panose="020B0503020204020204" pitchFamily="34" charset="-122"/>
                <a:ea typeface="Microsoft YaHei" panose="020B0503020204020204" pitchFamily="34" charset="-122"/>
              </a:rPr>
              <a:t>课下搭建实验环境：</a:t>
            </a:r>
            <a:r>
              <a:rPr lang="en-US" altLang="zh-CN" sz="1600" b="1" i="0" dirty="0" err="1">
                <a:solidFill>
                  <a:srgbClr val="FF0000"/>
                </a:solidFill>
                <a:effectLst/>
                <a:latin typeface="Microsoft YaHei" panose="020B0503020204020204" pitchFamily="34" charset="-122"/>
                <a:ea typeface="Microsoft YaHei" panose="020B0503020204020204" pitchFamily="34" charset="-122"/>
              </a:rPr>
              <a:t>python+cuda+opencv+tensorflow+pytorch</a:t>
            </a:r>
            <a:endParaRPr lang="zh-CN" altLang="en-US" sz="1600" dirty="0">
              <a:solidFill>
                <a:srgbClr val="FF0000"/>
              </a:solidFill>
            </a:endParaRPr>
          </a:p>
        </p:txBody>
      </p:sp>
    </p:spTree>
    <p:extLst>
      <p:ext uri="{BB962C8B-B14F-4D97-AF65-F5344CB8AC3E}">
        <p14:creationId xmlns:p14="http://schemas.microsoft.com/office/powerpoint/2010/main" val="196270774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2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2982815"/>
            <a:ext cx="12192000" cy="1107482"/>
          </a:xfrm>
        </p:spPr>
        <p:txBody>
          <a:bodyPr>
            <a:noAutofit/>
          </a:bodyPr>
          <a:lstStyle/>
          <a:p>
            <a:pPr algn="ctr"/>
            <a:r>
              <a:rPr lang="zh-CN" altLang="en-US" sz="4800" b="1" dirty="0">
                <a:solidFill>
                  <a:srgbClr val="712355"/>
                </a:solidFill>
                <a:latin typeface="Calibri" panose="020F0502020204030204" pitchFamily="34" charset="0"/>
                <a:ea typeface="黑体" panose="02010609060101010101" pitchFamily="49" charset="-122"/>
                <a:cs typeface="Calibri" panose="020F0502020204030204" pitchFamily="34" charset="0"/>
              </a:rPr>
              <a:t>谢  谢  大   家</a:t>
            </a:r>
          </a:p>
        </p:txBody>
      </p:sp>
      <p:sp>
        <p:nvSpPr>
          <p:cNvPr id="4" name="矩形 3"/>
          <p:cNvSpPr/>
          <p:nvPr/>
        </p:nvSpPr>
        <p:spPr>
          <a:xfrm>
            <a:off x="0" y="0"/>
            <a:ext cx="12192000" cy="688369"/>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p:cNvPicPr>
            <a:picLocks noChangeAspect="1"/>
          </p:cNvPicPr>
          <p:nvPr/>
        </p:nvPicPr>
        <p:blipFill>
          <a:blip r:embed="rId3"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170640" y="38551"/>
            <a:ext cx="2491077" cy="611265"/>
          </a:xfrm>
          <a:prstGeom prst="rect">
            <a:avLst/>
          </a:prstGeom>
        </p:spPr>
      </p:pic>
      <p:sp>
        <p:nvSpPr>
          <p:cNvPr id="7" name="圆角矩形 6"/>
          <p:cNvSpPr/>
          <p:nvPr/>
        </p:nvSpPr>
        <p:spPr>
          <a:xfrm flipV="1">
            <a:off x="1735553" y="4306889"/>
            <a:ext cx="8611819"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881121" y="117984"/>
            <a:ext cx="7309394" cy="523220"/>
          </a:xfrm>
          <a:prstGeom prst="rect">
            <a:avLst/>
          </a:prstGeom>
        </p:spPr>
        <p:txBody>
          <a:bodyPr wrap="square">
            <a:spAutoFit/>
          </a:bodyPr>
          <a:lstStyle/>
          <a:p>
            <a:pPr lvl="0" algn="r"/>
            <a:r>
              <a:rPr lang="zh-CN" altLang="en-US" sz="2800" dirty="0">
                <a:solidFill>
                  <a:schemeClr val="bg1"/>
                </a:solidFill>
                <a:latin typeface="华文行楷" panose="02010800040101010101" pitchFamily="2" charset="-122"/>
                <a:ea typeface="华文行楷" panose="02010800040101010101" pitchFamily="2" charset="-122"/>
              </a:rPr>
              <a:t>允公允能  日新月异</a:t>
            </a:r>
            <a:endParaRPr lang="zh-HK" altLang="zh-HK" sz="2800" dirty="0">
              <a:solidFill>
                <a:schemeClr val="bg1">
                  <a:lumMod val="75000"/>
                </a:schemeClr>
              </a:solidFill>
              <a:latin typeface="华文行楷" panose="02010800040101010101" pitchFamily="2" charset="-122"/>
              <a:ea typeface="华文行楷" panose="02010800040101010101" pitchFamily="2" charset="-122"/>
            </a:endParaRP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01175" y="-1642"/>
            <a:ext cx="702890" cy="702890"/>
          </a:xfrm>
          <a:prstGeom prst="rect">
            <a:avLst/>
          </a:prstGeom>
        </p:spPr>
      </p:pic>
      <p:sp>
        <p:nvSpPr>
          <p:cNvPr id="11" name="矩形 10"/>
          <p:cNvSpPr/>
          <p:nvPr/>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南开大学智能计算系统研究室  </a:t>
            </a:r>
            <a:r>
              <a:rPr lang="en-US" altLang="zh-CN" dirty="0">
                <a:solidFill>
                  <a:schemeClr val="bg1"/>
                </a:solidFill>
              </a:rPr>
              <a:t>http://ics.nankai.edu.cn</a:t>
            </a:r>
            <a:r>
              <a:rPr lang="en-US" altLang="zh-CN" dirty="0">
                <a:solidFill>
                  <a:srgbClr val="712355"/>
                </a:solidFill>
              </a:rPr>
              <a:t>.</a:t>
            </a:r>
            <a:endParaRPr lang="zh-CN" altLang="en-US" dirty="0">
              <a:solidFill>
                <a:srgbClr val="712355"/>
              </a:solidFill>
            </a:endParaRPr>
          </a:p>
        </p:txBody>
      </p:sp>
      <p:sp>
        <p:nvSpPr>
          <p:cNvPr id="12" name="灯片编号占位符 8">
            <a:extLst>
              <a:ext uri="{FF2B5EF4-FFF2-40B4-BE49-F238E27FC236}">
                <a16:creationId xmlns:a16="http://schemas.microsoft.com/office/drawing/2014/main" id="{A603E2CA-8451-4AEB-9C09-F73DF889EBEA}"/>
              </a:ext>
            </a:extLst>
          </p:cNvPr>
          <p:cNvSpPr>
            <a:spLocks noGrp="1"/>
          </p:cNvSpPr>
          <p:nvPr>
            <p:ph type="sldNum" sz="quarter" idx="12"/>
          </p:nvPr>
        </p:nvSpPr>
        <p:spPr>
          <a:xfrm>
            <a:off x="10691843" y="6538324"/>
            <a:ext cx="1355637" cy="319676"/>
          </a:xfrm>
        </p:spPr>
        <p:txBody>
          <a:bodyPr/>
          <a:lstStyle/>
          <a:p>
            <a:fld id="{93E8FF75-9B62-46CF-B92C-BE7A37F9517B}" type="slidenum">
              <a:rPr lang="zh-CN" altLang="en-US" sz="1800" b="0" smtClean="0">
                <a:solidFill>
                  <a:prstClr val="white"/>
                </a:solidFill>
                <a:latin typeface="Times New Roman" panose="02020603050405020304" pitchFamily="18" charset="0"/>
                <a:ea typeface="微软雅黑" panose="020B0503020204020204" pitchFamily="34" charset="-122"/>
              </a:rPr>
              <a:t>81</a:t>
            </a:fld>
            <a:r>
              <a:rPr lang="en-US" altLang="zh-CN" sz="1800" dirty="0">
                <a:solidFill>
                  <a:prstClr val="white"/>
                </a:solidFill>
                <a:latin typeface="Times New Roman" panose="02020603050405020304" pitchFamily="18" charset="0"/>
                <a:ea typeface="微软雅黑" panose="020B0503020204020204" pitchFamily="34" charset="-122"/>
              </a:rPr>
              <a:t>/82</a:t>
            </a:r>
            <a:endParaRPr lang="zh-CN" altLang="en-US" sz="1800" b="0" dirty="0">
              <a:solidFill>
                <a:prstClr val="white"/>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02005548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DIAGRAM" val="243693"/>
</p:tagLst>
</file>

<file path=ppt/tags/tag2.xml><?xml version="1.0" encoding="utf-8"?>
<p:tagLst xmlns:a="http://schemas.openxmlformats.org/drawingml/2006/main" xmlns:r="http://schemas.openxmlformats.org/officeDocument/2006/relationships" xmlns:p="http://schemas.openxmlformats.org/presentationml/2006/main">
  <p:tag name="ISLIDE.VECTOR" val="62a0234c-3beb-46f2-bd39-7e0bbc0a0fb7"/>
</p:tagLst>
</file>

<file path=ppt/tags/tag3.xml><?xml version="1.0" encoding="utf-8"?>
<p:tagLst xmlns:a="http://schemas.openxmlformats.org/drawingml/2006/main" xmlns:r="http://schemas.openxmlformats.org/officeDocument/2006/relationships" xmlns:p="http://schemas.openxmlformats.org/presentationml/2006/main">
  <p:tag name="ISLIDE.VECTOR" val="1042c4d6-065c-43ea-a1d1-115b3632b96d"/>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14284</Words>
  <Application>Microsoft Office PowerPoint</Application>
  <PresentationFormat>宽屏</PresentationFormat>
  <Paragraphs>1325</Paragraphs>
  <Slides>81</Slides>
  <Notes>80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81</vt:i4>
      </vt:variant>
    </vt:vector>
  </HeadingPairs>
  <TitlesOfParts>
    <vt:vector size="96" baseType="lpstr">
      <vt:lpstr>等线</vt:lpstr>
      <vt:lpstr>等线 Light</vt:lpstr>
      <vt:lpstr>黑体</vt:lpstr>
      <vt:lpstr>华文行楷</vt:lpstr>
      <vt:lpstr>宋体</vt:lpstr>
      <vt:lpstr>微软雅黑</vt:lpstr>
      <vt:lpstr>微软雅黑</vt:lpstr>
      <vt:lpstr>微软雅黑 Light</vt:lpstr>
      <vt:lpstr>Arial</vt:lpstr>
      <vt:lpstr>Calibri</vt:lpstr>
      <vt:lpstr>Cambria Math</vt:lpstr>
      <vt:lpstr>Times New Roman</vt:lpstr>
      <vt:lpstr>Wingdings</vt:lpstr>
      <vt:lpstr>Office 主题​​</vt:lpstr>
      <vt:lpstr>Visio</vt:lpstr>
      <vt:lpstr>神经网络基础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  谢  大   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神经网络基础</dc:title>
  <dc:creator>QianKun Dong</dc:creator>
  <cp:lastModifiedBy>QianKun Dong</cp:lastModifiedBy>
  <cp:revision>5</cp:revision>
  <dcterms:created xsi:type="dcterms:W3CDTF">2024-04-07T10:48:24Z</dcterms:created>
  <dcterms:modified xsi:type="dcterms:W3CDTF">2024-04-07T12:03:30Z</dcterms:modified>
</cp:coreProperties>
</file>