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56" r:id="rId2"/>
    <p:sldId id="257" r:id="rId3"/>
    <p:sldId id="258" r:id="rId4"/>
    <p:sldId id="276" r:id="rId5"/>
    <p:sldId id="277" r:id="rId6"/>
    <p:sldId id="278" r:id="rId7"/>
    <p:sldId id="280" r:id="rId8"/>
    <p:sldId id="281" r:id="rId9"/>
    <p:sldId id="282" r:id="rId10"/>
    <p:sldId id="283" r:id="rId11"/>
    <p:sldId id="284" r:id="rId12"/>
    <p:sldId id="285" r:id="rId13"/>
    <p:sldId id="286" r:id="rId14"/>
    <p:sldId id="287" r:id="rId15"/>
    <p:sldId id="289" r:id="rId16"/>
    <p:sldId id="288" r:id="rId17"/>
    <p:sldId id="290" r:id="rId18"/>
    <p:sldId id="291" r:id="rId19"/>
    <p:sldId id="292" r:id="rId20"/>
    <p:sldId id="293" r:id="rId21"/>
    <p:sldId id="294" r:id="rId22"/>
    <p:sldId id="295" r:id="rId23"/>
    <p:sldId id="296" r:id="rId24"/>
    <p:sldId id="297" r:id="rId25"/>
    <p:sldId id="298" r:id="rId26"/>
    <p:sldId id="299" r:id="rId27"/>
    <p:sldId id="300" r:id="rId28"/>
    <p:sldId id="302" r:id="rId29"/>
    <p:sldId id="301" r:id="rId30"/>
    <p:sldId id="303" r:id="rId31"/>
    <p:sldId id="304" r:id="rId32"/>
    <p:sldId id="305"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1" r:id="rId47"/>
    <p:sldId id="323" r:id="rId48"/>
    <p:sldId id="324" r:id="rId49"/>
    <p:sldId id="322" r:id="rId50"/>
    <p:sldId id="325" r:id="rId51"/>
    <p:sldId id="326" r:id="rId52"/>
    <p:sldId id="327" r:id="rId53"/>
    <p:sldId id="328" r:id="rId54"/>
    <p:sldId id="329" r:id="rId55"/>
    <p:sldId id="330" r:id="rId56"/>
    <p:sldId id="331" r:id="rId57"/>
    <p:sldId id="333" r:id="rId58"/>
    <p:sldId id="332" r:id="rId59"/>
    <p:sldId id="334" r:id="rId60"/>
    <p:sldId id="335" r:id="rId61"/>
    <p:sldId id="338" r:id="rId62"/>
    <p:sldId id="336" r:id="rId63"/>
    <p:sldId id="337" r:id="rId64"/>
    <p:sldId id="339" r:id="rId65"/>
    <p:sldId id="320" r:id="rId66"/>
    <p:sldId id="306" r:id="rId67"/>
    <p:sldId id="340" r:id="rId68"/>
    <p:sldId id="341" r:id="rId69"/>
    <p:sldId id="343" r:id="rId70"/>
    <p:sldId id="259" r:id="rId71"/>
    <p:sldId id="260" r:id="rId72"/>
    <p:sldId id="269" r:id="rId73"/>
    <p:sldId id="261" r:id="rId74"/>
    <p:sldId id="270" r:id="rId75"/>
    <p:sldId id="272" r:id="rId76"/>
    <p:sldId id="273" r:id="rId77"/>
    <p:sldId id="275" r:id="rId78"/>
    <p:sldId id="271" r:id="rId79"/>
    <p:sldId id="274" r:id="rId80"/>
    <p:sldId id="366" r:id="rId81"/>
    <p:sldId id="367" r:id="rId82"/>
    <p:sldId id="368" r:id="rId83"/>
    <p:sldId id="369" r:id="rId84"/>
    <p:sldId id="372" r:id="rId85"/>
    <p:sldId id="373" r:id="rId86"/>
    <p:sldId id="371" r:id="rId87"/>
    <p:sldId id="374" r:id="rId88"/>
    <p:sldId id="263" r:id="rId89"/>
    <p:sldId id="268" r:id="rId90"/>
    <p:sldId id="345" r:id="rId91"/>
    <p:sldId id="346" r:id="rId92"/>
    <p:sldId id="347" r:id="rId93"/>
    <p:sldId id="348" r:id="rId94"/>
    <p:sldId id="349" r:id="rId95"/>
    <p:sldId id="350" r:id="rId96"/>
    <p:sldId id="351" r:id="rId97"/>
    <p:sldId id="352" r:id="rId98"/>
    <p:sldId id="353" r:id="rId99"/>
    <p:sldId id="354" r:id="rId100"/>
    <p:sldId id="376" r:id="rId101"/>
    <p:sldId id="344" r:id="rId102"/>
    <p:sldId id="355" r:id="rId103"/>
    <p:sldId id="356" r:id="rId104"/>
    <p:sldId id="358" r:id="rId105"/>
    <p:sldId id="359" r:id="rId106"/>
    <p:sldId id="360" r:id="rId107"/>
    <p:sldId id="264" r:id="rId108"/>
    <p:sldId id="262" r:id="rId109"/>
    <p:sldId id="265" r:id="rId110"/>
    <p:sldId id="266" r:id="rId111"/>
    <p:sldId id="267" r:id="rId112"/>
    <p:sldId id="361" r:id="rId113"/>
    <p:sldId id="362" r:id="rId114"/>
    <p:sldId id="363" r:id="rId115"/>
    <p:sldId id="364" r:id="rId116"/>
    <p:sldId id="365" r:id="rId1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1D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0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D6108E-B351-4BF5-92D7-7AC7CB48F370}" type="datetimeFigureOut">
              <a:rPr lang="zh-CN" altLang="en-US" smtClean="0"/>
              <a:t>2024/3/24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6ACE4B-FACC-4BD4-8002-C5FF59D5F253}" type="slidenum">
              <a:rPr lang="zh-CN" altLang="en-US" smtClean="0"/>
              <a:t>‹#›</a:t>
            </a:fld>
            <a:endParaRPr lang="zh-CN" altLang="en-US"/>
          </a:p>
        </p:txBody>
      </p:sp>
    </p:spTree>
    <p:extLst>
      <p:ext uri="{BB962C8B-B14F-4D97-AF65-F5344CB8AC3E}">
        <p14:creationId xmlns:p14="http://schemas.microsoft.com/office/powerpoint/2010/main" val="3474698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2</a:t>
            </a:fld>
            <a:endParaRPr lang="zh-CN" altLang="en-US"/>
          </a:p>
        </p:txBody>
      </p:sp>
    </p:spTree>
    <p:extLst>
      <p:ext uri="{BB962C8B-B14F-4D97-AF65-F5344CB8AC3E}">
        <p14:creationId xmlns:p14="http://schemas.microsoft.com/office/powerpoint/2010/main" val="2482991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递归</a:t>
            </a:r>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15</a:t>
            </a:fld>
            <a:endParaRPr lang="zh-CN" altLang="en-US"/>
          </a:p>
        </p:txBody>
      </p:sp>
    </p:spTree>
    <p:extLst>
      <p:ext uri="{BB962C8B-B14F-4D97-AF65-F5344CB8AC3E}">
        <p14:creationId xmlns:p14="http://schemas.microsoft.com/office/powerpoint/2010/main" val="2655350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27</a:t>
            </a:fld>
            <a:endParaRPr lang="zh-CN" altLang="en-US"/>
          </a:p>
        </p:txBody>
      </p:sp>
    </p:spTree>
    <p:extLst>
      <p:ext uri="{BB962C8B-B14F-4D97-AF65-F5344CB8AC3E}">
        <p14:creationId xmlns:p14="http://schemas.microsoft.com/office/powerpoint/2010/main" val="18656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69</a:t>
            </a:fld>
            <a:endParaRPr lang="zh-CN" altLang="en-US"/>
          </a:p>
        </p:txBody>
      </p:sp>
    </p:spTree>
    <p:extLst>
      <p:ext uri="{BB962C8B-B14F-4D97-AF65-F5344CB8AC3E}">
        <p14:creationId xmlns:p14="http://schemas.microsoft.com/office/powerpoint/2010/main" val="160946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71</a:t>
            </a:fld>
            <a:endParaRPr lang="zh-CN" altLang="en-US"/>
          </a:p>
        </p:txBody>
      </p:sp>
    </p:spTree>
    <p:extLst>
      <p:ext uri="{BB962C8B-B14F-4D97-AF65-F5344CB8AC3E}">
        <p14:creationId xmlns:p14="http://schemas.microsoft.com/office/powerpoint/2010/main" val="1227076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88</a:t>
            </a:fld>
            <a:endParaRPr lang="zh-CN" altLang="en-US"/>
          </a:p>
        </p:txBody>
      </p:sp>
    </p:spTree>
    <p:extLst>
      <p:ext uri="{BB962C8B-B14F-4D97-AF65-F5344CB8AC3E}">
        <p14:creationId xmlns:p14="http://schemas.microsoft.com/office/powerpoint/2010/main" val="3942400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16ACE4B-FACC-4BD4-8002-C5FF59D5F253}" type="slidenum">
              <a:rPr lang="zh-CN" altLang="en-US" smtClean="0"/>
              <a:t>107</a:t>
            </a:fld>
            <a:endParaRPr lang="zh-CN" altLang="en-US"/>
          </a:p>
        </p:txBody>
      </p:sp>
    </p:spTree>
    <p:extLst>
      <p:ext uri="{BB962C8B-B14F-4D97-AF65-F5344CB8AC3E}">
        <p14:creationId xmlns:p14="http://schemas.microsoft.com/office/powerpoint/2010/main" val="280308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3218100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80219" y="256970"/>
            <a:ext cx="11685639" cy="1325563"/>
          </a:xfrm>
        </p:spPr>
        <p:txBody>
          <a:bodyPr/>
          <a:lstStyle>
            <a:lvl1pPr>
              <a:defRPr baseline="0">
                <a:latin typeface="Times New Roman" panose="02020603050405020304" pitchFamily="18" charset="0"/>
                <a:ea typeface="华文楷体" panose="02010600040101010101" pitchFamily="2"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280219" y="1764890"/>
            <a:ext cx="11685639" cy="4852219"/>
          </a:xfrm>
        </p:spPr>
        <p:txBody>
          <a:bodyPr/>
          <a:lstStyle>
            <a:lvl1pPr>
              <a:lnSpc>
                <a:spcPct val="100000"/>
              </a:lnSpc>
              <a:defRPr lang="zh-CN" altLang="en-US" sz="3200" kern="1200" baseline="0" dirty="0" smtClean="0">
                <a:solidFill>
                  <a:schemeClr val="tx1"/>
                </a:solidFill>
                <a:latin typeface="Times New Roman" panose="02020603050405020304" pitchFamily="18" charset="0"/>
                <a:ea typeface="华文楷体" panose="02010600040101010101" pitchFamily="2" charset="-122"/>
                <a:cs typeface="+mj-cs"/>
              </a:defRPr>
            </a:lvl1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485401-3D0B-46B6-8E2F-8FDD9DA69398}" type="slidenum">
              <a:rPr lang="zh-CN" altLang="en-US" smtClean="0"/>
              <a:t>‹#›</a:t>
            </a:fld>
            <a:endParaRPr lang="zh-CN" altLang="en-US"/>
          </a:p>
        </p:txBody>
      </p:sp>
      <p:cxnSp>
        <p:nvCxnSpPr>
          <p:cNvPr id="8" name="直接连接符 7"/>
          <p:cNvCxnSpPr/>
          <p:nvPr userDrawn="1"/>
        </p:nvCxnSpPr>
        <p:spPr>
          <a:xfrm flipV="1">
            <a:off x="0" y="1571886"/>
            <a:ext cx="12192000" cy="39329"/>
          </a:xfrm>
          <a:prstGeom prst="line">
            <a:avLst/>
          </a:prstGeom>
          <a:ln w="38100">
            <a:solidFill>
              <a:srgbClr val="B31D9E"/>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92584" y="505413"/>
            <a:ext cx="2409825" cy="828675"/>
          </a:xfrm>
          <a:prstGeom prst="rect">
            <a:avLst/>
          </a:prstGeom>
        </p:spPr>
      </p:pic>
    </p:spTree>
    <p:extLst>
      <p:ext uri="{BB962C8B-B14F-4D97-AF65-F5344CB8AC3E}">
        <p14:creationId xmlns:p14="http://schemas.microsoft.com/office/powerpoint/2010/main" val="12912258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34201510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87713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1354018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413121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4099333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191058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964647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3075406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2119971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1E75E-C747-4C81-B1B7-E12244F8BC9E}"/>
              </a:ext>
            </a:extLst>
          </p:cNvPr>
          <p:cNvSpPr>
            <a:spLocks noGrp="1"/>
          </p:cNvSpPr>
          <p:nvPr>
            <p:ph type="title"/>
          </p:nvPr>
        </p:nvSpPr>
        <p:spPr>
          <a:xfrm>
            <a:off x="489857" y="224815"/>
            <a:ext cx="11168743" cy="1325563"/>
          </a:xfrm>
        </p:spPr>
        <p:txBody>
          <a:bodyPr>
            <a:normAutofit/>
          </a:bodyPr>
          <a:lstStyle>
            <a:lvl1pPr>
              <a:defRPr sz="4800" baseline="0">
                <a:latin typeface="Times New Roman" panose="02020603050405020304" pitchFamily="18" charset="0"/>
                <a:ea typeface="华文楷体" panose="02010600040101010101" pitchFamily="2" charset="-122"/>
              </a:defRPr>
            </a:lvl1pPr>
          </a:lstStyle>
          <a:p>
            <a:r>
              <a:rPr lang="zh-CN" altLang="en-US" dirty="0"/>
              <a:t>单击此处编辑母版标题样式</a:t>
            </a:r>
          </a:p>
        </p:txBody>
      </p:sp>
      <p:sp>
        <p:nvSpPr>
          <p:cNvPr id="7" name="内容占位符 6">
            <a:extLst>
              <a:ext uri="{FF2B5EF4-FFF2-40B4-BE49-F238E27FC236}">
                <a16:creationId xmlns:a16="http://schemas.microsoft.com/office/drawing/2014/main" id="{72DD047A-22F3-49DE-99BE-2A0C18ACB6E9}"/>
              </a:ext>
            </a:extLst>
          </p:cNvPr>
          <p:cNvSpPr>
            <a:spLocks noGrp="1"/>
          </p:cNvSpPr>
          <p:nvPr>
            <p:ph sz="quarter" idx="13"/>
          </p:nvPr>
        </p:nvSpPr>
        <p:spPr>
          <a:xfrm>
            <a:off x="489858" y="1943099"/>
            <a:ext cx="11168742" cy="4756635"/>
          </a:xfrm>
        </p:spPr>
        <p:txBody>
          <a:bodyPr/>
          <a:lstStyle>
            <a:lvl1pPr>
              <a:defRPr lang="zh-CN" altLang="en-US" sz="3600" kern="1200" baseline="0" dirty="0" smtClean="0">
                <a:solidFill>
                  <a:schemeClr val="tx1"/>
                </a:solidFill>
                <a:latin typeface="Times New Roman" panose="02020603050405020304" pitchFamily="18" charset="0"/>
                <a:ea typeface="华文楷体" panose="02010600040101010101" pitchFamily="2" charset="-122"/>
                <a:cs typeface="+mj-cs"/>
              </a:defRPr>
            </a:lvl1pPr>
            <a:lvl2pPr>
              <a:defRPr baseline="0">
                <a:latin typeface="Times New Roman" panose="02020603050405020304" pitchFamily="18" charset="0"/>
                <a:ea typeface="华文楷体" panose="02010600040101010101" pitchFamily="2" charset="-122"/>
              </a:defRPr>
            </a:lvl2pPr>
            <a:lvl3pPr>
              <a:defRPr baseline="0">
                <a:latin typeface="Times New Roman" panose="02020603050405020304" pitchFamily="18" charset="0"/>
                <a:ea typeface="华文楷体" panose="02010600040101010101" pitchFamily="2" charset="-122"/>
              </a:defRPr>
            </a:lvl3pPr>
            <a:lvl4pPr>
              <a:defRPr baseline="0">
                <a:latin typeface="Times New Roman" panose="02020603050405020304" pitchFamily="18" charset="0"/>
                <a:ea typeface="华文楷体" panose="02010600040101010101" pitchFamily="2" charset="-122"/>
              </a:defRPr>
            </a:lvl4pPr>
            <a:lvl5pPr>
              <a:defRPr baseline="0">
                <a:latin typeface="Times New Roman" panose="02020603050405020304" pitchFamily="18" charset="0"/>
                <a:ea typeface="华文楷体" panose="02010600040101010101" pitchFamily="2"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接连接符 8">
            <a:extLst>
              <a:ext uri="{FF2B5EF4-FFF2-40B4-BE49-F238E27FC236}">
                <a16:creationId xmlns:a16="http://schemas.microsoft.com/office/drawing/2014/main" id="{AB2A0A9D-45A6-4E3D-943B-96AE076D0772}"/>
              </a:ext>
            </a:extLst>
          </p:cNvPr>
          <p:cNvCxnSpPr/>
          <p:nvPr userDrawn="1"/>
        </p:nvCxnSpPr>
        <p:spPr>
          <a:xfrm>
            <a:off x="-21772" y="1714502"/>
            <a:ext cx="12192000" cy="0"/>
          </a:xfrm>
          <a:prstGeom prst="line">
            <a:avLst/>
          </a:prstGeom>
        </p:spPr>
        <p:style>
          <a:lnRef idx="3">
            <a:schemeClr val="accent2"/>
          </a:lnRef>
          <a:fillRef idx="0">
            <a:schemeClr val="accent2"/>
          </a:fillRef>
          <a:effectRef idx="2">
            <a:schemeClr val="accent2"/>
          </a:effectRef>
          <a:fontRef idx="minor">
            <a:schemeClr val="tx1"/>
          </a:fontRef>
        </p:style>
      </p:cxnSp>
      <p:pic>
        <p:nvPicPr>
          <p:cNvPr id="11" name="图片 10">
            <a:extLst>
              <a:ext uri="{FF2B5EF4-FFF2-40B4-BE49-F238E27FC236}">
                <a16:creationId xmlns:a16="http://schemas.microsoft.com/office/drawing/2014/main" id="{3459F31B-B98A-48C6-A40D-0A6043F65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7918" y="504825"/>
            <a:ext cx="2409825" cy="828675"/>
          </a:xfrm>
          <a:prstGeom prst="rect">
            <a:avLst/>
          </a:prstGeom>
        </p:spPr>
      </p:pic>
    </p:spTree>
    <p:extLst>
      <p:ext uri="{BB962C8B-B14F-4D97-AF65-F5344CB8AC3E}">
        <p14:creationId xmlns:p14="http://schemas.microsoft.com/office/powerpoint/2010/main" val="17598622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64F482-5EE1-41B3-BE1F-EE37E953922E}" type="datetime1">
              <a:rPr lang="zh-CN" altLang="en-US" smtClean="0"/>
              <a:t>2024/3/24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3B030F3-EF26-4579-AFE9-30BBC15606BC}" type="slidenum">
              <a:rPr lang="zh-CN" altLang="en-US" smtClean="0"/>
              <a:t>‹#›</a:t>
            </a:fld>
            <a:endParaRPr lang="zh-CN" altLang="en-US"/>
          </a:p>
        </p:txBody>
      </p:sp>
      <p:sp>
        <p:nvSpPr>
          <p:cNvPr id="6" name="图片占位符 5"/>
          <p:cNvSpPr>
            <a:spLocks noGrp="1"/>
          </p:cNvSpPr>
          <p:nvPr>
            <p:ph type="pic" sz="quarter" idx="13"/>
          </p:nvPr>
        </p:nvSpPr>
        <p:spPr>
          <a:xfrm>
            <a:off x="590550" y="1301752"/>
            <a:ext cx="3295650" cy="1581150"/>
          </a:xfrm>
        </p:spPr>
        <p:txBody>
          <a:bodyPr/>
          <a:lstStyle/>
          <a:p>
            <a:endParaRPr lang="zh-CN" altLang="en-US"/>
          </a:p>
        </p:txBody>
      </p:sp>
      <p:sp>
        <p:nvSpPr>
          <p:cNvPr id="7" name="图片占位符 5"/>
          <p:cNvSpPr>
            <a:spLocks noGrp="1"/>
          </p:cNvSpPr>
          <p:nvPr>
            <p:ph type="pic" sz="quarter" idx="14"/>
          </p:nvPr>
        </p:nvSpPr>
        <p:spPr>
          <a:xfrm>
            <a:off x="590550" y="3114676"/>
            <a:ext cx="3295650" cy="1581150"/>
          </a:xfrm>
        </p:spPr>
        <p:txBody>
          <a:bodyPr/>
          <a:lstStyle/>
          <a:p>
            <a:endParaRPr lang="zh-CN" altLang="en-US"/>
          </a:p>
        </p:txBody>
      </p:sp>
      <p:sp>
        <p:nvSpPr>
          <p:cNvPr id="8" name="图片占位符 5"/>
          <p:cNvSpPr>
            <a:spLocks noGrp="1"/>
          </p:cNvSpPr>
          <p:nvPr>
            <p:ph type="pic" sz="quarter" idx="15"/>
          </p:nvPr>
        </p:nvSpPr>
        <p:spPr>
          <a:xfrm>
            <a:off x="7734300" y="1263654"/>
            <a:ext cx="3295650" cy="1581150"/>
          </a:xfrm>
        </p:spPr>
        <p:txBody>
          <a:bodyPr/>
          <a:lstStyle/>
          <a:p>
            <a:endParaRPr lang="zh-CN" altLang="en-US"/>
          </a:p>
        </p:txBody>
      </p:sp>
      <p:sp>
        <p:nvSpPr>
          <p:cNvPr id="9" name="图片占位符 5"/>
          <p:cNvSpPr>
            <a:spLocks noGrp="1"/>
          </p:cNvSpPr>
          <p:nvPr>
            <p:ph type="pic" sz="quarter" idx="16"/>
          </p:nvPr>
        </p:nvSpPr>
        <p:spPr>
          <a:xfrm>
            <a:off x="7734300" y="3019427"/>
            <a:ext cx="3295650" cy="1581150"/>
          </a:xfrm>
        </p:spPr>
        <p:txBody>
          <a:bodyPr/>
          <a:lstStyle/>
          <a:p>
            <a:endParaRPr lang="zh-CN" altLang="en-US"/>
          </a:p>
        </p:txBody>
      </p:sp>
    </p:spTree>
    <p:extLst>
      <p:ext uri="{BB962C8B-B14F-4D97-AF65-F5344CB8AC3E}">
        <p14:creationId xmlns:p14="http://schemas.microsoft.com/office/powerpoint/2010/main" val="2975002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336650-9534-48D6-9C26-EE35FBF83929}" type="datetimeFigureOut">
              <a:rPr lang="zh-CN" altLang="en-US" smtClean="0"/>
              <a:t>2024/3/24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85401-3D0B-46B6-8E2F-8FDD9DA69398}" type="slidenum">
              <a:rPr lang="zh-CN" altLang="en-US" smtClean="0"/>
              <a:t>‹#›</a:t>
            </a:fld>
            <a:endParaRPr lang="zh-CN" altLang="en-US"/>
          </a:p>
        </p:txBody>
      </p:sp>
    </p:spTree>
    <p:extLst>
      <p:ext uri="{BB962C8B-B14F-4D97-AF65-F5344CB8AC3E}">
        <p14:creationId xmlns:p14="http://schemas.microsoft.com/office/powerpoint/2010/main" val="3122917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jianshu.com/p/554d64470ec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aike.baidu.com/item/%E6%B5%81%E7%A8%8B%E5%9B%BE/206961?fromModule=lemma_inlink" TargetMode="External"/><Relationship Id="rId2" Type="http://schemas.openxmlformats.org/officeDocument/2006/relationships/hyperlink" Target="https://baike.baidu.com/item/%E8%87%AA%E7%84%B6%E8%AF%AD%E8%A8%80/4146019?fromModule=lemma_inlink" TargetMode="External"/><Relationship Id="rId1" Type="http://schemas.openxmlformats.org/officeDocument/2006/relationships/slideLayout" Target="../slideLayouts/slideLayout2.xml"/><Relationship Id="rId5" Type="http://schemas.openxmlformats.org/officeDocument/2006/relationships/hyperlink" Target="https://baike.baidu.com/item/PAD%E5%9B%BE/3658647?fromModule=lemma_inlink" TargetMode="External"/><Relationship Id="rId4" Type="http://schemas.openxmlformats.org/officeDocument/2006/relationships/hyperlink" Target="https://baike.baidu.com/item/%E4%BC%AA%E4%BB%A3%E7%A0%81/10321865?fromModule=lemma_inlink"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aike.baidu.com/item/%E7%A9%BA%E9%97%B4%E5%A4%8D%E6%9D%82%E5%BA%A6/9664257?fromModule=lemma_inlink" TargetMode="External"/><Relationship Id="rId2" Type="http://schemas.openxmlformats.org/officeDocument/2006/relationships/hyperlink" Target="https://baike.baidu.com/item/%E8%A7%A3%E5%86%B3%E9%97%AE%E9%A2%98%E7%9A%84%E7%AD%96%E7%95%A5/56095568?fromModule=lemma_inlink" TargetMode="External"/><Relationship Id="rId1" Type="http://schemas.openxmlformats.org/officeDocument/2006/relationships/slideLayout" Target="../slideLayouts/slideLayout2.xml"/><Relationship Id="rId4" Type="http://schemas.openxmlformats.org/officeDocument/2006/relationships/hyperlink" Target="https://baike.baidu.com/item/%E6%97%B6%E9%97%B4%E5%A4%8D%E6%9D%82%E5%BA%A6/1894057?fromModule=lemma_inlin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baike.baidu.com/item/%E6%B8%90%E8%BF%9B%E6%97%B6%E9%97%B4%E5%A4%8D%E6%9D%82%E5%BA%A6/8848851?fromModule=lemma_inlink" TargetMode="External"/><Relationship Id="rId3" Type="http://schemas.openxmlformats.org/officeDocument/2006/relationships/hyperlink" Target="https://baike.baidu.com/item/%E6%97%B6%E9%97%B4%E5%A4%8D%E6%9D%82%E5%BA%A6/0?fromModule=lemma_inlink" TargetMode="External"/><Relationship Id="rId7" Type="http://schemas.openxmlformats.org/officeDocument/2006/relationships/hyperlink" Target="https://baike.baidu.com/item/%E6%95%B0%E6%8D%AE%E7%B1%BB%E5%9E%8B/0?fromModule=lemma_inlink" TargetMode="External"/><Relationship Id="rId2" Type="http://schemas.openxmlformats.org/officeDocument/2006/relationships/hyperlink" Target="https://baike.baidu.com/item/%E6%95%B0%E6%8D%AE%E7%BB%93%E6%9E%84/1450?fromModule=lemma_inlink" TargetMode="External"/><Relationship Id="rId1" Type="http://schemas.openxmlformats.org/officeDocument/2006/relationships/slideLayout" Target="../slideLayouts/slideLayout2.xml"/><Relationship Id="rId6" Type="http://schemas.openxmlformats.org/officeDocument/2006/relationships/hyperlink" Target="https://baike.baidu.com/item/%E5%BE%AA%E7%8E%AF/607158?fromModule=lemma_inlink" TargetMode="External"/><Relationship Id="rId5" Type="http://schemas.openxmlformats.org/officeDocument/2006/relationships/hyperlink" Target="https://baike.baidu.com/item/%E5%88%86%E6%94%AF/0?fromModule=lemma_inlink" TargetMode="External"/><Relationship Id="rId4" Type="http://schemas.openxmlformats.org/officeDocument/2006/relationships/hyperlink" Target="https://baike.baidu.com/item/%E9%A1%BA%E5%BA%8F/0?fromModule=lemma_inlink"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cloud.tencent.com/developer/article/2351740?areaId=106001"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blog.csdn.net/m0_73633088/article/details/134010100"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blog.csdn.net/a2392008643/article/details/81781766"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baike.baidu.com/item/%E6%95%B0%E5%88%97/731531?fromModule=lemma_inlink" TargetMode="External"/><Relationship Id="rId2" Type="http://schemas.openxmlformats.org/officeDocument/2006/relationships/hyperlink" Target="https://baike.baidu.com/item/%E5%BA%8F%E5%88%97/1302588?fromModule=lemma_inlink"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52.png"/><Relationship Id="rId4" Type="http://schemas.openxmlformats.org/officeDocument/2006/relationships/image" Target="../media/image24.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www.tianqihoubao.com/lishi/tianjin/month/202403.html" TargetMode="Externa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hyperlink" Target="https://zhuanlan.zhihu.com/p/602971700" TargetMode="Externa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hyperlink" Target="https://www.runoob.com/numpy/numpy-tutorial.html" TargetMode="External"/><Relationship Id="rId2" Type="http://schemas.openxmlformats.org/officeDocument/2006/relationships/hyperlink" Target="https://www.runoob.com/pandas/pandas-tutorial.html"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pyecharts.org/#/zh-cn/intro"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hyperlink" Target="https://www.runoob.com/matplotlib/matplotlib-tutorial.html" TargetMode="External"/><Relationship Id="rId2" Type="http://schemas.openxmlformats.org/officeDocument/2006/relationships/hyperlink" Target="https://www.jianshu.com/p/554d64470ec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862493" y="1650139"/>
            <a:ext cx="7352021" cy="2387600"/>
          </a:xfrm>
        </p:spPr>
        <p:txBody>
          <a:bodyPr>
            <a:normAutofit fontScale="90000"/>
          </a:bodyPr>
          <a:lstStyle/>
          <a:p>
            <a:r>
              <a:rPr lang="zh-CN" altLang="en-US" dirty="0" smtClean="0">
                <a:latin typeface="华文楷体" panose="02010600040101010101" pitchFamily="2" charset="-122"/>
                <a:ea typeface="华文楷体" panose="02010600040101010101" pitchFamily="2" charset="-122"/>
              </a:rPr>
              <a:t>人工智能培训</a:t>
            </a:r>
            <a:r>
              <a:rPr lang="en-US" altLang="zh-CN" dirty="0" smtClean="0">
                <a:latin typeface="华文楷体" panose="02010600040101010101" pitchFamily="2" charset="-122"/>
                <a:ea typeface="华文楷体" panose="02010600040101010101" pitchFamily="2" charset="-122"/>
              </a:rPr>
              <a:t/>
            </a:r>
            <a:br>
              <a:rPr lang="en-US" altLang="zh-CN" dirty="0" smtClean="0">
                <a:latin typeface="华文楷体" panose="02010600040101010101" pitchFamily="2" charset="-122"/>
                <a:ea typeface="华文楷体" panose="02010600040101010101" pitchFamily="2" charset="-122"/>
              </a:rPr>
            </a:br>
            <a:r>
              <a:rPr lang="en-US" altLang="zh-CN" dirty="0">
                <a:latin typeface="华文楷体" panose="02010600040101010101" pitchFamily="2" charset="-122"/>
                <a:ea typeface="华文楷体" panose="02010600040101010101" pitchFamily="2" charset="-122"/>
              </a:rPr>
              <a:t/>
            </a:r>
            <a:br>
              <a:rPr lang="en-US" altLang="zh-CN" dirty="0">
                <a:latin typeface="华文楷体" panose="02010600040101010101" pitchFamily="2" charset="-122"/>
                <a:ea typeface="华文楷体" panose="02010600040101010101" pitchFamily="2" charset="-122"/>
              </a:rPr>
            </a:br>
            <a:r>
              <a:rPr lang="zh-CN" altLang="en-US" dirty="0" smtClean="0">
                <a:latin typeface="华文楷体" panose="02010600040101010101" pitchFamily="2" charset="-122"/>
                <a:ea typeface="华文楷体" panose="02010600040101010101" pitchFamily="2" charset="-122"/>
              </a:rPr>
              <a:t>第三讲</a:t>
            </a:r>
            <a:endParaRPr lang="zh-CN" altLang="en-US" dirty="0">
              <a:latin typeface="华文楷体" panose="02010600040101010101" pitchFamily="2" charset="-122"/>
              <a:ea typeface="华文楷体" panose="02010600040101010101" pitchFamily="2" charset="-122"/>
            </a:endParaRPr>
          </a:p>
        </p:txBody>
      </p:sp>
      <p:sp>
        <p:nvSpPr>
          <p:cNvPr id="3" name="副标题 2"/>
          <p:cNvSpPr>
            <a:spLocks noGrp="1"/>
          </p:cNvSpPr>
          <p:nvPr>
            <p:ph type="subTitle" idx="1"/>
          </p:nvPr>
        </p:nvSpPr>
        <p:spPr>
          <a:xfrm>
            <a:off x="-1758483" y="4105472"/>
            <a:ext cx="9144000" cy="1655762"/>
          </a:xfrm>
        </p:spPr>
        <p:txBody>
          <a:bodyPr>
            <a:normAutofit lnSpcReduction="10000"/>
          </a:bodyPr>
          <a:lstStyle/>
          <a:p>
            <a:endParaRPr lang="en-US" altLang="zh-CN" dirty="0" smtClean="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a:p>
            <a:r>
              <a:rPr lang="zh-CN" altLang="en-US" dirty="0" smtClean="0">
                <a:latin typeface="华文楷体" panose="02010600040101010101" pitchFamily="2" charset="-122"/>
                <a:ea typeface="华文楷体" panose="02010600040101010101" pitchFamily="2" charset="-122"/>
              </a:rPr>
              <a:t>郭天勇</a:t>
            </a:r>
            <a:endParaRPr lang="en-US" altLang="zh-CN" dirty="0" smtClean="0">
              <a:latin typeface="华文楷体" panose="02010600040101010101" pitchFamily="2" charset="-122"/>
              <a:ea typeface="华文楷体" panose="02010600040101010101" pitchFamily="2" charset="-122"/>
            </a:endParaRPr>
          </a:p>
          <a:p>
            <a:r>
              <a:rPr lang="zh-CN" altLang="en-US" dirty="0" smtClean="0">
                <a:latin typeface="华文楷体" panose="02010600040101010101" pitchFamily="2" charset="-122"/>
                <a:ea typeface="华文楷体" panose="02010600040101010101" pitchFamily="2" charset="-122"/>
              </a:rPr>
              <a:t>公共计算机基础教学部</a:t>
            </a:r>
            <a:endParaRPr lang="zh-CN" altLang="en-US" dirty="0">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a:blip r:embed="rId2"/>
          <a:stretch>
            <a:fillRect/>
          </a:stretch>
        </p:blipFill>
        <p:spPr>
          <a:xfrm>
            <a:off x="5618855" y="559095"/>
            <a:ext cx="6454455" cy="5780335"/>
          </a:xfrm>
          <a:prstGeom prst="rect">
            <a:avLst/>
          </a:prstGeom>
        </p:spPr>
      </p:pic>
    </p:spTree>
    <p:extLst>
      <p:ext uri="{BB962C8B-B14F-4D97-AF65-F5344CB8AC3E}">
        <p14:creationId xmlns:p14="http://schemas.microsoft.com/office/powerpoint/2010/main" val="12108925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 要 内 容</a:t>
            </a:r>
            <a:endParaRPr lang="zh-CN" altLang="en-US" dirty="0"/>
          </a:p>
        </p:txBody>
      </p:sp>
      <p:sp>
        <p:nvSpPr>
          <p:cNvPr id="3" name="内容占位符 2"/>
          <p:cNvSpPr>
            <a:spLocks noGrp="1"/>
          </p:cNvSpPr>
          <p:nvPr>
            <p:ph idx="1"/>
          </p:nvPr>
        </p:nvSpPr>
        <p:spPr>
          <a:xfrm>
            <a:off x="471052" y="1571319"/>
            <a:ext cx="5357256" cy="4791485"/>
          </a:xfrm>
        </p:spPr>
        <p:txBody>
          <a:bodyPr/>
          <a:lstStyle/>
          <a:p>
            <a:endParaRPr lang="en-US" altLang="zh-CN" dirty="0" smtClean="0"/>
          </a:p>
          <a:p>
            <a:r>
              <a:rPr lang="zh-CN" altLang="en-US" dirty="0" smtClean="0"/>
              <a:t>算法设计与分析    </a:t>
            </a:r>
            <a:endParaRPr lang="en-US" altLang="zh-CN" dirty="0" smtClean="0"/>
          </a:p>
          <a:p>
            <a:endParaRPr lang="en-US" altLang="zh-CN" dirty="0" smtClean="0"/>
          </a:p>
          <a:p>
            <a:endParaRPr lang="en-US" altLang="zh-CN" dirty="0" smtClean="0"/>
          </a:p>
          <a:p>
            <a:endParaRPr lang="en-US" altLang="zh-CN" dirty="0"/>
          </a:p>
          <a:p>
            <a:endParaRPr lang="en-US" altLang="zh-CN" dirty="0"/>
          </a:p>
          <a:p>
            <a:pPr marL="0" indent="0">
              <a:buNone/>
            </a:pPr>
            <a:endParaRPr lang="en-US" altLang="zh-CN" dirty="0" smtClean="0"/>
          </a:p>
          <a:p>
            <a:endParaRPr lang="zh-CN" altLang="en-US" dirty="0"/>
          </a:p>
        </p:txBody>
      </p:sp>
      <p:sp>
        <p:nvSpPr>
          <p:cNvPr id="6" name="文本框 5"/>
          <p:cNvSpPr txBox="1"/>
          <p:nvPr/>
        </p:nvSpPr>
        <p:spPr>
          <a:xfrm>
            <a:off x="613251" y="2820605"/>
            <a:ext cx="3370352" cy="584775"/>
          </a:xfrm>
          <a:prstGeom prst="rect">
            <a:avLst/>
          </a:prstGeom>
          <a:solidFill>
            <a:schemeClr val="accent6">
              <a:lumMod val="20000"/>
              <a:lumOff val="80000"/>
            </a:schemeClr>
          </a:solidFill>
        </p:spPr>
        <p:txBody>
          <a:bodyPr wrap="square" rtlCol="0">
            <a:spAutoFit/>
          </a:bodyPr>
          <a:lstStyle/>
          <a:p>
            <a:r>
              <a:rPr lang="zh-CN" altLang="en-US" sz="3200" dirty="0">
                <a:latin typeface="华文楷体" panose="02010600040101010101" pitchFamily="2" charset="-122"/>
                <a:ea typeface="华文楷体" panose="02010600040101010101" pitchFamily="2" charset="-122"/>
                <a:cs typeface="+mj-cs"/>
              </a:rPr>
              <a:t>算法导论与基础</a:t>
            </a:r>
          </a:p>
        </p:txBody>
      </p:sp>
      <p:sp>
        <p:nvSpPr>
          <p:cNvPr id="7" name="文本框 6"/>
          <p:cNvSpPr txBox="1"/>
          <p:nvPr/>
        </p:nvSpPr>
        <p:spPr>
          <a:xfrm>
            <a:off x="613251" y="3540316"/>
            <a:ext cx="3370352" cy="584775"/>
          </a:xfrm>
          <a:prstGeom prst="rect">
            <a:avLst/>
          </a:prstGeom>
          <a:solidFill>
            <a:schemeClr val="accent6">
              <a:lumMod val="20000"/>
              <a:lumOff val="80000"/>
            </a:schemeClr>
          </a:solidFill>
        </p:spPr>
        <p:txBody>
          <a:bodyPr wrap="square" rtlCol="0">
            <a:spAutoFit/>
          </a:bodyPr>
          <a:lstStyle/>
          <a:p>
            <a:r>
              <a:rPr lang="zh-CN" altLang="en-US" sz="3200" dirty="0">
                <a:latin typeface="华文楷体" panose="02010600040101010101" pitchFamily="2" charset="-122"/>
                <a:ea typeface="华文楷体" panose="02010600040101010101" pitchFamily="2" charset="-122"/>
                <a:cs typeface="+mj-cs"/>
              </a:rPr>
              <a:t>分</a:t>
            </a:r>
            <a:r>
              <a:rPr lang="zh-CN" altLang="en-US" sz="3200" dirty="0" smtClean="0">
                <a:latin typeface="华文楷体" panose="02010600040101010101" pitchFamily="2" charset="-122"/>
                <a:ea typeface="华文楷体" panose="02010600040101010101" pitchFamily="2" charset="-122"/>
                <a:cs typeface="+mj-cs"/>
              </a:rPr>
              <a:t>治策略</a:t>
            </a:r>
            <a:endParaRPr lang="zh-CN" altLang="en-US" sz="3200" dirty="0">
              <a:latin typeface="华文楷体" panose="02010600040101010101" pitchFamily="2" charset="-122"/>
              <a:ea typeface="华文楷体" panose="02010600040101010101" pitchFamily="2" charset="-122"/>
              <a:cs typeface="+mj-cs"/>
            </a:endParaRPr>
          </a:p>
        </p:txBody>
      </p:sp>
      <p:sp>
        <p:nvSpPr>
          <p:cNvPr id="8" name="文本框 7"/>
          <p:cNvSpPr txBox="1"/>
          <p:nvPr/>
        </p:nvSpPr>
        <p:spPr>
          <a:xfrm>
            <a:off x="613251" y="4265657"/>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排序算法</a:t>
            </a:r>
            <a:endParaRPr lang="zh-CN" altLang="en-US" sz="3200" dirty="0">
              <a:latin typeface="华文楷体" panose="02010600040101010101" pitchFamily="2" charset="-122"/>
              <a:ea typeface="华文楷体" panose="02010600040101010101" pitchFamily="2" charset="-122"/>
              <a:cs typeface="+mj-cs"/>
            </a:endParaRPr>
          </a:p>
        </p:txBody>
      </p:sp>
      <p:sp>
        <p:nvSpPr>
          <p:cNvPr id="9" name="文本框 8"/>
          <p:cNvSpPr txBox="1"/>
          <p:nvPr/>
        </p:nvSpPr>
        <p:spPr>
          <a:xfrm>
            <a:off x="613251" y="4956836"/>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图算法</a:t>
            </a:r>
            <a:endParaRPr lang="zh-CN" altLang="en-US" sz="3200" dirty="0">
              <a:latin typeface="华文楷体" panose="02010600040101010101" pitchFamily="2" charset="-122"/>
              <a:ea typeface="华文楷体" panose="02010600040101010101" pitchFamily="2" charset="-122"/>
              <a:cs typeface="+mj-cs"/>
            </a:endParaRPr>
          </a:p>
        </p:txBody>
      </p:sp>
      <p:sp>
        <p:nvSpPr>
          <p:cNvPr id="10" name="文本框 9"/>
          <p:cNvSpPr txBox="1"/>
          <p:nvPr/>
        </p:nvSpPr>
        <p:spPr>
          <a:xfrm>
            <a:off x="613251" y="5676547"/>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动态规划</a:t>
            </a:r>
            <a:endParaRPr lang="zh-CN" altLang="en-US" sz="3200" dirty="0">
              <a:latin typeface="华文楷体" panose="02010600040101010101" pitchFamily="2" charset="-122"/>
              <a:ea typeface="华文楷体" panose="02010600040101010101" pitchFamily="2" charset="-122"/>
              <a:cs typeface="+mj-cs"/>
            </a:endParaRPr>
          </a:p>
        </p:txBody>
      </p:sp>
      <p:sp>
        <p:nvSpPr>
          <p:cNvPr id="11" name="内容占位符 2"/>
          <p:cNvSpPr txBox="1">
            <a:spLocks/>
          </p:cNvSpPr>
          <p:nvPr/>
        </p:nvSpPr>
        <p:spPr>
          <a:xfrm>
            <a:off x="4968613" y="1687404"/>
            <a:ext cx="5357256" cy="4791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3200" kern="1200" dirty="0" smtClean="0">
                <a:solidFill>
                  <a:schemeClr val="tx1"/>
                </a:solidFill>
                <a:latin typeface="华文楷体" panose="02010600040101010101" pitchFamily="2" charset="-122"/>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smtClean="0"/>
          </a:p>
          <a:p>
            <a:r>
              <a:rPr lang="zh-CN" altLang="en-US" dirty="0" smtClean="0"/>
              <a:t>数据处理</a:t>
            </a:r>
          </a:p>
          <a:p>
            <a:endParaRPr lang="zh-CN" altLang="en-US" dirty="0"/>
          </a:p>
        </p:txBody>
      </p:sp>
      <p:sp>
        <p:nvSpPr>
          <p:cNvPr id="12" name="文本框 11"/>
          <p:cNvSpPr txBox="1"/>
          <p:nvPr/>
        </p:nvSpPr>
        <p:spPr>
          <a:xfrm>
            <a:off x="5069623" y="2820605"/>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数据收集</a:t>
            </a:r>
            <a:endParaRPr lang="zh-CN" altLang="en-US" sz="3200" dirty="0">
              <a:latin typeface="华文楷体" panose="02010600040101010101" pitchFamily="2" charset="-122"/>
              <a:ea typeface="华文楷体" panose="02010600040101010101" pitchFamily="2" charset="-122"/>
              <a:cs typeface="+mj-cs"/>
            </a:endParaRPr>
          </a:p>
        </p:txBody>
      </p:sp>
      <p:sp>
        <p:nvSpPr>
          <p:cNvPr id="13" name="文本框 12"/>
          <p:cNvSpPr txBox="1"/>
          <p:nvPr/>
        </p:nvSpPr>
        <p:spPr>
          <a:xfrm>
            <a:off x="5069623" y="3540316"/>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数据预处理</a:t>
            </a:r>
            <a:endParaRPr lang="zh-CN" altLang="en-US" sz="3200" dirty="0">
              <a:latin typeface="华文楷体" panose="02010600040101010101" pitchFamily="2" charset="-122"/>
              <a:ea typeface="华文楷体" panose="02010600040101010101" pitchFamily="2" charset="-122"/>
              <a:cs typeface="+mj-cs"/>
            </a:endParaRPr>
          </a:p>
        </p:txBody>
      </p:sp>
      <p:sp>
        <p:nvSpPr>
          <p:cNvPr id="14" name="文本框 13"/>
          <p:cNvSpPr txBox="1"/>
          <p:nvPr/>
        </p:nvSpPr>
        <p:spPr>
          <a:xfrm>
            <a:off x="5069623" y="4265657"/>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标注基础</a:t>
            </a:r>
            <a:endParaRPr lang="zh-CN" altLang="en-US" sz="3200" dirty="0">
              <a:latin typeface="华文楷体" panose="02010600040101010101" pitchFamily="2" charset="-122"/>
              <a:ea typeface="华文楷体" panose="02010600040101010101" pitchFamily="2" charset="-122"/>
              <a:cs typeface="+mj-cs"/>
            </a:endParaRPr>
          </a:p>
        </p:txBody>
      </p:sp>
      <p:sp>
        <p:nvSpPr>
          <p:cNvPr id="15" name="内容占位符 2"/>
          <p:cNvSpPr txBox="1">
            <a:spLocks/>
          </p:cNvSpPr>
          <p:nvPr/>
        </p:nvSpPr>
        <p:spPr>
          <a:xfrm>
            <a:off x="9212802" y="1729348"/>
            <a:ext cx="5357256" cy="4791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3200" kern="1200" dirty="0" smtClean="0">
                <a:solidFill>
                  <a:schemeClr val="tx1"/>
                </a:solidFill>
                <a:latin typeface="华文楷体" panose="02010600040101010101" pitchFamily="2" charset="-122"/>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smtClean="0"/>
          </a:p>
          <a:p>
            <a:r>
              <a:rPr lang="en-US" altLang="zh-CN" dirty="0" smtClean="0"/>
              <a:t>pandas</a:t>
            </a:r>
          </a:p>
          <a:p>
            <a:endParaRPr lang="en-US" altLang="zh-CN" dirty="0"/>
          </a:p>
          <a:p>
            <a:r>
              <a:rPr lang="en-US" altLang="zh-CN" dirty="0" err="1" smtClean="0"/>
              <a:t>numpy</a:t>
            </a:r>
            <a:endParaRPr lang="en-US" altLang="zh-CN" dirty="0" smtClean="0"/>
          </a:p>
          <a:p>
            <a:endParaRPr lang="en-US" altLang="zh-CN" dirty="0"/>
          </a:p>
          <a:p>
            <a:r>
              <a:rPr lang="en-US" altLang="zh-CN" dirty="0" err="1" smtClean="0"/>
              <a:t>matplotlib</a:t>
            </a:r>
            <a:endParaRPr lang="en-US" altLang="zh-CN" dirty="0" smtClean="0"/>
          </a:p>
          <a:p>
            <a:endParaRPr lang="en-US" altLang="zh-CN" dirty="0"/>
          </a:p>
          <a:p>
            <a:r>
              <a:rPr lang="en-US" altLang="zh-CN" dirty="0" err="1">
                <a:hlinkClick r:id="rId3"/>
              </a:rPr>
              <a:t>pyecharts</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15583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xEl>
                                              <p:pRg st="1" end="1"/>
                                            </p:txEl>
                                          </p:spTgt>
                                        </p:tgtEl>
                                        <p:attrNameLst>
                                          <p:attrName>style.visibility</p:attrName>
                                        </p:attrNameLst>
                                      </p:cBhvr>
                                      <p:to>
                                        <p:strVal val="visible"/>
                                      </p:to>
                                    </p:set>
                                    <p:animEffect transition="in" filter="fade">
                                      <p:cBhvr>
                                        <p:cTn id="29" dur="500"/>
                                        <p:tgtEl>
                                          <p:spTgt spid="11">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xEl>
                                              <p:pRg st="1" end="1"/>
                                            </p:txEl>
                                          </p:spTgt>
                                        </p:tgtEl>
                                        <p:attrNameLst>
                                          <p:attrName>style.visibility</p:attrName>
                                        </p:attrNameLst>
                                      </p:cBhvr>
                                      <p:to>
                                        <p:strVal val="visible"/>
                                      </p:to>
                                    </p:set>
                                    <p:animEffect transition="in" filter="fade">
                                      <p:cBhvr>
                                        <p:cTn id="45" dur="500"/>
                                        <p:tgtEl>
                                          <p:spTgt spid="15">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5">
                                            <p:txEl>
                                              <p:pRg st="3" end="3"/>
                                            </p:txEl>
                                          </p:spTgt>
                                        </p:tgtEl>
                                        <p:attrNameLst>
                                          <p:attrName>style.visibility</p:attrName>
                                        </p:attrNameLst>
                                      </p:cBhvr>
                                      <p:to>
                                        <p:strVal val="visible"/>
                                      </p:to>
                                    </p:set>
                                    <p:animEffect transition="in" filter="fade">
                                      <p:cBhvr>
                                        <p:cTn id="50" dur="500"/>
                                        <p:tgtEl>
                                          <p:spTgt spid="15">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5">
                                            <p:txEl>
                                              <p:pRg st="5" end="5"/>
                                            </p:txEl>
                                          </p:spTgt>
                                        </p:tgtEl>
                                        <p:attrNameLst>
                                          <p:attrName>style.visibility</p:attrName>
                                        </p:attrNameLst>
                                      </p:cBhvr>
                                      <p:to>
                                        <p:strVal val="visible"/>
                                      </p:to>
                                    </p:set>
                                    <p:animEffect transition="in" filter="fade">
                                      <p:cBhvr>
                                        <p:cTn id="55" dur="500"/>
                                        <p:tgtEl>
                                          <p:spTgt spid="15">
                                            <p:txEl>
                                              <p:pRg st="5" end="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5">
                                            <p:txEl>
                                              <p:pRg st="7" end="7"/>
                                            </p:txEl>
                                          </p:spTgt>
                                        </p:tgtEl>
                                        <p:attrNameLst>
                                          <p:attrName>style.visibility</p:attrName>
                                        </p:attrNameLst>
                                      </p:cBhvr>
                                      <p:to>
                                        <p:strVal val="visible"/>
                                      </p:to>
                                    </p:set>
                                    <p:animEffect transition="in" filter="fade">
                                      <p:cBhvr>
                                        <p:cTn id="60" dur="500"/>
                                        <p:tgtEl>
                                          <p:spTgt spid="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一、算法分析与设计</a:t>
            </a:r>
            <a:endParaRPr lang="zh-CN" altLang="en-US" dirty="0"/>
          </a:p>
        </p:txBody>
      </p:sp>
      <p:sp>
        <p:nvSpPr>
          <p:cNvPr id="5" name="内容占位符 4"/>
          <p:cNvSpPr>
            <a:spLocks noGrp="1"/>
          </p:cNvSpPr>
          <p:nvPr>
            <p:ph idx="1"/>
          </p:nvPr>
        </p:nvSpPr>
        <p:spPr/>
        <p:txBody>
          <a:bodyPr/>
          <a:lstStyle/>
          <a:p>
            <a:pPr marL="0" indent="0">
              <a:buNone/>
            </a:pPr>
            <a:r>
              <a:rPr lang="en-US" altLang="zh-CN" dirty="0" smtClean="0"/>
              <a:t>	</a:t>
            </a:r>
            <a:r>
              <a:rPr lang="zh-CN" altLang="en-US" dirty="0" smtClean="0"/>
              <a:t>介绍人工智能中涉及的传统算法理论知识，是人工智能工程技术人员必须掌握的基础知识，对这些算法知识的应用是学习人工智能工程技术必须具备的能力。</a:t>
            </a:r>
            <a:endParaRPr lang="en-US" altLang="zh-CN" dirty="0" smtClean="0"/>
          </a:p>
          <a:p>
            <a:pPr marL="0" indent="0">
              <a:buNone/>
            </a:pPr>
            <a:r>
              <a:rPr lang="en-US" altLang="zh-CN" dirty="0"/>
              <a:t>	</a:t>
            </a:r>
            <a:r>
              <a:rPr lang="zh-CN" altLang="en-US" dirty="0" smtClean="0"/>
              <a:t>相关知识：</a:t>
            </a:r>
            <a:endParaRPr lang="en-US" altLang="zh-CN" dirty="0" smtClean="0"/>
          </a:p>
          <a:p>
            <a:pPr marL="0" indent="0">
              <a:buNone/>
            </a:pPr>
            <a:r>
              <a:rPr lang="en-US" altLang="zh-CN" dirty="0"/>
              <a:t>	</a:t>
            </a:r>
            <a:r>
              <a:rPr lang="zh-CN" altLang="en-US" dirty="0" smtClean="0"/>
              <a:t>算法相关概念和渐进记号，递归式求解；分治策略、排序算法、动态规划；图的概念和基础算法，如搜索算法、最小生成树、最短路径等。</a:t>
            </a:r>
            <a:endParaRPr lang="zh-CN" altLang="en-US" dirty="0"/>
          </a:p>
        </p:txBody>
      </p:sp>
    </p:spTree>
    <p:extLst>
      <p:ext uri="{BB962C8B-B14F-4D97-AF65-F5344CB8AC3E}">
        <p14:creationId xmlns:p14="http://schemas.microsoft.com/office/powerpoint/2010/main" val="34487187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、算法导论与基础</a:t>
            </a:r>
            <a:endParaRPr lang="zh-CN" altLang="en-US" dirty="0"/>
          </a:p>
        </p:txBody>
      </p:sp>
      <p:sp>
        <p:nvSpPr>
          <p:cNvPr id="3" name="内容占位符 2"/>
          <p:cNvSpPr>
            <a:spLocks noGrp="1"/>
          </p:cNvSpPr>
          <p:nvPr>
            <p:ph idx="1"/>
          </p:nvPr>
        </p:nvSpPr>
        <p:spPr/>
        <p:txBody>
          <a:bodyPr/>
          <a:lstStyle/>
          <a:p>
            <a:r>
              <a:rPr lang="zh-CN" altLang="en-US" dirty="0" smtClean="0"/>
              <a:t>算法可以看出求解具体计算问题的工具，它描述了期望输入</a:t>
            </a:r>
            <a:r>
              <a:rPr lang="en-US" altLang="zh-CN" dirty="0" smtClean="0"/>
              <a:t>—</a:t>
            </a:r>
            <a:r>
              <a:rPr lang="zh-CN" altLang="en-US" dirty="0" smtClean="0"/>
              <a:t>输出关联的具体计算过程。</a:t>
            </a:r>
            <a:endParaRPr lang="en-US" altLang="zh-CN" dirty="0" smtClean="0"/>
          </a:p>
          <a:p>
            <a:endParaRPr lang="en-US" altLang="zh-CN" dirty="0" smtClean="0"/>
          </a:p>
          <a:p>
            <a:pPr marL="0" indent="0">
              <a:buNone/>
            </a:pPr>
            <a:r>
              <a:rPr lang="en-US" altLang="zh-CN" dirty="0"/>
              <a:t> </a:t>
            </a:r>
            <a:r>
              <a:rPr lang="en-US" altLang="zh-CN" dirty="0" smtClean="0"/>
              <a:t>  </a:t>
            </a:r>
            <a:r>
              <a:rPr lang="zh-CN" altLang="en-US" dirty="0" smtClean="0"/>
              <a:t>例如：给定一个初始序列，目标是对其递增排序输出。</a:t>
            </a:r>
            <a:endParaRPr lang="en-US" altLang="zh-CN" dirty="0" smtClean="0"/>
          </a:p>
          <a:p>
            <a:pPr marL="0" indent="0">
              <a:buNone/>
            </a:pPr>
            <a:r>
              <a:rPr lang="zh-CN" altLang="en-US" dirty="0" smtClean="0"/>
              <a:t>    描述</a:t>
            </a:r>
            <a:r>
              <a:rPr lang="zh-CN" altLang="en-US" dirty="0"/>
              <a:t>算法的方法有多种，常用的有</a:t>
            </a:r>
            <a:r>
              <a:rPr lang="zh-CN" altLang="en-US" dirty="0">
                <a:hlinkClick r:id="rId2"/>
              </a:rPr>
              <a:t>自然语言</a:t>
            </a:r>
            <a:r>
              <a:rPr lang="zh-CN" altLang="en-US" dirty="0"/>
              <a:t>、结构化</a:t>
            </a:r>
            <a:r>
              <a:rPr lang="zh-CN" altLang="en-US" dirty="0">
                <a:hlinkClick r:id="rId3"/>
              </a:rPr>
              <a:t>流程图</a:t>
            </a:r>
            <a:r>
              <a:rPr lang="zh-CN" altLang="en-US" dirty="0"/>
              <a:t>、</a:t>
            </a:r>
            <a:r>
              <a:rPr lang="zh-CN" altLang="en-US" dirty="0">
                <a:hlinkClick r:id="rId4"/>
              </a:rPr>
              <a:t>伪代码</a:t>
            </a:r>
            <a:r>
              <a:rPr lang="zh-CN" altLang="en-US" dirty="0"/>
              <a:t>和</a:t>
            </a:r>
            <a:r>
              <a:rPr lang="en-US" altLang="zh-CN" dirty="0">
                <a:hlinkClick r:id="rId5"/>
              </a:rPr>
              <a:t>PAD</a:t>
            </a:r>
            <a:r>
              <a:rPr lang="zh-CN" altLang="en-US" dirty="0">
                <a:hlinkClick r:id="rId5"/>
              </a:rPr>
              <a:t>图</a:t>
            </a:r>
            <a:r>
              <a:rPr lang="zh-CN" altLang="en-US" dirty="0"/>
              <a:t>等，其中最普遍的是</a:t>
            </a:r>
            <a:r>
              <a:rPr lang="zh-CN" altLang="en-US" dirty="0" smtClean="0"/>
              <a:t>流程图。</a:t>
            </a:r>
            <a:endParaRPr lang="zh-CN" altLang="en-US" dirty="0"/>
          </a:p>
        </p:txBody>
      </p:sp>
    </p:spTree>
    <p:extLst>
      <p:ext uri="{BB962C8B-B14F-4D97-AF65-F5344CB8AC3E}">
        <p14:creationId xmlns:p14="http://schemas.microsoft.com/office/powerpoint/2010/main" val="410455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、算法导论与基础</a:t>
            </a:r>
          </a:p>
        </p:txBody>
      </p:sp>
      <p:sp>
        <p:nvSpPr>
          <p:cNvPr id="3" name="内容占位符 2"/>
          <p:cNvSpPr>
            <a:spLocks noGrp="1"/>
          </p:cNvSpPr>
          <p:nvPr>
            <p:ph idx="1"/>
          </p:nvPr>
        </p:nvSpPr>
        <p:spPr/>
        <p:txBody>
          <a:bodyPr/>
          <a:lstStyle/>
          <a:p>
            <a:r>
              <a:rPr lang="zh-CN" altLang="en-US" dirty="0"/>
              <a:t>算法（</a:t>
            </a:r>
            <a:r>
              <a:rPr lang="en-US" altLang="zh-CN" dirty="0"/>
              <a:t>Algorithm</a:t>
            </a:r>
            <a:r>
              <a:rPr lang="zh-CN" altLang="en-US" dirty="0"/>
              <a:t>）是指解题方案的准确而完整的描述，是一系列解决问题的清晰指令，算法代表着用系统的方法描述</a:t>
            </a:r>
            <a:r>
              <a:rPr lang="zh-CN" altLang="en-US" dirty="0">
                <a:hlinkClick r:id="rId2"/>
              </a:rPr>
              <a:t>解决问题的策略</a:t>
            </a:r>
            <a:r>
              <a:rPr lang="zh-CN" altLang="en-US" dirty="0"/>
              <a:t>机制</a:t>
            </a:r>
            <a:r>
              <a:rPr lang="zh-CN" altLang="en-US" dirty="0" smtClean="0"/>
              <a:t>。</a:t>
            </a:r>
            <a:endParaRPr lang="en-US" altLang="zh-CN" dirty="0" smtClean="0"/>
          </a:p>
          <a:p>
            <a:r>
              <a:rPr lang="zh-CN" altLang="en-US" dirty="0" smtClean="0"/>
              <a:t>也就是说</a:t>
            </a:r>
            <a:r>
              <a:rPr lang="zh-CN" altLang="en-US" dirty="0"/>
              <a:t>，能够对一定规范的输入，在有限时间内获得所要求的输出。如果一个算法有缺陷，或不适合于某个问题，执行这个算法将不会解决这个问题。不同的算法可能用不同的时间，空间或效率来完成同样的任务</a:t>
            </a:r>
            <a:r>
              <a:rPr lang="zh-CN" altLang="en-US" dirty="0" smtClean="0"/>
              <a:t>。</a:t>
            </a:r>
            <a:endParaRPr lang="en-US" altLang="zh-CN" dirty="0" smtClean="0"/>
          </a:p>
          <a:p>
            <a:r>
              <a:rPr lang="zh-CN" altLang="en-US" dirty="0" smtClean="0"/>
              <a:t>一</a:t>
            </a:r>
            <a:r>
              <a:rPr lang="zh-CN" altLang="en-US" dirty="0"/>
              <a:t>个算法的优劣可以用</a:t>
            </a:r>
            <a:r>
              <a:rPr lang="zh-CN" altLang="en-US" dirty="0">
                <a:hlinkClick r:id="rId3"/>
              </a:rPr>
              <a:t>空间复杂度</a:t>
            </a:r>
            <a:r>
              <a:rPr lang="zh-CN" altLang="en-US" dirty="0"/>
              <a:t>与</a:t>
            </a:r>
            <a:r>
              <a:rPr lang="zh-CN" altLang="en-US" dirty="0">
                <a:hlinkClick r:id="rId4"/>
              </a:rPr>
              <a:t>时间复杂度</a:t>
            </a:r>
            <a:r>
              <a:rPr lang="zh-CN" altLang="en-US" dirty="0"/>
              <a:t>来衡量。</a:t>
            </a:r>
          </a:p>
        </p:txBody>
      </p:sp>
    </p:spTree>
    <p:extLst>
      <p:ext uri="{BB962C8B-B14F-4D97-AF65-F5344CB8AC3E}">
        <p14:creationId xmlns:p14="http://schemas.microsoft.com/office/powerpoint/2010/main" val="1189617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欧几里得算法</a:t>
            </a:r>
            <a:endParaRPr lang="zh-CN" altLang="en-US" dirty="0"/>
          </a:p>
        </p:txBody>
      </p:sp>
      <p:sp>
        <p:nvSpPr>
          <p:cNvPr id="3" name="内容占位符 2"/>
          <p:cNvSpPr>
            <a:spLocks noGrp="1"/>
          </p:cNvSpPr>
          <p:nvPr>
            <p:ph idx="1"/>
          </p:nvPr>
        </p:nvSpPr>
        <p:spPr/>
        <p:txBody>
          <a:bodyPr/>
          <a:lstStyle/>
          <a:p>
            <a:r>
              <a:rPr lang="zh-CN" altLang="en-US" dirty="0" smtClean="0"/>
              <a:t>又称辗转相除法，用于计算两个正整数 </a:t>
            </a:r>
            <a:r>
              <a:rPr lang="en-US" altLang="zh-CN" dirty="0" smtClean="0"/>
              <a:t>m, n</a:t>
            </a:r>
            <a:r>
              <a:rPr lang="zh-CN" altLang="en-US" dirty="0" smtClean="0"/>
              <a:t>的最大公约数。</a:t>
            </a:r>
            <a:endParaRPr lang="en-US" altLang="zh-CN" dirty="0" smtClean="0"/>
          </a:p>
          <a:p>
            <a:pPr marL="0" indent="0">
              <a:buNone/>
            </a:pPr>
            <a:r>
              <a:rPr lang="en-US" altLang="zh-CN" dirty="0" err="1" smtClean="0"/>
              <a:t>math.gcd</a:t>
            </a:r>
            <a:r>
              <a:rPr lang="en-US" altLang="zh-CN" dirty="0" smtClean="0"/>
              <a:t>(2,3)</a:t>
            </a:r>
          </a:p>
          <a:p>
            <a:pPr marL="0" indent="0">
              <a:buNone/>
            </a:pPr>
            <a:endParaRPr lang="en-US" altLang="zh-CN" dirty="0" smtClean="0"/>
          </a:p>
          <a:p>
            <a:pPr marL="0" indent="0">
              <a:buNone/>
            </a:pPr>
            <a:r>
              <a:rPr lang="zh-CN" altLang="en-US" dirty="0" smtClean="0"/>
              <a:t>步骤</a:t>
            </a:r>
            <a:r>
              <a:rPr lang="en-US" altLang="zh-CN" dirty="0" smtClean="0"/>
              <a:t>1</a:t>
            </a:r>
            <a:r>
              <a:rPr lang="zh-CN" altLang="en-US" dirty="0" smtClean="0"/>
              <a:t>：如果 </a:t>
            </a:r>
            <a:r>
              <a:rPr lang="en-US" altLang="zh-CN" dirty="0" smtClean="0"/>
              <a:t>m&lt;n, </a:t>
            </a:r>
            <a:r>
              <a:rPr lang="zh-CN" altLang="en-US" dirty="0" smtClean="0"/>
              <a:t>则交换</a:t>
            </a:r>
            <a:r>
              <a:rPr lang="en-US" altLang="zh-CN" dirty="0" smtClean="0"/>
              <a:t>m</a:t>
            </a:r>
            <a:r>
              <a:rPr lang="zh-CN" altLang="en-US" dirty="0" smtClean="0"/>
              <a:t>和</a:t>
            </a:r>
            <a:r>
              <a:rPr lang="en-US" altLang="zh-CN" dirty="0" smtClean="0"/>
              <a:t>n</a:t>
            </a:r>
            <a:r>
              <a:rPr lang="zh-CN" altLang="en-US" dirty="0" smtClean="0"/>
              <a:t>的值；</a:t>
            </a:r>
            <a:endParaRPr lang="en-US" altLang="zh-CN" dirty="0" smtClean="0"/>
          </a:p>
          <a:p>
            <a:pPr marL="0" indent="0">
              <a:buNone/>
            </a:pPr>
            <a:r>
              <a:rPr lang="zh-CN" altLang="en-US" dirty="0" smtClean="0"/>
              <a:t>步骤</a:t>
            </a:r>
            <a:r>
              <a:rPr lang="en-US" altLang="zh-CN" dirty="0" smtClean="0"/>
              <a:t>2</a:t>
            </a:r>
            <a:r>
              <a:rPr lang="zh-CN" altLang="en-US" dirty="0" smtClean="0"/>
              <a:t>：令 </a:t>
            </a:r>
            <a:r>
              <a:rPr lang="en-US" altLang="zh-CN" dirty="0" smtClean="0"/>
              <a:t>r </a:t>
            </a:r>
            <a:r>
              <a:rPr lang="zh-CN" altLang="en-US" dirty="0" smtClean="0"/>
              <a:t>是</a:t>
            </a:r>
            <a:r>
              <a:rPr lang="en-US" altLang="zh-CN" dirty="0" smtClean="0"/>
              <a:t>m/n</a:t>
            </a:r>
            <a:r>
              <a:rPr lang="zh-CN" altLang="en-US" dirty="0" smtClean="0"/>
              <a:t>的余数；</a:t>
            </a:r>
            <a:endParaRPr lang="en-US" altLang="zh-CN" dirty="0" smtClean="0"/>
          </a:p>
          <a:p>
            <a:pPr marL="0" indent="0">
              <a:buNone/>
            </a:pPr>
            <a:r>
              <a:rPr lang="zh-CN" altLang="en-US" dirty="0" smtClean="0"/>
              <a:t>步骤</a:t>
            </a:r>
            <a:r>
              <a:rPr lang="en-US" altLang="zh-CN" dirty="0" smtClean="0"/>
              <a:t>3</a:t>
            </a:r>
            <a:r>
              <a:rPr lang="zh-CN" altLang="en-US" dirty="0" smtClean="0"/>
              <a:t>：如果 </a:t>
            </a:r>
            <a:r>
              <a:rPr lang="en-US" altLang="zh-CN" dirty="0" smtClean="0"/>
              <a:t>r =0</a:t>
            </a:r>
            <a:r>
              <a:rPr lang="zh-CN" altLang="en-US" dirty="0" smtClean="0"/>
              <a:t>，则输出</a:t>
            </a:r>
            <a:r>
              <a:rPr lang="en-US" altLang="zh-CN" dirty="0" smtClean="0"/>
              <a:t>m</a:t>
            </a:r>
            <a:r>
              <a:rPr lang="zh-CN" altLang="en-US" dirty="0" smtClean="0"/>
              <a:t>；否则，令</a:t>
            </a:r>
            <a:r>
              <a:rPr lang="en-US" altLang="zh-CN" dirty="0" smtClean="0"/>
              <a:t>m = n</a:t>
            </a:r>
            <a:r>
              <a:rPr lang="zh-CN" altLang="en-US" dirty="0" smtClean="0"/>
              <a:t>，</a:t>
            </a:r>
            <a:r>
              <a:rPr lang="en-US" altLang="zh-CN" dirty="0" smtClean="0"/>
              <a:t>n=r</a:t>
            </a:r>
            <a:r>
              <a:rPr lang="zh-CN" altLang="en-US" dirty="0" smtClean="0"/>
              <a:t>并转向步骤</a:t>
            </a:r>
            <a:r>
              <a:rPr lang="en-US" altLang="zh-CN" dirty="0" smtClean="0"/>
              <a:t>2</a:t>
            </a:r>
            <a:r>
              <a:rPr lang="zh-CN" altLang="en-US" dirty="0" smtClean="0"/>
              <a:t>。</a:t>
            </a:r>
            <a:r>
              <a:rPr lang="en-US" altLang="zh-CN" dirty="0" smtClean="0"/>
              <a:t> </a:t>
            </a:r>
            <a:endParaRPr lang="zh-CN" altLang="en-US" dirty="0"/>
          </a:p>
        </p:txBody>
      </p:sp>
    </p:spTree>
    <p:extLst>
      <p:ext uri="{BB962C8B-B14F-4D97-AF65-F5344CB8AC3E}">
        <p14:creationId xmlns:p14="http://schemas.microsoft.com/office/powerpoint/2010/main" val="195737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示例代码：</a:t>
            </a:r>
            <a:endParaRPr lang="zh-CN" altLang="en-US" dirty="0"/>
          </a:p>
        </p:txBody>
      </p:sp>
      <p:sp>
        <p:nvSpPr>
          <p:cNvPr id="3" name="内容占位符 2"/>
          <p:cNvSpPr>
            <a:spLocks noGrp="1"/>
          </p:cNvSpPr>
          <p:nvPr>
            <p:ph idx="1"/>
          </p:nvPr>
        </p:nvSpPr>
        <p:spPr>
          <a:xfrm>
            <a:off x="280219" y="1764890"/>
            <a:ext cx="11685639" cy="4969820"/>
          </a:xfrm>
        </p:spPr>
        <p:txBody>
          <a:bodyPr>
            <a:normAutofit fontScale="92500" lnSpcReduction="10000"/>
          </a:bodyPr>
          <a:lstStyle/>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smtClean="0"/>
          </a:p>
          <a:p>
            <a:pPr marL="0" indent="0" algn="ctr">
              <a:buNone/>
            </a:pPr>
            <a:r>
              <a:rPr lang="zh-CN" altLang="en-US" dirty="0" smtClean="0"/>
              <a:t>评分标准：函数、注释、高效</a:t>
            </a:r>
            <a:endParaRPr lang="zh-CN" altLang="en-US" dirty="0"/>
          </a:p>
        </p:txBody>
      </p:sp>
      <p:pic>
        <p:nvPicPr>
          <p:cNvPr id="4" name="图片 3"/>
          <p:cNvPicPr>
            <a:picLocks noChangeAspect="1"/>
          </p:cNvPicPr>
          <p:nvPr/>
        </p:nvPicPr>
        <p:blipFill>
          <a:blip r:embed="rId2"/>
          <a:stretch>
            <a:fillRect/>
          </a:stretch>
        </p:blipFill>
        <p:spPr>
          <a:xfrm>
            <a:off x="2052539" y="1842274"/>
            <a:ext cx="7843322" cy="4111599"/>
          </a:xfrm>
          <a:prstGeom prst="rect">
            <a:avLst/>
          </a:prstGeom>
        </p:spPr>
      </p:pic>
    </p:spTree>
    <p:extLst>
      <p:ext uri="{BB962C8B-B14F-4D97-AF65-F5344CB8AC3E}">
        <p14:creationId xmlns:p14="http://schemas.microsoft.com/office/powerpoint/2010/main" val="18721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算法特征</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算法设计的先驱者唐纳德</a:t>
            </a:r>
            <a:r>
              <a:rPr lang="en-US" altLang="zh-CN" dirty="0" smtClean="0">
                <a:cs typeface="Times New Roman" panose="02020603050405020304" pitchFamily="18" charset="0"/>
              </a:rPr>
              <a:t>•E.</a:t>
            </a:r>
            <a:r>
              <a:rPr lang="zh-CN" altLang="en-US" dirty="0" smtClean="0">
                <a:cs typeface="Times New Roman" panose="02020603050405020304" pitchFamily="18" charset="0"/>
              </a:rPr>
              <a:t>克努特（</a:t>
            </a:r>
            <a:r>
              <a:rPr lang="en-US" altLang="zh-CN" dirty="0" smtClean="0">
                <a:cs typeface="Times New Roman" panose="02020603050405020304" pitchFamily="18" charset="0"/>
              </a:rPr>
              <a:t>Donald </a:t>
            </a:r>
            <a:r>
              <a:rPr lang="en-US" altLang="zh-CN" dirty="0" err="1" smtClean="0">
                <a:cs typeface="Times New Roman" panose="02020603050405020304" pitchFamily="18" charset="0"/>
              </a:rPr>
              <a:t>E.Knuth</a:t>
            </a:r>
            <a:r>
              <a:rPr lang="zh-CN" altLang="en-US" dirty="0" smtClean="0">
                <a:cs typeface="Times New Roman" panose="02020603050405020304" pitchFamily="18" charset="0"/>
              </a:rPr>
              <a:t>）对算法的特征做了如下描述：</a:t>
            </a:r>
            <a:endParaRPr lang="en-US" altLang="zh-CN" dirty="0" smtClean="0">
              <a:cs typeface="Times New Roman" panose="02020603050405020304" pitchFamily="18" charset="0"/>
            </a:endParaRPr>
          </a:p>
          <a:p>
            <a:pPr marL="0" indent="0">
              <a:buNone/>
            </a:pPr>
            <a:r>
              <a:rPr lang="en-US" altLang="zh-CN" dirty="0" smtClean="0">
                <a:cs typeface="Times New Roman" panose="02020603050405020304" pitchFamily="18" charset="0"/>
              </a:rPr>
              <a:t>1</a:t>
            </a:r>
            <a:r>
              <a:rPr lang="zh-CN" altLang="en-US" dirty="0" smtClean="0">
                <a:cs typeface="Times New Roman" panose="02020603050405020304" pitchFamily="18" charset="0"/>
              </a:rPr>
              <a:t>、有穷性：算法在执行有限步之后必须终止。</a:t>
            </a:r>
            <a:endParaRPr lang="en-US" altLang="zh-CN" dirty="0" smtClean="0">
              <a:cs typeface="Times New Roman" panose="02020603050405020304" pitchFamily="18" charset="0"/>
            </a:endParaRPr>
          </a:p>
          <a:p>
            <a:pPr marL="0" indent="0">
              <a:buNone/>
            </a:pPr>
            <a:r>
              <a:rPr lang="en-US" altLang="zh-CN" dirty="0" smtClean="0">
                <a:cs typeface="Times New Roman" panose="02020603050405020304" pitchFamily="18" charset="0"/>
              </a:rPr>
              <a:t>2</a:t>
            </a:r>
            <a:r>
              <a:rPr lang="zh-CN" altLang="en-US" dirty="0" smtClean="0">
                <a:cs typeface="Times New Roman" panose="02020603050405020304" pitchFamily="18" charset="0"/>
              </a:rPr>
              <a:t>、确定性：算法的每一步骤必须有确切的定义。</a:t>
            </a:r>
            <a:endParaRPr lang="en-US" altLang="zh-CN" dirty="0" smtClean="0">
              <a:cs typeface="Times New Roman" panose="02020603050405020304" pitchFamily="18" charset="0"/>
            </a:endParaRPr>
          </a:p>
          <a:p>
            <a:pPr marL="0" indent="0">
              <a:buNone/>
            </a:pPr>
            <a:r>
              <a:rPr lang="en-US" altLang="zh-CN" dirty="0" smtClean="0">
                <a:cs typeface="Times New Roman" panose="02020603050405020304" pitchFamily="18" charset="0"/>
              </a:rPr>
              <a:t>3</a:t>
            </a:r>
            <a:r>
              <a:rPr lang="zh-CN" altLang="en-US" dirty="0" smtClean="0">
                <a:cs typeface="Times New Roman" panose="02020603050405020304" pitchFamily="18" charset="0"/>
              </a:rPr>
              <a:t>、输入：一个算法有</a:t>
            </a:r>
            <a:r>
              <a:rPr lang="en-US" altLang="zh-CN" dirty="0" smtClean="0">
                <a:cs typeface="Times New Roman" panose="02020603050405020304" pitchFamily="18" charset="0"/>
              </a:rPr>
              <a:t>0</a:t>
            </a:r>
            <a:r>
              <a:rPr lang="zh-CN" altLang="en-US" dirty="0" smtClean="0">
                <a:cs typeface="Times New Roman" panose="02020603050405020304" pitchFamily="18" charset="0"/>
              </a:rPr>
              <a:t>个或多个输入，作为算法开始执行前的初始值或初始状态。</a:t>
            </a:r>
            <a:endParaRPr lang="en-US" altLang="zh-CN" dirty="0" smtClean="0">
              <a:cs typeface="Times New Roman" panose="02020603050405020304" pitchFamily="18" charset="0"/>
            </a:endParaRPr>
          </a:p>
          <a:p>
            <a:pPr marL="0" indent="0">
              <a:buNone/>
            </a:pPr>
            <a:r>
              <a:rPr lang="en-US" altLang="zh-CN" dirty="0" smtClean="0">
                <a:cs typeface="Times New Roman" panose="02020603050405020304" pitchFamily="18" charset="0"/>
              </a:rPr>
              <a:t>4</a:t>
            </a:r>
            <a:r>
              <a:rPr lang="zh-CN" altLang="en-US" dirty="0" smtClean="0">
                <a:cs typeface="Times New Roman" panose="02020603050405020304" pitchFamily="18" charset="0"/>
              </a:rPr>
              <a:t>、输出：一个算法有一个或多个输出，以反映对输入数据加工后的结果。</a:t>
            </a:r>
            <a:endParaRPr lang="en-US" altLang="zh-CN" dirty="0" smtClean="0">
              <a:cs typeface="Times New Roman" panose="02020603050405020304" pitchFamily="18" charset="0"/>
            </a:endParaRPr>
          </a:p>
          <a:p>
            <a:pPr marL="0" indent="0">
              <a:buNone/>
            </a:pPr>
            <a:r>
              <a:rPr lang="en-US" altLang="zh-CN" dirty="0" smtClean="0">
                <a:cs typeface="Times New Roman" panose="02020603050405020304" pitchFamily="18" charset="0"/>
              </a:rPr>
              <a:t>5</a:t>
            </a:r>
            <a:r>
              <a:rPr lang="zh-CN" altLang="en-US" dirty="0" smtClean="0">
                <a:cs typeface="Times New Roman" panose="02020603050405020304" pitchFamily="18" charset="0"/>
              </a:rPr>
              <a:t>、可行性：在有限时间内完成计算过程。</a:t>
            </a:r>
            <a:endParaRPr lang="zh-CN" altLang="en-US" dirty="0"/>
          </a:p>
        </p:txBody>
      </p:sp>
    </p:spTree>
    <p:extLst>
      <p:ext uri="{BB962C8B-B14F-4D97-AF65-F5344CB8AC3E}">
        <p14:creationId xmlns:p14="http://schemas.microsoft.com/office/powerpoint/2010/main" val="771566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算法分析</a:t>
            </a:r>
            <a:endParaRPr lang="zh-CN" altLang="en-US" dirty="0"/>
          </a:p>
        </p:txBody>
      </p:sp>
      <p:sp>
        <p:nvSpPr>
          <p:cNvPr id="3" name="内容占位符 2"/>
          <p:cNvSpPr>
            <a:spLocks noGrp="1"/>
          </p:cNvSpPr>
          <p:nvPr>
            <p:ph idx="1"/>
          </p:nvPr>
        </p:nvSpPr>
        <p:spPr/>
        <p:txBody>
          <a:bodyPr>
            <a:normAutofit fontScale="92500"/>
          </a:bodyPr>
          <a:lstStyle/>
          <a:p>
            <a:r>
              <a:rPr lang="zh-CN" altLang="en-US" dirty="0"/>
              <a:t>算法分析是对一个算法需要多少计算时间和存储空间作定量的分析</a:t>
            </a:r>
            <a:r>
              <a:rPr lang="zh-CN" altLang="en-US" dirty="0" smtClean="0"/>
              <a:t>。</a:t>
            </a:r>
            <a:endParaRPr lang="en-US" altLang="zh-CN" dirty="0" smtClean="0"/>
          </a:p>
          <a:p>
            <a:pPr marL="0" indent="0">
              <a:buNone/>
            </a:pPr>
            <a:r>
              <a:rPr lang="zh-CN" altLang="en-US" dirty="0"/>
              <a:t>算法</a:t>
            </a:r>
            <a:r>
              <a:rPr lang="en-US" altLang="zh-CN" dirty="0"/>
              <a:t>+</a:t>
            </a:r>
            <a:r>
              <a:rPr lang="zh-CN" altLang="en-US" dirty="0">
                <a:hlinkClick r:id="rId2"/>
              </a:rPr>
              <a:t>数据结构</a:t>
            </a:r>
            <a:r>
              <a:rPr lang="en-US" altLang="zh-CN" dirty="0"/>
              <a:t>=</a:t>
            </a:r>
            <a:r>
              <a:rPr lang="zh-CN" altLang="en-US" dirty="0" smtClean="0"/>
              <a:t>程序</a:t>
            </a:r>
            <a:endParaRPr lang="en-US" altLang="zh-CN" dirty="0" smtClean="0"/>
          </a:p>
          <a:p>
            <a:pPr marL="0" indent="0">
              <a:buNone/>
            </a:pPr>
            <a:r>
              <a:rPr lang="zh-CN" altLang="en-US" dirty="0"/>
              <a:t>一个程序的</a:t>
            </a:r>
            <a:r>
              <a:rPr lang="zh-CN" altLang="en-US" dirty="0">
                <a:hlinkClick r:id="rId3"/>
              </a:rPr>
              <a:t>时间复杂度</a:t>
            </a:r>
            <a:r>
              <a:rPr lang="zh-CN" altLang="en-US" dirty="0"/>
              <a:t>是指程序运行从开始到结束所需要的时间</a:t>
            </a:r>
            <a:r>
              <a:rPr lang="zh-CN" altLang="en-US" dirty="0" smtClean="0"/>
              <a:t>。</a:t>
            </a:r>
            <a:endParaRPr lang="en-US" altLang="zh-CN" dirty="0" smtClean="0"/>
          </a:p>
          <a:p>
            <a:pPr marL="0" indent="0">
              <a:buNone/>
            </a:pPr>
            <a:r>
              <a:rPr lang="zh-CN" altLang="en-US" sz="3000" dirty="0"/>
              <a:t>一个算法是由控制结构（</a:t>
            </a:r>
            <a:r>
              <a:rPr lang="zh-CN" altLang="en-US" sz="3000" dirty="0">
                <a:hlinkClick r:id="rId4"/>
              </a:rPr>
              <a:t>顺序</a:t>
            </a:r>
            <a:r>
              <a:rPr lang="zh-CN" altLang="en-US" sz="3000" dirty="0"/>
              <a:t>、</a:t>
            </a:r>
            <a:r>
              <a:rPr lang="zh-CN" altLang="en-US" sz="3000" dirty="0">
                <a:hlinkClick r:id="rId5"/>
              </a:rPr>
              <a:t>分支</a:t>
            </a:r>
            <a:r>
              <a:rPr lang="zh-CN" altLang="en-US" sz="3000" dirty="0"/>
              <a:t>和</a:t>
            </a:r>
            <a:r>
              <a:rPr lang="zh-CN" altLang="en-US" sz="3000" dirty="0">
                <a:hlinkClick r:id="rId6"/>
              </a:rPr>
              <a:t>循环</a:t>
            </a:r>
            <a:r>
              <a:rPr lang="en-US" altLang="zh-CN" sz="3000" dirty="0"/>
              <a:t>3</a:t>
            </a:r>
            <a:r>
              <a:rPr lang="zh-CN" altLang="en-US" sz="3000" dirty="0"/>
              <a:t>种）和原操作（指固定</a:t>
            </a:r>
            <a:r>
              <a:rPr lang="zh-CN" altLang="en-US" sz="3000" dirty="0">
                <a:hlinkClick r:id="rId7"/>
              </a:rPr>
              <a:t>数据类型</a:t>
            </a:r>
            <a:r>
              <a:rPr lang="zh-CN" altLang="en-US" sz="3000" dirty="0"/>
              <a:t>的操作）构成的，其执行时间取决于</a:t>
            </a:r>
            <a:r>
              <a:rPr lang="zh-CN" altLang="en-US" sz="3000" dirty="0">
                <a:solidFill>
                  <a:srgbClr val="00B050"/>
                </a:solidFill>
              </a:rPr>
              <a:t>两者的综合效果</a:t>
            </a:r>
            <a:r>
              <a:rPr lang="zh-CN" altLang="en-US" sz="3000" dirty="0"/>
              <a:t>。为了便于比较同一问题的不同算法，通常的做法是：从算法中</a:t>
            </a:r>
            <a:r>
              <a:rPr lang="zh-CN" altLang="en-US" sz="3000" dirty="0">
                <a:solidFill>
                  <a:srgbClr val="00B050"/>
                </a:solidFill>
              </a:rPr>
              <a:t>选取一种</a:t>
            </a:r>
            <a:r>
              <a:rPr lang="zh-CN" altLang="en-US" sz="3000" dirty="0"/>
              <a:t>对于所研究的问题来说基本运算的原操作，以该原操作</a:t>
            </a:r>
            <a:r>
              <a:rPr lang="zh-CN" altLang="en-US" sz="3000" dirty="0">
                <a:solidFill>
                  <a:srgbClr val="00B050"/>
                </a:solidFill>
              </a:rPr>
              <a:t>重复执行的次数</a:t>
            </a:r>
            <a:r>
              <a:rPr lang="zh-CN" altLang="en-US" sz="3000" dirty="0"/>
              <a:t>作为算法的时间度量。一般情况下，算法中原操作重复执行次数是规模</a:t>
            </a:r>
            <a:r>
              <a:rPr lang="en-US" altLang="zh-CN" sz="3000" dirty="0"/>
              <a:t>n</a:t>
            </a:r>
            <a:r>
              <a:rPr lang="zh-CN" altLang="en-US" sz="3000" dirty="0"/>
              <a:t>的某个函数</a:t>
            </a:r>
            <a:r>
              <a:rPr lang="en-US" altLang="zh-CN" sz="3000" dirty="0"/>
              <a:t>T(n)</a:t>
            </a:r>
            <a:r>
              <a:rPr lang="zh-CN" altLang="en-US" sz="3000" dirty="0"/>
              <a:t>。许多时候要精确的计算</a:t>
            </a:r>
            <a:r>
              <a:rPr lang="en-US" altLang="zh-CN" sz="3000" dirty="0"/>
              <a:t>T(n)</a:t>
            </a:r>
            <a:r>
              <a:rPr lang="zh-CN" altLang="en-US" sz="3000" dirty="0"/>
              <a:t>是困难的，引入</a:t>
            </a:r>
            <a:r>
              <a:rPr lang="zh-CN" altLang="en-US" sz="3000" dirty="0">
                <a:hlinkClick r:id="rId8"/>
              </a:rPr>
              <a:t>渐进时间复杂度</a:t>
            </a:r>
            <a:r>
              <a:rPr lang="zh-CN" altLang="en-US" sz="3000" dirty="0"/>
              <a:t>在数量上估计一个算法的执行时间，也能够达到分析算法的目的。</a:t>
            </a:r>
          </a:p>
        </p:txBody>
      </p:sp>
    </p:spTree>
    <p:extLst>
      <p:ext uri="{BB962C8B-B14F-4D97-AF65-F5344CB8AC3E}">
        <p14:creationId xmlns:p14="http://schemas.microsoft.com/office/powerpoint/2010/main" val="183040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计算时间复杂度的时候，主要考虑算法中最高阶项的开销，只要找出算法中最高阶的复杂度，就可以忽略低阶和常数的复杂度</a:t>
                </a:r>
                <a:r>
                  <a:rPr lang="zh-CN" altLang="en-US" dirty="0" smtClean="0"/>
                  <a:t>。</a:t>
                </a:r>
                <a:r>
                  <a:rPr lang="en-US" altLang="zh-CN" dirty="0" smtClean="0"/>
                  <a:t>T(n) = O(f(n))</a:t>
                </a:r>
              </a:p>
              <a:p>
                <a:r>
                  <a:rPr lang="zh-CN" altLang="en-US" dirty="0"/>
                  <a:t>引入数学符号“</a:t>
                </a:r>
                <a:r>
                  <a:rPr lang="en-US" altLang="zh-CN" dirty="0"/>
                  <a:t>O”</a:t>
                </a:r>
                <a:r>
                  <a:rPr lang="zh-CN" altLang="en-US" dirty="0"/>
                  <a:t>来估算算法时间复杂度，渐进时间复杂度的表示方法：</a:t>
                </a:r>
                <a:r>
                  <a:rPr lang="en-US" altLang="zh-CN" dirty="0"/>
                  <a:t>F(n)=O(g(n</a:t>
                </a:r>
                <a:r>
                  <a:rPr lang="en-US" altLang="zh-CN" dirty="0" smtClean="0"/>
                  <a:t>))</a:t>
                </a:r>
              </a:p>
              <a:p>
                <a:r>
                  <a:rPr lang="zh-CN" altLang="en-US" dirty="0" smtClean="0"/>
                  <a:t>其</a:t>
                </a:r>
                <a:r>
                  <a:rPr lang="zh-CN" altLang="en-US" dirty="0"/>
                  <a:t>定义为，若</a:t>
                </a:r>
                <a:r>
                  <a:rPr lang="en-US" altLang="zh-CN" dirty="0"/>
                  <a:t>F(n)</a:t>
                </a:r>
                <a:r>
                  <a:rPr lang="zh-CN" altLang="en-US" dirty="0"/>
                  <a:t>和</a:t>
                </a:r>
                <a:r>
                  <a:rPr lang="en-US" altLang="zh-CN" dirty="0"/>
                  <a:t>g(n)</a:t>
                </a:r>
                <a:r>
                  <a:rPr lang="zh-CN" altLang="en-US" dirty="0"/>
                  <a:t>是定义在正整数集合上的两个函数，则</a:t>
                </a:r>
                <a:r>
                  <a:rPr lang="en-US" altLang="zh-CN" dirty="0"/>
                  <a:t>F(n)=O(g(n))</a:t>
                </a:r>
                <a:r>
                  <a:rPr lang="zh-CN" altLang="en-US" dirty="0"/>
                  <a:t>表示存在正的常数</a:t>
                </a:r>
                <a:r>
                  <a:rPr lang="en-US" altLang="zh-CN" dirty="0"/>
                  <a:t>C</a:t>
                </a:r>
                <a:r>
                  <a:rPr lang="zh-CN" altLang="en-US" dirty="0" smtClean="0"/>
                  <a:t>和</a:t>
                </a:r>
                <a:r>
                  <a:rPr lang="en-US" altLang="zh-CN" dirty="0" smtClean="0"/>
                  <a:t>n</a:t>
                </a:r>
                <a:r>
                  <a:rPr lang="en-US" altLang="zh-CN" baseline="-25000" dirty="0" smtClean="0"/>
                  <a:t>0</a:t>
                </a:r>
                <a:r>
                  <a:rPr lang="zh-CN" altLang="en-US" dirty="0" smtClean="0"/>
                  <a:t>，</a:t>
                </a:r>
                <a:r>
                  <a:rPr lang="zh-CN" altLang="en-US" dirty="0"/>
                  <a:t>使</a:t>
                </a:r>
                <a:r>
                  <a:rPr lang="zh-CN" altLang="en-US" dirty="0" smtClean="0"/>
                  <a:t>得当</a:t>
                </a:r>
                <a:r>
                  <a:rPr lang="en-US" altLang="zh-CN" dirty="0" smtClean="0"/>
                  <a:t>n</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smtClean="0"/>
                  <a:t>n</a:t>
                </a:r>
                <a:r>
                  <a:rPr lang="en-US" altLang="zh-CN" baseline="-25000" dirty="0" smtClean="0"/>
                  <a:t>0</a:t>
                </a:r>
                <a:r>
                  <a:rPr lang="zh-CN" altLang="en-US" dirty="0" smtClean="0"/>
                  <a:t>时</a:t>
                </a:r>
                <a:r>
                  <a:rPr lang="zh-CN" altLang="en-US" dirty="0"/>
                  <a:t>，都</a:t>
                </a:r>
                <a:r>
                  <a:rPr lang="zh-CN" altLang="en-US" dirty="0" smtClean="0"/>
                  <a:t>满足</a:t>
                </a:r>
                <a:r>
                  <a:rPr lang="en-US" altLang="zh-CN" dirty="0" smtClean="0"/>
                  <a:t>0</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smtClean="0"/>
                  <a:t>F(n)</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smtClean="0"/>
                  <a:t>Cg(n)</a:t>
                </a:r>
                <a:r>
                  <a:rPr lang="zh-CN" altLang="en-US" dirty="0" smtClean="0"/>
                  <a:t> </a:t>
                </a:r>
                <a:r>
                  <a:rPr lang="zh-CN" altLang="en-US" dirty="0"/>
                  <a:t>。换句话说，就是这两个函数当整形自变量</a:t>
                </a:r>
                <a:r>
                  <a:rPr lang="en-US" altLang="zh-CN" dirty="0"/>
                  <a:t>n</a:t>
                </a:r>
                <a:r>
                  <a:rPr lang="zh-CN" altLang="en-US" dirty="0"/>
                  <a:t>趋于无穷大时，两者的比值是一个不等于</a:t>
                </a:r>
                <a:r>
                  <a:rPr lang="en-US" altLang="zh-CN" dirty="0"/>
                  <a:t>0</a:t>
                </a:r>
                <a:r>
                  <a:rPr lang="zh-CN" altLang="en-US" dirty="0"/>
                  <a:t>的常数。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00" t="-1761" r="-365" b="-1887"/>
                </a:stretch>
              </a:blipFill>
            </p:spPr>
            <p:txBody>
              <a:bodyPr/>
              <a:lstStyle/>
              <a:p>
                <a:r>
                  <a:rPr lang="zh-CN" altLang="en-US">
                    <a:noFill/>
                  </a:rPr>
                  <a:t> </a:t>
                </a:r>
              </a:p>
            </p:txBody>
          </p:sp>
        </mc:Fallback>
      </mc:AlternateContent>
      <p:sp>
        <p:nvSpPr>
          <p:cNvPr id="7" name="AutoShape 8" descr="https://bkimg.cdn.bcebos.com/formula/50478f879e8dea5a7b0de4ea6cc73295.svg"/>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8" name="图片 7"/>
          <p:cNvPicPr>
            <a:picLocks noChangeAspect="1"/>
          </p:cNvPicPr>
          <p:nvPr/>
        </p:nvPicPr>
        <p:blipFill>
          <a:blip r:embed="rId3"/>
          <a:stretch>
            <a:fillRect/>
          </a:stretch>
        </p:blipFill>
        <p:spPr>
          <a:xfrm>
            <a:off x="360192" y="624608"/>
            <a:ext cx="9144701" cy="623702"/>
          </a:xfrm>
          <a:prstGeom prst="rect">
            <a:avLst/>
          </a:prstGeom>
        </p:spPr>
      </p:pic>
      <p:sp>
        <p:nvSpPr>
          <p:cNvPr id="17" name="AutoShape 18" descr="https://bkimg.cdn.bcebos.com/formula/5c770424fc9effa079ede0e29f5eccf5.sv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360627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平均时间复杂度 </a:t>
            </a:r>
            <a:r>
              <a:rPr lang="en-US" altLang="zh-CN" dirty="0" smtClean="0"/>
              <a:t>+ </a:t>
            </a:r>
            <a:r>
              <a:rPr lang="zh-CN" altLang="en-US" dirty="0" smtClean="0"/>
              <a:t>最坏时间复杂度</a:t>
            </a:r>
            <a:r>
              <a:rPr lang="en-US" altLang="zh-CN" dirty="0" smtClean="0"/>
              <a:t> </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en-US" dirty="0" smtClean="0"/>
              <a:t>由于算法的复杂度通常与输入有关，所以通常采用平均时间复杂度和最坏时间复杂度来衡量一个算法的复杂度。</a:t>
            </a:r>
            <a:endParaRPr lang="en-US" altLang="zh-CN" dirty="0" smtClean="0"/>
          </a:p>
          <a:p>
            <a:r>
              <a:rPr lang="zh-CN" altLang="en-US" dirty="0" smtClean="0"/>
              <a:t>平均时间复杂度：问题规模为</a:t>
            </a:r>
            <a:r>
              <a:rPr lang="en-US" altLang="zh-CN" dirty="0" smtClean="0"/>
              <a:t>n</a:t>
            </a:r>
            <a:r>
              <a:rPr lang="zh-CN" altLang="en-US" dirty="0" smtClean="0"/>
              <a:t>时，用各种特定输入条件下的基本运算次数的加权平均值来衡量算法的</a:t>
            </a:r>
            <a:r>
              <a:rPr lang="zh-CN" altLang="en-US" dirty="0"/>
              <a:t>时间</a:t>
            </a:r>
            <a:r>
              <a:rPr lang="zh-CN" altLang="en-US" dirty="0" smtClean="0"/>
              <a:t>复杂度。</a:t>
            </a:r>
            <a:r>
              <a:rPr lang="en-US" altLang="zh-CN" dirty="0" smtClean="0"/>
              <a:t>A(n)</a:t>
            </a:r>
          </a:p>
          <a:p>
            <a:r>
              <a:rPr lang="zh-CN" altLang="en-US" dirty="0" smtClean="0"/>
              <a:t>最坏时间复杂度：问题规模为</a:t>
            </a:r>
            <a:r>
              <a:rPr lang="en-US" altLang="zh-CN" dirty="0" smtClean="0"/>
              <a:t>n</a:t>
            </a:r>
            <a:r>
              <a:rPr lang="zh-CN" altLang="en-US" dirty="0" smtClean="0"/>
              <a:t>时，用算法执行基本运算的最大次数来衡量算法的时间复杂度。 </a:t>
            </a:r>
            <a:r>
              <a:rPr lang="en-US" altLang="zh-CN" dirty="0" smtClean="0"/>
              <a:t>W(n)</a:t>
            </a:r>
            <a:endParaRPr lang="zh-CN" altLang="en-US" dirty="0"/>
          </a:p>
        </p:txBody>
      </p:sp>
    </p:spTree>
    <p:extLst>
      <p:ext uri="{BB962C8B-B14F-4D97-AF65-F5344CB8AC3E}">
        <p14:creationId xmlns:p14="http://schemas.microsoft.com/office/powerpoint/2010/main" val="216613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空间复杂度</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空间复杂度是指算法在计算机内执行时所需存储空间的度量。</a:t>
            </a:r>
            <a:endParaRPr lang="en-US" altLang="zh-CN" dirty="0" smtClean="0"/>
          </a:p>
          <a:p>
            <a:pPr marL="0" indent="0">
              <a:buNone/>
            </a:pPr>
            <a:r>
              <a:rPr lang="en-US" altLang="zh-CN" dirty="0"/>
              <a:t> </a:t>
            </a:r>
            <a:r>
              <a:rPr lang="en-US" altLang="zh-CN" dirty="0" smtClean="0"/>
              <a:t> </a:t>
            </a:r>
            <a:r>
              <a:rPr lang="zh-CN" altLang="en-US" dirty="0" smtClean="0"/>
              <a:t>一般来说也是问题规模</a:t>
            </a:r>
            <a:r>
              <a:rPr lang="en-US" altLang="zh-CN" dirty="0" smtClean="0"/>
              <a:t>n</a:t>
            </a:r>
            <a:r>
              <a:rPr lang="zh-CN" altLang="en-US" dirty="0" smtClean="0"/>
              <a:t>的函数</a:t>
            </a:r>
            <a:r>
              <a:rPr lang="en-US" altLang="zh-CN" dirty="0" smtClean="0"/>
              <a:t>f(n),</a:t>
            </a:r>
            <a:r>
              <a:rPr lang="zh-CN" altLang="en-US" dirty="0" smtClean="0"/>
              <a:t>算法的</a:t>
            </a:r>
            <a:r>
              <a:rPr lang="zh-CN" altLang="en-US" dirty="0"/>
              <a:t>空间</a:t>
            </a:r>
            <a:r>
              <a:rPr lang="zh-CN" altLang="en-US" dirty="0" smtClean="0"/>
              <a:t>复杂度记为：</a:t>
            </a:r>
            <a:endParaRPr lang="en-US" altLang="zh-CN" dirty="0" smtClean="0"/>
          </a:p>
          <a:p>
            <a:pPr marL="0" indent="0">
              <a:buNone/>
            </a:pPr>
            <a:r>
              <a:rPr lang="en-US" altLang="zh-CN" dirty="0"/>
              <a:t> </a:t>
            </a:r>
            <a:r>
              <a:rPr lang="en-US" altLang="zh-CN" dirty="0" smtClean="0"/>
              <a:t>                 S(n)=O( f(n) )</a:t>
            </a:r>
          </a:p>
          <a:p>
            <a:pPr marL="0" indent="0">
              <a:buNone/>
            </a:pPr>
            <a:endParaRPr lang="en-US" altLang="zh-CN" dirty="0"/>
          </a:p>
          <a:p>
            <a:pPr marL="0" indent="0">
              <a:buNone/>
            </a:pPr>
            <a:r>
              <a:rPr lang="zh-CN" altLang="en-US" dirty="0" smtClean="0"/>
              <a:t>程序所需的存储空间通常划分为两部分：</a:t>
            </a:r>
            <a:endParaRPr lang="en-US" altLang="zh-CN" dirty="0" smtClean="0"/>
          </a:p>
          <a:p>
            <a:pPr marL="0" indent="0">
              <a:buNone/>
            </a:pPr>
            <a:r>
              <a:rPr lang="en-US" altLang="zh-CN" dirty="0" smtClean="0"/>
              <a:t>1</a:t>
            </a:r>
            <a:r>
              <a:rPr lang="zh-CN" altLang="en-US" dirty="0" smtClean="0"/>
              <a:t>、固定部分：指与问题实例特性无关的那部分空间。如指令空间，数据空间中常量、变量和结构或对象的成员变量所占空间。</a:t>
            </a:r>
            <a:endParaRPr lang="en-US" altLang="zh-CN" dirty="0" smtClean="0"/>
          </a:p>
          <a:p>
            <a:pPr marL="0" indent="0">
              <a:buNone/>
            </a:pPr>
            <a:r>
              <a:rPr lang="en-US" altLang="zh-CN" dirty="0" smtClean="0"/>
              <a:t>2</a:t>
            </a:r>
            <a:r>
              <a:rPr lang="zh-CN" altLang="en-US" dirty="0" smtClean="0"/>
              <a:t>、变化部分：指依赖问题实例特性的那部分空间。如与实际问题实例规模有关的输入、输出和中间处理所需的空间、以及递归栈空间等。</a:t>
            </a:r>
            <a:endParaRPr lang="zh-CN" altLang="en-US" dirty="0"/>
          </a:p>
        </p:txBody>
      </p:sp>
    </p:spTree>
    <p:extLst>
      <p:ext uri="{BB962C8B-B14F-4D97-AF65-F5344CB8AC3E}">
        <p14:creationId xmlns:p14="http://schemas.microsoft.com/office/powerpoint/2010/main" val="160606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r>
              <a:rPr lang="en-US" altLang="zh-CN" dirty="0" smtClean="0"/>
              <a:t>S(n) ?</a:t>
            </a:r>
            <a:endParaRPr lang="zh-CN" altLang="en-US" dirty="0"/>
          </a:p>
        </p:txBody>
      </p:sp>
      <p:pic>
        <p:nvPicPr>
          <p:cNvPr id="5" name="图片 4"/>
          <p:cNvPicPr>
            <a:picLocks noChangeAspect="1"/>
          </p:cNvPicPr>
          <p:nvPr/>
        </p:nvPicPr>
        <p:blipFill>
          <a:blip r:embed="rId2"/>
          <a:stretch>
            <a:fillRect/>
          </a:stretch>
        </p:blipFill>
        <p:spPr>
          <a:xfrm>
            <a:off x="4086511" y="4238089"/>
            <a:ext cx="7879347" cy="2650843"/>
          </a:xfrm>
          <a:prstGeom prst="rect">
            <a:avLst/>
          </a:prstGeom>
        </p:spPr>
      </p:pic>
      <p:pic>
        <p:nvPicPr>
          <p:cNvPr id="7" name="图片 6"/>
          <p:cNvPicPr>
            <a:picLocks noChangeAspect="1"/>
          </p:cNvPicPr>
          <p:nvPr/>
        </p:nvPicPr>
        <p:blipFill>
          <a:blip r:embed="rId3"/>
          <a:stretch>
            <a:fillRect/>
          </a:stretch>
        </p:blipFill>
        <p:spPr>
          <a:xfrm>
            <a:off x="162065" y="1664838"/>
            <a:ext cx="5171247" cy="2573251"/>
          </a:xfrm>
          <a:prstGeom prst="rect">
            <a:avLst/>
          </a:prstGeom>
        </p:spPr>
      </p:pic>
    </p:spTree>
    <p:extLst>
      <p:ext uri="{BB962C8B-B14F-4D97-AF65-F5344CB8AC3E}">
        <p14:creationId xmlns:p14="http://schemas.microsoft.com/office/powerpoint/2010/main" val="6677802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算法设计的基本方法与策略基础</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a:t>(</a:t>
            </a:r>
            <a:r>
              <a:rPr lang="en-US" altLang="zh-CN" dirty="0" smtClean="0"/>
              <a:t>1) </a:t>
            </a:r>
            <a:r>
              <a:rPr lang="zh-CN" altLang="en-US" dirty="0" smtClean="0"/>
              <a:t>递推法</a:t>
            </a:r>
            <a:endParaRPr lang="en-US" altLang="zh-CN" dirty="0" smtClean="0"/>
          </a:p>
          <a:p>
            <a:pPr marL="0" indent="0">
              <a:buNone/>
            </a:pPr>
            <a:r>
              <a:rPr lang="en-US" altLang="zh-CN" dirty="0" smtClean="0"/>
              <a:t>	</a:t>
            </a:r>
            <a:r>
              <a:rPr lang="zh-CN" altLang="en-US" dirty="0" smtClean="0"/>
              <a:t>递推法是利用问题本身所具有的一种递推关系求解问题的一种方法。它把问题求解分成若干步，找出相邻几步的关系，从而达到求解问题的目的。</a:t>
            </a:r>
            <a:endParaRPr lang="en-US" altLang="zh-CN" dirty="0" smtClean="0"/>
          </a:p>
          <a:p>
            <a:pPr marL="0" indent="0">
              <a:buNone/>
            </a:pPr>
            <a:r>
              <a:rPr lang="en-US" altLang="zh-CN" dirty="0"/>
              <a:t>	</a:t>
            </a:r>
            <a:r>
              <a:rPr lang="zh-CN" altLang="en-US" dirty="0" smtClean="0"/>
              <a:t>设要求问题规模为</a:t>
            </a:r>
            <a:r>
              <a:rPr lang="en-US" altLang="zh-CN" dirty="0" smtClean="0"/>
              <a:t>n</a:t>
            </a:r>
            <a:r>
              <a:rPr lang="zh-CN" altLang="en-US" dirty="0" smtClean="0"/>
              <a:t>的解，当</a:t>
            </a:r>
            <a:r>
              <a:rPr lang="en-US" altLang="zh-CN" dirty="0" smtClean="0"/>
              <a:t>n=0</a:t>
            </a:r>
            <a:r>
              <a:rPr lang="zh-CN" altLang="en-US" dirty="0" smtClean="0"/>
              <a:t>或</a:t>
            </a:r>
            <a:r>
              <a:rPr lang="en-US" altLang="zh-CN" dirty="0" smtClean="0"/>
              <a:t>1</a:t>
            </a:r>
            <a:r>
              <a:rPr lang="zh-CN" altLang="en-US" dirty="0" smtClean="0"/>
              <a:t>时，解为已知，或能方便地得到。能采用递推法构造算法的问题有重要的递推性质，即当得到问题规模为</a:t>
            </a:r>
            <a:r>
              <a:rPr lang="en-US" altLang="zh-CN" dirty="0" smtClean="0"/>
              <a:t>i-1</a:t>
            </a:r>
            <a:r>
              <a:rPr lang="zh-CN" altLang="en-US" dirty="0" smtClean="0"/>
              <a:t>的解后，由问题的递推性质，能从已求得的规模为</a:t>
            </a:r>
            <a:r>
              <a:rPr lang="en-US" altLang="zh-CN" dirty="0" smtClean="0"/>
              <a:t>1,2,…i-1</a:t>
            </a:r>
            <a:r>
              <a:rPr lang="zh-CN" altLang="en-US" dirty="0" smtClean="0"/>
              <a:t>的一系列解，构造出问题规模为</a:t>
            </a:r>
            <a:r>
              <a:rPr lang="en-US" altLang="zh-CN" dirty="0" err="1" smtClean="0"/>
              <a:t>i</a:t>
            </a:r>
            <a:r>
              <a:rPr lang="zh-CN" altLang="en-US" dirty="0" smtClean="0"/>
              <a:t>的解。</a:t>
            </a:r>
            <a:endParaRPr lang="en-US" altLang="zh-CN" dirty="0" smtClean="0"/>
          </a:p>
          <a:p>
            <a:pPr marL="0" indent="0">
              <a:buNone/>
            </a:pPr>
            <a:r>
              <a:rPr lang="en-US" altLang="zh-CN" dirty="0"/>
              <a:t>	</a:t>
            </a:r>
            <a:r>
              <a:rPr lang="zh-CN" altLang="en-US" dirty="0" smtClean="0"/>
              <a:t>大家可以想到哪些示例？</a:t>
            </a:r>
            <a:endParaRPr lang="zh-CN" altLang="en-US" dirty="0"/>
          </a:p>
        </p:txBody>
      </p:sp>
    </p:spTree>
    <p:extLst>
      <p:ext uri="{BB962C8B-B14F-4D97-AF65-F5344CB8AC3E}">
        <p14:creationId xmlns:p14="http://schemas.microsoft.com/office/powerpoint/2010/main" val="3589648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算法设计的基本方法与策略基础</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smtClean="0"/>
              <a:t>(2) </a:t>
            </a:r>
            <a:r>
              <a:rPr lang="zh-CN" altLang="en-US" dirty="0" smtClean="0"/>
              <a:t>递归法</a:t>
            </a:r>
            <a:endParaRPr lang="en-US" altLang="zh-CN" dirty="0" smtClean="0"/>
          </a:p>
          <a:p>
            <a:pPr marL="0" indent="0">
              <a:buNone/>
            </a:pPr>
            <a:r>
              <a:rPr lang="en-US" altLang="zh-CN" dirty="0" smtClean="0"/>
              <a:t>	</a:t>
            </a:r>
            <a:r>
              <a:rPr lang="zh-CN" altLang="en-US" dirty="0" smtClean="0"/>
              <a:t>递归策略是利用函数直接或间接地调用自身来完成某个计算过程。</a:t>
            </a:r>
            <a:endParaRPr lang="en-US" altLang="zh-CN" dirty="0" smtClean="0"/>
          </a:p>
          <a:p>
            <a:pPr marL="0" indent="0">
              <a:buNone/>
            </a:pPr>
            <a:r>
              <a:rPr lang="en-US" altLang="zh-CN" dirty="0"/>
              <a:t>	</a:t>
            </a:r>
            <a:r>
              <a:rPr lang="zh-CN" altLang="en-US" dirty="0" smtClean="0"/>
              <a:t>特征如下：为求解规模为</a:t>
            </a:r>
            <a:r>
              <a:rPr lang="en-US" altLang="zh-CN" dirty="0" smtClean="0"/>
              <a:t>n</a:t>
            </a:r>
            <a:r>
              <a:rPr lang="zh-CN" altLang="en-US" dirty="0" smtClean="0"/>
              <a:t>的问题，设法将他分解成规模较小的问题，然后</a:t>
            </a:r>
            <a:r>
              <a:rPr lang="en-US" altLang="zh-CN" dirty="0" smtClean="0"/>
              <a:t>…</a:t>
            </a:r>
            <a:r>
              <a:rPr lang="zh-CN" altLang="en-US" dirty="0" smtClean="0"/>
              <a:t>。特别地，当规模为</a:t>
            </a:r>
            <a:r>
              <a:rPr lang="en-US" altLang="zh-CN" dirty="0" smtClean="0"/>
              <a:t>n=1</a:t>
            </a:r>
            <a:r>
              <a:rPr lang="zh-CN" altLang="en-US" dirty="0" smtClean="0"/>
              <a:t>时，能直接得解。</a:t>
            </a:r>
            <a:endParaRPr lang="en-US" altLang="zh-CN" dirty="0" smtClean="0"/>
          </a:p>
          <a:p>
            <a:pPr marL="0" indent="0">
              <a:buNone/>
            </a:pPr>
            <a:r>
              <a:rPr lang="en-US" altLang="zh-CN" dirty="0"/>
              <a:t>	</a:t>
            </a:r>
            <a:r>
              <a:rPr lang="zh-CN" altLang="en-US" dirty="0" smtClean="0"/>
              <a:t>递归算法代码简洁、可读性强的优点，但缺点是运行效率较低。递归调用由于需要频繁保存运行状态而消耗额外的时间、占用额外的空间，递归次数过多容易造成栈溢出等。</a:t>
            </a:r>
            <a:endParaRPr lang="zh-CN" altLang="en-US" dirty="0"/>
          </a:p>
        </p:txBody>
      </p:sp>
    </p:spTree>
    <p:extLst>
      <p:ext uri="{BB962C8B-B14F-4D97-AF65-F5344CB8AC3E}">
        <p14:creationId xmlns:p14="http://schemas.microsoft.com/office/powerpoint/2010/main" val="109019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递归策略要注意两个条件</a:t>
            </a:r>
            <a:r>
              <a:rPr lang="en-US" altLang="zh-CN" dirty="0" smtClean="0"/>
              <a:t>		</a:t>
            </a:r>
            <a:endParaRPr lang="zh-CN" altLang="en-US" dirty="0"/>
          </a:p>
        </p:txBody>
      </p:sp>
      <p:sp>
        <p:nvSpPr>
          <p:cNvPr id="3" name="内容占位符 2"/>
          <p:cNvSpPr>
            <a:spLocks noGrp="1"/>
          </p:cNvSpPr>
          <p:nvPr>
            <p:ph idx="1"/>
          </p:nvPr>
        </p:nvSpPr>
        <p:spPr>
          <a:xfrm>
            <a:off x="280219" y="1749479"/>
            <a:ext cx="11685639" cy="4852219"/>
          </a:xfrm>
        </p:spPr>
        <p:txBody>
          <a:bodyPr>
            <a:normAutofit/>
          </a:bodyPr>
          <a:lstStyle/>
          <a:p>
            <a:pPr marL="0" indent="0">
              <a:buNone/>
            </a:pPr>
            <a:r>
              <a:rPr lang="en-US" altLang="zh-CN" dirty="0" smtClean="0"/>
              <a:t>1</a:t>
            </a:r>
            <a:r>
              <a:rPr lang="zh-CN" altLang="en-US" dirty="0" smtClean="0"/>
              <a:t>）确定递归公式。</a:t>
            </a:r>
            <a:endParaRPr lang="en-US" altLang="zh-CN" dirty="0" smtClean="0"/>
          </a:p>
          <a:p>
            <a:pPr marL="0" indent="0">
              <a:buNone/>
            </a:pPr>
            <a:r>
              <a:rPr lang="en-US" altLang="zh-CN" dirty="0"/>
              <a:t> </a:t>
            </a:r>
            <a:r>
              <a:rPr lang="en-US" altLang="zh-CN" dirty="0" smtClean="0"/>
              <a:t>     </a:t>
            </a:r>
            <a:r>
              <a:rPr lang="zh-CN" altLang="en-US" dirty="0" smtClean="0"/>
              <a:t>在函数中可以直接或简洁调用自身。</a:t>
            </a:r>
            <a:endParaRPr lang="en-US" altLang="zh-CN" dirty="0" smtClean="0"/>
          </a:p>
          <a:p>
            <a:pPr marL="0" indent="0">
              <a:buNone/>
            </a:pPr>
            <a:r>
              <a:rPr lang="en-US" altLang="zh-CN" dirty="0" smtClean="0"/>
              <a:t>2</a:t>
            </a:r>
            <a:r>
              <a:rPr lang="zh-CN" altLang="en-US" dirty="0" smtClean="0"/>
              <a:t>）确定终止条件。</a:t>
            </a:r>
            <a:endParaRPr lang="en-US" altLang="zh-CN" dirty="0" smtClean="0"/>
          </a:p>
          <a:p>
            <a:pPr marL="0" indent="0">
              <a:buNone/>
            </a:pPr>
            <a:r>
              <a:rPr lang="en-US" altLang="zh-CN" dirty="0"/>
              <a:t>  </a:t>
            </a:r>
            <a:r>
              <a:rPr lang="en-US" altLang="zh-CN" dirty="0" smtClean="0"/>
              <a:t>    </a:t>
            </a:r>
            <a:r>
              <a:rPr lang="zh-CN" altLang="en-US" dirty="0" smtClean="0"/>
              <a:t>必须有一个明确的递归结束条件，即递归出口。</a:t>
            </a:r>
            <a:endParaRPr lang="en-US" altLang="zh-CN" dirty="0" smtClean="0"/>
          </a:p>
          <a:p>
            <a:pPr marL="0" indent="0">
              <a:buNone/>
            </a:pPr>
            <a:endParaRPr lang="en-US" altLang="zh-CN" dirty="0"/>
          </a:p>
          <a:p>
            <a:pPr marL="0" indent="0">
              <a:buNone/>
            </a:pPr>
            <a:endParaRPr lang="en-US" altLang="zh-CN" dirty="0"/>
          </a:p>
          <a:p>
            <a:pPr marL="0" indent="0">
              <a:buNone/>
            </a:pPr>
            <a:r>
              <a:rPr lang="en-US" altLang="zh-CN" dirty="0" smtClean="0"/>
              <a:t>    </a:t>
            </a:r>
            <a:r>
              <a:rPr lang="zh-CN" altLang="en-US" sz="2000" dirty="0" smtClean="0"/>
              <a:t>提示：任何可以用递推法解决的问题都可以很方便地利用递归法解决。反过来却不一定。</a:t>
            </a:r>
            <a:endParaRPr lang="zh-CN" altLang="en-US" sz="2000" dirty="0"/>
          </a:p>
        </p:txBody>
      </p:sp>
    </p:spTree>
    <p:extLst>
      <p:ext uri="{BB962C8B-B14F-4D97-AF65-F5344CB8AC3E}">
        <p14:creationId xmlns:p14="http://schemas.microsoft.com/office/powerpoint/2010/main" val="402178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 </a:t>
            </a:r>
            <a:r>
              <a:rPr lang="zh-CN" altLang="en-US" dirty="0" smtClean="0"/>
              <a:t>穷举法</a:t>
            </a:r>
            <a:endParaRPr lang="zh-CN" altLang="en-US" dirty="0"/>
          </a:p>
        </p:txBody>
      </p:sp>
      <p:sp>
        <p:nvSpPr>
          <p:cNvPr id="3" name="内容占位符 2"/>
          <p:cNvSpPr>
            <a:spLocks noGrp="1"/>
          </p:cNvSpPr>
          <p:nvPr>
            <p:ph idx="1"/>
          </p:nvPr>
        </p:nvSpPr>
        <p:spPr/>
        <p:txBody>
          <a:bodyPr/>
          <a:lstStyle/>
          <a:p>
            <a:r>
              <a:rPr lang="zh-CN" altLang="en-US" dirty="0" smtClean="0"/>
              <a:t>穷举搜索法也</a:t>
            </a:r>
            <a:r>
              <a:rPr lang="zh-CN" altLang="en-US" smtClean="0"/>
              <a:t>称</a:t>
            </a:r>
            <a:r>
              <a:rPr lang="zh-CN" altLang="en-US" smtClean="0"/>
              <a:t>穷举法或搜索法</a:t>
            </a:r>
            <a:r>
              <a:rPr lang="zh-CN" altLang="en-US" dirty="0" smtClean="0"/>
              <a:t>，是对可能是解的众多候选解按某种顺序进行逐一枚举和检验，并从中找出哪些符合要求的候选解作为问题的解。</a:t>
            </a:r>
            <a:endParaRPr lang="en-US" altLang="zh-CN" dirty="0" smtClean="0"/>
          </a:p>
          <a:p>
            <a:endParaRPr lang="en-US" altLang="zh-CN" dirty="0"/>
          </a:p>
          <a:p>
            <a:pPr marL="0" indent="0">
              <a:buNone/>
            </a:pPr>
            <a:r>
              <a:rPr lang="en-US" altLang="zh-CN" dirty="0" smtClean="0"/>
              <a:t>   </a:t>
            </a:r>
            <a:r>
              <a:rPr lang="zh-CN" altLang="en-US" dirty="0" smtClean="0"/>
              <a:t>水仙花数   </a:t>
            </a:r>
            <a:r>
              <a:rPr lang="en-US" altLang="zh-CN" dirty="0" err="1" smtClean="0"/>
              <a:t>abc</a:t>
            </a:r>
            <a:r>
              <a:rPr lang="en-US" altLang="zh-CN" dirty="0" smtClean="0"/>
              <a:t> = a</a:t>
            </a:r>
            <a:r>
              <a:rPr lang="en-US" altLang="zh-CN" baseline="30000" dirty="0" smtClean="0"/>
              <a:t>3</a:t>
            </a:r>
            <a:r>
              <a:rPr lang="en-US" altLang="zh-CN" dirty="0" smtClean="0"/>
              <a:t>+b</a:t>
            </a:r>
            <a:r>
              <a:rPr lang="en-US" altLang="zh-CN" baseline="30000" dirty="0" smtClean="0"/>
              <a:t>3</a:t>
            </a:r>
            <a:r>
              <a:rPr lang="en-US" altLang="zh-CN" dirty="0" smtClean="0"/>
              <a:t>+c</a:t>
            </a:r>
            <a:r>
              <a:rPr lang="en-US" altLang="zh-CN" baseline="30000" dirty="0" smtClean="0"/>
              <a:t>3</a:t>
            </a:r>
          </a:p>
          <a:p>
            <a:pPr marL="0" indent="0">
              <a:buNone/>
            </a:pPr>
            <a:r>
              <a:rPr lang="en-US" altLang="zh-CN" baseline="30000" dirty="0"/>
              <a:t> </a:t>
            </a:r>
            <a:r>
              <a:rPr lang="en-US" altLang="zh-CN" baseline="30000" dirty="0" smtClean="0"/>
              <a:t>    </a:t>
            </a:r>
            <a:endParaRPr lang="zh-CN" altLang="en-US" dirty="0"/>
          </a:p>
        </p:txBody>
      </p:sp>
    </p:spTree>
    <p:extLst>
      <p:ext uri="{BB962C8B-B14F-4D97-AF65-F5344CB8AC3E}">
        <p14:creationId xmlns:p14="http://schemas.microsoft.com/office/powerpoint/2010/main" val="104552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百钱百鸡：</a:t>
            </a:r>
            <a:endParaRPr lang="zh-CN" altLang="en-US" dirty="0"/>
          </a:p>
        </p:txBody>
      </p:sp>
      <p:sp>
        <p:nvSpPr>
          <p:cNvPr id="3" name="内容占位符 2"/>
          <p:cNvSpPr>
            <a:spLocks noGrp="1"/>
          </p:cNvSpPr>
          <p:nvPr>
            <p:ph idx="1"/>
          </p:nvPr>
        </p:nvSpPr>
        <p:spPr/>
        <p:txBody>
          <a:bodyPr/>
          <a:lstStyle/>
          <a:p>
            <a:r>
              <a:rPr lang="zh-CN" altLang="en-US" dirty="0"/>
              <a:t>百钱百鸡是我国古代数学家张丘建在</a:t>
            </a:r>
            <a:r>
              <a:rPr lang="en-US" altLang="zh-CN" dirty="0"/>
              <a:t>《</a:t>
            </a:r>
            <a:r>
              <a:rPr lang="zh-CN" altLang="en-US" dirty="0"/>
              <a:t>算经</a:t>
            </a:r>
            <a:r>
              <a:rPr lang="en-US" altLang="zh-CN" dirty="0"/>
              <a:t>》</a:t>
            </a:r>
            <a:r>
              <a:rPr lang="zh-CN" altLang="en-US" dirty="0"/>
              <a:t>一书中提出的数学问题：鸡翁一值钱五，鸡母一值钱三，鸡雏三值钱一。百钱买百鸡，问鸡翁、鸡母、鸡雏各几何？翻译成现代文是：公鸡</a:t>
            </a:r>
            <a:r>
              <a:rPr lang="en-US" altLang="zh-CN" dirty="0"/>
              <a:t>5</a:t>
            </a:r>
            <a:r>
              <a:rPr lang="zh-CN" altLang="en-US" dirty="0"/>
              <a:t>元一只，母鸡</a:t>
            </a:r>
            <a:r>
              <a:rPr lang="en-US" altLang="zh-CN" dirty="0"/>
              <a:t>3</a:t>
            </a:r>
            <a:r>
              <a:rPr lang="zh-CN" altLang="en-US" dirty="0"/>
              <a:t>元一只，小鸡</a:t>
            </a:r>
            <a:r>
              <a:rPr lang="en-US" altLang="zh-CN" dirty="0"/>
              <a:t>1</a:t>
            </a:r>
            <a:r>
              <a:rPr lang="zh-CN" altLang="en-US" dirty="0"/>
              <a:t>元三只，用</a:t>
            </a:r>
            <a:r>
              <a:rPr lang="en-US" altLang="zh-CN" dirty="0"/>
              <a:t>100</a:t>
            </a:r>
            <a:r>
              <a:rPr lang="zh-CN" altLang="en-US" dirty="0"/>
              <a:t>块钱买一百只鸡，问公鸡、母鸡、小鸡各有多少只？</a:t>
            </a:r>
          </a:p>
        </p:txBody>
      </p:sp>
      <p:pic>
        <p:nvPicPr>
          <p:cNvPr id="4" name="图片 3"/>
          <p:cNvPicPr>
            <a:picLocks noChangeAspect="1"/>
          </p:cNvPicPr>
          <p:nvPr/>
        </p:nvPicPr>
        <p:blipFill>
          <a:blip r:embed="rId2"/>
          <a:stretch>
            <a:fillRect/>
          </a:stretch>
        </p:blipFill>
        <p:spPr>
          <a:xfrm>
            <a:off x="130270" y="4236708"/>
            <a:ext cx="3253214" cy="2380401"/>
          </a:xfrm>
          <a:prstGeom prst="rect">
            <a:avLst/>
          </a:prstGeom>
        </p:spPr>
      </p:pic>
      <p:pic>
        <p:nvPicPr>
          <p:cNvPr id="5" name="图片 4"/>
          <p:cNvPicPr>
            <a:picLocks noChangeAspect="1"/>
          </p:cNvPicPr>
          <p:nvPr/>
        </p:nvPicPr>
        <p:blipFill>
          <a:blip r:embed="rId3"/>
          <a:stretch>
            <a:fillRect/>
          </a:stretch>
        </p:blipFill>
        <p:spPr>
          <a:xfrm>
            <a:off x="3489172" y="4271129"/>
            <a:ext cx="3796511" cy="1606730"/>
          </a:xfrm>
          <a:prstGeom prst="rect">
            <a:avLst/>
          </a:prstGeom>
        </p:spPr>
      </p:pic>
      <p:pic>
        <p:nvPicPr>
          <p:cNvPr id="6" name="图片 5"/>
          <p:cNvPicPr>
            <a:picLocks noChangeAspect="1"/>
          </p:cNvPicPr>
          <p:nvPr/>
        </p:nvPicPr>
        <p:blipFill>
          <a:blip r:embed="rId4"/>
          <a:stretch>
            <a:fillRect/>
          </a:stretch>
        </p:blipFill>
        <p:spPr>
          <a:xfrm>
            <a:off x="7391371" y="4271129"/>
            <a:ext cx="4724435" cy="1571636"/>
          </a:xfrm>
          <a:prstGeom prst="rect">
            <a:avLst/>
          </a:prstGeom>
        </p:spPr>
      </p:pic>
      <p:pic>
        <p:nvPicPr>
          <p:cNvPr id="7" name="图片 6"/>
          <p:cNvPicPr>
            <a:picLocks noChangeAspect="1"/>
          </p:cNvPicPr>
          <p:nvPr/>
        </p:nvPicPr>
        <p:blipFill>
          <a:blip r:embed="rId5"/>
          <a:stretch>
            <a:fillRect/>
          </a:stretch>
        </p:blipFill>
        <p:spPr>
          <a:xfrm>
            <a:off x="2877104" y="74613"/>
            <a:ext cx="6599036" cy="1450579"/>
          </a:xfrm>
          <a:prstGeom prst="rect">
            <a:avLst/>
          </a:prstGeom>
        </p:spPr>
      </p:pic>
    </p:spTree>
    <p:extLst>
      <p:ext uri="{BB962C8B-B14F-4D97-AF65-F5344CB8AC3E}">
        <p14:creationId xmlns:p14="http://schemas.microsoft.com/office/powerpoint/2010/main" val="147285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、分治策略</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分治策略是对于一个规模为</a:t>
            </a:r>
            <a:r>
              <a:rPr lang="en-US" altLang="zh-CN" dirty="0" smtClean="0"/>
              <a:t>n</a:t>
            </a:r>
            <a:r>
              <a:rPr lang="zh-CN" altLang="en-US" dirty="0" smtClean="0"/>
              <a:t>的问题，若该问题可以容易地解决时（比如在</a:t>
            </a:r>
            <a:r>
              <a:rPr lang="en-US" altLang="zh-CN" dirty="0" smtClean="0"/>
              <a:t>n</a:t>
            </a:r>
            <a:r>
              <a:rPr lang="zh-CN" altLang="en-US" dirty="0" smtClean="0"/>
              <a:t>很小的情况下）则直接解决， 否则，将其分解为</a:t>
            </a:r>
            <a:r>
              <a:rPr lang="en-US" altLang="zh-CN" dirty="0" smtClean="0"/>
              <a:t>k</a:t>
            </a:r>
            <a:r>
              <a:rPr lang="zh-CN" altLang="en-US" dirty="0" smtClean="0"/>
              <a:t>个规模较小的子问题，这些子问题互相独立且与原问题形式相同。</a:t>
            </a:r>
            <a:r>
              <a:rPr lang="en-US" altLang="zh-CN" dirty="0" smtClean="0"/>
              <a:t>  </a:t>
            </a:r>
            <a:r>
              <a:rPr lang="zh-CN" altLang="en-US" dirty="0" smtClean="0"/>
              <a:t>递归地解决所有子问题，然后将子问题的解合并即可得到原问题的解。</a:t>
            </a:r>
            <a:endParaRPr lang="en-US" altLang="zh-CN" dirty="0" smtClean="0"/>
          </a:p>
          <a:p>
            <a:pPr marL="0" indent="0">
              <a:buNone/>
            </a:pPr>
            <a:r>
              <a:rPr lang="zh-CN" altLang="en-US" dirty="0" smtClean="0"/>
              <a:t>分三步：</a:t>
            </a:r>
            <a:endParaRPr lang="en-US" altLang="zh-CN" dirty="0" smtClean="0"/>
          </a:p>
          <a:p>
            <a:pPr marL="0" indent="0">
              <a:buNone/>
            </a:pPr>
            <a:r>
              <a:rPr lang="en-US" altLang="zh-CN" dirty="0" smtClean="0"/>
              <a:t>1</a:t>
            </a:r>
            <a:r>
              <a:rPr lang="zh-CN" altLang="en-US" dirty="0" smtClean="0"/>
              <a:t>、分解 </a:t>
            </a:r>
            <a:r>
              <a:rPr lang="en-US" altLang="zh-CN" dirty="0" smtClean="0"/>
              <a:t>(Divide) </a:t>
            </a:r>
          </a:p>
          <a:p>
            <a:pPr marL="0" indent="0">
              <a:buNone/>
            </a:pPr>
            <a:r>
              <a:rPr lang="en-US" altLang="zh-CN" dirty="0" smtClean="0"/>
              <a:t>2</a:t>
            </a:r>
            <a:r>
              <a:rPr lang="zh-CN" altLang="en-US" dirty="0" smtClean="0"/>
              <a:t>、征服 </a:t>
            </a:r>
            <a:r>
              <a:rPr lang="en-US" altLang="zh-CN" dirty="0" smtClean="0"/>
              <a:t>(Conquer)</a:t>
            </a:r>
          </a:p>
          <a:p>
            <a:pPr marL="0" indent="0">
              <a:buNone/>
            </a:pPr>
            <a:r>
              <a:rPr lang="en-US" altLang="zh-CN" dirty="0" smtClean="0"/>
              <a:t>3</a:t>
            </a:r>
            <a:r>
              <a:rPr lang="zh-CN" altLang="en-US" dirty="0" smtClean="0"/>
              <a:t>、合并 </a:t>
            </a:r>
            <a:r>
              <a:rPr lang="en-US" altLang="zh-CN" dirty="0" smtClean="0"/>
              <a:t>(</a:t>
            </a:r>
            <a:r>
              <a:rPr lang="en-US" altLang="zh-CN" dirty="0" err="1" smtClean="0"/>
              <a:t>Combime</a:t>
            </a:r>
            <a:r>
              <a:rPr lang="en-US" altLang="zh-CN" dirty="0" smtClean="0"/>
              <a:t>)</a:t>
            </a:r>
            <a:endParaRPr lang="zh-CN" altLang="en-US" dirty="0"/>
          </a:p>
        </p:txBody>
      </p:sp>
    </p:spTree>
    <p:extLst>
      <p:ext uri="{BB962C8B-B14F-4D97-AF65-F5344CB8AC3E}">
        <p14:creationId xmlns:p14="http://schemas.microsoft.com/office/powerpoint/2010/main" val="172972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最大子数组</a:t>
            </a:r>
            <a:r>
              <a:rPr lang="en-US" altLang="zh-CN" dirty="0" smtClean="0"/>
              <a:t>(MCS)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buNone/>
                </a:pPr>
                <a:r>
                  <a:rPr lang="zh-CN" altLang="en-US" dirty="0" smtClean="0"/>
                  <a:t>问题定义：</a:t>
                </a:r>
                <a:endParaRPr lang="en-US" altLang="zh-CN" dirty="0" smtClean="0"/>
              </a:p>
              <a:p>
                <a:pPr marL="0" indent="0">
                  <a:buNone/>
                </a:pPr>
                <a:r>
                  <a:rPr lang="en-US" altLang="zh-CN" dirty="0"/>
                  <a:t> </a:t>
                </a:r>
                <a:r>
                  <a:rPr lang="en-US" altLang="zh-CN" dirty="0" smtClean="0"/>
                  <a:t>       </a:t>
                </a:r>
                <a:r>
                  <a:rPr lang="zh-CN" altLang="en-US" dirty="0" smtClean="0"/>
                  <a:t>最大子数组（</a:t>
                </a:r>
                <a:r>
                  <a:rPr lang="en-US" altLang="zh-CN" dirty="0" smtClean="0"/>
                  <a:t>max continuous subarray</a:t>
                </a:r>
                <a:r>
                  <a:rPr lang="zh-CN" altLang="en-US" dirty="0" smtClean="0"/>
                  <a:t>，</a:t>
                </a:r>
                <a:r>
                  <a:rPr lang="en-US" altLang="zh-CN" dirty="0" smtClean="0"/>
                  <a:t>MCS</a:t>
                </a:r>
                <a:r>
                  <a:rPr lang="zh-CN" altLang="en-US" dirty="0" smtClean="0"/>
                  <a:t>）问题可以定义为给定数组</a:t>
                </a:r>
                <a:r>
                  <a:rPr lang="en-US" altLang="zh-CN" dirty="0" smtClean="0"/>
                  <a:t>A[1,…,n],</a:t>
                </a:r>
                <a:r>
                  <a:rPr lang="zh-CN" altLang="en-US" dirty="0" smtClean="0"/>
                  <a:t>含</a:t>
                </a:r>
                <a:r>
                  <a:rPr lang="en-US" altLang="zh-CN" dirty="0" smtClean="0"/>
                  <a:t>n</a:t>
                </a:r>
                <a:r>
                  <a:rPr lang="zh-CN" altLang="en-US" dirty="0" smtClean="0"/>
                  <a:t>个实数，寻找</a:t>
                </a:r>
                <a:r>
                  <a:rPr lang="en-US" altLang="zh-CN" dirty="0" err="1" smtClean="0"/>
                  <a:t>i</a:t>
                </a:r>
                <a:r>
                  <a:rPr lang="zh-CN" altLang="en-US" dirty="0" smtClean="0"/>
                  <a:t>，</a:t>
                </a:r>
                <a:r>
                  <a:rPr lang="en-US" altLang="zh-CN" dirty="0" smtClean="0"/>
                  <a:t>j</a:t>
                </a:r>
                <a:r>
                  <a:rPr lang="zh-CN" altLang="en-US" dirty="0" smtClean="0"/>
                  <a:t>满足</a:t>
                </a:r>
                <a:r>
                  <a:rPr lang="en-US" altLang="zh-CN" dirty="0" smtClean="0"/>
                  <a:t>(1</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err="1" smtClean="0"/>
                  <a:t>i</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smtClean="0"/>
                  <a:t>j</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smtClean="0"/>
                  <a:t>n)</a:t>
                </a:r>
                <a:r>
                  <a:rPr lang="zh-CN" altLang="en-US" dirty="0" smtClean="0"/>
                  <a:t>使得子数组和 </a:t>
                </a:r>
                <a:r>
                  <a:rPr lang="en-US" altLang="zh-CN" dirty="0" smtClean="0"/>
                  <a:t>V(</a:t>
                </a:r>
                <a:r>
                  <a:rPr lang="en-US" altLang="zh-CN" dirty="0" err="1" smtClean="0"/>
                  <a:t>i,j</a:t>
                </a:r>
                <a:r>
                  <a:rPr lang="en-US" altLang="zh-CN" dirty="0" smtClean="0"/>
                  <a:t>)=</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𝑗</m:t>
                        </m:r>
                      </m:sup>
                      <m:e>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nary>
                    <m:r>
                      <a:rPr lang="zh-CN" altLang="en-US" i="1">
                        <a:latin typeface="Cambria Math" panose="02040503050406030204" pitchFamily="18" charset="0"/>
                      </a:rPr>
                      <m:t>最大</m:t>
                    </m:r>
                  </m:oMath>
                </a14:m>
                <a:r>
                  <a:rPr lang="zh-CN" altLang="en-US" dirty="0" smtClean="0"/>
                  <a:t>，求出最大值</a:t>
                </a:r>
                <a:r>
                  <a:rPr lang="en-US" altLang="zh-CN" dirty="0" smtClean="0"/>
                  <a:t>V(</a:t>
                </a:r>
                <a:r>
                  <a:rPr lang="en-US" altLang="zh-CN" dirty="0" err="1"/>
                  <a:t>i</a:t>
                </a:r>
                <a:r>
                  <a:rPr lang="en-US" altLang="zh-CN" dirty="0" err="1" smtClean="0"/>
                  <a:t>,j</a:t>
                </a:r>
                <a:r>
                  <a:rPr lang="en-US" altLang="zh-CN" dirty="0" smtClean="0"/>
                  <a:t>)</a:t>
                </a:r>
                <a:r>
                  <a:rPr lang="zh-CN" altLang="en-US" dirty="0" smtClean="0"/>
                  <a:t>。</a:t>
                </a:r>
                <a:endParaRPr lang="en-US" altLang="zh-CN" dirty="0" smtClean="0"/>
              </a:p>
              <a:p>
                <a:pPr marL="514350" indent="-514350">
                  <a:buAutoNum type="arabicParenR"/>
                </a:pPr>
                <a:r>
                  <a:rPr lang="zh-CN" altLang="en-US" dirty="0" smtClean="0"/>
                  <a:t>暴力求解法  遍历所有的</a:t>
                </a:r>
                <a:r>
                  <a:rPr lang="en-US" altLang="zh-CN" dirty="0" err="1" smtClean="0"/>
                  <a:t>i,j</a:t>
                </a:r>
                <a:r>
                  <a:rPr lang="zh-CN" altLang="en-US" dirty="0" smtClean="0"/>
                  <a:t>，并计算</a:t>
                </a:r>
                <a:r>
                  <a:rPr lang="en-US" altLang="zh-CN" dirty="0" smtClean="0"/>
                  <a:t>V(</a:t>
                </a:r>
                <a:r>
                  <a:rPr lang="en-US" altLang="zh-CN" dirty="0" err="1" smtClean="0"/>
                  <a:t>i,j</a:t>
                </a:r>
                <a:r>
                  <a:rPr lang="en-US" altLang="zh-CN" dirty="0" smtClean="0"/>
                  <a:t>),</a:t>
                </a:r>
                <a:r>
                  <a:rPr lang="zh-CN" altLang="en-US" dirty="0" smtClean="0"/>
                  <a:t>返回最大值。</a:t>
                </a:r>
                <a:endParaRPr lang="en-US" altLang="zh-CN" dirty="0" smtClean="0"/>
              </a:p>
              <a:p>
                <a:pPr marL="514350" indent="-514350">
                  <a:buAutoNum type="arabicParenR"/>
                </a:pPr>
                <a:r>
                  <a:rPr lang="zh-CN" altLang="en-US" dirty="0" smtClean="0"/>
                  <a:t>数据重用算法 在计算</a:t>
                </a:r>
                <a:r>
                  <a:rPr lang="en-US" altLang="zh-CN" dirty="0" smtClean="0"/>
                  <a:t>V(</a:t>
                </a:r>
                <a:r>
                  <a:rPr lang="en-US" altLang="zh-CN" dirty="0" err="1" smtClean="0"/>
                  <a:t>i,j</a:t>
                </a:r>
                <a:r>
                  <a:rPr lang="en-US" altLang="zh-CN" dirty="0" smtClean="0"/>
                  <a:t>)</a:t>
                </a:r>
                <a:r>
                  <a:rPr lang="zh-CN" altLang="en-US" dirty="0" smtClean="0"/>
                  <a:t>的过程中，可以利用公式</a:t>
                </a:r>
                <a:endParaRPr lang="en-US" altLang="zh-CN" dirty="0"/>
              </a:p>
              <a:p>
                <a:pPr marL="0" indent="0">
                  <a:buNone/>
                </a:pPr>
                <a:r>
                  <a:rPr lang="en-US" altLang="zh-CN" dirty="0" smtClean="0"/>
                  <a:t>      </a:t>
                </a:r>
                <a14:m>
                  <m:oMath xmlns:m="http://schemas.openxmlformats.org/officeDocument/2006/math">
                    <m:nary>
                      <m:naryPr>
                        <m:chr m:val="∑"/>
                        <m:limLoc m:val="subSup"/>
                        <m:ctrlPr>
                          <a:rPr lang="en-US" altLang="zh-CN" i="1" smtClean="0">
                            <a:latin typeface="Cambria Math" panose="02040503050406030204" pitchFamily="18" charset="0"/>
                          </a:rPr>
                        </m:ctrlPr>
                      </m:naryPr>
                      <m:sub>
                        <m:r>
                          <m:rPr>
                            <m:sty m:val="p"/>
                            <m:brk m:alnAt="25"/>
                          </m:rPr>
                          <a:rPr lang="en-US" altLang="zh-CN" i="1">
                            <a:latin typeface="Cambria Math" panose="02040503050406030204" pitchFamily="18" charset="0"/>
                          </a:rPr>
                          <m:t>x</m:t>
                        </m:r>
                        <m:r>
                          <a:rPr lang="en-US" altLang="zh-CN" b="0" i="1" smtClean="0">
                            <a:latin typeface="Cambria Math" panose="02040503050406030204" pitchFamily="18" charset="0"/>
                          </a:rPr>
                          <m:t>=</m:t>
                        </m:r>
                        <m:r>
                          <m:rPr>
                            <m:sty m:val="p"/>
                          </m:rPr>
                          <a:rPr lang="en-US" altLang="zh-CN" i="1">
                            <a:latin typeface="Cambria Math" panose="02040503050406030204" pitchFamily="18" charset="0"/>
                          </a:rPr>
                          <m:t>i</m:t>
                        </m:r>
                      </m:sub>
                      <m:sup>
                        <m:r>
                          <m:rPr>
                            <m:sty m:val="p"/>
                          </m:rPr>
                          <a:rPr lang="en-US" altLang="zh-CN" i="1">
                            <a:latin typeface="Cambria Math" panose="02040503050406030204" pitchFamily="18" charset="0"/>
                          </a:rPr>
                          <m:t>j</m:t>
                        </m:r>
                      </m:sup>
                      <m:e>
                        <m:r>
                          <a:rPr lang="en-US" altLang="zh-CN" b="0" i="1" smtClean="0">
                            <a:latin typeface="Cambria Math" panose="02040503050406030204" pitchFamily="18" charset="0"/>
                          </a:rPr>
                          <m:t>𝐴</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𝑉</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e>
                    </m:nary>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56" t="-1635" r="-991"/>
                </a:stretch>
              </a:blipFill>
            </p:spPr>
            <p:txBody>
              <a:bodyPr/>
              <a:lstStyle/>
              <a:p>
                <a:r>
                  <a:rPr lang="zh-CN" altLang="en-US">
                    <a:noFill/>
                  </a:rPr>
                  <a:t> </a:t>
                </a:r>
              </a:p>
            </p:txBody>
          </p:sp>
        </mc:Fallback>
      </mc:AlternateContent>
      <p:sp>
        <p:nvSpPr>
          <p:cNvPr id="4" name="矩形 3"/>
          <p:cNvSpPr/>
          <p:nvPr/>
        </p:nvSpPr>
        <p:spPr>
          <a:xfrm>
            <a:off x="10228001" y="3937839"/>
            <a:ext cx="1963999" cy="830997"/>
          </a:xfrm>
          <a:prstGeom prst="rect">
            <a:avLst/>
          </a:prstGeom>
        </p:spPr>
        <p:txBody>
          <a:bodyPr wrap="none">
            <a:spAutoFit/>
          </a:bodyPr>
          <a:lstStyle/>
          <a:p>
            <a:r>
              <a:rPr lang="en-US" altLang="zh-CN" sz="2400" dirty="0" smtClean="0">
                <a:latin typeface="Times New Roman" panose="02020603050405020304" pitchFamily="18" charset="0"/>
                <a:cs typeface="Times New Roman" panose="02020603050405020304" pitchFamily="18" charset="0"/>
              </a:rPr>
              <a:t>O(n</a:t>
            </a:r>
            <a:r>
              <a:rPr lang="en-US" altLang="zh-CN" sz="2400" baseline="30000" dirty="0" smtClean="0">
                <a:latin typeface="Times New Roman" panose="02020603050405020304" pitchFamily="18" charset="0"/>
                <a:cs typeface="Times New Roman" panose="02020603050405020304" pitchFamily="18" charset="0"/>
              </a:rPr>
              <a:t>3</a:t>
            </a:r>
            <a:r>
              <a:rPr lang="en-US" altLang="zh-CN" sz="2400" dirty="0" smtClean="0">
                <a:latin typeface="Times New Roman" panose="02020603050405020304" pitchFamily="18" charset="0"/>
                <a:cs typeface="Times New Roman" panose="02020603050405020304" pitchFamily="18" charset="0"/>
              </a:rPr>
              <a:t>) or O(n</a:t>
            </a:r>
            <a:r>
              <a:rPr lang="en-US" altLang="zh-CN" sz="2400" baseline="30000" dirty="0" smtClean="0">
                <a:latin typeface="Times New Roman" panose="02020603050405020304" pitchFamily="18" charset="0"/>
                <a:cs typeface="Times New Roman" panose="02020603050405020304" pitchFamily="18" charset="0"/>
              </a:rPr>
              <a:t>2</a:t>
            </a:r>
            <a:r>
              <a:rPr lang="en-US" altLang="zh-CN" sz="2400" dirty="0" smtClean="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92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数据重用算法的伪代码</a:t>
            </a:r>
            <a:endParaRPr lang="zh-CN" altLang="en-US" dirty="0"/>
          </a:p>
        </p:txBody>
      </p:sp>
      <p:sp>
        <p:nvSpPr>
          <p:cNvPr id="3" name="内容占位符 2"/>
          <p:cNvSpPr>
            <a:spLocks noGrp="1"/>
          </p:cNvSpPr>
          <p:nvPr>
            <p:ph idx="1"/>
          </p:nvPr>
        </p:nvSpPr>
        <p:spPr/>
        <p:txBody>
          <a:bodyPr/>
          <a:lstStyle/>
          <a:p>
            <a:pPr marL="0" indent="0">
              <a:buNone/>
            </a:pPr>
            <a:endParaRPr lang="en-US" altLang="zh-CN"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1152834" y="1764890"/>
            <a:ext cx="4009929" cy="4941723"/>
          </a:xfrm>
          <a:prstGeom prst="rect">
            <a:avLst/>
          </a:prstGeom>
        </p:spPr>
      </p:pic>
    </p:spTree>
    <p:extLst>
      <p:ext uri="{BB962C8B-B14F-4D97-AF65-F5344CB8AC3E}">
        <p14:creationId xmlns:p14="http://schemas.microsoft.com/office/powerpoint/2010/main" val="707110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分治策略方法</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如果将数组</a:t>
            </a:r>
            <a:r>
              <a:rPr lang="en-US" altLang="zh-CN" dirty="0"/>
              <a:t>A[1, … </a:t>
            </a:r>
            <a:r>
              <a:rPr lang="en-US" altLang="zh-CN" dirty="0" smtClean="0"/>
              <a:t>,n] </a:t>
            </a:r>
            <a:r>
              <a:rPr lang="zh-CN" altLang="en-US" dirty="0" smtClean="0"/>
              <a:t>分解为</a:t>
            </a:r>
            <a:r>
              <a:rPr lang="en-US" altLang="zh-CN" dirty="0" smtClean="0"/>
              <a:t>A[1, … ,m] </a:t>
            </a:r>
            <a:r>
              <a:rPr lang="zh-CN" altLang="en-US" dirty="0" smtClean="0"/>
              <a:t>和 </a:t>
            </a:r>
            <a:r>
              <a:rPr lang="en-US" altLang="zh-CN" dirty="0" smtClean="0"/>
              <a:t>A[m+1, … , n]</a:t>
            </a:r>
            <a:r>
              <a:rPr lang="zh-CN" altLang="en-US" dirty="0" smtClean="0"/>
              <a:t>，则</a:t>
            </a:r>
            <a:r>
              <a:rPr lang="en-US" altLang="zh-CN" dirty="0" smtClean="0"/>
              <a:t>MCS</a:t>
            </a:r>
            <a:r>
              <a:rPr lang="zh-CN" altLang="en-US" dirty="0" smtClean="0"/>
              <a:t>的值</a:t>
            </a:r>
            <a:r>
              <a:rPr lang="en-US" altLang="zh-CN" dirty="0" smtClean="0"/>
              <a:t>S = </a:t>
            </a:r>
            <a:r>
              <a:rPr lang="en-US" altLang="zh-CN" dirty="0"/>
              <a:t>max{S</a:t>
            </a:r>
            <a:r>
              <a:rPr lang="en-US" altLang="zh-CN" baseline="-25000" dirty="0"/>
              <a:t>1</a:t>
            </a:r>
            <a:r>
              <a:rPr lang="en-US" altLang="zh-CN" dirty="0"/>
              <a:t>,S</a:t>
            </a:r>
            <a:r>
              <a:rPr lang="en-US" altLang="zh-CN" baseline="-25000" dirty="0"/>
              <a:t>2</a:t>
            </a:r>
            <a:r>
              <a:rPr lang="en-US" altLang="zh-CN" dirty="0"/>
              <a:t>,A</a:t>
            </a:r>
            <a:r>
              <a:rPr lang="en-US" altLang="zh-CN" dirty="0" smtClean="0"/>
              <a:t>}</a:t>
            </a:r>
            <a:r>
              <a:rPr lang="zh-CN" altLang="en-US" dirty="0" smtClean="0"/>
              <a:t>必为以下三者之一：</a:t>
            </a:r>
            <a:endParaRPr lang="en-US" altLang="zh-CN" dirty="0" smtClean="0"/>
          </a:p>
          <a:p>
            <a:pPr marL="0" indent="0">
              <a:buNone/>
            </a:pPr>
            <a:r>
              <a:rPr lang="en-US" altLang="zh-CN" dirty="0" smtClean="0"/>
              <a:t>  (1)  S</a:t>
            </a:r>
            <a:r>
              <a:rPr lang="en-US" altLang="zh-CN" baseline="-25000" dirty="0"/>
              <a:t>1</a:t>
            </a:r>
            <a:r>
              <a:rPr lang="en-US" altLang="zh-CN" dirty="0" smtClean="0"/>
              <a:t>: A[1 … m]</a:t>
            </a:r>
            <a:r>
              <a:rPr lang="zh-CN" altLang="en-US" dirty="0" smtClean="0"/>
              <a:t>的</a:t>
            </a:r>
            <a:r>
              <a:rPr lang="en-US" altLang="zh-CN" dirty="0" smtClean="0"/>
              <a:t>MCS;</a:t>
            </a:r>
          </a:p>
          <a:p>
            <a:pPr marL="0" indent="0">
              <a:buNone/>
            </a:pPr>
            <a:r>
              <a:rPr lang="en-US" altLang="zh-CN" dirty="0"/>
              <a:t> </a:t>
            </a:r>
            <a:r>
              <a:rPr lang="en-US" altLang="zh-CN" dirty="0" smtClean="0"/>
              <a:t> (2)  S</a:t>
            </a:r>
            <a:r>
              <a:rPr lang="en-US" altLang="zh-CN" baseline="-25000" dirty="0"/>
              <a:t>2</a:t>
            </a:r>
            <a:r>
              <a:rPr lang="en-US" altLang="zh-CN" dirty="0" smtClean="0"/>
              <a:t>: A[m+1 </a:t>
            </a:r>
            <a:r>
              <a:rPr lang="en-US" altLang="zh-CN" dirty="0"/>
              <a:t>… </a:t>
            </a:r>
            <a:r>
              <a:rPr lang="en-US" altLang="zh-CN" dirty="0" smtClean="0"/>
              <a:t>n]</a:t>
            </a:r>
            <a:r>
              <a:rPr lang="zh-CN" altLang="en-US" dirty="0"/>
              <a:t>的</a:t>
            </a:r>
            <a:r>
              <a:rPr lang="en-US" altLang="zh-CN" dirty="0"/>
              <a:t>MCS</a:t>
            </a:r>
            <a:r>
              <a:rPr lang="en-US" altLang="zh-CN" dirty="0" smtClean="0"/>
              <a:t>;</a:t>
            </a:r>
          </a:p>
          <a:p>
            <a:pPr marL="0" indent="0">
              <a:buNone/>
            </a:pPr>
            <a:r>
              <a:rPr lang="en-US" altLang="zh-CN" dirty="0"/>
              <a:t> </a:t>
            </a:r>
            <a:r>
              <a:rPr lang="en-US" altLang="zh-CN" dirty="0" smtClean="0"/>
              <a:t> (3)  A</a:t>
            </a:r>
            <a:r>
              <a:rPr lang="zh-CN" altLang="en-US" dirty="0" smtClean="0"/>
              <a:t>：包含</a:t>
            </a:r>
            <a:r>
              <a:rPr lang="en-US" altLang="zh-CN" dirty="0" smtClean="0"/>
              <a:t>A[m+1]</a:t>
            </a:r>
            <a:r>
              <a:rPr lang="zh-CN" altLang="en-US" dirty="0" smtClean="0"/>
              <a:t>和</a:t>
            </a:r>
            <a:r>
              <a:rPr lang="en-US" altLang="zh-CN" dirty="0" smtClean="0"/>
              <a:t>A[m]</a:t>
            </a:r>
            <a:r>
              <a:rPr lang="zh-CN" altLang="en-US" dirty="0" smtClean="0"/>
              <a:t>的</a:t>
            </a:r>
            <a:r>
              <a:rPr lang="en-US" altLang="zh-CN" dirty="0" smtClean="0"/>
              <a:t>MCS</a:t>
            </a:r>
            <a:r>
              <a:rPr lang="zh-CN" altLang="en-US" dirty="0" smtClean="0"/>
              <a:t>。</a:t>
            </a:r>
            <a:endParaRPr lang="en-US" altLang="zh-CN" dirty="0" smtClean="0"/>
          </a:p>
          <a:p>
            <a:pPr marL="0" indent="0">
              <a:buNone/>
            </a:pPr>
            <a:r>
              <a:rPr lang="en-US" altLang="zh-CN" dirty="0"/>
              <a:t> </a:t>
            </a:r>
            <a:r>
              <a:rPr lang="en-US" altLang="zh-CN" dirty="0" smtClean="0"/>
              <a:t>   </a:t>
            </a:r>
            <a:r>
              <a:rPr lang="zh-CN" altLang="en-US" dirty="0" smtClean="0"/>
              <a:t>设</a:t>
            </a:r>
            <a:r>
              <a:rPr lang="en-US" altLang="zh-CN" dirty="0" smtClean="0"/>
              <a:t>m=[(n+1)/2],</a:t>
            </a:r>
            <a:r>
              <a:rPr lang="zh-CN" altLang="en-US" dirty="0" smtClean="0"/>
              <a:t>计算</a:t>
            </a:r>
            <a:r>
              <a:rPr lang="en-US" altLang="zh-CN" dirty="0" smtClean="0"/>
              <a:t>A</a:t>
            </a:r>
            <a:r>
              <a:rPr lang="zh-CN" altLang="en-US" dirty="0" smtClean="0"/>
              <a:t>可以分别计算</a:t>
            </a:r>
            <a:r>
              <a:rPr lang="en-US" altLang="zh-CN" dirty="0" smtClean="0"/>
              <a:t>A</a:t>
            </a:r>
            <a:r>
              <a:rPr lang="en-US" altLang="zh-CN" baseline="-25000" dirty="0" smtClean="0"/>
              <a:t>1</a:t>
            </a:r>
            <a:r>
              <a:rPr lang="en-US" altLang="zh-CN" dirty="0" smtClean="0"/>
              <a:t>(</a:t>
            </a:r>
            <a:r>
              <a:rPr lang="zh-CN" altLang="en-US" dirty="0" smtClean="0"/>
              <a:t>以</a:t>
            </a:r>
            <a:r>
              <a:rPr lang="en-US" altLang="zh-CN" dirty="0" smtClean="0"/>
              <a:t>A[m]</a:t>
            </a:r>
            <a:r>
              <a:rPr lang="zh-CN" altLang="en-US" dirty="0" smtClean="0"/>
              <a:t>结尾的</a:t>
            </a:r>
            <a:r>
              <a:rPr lang="en-US" altLang="zh-CN" dirty="0" smtClean="0"/>
              <a:t>MCS)</a:t>
            </a:r>
            <a:r>
              <a:rPr lang="zh-CN" altLang="en-US" dirty="0" smtClean="0"/>
              <a:t>和</a:t>
            </a:r>
            <a:r>
              <a:rPr lang="en-US" altLang="zh-CN" dirty="0" smtClean="0"/>
              <a:t>A</a:t>
            </a:r>
            <a:r>
              <a:rPr lang="en-US" altLang="zh-CN" baseline="-25000" dirty="0" smtClean="0"/>
              <a:t>2</a:t>
            </a:r>
            <a:r>
              <a:rPr lang="en-US" altLang="zh-CN" dirty="0" smtClean="0"/>
              <a:t>(</a:t>
            </a:r>
            <a:r>
              <a:rPr lang="zh-CN" altLang="en-US" dirty="0"/>
              <a:t>以</a:t>
            </a:r>
            <a:r>
              <a:rPr lang="en-US" altLang="zh-CN" dirty="0" smtClean="0"/>
              <a:t>A[m+1]</a:t>
            </a:r>
            <a:r>
              <a:rPr lang="zh-CN" altLang="en-US" dirty="0" smtClean="0"/>
              <a:t>为起始的</a:t>
            </a:r>
            <a:r>
              <a:rPr lang="en-US" altLang="zh-CN" dirty="0"/>
              <a:t>MCS</a:t>
            </a:r>
            <a:r>
              <a:rPr lang="en-US" altLang="zh-CN" dirty="0" smtClean="0"/>
              <a:t>)</a:t>
            </a:r>
            <a:r>
              <a:rPr lang="zh-CN" altLang="en-US" dirty="0" smtClean="0"/>
              <a:t>，</a:t>
            </a:r>
            <a:r>
              <a:rPr lang="en-US" altLang="zh-CN" dirty="0" smtClean="0"/>
              <a:t>A=A</a:t>
            </a:r>
            <a:r>
              <a:rPr lang="en-US" altLang="zh-CN" baseline="-25000" dirty="0" smtClean="0"/>
              <a:t>1</a:t>
            </a:r>
            <a:r>
              <a:rPr lang="en-US" altLang="zh-CN" dirty="0" smtClean="0"/>
              <a:t>+A</a:t>
            </a:r>
            <a:r>
              <a:rPr lang="en-US" altLang="zh-CN" baseline="-25000" dirty="0" smtClean="0"/>
              <a:t>2</a:t>
            </a:r>
            <a:r>
              <a:rPr lang="zh-CN" altLang="en-US" dirty="0" smtClean="0"/>
              <a:t>。</a:t>
            </a:r>
            <a:endParaRPr lang="en-US" altLang="zh-CN" dirty="0" smtClean="0"/>
          </a:p>
          <a:p>
            <a:pPr marL="0" indent="0">
              <a:buNone/>
            </a:pPr>
            <a:r>
              <a:rPr lang="zh-CN" altLang="en-US" dirty="0" smtClean="0"/>
              <a:t>具体：</a:t>
            </a:r>
            <a:r>
              <a:rPr lang="en-US" altLang="zh-CN" dirty="0" smtClean="0"/>
              <a:t>P</a:t>
            </a:r>
            <a:r>
              <a:rPr lang="en-US" altLang="zh-CN" baseline="-25000" dirty="0" smtClean="0"/>
              <a:t>39 +40</a:t>
            </a:r>
            <a:endParaRPr lang="zh-CN" altLang="en-US" baseline="-25000" dirty="0"/>
          </a:p>
        </p:txBody>
      </p:sp>
    </p:spTree>
    <p:extLst>
      <p:ext uri="{BB962C8B-B14F-4D97-AF65-F5344CB8AC3E}">
        <p14:creationId xmlns:p14="http://schemas.microsoft.com/office/powerpoint/2010/main" val="301250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分治算法其他应用</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en-US" dirty="0" smtClean="0"/>
              <a:t>归并排序</a:t>
            </a:r>
            <a:endParaRPr lang="en-US" altLang="zh-CN" dirty="0" smtClean="0"/>
          </a:p>
          <a:p>
            <a:r>
              <a:rPr lang="en-US" altLang="zh-CN" dirty="0"/>
              <a:t> </a:t>
            </a:r>
            <a:r>
              <a:rPr lang="zh-CN" altLang="en-US" dirty="0"/>
              <a:t>快速</a:t>
            </a:r>
            <a:r>
              <a:rPr lang="zh-CN" altLang="en-US" dirty="0" smtClean="0"/>
              <a:t>排序</a:t>
            </a:r>
            <a:endParaRPr lang="en-US" altLang="zh-CN" dirty="0" smtClean="0"/>
          </a:p>
          <a:p>
            <a:r>
              <a:rPr lang="en-US" altLang="zh-CN" dirty="0"/>
              <a:t> </a:t>
            </a:r>
            <a:r>
              <a:rPr lang="zh-CN" altLang="en-US" dirty="0" smtClean="0"/>
              <a:t>汉诺塔问题</a:t>
            </a:r>
            <a:endParaRPr lang="en-US" altLang="zh-CN" dirty="0" smtClean="0"/>
          </a:p>
          <a:p>
            <a:r>
              <a:rPr lang="en-US" altLang="zh-CN" dirty="0"/>
              <a:t> </a:t>
            </a:r>
            <a:r>
              <a:rPr lang="zh-CN" altLang="en-US" dirty="0" smtClean="0"/>
              <a:t>统计逆排序数</a:t>
            </a:r>
            <a:endParaRPr lang="en-US" altLang="zh-CN" dirty="0" smtClean="0"/>
          </a:p>
          <a:p>
            <a:endParaRPr lang="en-US" altLang="zh-CN" dirty="0"/>
          </a:p>
          <a:p>
            <a:pPr marL="0" indent="0">
              <a:buNone/>
            </a:pPr>
            <a:r>
              <a:rPr lang="zh-CN" altLang="en-US" dirty="0" smtClean="0"/>
              <a:t>参考代码：</a:t>
            </a:r>
            <a:endParaRPr lang="en-US" altLang="zh-CN" dirty="0" smtClean="0"/>
          </a:p>
          <a:p>
            <a:pPr marL="0" indent="0">
              <a:buNone/>
            </a:pPr>
            <a:r>
              <a:rPr lang="en-US" altLang="zh-CN" dirty="0">
                <a:hlinkClick r:id="rId2"/>
              </a:rPr>
              <a:t>Python </a:t>
            </a:r>
            <a:r>
              <a:rPr lang="zh-CN" altLang="en-US" dirty="0">
                <a:hlinkClick r:id="rId2"/>
              </a:rPr>
              <a:t>算法高级篇：分治算法的原理与应用</a:t>
            </a:r>
            <a:r>
              <a:rPr lang="en-US" altLang="zh-CN" dirty="0">
                <a:hlinkClick r:id="rId2"/>
              </a:rPr>
              <a:t>-</a:t>
            </a:r>
            <a:r>
              <a:rPr lang="zh-CN" altLang="en-US" dirty="0">
                <a:hlinkClick r:id="rId2"/>
              </a:rPr>
              <a:t>腾讯云开发者社区</a:t>
            </a:r>
            <a:r>
              <a:rPr lang="en-US" altLang="zh-CN" dirty="0">
                <a:hlinkClick r:id="rId2"/>
              </a:rPr>
              <a:t>-</a:t>
            </a:r>
            <a:r>
              <a:rPr lang="zh-CN" altLang="en-US" dirty="0">
                <a:hlinkClick r:id="rId2"/>
              </a:rPr>
              <a:t>腾讯云 </a:t>
            </a:r>
            <a:r>
              <a:rPr lang="en-US" altLang="zh-CN" dirty="0">
                <a:hlinkClick r:id="rId2"/>
              </a:rPr>
              <a:t>(tencent.com)</a:t>
            </a:r>
            <a:endParaRPr lang="zh-CN" altLang="en-US" dirty="0"/>
          </a:p>
        </p:txBody>
      </p:sp>
    </p:spTree>
    <p:extLst>
      <p:ext uri="{BB962C8B-B14F-4D97-AF65-F5344CB8AC3E}">
        <p14:creationId xmlns:p14="http://schemas.microsoft.com/office/powerpoint/2010/main" val="63906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、排序算法</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2"/>
          <a:stretch>
            <a:fillRect/>
          </a:stretch>
        </p:blipFill>
        <p:spPr>
          <a:xfrm>
            <a:off x="2987596" y="2118637"/>
            <a:ext cx="6869277" cy="4115186"/>
          </a:xfrm>
          <a:prstGeom prst="rect">
            <a:avLst/>
          </a:prstGeom>
        </p:spPr>
      </p:pic>
    </p:spTree>
    <p:extLst>
      <p:ext uri="{BB962C8B-B14F-4D97-AF65-F5344CB8AC3E}">
        <p14:creationId xmlns:p14="http://schemas.microsoft.com/office/powerpoint/2010/main" val="213950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930303" y="303683"/>
            <a:ext cx="10591137" cy="6475693"/>
          </a:xfrm>
          <a:prstGeom prst="rect">
            <a:avLst/>
          </a:prstGeom>
        </p:spPr>
      </p:pic>
    </p:spTree>
    <p:extLst>
      <p:ext uri="{BB962C8B-B14F-4D97-AF65-F5344CB8AC3E}">
        <p14:creationId xmlns:p14="http://schemas.microsoft.com/office/powerpoint/2010/main" val="9889095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3.1 </a:t>
            </a:r>
            <a:r>
              <a:rPr lang="zh-CN" altLang="en-US" dirty="0" smtClean="0"/>
              <a:t>快速排序</a:t>
            </a:r>
            <a:endParaRPr lang="zh-CN" altLang="en-US" dirty="0"/>
          </a:p>
        </p:txBody>
      </p:sp>
      <p:sp>
        <p:nvSpPr>
          <p:cNvPr id="3" name="内容占位符 2"/>
          <p:cNvSpPr>
            <a:spLocks noGrp="1"/>
          </p:cNvSpPr>
          <p:nvPr>
            <p:ph idx="1"/>
          </p:nvPr>
        </p:nvSpPr>
        <p:spPr/>
        <p:txBody>
          <a:bodyPr/>
          <a:lstStyle/>
          <a:p>
            <a:r>
              <a:rPr lang="zh-CN" altLang="en-US" dirty="0" smtClean="0"/>
              <a:t>使用了分治的思想，平均性能非常好，在实际应用中是一个较好的选择，期望时间复杂度为</a:t>
            </a:r>
            <a:r>
              <a:rPr lang="en-US" altLang="zh-CN" dirty="0" smtClean="0"/>
              <a:t>O(</a:t>
            </a:r>
            <a:r>
              <a:rPr lang="en-US" altLang="zh-CN" dirty="0" err="1" smtClean="0"/>
              <a:t>nlogn</a:t>
            </a:r>
            <a:r>
              <a:rPr lang="en-US" altLang="zh-CN" dirty="0" smtClean="0"/>
              <a:t>)</a:t>
            </a:r>
            <a:r>
              <a:rPr lang="zh-CN" altLang="en-US" dirty="0" smtClean="0"/>
              <a:t>。</a:t>
            </a:r>
            <a:endParaRPr lang="en-US" altLang="zh-CN" dirty="0" smtClean="0"/>
          </a:p>
          <a:p>
            <a:endParaRPr lang="en-US" altLang="zh-CN" dirty="0" smtClean="0"/>
          </a:p>
          <a:p>
            <a:r>
              <a:rPr lang="zh-CN" altLang="en-US" dirty="0"/>
              <a:t>基于分治法，在待排序</a:t>
            </a:r>
            <a:r>
              <a:rPr lang="en-US" altLang="zh-CN" dirty="0"/>
              <a:t>L[1…n]</a:t>
            </a:r>
            <a:r>
              <a:rPr lang="zh-CN" altLang="en-US" dirty="0"/>
              <a:t>中人取一个元素</a:t>
            </a:r>
            <a:r>
              <a:rPr lang="en-US" altLang="zh-CN" dirty="0"/>
              <a:t>pivot</a:t>
            </a:r>
            <a:r>
              <a:rPr lang="zh-CN" altLang="en-US" dirty="0"/>
              <a:t>基准（通常取首元素），通过一趟排序将待排序表分为独立的两部分</a:t>
            </a:r>
            <a:r>
              <a:rPr lang="en-US" altLang="zh-CN" dirty="0"/>
              <a:t>L[1…k-1]</a:t>
            </a:r>
            <a:r>
              <a:rPr lang="zh-CN" altLang="en-US" dirty="0"/>
              <a:t>和</a:t>
            </a:r>
            <a:r>
              <a:rPr lang="en-US" altLang="zh-CN" dirty="0"/>
              <a:t>L[k+1…n]</a:t>
            </a:r>
            <a:r>
              <a:rPr lang="zh-CN" altLang="en-US" dirty="0"/>
              <a:t>，使得</a:t>
            </a:r>
            <a:r>
              <a:rPr lang="en-US" altLang="zh-CN" dirty="0"/>
              <a:t>L[1…k-1]</a:t>
            </a:r>
            <a:r>
              <a:rPr lang="zh-CN" altLang="en-US" dirty="0"/>
              <a:t>中的所有元素小于</a:t>
            </a:r>
            <a:r>
              <a:rPr lang="en-US" altLang="zh-CN" dirty="0"/>
              <a:t>pivot</a:t>
            </a:r>
            <a:r>
              <a:rPr lang="zh-CN" altLang="en-US" dirty="0"/>
              <a:t>，</a:t>
            </a:r>
            <a:r>
              <a:rPr lang="en-US" altLang="zh-CN" dirty="0"/>
              <a:t>L[k+1…n]</a:t>
            </a:r>
            <a:r>
              <a:rPr lang="zh-CN" altLang="en-US" dirty="0"/>
              <a:t>中的所有元素都大于等于</a:t>
            </a:r>
            <a:r>
              <a:rPr lang="en-US" altLang="zh-CN" dirty="0"/>
              <a:t>pivot</a:t>
            </a:r>
            <a:r>
              <a:rPr lang="zh-CN" altLang="en-US" dirty="0"/>
              <a:t>，则</a:t>
            </a:r>
            <a:r>
              <a:rPr lang="en-US" altLang="zh-CN" dirty="0"/>
              <a:t>pivot</a:t>
            </a:r>
            <a:r>
              <a:rPr lang="zh-CN" altLang="en-US" dirty="0"/>
              <a:t>放在了其最终位置</a:t>
            </a:r>
            <a:r>
              <a:rPr lang="en-US" altLang="zh-CN" dirty="0"/>
              <a:t>L[k]</a:t>
            </a:r>
            <a:r>
              <a:rPr lang="zh-CN" altLang="en-US" dirty="0"/>
              <a:t>上，这个过程称为一趟快速排序。然后分别递归地对两个子表重复上述过程，直至每部分内只有一个元素或空为止。</a:t>
            </a:r>
          </a:p>
        </p:txBody>
      </p:sp>
    </p:spTree>
    <p:extLst>
      <p:ext uri="{BB962C8B-B14F-4D97-AF65-F5344CB8AC3E}">
        <p14:creationId xmlns:p14="http://schemas.microsoft.com/office/powerpoint/2010/main" val="137979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2, 8, 7, 1, 3, 5, 6, 4</a:t>
            </a:r>
            <a:endParaRPr lang="zh-CN" altLang="en-US" dirty="0"/>
          </a:p>
        </p:txBody>
      </p:sp>
      <p:sp>
        <p:nvSpPr>
          <p:cNvPr id="3" name="内容占位符 2"/>
          <p:cNvSpPr>
            <a:spLocks noGrp="1"/>
          </p:cNvSpPr>
          <p:nvPr>
            <p:ph idx="1"/>
          </p:nvPr>
        </p:nvSpPr>
        <p:spPr>
          <a:xfrm>
            <a:off x="280220" y="1764890"/>
            <a:ext cx="4810626" cy="4852219"/>
          </a:xfrm>
        </p:spPr>
        <p:txBody>
          <a:bodyPr>
            <a:normAutofit lnSpcReduction="10000"/>
          </a:bodyPr>
          <a:lstStyle/>
          <a:p>
            <a:pPr marL="0" indent="0">
              <a:buNone/>
            </a:pPr>
            <a:r>
              <a:rPr lang="en-US" altLang="zh-CN" dirty="0" smtClean="0"/>
              <a:t>  </a:t>
            </a:r>
            <a:r>
              <a:rPr lang="en-US" altLang="zh-CN" dirty="0" smtClean="0">
                <a:solidFill>
                  <a:srgbClr val="FF0000"/>
                </a:solidFill>
              </a:rPr>
              <a:t>2</a:t>
            </a:r>
            <a:r>
              <a:rPr lang="en-US" altLang="zh-CN" dirty="0" smtClean="0"/>
              <a:t>   8    7   1   3   5   6   4</a:t>
            </a:r>
          </a:p>
          <a:p>
            <a:pPr marL="0" indent="0">
              <a:buNone/>
            </a:pPr>
            <a:r>
              <a:rPr lang="en-US" altLang="zh-CN" dirty="0">
                <a:solidFill>
                  <a:srgbClr val="FF0000"/>
                </a:solidFill>
              </a:rPr>
              <a:t> </a:t>
            </a:r>
            <a:r>
              <a:rPr lang="en-US" altLang="zh-CN" dirty="0" smtClean="0">
                <a:solidFill>
                  <a:srgbClr val="FF0000"/>
                </a:solidFill>
              </a:rPr>
              <a:t> </a:t>
            </a:r>
            <a:r>
              <a:rPr lang="en-US" altLang="zh-CN" dirty="0" err="1" smtClean="0">
                <a:solidFill>
                  <a:srgbClr val="FF0000"/>
                </a:solidFill>
              </a:rPr>
              <a:t>i</a:t>
            </a:r>
            <a:r>
              <a:rPr lang="en-US" altLang="zh-CN" dirty="0" smtClean="0">
                <a:solidFill>
                  <a:srgbClr val="FF0000"/>
                </a:solidFill>
              </a:rPr>
              <a:t>                                   j</a:t>
            </a:r>
          </a:p>
          <a:p>
            <a:pPr marL="0" indent="0">
              <a:buNone/>
            </a:pPr>
            <a:r>
              <a:rPr lang="en-US" altLang="zh-CN" dirty="0"/>
              <a:t> </a:t>
            </a:r>
            <a:r>
              <a:rPr lang="en-US" altLang="zh-CN" dirty="0">
                <a:solidFill>
                  <a:srgbClr val="FF0000"/>
                </a:solidFill>
              </a:rPr>
              <a:t>2</a:t>
            </a:r>
            <a:r>
              <a:rPr lang="en-US" altLang="zh-CN" dirty="0"/>
              <a:t>   8    7   1   3   5   6   4</a:t>
            </a:r>
          </a:p>
          <a:p>
            <a:pPr marL="0" indent="0">
              <a:buNone/>
            </a:pPr>
            <a:r>
              <a:rPr lang="en-US" altLang="zh-CN" dirty="0">
                <a:solidFill>
                  <a:srgbClr val="FF0000"/>
                </a:solidFill>
              </a:rPr>
              <a:t>  </a:t>
            </a:r>
            <a:r>
              <a:rPr lang="en-US" altLang="zh-CN" dirty="0" err="1">
                <a:solidFill>
                  <a:srgbClr val="FF0000"/>
                </a:solidFill>
              </a:rPr>
              <a:t>i</a:t>
            </a:r>
            <a:r>
              <a:rPr lang="en-US" altLang="zh-CN" dirty="0">
                <a:solidFill>
                  <a:srgbClr val="FF0000"/>
                </a:solidFill>
              </a:rPr>
              <a:t>           </a:t>
            </a:r>
            <a:r>
              <a:rPr lang="en-US" altLang="zh-CN" dirty="0" smtClean="0">
                <a:solidFill>
                  <a:srgbClr val="FF0000"/>
                </a:solidFill>
              </a:rPr>
              <a:t>   j</a:t>
            </a:r>
          </a:p>
          <a:p>
            <a:pPr marL="0" indent="0">
              <a:buNone/>
            </a:pPr>
            <a:r>
              <a:rPr lang="en-US" altLang="zh-CN" dirty="0" smtClean="0">
                <a:solidFill>
                  <a:srgbClr val="FF0000"/>
                </a:solidFill>
              </a:rPr>
              <a:t> 1</a:t>
            </a:r>
            <a:r>
              <a:rPr lang="en-US" altLang="zh-CN" dirty="0" smtClean="0"/>
              <a:t>   </a:t>
            </a:r>
            <a:r>
              <a:rPr lang="en-US" altLang="zh-CN" dirty="0"/>
              <a:t>8    7   </a:t>
            </a:r>
            <a:r>
              <a:rPr lang="en-US" altLang="zh-CN" dirty="0" smtClean="0"/>
              <a:t>2   </a:t>
            </a:r>
            <a:r>
              <a:rPr lang="en-US" altLang="zh-CN" dirty="0"/>
              <a:t>3   5   6   4</a:t>
            </a:r>
          </a:p>
          <a:p>
            <a:pPr marL="0" indent="0">
              <a:buNone/>
            </a:pPr>
            <a:r>
              <a:rPr lang="en-US" altLang="zh-CN" dirty="0" smtClean="0">
                <a:solidFill>
                  <a:srgbClr val="FF0000"/>
                </a:solidFill>
              </a:rPr>
              <a:t>      </a:t>
            </a:r>
            <a:r>
              <a:rPr lang="en-US" altLang="zh-CN" dirty="0" err="1" smtClean="0">
                <a:solidFill>
                  <a:srgbClr val="FF0000"/>
                </a:solidFill>
              </a:rPr>
              <a:t>i</a:t>
            </a:r>
            <a:r>
              <a:rPr lang="en-US" altLang="zh-CN" dirty="0" smtClean="0">
                <a:solidFill>
                  <a:srgbClr val="FF0000"/>
                </a:solidFill>
              </a:rPr>
              <a:t>          </a:t>
            </a:r>
            <a:r>
              <a:rPr lang="en-US" altLang="zh-CN" dirty="0">
                <a:solidFill>
                  <a:srgbClr val="FF0000"/>
                </a:solidFill>
              </a:rPr>
              <a:t>j</a:t>
            </a:r>
          </a:p>
          <a:p>
            <a:pPr marL="0" indent="0">
              <a:buNone/>
            </a:pPr>
            <a:r>
              <a:rPr lang="en-US" altLang="zh-CN" dirty="0">
                <a:solidFill>
                  <a:srgbClr val="FF0000"/>
                </a:solidFill>
              </a:rPr>
              <a:t>1</a:t>
            </a:r>
            <a:r>
              <a:rPr lang="en-US" altLang="zh-CN" dirty="0"/>
              <a:t>   </a:t>
            </a:r>
            <a:r>
              <a:rPr lang="en-US" altLang="zh-CN" dirty="0" smtClean="0"/>
              <a:t>2    </a:t>
            </a:r>
            <a:r>
              <a:rPr lang="en-US" altLang="zh-CN" dirty="0"/>
              <a:t>7   </a:t>
            </a:r>
            <a:r>
              <a:rPr lang="en-US" altLang="zh-CN" dirty="0" smtClean="0"/>
              <a:t>8   </a:t>
            </a:r>
            <a:r>
              <a:rPr lang="en-US" altLang="zh-CN" dirty="0"/>
              <a:t>3   5   6   4</a:t>
            </a:r>
          </a:p>
          <a:p>
            <a:pPr marL="0" indent="0">
              <a:buNone/>
            </a:pPr>
            <a:r>
              <a:rPr lang="en-US" altLang="zh-CN" dirty="0">
                <a:solidFill>
                  <a:srgbClr val="FF0000"/>
                </a:solidFill>
              </a:rPr>
              <a:t>     </a:t>
            </a:r>
            <a:r>
              <a:rPr lang="en-US" altLang="zh-CN" dirty="0" err="1" smtClean="0">
                <a:solidFill>
                  <a:srgbClr val="FF0000"/>
                </a:solidFill>
              </a:rPr>
              <a:t>ij</a:t>
            </a:r>
            <a:endParaRPr lang="en-US" altLang="zh-CN" dirty="0">
              <a:solidFill>
                <a:srgbClr val="FF0000"/>
              </a:solidFill>
            </a:endParaRPr>
          </a:p>
          <a:p>
            <a:pPr marL="0" indent="0">
              <a:buNone/>
            </a:pPr>
            <a:endParaRPr lang="en-US" altLang="zh-CN" dirty="0" smtClean="0">
              <a:solidFill>
                <a:srgbClr val="FF0000"/>
              </a:solidFill>
            </a:endParaRPr>
          </a:p>
        </p:txBody>
      </p:sp>
      <p:sp>
        <p:nvSpPr>
          <p:cNvPr id="4" name="内容占位符 2"/>
          <p:cNvSpPr txBox="1">
            <a:spLocks/>
          </p:cNvSpPr>
          <p:nvPr/>
        </p:nvSpPr>
        <p:spPr>
          <a:xfrm>
            <a:off x="6352247" y="1764889"/>
            <a:ext cx="4810626" cy="4852219"/>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lang="zh-CN" altLang="en-US" sz="3200" kern="1200" baseline="0" dirty="0" smtClean="0">
                <a:solidFill>
                  <a:schemeClr val="tx1"/>
                </a:solidFill>
                <a:latin typeface="Times New Roman" panose="02020603050405020304" pitchFamily="18" charset="0"/>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t>  2   8    7   1   3   5   6   </a:t>
            </a:r>
            <a:r>
              <a:rPr lang="en-US" altLang="zh-CN" dirty="0" smtClean="0">
                <a:solidFill>
                  <a:srgbClr val="FF0000"/>
                </a:solidFill>
              </a:rPr>
              <a:t>4</a:t>
            </a:r>
          </a:p>
          <a:p>
            <a:pPr marL="0" indent="0">
              <a:buFont typeface="Arial" panose="020B0604020202020204" pitchFamily="34" charset="0"/>
              <a:buNone/>
            </a:pPr>
            <a:r>
              <a:rPr lang="en-US" altLang="zh-CN" dirty="0" err="1" smtClean="0">
                <a:solidFill>
                  <a:srgbClr val="FF0000"/>
                </a:solidFill>
              </a:rPr>
              <a:t>i</a:t>
            </a:r>
            <a:r>
              <a:rPr lang="en-US" altLang="zh-CN" dirty="0" smtClean="0">
                <a:solidFill>
                  <a:srgbClr val="FF0000"/>
                </a:solidFill>
              </a:rPr>
              <a:t> j</a:t>
            </a:r>
            <a:r>
              <a:rPr lang="en-US" altLang="zh-CN" dirty="0" smtClean="0"/>
              <a:t> </a:t>
            </a:r>
          </a:p>
          <a:p>
            <a:pPr marL="0" indent="0">
              <a:buFont typeface="Arial" panose="020B0604020202020204" pitchFamily="34" charset="0"/>
              <a:buNone/>
            </a:pPr>
            <a:r>
              <a:rPr lang="en-US" altLang="zh-CN" dirty="0" smtClean="0">
                <a:solidFill>
                  <a:srgbClr val="FF0000"/>
                </a:solidFill>
              </a:rPr>
              <a:t> </a:t>
            </a:r>
          </a:p>
          <a:p>
            <a:pPr marL="0" indent="0">
              <a:buFont typeface="Arial" panose="020B0604020202020204" pitchFamily="34" charset="0"/>
              <a:buNone/>
            </a:pPr>
            <a:endParaRPr lang="en-US" altLang="zh-CN" dirty="0">
              <a:solidFill>
                <a:srgbClr val="FF0000"/>
              </a:solidFill>
            </a:endParaRPr>
          </a:p>
          <a:p>
            <a:pPr marL="0" indent="0">
              <a:buFont typeface="Arial" panose="020B0604020202020204" pitchFamily="34" charset="0"/>
              <a:buNone/>
            </a:pPr>
            <a:endParaRPr lang="en-US" altLang="zh-CN" dirty="0" smtClean="0">
              <a:solidFill>
                <a:srgbClr val="FF0000"/>
              </a:solidFill>
            </a:endParaRPr>
          </a:p>
          <a:p>
            <a:pPr marL="0" indent="0">
              <a:buFont typeface="Arial" panose="020B0604020202020204" pitchFamily="34" charset="0"/>
              <a:buNone/>
            </a:pPr>
            <a:endParaRPr lang="en-US" altLang="zh-CN" dirty="0">
              <a:solidFill>
                <a:srgbClr val="FF0000"/>
              </a:solidFill>
            </a:endParaRPr>
          </a:p>
          <a:p>
            <a:pPr marL="0" indent="0">
              <a:buFont typeface="Arial" panose="020B0604020202020204" pitchFamily="34" charset="0"/>
              <a:buNone/>
            </a:pPr>
            <a:endParaRPr lang="en-US" altLang="zh-CN" dirty="0" smtClean="0">
              <a:solidFill>
                <a:srgbClr val="FF0000"/>
              </a:solidFill>
            </a:endParaRPr>
          </a:p>
          <a:p>
            <a:pPr marL="0" indent="0">
              <a:buFont typeface="Arial" panose="020B0604020202020204" pitchFamily="34" charset="0"/>
              <a:buNone/>
            </a:pPr>
            <a:endParaRPr lang="en-US" altLang="zh-CN" dirty="0">
              <a:solidFill>
                <a:srgbClr val="FF0000"/>
              </a:solidFill>
            </a:endParaRPr>
          </a:p>
          <a:p>
            <a:pPr marL="0" indent="0">
              <a:buFont typeface="Arial" panose="020B0604020202020204" pitchFamily="34" charset="0"/>
              <a:buNone/>
            </a:pPr>
            <a:endParaRPr lang="en-US" altLang="zh-CN" dirty="0">
              <a:solidFill>
                <a:srgbClr val="FF0000"/>
              </a:solidFill>
            </a:endParaRPr>
          </a:p>
        </p:txBody>
      </p:sp>
      <p:sp>
        <p:nvSpPr>
          <p:cNvPr id="5" name="矩形 4"/>
          <p:cNvSpPr/>
          <p:nvPr/>
        </p:nvSpPr>
        <p:spPr>
          <a:xfrm>
            <a:off x="6569002" y="1442812"/>
            <a:ext cx="312906" cy="400110"/>
          </a:xfrm>
          <a:prstGeom prst="rect">
            <a:avLst/>
          </a:prstGeom>
        </p:spPr>
        <p:txBody>
          <a:bodyPr wrap="none">
            <a:spAutoFit/>
          </a:bodyPr>
          <a:lstStyle/>
          <a:p>
            <a:r>
              <a:rPr lang="en-US" altLang="zh-CN" sz="2000" dirty="0">
                <a:solidFill>
                  <a:srgbClr val="FF0000"/>
                </a:solidFill>
                <a:latin typeface="Times New Roman" panose="02020603050405020304" pitchFamily="18" charset="0"/>
                <a:cs typeface="Times New Roman" panose="02020603050405020304" pitchFamily="18" charset="0"/>
              </a:rPr>
              <a:t>p</a:t>
            </a:r>
          </a:p>
        </p:txBody>
      </p:sp>
      <mc:AlternateContent xmlns:mc="http://schemas.openxmlformats.org/markup-compatibility/2006" xmlns:a14="http://schemas.microsoft.com/office/drawing/2010/main">
        <mc:Choice Requires="a14">
          <p:sp>
            <p:nvSpPr>
              <p:cNvPr id="6" name="矩形 5"/>
              <p:cNvSpPr/>
              <p:nvPr/>
            </p:nvSpPr>
            <p:spPr>
              <a:xfrm flipH="1">
                <a:off x="6516848" y="256970"/>
                <a:ext cx="2750441" cy="923330"/>
              </a:xfrm>
              <a:prstGeom prst="rect">
                <a:avLst/>
              </a:prstGeom>
            </p:spPr>
            <p:txBody>
              <a:bodyPr wrap="square">
                <a:spAutoFit/>
              </a:bodyPr>
              <a:lstStyle/>
              <a:p>
                <a:r>
                  <a:rPr lang="en-US" altLang="zh-CN" dirty="0" smtClean="0">
                    <a:solidFill>
                      <a:srgbClr val="FF0000"/>
                    </a:solidFill>
                    <a:latin typeface="Times New Roman" panose="02020603050405020304" pitchFamily="18" charset="0"/>
                    <a:cs typeface="Times New Roman" panose="02020603050405020304" pitchFamily="18" charset="0"/>
                  </a:rPr>
                  <a:t>PARTITION(</a:t>
                </a:r>
                <a:r>
                  <a:rPr lang="en-US" altLang="zh-CN" dirty="0" err="1" smtClean="0">
                    <a:solidFill>
                      <a:srgbClr val="FF0000"/>
                    </a:solidFill>
                    <a:latin typeface="Times New Roman" panose="02020603050405020304" pitchFamily="18" charset="0"/>
                    <a:cs typeface="Times New Roman" panose="02020603050405020304" pitchFamily="18" charset="0"/>
                  </a:rPr>
                  <a:t>A,p,r</a:t>
                </a:r>
                <a:r>
                  <a:rPr lang="en-US" altLang="zh-CN" dirty="0" smtClean="0">
                    <a:solidFill>
                      <a:srgbClr val="FF0000"/>
                    </a:solidFill>
                    <a:latin typeface="Times New Roman" panose="02020603050405020304" pitchFamily="18" charset="0"/>
                    <a:cs typeface="Times New Roman" panose="02020603050405020304" pitchFamily="18" charset="0"/>
                  </a:rPr>
                  <a:t>) </a:t>
                </a:r>
              </a:p>
              <a:p>
                <a:r>
                  <a:rPr lang="en-US" altLang="zh-CN" dirty="0" err="1" smtClean="0">
                    <a:solidFill>
                      <a:srgbClr val="FF0000"/>
                    </a:solidFill>
                    <a:latin typeface="Times New Roman" panose="02020603050405020304" pitchFamily="18" charset="0"/>
                    <a:cs typeface="Times New Roman" panose="02020603050405020304" pitchFamily="18" charset="0"/>
                  </a:rPr>
                  <a:t>i</a:t>
                </a:r>
                <a:r>
                  <a:rPr lang="en-US" altLang="zh-CN" dirty="0" smtClean="0">
                    <a:solidFill>
                      <a:srgbClr val="FF0000"/>
                    </a:solidFill>
                    <a:latin typeface="Times New Roman" panose="02020603050405020304" pitchFamily="18" charset="0"/>
                    <a:cs typeface="Times New Roman" panose="02020603050405020304" pitchFamily="18" charset="0"/>
                  </a:rPr>
                  <a:t> = p -1; </a:t>
                </a:r>
              </a:p>
              <a:p>
                <a:r>
                  <a:rPr lang="en-US" altLang="zh-CN" dirty="0">
                    <a:solidFill>
                      <a:srgbClr val="FF0000"/>
                    </a:solidFill>
                    <a:latin typeface="Times New Roman" panose="02020603050405020304" pitchFamily="18" charset="0"/>
                    <a:cs typeface="Times New Roman" panose="02020603050405020304" pitchFamily="18" charset="0"/>
                  </a:rPr>
                  <a:t>f</a:t>
                </a:r>
                <a:r>
                  <a:rPr lang="en-US" altLang="zh-CN" dirty="0" smtClean="0">
                    <a:solidFill>
                      <a:srgbClr val="FF0000"/>
                    </a:solidFill>
                    <a:latin typeface="Times New Roman" panose="02020603050405020304" pitchFamily="18" charset="0"/>
                    <a:cs typeface="Times New Roman" panose="02020603050405020304" pitchFamily="18" charset="0"/>
                  </a:rPr>
                  <a:t>or j </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𝑝</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𝑡𝑜</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𝑟</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−1 </m:t>
                    </m:r>
                    <m:r>
                      <a:rPr lang="en-US" altLang="zh-CN"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𝑑𝑜</m:t>
                    </m:r>
                  </m:oMath>
                </a14:m>
                <a:endParaRPr lang="en-US" altLang="zh-CN"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flipH="1">
                <a:off x="6516848" y="256970"/>
                <a:ext cx="2750441" cy="923330"/>
              </a:xfrm>
              <a:prstGeom prst="rect">
                <a:avLst/>
              </a:prstGeom>
              <a:blipFill>
                <a:blip r:embed="rId3"/>
                <a:stretch>
                  <a:fillRect l="-1774" t="-3289" b="-9211"/>
                </a:stretch>
              </a:blipFill>
            </p:spPr>
            <p:txBody>
              <a:bodyPr/>
              <a:lstStyle/>
              <a:p>
                <a:r>
                  <a:rPr lang="zh-CN" altLang="en-US">
                    <a:noFill/>
                  </a:rPr>
                  <a:t> </a:t>
                </a:r>
              </a:p>
            </p:txBody>
          </p:sp>
        </mc:Fallback>
      </mc:AlternateContent>
      <p:sp>
        <p:nvSpPr>
          <p:cNvPr id="7" name="矩形 6"/>
          <p:cNvSpPr/>
          <p:nvPr/>
        </p:nvSpPr>
        <p:spPr>
          <a:xfrm>
            <a:off x="10267699" y="1467812"/>
            <a:ext cx="269626" cy="400110"/>
          </a:xfrm>
          <a:prstGeom prst="rect">
            <a:avLst/>
          </a:prstGeom>
        </p:spPr>
        <p:txBody>
          <a:bodyPr wrap="none">
            <a:spAutoFit/>
          </a:bodyPr>
          <a:lstStyle/>
          <a:p>
            <a:r>
              <a:rPr lang="en-US" altLang="zh-CN" sz="2000" dirty="0" smtClean="0">
                <a:solidFill>
                  <a:srgbClr val="FF0000"/>
                </a:solidFill>
                <a:latin typeface="Times New Roman" panose="02020603050405020304" pitchFamily="18" charset="0"/>
                <a:cs typeface="Times New Roman" panose="02020603050405020304" pitchFamily="18" charset="0"/>
              </a:rPr>
              <a:t>r</a:t>
            </a:r>
            <a:endParaRPr lang="en-US" altLang="zh-CN" sz="2000" dirty="0">
              <a:solidFill>
                <a:srgbClr val="FF0000"/>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4"/>
          <a:stretch>
            <a:fillRect/>
          </a:stretch>
        </p:blipFill>
        <p:spPr>
          <a:xfrm>
            <a:off x="6352247" y="3053764"/>
            <a:ext cx="5349624" cy="3616768"/>
          </a:xfrm>
          <a:prstGeom prst="rect">
            <a:avLst/>
          </a:prstGeom>
        </p:spPr>
      </p:pic>
    </p:spTree>
    <p:extLst>
      <p:ext uri="{BB962C8B-B14F-4D97-AF65-F5344CB8AC3E}">
        <p14:creationId xmlns:p14="http://schemas.microsoft.com/office/powerpoint/2010/main" val="174595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3.2 </a:t>
            </a:r>
            <a:r>
              <a:rPr lang="zh-CN" altLang="en-US" dirty="0" smtClean="0"/>
              <a:t>堆排序</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smtClean="0"/>
              <a:t> </a:t>
            </a:r>
            <a:r>
              <a:rPr lang="zh-CN" altLang="en-US" dirty="0" smtClean="0"/>
              <a:t>队列  </a:t>
            </a:r>
            <a:r>
              <a:rPr lang="en-US" altLang="zh-CN" dirty="0" smtClean="0"/>
              <a:t>FIFO </a:t>
            </a:r>
            <a:r>
              <a:rPr lang="zh-CN" altLang="en-US" dirty="0" smtClean="0"/>
              <a:t>先入先出</a:t>
            </a:r>
            <a:endParaRPr lang="en-US" altLang="zh-CN" dirty="0" smtClean="0"/>
          </a:p>
          <a:p>
            <a:r>
              <a:rPr lang="en-US" altLang="zh-CN" dirty="0"/>
              <a:t> </a:t>
            </a:r>
            <a:r>
              <a:rPr lang="zh-CN" altLang="en-US" dirty="0" smtClean="0"/>
              <a:t>栈      </a:t>
            </a:r>
            <a:r>
              <a:rPr lang="en-US" altLang="zh-CN" dirty="0" smtClean="0"/>
              <a:t>FILO </a:t>
            </a:r>
            <a:r>
              <a:rPr lang="zh-CN" altLang="en-US" dirty="0"/>
              <a:t>先入后</a:t>
            </a:r>
            <a:r>
              <a:rPr lang="zh-CN" altLang="en-US" dirty="0" smtClean="0"/>
              <a:t>出</a:t>
            </a:r>
            <a:endParaRPr lang="en-US" altLang="zh-CN" dirty="0" smtClean="0"/>
          </a:p>
          <a:p>
            <a:pPr marL="0" indent="0">
              <a:buNone/>
            </a:pPr>
            <a:r>
              <a:rPr lang="en-US" altLang="zh-CN" dirty="0" smtClean="0"/>
              <a:t>    </a:t>
            </a:r>
            <a:r>
              <a:rPr lang="zh-CN" altLang="en-US" dirty="0" smtClean="0"/>
              <a:t>存储结构分为：链式存储和顺序存储</a:t>
            </a:r>
            <a:endParaRPr lang="en-US" altLang="zh-CN" dirty="0" smtClean="0"/>
          </a:p>
          <a:p>
            <a:r>
              <a:rPr lang="en-US" altLang="zh-CN" dirty="0"/>
              <a:t> </a:t>
            </a:r>
            <a:r>
              <a:rPr lang="zh-CN" altLang="en-US" dirty="0" smtClean="0"/>
              <a:t>堆，计算机科学中一类特殊的数据结构的统称，是一种满足堆中的每一个节点值都大于等于</a:t>
            </a:r>
            <a:r>
              <a:rPr lang="en-US" altLang="zh-CN" dirty="0" smtClean="0"/>
              <a:t>(</a:t>
            </a:r>
            <a:r>
              <a:rPr lang="zh-CN" altLang="en-US" dirty="0" smtClean="0"/>
              <a:t>或小于等于</a:t>
            </a:r>
            <a:r>
              <a:rPr lang="en-US" altLang="zh-CN" dirty="0" smtClean="0"/>
              <a:t>)</a:t>
            </a:r>
            <a:r>
              <a:rPr lang="zh-CN" altLang="en-US" dirty="0"/>
              <a:t>子</a:t>
            </a:r>
            <a:r>
              <a:rPr lang="zh-CN" altLang="en-US" dirty="0" smtClean="0"/>
              <a:t>树中所有节点的值的树。</a:t>
            </a:r>
            <a:endParaRPr lang="en-US" altLang="zh-CN" dirty="0" smtClean="0"/>
          </a:p>
          <a:p>
            <a:pPr marL="0" indent="0">
              <a:buNone/>
            </a:pPr>
            <a:r>
              <a:rPr lang="en-US" altLang="zh-CN" dirty="0"/>
              <a:t> </a:t>
            </a:r>
            <a:r>
              <a:rPr lang="en-US" altLang="zh-CN" dirty="0" smtClean="0"/>
              <a:t>  </a:t>
            </a:r>
            <a:r>
              <a:rPr lang="zh-CN" altLang="en-US" dirty="0" smtClean="0"/>
              <a:t>这里讨论的堆可以被看作一颗</a:t>
            </a:r>
            <a:r>
              <a:rPr lang="zh-CN" altLang="en-US" b="1" dirty="0" smtClean="0"/>
              <a:t>完全</a:t>
            </a:r>
            <a:r>
              <a:rPr lang="zh-CN" altLang="en-US" dirty="0" smtClean="0"/>
              <a:t>二叉树的数组对象，也被称为“二叉堆”。是简单选择排序算法的优化，利用完全二叉树顺序结构减少元素间的重复比较。</a:t>
            </a:r>
            <a:endParaRPr lang="zh-CN" altLang="en-US" dirty="0"/>
          </a:p>
        </p:txBody>
      </p:sp>
    </p:spTree>
    <p:extLst>
      <p:ext uri="{BB962C8B-B14F-4D97-AF65-F5344CB8AC3E}">
        <p14:creationId xmlns:p14="http://schemas.microsoft.com/office/powerpoint/2010/main" val="188220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堆的分类及性质</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2063" y="1880171"/>
                <a:ext cx="11513795" cy="4695290"/>
              </a:xfrm>
            </p:spPr>
            <p:txBody>
              <a:bodyPr>
                <a:normAutofit/>
              </a:bodyPr>
              <a:lstStyle/>
              <a:p>
                <a:r>
                  <a:rPr lang="zh-CN" altLang="en-US" dirty="0" smtClean="0"/>
                  <a:t>最小堆：除了根节点以外，所有节点</a:t>
                </a:r>
                <a:r>
                  <a:rPr lang="en-US" altLang="zh-CN" dirty="0" err="1" smtClean="0"/>
                  <a:t>i</a:t>
                </a:r>
                <a:r>
                  <a:rPr lang="zh-CN" altLang="en-US" dirty="0" smtClean="0"/>
                  <a:t>都有</a:t>
                </a:r>
                <a:r>
                  <a:rPr lang="en-US" altLang="zh-CN" dirty="0" smtClean="0"/>
                  <a:t>A[parent(</a:t>
                </a:r>
                <a:r>
                  <a:rPr lang="en-US" altLang="zh-CN" dirty="0" err="1" smtClean="0"/>
                  <a:t>i</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oMath>
                </a14:m>
                <a:endParaRPr lang="en-US" altLang="zh-CN" dirty="0" smtClean="0">
                  <a:cs typeface="Times New Roman" panose="02020603050405020304" pitchFamily="18" charset="0"/>
                </a:endParaRPr>
              </a:p>
              <a:p>
                <a:r>
                  <a:rPr lang="zh-CN" altLang="en-US" dirty="0">
                    <a:cs typeface="Times New Roman" panose="02020603050405020304" pitchFamily="18" charset="0"/>
                  </a:rPr>
                  <a:t>最大</a:t>
                </a:r>
                <a:r>
                  <a:rPr lang="zh-CN" altLang="en-US" dirty="0" smtClean="0">
                    <a:cs typeface="Times New Roman" panose="02020603050405020304" pitchFamily="18" charset="0"/>
                  </a:rPr>
                  <a:t>堆：</a:t>
                </a:r>
                <a:r>
                  <a:rPr lang="zh-CN" altLang="en-US" dirty="0"/>
                  <a:t>除了根节点以外，所有节点</a:t>
                </a:r>
                <a:r>
                  <a:rPr lang="en-US" altLang="zh-CN" dirty="0" err="1"/>
                  <a:t>i</a:t>
                </a:r>
                <a:r>
                  <a:rPr lang="zh-CN" altLang="en-US" dirty="0"/>
                  <a:t>都有</a:t>
                </a:r>
                <a:r>
                  <a:rPr lang="en-US" altLang="zh-CN" dirty="0"/>
                  <a:t>A[parent(</a:t>
                </a:r>
                <a:r>
                  <a:rPr lang="en-US" altLang="zh-CN" dirty="0" err="1"/>
                  <a:t>i</a:t>
                </a:r>
                <a:r>
                  <a:rPr lang="en-US" altLang="zh-CN" dirty="0"/>
                  <a:t>)]</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oMath>
                </a14:m>
                <a:endParaRPr lang="en-US" altLang="zh-CN" dirty="0">
                  <a:cs typeface="Times New Roman" panose="02020603050405020304" pitchFamily="18" charset="0"/>
                </a:endParaRPr>
              </a:p>
              <a:p>
                <a:pPr marL="0" indent="0">
                  <a:buNone/>
                </a:pPr>
                <a:endParaRPr lang="en-US" altLang="zh-CN" dirty="0" smtClean="0">
                  <a:cs typeface="Times New Roman" panose="02020603050405020304" pitchFamily="18" charset="0"/>
                </a:endParaRPr>
              </a:p>
              <a:p>
                <a:pPr marL="0" indent="0">
                  <a:buNone/>
                </a:pPr>
                <a:r>
                  <a:rPr lang="zh-CN" altLang="en-US" dirty="0" smtClean="0">
                    <a:cs typeface="Times New Roman" panose="02020603050405020304" pitchFamily="18" charset="0"/>
                  </a:rPr>
                  <a:t>利用数组存储二叉堆，以二叉树和数组形式表示。</a:t>
                </a:r>
                <a:endParaRPr lang="en-US" altLang="zh-CN" dirty="0" smtClean="0">
                  <a:cs typeface="Times New Roman" panose="02020603050405020304" pitchFamily="18" charset="0"/>
                </a:endParaRPr>
              </a:p>
              <a:p>
                <a:pPr marL="0" indent="0">
                  <a:buNone/>
                </a:pPr>
                <a:endParaRPr lang="en-US" altLang="zh-CN" dirty="0">
                  <a:cs typeface="Times New Roman" panose="02020603050405020304" pitchFamily="18" charset="0"/>
                </a:endParaRPr>
              </a:p>
              <a:p>
                <a:pPr marL="0" indent="0">
                  <a:buNone/>
                </a:pPr>
                <a:r>
                  <a:rPr lang="zh-CN" altLang="en-US" dirty="0" smtClean="0">
                    <a:cs typeface="Times New Roman" panose="02020603050405020304" pitchFamily="18" charset="0"/>
                  </a:rPr>
                  <a:t>插入操作、删除操作</a:t>
                </a:r>
                <a:endParaRPr lang="en-US" altLang="zh-CN" dirty="0" smtClean="0">
                  <a:cs typeface="Times New Roman" panose="02020603050405020304" pitchFamily="18" charset="0"/>
                </a:endParaRPr>
              </a:p>
              <a:p>
                <a:pPr marL="0" indent="0">
                  <a:buNone/>
                </a:pPr>
                <a:r>
                  <a:rPr lang="zh-CN" altLang="en-US" dirty="0" smtClean="0">
                    <a:cs typeface="Times New Roman" panose="02020603050405020304" pitchFamily="18" charset="0"/>
                  </a:rPr>
                  <a:t>需要保证新的堆仍然是二叉堆。</a:t>
                </a:r>
                <a:endParaRPr lang="en-US" altLang="zh-CN" dirty="0" smtClean="0">
                  <a:cs typeface="Times New Roman" panose="02020603050405020304" pitchFamily="18" charset="0"/>
                </a:endParaRPr>
              </a:p>
              <a:p>
                <a:pPr marL="0" indent="0">
                  <a:buNone/>
                </a:pPr>
                <a:endParaRPr lang="zh-CN" altLang="en-US" dirty="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2063" y="1880171"/>
                <a:ext cx="11513795" cy="4695290"/>
              </a:xfrm>
              <a:blipFill>
                <a:blip r:embed="rId2"/>
                <a:stretch>
                  <a:fillRect l="-1323" t="-2075"/>
                </a:stretch>
              </a:blipFill>
            </p:spPr>
            <p:txBody>
              <a:bodyPr/>
              <a:lstStyle/>
              <a:p>
                <a:r>
                  <a:rPr lang="zh-CN" altLang="en-US">
                    <a:noFill/>
                  </a:rPr>
                  <a:t> </a:t>
                </a:r>
              </a:p>
            </p:txBody>
          </p:sp>
        </mc:Fallback>
      </mc:AlternateContent>
      <p:pic>
        <p:nvPicPr>
          <p:cNvPr id="1026" name="Picture 2" descr="https://pic1.zhimg.com/v2-e4b5e09aa889e13dcc2d35aee5b516f0_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5503" y="3454114"/>
            <a:ext cx="5333443" cy="184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63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026"/>
                                        </p:tgtEl>
                                      </p:cBhvr>
                                    </p:animEffect>
                                    <p:set>
                                      <p:cBhvr>
                                        <p:cTn id="11" dur="1" fill="hold">
                                          <p:stCondLst>
                                            <p:cond delay="499"/>
                                          </p:stCondLst>
                                        </p:cTn>
                                        <p:tgtEl>
                                          <p:spTgt spid="102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基本思想</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en-US" dirty="0" smtClean="0"/>
              <a:t>将待排序序列构造成一个最大</a:t>
            </a:r>
            <a:r>
              <a:rPr lang="en-US" altLang="zh-CN" dirty="0" smtClean="0"/>
              <a:t>(</a:t>
            </a:r>
            <a:r>
              <a:rPr lang="zh-CN" altLang="en-US" dirty="0" smtClean="0"/>
              <a:t>小</a:t>
            </a:r>
            <a:r>
              <a:rPr lang="en-US" altLang="zh-CN" dirty="0" smtClean="0"/>
              <a:t>)</a:t>
            </a:r>
            <a:r>
              <a:rPr lang="zh-CN" altLang="en-US" dirty="0" smtClean="0"/>
              <a:t>堆，整个序列的最大</a:t>
            </a:r>
            <a:r>
              <a:rPr lang="en-US" altLang="zh-CN" dirty="0" smtClean="0"/>
              <a:t>(</a:t>
            </a:r>
            <a:r>
              <a:rPr lang="zh-CN" altLang="en-US" dirty="0" smtClean="0"/>
              <a:t>小</a:t>
            </a:r>
            <a:r>
              <a:rPr lang="en-US" altLang="zh-CN" dirty="0" smtClean="0"/>
              <a:t>)</a:t>
            </a:r>
            <a:r>
              <a:rPr lang="zh-CN" altLang="en-US" dirty="0" smtClean="0"/>
              <a:t>值就是堆顶的根节点。将其与末尾元素进行交换，此时末尾就为最大</a:t>
            </a:r>
            <a:r>
              <a:rPr lang="en-US" altLang="zh-CN" dirty="0" smtClean="0"/>
              <a:t>(</a:t>
            </a:r>
            <a:r>
              <a:rPr lang="zh-CN" altLang="en-US" dirty="0" smtClean="0"/>
              <a:t>小</a:t>
            </a:r>
            <a:r>
              <a:rPr lang="en-US" altLang="zh-CN" dirty="0" smtClean="0"/>
              <a:t>)</a:t>
            </a:r>
            <a:r>
              <a:rPr lang="zh-CN" altLang="en-US" dirty="0" smtClean="0"/>
              <a:t>值。</a:t>
            </a:r>
            <a:endParaRPr lang="en-US" altLang="zh-CN" dirty="0" smtClean="0"/>
          </a:p>
          <a:p>
            <a:pPr marL="0" indent="0">
              <a:buNone/>
            </a:pPr>
            <a:r>
              <a:rPr lang="en-US" altLang="zh-CN" dirty="0" smtClean="0"/>
              <a:t>	</a:t>
            </a:r>
            <a:r>
              <a:rPr lang="zh-CN" altLang="en-US" dirty="0" smtClean="0"/>
              <a:t>然后，将剩余</a:t>
            </a:r>
            <a:r>
              <a:rPr lang="en-US" altLang="zh-CN" dirty="0" smtClean="0"/>
              <a:t>n-1</a:t>
            </a:r>
            <a:r>
              <a:rPr lang="zh-CN" altLang="en-US" dirty="0" smtClean="0"/>
              <a:t>个元素重新构造成一个最大</a:t>
            </a:r>
            <a:r>
              <a:rPr lang="en-US" altLang="zh-CN" dirty="0" smtClean="0"/>
              <a:t>(</a:t>
            </a:r>
            <a:r>
              <a:rPr lang="zh-CN" altLang="en-US" dirty="0" smtClean="0"/>
              <a:t>小</a:t>
            </a:r>
            <a:r>
              <a:rPr lang="en-US" altLang="zh-CN" dirty="0" smtClean="0"/>
              <a:t>)</a:t>
            </a:r>
            <a:r>
              <a:rPr lang="zh-CN" altLang="en-US" dirty="0" smtClean="0"/>
              <a:t>堆，这样会得到</a:t>
            </a:r>
            <a:r>
              <a:rPr lang="en-US" altLang="zh-CN" dirty="0" smtClean="0"/>
              <a:t>n</a:t>
            </a:r>
            <a:r>
              <a:rPr lang="zh-CN" altLang="en-US" dirty="0" smtClean="0"/>
              <a:t>个元素的次大</a:t>
            </a:r>
            <a:r>
              <a:rPr lang="en-US" altLang="zh-CN" dirty="0" smtClean="0"/>
              <a:t>(</a:t>
            </a:r>
            <a:r>
              <a:rPr lang="zh-CN" altLang="en-US" dirty="0" smtClean="0"/>
              <a:t>小</a:t>
            </a:r>
            <a:r>
              <a:rPr lang="en-US" altLang="zh-CN" dirty="0" smtClean="0"/>
              <a:t>)</a:t>
            </a:r>
            <a:r>
              <a:rPr lang="zh-CN" altLang="en-US" dirty="0" smtClean="0"/>
              <a:t>值。</a:t>
            </a:r>
            <a:endParaRPr lang="en-US" altLang="zh-CN" dirty="0" smtClean="0"/>
          </a:p>
          <a:p>
            <a:pPr marL="0" indent="0">
              <a:buNone/>
            </a:pPr>
            <a:r>
              <a:rPr lang="en-US" altLang="zh-CN" dirty="0"/>
              <a:t>	</a:t>
            </a:r>
            <a:r>
              <a:rPr lang="zh-CN" altLang="en-US" dirty="0" smtClean="0"/>
              <a:t>如此反复，便能得到一个有序序列。</a:t>
            </a:r>
            <a:endParaRPr lang="zh-CN" altLang="en-US" dirty="0"/>
          </a:p>
        </p:txBody>
      </p:sp>
    </p:spTree>
    <p:extLst>
      <p:ext uri="{BB962C8B-B14F-4D97-AF65-F5344CB8AC3E}">
        <p14:creationId xmlns:p14="http://schemas.microsoft.com/office/powerpoint/2010/main" val="36402064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3.3 </a:t>
            </a:r>
            <a:r>
              <a:rPr lang="zh-CN" altLang="en-US" dirty="0" smtClean="0"/>
              <a:t>线性时间排序</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计数排序</a:t>
            </a:r>
            <a:endParaRPr lang="en-US" altLang="zh-CN" dirty="0" smtClean="0"/>
          </a:p>
          <a:p>
            <a:pPr marL="0" indent="0">
              <a:buNone/>
            </a:pPr>
            <a:r>
              <a:rPr lang="en-US" altLang="zh-CN" dirty="0" smtClean="0"/>
              <a:t>    </a:t>
            </a:r>
            <a:r>
              <a:rPr lang="zh-CN" altLang="en-US" dirty="0" smtClean="0"/>
              <a:t>基本思想：对每个元素都统计比该元素小的元素的个数，然后，将该元素放在它在输出数组中的位置上。</a:t>
            </a:r>
            <a:endParaRPr lang="en-US" altLang="zh-CN" dirty="0" smtClean="0"/>
          </a:p>
          <a:p>
            <a:pPr marL="0" indent="0">
              <a:buNone/>
            </a:pPr>
            <a:endParaRPr lang="en-US" altLang="zh-CN" dirty="0"/>
          </a:p>
          <a:p>
            <a:r>
              <a:rPr lang="zh-CN" altLang="en-US" dirty="0" smtClean="0"/>
              <a:t>基数排序</a:t>
            </a:r>
            <a:endParaRPr lang="en-US" altLang="zh-CN" dirty="0" smtClean="0"/>
          </a:p>
          <a:p>
            <a:pPr marL="0" indent="0">
              <a:buNone/>
            </a:pPr>
            <a:r>
              <a:rPr lang="en-US" altLang="zh-CN" dirty="0"/>
              <a:t> </a:t>
            </a:r>
            <a:r>
              <a:rPr lang="en-US" altLang="zh-CN" dirty="0" smtClean="0"/>
              <a:t>   </a:t>
            </a:r>
            <a:r>
              <a:rPr lang="zh-CN" altLang="en-US" dirty="0" smtClean="0"/>
              <a:t>基本思想：将所有待比较数值统一为同样的数位长度，数位较短的数前面补</a:t>
            </a:r>
            <a:r>
              <a:rPr lang="en-US" altLang="zh-CN" dirty="0" smtClean="0"/>
              <a:t>0</a:t>
            </a:r>
            <a:r>
              <a:rPr lang="zh-CN" altLang="en-US" dirty="0" smtClean="0"/>
              <a:t>。然后，从最低位开始，依次进行一次排序。这样从最低位排序一直排到最高位排序完成以后，数列就变成一个有序序列。</a:t>
            </a:r>
            <a:endParaRPr lang="en-US" altLang="zh-CN" dirty="0"/>
          </a:p>
          <a:p>
            <a:endParaRPr lang="zh-CN" altLang="en-US" dirty="0"/>
          </a:p>
        </p:txBody>
      </p:sp>
    </p:spTree>
    <p:extLst>
      <p:ext uri="{BB962C8B-B14F-4D97-AF65-F5344CB8AC3E}">
        <p14:creationId xmlns:p14="http://schemas.microsoft.com/office/powerpoint/2010/main" val="312703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a:t>
            </a:r>
            <a:r>
              <a:rPr lang="zh-CN" altLang="en-US" dirty="0" smtClean="0"/>
              <a:t>、图算法</a:t>
            </a:r>
            <a:endParaRPr lang="zh-CN" altLang="en-US" dirty="0"/>
          </a:p>
        </p:txBody>
      </p:sp>
      <p:sp>
        <p:nvSpPr>
          <p:cNvPr id="3" name="内容占位符 2"/>
          <p:cNvSpPr>
            <a:spLocks noGrp="1"/>
          </p:cNvSpPr>
          <p:nvPr>
            <p:ph idx="1"/>
          </p:nvPr>
        </p:nvSpPr>
        <p:spPr/>
        <p:txBody>
          <a:bodyPr/>
          <a:lstStyle/>
          <a:p>
            <a:r>
              <a:rPr lang="zh-CN" altLang="en-US" dirty="0"/>
              <a:t>图由顶点集</a:t>
            </a:r>
            <a:r>
              <a:rPr lang="en-US" altLang="zh-CN" dirty="0"/>
              <a:t>V(G)</a:t>
            </a:r>
            <a:r>
              <a:rPr lang="zh-CN" altLang="en-US" dirty="0"/>
              <a:t>和边集</a:t>
            </a:r>
            <a:r>
              <a:rPr lang="en-US" altLang="zh-CN" dirty="0"/>
              <a:t>E(G)</a:t>
            </a:r>
            <a:r>
              <a:rPr lang="zh-CN" altLang="en-US" dirty="0"/>
              <a:t>组成，记为</a:t>
            </a:r>
            <a:r>
              <a:rPr lang="en-US" altLang="zh-CN" dirty="0"/>
              <a:t>G=(V,E)</a:t>
            </a:r>
            <a:r>
              <a:rPr lang="zh-CN" altLang="en-US" dirty="0"/>
              <a:t>。其中</a:t>
            </a:r>
            <a:r>
              <a:rPr lang="en-US" altLang="zh-CN" dirty="0"/>
              <a:t>E(G)</a:t>
            </a:r>
            <a:r>
              <a:rPr lang="zh-CN" altLang="en-US" dirty="0"/>
              <a:t>是边的有限集合，边是顶点的无序对（无向图）或有序对（有向图）。</a:t>
            </a:r>
          </a:p>
          <a:p>
            <a:r>
              <a:rPr lang="zh-CN" altLang="en-US" dirty="0"/>
              <a:t>对有向图来说，</a:t>
            </a:r>
            <a:r>
              <a:rPr lang="en-US" altLang="zh-CN" dirty="0"/>
              <a:t>E(G)</a:t>
            </a:r>
            <a:r>
              <a:rPr lang="zh-CN" altLang="en-US" dirty="0"/>
              <a:t>是有向边（也称弧</a:t>
            </a:r>
            <a:r>
              <a:rPr lang="en-US" altLang="zh-CN" dirty="0"/>
              <a:t>(Arc)</a:t>
            </a:r>
            <a:r>
              <a:rPr lang="zh-CN" altLang="en-US" dirty="0"/>
              <a:t>）的有限集合，弧是顶点的有序对，记为</a:t>
            </a:r>
            <a:r>
              <a:rPr lang="en-US" altLang="zh-CN" dirty="0"/>
              <a:t>&lt;v,w&gt;</a:t>
            </a:r>
            <a:r>
              <a:rPr lang="zh-CN" altLang="en-US" dirty="0"/>
              <a:t>，</a:t>
            </a:r>
            <a:r>
              <a:rPr lang="en-US" altLang="zh-CN" dirty="0"/>
              <a:t>v</a:t>
            </a:r>
            <a:r>
              <a:rPr lang="zh-CN" altLang="en-US" dirty="0"/>
              <a:t>、</a:t>
            </a:r>
            <a:r>
              <a:rPr lang="en-US" altLang="zh-CN" dirty="0"/>
              <a:t>w</a:t>
            </a:r>
            <a:r>
              <a:rPr lang="zh-CN" altLang="en-US" dirty="0"/>
              <a:t>是顶点，</a:t>
            </a:r>
            <a:r>
              <a:rPr lang="en-US" altLang="zh-CN" dirty="0"/>
              <a:t>v</a:t>
            </a:r>
            <a:r>
              <a:rPr lang="zh-CN" altLang="en-US" dirty="0"/>
              <a:t>为弧尾（箭头根部），</a:t>
            </a:r>
            <a:r>
              <a:rPr lang="en-US" altLang="zh-CN" dirty="0"/>
              <a:t>w</a:t>
            </a:r>
            <a:r>
              <a:rPr lang="zh-CN" altLang="en-US" dirty="0"/>
              <a:t>为弧头（箭头处）。</a:t>
            </a:r>
          </a:p>
          <a:p>
            <a:r>
              <a:rPr lang="zh-CN" altLang="en-US" dirty="0"/>
              <a:t>对无向图来说，</a:t>
            </a:r>
            <a:r>
              <a:rPr lang="en-US" altLang="zh-CN" dirty="0"/>
              <a:t>E(G)</a:t>
            </a:r>
            <a:r>
              <a:rPr lang="zh-CN" altLang="en-US" dirty="0"/>
              <a:t>是边的有限集合，边是顶点的无序对，记为</a:t>
            </a:r>
            <a:r>
              <a:rPr lang="en-US" altLang="zh-CN" dirty="0"/>
              <a:t>(v, w)</a:t>
            </a:r>
            <a:r>
              <a:rPr lang="zh-CN" altLang="en-US" dirty="0"/>
              <a:t>或者</a:t>
            </a:r>
            <a:r>
              <a:rPr lang="en-US" altLang="zh-CN" dirty="0"/>
              <a:t>(w, v)</a:t>
            </a:r>
            <a:r>
              <a:rPr lang="zh-CN" altLang="en-US" dirty="0"/>
              <a:t>，并且</a:t>
            </a:r>
            <a:r>
              <a:rPr lang="en-US" altLang="zh-CN" dirty="0"/>
              <a:t>(v, w)=(w,v)</a:t>
            </a:r>
            <a:r>
              <a:rPr lang="zh-CN" altLang="en-US" dirty="0"/>
              <a:t>。</a:t>
            </a:r>
          </a:p>
        </p:txBody>
      </p:sp>
    </p:spTree>
    <p:extLst>
      <p:ext uri="{BB962C8B-B14F-4D97-AF65-F5344CB8AC3E}">
        <p14:creationId xmlns:p14="http://schemas.microsoft.com/office/powerpoint/2010/main" val="29256543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顶点的度，入度和出度</a:t>
            </a:r>
            <a:endParaRPr lang="zh-CN" altLang="en-US" dirty="0"/>
          </a:p>
        </p:txBody>
      </p:sp>
      <p:pic>
        <p:nvPicPr>
          <p:cNvPr id="5" name="内容占位符 4"/>
          <p:cNvPicPr>
            <a:picLocks noGrp="1" noChangeAspect="1"/>
          </p:cNvPicPr>
          <p:nvPr>
            <p:ph idx="1"/>
          </p:nvPr>
        </p:nvPicPr>
        <p:blipFill>
          <a:blip r:embed="rId2"/>
          <a:stretch>
            <a:fillRect/>
          </a:stretch>
        </p:blipFill>
        <p:spPr>
          <a:xfrm>
            <a:off x="6123038" y="2080310"/>
            <a:ext cx="4498412" cy="3946458"/>
          </a:xfrm>
          <a:prstGeom prst="rect">
            <a:avLst/>
          </a:prstGeom>
        </p:spPr>
      </p:pic>
      <p:pic>
        <p:nvPicPr>
          <p:cNvPr id="4" name="图片 3"/>
          <p:cNvPicPr>
            <a:picLocks noChangeAspect="1"/>
          </p:cNvPicPr>
          <p:nvPr/>
        </p:nvPicPr>
        <p:blipFill>
          <a:blip r:embed="rId3"/>
          <a:stretch>
            <a:fillRect/>
          </a:stretch>
        </p:blipFill>
        <p:spPr>
          <a:xfrm>
            <a:off x="1123107" y="2217072"/>
            <a:ext cx="4334172" cy="3447447"/>
          </a:xfrm>
          <a:prstGeom prst="rect">
            <a:avLst/>
          </a:prstGeom>
        </p:spPr>
      </p:pic>
    </p:spTree>
    <p:extLst>
      <p:ext uri="{BB962C8B-B14F-4D97-AF65-F5344CB8AC3E}">
        <p14:creationId xmlns:p14="http://schemas.microsoft.com/office/powerpoint/2010/main" val="26808428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图的路径与连通</a:t>
            </a:r>
            <a:endParaRPr lang="zh-CN" altLang="en-US" dirty="0"/>
          </a:p>
        </p:txBody>
      </p:sp>
      <p:sp>
        <p:nvSpPr>
          <p:cNvPr id="3" name="内容占位符 2"/>
          <p:cNvSpPr>
            <a:spLocks noGrp="1"/>
          </p:cNvSpPr>
          <p:nvPr>
            <p:ph idx="1"/>
          </p:nvPr>
        </p:nvSpPr>
        <p:spPr>
          <a:xfrm>
            <a:off x="145605" y="1764890"/>
            <a:ext cx="12096871" cy="4852219"/>
          </a:xfrm>
        </p:spPr>
        <p:txBody>
          <a:bodyPr>
            <a:normAutofit/>
          </a:bodyPr>
          <a:lstStyle/>
          <a:p>
            <a:pPr marL="0" indent="0">
              <a:buNone/>
            </a:pPr>
            <a:r>
              <a:rPr lang="zh-CN" altLang="en-US" dirty="0" smtClean="0"/>
              <a:t> </a:t>
            </a:r>
            <a:endParaRPr lang="zh-CN" altLang="en-US" dirty="0"/>
          </a:p>
        </p:txBody>
      </p:sp>
      <p:pic>
        <p:nvPicPr>
          <p:cNvPr id="5" name="内容占位符 4"/>
          <p:cNvPicPr>
            <a:picLocks noChangeAspect="1"/>
          </p:cNvPicPr>
          <p:nvPr/>
        </p:nvPicPr>
        <p:blipFill>
          <a:blip r:embed="rId2"/>
          <a:stretch>
            <a:fillRect/>
          </a:stretch>
        </p:blipFill>
        <p:spPr>
          <a:xfrm>
            <a:off x="6123038" y="2080310"/>
            <a:ext cx="4498412" cy="3946458"/>
          </a:xfrm>
          <a:prstGeom prst="rect">
            <a:avLst/>
          </a:prstGeom>
        </p:spPr>
      </p:pic>
      <p:pic>
        <p:nvPicPr>
          <p:cNvPr id="6" name="图片 5"/>
          <p:cNvPicPr>
            <a:picLocks noChangeAspect="1"/>
          </p:cNvPicPr>
          <p:nvPr/>
        </p:nvPicPr>
        <p:blipFill>
          <a:blip r:embed="rId3"/>
          <a:stretch>
            <a:fillRect/>
          </a:stretch>
        </p:blipFill>
        <p:spPr>
          <a:xfrm>
            <a:off x="1123107" y="2217072"/>
            <a:ext cx="4334172" cy="3447447"/>
          </a:xfrm>
          <a:prstGeom prst="rect">
            <a:avLst/>
          </a:prstGeom>
        </p:spPr>
      </p:pic>
    </p:spTree>
    <p:extLst>
      <p:ext uri="{BB962C8B-B14F-4D97-AF65-F5344CB8AC3E}">
        <p14:creationId xmlns:p14="http://schemas.microsoft.com/office/powerpoint/2010/main" val="38958675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图的表示：邻接链表</a:t>
            </a:r>
            <a:endParaRPr lang="zh-CN" altLang="en-US" dirty="0"/>
          </a:p>
        </p:txBody>
      </p:sp>
      <p:sp>
        <p:nvSpPr>
          <p:cNvPr id="3" name="内容占位符 2"/>
          <p:cNvSpPr>
            <a:spLocks noGrp="1"/>
          </p:cNvSpPr>
          <p:nvPr>
            <p:ph idx="1"/>
          </p:nvPr>
        </p:nvSpPr>
        <p:spPr/>
        <p:txBody>
          <a:bodyPr/>
          <a:lstStyle/>
          <a:p>
            <a:endParaRPr lang="zh-CN" altLang="en-US"/>
          </a:p>
        </p:txBody>
      </p:sp>
      <p:pic>
        <p:nvPicPr>
          <p:cNvPr id="1026" name="Picture 2" descr="https://img-blog.csdnimg.cn/20190806165624417.png?x-oss-process=image/watermark,type_ZmFuZ3poZW5naGVpdGk,shadow_10,text_aHR0cHM6Ly9ibG9nLmNzZG4ubmV0L2Rhb2Nhb3Jlbl8=,size_16,color_FFFFFF,t_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663" y="1883043"/>
            <a:ext cx="11220450"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5248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a:t>
            </a:r>
            <a:r>
              <a:rPr lang="zh-CN" altLang="en-US" smtClean="0"/>
              <a:t>的表示：邻接链表</a:t>
            </a:r>
            <a:endParaRPr lang="zh-CN" altLang="en-US" dirty="0"/>
          </a:p>
        </p:txBody>
      </p:sp>
      <p:sp>
        <p:nvSpPr>
          <p:cNvPr id="3" name="内容占位符 2"/>
          <p:cNvSpPr>
            <a:spLocks noGrp="1"/>
          </p:cNvSpPr>
          <p:nvPr>
            <p:ph idx="1"/>
          </p:nvPr>
        </p:nvSpPr>
        <p:spPr/>
        <p:txBody>
          <a:bodyPr/>
          <a:lstStyle/>
          <a:p>
            <a:endParaRPr lang="zh-CN" altLang="en-US"/>
          </a:p>
        </p:txBody>
      </p:sp>
      <p:pic>
        <p:nvPicPr>
          <p:cNvPr id="2050" name="Picture 2"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980" y="2477819"/>
            <a:ext cx="79248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9352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邻接矩阵</a:t>
            </a:r>
          </a:p>
        </p:txBody>
      </p:sp>
      <p:pic>
        <p:nvPicPr>
          <p:cNvPr id="3074" name="Picture 2" descr="https://img-blog.csdnimg.cn/5d659f96e3904bc7a3d35f25f11637f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219" y="2517054"/>
            <a:ext cx="2295525" cy="29908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img-blog.csdnimg.cn/8906d6b7bcbb4162a2aa758a63f99dc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9967" y="2722989"/>
            <a:ext cx="3200400" cy="352425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s://img-blog.csdnimg.cn/71397d5e74194dc49d49849042e57fd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5945" y="3116279"/>
            <a:ext cx="2266950" cy="223837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img-blog.csdnimg.cn/52dcc3a8682e4bc9af602e61731211cc.png"/>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9265983" y="3030555"/>
            <a:ext cx="375285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11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图的搜索算法</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smtClean="0"/>
              <a:t> </a:t>
            </a:r>
            <a:r>
              <a:rPr lang="zh-CN" altLang="en-US" dirty="0" smtClean="0"/>
              <a:t>广度优先搜索</a:t>
            </a:r>
            <a:r>
              <a:rPr lang="en-US" altLang="zh-CN" dirty="0" smtClean="0"/>
              <a:t>(BFS)</a:t>
            </a:r>
          </a:p>
          <a:p>
            <a:pPr marL="0" indent="0">
              <a:buNone/>
            </a:pPr>
            <a:r>
              <a:rPr lang="en-US" altLang="zh-CN" dirty="0"/>
              <a:t>	</a:t>
            </a:r>
            <a:r>
              <a:rPr lang="zh-CN" altLang="en-US" dirty="0"/>
              <a:t>广度优先搜索（</a:t>
            </a:r>
            <a:r>
              <a:rPr lang="en-US" altLang="zh-CN" dirty="0"/>
              <a:t>Breadth First Search</a:t>
            </a:r>
            <a:r>
              <a:rPr lang="zh-CN" altLang="en-US" dirty="0"/>
              <a:t>）简称广搜或者 </a:t>
            </a:r>
            <a:r>
              <a:rPr lang="en-US" altLang="zh-CN" dirty="0"/>
              <a:t>BFS</a:t>
            </a:r>
            <a:r>
              <a:rPr lang="zh-CN" altLang="en-US" dirty="0"/>
              <a:t>，是遍历图存储结构的一种算法，既适用于无向图（网），也适用于有向图（网）。        </a:t>
            </a:r>
            <a:endParaRPr lang="en-US" altLang="zh-CN" dirty="0" smtClean="0"/>
          </a:p>
          <a:p>
            <a:pPr marL="0" indent="0">
              <a:buNone/>
            </a:pPr>
            <a:r>
              <a:rPr lang="en-US" altLang="zh-CN" dirty="0"/>
              <a:t>	</a:t>
            </a:r>
            <a:r>
              <a:rPr lang="zh-CN" altLang="en-US" dirty="0" smtClean="0"/>
              <a:t>广度</a:t>
            </a:r>
            <a:r>
              <a:rPr lang="zh-CN" altLang="en-US" dirty="0"/>
              <a:t>优先遍历是一种图和树的遍历策略，它的核心思想是从一个</a:t>
            </a:r>
            <a:r>
              <a:rPr lang="zh-CN" altLang="en-US" b="1" dirty="0">
                <a:solidFill>
                  <a:srgbClr val="00B050"/>
                </a:solidFill>
              </a:rPr>
              <a:t>起始节点</a:t>
            </a:r>
            <a:r>
              <a:rPr lang="zh-CN" altLang="en-US" dirty="0"/>
              <a:t>开始，访问其</a:t>
            </a:r>
            <a:r>
              <a:rPr lang="zh-CN" altLang="en-US" dirty="0">
                <a:solidFill>
                  <a:srgbClr val="00B050"/>
                </a:solidFill>
              </a:rPr>
              <a:t>所有邻近节点</a:t>
            </a:r>
            <a:r>
              <a:rPr lang="zh-CN" altLang="en-US" dirty="0"/>
              <a:t>，然后再按照相同的方式访问这些邻近节点的邻近节点。这种遍历方式类似于波纹在水面上扩散的过程</a:t>
            </a:r>
            <a:r>
              <a:rPr lang="zh-CN" altLang="en-US" dirty="0" smtClean="0"/>
              <a:t>。</a:t>
            </a:r>
            <a:endParaRPr lang="en-US" altLang="zh-CN" dirty="0" smtClean="0"/>
          </a:p>
          <a:p>
            <a:pPr marL="0" indent="0">
              <a:buNone/>
            </a:pPr>
            <a:r>
              <a:rPr lang="en-US" altLang="zh-CN" dirty="0"/>
              <a:t>	</a:t>
            </a:r>
            <a:r>
              <a:rPr lang="en-US" altLang="zh-CN" dirty="0" smtClean="0"/>
              <a:t>BFS</a:t>
            </a:r>
            <a:r>
              <a:rPr lang="zh-CN" altLang="en-US" dirty="0" smtClean="0"/>
              <a:t>算法的时间复杂度为节点和边的数量之和，即</a:t>
            </a:r>
            <a:r>
              <a:rPr lang="en-US" altLang="zh-CN" dirty="0" smtClean="0"/>
              <a:t>O(V+E)</a:t>
            </a:r>
            <a:endParaRPr lang="zh-CN" altLang="en-US" dirty="0"/>
          </a:p>
        </p:txBody>
      </p:sp>
    </p:spTree>
    <p:extLst>
      <p:ext uri="{BB962C8B-B14F-4D97-AF65-F5344CB8AC3E}">
        <p14:creationId xmlns:p14="http://schemas.microsoft.com/office/powerpoint/2010/main" val="84893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广度优先遍历</a:t>
            </a:r>
            <a:endParaRPr lang="zh-CN" altLang="en-US" dirty="0"/>
          </a:p>
        </p:txBody>
      </p:sp>
      <p:sp>
        <p:nvSpPr>
          <p:cNvPr id="3" name="内容占位符 2"/>
          <p:cNvSpPr>
            <a:spLocks noGrp="1"/>
          </p:cNvSpPr>
          <p:nvPr>
            <p:ph idx="1"/>
          </p:nvPr>
        </p:nvSpPr>
        <p:spPr/>
        <p:txBody>
          <a:bodyPr/>
          <a:lstStyle/>
          <a:p>
            <a:r>
              <a:rPr lang="zh-CN" altLang="en-US" dirty="0"/>
              <a:t>在广度优先遍历中，我们通常使用一个</a:t>
            </a:r>
            <a:r>
              <a:rPr lang="zh-CN" altLang="en-US" dirty="0">
                <a:solidFill>
                  <a:srgbClr val="00B050"/>
                </a:solidFill>
              </a:rPr>
              <a:t>队列（</a:t>
            </a:r>
            <a:r>
              <a:rPr lang="en-US" altLang="zh-CN" dirty="0">
                <a:solidFill>
                  <a:srgbClr val="00B050"/>
                </a:solidFill>
              </a:rPr>
              <a:t>Queue</a:t>
            </a:r>
            <a:r>
              <a:rPr lang="zh-CN" altLang="en-US" dirty="0">
                <a:solidFill>
                  <a:srgbClr val="00B050"/>
                </a:solidFill>
              </a:rPr>
              <a:t>）</a:t>
            </a:r>
            <a:r>
              <a:rPr lang="zh-CN" altLang="en-US" dirty="0"/>
              <a:t>来存储待访问的节点。</a:t>
            </a:r>
            <a:r>
              <a:rPr lang="zh-CN" altLang="en-US" dirty="0">
                <a:solidFill>
                  <a:srgbClr val="FF0000"/>
                </a:solidFill>
              </a:rPr>
              <a:t>初始时，将起始节点放入队列</a:t>
            </a:r>
            <a:r>
              <a:rPr lang="zh-CN" altLang="en-US" dirty="0"/>
              <a:t>。然后，执行以下操作直到队列为空</a:t>
            </a:r>
            <a:r>
              <a:rPr lang="zh-CN" altLang="en-US" dirty="0" smtClean="0"/>
              <a:t>：</a:t>
            </a:r>
            <a:endParaRPr lang="en-US" altLang="zh-CN" dirty="0" smtClean="0"/>
          </a:p>
          <a:p>
            <a:endParaRPr lang="zh-CN" altLang="en-US" dirty="0"/>
          </a:p>
          <a:p>
            <a:pPr>
              <a:buFont typeface="Wingdings" panose="05000000000000000000" pitchFamily="2" charset="2"/>
              <a:buChar char="Ø"/>
            </a:pPr>
            <a:r>
              <a:rPr lang="zh-CN" altLang="en-US" b="1" dirty="0"/>
              <a:t>从队列中取出一个节点。</a:t>
            </a:r>
            <a:endParaRPr lang="zh-CN" altLang="en-US" dirty="0"/>
          </a:p>
          <a:p>
            <a:pPr>
              <a:buFont typeface="Wingdings" panose="05000000000000000000" pitchFamily="2" charset="2"/>
              <a:buChar char="Ø"/>
            </a:pPr>
            <a:r>
              <a:rPr lang="zh-CN" altLang="en-US" b="1" dirty="0"/>
              <a:t>访问该节点，并将其标记为已访问。</a:t>
            </a:r>
            <a:endParaRPr lang="zh-CN" altLang="en-US" dirty="0"/>
          </a:p>
          <a:p>
            <a:pPr>
              <a:buFont typeface="Wingdings" panose="05000000000000000000" pitchFamily="2" charset="2"/>
              <a:buChar char="Ø"/>
            </a:pPr>
            <a:r>
              <a:rPr lang="zh-CN" altLang="en-US" b="1" dirty="0"/>
              <a:t>将该节点的所有未被访问的邻近节点加入队列。</a:t>
            </a:r>
            <a:endParaRPr lang="zh-CN" altLang="en-US" dirty="0"/>
          </a:p>
          <a:p>
            <a:pPr marL="0" indent="0">
              <a:buNone/>
            </a:pPr>
            <a:r>
              <a:rPr lang="en-US" altLang="zh-CN" dirty="0" smtClean="0"/>
              <a:t>Ref</a:t>
            </a:r>
            <a:r>
              <a:rPr lang="zh-CN" altLang="en-US" dirty="0" smtClean="0"/>
              <a:t>：</a:t>
            </a:r>
            <a:r>
              <a:rPr lang="en-US" altLang="zh-CN" dirty="0" smtClean="0"/>
              <a:t> </a:t>
            </a:r>
            <a:r>
              <a:rPr lang="en-US" altLang="zh-CN" dirty="0" smtClean="0">
                <a:hlinkClick r:id="rId2"/>
              </a:rPr>
              <a:t>https</a:t>
            </a:r>
            <a:r>
              <a:rPr lang="en-US" altLang="zh-CN" dirty="0">
                <a:hlinkClick r:id="rId2"/>
              </a:rPr>
              <a:t>://</a:t>
            </a:r>
            <a:r>
              <a:rPr lang="en-US" altLang="zh-CN" dirty="0" smtClean="0">
                <a:hlinkClick r:id="rId2"/>
              </a:rPr>
              <a:t>blog.csdn.net/m0_73633088/article/details/134010100</a:t>
            </a:r>
            <a:endParaRPr lang="zh-CN" altLang="en-US" dirty="0"/>
          </a:p>
        </p:txBody>
      </p:sp>
    </p:spTree>
    <p:extLst>
      <p:ext uri="{BB962C8B-B14F-4D97-AF65-F5344CB8AC3E}">
        <p14:creationId xmlns:p14="http://schemas.microsoft.com/office/powerpoint/2010/main" val="46732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 calcmode="lin" valueType="num">
                                      <p:cBhvr additive="base">
                                        <p:cTn id="2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2"/>
          <a:stretch>
            <a:fillRect/>
          </a:stretch>
        </p:blipFill>
        <p:spPr>
          <a:xfrm>
            <a:off x="3639868" y="2142577"/>
            <a:ext cx="5210213" cy="3733827"/>
          </a:xfrm>
          <a:prstGeom prst="rect">
            <a:avLst/>
          </a:prstGeom>
        </p:spPr>
      </p:pic>
    </p:spTree>
    <p:extLst>
      <p:ext uri="{BB962C8B-B14F-4D97-AF65-F5344CB8AC3E}">
        <p14:creationId xmlns:p14="http://schemas.microsoft.com/office/powerpoint/2010/main" val="19952700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深度优先搜索</a:t>
            </a:r>
            <a:r>
              <a:rPr lang="en-US" altLang="zh-CN" dirty="0" smtClean="0"/>
              <a:t>(DFS)</a:t>
            </a:r>
            <a:endParaRPr lang="zh-CN" altLang="en-US" dirty="0"/>
          </a:p>
        </p:txBody>
      </p:sp>
      <p:sp>
        <p:nvSpPr>
          <p:cNvPr id="3" name="内容占位符 2"/>
          <p:cNvSpPr>
            <a:spLocks noGrp="1"/>
          </p:cNvSpPr>
          <p:nvPr>
            <p:ph idx="1"/>
          </p:nvPr>
        </p:nvSpPr>
        <p:spPr/>
        <p:txBody>
          <a:bodyPr>
            <a:normAutofit/>
          </a:bodyPr>
          <a:lstStyle/>
          <a:p>
            <a:r>
              <a:rPr lang="zh-CN" altLang="en-US" dirty="0"/>
              <a:t>深度优先搜索是用来遍历或搜索树和图数据结构的算法，它是可以从任意跟节点开始，选择一条路径走到底，并通过回溯来访问所有节点的算法。简单来说就是通过选择一条道路走到无路可走的时候回退到上一个岔路口，并标记这条路已走过，选择另外一条道路继续走，直到走遍每一条路。（一句话概括：一路走到黑，黑了就回头</a:t>
            </a:r>
            <a:r>
              <a:rPr lang="zh-CN" altLang="en-US" dirty="0" smtClean="0"/>
              <a:t>）</a:t>
            </a:r>
            <a:endParaRPr lang="zh-CN" altLang="en-US" dirty="0"/>
          </a:p>
        </p:txBody>
      </p:sp>
    </p:spTree>
    <p:extLst>
      <p:ext uri="{BB962C8B-B14F-4D97-AF65-F5344CB8AC3E}">
        <p14:creationId xmlns:p14="http://schemas.microsoft.com/office/powerpoint/2010/main" val="11644454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深度优先搜索</a:t>
            </a:r>
            <a:r>
              <a:rPr lang="en-US" altLang="zh-CN" dirty="0"/>
              <a:t>(DFS)</a:t>
            </a:r>
            <a:endParaRPr lang="zh-CN" altLang="en-US" dirty="0"/>
          </a:p>
        </p:txBody>
      </p:sp>
      <p:sp>
        <p:nvSpPr>
          <p:cNvPr id="3" name="内容占位符 2"/>
          <p:cNvSpPr>
            <a:spLocks noGrp="1"/>
          </p:cNvSpPr>
          <p:nvPr>
            <p:ph idx="1"/>
          </p:nvPr>
        </p:nvSpPr>
        <p:spPr/>
        <p:txBody>
          <a:bodyPr>
            <a:normAutofit/>
          </a:bodyPr>
          <a:lstStyle/>
          <a:p>
            <a:r>
              <a:rPr lang="en-US" altLang="zh-CN" dirty="0" smtClean="0"/>
              <a:t>DFS</a:t>
            </a:r>
            <a:r>
              <a:rPr lang="zh-CN" altLang="en-US" dirty="0" smtClean="0"/>
              <a:t>思想基于</a:t>
            </a:r>
            <a:r>
              <a:rPr lang="zh-CN" altLang="en-US" dirty="0"/>
              <a:t>递归思想，通过递归的形式来缩小问题规模，把一件事分割成若干个相同的小事，逐步完成</a:t>
            </a:r>
            <a:r>
              <a:rPr lang="zh-CN" altLang="en-US" dirty="0" smtClean="0"/>
              <a:t>。</a:t>
            </a:r>
            <a:endParaRPr lang="en-US" altLang="zh-CN" dirty="0" smtClean="0"/>
          </a:p>
          <a:p>
            <a:r>
              <a:rPr lang="zh-CN" altLang="en-US" dirty="0" smtClean="0"/>
              <a:t>深度优先搜索</a:t>
            </a:r>
            <a:r>
              <a:rPr lang="zh-CN" altLang="en-US" dirty="0"/>
              <a:t>的步骤分为 </a:t>
            </a:r>
            <a:r>
              <a:rPr lang="en-US" altLang="zh-CN" dirty="0"/>
              <a:t>1.</a:t>
            </a:r>
            <a:r>
              <a:rPr lang="zh-CN" altLang="en-US" dirty="0"/>
              <a:t>递归下去 </a:t>
            </a:r>
            <a:r>
              <a:rPr lang="en-US" altLang="zh-CN" dirty="0"/>
              <a:t>2.</a:t>
            </a:r>
            <a:r>
              <a:rPr lang="zh-CN" altLang="en-US" dirty="0"/>
              <a:t>回溯上来。顾名思义，深度优先，则是以深度为准则，先一条路走到底，直到达到目标。这里称之为递归下去。否则既没有达到目标又无路可走了，那么则退回到上一步的状态，走其他路。这便是回溯上来</a:t>
            </a:r>
            <a:r>
              <a:rPr lang="zh-CN" altLang="en-US" dirty="0" smtClean="0"/>
              <a:t>。</a:t>
            </a:r>
            <a:endParaRPr lang="zh-CN" altLang="en-US" dirty="0"/>
          </a:p>
        </p:txBody>
      </p:sp>
    </p:spTree>
    <p:extLst>
      <p:ext uri="{BB962C8B-B14F-4D97-AF65-F5344CB8AC3E}">
        <p14:creationId xmlns:p14="http://schemas.microsoft.com/office/powerpoint/2010/main" val="158499818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示例：深度优先搜索</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883913" y="2568143"/>
            <a:ext cx="10819312" cy="2540801"/>
          </a:xfrm>
          <a:prstGeom prst="rect">
            <a:avLst/>
          </a:prstGeom>
        </p:spPr>
      </p:pic>
    </p:spTree>
    <p:extLst>
      <p:ext uri="{BB962C8B-B14F-4D97-AF65-F5344CB8AC3E}">
        <p14:creationId xmlns:p14="http://schemas.microsoft.com/office/powerpoint/2010/main" val="359258045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最小生成树</a:t>
            </a:r>
            <a:endParaRPr lang="zh-CN" altLang="en-US" dirty="0"/>
          </a:p>
        </p:txBody>
      </p:sp>
      <p:sp>
        <p:nvSpPr>
          <p:cNvPr id="3" name="内容占位符 2"/>
          <p:cNvSpPr>
            <a:spLocks noGrp="1"/>
          </p:cNvSpPr>
          <p:nvPr>
            <p:ph idx="1"/>
          </p:nvPr>
        </p:nvSpPr>
        <p:spPr/>
        <p:txBody>
          <a:bodyPr/>
          <a:lstStyle/>
          <a:p>
            <a:r>
              <a:rPr lang="zh-CN" altLang="en-US" b="1" dirty="0"/>
              <a:t>生成树</a:t>
            </a:r>
            <a:r>
              <a:rPr lang="zh-CN" altLang="en-US" dirty="0"/>
              <a:t>：一个连通图的生成树是指</a:t>
            </a:r>
            <a:r>
              <a:rPr lang="zh-CN" altLang="en-US" dirty="0">
                <a:solidFill>
                  <a:srgbClr val="00B050"/>
                </a:solidFill>
              </a:rPr>
              <a:t>一个连通子图</a:t>
            </a:r>
            <a:r>
              <a:rPr lang="zh-CN" altLang="en-US" dirty="0"/>
              <a:t>，它含有图中</a:t>
            </a:r>
            <a:r>
              <a:rPr lang="zh-CN" altLang="en-US" dirty="0">
                <a:solidFill>
                  <a:srgbClr val="00B050"/>
                </a:solidFill>
              </a:rPr>
              <a:t>全部</a:t>
            </a:r>
            <a:r>
              <a:rPr lang="en-US" altLang="zh-CN" dirty="0">
                <a:solidFill>
                  <a:srgbClr val="00B050"/>
                </a:solidFill>
              </a:rPr>
              <a:t>n</a:t>
            </a:r>
            <a:r>
              <a:rPr lang="zh-CN" altLang="en-US" dirty="0">
                <a:solidFill>
                  <a:srgbClr val="00B050"/>
                </a:solidFill>
              </a:rPr>
              <a:t>个顶点</a:t>
            </a:r>
            <a:r>
              <a:rPr lang="zh-CN" altLang="en-US" dirty="0"/>
              <a:t>，但</a:t>
            </a:r>
            <a:r>
              <a:rPr lang="zh-CN" altLang="en-US" dirty="0">
                <a:solidFill>
                  <a:srgbClr val="FF0000"/>
                </a:solidFill>
              </a:rPr>
              <a:t>只有</a:t>
            </a:r>
            <a:r>
              <a:rPr lang="zh-CN" altLang="en-US" dirty="0"/>
              <a:t>足以</a:t>
            </a:r>
            <a:r>
              <a:rPr lang="zh-CN" altLang="en-US" dirty="0">
                <a:solidFill>
                  <a:srgbClr val="FF0000"/>
                </a:solidFill>
              </a:rPr>
              <a:t>构成一棵树</a:t>
            </a:r>
            <a:r>
              <a:rPr lang="zh-CN" altLang="en-US" dirty="0"/>
              <a:t>的</a:t>
            </a:r>
            <a:r>
              <a:rPr lang="en-US" altLang="zh-CN" dirty="0">
                <a:solidFill>
                  <a:srgbClr val="00B050"/>
                </a:solidFill>
              </a:rPr>
              <a:t>n-1</a:t>
            </a:r>
            <a:r>
              <a:rPr lang="zh-CN" altLang="en-US" dirty="0">
                <a:solidFill>
                  <a:srgbClr val="00B050"/>
                </a:solidFill>
              </a:rPr>
              <a:t>条边</a:t>
            </a:r>
            <a:r>
              <a:rPr lang="zh-CN" altLang="en-US" dirty="0"/>
              <a:t>。一颗有</a:t>
            </a:r>
            <a:r>
              <a:rPr lang="en-US" altLang="zh-CN" dirty="0"/>
              <a:t>n</a:t>
            </a:r>
            <a:r>
              <a:rPr lang="zh-CN" altLang="en-US" dirty="0"/>
              <a:t>个顶点的生成树有且仅有</a:t>
            </a:r>
            <a:r>
              <a:rPr lang="en-US" altLang="zh-CN" dirty="0"/>
              <a:t>n-1</a:t>
            </a:r>
            <a:r>
              <a:rPr lang="zh-CN" altLang="en-US" dirty="0"/>
              <a:t>条边，如果生成树中再添加一条边，则必定成环。</a:t>
            </a:r>
          </a:p>
          <a:p>
            <a:r>
              <a:rPr lang="zh-CN" altLang="en-US" b="1" dirty="0"/>
              <a:t>最小生成树</a:t>
            </a:r>
            <a:r>
              <a:rPr lang="zh-CN" altLang="en-US" dirty="0"/>
              <a:t>：在连通网的所有生成树中，所有边的</a:t>
            </a:r>
            <a:r>
              <a:rPr lang="zh-CN" altLang="en-US" dirty="0" smtClean="0"/>
              <a:t>代价（权重）和最小</a:t>
            </a:r>
            <a:r>
              <a:rPr lang="zh-CN" altLang="en-US" dirty="0"/>
              <a:t>的生成树，称为</a:t>
            </a:r>
            <a:r>
              <a:rPr lang="zh-CN" altLang="en-US" dirty="0" smtClean="0"/>
              <a:t>最小生成树。</a:t>
            </a:r>
            <a:endParaRPr lang="zh-CN" altLang="en-US" dirty="0"/>
          </a:p>
          <a:p>
            <a:endParaRPr lang="zh-CN" altLang="en-US" dirty="0"/>
          </a:p>
        </p:txBody>
      </p:sp>
      <p:pic>
        <p:nvPicPr>
          <p:cNvPr id="4098" name="Picture 2" descr="https://img-blog.csdn.net/201607141304355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843" y="4797373"/>
            <a:ext cx="5289728" cy="2130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3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fade">
                                      <p:cBhvr>
                                        <p:cTn id="12"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最小生成树</a:t>
            </a:r>
            <a:endParaRPr lang="zh-CN" altLang="en-US" dirty="0"/>
          </a:p>
        </p:txBody>
      </p:sp>
      <p:sp>
        <p:nvSpPr>
          <p:cNvPr id="3" name="内容占位符 2"/>
          <p:cNvSpPr>
            <a:spLocks noGrp="1"/>
          </p:cNvSpPr>
          <p:nvPr>
            <p:ph idx="1"/>
          </p:nvPr>
        </p:nvSpPr>
        <p:spPr/>
        <p:txBody>
          <a:bodyPr/>
          <a:lstStyle/>
          <a:p>
            <a:r>
              <a:rPr lang="zh-CN" altLang="en-US" dirty="0" smtClean="0"/>
              <a:t>广泛存在于网络设计</a:t>
            </a:r>
            <a:r>
              <a:rPr lang="en-US" altLang="zh-CN" dirty="0" smtClean="0"/>
              <a:t>(</a:t>
            </a:r>
            <a:r>
              <a:rPr lang="zh-CN" altLang="en-US" dirty="0" smtClean="0"/>
              <a:t>电话线、电子电路设计、有线电视、路网设计、计算机网络</a:t>
            </a:r>
            <a:r>
              <a:rPr lang="en-US" altLang="zh-CN" dirty="0" smtClean="0"/>
              <a:t>)</a:t>
            </a:r>
            <a:r>
              <a:rPr lang="zh-CN" altLang="en-US" dirty="0" smtClean="0"/>
              <a:t>、</a:t>
            </a:r>
            <a:r>
              <a:rPr lang="en-US" altLang="zh-CN" dirty="0" smtClean="0"/>
              <a:t>NP</a:t>
            </a:r>
            <a:r>
              <a:rPr lang="zh-CN" altLang="en-US" dirty="0" smtClean="0"/>
              <a:t>难问题的近似求解</a:t>
            </a:r>
            <a:r>
              <a:rPr lang="en-US" altLang="zh-CN" dirty="0" smtClean="0"/>
              <a:t>(</a:t>
            </a:r>
            <a:r>
              <a:rPr lang="zh-CN" altLang="en-US" dirty="0" smtClean="0"/>
              <a:t>多旅行商规划、斯坦纳树</a:t>
            </a:r>
            <a:r>
              <a:rPr lang="en-US" altLang="zh-CN" dirty="0" smtClean="0"/>
              <a:t>)</a:t>
            </a:r>
            <a:r>
              <a:rPr lang="zh-CN" altLang="en-US" dirty="0" smtClean="0"/>
              <a:t>、图片分割、图片特征、聚类分析等问题。</a:t>
            </a:r>
            <a:endParaRPr lang="en-US" altLang="zh-CN" dirty="0" smtClean="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436571" y="3726543"/>
            <a:ext cx="11372933" cy="2014552"/>
          </a:xfrm>
          <a:prstGeom prst="rect">
            <a:avLst/>
          </a:prstGeom>
        </p:spPr>
      </p:pic>
    </p:spTree>
    <p:extLst>
      <p:ext uri="{BB962C8B-B14F-4D97-AF65-F5344CB8AC3E}">
        <p14:creationId xmlns:p14="http://schemas.microsoft.com/office/powerpoint/2010/main" val="112742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最小生成树算法</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smtClean="0"/>
              <a:t> Prim</a:t>
            </a:r>
            <a:r>
              <a:rPr lang="zh-CN" altLang="en-US" dirty="0" smtClean="0"/>
              <a:t>算法</a:t>
            </a:r>
            <a:r>
              <a:rPr lang="en-US" altLang="zh-CN" dirty="0" smtClean="0"/>
              <a:t>(</a:t>
            </a:r>
            <a:r>
              <a:rPr lang="zh-CN" altLang="en-US" dirty="0" smtClean="0"/>
              <a:t>普</a:t>
            </a:r>
            <a:r>
              <a:rPr lang="zh-CN" altLang="en-US" dirty="0"/>
              <a:t>里姆</a:t>
            </a:r>
            <a:r>
              <a:rPr lang="zh-CN" altLang="en-US" dirty="0" smtClean="0"/>
              <a:t>算法</a:t>
            </a:r>
            <a:r>
              <a:rPr lang="en-US" altLang="zh-CN" dirty="0" smtClean="0"/>
              <a:t>) </a:t>
            </a:r>
            <a:r>
              <a:rPr lang="zh-CN" altLang="en-US" dirty="0" smtClean="0"/>
              <a:t>和 </a:t>
            </a:r>
            <a:r>
              <a:rPr lang="en-US" altLang="zh-CN" dirty="0" err="1" smtClean="0"/>
              <a:t>Kruskal</a:t>
            </a:r>
            <a:r>
              <a:rPr lang="zh-CN" altLang="en-US" dirty="0" smtClean="0"/>
              <a:t>算法</a:t>
            </a:r>
            <a:r>
              <a:rPr lang="en-US" altLang="zh-CN" dirty="0" smtClean="0"/>
              <a:t>(</a:t>
            </a:r>
            <a:r>
              <a:rPr lang="zh-CN" altLang="en-US" dirty="0"/>
              <a:t>克鲁斯卡尔算法</a:t>
            </a:r>
            <a:r>
              <a:rPr lang="en-US" altLang="zh-CN" dirty="0" smtClean="0"/>
              <a:t>)</a:t>
            </a:r>
          </a:p>
          <a:p>
            <a:pPr marL="0" indent="0">
              <a:buNone/>
            </a:pPr>
            <a:endParaRPr lang="en-US" altLang="zh-CN" dirty="0" smtClean="0"/>
          </a:p>
          <a:p>
            <a:pPr marL="0" indent="0">
              <a:buNone/>
            </a:pPr>
            <a:r>
              <a:rPr lang="zh-CN" altLang="en-US" dirty="0" smtClean="0"/>
              <a:t>普</a:t>
            </a:r>
            <a:r>
              <a:rPr lang="zh-CN" altLang="en-US" dirty="0"/>
              <a:t>里姆</a:t>
            </a:r>
            <a:r>
              <a:rPr lang="zh-CN" altLang="en-US" dirty="0" smtClean="0"/>
              <a:t>算法：</a:t>
            </a:r>
            <a:endParaRPr lang="en-US" altLang="zh-CN" dirty="0" smtClean="0"/>
          </a:p>
          <a:p>
            <a:pPr marL="0" indent="0">
              <a:buNone/>
            </a:pPr>
            <a:r>
              <a:rPr lang="zh-CN" altLang="en-US" dirty="0" smtClean="0"/>
              <a:t>在</a:t>
            </a:r>
            <a:r>
              <a:rPr lang="zh-CN" altLang="en-US" dirty="0"/>
              <a:t>找最小生成树时，将顶点分为</a:t>
            </a:r>
            <a:r>
              <a:rPr lang="zh-CN" altLang="en-US" b="1" dirty="0">
                <a:solidFill>
                  <a:srgbClr val="00B050"/>
                </a:solidFill>
              </a:rPr>
              <a:t>两类</a:t>
            </a:r>
            <a:r>
              <a:rPr lang="zh-CN" altLang="en-US" dirty="0"/>
              <a:t>，一类是在查找的过程中已经包含在生成树中的顶点（假设为 </a:t>
            </a:r>
            <a:r>
              <a:rPr lang="en-US" altLang="zh-CN" dirty="0"/>
              <a:t>A </a:t>
            </a:r>
            <a:r>
              <a:rPr lang="zh-CN" altLang="en-US" dirty="0"/>
              <a:t>类），剩下的为另一类（假设为 </a:t>
            </a:r>
            <a:r>
              <a:rPr lang="en-US" altLang="zh-CN" dirty="0"/>
              <a:t>B </a:t>
            </a:r>
            <a:r>
              <a:rPr lang="zh-CN" altLang="en-US" dirty="0"/>
              <a:t>类）。</a:t>
            </a:r>
          </a:p>
          <a:p>
            <a:pPr marL="0" indent="0">
              <a:buNone/>
            </a:pPr>
            <a:r>
              <a:rPr lang="zh-CN" altLang="en-US" dirty="0"/>
              <a:t>对于给定的连通网，起始状态全部顶点都归为 </a:t>
            </a:r>
            <a:r>
              <a:rPr lang="en-US" altLang="zh-CN" dirty="0"/>
              <a:t>B </a:t>
            </a:r>
            <a:r>
              <a:rPr lang="zh-CN" altLang="en-US" dirty="0"/>
              <a:t>类。在找最小生成树时，选定</a:t>
            </a:r>
            <a:r>
              <a:rPr lang="zh-CN" altLang="en-US" dirty="0">
                <a:solidFill>
                  <a:srgbClr val="00B050"/>
                </a:solidFill>
              </a:rPr>
              <a:t>任意一个顶点</a:t>
            </a:r>
            <a:r>
              <a:rPr lang="zh-CN" altLang="en-US" dirty="0"/>
              <a:t>作为起始点，并将之从 </a:t>
            </a:r>
            <a:r>
              <a:rPr lang="en-US" altLang="zh-CN" dirty="0"/>
              <a:t>B </a:t>
            </a:r>
            <a:r>
              <a:rPr lang="zh-CN" altLang="en-US" dirty="0"/>
              <a:t>类移至 </a:t>
            </a:r>
            <a:r>
              <a:rPr lang="en-US" altLang="zh-CN" dirty="0"/>
              <a:t>A </a:t>
            </a:r>
            <a:r>
              <a:rPr lang="zh-CN" altLang="en-US" dirty="0"/>
              <a:t>类；然后找出 </a:t>
            </a:r>
            <a:r>
              <a:rPr lang="en-US" altLang="zh-CN" dirty="0">
                <a:solidFill>
                  <a:srgbClr val="00B050"/>
                </a:solidFill>
              </a:rPr>
              <a:t>B </a:t>
            </a:r>
            <a:r>
              <a:rPr lang="zh-CN" altLang="en-US" dirty="0">
                <a:solidFill>
                  <a:srgbClr val="00B050"/>
                </a:solidFill>
              </a:rPr>
              <a:t>类中到 </a:t>
            </a:r>
            <a:r>
              <a:rPr lang="en-US" altLang="zh-CN" dirty="0">
                <a:solidFill>
                  <a:srgbClr val="00B050"/>
                </a:solidFill>
              </a:rPr>
              <a:t>A </a:t>
            </a:r>
            <a:r>
              <a:rPr lang="zh-CN" altLang="en-US" dirty="0">
                <a:solidFill>
                  <a:srgbClr val="00B050"/>
                </a:solidFill>
              </a:rPr>
              <a:t>类中的顶点之间权值最小的顶点</a:t>
            </a:r>
            <a:r>
              <a:rPr lang="zh-CN" altLang="en-US" dirty="0"/>
              <a:t>，将之从 </a:t>
            </a:r>
            <a:r>
              <a:rPr lang="en-US" altLang="zh-CN" dirty="0"/>
              <a:t>B </a:t>
            </a:r>
            <a:r>
              <a:rPr lang="zh-CN" altLang="en-US" dirty="0"/>
              <a:t>类移至 </a:t>
            </a:r>
            <a:r>
              <a:rPr lang="en-US" altLang="zh-CN" dirty="0"/>
              <a:t>A </a:t>
            </a:r>
            <a:r>
              <a:rPr lang="zh-CN" altLang="en-US" dirty="0"/>
              <a:t>类，如此重复，直到 </a:t>
            </a:r>
            <a:r>
              <a:rPr lang="en-US" altLang="zh-CN" dirty="0"/>
              <a:t>B </a:t>
            </a:r>
            <a:r>
              <a:rPr lang="zh-CN" altLang="en-US" dirty="0"/>
              <a:t>类中没有顶点为止</a:t>
            </a:r>
            <a:r>
              <a:rPr lang="zh-CN" altLang="en-US" dirty="0" smtClean="0"/>
              <a:t>。</a:t>
            </a:r>
            <a:endParaRPr lang="en-US" altLang="zh-CN" dirty="0" smtClean="0"/>
          </a:p>
          <a:p>
            <a:pPr marL="0" indent="0">
              <a:buNone/>
            </a:pPr>
            <a:r>
              <a:rPr lang="zh-CN" altLang="en-US" dirty="0" smtClean="0">
                <a:solidFill>
                  <a:srgbClr val="00B050"/>
                </a:solidFill>
              </a:rPr>
              <a:t>所</a:t>
            </a:r>
            <a:r>
              <a:rPr lang="zh-CN" altLang="en-US" dirty="0">
                <a:solidFill>
                  <a:srgbClr val="00B050"/>
                </a:solidFill>
              </a:rPr>
              <a:t>走过的顶点和边就是该连通图的最小生成树。</a:t>
            </a:r>
          </a:p>
          <a:p>
            <a:pPr marL="0" indent="0">
              <a:buNone/>
            </a:pPr>
            <a:endParaRPr lang="zh-CN" altLang="en-US" dirty="0"/>
          </a:p>
        </p:txBody>
      </p:sp>
      <p:sp>
        <p:nvSpPr>
          <p:cNvPr id="4" name="矩形 3"/>
          <p:cNvSpPr/>
          <p:nvPr/>
        </p:nvSpPr>
        <p:spPr>
          <a:xfrm>
            <a:off x="1428731" y="2144999"/>
            <a:ext cx="1580882" cy="584775"/>
          </a:xfrm>
          <a:prstGeom prst="rect">
            <a:avLst/>
          </a:prstGeom>
        </p:spPr>
        <p:txBody>
          <a:bodyPr wrap="none">
            <a:spAutoFit/>
          </a:bodyPr>
          <a:lstStyle/>
          <a:p>
            <a:r>
              <a:rPr lang="en-US" altLang="zh-CN" dirty="0"/>
              <a:t> </a:t>
            </a:r>
            <a:r>
              <a:rPr lang="zh-CN" altLang="en-US" sz="3200" dirty="0">
                <a:latin typeface="Times New Roman" panose="02020603050405020304" pitchFamily="18" charset="0"/>
                <a:ea typeface="华文楷体" panose="02010600040101010101" pitchFamily="2" charset="-122"/>
                <a:cs typeface="+mj-cs"/>
              </a:rPr>
              <a:t>加点法 </a:t>
            </a:r>
          </a:p>
        </p:txBody>
      </p:sp>
      <p:sp>
        <p:nvSpPr>
          <p:cNvPr id="5" name="矩形 4"/>
          <p:cNvSpPr/>
          <p:nvPr/>
        </p:nvSpPr>
        <p:spPr>
          <a:xfrm>
            <a:off x="5422068" y="2144999"/>
            <a:ext cx="1580882" cy="584775"/>
          </a:xfrm>
          <a:prstGeom prst="rect">
            <a:avLst/>
          </a:prstGeom>
        </p:spPr>
        <p:txBody>
          <a:bodyPr wrap="none">
            <a:spAutoFit/>
          </a:bodyPr>
          <a:lstStyle/>
          <a:p>
            <a:r>
              <a:rPr lang="en-US" altLang="zh-CN" dirty="0"/>
              <a:t> </a:t>
            </a:r>
            <a:r>
              <a:rPr lang="zh-CN" altLang="en-US" sz="3200" dirty="0" smtClean="0">
                <a:latin typeface="Times New Roman" panose="02020603050405020304" pitchFamily="18" charset="0"/>
                <a:ea typeface="华文楷体" panose="02010600040101010101" pitchFamily="2" charset="-122"/>
                <a:cs typeface="+mj-cs"/>
              </a:rPr>
              <a:t>加边法 </a:t>
            </a:r>
            <a:endParaRPr lang="zh-CN" altLang="en-US" sz="3200" dirty="0">
              <a:latin typeface="Times New Roman" panose="02020603050405020304" pitchFamily="18" charset="0"/>
              <a:ea typeface="华文楷体" panose="02010600040101010101" pitchFamily="2" charset="-122"/>
              <a:cs typeface="+mj-cs"/>
            </a:endParaRPr>
          </a:p>
        </p:txBody>
      </p:sp>
    </p:spTree>
    <p:extLst>
      <p:ext uri="{BB962C8B-B14F-4D97-AF65-F5344CB8AC3E}">
        <p14:creationId xmlns:p14="http://schemas.microsoft.com/office/powerpoint/2010/main" val="249243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pic1.zhimg.com/80/v2-e6280ed330e15420010b5e9e6f3f2e80_1440w.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p:cNvPicPr>
            <a:picLocks noChangeAspect="1"/>
          </p:cNvPicPr>
          <p:nvPr/>
        </p:nvPicPr>
        <p:blipFill>
          <a:blip r:embed="rId2"/>
          <a:stretch>
            <a:fillRect/>
          </a:stretch>
        </p:blipFill>
        <p:spPr>
          <a:xfrm>
            <a:off x="231168" y="1574746"/>
            <a:ext cx="4508149" cy="3600003"/>
          </a:xfrm>
          <a:prstGeom prst="rect">
            <a:avLst/>
          </a:prstGeom>
        </p:spPr>
      </p:pic>
      <p:pic>
        <p:nvPicPr>
          <p:cNvPr id="6" name="图片 5"/>
          <p:cNvPicPr>
            <a:picLocks noChangeAspect="1"/>
          </p:cNvPicPr>
          <p:nvPr/>
        </p:nvPicPr>
        <p:blipFill>
          <a:blip r:embed="rId3"/>
          <a:stretch>
            <a:fillRect/>
          </a:stretch>
        </p:blipFill>
        <p:spPr>
          <a:xfrm>
            <a:off x="5184360" y="660793"/>
            <a:ext cx="2999145" cy="2303300"/>
          </a:xfrm>
          <a:prstGeom prst="rect">
            <a:avLst/>
          </a:prstGeom>
        </p:spPr>
      </p:pic>
      <p:pic>
        <p:nvPicPr>
          <p:cNvPr id="7" name="图片 6"/>
          <p:cNvPicPr>
            <a:picLocks noChangeAspect="1"/>
          </p:cNvPicPr>
          <p:nvPr/>
        </p:nvPicPr>
        <p:blipFill>
          <a:blip r:embed="rId4"/>
          <a:stretch>
            <a:fillRect/>
          </a:stretch>
        </p:blipFill>
        <p:spPr>
          <a:xfrm>
            <a:off x="8627084" y="683587"/>
            <a:ext cx="3053976" cy="2345165"/>
          </a:xfrm>
          <a:prstGeom prst="rect">
            <a:avLst/>
          </a:prstGeom>
        </p:spPr>
      </p:pic>
      <p:pic>
        <p:nvPicPr>
          <p:cNvPr id="8" name="图片 7"/>
          <p:cNvPicPr>
            <a:picLocks noChangeAspect="1"/>
          </p:cNvPicPr>
          <p:nvPr/>
        </p:nvPicPr>
        <p:blipFill>
          <a:blip r:embed="rId5"/>
          <a:stretch>
            <a:fillRect/>
          </a:stretch>
        </p:blipFill>
        <p:spPr>
          <a:xfrm>
            <a:off x="5184360" y="3598828"/>
            <a:ext cx="2999145" cy="2365992"/>
          </a:xfrm>
          <a:prstGeom prst="rect">
            <a:avLst/>
          </a:prstGeom>
        </p:spPr>
      </p:pic>
      <p:pic>
        <p:nvPicPr>
          <p:cNvPr id="9" name="图片 8"/>
          <p:cNvPicPr>
            <a:picLocks noChangeAspect="1"/>
          </p:cNvPicPr>
          <p:nvPr/>
        </p:nvPicPr>
        <p:blipFill>
          <a:blip r:embed="rId6"/>
          <a:stretch>
            <a:fillRect/>
          </a:stretch>
        </p:blipFill>
        <p:spPr>
          <a:xfrm>
            <a:off x="8627084" y="3598828"/>
            <a:ext cx="3053976" cy="2365992"/>
          </a:xfrm>
          <a:prstGeom prst="rect">
            <a:avLst/>
          </a:prstGeom>
        </p:spPr>
      </p:pic>
    </p:spTree>
    <p:extLst>
      <p:ext uri="{BB962C8B-B14F-4D97-AF65-F5344CB8AC3E}">
        <p14:creationId xmlns:p14="http://schemas.microsoft.com/office/powerpoint/2010/main" val="420920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Prim</a:t>
            </a:r>
            <a:r>
              <a:rPr lang="zh-CN" altLang="en-US" dirty="0"/>
              <a:t>算法</a:t>
            </a:r>
            <a:r>
              <a:rPr lang="en-US" altLang="zh-CN" dirty="0"/>
              <a:t>(</a:t>
            </a:r>
            <a:r>
              <a:rPr lang="zh-CN" altLang="en-US" dirty="0"/>
              <a:t>普里姆算法</a:t>
            </a:r>
            <a:r>
              <a:rPr lang="en-US" altLang="zh-CN" dirty="0"/>
              <a:t>)</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smtClean="0"/>
              <a:t> Prim</a:t>
            </a:r>
            <a:r>
              <a:rPr lang="zh-CN" altLang="en-US" dirty="0" smtClean="0"/>
              <a:t>算法主要包括优先队列的两种操作：</a:t>
            </a:r>
            <a:endParaRPr lang="en-US" altLang="zh-CN" dirty="0" smtClean="0"/>
          </a:p>
          <a:p>
            <a:pPr marL="0" indent="0">
              <a:buNone/>
            </a:pPr>
            <a:r>
              <a:rPr lang="en-US" altLang="zh-CN" dirty="0"/>
              <a:t> </a:t>
            </a:r>
            <a:r>
              <a:rPr lang="zh-CN" altLang="en-US" dirty="0" smtClean="0"/>
              <a:t>一个是找最小权的边；</a:t>
            </a:r>
            <a:endParaRPr lang="en-US" altLang="zh-CN" dirty="0" smtClean="0"/>
          </a:p>
          <a:p>
            <a:pPr marL="0" indent="0">
              <a:buNone/>
            </a:pPr>
            <a:r>
              <a:rPr lang="zh-CN" altLang="en-US" dirty="0" smtClean="0"/>
              <a:t>一个是删除相应顶点。</a:t>
            </a:r>
            <a:endParaRPr lang="en-US" altLang="zh-CN" dirty="0" smtClean="0"/>
          </a:p>
          <a:p>
            <a:pPr marL="0" indent="0">
              <a:buNone/>
            </a:pPr>
            <a:r>
              <a:rPr lang="en-US" altLang="zh-CN" dirty="0"/>
              <a:t> </a:t>
            </a:r>
            <a:endParaRPr lang="zh-CN" altLang="en-US" dirty="0"/>
          </a:p>
        </p:txBody>
      </p:sp>
      <p:pic>
        <p:nvPicPr>
          <p:cNvPr id="4" name="图片 3"/>
          <p:cNvPicPr>
            <a:picLocks noChangeAspect="1"/>
          </p:cNvPicPr>
          <p:nvPr/>
        </p:nvPicPr>
        <p:blipFill>
          <a:blip r:embed="rId2"/>
          <a:stretch>
            <a:fillRect/>
          </a:stretch>
        </p:blipFill>
        <p:spPr>
          <a:xfrm>
            <a:off x="5589141" y="2405367"/>
            <a:ext cx="6247724" cy="4263112"/>
          </a:xfrm>
          <a:prstGeom prst="rect">
            <a:avLst/>
          </a:prstGeom>
        </p:spPr>
      </p:pic>
    </p:spTree>
    <p:extLst>
      <p:ext uri="{BB962C8B-B14F-4D97-AF65-F5344CB8AC3E}">
        <p14:creationId xmlns:p14="http://schemas.microsoft.com/office/powerpoint/2010/main" val="7382292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Kruskal</a:t>
            </a:r>
            <a:r>
              <a:rPr lang="en-US" altLang="zh-CN" dirty="0" smtClean="0"/>
              <a:t> </a:t>
            </a:r>
            <a:r>
              <a:rPr lang="zh-CN" altLang="en-US" dirty="0" smtClean="0"/>
              <a:t>算法</a:t>
            </a:r>
            <a:endParaRPr lang="zh-CN" altLang="en-US" dirty="0"/>
          </a:p>
        </p:txBody>
      </p:sp>
      <p:sp>
        <p:nvSpPr>
          <p:cNvPr id="3" name="内容占位符 2"/>
          <p:cNvSpPr>
            <a:spLocks noGrp="1"/>
          </p:cNvSpPr>
          <p:nvPr>
            <p:ph idx="1"/>
          </p:nvPr>
        </p:nvSpPr>
        <p:spPr>
          <a:xfrm>
            <a:off x="280219" y="1764890"/>
            <a:ext cx="5884275" cy="4852219"/>
          </a:xfrm>
        </p:spPr>
        <p:txBody>
          <a:bodyPr/>
          <a:lstStyle/>
          <a:p>
            <a:r>
              <a:rPr lang="zh-CN" altLang="en-US" dirty="0"/>
              <a:t>克鲁斯卡尔算法（</a:t>
            </a:r>
            <a:r>
              <a:rPr lang="en-US" altLang="zh-CN" dirty="0"/>
              <a:t>Kruskal</a:t>
            </a:r>
            <a:r>
              <a:rPr lang="zh-CN" altLang="en-US" dirty="0"/>
              <a:t>）是一种使用贪婪方法的最小生成树算法。 该算法初始将图视为森林，图中的每一个顶点视为一棵单独的树</a:t>
            </a:r>
            <a:r>
              <a:rPr lang="zh-CN" altLang="en-US" dirty="0" smtClean="0"/>
              <a:t>。</a:t>
            </a:r>
            <a:endParaRPr lang="en-US" altLang="zh-CN" dirty="0" smtClean="0"/>
          </a:p>
          <a:p>
            <a:pPr marL="0" indent="0">
              <a:buNone/>
            </a:pPr>
            <a:r>
              <a:rPr lang="en-US" altLang="zh-CN" dirty="0"/>
              <a:t> </a:t>
            </a:r>
            <a:r>
              <a:rPr lang="zh-CN" altLang="en-US" dirty="0" smtClean="0"/>
              <a:t> </a:t>
            </a:r>
            <a:r>
              <a:rPr lang="zh-CN" altLang="en-US" dirty="0"/>
              <a:t>一棵树只与它的邻接顶点中权值最小且不违反最小生成树属性（不构成环）的树之间建立连边</a:t>
            </a:r>
            <a:r>
              <a:rPr lang="zh-CN" altLang="en-US" dirty="0" smtClean="0"/>
              <a:t>。</a:t>
            </a:r>
            <a:endParaRPr lang="en-US" altLang="zh-CN" dirty="0" smtClean="0"/>
          </a:p>
          <a:p>
            <a:endParaRPr lang="zh-CN" altLang="en-US" dirty="0"/>
          </a:p>
        </p:txBody>
      </p:sp>
      <p:pic>
        <p:nvPicPr>
          <p:cNvPr id="4" name="图片 3"/>
          <p:cNvPicPr>
            <a:picLocks noChangeAspect="1"/>
          </p:cNvPicPr>
          <p:nvPr/>
        </p:nvPicPr>
        <p:blipFill>
          <a:blip r:embed="rId2"/>
          <a:stretch>
            <a:fillRect/>
          </a:stretch>
        </p:blipFill>
        <p:spPr>
          <a:xfrm>
            <a:off x="6461863" y="1854605"/>
            <a:ext cx="5319751" cy="4052917"/>
          </a:xfrm>
          <a:prstGeom prst="rect">
            <a:avLst/>
          </a:prstGeom>
        </p:spPr>
      </p:pic>
    </p:spTree>
    <p:extLst>
      <p:ext uri="{BB962C8B-B14F-4D97-AF65-F5344CB8AC3E}">
        <p14:creationId xmlns:p14="http://schemas.microsoft.com/office/powerpoint/2010/main" val="6475757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Kruskal</a:t>
            </a:r>
            <a:r>
              <a:rPr lang="en-US" altLang="zh-CN" dirty="0" smtClean="0"/>
              <a:t> </a:t>
            </a:r>
            <a:r>
              <a:rPr lang="zh-CN" altLang="en-US" dirty="0" smtClean="0"/>
              <a:t>算法</a:t>
            </a:r>
            <a:endParaRPr lang="zh-CN" altLang="en-US" dirty="0"/>
          </a:p>
        </p:txBody>
      </p:sp>
      <p:sp>
        <p:nvSpPr>
          <p:cNvPr id="3" name="内容占位符 2"/>
          <p:cNvSpPr>
            <a:spLocks noGrp="1"/>
          </p:cNvSpPr>
          <p:nvPr>
            <p:ph idx="1"/>
          </p:nvPr>
        </p:nvSpPr>
        <p:spPr>
          <a:xfrm>
            <a:off x="280219" y="1764890"/>
            <a:ext cx="11565884" cy="4852219"/>
          </a:xfrm>
        </p:spPr>
        <p:txBody>
          <a:bodyPr/>
          <a:lstStyle/>
          <a:p>
            <a:pPr marL="0" indent="0">
              <a:buNone/>
            </a:pPr>
            <a:r>
              <a:rPr lang="zh-CN" altLang="en-US" dirty="0"/>
              <a:t>第一步：将图中所有的边按照权值</a:t>
            </a:r>
            <a:r>
              <a:rPr lang="zh-CN" altLang="en-US" dirty="0" smtClean="0"/>
              <a:t>进行</a:t>
            </a:r>
            <a:r>
              <a:rPr lang="zh-CN" altLang="en-US" dirty="0" smtClean="0">
                <a:solidFill>
                  <a:srgbClr val="00B050"/>
                </a:solidFill>
              </a:rPr>
              <a:t>升序</a:t>
            </a:r>
            <a:r>
              <a:rPr lang="zh-CN" altLang="en-US" dirty="0" smtClean="0"/>
              <a:t>排列</a:t>
            </a:r>
            <a:endParaRPr lang="zh-CN" altLang="en-US" dirty="0"/>
          </a:p>
        </p:txBody>
      </p:sp>
      <p:pic>
        <p:nvPicPr>
          <p:cNvPr id="1026" name="Picture 2" descr="https://pic4.zhimg.com/v2-53a1fa567878c4cd489f9c826ba50e2b_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6073" y="2399177"/>
            <a:ext cx="8488044" cy="432936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p:cNvCxnSpPr/>
          <p:nvPr/>
        </p:nvCxnSpPr>
        <p:spPr>
          <a:xfrm>
            <a:off x="5532496" y="4991241"/>
            <a:ext cx="561350" cy="57021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2838391" y="4664054"/>
            <a:ext cx="843757" cy="15535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562546" y="3093004"/>
            <a:ext cx="690335" cy="21672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648780" y="3093005"/>
            <a:ext cx="641239" cy="2761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415260" y="3661717"/>
            <a:ext cx="438721" cy="7730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4694739" y="4946352"/>
            <a:ext cx="595280" cy="81796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3562546" y="3610349"/>
            <a:ext cx="825347" cy="35199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4685601" y="3661717"/>
            <a:ext cx="604418" cy="29141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681818" y="4249193"/>
            <a:ext cx="561350" cy="41486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232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克鲁斯卡尔算法</a:t>
            </a:r>
          </a:p>
        </p:txBody>
      </p:sp>
      <p:sp>
        <p:nvSpPr>
          <p:cNvPr id="3" name="内容占位符 2"/>
          <p:cNvSpPr>
            <a:spLocks noGrp="1"/>
          </p:cNvSpPr>
          <p:nvPr>
            <p:ph idx="1"/>
          </p:nvPr>
        </p:nvSpPr>
        <p:spPr/>
        <p:txBody>
          <a:bodyPr/>
          <a:lstStyle/>
          <a:p>
            <a:r>
              <a:rPr lang="zh-CN" altLang="en-US" dirty="0" smtClean="0"/>
              <a:t>该算法需要将所有边按照权值从小到大排序，这一步时间复杂度为</a:t>
            </a:r>
            <a:r>
              <a:rPr lang="en-US" altLang="zh-CN" dirty="0" smtClean="0"/>
              <a:t>O(</a:t>
            </a:r>
            <a:r>
              <a:rPr lang="en-US" altLang="zh-CN" dirty="0" err="1" smtClean="0"/>
              <a:t>ElogE</a:t>
            </a:r>
            <a:r>
              <a:rPr lang="en-US" altLang="zh-CN" dirty="0" smtClean="0"/>
              <a:t>);</a:t>
            </a:r>
            <a:r>
              <a:rPr lang="zh-CN" altLang="en-US" dirty="0" smtClean="0"/>
              <a:t>然后通常使用并查集，来快速判断两个顶点是否属于同一个集合，最坏情况可能是枚举完所有边，此时要循环</a:t>
            </a:r>
            <a:r>
              <a:rPr lang="en-US" altLang="zh-CN" dirty="0" smtClean="0"/>
              <a:t>E</a:t>
            </a:r>
            <a:r>
              <a:rPr lang="zh-CN" altLang="en-US" dirty="0" smtClean="0"/>
              <a:t>次，这一步的时间复杂度为</a:t>
            </a:r>
            <a:r>
              <a:rPr lang="en-US" altLang="zh-CN" dirty="0" smtClean="0"/>
              <a:t>O(E)</a:t>
            </a:r>
            <a:r>
              <a:rPr lang="zh-CN" altLang="en-US" dirty="0" smtClean="0"/>
              <a:t>；</a:t>
            </a:r>
            <a:endParaRPr lang="en-US" altLang="zh-CN" dirty="0" smtClean="0"/>
          </a:p>
          <a:p>
            <a:pPr marL="0" indent="0">
              <a:buNone/>
            </a:pPr>
            <a:r>
              <a:rPr lang="en-US" altLang="zh-CN" dirty="0"/>
              <a:t> </a:t>
            </a:r>
            <a:r>
              <a:rPr lang="en-US" altLang="zh-CN" dirty="0" smtClean="0"/>
              <a:t> </a:t>
            </a:r>
            <a:r>
              <a:rPr lang="zh-CN" altLang="en-US" dirty="0" smtClean="0"/>
              <a:t>该算法比较适用于稀疏图，一般</a:t>
            </a:r>
            <a:r>
              <a:rPr lang="en-US" altLang="zh-CN" dirty="0" smtClean="0"/>
              <a:t>O(E)</a:t>
            </a:r>
            <a:r>
              <a:rPr lang="zh-CN" altLang="en-US" dirty="0" smtClean="0"/>
              <a:t>可以看做常数，所以总复杂度为</a:t>
            </a:r>
            <a:r>
              <a:rPr lang="en-US" altLang="zh-CN" dirty="0" smtClean="0"/>
              <a:t>O(</a:t>
            </a:r>
            <a:r>
              <a:rPr lang="en-US" altLang="zh-CN" dirty="0" err="1" smtClean="0"/>
              <a:t>ElogE</a:t>
            </a:r>
            <a:r>
              <a:rPr lang="en-US" altLang="zh-CN" dirty="0" smtClean="0"/>
              <a:t>)</a:t>
            </a:r>
            <a:r>
              <a:rPr lang="zh-CN" altLang="en-US" dirty="0" smtClean="0"/>
              <a:t>。</a:t>
            </a:r>
            <a:endParaRPr lang="zh-CN" altLang="en-US" dirty="0"/>
          </a:p>
        </p:txBody>
      </p:sp>
    </p:spTree>
    <p:extLst>
      <p:ext uri="{BB962C8B-B14F-4D97-AF65-F5344CB8AC3E}">
        <p14:creationId xmlns:p14="http://schemas.microsoft.com/office/powerpoint/2010/main" val="42141345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最短路径问题</a:t>
            </a:r>
            <a:endParaRPr lang="zh-CN" altLang="en-US" dirty="0"/>
          </a:p>
        </p:txBody>
      </p:sp>
      <p:sp>
        <p:nvSpPr>
          <p:cNvPr id="3" name="内容占位符 2"/>
          <p:cNvSpPr>
            <a:spLocks noGrp="1"/>
          </p:cNvSpPr>
          <p:nvPr>
            <p:ph idx="1"/>
          </p:nvPr>
        </p:nvSpPr>
        <p:spPr/>
        <p:txBody>
          <a:bodyPr/>
          <a:lstStyle/>
          <a:p>
            <a:r>
              <a:rPr lang="zh-CN" altLang="en-US" dirty="0"/>
              <a:t>从图中的某个顶点出发到达另外一个顶点的所经过的边的权重和最小的一条路径，称为</a:t>
            </a:r>
            <a:r>
              <a:rPr lang="zh-CN" altLang="en-US" b="1" dirty="0">
                <a:solidFill>
                  <a:srgbClr val="00B050"/>
                </a:solidFill>
              </a:rPr>
              <a:t>最短</a:t>
            </a:r>
            <a:r>
              <a:rPr lang="zh-CN" altLang="en-US" b="1" dirty="0" smtClean="0">
                <a:solidFill>
                  <a:srgbClr val="00B050"/>
                </a:solidFill>
              </a:rPr>
              <a:t>路径</a:t>
            </a:r>
            <a:r>
              <a:rPr lang="zh-CN" altLang="en-US" dirty="0" smtClean="0"/>
              <a:t>。</a:t>
            </a:r>
            <a:endParaRPr lang="en-US" altLang="zh-CN" dirty="0" smtClean="0"/>
          </a:p>
          <a:p>
            <a:pPr marL="0" indent="0">
              <a:buNone/>
            </a:pPr>
            <a:r>
              <a:rPr lang="zh-CN" altLang="en-US" dirty="0" smtClean="0"/>
              <a:t>  解决问题</a:t>
            </a:r>
            <a:r>
              <a:rPr lang="zh-CN" altLang="en-US" dirty="0"/>
              <a:t>的算法：</a:t>
            </a:r>
          </a:p>
          <a:p>
            <a:pPr marL="0" indent="0">
              <a:buNone/>
            </a:pPr>
            <a:r>
              <a:rPr lang="zh-CN" altLang="en-US" dirty="0" smtClean="0"/>
              <a:t>  </a:t>
            </a:r>
            <a:r>
              <a:rPr lang="en-US" altLang="zh-CN" dirty="0" smtClean="0"/>
              <a:t>1</a:t>
            </a:r>
            <a:r>
              <a:rPr lang="zh-CN" altLang="en-US" dirty="0" smtClean="0"/>
              <a:t>、迪杰斯特拉</a:t>
            </a:r>
            <a:r>
              <a:rPr lang="zh-CN" altLang="en-US" dirty="0"/>
              <a:t>算法（</a:t>
            </a:r>
            <a:r>
              <a:rPr lang="en-US" altLang="zh-CN" dirty="0"/>
              <a:t>Dijkstra</a:t>
            </a:r>
            <a:r>
              <a:rPr lang="zh-CN" altLang="en-US" dirty="0"/>
              <a:t>算法</a:t>
            </a:r>
            <a:r>
              <a:rPr lang="zh-CN" altLang="en-US" dirty="0" smtClean="0"/>
              <a:t>） 单源最短路径</a:t>
            </a:r>
            <a:endParaRPr lang="zh-CN" altLang="en-US" dirty="0"/>
          </a:p>
          <a:p>
            <a:pPr marL="0" indent="0">
              <a:buNone/>
            </a:pPr>
            <a:r>
              <a:rPr lang="zh-CN" altLang="en-US" dirty="0" smtClean="0"/>
              <a:t>  </a:t>
            </a:r>
            <a:r>
              <a:rPr lang="en-US" altLang="zh-CN" dirty="0" smtClean="0"/>
              <a:t>2</a:t>
            </a:r>
            <a:r>
              <a:rPr lang="zh-CN" altLang="en-US" dirty="0" smtClean="0"/>
              <a:t>、弗洛伊德</a:t>
            </a:r>
            <a:r>
              <a:rPr lang="zh-CN" altLang="en-US" dirty="0"/>
              <a:t>算法（</a:t>
            </a:r>
            <a:r>
              <a:rPr lang="en-US" altLang="zh-CN" dirty="0"/>
              <a:t>Floyd</a:t>
            </a:r>
            <a:r>
              <a:rPr lang="zh-CN" altLang="en-US" dirty="0"/>
              <a:t>算法</a:t>
            </a:r>
            <a:r>
              <a:rPr lang="zh-CN" altLang="en-US" dirty="0" smtClean="0"/>
              <a:t>）        多源最短路径</a:t>
            </a:r>
            <a:endParaRPr lang="zh-CN" altLang="en-US" dirty="0"/>
          </a:p>
          <a:p>
            <a:pPr marL="0" indent="0">
              <a:buNone/>
            </a:pPr>
            <a:r>
              <a:rPr lang="en-US" altLang="zh-CN" dirty="0" smtClean="0"/>
              <a:t>  3</a:t>
            </a:r>
            <a:r>
              <a:rPr lang="zh-CN" altLang="en-US" dirty="0" smtClean="0"/>
              <a:t>、</a:t>
            </a:r>
            <a:r>
              <a:rPr lang="en-US" altLang="zh-CN" dirty="0" smtClean="0"/>
              <a:t>SPFA</a:t>
            </a:r>
            <a:r>
              <a:rPr lang="zh-CN" altLang="en-US" dirty="0"/>
              <a:t>算法</a:t>
            </a:r>
          </a:p>
          <a:p>
            <a:pPr marL="0" indent="0">
              <a:buNone/>
            </a:pPr>
            <a:endParaRPr lang="zh-CN" altLang="en-US" dirty="0"/>
          </a:p>
        </p:txBody>
      </p:sp>
    </p:spTree>
    <p:extLst>
      <p:ext uri="{BB962C8B-B14F-4D97-AF65-F5344CB8AC3E}">
        <p14:creationId xmlns:p14="http://schemas.microsoft.com/office/powerpoint/2010/main" val="377719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迪杰斯特拉算法（</a:t>
            </a:r>
            <a:r>
              <a:rPr lang="en-US" altLang="zh-CN" dirty="0" err="1"/>
              <a:t>Dijkstra</a:t>
            </a:r>
            <a:r>
              <a:rPr lang="zh-CN" altLang="en-US" dirty="0"/>
              <a:t>算法</a:t>
            </a:r>
            <a:r>
              <a:rPr lang="zh-CN" altLang="en-US" dirty="0" smtClean="0"/>
              <a:t>）</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a:t>算法特点</a:t>
            </a:r>
            <a:r>
              <a:rPr lang="zh-CN" altLang="en-US" dirty="0" smtClean="0"/>
              <a:t>：</a:t>
            </a:r>
            <a:r>
              <a:rPr lang="zh-CN" altLang="en-US" dirty="0"/>
              <a:t>迪杰斯特拉</a:t>
            </a:r>
            <a:r>
              <a:rPr lang="zh-CN" altLang="en-US" dirty="0" smtClean="0"/>
              <a:t>算法</a:t>
            </a:r>
            <a:r>
              <a:rPr lang="zh-CN" altLang="en-US" dirty="0"/>
              <a:t>使用了</a:t>
            </a:r>
            <a:r>
              <a:rPr lang="zh-CN" altLang="en-US" b="1" dirty="0">
                <a:solidFill>
                  <a:srgbClr val="00B050"/>
                </a:solidFill>
              </a:rPr>
              <a:t>广度优先搜索解决赋权有向图或者无向图的单源最短路径问题</a:t>
            </a:r>
            <a:r>
              <a:rPr lang="zh-CN" altLang="en-US" dirty="0"/>
              <a:t>，算法最终得到一个最短路径树。该算法常用于路由算法或者作为其他图算法的一个子模块</a:t>
            </a:r>
            <a:r>
              <a:rPr lang="zh-CN" altLang="en-US" dirty="0" smtClean="0"/>
              <a:t>。</a:t>
            </a:r>
            <a:endParaRPr lang="en-US" altLang="zh-CN" dirty="0" smtClean="0"/>
          </a:p>
          <a:p>
            <a:r>
              <a:rPr lang="zh-CN" altLang="en-US" dirty="0" smtClean="0"/>
              <a:t>算法</a:t>
            </a:r>
            <a:r>
              <a:rPr lang="zh-CN" altLang="en-US" dirty="0"/>
              <a:t>的</a:t>
            </a:r>
            <a:r>
              <a:rPr lang="zh-CN" altLang="en-US" dirty="0" smtClean="0"/>
              <a:t>思路：</a:t>
            </a:r>
            <a:r>
              <a:rPr lang="en-US" altLang="zh-CN" dirty="0" err="1" smtClean="0"/>
              <a:t>Dijkstra</a:t>
            </a:r>
            <a:r>
              <a:rPr lang="zh-CN" altLang="en-US" dirty="0"/>
              <a:t>算法采用的是一种贪心的策略，声明一个</a:t>
            </a:r>
            <a:r>
              <a:rPr lang="zh-CN" altLang="en-US" b="1" dirty="0">
                <a:solidFill>
                  <a:srgbClr val="00B050"/>
                </a:solidFill>
              </a:rPr>
              <a:t>数组</a:t>
            </a:r>
            <a:r>
              <a:rPr lang="en-US" altLang="zh-CN" b="1" dirty="0">
                <a:solidFill>
                  <a:srgbClr val="00B050"/>
                </a:solidFill>
              </a:rPr>
              <a:t>dis</a:t>
            </a:r>
            <a:r>
              <a:rPr lang="zh-CN" altLang="en-US" dirty="0"/>
              <a:t>来保存源点到各个顶点的最短距离和一个保存已经找到了最短路径的顶点的集合：</a:t>
            </a:r>
            <a:r>
              <a:rPr lang="en-US" altLang="zh-CN" dirty="0"/>
              <a:t>T</a:t>
            </a:r>
            <a:r>
              <a:rPr lang="zh-CN" altLang="en-US" dirty="0"/>
              <a:t>，初始时，原点 </a:t>
            </a:r>
            <a:r>
              <a:rPr lang="en-US" altLang="zh-CN" dirty="0"/>
              <a:t>s </a:t>
            </a:r>
            <a:r>
              <a:rPr lang="zh-CN" altLang="en-US" dirty="0"/>
              <a:t>的路径权重被赋为 </a:t>
            </a:r>
            <a:r>
              <a:rPr lang="en-US" altLang="zh-CN" dirty="0"/>
              <a:t>0 </a:t>
            </a:r>
            <a:r>
              <a:rPr lang="zh-CN" altLang="en-US" dirty="0"/>
              <a:t>（</a:t>
            </a:r>
            <a:r>
              <a:rPr lang="en-US" altLang="zh-CN" dirty="0"/>
              <a:t>dis[s] = 0</a:t>
            </a:r>
            <a:r>
              <a:rPr lang="zh-CN" altLang="en-US" dirty="0"/>
              <a:t>）。若对于顶点 </a:t>
            </a:r>
            <a:r>
              <a:rPr lang="en-US" altLang="zh-CN" dirty="0"/>
              <a:t>s </a:t>
            </a:r>
            <a:r>
              <a:rPr lang="zh-CN" altLang="en-US" dirty="0"/>
              <a:t>存在能直接到达的边（</a:t>
            </a:r>
            <a:r>
              <a:rPr lang="en-US" altLang="zh-CN" dirty="0" err="1"/>
              <a:t>s,m</a:t>
            </a:r>
            <a:r>
              <a:rPr lang="zh-CN" altLang="en-US" dirty="0"/>
              <a:t>），则把</a:t>
            </a:r>
            <a:r>
              <a:rPr lang="en-US" altLang="zh-CN" dirty="0"/>
              <a:t>dis[m]</a:t>
            </a:r>
            <a:r>
              <a:rPr lang="zh-CN" altLang="en-US" dirty="0"/>
              <a:t>设为</a:t>
            </a:r>
            <a:r>
              <a:rPr lang="en-US" altLang="zh-CN" dirty="0"/>
              <a:t>w</a:t>
            </a:r>
            <a:r>
              <a:rPr lang="zh-CN" altLang="en-US" dirty="0"/>
              <a:t>（</a:t>
            </a:r>
            <a:r>
              <a:rPr lang="en-US" altLang="zh-CN" dirty="0"/>
              <a:t>s, m</a:t>
            </a:r>
            <a:r>
              <a:rPr lang="zh-CN" altLang="en-US" dirty="0"/>
              <a:t>）</a:t>
            </a:r>
            <a:r>
              <a:rPr lang="en-US" altLang="zh-CN" dirty="0"/>
              <a:t>,</a:t>
            </a:r>
            <a:r>
              <a:rPr lang="zh-CN" altLang="en-US" dirty="0"/>
              <a:t>同时把所有其他（</a:t>
            </a:r>
            <a:r>
              <a:rPr lang="en-US" altLang="zh-CN" dirty="0"/>
              <a:t>s</a:t>
            </a:r>
            <a:r>
              <a:rPr lang="zh-CN" altLang="en-US" dirty="0"/>
              <a:t>不能直接到达的）顶点的路径长度设为无穷大。初始时，集合</a:t>
            </a:r>
            <a:r>
              <a:rPr lang="en-US" altLang="zh-CN" dirty="0"/>
              <a:t>T</a:t>
            </a:r>
            <a:r>
              <a:rPr lang="zh-CN" altLang="en-US" dirty="0"/>
              <a:t>只有顶点</a:t>
            </a:r>
            <a:r>
              <a:rPr lang="en-US" altLang="zh-CN" dirty="0"/>
              <a:t>s</a:t>
            </a:r>
            <a:r>
              <a:rPr lang="zh-CN" altLang="en-US" dirty="0" smtClean="0"/>
              <a:t>。</a:t>
            </a:r>
            <a:endParaRPr lang="en-US" altLang="zh-CN" dirty="0" smtClean="0"/>
          </a:p>
          <a:p>
            <a:pPr marL="0" indent="0">
              <a:buNone/>
            </a:pPr>
            <a:r>
              <a:rPr lang="en-US" altLang="zh-CN" dirty="0"/>
              <a:t> </a:t>
            </a:r>
            <a:r>
              <a:rPr lang="en-US" altLang="zh-CN" dirty="0" smtClean="0"/>
              <a:t>  </a:t>
            </a:r>
            <a:r>
              <a:rPr lang="zh-CN" altLang="en-US" dirty="0" smtClean="0"/>
              <a:t>然后</a:t>
            </a:r>
            <a:r>
              <a:rPr lang="zh-CN" altLang="en-US" dirty="0"/>
              <a:t>，从</a:t>
            </a:r>
            <a:r>
              <a:rPr lang="en-US" altLang="zh-CN" dirty="0"/>
              <a:t>dis</a:t>
            </a:r>
            <a:r>
              <a:rPr lang="zh-CN" altLang="en-US" dirty="0"/>
              <a:t>数组选择最小值，则该值就是源点</a:t>
            </a:r>
            <a:r>
              <a:rPr lang="en-US" altLang="zh-CN" dirty="0"/>
              <a:t>s</a:t>
            </a:r>
            <a:r>
              <a:rPr lang="zh-CN" altLang="en-US" dirty="0"/>
              <a:t>到该值对应的顶点的最短路径，并且把该点加入到</a:t>
            </a:r>
            <a:r>
              <a:rPr lang="en-US" altLang="zh-CN" dirty="0"/>
              <a:t>T</a:t>
            </a:r>
            <a:r>
              <a:rPr lang="zh-CN" altLang="en-US" dirty="0"/>
              <a:t>中，</a:t>
            </a:r>
            <a:r>
              <a:rPr lang="en-US" altLang="zh-CN" dirty="0"/>
              <a:t>OK</a:t>
            </a:r>
            <a:r>
              <a:rPr lang="zh-CN" altLang="en-US" dirty="0"/>
              <a:t>，此时完成一个顶点，然后，我们需要看看新加入的顶点是否可以到达其他顶点并且看看通过该顶点到达其他点的路径长度是否比源点直接到达短，如果是，那么就替换这些顶点在</a:t>
            </a:r>
            <a:r>
              <a:rPr lang="en-US" altLang="zh-CN" dirty="0"/>
              <a:t>dis</a:t>
            </a:r>
            <a:r>
              <a:rPr lang="zh-CN" altLang="en-US" dirty="0"/>
              <a:t>中的值。然后，又从</a:t>
            </a:r>
            <a:r>
              <a:rPr lang="en-US" altLang="zh-CN" dirty="0"/>
              <a:t>dis</a:t>
            </a:r>
            <a:r>
              <a:rPr lang="zh-CN" altLang="en-US" dirty="0"/>
              <a:t>中找出最小值，重复上述动作，直到</a:t>
            </a:r>
            <a:r>
              <a:rPr lang="en-US" altLang="zh-CN" dirty="0"/>
              <a:t>T</a:t>
            </a:r>
            <a:r>
              <a:rPr lang="zh-CN" altLang="en-US" dirty="0"/>
              <a:t>中包含了图的所有顶点</a:t>
            </a:r>
            <a:r>
              <a:rPr lang="zh-CN" altLang="en-US" dirty="0" smtClean="0"/>
              <a:t>。</a:t>
            </a:r>
            <a:endParaRPr lang="zh-CN" altLang="en-US" dirty="0"/>
          </a:p>
        </p:txBody>
      </p:sp>
    </p:spTree>
    <p:extLst>
      <p:ext uri="{BB962C8B-B14F-4D97-AF65-F5344CB8AC3E}">
        <p14:creationId xmlns:p14="http://schemas.microsoft.com/office/powerpoint/2010/main" val="25020857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换一种说法</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a:t>1</a:t>
            </a:r>
            <a:r>
              <a:rPr lang="zh-CN" altLang="en-US" dirty="0"/>
              <a:t>、先选定一个根结点，并选定一个数组，先确定未遍历前的初始距离，把距离最短的邻接结点选定为中间结点，并标记访问过，开始往下遍历，挨个访问那个中间结点的邻接结点。计算出根结点到中间结点</a:t>
            </a:r>
            <a:r>
              <a:rPr lang="en-US" altLang="zh-CN" dirty="0"/>
              <a:t>+</a:t>
            </a:r>
            <a:r>
              <a:rPr lang="zh-CN" altLang="en-US" dirty="0"/>
              <a:t>中间结点到新邻接结点的距离，作为新距离，对比新距离和旧距离，如果新距离大，则把新距离替换掉旧距离，否则不变</a:t>
            </a:r>
            <a:r>
              <a:rPr lang="zh-CN" altLang="en-US" dirty="0" smtClean="0"/>
              <a:t>。</a:t>
            </a:r>
            <a:endParaRPr lang="en-US" altLang="zh-CN" dirty="0" smtClean="0"/>
          </a:p>
          <a:p>
            <a:pPr marL="0" indent="0">
              <a:buNone/>
            </a:pPr>
            <a:r>
              <a:rPr lang="en-US" altLang="zh-CN" dirty="0" smtClean="0"/>
              <a:t>2</a:t>
            </a:r>
            <a:r>
              <a:rPr lang="zh-CN" altLang="en-US" dirty="0"/>
              <a:t>、一轮访问结束后，</a:t>
            </a:r>
            <a:r>
              <a:rPr lang="zh-CN" altLang="en-US" dirty="0">
                <a:solidFill>
                  <a:srgbClr val="00B050"/>
                </a:solidFill>
              </a:rPr>
              <a:t>从未标记的结点中选定距离最短的</a:t>
            </a:r>
            <a:r>
              <a:rPr lang="zh-CN" altLang="en-US" dirty="0"/>
              <a:t>，把它作为中间结点，继续往下访问。若都标记过，则算法结束</a:t>
            </a:r>
            <a:r>
              <a:rPr lang="zh-CN" altLang="en-US" dirty="0" smtClean="0"/>
              <a:t>。</a:t>
            </a:r>
            <a:endParaRPr lang="zh-CN" altLang="en-US" dirty="0"/>
          </a:p>
        </p:txBody>
      </p:sp>
    </p:spTree>
    <p:extLst>
      <p:ext uri="{BB962C8B-B14F-4D97-AF65-F5344CB8AC3E}">
        <p14:creationId xmlns:p14="http://schemas.microsoft.com/office/powerpoint/2010/main" val="29176547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 例</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r>
              <a:rPr lang="en-US" altLang="zh-CN" dirty="0" smtClean="0"/>
              <a:t>   </a:t>
            </a:r>
          </a:p>
          <a:p>
            <a:pPr marL="0" indent="0">
              <a:buNone/>
            </a:pPr>
            <a:r>
              <a:rPr lang="en-US" altLang="zh-CN" dirty="0"/>
              <a:t> </a:t>
            </a:r>
            <a:r>
              <a:rPr lang="en-US" altLang="zh-CN" dirty="0" smtClean="0"/>
              <a:t>   </a:t>
            </a:r>
            <a:r>
              <a:rPr lang="zh-CN" altLang="en-US" dirty="0" smtClean="0"/>
              <a:t>简单分析：</a:t>
            </a:r>
            <a:endParaRPr lang="zh-CN" altLang="en-US" dirty="0"/>
          </a:p>
        </p:txBody>
      </p:sp>
      <p:pic>
        <p:nvPicPr>
          <p:cNvPr id="5" name="图片 4"/>
          <p:cNvPicPr>
            <a:picLocks noChangeAspect="1"/>
          </p:cNvPicPr>
          <p:nvPr/>
        </p:nvPicPr>
        <p:blipFill>
          <a:blip r:embed="rId2"/>
          <a:stretch>
            <a:fillRect/>
          </a:stretch>
        </p:blipFill>
        <p:spPr>
          <a:xfrm>
            <a:off x="6220371" y="2529410"/>
            <a:ext cx="5570826" cy="3457254"/>
          </a:xfrm>
          <a:prstGeom prst="rect">
            <a:avLst/>
          </a:prstGeom>
        </p:spPr>
      </p:pic>
      <p:pic>
        <p:nvPicPr>
          <p:cNvPr id="6" name="图片 5"/>
          <p:cNvPicPr>
            <a:picLocks noChangeAspect="1"/>
          </p:cNvPicPr>
          <p:nvPr/>
        </p:nvPicPr>
        <p:blipFill>
          <a:blip r:embed="rId3"/>
          <a:stretch>
            <a:fillRect/>
          </a:stretch>
        </p:blipFill>
        <p:spPr>
          <a:xfrm>
            <a:off x="343197" y="2529410"/>
            <a:ext cx="6419897" cy="3133748"/>
          </a:xfrm>
          <a:prstGeom prst="rect">
            <a:avLst/>
          </a:prstGeom>
        </p:spPr>
      </p:pic>
    </p:spTree>
    <p:extLst>
      <p:ext uri="{BB962C8B-B14F-4D97-AF65-F5344CB8AC3E}">
        <p14:creationId xmlns:p14="http://schemas.microsoft.com/office/powerpoint/2010/main" val="24149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最短路径结果</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171254" y="2344468"/>
            <a:ext cx="10258543" cy="3450158"/>
          </a:xfrm>
          <a:prstGeom prst="rect">
            <a:avLst/>
          </a:prstGeom>
        </p:spPr>
      </p:pic>
    </p:spTree>
    <p:extLst>
      <p:ext uri="{BB962C8B-B14F-4D97-AF65-F5344CB8AC3E}">
        <p14:creationId xmlns:p14="http://schemas.microsoft.com/office/powerpoint/2010/main" val="24444422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 B </a:t>
            </a:r>
            <a:r>
              <a:rPr lang="zh-CN" altLang="en-US" dirty="0" smtClean="0"/>
              <a:t>站</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279131" y="1690588"/>
            <a:ext cx="9805279" cy="5104637"/>
          </a:xfrm>
          <a:prstGeom prst="rect">
            <a:avLst/>
          </a:prstGeom>
        </p:spPr>
      </p:pic>
      <p:pic>
        <p:nvPicPr>
          <p:cNvPr id="5" name="图片 4"/>
          <p:cNvPicPr>
            <a:picLocks noChangeAspect="1"/>
          </p:cNvPicPr>
          <p:nvPr/>
        </p:nvPicPr>
        <p:blipFill>
          <a:blip r:embed="rId3"/>
          <a:stretch>
            <a:fillRect/>
          </a:stretch>
        </p:blipFill>
        <p:spPr>
          <a:xfrm>
            <a:off x="1279131" y="1690588"/>
            <a:ext cx="9765588" cy="5336272"/>
          </a:xfrm>
          <a:prstGeom prst="rect">
            <a:avLst/>
          </a:prstGeom>
        </p:spPr>
      </p:pic>
    </p:spTree>
    <p:extLst>
      <p:ext uri="{BB962C8B-B14F-4D97-AF65-F5344CB8AC3E}">
        <p14:creationId xmlns:p14="http://schemas.microsoft.com/office/powerpoint/2010/main" val="98842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、动态规划</a:t>
            </a:r>
            <a:endParaRPr lang="zh-CN" altLang="en-US" dirty="0"/>
          </a:p>
        </p:txBody>
      </p:sp>
      <p:sp>
        <p:nvSpPr>
          <p:cNvPr id="3" name="内容占位符 2"/>
          <p:cNvSpPr>
            <a:spLocks noGrp="1"/>
          </p:cNvSpPr>
          <p:nvPr>
            <p:ph idx="1"/>
          </p:nvPr>
        </p:nvSpPr>
        <p:spPr/>
        <p:txBody>
          <a:bodyPr/>
          <a:lstStyle/>
          <a:p>
            <a:r>
              <a:rPr lang="zh-CN" altLang="en-US" dirty="0"/>
              <a:t>动态规划算法的思想比较简单，其实质是</a:t>
            </a:r>
            <a:r>
              <a:rPr lang="zh-CN" altLang="en-US" b="1" dirty="0">
                <a:solidFill>
                  <a:srgbClr val="00B050"/>
                </a:solidFill>
              </a:rPr>
              <a:t>分治思想</a:t>
            </a:r>
            <a:r>
              <a:rPr lang="zh-CN" altLang="en-US" dirty="0"/>
              <a:t>和</a:t>
            </a:r>
            <a:r>
              <a:rPr lang="zh-CN" altLang="en-US" b="1" dirty="0">
                <a:solidFill>
                  <a:srgbClr val="00B050"/>
                </a:solidFill>
              </a:rPr>
              <a:t>解决冗余</a:t>
            </a:r>
            <a:r>
              <a:rPr lang="zh-CN" altLang="en-US" dirty="0"/>
              <a:t>，因此它与分治法和贪心法类似，它们都是将待求解问题分解为更小的、相同的子问题，然后对子问题进行求解，最终产生一个整体最优解。</a:t>
            </a:r>
          </a:p>
        </p:txBody>
      </p:sp>
    </p:spTree>
    <p:extLst>
      <p:ext uri="{BB962C8B-B14F-4D97-AF65-F5344CB8AC3E}">
        <p14:creationId xmlns:p14="http://schemas.microsoft.com/office/powerpoint/2010/main" val="200783006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0-1</a:t>
            </a:r>
            <a:r>
              <a:rPr lang="zh-CN" altLang="en-US" dirty="0" smtClean="0"/>
              <a:t>背包</a:t>
            </a:r>
            <a:endParaRPr lang="zh-CN" altLang="en-US" dirty="0"/>
          </a:p>
        </p:txBody>
      </p:sp>
      <p:sp>
        <p:nvSpPr>
          <p:cNvPr id="3" name="内容占位符 2"/>
          <p:cNvSpPr>
            <a:spLocks noGrp="1"/>
          </p:cNvSpPr>
          <p:nvPr>
            <p:ph idx="1"/>
          </p:nvPr>
        </p:nvSpPr>
        <p:spPr/>
        <p:txBody>
          <a:bodyPr/>
          <a:lstStyle/>
          <a:p>
            <a:r>
              <a:rPr lang="zh-CN" altLang="en-US" dirty="0" smtClean="0"/>
              <a:t>给定一个容量为</a:t>
            </a:r>
            <a:r>
              <a:rPr lang="en-US" altLang="zh-CN" dirty="0" smtClean="0"/>
              <a:t>W</a:t>
            </a:r>
            <a:r>
              <a:rPr lang="zh-CN" altLang="en-US" dirty="0" smtClean="0"/>
              <a:t>的背包和</a:t>
            </a:r>
            <a:r>
              <a:rPr lang="en-US" altLang="zh-CN" dirty="0" smtClean="0"/>
              <a:t>n</a:t>
            </a:r>
            <a:r>
              <a:rPr lang="zh-CN" altLang="en-US" dirty="0" smtClean="0"/>
              <a:t>件物品，其中第</a:t>
            </a:r>
            <a:r>
              <a:rPr lang="en-US" altLang="zh-CN" dirty="0" err="1" smtClean="0"/>
              <a:t>i</a:t>
            </a:r>
            <a:r>
              <a:rPr lang="zh-CN" altLang="en-US" dirty="0" smtClean="0"/>
              <a:t>件物品的质量为</a:t>
            </a:r>
            <a:r>
              <a:rPr lang="en-US" altLang="zh-CN" dirty="0" err="1" smtClean="0"/>
              <a:t>w</a:t>
            </a:r>
            <a:r>
              <a:rPr lang="en-US" altLang="zh-CN" baseline="-25000" dirty="0" err="1" smtClean="0"/>
              <a:t>i</a:t>
            </a:r>
            <a:r>
              <a:rPr lang="en-US" altLang="zh-CN" dirty="0" smtClean="0"/>
              <a:t>,</a:t>
            </a:r>
            <a:r>
              <a:rPr lang="zh-CN" altLang="en-US" dirty="0" smtClean="0"/>
              <a:t>价值为</a:t>
            </a:r>
            <a:r>
              <a:rPr lang="en-US" altLang="zh-CN" dirty="0" smtClean="0"/>
              <a:t>v</a:t>
            </a:r>
            <a:r>
              <a:rPr lang="en-US" altLang="zh-CN" baseline="-25000" dirty="0" smtClean="0"/>
              <a:t>i</a:t>
            </a:r>
            <a:r>
              <a:rPr lang="zh-CN" altLang="en-US" dirty="0" smtClean="0"/>
              <a:t>。目标是在不超过背包容量的情况下，选取出价值最高的物品集合。</a:t>
            </a:r>
            <a:endParaRPr lang="en-US" altLang="zh-CN" dirty="0"/>
          </a:p>
          <a:p>
            <a:r>
              <a:rPr lang="en-US" altLang="zh-CN" dirty="0" smtClean="0"/>
              <a:t> </a:t>
            </a:r>
            <a:r>
              <a:rPr lang="zh-CN" altLang="en-US" dirty="0" smtClean="0"/>
              <a:t>经典问题，实际上是一个</a:t>
            </a:r>
            <a:r>
              <a:rPr lang="zh-CN" altLang="en-US" b="1" dirty="0" smtClean="0"/>
              <a:t>带约束的集合元素选取问题</a:t>
            </a:r>
            <a:r>
              <a:rPr lang="zh-CN" altLang="en-US" dirty="0" smtClean="0"/>
              <a:t>，即如何从</a:t>
            </a:r>
            <a:r>
              <a:rPr lang="en-US" altLang="zh-CN" dirty="0" smtClean="0"/>
              <a:t>n</a:t>
            </a:r>
            <a:r>
              <a:rPr lang="zh-CN" altLang="en-US" dirty="0" smtClean="0"/>
              <a:t>个物品的集合</a:t>
            </a:r>
            <a:r>
              <a:rPr lang="en-US" altLang="zh-CN" dirty="0" smtClean="0"/>
              <a:t>{1,2</a:t>
            </a:r>
            <a:r>
              <a:rPr lang="zh-CN" altLang="en-US" dirty="0" smtClean="0"/>
              <a:t>，</a:t>
            </a:r>
            <a:r>
              <a:rPr lang="en-US" altLang="zh-CN" dirty="0" smtClean="0"/>
              <a:t>…,n}</a:t>
            </a:r>
            <a:r>
              <a:rPr lang="zh-CN" altLang="en-US" dirty="0" smtClean="0"/>
              <a:t>中选出质量和小于</a:t>
            </a:r>
            <a:r>
              <a:rPr lang="en-US" altLang="zh-CN" dirty="0" smtClean="0"/>
              <a:t>W</a:t>
            </a:r>
            <a:r>
              <a:rPr lang="zh-CN" altLang="en-US" dirty="0" smtClean="0"/>
              <a:t>的若干物品，使得这些物品的价值尽可能大。集合中的每件物品都是不可分割的，只能选择是否选入背包中，因此被叫做</a:t>
            </a:r>
            <a:r>
              <a:rPr lang="en-US" altLang="zh-CN" dirty="0" smtClean="0"/>
              <a:t>0-1</a:t>
            </a:r>
            <a:r>
              <a:rPr lang="zh-CN" altLang="en-US" dirty="0" smtClean="0"/>
              <a:t>背包问题。</a:t>
            </a:r>
            <a:endParaRPr lang="en-US" altLang="zh-CN" dirty="0" smtClean="0"/>
          </a:p>
        </p:txBody>
      </p:sp>
    </p:spTree>
    <p:extLst>
      <p:ext uri="{BB962C8B-B14F-4D97-AF65-F5344CB8AC3E}">
        <p14:creationId xmlns:p14="http://schemas.microsoft.com/office/powerpoint/2010/main" val="237117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搜索法</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直观解决方法：枚举所有质量和小于</a:t>
            </a:r>
            <a:r>
              <a:rPr lang="en-US" altLang="zh-CN" dirty="0" smtClean="0"/>
              <a:t>W</a:t>
            </a:r>
            <a:r>
              <a:rPr lang="zh-CN" altLang="en-US" dirty="0" smtClean="0"/>
              <a:t>的物品组合，从中选取出价值最大的组合。</a:t>
            </a:r>
            <a:endParaRPr lang="en-US" altLang="zh-CN" dirty="0" smtClean="0"/>
          </a:p>
          <a:p>
            <a:endParaRPr lang="en-US" altLang="zh-CN" dirty="0" smtClean="0"/>
          </a:p>
          <a:p>
            <a:r>
              <a:rPr lang="zh-CN" altLang="en-US" dirty="0" smtClean="0"/>
              <a:t>令</a:t>
            </a:r>
            <a:r>
              <a:rPr lang="en-US" altLang="zh-CN" dirty="0" smtClean="0"/>
              <a:t>V[</a:t>
            </a:r>
            <a:r>
              <a:rPr lang="en-US" altLang="zh-CN" dirty="0" err="1"/>
              <a:t>i</a:t>
            </a:r>
            <a:r>
              <a:rPr lang="en-US" altLang="zh-CN" dirty="0" err="1" smtClean="0"/>
              <a:t>,w</a:t>
            </a:r>
            <a:r>
              <a:rPr lang="en-US" altLang="zh-CN" dirty="0" smtClean="0"/>
              <a:t>] </a:t>
            </a:r>
            <a:r>
              <a:rPr lang="zh-CN" altLang="en-US" dirty="0" smtClean="0"/>
              <a:t>表示物品集合</a:t>
            </a:r>
            <a:r>
              <a:rPr lang="en-US" altLang="zh-CN" dirty="0" smtClean="0"/>
              <a:t>{1,2</a:t>
            </a:r>
            <a:r>
              <a:rPr lang="zh-CN" altLang="en-US" dirty="0" smtClean="0"/>
              <a:t>，</a:t>
            </a:r>
            <a:r>
              <a:rPr lang="en-US" altLang="zh-CN" dirty="0" smtClean="0"/>
              <a:t>…,</a:t>
            </a:r>
            <a:r>
              <a:rPr lang="en-US" altLang="zh-CN" dirty="0" err="1" smtClean="0"/>
              <a:t>i</a:t>
            </a:r>
            <a:r>
              <a:rPr lang="en-US" altLang="zh-CN" dirty="0" smtClean="0"/>
              <a:t>}</a:t>
            </a:r>
            <a:r>
              <a:rPr lang="zh-CN" altLang="en-US" dirty="0" smtClean="0"/>
              <a:t>在总重量为</a:t>
            </a:r>
            <a:r>
              <a:rPr lang="en-US" altLang="zh-CN" dirty="0" smtClean="0"/>
              <a:t>w</a:t>
            </a:r>
            <a:r>
              <a:rPr lang="zh-CN" altLang="en-US" dirty="0" smtClean="0"/>
              <a:t>的约束下能取到的最大价值，则求解的目标为</a:t>
            </a:r>
            <a:r>
              <a:rPr lang="en-US" altLang="zh-CN" dirty="0" smtClean="0"/>
              <a:t>V[</a:t>
            </a:r>
            <a:r>
              <a:rPr lang="en-US" altLang="zh-CN" dirty="0" err="1" smtClean="0"/>
              <a:t>n,w</a:t>
            </a:r>
            <a:r>
              <a:rPr lang="en-US" altLang="zh-CN" dirty="0" smtClean="0"/>
              <a:t>]</a:t>
            </a:r>
            <a:r>
              <a:rPr lang="zh-CN" altLang="en-US" dirty="0" smtClean="0"/>
              <a:t>。</a:t>
            </a:r>
            <a:endParaRPr lang="en-US" altLang="zh-CN" dirty="0" smtClean="0"/>
          </a:p>
          <a:p>
            <a:pPr marL="0" indent="0">
              <a:buNone/>
            </a:pPr>
            <a:r>
              <a:rPr lang="en-US" altLang="zh-CN" dirty="0"/>
              <a:t> </a:t>
            </a:r>
            <a:r>
              <a:rPr lang="en-US" altLang="zh-CN" dirty="0" smtClean="0"/>
              <a:t>  </a:t>
            </a:r>
            <a:r>
              <a:rPr lang="zh-CN" altLang="en-US" baseline="-25000" dirty="0"/>
              <a:t> </a:t>
            </a:r>
            <a:r>
              <a:rPr lang="zh-CN" altLang="en-US" baseline="-25000" dirty="0" smtClean="0"/>
              <a:t>             </a:t>
            </a:r>
            <a:r>
              <a:rPr lang="en-US" altLang="zh-CN" dirty="0" smtClean="0"/>
              <a:t>V[</a:t>
            </a:r>
            <a:r>
              <a:rPr lang="en-US" altLang="zh-CN" dirty="0" err="1" smtClean="0"/>
              <a:t>i,w</a:t>
            </a:r>
            <a:r>
              <a:rPr lang="en-US" altLang="zh-CN" dirty="0" smtClean="0"/>
              <a:t>] = max(</a:t>
            </a:r>
            <a:r>
              <a:rPr lang="en-US" altLang="zh-CN" dirty="0" err="1" smtClean="0"/>
              <a:t>v</a:t>
            </a:r>
            <a:r>
              <a:rPr lang="en-US" altLang="zh-CN" baseline="-25000" dirty="0" err="1"/>
              <a:t>i</a:t>
            </a:r>
            <a:r>
              <a:rPr lang="en-US" altLang="zh-CN" dirty="0" err="1" smtClean="0"/>
              <a:t>+V</a:t>
            </a:r>
            <a:r>
              <a:rPr lang="en-US" altLang="zh-CN" dirty="0" smtClean="0"/>
              <a:t>[i-1,w-w</a:t>
            </a:r>
            <a:r>
              <a:rPr lang="en-US" altLang="zh-CN" baseline="-25000" dirty="0" smtClean="0"/>
              <a:t>i</a:t>
            </a:r>
            <a:r>
              <a:rPr lang="en-US" altLang="zh-CN" dirty="0" smtClean="0"/>
              <a:t>],V[i-1,w])</a:t>
            </a:r>
          </a:p>
          <a:p>
            <a:pPr marL="0" indent="0">
              <a:buNone/>
            </a:pPr>
            <a:r>
              <a:rPr lang="en-US" altLang="zh-CN" dirty="0"/>
              <a:t> </a:t>
            </a:r>
            <a:r>
              <a:rPr lang="en-US" altLang="zh-CN" dirty="0" smtClean="0"/>
              <a:t>   </a:t>
            </a:r>
            <a:r>
              <a:rPr lang="zh-CN" altLang="en-US" dirty="0" smtClean="0"/>
              <a:t>对于前</a:t>
            </a:r>
            <a:r>
              <a:rPr lang="en-US" altLang="zh-CN" dirty="0" err="1" smtClean="0"/>
              <a:t>i</a:t>
            </a:r>
            <a:r>
              <a:rPr lang="zh-CN" altLang="en-US" dirty="0" smtClean="0"/>
              <a:t>个物品的选取，最优结果要么包含第</a:t>
            </a:r>
            <a:r>
              <a:rPr lang="en-US" altLang="zh-CN" dirty="0" err="1" smtClean="0"/>
              <a:t>i</a:t>
            </a:r>
            <a:r>
              <a:rPr lang="zh-CN" altLang="en-US" dirty="0" smtClean="0"/>
              <a:t>个物品，要么不包含第</a:t>
            </a:r>
            <a:r>
              <a:rPr lang="en-US" altLang="zh-CN" dirty="0" err="1" smtClean="0"/>
              <a:t>i</a:t>
            </a:r>
            <a:r>
              <a:rPr lang="zh-CN" altLang="en-US" dirty="0" smtClean="0"/>
              <a:t>个物品，因此可以使用递归搜索的方式，每次判断是否选取第</a:t>
            </a:r>
            <a:r>
              <a:rPr lang="en-US" altLang="zh-CN" dirty="0" err="1" smtClean="0"/>
              <a:t>i</a:t>
            </a:r>
            <a:r>
              <a:rPr lang="zh-CN" altLang="en-US" dirty="0" smtClean="0"/>
              <a:t>个物品，来得到最优解。</a:t>
            </a:r>
            <a:endParaRPr lang="zh-CN" altLang="en-US" dirty="0"/>
          </a:p>
        </p:txBody>
      </p:sp>
    </p:spTree>
    <p:extLst>
      <p:ext uri="{BB962C8B-B14F-4D97-AF65-F5344CB8AC3E}">
        <p14:creationId xmlns:p14="http://schemas.microsoft.com/office/powerpoint/2010/main" val="169209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最优规划方法：从左向右，从上到下</a:t>
            </a:r>
            <a:endParaRPr lang="zh-CN" altLang="en-US" dirty="0"/>
          </a:p>
        </p:txBody>
      </p:sp>
      <p:sp>
        <p:nvSpPr>
          <p:cNvPr id="3" name="内容占位符 2"/>
          <p:cNvSpPr>
            <a:spLocks noGrp="1"/>
          </p:cNvSpPr>
          <p:nvPr>
            <p:ph idx="1"/>
          </p:nvPr>
        </p:nvSpPr>
        <p:spPr/>
        <p:txBody>
          <a:bodyPr/>
          <a:lstStyle/>
          <a:p>
            <a:r>
              <a:rPr lang="zh-CN" altLang="en-US" dirty="0" smtClean="0"/>
              <a:t>题目：现在有四个物品，背包总容量为</a:t>
            </a:r>
            <a:r>
              <a:rPr lang="en-US" altLang="zh-CN" dirty="0" smtClean="0"/>
              <a:t>8</a:t>
            </a:r>
            <a:r>
              <a:rPr lang="zh-CN" altLang="en-US" dirty="0" smtClean="0"/>
              <a:t>，背包最多能装入价值为多少的物品？</a:t>
            </a:r>
            <a:endParaRPr lang="en-US" altLang="zh-CN" dirty="0" smtClean="0"/>
          </a:p>
          <a:p>
            <a:endParaRPr lang="en-US" altLang="zh-CN" dirty="0"/>
          </a:p>
          <a:p>
            <a:pPr marL="0" indent="0">
              <a:buNone/>
            </a:pPr>
            <a:r>
              <a:rPr lang="en-US" altLang="zh-CN" dirty="0" smtClean="0"/>
              <a:t>    </a:t>
            </a:r>
            <a:r>
              <a:rPr lang="zh-CN" altLang="en-US" dirty="0" smtClean="0"/>
              <a:t>物品编号                    </a:t>
            </a:r>
            <a:r>
              <a:rPr lang="en-US" altLang="zh-CN" dirty="0" smtClean="0"/>
              <a:t>1         2        3       4</a:t>
            </a:r>
          </a:p>
          <a:p>
            <a:pPr marL="0" indent="0">
              <a:buNone/>
            </a:pPr>
            <a:r>
              <a:rPr lang="en-US" altLang="zh-CN" dirty="0" smtClean="0"/>
              <a:t>    </a:t>
            </a:r>
            <a:r>
              <a:rPr lang="zh-CN" altLang="en-US" dirty="0" smtClean="0"/>
              <a:t>物品体积                    </a:t>
            </a:r>
            <a:r>
              <a:rPr lang="en-US" altLang="zh-CN" dirty="0" smtClean="0"/>
              <a:t>2         3        4       5</a:t>
            </a:r>
          </a:p>
          <a:p>
            <a:pPr marL="0" indent="0">
              <a:buNone/>
            </a:pPr>
            <a:r>
              <a:rPr lang="en-US" altLang="zh-CN" dirty="0"/>
              <a:t> </a:t>
            </a:r>
            <a:r>
              <a:rPr lang="en-US" altLang="zh-CN" dirty="0" smtClean="0"/>
              <a:t>   </a:t>
            </a:r>
            <a:r>
              <a:rPr lang="zh-CN" altLang="en-US" dirty="0" smtClean="0"/>
              <a:t>物品价值</a:t>
            </a:r>
            <a:r>
              <a:rPr lang="en-US" altLang="zh-CN" dirty="0" smtClean="0"/>
              <a:t>	             3         4        5       6</a:t>
            </a:r>
            <a:endParaRPr lang="zh-CN" altLang="en-US" dirty="0"/>
          </a:p>
        </p:txBody>
      </p:sp>
    </p:spTree>
    <p:extLst>
      <p:ext uri="{BB962C8B-B14F-4D97-AF65-F5344CB8AC3E}">
        <p14:creationId xmlns:p14="http://schemas.microsoft.com/office/powerpoint/2010/main" val="372972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97826" y="302443"/>
            <a:ext cx="5447186" cy="1141076"/>
          </a:xfrm>
        </p:spPr>
        <p:txBody>
          <a:bodyPr>
            <a:noAutofit/>
          </a:bodyPr>
          <a:lstStyle/>
          <a:p>
            <a:pPr marL="0" indent="0"/>
            <a:r>
              <a:rPr lang="zh-CN" altLang="en-US" sz="2000" dirty="0" smtClean="0"/>
              <a:t>    物品</a:t>
            </a:r>
            <a:r>
              <a:rPr lang="zh-CN" altLang="en-US" sz="2000" dirty="0"/>
              <a:t>编号                    </a:t>
            </a:r>
            <a:r>
              <a:rPr lang="en-US" altLang="zh-CN" sz="2000" dirty="0"/>
              <a:t>1         2        3       4</a:t>
            </a:r>
            <a:br>
              <a:rPr lang="en-US" altLang="zh-CN" sz="2000" dirty="0"/>
            </a:br>
            <a:r>
              <a:rPr lang="en-US" altLang="zh-CN" sz="2000" dirty="0"/>
              <a:t>    </a:t>
            </a:r>
            <a:r>
              <a:rPr lang="zh-CN" altLang="en-US" sz="2000" dirty="0"/>
              <a:t>物品体积                    </a:t>
            </a:r>
            <a:r>
              <a:rPr lang="en-US" altLang="zh-CN" sz="2000" dirty="0"/>
              <a:t>2         3        4       5</a:t>
            </a:r>
            <a:br>
              <a:rPr lang="en-US" altLang="zh-CN" sz="2000" dirty="0"/>
            </a:br>
            <a:r>
              <a:rPr lang="en-US" altLang="zh-CN" sz="2000" dirty="0"/>
              <a:t>    </a:t>
            </a:r>
            <a:r>
              <a:rPr lang="zh-CN" altLang="en-US" sz="2000" dirty="0"/>
              <a:t>物品价值</a:t>
            </a:r>
            <a:r>
              <a:rPr lang="en-US" altLang="zh-CN" sz="2000" dirty="0"/>
              <a:t>	     </a:t>
            </a:r>
            <a:r>
              <a:rPr lang="en-US" altLang="zh-CN" sz="2000" dirty="0" smtClean="0"/>
              <a:t>      </a:t>
            </a:r>
            <a:r>
              <a:rPr lang="en-US" altLang="zh-CN" sz="2000" dirty="0"/>
              <a:t>3         4        5       6</a:t>
            </a:r>
            <a:r>
              <a:rPr lang="zh-CN" altLang="en-US" sz="2000" dirty="0"/>
              <a:t/>
            </a:r>
            <a:br>
              <a:rPr lang="zh-CN" altLang="en-US" sz="2000" dirty="0"/>
            </a:br>
            <a:endParaRPr lang="zh-CN" altLang="en-US" sz="2000"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2"/>
          <a:stretch>
            <a:fillRect/>
          </a:stretch>
        </p:blipFill>
        <p:spPr>
          <a:xfrm>
            <a:off x="1164234" y="1638280"/>
            <a:ext cx="10120386" cy="5105437"/>
          </a:xfrm>
          <a:prstGeom prst="rect">
            <a:avLst/>
          </a:prstGeom>
        </p:spPr>
      </p:pic>
      <p:pic>
        <p:nvPicPr>
          <p:cNvPr id="5" name="图片 4"/>
          <p:cNvPicPr>
            <a:picLocks noChangeAspect="1"/>
          </p:cNvPicPr>
          <p:nvPr/>
        </p:nvPicPr>
        <p:blipFill>
          <a:blip r:embed="rId3"/>
          <a:stretch>
            <a:fillRect/>
          </a:stretch>
        </p:blipFill>
        <p:spPr>
          <a:xfrm>
            <a:off x="1369022" y="1764890"/>
            <a:ext cx="9710809" cy="4762535"/>
          </a:xfrm>
          <a:prstGeom prst="rect">
            <a:avLst/>
          </a:prstGeom>
        </p:spPr>
      </p:pic>
    </p:spTree>
    <p:extLst>
      <p:ext uri="{BB962C8B-B14F-4D97-AF65-F5344CB8AC3E}">
        <p14:creationId xmlns:p14="http://schemas.microsoft.com/office/powerpoint/2010/main" val="110749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idx="1"/>
          </p:nvPr>
        </p:nvSpPr>
        <p:spPr/>
        <p:txBody>
          <a:bodyPr/>
          <a:lstStyle/>
          <a:p>
            <a:r>
              <a:rPr lang="en-US" altLang="zh-CN" dirty="0" smtClean="0"/>
              <a:t>1</a:t>
            </a:r>
            <a:r>
              <a:rPr lang="zh-CN" altLang="en-US" dirty="0" smtClean="0"/>
              <a:t>、如果装不下当前物品，那么前</a:t>
            </a:r>
            <a:r>
              <a:rPr lang="en-US" altLang="zh-CN" dirty="0" smtClean="0"/>
              <a:t>n</a:t>
            </a:r>
            <a:r>
              <a:rPr lang="zh-CN" altLang="en-US" dirty="0" smtClean="0"/>
              <a:t>个物品的最佳组合和前</a:t>
            </a:r>
            <a:r>
              <a:rPr lang="en-US" altLang="zh-CN" dirty="0" smtClean="0"/>
              <a:t>n-1</a:t>
            </a:r>
            <a:r>
              <a:rPr lang="zh-CN" altLang="en-US" dirty="0" smtClean="0"/>
              <a:t>个物品的最佳组合是一样的。</a:t>
            </a:r>
            <a:endParaRPr lang="en-US" altLang="zh-CN" dirty="0" smtClean="0"/>
          </a:p>
          <a:p>
            <a:r>
              <a:rPr lang="en-US" altLang="zh-CN" dirty="0" smtClean="0"/>
              <a:t>2</a:t>
            </a:r>
            <a:r>
              <a:rPr lang="zh-CN" altLang="en-US" dirty="0" smtClean="0"/>
              <a:t>、如果装的下当前物品</a:t>
            </a:r>
            <a:endParaRPr lang="en-US" altLang="zh-CN" dirty="0" smtClean="0"/>
          </a:p>
          <a:p>
            <a:pPr marL="0" indent="0">
              <a:buNone/>
            </a:pPr>
            <a:r>
              <a:rPr lang="en-US" altLang="zh-CN" dirty="0"/>
              <a:t> </a:t>
            </a:r>
            <a:r>
              <a:rPr lang="en-US" altLang="zh-CN" dirty="0" smtClean="0"/>
              <a:t>   </a:t>
            </a:r>
            <a:r>
              <a:rPr lang="zh-CN" altLang="en-US" dirty="0" smtClean="0"/>
              <a:t>假设</a:t>
            </a:r>
            <a:r>
              <a:rPr lang="en-US" altLang="zh-CN" dirty="0" smtClean="0"/>
              <a:t>1</a:t>
            </a:r>
            <a:r>
              <a:rPr lang="zh-CN" altLang="en-US" dirty="0" smtClean="0"/>
              <a:t>：装当前物品，在给当前物品预留了相应空间的情况下，前</a:t>
            </a:r>
            <a:r>
              <a:rPr lang="en-US" altLang="zh-CN" dirty="0" smtClean="0"/>
              <a:t>n-1</a:t>
            </a:r>
            <a:r>
              <a:rPr lang="zh-CN" altLang="en-US" dirty="0" smtClean="0"/>
              <a:t>个物品的最佳组合加上当前物品的价值就是总价值。</a:t>
            </a:r>
            <a:endParaRPr lang="en-US" altLang="zh-CN" dirty="0" smtClean="0"/>
          </a:p>
          <a:p>
            <a:pPr marL="0" indent="0">
              <a:buNone/>
            </a:pPr>
            <a:r>
              <a:rPr lang="en-US" altLang="zh-CN" dirty="0"/>
              <a:t> </a:t>
            </a:r>
            <a:r>
              <a:rPr lang="en-US" altLang="zh-CN" dirty="0" smtClean="0"/>
              <a:t>   </a:t>
            </a:r>
            <a:r>
              <a:rPr lang="zh-CN" altLang="en-US" dirty="0" smtClean="0"/>
              <a:t>假设</a:t>
            </a:r>
            <a:r>
              <a:rPr lang="en-US" altLang="zh-CN" dirty="0" smtClean="0"/>
              <a:t>2</a:t>
            </a:r>
            <a:r>
              <a:rPr lang="zh-CN" altLang="en-US" dirty="0" smtClean="0"/>
              <a:t>：不装当前物品，那么前</a:t>
            </a:r>
            <a:r>
              <a:rPr lang="en-US" altLang="zh-CN" dirty="0" smtClean="0"/>
              <a:t>n</a:t>
            </a:r>
            <a:r>
              <a:rPr lang="zh-CN" altLang="en-US" dirty="0" smtClean="0"/>
              <a:t>个物品的最佳组合和前</a:t>
            </a:r>
            <a:r>
              <a:rPr lang="en-US" altLang="zh-CN" dirty="0" smtClean="0"/>
              <a:t>n-1</a:t>
            </a:r>
            <a:r>
              <a:rPr lang="zh-CN" altLang="en-US" dirty="0" smtClean="0"/>
              <a:t>个物品的最佳组合是一样的。</a:t>
            </a:r>
            <a:endParaRPr lang="en-US" altLang="zh-CN" dirty="0" smtClean="0"/>
          </a:p>
          <a:p>
            <a:pPr marL="0" indent="0">
              <a:buNone/>
            </a:pPr>
            <a:r>
              <a:rPr lang="en-US" altLang="zh-CN" dirty="0"/>
              <a:t> </a:t>
            </a:r>
            <a:r>
              <a:rPr lang="en-US" altLang="zh-CN" dirty="0" smtClean="0"/>
              <a:t>    </a:t>
            </a:r>
            <a:r>
              <a:rPr lang="zh-CN" altLang="en-US" dirty="0" smtClean="0"/>
              <a:t>选取假设</a:t>
            </a:r>
            <a:r>
              <a:rPr lang="en-US" altLang="zh-CN" dirty="0" smtClean="0"/>
              <a:t>1</a:t>
            </a:r>
            <a:r>
              <a:rPr lang="zh-CN" altLang="en-US" dirty="0" smtClean="0"/>
              <a:t>和假设</a:t>
            </a:r>
            <a:r>
              <a:rPr lang="en-US" altLang="zh-CN" dirty="0" smtClean="0"/>
              <a:t>2</a:t>
            </a:r>
            <a:r>
              <a:rPr lang="zh-CN" altLang="en-US" dirty="0" smtClean="0"/>
              <a:t>中较大的价值，为当前最佳组合的价值。</a:t>
            </a:r>
            <a:endParaRPr lang="en-US" altLang="zh-CN" dirty="0" smtClean="0"/>
          </a:p>
        </p:txBody>
      </p:sp>
    </p:spTree>
    <p:extLst>
      <p:ext uri="{BB962C8B-B14F-4D97-AF65-F5344CB8AC3E}">
        <p14:creationId xmlns:p14="http://schemas.microsoft.com/office/powerpoint/2010/main" val="39682539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回溯：装入哪些物品</a:t>
            </a:r>
            <a:endParaRPr lang="zh-CN" altLang="en-US" dirty="0"/>
          </a:p>
        </p:txBody>
      </p:sp>
      <p:sp>
        <p:nvSpPr>
          <p:cNvPr id="3" name="内容占位符 2"/>
          <p:cNvSpPr>
            <a:spLocks noGrp="1"/>
          </p:cNvSpPr>
          <p:nvPr>
            <p:ph idx="1"/>
          </p:nvPr>
        </p:nvSpPr>
        <p:spPr>
          <a:xfrm>
            <a:off x="280220" y="1764890"/>
            <a:ext cx="4754118" cy="4852219"/>
          </a:xfrm>
        </p:spPr>
        <p:txBody>
          <a:bodyPr/>
          <a:lstStyle/>
          <a:p>
            <a:r>
              <a:rPr lang="zh-CN" altLang="en-US" dirty="0" smtClean="0"/>
              <a:t>从表的右下角开始回溯，如果发现前</a:t>
            </a:r>
            <a:r>
              <a:rPr lang="en-US" altLang="zh-CN" dirty="0" smtClean="0"/>
              <a:t>n</a:t>
            </a:r>
            <a:r>
              <a:rPr lang="zh-CN" altLang="en-US" dirty="0" smtClean="0"/>
              <a:t>个物品最佳组合的价值和前</a:t>
            </a:r>
            <a:r>
              <a:rPr lang="en-US" altLang="zh-CN" dirty="0" smtClean="0"/>
              <a:t>n-1</a:t>
            </a:r>
            <a:r>
              <a:rPr lang="zh-CN" altLang="en-US" dirty="0" smtClean="0"/>
              <a:t>个物品最佳组合的价值一样，说明第</a:t>
            </a:r>
            <a:r>
              <a:rPr lang="en-US" altLang="zh-CN" dirty="0" smtClean="0"/>
              <a:t>n</a:t>
            </a:r>
            <a:r>
              <a:rPr lang="zh-CN" altLang="en-US" dirty="0" smtClean="0"/>
              <a:t>个物品没有被装入。</a:t>
            </a:r>
            <a:endParaRPr lang="en-US" altLang="zh-CN" dirty="0" smtClean="0"/>
          </a:p>
          <a:p>
            <a:pPr marL="0" indent="0">
              <a:buNone/>
            </a:pPr>
            <a:r>
              <a:rPr lang="en-US" altLang="zh-CN" dirty="0"/>
              <a:t> </a:t>
            </a:r>
            <a:r>
              <a:rPr lang="en-US" altLang="zh-CN" dirty="0" smtClean="0"/>
              <a:t> </a:t>
            </a:r>
            <a:r>
              <a:rPr lang="zh-CN" altLang="en-US" dirty="0" smtClean="0"/>
              <a:t>否则，第</a:t>
            </a:r>
            <a:r>
              <a:rPr lang="en-US" altLang="zh-CN" dirty="0" smtClean="0"/>
              <a:t>n</a:t>
            </a:r>
            <a:r>
              <a:rPr lang="zh-CN" altLang="en-US" dirty="0" smtClean="0"/>
              <a:t>个物品被装入。</a:t>
            </a:r>
            <a:endParaRPr lang="zh-CN" altLang="en-US" dirty="0"/>
          </a:p>
        </p:txBody>
      </p:sp>
      <p:pic>
        <p:nvPicPr>
          <p:cNvPr id="4" name="图片 3"/>
          <p:cNvPicPr>
            <a:picLocks noChangeAspect="1"/>
          </p:cNvPicPr>
          <p:nvPr/>
        </p:nvPicPr>
        <p:blipFill>
          <a:blip r:embed="rId2"/>
          <a:stretch>
            <a:fillRect/>
          </a:stretch>
        </p:blipFill>
        <p:spPr>
          <a:xfrm>
            <a:off x="5244957" y="2651729"/>
            <a:ext cx="6869241" cy="3368926"/>
          </a:xfrm>
          <a:prstGeom prst="rect">
            <a:avLst/>
          </a:prstGeom>
        </p:spPr>
      </p:pic>
      <p:sp>
        <p:nvSpPr>
          <p:cNvPr id="5" name="标题 1"/>
          <p:cNvSpPr txBox="1">
            <a:spLocks/>
          </p:cNvSpPr>
          <p:nvPr/>
        </p:nvSpPr>
        <p:spPr>
          <a:xfrm>
            <a:off x="6213983" y="1648358"/>
            <a:ext cx="5447186" cy="11410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baseline="0">
                <a:solidFill>
                  <a:schemeClr val="tx1"/>
                </a:solidFill>
                <a:latin typeface="Times New Roman" panose="02020603050405020304" pitchFamily="18" charset="0"/>
                <a:ea typeface="华文楷体" panose="02010600040101010101" pitchFamily="2" charset="-122"/>
                <a:cs typeface="+mj-cs"/>
              </a:defRPr>
            </a:lvl1pPr>
          </a:lstStyle>
          <a:p>
            <a:r>
              <a:rPr lang="zh-CN" altLang="en-US" sz="2000" dirty="0" smtClean="0"/>
              <a:t>    物品编号                    </a:t>
            </a:r>
            <a:r>
              <a:rPr lang="en-US" altLang="zh-CN" sz="2000" dirty="0" smtClean="0"/>
              <a:t>1         2        3       4</a:t>
            </a:r>
            <a:br>
              <a:rPr lang="en-US" altLang="zh-CN" sz="2000" dirty="0" smtClean="0"/>
            </a:br>
            <a:r>
              <a:rPr lang="en-US" altLang="zh-CN" sz="2000" dirty="0" smtClean="0"/>
              <a:t>    </a:t>
            </a:r>
            <a:r>
              <a:rPr lang="zh-CN" altLang="en-US" sz="2000" dirty="0" smtClean="0"/>
              <a:t>物品体积                    </a:t>
            </a:r>
            <a:r>
              <a:rPr lang="en-US" altLang="zh-CN" sz="2000" dirty="0" smtClean="0"/>
              <a:t>2         3        4       5</a:t>
            </a:r>
            <a:br>
              <a:rPr lang="en-US" altLang="zh-CN" sz="2000" dirty="0" smtClean="0"/>
            </a:br>
            <a:r>
              <a:rPr lang="en-US" altLang="zh-CN" sz="2000" dirty="0" smtClean="0"/>
              <a:t>    </a:t>
            </a:r>
            <a:r>
              <a:rPr lang="zh-CN" altLang="en-US" sz="2000" dirty="0" smtClean="0"/>
              <a:t>物品价值</a:t>
            </a:r>
            <a:r>
              <a:rPr lang="en-US" altLang="zh-CN" sz="2000" dirty="0" smtClean="0"/>
              <a:t>	           3         4        5       6</a:t>
            </a:r>
            <a:r>
              <a:rPr lang="zh-CN" altLang="en-US" sz="2000" dirty="0" smtClean="0"/>
              <a:t/>
            </a:r>
            <a:br>
              <a:rPr lang="zh-CN" altLang="en-US" sz="2000" dirty="0" smtClean="0"/>
            </a:br>
            <a:endParaRPr lang="zh-CN" altLang="en-US" sz="2000" dirty="0"/>
          </a:p>
        </p:txBody>
      </p:sp>
      <p:sp>
        <p:nvSpPr>
          <p:cNvPr id="6" name="矩形 5"/>
          <p:cNvSpPr/>
          <p:nvPr/>
        </p:nvSpPr>
        <p:spPr>
          <a:xfrm>
            <a:off x="11410419" y="4900773"/>
            <a:ext cx="616449" cy="1006867"/>
          </a:xfrm>
          <a:prstGeom prst="rect">
            <a:avLst/>
          </a:prstGeom>
          <a:solidFill>
            <a:schemeClr val="accent6">
              <a:alpha val="23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noFill/>
            </a:endParaRPr>
          </a:p>
        </p:txBody>
      </p:sp>
      <p:sp>
        <p:nvSpPr>
          <p:cNvPr id="7" name="矩形 6"/>
          <p:cNvSpPr/>
          <p:nvPr/>
        </p:nvSpPr>
        <p:spPr>
          <a:xfrm>
            <a:off x="8063128" y="4397339"/>
            <a:ext cx="616449" cy="1006867"/>
          </a:xfrm>
          <a:prstGeom prst="rect">
            <a:avLst/>
          </a:prstGeom>
          <a:solidFill>
            <a:schemeClr val="accent6">
              <a:alpha val="23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noFill/>
            </a:endParaRPr>
          </a:p>
        </p:txBody>
      </p:sp>
      <p:sp>
        <p:nvSpPr>
          <p:cNvPr id="8" name="矩形 7"/>
          <p:cNvSpPr/>
          <p:nvPr/>
        </p:nvSpPr>
        <p:spPr>
          <a:xfrm>
            <a:off x="8076453" y="3832758"/>
            <a:ext cx="616449" cy="1006867"/>
          </a:xfrm>
          <a:prstGeom prst="rect">
            <a:avLst/>
          </a:prstGeom>
          <a:solidFill>
            <a:schemeClr val="accent5">
              <a:alpha val="23000"/>
            </a:schemeClr>
          </a:solidFill>
          <a:ln w="1905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noFill/>
            </a:endParaRPr>
          </a:p>
        </p:txBody>
      </p:sp>
    </p:spTree>
    <p:extLst>
      <p:ext uri="{BB962C8B-B14F-4D97-AF65-F5344CB8AC3E}">
        <p14:creationId xmlns:p14="http://schemas.microsoft.com/office/powerpoint/2010/main" val="279429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部分参考资料</a:t>
            </a:r>
            <a:endParaRPr lang="zh-CN" altLang="en-US" dirty="0"/>
          </a:p>
        </p:txBody>
      </p:sp>
      <p:sp>
        <p:nvSpPr>
          <p:cNvPr id="3" name="内容占位符 2"/>
          <p:cNvSpPr>
            <a:spLocks noGrp="1"/>
          </p:cNvSpPr>
          <p:nvPr>
            <p:ph idx="1"/>
          </p:nvPr>
        </p:nvSpPr>
        <p:spPr/>
        <p:txBody>
          <a:bodyPr>
            <a:normAutofit/>
          </a:bodyPr>
          <a:lstStyle/>
          <a:p>
            <a:r>
              <a:rPr lang="en-US" altLang="zh-CN" dirty="0">
                <a:hlinkClick r:id="rId2"/>
              </a:rPr>
              <a:t>https://</a:t>
            </a:r>
            <a:r>
              <a:rPr lang="en-US" altLang="zh-CN" dirty="0" smtClean="0">
                <a:hlinkClick r:id="rId2"/>
              </a:rPr>
              <a:t>blog.csdn.net/a2392008643/article/details/81781766</a:t>
            </a:r>
            <a:endParaRPr lang="en-US" altLang="zh-CN" dirty="0" smtClean="0"/>
          </a:p>
          <a:p>
            <a:endParaRPr lang="en-US" altLang="zh-CN" dirty="0"/>
          </a:p>
          <a:p>
            <a:r>
              <a:rPr lang="en-US" altLang="zh-CN" dirty="0"/>
              <a:t>https://zhuanlan.zhihu.com/p/136387766</a:t>
            </a:r>
            <a:endParaRPr lang="en-US" altLang="zh-CN" dirty="0" smtClean="0"/>
          </a:p>
          <a:p>
            <a:endParaRPr lang="en-US" altLang="zh-CN" dirty="0"/>
          </a:p>
          <a:p>
            <a:endParaRPr lang="en-US" altLang="zh-CN" dirty="0" smtClean="0"/>
          </a:p>
          <a:p>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9104258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动态规划：最长公共子序列</a:t>
            </a:r>
            <a:endParaRPr lang="zh-CN" altLang="en-US" dirty="0"/>
          </a:p>
        </p:txBody>
      </p:sp>
      <p:sp>
        <p:nvSpPr>
          <p:cNvPr id="3" name="内容占位符 2"/>
          <p:cNvSpPr>
            <a:spLocks noGrp="1"/>
          </p:cNvSpPr>
          <p:nvPr>
            <p:ph idx="1"/>
          </p:nvPr>
        </p:nvSpPr>
        <p:spPr/>
        <p:txBody>
          <a:bodyPr/>
          <a:lstStyle/>
          <a:p>
            <a:r>
              <a:rPr lang="zh-CN" altLang="en-US" b="1" dirty="0"/>
              <a:t>最长公共子序列</a:t>
            </a:r>
            <a:r>
              <a:rPr lang="zh-CN" altLang="en-US" dirty="0"/>
              <a:t>（</a:t>
            </a:r>
            <a:r>
              <a:rPr lang="en-US" altLang="zh-CN" b="1" dirty="0"/>
              <a:t>LCS</a:t>
            </a:r>
            <a:r>
              <a:rPr lang="zh-CN" altLang="en-US" dirty="0"/>
              <a:t>）是一个在一个</a:t>
            </a:r>
            <a:r>
              <a:rPr lang="zh-CN" altLang="en-US" dirty="0">
                <a:hlinkClick r:id="rId2"/>
              </a:rPr>
              <a:t>序列</a:t>
            </a:r>
            <a:r>
              <a:rPr lang="zh-CN" altLang="en-US" dirty="0"/>
              <a:t>集合中（通常为两个序列）用来查找所有序列中最长子序列的问题。一个数列 ，如果分别是两个或多个已知</a:t>
            </a:r>
            <a:r>
              <a:rPr lang="zh-CN" altLang="en-US" dirty="0">
                <a:hlinkClick r:id="rId3"/>
              </a:rPr>
              <a:t>数列</a:t>
            </a:r>
            <a:r>
              <a:rPr lang="zh-CN" altLang="en-US" dirty="0"/>
              <a:t>的子序列，且是所有符合此条件序列中最长的，则称为已知序列的最长公共子序列</a:t>
            </a:r>
            <a:r>
              <a:rPr lang="zh-CN" altLang="en-US" dirty="0" smtClean="0"/>
              <a:t>。</a:t>
            </a:r>
            <a:endParaRPr lang="en-US" altLang="zh-CN" dirty="0" smtClean="0"/>
          </a:p>
          <a:p>
            <a:endParaRPr lang="en-US" altLang="zh-CN" dirty="0" smtClean="0"/>
          </a:p>
          <a:p>
            <a:r>
              <a:rPr lang="zh-CN" altLang="en-US" dirty="0" smtClean="0"/>
              <a:t>假设</a:t>
            </a:r>
            <a:r>
              <a:rPr lang="en-US" altLang="zh-CN" dirty="0" err="1" smtClean="0"/>
              <a:t>d</a:t>
            </a:r>
            <a:r>
              <a:rPr lang="en-US" altLang="zh-CN" baseline="-25000" dirty="0" err="1" smtClean="0"/>
              <a:t>i,j</a:t>
            </a:r>
            <a:r>
              <a:rPr lang="zh-CN" altLang="en-US" dirty="0" smtClean="0"/>
              <a:t>为</a:t>
            </a:r>
            <a:r>
              <a:rPr lang="en-US" altLang="zh-CN" dirty="0" smtClean="0"/>
              <a:t>X[1…</a:t>
            </a:r>
            <a:r>
              <a:rPr lang="en-US" altLang="zh-CN" dirty="0" err="1" smtClean="0"/>
              <a:t>i</a:t>
            </a:r>
            <a:r>
              <a:rPr lang="en-US" altLang="zh-CN" dirty="0" smtClean="0"/>
              <a:t>]</a:t>
            </a:r>
            <a:r>
              <a:rPr lang="zh-CN" altLang="en-US" dirty="0" smtClean="0"/>
              <a:t>和</a:t>
            </a:r>
            <a:r>
              <a:rPr lang="en-US" altLang="zh-CN" dirty="0" smtClean="0"/>
              <a:t>Y[1…j]</a:t>
            </a:r>
            <a:r>
              <a:rPr lang="zh-CN" altLang="en-US" dirty="0" smtClean="0"/>
              <a:t>的最长公共子序列长度。</a:t>
            </a:r>
            <a:endParaRPr lang="en-US" altLang="zh-CN" dirty="0" smtClean="0"/>
          </a:p>
          <a:p>
            <a:pPr marL="0" indent="0">
              <a:buNone/>
            </a:pPr>
            <a:r>
              <a:rPr lang="en-US" altLang="zh-CN" dirty="0" smtClean="0"/>
              <a:t>   D</a:t>
            </a:r>
            <a:r>
              <a:rPr lang="zh-CN" altLang="en-US" dirty="0" smtClean="0"/>
              <a:t>是关于公共子序列长度的矩阵</a:t>
            </a:r>
            <a:r>
              <a:rPr lang="en-US" altLang="zh-CN" dirty="0" smtClean="0"/>
              <a:t>[</a:t>
            </a:r>
            <a:r>
              <a:rPr lang="en-US" altLang="zh-CN" dirty="0" err="1" smtClean="0"/>
              <a:t>d</a:t>
            </a:r>
            <a:r>
              <a:rPr lang="en-US" altLang="zh-CN" baseline="-25000" dirty="0" err="1" smtClean="0"/>
              <a:t>i,j</a:t>
            </a:r>
            <a:r>
              <a:rPr lang="en-US" altLang="zh-CN" dirty="0" smtClean="0"/>
              <a:t>]</a:t>
            </a:r>
          </a:p>
          <a:p>
            <a:pPr marL="0" indent="0">
              <a:buNone/>
            </a:pPr>
            <a:endParaRPr lang="en-US" altLang="zh-CN" dirty="0"/>
          </a:p>
        </p:txBody>
      </p:sp>
    </p:spTree>
    <p:extLst>
      <p:ext uri="{BB962C8B-B14F-4D97-AF65-F5344CB8AC3E}">
        <p14:creationId xmlns:p14="http://schemas.microsoft.com/office/powerpoint/2010/main" val="103692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p:cNvSpPr>
          <p:nvPr/>
        </p:nvSpPr>
        <p:spPr>
          <a:xfrm>
            <a:off x="71919" y="1710647"/>
            <a:ext cx="11893939" cy="490646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lang="zh-CN" altLang="en-US" sz="3200" kern="1200" baseline="0" dirty="0" smtClean="0">
                <a:solidFill>
                  <a:schemeClr val="tx1"/>
                </a:solidFill>
                <a:latin typeface="Times New Roman" panose="02020603050405020304" pitchFamily="18" charset="0"/>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p>
          <a:p>
            <a:endParaRPr lang="en-US" altLang="zh-CN" dirty="0"/>
          </a:p>
          <a:p>
            <a:endParaRPr lang="en-US" altLang="zh-CN" dirty="0" smtClean="0"/>
          </a:p>
          <a:p>
            <a:endParaRPr lang="zh-CN" altLang="en-US" dirty="0" smtClean="0"/>
          </a:p>
          <a:p>
            <a:r>
              <a:rPr lang="zh-CN" altLang="en-US" dirty="0" smtClean="0"/>
              <a:t>自底向上计算最优解：</a:t>
            </a:r>
            <a:endParaRPr lang="en-US" altLang="zh-CN" dirty="0" smtClean="0"/>
          </a:p>
          <a:p>
            <a:pPr marL="0" indent="0">
              <a:buNone/>
            </a:pPr>
            <a:r>
              <a:rPr lang="en-US" altLang="zh-CN" dirty="0" smtClean="0"/>
              <a:t>    </a:t>
            </a:r>
            <a:r>
              <a:rPr lang="zh-CN" altLang="en-US" dirty="0" smtClean="0"/>
              <a:t>初始化时，将</a:t>
            </a:r>
            <a:r>
              <a:rPr lang="en-US" altLang="zh-CN" dirty="0" smtClean="0"/>
              <a:t>D</a:t>
            </a:r>
            <a:r>
              <a:rPr lang="zh-CN" altLang="en-US" dirty="0" smtClean="0"/>
              <a:t>的第一行</a:t>
            </a:r>
            <a:r>
              <a:rPr lang="en-US" altLang="zh-CN" dirty="0" smtClean="0"/>
              <a:t>d[0,j]</a:t>
            </a:r>
            <a:r>
              <a:rPr lang="zh-CN" altLang="en-US" dirty="0" smtClean="0"/>
              <a:t>和第一列</a:t>
            </a:r>
            <a:r>
              <a:rPr lang="en-US" altLang="zh-CN" dirty="0" smtClean="0"/>
              <a:t>d[i,0]</a:t>
            </a:r>
            <a:r>
              <a:rPr lang="zh-CN" altLang="en-US" dirty="0" smtClean="0"/>
              <a:t>均设为</a:t>
            </a:r>
            <a:r>
              <a:rPr lang="en-US" altLang="zh-CN" dirty="0" smtClean="0"/>
              <a:t>0</a:t>
            </a:r>
            <a:r>
              <a:rPr lang="zh-CN" altLang="en-US" dirty="0" smtClean="0"/>
              <a:t>，自底向上计算</a:t>
            </a:r>
            <a:r>
              <a:rPr lang="en-US" altLang="zh-CN" dirty="0" smtClean="0"/>
              <a:t>d[</a:t>
            </a:r>
            <a:r>
              <a:rPr lang="en-US" altLang="zh-CN" dirty="0" err="1"/>
              <a:t>i</a:t>
            </a:r>
            <a:r>
              <a:rPr lang="en-US" altLang="zh-CN" dirty="0" err="1" smtClean="0"/>
              <a:t>,j</a:t>
            </a:r>
            <a:r>
              <a:rPr lang="en-US" altLang="zh-CN" dirty="0" smtClean="0"/>
              <a:t>]</a:t>
            </a:r>
            <a:r>
              <a:rPr lang="zh-CN" altLang="en-US" dirty="0" smtClean="0"/>
              <a:t>。</a:t>
            </a:r>
            <a:endParaRPr lang="en-US" altLang="zh-CN" dirty="0"/>
          </a:p>
          <a:p>
            <a:pPr marL="0" indent="0">
              <a:buNone/>
            </a:pPr>
            <a:r>
              <a:rPr lang="zh-CN" altLang="en-US" baseline="-25000" dirty="0" smtClean="0"/>
              <a:t>计算过程中，增加一个</a:t>
            </a:r>
            <a:r>
              <a:rPr lang="en-US" altLang="zh-CN" baseline="-25000" dirty="0" smtClean="0"/>
              <a:t>m*n</a:t>
            </a:r>
            <a:r>
              <a:rPr lang="zh-CN" altLang="en-US" baseline="-25000" dirty="0" smtClean="0"/>
              <a:t>矩阵</a:t>
            </a:r>
            <a:r>
              <a:rPr lang="en-US" altLang="zh-CN" baseline="-25000" dirty="0" smtClean="0"/>
              <a:t>p[</a:t>
            </a:r>
            <a:r>
              <a:rPr lang="en-US" altLang="zh-CN" baseline="-25000" dirty="0" err="1"/>
              <a:t>i</a:t>
            </a:r>
            <a:r>
              <a:rPr lang="en-US" altLang="zh-CN" baseline="-25000" dirty="0" err="1" smtClean="0"/>
              <a:t>,j</a:t>
            </a:r>
            <a:r>
              <a:rPr lang="en-US" altLang="zh-CN" baseline="-25000" dirty="0" smtClean="0"/>
              <a:t>]</a:t>
            </a:r>
            <a:r>
              <a:rPr lang="zh-CN" altLang="en-US" baseline="-25000" dirty="0" smtClean="0"/>
              <a:t>来记录用到的子序列的方向（箭头方向表示用到的子序列位置）</a:t>
            </a:r>
            <a:endParaRPr lang="en-US" altLang="zh-CN" baseline="-25000" dirty="0" smtClean="0"/>
          </a:p>
          <a:p>
            <a:pPr marL="0" indent="0">
              <a:buFont typeface="Arial" panose="020B0604020202020204" pitchFamily="34" charset="0"/>
              <a:buNone/>
            </a:pPr>
            <a:endParaRPr lang="zh-CN" altLang="en-US" baseline="-25000" dirty="0"/>
          </a:p>
        </p:txBody>
      </p:sp>
      <p:sp>
        <p:nvSpPr>
          <p:cNvPr id="2" name="标题 1"/>
          <p:cNvSpPr>
            <a:spLocks noGrp="1"/>
          </p:cNvSpPr>
          <p:nvPr>
            <p:ph type="title"/>
          </p:nvPr>
        </p:nvSpPr>
        <p:spPr/>
        <p:txBody>
          <a:bodyPr/>
          <a:lstStyle/>
          <a:p>
            <a:r>
              <a:rPr lang="zh-CN" altLang="en-US" dirty="0" smtClean="0"/>
              <a:t>矩阵值： 递归公式</a:t>
            </a:r>
            <a:endParaRPr lang="zh-CN" altLang="en-US" dirty="0"/>
          </a:p>
        </p:txBody>
      </p:sp>
      <p:pic>
        <p:nvPicPr>
          <p:cNvPr id="4" name="Picture 2" descr="https://img-blog.csdnimg.cn/20200710155232135.jpg#pic_righ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8320" y="2225479"/>
            <a:ext cx="6179461" cy="1426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14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 例：</a:t>
            </a:r>
            <a:endParaRPr lang="zh-CN" altLang="en-US" dirty="0"/>
          </a:p>
        </p:txBody>
      </p:sp>
      <p:sp>
        <p:nvSpPr>
          <p:cNvPr id="3" name="内容占位符 2"/>
          <p:cNvSpPr>
            <a:spLocks noGrp="1"/>
          </p:cNvSpPr>
          <p:nvPr>
            <p:ph idx="1"/>
          </p:nvPr>
        </p:nvSpPr>
        <p:spPr>
          <a:xfrm>
            <a:off x="280219" y="1764890"/>
            <a:ext cx="4666788" cy="4852219"/>
          </a:xfrm>
        </p:spPr>
        <p:txBody>
          <a:bodyPr/>
          <a:lstStyle/>
          <a:p>
            <a:r>
              <a:rPr lang="zh-CN" altLang="en-US" dirty="0" smtClean="0"/>
              <a:t>给定</a:t>
            </a:r>
            <a:r>
              <a:rPr lang="en-US" altLang="zh-CN" dirty="0" smtClean="0"/>
              <a:t>X</a:t>
            </a:r>
            <a:r>
              <a:rPr lang="en-US" altLang="zh-CN" baseline="-25000" dirty="0" smtClean="0"/>
              <a:t>i</a:t>
            </a:r>
            <a:r>
              <a:rPr lang="en-US" altLang="zh-CN" dirty="0" smtClean="0"/>
              <a:t> = (A,B,C,B,D,A,B)</a:t>
            </a:r>
            <a:r>
              <a:rPr lang="zh-CN" altLang="en-US" dirty="0" smtClean="0"/>
              <a:t>和</a:t>
            </a:r>
            <a:endParaRPr lang="en-US" altLang="zh-CN" dirty="0" smtClean="0"/>
          </a:p>
          <a:p>
            <a:r>
              <a:rPr lang="zh-CN" altLang="en-US" dirty="0" smtClean="0"/>
              <a:t>序列</a:t>
            </a:r>
            <a:r>
              <a:rPr lang="en-US" altLang="zh-CN" dirty="0" smtClean="0"/>
              <a:t>Y</a:t>
            </a:r>
            <a:r>
              <a:rPr lang="en-US" altLang="zh-CN" baseline="-25000" dirty="0" smtClean="0"/>
              <a:t>i</a:t>
            </a:r>
            <a:r>
              <a:rPr lang="en-US" altLang="zh-CN" dirty="0" smtClean="0"/>
              <a:t>=(B,D,C,A,B,A)</a:t>
            </a:r>
            <a:r>
              <a:rPr lang="zh-CN" altLang="en-US" dirty="0" smtClean="0"/>
              <a:t>，求</a:t>
            </a:r>
            <a:r>
              <a:rPr lang="en-US" altLang="zh-CN" dirty="0" smtClean="0"/>
              <a:t>X</a:t>
            </a:r>
            <a:r>
              <a:rPr lang="en-US" altLang="zh-CN" baseline="-25000" dirty="0"/>
              <a:t>i</a:t>
            </a:r>
            <a:r>
              <a:rPr lang="zh-CN" altLang="en-US" dirty="0" smtClean="0"/>
              <a:t>和</a:t>
            </a:r>
            <a:r>
              <a:rPr lang="en-US" altLang="zh-CN" dirty="0" smtClean="0"/>
              <a:t>Y</a:t>
            </a:r>
            <a:r>
              <a:rPr lang="en-US" altLang="zh-CN" baseline="-25000" dirty="0"/>
              <a:t>i</a:t>
            </a:r>
            <a:r>
              <a:rPr lang="zh-CN" altLang="en-US" dirty="0" smtClean="0"/>
              <a:t>的最长公共子序列。</a:t>
            </a:r>
            <a:endParaRPr lang="en-US" altLang="zh-CN" dirty="0" smtClean="0"/>
          </a:p>
          <a:p>
            <a:pPr marL="0" indent="0">
              <a:buNone/>
            </a:pPr>
            <a:endParaRPr lang="zh-CN" altLang="en-US" dirty="0"/>
          </a:p>
        </p:txBody>
      </p:sp>
      <p:pic>
        <p:nvPicPr>
          <p:cNvPr id="4" name="图片 3"/>
          <p:cNvPicPr>
            <a:picLocks noChangeAspect="1"/>
          </p:cNvPicPr>
          <p:nvPr/>
        </p:nvPicPr>
        <p:blipFill>
          <a:blip r:embed="rId2"/>
          <a:stretch>
            <a:fillRect/>
          </a:stretch>
        </p:blipFill>
        <p:spPr>
          <a:xfrm>
            <a:off x="5363585" y="1907343"/>
            <a:ext cx="6484121" cy="4319163"/>
          </a:xfrm>
          <a:prstGeom prst="rect">
            <a:avLst/>
          </a:prstGeom>
        </p:spPr>
      </p:pic>
      <p:pic>
        <p:nvPicPr>
          <p:cNvPr id="5" name="Picture 2" descr="https://img-blog.csdnimg.cn/20200710155232135.jpg#pic_righ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910" y="74613"/>
            <a:ext cx="5505290" cy="1271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30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算法设计与分析    </a:t>
            </a:r>
          </a:p>
        </p:txBody>
      </p:sp>
      <p:sp>
        <p:nvSpPr>
          <p:cNvPr id="6" name="文本框 5"/>
          <p:cNvSpPr txBox="1"/>
          <p:nvPr/>
        </p:nvSpPr>
        <p:spPr>
          <a:xfrm>
            <a:off x="1928343" y="2440461"/>
            <a:ext cx="3370352" cy="584775"/>
          </a:xfrm>
          <a:prstGeom prst="rect">
            <a:avLst/>
          </a:prstGeom>
          <a:solidFill>
            <a:schemeClr val="accent6">
              <a:lumMod val="20000"/>
              <a:lumOff val="80000"/>
            </a:schemeClr>
          </a:solidFill>
        </p:spPr>
        <p:txBody>
          <a:bodyPr wrap="square" rtlCol="0">
            <a:spAutoFit/>
          </a:bodyPr>
          <a:lstStyle/>
          <a:p>
            <a:r>
              <a:rPr lang="zh-CN" altLang="en-US" sz="3200" dirty="0">
                <a:latin typeface="华文楷体" panose="02010600040101010101" pitchFamily="2" charset="-122"/>
                <a:ea typeface="华文楷体" panose="02010600040101010101" pitchFamily="2" charset="-122"/>
                <a:cs typeface="+mj-cs"/>
              </a:rPr>
              <a:t>算法导论与基础</a:t>
            </a:r>
          </a:p>
        </p:txBody>
      </p:sp>
      <p:sp>
        <p:nvSpPr>
          <p:cNvPr id="7" name="文本框 6"/>
          <p:cNvSpPr txBox="1"/>
          <p:nvPr/>
        </p:nvSpPr>
        <p:spPr>
          <a:xfrm>
            <a:off x="1928343" y="3160172"/>
            <a:ext cx="3370352" cy="584775"/>
          </a:xfrm>
          <a:prstGeom prst="rect">
            <a:avLst/>
          </a:prstGeom>
          <a:solidFill>
            <a:schemeClr val="accent6">
              <a:lumMod val="20000"/>
              <a:lumOff val="80000"/>
            </a:schemeClr>
          </a:solidFill>
        </p:spPr>
        <p:txBody>
          <a:bodyPr wrap="square" rtlCol="0">
            <a:spAutoFit/>
          </a:bodyPr>
          <a:lstStyle/>
          <a:p>
            <a:r>
              <a:rPr lang="zh-CN" altLang="en-US" sz="3200" dirty="0">
                <a:latin typeface="华文楷体" panose="02010600040101010101" pitchFamily="2" charset="-122"/>
                <a:ea typeface="华文楷体" panose="02010600040101010101" pitchFamily="2" charset="-122"/>
                <a:cs typeface="+mj-cs"/>
              </a:rPr>
              <a:t>分</a:t>
            </a:r>
            <a:r>
              <a:rPr lang="zh-CN" altLang="en-US" sz="3200" dirty="0" smtClean="0">
                <a:latin typeface="华文楷体" panose="02010600040101010101" pitchFamily="2" charset="-122"/>
                <a:ea typeface="华文楷体" panose="02010600040101010101" pitchFamily="2" charset="-122"/>
                <a:cs typeface="+mj-cs"/>
              </a:rPr>
              <a:t>治策略</a:t>
            </a:r>
            <a:endParaRPr lang="zh-CN" altLang="en-US" sz="3200" dirty="0">
              <a:latin typeface="华文楷体" panose="02010600040101010101" pitchFamily="2" charset="-122"/>
              <a:ea typeface="华文楷体" panose="02010600040101010101" pitchFamily="2" charset="-122"/>
              <a:cs typeface="+mj-cs"/>
            </a:endParaRPr>
          </a:p>
        </p:txBody>
      </p:sp>
      <p:sp>
        <p:nvSpPr>
          <p:cNvPr id="8" name="文本框 7"/>
          <p:cNvSpPr txBox="1"/>
          <p:nvPr/>
        </p:nvSpPr>
        <p:spPr>
          <a:xfrm>
            <a:off x="1928343" y="3885513"/>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排序算法</a:t>
            </a:r>
            <a:endParaRPr lang="zh-CN" altLang="en-US" sz="3200" dirty="0">
              <a:latin typeface="华文楷体" panose="02010600040101010101" pitchFamily="2" charset="-122"/>
              <a:ea typeface="华文楷体" panose="02010600040101010101" pitchFamily="2" charset="-122"/>
              <a:cs typeface="+mj-cs"/>
            </a:endParaRPr>
          </a:p>
        </p:txBody>
      </p:sp>
      <p:sp>
        <p:nvSpPr>
          <p:cNvPr id="9" name="文本框 8"/>
          <p:cNvSpPr txBox="1"/>
          <p:nvPr/>
        </p:nvSpPr>
        <p:spPr>
          <a:xfrm>
            <a:off x="1928343" y="4576692"/>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图算法</a:t>
            </a:r>
            <a:endParaRPr lang="zh-CN" altLang="en-US" sz="3200" dirty="0">
              <a:latin typeface="华文楷体" panose="02010600040101010101" pitchFamily="2" charset="-122"/>
              <a:ea typeface="华文楷体" panose="02010600040101010101" pitchFamily="2" charset="-122"/>
              <a:cs typeface="+mj-cs"/>
            </a:endParaRPr>
          </a:p>
        </p:txBody>
      </p:sp>
      <p:sp>
        <p:nvSpPr>
          <p:cNvPr id="10" name="文本框 9"/>
          <p:cNvSpPr txBox="1"/>
          <p:nvPr/>
        </p:nvSpPr>
        <p:spPr>
          <a:xfrm>
            <a:off x="1928343" y="5296403"/>
            <a:ext cx="337035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动态规划</a:t>
            </a:r>
            <a:endParaRPr lang="zh-CN" altLang="en-US" sz="3200" dirty="0">
              <a:latin typeface="华文楷体" panose="02010600040101010101" pitchFamily="2" charset="-122"/>
              <a:ea typeface="华文楷体" panose="02010600040101010101" pitchFamily="2" charset="-122"/>
              <a:cs typeface="+mj-cs"/>
            </a:endParaRPr>
          </a:p>
        </p:txBody>
      </p:sp>
      <p:sp>
        <p:nvSpPr>
          <p:cNvPr id="16" name="文本框 15"/>
          <p:cNvSpPr txBox="1"/>
          <p:nvPr/>
        </p:nvSpPr>
        <p:spPr>
          <a:xfrm>
            <a:off x="5627039" y="2440461"/>
            <a:ext cx="5664260"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算法？</a:t>
            </a:r>
            <a:r>
              <a:rPr lang="en-US" altLang="zh-CN" sz="3200" dirty="0" smtClean="0">
                <a:latin typeface="华文楷体" panose="02010600040101010101" pitchFamily="2" charset="-122"/>
                <a:ea typeface="华文楷体" panose="02010600040101010101" pitchFamily="2" charset="-122"/>
                <a:cs typeface="+mj-cs"/>
              </a:rPr>
              <a:t>O(n) T(n)</a:t>
            </a:r>
            <a:endParaRPr lang="zh-CN" altLang="en-US" sz="3200" dirty="0">
              <a:latin typeface="华文楷体" panose="02010600040101010101" pitchFamily="2" charset="-122"/>
              <a:ea typeface="华文楷体" panose="02010600040101010101" pitchFamily="2" charset="-122"/>
              <a:cs typeface="+mj-cs"/>
            </a:endParaRPr>
          </a:p>
        </p:txBody>
      </p:sp>
      <p:sp>
        <p:nvSpPr>
          <p:cNvPr id="17" name="文本框 16"/>
          <p:cNvSpPr txBox="1"/>
          <p:nvPr/>
        </p:nvSpPr>
        <p:spPr>
          <a:xfrm>
            <a:off x="5627039" y="3160171"/>
            <a:ext cx="5664260"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化繁为简</a:t>
            </a:r>
            <a:endParaRPr lang="zh-CN" altLang="en-US" sz="3200" dirty="0">
              <a:latin typeface="华文楷体" panose="02010600040101010101" pitchFamily="2" charset="-122"/>
              <a:ea typeface="华文楷体" panose="02010600040101010101" pitchFamily="2" charset="-122"/>
              <a:cs typeface="+mj-cs"/>
            </a:endParaRPr>
          </a:p>
        </p:txBody>
      </p:sp>
      <p:sp>
        <p:nvSpPr>
          <p:cNvPr id="18" name="文本框 17"/>
          <p:cNvSpPr txBox="1"/>
          <p:nvPr/>
        </p:nvSpPr>
        <p:spPr>
          <a:xfrm>
            <a:off x="5627038" y="3885529"/>
            <a:ext cx="5664261"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快速排序、堆排序</a:t>
            </a:r>
            <a:endParaRPr lang="zh-CN" altLang="en-US" sz="3200" dirty="0">
              <a:latin typeface="华文楷体" panose="02010600040101010101" pitchFamily="2" charset="-122"/>
              <a:ea typeface="华文楷体" panose="02010600040101010101" pitchFamily="2" charset="-122"/>
              <a:cs typeface="+mj-cs"/>
            </a:endParaRPr>
          </a:p>
        </p:txBody>
      </p:sp>
      <p:sp>
        <p:nvSpPr>
          <p:cNvPr id="19" name="文本框 18"/>
          <p:cNvSpPr txBox="1"/>
          <p:nvPr/>
        </p:nvSpPr>
        <p:spPr>
          <a:xfrm>
            <a:off x="5627037" y="4577722"/>
            <a:ext cx="5664262" cy="584775"/>
          </a:xfrm>
          <a:prstGeom prst="rect">
            <a:avLst/>
          </a:prstGeom>
          <a:solidFill>
            <a:schemeClr val="accent6">
              <a:lumMod val="20000"/>
              <a:lumOff val="80000"/>
            </a:schemeClr>
          </a:solidFill>
        </p:spPr>
        <p:txBody>
          <a:bodyPr wrap="square" rtlCol="0">
            <a:spAutoFit/>
          </a:bodyPr>
          <a:lstStyle/>
          <a:p>
            <a:r>
              <a:rPr lang="zh-CN" altLang="en-US" sz="3200" dirty="0" smtClean="0">
                <a:latin typeface="华文楷体" panose="02010600040101010101" pitchFamily="2" charset="-122"/>
                <a:ea typeface="华文楷体" panose="02010600040101010101" pitchFamily="2" charset="-122"/>
                <a:cs typeface="+mj-cs"/>
              </a:rPr>
              <a:t>表示、最小生成树</a:t>
            </a:r>
            <a:endParaRPr lang="zh-CN" altLang="en-US" sz="3200" dirty="0">
              <a:latin typeface="华文楷体" panose="02010600040101010101" pitchFamily="2" charset="-122"/>
              <a:ea typeface="华文楷体" panose="02010600040101010101" pitchFamily="2" charset="-122"/>
              <a:cs typeface="+mj-cs"/>
            </a:endParaRPr>
          </a:p>
        </p:txBody>
      </p:sp>
      <p:sp>
        <p:nvSpPr>
          <p:cNvPr id="20" name="文本框 19"/>
          <p:cNvSpPr txBox="1"/>
          <p:nvPr/>
        </p:nvSpPr>
        <p:spPr>
          <a:xfrm>
            <a:off x="5627037" y="5347483"/>
            <a:ext cx="5664262" cy="584775"/>
          </a:xfrm>
          <a:prstGeom prst="rect">
            <a:avLst/>
          </a:prstGeom>
          <a:solidFill>
            <a:schemeClr val="accent6">
              <a:lumMod val="20000"/>
              <a:lumOff val="80000"/>
            </a:schemeClr>
          </a:solidFill>
        </p:spPr>
        <p:txBody>
          <a:bodyPr wrap="square" rtlCol="0">
            <a:spAutoFit/>
          </a:bodyPr>
          <a:lstStyle/>
          <a:p>
            <a:r>
              <a:rPr lang="en-US" altLang="zh-CN" sz="3200" dirty="0" smtClean="0">
                <a:latin typeface="华文楷体" panose="02010600040101010101" pitchFamily="2" charset="-122"/>
                <a:ea typeface="华文楷体" panose="02010600040101010101" pitchFamily="2" charset="-122"/>
                <a:cs typeface="+mj-cs"/>
              </a:rPr>
              <a:t>0-1</a:t>
            </a:r>
            <a:r>
              <a:rPr lang="zh-CN" altLang="en-US" sz="3200" dirty="0" smtClean="0">
                <a:latin typeface="华文楷体" panose="02010600040101010101" pitchFamily="2" charset="-122"/>
                <a:ea typeface="华文楷体" panose="02010600040101010101" pitchFamily="2" charset="-122"/>
                <a:cs typeface="+mj-cs"/>
              </a:rPr>
              <a:t>背包、最长公共子序列等</a:t>
            </a:r>
            <a:endParaRPr lang="zh-CN" altLang="en-US" sz="3200" dirty="0">
              <a:latin typeface="华文楷体" panose="02010600040101010101" pitchFamily="2" charset="-122"/>
              <a:ea typeface="华文楷体" panose="02010600040101010101" pitchFamily="2" charset="-122"/>
              <a:cs typeface="+mj-cs"/>
            </a:endParaRPr>
          </a:p>
        </p:txBody>
      </p:sp>
    </p:spTree>
    <p:extLst>
      <p:ext uri="{BB962C8B-B14F-4D97-AF65-F5344CB8AC3E}">
        <p14:creationId xmlns:p14="http://schemas.microsoft.com/office/powerpoint/2010/main" val="376846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二、数据处理</a:t>
            </a:r>
            <a:endParaRPr lang="zh-CN" altLang="en-US" dirty="0"/>
          </a:p>
        </p:txBody>
      </p:sp>
      <p:sp>
        <p:nvSpPr>
          <p:cNvPr id="3" name="内容占位符 2"/>
          <p:cNvSpPr>
            <a:spLocks noGrp="1"/>
          </p:cNvSpPr>
          <p:nvPr>
            <p:ph idx="1"/>
          </p:nvPr>
        </p:nvSpPr>
        <p:spPr>
          <a:xfrm>
            <a:off x="280220" y="1825624"/>
            <a:ext cx="4208654" cy="4791485"/>
          </a:xfrm>
        </p:spPr>
        <p:txBody>
          <a:bodyPr>
            <a:normAutofit lnSpcReduction="10000"/>
          </a:bodyPr>
          <a:lstStyle/>
          <a:p>
            <a:pPr marL="0" indent="0">
              <a:buNone/>
            </a:pPr>
            <a:endParaRPr lang="en-US" altLang="zh-CN" dirty="0" smtClean="0"/>
          </a:p>
          <a:p>
            <a:pPr>
              <a:buFont typeface="Wingdings" panose="05000000000000000000" pitchFamily="2" charset="2"/>
              <a:buChar char="Ø"/>
            </a:pPr>
            <a:r>
              <a:rPr lang="en-US" altLang="zh-CN" dirty="0" smtClean="0">
                <a:solidFill>
                  <a:schemeClr val="accent1">
                    <a:lumMod val="75000"/>
                  </a:schemeClr>
                </a:solidFill>
              </a:rPr>
              <a:t> 1</a:t>
            </a:r>
            <a:r>
              <a:rPr lang="zh-CN" altLang="en-US" dirty="0" smtClean="0">
                <a:solidFill>
                  <a:schemeClr val="accent1">
                    <a:lumMod val="75000"/>
                  </a:schemeClr>
                </a:solidFill>
              </a:rPr>
              <a:t>、数据收集</a:t>
            </a:r>
            <a:endParaRPr lang="en-US" altLang="zh-CN" dirty="0" smtClean="0">
              <a:solidFill>
                <a:schemeClr val="accent1">
                  <a:lumMod val="75000"/>
                </a:schemeClr>
              </a:solidFill>
            </a:endParaRPr>
          </a:p>
          <a:p>
            <a:pPr>
              <a:buFont typeface="Wingdings" panose="05000000000000000000" pitchFamily="2" charset="2"/>
              <a:buChar char="Ø"/>
            </a:pPr>
            <a:endParaRPr lang="en-US" altLang="zh-CN" dirty="0" smtClean="0"/>
          </a:p>
          <a:p>
            <a:pPr>
              <a:buFont typeface="Wingdings" panose="05000000000000000000" pitchFamily="2" charset="2"/>
              <a:buChar char="Ø"/>
            </a:pPr>
            <a:endParaRPr lang="en-US" altLang="zh-CN" dirty="0"/>
          </a:p>
          <a:p>
            <a:pPr>
              <a:buFont typeface="Wingdings" panose="05000000000000000000" pitchFamily="2" charset="2"/>
              <a:buChar char="Ø"/>
            </a:pPr>
            <a:r>
              <a:rPr lang="en-US" altLang="zh-CN" dirty="0" smtClean="0"/>
              <a:t> </a:t>
            </a:r>
            <a:r>
              <a:rPr lang="en-US" altLang="zh-CN" dirty="0" smtClean="0">
                <a:solidFill>
                  <a:schemeClr val="accent2">
                    <a:lumMod val="60000"/>
                    <a:lumOff val="40000"/>
                  </a:schemeClr>
                </a:solidFill>
              </a:rPr>
              <a:t>2</a:t>
            </a:r>
            <a:r>
              <a:rPr lang="zh-CN" altLang="en-US" dirty="0" smtClean="0">
                <a:solidFill>
                  <a:schemeClr val="accent2">
                    <a:lumMod val="60000"/>
                    <a:lumOff val="40000"/>
                  </a:schemeClr>
                </a:solidFill>
              </a:rPr>
              <a:t>、数据预处理</a:t>
            </a:r>
            <a:endParaRPr lang="en-US" altLang="zh-CN" dirty="0" smtClean="0">
              <a:solidFill>
                <a:schemeClr val="accent2">
                  <a:lumMod val="60000"/>
                  <a:lumOff val="40000"/>
                </a:schemeClr>
              </a:solidFill>
            </a:endParaRPr>
          </a:p>
          <a:p>
            <a:pPr>
              <a:buFont typeface="Wingdings" panose="05000000000000000000" pitchFamily="2" charset="2"/>
              <a:buChar char="Ø"/>
            </a:pPr>
            <a:endParaRPr lang="en-US" altLang="zh-CN" dirty="0" smtClean="0"/>
          </a:p>
          <a:p>
            <a:pPr>
              <a:buFont typeface="Wingdings" panose="05000000000000000000" pitchFamily="2" charset="2"/>
              <a:buChar char="Ø"/>
            </a:pPr>
            <a:endParaRPr lang="en-US" altLang="zh-CN" dirty="0"/>
          </a:p>
          <a:p>
            <a:pPr>
              <a:buFont typeface="Wingdings" panose="05000000000000000000" pitchFamily="2" charset="2"/>
              <a:buChar char="Ø"/>
            </a:pPr>
            <a:r>
              <a:rPr lang="en-US" altLang="zh-CN" dirty="0" smtClean="0"/>
              <a:t> </a:t>
            </a:r>
            <a:r>
              <a:rPr lang="en-US" altLang="zh-CN" dirty="0" smtClean="0">
                <a:solidFill>
                  <a:srgbClr val="00B050"/>
                </a:solidFill>
              </a:rPr>
              <a:t>3</a:t>
            </a:r>
            <a:r>
              <a:rPr lang="zh-CN" altLang="en-US" dirty="0" smtClean="0">
                <a:solidFill>
                  <a:srgbClr val="00B050"/>
                </a:solidFill>
              </a:rPr>
              <a:t>、数据标注</a:t>
            </a:r>
            <a:endParaRPr lang="en-US" altLang="zh-CN" dirty="0" smtClean="0">
              <a:solidFill>
                <a:srgbClr val="00B050"/>
              </a:solidFill>
            </a:endParaRPr>
          </a:p>
          <a:p>
            <a:endParaRPr lang="zh-CN" altLang="en-US" dirty="0"/>
          </a:p>
        </p:txBody>
      </p:sp>
      <p:sp>
        <p:nvSpPr>
          <p:cNvPr id="4" name="内容占位符 2"/>
          <p:cNvSpPr txBox="1">
            <a:spLocks/>
          </p:cNvSpPr>
          <p:nvPr/>
        </p:nvSpPr>
        <p:spPr>
          <a:xfrm>
            <a:off x="3740729" y="1890772"/>
            <a:ext cx="4208654" cy="17719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3200" kern="1200" dirty="0" smtClean="0">
                <a:solidFill>
                  <a:schemeClr val="tx1"/>
                </a:solidFill>
                <a:latin typeface="华文楷体" panose="02010600040101010101" pitchFamily="2" charset="-122"/>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smtClean="0"/>
              <a:t> </a:t>
            </a:r>
            <a:r>
              <a:rPr lang="zh-CN" altLang="en-US" sz="2400" dirty="0" smtClean="0">
                <a:solidFill>
                  <a:schemeClr val="accent1">
                    <a:lumMod val="75000"/>
                  </a:schemeClr>
                </a:solidFill>
              </a:rPr>
              <a:t>传感器</a:t>
            </a:r>
            <a:endParaRPr lang="en-US" altLang="zh-CN" sz="2400" dirty="0" smtClean="0">
              <a:solidFill>
                <a:schemeClr val="accent1">
                  <a:lumMod val="75000"/>
                </a:schemeClr>
              </a:solidFill>
            </a:endParaRPr>
          </a:p>
          <a:p>
            <a:r>
              <a:rPr lang="en-US" altLang="zh-CN" sz="2400" dirty="0">
                <a:solidFill>
                  <a:schemeClr val="accent1">
                    <a:lumMod val="75000"/>
                  </a:schemeClr>
                </a:solidFill>
              </a:rPr>
              <a:t> </a:t>
            </a:r>
            <a:r>
              <a:rPr lang="zh-CN" altLang="en-US" sz="2400" dirty="0" smtClean="0">
                <a:solidFill>
                  <a:schemeClr val="accent1">
                    <a:lumMod val="75000"/>
                  </a:schemeClr>
                </a:solidFill>
              </a:rPr>
              <a:t>系统日志</a:t>
            </a:r>
            <a:endParaRPr lang="en-US" altLang="zh-CN" sz="2400" dirty="0" smtClean="0">
              <a:solidFill>
                <a:schemeClr val="accent1">
                  <a:lumMod val="75000"/>
                </a:schemeClr>
              </a:solidFill>
            </a:endParaRPr>
          </a:p>
          <a:p>
            <a:r>
              <a:rPr lang="en-US" altLang="zh-CN" sz="2400" dirty="0">
                <a:solidFill>
                  <a:schemeClr val="accent1">
                    <a:lumMod val="75000"/>
                  </a:schemeClr>
                </a:solidFill>
              </a:rPr>
              <a:t> </a:t>
            </a:r>
            <a:r>
              <a:rPr lang="zh-CN" altLang="en-US" sz="2400" dirty="0" smtClean="0">
                <a:solidFill>
                  <a:schemeClr val="accent1">
                    <a:lumMod val="75000"/>
                  </a:schemeClr>
                </a:solidFill>
              </a:rPr>
              <a:t>网络爬虫</a:t>
            </a:r>
            <a:endParaRPr lang="en-US" altLang="zh-CN" sz="2400" dirty="0" smtClean="0">
              <a:solidFill>
                <a:schemeClr val="accent1">
                  <a:lumMod val="75000"/>
                </a:schemeClr>
              </a:solidFill>
            </a:endParaRPr>
          </a:p>
          <a:p>
            <a:r>
              <a:rPr lang="en-US" altLang="zh-CN" sz="2400" dirty="0">
                <a:solidFill>
                  <a:schemeClr val="accent1">
                    <a:lumMod val="75000"/>
                  </a:schemeClr>
                </a:solidFill>
              </a:rPr>
              <a:t> </a:t>
            </a:r>
            <a:r>
              <a:rPr lang="zh-CN" altLang="en-US" sz="2400" dirty="0" smtClean="0">
                <a:solidFill>
                  <a:schemeClr val="accent1">
                    <a:lumMod val="75000"/>
                  </a:schemeClr>
                </a:solidFill>
              </a:rPr>
              <a:t>众包和群智感知</a:t>
            </a:r>
            <a:endParaRPr lang="zh-CN" altLang="en-US" sz="2400" dirty="0">
              <a:solidFill>
                <a:schemeClr val="accent1">
                  <a:lumMod val="75000"/>
                </a:schemeClr>
              </a:solidFill>
            </a:endParaRPr>
          </a:p>
        </p:txBody>
      </p:sp>
      <p:sp>
        <p:nvSpPr>
          <p:cNvPr id="5" name="内容占位符 2"/>
          <p:cNvSpPr txBox="1">
            <a:spLocks/>
          </p:cNvSpPr>
          <p:nvPr/>
        </p:nvSpPr>
        <p:spPr>
          <a:xfrm>
            <a:off x="3740729" y="3903573"/>
            <a:ext cx="2516233" cy="14441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3200" kern="1200" dirty="0" smtClean="0">
                <a:solidFill>
                  <a:schemeClr val="tx1"/>
                </a:solidFill>
                <a:latin typeface="华文楷体" panose="02010600040101010101" pitchFamily="2" charset="-122"/>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smtClean="0">
                <a:solidFill>
                  <a:schemeClr val="accent2">
                    <a:lumMod val="60000"/>
                    <a:lumOff val="40000"/>
                  </a:schemeClr>
                </a:solidFill>
              </a:rPr>
              <a:t> </a:t>
            </a:r>
            <a:r>
              <a:rPr lang="zh-CN" altLang="en-US" sz="2400" dirty="0" smtClean="0">
                <a:solidFill>
                  <a:schemeClr val="accent2">
                    <a:lumMod val="60000"/>
                    <a:lumOff val="40000"/>
                  </a:schemeClr>
                </a:solidFill>
              </a:rPr>
              <a:t>数据清洗</a:t>
            </a:r>
            <a:endParaRPr lang="en-US" altLang="zh-CN" sz="2400" dirty="0" smtClean="0">
              <a:solidFill>
                <a:schemeClr val="accent2">
                  <a:lumMod val="60000"/>
                  <a:lumOff val="40000"/>
                </a:schemeClr>
              </a:solidFill>
            </a:endParaRPr>
          </a:p>
          <a:p>
            <a:r>
              <a:rPr lang="en-US" altLang="zh-CN" sz="2400" dirty="0">
                <a:solidFill>
                  <a:schemeClr val="accent2">
                    <a:lumMod val="60000"/>
                    <a:lumOff val="40000"/>
                  </a:schemeClr>
                </a:solidFill>
              </a:rPr>
              <a:t> </a:t>
            </a:r>
            <a:r>
              <a:rPr lang="zh-CN" altLang="en-US" sz="2400" dirty="0" smtClean="0">
                <a:solidFill>
                  <a:schemeClr val="accent2">
                    <a:lumMod val="60000"/>
                    <a:lumOff val="40000"/>
                  </a:schemeClr>
                </a:solidFill>
              </a:rPr>
              <a:t>数据交互</a:t>
            </a:r>
            <a:endParaRPr lang="en-US" altLang="zh-CN" sz="2400" dirty="0" smtClean="0">
              <a:solidFill>
                <a:schemeClr val="accent2">
                  <a:lumMod val="60000"/>
                  <a:lumOff val="40000"/>
                </a:schemeClr>
              </a:solidFill>
            </a:endParaRPr>
          </a:p>
          <a:p>
            <a:r>
              <a:rPr lang="en-US" altLang="zh-CN" sz="2400" dirty="0" smtClean="0">
                <a:solidFill>
                  <a:schemeClr val="accent2">
                    <a:lumMod val="60000"/>
                    <a:lumOff val="40000"/>
                  </a:schemeClr>
                </a:solidFill>
              </a:rPr>
              <a:t> </a:t>
            </a:r>
            <a:r>
              <a:rPr lang="zh-CN" altLang="en-US" sz="2400" dirty="0" smtClean="0">
                <a:solidFill>
                  <a:schemeClr val="accent2">
                    <a:lumMod val="60000"/>
                    <a:lumOff val="40000"/>
                  </a:schemeClr>
                </a:solidFill>
              </a:rPr>
              <a:t>数据规约</a:t>
            </a:r>
            <a:endParaRPr lang="zh-CN" altLang="en-US" sz="2400" dirty="0">
              <a:solidFill>
                <a:schemeClr val="accent2">
                  <a:lumMod val="60000"/>
                  <a:lumOff val="40000"/>
                </a:schemeClr>
              </a:solidFill>
            </a:endParaRPr>
          </a:p>
        </p:txBody>
      </p:sp>
      <p:sp>
        <p:nvSpPr>
          <p:cNvPr id="6" name="内容占位符 2"/>
          <p:cNvSpPr txBox="1">
            <a:spLocks/>
          </p:cNvSpPr>
          <p:nvPr/>
        </p:nvSpPr>
        <p:spPr>
          <a:xfrm>
            <a:off x="3740729" y="5451812"/>
            <a:ext cx="4208654" cy="13653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3200" kern="1200" dirty="0" smtClean="0">
                <a:solidFill>
                  <a:schemeClr val="tx1"/>
                </a:solidFill>
                <a:latin typeface="华文楷体" panose="02010600040101010101" pitchFamily="2" charset="-122"/>
                <a:ea typeface="华文楷体" panose="02010600040101010101" pitchFamily="2" charset="-122"/>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smtClean="0">
                <a:solidFill>
                  <a:srgbClr val="00B050"/>
                </a:solidFill>
              </a:rPr>
              <a:t> </a:t>
            </a:r>
            <a:r>
              <a:rPr lang="zh-CN" altLang="en-US" sz="2400" dirty="0" smtClean="0">
                <a:solidFill>
                  <a:srgbClr val="00B050"/>
                </a:solidFill>
              </a:rPr>
              <a:t>文本数据标注</a:t>
            </a:r>
            <a:endParaRPr lang="en-US" altLang="zh-CN" sz="2400" dirty="0" smtClean="0">
              <a:solidFill>
                <a:srgbClr val="00B050"/>
              </a:solidFill>
            </a:endParaRPr>
          </a:p>
          <a:p>
            <a:r>
              <a:rPr lang="zh-CN" altLang="en-US" sz="2400" dirty="0" smtClean="0">
                <a:solidFill>
                  <a:srgbClr val="00B050"/>
                </a:solidFill>
              </a:rPr>
              <a:t> 图像与视频数据标注</a:t>
            </a:r>
            <a:endParaRPr lang="en-US" altLang="zh-CN" sz="2400" dirty="0" smtClean="0">
              <a:solidFill>
                <a:srgbClr val="00B050"/>
              </a:solidFill>
            </a:endParaRPr>
          </a:p>
          <a:p>
            <a:r>
              <a:rPr lang="en-US" altLang="zh-CN" sz="2400" dirty="0">
                <a:solidFill>
                  <a:srgbClr val="00B050"/>
                </a:solidFill>
              </a:rPr>
              <a:t> </a:t>
            </a:r>
            <a:r>
              <a:rPr lang="zh-CN" altLang="en-US" sz="2400" dirty="0" smtClean="0">
                <a:solidFill>
                  <a:srgbClr val="00B050"/>
                </a:solidFill>
              </a:rPr>
              <a:t>音频数据标注</a:t>
            </a:r>
            <a:endParaRPr lang="en-US" altLang="zh-CN" sz="2400" dirty="0" smtClean="0">
              <a:solidFill>
                <a:srgbClr val="00B050"/>
              </a:solidFill>
            </a:endParaRPr>
          </a:p>
          <a:p>
            <a:endParaRPr lang="zh-CN" altLang="en-US" dirty="0"/>
          </a:p>
        </p:txBody>
      </p:sp>
    </p:spTree>
    <p:extLst>
      <p:ext uri="{BB962C8B-B14F-4D97-AF65-F5344CB8AC3E}">
        <p14:creationId xmlns:p14="http://schemas.microsoft.com/office/powerpoint/2010/main" val="5175310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2.1 </a:t>
            </a:r>
            <a:r>
              <a:rPr lang="zh-CN" altLang="en-US" dirty="0" smtClean="0"/>
              <a:t>数据收集</a:t>
            </a:r>
            <a:endParaRPr lang="zh-CN" altLang="en-US" dirty="0"/>
          </a:p>
        </p:txBody>
      </p:sp>
      <p:sp>
        <p:nvSpPr>
          <p:cNvPr id="3" name="内容占位符 2"/>
          <p:cNvSpPr>
            <a:spLocks noGrp="1"/>
          </p:cNvSpPr>
          <p:nvPr>
            <p:ph idx="1"/>
          </p:nvPr>
        </p:nvSpPr>
        <p:spPr>
          <a:xfrm>
            <a:off x="280219" y="1859623"/>
            <a:ext cx="11685639" cy="4839680"/>
          </a:xfrm>
        </p:spPr>
        <p:txBody>
          <a:bodyPr/>
          <a:lstStyle/>
          <a:p>
            <a:pPr marL="0" indent="0">
              <a:lnSpc>
                <a:spcPct val="100000"/>
              </a:lnSpc>
              <a:buNone/>
            </a:pPr>
            <a:r>
              <a:rPr lang="zh-CN" altLang="en-US" dirty="0" smtClean="0"/>
              <a:t>数据收集，即在所处环境或所用设施中，借助某种工具或使用某种方法收集信息的过程。数据收集需要结合数据产生的途径，采用合适有效的方法。由于数据源特征的不同，数据收集的方式多种多样。主要的数据收集方法包括：</a:t>
            </a:r>
            <a:endParaRPr lang="en-US" altLang="zh-CN" dirty="0" smtClean="0"/>
          </a:p>
          <a:p>
            <a:pPr>
              <a:lnSpc>
                <a:spcPct val="100000"/>
              </a:lnSpc>
            </a:pPr>
            <a:r>
              <a:rPr lang="en-US" altLang="zh-CN" sz="2800" dirty="0" smtClean="0"/>
              <a:t> </a:t>
            </a:r>
            <a:r>
              <a:rPr lang="zh-CN" altLang="en-US" sz="2800" dirty="0" smtClean="0"/>
              <a:t>用于收集物理世界信息的传感器</a:t>
            </a:r>
            <a:endParaRPr lang="en-US" altLang="zh-CN" sz="2800" dirty="0" smtClean="0"/>
          </a:p>
          <a:p>
            <a:pPr>
              <a:lnSpc>
                <a:spcPct val="100000"/>
              </a:lnSpc>
            </a:pPr>
            <a:r>
              <a:rPr lang="en-US" altLang="zh-CN" sz="2800" dirty="0"/>
              <a:t> </a:t>
            </a:r>
            <a:r>
              <a:rPr lang="zh-CN" altLang="en-US" sz="2800" dirty="0" smtClean="0"/>
              <a:t>用于收集日常操作信息的系统日志</a:t>
            </a:r>
            <a:endParaRPr lang="en-US" altLang="zh-CN" sz="2800" dirty="0" smtClean="0"/>
          </a:p>
          <a:p>
            <a:pPr>
              <a:lnSpc>
                <a:spcPct val="100000"/>
              </a:lnSpc>
            </a:pPr>
            <a:r>
              <a:rPr lang="en-US" altLang="zh-CN" sz="2800" dirty="0"/>
              <a:t> </a:t>
            </a:r>
            <a:r>
              <a:rPr lang="zh-CN" altLang="en-US" sz="2800" dirty="0" smtClean="0"/>
              <a:t>用于收集物联网信息的网络爬虫</a:t>
            </a:r>
            <a:endParaRPr lang="en-US" altLang="zh-CN" sz="2800" dirty="0" smtClean="0"/>
          </a:p>
          <a:p>
            <a:pPr>
              <a:lnSpc>
                <a:spcPct val="100000"/>
              </a:lnSpc>
            </a:pPr>
            <a:r>
              <a:rPr lang="en-US" altLang="zh-CN" sz="2800" dirty="0"/>
              <a:t> </a:t>
            </a:r>
            <a:r>
              <a:rPr lang="zh-CN" altLang="en-US" sz="2800" dirty="0" smtClean="0"/>
              <a:t>用于收集人所了解信息的众包和群智感知</a:t>
            </a:r>
            <a:endParaRPr lang="en-US" altLang="zh-CN" sz="2800" dirty="0" smtClean="0"/>
          </a:p>
          <a:p>
            <a:pPr marL="0" indent="0">
              <a:lnSpc>
                <a:spcPct val="100000"/>
              </a:lnSpc>
              <a:buNone/>
            </a:pPr>
            <a:endParaRPr lang="zh-CN" altLang="en-US" dirty="0"/>
          </a:p>
        </p:txBody>
      </p:sp>
    </p:spTree>
    <p:extLst>
      <p:ext uri="{BB962C8B-B14F-4D97-AF65-F5344CB8AC3E}">
        <p14:creationId xmlns:p14="http://schemas.microsoft.com/office/powerpoint/2010/main" val="50329139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传感器 </a:t>
            </a:r>
            <a:r>
              <a:rPr lang="en-US" altLang="zh-CN" dirty="0" smtClean="0"/>
              <a:t>+ </a:t>
            </a:r>
            <a:r>
              <a:rPr lang="zh-CN" altLang="en-US" dirty="0" smtClean="0"/>
              <a:t>系统日志</a:t>
            </a:r>
            <a:endParaRPr lang="zh-CN" altLang="en-US" dirty="0"/>
          </a:p>
        </p:txBody>
      </p:sp>
      <p:sp>
        <p:nvSpPr>
          <p:cNvPr id="3" name="内容占位符 2"/>
          <p:cNvSpPr>
            <a:spLocks noGrp="1"/>
          </p:cNvSpPr>
          <p:nvPr>
            <p:ph idx="1"/>
          </p:nvPr>
        </p:nvSpPr>
        <p:spPr/>
        <p:txBody>
          <a:bodyPr/>
          <a:lstStyle/>
          <a:p>
            <a:r>
              <a:rPr lang="zh-CN" altLang="en-US" dirty="0" smtClean="0"/>
              <a:t>传感器通常用于测量物理变量，一般包括声音、温度、湿度、距离、电流等，将测量值转化为数字信号，通过无线或者有线的方式传送到数据采集点，进行分析。</a:t>
            </a:r>
            <a:endParaRPr lang="en-US" altLang="zh-CN" dirty="0" smtClean="0"/>
          </a:p>
          <a:p>
            <a:endParaRPr lang="en-US" altLang="zh-CN" dirty="0" smtClean="0"/>
          </a:p>
          <a:p>
            <a:r>
              <a:rPr lang="zh-CN" altLang="en-US" dirty="0" smtClean="0"/>
              <a:t>系统日志即人类在使用各种软件的过程中，系统产生的记录信息。如</a:t>
            </a:r>
            <a:r>
              <a:rPr lang="en-US" altLang="zh-CN" dirty="0" smtClean="0"/>
              <a:t>:</a:t>
            </a:r>
            <a:r>
              <a:rPr lang="zh-CN" altLang="en-US" dirty="0" smtClean="0"/>
              <a:t>银行的交易记录，可反映出一定的消费习惯和消费水平。日志收集的插件较多，如：</a:t>
            </a:r>
            <a:r>
              <a:rPr lang="en-US" altLang="zh-CN" dirty="0" smtClean="0"/>
              <a:t>java</a:t>
            </a:r>
            <a:r>
              <a:rPr lang="zh-CN" altLang="en-US" dirty="0" smtClean="0"/>
              <a:t>平台的</a:t>
            </a:r>
            <a:r>
              <a:rPr lang="en-US" altLang="zh-CN" dirty="0" smtClean="0"/>
              <a:t>log4j</a:t>
            </a:r>
            <a:r>
              <a:rPr lang="zh-CN" altLang="en-US" dirty="0" smtClean="0"/>
              <a:t>、</a:t>
            </a:r>
            <a:r>
              <a:rPr lang="en-US" altLang="zh-CN" dirty="0" err="1" smtClean="0"/>
              <a:t>logback</a:t>
            </a:r>
            <a:r>
              <a:rPr lang="zh-CN" altLang="en-US" dirty="0" smtClean="0"/>
              <a:t>，</a:t>
            </a:r>
            <a:r>
              <a:rPr lang="en-US" altLang="zh-CN" dirty="0" err="1" smtClean="0"/>
              <a:t>.net</a:t>
            </a:r>
            <a:r>
              <a:rPr lang="zh-CN" altLang="en-US" dirty="0" smtClean="0"/>
              <a:t>平台的</a:t>
            </a:r>
            <a:r>
              <a:rPr lang="en-US" altLang="zh-CN" dirty="0" smtClean="0"/>
              <a:t>log4net</a:t>
            </a:r>
            <a:r>
              <a:rPr lang="zh-CN" altLang="en-US" dirty="0" smtClean="0"/>
              <a:t>等。</a:t>
            </a:r>
            <a:endParaRPr lang="en-US" altLang="zh-CN" dirty="0"/>
          </a:p>
          <a:p>
            <a:endParaRPr lang="zh-CN" altLang="en-US" dirty="0"/>
          </a:p>
        </p:txBody>
      </p:sp>
    </p:spTree>
    <p:extLst>
      <p:ext uri="{BB962C8B-B14F-4D97-AF65-F5344CB8AC3E}">
        <p14:creationId xmlns:p14="http://schemas.microsoft.com/office/powerpoint/2010/main" val="144223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网络爬虫</a:t>
            </a:r>
            <a:endParaRPr lang="zh-CN" altLang="en-US" dirty="0"/>
          </a:p>
        </p:txBody>
      </p:sp>
      <p:sp>
        <p:nvSpPr>
          <p:cNvPr id="3" name="内容占位符 2"/>
          <p:cNvSpPr>
            <a:spLocks noGrp="1"/>
          </p:cNvSpPr>
          <p:nvPr>
            <p:ph idx="1"/>
          </p:nvPr>
        </p:nvSpPr>
        <p:spPr/>
        <p:txBody>
          <a:bodyPr/>
          <a:lstStyle/>
          <a:p>
            <a:pPr marL="0" indent="0">
              <a:buNone/>
            </a:pPr>
            <a:r>
              <a:rPr lang="zh-CN" altLang="en-US" dirty="0"/>
              <a:t>网络爬虫是数据收集的一种重要工具。它们可以针对特定的网站或网页，或者通过</a:t>
            </a:r>
            <a:r>
              <a:rPr lang="zh-CN" altLang="en-US" b="1" dirty="0">
                <a:solidFill>
                  <a:srgbClr val="7030A0"/>
                </a:solidFill>
              </a:rPr>
              <a:t>搜索引擎</a:t>
            </a:r>
            <a:r>
              <a:rPr lang="zh-CN" altLang="en-US" dirty="0"/>
              <a:t>来收集数据</a:t>
            </a:r>
            <a:r>
              <a:rPr lang="zh-CN" altLang="en-US" dirty="0" smtClean="0"/>
              <a:t>。网络</a:t>
            </a:r>
            <a:r>
              <a:rPr lang="zh-CN" altLang="en-US" dirty="0"/>
              <a:t>爬虫可以遍历网站的不同页面，提取</a:t>
            </a:r>
            <a:r>
              <a:rPr lang="zh-CN" altLang="en-US" b="1" dirty="0">
                <a:solidFill>
                  <a:srgbClr val="7030A0"/>
                </a:solidFill>
              </a:rPr>
              <a:t>文本、图像、链接、元数据</a:t>
            </a:r>
            <a:r>
              <a:rPr lang="zh-CN" altLang="en-US" dirty="0"/>
              <a:t>等内容。通过设置适当的规则和过滤器，</a:t>
            </a:r>
            <a:r>
              <a:rPr lang="zh-CN" altLang="en-US" dirty="0" smtClean="0"/>
              <a:t>爬虫</a:t>
            </a:r>
            <a:r>
              <a:rPr lang="zh-CN" altLang="en-US" dirty="0"/>
              <a:t>可以针对特定的数据类型或特定的网页结构进行数据提取。网络爬虫通常被广泛用于获取互联网上大规模</a:t>
            </a:r>
            <a:r>
              <a:rPr lang="zh-CN" altLang="en-US" dirty="0" smtClean="0"/>
              <a:t>广泛分布</a:t>
            </a:r>
            <a:r>
              <a:rPr lang="zh-CN" altLang="en-US" dirty="0"/>
              <a:t>的数据。</a:t>
            </a:r>
          </a:p>
        </p:txBody>
      </p:sp>
      <p:pic>
        <p:nvPicPr>
          <p:cNvPr id="4" name="图片 3"/>
          <p:cNvPicPr>
            <a:picLocks noChangeAspect="1"/>
          </p:cNvPicPr>
          <p:nvPr/>
        </p:nvPicPr>
        <p:blipFill>
          <a:blip r:embed="rId2"/>
          <a:stretch>
            <a:fillRect/>
          </a:stretch>
        </p:blipFill>
        <p:spPr>
          <a:xfrm>
            <a:off x="812876" y="5137287"/>
            <a:ext cx="5191163" cy="1328747"/>
          </a:xfrm>
          <a:prstGeom prst="rect">
            <a:avLst/>
          </a:prstGeom>
        </p:spPr>
      </p:pic>
      <p:pic>
        <p:nvPicPr>
          <p:cNvPr id="5" name="图片 4"/>
          <p:cNvPicPr>
            <a:picLocks noChangeAspect="1"/>
          </p:cNvPicPr>
          <p:nvPr/>
        </p:nvPicPr>
        <p:blipFill>
          <a:blip r:embed="rId3"/>
          <a:stretch>
            <a:fillRect/>
          </a:stretch>
        </p:blipFill>
        <p:spPr>
          <a:xfrm>
            <a:off x="7364800" y="4457682"/>
            <a:ext cx="3409975" cy="2400318"/>
          </a:xfrm>
          <a:prstGeom prst="rect">
            <a:avLst/>
          </a:prstGeom>
        </p:spPr>
      </p:pic>
    </p:spTree>
    <p:extLst>
      <p:ext uri="{BB962C8B-B14F-4D97-AF65-F5344CB8AC3E}">
        <p14:creationId xmlns:p14="http://schemas.microsoft.com/office/powerpoint/2010/main" val="17947196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众包和群智感知</a:t>
            </a:r>
            <a:endParaRPr lang="zh-CN" altLang="en-US" dirty="0"/>
          </a:p>
        </p:txBody>
      </p:sp>
      <p:sp>
        <p:nvSpPr>
          <p:cNvPr id="3" name="内容占位符 2"/>
          <p:cNvSpPr>
            <a:spLocks noGrp="1"/>
          </p:cNvSpPr>
          <p:nvPr>
            <p:ph idx="1"/>
          </p:nvPr>
        </p:nvSpPr>
        <p:spPr/>
        <p:txBody>
          <a:bodyPr/>
          <a:lstStyle/>
          <a:p>
            <a:r>
              <a:rPr lang="zh-CN" altLang="en-US" dirty="0" smtClean="0"/>
              <a:t>众包是指通过向大量用户或参与者广泛分发任务或问题，并从他们那里收集解决方案、意见或贡献。它是一中集体智慧的利用方式。     （ 调查问卷 ）</a:t>
            </a:r>
            <a:endParaRPr lang="en-US" altLang="zh-CN" dirty="0" smtClean="0"/>
          </a:p>
          <a:p>
            <a:endParaRPr lang="en-US" altLang="zh-CN" dirty="0"/>
          </a:p>
          <a:p>
            <a:r>
              <a:rPr lang="zh-CN" altLang="en-US" dirty="0" smtClean="0"/>
              <a:t>群智感知是一种特定的众包应用，特指通过众包方式收集环境、位置或其他相关数据的方法。如：利用移动设备中的</a:t>
            </a:r>
            <a:r>
              <a:rPr lang="en-US" altLang="zh-CN" dirty="0" smtClean="0"/>
              <a:t>GPS</a:t>
            </a:r>
            <a:r>
              <a:rPr lang="zh-CN" altLang="en-US" dirty="0" smtClean="0"/>
              <a:t>和加速度传感器等功能，收集用户所在位置与移动速度等信息，获取实时的交通拥堵情况。</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91515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爬虫基本原理</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网页请求和响应的过程</a:t>
            </a:r>
            <a:endParaRPr lang="en-US" altLang="zh-CN" dirty="0" smtClean="0"/>
          </a:p>
          <a:p>
            <a:pPr marL="514350" indent="-514350">
              <a:buAutoNum type="arabicParenBoth"/>
            </a:pPr>
            <a:r>
              <a:rPr lang="en-US" altLang="zh-CN" sz="2800" dirty="0" smtClean="0"/>
              <a:t>Request(</a:t>
            </a:r>
            <a:r>
              <a:rPr lang="zh-CN" altLang="en-US" sz="2800" dirty="0" smtClean="0"/>
              <a:t>请求） 打开网页必须在最开始由用户向服务器发送访问的请求。</a:t>
            </a:r>
            <a:endParaRPr lang="en-US" altLang="zh-CN" sz="2800" dirty="0" smtClean="0"/>
          </a:p>
          <a:p>
            <a:pPr marL="514350" indent="-514350">
              <a:buAutoNum type="arabicParenBoth"/>
            </a:pPr>
            <a:r>
              <a:rPr lang="en-US" altLang="zh-CN" sz="2800" dirty="0" smtClean="0"/>
              <a:t>Response(</a:t>
            </a:r>
            <a:r>
              <a:rPr lang="zh-CN" altLang="en-US" sz="2800" dirty="0" smtClean="0"/>
              <a:t>响应）服务器在接收到用户请求后，会验证请求的有效性，然后向用户发送相应的内容。客户端收到服务器相应内容后，再将内容展示出来，以供用户浏览。</a:t>
            </a:r>
            <a:endParaRPr lang="en-US" altLang="zh-CN" sz="2800" dirty="0"/>
          </a:p>
          <a:p>
            <a:r>
              <a:rPr lang="zh-CN" altLang="en-US" sz="2800" dirty="0" smtClean="0"/>
              <a:t>网页请求的方式</a:t>
            </a:r>
            <a:endParaRPr lang="en-US" altLang="zh-CN" sz="2800" dirty="0" smtClean="0"/>
          </a:p>
          <a:p>
            <a:pPr marL="0" indent="0">
              <a:buNone/>
            </a:pPr>
            <a:r>
              <a:rPr lang="en-US" altLang="zh-CN" sz="2400" dirty="0" smtClean="0"/>
              <a:t>1</a:t>
            </a:r>
            <a:r>
              <a:rPr lang="zh-CN" altLang="en-US" sz="2400" dirty="0" smtClean="0"/>
              <a:t>）</a:t>
            </a:r>
            <a:r>
              <a:rPr lang="en-US" altLang="zh-CN" sz="2400" dirty="0" smtClean="0"/>
              <a:t>GET</a:t>
            </a:r>
            <a:r>
              <a:rPr lang="zh-CN" altLang="en-US" sz="2400" dirty="0" smtClean="0"/>
              <a:t>。</a:t>
            </a:r>
            <a:r>
              <a:rPr lang="en-US" altLang="zh-CN" sz="2400" dirty="0" smtClean="0"/>
              <a:t> </a:t>
            </a:r>
            <a:r>
              <a:rPr lang="zh-CN" altLang="en-US" sz="2400" dirty="0" smtClean="0"/>
              <a:t>最常见的请求方式，一般用于获取</a:t>
            </a:r>
            <a:endParaRPr lang="en-US" altLang="zh-CN" sz="2400" dirty="0" smtClean="0"/>
          </a:p>
          <a:p>
            <a:pPr marL="0" indent="0">
              <a:buNone/>
            </a:pPr>
            <a:r>
              <a:rPr lang="zh-CN" altLang="en-US" sz="2400" dirty="0" smtClean="0"/>
              <a:t>或者查询资源信息，也是大多数网站使用的方式。</a:t>
            </a:r>
            <a:endParaRPr lang="en-US" altLang="zh-CN" sz="2400" dirty="0" smtClean="0"/>
          </a:p>
          <a:p>
            <a:pPr marL="0" indent="0">
              <a:buNone/>
            </a:pPr>
            <a:r>
              <a:rPr lang="en-US" altLang="zh-CN" sz="2400" dirty="0" smtClean="0"/>
              <a:t>2</a:t>
            </a:r>
            <a:r>
              <a:rPr lang="zh-CN" altLang="en-US" sz="2400" dirty="0" smtClean="0"/>
              <a:t>）</a:t>
            </a:r>
            <a:r>
              <a:rPr lang="en-US" altLang="zh-CN" sz="2400" dirty="0" smtClean="0"/>
              <a:t>POST</a:t>
            </a:r>
            <a:r>
              <a:rPr lang="zh-CN" altLang="en-US" sz="2400" dirty="0" smtClean="0"/>
              <a:t>。与</a:t>
            </a:r>
            <a:r>
              <a:rPr lang="en-US" altLang="zh-CN" sz="2400" dirty="0" smtClean="0"/>
              <a:t>get</a:t>
            </a:r>
            <a:r>
              <a:rPr lang="zh-CN" altLang="en-US" sz="2400" dirty="0" smtClean="0"/>
              <a:t>相比，多了以表单形式上传参数的</a:t>
            </a:r>
            <a:endParaRPr lang="en-US" altLang="zh-CN" sz="2400" dirty="0" smtClean="0"/>
          </a:p>
          <a:p>
            <a:pPr marL="0" indent="0">
              <a:buNone/>
            </a:pPr>
            <a:r>
              <a:rPr lang="zh-CN" altLang="en-US" sz="2400" dirty="0" smtClean="0"/>
              <a:t>功能，除了查询外，还可以修改信息。</a:t>
            </a:r>
            <a:endParaRPr lang="zh-CN" altLang="en-US" sz="2400" dirty="0"/>
          </a:p>
        </p:txBody>
      </p:sp>
      <p:grpSp>
        <p:nvGrpSpPr>
          <p:cNvPr id="4" name="画布 60">
            <a:extLst>
              <a:ext uri="{FF2B5EF4-FFF2-40B4-BE49-F238E27FC236}">
                <a16:creationId xmlns:a16="http://schemas.microsoft.com/office/drawing/2014/main" id="{B81739AB-630C-46D9-8F0E-47DCBD987BD4}"/>
              </a:ext>
            </a:extLst>
          </p:cNvPr>
          <p:cNvGrpSpPr/>
          <p:nvPr/>
        </p:nvGrpSpPr>
        <p:grpSpPr>
          <a:xfrm>
            <a:off x="7207322" y="4120275"/>
            <a:ext cx="4102994" cy="2496834"/>
            <a:chOff x="0" y="0"/>
            <a:chExt cx="4038600" cy="1822450"/>
          </a:xfrm>
        </p:grpSpPr>
        <p:sp>
          <p:nvSpPr>
            <p:cNvPr id="5" name="矩形 4">
              <a:extLst>
                <a:ext uri="{FF2B5EF4-FFF2-40B4-BE49-F238E27FC236}">
                  <a16:creationId xmlns:a16="http://schemas.microsoft.com/office/drawing/2014/main" id="{7928DF2C-DBEB-46A8-BB2B-90E8FF31379F}"/>
                </a:ext>
              </a:extLst>
            </p:cNvPr>
            <p:cNvSpPr/>
            <p:nvPr/>
          </p:nvSpPr>
          <p:spPr>
            <a:xfrm>
              <a:off x="0" y="0"/>
              <a:ext cx="4038600" cy="1822450"/>
            </a:xfrm>
            <a:prstGeom prst="rect">
              <a:avLst/>
            </a:prstGeom>
            <a:ln>
              <a:solidFill>
                <a:srgbClr val="000000"/>
              </a:solidFill>
            </a:ln>
          </p:spPr>
        </p:sp>
        <p:grpSp>
          <p:nvGrpSpPr>
            <p:cNvPr id="6" name="组合 5">
              <a:extLst>
                <a:ext uri="{FF2B5EF4-FFF2-40B4-BE49-F238E27FC236}">
                  <a16:creationId xmlns:a16="http://schemas.microsoft.com/office/drawing/2014/main" id="{60B29BE9-0D22-49F2-9050-E943E1158896}"/>
                </a:ext>
              </a:extLst>
            </p:cNvPr>
            <p:cNvGrpSpPr/>
            <p:nvPr/>
          </p:nvGrpSpPr>
          <p:grpSpPr>
            <a:xfrm>
              <a:off x="42205" y="259080"/>
              <a:ext cx="3996395" cy="1294447"/>
              <a:chOff x="263185" y="510540"/>
              <a:chExt cx="3996395" cy="1294447"/>
            </a:xfrm>
          </p:grpSpPr>
          <p:pic>
            <p:nvPicPr>
              <p:cNvPr id="7" name="图形 2" descr="Internet">
                <a:extLst>
                  <a:ext uri="{FF2B5EF4-FFF2-40B4-BE49-F238E27FC236}">
                    <a16:creationId xmlns:a16="http://schemas.microsoft.com/office/drawing/2014/main" id="{A2107669-E722-4473-9A28-5D474BCB9D50}"/>
                  </a:ext>
                </a:extLst>
              </p:cNvPr>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263185" y="835320"/>
                <a:ext cx="914400" cy="914400"/>
              </a:xfrm>
              <a:prstGeom prst="rect">
                <a:avLst/>
              </a:prstGeom>
            </p:spPr>
          </p:pic>
          <p:cxnSp>
            <p:nvCxnSpPr>
              <p:cNvPr id="8" name="直接箭头连接符 7">
                <a:extLst>
                  <a:ext uri="{FF2B5EF4-FFF2-40B4-BE49-F238E27FC236}">
                    <a16:creationId xmlns:a16="http://schemas.microsoft.com/office/drawing/2014/main" id="{A7368A06-9798-484F-87E7-A35BF6A64449}"/>
                  </a:ext>
                </a:extLst>
              </p:cNvPr>
              <p:cNvCxnSpPr/>
              <p:nvPr/>
            </p:nvCxnSpPr>
            <p:spPr>
              <a:xfrm>
                <a:off x="1477645" y="1219200"/>
                <a:ext cx="1455420" cy="0"/>
              </a:xfrm>
              <a:prstGeom prst="straightConnector1">
                <a:avLst/>
              </a:prstGeom>
              <a:noFill/>
              <a:ln w="31750" cap="flat" cmpd="sng" algn="ctr">
                <a:solidFill>
                  <a:srgbClr val="4472C4"/>
                </a:solidFill>
                <a:prstDash val="solid"/>
                <a:miter lim="800000"/>
                <a:tailEnd type="triangle"/>
              </a:ln>
              <a:effectLst/>
            </p:spPr>
          </p:cxnSp>
          <p:sp>
            <p:nvSpPr>
              <p:cNvPr id="9" name="文本框 2">
                <a:extLst>
                  <a:ext uri="{FF2B5EF4-FFF2-40B4-BE49-F238E27FC236}">
                    <a16:creationId xmlns:a16="http://schemas.microsoft.com/office/drawing/2014/main" id="{336A0282-15FD-4449-B55F-3E1928390383}"/>
                  </a:ext>
                </a:extLst>
              </p:cNvPr>
              <p:cNvSpPr txBox="1">
                <a:spLocks noChangeArrowheads="1"/>
              </p:cNvSpPr>
              <p:nvPr/>
            </p:nvSpPr>
            <p:spPr bwMode="auto">
              <a:xfrm>
                <a:off x="1848145" y="759120"/>
                <a:ext cx="787740" cy="16978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1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http</a:t>
                </a:r>
                <a:r>
                  <a:rPr kumimoji="0" lang="zh-CN" altLang="en-US" sz="1050" b="0" i="0" u="none" strike="noStrike" kern="1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请求</a:t>
                </a:r>
                <a:endParaRPr kumimoji="0" lang="zh-CN" altLang="en-US" sz="12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10" name="直接箭头连接符 9">
                <a:extLst>
                  <a:ext uri="{FF2B5EF4-FFF2-40B4-BE49-F238E27FC236}">
                    <a16:creationId xmlns:a16="http://schemas.microsoft.com/office/drawing/2014/main" id="{DC879258-A7BB-4982-858E-3C4EF95B0D42}"/>
                  </a:ext>
                </a:extLst>
              </p:cNvPr>
              <p:cNvCxnSpPr/>
              <p:nvPr/>
            </p:nvCxnSpPr>
            <p:spPr>
              <a:xfrm flipH="1">
                <a:off x="1470025" y="1455420"/>
                <a:ext cx="1447800" cy="0"/>
              </a:xfrm>
              <a:prstGeom prst="straightConnector1">
                <a:avLst/>
              </a:prstGeom>
              <a:noFill/>
              <a:ln w="28575" cap="flat" cmpd="sng" algn="ctr">
                <a:solidFill>
                  <a:srgbClr val="4472C4"/>
                </a:solidFill>
                <a:prstDash val="solid"/>
                <a:miter lim="800000"/>
                <a:tailEnd type="triangle"/>
              </a:ln>
              <a:effectLst/>
            </p:spPr>
          </p:cxnSp>
          <p:sp>
            <p:nvSpPr>
              <p:cNvPr id="11" name="文本框 2">
                <a:extLst>
                  <a:ext uri="{FF2B5EF4-FFF2-40B4-BE49-F238E27FC236}">
                    <a16:creationId xmlns:a16="http://schemas.microsoft.com/office/drawing/2014/main" id="{FCF1E6E1-14E5-452A-9E61-495119D6EDEA}"/>
                  </a:ext>
                </a:extLst>
              </p:cNvPr>
              <p:cNvSpPr txBox="1">
                <a:spLocks noChangeArrowheads="1"/>
              </p:cNvSpPr>
              <p:nvPr/>
            </p:nvSpPr>
            <p:spPr bwMode="auto">
              <a:xfrm>
                <a:off x="1840525" y="1628730"/>
                <a:ext cx="787740" cy="16978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http</a:t>
                </a:r>
                <a:r>
                  <a:rPr kumimoji="0" lang="zh-CN" altLang="en-US" sz="1050" b="0"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响应</a:t>
                </a:r>
                <a:endParaRPr kumimoji="0" lang="zh-CN" altLang="en-US" sz="1200" b="0" i="0" u="none" strike="noStrike" kern="0" cap="none" spc="0" normalizeH="0" baseline="0" noProof="0">
                  <a:ln>
                    <a:noFill/>
                  </a:ln>
                  <a:solidFill>
                    <a:sysClr val="windowText" lastClr="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12" name="图形 57" descr="数据库">
                <a:extLst>
                  <a:ext uri="{FF2B5EF4-FFF2-40B4-BE49-F238E27FC236}">
                    <a16:creationId xmlns:a16="http://schemas.microsoft.com/office/drawing/2014/main" id="{D333763D-3B21-45E8-B776-13C4DB88D37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345180" y="890587"/>
                <a:ext cx="914400" cy="914400"/>
              </a:xfrm>
              <a:prstGeom prst="rect">
                <a:avLst/>
              </a:prstGeom>
            </p:spPr>
          </p:pic>
          <p:sp>
            <p:nvSpPr>
              <p:cNvPr id="13" name="文本框 2">
                <a:extLst>
                  <a:ext uri="{FF2B5EF4-FFF2-40B4-BE49-F238E27FC236}">
                    <a16:creationId xmlns:a16="http://schemas.microsoft.com/office/drawing/2014/main" id="{598CD67A-2EF0-4C3C-8F82-38340ABF2DE4}"/>
                  </a:ext>
                </a:extLst>
              </p:cNvPr>
              <p:cNvSpPr txBox="1">
                <a:spLocks noChangeArrowheads="1"/>
              </p:cNvSpPr>
              <p:nvPr/>
            </p:nvSpPr>
            <p:spPr bwMode="auto">
              <a:xfrm>
                <a:off x="3490595" y="510540"/>
                <a:ext cx="609600" cy="16978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1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服务器</a:t>
                </a:r>
                <a:endParaRPr kumimoji="0" lang="zh-CN" altLang="en-US" sz="12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4" name="文本框 2">
                <a:extLst>
                  <a:ext uri="{FF2B5EF4-FFF2-40B4-BE49-F238E27FC236}">
                    <a16:creationId xmlns:a16="http://schemas.microsoft.com/office/drawing/2014/main" id="{94CE58A9-7ABF-4709-AC0E-283757DF8255}"/>
                  </a:ext>
                </a:extLst>
              </p:cNvPr>
              <p:cNvSpPr txBox="1">
                <a:spLocks noChangeArrowheads="1"/>
              </p:cNvSpPr>
              <p:nvPr/>
            </p:nvSpPr>
            <p:spPr bwMode="auto">
              <a:xfrm>
                <a:off x="394335" y="563880"/>
                <a:ext cx="609600" cy="16978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50" b="0" i="0" u="none" strike="noStrike" kern="100" cap="none" spc="0" normalizeH="0" baseline="0" noProof="0" dirty="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rPr>
                  <a:t>客户端</a:t>
                </a:r>
                <a:endParaRPr kumimoji="0" lang="zh-CN" altLang="en-US" sz="12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grpSp>
      </p:grpSp>
    </p:spTree>
    <p:extLst>
      <p:ext uri="{BB962C8B-B14F-4D97-AF65-F5344CB8AC3E}">
        <p14:creationId xmlns:p14="http://schemas.microsoft.com/office/powerpoint/2010/main" val="205887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爬虫工作的基本流程</a:t>
            </a:r>
            <a:r>
              <a:rPr lang="en-US" altLang="zh-CN" dirty="0" smtClean="0"/>
              <a:t>		</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en-US" dirty="0" smtClean="0"/>
              <a:t>发送请求</a:t>
            </a:r>
            <a:endParaRPr lang="en-US" altLang="zh-CN" dirty="0" smtClean="0"/>
          </a:p>
          <a:p>
            <a:r>
              <a:rPr lang="en-US" altLang="zh-CN" dirty="0" smtClean="0"/>
              <a:t> </a:t>
            </a:r>
            <a:r>
              <a:rPr lang="zh-CN" altLang="en-US" dirty="0" smtClean="0"/>
              <a:t>获取相应内容</a:t>
            </a:r>
            <a:endParaRPr lang="en-US" altLang="zh-CN" dirty="0" smtClean="0"/>
          </a:p>
          <a:p>
            <a:r>
              <a:rPr lang="en-US" altLang="zh-CN" dirty="0"/>
              <a:t> </a:t>
            </a:r>
            <a:r>
              <a:rPr lang="zh-CN" altLang="en-US" dirty="0" smtClean="0"/>
              <a:t>解析内容</a:t>
            </a:r>
            <a:endParaRPr lang="en-US" altLang="zh-CN" dirty="0" smtClean="0"/>
          </a:p>
          <a:p>
            <a:r>
              <a:rPr lang="en-US" altLang="zh-CN" dirty="0"/>
              <a:t> </a:t>
            </a:r>
            <a:r>
              <a:rPr lang="zh-CN" altLang="en-US" dirty="0" smtClean="0"/>
              <a:t>保存数据</a:t>
            </a:r>
            <a:endParaRPr lang="en-US" altLang="zh-CN" dirty="0" smtClean="0"/>
          </a:p>
          <a:p>
            <a:endParaRPr lang="en-US" altLang="zh-CN" dirty="0"/>
          </a:p>
          <a:p>
            <a:pPr>
              <a:buFont typeface="Wingdings" panose="05000000000000000000" pitchFamily="2" charset="2"/>
              <a:buChar char="Ø"/>
            </a:pPr>
            <a:r>
              <a:rPr lang="en-US" altLang="zh-CN" dirty="0" smtClean="0"/>
              <a:t> </a:t>
            </a:r>
            <a:r>
              <a:rPr lang="en-US" altLang="zh-CN" dirty="0" err="1" smtClean="0">
                <a:solidFill>
                  <a:schemeClr val="accent4">
                    <a:lumMod val="50000"/>
                  </a:schemeClr>
                </a:solidFill>
              </a:rPr>
              <a:t>urllib</a:t>
            </a:r>
            <a:r>
              <a:rPr lang="en-US" altLang="zh-CN" dirty="0" smtClean="0">
                <a:solidFill>
                  <a:schemeClr val="accent4">
                    <a:lumMod val="50000"/>
                  </a:schemeClr>
                </a:solidFill>
              </a:rPr>
              <a:t> </a:t>
            </a:r>
            <a:r>
              <a:rPr lang="zh-CN" altLang="en-US" dirty="0" smtClean="0">
                <a:solidFill>
                  <a:schemeClr val="accent4">
                    <a:lumMod val="50000"/>
                  </a:schemeClr>
                </a:solidFill>
              </a:rPr>
              <a:t>模块                      </a:t>
            </a:r>
            <a:endParaRPr lang="en-US" altLang="zh-CN" dirty="0" smtClean="0">
              <a:solidFill>
                <a:schemeClr val="accent4">
                  <a:lumMod val="50000"/>
                </a:schemeClr>
              </a:solidFill>
            </a:endParaRPr>
          </a:p>
          <a:p>
            <a:pPr>
              <a:buFont typeface="Wingdings" panose="05000000000000000000" pitchFamily="2" charset="2"/>
              <a:buChar char="Ø"/>
            </a:pPr>
            <a:r>
              <a:rPr lang="en-US" altLang="zh-CN" dirty="0"/>
              <a:t> </a:t>
            </a:r>
            <a:r>
              <a:rPr lang="en-US" altLang="zh-CN" dirty="0" smtClean="0">
                <a:solidFill>
                  <a:schemeClr val="accent6">
                    <a:lumMod val="75000"/>
                  </a:schemeClr>
                </a:solidFill>
              </a:rPr>
              <a:t>Requests</a:t>
            </a:r>
            <a:r>
              <a:rPr lang="zh-CN" altLang="en-US" dirty="0" smtClean="0">
                <a:solidFill>
                  <a:schemeClr val="accent6">
                    <a:lumMod val="75000"/>
                  </a:schemeClr>
                </a:solidFill>
              </a:rPr>
              <a:t>库      </a:t>
            </a:r>
            <a:endParaRPr lang="en-US" altLang="zh-CN" dirty="0">
              <a:solidFill>
                <a:schemeClr val="accent6">
                  <a:lumMod val="75000"/>
                </a:schemeClr>
              </a:solidFill>
            </a:endParaRPr>
          </a:p>
        </p:txBody>
      </p:sp>
      <p:sp>
        <p:nvSpPr>
          <p:cNvPr id="4" name="矩形 3"/>
          <p:cNvSpPr/>
          <p:nvPr/>
        </p:nvSpPr>
        <p:spPr>
          <a:xfrm>
            <a:off x="3404975" y="3629737"/>
            <a:ext cx="6297234" cy="1569660"/>
          </a:xfrm>
          <a:prstGeom prst="rect">
            <a:avLst/>
          </a:prstGeom>
          <a:ln/>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sz="3200" dirty="0" smtClean="0">
                <a:latin typeface="Times New Roman" panose="02020603050405020304" pitchFamily="18" charset="0"/>
                <a:ea typeface="华文楷体" panose="02010600040101010101" pitchFamily="2" charset="-122"/>
                <a:cs typeface="+mj-cs"/>
              </a:rPr>
              <a:t>import </a:t>
            </a:r>
            <a:r>
              <a:rPr lang="en-US" altLang="zh-CN" sz="3200" dirty="0" err="1" smtClean="0">
                <a:latin typeface="Times New Roman" panose="02020603050405020304" pitchFamily="18" charset="0"/>
                <a:ea typeface="华文楷体" panose="02010600040101010101" pitchFamily="2" charset="-122"/>
                <a:cs typeface="+mj-cs"/>
              </a:rPr>
              <a:t>urllib.request</a:t>
            </a:r>
            <a:endParaRPr lang="en-US" altLang="zh-CN" sz="3200" dirty="0" smtClean="0">
              <a:latin typeface="Times New Roman" panose="02020603050405020304" pitchFamily="18" charset="0"/>
              <a:ea typeface="华文楷体" panose="02010600040101010101" pitchFamily="2" charset="-122"/>
              <a:cs typeface="+mj-cs"/>
            </a:endParaRPr>
          </a:p>
          <a:p>
            <a:r>
              <a:rPr lang="en-US" altLang="zh-CN" sz="3200" dirty="0" err="1" smtClean="0">
                <a:latin typeface="Times New Roman" panose="02020603050405020304" pitchFamily="18" charset="0"/>
                <a:ea typeface="华文楷体" panose="02010600040101010101" pitchFamily="2" charset="-122"/>
                <a:cs typeface="+mj-cs"/>
              </a:rPr>
              <a:t>url</a:t>
            </a:r>
            <a:r>
              <a:rPr lang="en-US" altLang="zh-CN" sz="3200" dirty="0" smtClean="0">
                <a:latin typeface="Times New Roman" panose="02020603050405020304" pitchFamily="18" charset="0"/>
                <a:ea typeface="华文楷体" panose="02010600040101010101" pitchFamily="2" charset="-122"/>
                <a:cs typeface="+mj-cs"/>
              </a:rPr>
              <a:t> = “https://www.baidu.com”  </a:t>
            </a:r>
          </a:p>
          <a:p>
            <a:r>
              <a:rPr lang="en-US" altLang="zh-CN" sz="3200" dirty="0" smtClean="0">
                <a:latin typeface="Times New Roman" panose="02020603050405020304" pitchFamily="18" charset="0"/>
                <a:ea typeface="华文楷体" panose="02010600040101010101" pitchFamily="2" charset="-122"/>
                <a:cs typeface="+mj-cs"/>
              </a:rPr>
              <a:t>response = </a:t>
            </a:r>
            <a:r>
              <a:rPr lang="en-US" altLang="zh-CN" sz="3200" dirty="0" err="1" smtClean="0">
                <a:latin typeface="Times New Roman" panose="02020603050405020304" pitchFamily="18" charset="0"/>
                <a:ea typeface="华文楷体" panose="02010600040101010101" pitchFamily="2" charset="-122"/>
                <a:cs typeface="+mj-cs"/>
              </a:rPr>
              <a:t>urllib.request.urlopen</a:t>
            </a:r>
            <a:r>
              <a:rPr lang="en-US" altLang="zh-CN" sz="3200" dirty="0" smtClean="0">
                <a:latin typeface="Times New Roman" panose="02020603050405020304" pitchFamily="18" charset="0"/>
                <a:ea typeface="华文楷体" panose="02010600040101010101" pitchFamily="2" charset="-122"/>
                <a:cs typeface="+mj-cs"/>
              </a:rPr>
              <a:t>(</a:t>
            </a:r>
            <a:r>
              <a:rPr lang="en-US" altLang="zh-CN" sz="3200" dirty="0" err="1" smtClean="0">
                <a:latin typeface="Times New Roman" panose="02020603050405020304" pitchFamily="18" charset="0"/>
                <a:ea typeface="华文楷体" panose="02010600040101010101" pitchFamily="2" charset="-122"/>
                <a:cs typeface="+mj-cs"/>
              </a:rPr>
              <a:t>url</a:t>
            </a:r>
            <a:r>
              <a:rPr lang="en-US" altLang="zh-CN" sz="3200" dirty="0" smtClean="0">
                <a:latin typeface="Times New Roman" panose="02020603050405020304" pitchFamily="18" charset="0"/>
                <a:ea typeface="华文楷体" panose="02010600040101010101" pitchFamily="2" charset="-122"/>
                <a:cs typeface="+mj-cs"/>
              </a:rPr>
              <a:t>)</a:t>
            </a:r>
            <a:endParaRPr lang="en-US" altLang="zh-CN" sz="3200" dirty="0">
              <a:latin typeface="Times New Roman" panose="02020603050405020304" pitchFamily="18" charset="0"/>
              <a:ea typeface="华文楷体" panose="02010600040101010101" pitchFamily="2" charset="-122"/>
              <a:cs typeface="+mj-cs"/>
            </a:endParaRPr>
          </a:p>
        </p:txBody>
      </p:sp>
      <p:sp>
        <p:nvSpPr>
          <p:cNvPr id="5" name="矩形 4"/>
          <p:cNvSpPr/>
          <p:nvPr/>
        </p:nvSpPr>
        <p:spPr>
          <a:xfrm>
            <a:off x="3404975" y="5263995"/>
            <a:ext cx="6297234" cy="1569660"/>
          </a:xfrm>
          <a:prstGeom prst="rect">
            <a:avLst/>
          </a:prstGeom>
          <a:ln w="28575"/>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zh-CN" sz="3200" dirty="0" smtClean="0">
                <a:latin typeface="Times New Roman" panose="02020603050405020304" pitchFamily="18" charset="0"/>
                <a:ea typeface="华文楷体" panose="02010600040101010101" pitchFamily="2" charset="-122"/>
                <a:cs typeface="+mj-cs"/>
              </a:rPr>
              <a:t>import requests</a:t>
            </a:r>
          </a:p>
          <a:p>
            <a:r>
              <a:rPr lang="en-US" altLang="zh-CN" sz="3200" dirty="0" err="1">
                <a:latin typeface="Times New Roman" panose="02020603050405020304" pitchFamily="18" charset="0"/>
                <a:ea typeface="华文楷体" panose="02010600040101010101" pitchFamily="2" charset="-122"/>
              </a:rPr>
              <a:t>url</a:t>
            </a:r>
            <a:r>
              <a:rPr lang="en-US" altLang="zh-CN" sz="3200" dirty="0">
                <a:latin typeface="Times New Roman" panose="02020603050405020304" pitchFamily="18" charset="0"/>
                <a:ea typeface="华文楷体" panose="02010600040101010101" pitchFamily="2" charset="-122"/>
              </a:rPr>
              <a:t> = “https://www.baidu.com”  </a:t>
            </a:r>
          </a:p>
          <a:p>
            <a:r>
              <a:rPr lang="en-US" altLang="zh-CN" sz="3200" dirty="0" smtClean="0">
                <a:latin typeface="Times New Roman" panose="02020603050405020304" pitchFamily="18" charset="0"/>
                <a:ea typeface="华文楷体" panose="02010600040101010101" pitchFamily="2" charset="-122"/>
                <a:cs typeface="+mj-cs"/>
              </a:rPr>
              <a:t>response = </a:t>
            </a:r>
            <a:r>
              <a:rPr lang="en-US" altLang="zh-CN" sz="3200" dirty="0" err="1" smtClean="0">
                <a:latin typeface="Times New Roman" panose="02020603050405020304" pitchFamily="18" charset="0"/>
                <a:ea typeface="华文楷体" panose="02010600040101010101" pitchFamily="2" charset="-122"/>
                <a:cs typeface="+mj-cs"/>
              </a:rPr>
              <a:t>requests.get</a:t>
            </a:r>
            <a:r>
              <a:rPr lang="en-US" altLang="zh-CN" sz="3200" dirty="0" smtClean="0">
                <a:latin typeface="Times New Roman" panose="02020603050405020304" pitchFamily="18" charset="0"/>
                <a:ea typeface="华文楷体" panose="02010600040101010101" pitchFamily="2" charset="-122"/>
                <a:cs typeface="+mj-cs"/>
              </a:rPr>
              <a:t>(</a:t>
            </a:r>
            <a:r>
              <a:rPr lang="en-US" altLang="zh-CN" sz="3200" dirty="0" err="1" smtClean="0">
                <a:latin typeface="Times New Roman" panose="02020603050405020304" pitchFamily="18" charset="0"/>
                <a:ea typeface="华文楷体" panose="02010600040101010101" pitchFamily="2" charset="-122"/>
                <a:cs typeface="+mj-cs"/>
              </a:rPr>
              <a:t>url</a:t>
            </a:r>
            <a:r>
              <a:rPr lang="en-US" altLang="zh-CN" sz="3200" dirty="0" smtClean="0">
                <a:latin typeface="Times New Roman" panose="02020603050405020304" pitchFamily="18" charset="0"/>
                <a:ea typeface="华文楷体" panose="02010600040101010101" pitchFamily="2" charset="-122"/>
                <a:cs typeface="+mj-cs"/>
              </a:rPr>
              <a:t>)</a:t>
            </a:r>
            <a:endParaRPr lang="en-US" altLang="zh-CN" sz="3200" dirty="0">
              <a:latin typeface="Times New Roman" panose="02020603050405020304" pitchFamily="18" charset="0"/>
              <a:ea typeface="华文楷体" panose="02010600040101010101" pitchFamily="2" charset="-122"/>
              <a:cs typeface="+mj-cs"/>
            </a:endParaRPr>
          </a:p>
        </p:txBody>
      </p:sp>
    </p:spTree>
    <p:extLst>
      <p:ext uri="{BB962C8B-B14F-4D97-AF65-F5344CB8AC3E}">
        <p14:creationId xmlns:p14="http://schemas.microsoft.com/office/powerpoint/2010/main" val="398243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a:t>
            </a:r>
            <a:r>
              <a:rPr lang="zh-CN" altLang="en-US" dirty="0" smtClean="0"/>
              <a:t>带参数的</a:t>
            </a:r>
            <a:r>
              <a:rPr lang="en-US" altLang="zh-CN" dirty="0" smtClean="0"/>
              <a:t>get</a:t>
            </a:r>
            <a:r>
              <a:rPr lang="zh-CN" altLang="en-US" dirty="0" smtClean="0"/>
              <a:t>请求</a:t>
            </a:r>
            <a:endParaRPr lang="zh-CN" altLang="en-US" dirty="0"/>
          </a:p>
        </p:txBody>
      </p:sp>
      <p:sp>
        <p:nvSpPr>
          <p:cNvPr id="3" name="内容占位符 2"/>
          <p:cNvSpPr>
            <a:spLocks noGrp="1"/>
          </p:cNvSpPr>
          <p:nvPr>
            <p:ph idx="1"/>
          </p:nvPr>
        </p:nvSpPr>
        <p:spPr/>
        <p:txBody>
          <a:bodyPr/>
          <a:lstStyle/>
          <a:p>
            <a:pPr marL="0" indent="0">
              <a:buNone/>
            </a:pPr>
            <a:r>
              <a:rPr lang="en-US" altLang="zh-CN" dirty="0"/>
              <a:t>import requests   #</a:t>
            </a:r>
            <a:r>
              <a:rPr lang="zh-CN" altLang="en-US" dirty="0"/>
              <a:t>导入 网络请求模块</a:t>
            </a:r>
            <a:r>
              <a:rPr lang="en-US" altLang="zh-CN" dirty="0"/>
              <a:t>requests</a:t>
            </a:r>
          </a:p>
          <a:p>
            <a:pPr marL="0" indent="0">
              <a:buNone/>
            </a:pPr>
            <a:endParaRPr lang="en-US" altLang="zh-CN" dirty="0"/>
          </a:p>
          <a:p>
            <a:pPr marL="0" indent="0">
              <a:buNone/>
            </a:pPr>
            <a:r>
              <a:rPr lang="en-US" altLang="zh-CN" dirty="0"/>
              <a:t>#</a:t>
            </a:r>
            <a:r>
              <a:rPr lang="zh-CN" altLang="en-US" dirty="0"/>
              <a:t>发送网络请求</a:t>
            </a:r>
          </a:p>
          <a:p>
            <a:pPr marL="0" indent="0">
              <a:buNone/>
            </a:pPr>
            <a:r>
              <a:rPr lang="en-US" altLang="zh-CN" dirty="0"/>
              <a:t>response = </a:t>
            </a:r>
            <a:r>
              <a:rPr lang="en-US" altLang="zh-CN" dirty="0" err="1"/>
              <a:t>requests.get</a:t>
            </a:r>
            <a:r>
              <a:rPr lang="en-US" altLang="zh-CN" dirty="0"/>
              <a:t>("http://www.baidu.com")</a:t>
            </a:r>
          </a:p>
          <a:p>
            <a:pPr marL="0" indent="0">
              <a:buNone/>
            </a:pPr>
            <a:r>
              <a:rPr lang="en-US" altLang="zh-CN" dirty="0" err="1"/>
              <a:t>response.encoding</a:t>
            </a:r>
            <a:r>
              <a:rPr lang="en-US" altLang="zh-CN" dirty="0"/>
              <a:t> = 'utf-8'   # </a:t>
            </a:r>
            <a:r>
              <a:rPr lang="zh-CN" altLang="en-US" dirty="0"/>
              <a:t>对响应结果进行</a:t>
            </a:r>
            <a:r>
              <a:rPr lang="en-US" altLang="zh-CN" dirty="0"/>
              <a:t>utf-8</a:t>
            </a:r>
            <a:r>
              <a:rPr lang="zh-CN" altLang="en-US" dirty="0"/>
              <a:t>编码</a:t>
            </a:r>
          </a:p>
          <a:p>
            <a:pPr marL="0" indent="0">
              <a:buNone/>
            </a:pPr>
            <a:r>
              <a:rPr lang="en-US" altLang="zh-CN" dirty="0"/>
              <a:t>print(</a:t>
            </a:r>
            <a:r>
              <a:rPr lang="en-US" altLang="zh-CN" dirty="0" err="1"/>
              <a:t>response.text</a:t>
            </a:r>
            <a:r>
              <a:rPr lang="en-US" altLang="zh-CN" dirty="0"/>
              <a:t>)          # </a:t>
            </a:r>
            <a:r>
              <a:rPr lang="zh-CN" altLang="en-US" dirty="0"/>
              <a:t>以文本形式打印网页源码</a:t>
            </a:r>
          </a:p>
          <a:p>
            <a:pPr marL="0" indent="0">
              <a:buNone/>
            </a:pPr>
            <a:endParaRPr lang="zh-CN" altLang="en-US" dirty="0"/>
          </a:p>
        </p:txBody>
      </p:sp>
    </p:spTree>
    <p:extLst>
      <p:ext uri="{BB962C8B-B14F-4D97-AF65-F5344CB8AC3E}">
        <p14:creationId xmlns:p14="http://schemas.microsoft.com/office/powerpoint/2010/main" val="7301421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网络爬虫的代码框架</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zh-CN" dirty="0"/>
              <a:t>通用代码框架为</a:t>
            </a:r>
            <a:r>
              <a:rPr lang="zh-CN" altLang="en-US" dirty="0"/>
              <a:t>：</a:t>
            </a:r>
            <a:endParaRPr lang="en-US" altLang="zh-CN" dirty="0"/>
          </a:p>
          <a:p>
            <a:pPr marL="0" indent="0">
              <a:buNone/>
            </a:pPr>
            <a:r>
              <a:rPr lang="en-US" altLang="zh-CN" dirty="0"/>
              <a:t>import requests       #</a:t>
            </a:r>
            <a:r>
              <a:rPr lang="zh-CN" altLang="en-US" dirty="0"/>
              <a:t>引入</a:t>
            </a:r>
            <a:r>
              <a:rPr lang="en-US" altLang="zh-CN" dirty="0"/>
              <a:t>requests</a:t>
            </a:r>
            <a:r>
              <a:rPr lang="zh-CN" altLang="en-US" dirty="0"/>
              <a:t>库（需要安装）</a:t>
            </a:r>
            <a:endParaRPr lang="zh-CN" altLang="zh-CN" dirty="0"/>
          </a:p>
          <a:p>
            <a:pPr marL="0" indent="0">
              <a:buNone/>
            </a:pPr>
            <a:r>
              <a:rPr lang="en-US" altLang="zh-CN" dirty="0"/>
              <a:t>try:</a:t>
            </a:r>
            <a:endParaRPr lang="zh-CN" altLang="zh-CN" dirty="0"/>
          </a:p>
          <a:p>
            <a:pPr marL="0" indent="0">
              <a:buNone/>
            </a:pPr>
            <a:r>
              <a:rPr lang="en-US" altLang="zh-CN" dirty="0"/>
              <a:t>  response = </a:t>
            </a:r>
            <a:r>
              <a:rPr lang="en-US" altLang="zh-CN" dirty="0" err="1"/>
              <a:t>requests.get</a:t>
            </a:r>
            <a:r>
              <a:rPr lang="en-US" altLang="zh-CN" dirty="0"/>
              <a:t>(</a:t>
            </a:r>
            <a:r>
              <a:rPr lang="en-US" altLang="zh-CN" dirty="0" err="1"/>
              <a:t>url</a:t>
            </a:r>
            <a:r>
              <a:rPr lang="en-US" altLang="zh-CN" dirty="0"/>
              <a:t>, timeout = 30)     #get</a:t>
            </a:r>
            <a:r>
              <a:rPr lang="zh-CN" altLang="en-US" dirty="0"/>
              <a:t>方法，获取数据</a:t>
            </a:r>
            <a:endParaRPr lang="zh-CN" altLang="zh-CN" dirty="0"/>
          </a:p>
          <a:p>
            <a:pPr marL="0" indent="0">
              <a:buNone/>
            </a:pPr>
            <a:r>
              <a:rPr lang="en-US" altLang="zh-CN" dirty="0"/>
              <a:t>  </a:t>
            </a:r>
            <a:r>
              <a:rPr lang="en-US" altLang="zh-CN" dirty="0" err="1"/>
              <a:t>response.raise_for_status</a:t>
            </a:r>
            <a:r>
              <a:rPr lang="en-US" altLang="zh-CN" dirty="0"/>
              <a:t>()           #</a:t>
            </a:r>
            <a:r>
              <a:rPr lang="zh-CN" altLang="en-US" dirty="0"/>
              <a:t>状态码不是</a:t>
            </a:r>
            <a:r>
              <a:rPr lang="en-US" altLang="zh-CN" dirty="0"/>
              <a:t>200</a:t>
            </a:r>
            <a:r>
              <a:rPr lang="zh-CN" altLang="en-US" dirty="0"/>
              <a:t>，则产生异常</a:t>
            </a:r>
            <a:endParaRPr lang="zh-CN" altLang="zh-CN" dirty="0"/>
          </a:p>
          <a:p>
            <a:pPr marL="0" indent="0">
              <a:buNone/>
            </a:pPr>
            <a:r>
              <a:rPr lang="en-US" altLang="zh-CN" dirty="0"/>
              <a:t>  </a:t>
            </a:r>
            <a:r>
              <a:rPr lang="en-US" altLang="zh-CN" dirty="0" err="1"/>
              <a:t>response.encoding</a:t>
            </a:r>
            <a:r>
              <a:rPr lang="en-US" altLang="zh-CN" dirty="0"/>
              <a:t> = </a:t>
            </a:r>
            <a:r>
              <a:rPr lang="en-US" altLang="zh-CN" dirty="0" err="1"/>
              <a:t>reponse.apparent_encoding</a:t>
            </a:r>
            <a:r>
              <a:rPr lang="en-US" altLang="zh-CN" dirty="0"/>
              <a:t>  </a:t>
            </a:r>
            <a:endParaRPr lang="zh-CN" altLang="zh-CN" dirty="0"/>
          </a:p>
          <a:p>
            <a:pPr marL="0" indent="0">
              <a:buNone/>
            </a:pPr>
            <a:r>
              <a:rPr lang="en-US" altLang="zh-CN" dirty="0"/>
              <a:t>  return </a:t>
            </a:r>
            <a:r>
              <a:rPr lang="en-US" altLang="zh-CN" dirty="0" err="1"/>
              <a:t>response.text</a:t>
            </a:r>
            <a:r>
              <a:rPr lang="en-US" altLang="zh-CN" dirty="0"/>
              <a:t>                                        #</a:t>
            </a:r>
            <a:r>
              <a:rPr lang="zh-CN" altLang="en-US" dirty="0"/>
              <a:t>返回获取的信息</a:t>
            </a:r>
            <a:endParaRPr lang="zh-CN" altLang="zh-CN" dirty="0"/>
          </a:p>
          <a:p>
            <a:pPr marL="0" indent="0">
              <a:buNone/>
            </a:pPr>
            <a:r>
              <a:rPr lang="en-US" altLang="zh-CN" dirty="0"/>
              <a:t>except:</a:t>
            </a:r>
            <a:endParaRPr lang="zh-CN" altLang="zh-CN" dirty="0"/>
          </a:p>
          <a:p>
            <a:pPr marL="0" indent="0">
              <a:buNone/>
            </a:pPr>
            <a:r>
              <a:rPr lang="en-US" altLang="zh-CN" dirty="0"/>
              <a:t>  return “</a:t>
            </a:r>
            <a:r>
              <a:rPr lang="zh-CN" altLang="zh-CN" dirty="0"/>
              <a:t>出现异常情况</a:t>
            </a:r>
            <a:r>
              <a:rPr lang="en-US" altLang="zh-CN" dirty="0"/>
              <a:t>”</a:t>
            </a:r>
            <a:endParaRPr lang="zh-CN" altLang="zh-CN" dirty="0"/>
          </a:p>
        </p:txBody>
      </p:sp>
    </p:spTree>
    <p:extLst>
      <p:ext uri="{BB962C8B-B14F-4D97-AF65-F5344CB8AC3E}">
        <p14:creationId xmlns:p14="http://schemas.microsoft.com/office/powerpoint/2010/main" val="261369522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Beautiful Soup</a:t>
            </a:r>
            <a:endParaRPr lang="zh-CN" altLang="en-US" dirty="0"/>
          </a:p>
        </p:txBody>
      </p:sp>
      <p:sp>
        <p:nvSpPr>
          <p:cNvPr id="3" name="内容占位符 2"/>
          <p:cNvSpPr>
            <a:spLocks noGrp="1"/>
          </p:cNvSpPr>
          <p:nvPr>
            <p:ph idx="1"/>
          </p:nvPr>
        </p:nvSpPr>
        <p:spPr/>
        <p:txBody>
          <a:bodyPr/>
          <a:lstStyle/>
          <a:p>
            <a:r>
              <a:rPr lang="en-US" altLang="zh-CN" dirty="0"/>
              <a:t>Beautiful Soup</a:t>
            </a:r>
            <a:r>
              <a:rPr lang="zh-CN" altLang="en-US" dirty="0"/>
              <a:t>是</a:t>
            </a:r>
            <a:r>
              <a:rPr lang="en-US" altLang="zh-CN" dirty="0"/>
              <a:t>python</a:t>
            </a:r>
            <a:r>
              <a:rPr lang="zh-CN" altLang="en-US" dirty="0"/>
              <a:t>的一个库，最主要的功能是从网页抓取</a:t>
            </a:r>
            <a:r>
              <a:rPr lang="zh-CN" altLang="en-US" dirty="0" smtClean="0"/>
              <a:t>数据。</a:t>
            </a:r>
            <a:endParaRPr lang="en-US" altLang="zh-CN" dirty="0" smtClean="0"/>
          </a:p>
          <a:p>
            <a:pPr marL="0" indent="0">
              <a:buNone/>
            </a:pPr>
            <a:r>
              <a:rPr lang="zh-CN" altLang="en-US" dirty="0" smtClean="0"/>
              <a:t>  提供</a:t>
            </a:r>
            <a:r>
              <a:rPr lang="zh-CN" altLang="en-US" dirty="0"/>
              <a:t>一些简单的、</a:t>
            </a:r>
            <a:r>
              <a:rPr lang="en-US" altLang="zh-CN" dirty="0"/>
              <a:t>python</a:t>
            </a:r>
            <a:r>
              <a:rPr lang="zh-CN" altLang="en-US" dirty="0"/>
              <a:t>式的函数用来处理导航、搜索、修改分析树等功能。它是一个工具箱，通过解析文档为用户提供需要抓取的数据，因为简单，所以不需要多少代码就可以写出一个完整的应用程序。 </a:t>
            </a:r>
            <a:r>
              <a:rPr lang="en-US" altLang="zh-CN" dirty="0"/>
              <a:t>Beautiful Soup</a:t>
            </a:r>
            <a:r>
              <a:rPr lang="zh-CN" altLang="en-US" dirty="0"/>
              <a:t>自动将输入文档转换为</a:t>
            </a:r>
            <a:r>
              <a:rPr lang="en-US" altLang="zh-CN" dirty="0"/>
              <a:t>Unicode</a:t>
            </a:r>
            <a:r>
              <a:rPr lang="zh-CN" altLang="en-US" dirty="0"/>
              <a:t>编码，输出文档转换为</a:t>
            </a:r>
            <a:r>
              <a:rPr lang="en-US" altLang="zh-CN" dirty="0"/>
              <a:t>utf-8</a:t>
            </a:r>
            <a:r>
              <a:rPr lang="zh-CN" altLang="en-US" dirty="0"/>
              <a:t>编码。</a:t>
            </a:r>
          </a:p>
        </p:txBody>
      </p:sp>
    </p:spTree>
    <p:extLst>
      <p:ext uri="{BB962C8B-B14F-4D97-AF65-F5344CB8AC3E}">
        <p14:creationId xmlns:p14="http://schemas.microsoft.com/office/powerpoint/2010/main" val="359393104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	</a:t>
            </a:r>
            <a:endParaRPr lang="zh-CN" altLang="en-US" dirty="0"/>
          </a:p>
        </p:txBody>
      </p:sp>
      <p:sp>
        <p:nvSpPr>
          <p:cNvPr id="3" name="内容占位符 2"/>
          <p:cNvSpPr>
            <a:spLocks noGrp="1"/>
          </p:cNvSpPr>
          <p:nvPr>
            <p:ph idx="1"/>
          </p:nvPr>
        </p:nvSpPr>
        <p:spPr>
          <a:xfrm>
            <a:off x="280219" y="1764890"/>
            <a:ext cx="6072734" cy="4852219"/>
          </a:xfrm>
        </p:spPr>
        <p:txBody>
          <a:bodyPr/>
          <a:lstStyle/>
          <a:p>
            <a:r>
              <a:rPr lang="en-US" altLang="zh-CN" dirty="0" smtClean="0"/>
              <a:t>pip install beautifulsoup4  </a:t>
            </a:r>
          </a:p>
          <a:p>
            <a:r>
              <a:rPr lang="en-US" altLang="zh-CN" dirty="0" smtClean="0"/>
              <a:t>pip install </a:t>
            </a:r>
            <a:r>
              <a:rPr lang="en-US" altLang="zh-CN" dirty="0" err="1" smtClean="0"/>
              <a:t>lxml</a:t>
            </a:r>
            <a:endParaRPr lang="en-US" altLang="zh-CN" dirty="0" smtClean="0"/>
          </a:p>
          <a:p>
            <a:endParaRPr lang="en-US" altLang="zh-CN" dirty="0"/>
          </a:p>
          <a:p>
            <a:pPr marL="0" indent="0">
              <a:buNone/>
            </a:pPr>
            <a:r>
              <a:rPr lang="en-US" altLang="zh-CN" dirty="0" smtClean="0"/>
              <a:t>  </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3298005" y="2915524"/>
            <a:ext cx="8873447" cy="3911654"/>
          </a:xfrm>
          <a:prstGeom prst="rect">
            <a:avLst/>
          </a:prstGeom>
        </p:spPr>
      </p:pic>
    </p:spTree>
    <p:extLst>
      <p:ext uri="{BB962C8B-B14F-4D97-AF65-F5344CB8AC3E}">
        <p14:creationId xmlns:p14="http://schemas.microsoft.com/office/powerpoint/2010/main" val="8566223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创建</a:t>
            </a:r>
            <a:r>
              <a:rPr lang="en-US" altLang="zh-CN" dirty="0" smtClean="0"/>
              <a:t>Beautiful Soup</a:t>
            </a:r>
            <a:r>
              <a:rPr lang="zh-CN" altLang="en-US" dirty="0" smtClean="0"/>
              <a:t>对象</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from bs4 import </a:t>
            </a:r>
            <a:r>
              <a:rPr lang="en-US" altLang="zh-CN" dirty="0" err="1" smtClean="0"/>
              <a:t>BeautifulSoup</a:t>
            </a:r>
            <a:endParaRPr lang="en-US" altLang="zh-CN" dirty="0" smtClean="0"/>
          </a:p>
          <a:p>
            <a:pPr marL="0" indent="0">
              <a:buNone/>
            </a:pPr>
            <a:r>
              <a:rPr lang="en-US" altLang="zh-CN" dirty="0" smtClean="0"/>
              <a:t>Soup = </a:t>
            </a:r>
            <a:r>
              <a:rPr lang="en-US" altLang="zh-CN" dirty="0" err="1" smtClean="0"/>
              <a:t>BeautifulSoup</a:t>
            </a:r>
            <a:r>
              <a:rPr lang="en-US" altLang="zh-CN" dirty="0" smtClean="0"/>
              <a:t>(“html”)</a:t>
            </a:r>
          </a:p>
          <a:p>
            <a:pPr marL="0" indent="0">
              <a:buNone/>
            </a:pPr>
            <a:r>
              <a:rPr lang="en-US" altLang="zh-CN" dirty="0"/>
              <a:t>p</a:t>
            </a:r>
            <a:r>
              <a:rPr lang="en-US" altLang="zh-CN" dirty="0" smtClean="0"/>
              <a:t>rint </a:t>
            </a:r>
            <a:r>
              <a:rPr lang="en-US" altLang="zh-CN" dirty="0" err="1" smtClean="0"/>
              <a:t>soup.prettify</a:t>
            </a:r>
            <a:r>
              <a:rPr lang="en-US" altLang="zh-CN" dirty="0" smtClean="0"/>
              <a:t>()</a:t>
            </a:r>
          </a:p>
          <a:p>
            <a:pPr marL="0" indent="0">
              <a:buNone/>
            </a:pPr>
            <a:endParaRPr lang="en-US" altLang="zh-CN" dirty="0"/>
          </a:p>
          <a:p>
            <a:pPr marL="0" lvl="0" indent="0" eaLnBrk="0" fontAlgn="base" hangingPunct="0">
              <a:spcBef>
                <a:spcPct val="0"/>
              </a:spcBef>
              <a:spcAft>
                <a:spcPct val="0"/>
              </a:spcAft>
              <a:buNone/>
            </a:pPr>
            <a:r>
              <a:rPr lang="zh-CN" altLang="zh-CN" dirty="0"/>
              <a:t>Beautiful Soup将复杂HTML文档转换成一个复杂的树形结构,每个节点都是Python对象,所有对象可以归纳为4种:</a:t>
            </a:r>
            <a:br>
              <a:rPr lang="zh-CN" altLang="zh-CN" dirty="0"/>
            </a:br>
            <a:endParaRPr lang="zh-CN" altLang="zh-CN" dirty="0"/>
          </a:p>
          <a:p>
            <a:pPr marL="0" lvl="0" indent="0" eaLnBrk="0" fontAlgn="base" hangingPunct="0">
              <a:spcBef>
                <a:spcPct val="0"/>
              </a:spcBef>
              <a:spcAft>
                <a:spcPct val="0"/>
              </a:spcAft>
              <a:buNone/>
            </a:pPr>
            <a:r>
              <a:rPr lang="zh-CN" altLang="zh-CN" dirty="0"/>
              <a:t>1. Tag 2. NavigableString 3. BeautifulSoup 4. Comment </a:t>
            </a:r>
          </a:p>
          <a:p>
            <a:pPr marL="0" indent="0">
              <a:buNone/>
            </a:pPr>
            <a:endParaRPr lang="zh-CN" altLang="en-US" dirty="0"/>
          </a:p>
        </p:txBody>
      </p:sp>
    </p:spTree>
    <p:extLst>
      <p:ext uri="{BB962C8B-B14F-4D97-AF65-F5344CB8AC3E}">
        <p14:creationId xmlns:p14="http://schemas.microsoft.com/office/powerpoint/2010/main" val="3025557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t>遍历文档树</a:t>
            </a:r>
            <a:endParaRPr lang="zh-CN" altLang="en-US" sz="3200" dirty="0"/>
          </a:p>
        </p:txBody>
      </p:sp>
      <p:sp>
        <p:nvSpPr>
          <p:cNvPr id="3" name="内容占位符 2"/>
          <p:cNvSpPr>
            <a:spLocks noGrp="1"/>
          </p:cNvSpPr>
          <p:nvPr>
            <p:ph idx="1"/>
          </p:nvPr>
        </p:nvSpPr>
        <p:spPr/>
        <p:txBody>
          <a:bodyPr>
            <a:normAutofit lnSpcReduction="10000"/>
          </a:bodyPr>
          <a:lstStyle/>
          <a:p>
            <a:pPr marL="0" indent="0">
              <a:buNone/>
            </a:pPr>
            <a:r>
              <a:rPr lang="en-US" altLang="zh-CN" dirty="0" smtClean="0"/>
              <a:t>1</a:t>
            </a:r>
            <a:r>
              <a:rPr lang="zh-CN" altLang="en-US" dirty="0" smtClean="0"/>
              <a:t>）直接子节点</a:t>
            </a:r>
            <a:endParaRPr lang="en-US" altLang="zh-CN" dirty="0" smtClean="0"/>
          </a:p>
          <a:p>
            <a:pPr marL="0" indent="0">
              <a:buNone/>
            </a:pPr>
            <a:r>
              <a:rPr lang="en-US" altLang="zh-CN" dirty="0" smtClean="0"/>
              <a:t>  </a:t>
            </a:r>
            <a:r>
              <a:rPr lang="en-US" altLang="zh-CN" dirty="0" err="1" smtClean="0"/>
              <a:t>Tag.contents</a:t>
            </a:r>
            <a:r>
              <a:rPr lang="en-US" altLang="zh-CN" dirty="0" smtClean="0"/>
              <a:t>: </a:t>
            </a:r>
            <a:r>
              <a:rPr lang="zh-CN" altLang="en-US" dirty="0" smtClean="0"/>
              <a:t>以列表形式返回所有子节点</a:t>
            </a:r>
            <a:endParaRPr lang="en-US" altLang="zh-CN" dirty="0" smtClean="0"/>
          </a:p>
          <a:p>
            <a:pPr marL="0" indent="0">
              <a:buNone/>
            </a:pPr>
            <a:r>
              <a:rPr lang="en-US" altLang="zh-CN" dirty="0" smtClean="0"/>
              <a:t>  </a:t>
            </a:r>
            <a:r>
              <a:rPr lang="en-US" altLang="zh-CN" dirty="0" err="1" smtClean="0"/>
              <a:t>Tag.children</a:t>
            </a:r>
            <a:r>
              <a:rPr lang="en-US" altLang="zh-CN" dirty="0" smtClean="0"/>
              <a:t>: </a:t>
            </a:r>
            <a:r>
              <a:rPr lang="zh-CN" altLang="en-US" dirty="0" smtClean="0"/>
              <a:t>生成器，可用于循环访问：</a:t>
            </a:r>
            <a:r>
              <a:rPr lang="en-US" altLang="zh-CN" dirty="0" smtClean="0"/>
              <a:t>for child in </a:t>
            </a:r>
            <a:r>
              <a:rPr lang="en-US" altLang="zh-CN" dirty="0" err="1" smtClean="0"/>
              <a:t>Tag.children</a:t>
            </a:r>
            <a:endParaRPr lang="en-US" altLang="zh-CN" dirty="0" smtClean="0"/>
          </a:p>
          <a:p>
            <a:pPr marL="0" indent="0">
              <a:buNone/>
            </a:pPr>
            <a:r>
              <a:rPr lang="en-US" altLang="zh-CN" dirty="0" smtClean="0"/>
              <a:t>2) </a:t>
            </a:r>
            <a:r>
              <a:rPr lang="zh-CN" altLang="en-US" dirty="0" smtClean="0"/>
              <a:t>所有子孙节点</a:t>
            </a:r>
            <a:endParaRPr lang="en-US" altLang="zh-CN" dirty="0" smtClean="0"/>
          </a:p>
          <a:p>
            <a:pPr marL="0" indent="0">
              <a:buNone/>
            </a:pPr>
            <a:r>
              <a:rPr lang="en-US" altLang="zh-CN" dirty="0" smtClean="0"/>
              <a:t>  .descendants </a:t>
            </a:r>
          </a:p>
          <a:p>
            <a:pPr marL="0" indent="0">
              <a:buNone/>
            </a:pPr>
            <a:r>
              <a:rPr lang="en-US" altLang="zh-CN" dirty="0"/>
              <a:t> </a:t>
            </a:r>
            <a:r>
              <a:rPr lang="en-US" altLang="zh-CN" dirty="0" smtClean="0"/>
              <a:t> </a:t>
            </a:r>
            <a:r>
              <a:rPr lang="en-US" altLang="zh-CN" dirty="0" err="1" smtClean="0"/>
              <a:t>Tag.descendants</a:t>
            </a:r>
            <a:r>
              <a:rPr lang="en-US" altLang="zh-CN" dirty="0" smtClean="0"/>
              <a:t>:</a:t>
            </a:r>
            <a:r>
              <a:rPr lang="zh-CN" altLang="en-US" dirty="0" smtClean="0"/>
              <a:t>生成器，可用于循环</a:t>
            </a:r>
            <a:r>
              <a:rPr lang="en-US" altLang="zh-CN" dirty="0" smtClean="0"/>
              <a:t> </a:t>
            </a:r>
            <a:endParaRPr lang="en-US" altLang="zh-CN" dirty="0"/>
          </a:p>
          <a:p>
            <a:pPr marL="514350" indent="-514350">
              <a:buAutoNum type="arabicParenR" startAt="3"/>
            </a:pPr>
            <a:r>
              <a:rPr lang="zh-CN" altLang="en-US" dirty="0" smtClean="0"/>
              <a:t>节点内容</a:t>
            </a:r>
            <a:endParaRPr lang="en-US" altLang="zh-CN" dirty="0" smtClean="0"/>
          </a:p>
          <a:p>
            <a:pPr marL="0" indent="0">
              <a:buNone/>
            </a:pPr>
            <a:r>
              <a:rPr lang="en-US" altLang="zh-CN" dirty="0" smtClean="0"/>
              <a:t>  </a:t>
            </a:r>
            <a:r>
              <a:rPr lang="en-US" altLang="zh-CN" dirty="0" err="1" smtClean="0"/>
              <a:t>Tag.string</a:t>
            </a:r>
            <a:endParaRPr lang="zh-CN" altLang="en-US" dirty="0"/>
          </a:p>
        </p:txBody>
      </p:sp>
    </p:spTree>
    <p:extLst>
      <p:ext uri="{BB962C8B-B14F-4D97-AF65-F5344CB8AC3E}">
        <p14:creationId xmlns:p14="http://schemas.microsoft.com/office/powerpoint/2010/main" val="2953170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搜索文档树</a:t>
            </a:r>
            <a:r>
              <a:rPr lang="en-US" altLang="zh-CN" dirty="0" smtClean="0"/>
              <a:t>	</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1</a:t>
            </a:r>
            <a:r>
              <a:rPr lang="zh-CN" altLang="en-US" dirty="0" smtClean="0"/>
              <a:t>、</a:t>
            </a:r>
            <a:r>
              <a:rPr lang="en-US" altLang="zh-CN" dirty="0" err="1" smtClean="0"/>
              <a:t>findall</a:t>
            </a:r>
            <a:r>
              <a:rPr lang="en-US" altLang="zh-CN" dirty="0" smtClean="0"/>
              <a:t>(name, </a:t>
            </a:r>
            <a:r>
              <a:rPr lang="en-US" altLang="zh-CN" dirty="0" err="1" smtClean="0"/>
              <a:t>attrs,text</a:t>
            </a:r>
            <a:r>
              <a:rPr lang="en-US" altLang="zh-CN" dirty="0" smtClean="0"/>
              <a:t>…)</a:t>
            </a:r>
          </a:p>
          <a:p>
            <a:pPr marL="0" indent="0">
              <a:buNone/>
            </a:pPr>
            <a:r>
              <a:rPr lang="en-US" altLang="zh-CN" dirty="0"/>
              <a:t> </a:t>
            </a:r>
            <a:r>
              <a:rPr lang="en-US" altLang="zh-CN" dirty="0" smtClean="0"/>
              <a:t>     </a:t>
            </a:r>
            <a:r>
              <a:rPr lang="zh-CN" altLang="en-US" dirty="0" smtClean="0"/>
              <a:t>搜索当前</a:t>
            </a:r>
            <a:r>
              <a:rPr lang="en-US" altLang="zh-CN" dirty="0" smtClean="0"/>
              <a:t>tag</a:t>
            </a:r>
            <a:r>
              <a:rPr lang="zh-CN" altLang="en-US" dirty="0" smtClean="0"/>
              <a:t>的所有</a:t>
            </a:r>
            <a:r>
              <a:rPr lang="en-US" altLang="zh-CN" dirty="0" smtClean="0"/>
              <a:t>tag</a:t>
            </a:r>
            <a:r>
              <a:rPr lang="zh-CN" altLang="en-US" dirty="0" smtClean="0"/>
              <a:t>子节点，并判断是否符合过滤器的条件</a:t>
            </a:r>
            <a:endParaRPr lang="en-US" altLang="zh-CN" dirty="0" smtClean="0"/>
          </a:p>
          <a:p>
            <a:pPr marL="0" indent="0">
              <a:buNone/>
            </a:pPr>
            <a:r>
              <a:rPr lang="en-US" altLang="zh-CN" dirty="0" smtClean="0"/>
              <a:t>2</a:t>
            </a:r>
            <a:r>
              <a:rPr lang="zh-CN" altLang="en-US" dirty="0" smtClean="0"/>
              <a:t>、</a:t>
            </a:r>
            <a:r>
              <a:rPr lang="en-US" altLang="zh-CN" dirty="0" smtClean="0"/>
              <a:t>find(name = None, </a:t>
            </a:r>
            <a:r>
              <a:rPr lang="en-US" altLang="zh-CN" dirty="0" err="1" smtClean="0"/>
              <a:t>attrs</a:t>
            </a:r>
            <a:r>
              <a:rPr lang="en-US" altLang="zh-CN" dirty="0" smtClean="0"/>
              <a:t> = {}…)</a:t>
            </a:r>
          </a:p>
          <a:p>
            <a:pPr marL="0" indent="0">
              <a:buNone/>
            </a:pPr>
            <a:r>
              <a:rPr lang="en-US" altLang="zh-CN" dirty="0"/>
              <a:t> </a:t>
            </a:r>
            <a:r>
              <a:rPr lang="en-US" altLang="zh-CN" dirty="0" smtClean="0"/>
              <a:t>     </a:t>
            </a:r>
            <a:r>
              <a:rPr lang="zh-CN" altLang="en-US" dirty="0" smtClean="0"/>
              <a:t>与</a:t>
            </a:r>
            <a:r>
              <a:rPr lang="en-US" altLang="zh-CN" dirty="0" err="1" smtClean="0"/>
              <a:t>find_all</a:t>
            </a:r>
            <a:r>
              <a:rPr lang="en-US" altLang="zh-CN" dirty="0" smtClean="0"/>
              <a:t>()</a:t>
            </a:r>
            <a:r>
              <a:rPr lang="zh-CN" altLang="en-US" dirty="0" smtClean="0"/>
              <a:t>方法唯一的区别是</a:t>
            </a:r>
            <a:r>
              <a:rPr lang="en-US" altLang="zh-CN" dirty="0" err="1" smtClean="0"/>
              <a:t>find_all</a:t>
            </a:r>
            <a:r>
              <a:rPr lang="en-US" altLang="zh-CN" dirty="0" smtClean="0"/>
              <a:t>()</a:t>
            </a:r>
            <a:r>
              <a:rPr lang="zh-CN" altLang="en-US" dirty="0" smtClean="0"/>
              <a:t>方法的返回结果是指包含一个元素的列表，而</a:t>
            </a:r>
            <a:r>
              <a:rPr lang="en-US" altLang="zh-CN" dirty="0" smtClean="0"/>
              <a:t>find()</a:t>
            </a:r>
            <a:r>
              <a:rPr lang="zh-CN" altLang="en-US" dirty="0" smtClean="0"/>
              <a:t>方法直接返回结果。</a:t>
            </a:r>
            <a:endParaRPr lang="en-US" altLang="zh-CN" dirty="0" smtClean="0"/>
          </a:p>
          <a:p>
            <a:pPr marL="0" indent="0">
              <a:buNone/>
            </a:pPr>
            <a:r>
              <a:rPr lang="en-US" altLang="zh-CN" dirty="0" smtClean="0"/>
              <a:t>3</a:t>
            </a:r>
            <a:r>
              <a:rPr lang="zh-CN" altLang="en-US" dirty="0" smtClean="0"/>
              <a:t>、</a:t>
            </a:r>
            <a:r>
              <a:rPr lang="en-US" altLang="zh-CN" dirty="0" err="1" smtClean="0"/>
              <a:t>find_parents</a:t>
            </a:r>
            <a:r>
              <a:rPr lang="en-US" altLang="zh-CN" dirty="0" smtClean="0"/>
              <a:t>()   </a:t>
            </a:r>
          </a:p>
          <a:p>
            <a:pPr marL="0" indent="0">
              <a:buNone/>
            </a:pPr>
            <a:r>
              <a:rPr lang="en-US" altLang="zh-CN" dirty="0" smtClean="0"/>
              <a:t>4</a:t>
            </a:r>
            <a:r>
              <a:rPr lang="zh-CN" altLang="en-US" dirty="0" smtClean="0"/>
              <a:t>、</a:t>
            </a:r>
            <a:r>
              <a:rPr lang="en-US" altLang="zh-CN" dirty="0" err="1" smtClean="0"/>
              <a:t>find_all_next</a:t>
            </a:r>
            <a:r>
              <a:rPr lang="en-US" altLang="zh-CN" dirty="0" smtClean="0"/>
              <a:t>() …</a:t>
            </a:r>
          </a:p>
        </p:txBody>
      </p:sp>
    </p:spTree>
    <p:extLst>
      <p:ext uri="{BB962C8B-B14F-4D97-AF65-F5344CB8AC3E}">
        <p14:creationId xmlns:p14="http://schemas.microsoft.com/office/powerpoint/2010/main" val="30094923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C78B82-2C57-4202-9025-511E799301C0}"/>
              </a:ext>
            </a:extLst>
          </p:cNvPr>
          <p:cNvSpPr>
            <a:spLocks noGrp="1"/>
          </p:cNvSpPr>
          <p:nvPr>
            <p:ph type="title"/>
          </p:nvPr>
        </p:nvSpPr>
        <p:spPr/>
        <p:txBody>
          <a:bodyPr>
            <a:normAutofit fontScale="90000"/>
          </a:bodyPr>
          <a:lstStyle/>
          <a:p>
            <a:r>
              <a:rPr lang="en-US" altLang="zh-CN" dirty="0"/>
              <a:t>F12</a:t>
            </a:r>
            <a:r>
              <a:rPr lang="zh-CN" altLang="zh-CN" dirty="0"/>
              <a:t>查看网页源代码</a:t>
            </a:r>
            <a:r>
              <a:rPr lang="en-US" altLang="zh-CN" dirty="0"/>
              <a:t/>
            </a:r>
            <a:br>
              <a:rPr lang="en-US" altLang="zh-CN" dirty="0"/>
            </a:br>
            <a:r>
              <a:rPr lang="zh-CN" altLang="zh-CN" dirty="0"/>
              <a:t>（</a:t>
            </a:r>
            <a:r>
              <a:rPr lang="zh-CN" altLang="en-US" dirty="0"/>
              <a:t>或</a:t>
            </a:r>
            <a:r>
              <a:rPr lang="zh-CN" altLang="zh-CN" dirty="0"/>
              <a:t>鼠标右键</a:t>
            </a:r>
            <a:r>
              <a:rPr lang="en-US" altLang="zh-CN" dirty="0"/>
              <a:t> -&gt; </a:t>
            </a:r>
            <a:r>
              <a:rPr lang="zh-CN" altLang="zh-CN" dirty="0"/>
              <a:t>查看网页源代码</a:t>
            </a:r>
            <a:r>
              <a:rPr lang="zh-CN" altLang="en-US" dirty="0"/>
              <a:t>）</a:t>
            </a:r>
          </a:p>
        </p:txBody>
      </p:sp>
      <p:sp>
        <p:nvSpPr>
          <p:cNvPr id="3" name="内容占位符 2">
            <a:extLst>
              <a:ext uri="{FF2B5EF4-FFF2-40B4-BE49-F238E27FC236}">
                <a16:creationId xmlns:a16="http://schemas.microsoft.com/office/drawing/2014/main" id="{6CD05BD0-D0E8-4959-8B82-A61C16A325E3}"/>
              </a:ext>
            </a:extLst>
          </p:cNvPr>
          <p:cNvSpPr>
            <a:spLocks noGrp="1"/>
          </p:cNvSpPr>
          <p:nvPr>
            <p:ph sz="quarter" idx="13"/>
          </p:nvPr>
        </p:nvSpPr>
        <p:spPr/>
        <p:txBody>
          <a:bodyPr/>
          <a:lstStyle/>
          <a:p>
            <a:pPr marL="0" indent="0">
              <a:buNone/>
            </a:pPr>
            <a:r>
              <a:rPr lang="en-US" altLang="zh-CN" dirty="0">
                <a:hlinkClick r:id="rId2"/>
              </a:rPr>
              <a:t>http://</a:t>
            </a:r>
            <a:r>
              <a:rPr lang="en-US" altLang="zh-CN" dirty="0" smtClean="0">
                <a:hlinkClick r:id="rId2"/>
              </a:rPr>
              <a:t>www.tianqihoubao.com/lishi/tianjin/month/202403.html</a:t>
            </a:r>
            <a:endParaRPr lang="en-US" altLang="zh-CN" dirty="0" smtClean="0"/>
          </a:p>
          <a:p>
            <a:pPr marL="0" indent="0">
              <a:buNone/>
            </a:pPr>
            <a:r>
              <a:rPr lang="zh-CN" altLang="zh-CN" dirty="0" smtClean="0"/>
              <a:t>我们</a:t>
            </a:r>
            <a:r>
              <a:rPr lang="zh-CN" altLang="zh-CN" dirty="0"/>
              <a:t>需要的历史数据都在</a:t>
            </a:r>
            <a:r>
              <a:rPr lang="en-US" altLang="zh-CN" dirty="0"/>
              <a:t>&lt;table&gt;…&lt;/table&gt;</a:t>
            </a:r>
            <a:r>
              <a:rPr lang="zh-CN" altLang="zh-CN" dirty="0"/>
              <a:t>里，每个</a:t>
            </a:r>
            <a:r>
              <a:rPr lang="en-US" altLang="zh-CN" dirty="0"/>
              <a:t>&lt;tr&gt;…&lt;/tr&gt;</a:t>
            </a:r>
            <a:r>
              <a:rPr lang="zh-CN" altLang="zh-CN" dirty="0"/>
              <a:t>都是一行数据，具体数据值都在</a:t>
            </a:r>
            <a:r>
              <a:rPr lang="en-US" altLang="zh-CN" dirty="0"/>
              <a:t>&lt;td&gt;…&lt;/td&gt;</a:t>
            </a:r>
            <a:r>
              <a:rPr lang="zh-CN" altLang="zh-CN" dirty="0"/>
              <a:t>中。</a:t>
            </a:r>
            <a:endParaRPr lang="en-US" altLang="zh-CN" dirty="0"/>
          </a:p>
          <a:p>
            <a:r>
              <a:rPr lang="zh-CN" altLang="zh-CN" dirty="0"/>
              <a:t>程序中我们就可以先找到</a:t>
            </a:r>
            <a:r>
              <a:rPr lang="en-US" altLang="zh-CN" dirty="0"/>
              <a:t>&lt;table&gt;</a:t>
            </a:r>
            <a:r>
              <a:rPr lang="zh-CN" altLang="zh-CN" dirty="0"/>
              <a:t>标签，再去找其所有的子节点</a:t>
            </a:r>
            <a:r>
              <a:rPr lang="en-US" altLang="zh-CN" dirty="0"/>
              <a:t>&lt;td&gt;</a:t>
            </a:r>
            <a:r>
              <a:rPr lang="zh-CN" altLang="zh-CN" dirty="0"/>
              <a:t>标签，后面可以利用前面提到的</a:t>
            </a:r>
            <a:r>
              <a:rPr lang="en-US" altLang="zh-CN" dirty="0"/>
              <a:t>bs4</a:t>
            </a:r>
            <a:r>
              <a:rPr lang="zh-CN" altLang="zh-CN" dirty="0"/>
              <a:t>或者</a:t>
            </a:r>
            <a:r>
              <a:rPr lang="en-US" altLang="zh-CN" dirty="0"/>
              <a:t>xpath</a:t>
            </a:r>
            <a:r>
              <a:rPr lang="zh-CN" altLang="zh-CN" dirty="0"/>
              <a:t>解析</a:t>
            </a:r>
            <a:r>
              <a:rPr lang="en-US" altLang="zh-CN" dirty="0"/>
              <a:t>html</a:t>
            </a:r>
            <a:r>
              <a:rPr lang="zh-CN" altLang="zh-CN" dirty="0"/>
              <a:t>获取每天的天气数据。</a:t>
            </a:r>
            <a:endParaRPr lang="zh-CN" altLang="en-US" dirty="0"/>
          </a:p>
        </p:txBody>
      </p:sp>
    </p:spTree>
    <p:extLst>
      <p:ext uri="{BB962C8B-B14F-4D97-AF65-F5344CB8AC3E}">
        <p14:creationId xmlns:p14="http://schemas.microsoft.com/office/powerpoint/2010/main" val="40092976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1CEF65-C70E-4D68-8D2E-ABB3C2E85B5A}"/>
              </a:ext>
            </a:extLst>
          </p:cNvPr>
          <p:cNvSpPr>
            <a:spLocks noGrp="1"/>
          </p:cNvSpPr>
          <p:nvPr>
            <p:ph sz="quarter" idx="4294967295"/>
          </p:nvPr>
        </p:nvSpPr>
        <p:spPr>
          <a:xfrm>
            <a:off x="64850" y="79375"/>
            <a:ext cx="12062299" cy="6699250"/>
          </a:xfrm>
        </p:spPr>
        <p:txBody>
          <a:bodyPr>
            <a:normAutofit fontScale="62500" lnSpcReduction="20000"/>
          </a:bodyPr>
          <a:lstStyle/>
          <a:p>
            <a:pPr marL="0" lvl="0" indent="0">
              <a:lnSpc>
                <a:spcPct val="120000"/>
              </a:lnSpc>
              <a:buNone/>
            </a:pPr>
            <a:r>
              <a:rPr lang="en-US" altLang="zh-CN" dirty="0">
                <a:latin typeface="Times New Roman" panose="02020603050405020304" pitchFamily="18" charset="0"/>
                <a:cs typeface="Times New Roman" panose="02020603050405020304" pitchFamily="18" charset="0"/>
              </a:rPr>
              <a:t>def saveInformation(info,saveFileName):    #</a:t>
            </a:r>
            <a:r>
              <a:rPr lang="zh-CN" altLang="zh-CN" dirty="0">
                <a:latin typeface="Times New Roman" panose="02020603050405020304" pitchFamily="18" charset="0"/>
                <a:cs typeface="Times New Roman" panose="02020603050405020304" pitchFamily="18" charset="0"/>
              </a:rPr>
              <a:t>定义保存信息的函数</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fp = open(saveFileName,'a',encoding = 'utf-8')</a:t>
            </a:r>
            <a:endParaRPr lang="zh-CN" altLang="zh-CN" dirty="0">
              <a:latin typeface="Times New Roman" panose="02020603050405020304" pitchFamily="18" charset="0"/>
              <a:cs typeface="Times New Roman" panose="02020603050405020304" pitchFamily="18" charset="0"/>
            </a:endParaRP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以追加方式打开文件“</a:t>
            </a:r>
            <a:r>
              <a:rPr lang="en-US" altLang="zh-CN" dirty="0">
                <a:latin typeface="Times New Roman" panose="02020603050405020304" pitchFamily="18" charset="0"/>
                <a:cs typeface="Times New Roman" panose="02020603050405020304" pitchFamily="18" charset="0"/>
              </a:rPr>
              <a:t>saveFileName</a:t>
            </a:r>
            <a:r>
              <a:rPr lang="zh-CN" altLang="zh-CN" dirty="0">
                <a:latin typeface="Times New Roman" panose="02020603050405020304" pitchFamily="18" charset="0"/>
                <a:cs typeface="Times New Roman" panose="02020603050405020304" pitchFamily="18" charset="0"/>
              </a:rPr>
              <a:t>”，并创建文件对象</a:t>
            </a:r>
            <a:r>
              <a:rPr lang="en-US" altLang="zh-CN" dirty="0">
                <a:latin typeface="Times New Roman" panose="02020603050405020304" pitchFamily="18" charset="0"/>
                <a:cs typeface="Times New Roman" panose="02020603050405020304" pitchFamily="18" charset="0"/>
              </a:rPr>
              <a:t>fp</a:t>
            </a:r>
            <a:endParaRPr lang="zh-CN" altLang="zh-CN" dirty="0">
              <a:latin typeface="Times New Roman" panose="02020603050405020304" pitchFamily="18" charset="0"/>
              <a:cs typeface="Times New Roman" panose="02020603050405020304" pitchFamily="18" charset="0"/>
            </a:endParaRP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soup = BeautifulSoup(info,'html.parser')    #</a:t>
            </a:r>
            <a:r>
              <a:rPr lang="zh-CN" altLang="zh-CN" dirty="0">
                <a:latin typeface="Times New Roman" panose="02020603050405020304" pitchFamily="18" charset="0"/>
                <a:cs typeface="Times New Roman" panose="02020603050405020304" pitchFamily="18" charset="0"/>
              </a:rPr>
              <a:t>对</a:t>
            </a:r>
            <a:r>
              <a:rPr lang="en-US" altLang="zh-CN" dirty="0">
                <a:latin typeface="Times New Roman" panose="02020603050405020304" pitchFamily="18" charset="0"/>
                <a:cs typeface="Times New Roman" panose="02020603050405020304" pitchFamily="18" charset="0"/>
              </a:rPr>
              <a:t>info</a:t>
            </a:r>
            <a:r>
              <a:rPr lang="zh-CN" altLang="zh-CN" dirty="0">
                <a:latin typeface="Times New Roman" panose="02020603050405020304" pitchFamily="18" charset="0"/>
                <a:cs typeface="Times New Roman" panose="02020603050405020304" pitchFamily="18" charset="0"/>
              </a:rPr>
              <a:t>进行优化</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for tr in soup.find('table').children:      #</a:t>
            </a:r>
            <a:r>
              <a:rPr lang="zh-CN" altLang="zh-CN" dirty="0">
                <a:latin typeface="Times New Roman" panose="02020603050405020304" pitchFamily="18" charset="0"/>
                <a:cs typeface="Times New Roman" panose="02020603050405020304" pitchFamily="18" charset="0"/>
              </a:rPr>
              <a:t>查找</a:t>
            </a:r>
            <a:r>
              <a:rPr lang="en-US" altLang="zh-CN" dirty="0">
                <a:latin typeface="Times New Roman" panose="02020603050405020304" pitchFamily="18" charset="0"/>
                <a:cs typeface="Times New Roman" panose="02020603050405020304" pitchFamily="18" charset="0"/>
              </a:rPr>
              <a:t>table</a:t>
            </a:r>
            <a:r>
              <a:rPr lang="zh-CN" altLang="zh-CN" dirty="0">
                <a:latin typeface="Times New Roman" panose="02020603050405020304" pitchFamily="18" charset="0"/>
                <a:cs typeface="Times New Roman" panose="02020603050405020304" pitchFamily="18" charset="0"/>
              </a:rPr>
              <a:t>孩子节点</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if isinstance(tr,bs4.element.Tag):      #</a:t>
            </a:r>
            <a:r>
              <a:rPr lang="zh-CN" altLang="zh-CN" dirty="0">
                <a:latin typeface="Times New Roman" panose="02020603050405020304" pitchFamily="18" charset="0"/>
                <a:cs typeface="Times New Roman" panose="02020603050405020304" pitchFamily="18" charset="0"/>
              </a:rPr>
              <a:t>判断是否是真正的标签</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quality = tr('td')                     #</a:t>
            </a:r>
            <a:r>
              <a:rPr lang="zh-CN" altLang="zh-CN" dirty="0">
                <a:latin typeface="Times New Roman" panose="02020603050405020304" pitchFamily="18" charset="0"/>
                <a:cs typeface="Times New Roman" panose="02020603050405020304" pitchFamily="18" charset="0"/>
              </a:rPr>
              <a:t>保存</a:t>
            </a:r>
            <a:r>
              <a:rPr lang="en-US" altLang="zh-CN" dirty="0">
                <a:latin typeface="Times New Roman" panose="02020603050405020304" pitchFamily="18" charset="0"/>
                <a:cs typeface="Times New Roman" panose="02020603050405020304" pitchFamily="18" charset="0"/>
              </a:rPr>
              <a:t>td</a:t>
            </a:r>
            <a:r>
              <a:rPr lang="zh-CN" altLang="zh-CN" dirty="0">
                <a:latin typeface="Times New Roman" panose="02020603050405020304" pitchFamily="18" charset="0"/>
                <a:cs typeface="Times New Roman" panose="02020603050405020304" pitchFamily="18" charset="0"/>
              </a:rPr>
              <a:t>标签的内容</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temp = []                            #</a:t>
            </a:r>
            <a:r>
              <a:rPr lang="zh-CN" altLang="zh-CN" dirty="0">
                <a:latin typeface="Times New Roman" panose="02020603050405020304" pitchFamily="18" charset="0"/>
                <a:cs typeface="Times New Roman" panose="02020603050405020304" pitchFamily="18" charset="0"/>
              </a:rPr>
              <a:t>定义空的列表，以存储数据</a:t>
            </a:r>
          </a:p>
          <a:p>
            <a:pPr marL="0" lvl="0" indent="0">
              <a:lnSpc>
                <a:spcPct val="120000"/>
              </a:lnSpc>
              <a:buNone/>
            </a:pP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i in quality:</a:t>
            </a:r>
            <a:endParaRPr lang="zh-CN" altLang="zh-CN" dirty="0">
              <a:latin typeface="Times New Roman" panose="02020603050405020304" pitchFamily="18" charset="0"/>
              <a:cs typeface="Times New Roman" panose="02020603050405020304" pitchFamily="18" charset="0"/>
            </a:endParaRP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temp.append(i.text.strip().replace('\n','').replace('\r','').replace(' ',''))</a:t>
            </a:r>
            <a:endParaRPr lang="zh-CN" altLang="zh-CN" dirty="0">
              <a:latin typeface="Times New Roman" panose="02020603050405020304" pitchFamily="18" charset="0"/>
              <a:cs typeface="Times New Roman" panose="02020603050405020304" pitchFamily="18" charset="0"/>
            </a:endParaRP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将文本信息（去除空格及</a:t>
            </a:r>
            <a:r>
              <a:rPr lang="en-US" altLang="zh-CN" dirty="0">
                <a:latin typeface="Times New Roman" panose="02020603050405020304" pitchFamily="18" charset="0"/>
                <a:cs typeface="Times New Roman" panose="02020603050405020304" pitchFamily="18" charset="0"/>
              </a:rPr>
              <a:t>\n\r</a:t>
            </a:r>
            <a:r>
              <a:rPr lang="zh-CN" altLang="zh-CN" dirty="0">
                <a:latin typeface="Times New Roman" panose="02020603050405020304" pitchFamily="18" charset="0"/>
                <a:cs typeface="Times New Roman" panose="02020603050405020304" pitchFamily="18" charset="0"/>
              </a:rPr>
              <a:t>）添加到列表</a:t>
            </a:r>
            <a:r>
              <a:rPr lang="en-US" altLang="zh-CN" dirty="0">
                <a:latin typeface="Times New Roman" panose="02020603050405020304" pitchFamily="18" charset="0"/>
                <a:cs typeface="Times New Roman" panose="02020603050405020304" pitchFamily="18" charset="0"/>
              </a:rPr>
              <a:t>temp</a:t>
            </a:r>
            <a:r>
              <a:rPr lang="zh-CN" altLang="zh-CN" dirty="0">
                <a:latin typeface="Times New Roman" panose="02020603050405020304" pitchFamily="18" charset="0"/>
                <a:cs typeface="Times New Roman" panose="02020603050405020304" pitchFamily="18" charset="0"/>
              </a:rPr>
              <a:t>中</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fp.write("{:15}\t{:10}\t{:10}\t{:10}".format(temp[0],temp[1],temp[2],temp[3]))              </a:t>
            </a:r>
            <a:endParaRPr lang="zh-CN" altLang="zh-CN" dirty="0">
              <a:latin typeface="Times New Roman" panose="02020603050405020304" pitchFamily="18" charset="0"/>
              <a:cs typeface="Times New Roman" panose="02020603050405020304" pitchFamily="18" charset="0"/>
            </a:endParaRP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按照格式（固定间距及</a:t>
            </a:r>
            <a:r>
              <a:rPr lang="en-US" altLang="zh-CN" dirty="0">
                <a:latin typeface="Times New Roman" panose="02020603050405020304" pitchFamily="18" charset="0"/>
                <a:cs typeface="Times New Roman" panose="02020603050405020304" pitchFamily="18" charset="0"/>
              </a:rPr>
              <a:t>\t</a:t>
            </a:r>
            <a:r>
              <a:rPr lang="zh-CN" altLang="zh-CN" dirty="0">
                <a:latin typeface="Times New Roman" panose="02020603050405020304" pitchFamily="18" charset="0"/>
                <a:cs typeface="Times New Roman" panose="02020603050405020304" pitchFamily="18" charset="0"/>
              </a:rPr>
              <a:t>作为间隔符）将内容写入文本文件中</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fp.write('\n')                        #</a:t>
            </a:r>
            <a:r>
              <a:rPr lang="zh-CN" altLang="zh-CN" dirty="0">
                <a:latin typeface="Times New Roman" panose="02020603050405020304" pitchFamily="18" charset="0"/>
                <a:cs typeface="Times New Roman" panose="02020603050405020304" pitchFamily="18" charset="0"/>
              </a:rPr>
              <a:t>文件中写入换行</a:t>
            </a:r>
          </a:p>
          <a:p>
            <a:pPr marL="0" lvl="0" indent="0">
              <a:lnSpc>
                <a:spcPct val="120000"/>
              </a:lnSpc>
              <a:buNone/>
            </a:pPr>
            <a:r>
              <a:rPr lang="en-US" altLang="zh-CN" dirty="0">
                <a:latin typeface="Times New Roman" panose="02020603050405020304" pitchFamily="18" charset="0"/>
                <a:cs typeface="Times New Roman" panose="02020603050405020304" pitchFamily="18" charset="0"/>
              </a:rPr>
              <a:t>            print("{:15}\t{:10}\t{:10}\t{:10}".format(temp[0],temp[1],temp[2],temp[3])) </a:t>
            </a:r>
          </a:p>
          <a:p>
            <a:pPr marL="0" lvl="0" indent="0">
              <a:lnSpc>
                <a:spcPct val="120000"/>
              </a:lnSpc>
              <a:buNone/>
            </a:pPr>
            <a:r>
              <a:rPr lang="en-US" altLang="zh-CN" dirty="0" err="1">
                <a:latin typeface="Times New Roman" panose="02020603050405020304" pitchFamily="18" charset="0"/>
                <a:cs typeface="Times New Roman" panose="02020603050405020304" pitchFamily="18" charset="0"/>
              </a:rPr>
              <a:t>fp.close</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37052049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5C683-E8BA-413E-A133-BF48EE41AA13}"/>
              </a:ext>
            </a:extLst>
          </p:cNvPr>
          <p:cNvSpPr>
            <a:spLocks noGrp="1"/>
          </p:cNvSpPr>
          <p:nvPr>
            <p:ph type="title"/>
          </p:nvPr>
        </p:nvSpPr>
        <p:spPr/>
        <p:txBody>
          <a:bodyPr/>
          <a:lstStyle/>
          <a:p>
            <a:r>
              <a:rPr lang="zh-CN" altLang="en-US" dirty="0"/>
              <a:t>数据采集工具</a:t>
            </a:r>
          </a:p>
        </p:txBody>
      </p:sp>
      <p:sp>
        <p:nvSpPr>
          <p:cNvPr id="3" name="内容占位符 2">
            <a:extLst>
              <a:ext uri="{FF2B5EF4-FFF2-40B4-BE49-F238E27FC236}">
                <a16:creationId xmlns:a16="http://schemas.microsoft.com/office/drawing/2014/main" id="{3FE82EF4-2C5F-4B09-BEA1-A14C0C9A1539}"/>
              </a:ext>
            </a:extLst>
          </p:cNvPr>
          <p:cNvSpPr>
            <a:spLocks noGrp="1"/>
          </p:cNvSpPr>
          <p:nvPr>
            <p:ph sz="quarter" idx="13"/>
          </p:nvPr>
        </p:nvSpPr>
        <p:spPr/>
        <p:txBody>
          <a:bodyPr>
            <a:normAutofit/>
          </a:bodyPr>
          <a:lstStyle/>
          <a:p>
            <a:pPr marL="0" lvl="0" indent="0">
              <a:buNone/>
            </a:pPr>
            <a:endParaRPr lang="zh-CN" altLang="zh-CN" dirty="0"/>
          </a:p>
          <a:p>
            <a:endParaRPr lang="zh-CN" altLang="en-US" dirty="0"/>
          </a:p>
        </p:txBody>
      </p:sp>
      <p:pic>
        <p:nvPicPr>
          <p:cNvPr id="7" name="图片 6">
            <a:extLst>
              <a:ext uri="{FF2B5EF4-FFF2-40B4-BE49-F238E27FC236}">
                <a16:creationId xmlns:a16="http://schemas.microsoft.com/office/drawing/2014/main" id="{10BA1D36-2AF1-49E8-BF03-507335347399}"/>
              </a:ext>
            </a:extLst>
          </p:cNvPr>
          <p:cNvPicPr>
            <a:picLocks noChangeAspect="1"/>
          </p:cNvPicPr>
          <p:nvPr/>
        </p:nvPicPr>
        <p:blipFill>
          <a:blip r:embed="rId2"/>
          <a:stretch>
            <a:fillRect/>
          </a:stretch>
        </p:blipFill>
        <p:spPr>
          <a:xfrm>
            <a:off x="2611054" y="1797627"/>
            <a:ext cx="6768924" cy="4975159"/>
          </a:xfrm>
          <a:prstGeom prst="rect">
            <a:avLst/>
          </a:prstGeom>
        </p:spPr>
      </p:pic>
    </p:spTree>
    <p:extLst>
      <p:ext uri="{BB962C8B-B14F-4D97-AF65-F5344CB8AC3E}">
        <p14:creationId xmlns:p14="http://schemas.microsoft.com/office/powerpoint/2010/main" val="29253168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B42675-17B9-42FE-896E-564697A47A73}"/>
              </a:ext>
            </a:extLst>
          </p:cNvPr>
          <p:cNvSpPr>
            <a:spLocks noGrp="1"/>
          </p:cNvSpPr>
          <p:nvPr>
            <p:ph type="title"/>
          </p:nvPr>
        </p:nvSpPr>
        <p:spPr/>
        <p:txBody>
          <a:bodyPr/>
          <a:lstStyle/>
          <a:p>
            <a:r>
              <a:rPr lang="zh-CN" altLang="en-US" dirty="0"/>
              <a:t>八爪鱼工具：抓取网页</a:t>
            </a:r>
          </a:p>
        </p:txBody>
      </p:sp>
      <p:sp>
        <p:nvSpPr>
          <p:cNvPr id="3" name="内容占位符 2">
            <a:extLst>
              <a:ext uri="{FF2B5EF4-FFF2-40B4-BE49-F238E27FC236}">
                <a16:creationId xmlns:a16="http://schemas.microsoft.com/office/drawing/2014/main" id="{804B17F1-8092-42E6-BAF7-FFB3D9E48617}"/>
              </a:ext>
            </a:extLst>
          </p:cNvPr>
          <p:cNvSpPr>
            <a:spLocks noGrp="1"/>
          </p:cNvSpPr>
          <p:nvPr>
            <p:ph sz="quarter" idx="13"/>
          </p:nvPr>
        </p:nvSpPr>
        <p:spPr>
          <a:xfrm>
            <a:off x="0" y="1952826"/>
            <a:ext cx="11168742" cy="4756635"/>
          </a:xfrm>
        </p:spPr>
        <p:txBody>
          <a:bodyPr/>
          <a:lstStyle/>
          <a:p>
            <a:pPr marL="0" indent="0">
              <a:buNone/>
            </a:pPr>
            <a:r>
              <a:rPr lang="zh-CN" altLang="en-US" dirty="0"/>
              <a:t>简单方法：</a:t>
            </a:r>
            <a:endParaRPr lang="en-US" altLang="zh-CN" dirty="0"/>
          </a:p>
          <a:p>
            <a:pPr marL="0" indent="0">
              <a:buNone/>
            </a:pPr>
            <a:endParaRPr lang="en-US" altLang="zh-CN" dirty="0"/>
          </a:p>
          <a:p>
            <a:pPr marL="0" indent="0">
              <a:buNone/>
            </a:pPr>
            <a:r>
              <a:rPr lang="zh-CN" altLang="en-US" dirty="0"/>
              <a:t>直接输入</a:t>
            </a:r>
            <a:endParaRPr lang="en-US" altLang="zh-CN" dirty="0"/>
          </a:p>
          <a:p>
            <a:pPr marL="0" indent="0">
              <a:buNone/>
            </a:pPr>
            <a:r>
              <a:rPr lang="zh-CN" altLang="en-US" dirty="0"/>
              <a:t>多个网页</a:t>
            </a:r>
          </a:p>
        </p:txBody>
      </p:sp>
      <p:pic>
        <p:nvPicPr>
          <p:cNvPr id="4" name="图片 3">
            <a:extLst>
              <a:ext uri="{FF2B5EF4-FFF2-40B4-BE49-F238E27FC236}">
                <a16:creationId xmlns:a16="http://schemas.microsoft.com/office/drawing/2014/main" id="{0F3D5BDD-51C9-49C4-AF23-CADBCA589DFE}"/>
              </a:ext>
            </a:extLst>
          </p:cNvPr>
          <p:cNvPicPr>
            <a:picLocks noChangeAspect="1"/>
          </p:cNvPicPr>
          <p:nvPr/>
        </p:nvPicPr>
        <p:blipFill>
          <a:blip r:embed="rId2"/>
          <a:stretch>
            <a:fillRect/>
          </a:stretch>
        </p:blipFill>
        <p:spPr>
          <a:xfrm>
            <a:off x="2928026" y="1857642"/>
            <a:ext cx="6920115" cy="4775543"/>
          </a:xfrm>
          <a:prstGeom prst="rect">
            <a:avLst/>
          </a:prstGeom>
        </p:spPr>
      </p:pic>
    </p:spTree>
    <p:extLst>
      <p:ext uri="{BB962C8B-B14F-4D97-AF65-F5344CB8AC3E}">
        <p14:creationId xmlns:p14="http://schemas.microsoft.com/office/powerpoint/2010/main" val="8411658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2.2 </a:t>
            </a:r>
            <a:r>
              <a:rPr lang="zh-CN" altLang="en-US" dirty="0" smtClean="0"/>
              <a:t>数据预处理</a:t>
            </a:r>
            <a:endParaRPr lang="zh-CN" altLang="en-US" dirty="0"/>
          </a:p>
        </p:txBody>
      </p:sp>
      <p:sp>
        <p:nvSpPr>
          <p:cNvPr id="3" name="内容占位符 2"/>
          <p:cNvSpPr>
            <a:spLocks noGrp="1"/>
          </p:cNvSpPr>
          <p:nvPr>
            <p:ph idx="1"/>
          </p:nvPr>
        </p:nvSpPr>
        <p:spPr>
          <a:xfrm>
            <a:off x="280219" y="1859623"/>
            <a:ext cx="11685639" cy="4839680"/>
          </a:xfrm>
        </p:spPr>
        <p:txBody>
          <a:bodyPr>
            <a:normAutofit lnSpcReduction="10000"/>
          </a:bodyPr>
          <a:lstStyle/>
          <a:p>
            <a:pPr marL="0" indent="0">
              <a:buNone/>
            </a:pPr>
            <a:r>
              <a:rPr lang="zh-CN" altLang="en-US" dirty="0"/>
              <a:t>数据预处理是为了提升数据的整体质量。数据整体质量的好坏对模型、算法的效果起到非常关键的作用。</a:t>
            </a:r>
            <a:r>
              <a:rPr lang="zh-CN" altLang="en-US" dirty="0" smtClean="0"/>
              <a:t>如果数据</a:t>
            </a:r>
            <a:r>
              <a:rPr lang="zh-CN" altLang="en-US" dirty="0"/>
              <a:t>的质量较差，则很难优化模型和算法，同时也会影响到最终的整体效果</a:t>
            </a:r>
            <a:r>
              <a:rPr lang="zh-CN" altLang="en-US" dirty="0" smtClean="0"/>
              <a:t>。</a:t>
            </a:r>
            <a:endParaRPr lang="en-US" altLang="zh-CN" dirty="0" smtClean="0"/>
          </a:p>
          <a:p>
            <a:pPr marL="0" indent="0">
              <a:buNone/>
            </a:pPr>
            <a:r>
              <a:rPr lang="zh-CN" altLang="en-US" dirty="0" smtClean="0"/>
              <a:t>数据预处理</a:t>
            </a:r>
            <a:r>
              <a:rPr lang="zh-CN" altLang="en-US" dirty="0"/>
              <a:t>的</a:t>
            </a:r>
            <a:r>
              <a:rPr lang="zh-CN" altLang="en-US" b="1" dirty="0">
                <a:solidFill>
                  <a:srgbClr val="7030A0"/>
                </a:solidFill>
              </a:rPr>
              <a:t>基本目标是提升</a:t>
            </a:r>
            <a:r>
              <a:rPr lang="zh-CN" altLang="en-US" b="1" dirty="0" smtClean="0">
                <a:solidFill>
                  <a:srgbClr val="7030A0"/>
                </a:solidFill>
              </a:rPr>
              <a:t>数据完整性</a:t>
            </a:r>
            <a:r>
              <a:rPr lang="zh-CN" altLang="en-US" b="1" dirty="0">
                <a:solidFill>
                  <a:srgbClr val="7030A0"/>
                </a:solidFill>
              </a:rPr>
              <a:t>、准确性、唯一性、有效性</a:t>
            </a:r>
            <a:r>
              <a:rPr lang="zh-CN" altLang="en-US" dirty="0"/>
              <a:t>等。数据预处理主要包括不限于对原始数据进行清洗、转换和集成等</a:t>
            </a:r>
            <a:r>
              <a:rPr lang="zh-CN" altLang="en-US" dirty="0" smtClean="0"/>
              <a:t>步骤</a:t>
            </a:r>
            <a:r>
              <a:rPr lang="zh-CN" altLang="en-US" dirty="0"/>
              <a:t>，用以检测并优化提升数据的质量。本节重点介绍：</a:t>
            </a:r>
          </a:p>
          <a:p>
            <a:r>
              <a:rPr lang="zh-CN" altLang="en-US" dirty="0" smtClean="0"/>
              <a:t>数据</a:t>
            </a:r>
            <a:r>
              <a:rPr lang="zh-CN" altLang="en-US" dirty="0"/>
              <a:t>清洗</a:t>
            </a:r>
          </a:p>
          <a:p>
            <a:r>
              <a:rPr lang="zh-CN" altLang="en-US" dirty="0" smtClean="0"/>
              <a:t>数据</a:t>
            </a:r>
            <a:r>
              <a:rPr lang="zh-CN" altLang="en-US" dirty="0"/>
              <a:t>变换</a:t>
            </a:r>
          </a:p>
          <a:p>
            <a:r>
              <a:rPr lang="zh-CN" altLang="en-US" dirty="0" smtClean="0"/>
              <a:t>数据</a:t>
            </a:r>
            <a:r>
              <a:rPr lang="zh-CN" altLang="en-US" dirty="0"/>
              <a:t>规约</a:t>
            </a:r>
          </a:p>
        </p:txBody>
      </p:sp>
    </p:spTree>
    <p:extLst>
      <p:ext uri="{BB962C8B-B14F-4D97-AF65-F5344CB8AC3E}">
        <p14:creationId xmlns:p14="http://schemas.microsoft.com/office/powerpoint/2010/main" val="56291915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数据清洗</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数据清洗主要指数据收集后，对其中的变量、样本等进行预处理的过程。</a:t>
            </a:r>
            <a:endParaRPr lang="en-US" altLang="zh-CN" dirty="0" smtClean="0"/>
          </a:p>
          <a:p>
            <a:r>
              <a:rPr lang="zh-CN" altLang="en-US" dirty="0" smtClean="0"/>
              <a:t>主要针对脏数据，如：</a:t>
            </a:r>
            <a:endParaRPr lang="en-US" altLang="zh-CN" dirty="0" smtClean="0"/>
          </a:p>
          <a:p>
            <a:pPr marL="0" indent="0">
              <a:buNone/>
            </a:pPr>
            <a:r>
              <a:rPr lang="en-US" altLang="zh-CN" dirty="0"/>
              <a:t> </a:t>
            </a:r>
            <a:r>
              <a:rPr lang="en-US" altLang="zh-CN" dirty="0" smtClean="0"/>
              <a:t>  1</a:t>
            </a:r>
            <a:r>
              <a:rPr lang="zh-CN" altLang="en-US" dirty="0" smtClean="0"/>
              <a:t>）数据缺失，部分属性值为空；</a:t>
            </a:r>
            <a:endParaRPr lang="en-US" altLang="zh-CN" dirty="0" smtClean="0"/>
          </a:p>
          <a:p>
            <a:pPr marL="0" indent="0">
              <a:buNone/>
            </a:pPr>
            <a:r>
              <a:rPr lang="en-US" altLang="zh-CN" dirty="0" smtClean="0"/>
              <a:t>   2</a:t>
            </a:r>
            <a:r>
              <a:rPr lang="zh-CN" altLang="en-US" dirty="0" smtClean="0"/>
              <a:t>）数据重复，数据集中多次出行相同数据；</a:t>
            </a:r>
            <a:endParaRPr lang="en-US" altLang="zh-CN" dirty="0" smtClean="0"/>
          </a:p>
          <a:p>
            <a:pPr marL="0" indent="0">
              <a:buNone/>
            </a:pPr>
            <a:r>
              <a:rPr lang="en-US" altLang="zh-CN" dirty="0"/>
              <a:t> </a:t>
            </a:r>
            <a:r>
              <a:rPr lang="en-US" altLang="zh-CN" dirty="0" smtClean="0"/>
              <a:t>  3</a:t>
            </a:r>
            <a:r>
              <a:rPr lang="zh-CN" altLang="en-US" dirty="0" smtClean="0"/>
              <a:t>）数据噪声，数据值出现异常；</a:t>
            </a:r>
            <a:endParaRPr lang="en-US" altLang="zh-CN" dirty="0" smtClean="0"/>
          </a:p>
          <a:p>
            <a:pPr marL="0" indent="0">
              <a:buNone/>
            </a:pPr>
            <a:r>
              <a:rPr lang="en-US" altLang="zh-CN" dirty="0"/>
              <a:t> </a:t>
            </a:r>
            <a:r>
              <a:rPr lang="en-US" altLang="zh-CN" dirty="0" smtClean="0"/>
              <a:t>  4</a:t>
            </a:r>
            <a:r>
              <a:rPr lang="zh-CN" altLang="en-US" dirty="0" smtClean="0"/>
              <a:t>）数据集不均衡，不同类别的数据数量相差较大；</a:t>
            </a:r>
            <a:endParaRPr lang="en-US" altLang="zh-CN" dirty="0" smtClean="0"/>
          </a:p>
          <a:p>
            <a:pPr marL="0" indent="0">
              <a:buNone/>
            </a:pPr>
            <a:r>
              <a:rPr lang="en-US" altLang="zh-CN" dirty="0"/>
              <a:t> </a:t>
            </a:r>
            <a:r>
              <a:rPr lang="en-US" altLang="zh-CN" dirty="0" smtClean="0"/>
              <a:t>  5</a:t>
            </a:r>
            <a:r>
              <a:rPr lang="zh-CN" altLang="en-US" dirty="0" smtClean="0"/>
              <a:t>）数据冗余，数据的数量或属性数量超出预期；</a:t>
            </a:r>
            <a:endParaRPr lang="en-US" altLang="zh-CN" dirty="0" smtClean="0"/>
          </a:p>
          <a:p>
            <a:pPr marL="0" indent="0">
              <a:buNone/>
            </a:pPr>
            <a:r>
              <a:rPr lang="en-US" altLang="zh-CN" dirty="0"/>
              <a:t> </a:t>
            </a:r>
            <a:r>
              <a:rPr lang="en-US" altLang="zh-CN" dirty="0" smtClean="0"/>
              <a:t>  6</a:t>
            </a:r>
            <a:r>
              <a:rPr lang="zh-CN" altLang="en-US" dirty="0" smtClean="0"/>
              <a:t>）数据不一致，数据出现前后不一致的情况。</a:t>
            </a:r>
            <a:endParaRPr lang="zh-CN" altLang="en-US" dirty="0"/>
          </a:p>
        </p:txBody>
      </p:sp>
    </p:spTree>
    <p:extLst>
      <p:ext uri="{BB962C8B-B14F-4D97-AF65-F5344CB8AC3E}">
        <p14:creationId xmlns:p14="http://schemas.microsoft.com/office/powerpoint/2010/main" val="254990765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缺失值处理</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分为行缺失和列缺失；数据库中</a:t>
            </a:r>
            <a:r>
              <a:rPr lang="en-US" altLang="zh-CN" dirty="0" smtClean="0"/>
              <a:t>Null</a:t>
            </a:r>
            <a:r>
              <a:rPr lang="zh-CN" altLang="en-US" dirty="0" smtClean="0"/>
              <a:t>，</a:t>
            </a:r>
            <a:r>
              <a:rPr lang="en-US" altLang="zh-CN" dirty="0" smtClean="0"/>
              <a:t>Python</a:t>
            </a:r>
            <a:r>
              <a:rPr lang="zh-CN" altLang="en-US" dirty="0" smtClean="0"/>
              <a:t>中是</a:t>
            </a:r>
            <a:r>
              <a:rPr lang="en-US" altLang="zh-CN" dirty="0" smtClean="0"/>
              <a:t>None</a:t>
            </a:r>
            <a:r>
              <a:rPr lang="zh-CN" altLang="en-US" dirty="0" smtClean="0"/>
              <a:t>，</a:t>
            </a:r>
            <a:r>
              <a:rPr lang="en-US" altLang="zh-CN" dirty="0" smtClean="0"/>
              <a:t>Pandas</a:t>
            </a:r>
            <a:r>
              <a:rPr lang="zh-CN" altLang="en-US" dirty="0" smtClean="0"/>
              <a:t>和</a:t>
            </a:r>
            <a:r>
              <a:rPr lang="en-US" altLang="zh-CN" dirty="0" err="1" smtClean="0"/>
              <a:t>Numpy</a:t>
            </a:r>
            <a:r>
              <a:rPr lang="zh-CN" altLang="en-US" dirty="0" smtClean="0"/>
              <a:t>中是</a:t>
            </a:r>
            <a:r>
              <a:rPr lang="en-US" altLang="zh-CN" dirty="0" err="1" smtClean="0"/>
              <a:t>NaN</a:t>
            </a:r>
            <a:r>
              <a:rPr lang="zh-CN" altLang="en-US" dirty="0" smtClean="0"/>
              <a:t>。</a:t>
            </a:r>
            <a:endParaRPr lang="en-US" altLang="zh-CN" dirty="0" smtClean="0"/>
          </a:p>
          <a:p>
            <a:pPr marL="0" indent="0">
              <a:buNone/>
            </a:pPr>
            <a:endParaRPr lang="en-US" altLang="zh-CN" dirty="0" smtClean="0"/>
          </a:p>
          <a:p>
            <a:pPr marL="0" indent="0">
              <a:buNone/>
            </a:pPr>
            <a:r>
              <a:rPr lang="zh-CN" altLang="en-US" dirty="0" smtClean="0"/>
              <a:t>导包：</a:t>
            </a:r>
            <a:endParaRPr lang="en-US" altLang="zh-CN" dirty="0"/>
          </a:p>
          <a:p>
            <a:pPr marL="0" indent="0">
              <a:buNone/>
            </a:pPr>
            <a:r>
              <a:rPr lang="en-US" altLang="zh-CN" dirty="0" smtClean="0"/>
              <a:t>       import pandas as </a:t>
            </a:r>
            <a:r>
              <a:rPr lang="en-US" altLang="zh-CN" dirty="0" err="1" smtClean="0"/>
              <a:t>pd</a:t>
            </a:r>
            <a:endParaRPr lang="en-US" altLang="zh-CN" dirty="0" smtClean="0"/>
          </a:p>
          <a:p>
            <a:pPr marL="0" indent="0">
              <a:buNone/>
            </a:pPr>
            <a:r>
              <a:rPr lang="en-US" altLang="zh-CN" dirty="0"/>
              <a:t> </a:t>
            </a:r>
            <a:r>
              <a:rPr lang="en-US" altLang="zh-CN" dirty="0" smtClean="0"/>
              <a:t>      import </a:t>
            </a:r>
            <a:r>
              <a:rPr lang="en-US" altLang="zh-CN" dirty="0" err="1" smtClean="0"/>
              <a:t>numpy</a:t>
            </a:r>
            <a:r>
              <a:rPr lang="en-US" altLang="zh-CN" dirty="0" smtClean="0"/>
              <a:t> as np</a:t>
            </a:r>
          </a:p>
        </p:txBody>
      </p:sp>
    </p:spTree>
    <p:extLst>
      <p:ext uri="{BB962C8B-B14F-4D97-AF65-F5344CB8AC3E}">
        <p14:creationId xmlns:p14="http://schemas.microsoft.com/office/powerpoint/2010/main" val="186390928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5C683-E8BA-413E-A133-BF48EE41AA13}"/>
              </a:ext>
            </a:extLst>
          </p:cNvPr>
          <p:cNvSpPr>
            <a:spLocks noGrp="1"/>
          </p:cNvSpPr>
          <p:nvPr>
            <p:ph type="title"/>
          </p:nvPr>
        </p:nvSpPr>
        <p:spPr/>
        <p:txBody>
          <a:bodyPr/>
          <a:lstStyle/>
          <a:p>
            <a:r>
              <a:rPr lang="zh-CN" altLang="zh-CN" dirty="0" smtClean="0"/>
              <a:t>缺失</a:t>
            </a:r>
            <a:r>
              <a:rPr lang="zh-CN" altLang="zh-CN" dirty="0"/>
              <a:t>值的</a:t>
            </a:r>
            <a:r>
              <a:rPr lang="zh-CN" altLang="zh-CN" b="1" u="sng" dirty="0"/>
              <a:t>检测</a:t>
            </a:r>
            <a:r>
              <a:rPr lang="zh-CN" altLang="zh-CN" dirty="0"/>
              <a:t>与处理</a:t>
            </a:r>
            <a:endParaRPr lang="zh-CN" altLang="en-US" dirty="0"/>
          </a:p>
        </p:txBody>
      </p:sp>
      <p:sp>
        <p:nvSpPr>
          <p:cNvPr id="3" name="内容占位符 2">
            <a:extLst>
              <a:ext uri="{FF2B5EF4-FFF2-40B4-BE49-F238E27FC236}">
                <a16:creationId xmlns:a16="http://schemas.microsoft.com/office/drawing/2014/main" id="{3FE82EF4-2C5F-4B09-BEA1-A14C0C9A1539}"/>
              </a:ext>
            </a:extLst>
          </p:cNvPr>
          <p:cNvSpPr>
            <a:spLocks noGrp="1"/>
          </p:cNvSpPr>
          <p:nvPr>
            <p:ph sz="quarter" idx="13"/>
          </p:nvPr>
        </p:nvSpPr>
        <p:spPr>
          <a:xfrm>
            <a:off x="489858" y="1876550"/>
            <a:ext cx="11407070" cy="4756635"/>
          </a:xfrm>
        </p:spPr>
        <p:txBody>
          <a:bodyPr>
            <a:normAutofit fontScale="92500" lnSpcReduction="20000"/>
          </a:bodyPr>
          <a:lstStyle/>
          <a:p>
            <a:r>
              <a:rPr lang="en-US" altLang="zh-CN" dirty="0"/>
              <a:t>import pandas as pd</a:t>
            </a:r>
            <a:endParaRPr lang="zh-CN" altLang="zh-CN" dirty="0"/>
          </a:p>
          <a:p>
            <a:r>
              <a:rPr lang="en-US" altLang="zh-CN" dirty="0"/>
              <a:t>data = pd.read_csv("bj-weather-0216.csv")   #</a:t>
            </a:r>
            <a:r>
              <a:rPr lang="zh-CN" altLang="zh-CN" dirty="0"/>
              <a:t>读取</a:t>
            </a:r>
            <a:r>
              <a:rPr lang="en-US" altLang="zh-CN" dirty="0"/>
              <a:t>csv</a:t>
            </a:r>
            <a:r>
              <a:rPr lang="zh-CN" altLang="zh-CN" dirty="0"/>
              <a:t>文件</a:t>
            </a:r>
          </a:p>
          <a:p>
            <a:r>
              <a:rPr lang="en-US" altLang="zh-CN" dirty="0"/>
              <a:t>data.info()                            #</a:t>
            </a:r>
            <a:r>
              <a:rPr lang="zh-CN" altLang="zh-CN" dirty="0"/>
              <a:t>显示字段信息</a:t>
            </a:r>
            <a:endParaRPr lang="en-US" altLang="zh-CN" dirty="0"/>
          </a:p>
          <a:p>
            <a:r>
              <a:rPr lang="en-US" altLang="zh-CN" dirty="0"/>
              <a:t>data.isnull()  </a:t>
            </a:r>
          </a:p>
          <a:p>
            <a:r>
              <a:rPr lang="en-US" altLang="zh-CN" dirty="0"/>
              <a:t>data.isnull().any()</a:t>
            </a:r>
          </a:p>
          <a:p>
            <a:r>
              <a:rPr lang="en-US" altLang="zh-CN" dirty="0" err="1"/>
              <a:t>data.describe</a:t>
            </a:r>
            <a:r>
              <a:rPr lang="en-US" altLang="zh-CN" dirty="0" smtClean="0"/>
              <a:t>()   #</a:t>
            </a:r>
            <a:r>
              <a:rPr lang="zh-CN" altLang="en-US" dirty="0" smtClean="0"/>
              <a:t>数据集的统计描述，返回主要统计量，     例如，平均值、标准差、最小值、最大值等。</a:t>
            </a:r>
            <a:endParaRPr lang="en-US" altLang="zh-CN" dirty="0" smtClean="0"/>
          </a:p>
          <a:p>
            <a:pPr marL="0" indent="0">
              <a:buNone/>
            </a:pPr>
            <a:r>
              <a:rPr lang="en-US" altLang="zh-CN" dirty="0"/>
              <a:t> </a:t>
            </a:r>
            <a:r>
              <a:rPr lang="en-US" altLang="zh-CN" dirty="0" smtClean="0"/>
              <a:t> </a:t>
            </a:r>
            <a:r>
              <a:rPr lang="zh-CN" altLang="en-US" dirty="0" smtClean="0"/>
              <a:t>输出格式是一个数据帧（</a:t>
            </a:r>
            <a:r>
              <a:rPr lang="en-US" altLang="zh-CN" dirty="0" err="1" smtClean="0"/>
              <a:t>DataFrame</a:t>
            </a:r>
            <a:r>
              <a:rPr lang="zh-CN" altLang="en-US" dirty="0" smtClean="0"/>
              <a:t>），显示每个统计量的值以及数据集中的样本数。</a:t>
            </a:r>
            <a:endParaRPr lang="zh-CN" altLang="zh-CN" dirty="0"/>
          </a:p>
          <a:p>
            <a:r>
              <a:rPr lang="en-US" altLang="zh-CN" dirty="0" err="1" smtClean="0"/>
              <a:t>data.head</a:t>
            </a:r>
            <a:r>
              <a:rPr lang="en-US" altLang="zh-CN" dirty="0" smtClean="0"/>
              <a:t>()   # </a:t>
            </a:r>
            <a:r>
              <a:rPr lang="zh-CN" altLang="en-US" dirty="0" smtClean="0"/>
              <a:t>读取数据中的前</a:t>
            </a:r>
            <a:r>
              <a:rPr lang="en-US" altLang="zh-CN" dirty="0" smtClean="0"/>
              <a:t>n</a:t>
            </a:r>
            <a:r>
              <a:rPr lang="zh-CN" altLang="en-US" dirty="0" smtClean="0"/>
              <a:t>行，默认为</a:t>
            </a:r>
            <a:r>
              <a:rPr lang="en-US" altLang="zh-CN" dirty="0" smtClean="0"/>
              <a:t>5</a:t>
            </a:r>
            <a:endParaRPr lang="zh-CN" altLang="zh-CN" dirty="0"/>
          </a:p>
          <a:p>
            <a:pPr lvl="0"/>
            <a:endParaRPr lang="zh-CN" altLang="en-US" dirty="0"/>
          </a:p>
        </p:txBody>
      </p:sp>
    </p:spTree>
    <p:extLst>
      <p:ext uri="{BB962C8B-B14F-4D97-AF65-F5344CB8AC3E}">
        <p14:creationId xmlns:p14="http://schemas.microsoft.com/office/powerpoint/2010/main" val="229639784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5C683-E8BA-413E-A133-BF48EE41AA13}"/>
              </a:ext>
            </a:extLst>
          </p:cNvPr>
          <p:cNvSpPr>
            <a:spLocks noGrp="1"/>
          </p:cNvSpPr>
          <p:nvPr>
            <p:ph type="title"/>
          </p:nvPr>
        </p:nvSpPr>
        <p:spPr/>
        <p:txBody>
          <a:bodyPr/>
          <a:lstStyle/>
          <a:p>
            <a:r>
              <a:rPr lang="zh-CN" altLang="zh-CN" dirty="0" smtClean="0"/>
              <a:t>缺失</a:t>
            </a:r>
            <a:r>
              <a:rPr lang="zh-CN" altLang="zh-CN" dirty="0"/>
              <a:t>值的检测与</a:t>
            </a:r>
            <a:r>
              <a:rPr lang="zh-CN" altLang="zh-CN" b="1" u="sng" dirty="0"/>
              <a:t>处理</a:t>
            </a:r>
            <a:endParaRPr lang="zh-CN" altLang="en-US" b="1" u="sng" dirty="0"/>
          </a:p>
        </p:txBody>
      </p:sp>
      <p:sp>
        <p:nvSpPr>
          <p:cNvPr id="3" name="内容占位符 2">
            <a:extLst>
              <a:ext uri="{FF2B5EF4-FFF2-40B4-BE49-F238E27FC236}">
                <a16:creationId xmlns:a16="http://schemas.microsoft.com/office/drawing/2014/main" id="{3FE82EF4-2C5F-4B09-BEA1-A14C0C9A1539}"/>
              </a:ext>
            </a:extLst>
          </p:cNvPr>
          <p:cNvSpPr>
            <a:spLocks noGrp="1"/>
          </p:cNvSpPr>
          <p:nvPr>
            <p:ph sz="quarter" idx="13"/>
          </p:nvPr>
        </p:nvSpPr>
        <p:spPr>
          <a:xfrm>
            <a:off x="175098" y="1876550"/>
            <a:ext cx="11995130" cy="4756635"/>
          </a:xfrm>
        </p:spPr>
        <p:txBody>
          <a:bodyPr>
            <a:normAutofit fontScale="55000" lnSpcReduction="20000"/>
          </a:bodyPr>
          <a:lstStyle/>
          <a:p>
            <a:pPr marL="0" indent="0">
              <a:buNone/>
            </a:pPr>
            <a:r>
              <a:rPr lang="zh-CN" altLang="zh-CN" dirty="0"/>
              <a:t>（</a:t>
            </a:r>
            <a:r>
              <a:rPr lang="en-US" altLang="zh-CN" dirty="0"/>
              <a:t>1</a:t>
            </a:r>
            <a:r>
              <a:rPr lang="zh-CN" altLang="zh-CN" dirty="0"/>
              <a:t>）删除缺失值</a:t>
            </a:r>
            <a:r>
              <a:rPr lang="en-US" altLang="zh-CN" dirty="0"/>
              <a:t>      </a:t>
            </a:r>
            <a:r>
              <a:rPr lang="en-US" altLang="zh-CN" b="1" dirty="0" err="1"/>
              <a:t>data_new</a:t>
            </a:r>
            <a:r>
              <a:rPr lang="en-US" altLang="zh-CN" b="1" dirty="0"/>
              <a:t> = </a:t>
            </a:r>
            <a:r>
              <a:rPr lang="en-US" altLang="zh-CN" b="1" dirty="0" err="1"/>
              <a:t>data.dropna</a:t>
            </a:r>
            <a:r>
              <a:rPr lang="en-US" altLang="zh-CN" b="1" dirty="0"/>
              <a:t>()                </a:t>
            </a:r>
            <a:r>
              <a:rPr lang="en-US" altLang="zh-CN" dirty="0"/>
              <a:t>#</a:t>
            </a:r>
            <a:r>
              <a:rPr lang="zh-CN" altLang="zh-CN" dirty="0"/>
              <a:t>删除文件中有缺失值的所有行</a:t>
            </a:r>
          </a:p>
          <a:p>
            <a:pPr marL="0" indent="0">
              <a:buNone/>
            </a:pPr>
            <a:endParaRPr lang="zh-CN" altLang="zh-CN" dirty="0"/>
          </a:p>
          <a:p>
            <a:pPr marL="0" indent="0">
              <a:lnSpc>
                <a:spcPct val="120000"/>
              </a:lnSpc>
              <a:buNone/>
            </a:pPr>
            <a:r>
              <a:rPr lang="en-US" altLang="zh-CN" dirty="0"/>
              <a:t>dropna(axis = 0, how = ‘any’, thresh = None, subset = None, inplace = False)</a:t>
            </a:r>
            <a:endParaRPr lang="zh-CN" altLang="zh-CN" dirty="0"/>
          </a:p>
          <a:p>
            <a:pPr marL="0" indent="0">
              <a:lnSpc>
                <a:spcPct val="120000"/>
              </a:lnSpc>
              <a:buNone/>
            </a:pPr>
            <a:r>
              <a:rPr lang="zh-CN" altLang="zh-CN" dirty="0"/>
              <a:t>其中：</a:t>
            </a:r>
          </a:p>
          <a:p>
            <a:pPr marL="0" indent="0">
              <a:lnSpc>
                <a:spcPct val="120000"/>
              </a:lnSpc>
              <a:buNone/>
            </a:pPr>
            <a:r>
              <a:rPr lang="en-US" altLang="zh-CN" dirty="0"/>
              <a:t>axis</a:t>
            </a:r>
            <a:r>
              <a:rPr lang="zh-CN" altLang="zh-CN" dirty="0"/>
              <a:t>：默认为</a:t>
            </a:r>
            <a:r>
              <a:rPr lang="en-US" altLang="zh-CN" dirty="0"/>
              <a:t>0</a:t>
            </a:r>
            <a:r>
              <a:rPr lang="zh-CN" altLang="zh-CN" dirty="0"/>
              <a:t>，表示删除有缺失值的那一行；如果</a:t>
            </a:r>
            <a:r>
              <a:rPr lang="en-US" altLang="zh-CN" dirty="0"/>
              <a:t>axis=1</a:t>
            </a:r>
            <a:r>
              <a:rPr lang="zh-CN" altLang="zh-CN" dirty="0"/>
              <a:t>，则删除有缺失值的那一列；</a:t>
            </a:r>
          </a:p>
          <a:p>
            <a:pPr marL="0" indent="0">
              <a:lnSpc>
                <a:spcPct val="120000"/>
              </a:lnSpc>
              <a:buNone/>
            </a:pPr>
            <a:r>
              <a:rPr lang="en-US" altLang="zh-CN" dirty="0"/>
              <a:t>how</a:t>
            </a:r>
            <a:r>
              <a:rPr lang="zh-CN" altLang="zh-CN" dirty="0"/>
              <a:t>：默认为</a:t>
            </a:r>
            <a:r>
              <a:rPr lang="en-US" altLang="zh-CN" dirty="0"/>
              <a:t>any</a:t>
            </a:r>
            <a:r>
              <a:rPr lang="zh-CN" altLang="zh-CN" dirty="0"/>
              <a:t>，表明只要某行有缺失值就删除该行，如果</a:t>
            </a:r>
            <a:r>
              <a:rPr lang="en-US" altLang="zh-CN" dirty="0"/>
              <a:t>how=</a:t>
            </a:r>
            <a:r>
              <a:rPr lang="zh-CN" altLang="zh-CN" dirty="0"/>
              <a:t>‘</a:t>
            </a:r>
            <a:r>
              <a:rPr lang="en-US" altLang="zh-CN" dirty="0"/>
              <a:t>all</a:t>
            </a:r>
            <a:r>
              <a:rPr lang="zh-CN" altLang="zh-CN" dirty="0"/>
              <a:t>’，表明某行全部为缺失值时才删除该行；</a:t>
            </a:r>
          </a:p>
          <a:p>
            <a:pPr marL="0" indent="0">
              <a:lnSpc>
                <a:spcPct val="120000"/>
              </a:lnSpc>
              <a:buNone/>
            </a:pPr>
            <a:r>
              <a:rPr lang="en-US" altLang="zh-CN" dirty="0"/>
              <a:t>thresh</a:t>
            </a:r>
            <a:r>
              <a:rPr lang="zh-CN" altLang="zh-CN" dirty="0"/>
              <a:t>：阈值设定，当某行中非缺失值的数量小于该值时删除该行数据；</a:t>
            </a:r>
          </a:p>
          <a:p>
            <a:pPr marL="0" indent="0">
              <a:lnSpc>
                <a:spcPct val="120000"/>
              </a:lnSpc>
              <a:buNone/>
            </a:pPr>
            <a:r>
              <a:rPr lang="en-US" altLang="zh-CN" dirty="0"/>
              <a:t>subset</a:t>
            </a:r>
            <a:r>
              <a:rPr lang="zh-CN" altLang="zh-CN" dirty="0"/>
              <a:t>：删除特定列中有缺失值的行或列，如：</a:t>
            </a:r>
            <a:r>
              <a:rPr lang="en-US" altLang="zh-CN" dirty="0"/>
              <a:t>subset=[‘Co’,’PM10’]</a:t>
            </a:r>
            <a:r>
              <a:rPr lang="zh-CN" altLang="zh-CN" dirty="0"/>
              <a:t>，即删除列</a:t>
            </a:r>
            <a:r>
              <a:rPr lang="en-US" altLang="zh-CN" dirty="0"/>
              <a:t>Co</a:t>
            </a:r>
            <a:r>
              <a:rPr lang="zh-CN" altLang="zh-CN" dirty="0"/>
              <a:t>和</a:t>
            </a:r>
            <a:r>
              <a:rPr lang="en-US" altLang="zh-CN" dirty="0"/>
              <a:t>PM10</a:t>
            </a:r>
            <a:r>
              <a:rPr lang="zh-CN" altLang="zh-CN" dirty="0"/>
              <a:t>中有缺失值的行；</a:t>
            </a:r>
          </a:p>
          <a:p>
            <a:pPr marL="0" indent="0">
              <a:lnSpc>
                <a:spcPct val="120000"/>
              </a:lnSpc>
              <a:buNone/>
            </a:pPr>
            <a:r>
              <a:rPr lang="en-US" altLang="zh-CN" dirty="0"/>
              <a:t>inplace</a:t>
            </a:r>
            <a:r>
              <a:rPr lang="zh-CN" altLang="zh-CN" dirty="0"/>
              <a:t>：默认为</a:t>
            </a:r>
            <a:r>
              <a:rPr lang="en-US" altLang="zh-CN" dirty="0"/>
              <a:t>False</a:t>
            </a:r>
            <a:r>
              <a:rPr lang="zh-CN" altLang="zh-CN" dirty="0"/>
              <a:t>，即筛选后的数据存为副本，如果</a:t>
            </a:r>
            <a:r>
              <a:rPr lang="en-US" altLang="zh-CN" dirty="0"/>
              <a:t>inplace=True</a:t>
            </a:r>
            <a:r>
              <a:rPr lang="zh-CN" altLang="zh-CN" dirty="0"/>
              <a:t>，表示直接在原数据上更改，无返回值。</a:t>
            </a:r>
            <a:endParaRPr lang="en-US" altLang="zh-CN" dirty="0"/>
          </a:p>
          <a:p>
            <a:pPr marL="0" indent="0">
              <a:lnSpc>
                <a:spcPct val="120000"/>
              </a:lnSpc>
              <a:buNone/>
            </a:pPr>
            <a:endParaRPr lang="zh-CN" altLang="zh-CN" dirty="0"/>
          </a:p>
          <a:p>
            <a:pPr lvl="0"/>
            <a:endParaRPr lang="zh-CN" altLang="en-US" dirty="0"/>
          </a:p>
        </p:txBody>
      </p:sp>
    </p:spTree>
    <p:extLst>
      <p:ext uri="{BB962C8B-B14F-4D97-AF65-F5344CB8AC3E}">
        <p14:creationId xmlns:p14="http://schemas.microsoft.com/office/powerpoint/2010/main" val="171748461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9D278-CA8A-4882-9C0E-60453EA52014}"/>
              </a:ext>
            </a:extLst>
          </p:cNvPr>
          <p:cNvSpPr>
            <a:spLocks noGrp="1"/>
          </p:cNvSpPr>
          <p:nvPr>
            <p:ph type="title"/>
          </p:nvPr>
        </p:nvSpPr>
        <p:spPr/>
        <p:txBody>
          <a:bodyPr/>
          <a:lstStyle/>
          <a:p>
            <a:r>
              <a:rPr lang="zh-CN" altLang="zh-CN" dirty="0" smtClean="0"/>
              <a:t>缺失</a:t>
            </a:r>
            <a:r>
              <a:rPr lang="zh-CN" altLang="zh-CN" dirty="0"/>
              <a:t>值的检测与</a:t>
            </a:r>
            <a:r>
              <a:rPr lang="zh-CN" altLang="zh-CN" b="1" u="sng" dirty="0"/>
              <a:t>处理</a:t>
            </a:r>
            <a:endParaRPr lang="zh-CN" altLang="en-US" dirty="0"/>
          </a:p>
        </p:txBody>
      </p:sp>
      <p:sp>
        <p:nvSpPr>
          <p:cNvPr id="3" name="内容占位符 2">
            <a:extLst>
              <a:ext uri="{FF2B5EF4-FFF2-40B4-BE49-F238E27FC236}">
                <a16:creationId xmlns:a16="http://schemas.microsoft.com/office/drawing/2014/main" id="{B05FD7BF-C95D-42E0-B72B-1D1D1878940F}"/>
              </a:ext>
            </a:extLst>
          </p:cNvPr>
          <p:cNvSpPr>
            <a:spLocks noGrp="1"/>
          </p:cNvSpPr>
          <p:nvPr>
            <p:ph sz="quarter" idx="13"/>
          </p:nvPr>
        </p:nvSpPr>
        <p:spPr/>
        <p:txBody>
          <a:bodyPr/>
          <a:lstStyle/>
          <a:p>
            <a:pPr marL="0" indent="0">
              <a:buNone/>
            </a:pPr>
            <a:r>
              <a:rPr lang="zh-CN" altLang="zh-CN" dirty="0"/>
              <a:t>（</a:t>
            </a:r>
            <a:r>
              <a:rPr lang="en-US" altLang="zh-CN" dirty="0"/>
              <a:t>2</a:t>
            </a:r>
            <a:r>
              <a:rPr lang="zh-CN" altLang="zh-CN" dirty="0"/>
              <a:t>）填充缺失值</a:t>
            </a:r>
            <a:r>
              <a:rPr lang="en-US" altLang="zh-CN" dirty="0"/>
              <a:t>      fillna()</a:t>
            </a:r>
            <a:endParaRPr lang="zh-CN" altLang="zh-CN" dirty="0"/>
          </a:p>
          <a:p>
            <a:pPr marL="0" indent="0">
              <a:buNone/>
            </a:pPr>
            <a:r>
              <a:rPr lang="en-US" altLang="zh-CN" sz="2800" dirty="0"/>
              <a:t>import pandas as pd</a:t>
            </a:r>
            <a:endParaRPr lang="zh-CN" altLang="zh-CN" sz="2800" dirty="0"/>
          </a:p>
          <a:p>
            <a:pPr marL="0" indent="0">
              <a:buNone/>
            </a:pPr>
            <a:r>
              <a:rPr lang="en-US" altLang="zh-CN" sz="2800" dirty="0"/>
              <a:t>import numpy as np</a:t>
            </a:r>
            <a:endParaRPr lang="zh-CN" altLang="zh-CN" sz="2800" dirty="0"/>
          </a:p>
          <a:p>
            <a:pPr marL="0" indent="0">
              <a:buNone/>
            </a:pPr>
            <a:r>
              <a:rPr lang="en-US" altLang="zh-CN" sz="2800" dirty="0"/>
              <a:t>df=pd.DataFrame([[np.nan,2,np.nan,0],[3,4,np.nan,1],[np.nan,3,np.nan],</a:t>
            </a:r>
            <a:endParaRPr lang="zh-CN" altLang="zh-CN" sz="2800" dirty="0"/>
          </a:p>
          <a:p>
            <a:pPr marL="0" indent="0">
              <a:buNone/>
            </a:pPr>
            <a:r>
              <a:rPr lang="en-US" altLang="zh-CN" sz="2800" dirty="0"/>
              <a:t>[np.nan,3,np.nan,4]],columns=list('ABCD’))</a:t>
            </a:r>
          </a:p>
          <a:p>
            <a:pPr marL="0" indent="0">
              <a:buNone/>
            </a:pPr>
            <a:endParaRPr lang="en-US" altLang="zh-CN" sz="2800" dirty="0"/>
          </a:p>
          <a:p>
            <a:pPr marL="0" indent="0">
              <a:buNone/>
            </a:pPr>
            <a:r>
              <a:rPr lang="en-US" altLang="zh-CN" dirty="0"/>
              <a:t>df.fillna(10)</a:t>
            </a:r>
          </a:p>
          <a:p>
            <a:pPr marL="0" indent="0">
              <a:buNone/>
            </a:pPr>
            <a:r>
              <a:rPr lang="en-US" altLang="zh-CN" dirty="0"/>
              <a:t>df.fillna(df.D.mean())</a:t>
            </a:r>
            <a:endParaRPr lang="zh-CN" altLang="zh-CN" sz="2800" dirty="0"/>
          </a:p>
          <a:p>
            <a:pPr marL="0" indent="0">
              <a:buNone/>
            </a:pPr>
            <a:endParaRPr lang="zh-CN" altLang="en-US" dirty="0"/>
          </a:p>
        </p:txBody>
      </p:sp>
    </p:spTree>
    <p:extLst>
      <p:ext uri="{BB962C8B-B14F-4D97-AF65-F5344CB8AC3E}">
        <p14:creationId xmlns:p14="http://schemas.microsoft.com/office/powerpoint/2010/main" val="287274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276522-C030-4345-8B4D-3CF80A3DC4D5}"/>
              </a:ext>
            </a:extLst>
          </p:cNvPr>
          <p:cNvSpPr>
            <a:spLocks noGrp="1"/>
          </p:cNvSpPr>
          <p:nvPr>
            <p:ph type="title"/>
          </p:nvPr>
        </p:nvSpPr>
        <p:spPr/>
        <p:txBody>
          <a:bodyPr>
            <a:normAutofit/>
          </a:bodyPr>
          <a:lstStyle/>
          <a:p>
            <a:r>
              <a:rPr lang="zh-CN" altLang="zh-CN" dirty="0" smtClean="0"/>
              <a:t>重复</a:t>
            </a:r>
            <a:r>
              <a:rPr lang="zh-CN" altLang="zh-CN" dirty="0"/>
              <a:t>记录数据的检测与处理</a:t>
            </a:r>
            <a:endParaRPr lang="zh-CN" altLang="en-US" dirty="0"/>
          </a:p>
        </p:txBody>
      </p:sp>
      <p:sp>
        <p:nvSpPr>
          <p:cNvPr id="3" name="内容占位符 2">
            <a:extLst>
              <a:ext uri="{FF2B5EF4-FFF2-40B4-BE49-F238E27FC236}">
                <a16:creationId xmlns:a16="http://schemas.microsoft.com/office/drawing/2014/main" id="{4F653EAF-5255-463A-83BE-6787C7DE88FF}"/>
              </a:ext>
            </a:extLst>
          </p:cNvPr>
          <p:cNvSpPr>
            <a:spLocks noGrp="1"/>
          </p:cNvSpPr>
          <p:nvPr>
            <p:ph sz="quarter" idx="13"/>
          </p:nvPr>
        </p:nvSpPr>
        <p:spPr>
          <a:xfrm>
            <a:off x="489858" y="1943099"/>
            <a:ext cx="11168742" cy="4914901"/>
          </a:xfrm>
        </p:spPr>
        <p:txBody>
          <a:bodyPr>
            <a:normAutofit fontScale="92500"/>
          </a:bodyPr>
          <a:lstStyle/>
          <a:p>
            <a:pPr marL="0" indent="0">
              <a:buNone/>
            </a:pPr>
            <a:r>
              <a:rPr lang="en-US" altLang="zh-CN" sz="2800" dirty="0"/>
              <a:t>import pandas as pd</a:t>
            </a:r>
            <a:endParaRPr lang="zh-CN" altLang="zh-CN" sz="2800" dirty="0"/>
          </a:p>
          <a:p>
            <a:pPr marL="0" indent="0">
              <a:buNone/>
            </a:pPr>
            <a:r>
              <a:rPr lang="en-US" altLang="zh-CN" sz="2800" dirty="0"/>
              <a:t>df=pd.DataFrame({'A':[1,2,2,1,1],'B': [2,3,3,2,2],'C’:[3,4,1,3,3],'D':[0,1,2,4,0]}) </a:t>
            </a:r>
          </a:p>
          <a:p>
            <a:pPr marL="0" indent="0">
              <a:buNone/>
            </a:pPr>
            <a:r>
              <a:rPr lang="en-US" altLang="zh-CN" sz="2800" dirty="0"/>
              <a:t>     #</a:t>
            </a:r>
            <a:r>
              <a:rPr lang="zh-CN" altLang="zh-CN" sz="2800" dirty="0"/>
              <a:t>创建数据</a:t>
            </a:r>
            <a:endParaRPr lang="en-US" altLang="zh-CN" sz="2800" dirty="0"/>
          </a:p>
          <a:p>
            <a:pPr marL="0" indent="0">
              <a:buNone/>
            </a:pPr>
            <a:endParaRPr lang="en-US" altLang="zh-CN" sz="2800" dirty="0"/>
          </a:p>
          <a:p>
            <a:pPr marL="0" indent="0">
              <a:lnSpc>
                <a:spcPct val="120000"/>
              </a:lnSpc>
              <a:buNone/>
            </a:pPr>
            <a:r>
              <a:rPr lang="en-US" altLang="zh-CN" b="1" dirty="0"/>
              <a:t>df.duplicated()  </a:t>
            </a:r>
            <a:r>
              <a:rPr lang="en-US" altLang="zh-CN" dirty="0"/>
              <a:t>#</a:t>
            </a:r>
            <a:r>
              <a:rPr lang="zh-CN" altLang="zh-CN" dirty="0"/>
              <a:t>查找否有重复数据 （行号为</a:t>
            </a:r>
            <a:r>
              <a:rPr lang="en-US" altLang="zh-CN" dirty="0"/>
              <a:t>4</a:t>
            </a:r>
            <a:r>
              <a:rPr lang="zh-CN" altLang="zh-CN" dirty="0"/>
              <a:t>的显示</a:t>
            </a:r>
            <a:r>
              <a:rPr lang="en-US" altLang="zh-CN" dirty="0"/>
              <a:t>True</a:t>
            </a:r>
            <a:r>
              <a:rPr lang="zh-CN" altLang="zh-CN" dirty="0"/>
              <a:t>）</a:t>
            </a:r>
            <a:r>
              <a:rPr lang="en-US" altLang="zh-CN" dirty="0"/>
              <a:t>  </a:t>
            </a:r>
            <a:endParaRPr lang="zh-CN" altLang="zh-CN" dirty="0"/>
          </a:p>
          <a:p>
            <a:pPr marL="0" indent="0">
              <a:lnSpc>
                <a:spcPct val="120000"/>
              </a:lnSpc>
              <a:buNone/>
            </a:pPr>
            <a:r>
              <a:rPr lang="en-US" altLang="zh-CN" dirty="0"/>
              <a:t>df_1 = df.</a:t>
            </a:r>
            <a:r>
              <a:rPr lang="en-US" altLang="zh-CN" b="1" dirty="0"/>
              <a:t>drop_duplicates()   </a:t>
            </a:r>
            <a:r>
              <a:rPr lang="en-US" altLang="zh-CN" dirty="0"/>
              <a:t>#</a:t>
            </a:r>
            <a:r>
              <a:rPr lang="zh-CN" altLang="zh-CN" dirty="0"/>
              <a:t>删除重复数据</a:t>
            </a:r>
            <a:endParaRPr lang="en-US" altLang="zh-CN" dirty="0"/>
          </a:p>
          <a:p>
            <a:pPr marL="0" indent="0">
              <a:lnSpc>
                <a:spcPct val="120000"/>
              </a:lnSpc>
              <a:buNone/>
            </a:pPr>
            <a:r>
              <a:rPr lang="en-US" altLang="zh-CN" dirty="0"/>
              <a:t>df_2 = df.drop_duplicates(['B'])  #</a:t>
            </a:r>
            <a:r>
              <a:rPr lang="zh-CN" altLang="zh-CN" dirty="0"/>
              <a:t>删除</a:t>
            </a:r>
            <a:r>
              <a:rPr lang="en-US" altLang="zh-CN" dirty="0"/>
              <a:t>B</a:t>
            </a:r>
            <a:r>
              <a:rPr lang="zh-CN" altLang="zh-CN" dirty="0"/>
              <a:t>列中重复的数据 </a:t>
            </a:r>
            <a:r>
              <a:rPr lang="en-US" altLang="zh-CN" dirty="0" err="1"/>
              <a:t>df.drop_duplicates</a:t>
            </a:r>
            <a:r>
              <a:rPr lang="en-US" altLang="zh-CN" dirty="0"/>
              <a:t>(keep='last')    #</a:t>
            </a:r>
            <a:r>
              <a:rPr lang="zh-CN" altLang="zh-CN" dirty="0"/>
              <a:t>删除前面的重复数据</a:t>
            </a:r>
          </a:p>
          <a:p>
            <a:pPr marL="0" indent="0">
              <a:buNone/>
            </a:pPr>
            <a:endParaRPr lang="zh-CN" altLang="en-US" sz="2800" dirty="0"/>
          </a:p>
        </p:txBody>
      </p:sp>
    </p:spTree>
    <p:extLst>
      <p:ext uri="{BB962C8B-B14F-4D97-AF65-F5344CB8AC3E}">
        <p14:creationId xmlns:p14="http://schemas.microsoft.com/office/powerpoint/2010/main" val="280497417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5C683-E8BA-413E-A133-BF48EE41AA13}"/>
              </a:ext>
            </a:extLst>
          </p:cNvPr>
          <p:cNvSpPr>
            <a:spLocks noGrp="1"/>
          </p:cNvSpPr>
          <p:nvPr>
            <p:ph type="title"/>
          </p:nvPr>
        </p:nvSpPr>
        <p:spPr/>
        <p:txBody>
          <a:bodyPr/>
          <a:lstStyle/>
          <a:p>
            <a:r>
              <a:rPr lang="zh-CN" altLang="en-US" dirty="0" smtClean="0"/>
              <a:t>合并</a:t>
            </a:r>
            <a:endParaRPr lang="zh-CN" altLang="en-US" dirty="0"/>
          </a:p>
        </p:txBody>
      </p:sp>
      <p:sp>
        <p:nvSpPr>
          <p:cNvPr id="3" name="内容占位符 2">
            <a:extLst>
              <a:ext uri="{FF2B5EF4-FFF2-40B4-BE49-F238E27FC236}">
                <a16:creationId xmlns:a16="http://schemas.microsoft.com/office/drawing/2014/main" id="{3FE82EF4-2C5F-4B09-BEA1-A14C0C9A1539}"/>
              </a:ext>
            </a:extLst>
          </p:cNvPr>
          <p:cNvSpPr>
            <a:spLocks noGrp="1"/>
          </p:cNvSpPr>
          <p:nvPr>
            <p:ph sz="quarter" idx="13"/>
          </p:nvPr>
        </p:nvSpPr>
        <p:spPr>
          <a:xfrm>
            <a:off x="489858" y="1876550"/>
            <a:ext cx="11407070" cy="4756635"/>
          </a:xfrm>
        </p:spPr>
        <p:txBody>
          <a:bodyPr>
            <a:normAutofit lnSpcReduction="10000"/>
          </a:bodyPr>
          <a:lstStyle/>
          <a:p>
            <a:pPr lvl="0"/>
            <a:r>
              <a:rPr lang="en-US" altLang="zh-CN" dirty="0"/>
              <a:t>Pandas</a:t>
            </a:r>
            <a:r>
              <a:rPr lang="zh-CN" altLang="zh-CN" dirty="0"/>
              <a:t>通常采用</a:t>
            </a:r>
            <a:r>
              <a:rPr lang="en-US" altLang="zh-CN" dirty="0"/>
              <a:t>merge</a:t>
            </a:r>
            <a:r>
              <a:rPr lang="zh-CN" altLang="zh-CN" dirty="0"/>
              <a:t>方法和</a:t>
            </a:r>
            <a:r>
              <a:rPr lang="en-US" altLang="zh-CN" dirty="0"/>
              <a:t>concat</a:t>
            </a:r>
            <a:r>
              <a:rPr lang="zh-CN" altLang="zh-CN" dirty="0"/>
              <a:t>方法实现数据的合并</a:t>
            </a:r>
            <a:endParaRPr lang="en-US" altLang="zh-CN" dirty="0"/>
          </a:p>
          <a:p>
            <a:pPr lvl="0"/>
            <a:r>
              <a:rPr lang="en-US" altLang="zh-CN" dirty="0"/>
              <a:t>merge</a:t>
            </a:r>
            <a:r>
              <a:rPr lang="zh-CN" altLang="zh-CN" dirty="0"/>
              <a:t>主要实现横向连接，其主要应用场景：两张表具有相同内容的列（主键），通过该主键的连接，将两张表进行合并，新表的行数没有增加，列数是两张表的列数之和减去连接键的数量，默认取交集</a:t>
            </a:r>
            <a:r>
              <a:rPr lang="zh-CN" altLang="en-US" dirty="0"/>
              <a:t>；</a:t>
            </a:r>
            <a:endParaRPr lang="en-US" altLang="zh-CN" dirty="0"/>
          </a:p>
          <a:p>
            <a:pPr lvl="0"/>
            <a:r>
              <a:rPr lang="en-US" altLang="zh-CN" dirty="0"/>
              <a:t>concat</a:t>
            </a:r>
            <a:r>
              <a:rPr lang="zh-CN" altLang="zh-CN" dirty="0"/>
              <a:t>可横向也可以纵向，可用于两个或多个</a:t>
            </a:r>
            <a:r>
              <a:rPr lang="en-US" altLang="zh-CN" dirty="0"/>
              <a:t>DataFrame</a:t>
            </a:r>
            <a:r>
              <a:rPr lang="zh-CN" altLang="zh-CN" dirty="0"/>
              <a:t>行方向（增加行）或列方向（增加列）进行内联或外联拼接操作，多用于纵向连接，与数据库不同的是</a:t>
            </a:r>
            <a:r>
              <a:rPr lang="en-US" altLang="zh-CN" dirty="0"/>
              <a:t>concat</a:t>
            </a:r>
            <a:r>
              <a:rPr lang="zh-CN" altLang="zh-CN" dirty="0"/>
              <a:t>不会去重，需要使用</a:t>
            </a:r>
            <a:r>
              <a:rPr lang="en-US" altLang="zh-CN" dirty="0"/>
              <a:t>drop_duplicates</a:t>
            </a:r>
            <a:r>
              <a:rPr lang="zh-CN" altLang="zh-CN" dirty="0"/>
              <a:t>方法去除重复数据</a:t>
            </a:r>
            <a:r>
              <a:rPr lang="zh-CN" altLang="en-US" dirty="0"/>
              <a:t>。</a:t>
            </a:r>
          </a:p>
        </p:txBody>
      </p:sp>
    </p:spTree>
    <p:extLst>
      <p:ext uri="{BB962C8B-B14F-4D97-AF65-F5344CB8AC3E}">
        <p14:creationId xmlns:p14="http://schemas.microsoft.com/office/powerpoint/2010/main" val="114173239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0BE26-CEB2-47CB-8A32-83C2824ABF9B}"/>
              </a:ext>
            </a:extLst>
          </p:cNvPr>
          <p:cNvSpPr>
            <a:spLocks noGrp="1"/>
          </p:cNvSpPr>
          <p:nvPr>
            <p:ph type="title"/>
          </p:nvPr>
        </p:nvSpPr>
        <p:spPr/>
        <p:txBody>
          <a:bodyPr/>
          <a:lstStyle/>
          <a:p>
            <a:r>
              <a:rPr lang="en-US" altLang="zh-CN" dirty="0"/>
              <a:t>merge( )</a:t>
            </a:r>
            <a:r>
              <a:rPr lang="zh-CN" altLang="en-US" dirty="0"/>
              <a:t>格式</a:t>
            </a:r>
          </a:p>
        </p:txBody>
      </p:sp>
      <p:sp>
        <p:nvSpPr>
          <p:cNvPr id="3" name="内容占位符 2">
            <a:extLst>
              <a:ext uri="{FF2B5EF4-FFF2-40B4-BE49-F238E27FC236}">
                <a16:creationId xmlns:a16="http://schemas.microsoft.com/office/drawing/2014/main" id="{D6F189A3-F4CE-41B3-A744-A34658596D9B}"/>
              </a:ext>
            </a:extLst>
          </p:cNvPr>
          <p:cNvSpPr>
            <a:spLocks noGrp="1"/>
          </p:cNvSpPr>
          <p:nvPr>
            <p:ph sz="quarter" idx="13"/>
          </p:nvPr>
        </p:nvSpPr>
        <p:spPr>
          <a:xfrm>
            <a:off x="136187" y="1943099"/>
            <a:ext cx="11984477" cy="4756635"/>
          </a:xfrm>
        </p:spPr>
        <p:txBody>
          <a:bodyPr>
            <a:normAutofit fontScale="47500" lnSpcReduction="20000"/>
          </a:bodyPr>
          <a:lstStyle/>
          <a:p>
            <a:r>
              <a:rPr lang="en-US" altLang="zh-CN" dirty="0"/>
              <a:t>pd.merge(</a:t>
            </a:r>
            <a:r>
              <a:rPr lang="en-US" altLang="zh-CN" b="1" dirty="0"/>
              <a:t>left, </a:t>
            </a:r>
            <a:r>
              <a:rPr lang="en-US" altLang="zh-CN" b="1" dirty="0" err="1"/>
              <a:t>right,how</a:t>
            </a:r>
            <a:r>
              <a:rPr lang="en-US" altLang="zh-CN" b="1" dirty="0"/>
              <a:t>=’inner’,</a:t>
            </a:r>
            <a:r>
              <a:rPr lang="en-US" altLang="zh-CN" dirty="0"/>
              <a:t>on=None,left_on=None,right_on=</a:t>
            </a:r>
            <a:r>
              <a:rPr lang="en-US" altLang="zh-CN" dirty="0" err="1"/>
              <a:t>None,left_index</a:t>
            </a:r>
            <a:r>
              <a:rPr lang="en-US" altLang="zh-CN" dirty="0"/>
              <a:t>=False,right_index=False,sort=True,</a:t>
            </a:r>
          </a:p>
          <a:p>
            <a:pPr marL="0" indent="0">
              <a:buNone/>
            </a:pPr>
            <a:r>
              <a:rPr lang="en-US" altLang="zh-CN" dirty="0"/>
              <a:t>                    suffixes=(‘_</a:t>
            </a:r>
            <a:r>
              <a:rPr lang="en-US" altLang="zh-CN" dirty="0" err="1"/>
              <a:t>x’,’_y</a:t>
            </a:r>
            <a:r>
              <a:rPr lang="en-US" altLang="zh-CN" dirty="0"/>
              <a:t>’),copy=True,indicator=False,validate=None)</a:t>
            </a:r>
            <a:endParaRPr lang="zh-CN" altLang="zh-CN" dirty="0"/>
          </a:p>
          <a:p>
            <a:pPr marL="0" indent="0">
              <a:buNone/>
            </a:pPr>
            <a:r>
              <a:rPr lang="zh-CN" altLang="zh-CN" dirty="0"/>
              <a:t>其中：</a:t>
            </a:r>
          </a:p>
          <a:p>
            <a:r>
              <a:rPr lang="en-US" altLang="zh-CN" b="1" dirty="0"/>
              <a:t>left</a:t>
            </a:r>
            <a:r>
              <a:rPr lang="zh-CN" altLang="zh-CN" b="1" dirty="0"/>
              <a:t>：参与合并的左侧</a:t>
            </a:r>
            <a:r>
              <a:rPr lang="en-US" altLang="zh-CN" b="1" dirty="0"/>
              <a:t>DataFrame</a:t>
            </a:r>
            <a:r>
              <a:rPr lang="zh-CN" altLang="zh-CN" b="1" dirty="0"/>
              <a:t>；</a:t>
            </a:r>
          </a:p>
          <a:p>
            <a:r>
              <a:rPr lang="en-US" altLang="zh-CN" b="1" dirty="0"/>
              <a:t>right</a:t>
            </a:r>
            <a:r>
              <a:rPr lang="zh-CN" altLang="zh-CN" b="1" dirty="0"/>
              <a:t>：参与合并的右侧</a:t>
            </a:r>
            <a:r>
              <a:rPr lang="en-US" altLang="zh-CN" b="1" dirty="0"/>
              <a:t>DataFrame</a:t>
            </a:r>
            <a:r>
              <a:rPr lang="zh-CN" altLang="zh-CN" b="1" dirty="0"/>
              <a:t>；</a:t>
            </a:r>
          </a:p>
          <a:p>
            <a:r>
              <a:rPr lang="en-US" altLang="zh-CN" b="1" dirty="0"/>
              <a:t>how</a:t>
            </a:r>
            <a:r>
              <a:rPr lang="zh-CN" altLang="zh-CN" b="1" dirty="0"/>
              <a:t>：连接的方法：</a:t>
            </a:r>
            <a:r>
              <a:rPr lang="en-US" altLang="zh-CN" b="1" dirty="0"/>
              <a:t>’inner’(</a:t>
            </a:r>
            <a:r>
              <a:rPr lang="zh-CN" altLang="zh-CN" b="1" dirty="0"/>
              <a:t>默认</a:t>
            </a:r>
            <a:r>
              <a:rPr lang="en-US" altLang="zh-CN" b="1" dirty="0"/>
              <a:t>)</a:t>
            </a:r>
            <a:r>
              <a:rPr lang="zh-CN" altLang="zh-CN" b="1" dirty="0"/>
              <a:t>、</a:t>
            </a:r>
            <a:r>
              <a:rPr lang="en-US" altLang="zh-CN" b="1" dirty="0"/>
              <a:t>’outer’</a:t>
            </a:r>
            <a:r>
              <a:rPr lang="zh-CN" altLang="zh-CN" b="1" dirty="0"/>
              <a:t>、</a:t>
            </a:r>
            <a:r>
              <a:rPr lang="en-US" altLang="zh-CN" b="1" dirty="0"/>
              <a:t>’left’</a:t>
            </a:r>
            <a:r>
              <a:rPr lang="zh-CN" altLang="zh-CN" b="1" dirty="0"/>
              <a:t>、</a:t>
            </a:r>
            <a:r>
              <a:rPr lang="en-US" altLang="zh-CN" b="1" dirty="0"/>
              <a:t>’right’</a:t>
            </a:r>
            <a:r>
              <a:rPr lang="zh-CN" altLang="zh-CN" b="1" dirty="0"/>
              <a:t>，参数指的是左右两个表主键那一列中存在不重合的行时，取结果的方式：</a:t>
            </a:r>
            <a:r>
              <a:rPr lang="en-US" altLang="zh-CN" b="1" dirty="0"/>
              <a:t>inner</a:t>
            </a:r>
            <a:r>
              <a:rPr lang="zh-CN" altLang="zh-CN" b="1" dirty="0"/>
              <a:t>是取交集， </a:t>
            </a:r>
            <a:r>
              <a:rPr lang="en-US" altLang="zh-CN" b="1" dirty="0"/>
              <a:t>outer</a:t>
            </a:r>
            <a:r>
              <a:rPr lang="zh-CN" altLang="zh-CN" b="1" dirty="0"/>
              <a:t>是取并集， </a:t>
            </a:r>
            <a:r>
              <a:rPr lang="en-US" altLang="zh-CN" b="1" dirty="0"/>
              <a:t>left</a:t>
            </a:r>
            <a:r>
              <a:rPr lang="zh-CN" altLang="zh-CN" b="1" dirty="0"/>
              <a:t>和</a:t>
            </a:r>
            <a:r>
              <a:rPr lang="en-US" altLang="zh-CN" b="1" dirty="0"/>
              <a:t>right</a:t>
            </a:r>
            <a:r>
              <a:rPr lang="zh-CN" altLang="zh-CN" b="1" dirty="0"/>
              <a:t>表示取一边。</a:t>
            </a:r>
          </a:p>
          <a:p>
            <a:r>
              <a:rPr lang="en-US" altLang="zh-CN" dirty="0"/>
              <a:t>on</a:t>
            </a:r>
            <a:r>
              <a:rPr lang="zh-CN" altLang="zh-CN" dirty="0"/>
              <a:t>：指定连接的列名。必须同时存在于左侧和右侧</a:t>
            </a:r>
            <a:r>
              <a:rPr lang="en-US" altLang="zh-CN" dirty="0"/>
              <a:t>DataFrame</a:t>
            </a:r>
            <a:r>
              <a:rPr lang="zh-CN" altLang="zh-CN" dirty="0"/>
              <a:t>对象中。可通过</a:t>
            </a:r>
            <a:r>
              <a:rPr lang="en-US" altLang="zh-CN" dirty="0"/>
              <a:t>left_on</a:t>
            </a:r>
            <a:r>
              <a:rPr lang="zh-CN" altLang="zh-CN" dirty="0"/>
              <a:t>和</a:t>
            </a:r>
            <a:r>
              <a:rPr lang="en-US" altLang="zh-CN" dirty="0"/>
              <a:t>right_on</a:t>
            </a:r>
            <a:r>
              <a:rPr lang="zh-CN" altLang="zh-CN" dirty="0"/>
              <a:t>来具体指定，如果未指定则自动找相同名字的列；</a:t>
            </a:r>
          </a:p>
          <a:p>
            <a:r>
              <a:rPr lang="en-US" altLang="zh-CN" dirty="0"/>
              <a:t>left_on</a:t>
            </a:r>
            <a:r>
              <a:rPr lang="zh-CN" altLang="zh-CN" dirty="0"/>
              <a:t>：左侧</a:t>
            </a:r>
            <a:r>
              <a:rPr lang="en-US" altLang="zh-CN" dirty="0"/>
              <a:t>DataFrame</a:t>
            </a:r>
            <a:r>
              <a:rPr lang="zh-CN" altLang="zh-CN" dirty="0"/>
              <a:t>中用作连接键的列；</a:t>
            </a:r>
          </a:p>
          <a:p>
            <a:r>
              <a:rPr lang="en-US" altLang="zh-CN" dirty="0"/>
              <a:t>right_on</a:t>
            </a:r>
            <a:r>
              <a:rPr lang="zh-CN" altLang="zh-CN" dirty="0"/>
              <a:t>：右侧</a:t>
            </a:r>
            <a:r>
              <a:rPr lang="en-US" altLang="zh-CN" dirty="0"/>
              <a:t>DataFrame</a:t>
            </a:r>
            <a:r>
              <a:rPr lang="zh-CN" altLang="zh-CN" dirty="0"/>
              <a:t>中用作连接键的列；</a:t>
            </a:r>
          </a:p>
          <a:p>
            <a:r>
              <a:rPr lang="en-US" altLang="zh-CN" dirty="0"/>
              <a:t>left_index</a:t>
            </a:r>
            <a:r>
              <a:rPr lang="zh-CN" altLang="zh-CN" dirty="0"/>
              <a:t>：将左侧的行索引用作其连接键；</a:t>
            </a:r>
          </a:p>
          <a:p>
            <a:r>
              <a:rPr lang="en-US" altLang="zh-CN" dirty="0"/>
              <a:t>right_index</a:t>
            </a:r>
            <a:r>
              <a:rPr lang="zh-CN" altLang="zh-CN" dirty="0"/>
              <a:t>：将右侧的行索引用作其连接键；</a:t>
            </a:r>
          </a:p>
          <a:p>
            <a:r>
              <a:rPr lang="en-US" altLang="zh-CN" dirty="0"/>
              <a:t>sort</a:t>
            </a:r>
            <a:r>
              <a:rPr lang="zh-CN" altLang="zh-CN" dirty="0"/>
              <a:t>：按连接键对合并后的数据进行排序，默认为</a:t>
            </a:r>
            <a:r>
              <a:rPr lang="en-US" altLang="zh-CN" dirty="0"/>
              <a:t>True</a:t>
            </a:r>
            <a:r>
              <a:rPr lang="zh-CN" altLang="zh-CN" dirty="0"/>
              <a:t>。在处理大数据集时，禁用该选项会获得更好的性能；</a:t>
            </a:r>
          </a:p>
          <a:p>
            <a:r>
              <a:rPr lang="en-US" altLang="zh-CN" dirty="0"/>
              <a:t>suffixes</a:t>
            </a:r>
            <a:r>
              <a:rPr lang="zh-CN" altLang="zh-CN" dirty="0"/>
              <a:t>：用于重叠列的字符串后缀元组，默认为（</a:t>
            </a:r>
            <a:r>
              <a:rPr lang="en-US" altLang="zh-CN" dirty="0"/>
              <a:t>’_x’,’_y’</a:t>
            </a:r>
            <a:r>
              <a:rPr lang="zh-CN" altLang="zh-CN" dirty="0"/>
              <a:t>）。用来区分重复的列。</a:t>
            </a:r>
          </a:p>
          <a:p>
            <a:r>
              <a:rPr lang="en-US" altLang="zh-CN" dirty="0"/>
              <a:t>copy</a:t>
            </a:r>
            <a:r>
              <a:rPr lang="zh-CN" altLang="zh-CN" dirty="0"/>
              <a:t>：始终从传递的</a:t>
            </a:r>
            <a:r>
              <a:rPr lang="en-US" altLang="zh-CN" dirty="0"/>
              <a:t>DataFrame</a:t>
            </a:r>
            <a:r>
              <a:rPr lang="zh-CN" altLang="zh-CN" dirty="0"/>
              <a:t>对象复制数据到结果数据结构中（默认为</a:t>
            </a:r>
            <a:r>
              <a:rPr lang="en-US" altLang="zh-CN" dirty="0"/>
              <a:t>True</a:t>
            </a:r>
            <a:r>
              <a:rPr lang="zh-CN" altLang="zh-CN" dirty="0"/>
              <a:t>）。</a:t>
            </a:r>
            <a:endParaRPr lang="zh-CN" altLang="en-US" dirty="0"/>
          </a:p>
        </p:txBody>
      </p:sp>
    </p:spTree>
    <p:extLst>
      <p:ext uri="{BB962C8B-B14F-4D97-AF65-F5344CB8AC3E}">
        <p14:creationId xmlns:p14="http://schemas.microsoft.com/office/powerpoint/2010/main" val="409073811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D8AAC-9A05-487F-9010-B780D1E445B7}"/>
              </a:ext>
            </a:extLst>
          </p:cNvPr>
          <p:cNvSpPr>
            <a:spLocks noGrp="1"/>
          </p:cNvSpPr>
          <p:nvPr>
            <p:ph type="title"/>
          </p:nvPr>
        </p:nvSpPr>
        <p:spPr/>
        <p:txBody>
          <a:bodyPr/>
          <a:lstStyle/>
          <a:p>
            <a:r>
              <a:rPr lang="en-US" altLang="zh-CN" dirty="0"/>
              <a:t>merge( )</a:t>
            </a:r>
            <a:r>
              <a:rPr lang="zh-CN" altLang="en-US" dirty="0"/>
              <a:t>示例</a:t>
            </a:r>
          </a:p>
        </p:txBody>
      </p:sp>
      <p:sp>
        <p:nvSpPr>
          <p:cNvPr id="3" name="内容占位符 2">
            <a:extLst>
              <a:ext uri="{FF2B5EF4-FFF2-40B4-BE49-F238E27FC236}">
                <a16:creationId xmlns:a16="http://schemas.microsoft.com/office/drawing/2014/main" id="{646A2B8E-2D46-46F1-95A4-F3339F94C68F}"/>
              </a:ext>
            </a:extLst>
          </p:cNvPr>
          <p:cNvSpPr>
            <a:spLocks noGrp="1"/>
          </p:cNvSpPr>
          <p:nvPr>
            <p:ph sz="quarter" idx="13"/>
          </p:nvPr>
        </p:nvSpPr>
        <p:spPr>
          <a:xfrm>
            <a:off x="233464" y="1943099"/>
            <a:ext cx="11838562" cy="4756635"/>
          </a:xfrm>
        </p:spPr>
        <p:txBody>
          <a:bodyPr>
            <a:normAutofit/>
          </a:bodyPr>
          <a:lstStyle/>
          <a:p>
            <a:pPr marL="0" indent="0">
              <a:buNone/>
            </a:pPr>
            <a:r>
              <a:rPr lang="en-US" altLang="zh-CN" dirty="0"/>
              <a:t>import pandas as pd</a:t>
            </a:r>
            <a:endParaRPr lang="zh-CN" altLang="zh-CN" dirty="0"/>
          </a:p>
          <a:p>
            <a:pPr marL="0" indent="0">
              <a:buNone/>
            </a:pPr>
            <a:r>
              <a:rPr lang="en-US" altLang="zh-CN" dirty="0"/>
              <a:t>left1 = pd.DataFrame({'key1': ['K0', 'K0', 'K1', 'K2'],'key2': ['K0', 'K1', 'K0', 'K1'], 'A': ['A0', 'A1', 'A2', 'A3'],'B': ['B0', 'B1', 'B2', 'B3']})</a:t>
            </a:r>
            <a:endParaRPr lang="zh-CN" altLang="zh-CN" dirty="0"/>
          </a:p>
          <a:p>
            <a:pPr marL="0" indent="0">
              <a:buNone/>
            </a:pPr>
            <a:r>
              <a:rPr lang="en-US" altLang="zh-CN" dirty="0"/>
              <a:t>right2 = pd.DataFrame({'key1': ['K0', 'K1', 'K1', 'K2'],'key2': ['K0', 'K0', 'K0', 'K0'], 'C':['A0','B1','C1','D0']})</a:t>
            </a:r>
            <a:endParaRPr lang="zh-CN" altLang="zh-CN" dirty="0"/>
          </a:p>
          <a:p>
            <a:pPr marL="0" indent="0">
              <a:buNone/>
            </a:pPr>
            <a:r>
              <a:rPr lang="en-US" altLang="zh-CN" dirty="0"/>
              <a:t>new = pd.merge(left1,right2)            #</a:t>
            </a:r>
            <a:r>
              <a:rPr lang="zh-CN" altLang="zh-CN" dirty="0"/>
              <a:t>取 </a:t>
            </a:r>
            <a:r>
              <a:rPr lang="en-US" altLang="zh-CN" dirty="0"/>
              <a:t>left1</a:t>
            </a:r>
            <a:r>
              <a:rPr lang="zh-CN" altLang="zh-CN" dirty="0"/>
              <a:t>和</a:t>
            </a:r>
            <a:r>
              <a:rPr lang="en-US" altLang="zh-CN" dirty="0"/>
              <a:t>right2</a:t>
            </a:r>
            <a:r>
              <a:rPr lang="zh-CN" altLang="zh-CN" dirty="0"/>
              <a:t>的交集</a:t>
            </a:r>
            <a:r>
              <a:rPr lang="en-US" altLang="zh-CN" dirty="0"/>
              <a:t> </a:t>
            </a:r>
          </a:p>
          <a:p>
            <a:pPr marL="0" indent="0">
              <a:buNone/>
            </a:pPr>
            <a:r>
              <a:rPr lang="en-US" altLang="zh-CN" dirty="0" err="1"/>
              <a:t>newL</a:t>
            </a:r>
            <a:r>
              <a:rPr lang="en-US" altLang="zh-CN" dirty="0"/>
              <a:t> = pd.merge(left1,right2,how='outer')  #</a:t>
            </a:r>
            <a:r>
              <a:rPr lang="zh-CN" altLang="zh-CN" dirty="0"/>
              <a:t>取两者的并集</a:t>
            </a:r>
            <a:endParaRPr lang="zh-CN" altLang="en-US" dirty="0"/>
          </a:p>
        </p:txBody>
      </p:sp>
    </p:spTree>
    <p:extLst>
      <p:ext uri="{BB962C8B-B14F-4D97-AF65-F5344CB8AC3E}">
        <p14:creationId xmlns:p14="http://schemas.microsoft.com/office/powerpoint/2010/main" val="283526935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F2F00-F12B-420A-AF2F-AC79E05E8357}"/>
              </a:ext>
            </a:extLst>
          </p:cNvPr>
          <p:cNvSpPr>
            <a:spLocks noGrp="1"/>
          </p:cNvSpPr>
          <p:nvPr>
            <p:ph type="title"/>
          </p:nvPr>
        </p:nvSpPr>
        <p:spPr/>
        <p:txBody>
          <a:bodyPr/>
          <a:lstStyle/>
          <a:p>
            <a:r>
              <a:rPr lang="en-US" altLang="zh-CN" dirty="0" err="1"/>
              <a:t>concat</a:t>
            </a:r>
            <a:r>
              <a:rPr lang="en-US" altLang="zh-CN" dirty="0"/>
              <a:t>( )</a:t>
            </a:r>
            <a:r>
              <a:rPr lang="zh-CN" altLang="en-US" dirty="0"/>
              <a:t>格式</a:t>
            </a:r>
          </a:p>
        </p:txBody>
      </p:sp>
      <p:sp>
        <p:nvSpPr>
          <p:cNvPr id="3" name="内容占位符 2">
            <a:extLst>
              <a:ext uri="{FF2B5EF4-FFF2-40B4-BE49-F238E27FC236}">
                <a16:creationId xmlns:a16="http://schemas.microsoft.com/office/drawing/2014/main" id="{E5C28D0D-BC3E-4E60-9C54-0263987481DE}"/>
              </a:ext>
            </a:extLst>
          </p:cNvPr>
          <p:cNvSpPr>
            <a:spLocks noGrp="1"/>
          </p:cNvSpPr>
          <p:nvPr>
            <p:ph sz="quarter" idx="13"/>
          </p:nvPr>
        </p:nvSpPr>
        <p:spPr>
          <a:xfrm>
            <a:off x="272373" y="1943099"/>
            <a:ext cx="11751013" cy="4756635"/>
          </a:xfrm>
        </p:spPr>
        <p:txBody>
          <a:bodyPr>
            <a:normAutofit fontScale="92500" lnSpcReduction="10000"/>
          </a:bodyPr>
          <a:lstStyle/>
          <a:p>
            <a:pPr marL="0" indent="0">
              <a:buNone/>
            </a:pPr>
            <a:r>
              <a:rPr lang="en-US" altLang="zh-CN" dirty="0"/>
              <a:t>pd.concat(</a:t>
            </a:r>
            <a:r>
              <a:rPr lang="en-US" altLang="zh-CN" b="1" u="sng" dirty="0"/>
              <a:t>objs</a:t>
            </a:r>
            <a:r>
              <a:rPr lang="en-US" altLang="zh-CN" b="1" dirty="0"/>
              <a:t>, axis=0, join=’outer’, </a:t>
            </a:r>
            <a:r>
              <a:rPr lang="en-US" altLang="zh-CN" dirty="0"/>
              <a:t>join_axes=None,     		 	</a:t>
            </a:r>
            <a:r>
              <a:rPr lang="en-US" altLang="zh-CN" dirty="0" err="1"/>
              <a:t>ignore_index</a:t>
            </a:r>
            <a:r>
              <a:rPr lang="en-US" altLang="zh-CN" dirty="0"/>
              <a:t>=False,keys=None, levels=None, names=None, 	</a:t>
            </a:r>
            <a:r>
              <a:rPr lang="en-US" altLang="zh-CN" dirty="0" err="1"/>
              <a:t>verify_integrity</a:t>
            </a:r>
            <a:r>
              <a:rPr lang="en-US" altLang="zh-CN" dirty="0"/>
              <a:t>=False, sort=None, copy=True)</a:t>
            </a:r>
            <a:endParaRPr lang="zh-CN" altLang="zh-CN" dirty="0"/>
          </a:p>
          <a:p>
            <a:pPr marL="0" indent="0">
              <a:buNone/>
            </a:pPr>
            <a:r>
              <a:rPr lang="zh-CN" altLang="zh-CN" dirty="0"/>
              <a:t>其中：</a:t>
            </a:r>
          </a:p>
          <a:p>
            <a:pPr marL="0" indent="0">
              <a:buNone/>
            </a:pPr>
            <a:r>
              <a:rPr lang="en-US" altLang="zh-CN" dirty="0"/>
              <a:t>	</a:t>
            </a:r>
            <a:r>
              <a:rPr lang="en-US" altLang="zh-CN" b="1" dirty="0"/>
              <a:t>objs</a:t>
            </a:r>
            <a:r>
              <a:rPr lang="zh-CN" altLang="zh-CN" b="1" dirty="0"/>
              <a:t>：待合并的对象集合，可以是</a:t>
            </a:r>
            <a:r>
              <a:rPr lang="en-US" altLang="zh-CN" b="1" dirty="0"/>
              <a:t>series</a:t>
            </a:r>
            <a:r>
              <a:rPr lang="zh-CN" altLang="zh-CN" b="1" dirty="0"/>
              <a:t>或</a:t>
            </a:r>
            <a:r>
              <a:rPr lang="en-US" altLang="zh-CN" b="1" dirty="0"/>
              <a:t>DataFrame</a:t>
            </a:r>
            <a:endParaRPr lang="zh-CN" altLang="zh-CN" b="1" dirty="0"/>
          </a:p>
          <a:p>
            <a:pPr marL="0" indent="0">
              <a:buNone/>
            </a:pPr>
            <a:r>
              <a:rPr lang="en-US" altLang="zh-CN" b="1" dirty="0"/>
              <a:t>	axis</a:t>
            </a:r>
            <a:r>
              <a:rPr lang="zh-CN" altLang="zh-CN" b="1" dirty="0"/>
              <a:t>：合并方向，默认为</a:t>
            </a:r>
            <a:r>
              <a:rPr lang="en-US" altLang="zh-CN" b="1" dirty="0"/>
              <a:t>0</a:t>
            </a:r>
            <a:r>
              <a:rPr lang="zh-CN" altLang="zh-CN" b="1" dirty="0"/>
              <a:t>，表示纵向，</a:t>
            </a:r>
            <a:r>
              <a:rPr lang="en-US" altLang="zh-CN" b="1" dirty="0"/>
              <a:t>1</a:t>
            </a:r>
            <a:r>
              <a:rPr lang="zh-CN" altLang="zh-CN" b="1" dirty="0"/>
              <a:t>表示横向</a:t>
            </a:r>
          </a:p>
          <a:p>
            <a:pPr marL="0" indent="0">
              <a:buNone/>
            </a:pPr>
            <a:r>
              <a:rPr lang="en-US" altLang="zh-CN" b="1" dirty="0"/>
              <a:t>	join</a:t>
            </a:r>
            <a:r>
              <a:rPr lang="zh-CN" altLang="zh-CN" b="1" dirty="0"/>
              <a:t>：合并方式，默认为</a:t>
            </a:r>
            <a:r>
              <a:rPr lang="en-US" altLang="zh-CN" b="1" dirty="0"/>
              <a:t>outer</a:t>
            </a:r>
            <a:r>
              <a:rPr lang="zh-CN" altLang="zh-CN" b="1" dirty="0"/>
              <a:t>，并集，</a:t>
            </a:r>
            <a:r>
              <a:rPr lang="en-US" altLang="zh-CN" b="1" dirty="0"/>
              <a:t>inner</a:t>
            </a:r>
            <a:r>
              <a:rPr lang="zh-CN" altLang="zh-CN" b="1" dirty="0"/>
              <a:t>为交集</a:t>
            </a:r>
          </a:p>
          <a:p>
            <a:pPr marL="0" indent="0">
              <a:buNone/>
            </a:pPr>
            <a:r>
              <a:rPr lang="en-US" altLang="zh-CN" dirty="0"/>
              <a:t>	join_axes</a:t>
            </a:r>
            <a:r>
              <a:rPr lang="zh-CN" altLang="zh-CN" dirty="0"/>
              <a:t>：按哪些对象的索引保存</a:t>
            </a:r>
          </a:p>
          <a:p>
            <a:pPr marL="0" indent="0">
              <a:buNone/>
            </a:pPr>
            <a:r>
              <a:rPr lang="en-US" altLang="zh-CN" dirty="0"/>
              <a:t>	keys</a:t>
            </a:r>
            <a:r>
              <a:rPr lang="zh-CN" altLang="zh-CN" dirty="0"/>
              <a:t>：为原始</a:t>
            </a:r>
            <a:r>
              <a:rPr lang="en-US" altLang="zh-CN" dirty="0"/>
              <a:t>DataFrame</a:t>
            </a:r>
            <a:r>
              <a:rPr lang="zh-CN" altLang="zh-CN" dirty="0"/>
              <a:t>添加一个键</a:t>
            </a:r>
          </a:p>
          <a:p>
            <a:pPr marL="0" indent="0">
              <a:buNone/>
            </a:pPr>
            <a:endParaRPr lang="zh-CN" altLang="en-US" dirty="0"/>
          </a:p>
        </p:txBody>
      </p:sp>
    </p:spTree>
    <p:extLst>
      <p:ext uri="{BB962C8B-B14F-4D97-AF65-F5344CB8AC3E}">
        <p14:creationId xmlns:p14="http://schemas.microsoft.com/office/powerpoint/2010/main" val="89539050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9E4149-9876-4A97-97FE-1541835E9CB5}"/>
              </a:ext>
            </a:extLst>
          </p:cNvPr>
          <p:cNvSpPr>
            <a:spLocks noGrp="1"/>
          </p:cNvSpPr>
          <p:nvPr>
            <p:ph type="title"/>
          </p:nvPr>
        </p:nvSpPr>
        <p:spPr/>
        <p:txBody>
          <a:bodyPr/>
          <a:lstStyle/>
          <a:p>
            <a:r>
              <a:rPr lang="en-US" altLang="zh-CN" dirty="0" err="1"/>
              <a:t>concat</a:t>
            </a:r>
            <a:r>
              <a:rPr lang="en-US" altLang="zh-CN" dirty="0"/>
              <a:t>( )</a:t>
            </a:r>
            <a:r>
              <a:rPr lang="zh-CN" altLang="en-US" dirty="0"/>
              <a:t>示例</a:t>
            </a:r>
          </a:p>
        </p:txBody>
      </p:sp>
      <p:sp>
        <p:nvSpPr>
          <p:cNvPr id="3" name="内容占位符 2">
            <a:extLst>
              <a:ext uri="{FF2B5EF4-FFF2-40B4-BE49-F238E27FC236}">
                <a16:creationId xmlns:a16="http://schemas.microsoft.com/office/drawing/2014/main" id="{F4C14334-CB3E-40F8-B53D-8BE1FAF2F9A0}"/>
              </a:ext>
            </a:extLst>
          </p:cNvPr>
          <p:cNvSpPr>
            <a:spLocks noGrp="1"/>
          </p:cNvSpPr>
          <p:nvPr>
            <p:ph sz="quarter" idx="13"/>
          </p:nvPr>
        </p:nvSpPr>
        <p:spPr>
          <a:xfrm>
            <a:off x="175097" y="1943099"/>
            <a:ext cx="11858017" cy="4756635"/>
          </a:xfrm>
        </p:spPr>
        <p:txBody>
          <a:bodyPr>
            <a:normAutofit/>
          </a:bodyPr>
          <a:lstStyle/>
          <a:p>
            <a:pPr marL="0" indent="0">
              <a:buNone/>
            </a:pPr>
            <a:r>
              <a:rPr lang="en-US" altLang="zh-CN" dirty="0"/>
              <a:t>import pandas as pd </a:t>
            </a:r>
            <a:endParaRPr lang="zh-CN" altLang="zh-CN" dirty="0"/>
          </a:p>
          <a:p>
            <a:pPr marL="0" indent="0">
              <a:buNone/>
            </a:pPr>
            <a:r>
              <a:rPr lang="en-US" altLang="zh-CN" dirty="0"/>
              <a:t>left1 = pd.DataFrame({'key1': ['K0', 'K0', 'K1', 'K2'],'key2': ['K0', 'K1', 'K0', 'K1'], 'A': ['A0', 'A1', 'A2', 'A3'],'B': ['B0', 'B1', 'B2', 'B3']})</a:t>
            </a:r>
            <a:endParaRPr lang="zh-CN" altLang="zh-CN" dirty="0"/>
          </a:p>
          <a:p>
            <a:pPr marL="0" indent="0">
              <a:buNone/>
            </a:pPr>
            <a:r>
              <a:rPr lang="en-US" altLang="zh-CN" dirty="0"/>
              <a:t>right2 = pd.DataFrame({'key1': ['K0', 'K1', 'K1', 'K2'],'key2': ['K0', 'K0', 'K0', 'K0'], 'C':['A0','B1','C1','D0']})</a:t>
            </a:r>
            <a:endParaRPr lang="zh-CN" altLang="zh-CN" dirty="0"/>
          </a:p>
          <a:p>
            <a:pPr marL="0" indent="0">
              <a:buNone/>
            </a:pPr>
            <a:r>
              <a:rPr lang="en-US" altLang="zh-CN" dirty="0"/>
              <a:t>new = pd.concat(</a:t>
            </a:r>
            <a:r>
              <a:rPr lang="en-US" altLang="zh-CN" b="1" dirty="0"/>
              <a:t>[left1,right2]</a:t>
            </a:r>
            <a:r>
              <a:rPr lang="en-US" altLang="zh-CN" dirty="0"/>
              <a:t>)         #</a:t>
            </a:r>
            <a:r>
              <a:rPr lang="zh-CN" altLang="zh-CN" dirty="0"/>
              <a:t>纵向合并，增加行</a:t>
            </a:r>
            <a:r>
              <a:rPr lang="en-US" altLang="zh-CN" dirty="0" err="1"/>
              <a:t>newL</a:t>
            </a:r>
            <a:r>
              <a:rPr lang="en-US" altLang="zh-CN" dirty="0"/>
              <a:t> = pd.concat(</a:t>
            </a:r>
            <a:r>
              <a:rPr lang="en-US" altLang="zh-CN" b="1" dirty="0"/>
              <a:t>[left1,right2]</a:t>
            </a:r>
            <a:r>
              <a:rPr lang="en-US" altLang="zh-CN" dirty="0"/>
              <a:t>,axis=1)  #</a:t>
            </a:r>
            <a:r>
              <a:rPr lang="zh-CN" altLang="zh-CN" dirty="0"/>
              <a:t>横向合并，增加列</a:t>
            </a:r>
            <a:endParaRPr lang="zh-CN" altLang="en-US" dirty="0"/>
          </a:p>
        </p:txBody>
      </p:sp>
    </p:spTree>
    <p:extLst>
      <p:ext uri="{BB962C8B-B14F-4D97-AF65-F5344CB8AC3E}">
        <p14:creationId xmlns:p14="http://schemas.microsoft.com/office/powerpoint/2010/main" val="181880360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E3680-CDCE-43F6-B2F5-0FB46F60EACE}"/>
              </a:ext>
            </a:extLst>
          </p:cNvPr>
          <p:cNvSpPr>
            <a:spLocks noGrp="1"/>
          </p:cNvSpPr>
          <p:nvPr>
            <p:ph type="title"/>
          </p:nvPr>
        </p:nvSpPr>
        <p:spPr/>
        <p:txBody>
          <a:bodyPr/>
          <a:lstStyle/>
          <a:p>
            <a:r>
              <a:rPr lang="zh-CN" altLang="en-US" dirty="0" smtClean="0"/>
              <a:t>数据清洗工具 </a:t>
            </a:r>
            <a:r>
              <a:rPr lang="en-US" altLang="zh-CN" dirty="0" err="1" smtClean="0"/>
              <a:t>OpenRefine</a:t>
            </a:r>
            <a:endParaRPr lang="zh-CN" altLang="en-US" dirty="0"/>
          </a:p>
        </p:txBody>
      </p:sp>
      <p:sp>
        <p:nvSpPr>
          <p:cNvPr id="3" name="内容占位符 2">
            <a:extLst>
              <a:ext uri="{FF2B5EF4-FFF2-40B4-BE49-F238E27FC236}">
                <a16:creationId xmlns:a16="http://schemas.microsoft.com/office/drawing/2014/main" id="{1B883D34-D845-49AA-B3DB-DFDA430EC40E}"/>
              </a:ext>
            </a:extLst>
          </p:cNvPr>
          <p:cNvSpPr>
            <a:spLocks noGrp="1"/>
          </p:cNvSpPr>
          <p:nvPr>
            <p:ph sz="quarter" idx="13"/>
          </p:nvPr>
        </p:nvSpPr>
        <p:spPr/>
        <p:txBody>
          <a:bodyPr/>
          <a:lstStyle/>
          <a:p>
            <a:endParaRPr lang="zh-CN" altLang="en-US"/>
          </a:p>
        </p:txBody>
      </p:sp>
      <p:pic>
        <p:nvPicPr>
          <p:cNvPr id="4" name="图片 3">
            <a:extLst>
              <a:ext uri="{FF2B5EF4-FFF2-40B4-BE49-F238E27FC236}">
                <a16:creationId xmlns:a16="http://schemas.microsoft.com/office/drawing/2014/main" id="{E29FDABD-2C64-49C3-986F-E58E2C7772D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814190"/>
            <a:ext cx="10699696" cy="4951584"/>
          </a:xfrm>
          <a:prstGeom prst="rect">
            <a:avLst/>
          </a:prstGeom>
          <a:noFill/>
          <a:ln>
            <a:noFill/>
          </a:ln>
        </p:spPr>
      </p:pic>
    </p:spTree>
    <p:extLst>
      <p:ext uri="{BB962C8B-B14F-4D97-AF65-F5344CB8AC3E}">
        <p14:creationId xmlns:p14="http://schemas.microsoft.com/office/powerpoint/2010/main" val="38692278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数据变换</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1)  </a:t>
            </a:r>
            <a:r>
              <a:rPr lang="zh-CN" altLang="en-US" b="1" dirty="0" smtClean="0"/>
              <a:t>简单函数变换</a:t>
            </a:r>
            <a:endParaRPr lang="en-US" altLang="zh-CN" b="1" dirty="0" smtClean="0"/>
          </a:p>
          <a:p>
            <a:pPr marL="0" indent="0">
              <a:buNone/>
            </a:pPr>
            <a:r>
              <a:rPr lang="en-US" altLang="zh-CN" dirty="0" smtClean="0"/>
              <a:t>      </a:t>
            </a:r>
            <a:r>
              <a:rPr lang="zh-CN" altLang="en-US" dirty="0" smtClean="0"/>
              <a:t>平方、开方、取对数、差分等方法可以将原始数据转化为具有正态分布特性的数据。</a:t>
            </a:r>
            <a:endParaRPr lang="en-US" altLang="zh-CN" dirty="0" smtClean="0"/>
          </a:p>
          <a:p>
            <a:pPr marL="514350" indent="-514350">
              <a:buFont typeface="+mj-lt"/>
              <a:buAutoNum type="alphaLcParenR"/>
            </a:pPr>
            <a:endParaRPr lang="en-US" altLang="zh-CN" dirty="0" smtClean="0"/>
          </a:p>
          <a:p>
            <a:pPr marL="514350" indent="-514350">
              <a:buAutoNum type="arabicParenR" startAt="2"/>
            </a:pPr>
            <a:r>
              <a:rPr lang="zh-CN" altLang="en-US" b="1" dirty="0" smtClean="0"/>
              <a:t>数据缩放</a:t>
            </a:r>
            <a:endParaRPr lang="en-US" altLang="zh-CN" b="1" dirty="0" smtClean="0"/>
          </a:p>
          <a:p>
            <a:pPr marL="0" indent="0">
              <a:buNone/>
            </a:pPr>
            <a:r>
              <a:rPr lang="en-US" altLang="zh-CN" b="1" dirty="0"/>
              <a:t> </a:t>
            </a:r>
            <a:r>
              <a:rPr lang="en-US" altLang="zh-CN" b="1" dirty="0" smtClean="0"/>
              <a:t>     </a:t>
            </a:r>
            <a:r>
              <a:rPr lang="zh-CN" altLang="en-US" dirty="0" smtClean="0"/>
              <a:t>将一组数值按比例缩放，使之落入一个小的特定区间。由于各指标度量单位不同，需要对指标进行规范化处理。</a:t>
            </a:r>
            <a:endParaRPr lang="en-US" altLang="zh-CN" dirty="0" smtClean="0"/>
          </a:p>
          <a:p>
            <a:pPr marL="0" indent="0">
              <a:buNone/>
            </a:pPr>
            <a:r>
              <a:rPr lang="en-US" altLang="zh-CN" dirty="0"/>
              <a:t> </a:t>
            </a:r>
            <a:r>
              <a:rPr lang="en-US" altLang="zh-CN" dirty="0" smtClean="0"/>
              <a:t>     </a:t>
            </a:r>
            <a:r>
              <a:rPr lang="zh-CN" altLang="en-US" dirty="0" smtClean="0"/>
              <a:t>常见的缩放方法有：数据标准化和数据归一化两种。</a:t>
            </a:r>
            <a:endParaRPr lang="zh-CN" altLang="en-US" dirty="0"/>
          </a:p>
        </p:txBody>
      </p:sp>
    </p:spTree>
    <p:extLst>
      <p:ext uri="{BB962C8B-B14F-4D97-AF65-F5344CB8AC3E}">
        <p14:creationId xmlns:p14="http://schemas.microsoft.com/office/powerpoint/2010/main" val="328371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最小</a:t>
            </a:r>
            <a:r>
              <a:rPr lang="en-US" altLang="zh-CN" dirty="0" smtClean="0"/>
              <a:t>—</a:t>
            </a:r>
            <a:r>
              <a:rPr lang="zh-CN" altLang="en-US" dirty="0" smtClean="0"/>
              <a:t>最大标准化（归一化）</a:t>
            </a:r>
            <a:endParaRPr lang="zh-CN" altLang="en-US" dirty="0"/>
          </a:p>
        </p:txBody>
      </p:sp>
      <p:pic>
        <p:nvPicPr>
          <p:cNvPr id="4" name="内容占位符 3"/>
          <p:cNvPicPr>
            <a:picLocks noGrp="1" noChangeAspect="1"/>
          </p:cNvPicPr>
          <p:nvPr>
            <p:ph idx="1"/>
          </p:nvPr>
        </p:nvPicPr>
        <p:blipFill>
          <a:blip r:embed="rId2"/>
          <a:stretch>
            <a:fillRect/>
          </a:stretch>
        </p:blipFill>
        <p:spPr>
          <a:xfrm>
            <a:off x="2080329" y="1765300"/>
            <a:ext cx="8086905" cy="4851400"/>
          </a:xfrm>
          <a:prstGeom prst="rect">
            <a:avLst/>
          </a:prstGeom>
        </p:spPr>
      </p:pic>
    </p:spTree>
    <p:extLst>
      <p:ext uri="{BB962C8B-B14F-4D97-AF65-F5344CB8AC3E}">
        <p14:creationId xmlns:p14="http://schemas.microsoft.com/office/powerpoint/2010/main" val="416471634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2"/>
          <a:stretch>
            <a:fillRect/>
          </a:stretch>
        </p:blipFill>
        <p:spPr>
          <a:xfrm>
            <a:off x="1618180" y="1686941"/>
            <a:ext cx="9011222" cy="4848166"/>
          </a:xfrm>
          <a:prstGeom prst="rect">
            <a:avLst/>
          </a:prstGeom>
        </p:spPr>
      </p:pic>
    </p:spTree>
    <p:extLst>
      <p:ext uri="{BB962C8B-B14F-4D97-AF65-F5344CB8AC3E}">
        <p14:creationId xmlns:p14="http://schemas.microsoft.com/office/powerpoint/2010/main" val="121047088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数据变换</a:t>
            </a:r>
            <a:endParaRPr lang="zh-CN" altLang="en-US" dirty="0"/>
          </a:p>
        </p:txBody>
      </p:sp>
      <p:sp>
        <p:nvSpPr>
          <p:cNvPr id="3" name="内容占位符 2"/>
          <p:cNvSpPr>
            <a:spLocks noGrp="1"/>
          </p:cNvSpPr>
          <p:nvPr>
            <p:ph idx="1"/>
          </p:nvPr>
        </p:nvSpPr>
        <p:spPr/>
        <p:txBody>
          <a:bodyPr/>
          <a:lstStyle/>
          <a:p>
            <a:pPr marL="514350" indent="-514350">
              <a:buAutoNum type="arabicParenR" startAt="3"/>
            </a:pPr>
            <a:r>
              <a:rPr lang="zh-CN" altLang="en-US" b="1" dirty="0" smtClean="0"/>
              <a:t>数据编码</a:t>
            </a:r>
            <a:endParaRPr lang="en-US" altLang="zh-CN" b="1" dirty="0" smtClean="0"/>
          </a:p>
          <a:p>
            <a:pPr marL="0" indent="0">
              <a:buNone/>
            </a:pPr>
            <a:r>
              <a:rPr lang="en-US" altLang="zh-CN" dirty="0" smtClean="0"/>
              <a:t>      </a:t>
            </a:r>
            <a:r>
              <a:rPr lang="zh-CN" altLang="en-US" dirty="0" smtClean="0"/>
              <a:t>主要体现在数据信息的分类和编码上。</a:t>
            </a:r>
            <a:endParaRPr lang="en-US" altLang="zh-CN" dirty="0" smtClean="0"/>
          </a:p>
          <a:p>
            <a:pPr marL="0" indent="0">
              <a:buNone/>
            </a:pPr>
            <a:endParaRPr lang="en-US" altLang="zh-CN" dirty="0" smtClean="0"/>
          </a:p>
          <a:p>
            <a:pPr marL="0" indent="0">
              <a:buNone/>
            </a:pPr>
            <a:r>
              <a:rPr lang="en-US" altLang="zh-CN" b="1" dirty="0" smtClean="0"/>
              <a:t>4)  </a:t>
            </a:r>
            <a:r>
              <a:rPr lang="zh-CN" altLang="en-US" b="1" dirty="0" smtClean="0"/>
              <a:t>数据</a:t>
            </a:r>
            <a:r>
              <a:rPr lang="zh-CN" altLang="en-US" b="1" dirty="0"/>
              <a:t>平滑</a:t>
            </a:r>
            <a:endParaRPr lang="en-US" altLang="zh-CN" b="1" dirty="0" smtClean="0"/>
          </a:p>
          <a:p>
            <a:pPr marL="0" indent="0">
              <a:buNone/>
            </a:pPr>
            <a:r>
              <a:rPr lang="en-US" altLang="zh-CN" b="1" dirty="0"/>
              <a:t> </a:t>
            </a:r>
            <a:r>
              <a:rPr lang="en-US" altLang="zh-CN" b="1" dirty="0" smtClean="0"/>
              <a:t>     </a:t>
            </a:r>
            <a:r>
              <a:rPr lang="zh-CN" altLang="en-US" dirty="0" smtClean="0"/>
              <a:t>数据平滑是指从数据中去除噪声波动以匹配数据分布。最常见的滑动数据平滑技术包括：帧分割、回归和聚类。</a:t>
            </a:r>
            <a:endParaRPr lang="en-US" altLang="zh-CN" dirty="0" smtClean="0"/>
          </a:p>
          <a:p>
            <a:pPr marL="0" indent="0">
              <a:buNone/>
            </a:pPr>
            <a:r>
              <a:rPr lang="en-US" altLang="zh-CN" b="1" dirty="0" smtClean="0"/>
              <a:t>      </a:t>
            </a:r>
            <a:endParaRPr lang="zh-CN" altLang="en-US" dirty="0"/>
          </a:p>
        </p:txBody>
      </p:sp>
    </p:spTree>
    <p:extLst>
      <p:ext uri="{BB962C8B-B14F-4D97-AF65-F5344CB8AC3E}">
        <p14:creationId xmlns:p14="http://schemas.microsoft.com/office/powerpoint/2010/main" val="7004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数据规约</a:t>
            </a:r>
            <a:endParaRPr lang="zh-CN" altLang="en-US" dirty="0"/>
          </a:p>
        </p:txBody>
      </p:sp>
      <p:sp>
        <p:nvSpPr>
          <p:cNvPr id="3" name="内容占位符 2"/>
          <p:cNvSpPr>
            <a:spLocks noGrp="1"/>
          </p:cNvSpPr>
          <p:nvPr>
            <p:ph idx="1"/>
          </p:nvPr>
        </p:nvSpPr>
        <p:spPr/>
        <p:txBody>
          <a:bodyPr>
            <a:normAutofit fontScale="92500"/>
          </a:bodyPr>
          <a:lstStyle/>
          <a:p>
            <a:r>
              <a:rPr lang="zh-CN" altLang="en-US" dirty="0" smtClean="0"/>
              <a:t>数据规约（</a:t>
            </a:r>
            <a:r>
              <a:rPr lang="en-US" altLang="zh-CN" dirty="0"/>
              <a:t>Data Reduction</a:t>
            </a:r>
            <a:r>
              <a:rPr lang="zh-CN" altLang="en-US" dirty="0"/>
              <a:t>）用于在尽可能保持数据完整性的基础上得到数据</a:t>
            </a:r>
            <a:r>
              <a:rPr lang="zh-CN" altLang="en-US" dirty="0" smtClean="0"/>
              <a:t>的</a:t>
            </a:r>
            <a:r>
              <a:rPr lang="zh-CN" altLang="en-US" dirty="0"/>
              <a:t>规约</a:t>
            </a:r>
            <a:r>
              <a:rPr lang="zh-CN" altLang="en-US" dirty="0" smtClean="0"/>
              <a:t>表示</a:t>
            </a:r>
            <a:r>
              <a:rPr lang="zh-CN" altLang="en-US" dirty="0"/>
              <a:t>。也就是说，</a:t>
            </a:r>
            <a:r>
              <a:rPr lang="zh-CN" altLang="en-US" dirty="0" smtClean="0"/>
              <a:t>在</a:t>
            </a:r>
            <a:r>
              <a:rPr lang="zh-CN" altLang="en-US" dirty="0"/>
              <a:t>规约</a:t>
            </a:r>
            <a:r>
              <a:rPr lang="zh-CN" altLang="en-US" dirty="0" smtClean="0"/>
              <a:t>后</a:t>
            </a:r>
            <a:r>
              <a:rPr lang="zh-CN" altLang="en-US" dirty="0"/>
              <a:t>的数据集上挖掘将更有效，而且仍会产生相同或相似的分析结果</a:t>
            </a:r>
            <a:r>
              <a:rPr lang="zh-CN" altLang="en-US" dirty="0" smtClean="0"/>
              <a:t>。</a:t>
            </a:r>
            <a:endParaRPr lang="en-US" altLang="zh-CN" dirty="0" smtClean="0"/>
          </a:p>
          <a:p>
            <a:pPr marL="0" indent="0">
              <a:buNone/>
            </a:pPr>
            <a:r>
              <a:rPr lang="zh-CN" altLang="en-US" b="1" u="sng" dirty="0" smtClean="0">
                <a:solidFill>
                  <a:srgbClr val="00B050"/>
                </a:solidFill>
              </a:rPr>
              <a:t>  数据</a:t>
            </a:r>
            <a:r>
              <a:rPr lang="zh-CN" altLang="en-US" b="1" u="sng" dirty="0">
                <a:solidFill>
                  <a:srgbClr val="00B050"/>
                </a:solidFill>
              </a:rPr>
              <a:t>规约就是缩小数据挖掘所需的数据集规模</a:t>
            </a:r>
            <a:endParaRPr lang="en-US" altLang="zh-CN" b="1" dirty="0" smtClean="0">
              <a:solidFill>
                <a:srgbClr val="00B050"/>
              </a:solidFill>
            </a:endParaRPr>
          </a:p>
          <a:p>
            <a:pPr marL="0" indent="0">
              <a:buNone/>
            </a:pPr>
            <a:r>
              <a:rPr lang="en-US" altLang="zh-CN" dirty="0"/>
              <a:t> </a:t>
            </a:r>
            <a:r>
              <a:rPr lang="en-US" altLang="zh-CN" dirty="0" smtClean="0"/>
              <a:t> </a:t>
            </a:r>
            <a:r>
              <a:rPr lang="zh-CN" altLang="en-US" dirty="0" smtClean="0"/>
              <a:t>数据</a:t>
            </a:r>
            <a:r>
              <a:rPr lang="zh-CN" altLang="en-US" dirty="0"/>
              <a:t>规约</a:t>
            </a:r>
            <a:r>
              <a:rPr lang="zh-CN" altLang="en-US" dirty="0" smtClean="0"/>
              <a:t>包括维</a:t>
            </a:r>
            <a:r>
              <a:rPr lang="zh-CN" altLang="en-US" dirty="0"/>
              <a:t>规约</a:t>
            </a:r>
            <a:r>
              <a:rPr lang="zh-CN" altLang="en-US" dirty="0" smtClean="0"/>
              <a:t>、数量</a:t>
            </a:r>
            <a:r>
              <a:rPr lang="zh-CN" altLang="en-US" dirty="0"/>
              <a:t>规约</a:t>
            </a:r>
            <a:r>
              <a:rPr lang="zh-CN" altLang="en-US" dirty="0" smtClean="0"/>
              <a:t>和样本规约。</a:t>
            </a:r>
            <a:endParaRPr lang="en-US" altLang="zh-CN" dirty="0" smtClean="0"/>
          </a:p>
          <a:p>
            <a:pPr>
              <a:buFont typeface="Wingdings" panose="05000000000000000000" pitchFamily="2" charset="2"/>
              <a:buChar char="Ø"/>
            </a:pPr>
            <a:r>
              <a:rPr lang="zh-CN" altLang="en-US" dirty="0" smtClean="0"/>
              <a:t>维</a:t>
            </a:r>
            <a:r>
              <a:rPr lang="zh-CN" altLang="en-US" dirty="0"/>
              <a:t>规约</a:t>
            </a:r>
            <a:r>
              <a:rPr lang="zh-CN" altLang="en-US" dirty="0" smtClean="0"/>
              <a:t>的</a:t>
            </a:r>
            <a:r>
              <a:rPr lang="zh-CN" altLang="en-US" dirty="0"/>
              <a:t>思路是减少所考虑的随机变量或属性的个数，使用的方法有属性子集选择、小波变换和主成分分析。属性子集选择是一种</a:t>
            </a:r>
            <a:r>
              <a:rPr lang="zh-CN" altLang="en-US" dirty="0" smtClean="0"/>
              <a:t>维规约方法</a:t>
            </a:r>
            <a:r>
              <a:rPr lang="zh-CN" altLang="en-US" dirty="0"/>
              <a:t>，其中不相关、弱相关或冗余的属性或维被检测或删除。而后两种方法是原始数据变换或投影到较小的空间。</a:t>
            </a:r>
          </a:p>
        </p:txBody>
      </p:sp>
    </p:spTree>
    <p:extLst>
      <p:ext uri="{BB962C8B-B14F-4D97-AF65-F5344CB8AC3E}">
        <p14:creationId xmlns:p14="http://schemas.microsoft.com/office/powerpoint/2010/main" val="90351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数据规约</a:t>
            </a:r>
            <a:endParaRPr lang="zh-CN" altLang="en-US" dirty="0"/>
          </a:p>
        </p:txBody>
      </p:sp>
      <p:sp>
        <p:nvSpPr>
          <p:cNvPr id="3" name="内容占位符 2"/>
          <p:cNvSpPr>
            <a:spLocks noGrp="1"/>
          </p:cNvSpPr>
          <p:nvPr>
            <p:ph idx="1"/>
          </p:nvPr>
        </p:nvSpPr>
        <p:spPr/>
        <p:txBody>
          <a:bodyPr>
            <a:normAutofit/>
          </a:bodyPr>
          <a:lstStyle/>
          <a:p>
            <a:r>
              <a:rPr lang="zh-CN" altLang="en-US" dirty="0" smtClean="0"/>
              <a:t>数量规约（</a:t>
            </a:r>
            <a:r>
              <a:rPr lang="en-US" altLang="zh-CN" dirty="0" err="1"/>
              <a:t>Numerosity</a:t>
            </a:r>
            <a:r>
              <a:rPr lang="en-US" altLang="zh-CN" dirty="0"/>
              <a:t> Reduction</a:t>
            </a:r>
            <a:r>
              <a:rPr lang="zh-CN" altLang="en-US" dirty="0"/>
              <a:t>）用替代的、较小的数据表示形式换原始数据。这些技术可以是参数或者非参数的。对于参数方法而言，使用模型估计数据，使得一般只需要存放模型参数而不是实际数据（离群点需存放），如回归和对数</a:t>
            </a:r>
            <a:r>
              <a:rPr lang="en-US" altLang="zh-CN" dirty="0"/>
              <a:t>-</a:t>
            </a:r>
            <a:r>
              <a:rPr lang="zh-CN" altLang="en-US" dirty="0"/>
              <a:t>线性模型。存放数据规约表示的非参数方法包括： 直方图、聚类、抽样和数据立方体</a:t>
            </a:r>
            <a:r>
              <a:rPr lang="zh-CN" altLang="en-US" dirty="0" smtClean="0"/>
              <a:t>聚类。</a:t>
            </a:r>
            <a:endParaRPr lang="en-US" altLang="zh-CN" dirty="0" smtClean="0"/>
          </a:p>
          <a:p>
            <a:r>
              <a:rPr lang="zh-CN" altLang="en-US" dirty="0" smtClean="0"/>
              <a:t>样本规约：使用从原始数据中具有代表性的样本子集，来代表整个原始数据的信息。</a:t>
            </a:r>
            <a:endParaRPr lang="zh-CN" altLang="en-US" dirty="0"/>
          </a:p>
        </p:txBody>
      </p:sp>
    </p:spTree>
    <p:extLst>
      <p:ext uri="{BB962C8B-B14F-4D97-AF65-F5344CB8AC3E}">
        <p14:creationId xmlns:p14="http://schemas.microsoft.com/office/powerpoint/2010/main" val="255939826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2.3 </a:t>
            </a:r>
            <a:r>
              <a:rPr lang="zh-CN" altLang="en-US" dirty="0" smtClean="0"/>
              <a:t>数据标注</a:t>
            </a:r>
            <a:endParaRPr lang="zh-CN" altLang="en-US" dirty="0"/>
          </a:p>
        </p:txBody>
      </p:sp>
      <p:sp>
        <p:nvSpPr>
          <p:cNvPr id="3" name="内容占位符 2"/>
          <p:cNvSpPr>
            <a:spLocks noGrp="1"/>
          </p:cNvSpPr>
          <p:nvPr>
            <p:ph idx="1"/>
          </p:nvPr>
        </p:nvSpPr>
        <p:spPr>
          <a:xfrm>
            <a:off x="280219" y="1859623"/>
            <a:ext cx="11685639" cy="4839680"/>
          </a:xfrm>
        </p:spPr>
        <p:txBody>
          <a:bodyPr>
            <a:normAutofit lnSpcReduction="10000"/>
          </a:bodyPr>
          <a:lstStyle/>
          <a:p>
            <a:pPr marL="0" indent="0">
              <a:buNone/>
            </a:pPr>
            <a:r>
              <a:rPr lang="zh-CN" altLang="en-US" dirty="0" smtClean="0"/>
              <a:t>数据</a:t>
            </a:r>
            <a:r>
              <a:rPr lang="zh-CN" altLang="en-US" dirty="0"/>
              <a:t>标注（</a:t>
            </a:r>
            <a:r>
              <a:rPr lang="en-US" altLang="zh-CN" dirty="0"/>
              <a:t>Data Annotation</a:t>
            </a:r>
            <a:r>
              <a:rPr lang="zh-CN" altLang="en-US" dirty="0"/>
              <a:t>）是人工智能领域中的一项重要任务，它涉及为原始数据集中的</a:t>
            </a:r>
            <a:r>
              <a:rPr lang="zh-CN" altLang="en-US" b="1" dirty="0" smtClean="0">
                <a:solidFill>
                  <a:srgbClr val="00B050"/>
                </a:solidFill>
              </a:rPr>
              <a:t>样本或</a:t>
            </a:r>
            <a:r>
              <a:rPr lang="zh-CN" altLang="en-US" b="1" dirty="0">
                <a:solidFill>
                  <a:srgbClr val="00B050"/>
                </a:solidFill>
              </a:rPr>
              <a:t>数据点</a:t>
            </a:r>
            <a:r>
              <a:rPr lang="zh-CN" altLang="en-US" dirty="0"/>
              <a:t>添加有关其内容或属性的</a:t>
            </a:r>
            <a:r>
              <a:rPr lang="zh-CN" altLang="en-US" b="1" dirty="0">
                <a:solidFill>
                  <a:srgbClr val="00B0F0"/>
                </a:solidFill>
              </a:rPr>
              <a:t>标签、标记或注释</a:t>
            </a:r>
            <a:r>
              <a:rPr lang="zh-CN" altLang="en-US" dirty="0"/>
              <a:t>。数据标注的</a:t>
            </a:r>
            <a:r>
              <a:rPr lang="zh-CN" altLang="en-US" dirty="0">
                <a:solidFill>
                  <a:srgbClr val="00B050"/>
                </a:solidFill>
              </a:rPr>
              <a:t>目的</a:t>
            </a:r>
            <a:r>
              <a:rPr lang="zh-CN" altLang="en-US" dirty="0"/>
              <a:t>是为机器学习模型提供</a:t>
            </a:r>
            <a:r>
              <a:rPr lang="zh-CN" altLang="en-US" dirty="0" smtClean="0"/>
              <a:t>已知</a:t>
            </a:r>
            <a:r>
              <a:rPr lang="zh-CN" altLang="en-US" dirty="0"/>
              <a:t>的训练数据，以便模型能够学习和理解不同类别、特征或属性之间的关系，从而进行分类、</a:t>
            </a:r>
            <a:r>
              <a:rPr lang="zh-CN" altLang="en-US" dirty="0" smtClean="0"/>
              <a:t>回归</a:t>
            </a:r>
            <a:r>
              <a:rPr lang="zh-CN" altLang="en-US" dirty="0"/>
              <a:t>、检测或其他任务。</a:t>
            </a:r>
          </a:p>
          <a:p>
            <a:pPr marL="0" indent="0">
              <a:buNone/>
            </a:pPr>
            <a:r>
              <a:rPr lang="zh-CN" altLang="en-US" dirty="0" smtClean="0"/>
              <a:t>常见</a:t>
            </a:r>
            <a:r>
              <a:rPr lang="zh-CN" altLang="en-US" dirty="0"/>
              <a:t>数据标注：</a:t>
            </a:r>
          </a:p>
          <a:p>
            <a:r>
              <a:rPr lang="zh-CN" altLang="en-US" dirty="0" smtClean="0"/>
              <a:t>文本</a:t>
            </a:r>
            <a:r>
              <a:rPr lang="zh-CN" altLang="en-US" dirty="0"/>
              <a:t>数据标注</a:t>
            </a:r>
          </a:p>
          <a:p>
            <a:r>
              <a:rPr lang="zh-CN" altLang="en-US" dirty="0" smtClean="0"/>
              <a:t>图像</a:t>
            </a:r>
            <a:r>
              <a:rPr lang="zh-CN" altLang="en-US" dirty="0"/>
              <a:t>与视频数据</a:t>
            </a:r>
            <a:r>
              <a:rPr lang="zh-CN" altLang="en-US" dirty="0" smtClean="0"/>
              <a:t>标注</a:t>
            </a:r>
            <a:endParaRPr lang="en-US" altLang="zh-CN" dirty="0" smtClean="0"/>
          </a:p>
          <a:p>
            <a:r>
              <a:rPr lang="zh-CN" altLang="en-US" dirty="0"/>
              <a:t>音频数据标注</a:t>
            </a:r>
          </a:p>
        </p:txBody>
      </p:sp>
    </p:spTree>
    <p:extLst>
      <p:ext uri="{BB962C8B-B14F-4D97-AF65-F5344CB8AC3E}">
        <p14:creationId xmlns:p14="http://schemas.microsoft.com/office/powerpoint/2010/main" val="186423095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文本数据标注</a:t>
            </a:r>
          </a:p>
        </p:txBody>
      </p:sp>
      <p:sp>
        <p:nvSpPr>
          <p:cNvPr id="3" name="内容占位符 2"/>
          <p:cNvSpPr>
            <a:spLocks noGrp="1"/>
          </p:cNvSpPr>
          <p:nvPr>
            <p:ph idx="1"/>
          </p:nvPr>
        </p:nvSpPr>
        <p:spPr>
          <a:xfrm>
            <a:off x="280219" y="1718656"/>
            <a:ext cx="11685639" cy="4852219"/>
          </a:xfrm>
        </p:spPr>
        <p:txBody>
          <a:bodyPr/>
          <a:lstStyle/>
          <a:p>
            <a:pPr marL="0" indent="0">
              <a:buNone/>
            </a:pPr>
            <a:r>
              <a:rPr lang="zh-CN" altLang="en-US" dirty="0"/>
              <a:t>文本数据标注是将文本数据集中的</a:t>
            </a:r>
            <a:r>
              <a:rPr lang="zh-CN" altLang="en-US" b="1" dirty="0"/>
              <a:t>文本样本</a:t>
            </a:r>
            <a:r>
              <a:rPr lang="zh-CN" altLang="en-US" dirty="0"/>
              <a:t>进行</a:t>
            </a:r>
            <a:r>
              <a:rPr lang="zh-CN" altLang="en-US" b="1" dirty="0">
                <a:solidFill>
                  <a:srgbClr val="00B050"/>
                </a:solidFill>
              </a:rPr>
              <a:t>标签、类别或注释</a:t>
            </a:r>
            <a:r>
              <a:rPr lang="zh-CN" altLang="en-US" dirty="0"/>
              <a:t>的过程，旨在为自然语言处理（</a:t>
            </a:r>
            <a:r>
              <a:rPr lang="en-US" altLang="zh-CN" dirty="0"/>
              <a:t>NLP</a:t>
            </a:r>
            <a:r>
              <a:rPr lang="zh-CN" altLang="en-US" dirty="0"/>
              <a:t>）和</a:t>
            </a:r>
            <a:r>
              <a:rPr lang="zh-CN" altLang="en-US" dirty="0" smtClean="0"/>
              <a:t>文本</a:t>
            </a:r>
            <a:r>
              <a:rPr lang="zh-CN" altLang="en-US" dirty="0"/>
              <a:t>分析任务提供</a:t>
            </a:r>
            <a:r>
              <a:rPr lang="zh-CN" altLang="en-US" b="1" dirty="0">
                <a:solidFill>
                  <a:srgbClr val="00B050"/>
                </a:solidFill>
              </a:rPr>
              <a:t>有监督学习</a:t>
            </a:r>
            <a:r>
              <a:rPr lang="zh-CN" altLang="en-US" dirty="0"/>
              <a:t>所需的</a:t>
            </a:r>
            <a:r>
              <a:rPr lang="zh-CN" altLang="en-US" b="1" dirty="0"/>
              <a:t>训练数据</a:t>
            </a:r>
            <a:r>
              <a:rPr lang="zh-CN" altLang="en-US" dirty="0" smtClean="0"/>
              <a:t>。</a:t>
            </a:r>
            <a:endParaRPr lang="en-US" altLang="zh-CN" dirty="0" smtClean="0"/>
          </a:p>
          <a:p>
            <a:pPr marL="0" indent="0">
              <a:buNone/>
            </a:pPr>
            <a:r>
              <a:rPr lang="zh-CN" altLang="en-US" dirty="0" smtClean="0"/>
              <a:t>典型</a:t>
            </a:r>
            <a:r>
              <a:rPr lang="zh-CN" altLang="en-US" dirty="0"/>
              <a:t>任务有文本分类、命名实体识别、情感分析、</a:t>
            </a:r>
            <a:r>
              <a:rPr lang="zh-CN" altLang="en-US" dirty="0" smtClean="0"/>
              <a:t>机器翻译、文本</a:t>
            </a:r>
            <a:r>
              <a:rPr lang="zh-CN" altLang="en-US" dirty="0"/>
              <a:t>生成等</a:t>
            </a:r>
            <a:r>
              <a:rPr lang="zh-CN" altLang="en-US" dirty="0" smtClean="0"/>
              <a:t>。</a:t>
            </a:r>
            <a:endParaRPr lang="en-US" altLang="zh-CN" dirty="0" smtClean="0"/>
          </a:p>
          <a:p>
            <a:pPr marL="0" indent="0">
              <a:buNone/>
            </a:pPr>
            <a:endParaRPr lang="zh-CN" altLang="en-US" dirty="0"/>
          </a:p>
        </p:txBody>
      </p:sp>
      <p:pic>
        <p:nvPicPr>
          <p:cNvPr id="4" name="图片 3"/>
          <p:cNvPicPr>
            <a:picLocks noChangeAspect="1"/>
          </p:cNvPicPr>
          <p:nvPr/>
        </p:nvPicPr>
        <p:blipFill>
          <a:blip r:embed="rId2"/>
          <a:stretch>
            <a:fillRect/>
          </a:stretch>
        </p:blipFill>
        <p:spPr>
          <a:xfrm>
            <a:off x="2500647" y="4017509"/>
            <a:ext cx="9234127" cy="2604186"/>
          </a:xfrm>
          <a:prstGeom prst="rect">
            <a:avLst/>
          </a:prstGeom>
        </p:spPr>
      </p:pic>
      <p:sp>
        <p:nvSpPr>
          <p:cNvPr id="6" name="文本框 5"/>
          <p:cNvSpPr txBox="1"/>
          <p:nvPr/>
        </p:nvSpPr>
        <p:spPr>
          <a:xfrm>
            <a:off x="7423078" y="3051425"/>
            <a:ext cx="1489753" cy="276999"/>
          </a:xfrm>
          <a:prstGeom prst="rect">
            <a:avLst/>
          </a:prstGeom>
          <a:noFill/>
        </p:spPr>
        <p:txBody>
          <a:bodyPr wrap="square" rtlCol="0">
            <a:spAutoFit/>
          </a:bodyPr>
          <a:lstStyle/>
          <a:p>
            <a:r>
              <a:rPr lang="zh-CN" altLang="en-US" sz="1200" b="1" dirty="0">
                <a:solidFill>
                  <a:srgbClr val="7030A0"/>
                </a:solidFill>
                <a:latin typeface="华文楷体" panose="02010600040101010101" pitchFamily="2" charset="-122"/>
                <a:ea typeface="华文楷体" panose="02010600040101010101" pitchFamily="2" charset="-122"/>
                <a:cs typeface="+mj-cs"/>
              </a:rPr>
              <a:t>正向、中性、负向</a:t>
            </a:r>
          </a:p>
        </p:txBody>
      </p:sp>
    </p:spTree>
    <p:extLst>
      <p:ext uri="{BB962C8B-B14F-4D97-AF65-F5344CB8AC3E}">
        <p14:creationId xmlns:p14="http://schemas.microsoft.com/office/powerpoint/2010/main" val="416791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图像与视频数据标注</a:t>
            </a:r>
          </a:p>
        </p:txBody>
      </p:sp>
      <p:sp>
        <p:nvSpPr>
          <p:cNvPr id="3" name="内容占位符 2"/>
          <p:cNvSpPr>
            <a:spLocks noGrp="1"/>
          </p:cNvSpPr>
          <p:nvPr>
            <p:ph idx="1"/>
          </p:nvPr>
        </p:nvSpPr>
        <p:spPr/>
        <p:txBody>
          <a:bodyPr/>
          <a:lstStyle/>
          <a:p>
            <a:pPr marL="0" indent="0">
              <a:buNone/>
            </a:pPr>
            <a:r>
              <a:rPr lang="zh-CN" altLang="en-US" dirty="0"/>
              <a:t>图像与视频数据标注是将图像和视频数据集中的</a:t>
            </a:r>
            <a:r>
              <a:rPr lang="zh-CN" altLang="en-US" b="1" dirty="0">
                <a:solidFill>
                  <a:srgbClr val="00B050"/>
                </a:solidFill>
              </a:rPr>
              <a:t>视觉内容</a:t>
            </a:r>
            <a:r>
              <a:rPr lang="zh-CN" altLang="en-US" dirty="0"/>
              <a:t>进行</a:t>
            </a:r>
            <a:r>
              <a:rPr lang="zh-CN" altLang="en-US" dirty="0">
                <a:solidFill>
                  <a:srgbClr val="00B050"/>
                </a:solidFill>
              </a:rPr>
              <a:t>标签、边界框、分割掩码或其他注释</a:t>
            </a:r>
            <a:r>
              <a:rPr lang="zh-CN" altLang="en-US" dirty="0"/>
              <a:t>的过程</a:t>
            </a:r>
            <a:r>
              <a:rPr lang="zh-CN" altLang="en-US" dirty="0" smtClean="0"/>
              <a:t>，旨在</a:t>
            </a:r>
            <a:r>
              <a:rPr lang="zh-CN" altLang="en-US" dirty="0"/>
              <a:t>为计算机视觉、图像处理和机器学习任务提供</a:t>
            </a:r>
            <a:r>
              <a:rPr lang="zh-CN" altLang="en-US" b="1" dirty="0">
                <a:solidFill>
                  <a:srgbClr val="00B050"/>
                </a:solidFill>
              </a:rPr>
              <a:t>有监督学习</a:t>
            </a:r>
            <a:r>
              <a:rPr lang="zh-CN" altLang="en-US" dirty="0"/>
              <a:t>所需的</a:t>
            </a:r>
            <a:r>
              <a:rPr lang="zh-CN" altLang="en-US" dirty="0">
                <a:solidFill>
                  <a:srgbClr val="00B050"/>
                </a:solidFill>
              </a:rPr>
              <a:t>训练数据</a:t>
            </a:r>
            <a:r>
              <a:rPr lang="zh-CN" altLang="en-US" dirty="0" smtClean="0"/>
              <a:t>。</a:t>
            </a:r>
            <a:endParaRPr lang="en-US" altLang="zh-CN" dirty="0" smtClean="0"/>
          </a:p>
          <a:p>
            <a:pPr marL="0" indent="0">
              <a:buNone/>
            </a:pPr>
            <a:r>
              <a:rPr lang="zh-CN" altLang="en-US" dirty="0" smtClean="0"/>
              <a:t>典型</a:t>
            </a:r>
            <a:r>
              <a:rPr lang="zh-CN" altLang="en-US" dirty="0"/>
              <a:t>任务有目标检测、</a:t>
            </a:r>
            <a:r>
              <a:rPr lang="zh-CN" altLang="en-US" dirty="0" smtClean="0"/>
              <a:t>图像分类</a:t>
            </a:r>
            <a:r>
              <a:rPr lang="zh-CN" altLang="en-US" dirty="0"/>
              <a:t>、图像分割、人脸识别、视频分析等。</a:t>
            </a:r>
          </a:p>
        </p:txBody>
      </p:sp>
      <p:pic>
        <p:nvPicPr>
          <p:cNvPr id="4" name="图片 3"/>
          <p:cNvPicPr>
            <a:picLocks noChangeAspect="1"/>
          </p:cNvPicPr>
          <p:nvPr/>
        </p:nvPicPr>
        <p:blipFill>
          <a:blip r:embed="rId2"/>
          <a:stretch>
            <a:fillRect/>
          </a:stretch>
        </p:blipFill>
        <p:spPr>
          <a:xfrm>
            <a:off x="2758611" y="3875617"/>
            <a:ext cx="8164729" cy="3038890"/>
          </a:xfrm>
          <a:prstGeom prst="rect">
            <a:avLst/>
          </a:prstGeom>
        </p:spPr>
      </p:pic>
    </p:spTree>
    <p:extLst>
      <p:ext uri="{BB962C8B-B14F-4D97-AF65-F5344CB8AC3E}">
        <p14:creationId xmlns:p14="http://schemas.microsoft.com/office/powerpoint/2010/main" val="221769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音频数据标注</a:t>
            </a:r>
          </a:p>
        </p:txBody>
      </p:sp>
      <p:sp>
        <p:nvSpPr>
          <p:cNvPr id="3" name="内容占位符 2"/>
          <p:cNvSpPr>
            <a:spLocks noGrp="1"/>
          </p:cNvSpPr>
          <p:nvPr>
            <p:ph idx="1"/>
          </p:nvPr>
        </p:nvSpPr>
        <p:spPr/>
        <p:txBody>
          <a:bodyPr/>
          <a:lstStyle/>
          <a:p>
            <a:r>
              <a:rPr lang="zh-CN" altLang="en-US" dirty="0"/>
              <a:t>音频数据标注是将音频数据集中的</a:t>
            </a:r>
            <a:r>
              <a:rPr lang="zh-CN" altLang="en-US" dirty="0">
                <a:solidFill>
                  <a:srgbClr val="0070C0"/>
                </a:solidFill>
              </a:rPr>
              <a:t>声音、语音或音乐内容</a:t>
            </a:r>
            <a:r>
              <a:rPr lang="zh-CN" altLang="en-US" dirty="0"/>
              <a:t>进行标记、转录、切分或</a:t>
            </a:r>
            <a:r>
              <a:rPr lang="zh-CN" altLang="en-US" dirty="0" smtClean="0"/>
              <a:t>注释的</a:t>
            </a:r>
            <a:r>
              <a:rPr lang="zh-CN" altLang="en-US" dirty="0"/>
              <a:t>过程，旨在为语音识别、情感分析、语音合成和音频处理等任务提供</a:t>
            </a:r>
            <a:r>
              <a:rPr lang="zh-CN" altLang="en-US" b="1" dirty="0">
                <a:solidFill>
                  <a:srgbClr val="0070C0"/>
                </a:solidFill>
              </a:rPr>
              <a:t>有监督学习</a:t>
            </a:r>
            <a:r>
              <a:rPr lang="zh-CN" altLang="en-US" dirty="0" smtClean="0"/>
              <a:t>所需的</a:t>
            </a:r>
            <a:r>
              <a:rPr lang="zh-CN" altLang="en-US" dirty="0"/>
              <a:t>训练数据</a:t>
            </a:r>
            <a:r>
              <a:rPr lang="zh-CN" altLang="en-US" dirty="0" smtClean="0"/>
              <a:t>。</a:t>
            </a:r>
            <a:endParaRPr lang="en-US" altLang="zh-CN" dirty="0" smtClean="0"/>
          </a:p>
          <a:p>
            <a:endParaRPr lang="zh-CN" altLang="en-US" dirty="0"/>
          </a:p>
        </p:txBody>
      </p:sp>
      <p:pic>
        <p:nvPicPr>
          <p:cNvPr id="4" name="图片 3"/>
          <p:cNvPicPr>
            <a:picLocks noChangeAspect="1"/>
          </p:cNvPicPr>
          <p:nvPr/>
        </p:nvPicPr>
        <p:blipFill>
          <a:blip r:embed="rId2"/>
          <a:stretch>
            <a:fillRect/>
          </a:stretch>
        </p:blipFill>
        <p:spPr>
          <a:xfrm>
            <a:off x="611326" y="3690606"/>
            <a:ext cx="10887155" cy="2733695"/>
          </a:xfrm>
          <a:prstGeom prst="rect">
            <a:avLst/>
          </a:prstGeom>
        </p:spPr>
      </p:pic>
    </p:spTree>
    <p:extLst>
      <p:ext uri="{BB962C8B-B14F-4D97-AF65-F5344CB8AC3E}">
        <p14:creationId xmlns:p14="http://schemas.microsoft.com/office/powerpoint/2010/main" val="148829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参考资料</a:t>
            </a:r>
            <a:endParaRPr lang="zh-CN" altLang="en-US" dirty="0"/>
          </a:p>
        </p:txBody>
      </p:sp>
      <p:sp>
        <p:nvSpPr>
          <p:cNvPr id="3" name="内容占位符 2"/>
          <p:cNvSpPr>
            <a:spLocks noGrp="1"/>
          </p:cNvSpPr>
          <p:nvPr>
            <p:ph idx="1"/>
          </p:nvPr>
        </p:nvSpPr>
        <p:spPr/>
        <p:txBody>
          <a:bodyPr/>
          <a:lstStyle/>
          <a:p>
            <a:pPr marL="0" indent="0">
              <a:buNone/>
            </a:pPr>
            <a:r>
              <a:rPr lang="en-US" altLang="zh-CN" dirty="0">
                <a:hlinkClick r:id="rId2"/>
              </a:rPr>
              <a:t>Python</a:t>
            </a:r>
            <a:r>
              <a:rPr lang="zh-CN" altLang="en-US" dirty="0">
                <a:hlinkClick r:id="rId2"/>
              </a:rPr>
              <a:t>实例代码，十大经典排序算法（附算法思想、实例代码、动画演示，值得收藏学习） </a:t>
            </a:r>
            <a:r>
              <a:rPr lang="en-US" altLang="zh-CN" dirty="0">
                <a:hlinkClick r:id="rId2"/>
              </a:rPr>
              <a:t>- </a:t>
            </a:r>
            <a:r>
              <a:rPr lang="zh-CN" altLang="en-US" dirty="0">
                <a:hlinkClick r:id="rId2"/>
              </a:rPr>
              <a:t>知乎 </a:t>
            </a:r>
            <a:r>
              <a:rPr lang="en-US" altLang="zh-CN" dirty="0">
                <a:hlinkClick r:id="rId2"/>
              </a:rPr>
              <a:t>(zhihu.com</a:t>
            </a:r>
            <a:r>
              <a:rPr lang="en-US" altLang="zh-CN" dirty="0" smtClean="0">
                <a:hlinkClick r:id="rId2"/>
              </a:rPr>
              <a:t>)</a:t>
            </a:r>
            <a:endParaRPr lang="en-US" altLang="zh-CN" dirty="0" smtClean="0"/>
          </a:p>
          <a:p>
            <a:pPr marL="0" indent="0">
              <a:buNone/>
            </a:pPr>
            <a:endParaRPr lang="zh-CN" altLang="en-US" dirty="0"/>
          </a:p>
        </p:txBody>
      </p:sp>
    </p:spTree>
    <p:extLst>
      <p:ext uri="{BB962C8B-B14F-4D97-AF65-F5344CB8AC3E}">
        <p14:creationId xmlns:p14="http://schemas.microsoft.com/office/powerpoint/2010/main" val="427914967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工具：</a:t>
            </a:r>
            <a:r>
              <a:rPr lang="en-US" altLang="zh-CN" dirty="0" smtClean="0"/>
              <a:t>Pandas</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hlinkClick r:id="rId2"/>
              </a:rPr>
              <a:t>Pandas </a:t>
            </a:r>
            <a:r>
              <a:rPr lang="zh-CN" altLang="en-US" dirty="0">
                <a:hlinkClick r:id="rId2"/>
              </a:rPr>
              <a:t>教程 </a:t>
            </a:r>
            <a:r>
              <a:rPr lang="en-US" altLang="zh-CN" dirty="0">
                <a:hlinkClick r:id="rId2"/>
              </a:rPr>
              <a:t>| </a:t>
            </a:r>
            <a:r>
              <a:rPr lang="zh-CN" altLang="en-US" dirty="0">
                <a:hlinkClick r:id="rId2"/>
              </a:rPr>
              <a:t>菜鸟教程 </a:t>
            </a:r>
            <a:r>
              <a:rPr lang="en-US" altLang="zh-CN" dirty="0">
                <a:hlinkClick r:id="rId2"/>
              </a:rPr>
              <a:t>(runoob.com</a:t>
            </a:r>
            <a:r>
              <a:rPr lang="en-US" altLang="zh-CN" dirty="0" smtClean="0">
                <a:hlinkClick r:id="rId2"/>
              </a:rPr>
              <a:t>)</a:t>
            </a:r>
            <a:endParaRPr lang="en-US" altLang="zh-CN" dirty="0" smtClean="0"/>
          </a:p>
          <a:p>
            <a:pPr marL="0" indent="0">
              <a:buNone/>
            </a:pPr>
            <a:r>
              <a:rPr lang="en-US" altLang="zh-CN" dirty="0" smtClean="0"/>
              <a:t>  </a:t>
            </a:r>
            <a:r>
              <a:rPr lang="en-US" altLang="zh-CN" dirty="0" smtClean="0">
                <a:hlinkClick r:id="rId2"/>
              </a:rPr>
              <a:t>https</a:t>
            </a:r>
            <a:r>
              <a:rPr lang="en-US" altLang="zh-CN" dirty="0">
                <a:hlinkClick r:id="rId2"/>
              </a:rPr>
              <a:t>://</a:t>
            </a:r>
            <a:r>
              <a:rPr lang="en-US" altLang="zh-CN" dirty="0" smtClean="0">
                <a:hlinkClick r:id="rId2"/>
              </a:rPr>
              <a:t>www.runoob.com/pandas/pandas-tutorial.html</a:t>
            </a:r>
            <a:endParaRPr lang="en-US" altLang="zh-CN" dirty="0" smtClean="0"/>
          </a:p>
          <a:p>
            <a:pPr marL="0" indent="0">
              <a:buNone/>
            </a:pPr>
            <a:r>
              <a:rPr lang="en-US" altLang="zh-CN" dirty="0" smtClean="0"/>
              <a:t> </a:t>
            </a:r>
            <a:r>
              <a:rPr lang="en-US" altLang="zh-CN" b="1" i="1" dirty="0"/>
              <a:t>Pandas </a:t>
            </a:r>
            <a:r>
              <a:rPr lang="zh-CN" altLang="en-US" b="1" i="1" dirty="0"/>
              <a:t>是 </a:t>
            </a:r>
            <a:r>
              <a:rPr lang="en-US" altLang="zh-CN" b="1" i="1" dirty="0"/>
              <a:t>Python </a:t>
            </a:r>
            <a:r>
              <a:rPr lang="zh-CN" altLang="en-US" b="1" i="1" dirty="0"/>
              <a:t>语言的一个扩展程序库，用于数据分析。</a:t>
            </a:r>
            <a:endParaRPr lang="zh-CN" altLang="en-US" i="1" dirty="0"/>
          </a:p>
          <a:p>
            <a:pPr marL="0" indent="0" latinLnBrk="1">
              <a:buNone/>
            </a:pPr>
            <a:r>
              <a:rPr lang="en-US" altLang="zh-CN" dirty="0" smtClean="0"/>
              <a:t> </a:t>
            </a:r>
            <a:r>
              <a:rPr lang="en-US" altLang="zh-CN" dirty="0"/>
              <a:t>Pandas </a:t>
            </a:r>
            <a:r>
              <a:rPr lang="zh-CN" altLang="en-US" dirty="0"/>
              <a:t>一个强大的分析结构化数据的工具集，基础是 </a:t>
            </a:r>
            <a:r>
              <a:rPr lang="en-US" altLang="zh-CN" u="sng" dirty="0">
                <a:hlinkClick r:id="rId3"/>
              </a:rPr>
              <a:t>Numpy</a:t>
            </a:r>
            <a:r>
              <a:rPr lang="zh-CN" altLang="en-US" dirty="0"/>
              <a:t>（提供高性能的矩阵运算）。</a:t>
            </a:r>
          </a:p>
          <a:p>
            <a:pPr marL="0" indent="0" latinLnBrk="1">
              <a:buNone/>
            </a:pPr>
            <a:r>
              <a:rPr lang="en-US" altLang="zh-CN" dirty="0" smtClean="0"/>
              <a:t> Pandas </a:t>
            </a:r>
            <a:r>
              <a:rPr lang="zh-CN" altLang="en-US" dirty="0"/>
              <a:t>可以从各种文件格式比如 </a:t>
            </a:r>
            <a:r>
              <a:rPr lang="en-US" altLang="zh-CN" dirty="0"/>
              <a:t>CSV</a:t>
            </a:r>
            <a:r>
              <a:rPr lang="zh-CN" altLang="en-US" dirty="0"/>
              <a:t>、</a:t>
            </a:r>
            <a:r>
              <a:rPr lang="en-US" altLang="zh-CN" dirty="0"/>
              <a:t>JSON</a:t>
            </a:r>
            <a:r>
              <a:rPr lang="zh-CN" altLang="en-US" dirty="0"/>
              <a:t>、</a:t>
            </a:r>
            <a:r>
              <a:rPr lang="en-US" altLang="zh-CN" dirty="0"/>
              <a:t>SQL</a:t>
            </a:r>
            <a:r>
              <a:rPr lang="zh-CN" altLang="en-US" dirty="0"/>
              <a:t>、</a:t>
            </a:r>
            <a:r>
              <a:rPr lang="en-US" altLang="zh-CN" dirty="0"/>
              <a:t>Microsoft Excel </a:t>
            </a:r>
            <a:r>
              <a:rPr lang="zh-CN" altLang="en-US" dirty="0"/>
              <a:t>导入数据。</a:t>
            </a:r>
          </a:p>
          <a:p>
            <a:pPr marL="0" indent="0" latinLnBrk="1">
              <a:buNone/>
            </a:pPr>
            <a:r>
              <a:rPr lang="en-US" altLang="zh-CN" dirty="0" smtClean="0"/>
              <a:t> Pandas </a:t>
            </a:r>
            <a:r>
              <a:rPr lang="zh-CN" altLang="en-US" dirty="0"/>
              <a:t>可以对各种数据进行运算操作，比如归并、再成形、选择，还有数据清洗和数据加工特征</a:t>
            </a:r>
            <a:r>
              <a:rPr lang="zh-CN" altLang="en-US" dirty="0" smtClean="0"/>
              <a:t>。</a:t>
            </a:r>
            <a:r>
              <a:rPr lang="en-US" altLang="zh-CN" dirty="0" smtClean="0"/>
              <a:t> </a:t>
            </a:r>
            <a:endParaRPr lang="en-US" altLang="zh-CN" dirty="0"/>
          </a:p>
          <a:p>
            <a:endParaRPr lang="zh-CN" altLang="en-US" dirty="0"/>
          </a:p>
        </p:txBody>
      </p:sp>
    </p:spTree>
    <p:extLst>
      <p:ext uri="{BB962C8B-B14F-4D97-AF65-F5344CB8AC3E}">
        <p14:creationId xmlns:p14="http://schemas.microsoft.com/office/powerpoint/2010/main" val="82873757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a:t>
            </a:r>
            <a:r>
              <a:rPr lang="zh-CN" altLang="en-US" dirty="0" smtClean="0"/>
              <a:t>操：</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上述网址中下载</a:t>
            </a:r>
            <a:r>
              <a:rPr lang="en-US" altLang="zh-CN" dirty="0" smtClean="0"/>
              <a:t>csv</a:t>
            </a:r>
            <a:r>
              <a:rPr lang="zh-CN" altLang="en-US" dirty="0" smtClean="0"/>
              <a:t>文件，进行数据清洗工作！</a:t>
            </a:r>
            <a:endParaRPr lang="en-US" altLang="zh-CN" dirty="0" smtClean="0"/>
          </a:p>
          <a:p>
            <a:pPr marL="0" indent="0">
              <a:buNone/>
            </a:pPr>
            <a:endParaRPr lang="en-US" altLang="zh-CN" dirty="0"/>
          </a:p>
          <a:p>
            <a:pPr marL="0" indent="0">
              <a:buNone/>
            </a:pPr>
            <a:r>
              <a:rPr lang="en-US" altLang="zh-CN" dirty="0" smtClean="0"/>
              <a:t>Pandas</a:t>
            </a:r>
            <a:r>
              <a:rPr lang="zh-CN" altLang="en-US" dirty="0" smtClean="0"/>
              <a:t>基础命令查找表，核心代码实践！</a:t>
            </a:r>
            <a:endParaRPr lang="zh-CN" altLang="en-US" dirty="0"/>
          </a:p>
        </p:txBody>
      </p:sp>
    </p:spTree>
    <p:extLst>
      <p:ext uri="{BB962C8B-B14F-4D97-AF65-F5344CB8AC3E}">
        <p14:creationId xmlns:p14="http://schemas.microsoft.com/office/powerpoint/2010/main" val="269521988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可视化</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err="1" smtClean="0"/>
              <a:t>pyecharts</a:t>
            </a:r>
            <a:endParaRPr lang="en-US" altLang="zh-CN" dirty="0" smtClean="0"/>
          </a:p>
          <a:p>
            <a:pPr marL="0" indent="0">
              <a:buNone/>
            </a:pPr>
            <a:r>
              <a:rPr lang="zh-CN" altLang="en-US" dirty="0" smtClean="0">
                <a:hlinkClick r:id="rId2"/>
              </a:rPr>
              <a:t>  简介 </a:t>
            </a:r>
            <a:r>
              <a:rPr lang="en-US" altLang="zh-CN" dirty="0">
                <a:hlinkClick r:id="rId2"/>
              </a:rPr>
              <a:t>- </a:t>
            </a:r>
            <a:r>
              <a:rPr lang="en-US" altLang="zh-CN" dirty="0" err="1">
                <a:hlinkClick r:id="rId2"/>
              </a:rPr>
              <a:t>pyecharts</a:t>
            </a:r>
            <a:r>
              <a:rPr lang="en-US" altLang="zh-CN" dirty="0">
                <a:hlinkClick r:id="rId2"/>
              </a:rPr>
              <a:t> - A Python </a:t>
            </a:r>
            <a:r>
              <a:rPr lang="en-US" altLang="zh-CN" dirty="0" err="1">
                <a:hlinkClick r:id="rId2"/>
              </a:rPr>
              <a:t>Echarts</a:t>
            </a:r>
            <a:r>
              <a:rPr lang="en-US" altLang="zh-CN" dirty="0">
                <a:hlinkClick r:id="rId2"/>
              </a:rPr>
              <a:t> Plotting Library built with love.</a:t>
            </a:r>
            <a:endParaRPr lang="en-US" altLang="zh-CN" dirty="0"/>
          </a:p>
          <a:p>
            <a:r>
              <a:rPr lang="en-US" altLang="zh-CN" dirty="0" err="1"/>
              <a:t>M</a:t>
            </a:r>
            <a:r>
              <a:rPr lang="en-US" altLang="zh-CN" dirty="0" err="1" smtClean="0"/>
              <a:t>atplotlib</a:t>
            </a:r>
            <a:r>
              <a:rPr lang="en-US" altLang="zh-CN" dirty="0" smtClean="0"/>
              <a:t> </a:t>
            </a:r>
          </a:p>
          <a:p>
            <a:pPr marL="0" indent="0" latinLnBrk="1">
              <a:buNone/>
            </a:pPr>
            <a:r>
              <a:rPr lang="en-US" altLang="zh-CN" dirty="0" smtClean="0"/>
              <a:t>  </a:t>
            </a:r>
            <a:r>
              <a:rPr lang="en-US" altLang="zh-CN" i="1" dirty="0"/>
              <a:t>Matplotlib </a:t>
            </a:r>
            <a:r>
              <a:rPr lang="zh-CN" altLang="en-US" i="1" dirty="0"/>
              <a:t>是 </a:t>
            </a:r>
            <a:r>
              <a:rPr lang="en-US" altLang="zh-CN" i="1" dirty="0"/>
              <a:t>Python </a:t>
            </a:r>
            <a:r>
              <a:rPr lang="zh-CN" altLang="en-US" i="1" dirty="0"/>
              <a:t>的绘图库，它能让使用者很轻松地将数据图形化，并且提供多样化的输出格式。</a:t>
            </a:r>
          </a:p>
          <a:p>
            <a:pPr marL="0" indent="0" latinLnBrk="1">
              <a:buNone/>
            </a:pPr>
            <a:r>
              <a:rPr lang="en-US" altLang="zh-CN" i="1" dirty="0"/>
              <a:t>Matplotlib </a:t>
            </a:r>
            <a:r>
              <a:rPr lang="zh-CN" altLang="en-US" i="1" dirty="0"/>
              <a:t>可以用来绘制各种静态，动态，交互式的图表。</a:t>
            </a:r>
          </a:p>
          <a:p>
            <a:pPr marL="0" indent="0" latinLnBrk="1">
              <a:buNone/>
            </a:pPr>
            <a:r>
              <a:rPr lang="en-US" altLang="zh-CN" i="1" dirty="0"/>
              <a:t>Matplotlib </a:t>
            </a:r>
            <a:r>
              <a:rPr lang="zh-CN" altLang="en-US" i="1" dirty="0"/>
              <a:t>是一个非常强大的 </a:t>
            </a:r>
            <a:r>
              <a:rPr lang="en-US" altLang="zh-CN" i="1" dirty="0"/>
              <a:t>Python </a:t>
            </a:r>
            <a:r>
              <a:rPr lang="zh-CN" altLang="en-US" i="1" dirty="0"/>
              <a:t>画图工具，我们可以使用该工具将很多数据通过图表的形式更直观的呈现出来。</a:t>
            </a:r>
          </a:p>
          <a:p>
            <a:pPr marL="0" indent="0" latinLnBrk="1">
              <a:buNone/>
            </a:pPr>
            <a:r>
              <a:rPr lang="en-US" altLang="zh-CN" i="1" dirty="0"/>
              <a:t>Matplotlib </a:t>
            </a:r>
            <a:r>
              <a:rPr lang="zh-CN" altLang="en-US" i="1" dirty="0"/>
              <a:t>可以绘制线图、散点图、等高线图、条形图、柱状图、</a:t>
            </a:r>
            <a:r>
              <a:rPr lang="en-US" altLang="zh-CN" i="1" dirty="0"/>
              <a:t>3D </a:t>
            </a:r>
            <a:r>
              <a:rPr lang="zh-CN" altLang="en-US" i="1" dirty="0"/>
              <a:t>图形、甚至是图形动画等等。</a:t>
            </a:r>
          </a:p>
          <a:p>
            <a:pPr marL="0" indent="0">
              <a:buNone/>
            </a:pPr>
            <a:endParaRPr lang="zh-CN" altLang="en-US" dirty="0"/>
          </a:p>
        </p:txBody>
      </p:sp>
    </p:spTree>
    <p:extLst>
      <p:ext uri="{BB962C8B-B14F-4D97-AF65-F5344CB8AC3E}">
        <p14:creationId xmlns:p14="http://schemas.microsoft.com/office/powerpoint/2010/main" val="14653617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Matplotlib</a:t>
            </a:r>
            <a:r>
              <a:rPr lang="en-US" altLang="zh-CN" dirty="0" smtClean="0"/>
              <a:t> </a:t>
            </a:r>
            <a:r>
              <a:rPr lang="zh-CN" altLang="en-US" dirty="0" smtClean="0"/>
              <a:t>和 </a:t>
            </a:r>
            <a:r>
              <a:rPr lang="en-US" altLang="zh-CN" dirty="0" err="1" smtClean="0"/>
              <a:t>pyecharts</a:t>
            </a:r>
            <a:r>
              <a:rPr lang="en-US" altLang="zh-CN" dirty="0" smtClean="0"/>
              <a:t> </a:t>
            </a:r>
            <a:r>
              <a:rPr lang="zh-CN" altLang="en-US" dirty="0" smtClean="0"/>
              <a:t>区别</a:t>
            </a:r>
            <a:endParaRPr lang="zh-CN" altLang="en-US" dirty="0"/>
          </a:p>
        </p:txBody>
      </p:sp>
      <p:sp>
        <p:nvSpPr>
          <p:cNvPr id="3" name="内容占位符 2"/>
          <p:cNvSpPr>
            <a:spLocks noGrp="1"/>
          </p:cNvSpPr>
          <p:nvPr>
            <p:ph idx="1"/>
          </p:nvPr>
        </p:nvSpPr>
        <p:spPr/>
        <p:txBody>
          <a:bodyPr>
            <a:normAutofit fontScale="92500"/>
          </a:bodyPr>
          <a:lstStyle/>
          <a:p>
            <a:r>
              <a:rPr lang="zh-CN" altLang="en-US" dirty="0"/>
              <a:t>主要区别如下：</a:t>
            </a:r>
          </a:p>
          <a:p>
            <a:r>
              <a:rPr lang="en-US" altLang="zh-CN" dirty="0"/>
              <a:t>matplotlib </a:t>
            </a:r>
            <a:r>
              <a:rPr lang="zh-CN" altLang="en-US" dirty="0"/>
              <a:t>是一个强大的绘图库，主要用于创建复杂的二维或三维图形，而 </a:t>
            </a:r>
            <a:r>
              <a:rPr lang="en-US" altLang="zh-CN" dirty="0"/>
              <a:t>pycharts </a:t>
            </a:r>
            <a:r>
              <a:rPr lang="zh-CN" altLang="en-US" dirty="0"/>
              <a:t>主要用于创建基于 </a:t>
            </a:r>
            <a:r>
              <a:rPr lang="en-US" altLang="zh-CN" dirty="0"/>
              <a:t>Web </a:t>
            </a:r>
            <a:r>
              <a:rPr lang="zh-CN" altLang="en-US" dirty="0"/>
              <a:t>的图表，通常是基于 </a:t>
            </a:r>
            <a:r>
              <a:rPr lang="en-US" altLang="zh-CN" dirty="0"/>
              <a:t>Echarts </a:t>
            </a:r>
            <a:r>
              <a:rPr lang="zh-CN" altLang="en-US" dirty="0"/>
              <a:t>的图表。</a:t>
            </a:r>
          </a:p>
          <a:p>
            <a:r>
              <a:rPr lang="en-US" altLang="zh-CN" dirty="0"/>
              <a:t>matplotlib </a:t>
            </a:r>
            <a:r>
              <a:rPr lang="zh-CN" altLang="en-US" dirty="0"/>
              <a:t>需要较深的编程知识来定制图表，而 </a:t>
            </a:r>
            <a:r>
              <a:rPr lang="en-US" altLang="zh-CN" dirty="0"/>
              <a:t>pycharts </a:t>
            </a:r>
            <a:r>
              <a:rPr lang="zh-CN" altLang="en-US" dirty="0"/>
              <a:t>提供了一套简洁的 </a:t>
            </a:r>
            <a:r>
              <a:rPr lang="en-US" altLang="zh-CN" dirty="0"/>
              <a:t>API</a:t>
            </a:r>
            <a:r>
              <a:rPr lang="zh-CN" altLang="en-US" dirty="0"/>
              <a:t>，使得创建图表变得简单。</a:t>
            </a:r>
          </a:p>
          <a:p>
            <a:r>
              <a:rPr lang="en-US" altLang="zh-CN" dirty="0"/>
              <a:t>matplotlib </a:t>
            </a:r>
            <a:r>
              <a:rPr lang="zh-CN" altLang="en-US" dirty="0"/>
              <a:t>主要处理静态图像，而 </a:t>
            </a:r>
            <a:r>
              <a:rPr lang="en-US" altLang="zh-CN" dirty="0"/>
              <a:t>pycharts </a:t>
            </a:r>
            <a:r>
              <a:rPr lang="zh-CN" altLang="en-US" dirty="0"/>
              <a:t>可以与 </a:t>
            </a:r>
            <a:r>
              <a:rPr lang="en-US" altLang="zh-CN" dirty="0"/>
              <a:t>Flask</a:t>
            </a:r>
            <a:r>
              <a:rPr lang="zh-CN" altLang="en-US" dirty="0"/>
              <a:t>、</a:t>
            </a:r>
            <a:r>
              <a:rPr lang="en-US" altLang="zh-CN" dirty="0"/>
              <a:t>Django </a:t>
            </a:r>
            <a:r>
              <a:rPr lang="zh-CN" altLang="en-US" dirty="0"/>
              <a:t>等 </a:t>
            </a:r>
            <a:r>
              <a:rPr lang="en-US" altLang="zh-CN" dirty="0"/>
              <a:t>Web </a:t>
            </a:r>
            <a:r>
              <a:rPr lang="zh-CN" altLang="en-US" dirty="0"/>
              <a:t>框架结合，创建动态交互式图表。</a:t>
            </a:r>
          </a:p>
          <a:p>
            <a:r>
              <a:rPr lang="en-US" altLang="zh-CN" dirty="0"/>
              <a:t>matplotlib </a:t>
            </a:r>
            <a:r>
              <a:rPr lang="zh-CN" altLang="en-US" dirty="0"/>
              <a:t>的图像质量更高，而 </a:t>
            </a:r>
            <a:r>
              <a:rPr lang="en-US" altLang="zh-CN" dirty="0"/>
              <a:t>pycharts </a:t>
            </a:r>
            <a:r>
              <a:rPr lang="zh-CN" altLang="en-US" dirty="0"/>
              <a:t>的图表更侧重于视觉效果。</a:t>
            </a:r>
          </a:p>
          <a:p>
            <a:endParaRPr lang="zh-CN" altLang="en-US" dirty="0"/>
          </a:p>
        </p:txBody>
      </p:sp>
    </p:spTree>
    <p:extLst>
      <p:ext uri="{BB962C8B-B14F-4D97-AF65-F5344CB8AC3E}">
        <p14:creationId xmlns:p14="http://schemas.microsoft.com/office/powerpoint/2010/main" val="31810415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实操：</a:t>
            </a:r>
            <a:r>
              <a:rPr lang="en-US" altLang="zh-CN" dirty="0" smtClean="0"/>
              <a:t>	</a:t>
            </a:r>
            <a:endParaRPr lang="zh-CN" altLang="en-US" dirty="0"/>
          </a:p>
        </p:txBody>
      </p:sp>
      <p:sp>
        <p:nvSpPr>
          <p:cNvPr id="3" name="内容占位符 2"/>
          <p:cNvSpPr>
            <a:spLocks noGrp="1"/>
          </p:cNvSpPr>
          <p:nvPr>
            <p:ph idx="1"/>
          </p:nvPr>
        </p:nvSpPr>
        <p:spPr/>
        <p:txBody>
          <a:bodyPr/>
          <a:lstStyle/>
          <a:p>
            <a:r>
              <a:rPr lang="en-US" altLang="zh-CN" dirty="0" smtClean="0"/>
              <a:t> </a:t>
            </a:r>
            <a:r>
              <a:rPr lang="zh-CN" altLang="en-US" dirty="0" smtClean="0"/>
              <a:t>对</a:t>
            </a:r>
            <a:r>
              <a:rPr lang="en-US" altLang="zh-CN" dirty="0" smtClean="0"/>
              <a:t>train.csv</a:t>
            </a:r>
            <a:r>
              <a:rPr lang="zh-CN" altLang="en-US" dirty="0" smtClean="0"/>
              <a:t>文件 进行操作，画出男女比例饼图。</a:t>
            </a:r>
            <a:endParaRPr lang="en-US" altLang="zh-CN" dirty="0" smtClean="0"/>
          </a:p>
          <a:p>
            <a:pPr marL="0" indent="0">
              <a:buNone/>
            </a:pPr>
            <a:r>
              <a:rPr lang="en-US" altLang="zh-CN" dirty="0">
                <a:hlinkClick r:id="rId2"/>
              </a:rPr>
              <a:t>Python</a:t>
            </a:r>
            <a:r>
              <a:rPr lang="zh-CN" altLang="en-US" dirty="0">
                <a:hlinkClick r:id="rId2"/>
              </a:rPr>
              <a:t>可视化神器</a:t>
            </a:r>
            <a:r>
              <a:rPr lang="en-US" altLang="zh-CN" dirty="0">
                <a:hlinkClick r:id="rId2"/>
              </a:rPr>
              <a:t>——</a:t>
            </a:r>
            <a:r>
              <a:rPr lang="en-US" altLang="zh-CN" dirty="0" err="1">
                <a:hlinkClick r:id="rId2"/>
              </a:rPr>
              <a:t>pyecharts</a:t>
            </a:r>
            <a:r>
              <a:rPr lang="zh-CN" altLang="en-US" dirty="0">
                <a:hlinkClick r:id="rId2"/>
              </a:rPr>
              <a:t>的超详细使用指南！ </a:t>
            </a:r>
            <a:r>
              <a:rPr lang="en-US" altLang="zh-CN" dirty="0">
                <a:hlinkClick r:id="rId2"/>
              </a:rPr>
              <a:t>- </a:t>
            </a:r>
            <a:r>
              <a:rPr lang="zh-CN" altLang="en-US" dirty="0">
                <a:hlinkClick r:id="rId2"/>
              </a:rPr>
              <a:t>简书 </a:t>
            </a:r>
            <a:r>
              <a:rPr lang="en-US" altLang="zh-CN" dirty="0">
                <a:hlinkClick r:id="rId2"/>
              </a:rPr>
              <a:t>(jianshu.com</a:t>
            </a:r>
            <a:r>
              <a:rPr lang="en-US" altLang="zh-CN" dirty="0" smtClean="0">
                <a:hlinkClick r:id="rId2"/>
              </a:rPr>
              <a:t>)</a:t>
            </a:r>
            <a:endParaRPr lang="en-US" altLang="zh-CN" dirty="0" smtClean="0"/>
          </a:p>
          <a:p>
            <a:pPr marL="0" indent="0">
              <a:buNone/>
            </a:pPr>
            <a:endParaRPr lang="en-US" altLang="zh-CN" dirty="0"/>
          </a:p>
          <a:p>
            <a:pPr marL="0" indent="0">
              <a:buNone/>
            </a:pPr>
            <a:r>
              <a:rPr lang="en-US" altLang="zh-CN" dirty="0" err="1">
                <a:hlinkClick r:id="rId3"/>
              </a:rPr>
              <a:t>Matplotlib</a:t>
            </a:r>
            <a:r>
              <a:rPr lang="en-US" altLang="zh-CN" dirty="0">
                <a:hlinkClick r:id="rId3"/>
              </a:rPr>
              <a:t> </a:t>
            </a:r>
            <a:r>
              <a:rPr lang="zh-CN" altLang="en-US" dirty="0">
                <a:hlinkClick r:id="rId3"/>
              </a:rPr>
              <a:t>教程 </a:t>
            </a:r>
            <a:r>
              <a:rPr lang="en-US" altLang="zh-CN" dirty="0">
                <a:hlinkClick r:id="rId3"/>
              </a:rPr>
              <a:t>| </a:t>
            </a:r>
            <a:r>
              <a:rPr lang="zh-CN" altLang="en-US" dirty="0">
                <a:hlinkClick r:id="rId3"/>
              </a:rPr>
              <a:t>菜鸟教程 </a:t>
            </a:r>
            <a:r>
              <a:rPr lang="en-US" altLang="zh-CN" dirty="0">
                <a:hlinkClick r:id="rId3"/>
              </a:rPr>
              <a:t>(runoob.com)</a:t>
            </a:r>
            <a:endParaRPr lang="zh-CN" altLang="en-US" dirty="0"/>
          </a:p>
        </p:txBody>
      </p:sp>
    </p:spTree>
    <p:extLst>
      <p:ext uri="{BB962C8B-B14F-4D97-AF65-F5344CB8AC3E}">
        <p14:creationId xmlns:p14="http://schemas.microsoft.com/office/powerpoint/2010/main" val="161681220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3297</TotalTime>
  <Words>8131</Words>
  <Application>Microsoft Office PowerPoint</Application>
  <PresentationFormat>宽屏</PresentationFormat>
  <Paragraphs>645</Paragraphs>
  <Slides>116</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116</vt:i4>
      </vt:variant>
    </vt:vector>
  </HeadingPairs>
  <TitlesOfParts>
    <vt:vector size="125" baseType="lpstr">
      <vt:lpstr>等线</vt:lpstr>
      <vt:lpstr>等线 Light</vt:lpstr>
      <vt:lpstr>华文楷体</vt:lpstr>
      <vt:lpstr>宋体</vt:lpstr>
      <vt:lpstr>Arial</vt:lpstr>
      <vt:lpstr>Cambria Math</vt:lpstr>
      <vt:lpstr>Times New Roman</vt:lpstr>
      <vt:lpstr>Wingdings</vt:lpstr>
      <vt:lpstr>Office 主题​​</vt:lpstr>
      <vt:lpstr>人工智能培训  第三讲</vt:lpstr>
      <vt:lpstr>主 要 内 容</vt:lpstr>
      <vt:lpstr>一、算法分析与设计</vt:lpstr>
      <vt:lpstr>1、算法导论与基础</vt:lpstr>
      <vt:lpstr>1、算法导论与基础</vt:lpstr>
      <vt:lpstr>欧几里得算法</vt:lpstr>
      <vt:lpstr>示例代码：</vt:lpstr>
      <vt:lpstr>算法特征</vt:lpstr>
      <vt:lpstr>算法分析</vt:lpstr>
      <vt:lpstr>PowerPoint 演示文稿</vt:lpstr>
      <vt:lpstr>平均时间复杂度 + 最坏时间复杂度 </vt:lpstr>
      <vt:lpstr>空间复杂度</vt:lpstr>
      <vt:lpstr>示例：S(n) ?</vt:lpstr>
      <vt:lpstr>算法设计的基本方法与策略基础</vt:lpstr>
      <vt:lpstr>算法设计的基本方法与策略基础</vt:lpstr>
      <vt:lpstr>递归策略要注意两个条件  </vt:lpstr>
      <vt:lpstr>(3) 穷举法</vt:lpstr>
      <vt:lpstr>百钱百鸡：</vt:lpstr>
      <vt:lpstr>2、分治策略</vt:lpstr>
      <vt:lpstr>最大子数组(MCS)</vt:lpstr>
      <vt:lpstr>数据重用算法的伪代码</vt:lpstr>
      <vt:lpstr>分治策略方法</vt:lpstr>
      <vt:lpstr>分治算法其他应用</vt:lpstr>
      <vt:lpstr>3、排序算法</vt:lpstr>
      <vt:lpstr>PowerPoint 演示文稿</vt:lpstr>
      <vt:lpstr>3.1 快速排序</vt:lpstr>
      <vt:lpstr> 2, 8, 7, 1, 3, 5, 6, 4</vt:lpstr>
      <vt:lpstr>3.2 堆排序</vt:lpstr>
      <vt:lpstr>堆的分类及性质</vt:lpstr>
      <vt:lpstr>基本思想</vt:lpstr>
      <vt:lpstr>3.3 线性时间排序</vt:lpstr>
      <vt:lpstr>4、图算法</vt:lpstr>
      <vt:lpstr>顶点的度，入度和出度</vt:lpstr>
      <vt:lpstr>图的路径与连通</vt:lpstr>
      <vt:lpstr>图的表示：邻接链表</vt:lpstr>
      <vt:lpstr>图的表示：邻接链表</vt:lpstr>
      <vt:lpstr>邻接矩阵</vt:lpstr>
      <vt:lpstr>图的搜索算法</vt:lpstr>
      <vt:lpstr>广度优先遍历</vt:lpstr>
      <vt:lpstr>示例：</vt:lpstr>
      <vt:lpstr>深度优先搜索(DFS)</vt:lpstr>
      <vt:lpstr>深度优先搜索(DFS)</vt:lpstr>
      <vt:lpstr>示例：深度优先搜索</vt:lpstr>
      <vt:lpstr>最小生成树</vt:lpstr>
      <vt:lpstr>最小生成树</vt:lpstr>
      <vt:lpstr>最小生成树算法</vt:lpstr>
      <vt:lpstr>PowerPoint 演示文稿</vt:lpstr>
      <vt:lpstr>Prim算法(普里姆算法)</vt:lpstr>
      <vt:lpstr>Kruskal 算法</vt:lpstr>
      <vt:lpstr>Kruskal 算法</vt:lpstr>
      <vt:lpstr>克鲁斯卡尔算法</vt:lpstr>
      <vt:lpstr>最短路径问题</vt:lpstr>
      <vt:lpstr>迪杰斯特拉算法（Dijkstra算法）</vt:lpstr>
      <vt:lpstr>换一种说法</vt:lpstr>
      <vt:lpstr>示 例</vt:lpstr>
      <vt:lpstr>最短路径结果</vt:lpstr>
      <vt:lpstr> B 站</vt:lpstr>
      <vt:lpstr>5、动态规划</vt:lpstr>
      <vt:lpstr>0-1背包</vt:lpstr>
      <vt:lpstr>搜索法</vt:lpstr>
      <vt:lpstr>最优规划方法：从左向右，从上到下</vt:lpstr>
      <vt:lpstr>    物品编号                    1         2        3       4     物品体积                    2         3        4       5     物品价值            3         4        5       6 </vt:lpstr>
      <vt:lpstr>总结</vt:lpstr>
      <vt:lpstr>回溯：装入哪些物品</vt:lpstr>
      <vt:lpstr>部分参考资料</vt:lpstr>
      <vt:lpstr>动态规划：最长公共子序列</vt:lpstr>
      <vt:lpstr>矩阵值： 递归公式</vt:lpstr>
      <vt:lpstr>示 例：</vt:lpstr>
      <vt:lpstr>算法设计与分析    </vt:lpstr>
      <vt:lpstr>二、数据处理</vt:lpstr>
      <vt:lpstr>2.1 数据收集</vt:lpstr>
      <vt:lpstr>传感器 + 系统日志</vt:lpstr>
      <vt:lpstr>网络爬虫</vt:lpstr>
      <vt:lpstr>众包和群智感知</vt:lpstr>
      <vt:lpstr>爬虫基本原理</vt:lpstr>
      <vt:lpstr>爬虫工作的基本流程  </vt:lpstr>
      <vt:lpstr>不带参数的get请求</vt:lpstr>
      <vt:lpstr>网络爬虫的代码框架</vt:lpstr>
      <vt:lpstr>Beautiful Soup</vt:lpstr>
      <vt:lpstr>安装 </vt:lpstr>
      <vt:lpstr>创建Beautiful Soup对象</vt:lpstr>
      <vt:lpstr>遍历文档树</vt:lpstr>
      <vt:lpstr>搜索文档树 </vt:lpstr>
      <vt:lpstr>F12查看网页源代码 （或鼠标右键 -&gt; 查看网页源代码）</vt:lpstr>
      <vt:lpstr>PowerPoint 演示文稿</vt:lpstr>
      <vt:lpstr>数据采集工具</vt:lpstr>
      <vt:lpstr>八爪鱼工具：抓取网页</vt:lpstr>
      <vt:lpstr>2.2 数据预处理</vt:lpstr>
      <vt:lpstr>数据清洗</vt:lpstr>
      <vt:lpstr>缺失值处理</vt:lpstr>
      <vt:lpstr>缺失值的检测与处理</vt:lpstr>
      <vt:lpstr>缺失值的检测与处理</vt:lpstr>
      <vt:lpstr>缺失值的检测与处理</vt:lpstr>
      <vt:lpstr>重复记录数据的检测与处理</vt:lpstr>
      <vt:lpstr>合并</vt:lpstr>
      <vt:lpstr>merge( )格式</vt:lpstr>
      <vt:lpstr>merge( )示例</vt:lpstr>
      <vt:lpstr>concat( )格式</vt:lpstr>
      <vt:lpstr>concat( )示例</vt:lpstr>
      <vt:lpstr>数据清洗工具 OpenRefine</vt:lpstr>
      <vt:lpstr>数据变换</vt:lpstr>
      <vt:lpstr>最小—最大标准化（归一化）</vt:lpstr>
      <vt:lpstr>PowerPoint 演示文稿</vt:lpstr>
      <vt:lpstr>数据变换</vt:lpstr>
      <vt:lpstr>数据规约</vt:lpstr>
      <vt:lpstr>数据规约</vt:lpstr>
      <vt:lpstr>2.3 数据标注</vt:lpstr>
      <vt:lpstr>文本数据标注</vt:lpstr>
      <vt:lpstr>图像与视频数据标注</vt:lpstr>
      <vt:lpstr>音频数据标注</vt:lpstr>
      <vt:lpstr>参考资料</vt:lpstr>
      <vt:lpstr>工具：Pandas</vt:lpstr>
      <vt:lpstr>实操：</vt:lpstr>
      <vt:lpstr>可视化</vt:lpstr>
      <vt:lpstr>Matplotlib 和 pyecharts 区别</vt:lpstr>
      <vt:lpstr>实操：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gty</dc:creator>
  <cp:lastModifiedBy>gty</cp:lastModifiedBy>
  <cp:revision>276</cp:revision>
  <dcterms:created xsi:type="dcterms:W3CDTF">2024-03-13T02:06:06Z</dcterms:created>
  <dcterms:modified xsi:type="dcterms:W3CDTF">2024-03-24T01:02:54Z</dcterms:modified>
</cp:coreProperties>
</file>